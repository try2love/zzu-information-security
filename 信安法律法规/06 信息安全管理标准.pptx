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762" r:id="rId2"/>
    <p:sldId id="467" r:id="rId3"/>
    <p:sldId id="674" r:id="rId4"/>
    <p:sldId id="732" r:id="rId5"/>
    <p:sldId id="645" r:id="rId6"/>
    <p:sldId id="675" r:id="rId7"/>
    <p:sldId id="646" r:id="rId8"/>
    <p:sldId id="650" r:id="rId9"/>
    <p:sldId id="676" r:id="rId10"/>
    <p:sldId id="678" r:id="rId11"/>
    <p:sldId id="769" r:id="rId12"/>
    <p:sldId id="686" r:id="rId13"/>
    <p:sldId id="688" r:id="rId14"/>
    <p:sldId id="687" r:id="rId15"/>
    <p:sldId id="690" r:id="rId16"/>
    <p:sldId id="770" r:id="rId17"/>
    <p:sldId id="652" r:id="rId18"/>
    <p:sldId id="695" r:id="rId19"/>
    <p:sldId id="694" r:id="rId20"/>
    <p:sldId id="698" r:id="rId21"/>
    <p:sldId id="766" r:id="rId22"/>
    <p:sldId id="768" r:id="rId23"/>
    <p:sldId id="767" r:id="rId24"/>
    <p:sldId id="700" r:id="rId25"/>
    <p:sldId id="704" r:id="rId26"/>
    <p:sldId id="705" r:id="rId27"/>
    <p:sldId id="706" r:id="rId28"/>
    <p:sldId id="701" r:id="rId29"/>
    <p:sldId id="702" r:id="rId30"/>
    <p:sldId id="733" r:id="rId31"/>
    <p:sldId id="703" r:id="rId32"/>
    <p:sldId id="707" r:id="rId33"/>
    <p:sldId id="699" r:id="rId34"/>
    <p:sldId id="709" r:id="rId35"/>
    <p:sldId id="710" r:id="rId36"/>
    <p:sldId id="711" r:id="rId37"/>
    <p:sldId id="712" r:id="rId38"/>
    <p:sldId id="713" r:id="rId39"/>
    <p:sldId id="714" r:id="rId40"/>
    <p:sldId id="715" r:id="rId41"/>
    <p:sldId id="734" r:id="rId42"/>
    <p:sldId id="735" r:id="rId43"/>
    <p:sldId id="736" r:id="rId44"/>
    <p:sldId id="737" r:id="rId45"/>
    <p:sldId id="765" r:id="rId46"/>
    <p:sldId id="731" r:id="rId47"/>
    <p:sldId id="772" r:id="rId48"/>
    <p:sldId id="773" r:id="rId49"/>
    <p:sldId id="764" r:id="rId50"/>
  </p:sldIdLst>
  <p:sldSz cx="9144000" cy="6858000" type="screen4x3"/>
  <p:notesSz cx="6858000" cy="9144000"/>
  <p:custDataLst>
    <p:tags r:id="rId5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20"/>
    <p:restoredTop sz="71781"/>
  </p:normalViewPr>
  <p:slideViewPr>
    <p:cSldViewPr showGuides="1">
      <p:cViewPr varScale="1">
        <p:scale>
          <a:sx n="70" d="100"/>
          <a:sy n="70" d="100"/>
        </p:scale>
        <p:origin x="145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solidFill>
                  <a:schemeClr val="tx1"/>
                </a:solidFill>
                <a:latin typeface="Arial" panose="020B0604020202020204" pitchFamily="34" charset="0"/>
              </a:rPr>
              <a:t>‹#›</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25095501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5427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t>2</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876360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idx="1"/>
          </p:nvPr>
        </p:nvSpPr>
        <p:spPr/>
        <p:txBody>
          <a:bodyPr wrap="square" lIns="91440" tIns="45720" rIns="91440" bIns="45720" anchor="t" anchorCtr="0"/>
          <a:lstStyle/>
          <a:p>
            <a:pPr lvl="0"/>
            <a:endParaRPr lang="zh-CN" altLang="en-US" dirty="0">
              <a:ea typeface="宋体" panose="02010600030101010101" pitchFamily="2" charset="-122"/>
            </a:endParaRPr>
          </a:p>
        </p:txBody>
      </p:sp>
      <p:sp>
        <p:nvSpPr>
          <p:cNvPr id="5530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t>15</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578455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p:txBody>
          <a:bodyPr wrap="square" lIns="91440" tIns="45720" rIns="91440" bIns="45720" anchor="t" anchorCtr="0"/>
          <a:lstStyle/>
          <a:p>
            <a:pPr lvl="0"/>
            <a:endParaRPr lang="zh-CN" altLang="en-US" dirty="0">
              <a:ea typeface="宋体" panose="02010600030101010101" pitchFamily="2" charset="-122"/>
            </a:endParaRPr>
          </a:p>
        </p:txBody>
      </p:sp>
      <p:sp>
        <p:nvSpPr>
          <p:cNvPr id="5632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solidFill>
                  <a:schemeClr val="tx1"/>
                </a:solidFill>
                <a:latin typeface="Arial" panose="020B0604020202020204" pitchFamily="34" charset="0"/>
              </a:rPr>
              <a:t>16</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2363965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099" r:id="rId3" imgW="13004800" imgH="4572000" progId="Photoshop.Image.7">
                  <p:embed/>
                </p:oleObj>
              </mc:Choice>
              <mc:Fallback>
                <p:oleObj r:id="rId3" imgW="13004800" imgH="4572000" progId="Photoshop.Image.7">
                  <p:embed/>
                  <p:pic>
                    <p:nvPicPr>
                      <p:cNvPr id="0" name="图片 3075"/>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en-US" sz="1200" dirty="0">
                <a:latin typeface="Arial" panose="020B0604020202020204" pitchFamily="34" charset="0"/>
              </a:rPr>
              <a:t>‹#›</a:t>
            </a:fld>
            <a:endParaRPr lang="en-US"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1" r:id="rId14" imgW="13004800" imgH="4572000" progId="Photoshop.Image.7">
                  <p:embed/>
                </p:oleObj>
              </mc:Choice>
              <mc:Fallback>
                <p:oleObj r:id="rId14" imgW="13004800" imgH="4572000" progId="Photoshop.Image.7">
                  <p:embed/>
                  <p:pic>
                    <p:nvPicPr>
                      <p:cNvPr id="0" name="图片 3076"/>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57785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162925" y="184150"/>
            <a:ext cx="914400" cy="9144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baike.baidu.com/item/TCSEC/8878477" TargetMode="External"/><Relationship Id="rId2" Type="http://schemas.openxmlformats.org/officeDocument/2006/relationships/hyperlink" Target="https://baike.baidu.com/item/%E5%AE%89%E5%85%A8%E8%AF%84%E4%BB%B7%E6%96%B9%E6%B3%95/8030617" TargetMode="External"/><Relationship Id="rId1" Type="http://schemas.openxmlformats.org/officeDocument/2006/relationships/slideLayout" Target="../slideLayouts/slideLayout2.xml"/><Relationship Id="rId5" Type="http://schemas.openxmlformats.org/officeDocument/2006/relationships/hyperlink" Target="https://baike.baidu.com/item/%E7%BD%91%E7%BB%9C%E5%AE%89%E5%85%A8" TargetMode="External"/><Relationship Id="rId4" Type="http://schemas.openxmlformats.org/officeDocument/2006/relationships/hyperlink" Target="https://baike.baidu.com/item/%E6%95%B0%E6%8D%AE%E9%80%9A%E4%BF%A1/89707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www.tc260.org.cn/"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image" Target="../media/image6.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6.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7.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六</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信息安全管理标准</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信息安全法规及安全管理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4099" name="Group 3"/>
          <p:cNvGrpSpPr/>
          <p:nvPr/>
        </p:nvGrpSpPr>
        <p:grpSpPr>
          <a:xfrm>
            <a:off x="1524000" y="1524000"/>
            <a:ext cx="762000" cy="665163"/>
            <a:chOff x="1110" y="2656"/>
            <a:chExt cx="1549" cy="1351"/>
          </a:xfrm>
        </p:grpSpPr>
        <p:sp>
          <p:nvSpPr>
            <p:cNvPr id="413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3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grpSp>
        <p:nvGrpSpPr>
          <p:cNvPr id="4100" name="Group 7"/>
          <p:cNvGrpSpPr/>
          <p:nvPr/>
        </p:nvGrpSpPr>
        <p:grpSpPr>
          <a:xfrm>
            <a:off x="1524000" y="2374900"/>
            <a:ext cx="762000" cy="665163"/>
            <a:chOff x="3174" y="2656"/>
            <a:chExt cx="1549" cy="1351"/>
          </a:xfrm>
        </p:grpSpPr>
        <p:sp>
          <p:nvSpPr>
            <p:cNvPr id="4130"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31"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grpSp>
      <p:sp>
        <p:nvSpPr>
          <p:cNvPr id="4101" name="Line 11"/>
          <p:cNvSpPr/>
          <p:nvPr/>
        </p:nvSpPr>
        <p:spPr>
          <a:xfrm flipV="1">
            <a:off x="2133600" y="2133600"/>
            <a:ext cx="5410200" cy="0"/>
          </a:xfrm>
          <a:prstGeom prst="line">
            <a:avLst/>
          </a:prstGeom>
          <a:ln w="25400" cap="flat" cmpd="sng">
            <a:solidFill>
              <a:srgbClr val="C0C0C0"/>
            </a:solidFill>
            <a:prstDash val="sysDot"/>
            <a:headEnd type="none" w="med" len="med"/>
            <a:tailEnd type="oval" w="med" len="med"/>
          </a:ln>
        </p:spPr>
      </p:sp>
      <p:sp>
        <p:nvSpPr>
          <p:cNvPr id="7179" name="Text Box 12"/>
          <p:cNvSpPr txBox="1">
            <a:spLocks noChangeArrowheads="1"/>
          </p:cNvSpPr>
          <p:nvPr/>
        </p:nvSpPr>
        <p:spPr bwMode="auto">
          <a:xfrm>
            <a:off x="2362200" y="1581150"/>
            <a:ext cx="563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信息安全风险评估标准</a:t>
            </a:r>
            <a:endPar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sp>
        <p:nvSpPr>
          <p:cNvPr id="4103" name="Text Box 13"/>
          <p:cNvSpPr txBox="1"/>
          <p:nvPr/>
        </p:nvSpPr>
        <p:spPr>
          <a:xfrm>
            <a:off x="1733550" y="16224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1</a:t>
            </a:r>
          </a:p>
        </p:txBody>
      </p:sp>
      <p:sp>
        <p:nvSpPr>
          <p:cNvPr id="4104" name="Line 14"/>
          <p:cNvSpPr/>
          <p:nvPr/>
        </p:nvSpPr>
        <p:spPr>
          <a:xfrm>
            <a:off x="2133600" y="3048000"/>
            <a:ext cx="480060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1733550" y="2536825"/>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2</a:t>
            </a:r>
          </a:p>
        </p:txBody>
      </p:sp>
      <p:sp>
        <p:nvSpPr>
          <p:cNvPr id="4106" name="Text Box 21"/>
          <p:cNvSpPr txBox="1"/>
          <p:nvPr/>
        </p:nvSpPr>
        <p:spPr>
          <a:xfrm>
            <a:off x="1733550" y="34290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3</a:t>
            </a:r>
          </a:p>
        </p:txBody>
      </p:sp>
      <p:sp>
        <p:nvSpPr>
          <p:cNvPr id="4107" name="Text Box 22"/>
          <p:cNvSpPr txBox="1"/>
          <p:nvPr/>
        </p:nvSpPr>
        <p:spPr>
          <a:xfrm>
            <a:off x="1689100" y="5029200"/>
            <a:ext cx="328613" cy="461963"/>
          </a:xfrm>
          <a:prstGeom prst="rect">
            <a:avLst/>
          </a:prstGeom>
          <a:noFill/>
          <a:ln w="9525">
            <a:noFill/>
          </a:ln>
        </p:spPr>
        <p:txBody>
          <a:bodyPr wrap="none">
            <a:spAutoFit/>
          </a:bodyPr>
          <a:lstStyle/>
          <a:p>
            <a:pPr algn="ctr"/>
            <a:r>
              <a:rPr lang="en-US" altLang="zh-CN" sz="2400" b="1" dirty="0">
                <a:solidFill>
                  <a:schemeClr val="bg1"/>
                </a:solidFill>
                <a:latin typeface="华文楷体" panose="02010600040101010101" pitchFamily="2" charset="-122"/>
                <a:ea typeface="华文楷体" panose="02010600040101010101" pitchFamily="2" charset="-122"/>
              </a:rPr>
              <a:t>5</a:t>
            </a:r>
          </a:p>
        </p:txBody>
      </p:sp>
      <p:sp>
        <p:nvSpPr>
          <p:cNvPr id="7186" name="Text Box 24"/>
          <p:cNvSpPr txBox="1">
            <a:spLocks noChangeArrowheads="1"/>
          </p:cNvSpPr>
          <p:nvPr/>
        </p:nvSpPr>
        <p:spPr bwMode="auto">
          <a:xfrm>
            <a:off x="2286000" y="2490788"/>
            <a:ext cx="502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我国信息系统等级保护标准</a:t>
            </a:r>
          </a:p>
        </p:txBody>
      </p:sp>
      <p:grpSp>
        <p:nvGrpSpPr>
          <p:cNvPr id="4109" name="组合 25"/>
          <p:cNvGrpSpPr/>
          <p:nvPr/>
        </p:nvGrpSpPr>
        <p:grpSpPr>
          <a:xfrm>
            <a:off x="1524000" y="3317875"/>
            <a:ext cx="5721350" cy="665163"/>
            <a:chOff x="1828800" y="3559175"/>
            <a:chExt cx="5721395" cy="665163"/>
          </a:xfrm>
        </p:grpSpPr>
        <p:sp>
          <p:nvSpPr>
            <p:cNvPr id="3" name="Text Box 15"/>
            <p:cNvSpPr txBox="1">
              <a:spLocks noChangeArrowheads="1"/>
            </p:cNvSpPr>
            <p:nvPr/>
          </p:nvSpPr>
          <p:spPr bwMode="auto">
            <a:xfrm>
              <a:off x="2597156" y="3657600"/>
              <a:ext cx="4953039"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信息安全管理体系</a:t>
              </a:r>
              <a:r>
                <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(ISMS)</a:t>
              </a: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标准</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25" name="Group 17"/>
            <p:cNvGrpSpPr/>
            <p:nvPr/>
          </p:nvGrpSpPr>
          <p:grpSpPr>
            <a:xfrm>
              <a:off x="1828800" y="3559175"/>
              <a:ext cx="762000" cy="665163"/>
              <a:chOff x="1110" y="2656"/>
              <a:chExt cx="1549" cy="1351"/>
            </a:xfrm>
          </p:grpSpPr>
          <p:sp>
            <p:nvSpPr>
              <p:cNvPr id="4127"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8"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3</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6"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0" name="组合 25"/>
          <p:cNvGrpSpPr/>
          <p:nvPr/>
        </p:nvGrpSpPr>
        <p:grpSpPr>
          <a:xfrm>
            <a:off x="1541463" y="4210050"/>
            <a:ext cx="5791200" cy="665163"/>
            <a:chOff x="1828800" y="3559175"/>
            <a:chExt cx="5791200" cy="665163"/>
          </a:xfrm>
        </p:grpSpPr>
        <p:sp>
          <p:nvSpPr>
            <p:cNvPr id="28" name="Text Box 15"/>
            <p:cNvSpPr txBox="1">
              <a:spLocks noChangeArrowheads="1"/>
            </p:cNvSpPr>
            <p:nvPr/>
          </p:nvSpPr>
          <p:spPr bwMode="auto">
            <a:xfrm>
              <a:off x="2667000" y="3697288"/>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ISO/IEC27000</a:t>
              </a:r>
              <a:r>
                <a:rPr kumimoji="0" lang="zh-CN"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系列标准</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19" name="Group 17"/>
            <p:cNvGrpSpPr/>
            <p:nvPr/>
          </p:nvGrpSpPr>
          <p:grpSpPr>
            <a:xfrm>
              <a:off x="1828800" y="3559175"/>
              <a:ext cx="762000" cy="665163"/>
              <a:chOff x="1110" y="2656"/>
              <a:chExt cx="1549" cy="1351"/>
            </a:xfrm>
          </p:grpSpPr>
          <p:sp>
            <p:nvSpPr>
              <p:cNvPr id="4121"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22"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33"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4</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20"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4111" name="组合 25"/>
          <p:cNvGrpSpPr/>
          <p:nvPr/>
        </p:nvGrpSpPr>
        <p:grpSpPr>
          <a:xfrm>
            <a:off x="1530350" y="5089525"/>
            <a:ext cx="5791200" cy="665163"/>
            <a:chOff x="1828800" y="3559175"/>
            <a:chExt cx="5791200" cy="665163"/>
          </a:xfrm>
        </p:grpSpPr>
        <p:sp>
          <p:nvSpPr>
            <p:cNvPr id="35" name="Text Box 15"/>
            <p:cNvSpPr txBox="1">
              <a:spLocks noChangeArrowheads="1"/>
            </p:cNvSpPr>
            <p:nvPr/>
          </p:nvSpPr>
          <p:spPr bwMode="auto">
            <a:xfrm>
              <a:off x="2667000" y="3657600"/>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rPr>
                <a:t>思政点</a:t>
              </a:r>
              <a:endParaRPr kumimoji="0" lang="en-US" altLang="zh-CN" sz="2800" b="1" i="0" u="none" strike="noStrike" kern="1200" cap="none" spc="0" normalizeH="0" baseline="0" noProof="0" dirty="0" smtClean="0">
                <a:ln>
                  <a:noFill/>
                </a:ln>
                <a:solidFill>
                  <a:schemeClr val="tx1">
                    <a:lumMod val="60000"/>
                    <a:lumOff val="40000"/>
                  </a:schemeClr>
                </a:solidFill>
                <a:effectLst/>
                <a:uLnTx/>
                <a:uFillTx/>
                <a:latin typeface="华文楷体" panose="02010600040101010101" pitchFamily="2" charset="-122"/>
                <a:ea typeface="华文楷体" panose="02010600040101010101" pitchFamily="2" charset="-122"/>
                <a:cs typeface="+mn-cs"/>
              </a:endParaRPr>
            </a:p>
          </p:txBody>
        </p:sp>
        <p:grpSp>
          <p:nvGrpSpPr>
            <p:cNvPr id="4113" name="Group 17"/>
            <p:cNvGrpSpPr/>
            <p:nvPr/>
          </p:nvGrpSpPr>
          <p:grpSpPr>
            <a:xfrm>
              <a:off x="1828800" y="3559175"/>
              <a:ext cx="762000" cy="665163"/>
              <a:chOff x="1110" y="2656"/>
              <a:chExt cx="1549" cy="1351"/>
            </a:xfrm>
          </p:grpSpPr>
          <p:sp>
            <p:nvSpPr>
              <p:cNvPr id="4115"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116"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华文楷体" panose="02010600040101010101" pitchFamily="2" charset="-122"/>
                  <a:ea typeface="华文楷体" panose="02010600040101010101" pitchFamily="2" charset="-122"/>
                </a:endParaRPr>
              </a:p>
            </p:txBody>
          </p:sp>
          <p:sp>
            <p:nvSpPr>
              <p:cNvPr id="40"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rPr>
                  <a:t>5</a:t>
                </a:r>
                <a:endParaRPr kumimoji="0" lang="zh-CN" altLang="en-US" sz="2400" b="1" i="0" u="none" strike="noStrike" kern="1200" cap="none" spc="0" normalizeH="0" baseline="0" noProof="0" dirty="0">
                  <a:ln>
                    <a:noFill/>
                  </a:ln>
                  <a:solidFill>
                    <a:schemeClr val="bg1"/>
                  </a:solidFill>
                  <a:effectLst/>
                  <a:uLnTx/>
                  <a:uFillTx/>
                  <a:latin typeface="华文楷体" panose="02010600040101010101" pitchFamily="2" charset="-122"/>
                  <a:ea typeface="华文楷体" panose="02010600040101010101" pitchFamily="2" charset="-122"/>
                  <a:cs typeface="+mn-cs"/>
                  <a:sym typeface="+mn-ea"/>
                </a:endParaRPr>
              </a:p>
            </p:txBody>
          </p:sp>
        </p:grpSp>
        <p:sp>
          <p:nvSpPr>
            <p:cNvPr id="4114"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533400" y="481013"/>
            <a:ext cx="7315200" cy="433387"/>
          </a:xfrm>
        </p:spPr>
        <p:txBody>
          <a:bodyPr vert="horz" wrap="square" lIns="91440" tIns="45720" rIns="91440" bIns="45720" anchor="ctr" anchorCtr="0"/>
          <a:lstStyle/>
          <a:p>
            <a:r>
              <a:rPr lang="en-US" altLang="zh-CN" sz="3200" b="1" dirty="0">
                <a:ea typeface="宋体" panose="02010600030101010101" pitchFamily="2" charset="-122"/>
              </a:rPr>
              <a:t>1. </a:t>
            </a:r>
            <a:r>
              <a:rPr lang="zh-CN" altLang="zh-CN" sz="3200" b="1" dirty="0">
                <a:ea typeface="宋体" panose="02010600030101010101" pitchFamily="2" charset="-122"/>
              </a:rPr>
              <a:t>信息安全风险评估标准</a:t>
            </a:r>
            <a:endParaRPr lang="zh-CN" altLang="en-US" dirty="0">
              <a:ea typeface="宋体" panose="02010600030101010101" pitchFamily="2" charset="-122"/>
            </a:endParaRPr>
          </a:p>
        </p:txBody>
      </p:sp>
      <p:sp>
        <p:nvSpPr>
          <p:cNvPr id="5123" name="内容占位符 2"/>
          <p:cNvSpPr>
            <a:spLocks noGrp="1"/>
          </p:cNvSpPr>
          <p:nvPr>
            <p:ph idx="1"/>
          </p:nvPr>
        </p:nvSpPr>
        <p:spPr>
          <a:xfrm>
            <a:off x="457200" y="1524000"/>
            <a:ext cx="8153400" cy="5105400"/>
          </a:xfrm>
        </p:spPr>
        <p:txBody>
          <a:bodyPr vert="horz" wrap="square" lIns="91440" tIns="45720" rIns="91440" bIns="45720" anchor="t" anchorCtr="0"/>
          <a:lstStyle/>
          <a:p>
            <a:pPr algn="just">
              <a:lnSpc>
                <a:spcPct val="150000"/>
              </a:lnSpc>
              <a:buFont typeface="Wingdings" panose="05000000000000000000" pitchFamily="2" charset="2"/>
              <a:buChar char="Ø"/>
            </a:pPr>
            <a:r>
              <a:rPr lang="zh-CN" altLang="zh-CN" sz="2400" dirty="0">
                <a:latin typeface="华文楷体" panose="02010600040101010101" pitchFamily="2" charset="-122"/>
                <a:ea typeface="华文楷体" panose="02010600040101010101" pitchFamily="2" charset="-122"/>
              </a:rPr>
              <a:t>本节对国内外信息安全风险评估标准进行研究，将风险评估标准划分为技术标准和管理标准，从不同角度系统地对</a:t>
            </a:r>
            <a:r>
              <a:rPr lang="en-US" altLang="zh-CN" sz="2400" dirty="0">
                <a:latin typeface="华文楷体" panose="02010600040101010101" pitchFamily="2" charset="-122"/>
                <a:ea typeface="华文楷体" panose="02010600040101010101" pitchFamily="2" charset="-122"/>
              </a:rPr>
              <a:t>ISRAC</a:t>
            </a:r>
            <a:r>
              <a:rPr lang="zh-CN" altLang="zh-CN" sz="2400" dirty="0">
                <a:latin typeface="华文楷体" panose="02010600040101010101" pitchFamily="2" charset="-122"/>
                <a:ea typeface="华文楷体" panose="02010600040101010101" pitchFamily="2" charset="-122"/>
              </a:rPr>
              <a:t>的起源与发展过程进行分析。</a:t>
            </a:r>
            <a:endParaRPr lang="en-US" altLang="zh-CN" sz="2400" dirty="0">
              <a:latin typeface="华文楷体" panose="02010600040101010101" pitchFamily="2" charset="-122"/>
              <a:ea typeface="华文楷体" panose="02010600040101010101" pitchFamily="2" charset="-122"/>
            </a:endParaRPr>
          </a:p>
          <a:p>
            <a:pPr algn="just">
              <a:lnSpc>
                <a:spcPct val="150000"/>
              </a:lnSpc>
              <a:buFont typeface="Wingdings" panose="05000000000000000000" pitchFamily="2" charset="2"/>
              <a:buChar char="Ø"/>
            </a:pPr>
            <a:r>
              <a:rPr lang="zh-CN" altLang="zh-CN" sz="2400" dirty="0">
                <a:latin typeface="华文楷体" panose="02010600040101010101" pitchFamily="2" charset="-122"/>
                <a:ea typeface="华文楷体" panose="02010600040101010101" pitchFamily="2" charset="-122"/>
              </a:rPr>
              <a:t>重点讨论了</a:t>
            </a:r>
            <a:r>
              <a:rPr lang="en-US" altLang="zh-CN" sz="2400" dirty="0">
                <a:solidFill>
                  <a:srgbClr val="FF0000"/>
                </a:solidFill>
                <a:latin typeface="华文楷体" panose="02010600040101010101" pitchFamily="2" charset="-122"/>
                <a:ea typeface="华文楷体" panose="02010600040101010101" pitchFamily="2" charset="-122"/>
              </a:rPr>
              <a:t>CC</a:t>
            </a:r>
            <a:r>
              <a:rPr lang="zh-CN" altLang="zh-CN" sz="2400" dirty="0">
                <a:solidFill>
                  <a:srgbClr val="FF0000"/>
                </a:solidFill>
                <a:latin typeface="华文楷体" panose="02010600040101010101" pitchFamily="2" charset="-122"/>
                <a:ea typeface="华文楷体" panose="02010600040101010101" pitchFamily="2" charset="-122"/>
              </a:rPr>
              <a:t>标准</a:t>
            </a:r>
            <a:r>
              <a:rPr lang="zh-CN" altLang="zh-CN" sz="2400" dirty="0">
                <a:latin typeface="华文楷体" panose="02010600040101010101" pitchFamily="2" charset="-122"/>
                <a:ea typeface="华文楷体" panose="02010600040101010101" pitchFamily="2" charset="-122"/>
              </a:rPr>
              <a:t>的发展过程，并比较发展过程中各标准的特点；</a:t>
            </a:r>
            <a:endParaRPr lang="en-US" altLang="zh-CN" sz="2400" dirty="0">
              <a:latin typeface="华文楷体" panose="02010600040101010101" pitchFamily="2" charset="-122"/>
              <a:ea typeface="华文楷体" panose="02010600040101010101" pitchFamily="2" charset="-122"/>
            </a:endParaRPr>
          </a:p>
          <a:p>
            <a:pPr algn="just">
              <a:lnSpc>
                <a:spcPct val="150000"/>
              </a:lnSpc>
              <a:buFont typeface="Wingdings" panose="05000000000000000000" pitchFamily="2" charset="2"/>
              <a:buChar char="Ø"/>
            </a:pPr>
            <a:r>
              <a:rPr lang="zh-CN" altLang="zh-CN" sz="2400" dirty="0">
                <a:latin typeface="华文楷体" panose="02010600040101010101" pitchFamily="2" charset="-122"/>
                <a:ea typeface="华文楷体" panose="02010600040101010101" pitchFamily="2" charset="-122"/>
              </a:rPr>
              <a:t>管理标准中，重点介绍</a:t>
            </a:r>
            <a:r>
              <a:rPr lang="en-US" altLang="zh-CN" sz="2400" dirty="0">
                <a:latin typeface="华文楷体" panose="02010600040101010101" pitchFamily="2" charset="-122"/>
                <a:ea typeface="华文楷体" panose="02010600040101010101" pitchFamily="2" charset="-122"/>
              </a:rPr>
              <a:t>ISO17799</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ISO27001</a:t>
            </a:r>
            <a:r>
              <a:rPr lang="zh-CN" altLang="zh-CN" sz="2400" dirty="0">
                <a:latin typeface="华文楷体" panose="02010600040101010101" pitchFamily="2" charset="-122"/>
                <a:ea typeface="华文楷体" panose="02010600040101010101" pitchFamily="2" charset="-122"/>
              </a:rPr>
              <a:t>标准的发展过程，讨论这些标准的特点及相互关系；</a:t>
            </a:r>
            <a:endParaRPr lang="en-US" altLang="zh-CN" sz="2400" dirty="0">
              <a:latin typeface="华文楷体" panose="02010600040101010101" pitchFamily="2" charset="-122"/>
              <a:ea typeface="华文楷体" panose="02010600040101010101" pitchFamily="2" charset="-122"/>
            </a:endParaRPr>
          </a:p>
          <a:p>
            <a:pPr algn="just">
              <a:lnSpc>
                <a:spcPct val="150000"/>
              </a:lnSpc>
              <a:buFont typeface="Wingdings" panose="05000000000000000000" pitchFamily="2" charset="2"/>
              <a:buChar char="Ø"/>
            </a:pPr>
            <a:r>
              <a:rPr lang="zh-CN" altLang="zh-CN" sz="2400" dirty="0">
                <a:latin typeface="华文楷体" panose="02010600040101010101" pitchFamily="2" charset="-122"/>
                <a:ea typeface="华文楷体" panose="02010600040101010101" pitchFamily="2" charset="-122"/>
              </a:rPr>
              <a:t>最后总结了当前安全评估标准中存在的问题。</a:t>
            </a:r>
            <a:endParaRPr lang="en-US" altLang="zh-CN" sz="2400" dirty="0">
              <a:latin typeface="华文楷体" panose="02010600040101010101" pitchFamily="2" charset="-122"/>
              <a:ea typeface="华文楷体" panose="02010600040101010101" pitchFamily="2" charset="-122"/>
            </a:endParaRPr>
          </a:p>
          <a:p>
            <a:pPr algn="just">
              <a:buFont typeface="Wingdings" panose="05000000000000000000" pitchFamily="2" charset="2"/>
              <a:buChar char="v"/>
            </a:pPr>
            <a:endParaRPr lang="zh-CN" altLang="en-US" sz="24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fade">
                                      <p:cBhvr>
                                        <p:cTn id="7" dur="1000"/>
                                        <p:tgtEl>
                                          <p:spTgt spid="5123">
                                            <p:txEl>
                                              <p:pRg st="1" end="1"/>
                                            </p:txEl>
                                          </p:spTgt>
                                        </p:tgtEl>
                                      </p:cBhvr>
                                    </p:animEffect>
                                    <p:anim calcmode="lin" valueType="num">
                                      <p:cBhvr>
                                        <p:cTn id="8"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123">
                                            <p:txEl>
                                              <p:pRg st="2" end="2"/>
                                            </p:txEl>
                                          </p:spTgt>
                                        </p:tgtEl>
                                        <p:attrNameLst>
                                          <p:attrName>style.visibility</p:attrName>
                                        </p:attrNameLst>
                                      </p:cBhvr>
                                      <p:to>
                                        <p:strVal val="visible"/>
                                      </p:to>
                                    </p:set>
                                    <p:animEffect transition="in" filter="barn(inVertical)">
                                      <p:cBhvr>
                                        <p:cTn id="14" dur="500"/>
                                        <p:tgtEl>
                                          <p:spTgt spid="512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Effect transition="in" filter="wipe(down)">
                                      <p:cBhvr>
                                        <p:cTn id="19"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533400" y="481013"/>
            <a:ext cx="7315200" cy="433387"/>
          </a:xfrm>
        </p:spPr>
        <p:txBody>
          <a:bodyPr vert="horz" wrap="square" lIns="91440" tIns="45720" rIns="91440" bIns="45720" anchor="ctr" anchorCtr="0"/>
          <a:lstStyle/>
          <a:p>
            <a:r>
              <a:rPr lang="en-US" altLang="zh-CN" sz="3200" b="1" dirty="0">
                <a:ea typeface="宋体" panose="02010600030101010101" pitchFamily="2" charset="-122"/>
              </a:rPr>
              <a:t>1. </a:t>
            </a:r>
            <a:r>
              <a:rPr lang="zh-CN" altLang="zh-CN" sz="3200" b="1" dirty="0">
                <a:ea typeface="宋体" panose="02010600030101010101" pitchFamily="2" charset="-122"/>
              </a:rPr>
              <a:t>信息安全风险评估标准</a:t>
            </a:r>
            <a:endParaRPr lang="zh-CN" altLang="en-US" dirty="0">
              <a:ea typeface="宋体" panose="02010600030101010101" pitchFamily="2" charset="-122"/>
            </a:endParaRPr>
          </a:p>
        </p:txBody>
      </p:sp>
      <p:sp>
        <p:nvSpPr>
          <p:cNvPr id="7171" name="内容占位符 2"/>
          <p:cNvSpPr>
            <a:spLocks noGrp="1"/>
          </p:cNvSpPr>
          <p:nvPr>
            <p:ph idx="1"/>
          </p:nvPr>
        </p:nvSpPr>
        <p:spPr>
          <a:xfrm>
            <a:off x="457200" y="1524000"/>
            <a:ext cx="7848600" cy="5105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r>
              <a:rPr kumimoji="0" lang="zh-CN" altLang="en-US"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什么是信息安全风险评估？</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指评估</a:t>
            </a:r>
            <a:r>
              <a:rPr kumimoji="0" lang="zh-CN" altLang="en-US"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机构根据</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信息安全评估</a:t>
            </a:r>
            <a:r>
              <a:rPr kumimoji="0" lang="zh-CN" altLang="en-US"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标准</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，采用一定的方法对信息安全</a:t>
            </a:r>
            <a:r>
              <a:rPr kumimoji="0" lang="zh-CN" altLang="en-US"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产品或系统</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的</a:t>
            </a:r>
            <a:r>
              <a:rPr kumimoji="0" lang="zh-CN" altLang="en-US"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安全性</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进行</a:t>
            </a:r>
            <a:r>
              <a:rPr kumimoji="0" lang="zh-CN" altLang="en-US" sz="20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评价</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即：</a:t>
            </a:r>
            <a:r>
              <a:rPr kumimoji="0" lang="zh-CN" altLang="en-US" sz="2000" b="0" i="0" u="none" strike="noStrike" kern="0" cap="none" spc="0" normalizeH="0" baseline="0" noProof="0" dirty="0" smtClean="0">
                <a:ln>
                  <a:noFill/>
                </a:ln>
                <a:solidFill>
                  <a:schemeClr val="accent4">
                    <a:lumMod val="50000"/>
                    <a:lumOff val="50000"/>
                  </a:schemeClr>
                </a:solidFill>
                <a:effectLst/>
                <a:uLnTx/>
                <a:uFillTx/>
                <a:latin typeface="华文楷体" panose="02010600040101010101" pitchFamily="2" charset="-122"/>
                <a:ea typeface="华文楷体" panose="02010600040101010101" pitchFamily="2" charset="-122"/>
              </a:rPr>
              <a:t>以评估的方式对产品或系统进行衡量或评价</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342900" marR="0" lvl="0" indent="-342900" algn="just"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v"/>
              <a:defRPr/>
            </a:pPr>
            <a:r>
              <a:rPr kumimoji="0" lang="zh-CN" altLang="en-US"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怎么实施风险评估呢？</a:t>
            </a:r>
            <a:endParaRPr kumimoji="0" lang="en-US" altLang="zh-CN" sz="2400" b="0" i="0" u="none" strike="noStrike" kern="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第六章 </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信息安全风险评估标准（评估标准、等级保护、管理体系、</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27000系列、法律法规等</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第七章 </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信息安全管理体系（方法、</a:t>
            </a:r>
            <a:r>
              <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PDCA</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模型、过程、关系、实践）</a:t>
            </a:r>
            <a:endParaRPr kumimoji="0" lang="en-US" altLang="zh-CN"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第八章 </a:t>
            </a:r>
            <a:r>
              <a:rPr kumimoji="0" lang="zh-CN" altLang="en-US" sz="20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信息安全风险评估（策略、过程、方法、工具、实例报告等）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1">
                                            <p:txEl>
                                              <p:pRg st="4" end="4"/>
                                            </p:txEl>
                                          </p:spTgt>
                                        </p:tgtEl>
                                        <p:attrNameLst>
                                          <p:attrName>style.visibility</p:attrName>
                                        </p:attrNameLst>
                                      </p:cBhvr>
                                      <p:to>
                                        <p:strVal val="visible"/>
                                      </p:to>
                                    </p:set>
                                    <p:animEffect transition="in" filter="barn(inVertical)">
                                      <p:cBhvr>
                                        <p:cTn id="7" dur="500"/>
                                        <p:tgtEl>
                                          <p:spTgt spid="7171">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171">
                                            <p:txEl>
                                              <p:pRg st="5" end="5"/>
                                            </p:txEl>
                                          </p:spTgt>
                                        </p:tgtEl>
                                        <p:attrNameLst>
                                          <p:attrName>style.visibility</p:attrName>
                                        </p:attrNameLst>
                                      </p:cBhvr>
                                      <p:to>
                                        <p:strVal val="visible"/>
                                      </p:to>
                                    </p:set>
                                    <p:animEffect transition="in" filter="barn(inVertical)">
                                      <p:cBhvr>
                                        <p:cTn id="10" dur="500"/>
                                        <p:tgtEl>
                                          <p:spTgt spid="7171">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171">
                                            <p:txEl>
                                              <p:pRg st="6" end="6"/>
                                            </p:txEl>
                                          </p:spTgt>
                                        </p:tgtEl>
                                        <p:attrNameLst>
                                          <p:attrName>style.visibility</p:attrName>
                                        </p:attrNameLst>
                                      </p:cBhvr>
                                      <p:to>
                                        <p:strVal val="visible"/>
                                      </p:to>
                                    </p:set>
                                    <p:animEffect transition="in" filter="barn(inVertical)">
                                      <p:cBhvr>
                                        <p:cTn id="13" dur="500"/>
                                        <p:tgtEl>
                                          <p:spTgt spid="7171">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171">
                                            <p:txEl>
                                              <p:pRg st="7" end="7"/>
                                            </p:txEl>
                                          </p:spTgt>
                                        </p:tgtEl>
                                        <p:attrNameLst>
                                          <p:attrName>style.visibility</p:attrName>
                                        </p:attrNameLst>
                                      </p:cBhvr>
                                      <p:to>
                                        <p:strVal val="visible"/>
                                      </p:to>
                                    </p:set>
                                    <p:animEffect transition="in" filter="barn(inVertical)">
                                      <p:cBhvr>
                                        <p:cTn id="16" dur="500"/>
                                        <p:tgtEl>
                                          <p:spTgt spid="71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2"/>
          <p:cNvSpPr>
            <a:spLocks noGrp="1" noChangeArrowheads="1"/>
          </p:cNvSpPr>
          <p:nvPr>
            <p:ph idx="1"/>
          </p:nvPr>
        </p:nvSpPr>
        <p:spPr>
          <a:xfrm>
            <a:off x="304800" y="6096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国外的技术标准：</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方正粗黑宋简体" panose="02000000000000000000" pitchFamily="2" charset="-122"/>
                <a:ea typeface="方正粗黑宋简体" panose="02000000000000000000" pitchFamily="2" charset="-122"/>
              </a:rPr>
              <a:t>美国国防部的</a:t>
            </a:r>
            <a:r>
              <a:rPr kumimoji="0" lang="en-US" altLang="zh-CN" sz="2800" b="0" i="0" u="none" strike="noStrike" kern="0" cap="none" spc="0" normalizeH="0" baseline="0" noProof="0" dirty="0" smtClean="0">
                <a:ln>
                  <a:noFill/>
                </a:ln>
                <a:solidFill>
                  <a:srgbClr val="FF0000"/>
                </a:solidFill>
                <a:effectLst/>
                <a:uLnTx/>
                <a:uFillTx/>
                <a:latin typeface="方正粗黑宋简体" panose="02000000000000000000" pitchFamily="2" charset="-122"/>
                <a:ea typeface="方正粗黑宋简体" panose="02000000000000000000" pitchFamily="2" charset="-122"/>
              </a:rPr>
              <a:t>TCSEC</a:t>
            </a:r>
            <a:r>
              <a:rPr kumimoji="0" lang="zh-CN" altLang="en-US"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mn-lt"/>
              </a:rPr>
              <a:t>(Trusted Computer System Evaluation Criteria; commonly called the "Orange Book")</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1967</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年美国国防部（</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DoD</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）针对计算机使用环境中的安全策略进行研究。</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just"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1972</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年，</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J.P.Anderson</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提出了引用监控机、引用验证机制和安全核等根本思想，揭示安全规则的严格模型化的重要性，并提出了独立的安全评价方法。</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just"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之后，</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D.E.Bell</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和</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L.J.LaPadula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提出了著名</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Bell &amp; </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LaPadula</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模型，该模型在</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MULTICS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系统中得到了成功实现，至今仍是实施保密性强制访问控制的基础。</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p:txBody>
      </p:sp>
      <p:sp>
        <p:nvSpPr>
          <p:cNvPr id="7171" name="标题 1"/>
          <p:cNvSpPr>
            <a:spLocks noGrp="1"/>
          </p:cNvSpPr>
          <p:nvPr>
            <p:ph type="title"/>
          </p:nvPr>
        </p:nvSpPr>
        <p:spPr>
          <a:xfrm>
            <a:off x="731838" y="323850"/>
            <a:ext cx="7375525" cy="571500"/>
          </a:xfrm>
        </p:spPr>
        <p:txBody>
          <a:bodyPr vert="horz" wrap="square" lIns="91440" tIns="45720" rIns="91440" bIns="45720" anchor="ctr" anchorCtr="0"/>
          <a:lstStyle/>
          <a:p>
            <a:r>
              <a:rPr lang="en-US" altLang="zh-CN" dirty="0">
                <a:ea typeface="宋体" panose="02010600030101010101" pitchFamily="2" charset="-122"/>
              </a:rPr>
              <a:t>1. </a:t>
            </a:r>
            <a:r>
              <a:rPr lang="zh-CN" altLang="zh-CN" dirty="0">
                <a:ea typeface="宋体" panose="02010600030101010101" pitchFamily="2" charset="-122"/>
              </a:rPr>
              <a:t>风险评估技术标准</a:t>
            </a: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wipe(down)">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wipe(down)">
                                      <p:cBhvr>
                                        <p:cTn id="17" dur="500"/>
                                        <p:tgtEl>
                                          <p:spTgt spid="19459">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wipe(down)">
                                      <p:cBhvr>
                                        <p:cTn id="20" dur="500"/>
                                        <p:tgtEl>
                                          <p:spTgt spid="19459">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Effect transition="in" filter="wipe(down)">
                                      <p:cBhvr>
                                        <p:cTn id="23" dur="500"/>
                                        <p:tgtEl>
                                          <p:spTgt spid="19459">
                                            <p:txEl>
                                              <p:pRg st="5" end="5"/>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9459">
                                            <p:txEl>
                                              <p:pRg st="6" end="6"/>
                                            </p:txEl>
                                          </p:spTgt>
                                        </p:tgtEl>
                                        <p:attrNameLst>
                                          <p:attrName>style.visibility</p:attrName>
                                        </p:attrNameLst>
                                      </p:cBhvr>
                                      <p:to>
                                        <p:strVal val="visible"/>
                                      </p:to>
                                    </p:set>
                                    <p:animEffect transition="in" filter="wipe(down)">
                                      <p:cBhvr>
                                        <p:cTn id="26" dur="5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 </a:t>
            </a:r>
            <a:r>
              <a:rPr lang="zh-CN" altLang="zh-CN" dirty="0">
                <a:ea typeface="宋体" panose="02010600030101010101" pitchFamily="2" charset="-122"/>
              </a:rPr>
              <a:t>风险评估技术标准</a:t>
            </a:r>
            <a:endParaRPr lang="zh-CN" altLang="en-US" dirty="0">
              <a:ea typeface="宋体" panose="02010600030101010101" pitchFamily="2" charset="-122"/>
            </a:endParaRPr>
          </a:p>
        </p:txBody>
      </p:sp>
      <p:sp>
        <p:nvSpPr>
          <p:cNvPr id="8195" name="内容占位符 2"/>
          <p:cNvSpPr>
            <a:spLocks noGrp="1"/>
          </p:cNvSpPr>
          <p:nvPr>
            <p:ph idx="1"/>
          </p:nvPr>
        </p:nvSpPr>
        <p:spPr>
          <a:xfrm>
            <a:off x="228600" y="1524000"/>
            <a:ext cx="8229600" cy="5105400"/>
          </a:xfrm>
        </p:spPr>
        <p:txBody>
          <a:bodyPr vert="horz" wrap="square" lIns="91440" tIns="45720" rIns="91440" bIns="45720" anchor="t" anchorCtr="0"/>
          <a:lstStyle/>
          <a:p>
            <a:pPr lvl="1" eaLnBrk="1" hangingPunct="1">
              <a:buFont typeface="Wingdings" panose="05000000000000000000" pitchFamily="2" charset="2"/>
              <a:buChar char="l"/>
            </a:pPr>
            <a:r>
              <a:rPr lang="en-US" altLang="zh-CN" sz="2400" dirty="0">
                <a:latin typeface="华文楷体" panose="02010600040101010101" pitchFamily="2" charset="-122"/>
                <a:ea typeface="华文楷体" panose="02010600040101010101" pitchFamily="2" charset="-122"/>
              </a:rPr>
              <a:t>1983</a:t>
            </a:r>
            <a:r>
              <a:rPr lang="zh-CN" altLang="zh-CN" sz="2400" dirty="0">
                <a:latin typeface="华文楷体" panose="02010600040101010101" pitchFamily="2" charset="-122"/>
                <a:ea typeface="华文楷体" panose="02010600040101010101" pitchFamily="2" charset="-122"/>
              </a:rPr>
              <a:t>年美国国防部首次公布了《可信计算机系统评估准则》（</a:t>
            </a:r>
            <a:r>
              <a:rPr lang="en-US" altLang="zh-CN" sz="2400" dirty="0">
                <a:latin typeface="华文楷体" panose="02010600040101010101" pitchFamily="2" charset="-122"/>
                <a:ea typeface="华文楷体" panose="02010600040101010101" pitchFamily="2" charset="-122"/>
              </a:rPr>
              <a:t>TCSEC</a:t>
            </a:r>
            <a:r>
              <a:rPr lang="zh-CN" altLang="zh-CN" sz="2400" dirty="0">
                <a:latin typeface="华文楷体" panose="02010600040101010101" pitchFamily="2" charset="-122"/>
                <a:ea typeface="华文楷体" panose="02010600040101010101" pitchFamily="2" charset="-122"/>
              </a:rPr>
              <a:t>）以用于对操作系统的评估，是</a:t>
            </a:r>
            <a:r>
              <a:rPr lang="en-US" altLang="zh-CN" sz="2400" dirty="0">
                <a:latin typeface="华文楷体" panose="02010600040101010101" pitchFamily="2" charset="-122"/>
                <a:ea typeface="华文楷体" panose="02010600040101010101" pitchFamily="2" charset="-122"/>
              </a:rPr>
              <a:t>IT</a:t>
            </a:r>
            <a:r>
              <a:rPr lang="zh-CN" altLang="zh-CN" sz="2400" dirty="0">
                <a:latin typeface="华文楷体" panose="02010600040101010101" pitchFamily="2" charset="-122"/>
                <a:ea typeface="华文楷体" panose="02010600040101010101" pitchFamily="2" charset="-122"/>
              </a:rPr>
              <a:t>历史上的第一个安全评估标准</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Char char="l"/>
            </a:pPr>
            <a:endParaRPr lang="en-US" altLang="zh-CN" sz="24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Char char="l"/>
            </a:pPr>
            <a:r>
              <a:rPr lang="en-US" altLang="zh-CN" sz="2400" dirty="0">
                <a:latin typeface="华文楷体" panose="02010600040101010101" pitchFamily="2" charset="-122"/>
                <a:ea typeface="华文楷体" panose="02010600040101010101" pitchFamily="2" charset="-122"/>
              </a:rPr>
              <a:t>1985</a:t>
            </a:r>
            <a:r>
              <a:rPr lang="zh-CN" altLang="zh-CN" sz="2400" dirty="0">
                <a:latin typeface="华文楷体" panose="02010600040101010101" pitchFamily="2" charset="-122"/>
                <a:ea typeface="华文楷体" panose="02010600040101010101" pitchFamily="2" charset="-122"/>
              </a:rPr>
              <a:t>年公布了第二版。</a:t>
            </a:r>
            <a:r>
              <a:rPr lang="en-US" altLang="zh-CN" sz="2400" dirty="0">
                <a:latin typeface="华文楷体" panose="02010600040101010101" pitchFamily="2" charset="-122"/>
                <a:ea typeface="华文楷体" panose="02010600040101010101" pitchFamily="2" charset="-122"/>
              </a:rPr>
              <a:t>TCSEC</a:t>
            </a:r>
            <a:r>
              <a:rPr lang="zh-CN" altLang="zh-CN" sz="2400" dirty="0">
                <a:latin typeface="华文楷体" panose="02010600040101010101" pitchFamily="2" charset="-122"/>
                <a:ea typeface="华文楷体" panose="02010600040101010101" pitchFamily="2" charset="-122"/>
              </a:rPr>
              <a:t>所列举的安全评估准则主要是针对美国政府的安全要求，着重点是基于大型计算机系统的机密文档处理方面的安全要求。</a:t>
            </a:r>
            <a:endParaRPr lang="en-US" altLang="zh-CN" sz="24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Char char="l"/>
            </a:pPr>
            <a:endParaRPr lang="en-US" altLang="zh-CN" sz="2400" dirty="0">
              <a:latin typeface="华文楷体" panose="02010600040101010101" pitchFamily="2" charset="-122"/>
              <a:ea typeface="华文楷体" panose="02010600040101010101" pitchFamily="2" charset="-122"/>
            </a:endParaRPr>
          </a:p>
          <a:p>
            <a:pPr lvl="1" eaLnBrk="1" hangingPunct="1">
              <a:buFont typeface="Wingdings" panose="05000000000000000000" pitchFamily="2" charset="2"/>
              <a:buChar char="l"/>
            </a:pPr>
            <a:r>
              <a:rPr lang="zh-CN" altLang="zh-CN" sz="2400" dirty="0">
                <a:latin typeface="华文楷体" panose="02010600040101010101" pitchFamily="2" charset="-122"/>
                <a:ea typeface="华文楷体" panose="02010600040101010101" pitchFamily="2" charset="-122"/>
              </a:rPr>
              <a:t>后来，</a:t>
            </a:r>
            <a:r>
              <a:rPr lang="en-US" altLang="zh-CN" sz="2400" dirty="0">
                <a:latin typeface="华文楷体" panose="02010600040101010101" pitchFamily="2" charset="-122"/>
                <a:ea typeface="华文楷体" panose="02010600040101010101" pitchFamily="2" charset="-122"/>
              </a:rPr>
              <a:t>DoD</a:t>
            </a:r>
            <a:r>
              <a:rPr lang="zh-CN" altLang="zh-CN" sz="2400" dirty="0">
                <a:latin typeface="华文楷体" panose="02010600040101010101" pitchFamily="2" charset="-122"/>
                <a:ea typeface="华文楷体" panose="02010600040101010101" pitchFamily="2" charset="-122"/>
              </a:rPr>
              <a:t>又发布了可信数据库解释（</a:t>
            </a:r>
            <a:r>
              <a:rPr lang="en-US" altLang="zh-CN" sz="2400" dirty="0">
                <a:latin typeface="华文楷体" panose="02010600040101010101" pitchFamily="2" charset="-122"/>
                <a:ea typeface="华文楷体" panose="02010600040101010101" pitchFamily="2" charset="-122"/>
              </a:rPr>
              <a:t>TDI</a:t>
            </a:r>
            <a:r>
              <a:rPr lang="zh-CN" altLang="zh-CN" sz="2400" dirty="0">
                <a:latin typeface="华文楷体" panose="02010600040101010101" pitchFamily="2" charset="-122"/>
                <a:ea typeface="华文楷体" panose="02010600040101010101" pitchFamily="2" charset="-122"/>
              </a:rPr>
              <a:t>）、可信网络解释（</a:t>
            </a:r>
            <a:r>
              <a:rPr lang="en-US" altLang="zh-CN" sz="2400" dirty="0">
                <a:latin typeface="华文楷体" panose="02010600040101010101" pitchFamily="2" charset="-122"/>
                <a:ea typeface="华文楷体" panose="02010600040101010101" pitchFamily="2" charset="-122"/>
              </a:rPr>
              <a:t>TNI</a:t>
            </a:r>
            <a:r>
              <a:rPr lang="zh-CN" altLang="zh-CN" sz="2400" dirty="0">
                <a:latin typeface="华文楷体" panose="02010600040101010101" pitchFamily="2" charset="-122"/>
                <a:ea typeface="华文楷体" panose="02010600040101010101" pitchFamily="2" charset="-122"/>
              </a:rPr>
              <a:t>）等一系列与</a:t>
            </a:r>
            <a:r>
              <a:rPr lang="en-US" altLang="zh-CN" sz="2400" dirty="0">
                <a:latin typeface="华文楷体" panose="02010600040101010101" pitchFamily="2" charset="-122"/>
                <a:ea typeface="华文楷体" panose="02010600040101010101" pitchFamily="2" charset="-122"/>
              </a:rPr>
              <a:t>TCSEC</a:t>
            </a:r>
            <a:r>
              <a:rPr lang="zh-CN" altLang="zh-CN" sz="2400" dirty="0">
                <a:latin typeface="华文楷体" panose="02010600040101010101" pitchFamily="2" charset="-122"/>
                <a:ea typeface="华文楷体" panose="02010600040101010101" pitchFamily="2" charset="-122"/>
              </a:rPr>
              <a:t>相关的说明和指南，由于这些文档发行时</a:t>
            </a:r>
            <a:r>
              <a:rPr lang="zh-CN" altLang="zh-CN" sz="2400" dirty="0">
                <a:solidFill>
                  <a:srgbClr val="FF0000"/>
                </a:solidFill>
                <a:latin typeface="华文楷体" panose="02010600040101010101" pitchFamily="2" charset="-122"/>
                <a:ea typeface="华文楷体" panose="02010600040101010101" pitchFamily="2" charset="-122"/>
              </a:rPr>
              <a:t>封面均为不同的颜色</a:t>
            </a:r>
            <a:r>
              <a:rPr lang="zh-CN" altLang="zh-CN" sz="2400" dirty="0">
                <a:latin typeface="华文楷体" panose="02010600040101010101" pitchFamily="2" charset="-122"/>
                <a:ea typeface="华文楷体" panose="02010600040101010101" pitchFamily="2" charset="-122"/>
              </a:rPr>
              <a:t>，因此又被称为</a:t>
            </a:r>
            <a:r>
              <a:rPr lang="en-US" altLang="zh-CN" sz="2400" dirty="0">
                <a:latin typeface="华文楷体" panose="02010600040101010101" pitchFamily="2" charset="-122"/>
                <a:ea typeface="华文楷体" panose="02010600040101010101" pitchFamily="2" charset="-122"/>
              </a:rPr>
              <a:t>“</a:t>
            </a:r>
            <a:r>
              <a:rPr lang="zh-CN" altLang="zh-CN" sz="2400" dirty="0">
                <a:solidFill>
                  <a:srgbClr val="FF0000"/>
                </a:solidFill>
                <a:latin typeface="华文楷体" panose="02010600040101010101" pitchFamily="2" charset="-122"/>
                <a:ea typeface="华文楷体" panose="02010600040101010101" pitchFamily="2" charset="-122"/>
              </a:rPr>
              <a:t>彩虹计划</a:t>
            </a:r>
            <a:r>
              <a:rPr lang="en-US" altLang="zh-CN" sz="2400" dirty="0">
                <a:latin typeface="华文楷体" panose="02010600040101010101" pitchFamily="2" charset="-122"/>
                <a:ea typeface="华文楷体" panose="02010600040101010101" pitchFamily="2" charset="-122"/>
              </a:rPr>
              <a:t>”</a:t>
            </a:r>
            <a:r>
              <a:rPr lang="zh-CN" altLang="zh-CN" sz="2400" dirty="0">
                <a:latin typeface="华文楷体" panose="02010600040101010101" pitchFamily="2" charset="-122"/>
                <a:ea typeface="华文楷体" panose="02010600040101010101" pitchFamily="2" charset="-122"/>
              </a:rPr>
              <a:t>。</a:t>
            </a:r>
            <a:endParaRPr lang="en-US" altLang="zh-CN" sz="2400" b="1" dirty="0">
              <a:latin typeface="华文楷体" panose="02010600040101010101" pitchFamily="2" charset="-122"/>
              <a:ea typeface="华文楷体" panose="02010600040101010101" pitchFamily="2" charset="-122"/>
            </a:endParaRPr>
          </a:p>
          <a:p>
            <a:pPr eaLnBrk="1" hangingPunct="1">
              <a:buNone/>
            </a:pPr>
            <a:endParaRPr lang="zh-CN" altLang="en-US" dirty="0">
              <a:ea typeface="楷体_GB2312" pitchFamily="49" charset="-122"/>
            </a:endParaRPr>
          </a:p>
          <a:p>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2" end="2"/>
                                            </p:txEl>
                                          </p:spTgt>
                                        </p:tgtEl>
                                        <p:attrNameLst>
                                          <p:attrName>style.visibility</p:attrName>
                                        </p:attrNameLst>
                                      </p:cBhvr>
                                      <p:to>
                                        <p:strVal val="visible"/>
                                      </p:to>
                                    </p:set>
                                    <p:animEffect transition="in" filter="fade">
                                      <p:cBhvr>
                                        <p:cTn id="7" dur="1000"/>
                                        <p:tgtEl>
                                          <p:spTgt spid="8195">
                                            <p:txEl>
                                              <p:pRg st="2" end="2"/>
                                            </p:txEl>
                                          </p:spTgt>
                                        </p:tgtEl>
                                      </p:cBhvr>
                                    </p:animEffect>
                                    <p:anim calcmode="lin" valueType="num">
                                      <p:cBhvr>
                                        <p:cTn id="8"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vert="horz" wrap="square" lIns="91440" tIns="45720" rIns="91440" bIns="45720" anchor="ctr" anchorCtr="0"/>
          <a:lstStyle/>
          <a:p>
            <a:pPr eaLnBrk="1" hangingPunct="1">
              <a:spcAft>
                <a:spcPct val="20000"/>
              </a:spcAft>
              <a:buClr>
                <a:srgbClr val="AC04A0"/>
              </a:buClr>
            </a:pPr>
            <a:r>
              <a:rPr lang="en-US" altLang="zh-CN" dirty="0">
                <a:ea typeface="宋体" panose="02010600030101010101" pitchFamily="2" charset="-122"/>
              </a:rPr>
              <a:t>1. </a:t>
            </a:r>
            <a:r>
              <a:rPr lang="zh-CN" altLang="zh-CN" dirty="0">
                <a:ea typeface="宋体" panose="02010600030101010101" pitchFamily="2" charset="-122"/>
              </a:rPr>
              <a:t>风险评估技术标准</a:t>
            </a:r>
            <a:endParaRPr lang="en-US" altLang="zh-CN" b="1" dirty="0">
              <a:latin typeface="Times New Roman" panose="02020603050405020304" pitchFamily="18" charset="0"/>
              <a:ea typeface="楷体_GB2312" pitchFamily="49" charset="-122"/>
            </a:endParaRPr>
          </a:p>
        </p:txBody>
      </p:sp>
      <p:sp>
        <p:nvSpPr>
          <p:cNvPr id="19459" name="内容占位符 2"/>
          <p:cNvSpPr>
            <a:spLocks noGrp="1" noChangeArrowheads="1"/>
          </p:cNvSpPr>
          <p:nvPr>
            <p:ph idx="1"/>
          </p:nvPr>
        </p:nvSpPr>
        <p:spPr>
          <a:xfrm>
            <a:off x="152400" y="1524000"/>
            <a:ext cx="8229600" cy="51054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欧共体委员会的</a:t>
            </a:r>
            <a:r>
              <a:rPr kumimoji="0" lang="en-US" altLang="zh-CN" sz="2800" b="0" i="0" u="none" strike="noStrike" kern="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rPr>
              <a:t>ITSEC</a:t>
            </a: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mn-lt"/>
              </a:rPr>
              <a:t>Information Technology Security Evaluation Criteria</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1988</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年德国信息安全局推出的计算机安全评价标准。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1989</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年英国的贸易工业部和国防部联合开发了计算机安全评价标准。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1990</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年，欧共体委员会（</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CEC</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）首度公布了由英国、德国、法国和荷兰提出的《信息技术安全性评估准则》（</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ITSEC</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）安全评估标准，其目的是成为国家认证机构进行认证活动的基准，还有更重要的一点就是国家之间评估结果的互认。</a:t>
            </a:r>
          </a:p>
          <a:p>
            <a:pPr marL="914400" marR="0" lvl="2" indent="0" algn="l" defTabSz="914400" rtl="0" eaLnBrk="1" fontAlgn="base" latinLnBrk="0" hangingPunct="1">
              <a:lnSpc>
                <a:spcPct val="100000"/>
              </a:lnSpc>
              <a:spcBef>
                <a:spcPct val="20000"/>
              </a:spcBef>
              <a:spcAft>
                <a:spcPct val="0"/>
              </a:spcAft>
              <a:buClr>
                <a:schemeClr val="tx1"/>
              </a:buClr>
              <a:buSzTx/>
              <a:buFontTx/>
              <a:buNone/>
              <a:defRPr/>
            </a:pP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20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fade">
                                      <p:cBhvr>
                                        <p:cTn id="17" dur="20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fade">
                                      <p:cBhvr>
                                        <p:cTn id="22" dur="20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fade">
                                      <p:cBhvr>
                                        <p:cTn id="2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 </a:t>
            </a:r>
            <a:r>
              <a:rPr lang="zh-CN" altLang="zh-CN" dirty="0">
                <a:ea typeface="宋体" panose="02010600030101010101" pitchFamily="2" charset="-122"/>
              </a:rPr>
              <a:t>风险评估技术标准</a:t>
            </a:r>
            <a:endParaRPr lang="zh-CN" altLang="en-US" b="1" dirty="0">
              <a:ea typeface="宋体" panose="02010600030101010101" pitchFamily="2" charset="-122"/>
            </a:endParaRPr>
          </a:p>
        </p:txBody>
      </p:sp>
      <p:sp>
        <p:nvSpPr>
          <p:cNvPr id="19459" name="内容占位符 2"/>
          <p:cNvSpPr>
            <a:spLocks noGrp="1"/>
          </p:cNvSpPr>
          <p:nvPr>
            <p:ph idx="1"/>
          </p:nvPr>
        </p:nvSpPr>
        <p:spPr>
          <a:xfrm>
            <a:off x="228600" y="762000"/>
            <a:ext cx="8191500" cy="5410200"/>
          </a:xfrm>
        </p:spPr>
        <p:txBody>
          <a:bodyPr vert="horz" wrap="square" lIns="91440" tIns="45720" rIns="91440" bIns="45720" anchor="t" anchorCtr="0"/>
          <a:lstStyle/>
          <a:p>
            <a:pPr eaLnBrk="1" hangingPunct="1">
              <a:spcAft>
                <a:spcPct val="20000"/>
              </a:spcAft>
              <a:buClr>
                <a:srgbClr val="AC04A0"/>
              </a:buClr>
              <a:buNone/>
            </a:pPr>
            <a:endParaRPr lang="en-US" altLang="zh-CN" b="1" dirty="0">
              <a:latin typeface="Times New Roman" panose="02020603050405020304" pitchFamily="18" charset="0"/>
              <a:ea typeface="楷体_GB2312" pitchFamily="49" charset="-122"/>
            </a:endParaRPr>
          </a:p>
          <a:p>
            <a:pPr lvl="1" eaLnBrk="1" hangingPunct="1"/>
            <a:r>
              <a:rPr lang="zh-CN" altLang="zh-CN" dirty="0">
                <a:latin typeface="方正粗黑宋简体" panose="02000000000000000000" pitchFamily="2" charset="-122"/>
                <a:ea typeface="方正粗黑宋简体" panose="02000000000000000000" pitchFamily="2" charset="-122"/>
              </a:rPr>
              <a:t>加拿大系统安全中心的</a:t>
            </a:r>
            <a:r>
              <a:rPr lang="en-US" altLang="zh-CN" dirty="0">
                <a:solidFill>
                  <a:srgbClr val="FF0000"/>
                </a:solidFill>
                <a:latin typeface="方正粗黑宋简体" panose="02000000000000000000" pitchFamily="2" charset="-122"/>
                <a:ea typeface="方正粗黑宋简体" panose="02000000000000000000" pitchFamily="2" charset="-122"/>
              </a:rPr>
              <a:t>CTCPEC</a:t>
            </a:r>
            <a:r>
              <a:rPr lang="zh-CN" altLang="en-US" b="1" dirty="0">
                <a:solidFill>
                  <a:srgbClr val="000000"/>
                </a:solidFill>
                <a:latin typeface="楷体_GB2312" pitchFamily="49" charset="-122"/>
                <a:ea typeface="楷体_GB2312" pitchFamily="49" charset="-122"/>
              </a:rPr>
              <a:t>：</a:t>
            </a:r>
            <a:endParaRPr lang="en-US" altLang="zh-CN" b="1" dirty="0">
              <a:solidFill>
                <a:srgbClr val="000000"/>
              </a:solidFill>
              <a:latin typeface="楷体_GB2312" pitchFamily="49" charset="-122"/>
              <a:ea typeface="楷体_GB2312" pitchFamily="49" charset="-122"/>
            </a:endParaRPr>
          </a:p>
          <a:p>
            <a:pPr lvl="2" eaLnBrk="1" hangingPunct="1"/>
            <a:r>
              <a:rPr lang="en-US" altLang="zh-CN" dirty="0">
                <a:ea typeface="宋体" panose="02010600030101010101" pitchFamily="2" charset="-122"/>
              </a:rPr>
              <a:t>1992</a:t>
            </a:r>
            <a:r>
              <a:rPr lang="zh-CN" altLang="zh-CN" dirty="0">
                <a:ea typeface="宋体" panose="02010600030101010101" pitchFamily="2" charset="-122"/>
              </a:rPr>
              <a:t>年</a:t>
            </a:r>
            <a:r>
              <a:rPr lang="en-US" altLang="zh-CN" dirty="0">
                <a:ea typeface="宋体" panose="02010600030101010101" pitchFamily="2" charset="-122"/>
              </a:rPr>
              <a:t>4</a:t>
            </a:r>
            <a:r>
              <a:rPr lang="zh-CN" altLang="zh-CN" dirty="0">
                <a:ea typeface="宋体" panose="02010600030101010101" pitchFamily="2" charset="-122"/>
              </a:rPr>
              <a:t>月，加拿大发布《加拿大可信计算机产品评估准则》（</a:t>
            </a:r>
            <a:r>
              <a:rPr lang="en-US" altLang="zh-CN" dirty="0">
                <a:ea typeface="宋体" panose="02010600030101010101" pitchFamily="2" charset="-122"/>
              </a:rPr>
              <a:t>CTCPEC</a:t>
            </a:r>
            <a:r>
              <a:rPr lang="zh-CN" altLang="zh-CN" dirty="0">
                <a:ea typeface="宋体" panose="02010600030101010101" pitchFamily="2" charset="-122"/>
              </a:rPr>
              <a:t>）的草案，它是在</a:t>
            </a:r>
            <a:r>
              <a:rPr lang="en-US" altLang="zh-CN" dirty="0">
                <a:ea typeface="宋体" panose="02010600030101010101" pitchFamily="2" charset="-122"/>
              </a:rPr>
              <a:t>TCSEC</a:t>
            </a:r>
            <a:r>
              <a:rPr lang="zh-CN" altLang="zh-CN" dirty="0">
                <a:ea typeface="宋体" panose="02010600030101010101" pitchFamily="2" charset="-122"/>
              </a:rPr>
              <a:t>和</a:t>
            </a:r>
            <a:r>
              <a:rPr lang="en-US" altLang="zh-CN" dirty="0">
                <a:ea typeface="宋体" panose="02010600030101010101" pitchFamily="2" charset="-122"/>
              </a:rPr>
              <a:t>ITSEC</a:t>
            </a:r>
            <a:r>
              <a:rPr lang="zh-CN" altLang="zh-CN" dirty="0">
                <a:ea typeface="宋体" panose="02010600030101010101" pitchFamily="2" charset="-122"/>
              </a:rPr>
              <a:t>基础上的进一步发展，而且它实现结构化安全功能的方法也影响了后来的国际标准。</a:t>
            </a:r>
            <a:endParaRPr lang="en-US" altLang="zh-CN" dirty="0">
              <a:ea typeface="宋体" panose="02010600030101010101" pitchFamily="2" charset="-122"/>
            </a:endParaRPr>
          </a:p>
          <a:p>
            <a:pPr lvl="1" eaLnBrk="1" hangingPunct="1"/>
            <a:r>
              <a:rPr lang="zh-CN" altLang="zh-CN" dirty="0">
                <a:latin typeface="方正粗黑宋简体" panose="02000000000000000000" pitchFamily="2" charset="-122"/>
                <a:ea typeface="方正粗黑宋简体" panose="02000000000000000000" pitchFamily="2" charset="-122"/>
              </a:rPr>
              <a:t>日本电子工业发展协会的</a:t>
            </a:r>
            <a:r>
              <a:rPr lang="en-US" altLang="zh-CN" dirty="0">
                <a:solidFill>
                  <a:srgbClr val="FF0000"/>
                </a:solidFill>
                <a:latin typeface="方正粗黑宋简体" panose="02000000000000000000" pitchFamily="2" charset="-122"/>
                <a:ea typeface="方正粗黑宋简体" panose="02000000000000000000" pitchFamily="2" charset="-122"/>
              </a:rPr>
              <a:t>JCSEC-FR</a:t>
            </a:r>
            <a:r>
              <a:rPr lang="zh-CN" altLang="en-US" dirty="0">
                <a:latin typeface="方正粗黑宋简体" panose="02000000000000000000" pitchFamily="2" charset="-122"/>
                <a:ea typeface="方正粗黑宋简体" panose="02000000000000000000" pitchFamily="2" charset="-122"/>
              </a:rPr>
              <a:t>：</a:t>
            </a:r>
            <a:endParaRPr lang="en-US" altLang="zh-CN" dirty="0">
              <a:latin typeface="方正粗黑宋简体" panose="02000000000000000000" pitchFamily="2" charset="-122"/>
              <a:ea typeface="方正粗黑宋简体" panose="02000000000000000000" pitchFamily="2" charset="-122"/>
            </a:endParaRPr>
          </a:p>
          <a:p>
            <a:pPr lvl="2" eaLnBrk="1" hangingPunct="1"/>
            <a:r>
              <a:rPr lang="en-US" altLang="zh-CN" dirty="0">
                <a:ea typeface="宋体" panose="02010600030101010101" pitchFamily="2" charset="-122"/>
              </a:rPr>
              <a:t>1992</a:t>
            </a:r>
            <a:r>
              <a:rPr lang="zh-CN" altLang="zh-CN" dirty="0">
                <a:ea typeface="宋体" panose="02010600030101010101" pitchFamily="2" charset="-122"/>
              </a:rPr>
              <a:t>年</a:t>
            </a:r>
            <a:r>
              <a:rPr lang="en-US" altLang="zh-CN" dirty="0">
                <a:ea typeface="宋体" panose="02010600030101010101" pitchFamily="2" charset="-122"/>
              </a:rPr>
              <a:t>8</a:t>
            </a:r>
            <a:r>
              <a:rPr lang="zh-CN" altLang="zh-CN" dirty="0">
                <a:ea typeface="宋体" panose="02010600030101010101" pitchFamily="2" charset="-122"/>
              </a:rPr>
              <a:t>月，日本电子工业发展协会（</a:t>
            </a:r>
            <a:r>
              <a:rPr lang="en-US" altLang="zh-CN" dirty="0">
                <a:ea typeface="宋体" panose="02010600030101010101" pitchFamily="2" charset="-122"/>
              </a:rPr>
              <a:t>JEIDA</a:t>
            </a:r>
            <a:r>
              <a:rPr lang="zh-CN" altLang="zh-CN" dirty="0">
                <a:ea typeface="宋体" panose="02010600030101010101" pitchFamily="2" charset="-122"/>
              </a:rPr>
              <a:t>）公布了《日本计算机安全评估准则</a:t>
            </a:r>
            <a:r>
              <a:rPr lang="en-US" altLang="zh-CN" dirty="0">
                <a:ea typeface="宋体" panose="02010600030101010101" pitchFamily="2" charset="-122"/>
              </a:rPr>
              <a:t>-</a:t>
            </a:r>
            <a:r>
              <a:rPr lang="zh-CN" altLang="zh-CN" dirty="0">
                <a:ea typeface="宋体" panose="02010600030101010101" pitchFamily="2" charset="-122"/>
              </a:rPr>
              <a:t>功能要求》（</a:t>
            </a:r>
            <a:r>
              <a:rPr lang="en-US" altLang="zh-CN" dirty="0">
                <a:ea typeface="宋体" panose="02010600030101010101" pitchFamily="2" charset="-122"/>
              </a:rPr>
              <a:t>JCSEC-FR</a:t>
            </a:r>
            <a:r>
              <a:rPr lang="zh-CN" altLang="zh-CN" dirty="0">
                <a:ea typeface="宋体" panose="02010600030101010101" pitchFamily="2" charset="-122"/>
              </a:rPr>
              <a:t>）。该文件与</a:t>
            </a:r>
            <a:r>
              <a:rPr lang="en-US" altLang="zh-CN" dirty="0">
                <a:ea typeface="宋体" panose="02010600030101010101" pitchFamily="2" charset="-122"/>
              </a:rPr>
              <a:t>ITSEC</a:t>
            </a:r>
            <a:r>
              <a:rPr lang="zh-CN" altLang="zh-CN" dirty="0">
                <a:ea typeface="宋体" panose="02010600030101010101" pitchFamily="2" charset="-122"/>
              </a:rPr>
              <a:t>的功能部分结合得非常紧密，描述也较为详细。</a:t>
            </a:r>
          </a:p>
          <a:p>
            <a:pPr lvl="1" eaLnBrk="1" hangingPunct="1"/>
            <a:endParaRPr lang="zh-CN" altLang="zh-CN" dirty="0">
              <a:ea typeface="宋体" panose="02010600030101010101" pitchFamily="2" charset="-122"/>
            </a:endParaRPr>
          </a:p>
          <a:p>
            <a:pPr lvl="1" eaLnBrk="1" hangingPunct="1"/>
            <a:endParaRPr lang="en-US" altLang="zh-CN" b="1" dirty="0">
              <a:solidFill>
                <a:srgbClr val="000000"/>
              </a:solidFill>
              <a:latin typeface="楷体_GB2312" pitchFamily="49" charset="-122"/>
              <a:ea typeface="楷体_GB2312" pitchFamily="49" charset="-122"/>
            </a:endParaRPr>
          </a:p>
          <a:p>
            <a:pPr lvl="2" eaLnBrk="1" hangingPunct="1"/>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 </a:t>
            </a:r>
            <a:r>
              <a:rPr lang="zh-CN" altLang="zh-CN" dirty="0">
                <a:ea typeface="宋体" panose="02010600030101010101" pitchFamily="2" charset="-122"/>
              </a:rPr>
              <a:t>风险评估技术标准</a:t>
            </a:r>
            <a:endParaRPr lang="zh-CN" altLang="en-US" dirty="0">
              <a:ea typeface="宋体" panose="02010600030101010101" pitchFamily="2" charset="-122"/>
            </a:endParaRPr>
          </a:p>
        </p:txBody>
      </p:sp>
      <p:sp>
        <p:nvSpPr>
          <p:cNvPr id="11267" name="内容占位符 2"/>
          <p:cNvSpPr>
            <a:spLocks noGrp="1"/>
          </p:cNvSpPr>
          <p:nvPr>
            <p:ph idx="1"/>
          </p:nvPr>
        </p:nvSpPr>
        <p:spPr/>
        <p:txBody>
          <a:bodyPr vert="horz" wrap="square" lIns="91440" tIns="45720" rIns="91440" bIns="45720" anchor="t" anchorCtr="0"/>
          <a:lstStyle/>
          <a:p>
            <a:pPr>
              <a:buClr>
                <a:schemeClr val="accent1"/>
              </a:buClr>
              <a:buSzPct val="50000"/>
              <a:buFont typeface="Wingdings" panose="05000000000000000000" pitchFamily="2" charset="2"/>
              <a:buChar char="n"/>
            </a:pPr>
            <a:r>
              <a:rPr lang="zh-CN" altLang="zh-CN" sz="2800" dirty="0">
                <a:latin typeface="方正粗黑宋简体" panose="02000000000000000000" pitchFamily="2" charset="-122"/>
                <a:ea typeface="方正粗黑宋简体" panose="02000000000000000000" pitchFamily="2" charset="-122"/>
              </a:rPr>
              <a:t>美国</a:t>
            </a:r>
            <a:r>
              <a:rPr lang="en-US" altLang="zh-CN" sz="2800" dirty="0">
                <a:latin typeface="方正粗黑宋简体" panose="02000000000000000000" pitchFamily="2" charset="-122"/>
                <a:ea typeface="方正粗黑宋简体" panose="02000000000000000000" pitchFamily="2" charset="-122"/>
              </a:rPr>
              <a:t>NIST</a:t>
            </a:r>
            <a:r>
              <a:rPr lang="zh-CN" altLang="zh-CN" sz="2800" dirty="0">
                <a:latin typeface="方正粗黑宋简体" panose="02000000000000000000" pitchFamily="2" charset="-122"/>
                <a:ea typeface="方正粗黑宋简体" panose="02000000000000000000" pitchFamily="2" charset="-122"/>
              </a:rPr>
              <a:t>的</a:t>
            </a:r>
            <a:r>
              <a:rPr lang="en-US" altLang="zh-CN" sz="2800" dirty="0">
                <a:solidFill>
                  <a:srgbClr val="FF0000"/>
                </a:solidFill>
                <a:latin typeface="方正粗黑宋简体" panose="02000000000000000000" pitchFamily="2" charset="-122"/>
                <a:ea typeface="方正粗黑宋简体" panose="02000000000000000000" pitchFamily="2" charset="-122"/>
              </a:rPr>
              <a:t>FC-ITS</a:t>
            </a:r>
            <a:r>
              <a:rPr lang="zh-CN" altLang="en-US" sz="2800" dirty="0">
                <a:ea typeface="宋体" panose="02010600030101010101" pitchFamily="2" charset="-122"/>
              </a:rPr>
              <a:t>：</a:t>
            </a:r>
            <a:endParaRPr lang="en-US" altLang="zh-CN" sz="2800" dirty="0">
              <a:ea typeface="宋体" panose="02010600030101010101" pitchFamily="2" charset="-122"/>
            </a:endParaRPr>
          </a:p>
          <a:p>
            <a:pPr lvl="1">
              <a:buSzPct val="50000"/>
              <a:buFont typeface="Wingdings" panose="05000000000000000000" pitchFamily="2" charset="2"/>
              <a:buChar char="n"/>
            </a:pPr>
            <a:r>
              <a:rPr lang="zh-CN" altLang="zh-CN" sz="2400" dirty="0">
                <a:ea typeface="宋体" panose="02010600030101010101" pitchFamily="2" charset="-122"/>
              </a:rPr>
              <a:t>为了尽快达到满足非军事领域需要的目标，尤其是商业</a:t>
            </a:r>
            <a:r>
              <a:rPr lang="en-US" altLang="zh-CN" sz="2400" dirty="0">
                <a:ea typeface="宋体" panose="02010600030101010101" pitchFamily="2" charset="-122"/>
              </a:rPr>
              <a:t>IT</a:t>
            </a:r>
            <a:r>
              <a:rPr lang="zh-CN" altLang="zh-CN" sz="2400" dirty="0">
                <a:ea typeface="宋体" panose="02010600030101010101" pitchFamily="2" charset="-122"/>
              </a:rPr>
              <a:t>应用需要的目的，美国开发出</a:t>
            </a:r>
            <a:r>
              <a:rPr lang="en-US" altLang="zh-CN" sz="2400" dirty="0">
                <a:ea typeface="宋体" panose="02010600030101010101" pitchFamily="2" charset="-122"/>
              </a:rPr>
              <a:t>TCSEC</a:t>
            </a:r>
            <a:r>
              <a:rPr lang="zh-CN" altLang="zh-CN" sz="2400" dirty="0">
                <a:ea typeface="宋体" panose="02010600030101010101" pitchFamily="2" charset="-122"/>
              </a:rPr>
              <a:t>的替代标准，最初的文件就是由国家标准技术研究所（</a:t>
            </a:r>
            <a:r>
              <a:rPr lang="en-US" altLang="zh-CN" sz="2400" dirty="0">
                <a:ea typeface="宋体" panose="02010600030101010101" pitchFamily="2" charset="-122"/>
              </a:rPr>
              <a:t>NIST</a:t>
            </a:r>
            <a:r>
              <a:rPr lang="zh-CN" altLang="zh-CN" sz="2400" dirty="0">
                <a:ea typeface="宋体" panose="02010600030101010101" pitchFamily="2" charset="-122"/>
              </a:rPr>
              <a:t>）发布的《多用户操作系统的最小安全需求》（</a:t>
            </a:r>
            <a:r>
              <a:rPr lang="en-US" altLang="zh-CN" sz="2400" dirty="0">
                <a:ea typeface="宋体" panose="02010600030101010101" pitchFamily="2" charset="-122"/>
              </a:rPr>
              <a:t>MSFR</a:t>
            </a:r>
            <a:r>
              <a:rPr lang="zh-CN" altLang="zh-CN" sz="2400" dirty="0">
                <a:ea typeface="宋体" panose="02010600030101010101" pitchFamily="2" charset="-122"/>
              </a:rPr>
              <a:t>）。</a:t>
            </a:r>
            <a:endParaRPr lang="en-US" altLang="zh-CN" sz="2400" dirty="0">
              <a:ea typeface="宋体" panose="02010600030101010101" pitchFamily="2" charset="-122"/>
            </a:endParaRPr>
          </a:p>
          <a:p>
            <a:pPr lvl="1">
              <a:buSzPct val="50000"/>
              <a:buFont typeface="Wingdings" panose="05000000000000000000" pitchFamily="2" charset="2"/>
              <a:buChar char="n"/>
            </a:pPr>
            <a:endParaRPr lang="en-US" altLang="zh-CN" sz="2400" dirty="0">
              <a:ea typeface="宋体" panose="02010600030101010101" pitchFamily="2" charset="-122"/>
            </a:endParaRPr>
          </a:p>
          <a:p>
            <a:pPr lvl="1">
              <a:buSzPct val="50000"/>
              <a:buFont typeface="Wingdings" panose="05000000000000000000" pitchFamily="2" charset="2"/>
              <a:buChar char="n"/>
            </a:pPr>
            <a:r>
              <a:rPr lang="en-US" altLang="zh-CN" sz="2400" dirty="0">
                <a:ea typeface="宋体" panose="02010600030101010101" pitchFamily="2" charset="-122"/>
              </a:rPr>
              <a:t>1992</a:t>
            </a:r>
            <a:r>
              <a:rPr lang="zh-CN" altLang="zh-CN" sz="2400" dirty="0">
                <a:ea typeface="宋体" panose="02010600030101010101" pitchFamily="2" charset="-122"/>
              </a:rPr>
              <a:t>年</a:t>
            </a:r>
            <a:r>
              <a:rPr lang="en-US" altLang="zh-CN" sz="2400" dirty="0">
                <a:ea typeface="宋体" panose="02010600030101010101" pitchFamily="2" charset="-122"/>
              </a:rPr>
              <a:t>12</a:t>
            </a:r>
            <a:r>
              <a:rPr lang="zh-CN" altLang="zh-CN" sz="2400" dirty="0">
                <a:ea typeface="宋体" panose="02010600030101010101" pitchFamily="2" charset="-122"/>
              </a:rPr>
              <a:t>月，美国</a:t>
            </a:r>
            <a:r>
              <a:rPr lang="en-US" altLang="zh-CN" sz="2400" dirty="0">
                <a:ea typeface="宋体" panose="02010600030101010101" pitchFamily="2" charset="-122"/>
              </a:rPr>
              <a:t>NIST</a:t>
            </a:r>
            <a:r>
              <a:rPr lang="zh-CN" altLang="zh-CN" sz="2400" dirty="0">
                <a:ea typeface="宋体" panose="02010600030101010101" pitchFamily="2" charset="-122"/>
              </a:rPr>
              <a:t>和国家安全局（</a:t>
            </a:r>
            <a:r>
              <a:rPr lang="en-US" altLang="zh-CN" sz="2400" dirty="0">
                <a:ea typeface="宋体" panose="02010600030101010101" pitchFamily="2" charset="-122"/>
              </a:rPr>
              <a:t>NSA</a:t>
            </a:r>
            <a:r>
              <a:rPr lang="zh-CN" altLang="zh-CN" sz="2400" dirty="0">
                <a:ea typeface="宋体" panose="02010600030101010101" pitchFamily="2" charset="-122"/>
              </a:rPr>
              <a:t>）联合发布一个</a:t>
            </a:r>
            <a:r>
              <a:rPr lang="en-US" altLang="zh-CN" sz="2400" dirty="0">
                <a:ea typeface="宋体" panose="02010600030101010101" pitchFamily="2" charset="-122"/>
              </a:rPr>
              <a:t>TCSEC</a:t>
            </a:r>
            <a:r>
              <a:rPr lang="zh-CN" altLang="zh-CN" sz="2400" dirty="0">
                <a:ea typeface="宋体" panose="02010600030101010101" pitchFamily="2" charset="-122"/>
              </a:rPr>
              <a:t>的替代标准《信息技术安全联邦准则》（</a:t>
            </a:r>
            <a:r>
              <a:rPr lang="en-US" altLang="zh-CN" sz="2400" dirty="0">
                <a:ea typeface="宋体" panose="02010600030101010101" pitchFamily="2" charset="-122"/>
              </a:rPr>
              <a:t>FC-ITS</a:t>
            </a:r>
            <a:r>
              <a:rPr lang="zh-CN" altLang="zh-CN" sz="2400" dirty="0">
                <a:ea typeface="宋体" panose="02010600030101010101" pitchFamily="2" charset="-122"/>
              </a:rPr>
              <a:t>）的草案</a:t>
            </a:r>
            <a:r>
              <a:rPr lang="en-US" altLang="zh-CN" sz="2400" dirty="0">
                <a:ea typeface="宋体" panose="02010600030101010101" pitchFamily="2" charset="-122"/>
              </a:rPr>
              <a:t>1.0</a:t>
            </a:r>
            <a:r>
              <a:rPr lang="zh-CN" altLang="zh-CN" sz="2400" dirty="0">
                <a:ea typeface="宋体" panose="02010600030101010101" pitchFamily="2" charset="-122"/>
              </a:rPr>
              <a:t>。但因其有很多缺陷，最终也未能取代</a:t>
            </a:r>
            <a:r>
              <a:rPr lang="en-US" altLang="zh-CN" sz="2400" dirty="0">
                <a:ea typeface="宋体" panose="02010600030101010101" pitchFamily="2" charset="-122"/>
              </a:rPr>
              <a:t>TCSEC</a:t>
            </a:r>
            <a:r>
              <a:rPr lang="zh-CN" altLang="zh-CN" sz="2400" dirty="0">
                <a:ea typeface="宋体" panose="02010600030101010101" pitchFamily="2" charset="-122"/>
              </a:rPr>
              <a:t>。</a:t>
            </a:r>
          </a:p>
          <a:p>
            <a:pPr>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a:t>
            </a:r>
            <a:r>
              <a:rPr lang="zh-CN" altLang="zh-CN" dirty="0">
                <a:ea typeface="宋体" panose="02010600030101010101" pitchFamily="2" charset="-122"/>
              </a:rPr>
              <a:t>风险评估技术标准</a:t>
            </a:r>
            <a:endParaRPr lang="zh-CN" altLang="en-US" dirty="0">
              <a:ea typeface="宋体" panose="02010600030101010101" pitchFamily="2" charset="-122"/>
            </a:endParaRPr>
          </a:p>
        </p:txBody>
      </p:sp>
      <p:sp>
        <p:nvSpPr>
          <p:cNvPr id="12291" name="内容占位符 2"/>
          <p:cNvSpPr>
            <a:spLocks noGrp="1"/>
          </p:cNvSpPr>
          <p:nvPr>
            <p:ph idx="1"/>
          </p:nvPr>
        </p:nvSpPr>
        <p:spPr>
          <a:xfrm>
            <a:off x="457200" y="1371600"/>
            <a:ext cx="8229600" cy="4648200"/>
          </a:xfrm>
        </p:spPr>
        <p:txBody>
          <a:bodyPr vert="horz" wrap="square" lIns="91440" tIns="45720" rIns="91440" bIns="45720" anchor="t" anchorCtr="0"/>
          <a:lstStyle/>
          <a:p>
            <a:pPr marL="0" indent="0">
              <a:buNone/>
            </a:pPr>
            <a:r>
              <a:rPr lang="en-US" altLang="zh-CN" sz="2800" dirty="0">
                <a:latin typeface="方正粗黑宋简体" panose="02000000000000000000" pitchFamily="2" charset="-122"/>
                <a:ea typeface="方正粗黑宋简体" panose="02000000000000000000" pitchFamily="2" charset="-122"/>
              </a:rPr>
              <a:t> </a:t>
            </a:r>
            <a:r>
              <a:rPr lang="zh-CN" altLang="zh-CN" sz="2800" dirty="0">
                <a:latin typeface="方正粗黑宋简体" panose="02000000000000000000" pitchFamily="2" charset="-122"/>
                <a:ea typeface="方正粗黑宋简体" panose="02000000000000000000" pitchFamily="2" charset="-122"/>
              </a:rPr>
              <a:t>通用准则</a:t>
            </a:r>
            <a:r>
              <a:rPr lang="en-US" altLang="zh-CN" sz="2800" dirty="0">
                <a:solidFill>
                  <a:srgbClr val="FF0000"/>
                </a:solidFill>
                <a:latin typeface="方正粗黑宋简体" panose="02000000000000000000" pitchFamily="2" charset="-122"/>
                <a:ea typeface="方正粗黑宋简体" panose="02000000000000000000" pitchFamily="2" charset="-122"/>
              </a:rPr>
              <a:t>CC</a:t>
            </a:r>
            <a:r>
              <a:rPr lang="zh-CN" altLang="zh-CN" sz="2800" dirty="0">
                <a:latin typeface="方正粗黑宋简体" panose="02000000000000000000" pitchFamily="2" charset="-122"/>
                <a:ea typeface="方正粗黑宋简体" panose="02000000000000000000" pitchFamily="2" charset="-122"/>
              </a:rPr>
              <a:t>（</a:t>
            </a:r>
            <a:r>
              <a:rPr lang="en-US" altLang="zh-CN" sz="2800" dirty="0">
                <a:latin typeface="方正粗黑宋简体" panose="02000000000000000000" pitchFamily="2" charset="-122"/>
                <a:ea typeface="方正粗黑宋简体" panose="02000000000000000000" pitchFamily="2" charset="-122"/>
              </a:rPr>
              <a:t>ISO/IEC 15408-1999</a:t>
            </a:r>
            <a:r>
              <a:rPr lang="zh-CN" altLang="zh-CN" sz="2800" dirty="0">
                <a:latin typeface="方正粗黑宋简体" panose="02000000000000000000" pitchFamily="2" charset="-122"/>
                <a:ea typeface="方正粗黑宋简体" panose="02000000000000000000" pitchFamily="2" charset="-122"/>
              </a:rPr>
              <a:t>）</a:t>
            </a:r>
            <a:r>
              <a:rPr lang="zh-CN" altLang="en-US" sz="2800" dirty="0">
                <a:ea typeface="宋体" panose="02010600030101010101" pitchFamily="2" charset="-122"/>
              </a:rPr>
              <a:t>：</a:t>
            </a:r>
            <a:endParaRPr lang="en-US" altLang="zh-CN" sz="2800" dirty="0">
              <a:ea typeface="宋体" panose="02010600030101010101" pitchFamily="2" charset="-122"/>
            </a:endParaRPr>
          </a:p>
          <a:p>
            <a:pPr lvl="1"/>
            <a:r>
              <a:rPr lang="en-US" altLang="zh-CN" sz="2400" dirty="0">
                <a:ea typeface="宋体" panose="02010600030101010101" pitchFamily="2" charset="-122"/>
              </a:rPr>
              <a:t>1996</a:t>
            </a:r>
            <a:r>
              <a:rPr lang="zh-CN" altLang="zh-CN" sz="2400" dirty="0">
                <a:ea typeface="宋体" panose="02010600030101010101" pitchFamily="2" charset="-122"/>
              </a:rPr>
              <a:t>年，六国七方（英国、加拿大、法国、德国、荷兰、</a:t>
            </a:r>
            <a:r>
              <a:rPr lang="en-US" altLang="zh-CN" sz="2400" dirty="0">
                <a:ea typeface="宋体" panose="02010600030101010101" pitchFamily="2" charset="-122"/>
              </a:rPr>
              <a:t>NSA</a:t>
            </a:r>
            <a:r>
              <a:rPr lang="zh-CN" altLang="zh-CN" sz="2400" dirty="0">
                <a:ea typeface="宋体" panose="02010600030101010101" pitchFamily="2" charset="-122"/>
              </a:rPr>
              <a:t>和</a:t>
            </a:r>
            <a:r>
              <a:rPr lang="en-US" altLang="zh-CN" sz="2400" dirty="0">
                <a:ea typeface="宋体" panose="02010600030101010101" pitchFamily="2" charset="-122"/>
              </a:rPr>
              <a:t>NIST</a:t>
            </a:r>
            <a:r>
              <a:rPr lang="zh-CN" altLang="zh-CN" sz="2400" dirty="0">
                <a:ea typeface="宋体" panose="02010600030101010101" pitchFamily="2" charset="-122"/>
              </a:rPr>
              <a:t>）公布了《信息技术安全性评估通用准则》（</a:t>
            </a:r>
            <a:r>
              <a:rPr lang="en-US" altLang="zh-CN" sz="2400" dirty="0">
                <a:ea typeface="宋体" panose="02010600030101010101" pitchFamily="2" charset="-122"/>
              </a:rPr>
              <a:t>Common Criterion</a:t>
            </a:r>
            <a:r>
              <a:rPr lang="zh-CN" altLang="zh-CN" sz="2400" dirty="0">
                <a:ea typeface="宋体" panose="02010600030101010101" pitchFamily="2" charset="-122"/>
              </a:rPr>
              <a:t>，简称</a:t>
            </a:r>
            <a:r>
              <a:rPr lang="en-US" altLang="zh-CN" sz="2400" dirty="0">
                <a:ea typeface="宋体" panose="02010600030101010101" pitchFamily="2" charset="-122"/>
              </a:rPr>
              <a:t>CC</a:t>
            </a:r>
            <a:r>
              <a:rPr lang="zh-CN" altLang="zh-CN" sz="2400" dirty="0">
                <a:ea typeface="宋体" panose="02010600030101010101" pitchFamily="2" charset="-122"/>
              </a:rPr>
              <a:t>）</a:t>
            </a:r>
            <a:r>
              <a:rPr lang="zh-CN" altLang="en-US" sz="2400" dirty="0">
                <a:ea typeface="宋体" panose="02010600030101010101" pitchFamily="2" charset="-122"/>
              </a:rPr>
              <a:t>。</a:t>
            </a:r>
            <a:endParaRPr lang="en-US" altLang="zh-CN" sz="2400" dirty="0">
              <a:ea typeface="宋体" panose="02010600030101010101" pitchFamily="2" charset="-122"/>
            </a:endParaRPr>
          </a:p>
          <a:p>
            <a:pPr lvl="1"/>
            <a:r>
              <a:rPr lang="zh-CN" altLang="zh-CN" sz="2400" dirty="0">
                <a:ea typeface="宋体" panose="02010600030101010101" pitchFamily="2" charset="-122"/>
              </a:rPr>
              <a:t>该标准是北美和欧盟联合开发的统一国际互认的安全标准，是在欧美各国自行推出的评估标准及具体实践的基础上，通过相互间的总结和互补发展起来的。</a:t>
            </a:r>
            <a:endParaRPr lang="en-US" altLang="zh-CN" sz="2400" dirty="0">
              <a:ea typeface="宋体" panose="02010600030101010101" pitchFamily="2" charset="-122"/>
            </a:endParaRPr>
          </a:p>
          <a:p>
            <a:pPr lvl="1"/>
            <a:r>
              <a:rPr lang="en-US" altLang="zh-CN" sz="2400" dirty="0">
                <a:ea typeface="宋体" panose="02010600030101010101" pitchFamily="2" charset="-122"/>
              </a:rPr>
              <a:t>1998</a:t>
            </a:r>
            <a:r>
              <a:rPr lang="zh-CN" altLang="zh-CN" sz="2400" dirty="0">
                <a:ea typeface="宋体" panose="02010600030101010101" pitchFamily="2" charset="-122"/>
              </a:rPr>
              <a:t>年，六国七方又公布了</a:t>
            </a:r>
            <a:r>
              <a:rPr lang="en-US" altLang="zh-CN" sz="2400" dirty="0">
                <a:ea typeface="宋体" panose="02010600030101010101" pitchFamily="2" charset="-122"/>
              </a:rPr>
              <a:t>CC</a:t>
            </a:r>
            <a:r>
              <a:rPr lang="zh-CN" altLang="zh-CN" sz="2400" dirty="0">
                <a:ea typeface="宋体" panose="02010600030101010101" pitchFamily="2" charset="-122"/>
              </a:rPr>
              <a:t>的</a:t>
            </a:r>
            <a:r>
              <a:rPr lang="en-US" altLang="zh-CN" sz="2400" dirty="0">
                <a:ea typeface="宋体" panose="02010600030101010101" pitchFamily="2" charset="-122"/>
              </a:rPr>
              <a:t>2.0</a:t>
            </a:r>
            <a:r>
              <a:rPr lang="zh-CN" altLang="zh-CN" sz="2400" dirty="0">
                <a:ea typeface="宋体" panose="02010600030101010101" pitchFamily="2" charset="-122"/>
              </a:rPr>
              <a:t>版。</a:t>
            </a:r>
            <a:endParaRPr lang="en-US" altLang="zh-CN" sz="2400" dirty="0">
              <a:ea typeface="宋体" panose="02010600030101010101" pitchFamily="2" charset="-122"/>
            </a:endParaRPr>
          </a:p>
          <a:p>
            <a:pPr lvl="1"/>
            <a:endParaRPr lang="en-US" altLang="zh-CN" sz="2400" dirty="0">
              <a:ea typeface="宋体" panose="02010600030101010101" pitchFamily="2" charset="-122"/>
            </a:endParaRPr>
          </a:p>
          <a:p>
            <a:pPr lvl="1"/>
            <a:r>
              <a:rPr lang="zh-CN" altLang="en-US" sz="2400" dirty="0">
                <a:solidFill>
                  <a:srgbClr val="FF0000"/>
                </a:solidFill>
                <a:latin typeface="华文细黑" panose="02010600040101010101" pitchFamily="2" charset="-122"/>
                <a:ea typeface="华文细黑" panose="02010600040101010101" pitchFamily="2" charset="-122"/>
              </a:rPr>
              <a:t>由上我们可以看出，美欧走在信息技术与标准制订的前列，我们起步较晚。</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291">
                                            <p:txEl>
                                              <p:pRg st="2" end="2"/>
                                            </p:txEl>
                                          </p:spTgt>
                                        </p:tgtEl>
                                        <p:attrNameLst>
                                          <p:attrName>style.visibility</p:attrName>
                                        </p:attrNameLst>
                                      </p:cBhvr>
                                      <p:to>
                                        <p:strVal val="visible"/>
                                      </p:to>
                                    </p:set>
                                    <p:animEffect transition="in" filter="circle(in)">
                                      <p:cBhvr>
                                        <p:cTn id="7" dur="2000"/>
                                        <p:tgtEl>
                                          <p:spTgt spid="12291">
                                            <p:txEl>
                                              <p:pRg st="2" end="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2291">
                                            <p:txEl>
                                              <p:pRg st="3" end="3"/>
                                            </p:txEl>
                                          </p:spTgt>
                                        </p:tgtEl>
                                        <p:attrNameLst>
                                          <p:attrName>style.visibility</p:attrName>
                                        </p:attrNameLst>
                                      </p:cBhvr>
                                      <p:to>
                                        <p:strVal val="visible"/>
                                      </p:to>
                                    </p:set>
                                    <p:animEffect transition="in" filter="circle(in)">
                                      <p:cBhvr>
                                        <p:cTn id="10" dur="2000"/>
                                        <p:tgtEl>
                                          <p:spTgt spid="1229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2291">
                                            <p:txEl>
                                              <p:pRg st="5" end="5"/>
                                            </p:txEl>
                                          </p:spTgt>
                                        </p:tgtEl>
                                        <p:attrNameLst>
                                          <p:attrName>style.visibility</p:attrName>
                                        </p:attrNameLst>
                                      </p:cBhvr>
                                      <p:to>
                                        <p:strVal val="visible"/>
                                      </p:to>
                                    </p:set>
                                    <p:animEffect transition="in" filter="circle(in)">
                                      <p:cBhvr>
                                        <p:cTn id="15" dur="2000"/>
                                        <p:tgtEl>
                                          <p:spTgt spid="12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风险评估技术标准</a:t>
            </a:r>
            <a:endParaRPr lang="zh-CN" altLang="en-US" b="1" dirty="0">
              <a:ea typeface="宋体" panose="02010600030101010101" pitchFamily="2" charset="-122"/>
            </a:endParaRPr>
          </a:p>
        </p:txBody>
      </p:sp>
      <p:sp>
        <p:nvSpPr>
          <p:cNvPr id="13315" name="内容占位符 2"/>
          <p:cNvSpPr>
            <a:spLocks noGrp="1"/>
          </p:cNvSpPr>
          <p:nvPr>
            <p:ph idx="1"/>
          </p:nvPr>
        </p:nvSpPr>
        <p:spPr>
          <a:xfrm>
            <a:off x="381000" y="1066800"/>
            <a:ext cx="7924800" cy="685800"/>
          </a:xfrm>
        </p:spPr>
        <p:txBody>
          <a:bodyPr vert="horz" wrap="square" lIns="91440" tIns="45720" rIns="91440" bIns="45720" anchor="t" anchorCtr="0"/>
          <a:lstStyle/>
          <a:p>
            <a:pPr marL="0" indent="0"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zh-CN" altLang="zh-CN" sz="2800" dirty="0">
                <a:ea typeface="宋体" panose="02010600030101010101" pitchFamily="2" charset="-122"/>
              </a:rPr>
              <a:t>我国的风险评估技术标准</a:t>
            </a:r>
            <a:r>
              <a:rPr lang="zh-CN" altLang="en-US" sz="2800" dirty="0">
                <a:ea typeface="宋体" panose="02010600030101010101" pitchFamily="2" charset="-122"/>
              </a:rPr>
              <a:t>：</a:t>
            </a:r>
            <a:endParaRPr lang="en-US" altLang="zh-CN" b="1" dirty="0">
              <a:latin typeface="楷体_GB2312" pitchFamily="49" charset="-122"/>
              <a:ea typeface="楷体_GB2312" pitchFamily="49" charset="-122"/>
            </a:endParaRPr>
          </a:p>
        </p:txBody>
      </p:sp>
      <p:sp>
        <p:nvSpPr>
          <p:cNvPr id="2" name="矩形 1"/>
          <p:cNvSpPr/>
          <p:nvPr/>
        </p:nvSpPr>
        <p:spPr>
          <a:xfrm>
            <a:off x="2405063" y="3167063"/>
            <a:ext cx="366713" cy="523875"/>
          </a:xfrm>
          <a:prstGeom prst="rect">
            <a:avLst/>
          </a:prstGeom>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609600" y="1828800"/>
            <a:ext cx="8077200" cy="1891665"/>
          </a:xfrm>
          <a:prstGeom prst="rect">
            <a:avLst/>
          </a:prstGeom>
          <a:noFill/>
          <a:ln w="9525">
            <a:noFill/>
          </a:ln>
        </p:spPr>
        <p:txBody>
          <a:bodyPr>
            <a:spAutoFit/>
          </a:bodyPr>
          <a:lstStyle/>
          <a:p>
            <a:pPr>
              <a:lnSpc>
                <a:spcPct val="150000"/>
              </a:lnSpc>
            </a:pPr>
            <a:r>
              <a:rPr lang="zh-CN" altLang="zh-CN" dirty="0">
                <a:latin typeface="Times New Roman" panose="02020603050405020304" pitchFamily="18" charset="0"/>
              </a:rPr>
              <a:t>国家标准的代号由大写</a:t>
            </a:r>
            <a:r>
              <a:rPr lang="en-US" altLang="zh-CN" dirty="0">
                <a:solidFill>
                  <a:srgbClr val="FF0000"/>
                </a:solidFill>
                <a:latin typeface="Times New Roman" panose="02020603050405020304" pitchFamily="18" charset="0"/>
              </a:rPr>
              <a:t>汉语拼音字母</a:t>
            </a:r>
            <a:r>
              <a:rPr lang="zh-CN" altLang="zh-CN" dirty="0">
                <a:latin typeface="Times New Roman" panose="02020603050405020304" pitchFamily="18" charset="0"/>
              </a:rPr>
              <a:t>构成。</a:t>
            </a:r>
          </a:p>
          <a:p>
            <a:pPr>
              <a:lnSpc>
                <a:spcPct val="150000"/>
              </a:lnSpc>
            </a:pPr>
            <a:r>
              <a:rPr lang="zh-CN" altLang="zh-CN" b="1" dirty="0">
                <a:solidFill>
                  <a:srgbClr val="FF0000"/>
                </a:solidFill>
                <a:latin typeface="Times New Roman" panose="02020603050405020304" pitchFamily="18" charset="0"/>
              </a:rPr>
              <a:t>强制性</a:t>
            </a:r>
            <a:r>
              <a:rPr lang="zh-CN" altLang="zh-CN" dirty="0">
                <a:latin typeface="Times New Roman" panose="02020603050405020304" pitchFamily="18" charset="0"/>
              </a:rPr>
              <a:t>国家标准的代号为“</a:t>
            </a:r>
            <a:r>
              <a:rPr lang="en-US" altLang="zh-CN" dirty="0">
                <a:latin typeface="Times New Roman" panose="02020603050405020304" pitchFamily="18" charset="0"/>
              </a:rPr>
              <a:t>GB</a:t>
            </a:r>
            <a:r>
              <a:rPr lang="zh-CN" altLang="zh-CN" dirty="0">
                <a:latin typeface="Times New Roman" panose="02020603050405020304" pitchFamily="18" charset="0"/>
              </a:rPr>
              <a:t>”，</a:t>
            </a:r>
            <a:r>
              <a:rPr lang="zh-CN" altLang="zh-CN" b="1" dirty="0">
                <a:solidFill>
                  <a:srgbClr val="FF0000"/>
                </a:solidFill>
                <a:latin typeface="Times New Roman" panose="02020603050405020304" pitchFamily="18" charset="0"/>
              </a:rPr>
              <a:t>推荐性</a:t>
            </a:r>
            <a:r>
              <a:rPr lang="zh-CN" altLang="zh-CN" dirty="0">
                <a:latin typeface="Times New Roman" panose="02020603050405020304" pitchFamily="18" charset="0"/>
              </a:rPr>
              <a:t>国家标准的代号为“</a:t>
            </a:r>
            <a:r>
              <a:rPr lang="en-US" altLang="zh-CN" dirty="0">
                <a:latin typeface="Times New Roman" panose="02020603050405020304" pitchFamily="18" charset="0"/>
              </a:rPr>
              <a:t>GB/T</a:t>
            </a:r>
            <a:r>
              <a:rPr lang="zh-CN" altLang="zh-CN" dirty="0">
                <a:latin typeface="Times New Roman" panose="02020603050405020304" pitchFamily="18" charset="0"/>
              </a:rPr>
              <a:t>”。</a:t>
            </a:r>
          </a:p>
        </p:txBody>
      </p:sp>
      <p:sp>
        <p:nvSpPr>
          <p:cNvPr id="4" name="矩形 3"/>
          <p:cNvSpPr/>
          <p:nvPr/>
        </p:nvSpPr>
        <p:spPr>
          <a:xfrm>
            <a:off x="762000" y="3794125"/>
            <a:ext cx="7924800" cy="2492375"/>
          </a:xfrm>
          <a:prstGeom prst="rect">
            <a:avLst/>
          </a:prstGeom>
          <a:noFill/>
          <a:ln w="9525">
            <a:noFill/>
          </a:ln>
        </p:spPr>
        <p:txBody>
          <a:bodyPr>
            <a:spAutoFit/>
          </a:bodyPr>
          <a:lstStyle/>
          <a:p>
            <a:pPr>
              <a:lnSpc>
                <a:spcPct val="150000"/>
              </a:lnSpc>
            </a:pPr>
            <a:r>
              <a:rPr lang="en-US" altLang="zh-CN" dirty="0">
                <a:latin typeface="Times New Roman" panose="02020603050405020304" pitchFamily="18" charset="0"/>
              </a:rPr>
              <a:t>GB</a:t>
            </a:r>
            <a:r>
              <a:rPr lang="zh-CN" altLang="zh-CN" dirty="0">
                <a:latin typeface="Times New Roman" panose="02020603050405020304" pitchFamily="18" charset="0"/>
              </a:rPr>
              <a:t>×××××–×× </a:t>
            </a:r>
            <a:r>
              <a:rPr lang="en-US" altLang="zh-CN" dirty="0">
                <a:latin typeface="Times New Roman" panose="02020603050405020304" pitchFamily="18" charset="0"/>
              </a:rPr>
              <a:t>eg</a:t>
            </a:r>
            <a:r>
              <a:rPr lang="zh-CN" altLang="zh-CN" dirty="0">
                <a:latin typeface="Times New Roman" panose="02020603050405020304" pitchFamily="18" charset="0"/>
              </a:rPr>
              <a:t>： </a:t>
            </a:r>
            <a:r>
              <a:rPr lang="en-US" altLang="zh-CN" dirty="0">
                <a:latin typeface="Times New Roman" panose="02020603050405020304" pitchFamily="18" charset="0"/>
              </a:rPr>
              <a:t>GB 15851—1995  GB 15852--1995</a:t>
            </a:r>
            <a:endParaRPr lang="zh-CN" altLang="zh-CN" dirty="0">
              <a:latin typeface="Times New Roman" panose="02020603050405020304" pitchFamily="18" charset="0"/>
            </a:endParaRPr>
          </a:p>
          <a:p>
            <a:pPr>
              <a:lnSpc>
                <a:spcPct val="150000"/>
              </a:lnSpc>
            </a:pPr>
            <a:r>
              <a:rPr lang="en-US" altLang="zh-CN" dirty="0">
                <a:latin typeface="Times New Roman" panose="02020603050405020304" pitchFamily="18" charset="0"/>
              </a:rPr>
              <a:t>GB/T</a:t>
            </a:r>
            <a:r>
              <a:rPr lang="zh-CN" altLang="zh-CN" dirty="0">
                <a:latin typeface="Times New Roman" panose="02020603050405020304" pitchFamily="18" charset="0"/>
              </a:rPr>
              <a:t>×××××–×× </a:t>
            </a:r>
            <a:r>
              <a:rPr lang="en-US" altLang="zh-CN" dirty="0">
                <a:latin typeface="Times New Roman" panose="02020603050405020304" pitchFamily="18" charset="0"/>
              </a:rPr>
              <a:t>eg</a:t>
            </a:r>
            <a:r>
              <a:rPr lang="zh-CN" altLang="zh-CN" dirty="0">
                <a:latin typeface="Times New Roman" panose="02020603050405020304" pitchFamily="18" charset="0"/>
              </a:rPr>
              <a:t>： </a:t>
            </a:r>
            <a:r>
              <a:rPr lang="en-US" altLang="zh-CN" dirty="0">
                <a:latin typeface="Times New Roman" panose="02020603050405020304" pitchFamily="18" charset="0"/>
              </a:rPr>
              <a:t>GB/T 15843.x --y(x</a:t>
            </a:r>
            <a:r>
              <a:rPr lang="zh-CN" altLang="zh-CN" dirty="0">
                <a:latin typeface="Times New Roman" panose="02020603050405020304" pitchFamily="18" charset="0"/>
              </a:rPr>
              <a:t>表示部分系数，</a:t>
            </a:r>
            <a:r>
              <a:rPr lang="en-US" altLang="zh-CN" dirty="0">
                <a:latin typeface="Times New Roman" panose="02020603050405020304" pitchFamily="18" charset="0"/>
              </a:rPr>
              <a:t>y</a:t>
            </a:r>
            <a:r>
              <a:rPr lang="zh-CN" altLang="zh-CN" dirty="0">
                <a:latin typeface="Times New Roman" panose="02020603050405020304" pitchFamily="18" charset="0"/>
              </a:rPr>
              <a:t>表示年份</a:t>
            </a:r>
            <a:r>
              <a:rPr lang="en-US" altLang="zh-CN" dirty="0">
                <a:latin typeface="Times New Roman" panose="02020603050405020304" pitchFamily="18" charset="0"/>
              </a:rPr>
              <a:t>)</a:t>
            </a:r>
            <a:endParaRPr lang="zh-CN" altLang="zh-CN"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down)">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circle(in)">
                                      <p:cBhvr>
                                        <p:cTn id="2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风险评估技术标准</a:t>
            </a:r>
            <a:endParaRPr lang="zh-CN" altLang="en-US" b="1" dirty="0">
              <a:ea typeface="宋体" panose="02010600030101010101" pitchFamily="2" charset="-122"/>
            </a:endParaRPr>
          </a:p>
        </p:txBody>
      </p:sp>
      <p:sp>
        <p:nvSpPr>
          <p:cNvPr id="19459" name="内容占位符 2"/>
          <p:cNvSpPr>
            <a:spLocks noGrp="1"/>
          </p:cNvSpPr>
          <p:nvPr>
            <p:ph idx="1"/>
          </p:nvPr>
        </p:nvSpPr>
        <p:spPr>
          <a:xfrm>
            <a:off x="381000" y="1066800"/>
            <a:ext cx="7924800" cy="5557838"/>
          </a:xfrm>
        </p:spPr>
        <p:txBody>
          <a:bodyPr vert="horz" wrap="square" lIns="91440" tIns="45720" rIns="91440" bIns="45720" anchor="t" anchorCtr="0"/>
          <a:lstStyle/>
          <a:p>
            <a:pPr marL="0" indent="0"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zh-CN" altLang="zh-CN" sz="2800" dirty="0">
                <a:ea typeface="宋体" panose="02010600030101010101" pitchFamily="2" charset="-122"/>
              </a:rPr>
              <a:t>我国的风险评估技术标准</a:t>
            </a:r>
            <a:r>
              <a:rPr lang="zh-CN" altLang="en-US" sz="2800" dirty="0">
                <a:ea typeface="宋体" panose="02010600030101010101" pitchFamily="2" charset="-122"/>
              </a:rPr>
              <a:t>：</a:t>
            </a:r>
            <a:endParaRPr lang="en-US" altLang="zh-CN" b="1" dirty="0">
              <a:latin typeface="楷体_GB2312" pitchFamily="49" charset="-122"/>
              <a:ea typeface="楷体_GB2312" pitchFamily="49" charset="-122"/>
            </a:endParaRPr>
          </a:p>
          <a:p>
            <a:pPr lvl="1" eaLnBrk="1" hangingPunct="1"/>
            <a:r>
              <a:rPr lang="en-US" altLang="zh-CN" sz="2400" dirty="0">
                <a:solidFill>
                  <a:srgbClr val="FF0000"/>
                </a:solidFill>
                <a:ea typeface="宋体" panose="02010600030101010101" pitchFamily="2" charset="-122"/>
              </a:rPr>
              <a:t>GB 17859-1999</a:t>
            </a:r>
            <a:r>
              <a:rPr lang="zh-CN" altLang="zh-CN" sz="2400" dirty="0">
                <a:solidFill>
                  <a:srgbClr val="FF0000"/>
                </a:solidFill>
                <a:ea typeface="宋体" panose="02010600030101010101" pitchFamily="2" charset="-122"/>
              </a:rPr>
              <a:t>《计算机信息系统安全保护等级划分</a:t>
            </a:r>
            <a:r>
              <a:rPr lang="zh-CN" altLang="en-US" sz="2400" dirty="0">
                <a:solidFill>
                  <a:srgbClr val="FF0000"/>
                </a:solidFill>
                <a:ea typeface="宋体" panose="02010600030101010101" pitchFamily="2" charset="-122"/>
              </a:rPr>
              <a:t>规</a:t>
            </a:r>
            <a:r>
              <a:rPr lang="zh-CN" altLang="zh-CN" sz="2400" dirty="0">
                <a:solidFill>
                  <a:srgbClr val="FF0000"/>
                </a:solidFill>
                <a:ea typeface="宋体" panose="02010600030101010101" pitchFamily="2" charset="-122"/>
              </a:rPr>
              <a:t>则》 </a:t>
            </a:r>
            <a:r>
              <a:rPr lang="zh-CN" altLang="en-US" sz="2400" b="1" dirty="0">
                <a:solidFill>
                  <a:srgbClr val="FF0000"/>
                </a:solidFill>
                <a:ea typeface="楷体_GB2312" pitchFamily="49" charset="-122"/>
              </a:rPr>
              <a:t>：</a:t>
            </a:r>
            <a:endParaRPr lang="en-US" altLang="zh-CN" sz="2400" b="1" dirty="0">
              <a:solidFill>
                <a:srgbClr val="FF0000"/>
              </a:solidFill>
              <a:ea typeface="楷体_GB2312" pitchFamily="49" charset="-122"/>
            </a:endParaRPr>
          </a:p>
          <a:p>
            <a:pPr lvl="1" eaLnBrk="1" hangingPunct="1"/>
            <a:r>
              <a:rPr lang="en-US" altLang="zh-CN" sz="2400" dirty="0">
                <a:ea typeface="宋体" panose="02010600030101010101" pitchFamily="2" charset="-122"/>
              </a:rPr>
              <a:t> 1999</a:t>
            </a:r>
            <a:r>
              <a:rPr lang="zh-CN" altLang="zh-CN" sz="2400" dirty="0">
                <a:ea typeface="宋体" panose="02010600030101010101" pitchFamily="2" charset="-122"/>
              </a:rPr>
              <a:t>年</a:t>
            </a:r>
            <a:r>
              <a:rPr lang="en-US" altLang="zh-CN" sz="2400" dirty="0">
                <a:ea typeface="宋体" panose="02010600030101010101" pitchFamily="2" charset="-122"/>
              </a:rPr>
              <a:t>9</a:t>
            </a:r>
            <a:r>
              <a:rPr lang="zh-CN" altLang="zh-CN" sz="2400" dirty="0">
                <a:ea typeface="宋体" panose="02010600030101010101" pitchFamily="2" charset="-122"/>
              </a:rPr>
              <a:t>月由</a:t>
            </a:r>
            <a:r>
              <a:rPr lang="zh-CN" altLang="zh-CN" sz="2400" dirty="0">
                <a:solidFill>
                  <a:srgbClr val="FF0000"/>
                </a:solidFill>
                <a:ea typeface="宋体" panose="02010600030101010101" pitchFamily="2" charset="-122"/>
              </a:rPr>
              <a:t>公安部</a:t>
            </a:r>
            <a:r>
              <a:rPr lang="zh-CN" altLang="zh-CN" sz="2400" dirty="0">
                <a:ea typeface="宋体" panose="02010600030101010101" pitchFamily="2" charset="-122"/>
              </a:rPr>
              <a:t>主持制定、国家质量技术监督局发布</a:t>
            </a:r>
            <a:r>
              <a:rPr lang="zh-CN" altLang="en-US" sz="2400" dirty="0">
                <a:ea typeface="宋体" panose="02010600030101010101" pitchFamily="2" charset="-122"/>
              </a:rPr>
              <a:t>，</a:t>
            </a:r>
            <a:r>
              <a:rPr lang="zh-CN" altLang="zh-CN" sz="2400" dirty="0">
                <a:ea typeface="宋体" panose="02010600030101010101" pitchFamily="2" charset="-122"/>
              </a:rPr>
              <a:t>它是建立信息系统安全等级保护、实施安全等级管理的重要基础性标准</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zh-CN" altLang="zh-CN" sz="2400" dirty="0">
                <a:ea typeface="宋体" panose="02010600030101010101" pitchFamily="2" charset="-122"/>
              </a:rPr>
              <a:t>该标准的制定参照了美国的</a:t>
            </a:r>
            <a:r>
              <a:rPr lang="en-US" altLang="zh-CN" sz="2400" dirty="0">
                <a:ea typeface="宋体" panose="02010600030101010101" pitchFamily="2" charset="-122"/>
              </a:rPr>
              <a:t>TCSEC</a:t>
            </a:r>
            <a:r>
              <a:rPr lang="zh-CN" altLang="zh-CN" sz="2400" dirty="0">
                <a:ea typeface="宋体" panose="02010600030101010101" pitchFamily="2" charset="-122"/>
              </a:rPr>
              <a:t>，有三个目的：</a:t>
            </a:r>
            <a:endParaRPr lang="en-US" altLang="zh-CN" sz="2400" dirty="0">
              <a:ea typeface="宋体" panose="02010600030101010101" pitchFamily="2" charset="-122"/>
            </a:endParaRPr>
          </a:p>
          <a:p>
            <a:pPr lvl="2" eaLnBrk="1" hangingPunct="1"/>
            <a:r>
              <a:rPr lang="zh-CN" altLang="zh-CN" sz="2000" dirty="0">
                <a:ea typeface="宋体" panose="02010600030101010101" pitchFamily="2" charset="-122"/>
              </a:rPr>
              <a:t>一是为计算机信息系统安全法规的制定和执法部门的监督检查提供依据；</a:t>
            </a:r>
            <a:endParaRPr lang="en-US" altLang="zh-CN" sz="2000" dirty="0">
              <a:ea typeface="宋体" panose="02010600030101010101" pitchFamily="2" charset="-122"/>
            </a:endParaRPr>
          </a:p>
          <a:p>
            <a:pPr lvl="2" eaLnBrk="1" hangingPunct="1"/>
            <a:r>
              <a:rPr lang="zh-CN" altLang="zh-CN" sz="2000" dirty="0">
                <a:ea typeface="宋体" panose="02010600030101010101" pitchFamily="2" charset="-122"/>
              </a:rPr>
              <a:t>二是为安全产品的研制提供技术支持；</a:t>
            </a:r>
            <a:endParaRPr lang="en-US" altLang="zh-CN" sz="2000" dirty="0">
              <a:ea typeface="宋体" panose="02010600030101010101" pitchFamily="2" charset="-122"/>
            </a:endParaRPr>
          </a:p>
          <a:p>
            <a:pPr lvl="2" eaLnBrk="1" hangingPunct="1"/>
            <a:r>
              <a:rPr lang="zh-CN" altLang="zh-CN" sz="2000" dirty="0">
                <a:ea typeface="宋体" panose="02010600030101010101" pitchFamily="2" charset="-122"/>
              </a:rPr>
              <a:t>三是为安全系统的建设和管理提供技术指导。</a:t>
            </a:r>
            <a:endParaRPr lang="en-US" altLang="zh-CN" sz="2000" b="1" dirty="0">
              <a:solidFill>
                <a:srgbClr val="000000"/>
              </a:solidFill>
              <a:latin typeface="楷体_GB2312" pitchFamily="49" charset="-122"/>
              <a:ea typeface="楷体_GB2312" pitchFamily="49" charset="-122"/>
            </a:endParaRPr>
          </a:p>
        </p:txBody>
      </p:sp>
      <p:sp>
        <p:nvSpPr>
          <p:cNvPr id="2" name="矩形 1"/>
          <p:cNvSpPr/>
          <p:nvPr/>
        </p:nvSpPr>
        <p:spPr>
          <a:xfrm>
            <a:off x="2405063" y="3167063"/>
            <a:ext cx="366713" cy="523875"/>
          </a:xfrm>
          <a:prstGeom prst="rect">
            <a:avLst/>
          </a:prstGeom>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风险评估技术标准</a:t>
            </a:r>
            <a:endParaRPr lang="zh-CN" altLang="en-US" b="1" dirty="0">
              <a:ea typeface="宋体" panose="02010600030101010101" pitchFamily="2" charset="-122"/>
            </a:endParaRPr>
          </a:p>
        </p:txBody>
      </p:sp>
      <p:sp>
        <p:nvSpPr>
          <p:cNvPr id="19459" name="内容占位符 2"/>
          <p:cNvSpPr>
            <a:spLocks noGrp="1"/>
          </p:cNvSpPr>
          <p:nvPr>
            <p:ph idx="1"/>
          </p:nvPr>
        </p:nvSpPr>
        <p:spPr>
          <a:xfrm>
            <a:off x="381000" y="1295400"/>
            <a:ext cx="8229600" cy="5329238"/>
          </a:xfrm>
        </p:spPr>
        <p:txBody>
          <a:bodyPr vert="horz" wrap="square" lIns="91440" tIns="45720" rIns="91440" bIns="45720" anchor="t" anchorCtr="0"/>
          <a:lstStyle/>
          <a:p>
            <a:pPr marL="0" indent="0"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zh-CN" altLang="zh-CN" dirty="0">
                <a:ea typeface="宋体" panose="02010600030101010101" pitchFamily="2" charset="-122"/>
              </a:rPr>
              <a:t>我国的风险评估技术标准</a:t>
            </a:r>
            <a:r>
              <a:rPr lang="zh-CN" altLang="en-US" dirty="0">
                <a:ea typeface="宋体" panose="02010600030101010101" pitchFamily="2" charset="-122"/>
              </a:rPr>
              <a:t>：</a:t>
            </a:r>
            <a:endParaRPr lang="en-US" altLang="zh-CN" b="1" dirty="0">
              <a:latin typeface="楷体_GB2312" pitchFamily="49" charset="-122"/>
              <a:ea typeface="楷体_GB2312" pitchFamily="49" charset="-122"/>
            </a:endParaRPr>
          </a:p>
          <a:p>
            <a:pPr lvl="1" eaLnBrk="1" hangingPunct="1">
              <a:spcAft>
                <a:spcPct val="20000"/>
              </a:spcAft>
              <a:buClr>
                <a:srgbClr val="AC04A0"/>
              </a:buClr>
            </a:pPr>
            <a:r>
              <a:rPr lang="en-US" altLang="zh-CN" b="1" dirty="0">
                <a:solidFill>
                  <a:srgbClr val="FF0000"/>
                </a:solidFill>
                <a:latin typeface="Times New Roman" panose="02020603050405020304" pitchFamily="18" charset="0"/>
                <a:ea typeface="楷体_GB2312" pitchFamily="49" charset="-122"/>
              </a:rPr>
              <a:t> </a:t>
            </a:r>
            <a:r>
              <a:rPr lang="en-US" altLang="zh-CN" dirty="0">
                <a:solidFill>
                  <a:srgbClr val="FF0000"/>
                </a:solidFill>
                <a:ea typeface="宋体" panose="02010600030101010101" pitchFamily="2" charset="-122"/>
              </a:rPr>
              <a:t>GB/T 18336-2001</a:t>
            </a:r>
            <a:r>
              <a:rPr lang="zh-CN" altLang="zh-CN" dirty="0">
                <a:solidFill>
                  <a:srgbClr val="FF0000"/>
                </a:solidFill>
                <a:ea typeface="宋体" panose="02010600030101010101" pitchFamily="2" charset="-122"/>
              </a:rPr>
              <a:t>《信息技术安全性评估准则》</a:t>
            </a:r>
            <a:endParaRPr lang="en-US" altLang="zh-CN" b="1" dirty="0">
              <a:solidFill>
                <a:srgbClr val="FF0000"/>
              </a:solidFill>
              <a:ea typeface="楷体_GB2312" pitchFamily="49" charset="-122"/>
            </a:endParaRPr>
          </a:p>
          <a:p>
            <a:pPr lvl="1" eaLnBrk="1" hangingPunct="1"/>
            <a:r>
              <a:rPr lang="zh-CN" altLang="zh-CN" sz="2400" dirty="0">
                <a:ea typeface="宋体" panose="02010600030101010101" pitchFamily="2" charset="-122"/>
              </a:rPr>
              <a:t>我国自</a:t>
            </a:r>
            <a:r>
              <a:rPr lang="en-US" altLang="zh-CN" sz="2400" dirty="0">
                <a:ea typeface="宋体" panose="02010600030101010101" pitchFamily="2" charset="-122"/>
              </a:rPr>
              <a:t>1996</a:t>
            </a:r>
            <a:r>
              <a:rPr lang="zh-CN" altLang="zh-CN" sz="2400" dirty="0">
                <a:ea typeface="宋体" panose="02010600030101010101" pitchFamily="2" charset="-122"/>
              </a:rPr>
              <a:t>年</a:t>
            </a:r>
            <a:r>
              <a:rPr lang="en-US" altLang="zh-CN" sz="2400" dirty="0">
                <a:ea typeface="宋体" panose="02010600030101010101" pitchFamily="2" charset="-122"/>
              </a:rPr>
              <a:t>CC 1.0</a:t>
            </a:r>
            <a:r>
              <a:rPr lang="zh-CN" altLang="zh-CN" sz="2400" dirty="0">
                <a:ea typeface="宋体" panose="02010600030101010101" pitchFamily="2" charset="-122"/>
              </a:rPr>
              <a:t>版发布后，尝试将</a:t>
            </a:r>
            <a:r>
              <a:rPr lang="en-US" altLang="zh-CN" sz="2400" dirty="0">
                <a:ea typeface="宋体" panose="02010600030101010101" pitchFamily="2" charset="-122"/>
              </a:rPr>
              <a:t>CC</a:t>
            </a:r>
            <a:r>
              <a:rPr lang="zh-CN" altLang="zh-CN" sz="2400" dirty="0">
                <a:ea typeface="宋体" panose="02010600030101010101" pitchFamily="2" charset="-122"/>
              </a:rPr>
              <a:t>标准与信息安全实践相结合</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2001</a:t>
            </a:r>
            <a:r>
              <a:rPr lang="zh-CN" altLang="zh-CN" sz="2400" dirty="0">
                <a:ea typeface="宋体" panose="02010600030101010101" pitchFamily="2" charset="-122"/>
              </a:rPr>
              <a:t>年</a:t>
            </a:r>
            <a:r>
              <a:rPr lang="en-US" altLang="zh-CN" sz="2400" dirty="0">
                <a:ea typeface="宋体" panose="02010600030101010101" pitchFamily="2" charset="-122"/>
              </a:rPr>
              <a:t>3</a:t>
            </a:r>
            <a:r>
              <a:rPr lang="zh-CN" altLang="zh-CN" sz="2400" dirty="0">
                <a:ea typeface="宋体" panose="02010600030101010101" pitchFamily="2" charset="-122"/>
              </a:rPr>
              <a:t>月，我国国家质量技术监督局正式颁布了等同采用</a:t>
            </a:r>
            <a:r>
              <a:rPr lang="en-US" altLang="zh-CN" sz="2400" dirty="0">
                <a:ea typeface="宋体" panose="02010600030101010101" pitchFamily="2" charset="-122"/>
              </a:rPr>
              <a:t>CC</a:t>
            </a:r>
            <a:r>
              <a:rPr lang="zh-CN" altLang="zh-CN" sz="2400" dirty="0">
                <a:ea typeface="宋体" panose="02010600030101010101" pitchFamily="2" charset="-122"/>
              </a:rPr>
              <a:t>的国家标准</a:t>
            </a:r>
            <a:r>
              <a:rPr lang="en-US" altLang="zh-CN" sz="2400" dirty="0">
                <a:ea typeface="宋体" panose="02010600030101010101" pitchFamily="2" charset="-122"/>
              </a:rPr>
              <a:t>GB/T 18336-2001</a:t>
            </a:r>
            <a:r>
              <a:rPr lang="zh-CN" altLang="zh-CN" sz="2400" dirty="0">
                <a:ea typeface="宋体" panose="02010600030101010101" pitchFamily="2" charset="-122"/>
              </a:rPr>
              <a:t>《信息技术安全性评估准则》</a:t>
            </a:r>
            <a:endParaRPr lang="en-US" altLang="zh-CN" sz="2400" b="1" dirty="0">
              <a:solidFill>
                <a:srgbClr val="000000"/>
              </a:solidFill>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4" end="4"/>
                                            </p:txEl>
                                          </p:spTgt>
                                        </p:tgtEl>
                                        <p:attrNameLst>
                                          <p:attrName>style.visibility</p:attrName>
                                        </p:attrNameLst>
                                      </p:cBhvr>
                                      <p:to>
                                        <p:strVal val="visible"/>
                                      </p:to>
                                    </p:set>
                                    <p:animEffect transition="in" filter="fade">
                                      <p:cBhvr>
                                        <p:cTn id="1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风险评估管理标准</a:t>
            </a:r>
            <a:endParaRPr lang="zh-CN" altLang="en-US" b="1" dirty="0">
              <a:ea typeface="宋体" panose="02010600030101010101" pitchFamily="2" charset="-122"/>
            </a:endParaRPr>
          </a:p>
        </p:txBody>
      </p:sp>
      <p:sp>
        <p:nvSpPr>
          <p:cNvPr id="15363" name="内容占位符 2"/>
          <p:cNvSpPr>
            <a:spLocks noGrp="1"/>
          </p:cNvSpPr>
          <p:nvPr>
            <p:ph idx="1"/>
          </p:nvPr>
        </p:nvSpPr>
        <p:spPr>
          <a:xfrm>
            <a:off x="152400" y="1066800"/>
            <a:ext cx="8763000" cy="5638800"/>
          </a:xfrm>
        </p:spPr>
        <p:txBody>
          <a:bodyPr vert="horz" wrap="square" lIns="91440" tIns="45720" rIns="91440" bIns="45720" anchor="t" anchorCtr="0"/>
          <a:lstStyle/>
          <a:p>
            <a:endParaRPr lang="en-US" altLang="zh-CN" sz="2800" dirty="0">
              <a:ea typeface="宋体" panose="02010600030101010101" pitchFamily="2" charset="-122"/>
            </a:endParaRPr>
          </a:p>
          <a:p>
            <a:pPr>
              <a:buFont typeface="Wingdings" panose="05000000000000000000" pitchFamily="2" charset="2"/>
              <a:buChar char="Ø"/>
            </a:pPr>
            <a:r>
              <a:rPr lang="en-US" altLang="zh-CN" sz="2800" dirty="0">
                <a:ea typeface="宋体" panose="02010600030101010101" pitchFamily="2" charset="-122"/>
              </a:rPr>
              <a:t>ISO/IEC 17799</a:t>
            </a:r>
            <a:r>
              <a:rPr lang="zh-CN" altLang="zh-CN" sz="2800" dirty="0">
                <a:ea typeface="宋体" panose="02010600030101010101" pitchFamily="2" charset="-122"/>
              </a:rPr>
              <a:t>《信息技术 信息安全管理实用规则》 </a:t>
            </a:r>
            <a:endParaRPr lang="en-US" altLang="zh-CN" sz="2800" dirty="0">
              <a:ea typeface="宋体" panose="02010600030101010101" pitchFamily="2" charset="-122"/>
            </a:endParaRPr>
          </a:p>
          <a:p>
            <a:pPr lvl="1" eaLnBrk="1" hangingPunct="1">
              <a:buFont typeface="Wingdings" panose="05000000000000000000" pitchFamily="2" charset="2"/>
              <a:buChar char="§"/>
            </a:pPr>
            <a:r>
              <a:rPr lang="en-US" altLang="zh-CN" sz="2400" dirty="0">
                <a:ea typeface="宋体" panose="02010600030101010101" pitchFamily="2" charset="-122"/>
              </a:rPr>
              <a:t>BS7799</a:t>
            </a:r>
            <a:r>
              <a:rPr lang="zh-CN" altLang="zh-CN" sz="2400" dirty="0">
                <a:ea typeface="宋体" panose="02010600030101010101" pitchFamily="2" charset="-122"/>
              </a:rPr>
              <a:t>标准最初是由英国贸工部（</a:t>
            </a:r>
            <a:r>
              <a:rPr lang="en-US" altLang="zh-CN" sz="2400" dirty="0">
                <a:ea typeface="宋体" panose="02010600030101010101" pitchFamily="2" charset="-122"/>
              </a:rPr>
              <a:t>DTI</a:t>
            </a:r>
            <a:r>
              <a:rPr lang="zh-CN" altLang="zh-CN" sz="2400" dirty="0">
                <a:ea typeface="宋体" panose="02010600030101010101" pitchFamily="2" charset="-122"/>
              </a:rPr>
              <a:t>）立项的，是业界、政府和商业机构共同倡导的，</a:t>
            </a:r>
            <a:r>
              <a:rPr lang="zh-CN" altLang="en-US" sz="2400" dirty="0">
                <a:ea typeface="宋体" panose="02010600030101010101" pitchFamily="2" charset="-122"/>
              </a:rPr>
              <a:t>目的在于</a:t>
            </a:r>
            <a:r>
              <a:rPr lang="zh-CN" altLang="zh-CN" sz="2400" dirty="0">
                <a:ea typeface="宋体" panose="02010600030101010101" pitchFamily="2" charset="-122"/>
              </a:rPr>
              <a:t>开发一套可供开发、实施和测量有效安全管理惯例</a:t>
            </a:r>
            <a:r>
              <a:rPr lang="zh-CN" altLang="en-US" sz="2400" dirty="0">
                <a:ea typeface="宋体" panose="02010600030101010101" pitchFamily="2" charset="-122"/>
              </a:rPr>
              <a:t>，</a:t>
            </a:r>
            <a:r>
              <a:rPr lang="zh-CN" altLang="zh-CN" sz="2400" dirty="0">
                <a:ea typeface="宋体" panose="02010600030101010101" pitchFamily="2" charset="-122"/>
              </a:rPr>
              <a:t>并提供贸易伙伴间信任的</a:t>
            </a:r>
            <a:r>
              <a:rPr lang="zh-CN" altLang="zh-CN" sz="2400" dirty="0">
                <a:solidFill>
                  <a:srgbClr val="FF0000"/>
                </a:solidFill>
                <a:ea typeface="宋体" panose="02010600030101010101" pitchFamily="2" charset="-122"/>
              </a:rPr>
              <a:t>通用框架</a:t>
            </a:r>
            <a:r>
              <a:rPr lang="zh-CN" altLang="zh-CN" sz="2400" dirty="0">
                <a:ea typeface="宋体" panose="02010600030101010101" pitchFamily="2" charset="-122"/>
              </a:rPr>
              <a:t>。</a:t>
            </a:r>
            <a:endParaRPr lang="en-US" altLang="zh-CN" sz="2400" dirty="0">
              <a:ea typeface="宋体" panose="02010600030101010101" pitchFamily="2" charset="-122"/>
            </a:endParaRPr>
          </a:p>
          <a:p>
            <a:pPr lvl="1" eaLnBrk="1" hangingPunct="1">
              <a:buFont typeface="Wingdings" panose="05000000000000000000" pitchFamily="2" charset="2"/>
              <a:buChar char="§"/>
            </a:pPr>
            <a:endParaRPr lang="en-US" altLang="zh-CN" sz="2400" dirty="0">
              <a:ea typeface="宋体" panose="02010600030101010101" pitchFamily="2" charset="-122"/>
            </a:endParaRPr>
          </a:p>
          <a:p>
            <a:pPr lvl="1" eaLnBrk="1" hangingPunct="1">
              <a:buFont typeface="Wingdings" panose="05000000000000000000" pitchFamily="2" charset="2"/>
              <a:buChar char="§"/>
            </a:pPr>
            <a:r>
              <a:rPr lang="zh-CN" altLang="zh-CN" sz="2400" dirty="0">
                <a:ea typeface="宋体" panose="02010600030101010101" pitchFamily="2" charset="-122"/>
              </a:rPr>
              <a:t>我国在</a:t>
            </a:r>
            <a:r>
              <a:rPr lang="en-US" altLang="zh-CN" sz="2400" dirty="0">
                <a:ea typeface="宋体" panose="02010600030101010101" pitchFamily="2" charset="-122"/>
              </a:rPr>
              <a:t>ISO/IEC 17799</a:t>
            </a:r>
            <a:r>
              <a:rPr lang="zh-CN" altLang="zh-CN" sz="2400" dirty="0">
                <a:ea typeface="宋体" panose="02010600030101010101" pitchFamily="2" charset="-122"/>
              </a:rPr>
              <a:t>：</a:t>
            </a:r>
            <a:r>
              <a:rPr lang="en-US" altLang="zh-CN" sz="2400" dirty="0">
                <a:ea typeface="宋体" panose="02010600030101010101" pitchFamily="2" charset="-122"/>
              </a:rPr>
              <a:t>2000</a:t>
            </a:r>
            <a:r>
              <a:rPr lang="zh-CN" altLang="zh-CN" sz="2400" dirty="0">
                <a:ea typeface="宋体" panose="02010600030101010101" pitchFamily="2" charset="-122"/>
              </a:rPr>
              <a:t>的基础上，于</a:t>
            </a:r>
            <a:r>
              <a:rPr lang="en-US" altLang="zh-CN" sz="2400" dirty="0">
                <a:ea typeface="宋体" panose="02010600030101010101" pitchFamily="2" charset="-122"/>
              </a:rPr>
              <a:t>2005</a:t>
            </a:r>
            <a:r>
              <a:rPr lang="zh-CN" altLang="zh-CN" sz="2400" dirty="0">
                <a:ea typeface="宋体" panose="02010600030101010101" pitchFamily="2" charset="-122"/>
              </a:rPr>
              <a:t>年颁布了国家标准</a:t>
            </a:r>
            <a:r>
              <a:rPr lang="en-US" altLang="zh-CN" sz="2400" dirty="0">
                <a:ea typeface="宋体" panose="02010600030101010101" pitchFamily="2" charset="-122"/>
              </a:rPr>
              <a:t>GB/T 19716</a:t>
            </a:r>
            <a:r>
              <a:rPr lang="zh-CN" altLang="zh-CN" sz="2400" dirty="0">
                <a:ea typeface="宋体" panose="02010600030101010101" pitchFamily="2" charset="-122"/>
              </a:rPr>
              <a:t>：</a:t>
            </a:r>
            <a:r>
              <a:rPr lang="en-US" altLang="zh-CN" sz="2400" dirty="0">
                <a:ea typeface="宋体" panose="02010600030101010101" pitchFamily="2" charset="-122"/>
              </a:rPr>
              <a:t>2005</a:t>
            </a:r>
            <a:r>
              <a:rPr lang="zh-CN" altLang="zh-CN" sz="2400" dirty="0">
                <a:ea typeface="宋体" panose="02010600030101010101" pitchFamily="2" charset="-122"/>
              </a:rPr>
              <a:t>《信息技术 信息安全管理实用规则》（修改采用</a:t>
            </a:r>
            <a:r>
              <a:rPr lang="en-US" altLang="zh-CN" sz="2400" dirty="0">
                <a:ea typeface="宋体" panose="02010600030101010101" pitchFamily="2" charset="-122"/>
              </a:rPr>
              <a:t>ISO/IEC 17799</a:t>
            </a:r>
            <a:r>
              <a:rPr lang="zh-CN" altLang="zh-CN" sz="2400" dirty="0">
                <a:ea typeface="宋体" panose="02010600030101010101" pitchFamily="2" charset="-122"/>
              </a:rPr>
              <a:t>：</a:t>
            </a:r>
            <a:r>
              <a:rPr lang="en-US" altLang="zh-CN" sz="2400" dirty="0">
                <a:ea typeface="宋体" panose="02010600030101010101" pitchFamily="2" charset="-122"/>
              </a:rPr>
              <a:t>2000</a:t>
            </a:r>
            <a:r>
              <a:rPr lang="zh-CN" altLang="zh-CN" sz="2400" dirty="0">
                <a:ea typeface="宋体" panose="02010600030101010101" pitchFamily="2" charset="-122"/>
              </a:rPr>
              <a:t>）</a:t>
            </a:r>
            <a:endParaRPr lang="zh-CN" altLang="en-US" sz="2400" dirty="0">
              <a:ea typeface="宋体" panose="02010600030101010101" pitchFamily="2" charset="-122"/>
            </a:endParaRPr>
          </a:p>
          <a:p>
            <a:pPr lvl="1" eaLnBrk="1" hangingPunct="1">
              <a:buFont typeface="Wingdings" panose="05000000000000000000" pitchFamily="2" charset="2"/>
              <a:buChar char="§"/>
            </a:pPr>
            <a:endParaRPr lang="en-US" altLang="zh-CN" dirty="0">
              <a:ea typeface="宋体" panose="02010600030101010101" pitchFamily="2" charset="-122"/>
            </a:endParaRPr>
          </a:p>
          <a:p>
            <a:pPr eaLnBrk="1" hangingPunct="1">
              <a:spcAft>
                <a:spcPct val="20000"/>
              </a:spcAft>
              <a:buClr>
                <a:srgbClr val="AC04A0"/>
              </a:buClr>
              <a:buNone/>
            </a:pPr>
            <a:endParaRPr lang="en-US" altLang="zh-CN" b="1" dirty="0">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animEffect transition="in" filter="wipe(down)">
                                      <p:cBhvr>
                                        <p:cTn id="7"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风险评估管理标准</a:t>
            </a:r>
            <a:endParaRPr lang="zh-CN" altLang="en-US" b="1" dirty="0">
              <a:ea typeface="宋体" panose="02010600030101010101" pitchFamily="2" charset="-122"/>
            </a:endParaRPr>
          </a:p>
        </p:txBody>
      </p:sp>
      <p:sp>
        <p:nvSpPr>
          <p:cNvPr id="16387" name="内容占位符 2"/>
          <p:cNvSpPr>
            <a:spLocks noGrp="1"/>
          </p:cNvSpPr>
          <p:nvPr>
            <p:ph idx="1"/>
          </p:nvPr>
        </p:nvSpPr>
        <p:spPr>
          <a:xfrm>
            <a:off x="381000" y="1143000"/>
            <a:ext cx="8229600" cy="5638800"/>
          </a:xfrm>
        </p:spPr>
        <p:txBody>
          <a:bodyPr vert="horz" wrap="square" lIns="91440" tIns="45720" rIns="91440" bIns="45720" anchor="t" anchorCtr="0"/>
          <a:lstStyle/>
          <a:p>
            <a:pPr>
              <a:buFont typeface="Wingdings" panose="05000000000000000000" pitchFamily="2" charset="2"/>
              <a:buChar char="Ø"/>
            </a:pPr>
            <a:r>
              <a:rPr lang="en-US" altLang="zh-CN" sz="2800" dirty="0">
                <a:ea typeface="宋体" panose="02010600030101010101" pitchFamily="2" charset="-122"/>
              </a:rPr>
              <a:t>ISO/IEC 27001</a:t>
            </a:r>
            <a:r>
              <a:rPr lang="zh-CN" altLang="zh-CN" sz="2800" dirty="0">
                <a:ea typeface="宋体" panose="02010600030101010101" pitchFamily="2" charset="-122"/>
              </a:rPr>
              <a:t>《信息安全管理体系要求》</a:t>
            </a:r>
            <a:endParaRPr lang="en-US" altLang="zh-CN" sz="2800" dirty="0">
              <a:ea typeface="宋体" panose="02010600030101010101" pitchFamily="2" charset="-122"/>
            </a:endParaRPr>
          </a:p>
          <a:p>
            <a:pPr lvl="1" eaLnBrk="1" hangingPunct="1"/>
            <a:r>
              <a:rPr lang="en-US" altLang="zh-CN" sz="2600" dirty="0">
                <a:ea typeface="宋体" panose="02010600030101010101" pitchFamily="2" charset="-122"/>
              </a:rPr>
              <a:t>1998</a:t>
            </a:r>
            <a:r>
              <a:rPr lang="zh-CN" altLang="zh-CN" sz="2600" dirty="0">
                <a:ea typeface="宋体" panose="02010600030101010101" pitchFamily="2" charset="-122"/>
              </a:rPr>
              <a:t>年，</a:t>
            </a:r>
            <a:r>
              <a:rPr lang="en-US" altLang="zh-CN" sz="2600" dirty="0">
                <a:ea typeface="宋体" panose="02010600030101010101" pitchFamily="2" charset="-122"/>
              </a:rPr>
              <a:t>BSI（英国标准协会）</a:t>
            </a:r>
            <a:r>
              <a:rPr lang="zh-CN" altLang="zh-CN" sz="2600" dirty="0">
                <a:ea typeface="宋体" panose="02010600030101010101" pitchFamily="2" charset="-122"/>
              </a:rPr>
              <a:t>公布</a:t>
            </a:r>
            <a:r>
              <a:rPr lang="en-US" altLang="zh-CN" sz="2600" dirty="0">
                <a:ea typeface="宋体" panose="02010600030101010101" pitchFamily="2" charset="-122"/>
              </a:rPr>
              <a:t>BS7799-2</a:t>
            </a:r>
            <a:r>
              <a:rPr lang="zh-CN" altLang="zh-CN" sz="2600" dirty="0">
                <a:ea typeface="宋体" panose="02010600030101010101" pitchFamily="2" charset="-122"/>
              </a:rPr>
              <a:t>；</a:t>
            </a:r>
            <a:endParaRPr lang="en-US" altLang="zh-CN" sz="2600" dirty="0">
              <a:ea typeface="宋体" panose="02010600030101010101" pitchFamily="2" charset="-122"/>
            </a:endParaRPr>
          </a:p>
          <a:p>
            <a:pPr lvl="1" eaLnBrk="1" hangingPunct="1"/>
            <a:r>
              <a:rPr lang="en-US" altLang="zh-CN" sz="2600" dirty="0">
                <a:ea typeface="宋体" panose="02010600030101010101" pitchFamily="2" charset="-122"/>
              </a:rPr>
              <a:t>1999</a:t>
            </a:r>
            <a:r>
              <a:rPr lang="zh-CN" altLang="zh-CN" sz="2600" dirty="0">
                <a:ea typeface="宋体" panose="02010600030101010101" pitchFamily="2" charset="-122"/>
              </a:rPr>
              <a:t>年发布修订版的</a:t>
            </a:r>
            <a:r>
              <a:rPr lang="en-US" altLang="zh-CN" sz="2600" dirty="0">
                <a:ea typeface="宋体" panose="02010600030101010101" pitchFamily="2" charset="-122"/>
              </a:rPr>
              <a:t>BS7799-2</a:t>
            </a:r>
            <a:r>
              <a:rPr lang="zh-CN" altLang="zh-CN" sz="2600" dirty="0">
                <a:ea typeface="宋体" panose="02010600030101010101" pitchFamily="2" charset="-122"/>
              </a:rPr>
              <a:t>；</a:t>
            </a:r>
            <a:endParaRPr lang="en-US" altLang="zh-CN" sz="2600" dirty="0">
              <a:ea typeface="宋体" panose="02010600030101010101" pitchFamily="2" charset="-122"/>
            </a:endParaRPr>
          </a:p>
          <a:p>
            <a:pPr lvl="1" eaLnBrk="1" hangingPunct="1"/>
            <a:r>
              <a:rPr lang="en-US" altLang="zh-CN" sz="2600" dirty="0">
                <a:ea typeface="宋体" panose="02010600030101010101" pitchFamily="2" charset="-122"/>
              </a:rPr>
              <a:t>2002</a:t>
            </a:r>
            <a:r>
              <a:rPr lang="zh-CN" altLang="zh-CN" sz="2600" dirty="0">
                <a:ea typeface="宋体" panose="02010600030101010101" pitchFamily="2" charset="-122"/>
              </a:rPr>
              <a:t>年推出了新版本的</a:t>
            </a:r>
            <a:r>
              <a:rPr lang="en-US" altLang="zh-CN" sz="2600" dirty="0">
                <a:ea typeface="宋体" panose="02010600030101010101" pitchFamily="2" charset="-122"/>
              </a:rPr>
              <a:t>BS7799-2</a:t>
            </a:r>
            <a:r>
              <a:rPr lang="zh-CN" altLang="zh-CN" sz="2600" dirty="0">
                <a:ea typeface="宋体" panose="02010600030101010101" pitchFamily="2" charset="-122"/>
              </a:rPr>
              <a:t>：</a:t>
            </a:r>
            <a:r>
              <a:rPr lang="en-US" altLang="zh-CN" sz="2600" dirty="0">
                <a:ea typeface="宋体" panose="02010600030101010101" pitchFamily="2" charset="-122"/>
              </a:rPr>
              <a:t>2002</a:t>
            </a:r>
            <a:r>
              <a:rPr lang="zh-CN" altLang="zh-CN" sz="2600" dirty="0">
                <a:ea typeface="宋体" panose="02010600030101010101" pitchFamily="2" charset="-122"/>
              </a:rPr>
              <a:t>；</a:t>
            </a:r>
            <a:r>
              <a:rPr lang="en-US" altLang="zh-CN" sz="2600" dirty="0">
                <a:ea typeface="宋体" panose="02010600030101010101" pitchFamily="2" charset="-122"/>
              </a:rPr>
              <a:t>2004</a:t>
            </a:r>
            <a:r>
              <a:rPr lang="zh-CN" altLang="zh-CN" sz="2600" dirty="0">
                <a:ea typeface="宋体" panose="02010600030101010101" pitchFamily="2" charset="-122"/>
              </a:rPr>
              <a:t>年</a:t>
            </a:r>
            <a:r>
              <a:rPr lang="en-US" altLang="zh-CN" sz="2600" dirty="0">
                <a:ea typeface="宋体" panose="02010600030101010101" pitchFamily="2" charset="-122"/>
              </a:rPr>
              <a:t>ISO</a:t>
            </a:r>
            <a:r>
              <a:rPr lang="zh-CN" altLang="zh-CN" sz="2600" dirty="0">
                <a:ea typeface="宋体" panose="02010600030101010101" pitchFamily="2" charset="-122"/>
              </a:rPr>
              <a:t>启动了以</a:t>
            </a:r>
            <a:r>
              <a:rPr lang="en-US" altLang="zh-CN" sz="2600" dirty="0">
                <a:ea typeface="宋体" panose="02010600030101010101" pitchFamily="2" charset="-122"/>
              </a:rPr>
              <a:t>BS7799-2</a:t>
            </a:r>
            <a:r>
              <a:rPr lang="zh-CN" altLang="zh-CN" sz="2600" dirty="0">
                <a:ea typeface="宋体" panose="02010600030101010101" pitchFamily="2" charset="-122"/>
              </a:rPr>
              <a:t>：</a:t>
            </a:r>
            <a:r>
              <a:rPr lang="en-US" altLang="zh-CN" sz="2600" dirty="0">
                <a:ea typeface="宋体" panose="02010600030101010101" pitchFamily="2" charset="-122"/>
              </a:rPr>
              <a:t>2002</a:t>
            </a:r>
            <a:r>
              <a:rPr lang="zh-CN" altLang="zh-CN" sz="2600" dirty="0">
                <a:ea typeface="宋体" panose="02010600030101010101" pitchFamily="2" charset="-122"/>
              </a:rPr>
              <a:t>为基础的</a:t>
            </a:r>
            <a:r>
              <a:rPr lang="en-US" altLang="zh-CN" sz="2600" dirty="0">
                <a:ea typeface="宋体" panose="02010600030101010101" pitchFamily="2" charset="-122"/>
              </a:rPr>
              <a:t>ISMS</a:t>
            </a:r>
            <a:r>
              <a:rPr lang="zh-CN" altLang="zh-CN" sz="2600" dirty="0">
                <a:ea typeface="宋体" panose="02010600030101010101" pitchFamily="2" charset="-122"/>
              </a:rPr>
              <a:t>国际标准的制定工作</a:t>
            </a:r>
            <a:r>
              <a:rPr lang="zh-CN" altLang="en-US" sz="2600" dirty="0">
                <a:ea typeface="宋体" panose="02010600030101010101" pitchFamily="2" charset="-122"/>
              </a:rPr>
              <a:t>。</a:t>
            </a:r>
            <a:endParaRPr lang="en-US" altLang="zh-CN" sz="2600" dirty="0">
              <a:ea typeface="宋体" panose="02010600030101010101" pitchFamily="2" charset="-122"/>
            </a:endParaRPr>
          </a:p>
          <a:p>
            <a:pPr lvl="1" eaLnBrk="1" hangingPunct="1"/>
            <a:r>
              <a:rPr lang="en-US" altLang="zh-CN" sz="2600" dirty="0">
                <a:ea typeface="宋体" panose="02010600030101010101" pitchFamily="2" charset="-122"/>
              </a:rPr>
              <a:t>2005</a:t>
            </a:r>
            <a:r>
              <a:rPr lang="zh-CN" altLang="zh-CN" sz="2600" dirty="0">
                <a:ea typeface="宋体" panose="02010600030101010101" pitchFamily="2" charset="-122"/>
              </a:rPr>
              <a:t>年发布</a:t>
            </a:r>
            <a:r>
              <a:rPr lang="en-US" altLang="zh-CN" sz="2600" dirty="0">
                <a:ea typeface="宋体" panose="02010600030101010101" pitchFamily="2" charset="-122"/>
              </a:rPr>
              <a:t>ISO/IEC 27001</a:t>
            </a:r>
            <a:r>
              <a:rPr lang="zh-CN" altLang="zh-CN" sz="2600" dirty="0">
                <a:ea typeface="宋体" panose="02010600030101010101" pitchFamily="2" charset="-122"/>
              </a:rPr>
              <a:t>：</a:t>
            </a:r>
            <a:r>
              <a:rPr lang="en-US" altLang="zh-CN" sz="2600" dirty="0">
                <a:ea typeface="宋体" panose="02010600030101010101" pitchFamily="2" charset="-122"/>
              </a:rPr>
              <a:t>2005</a:t>
            </a:r>
            <a:r>
              <a:rPr lang="zh-CN" altLang="zh-CN" sz="2600" dirty="0">
                <a:ea typeface="宋体" panose="02010600030101010101" pitchFamily="2" charset="-122"/>
              </a:rPr>
              <a:t>，它是建立</a:t>
            </a:r>
            <a:r>
              <a:rPr lang="en-US" altLang="zh-CN" sz="2600" dirty="0">
                <a:ea typeface="宋体" panose="02010600030101010101" pitchFamily="2" charset="-122"/>
              </a:rPr>
              <a:t>ISMS</a:t>
            </a:r>
            <a:r>
              <a:rPr lang="zh-CN" altLang="zh-CN" sz="2600" dirty="0">
                <a:ea typeface="宋体" panose="02010600030101010101" pitchFamily="2" charset="-122"/>
              </a:rPr>
              <a:t>的一套规范，其中详细说明了建立、实施和维护信息安全管理体系的要求，可用来指导相关人员去应用</a:t>
            </a:r>
            <a:r>
              <a:rPr lang="en-US" altLang="zh-CN" sz="2600" dirty="0">
                <a:ea typeface="宋体" panose="02010600030101010101" pitchFamily="2" charset="-122"/>
              </a:rPr>
              <a:t>ISO 17799</a:t>
            </a:r>
            <a:r>
              <a:rPr lang="zh-CN" altLang="zh-CN" sz="2600" dirty="0">
                <a:ea typeface="宋体" panose="02010600030101010101" pitchFamily="2" charset="-122"/>
              </a:rPr>
              <a:t>，其最终目的在于建立适合</a:t>
            </a:r>
            <a:r>
              <a:rPr lang="zh-CN" altLang="zh-CN" sz="2600" dirty="0">
                <a:solidFill>
                  <a:srgbClr val="FF0000"/>
                </a:solidFill>
                <a:ea typeface="宋体" panose="02010600030101010101" pitchFamily="2" charset="-122"/>
              </a:rPr>
              <a:t>组织</a:t>
            </a:r>
            <a:r>
              <a:rPr lang="zh-CN" altLang="zh-CN" sz="2600" dirty="0">
                <a:ea typeface="宋体" panose="02010600030101010101" pitchFamily="2" charset="-122"/>
              </a:rPr>
              <a:t>需要的</a:t>
            </a:r>
            <a:r>
              <a:rPr lang="en-US" altLang="zh-CN" sz="2600" dirty="0">
                <a:ea typeface="宋体" panose="02010600030101010101" pitchFamily="2" charset="-122"/>
              </a:rPr>
              <a:t>ISMS</a:t>
            </a:r>
            <a:r>
              <a:rPr lang="zh-CN" altLang="zh-CN" sz="2600" dirty="0">
                <a:ea typeface="宋体" panose="02010600030101010101" pitchFamily="2" charset="-122"/>
              </a:rPr>
              <a:t>。</a:t>
            </a:r>
            <a:endParaRPr lang="en-US" altLang="zh-CN" sz="2600" b="1" dirty="0">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387">
                                            <p:txEl>
                                              <p:pRg st="3" end="3"/>
                                            </p:txEl>
                                          </p:spTgt>
                                        </p:tgtEl>
                                        <p:attrNameLst>
                                          <p:attrName>style.visibility</p:attrName>
                                        </p:attrNameLst>
                                      </p:cBhvr>
                                      <p:to>
                                        <p:strVal val="visible"/>
                                      </p:to>
                                    </p:set>
                                    <p:animEffect transition="in" filter="wipe(down)">
                                      <p:cBhvr>
                                        <p:cTn id="7" dur="500"/>
                                        <p:tgtEl>
                                          <p:spTgt spid="1638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6387">
                                            <p:txEl>
                                              <p:pRg st="4" end="4"/>
                                            </p:txEl>
                                          </p:spTgt>
                                        </p:tgtEl>
                                        <p:attrNameLst>
                                          <p:attrName>style.visibility</p:attrName>
                                        </p:attrNameLst>
                                      </p:cBhvr>
                                      <p:to>
                                        <p:strVal val="visible"/>
                                      </p:to>
                                    </p:set>
                                    <p:animEffect transition="in" filter="fade">
                                      <p:cBhvr>
                                        <p:cTn id="12" dur="1000"/>
                                        <p:tgtEl>
                                          <p:spTgt spid="16387">
                                            <p:txEl>
                                              <p:pRg st="4" end="4"/>
                                            </p:txEl>
                                          </p:spTgt>
                                        </p:tgtEl>
                                      </p:cBhvr>
                                    </p:animEffect>
                                    <p:anim calcmode="lin" valueType="num">
                                      <p:cBhvr>
                                        <p:cTn id="13"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风险评估管理标准</a:t>
            </a:r>
            <a:endParaRPr lang="zh-CN" altLang="en-US" b="1" dirty="0">
              <a:ea typeface="宋体" panose="02010600030101010101" pitchFamily="2" charset="-122"/>
            </a:endParaRPr>
          </a:p>
        </p:txBody>
      </p:sp>
      <p:sp>
        <p:nvSpPr>
          <p:cNvPr id="3" name="矩形 2"/>
          <p:cNvSpPr/>
          <p:nvPr/>
        </p:nvSpPr>
        <p:spPr>
          <a:xfrm>
            <a:off x="533400" y="1601788"/>
            <a:ext cx="8305800" cy="4494212"/>
          </a:xfrm>
          <a:prstGeom prst="rect">
            <a:avLst/>
          </a:prstGeom>
          <a:noFill/>
          <a:ln w="9525">
            <a:noFill/>
          </a:ln>
        </p:spPr>
        <p:txBody>
          <a:bodyPr>
            <a:spAutoFit/>
          </a:bodyPr>
          <a:lstStyle/>
          <a:p>
            <a:r>
              <a:rPr lang="zh-CN" altLang="zh-CN" dirty="0">
                <a:latin typeface="Times New Roman" panose="02020603050405020304" pitchFamily="18" charset="0"/>
              </a:rPr>
              <a:t>国际标准化组织发布的信息技术安全标准众多，分别有以下系列：</a:t>
            </a:r>
          </a:p>
          <a:p>
            <a:r>
              <a:rPr lang="en-US" altLang="zh-CN" dirty="0">
                <a:latin typeface="Times New Roman" panose="02020603050405020304" pitchFamily="18" charset="0"/>
              </a:rPr>
              <a:t>ISO x</a:t>
            </a:r>
            <a:r>
              <a:rPr lang="zh-CN" altLang="zh-CN" dirty="0">
                <a:latin typeface="Times New Roman" panose="02020603050405020304" pitchFamily="18" charset="0"/>
              </a:rPr>
              <a:t>系列（</a:t>
            </a:r>
            <a:r>
              <a:rPr lang="en-US" altLang="zh-CN" dirty="0">
                <a:latin typeface="Times New Roman" panose="02020603050405020304" pitchFamily="18" charset="0"/>
              </a:rPr>
              <a:t>x</a:t>
            </a:r>
            <a:r>
              <a:rPr lang="zh-CN" altLang="zh-CN" dirty="0">
                <a:latin typeface="Times New Roman" panose="02020603050405020304" pitchFamily="18" charset="0"/>
              </a:rPr>
              <a:t>代表后面跟一些数字信息，比如</a:t>
            </a:r>
            <a:r>
              <a:rPr lang="en-US" altLang="zh-CN" dirty="0">
                <a:latin typeface="Times New Roman" panose="02020603050405020304" pitchFamily="18" charset="0"/>
              </a:rPr>
              <a:t>7498-2</a:t>
            </a:r>
            <a:r>
              <a:rPr lang="zh-CN" altLang="zh-CN" dirty="0">
                <a:latin typeface="Times New Roman" panose="02020603050405020304" pitchFamily="18" charset="0"/>
              </a:rPr>
              <a:t>）</a:t>
            </a:r>
          </a:p>
          <a:p>
            <a:r>
              <a:rPr lang="en-US" altLang="zh-CN" dirty="0">
                <a:latin typeface="Times New Roman" panose="02020603050405020304" pitchFamily="18" charset="0"/>
              </a:rPr>
              <a:t>ISO/IEC x</a:t>
            </a:r>
            <a:endParaRPr lang="zh-CN" altLang="zh-CN" dirty="0">
              <a:latin typeface="Times New Roman" panose="02020603050405020304" pitchFamily="18" charset="0"/>
            </a:endParaRPr>
          </a:p>
          <a:p>
            <a:r>
              <a:rPr lang="en-US" altLang="zh-CN" dirty="0">
                <a:latin typeface="Times New Roman" panose="02020603050405020304" pitchFamily="18" charset="0"/>
              </a:rPr>
              <a:t>ISO/IEC TR x</a:t>
            </a:r>
            <a:endParaRPr lang="zh-CN" altLang="zh-CN" dirty="0">
              <a:latin typeface="Times New Roman" panose="02020603050405020304" pitchFamily="18" charset="0"/>
            </a:endParaRPr>
          </a:p>
          <a:p>
            <a:r>
              <a:rPr lang="en-US" altLang="zh-CN" dirty="0">
                <a:latin typeface="Times New Roman" panose="02020603050405020304" pitchFamily="18" charset="0"/>
              </a:rPr>
              <a:t>ISO/IEC CDx</a:t>
            </a:r>
            <a:endParaRPr lang="zh-CN" altLang="zh-CN" dirty="0">
              <a:latin typeface="Times New Roman" panose="02020603050405020304" pitchFamily="18" charset="0"/>
            </a:endParaRPr>
          </a:p>
          <a:p>
            <a:r>
              <a:rPr lang="en-US" altLang="zh-CN" dirty="0">
                <a:latin typeface="Times New Roman" panose="02020603050405020304" pitchFamily="18" charset="0"/>
              </a:rPr>
              <a:t>ISO/IEC DIS x</a:t>
            </a:r>
            <a:endParaRPr lang="zh-CN" altLang="zh-CN" dirty="0">
              <a:latin typeface="Times New Roman" panose="02020603050405020304" pitchFamily="18" charset="0"/>
            </a:endParaRPr>
          </a:p>
          <a:p>
            <a:r>
              <a:rPr lang="en-US" altLang="zh-CN" dirty="0">
                <a:latin typeface="Times New Roman" panose="02020603050405020304" pitchFamily="18" charset="0"/>
              </a:rPr>
              <a:t>ISO/IEC DTR x</a:t>
            </a:r>
            <a:endParaRPr lang="zh-CN" altLang="zh-CN" dirty="0">
              <a:latin typeface="Times New Roman" panose="02020603050405020304" pitchFamily="18" charset="0"/>
            </a:endParaRPr>
          </a:p>
          <a:p>
            <a:r>
              <a:rPr lang="en-US" altLang="zh-CN" dirty="0">
                <a:latin typeface="Times New Roman" panose="02020603050405020304" pitchFamily="18" charset="0"/>
              </a:rPr>
              <a:t>ISO/IEC FDTR x</a:t>
            </a:r>
            <a:endParaRPr lang="zh-CN" altLang="zh-CN" dirty="0">
              <a:latin typeface="Times New Roman" panose="02020603050405020304" pitchFamily="18" charset="0"/>
            </a:endParaRPr>
          </a:p>
          <a:p>
            <a:r>
              <a:rPr lang="en-US" altLang="zh-CN" dirty="0">
                <a:latin typeface="Times New Roman" panose="02020603050405020304" pitchFamily="18" charset="0"/>
              </a:rPr>
              <a:t>ISO/IEC WD x</a:t>
            </a:r>
            <a:endParaRPr lang="zh-CN" altLang="zh-CN" dirty="0">
              <a:latin typeface="Times New Roman" panose="02020603050405020304" pitchFamily="18" charset="0"/>
            </a:endParaRPr>
          </a:p>
          <a:p>
            <a:r>
              <a:rPr lang="en-US" altLang="zh-CN" dirty="0">
                <a:latin typeface="Times New Roman" panose="02020603050405020304" pitchFamily="18" charset="0"/>
              </a:rPr>
              <a:t>ISO/IEC PDTR x</a:t>
            </a:r>
            <a:endParaRPr lang="zh-CN" altLang="zh-CN"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arn(inVertical)">
                                      <p:cBhvr>
                                        <p:cTn id="25" dur="500"/>
                                        <p:tgtEl>
                                          <p:spTgt spid="3">
                                            <p:txEl>
                                              <p:pRg st="7" end="7"/>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barn(inVertical)">
                                      <p:cBhvr>
                                        <p:cTn id="28" dur="500"/>
                                        <p:tgtEl>
                                          <p:spTgt spid="3">
                                            <p:txEl>
                                              <p:pRg st="8" end="8"/>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barn(inVertical)">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vert="horz" wrap="square" lIns="91440" tIns="45720" rIns="91440" bIns="45720" anchor="ctr" anchorCtr="0"/>
          <a:lstStyle/>
          <a:p>
            <a:pPr eaLnBrk="1" hangingPunct="1"/>
            <a:r>
              <a:rPr lang="zh-CN" altLang="zh-CN" dirty="0">
                <a:ea typeface="宋体" panose="02010600030101010101" pitchFamily="2" charset="-122"/>
              </a:rPr>
              <a:t>标准间的比较分析</a:t>
            </a:r>
            <a:endParaRPr lang="zh-CN" altLang="en-US" b="1" dirty="0">
              <a:ea typeface="宋体" panose="02010600030101010101" pitchFamily="2" charset="-122"/>
            </a:endParaRPr>
          </a:p>
        </p:txBody>
      </p:sp>
      <p:sp>
        <p:nvSpPr>
          <p:cNvPr id="17411" name="内容占位符 2"/>
          <p:cNvSpPr>
            <a:spLocks noGrp="1"/>
          </p:cNvSpPr>
          <p:nvPr>
            <p:ph idx="1"/>
          </p:nvPr>
        </p:nvSpPr>
        <p:spPr>
          <a:xfrm>
            <a:off x="228600" y="1143000"/>
            <a:ext cx="8610600" cy="56388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en-US" altLang="zh-CN" dirty="0">
                <a:ea typeface="宋体" panose="02010600030101010101" pitchFamily="2" charset="-122"/>
              </a:rPr>
              <a:t>1.</a:t>
            </a:r>
            <a:r>
              <a:rPr lang="zh-CN" altLang="zh-CN" sz="2800" dirty="0">
                <a:ea typeface="宋体" panose="02010600030101010101" pitchFamily="2" charset="-122"/>
              </a:rPr>
              <a:t>标准的比较分析</a:t>
            </a:r>
            <a:endParaRPr lang="en-US" altLang="zh-CN" sz="2800" dirty="0">
              <a:ea typeface="宋体" panose="02010600030101010101" pitchFamily="2" charset="-122"/>
            </a:endParaRPr>
          </a:p>
          <a:p>
            <a:pPr lvl="1" eaLnBrk="1" hangingPunct="1"/>
            <a:r>
              <a:rPr lang="zh-CN" altLang="zh-CN" sz="2400" dirty="0">
                <a:ea typeface="宋体" panose="02010600030101010101" pitchFamily="2" charset="-122"/>
              </a:rPr>
              <a:t>最初的</a:t>
            </a:r>
            <a:r>
              <a:rPr lang="en-US" altLang="zh-CN" sz="2400" dirty="0">
                <a:solidFill>
                  <a:srgbClr val="FF0000"/>
                </a:solidFill>
                <a:ea typeface="宋体" panose="02010600030101010101" pitchFamily="2" charset="-122"/>
              </a:rPr>
              <a:t>TCSEC</a:t>
            </a:r>
            <a:r>
              <a:rPr lang="zh-CN" altLang="zh-CN" sz="2400" dirty="0">
                <a:ea typeface="宋体" panose="02010600030101010101" pitchFamily="2" charset="-122"/>
              </a:rPr>
              <a:t>是针对</a:t>
            </a:r>
            <a:r>
              <a:rPr lang="zh-CN" altLang="zh-CN" sz="2400" u="sng" dirty="0">
                <a:solidFill>
                  <a:srgbClr val="FF0000"/>
                </a:solidFill>
                <a:ea typeface="宋体" panose="02010600030101010101" pitchFamily="2" charset="-122"/>
              </a:rPr>
              <a:t>孤立计算机系统</a:t>
            </a:r>
            <a:r>
              <a:rPr lang="zh-CN" altLang="zh-CN" sz="2400" dirty="0">
                <a:ea typeface="宋体" panose="02010600030101010101" pitchFamily="2" charset="-122"/>
              </a:rPr>
              <a:t>提出的，起初为军用标准，只应用在对操作系统的评估上。欧洲的</a:t>
            </a:r>
            <a:r>
              <a:rPr lang="en-US" altLang="zh-CN" sz="2400" dirty="0">
                <a:ea typeface="宋体" panose="02010600030101010101" pitchFamily="2" charset="-122"/>
              </a:rPr>
              <a:t>ITSEC</a:t>
            </a:r>
            <a:r>
              <a:rPr lang="zh-CN" altLang="zh-CN" sz="2400" dirty="0">
                <a:ea typeface="宋体" panose="02010600030101010101" pitchFamily="2" charset="-122"/>
              </a:rPr>
              <a:t>与</a:t>
            </a:r>
            <a:r>
              <a:rPr lang="en-US" altLang="zh-CN" sz="2400" dirty="0">
                <a:ea typeface="宋体" panose="02010600030101010101" pitchFamily="2" charset="-122"/>
              </a:rPr>
              <a:t>TCSEC</a:t>
            </a:r>
            <a:r>
              <a:rPr lang="zh-CN" altLang="zh-CN" sz="2400" dirty="0">
                <a:ea typeface="宋体" panose="02010600030101010101" pitchFamily="2" charset="-122"/>
              </a:rPr>
              <a:t>一样，均是不涉及开放系统的安全标准，仅针对产品的安全保证要求来划分等级并进行评测，且均为静态模型，仅能反映静态的安全状况，但适用于军队、政府与商用</a:t>
            </a:r>
            <a:r>
              <a:rPr lang="zh-CN" altLang="en-US" b="1" dirty="0">
                <a:solidFill>
                  <a:srgbClr val="000000"/>
                </a:solidFill>
                <a:ea typeface="楷体_GB2312" pitchFamily="49" charset="-122"/>
              </a:rPr>
              <a:t>。</a:t>
            </a:r>
            <a:r>
              <a:rPr lang="en-US" altLang="zh-CN" sz="2400" b="1" dirty="0">
                <a:latin typeface="楷体_GB2312" pitchFamily="49" charset="-122"/>
                <a:ea typeface="楷体_GB2312" pitchFamily="49" charset="-122"/>
              </a:rPr>
              <a:t> </a:t>
            </a:r>
          </a:p>
          <a:p>
            <a:pPr lvl="1" eaLnBrk="1" hangingPunct="1"/>
            <a:r>
              <a:rPr lang="en-US" altLang="zh-CN" sz="2400" dirty="0">
                <a:solidFill>
                  <a:srgbClr val="FF0000"/>
                </a:solidFill>
                <a:ea typeface="宋体" panose="02010600030101010101" pitchFamily="2" charset="-122"/>
              </a:rPr>
              <a:t>CC的通用性：CC</a:t>
            </a:r>
            <a:r>
              <a:rPr lang="zh-CN" altLang="zh-CN" sz="2400" dirty="0">
                <a:ea typeface="宋体" panose="02010600030101010101" pitchFamily="2" charset="-122"/>
              </a:rPr>
              <a:t>虽源于</a:t>
            </a:r>
            <a:r>
              <a:rPr lang="en-US" altLang="zh-CN" sz="2400" dirty="0">
                <a:ea typeface="宋体" panose="02010600030101010101" pitchFamily="2" charset="-122"/>
              </a:rPr>
              <a:t>TCSEC</a:t>
            </a:r>
            <a:r>
              <a:rPr lang="zh-CN" altLang="zh-CN" sz="2400" dirty="0">
                <a:ea typeface="宋体" panose="02010600030101010101" pitchFamily="2" charset="-122"/>
              </a:rPr>
              <a:t>，但</a:t>
            </a:r>
            <a:r>
              <a:rPr lang="en-US" altLang="zh-CN" sz="2400" dirty="0">
                <a:ea typeface="宋体" panose="02010600030101010101" pitchFamily="2" charset="-122"/>
              </a:rPr>
              <a:t>CC</a:t>
            </a:r>
            <a:r>
              <a:rPr lang="zh-CN" altLang="zh-CN" sz="2400" dirty="0">
                <a:ea typeface="宋体" panose="02010600030101010101" pitchFamily="2" charset="-122"/>
              </a:rPr>
              <a:t>全面考虑了与信息技术安全性有关的各种因素，</a:t>
            </a:r>
            <a:r>
              <a:rPr lang="en-US" altLang="zh-CN" sz="2400" dirty="0">
                <a:ea typeface="宋体" panose="02010600030101010101" pitchFamily="2" charset="-122"/>
              </a:rPr>
              <a:t>CC</a:t>
            </a:r>
            <a:r>
              <a:rPr lang="zh-CN" altLang="zh-CN" sz="2400" dirty="0">
                <a:ea typeface="宋体" panose="02010600030101010101" pitchFamily="2" charset="-122"/>
              </a:rPr>
              <a:t>不仅考虑信息的保密性、完整性和可用性要求，同时也考虑了信息的可控性、可用性及责任可追查性。其适用范围也包括军队、政府以及商业等部门。</a:t>
            </a:r>
          </a:p>
          <a:p>
            <a:pPr lvl="1" eaLnBrk="1" hangingPunct="1"/>
            <a:endParaRPr lang="en-US" altLang="zh-CN" b="1" dirty="0">
              <a:latin typeface="楷体_GB2312" pitchFamily="49" charset="-122"/>
              <a:ea typeface="楷体_GB2312" pitchFamily="49"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Effect transition="in" filter="circle(in)">
                                      <p:cBhvr>
                                        <p:cTn id="7" dur="20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b="1" dirty="0">
              <a:ea typeface="宋体" panose="02010600030101010101" pitchFamily="2" charset="-122"/>
            </a:endParaRPr>
          </a:p>
        </p:txBody>
      </p:sp>
      <p:sp>
        <p:nvSpPr>
          <p:cNvPr id="18435" name="内容占位符 2"/>
          <p:cNvSpPr>
            <a:spLocks noGrp="1" noChangeArrowheads="1"/>
          </p:cNvSpPr>
          <p:nvPr>
            <p:ph idx="1"/>
          </p:nvPr>
        </p:nvSpPr>
        <p:spPr>
          <a:xfrm>
            <a:off x="457200" y="1066800"/>
            <a:ext cx="80772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Ø"/>
              <a:defRPr/>
            </a:pPr>
            <a:r>
              <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CC</a:t>
            </a:r>
            <a:r>
              <a:rPr kumimoji="0" lang="zh-CN" altLang="en-US"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与早期的评估标准相比，主要具有四大特征：</a:t>
            </a: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1</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符合</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rPr>
              <a:t>PDR（保护、检测、反应</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模型；</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2</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评估准则是面向整个信息产品生存周期的；</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3</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评估准则不仅考虑了保密性，而且还考虑了完整性和可用性多方面的安全特性；</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4</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评估准则有与之配套的安全评估方法</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CEM</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Common Evaluation Methodology</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       </a:t>
            </a:r>
            <a:r>
              <a:rPr kumimoji="0" lang="en-US"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CC</a:t>
            </a:r>
            <a:r>
              <a:rPr kumimoji="0" lang="zh-CN" altLang="en-US"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没有包括</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对物理安全、行政管理措施、密码机制等重要方面的评估，但仍然</a:t>
            </a:r>
            <a:r>
              <a:rPr kumimoji="0" lang="zh-CN" altLang="en-US" sz="2400" b="0" i="0" u="none" strike="noStrike" kern="0" cap="none" spc="0" normalizeH="0" baseline="0" noProof="0" dirty="0" smtClean="0">
                <a:ln>
                  <a:noFill/>
                </a:ln>
                <a:solidFill>
                  <a:srgbClr val="FF0000"/>
                </a:solidFill>
                <a:effectLst/>
                <a:uLnTx/>
                <a:uFillTx/>
                <a:latin typeface="+mn-lt"/>
                <a:ea typeface="宋体" panose="02010600030101010101" pitchFamily="2" charset="-122"/>
              </a:rPr>
              <a:t>未能完全体现动态</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的安全技术要求。</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wipe(down)">
                                      <p:cBhvr>
                                        <p:cTn id="7" dur="500"/>
                                        <p:tgtEl>
                                          <p:spTgt spid="184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fade">
                                      <p:cBhvr>
                                        <p:cTn id="12" dur="1000"/>
                                        <p:tgtEl>
                                          <p:spTgt spid="18435">
                                            <p:txEl>
                                              <p:pRg st="2" end="2"/>
                                            </p:txEl>
                                          </p:spTgt>
                                        </p:tgtEl>
                                      </p:cBhvr>
                                    </p:animEffect>
                                    <p:anim calcmode="lin" valueType="num">
                                      <p:cBhvr>
                                        <p:cTn id="13"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84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anim calcmode="lin" valueType="num">
                                      <p:cBhvr additive="base">
                                        <p:cTn id="19"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8435">
                                            <p:txEl>
                                              <p:pRg st="4" end="4"/>
                                            </p:txEl>
                                          </p:spTgt>
                                        </p:tgtEl>
                                        <p:attrNameLst>
                                          <p:attrName>style.visibility</p:attrName>
                                        </p:attrNameLst>
                                      </p:cBhvr>
                                      <p:to>
                                        <p:strVal val="visible"/>
                                      </p:to>
                                    </p:set>
                                    <p:animEffect transition="in" filter="circle(in)">
                                      <p:cBhvr>
                                        <p:cTn id="25" dur="2000"/>
                                        <p:tgtEl>
                                          <p:spTgt spid="1843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18435">
                                            <p:txEl>
                                              <p:pRg st="5" end="5"/>
                                            </p:txEl>
                                          </p:spTgt>
                                        </p:tgtEl>
                                        <p:attrNameLst>
                                          <p:attrName>style.visibility</p:attrName>
                                        </p:attrNameLst>
                                      </p:cBhvr>
                                      <p:to>
                                        <p:strVal val="visible"/>
                                      </p:to>
                                    </p:set>
                                    <p:animEffect transition="in" filter="wheel(1)">
                                      <p:cBhvr>
                                        <p:cTn id="30" dur="2000"/>
                                        <p:tgtEl>
                                          <p:spTgt spid="18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b="1" dirty="0">
              <a:ea typeface="宋体" panose="02010600030101010101" pitchFamily="2" charset="-122"/>
            </a:endParaRPr>
          </a:p>
        </p:txBody>
      </p:sp>
      <p:sp>
        <p:nvSpPr>
          <p:cNvPr id="21507" name="内容占位符 2"/>
          <p:cNvSpPr>
            <a:spLocks noGrp="1" noChangeArrowheads="1"/>
          </p:cNvSpPr>
          <p:nvPr>
            <p:ph idx="1"/>
          </p:nvPr>
        </p:nvSpPr>
        <p:spPr>
          <a:xfrm>
            <a:off x="228600" y="1143000"/>
            <a:ext cx="8763000" cy="5029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技术标准与管理标准之间的比较分析</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CC</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是一个</a:t>
            </a:r>
            <a:r>
              <a:rPr kumimoji="0" lang="zh-CN" altLang="en-US"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通用的</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技术标准</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，旨在支持对产品和系统中</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IT</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安全特征的规范性与技术性的评估。</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与技术标准</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相比，</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ISO 17799</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是一个管理标准</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，它处理的是</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与已安装的</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IT</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系统相关的非技术问题，这些问题与诸如</a:t>
            </a:r>
            <a:r>
              <a:rPr kumimoji="0" lang="zh-CN" altLang="zh-CN" sz="2000" b="0" i="1" u="sng"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rPr>
              <a:t>安全方针、组织及人员、物理环境、通信与访问控制、信息系统开发、业务连续性等安全管理</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内容相关。</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 27001</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《信息安全管理体系要求》，是结合</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 17799</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的安全管理要求，规定</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建立</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ISMS</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时的</a:t>
            </a:r>
            <a:r>
              <a:rPr kumimoji="0" lang="en-US"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PDCA</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过程模型</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，有利于组织对信息系统的安全管理；而它本身和</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CC</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没有直接的关系</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0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技术标准与管理标准：广义上都属于信息安全标准，不严格区分。因为所有的标准都属于管理的范围，不论技术标准或管理标准。</a:t>
            </a:r>
            <a:endParaRPr kumimoji="0" lang="zh-CN" altLang="en-US" sz="24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animEffect transition="in" filter="barn(inVertical)">
                                      <p:cBhvr>
                                        <p:cTn id="7" dur="500"/>
                                        <p:tgtEl>
                                          <p:spTgt spid="215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1507">
                                            <p:txEl>
                                              <p:pRg st="3" end="3"/>
                                            </p:txEl>
                                          </p:spTgt>
                                        </p:tgtEl>
                                        <p:attrNameLst>
                                          <p:attrName>style.visibility</p:attrName>
                                        </p:attrNameLst>
                                      </p:cBhvr>
                                      <p:to>
                                        <p:strVal val="visible"/>
                                      </p:to>
                                    </p:set>
                                    <p:animEffect transition="in" filter="circle(in)">
                                      <p:cBhvr>
                                        <p:cTn id="12" dur="2000"/>
                                        <p:tgtEl>
                                          <p:spTgt spid="2150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507">
                                            <p:txEl>
                                              <p:pRg st="5" end="5"/>
                                            </p:txEl>
                                          </p:spTgt>
                                        </p:tgtEl>
                                        <p:attrNameLst>
                                          <p:attrName>style.visibility</p:attrName>
                                        </p:attrNameLst>
                                      </p:cBhvr>
                                      <p:to>
                                        <p:strVal val="visible"/>
                                      </p:to>
                                    </p:set>
                                    <p:animEffect transition="in" filter="wipe(down)">
                                      <p:cBhvr>
                                        <p:cTn id="17" dur="5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b="1" dirty="0">
              <a:ea typeface="宋体" panose="02010600030101010101" pitchFamily="2" charset="-122"/>
            </a:endParaRPr>
          </a:p>
        </p:txBody>
      </p:sp>
      <p:sp>
        <p:nvSpPr>
          <p:cNvPr id="20483" name="内容占位符 2"/>
          <p:cNvSpPr>
            <a:spLocks noGrp="1"/>
          </p:cNvSpPr>
          <p:nvPr>
            <p:ph idx="1"/>
          </p:nvPr>
        </p:nvSpPr>
        <p:spPr>
          <a:xfrm>
            <a:off x="0" y="1066800"/>
            <a:ext cx="9144000" cy="5562600"/>
          </a:xfrm>
        </p:spPr>
        <p:txBody>
          <a:bodyPr vert="horz" wrap="square" lIns="91440" tIns="45720" rIns="91440" bIns="45720" anchor="t" anchorCtr="0"/>
          <a:lstStyle/>
          <a:p>
            <a:pPr marL="0" indent="0" eaLnBrk="1" hangingPunct="1">
              <a:spcAft>
                <a:spcPct val="20000"/>
              </a:spcAft>
              <a:buClr>
                <a:srgbClr val="AC04A0"/>
              </a:buClr>
              <a:buNone/>
            </a:pPr>
            <a:r>
              <a:rPr lang="en-US" altLang="zh-CN" b="1" dirty="0">
                <a:latin typeface="Times New Roman" panose="02020603050405020304" pitchFamily="18" charset="0"/>
                <a:ea typeface="宋体" panose="02010600030101010101" pitchFamily="2" charset="-122"/>
              </a:rPr>
              <a:t> </a:t>
            </a:r>
            <a:r>
              <a:rPr lang="zh-CN" altLang="zh-CN" sz="2800" dirty="0">
                <a:ea typeface="宋体" panose="02010600030101010101" pitchFamily="2" charset="-122"/>
              </a:rPr>
              <a:t>评估标准之间的对应关系</a:t>
            </a:r>
          </a:p>
          <a:p>
            <a:pPr marL="457200" lvl="1" indent="0" eaLnBrk="1" hangingPunct="1">
              <a:buNone/>
            </a:pPr>
            <a:r>
              <a:rPr lang="zh-CN" altLang="zh-CN" dirty="0">
                <a:ea typeface="宋体" panose="02010600030101010101" pitchFamily="2" charset="-122"/>
              </a:rPr>
              <a:t>简单的比较</a:t>
            </a:r>
            <a:r>
              <a:rPr lang="en-US" altLang="zh-CN" dirty="0">
                <a:ea typeface="宋体" panose="02010600030101010101" pitchFamily="2" charset="-122"/>
              </a:rPr>
              <a:t>CC</a:t>
            </a:r>
            <a:r>
              <a:rPr lang="zh-CN" altLang="zh-CN" dirty="0">
                <a:ea typeface="宋体" panose="02010600030101010101" pitchFamily="2" charset="-122"/>
              </a:rPr>
              <a:t>、</a:t>
            </a:r>
            <a:r>
              <a:rPr lang="en-US" altLang="zh-CN" dirty="0">
                <a:ea typeface="宋体" panose="02010600030101010101" pitchFamily="2" charset="-122"/>
              </a:rPr>
              <a:t>TCSEC</a:t>
            </a:r>
            <a:r>
              <a:rPr lang="zh-CN" altLang="zh-CN" dirty="0">
                <a:ea typeface="宋体" panose="02010600030101010101" pitchFamily="2" charset="-122"/>
              </a:rPr>
              <a:t>、</a:t>
            </a:r>
            <a:r>
              <a:rPr lang="en-US" altLang="zh-CN" dirty="0">
                <a:ea typeface="宋体" panose="02010600030101010101" pitchFamily="2" charset="-122"/>
              </a:rPr>
              <a:t>ITSEC</a:t>
            </a:r>
            <a:r>
              <a:rPr lang="zh-CN" altLang="zh-CN" dirty="0">
                <a:ea typeface="宋体" panose="02010600030101010101" pitchFamily="2" charset="-122"/>
              </a:rPr>
              <a:t>标准之间的对应关系</a:t>
            </a:r>
          </a:p>
        </p:txBody>
      </p:sp>
      <p:graphicFrame>
        <p:nvGraphicFramePr>
          <p:cNvPr id="2" name="表格 1"/>
          <p:cNvGraphicFramePr>
            <a:graphicFrameLocks noGrp="1"/>
          </p:cNvGraphicFramePr>
          <p:nvPr/>
        </p:nvGraphicFramePr>
        <p:xfrm>
          <a:off x="838200" y="2362200"/>
          <a:ext cx="7239000" cy="3962403"/>
        </p:xfrm>
        <a:graphic>
          <a:graphicData uri="http://schemas.openxmlformats.org/drawingml/2006/table">
            <a:tbl>
              <a:tblPr firstRow="1" firstCol="1" bandRow="1">
                <a:tableStyleId>{5C22544A-7EE6-4342-B048-85BDC9FD1C3A}</a:tableStyleId>
              </a:tblPr>
              <a:tblGrid>
                <a:gridCol w="2413000"/>
                <a:gridCol w="2413000"/>
                <a:gridCol w="2413000"/>
              </a:tblGrid>
              <a:tr h="440267">
                <a:tc>
                  <a:txBody>
                    <a:bodyPr/>
                    <a:lstStyle/>
                    <a:p>
                      <a:pPr indent="267970" algn="ctr">
                        <a:spcAft>
                          <a:spcPts val="0"/>
                        </a:spcAft>
                      </a:pPr>
                      <a:r>
                        <a:rPr lang="en-US" sz="1100" kern="100">
                          <a:effectLst/>
                        </a:rPr>
                        <a:t>CC</a:t>
                      </a:r>
                      <a:r>
                        <a:rPr lang="zh-CN" sz="1100" kern="100">
                          <a:effectLst/>
                        </a:rPr>
                        <a:t>标准</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7970" algn="ctr">
                        <a:spcAft>
                          <a:spcPts val="0"/>
                        </a:spcAft>
                      </a:pPr>
                      <a:r>
                        <a:rPr lang="en-US" sz="1100" kern="100">
                          <a:effectLst/>
                        </a:rPr>
                        <a:t>TCSEC</a:t>
                      </a:r>
                      <a:r>
                        <a:rPr lang="zh-CN" sz="1100" kern="100">
                          <a:effectLst/>
                        </a:rPr>
                        <a:t>标准</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7970" algn="ctr">
                        <a:spcAft>
                          <a:spcPts val="0"/>
                        </a:spcAft>
                      </a:pPr>
                      <a:r>
                        <a:rPr lang="en-US" sz="1100" kern="100">
                          <a:effectLst/>
                        </a:rPr>
                        <a:t>ITSEC</a:t>
                      </a:r>
                      <a:r>
                        <a:rPr lang="zh-CN" sz="1100" kern="100">
                          <a:effectLst/>
                        </a:rPr>
                        <a:t>标准</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D</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E0</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EAL1</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EAL2</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C1</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E1</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EAL3</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C2</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E2</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EAL4</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B1</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E3</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EAL5</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B2</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E4</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EAL6</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B3</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E5</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r>
              <a:tr h="440267">
                <a:tc>
                  <a:txBody>
                    <a:bodyPr/>
                    <a:lstStyle/>
                    <a:p>
                      <a:pPr indent="267970" algn="ctr">
                        <a:spcAft>
                          <a:spcPts val="0"/>
                        </a:spcAft>
                      </a:pPr>
                      <a:r>
                        <a:rPr lang="en-US" sz="1100" kern="100">
                          <a:effectLst/>
                        </a:rPr>
                        <a:t>EAL7</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a:effectLst/>
                        </a:rPr>
                        <a:t>A1</a:t>
                      </a:r>
                      <a:endParaRPr lang="zh-CN" sz="1100" kern="100">
                        <a:effectLst/>
                        <a:latin typeface="Times New Roman" panose="02020603050405020304" pitchFamily="18" charset="0"/>
                        <a:ea typeface="宋体" panose="02010600030101010101" pitchFamily="2" charset="-122"/>
                      </a:endParaRPr>
                    </a:p>
                  </a:txBody>
                  <a:tcPr marL="68581" marR="68581" marT="0" marB="0" anchor="ctr"/>
                </a:tc>
                <a:tc>
                  <a:txBody>
                    <a:bodyPr/>
                    <a:lstStyle/>
                    <a:p>
                      <a:pPr indent="266700" algn="ctr">
                        <a:spcAft>
                          <a:spcPts val="0"/>
                        </a:spcAft>
                      </a:pPr>
                      <a:r>
                        <a:rPr lang="en-US" sz="1100" kern="100" dirty="0">
                          <a:effectLst/>
                        </a:rPr>
                        <a:t>E6</a:t>
                      </a:r>
                      <a:endParaRPr lang="zh-CN" sz="1100" kern="100" dirty="0">
                        <a:effectLst/>
                        <a:latin typeface="Times New Roman" panose="02020603050405020304" pitchFamily="18" charset="0"/>
                        <a:ea typeface="宋体" panose="02010600030101010101" pitchFamily="2" charset="-122"/>
                      </a:endParaRPr>
                    </a:p>
                  </a:txBody>
                  <a:tcPr marL="68581" marR="68581" marT="0" marB="0" anchor="ct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circle(in)">
                                      <p:cBhvr>
                                        <p:cTn id="7" dur="20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dirty="0">
              <a:ea typeface="宋体" panose="02010600030101010101" pitchFamily="2" charset="-122"/>
            </a:endParaRPr>
          </a:p>
        </p:txBody>
      </p:sp>
      <p:sp>
        <p:nvSpPr>
          <p:cNvPr id="23555" name="矩形 3"/>
          <p:cNvSpPr/>
          <p:nvPr/>
        </p:nvSpPr>
        <p:spPr>
          <a:xfrm>
            <a:off x="381000" y="1371600"/>
            <a:ext cx="2357438" cy="492125"/>
          </a:xfrm>
          <a:prstGeom prst="rect">
            <a:avLst/>
          </a:prstGeom>
          <a:noFill/>
          <a:ln w="9525">
            <a:noFill/>
          </a:ln>
        </p:spPr>
        <p:txBody>
          <a:bodyPr wrap="none">
            <a:spAutoFit/>
          </a:bodyPr>
          <a:lstStyle/>
          <a:p>
            <a:r>
              <a:rPr lang="en-US" altLang="zh-CN" dirty="0">
                <a:solidFill>
                  <a:srgbClr val="FF0000"/>
                </a:solidFill>
                <a:latin typeface="方正粗黑宋简体" panose="02000000000000000000" pitchFamily="2" charset="-122"/>
                <a:ea typeface="方正粗黑宋简体" panose="02000000000000000000" pitchFamily="2" charset="-122"/>
              </a:rPr>
              <a:t>TCSEC</a:t>
            </a:r>
            <a:r>
              <a:rPr lang="zh-CN" altLang="en-US" dirty="0">
                <a:solidFill>
                  <a:srgbClr val="FF0000"/>
                </a:solidFill>
                <a:latin typeface="方正粗黑宋简体" panose="02000000000000000000" pitchFamily="2" charset="-122"/>
                <a:ea typeface="方正粗黑宋简体" panose="02000000000000000000" pitchFamily="2" charset="-122"/>
              </a:rPr>
              <a:t>标准：</a:t>
            </a:r>
            <a:endParaRPr lang="zh-CN" altLang="en-US" dirty="0">
              <a:latin typeface="Times New Roman" panose="02020603050405020304" pitchFamily="18" charset="0"/>
            </a:endParaRPr>
          </a:p>
        </p:txBody>
      </p:sp>
      <p:sp>
        <p:nvSpPr>
          <p:cNvPr id="5" name="矩形 4"/>
          <p:cNvSpPr/>
          <p:nvPr/>
        </p:nvSpPr>
        <p:spPr>
          <a:xfrm>
            <a:off x="685800" y="1979613"/>
            <a:ext cx="8001000" cy="1292225"/>
          </a:xfrm>
          <a:prstGeom prst="rect">
            <a:avLst/>
          </a:prstGeom>
          <a:noFill/>
          <a:ln w="9525">
            <a:noFill/>
          </a:ln>
        </p:spPr>
        <p:txBody>
          <a:bodyPr>
            <a:spAutoFit/>
          </a:bodyPr>
          <a:lstStyle/>
          <a:p>
            <a:pPr>
              <a:lnSpc>
                <a:spcPct val="150000"/>
              </a:lnSpc>
            </a:pPr>
            <a:r>
              <a:rPr lang="en-US" altLang="zh-CN" b="1" dirty="0">
                <a:latin typeface="Times New Roman" panose="02020603050405020304" pitchFamily="18" charset="0"/>
              </a:rPr>
              <a:t>     </a:t>
            </a:r>
            <a:r>
              <a:rPr lang="zh-CN" altLang="zh-CN" b="1" dirty="0">
                <a:latin typeface="Times New Roman" panose="02020603050405020304" pitchFamily="18" charset="0"/>
              </a:rPr>
              <a:t>共</a:t>
            </a:r>
            <a:r>
              <a:rPr lang="en-US" altLang="zh-CN" b="1" dirty="0">
                <a:latin typeface="Times New Roman" panose="02020603050405020304" pitchFamily="18" charset="0"/>
              </a:rPr>
              <a:t>27</a:t>
            </a:r>
            <a:r>
              <a:rPr lang="zh-CN" altLang="zh-CN" b="1" dirty="0">
                <a:latin typeface="Times New Roman" panose="02020603050405020304" pitchFamily="18" charset="0"/>
              </a:rPr>
              <a:t>条评估准则。其中</a:t>
            </a:r>
            <a:r>
              <a:rPr lang="en-US" altLang="zh-CN" b="1" dirty="0">
                <a:latin typeface="Times New Roman" panose="02020603050405020304" pitchFamily="18" charset="0"/>
              </a:rPr>
              <a:t>D</a:t>
            </a:r>
            <a:r>
              <a:rPr lang="zh-CN" altLang="zh-CN" b="1" dirty="0">
                <a:latin typeface="Times New Roman" panose="02020603050405020304" pitchFamily="18" charset="0"/>
              </a:rPr>
              <a:t>为无保护级，</a:t>
            </a:r>
            <a:r>
              <a:rPr lang="en-US" altLang="zh-CN" b="1" dirty="0">
                <a:latin typeface="Times New Roman" panose="02020603050405020304" pitchFamily="18" charset="0"/>
              </a:rPr>
              <a:t>C</a:t>
            </a:r>
            <a:r>
              <a:rPr lang="zh-CN" altLang="zh-CN" b="1" dirty="0">
                <a:latin typeface="Times New Roman" panose="02020603050405020304" pitchFamily="18" charset="0"/>
              </a:rPr>
              <a:t>为自主保护级，</a:t>
            </a:r>
            <a:r>
              <a:rPr lang="en-US" altLang="zh-CN" b="1" dirty="0">
                <a:latin typeface="Times New Roman" panose="02020603050405020304" pitchFamily="18" charset="0"/>
              </a:rPr>
              <a:t>B</a:t>
            </a:r>
            <a:r>
              <a:rPr lang="zh-CN" altLang="zh-CN" b="1" dirty="0">
                <a:latin typeface="Times New Roman" panose="02020603050405020304" pitchFamily="18" charset="0"/>
              </a:rPr>
              <a:t>为强制保护级，</a:t>
            </a:r>
            <a:r>
              <a:rPr lang="en-US" altLang="zh-CN" b="1" dirty="0">
                <a:latin typeface="Times New Roman" panose="02020603050405020304" pitchFamily="18" charset="0"/>
              </a:rPr>
              <a:t>A</a:t>
            </a:r>
            <a:r>
              <a:rPr lang="zh-CN" altLang="zh-CN" b="1" dirty="0">
                <a:latin typeface="Times New Roman" panose="02020603050405020304" pitchFamily="18" charset="0"/>
              </a:rPr>
              <a:t>为验证保护级。</a:t>
            </a:r>
            <a:endParaRPr lang="zh-CN" altLang="zh-CN" dirty="0">
              <a:latin typeface="Times New Roman" panose="02020603050405020304" pitchFamily="18" charset="0"/>
            </a:endParaRPr>
          </a:p>
        </p:txBody>
      </p:sp>
      <p:sp>
        <p:nvSpPr>
          <p:cNvPr id="6" name="矩形 5"/>
          <p:cNvSpPr/>
          <p:nvPr/>
        </p:nvSpPr>
        <p:spPr>
          <a:xfrm>
            <a:off x="685800" y="3276600"/>
            <a:ext cx="8077200" cy="3092450"/>
          </a:xfrm>
          <a:prstGeom prst="rect">
            <a:avLst/>
          </a:prstGeom>
          <a:noFill/>
          <a:ln w="9525">
            <a:noFill/>
          </a:ln>
        </p:spPr>
        <p:txBody>
          <a:bodyPr>
            <a:spAutoFit/>
          </a:bodyPr>
          <a:lstStyle/>
          <a:p>
            <a:pPr marL="457200" indent="-457200">
              <a:lnSpc>
                <a:spcPct val="150000"/>
              </a:lnSpc>
              <a:buFont typeface="Wingdings" panose="05000000000000000000" pitchFamily="2" charset="2"/>
              <a:buChar char="Ø"/>
            </a:pPr>
            <a:r>
              <a:rPr lang="en-US" altLang="zh-CN" dirty="0">
                <a:latin typeface="Times New Roman" panose="02020603050405020304" pitchFamily="18" charset="0"/>
              </a:rPr>
              <a:t>D</a:t>
            </a:r>
            <a:r>
              <a:rPr lang="zh-CN" altLang="zh-CN" dirty="0">
                <a:latin typeface="Times New Roman" panose="02020603050405020304" pitchFamily="18" charset="0"/>
              </a:rPr>
              <a:t>类安全等级只包括</a:t>
            </a:r>
            <a:r>
              <a:rPr lang="en-US" altLang="zh-CN" dirty="0">
                <a:latin typeface="Times New Roman" panose="02020603050405020304" pitchFamily="18" charset="0"/>
              </a:rPr>
              <a:t>D1</a:t>
            </a:r>
            <a:r>
              <a:rPr lang="zh-CN" altLang="zh-CN" dirty="0">
                <a:latin typeface="Times New Roman" panose="02020603050405020304" pitchFamily="18" charset="0"/>
              </a:rPr>
              <a:t>一个级别。</a:t>
            </a:r>
            <a:endParaRPr lang="en-US" altLang="zh-CN" dirty="0">
              <a:latin typeface="Times New Roman" panose="02020603050405020304" pitchFamily="18" charset="0"/>
            </a:endParaRPr>
          </a:p>
          <a:p>
            <a:pPr marL="457200" indent="-457200">
              <a:lnSpc>
                <a:spcPct val="150000"/>
              </a:lnSpc>
              <a:buFont typeface="Wingdings" panose="05000000000000000000" pitchFamily="2" charset="2"/>
              <a:buChar char="Ø"/>
            </a:pPr>
            <a:r>
              <a:rPr lang="en-US" altLang="zh-CN" dirty="0">
                <a:latin typeface="Times New Roman" panose="02020603050405020304" pitchFamily="18" charset="0"/>
              </a:rPr>
              <a:t>C</a:t>
            </a:r>
            <a:r>
              <a:rPr lang="zh-CN" altLang="en-US" dirty="0">
                <a:latin typeface="Times New Roman" panose="02020603050405020304" pitchFamily="18" charset="0"/>
              </a:rPr>
              <a:t>类安全等级可划分为</a:t>
            </a:r>
            <a:r>
              <a:rPr lang="en-US" altLang="zh-CN" dirty="0">
                <a:latin typeface="Times New Roman" panose="02020603050405020304" pitchFamily="18" charset="0"/>
              </a:rPr>
              <a:t>C1</a:t>
            </a:r>
            <a:r>
              <a:rPr lang="zh-CN" altLang="en-US" dirty="0">
                <a:latin typeface="Times New Roman" panose="02020603050405020304" pitchFamily="18" charset="0"/>
              </a:rPr>
              <a:t>和</a:t>
            </a:r>
            <a:r>
              <a:rPr lang="en-US" altLang="zh-CN" dirty="0">
                <a:latin typeface="Times New Roman" panose="02020603050405020304" pitchFamily="18" charset="0"/>
              </a:rPr>
              <a:t>C2</a:t>
            </a:r>
            <a:r>
              <a:rPr lang="zh-CN" altLang="en-US" dirty="0">
                <a:latin typeface="Times New Roman" panose="02020603050405020304" pitchFamily="18" charset="0"/>
              </a:rPr>
              <a:t>两类。</a:t>
            </a:r>
            <a:endParaRPr lang="en-US" altLang="zh-CN" dirty="0">
              <a:latin typeface="Times New Roman" panose="02020603050405020304" pitchFamily="18" charset="0"/>
            </a:endParaRPr>
          </a:p>
          <a:p>
            <a:pPr marL="457200" indent="-457200">
              <a:lnSpc>
                <a:spcPct val="150000"/>
              </a:lnSpc>
              <a:buFont typeface="Wingdings" panose="05000000000000000000" pitchFamily="2" charset="2"/>
              <a:buChar char="Ø"/>
            </a:pPr>
            <a:r>
              <a:rPr lang="en-US" altLang="zh-CN" dirty="0">
                <a:latin typeface="Times New Roman" panose="02020603050405020304" pitchFamily="18" charset="0"/>
              </a:rPr>
              <a:t>B</a:t>
            </a:r>
            <a:r>
              <a:rPr lang="zh-CN" altLang="zh-CN" dirty="0">
                <a:latin typeface="Times New Roman" panose="02020603050405020304" pitchFamily="18" charset="0"/>
              </a:rPr>
              <a:t>类安全等级可分为</a:t>
            </a:r>
            <a:r>
              <a:rPr lang="en-US" altLang="zh-CN" dirty="0">
                <a:latin typeface="Times New Roman" panose="02020603050405020304" pitchFamily="18" charset="0"/>
              </a:rPr>
              <a:t>B1</a:t>
            </a:r>
            <a:r>
              <a:rPr lang="zh-CN" altLang="zh-CN" dirty="0">
                <a:latin typeface="Times New Roman" panose="02020603050405020304" pitchFamily="18" charset="0"/>
              </a:rPr>
              <a:t>、</a:t>
            </a:r>
            <a:r>
              <a:rPr lang="en-US" altLang="zh-CN" dirty="0">
                <a:latin typeface="Times New Roman" panose="02020603050405020304" pitchFamily="18" charset="0"/>
              </a:rPr>
              <a:t>B2</a:t>
            </a:r>
            <a:r>
              <a:rPr lang="zh-CN" altLang="zh-CN" dirty="0">
                <a:latin typeface="Times New Roman" panose="02020603050405020304" pitchFamily="18" charset="0"/>
              </a:rPr>
              <a:t>和</a:t>
            </a:r>
            <a:r>
              <a:rPr lang="en-US" altLang="zh-CN" dirty="0">
                <a:latin typeface="Times New Roman" panose="02020603050405020304" pitchFamily="18" charset="0"/>
              </a:rPr>
              <a:t>B3</a:t>
            </a:r>
            <a:r>
              <a:rPr lang="zh-CN" altLang="zh-CN" dirty="0">
                <a:latin typeface="Times New Roman" panose="02020603050405020304" pitchFamily="18" charset="0"/>
              </a:rPr>
              <a:t>三类。</a:t>
            </a:r>
            <a:endParaRPr lang="en-US" altLang="zh-CN" dirty="0">
              <a:latin typeface="Times New Roman" panose="02020603050405020304" pitchFamily="18" charset="0"/>
            </a:endParaRPr>
          </a:p>
          <a:p>
            <a:pPr marL="457200" indent="-457200">
              <a:lnSpc>
                <a:spcPct val="150000"/>
              </a:lnSpc>
              <a:buFont typeface="Wingdings" panose="05000000000000000000" pitchFamily="2" charset="2"/>
              <a:buChar char="Ø"/>
            </a:pPr>
            <a:r>
              <a:rPr lang="en-US" altLang="zh-CN" dirty="0">
                <a:latin typeface="Times New Roman" panose="02020603050405020304" pitchFamily="18" charset="0"/>
              </a:rPr>
              <a:t>A</a:t>
            </a:r>
            <a:r>
              <a:rPr lang="zh-CN" altLang="zh-CN" dirty="0">
                <a:latin typeface="Times New Roman" panose="02020603050405020304" pitchFamily="18" charset="0"/>
              </a:rPr>
              <a:t>类安全等级只包含</a:t>
            </a:r>
            <a:r>
              <a:rPr lang="en-US" altLang="zh-CN" dirty="0">
                <a:latin typeface="Times New Roman" panose="02020603050405020304" pitchFamily="18" charset="0"/>
              </a:rPr>
              <a:t>A1</a:t>
            </a:r>
            <a:r>
              <a:rPr lang="zh-CN" altLang="zh-CN" dirty="0">
                <a:latin typeface="Times New Roman" panose="02020603050405020304" pitchFamily="18" charset="0"/>
              </a:rPr>
              <a:t>一个安全类别。</a:t>
            </a:r>
            <a:r>
              <a:rPr lang="en-US" altLang="zh-CN" dirty="0">
                <a:latin typeface="Times New Roman" panose="02020603050405020304" pitchFamily="18" charset="0"/>
              </a:rPr>
              <a:t>A</a:t>
            </a:r>
            <a:r>
              <a:rPr lang="zh-CN" altLang="zh-CN" dirty="0">
                <a:latin typeface="Times New Roman" panose="02020603050405020304" pitchFamily="18" charset="0"/>
              </a:rPr>
              <a:t>系统的安全级别最高。</a:t>
            </a: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1000"/>
                                        <p:tgtEl>
                                          <p:spTgt spid="6">
                                            <p:txEl>
                                              <p:pRg st="0" end="0"/>
                                            </p:txEl>
                                          </p:spTgt>
                                        </p:tgtEl>
                                      </p:cBhvr>
                                    </p:animEffect>
                                    <p:anim calcmode="lin" valueType="num">
                                      <p:cBhvr>
                                        <p:cTn id="1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barn(inVertical)">
                                      <p:cBhvr>
                                        <p:cTn id="20" dur="5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wipe(down)">
                                      <p:cBhvr>
                                        <p:cTn id="25" dur="500"/>
                                        <p:tgtEl>
                                          <p:spTgt spid="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circle(in)">
                                      <p:cBhvr>
                                        <p:cTn id="30"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dirty="0">
              <a:ea typeface="宋体" panose="02010600030101010101" pitchFamily="2" charset="-122"/>
            </a:endParaRPr>
          </a:p>
        </p:txBody>
      </p:sp>
      <p:sp>
        <p:nvSpPr>
          <p:cNvPr id="24579" name="矩形 2"/>
          <p:cNvSpPr/>
          <p:nvPr/>
        </p:nvSpPr>
        <p:spPr>
          <a:xfrm>
            <a:off x="381000" y="1371600"/>
            <a:ext cx="2252663" cy="492125"/>
          </a:xfrm>
          <a:prstGeom prst="rect">
            <a:avLst/>
          </a:prstGeom>
          <a:noFill/>
          <a:ln w="9525">
            <a:noFill/>
          </a:ln>
        </p:spPr>
        <p:txBody>
          <a:bodyPr wrap="none">
            <a:spAutoFit/>
          </a:bodyPr>
          <a:lstStyle/>
          <a:p>
            <a:r>
              <a:rPr lang="en-US" altLang="zh-CN" dirty="0">
                <a:solidFill>
                  <a:srgbClr val="FF0000"/>
                </a:solidFill>
                <a:latin typeface="方正粗黑宋简体" panose="02000000000000000000" pitchFamily="2" charset="-122"/>
                <a:ea typeface="方正粗黑宋简体" panose="02000000000000000000" pitchFamily="2" charset="-122"/>
              </a:rPr>
              <a:t>ITSEC</a:t>
            </a:r>
            <a:r>
              <a:rPr lang="zh-CN" altLang="en-US" dirty="0">
                <a:solidFill>
                  <a:srgbClr val="FF0000"/>
                </a:solidFill>
                <a:latin typeface="方正粗黑宋简体" panose="02000000000000000000" pitchFamily="2" charset="-122"/>
                <a:ea typeface="方正粗黑宋简体" panose="02000000000000000000" pitchFamily="2" charset="-122"/>
              </a:rPr>
              <a:t>标准：</a:t>
            </a:r>
            <a:endParaRPr lang="zh-CN" altLang="en-US" dirty="0">
              <a:latin typeface="Times New Roman" panose="02020603050405020304" pitchFamily="18" charset="0"/>
            </a:endParaRPr>
          </a:p>
        </p:txBody>
      </p:sp>
      <p:sp>
        <p:nvSpPr>
          <p:cNvPr id="4" name="矩形 3"/>
          <p:cNvSpPr/>
          <p:nvPr/>
        </p:nvSpPr>
        <p:spPr>
          <a:xfrm>
            <a:off x="533400" y="2079625"/>
            <a:ext cx="8229600" cy="3616325"/>
          </a:xfrm>
          <a:prstGeom prst="rect">
            <a:avLst/>
          </a:prstGeom>
          <a:noFill/>
          <a:ln w="9525">
            <a:noFill/>
          </a:ln>
        </p:spPr>
        <p:txBody>
          <a:bodyPr>
            <a:spAutoFit/>
          </a:bodyPr>
          <a:lstStyle/>
          <a:p>
            <a:pPr>
              <a:lnSpc>
                <a:spcPct val="150000"/>
              </a:lnSpc>
            </a:pPr>
            <a:r>
              <a:rPr lang="en-US" altLang="zh-CN" dirty="0">
                <a:latin typeface="Times New Roman" panose="02020603050405020304" pitchFamily="18" charset="0"/>
              </a:rPr>
              <a:t>ITSEC</a:t>
            </a:r>
            <a:r>
              <a:rPr lang="zh-CN" altLang="zh-CN" dirty="0">
                <a:latin typeface="Times New Roman" panose="02020603050405020304" pitchFamily="18" charset="0"/>
              </a:rPr>
              <a:t>是欧洲多国</a:t>
            </a:r>
            <a:r>
              <a:rPr lang="en-US" altLang="zh-CN" dirty="0">
                <a:latin typeface="Times New Roman" panose="02020603050405020304" pitchFamily="18" charset="0"/>
                <a:hlinkClick r:id="rId2"/>
              </a:rPr>
              <a:t>安全评价方法</a:t>
            </a:r>
            <a:r>
              <a:rPr lang="zh-CN" altLang="zh-CN" dirty="0">
                <a:latin typeface="Times New Roman" panose="02020603050405020304" pitchFamily="18" charset="0"/>
              </a:rPr>
              <a:t>的综合产物，应用领域为军队、政府和商业。该标准将安全概念分为功能与评估两部分。功能准则从</a:t>
            </a:r>
            <a:r>
              <a:rPr lang="en-US" altLang="zh-CN" dirty="0">
                <a:latin typeface="Times New Roman" panose="02020603050405020304" pitchFamily="18" charset="0"/>
              </a:rPr>
              <a:t>F1</a:t>
            </a:r>
            <a:r>
              <a:rPr lang="zh-CN" altLang="zh-CN" dirty="0">
                <a:latin typeface="Times New Roman" panose="02020603050405020304" pitchFamily="18" charset="0"/>
              </a:rPr>
              <a:t>～</a:t>
            </a:r>
            <a:r>
              <a:rPr lang="en-US" altLang="zh-CN" dirty="0">
                <a:latin typeface="Times New Roman" panose="02020603050405020304" pitchFamily="18" charset="0"/>
              </a:rPr>
              <a:t>F10</a:t>
            </a:r>
            <a:r>
              <a:rPr lang="zh-CN" altLang="zh-CN" dirty="0">
                <a:latin typeface="Times New Roman" panose="02020603050405020304" pitchFamily="18" charset="0"/>
              </a:rPr>
              <a:t>共分</a:t>
            </a:r>
            <a:r>
              <a:rPr lang="en-US" altLang="zh-CN" dirty="0">
                <a:latin typeface="Times New Roman" panose="02020603050405020304" pitchFamily="18" charset="0"/>
              </a:rPr>
              <a:t>10</a:t>
            </a:r>
            <a:r>
              <a:rPr lang="zh-CN" altLang="zh-CN" dirty="0">
                <a:latin typeface="Times New Roman" panose="02020603050405020304" pitchFamily="18" charset="0"/>
              </a:rPr>
              <a:t>级。</a:t>
            </a:r>
            <a:r>
              <a:rPr lang="en-US" altLang="zh-CN" dirty="0">
                <a:latin typeface="Times New Roman" panose="02020603050405020304" pitchFamily="18" charset="0"/>
              </a:rPr>
              <a:t> 1</a:t>
            </a:r>
            <a:r>
              <a:rPr lang="zh-CN" altLang="zh-CN" dirty="0">
                <a:latin typeface="Times New Roman" panose="02020603050405020304" pitchFamily="18" charset="0"/>
              </a:rPr>
              <a:t>～</a:t>
            </a:r>
            <a:r>
              <a:rPr lang="en-US" altLang="zh-CN" dirty="0">
                <a:latin typeface="Times New Roman" panose="02020603050405020304" pitchFamily="18" charset="0"/>
              </a:rPr>
              <a:t>5</a:t>
            </a:r>
            <a:r>
              <a:rPr lang="zh-CN" altLang="zh-CN" dirty="0">
                <a:latin typeface="Times New Roman" panose="02020603050405020304" pitchFamily="18" charset="0"/>
              </a:rPr>
              <a:t>级对应于</a:t>
            </a:r>
            <a:r>
              <a:rPr lang="en-US" altLang="zh-CN" dirty="0">
                <a:latin typeface="Times New Roman" panose="02020603050405020304" pitchFamily="18" charset="0"/>
                <a:hlinkClick r:id="rId3"/>
              </a:rPr>
              <a:t>TCSEC</a:t>
            </a:r>
            <a:r>
              <a:rPr lang="zh-CN" altLang="zh-CN" dirty="0">
                <a:latin typeface="Times New Roman" panose="02020603050405020304" pitchFamily="18" charset="0"/>
              </a:rPr>
              <a:t>的</a:t>
            </a:r>
            <a:r>
              <a:rPr lang="en-US" altLang="zh-CN" dirty="0">
                <a:latin typeface="Times New Roman" panose="02020603050405020304" pitchFamily="18" charset="0"/>
              </a:rPr>
              <a:t>D</a:t>
            </a:r>
            <a:r>
              <a:rPr lang="zh-CN" altLang="zh-CN" dirty="0">
                <a:latin typeface="Times New Roman" panose="02020603050405020304" pitchFamily="18" charset="0"/>
              </a:rPr>
              <a:t>到</a:t>
            </a:r>
            <a:r>
              <a:rPr lang="en-US" altLang="zh-CN" dirty="0">
                <a:latin typeface="Times New Roman" panose="02020603050405020304" pitchFamily="18" charset="0"/>
              </a:rPr>
              <a:t>A</a:t>
            </a:r>
            <a:r>
              <a:rPr lang="zh-CN" altLang="zh-CN" dirty="0">
                <a:latin typeface="Times New Roman" panose="02020603050405020304" pitchFamily="18" charset="0"/>
              </a:rPr>
              <a:t>。</a:t>
            </a:r>
            <a:r>
              <a:rPr lang="en-US" altLang="zh-CN" dirty="0">
                <a:latin typeface="Times New Roman" panose="02020603050405020304" pitchFamily="18" charset="0"/>
              </a:rPr>
              <a:t>F6</a:t>
            </a:r>
            <a:r>
              <a:rPr lang="zh-CN" altLang="zh-CN" dirty="0">
                <a:latin typeface="Times New Roman" panose="02020603050405020304" pitchFamily="18" charset="0"/>
              </a:rPr>
              <a:t>至</a:t>
            </a:r>
            <a:r>
              <a:rPr lang="en-US" altLang="zh-CN" dirty="0">
                <a:latin typeface="Times New Roman" panose="02020603050405020304" pitchFamily="18" charset="0"/>
              </a:rPr>
              <a:t>F10</a:t>
            </a:r>
            <a:r>
              <a:rPr lang="zh-CN" altLang="zh-CN" dirty="0">
                <a:latin typeface="Times New Roman" panose="02020603050405020304" pitchFamily="18" charset="0"/>
              </a:rPr>
              <a:t>级分别对应数据和程序的完整性、系统的可用性、</a:t>
            </a:r>
            <a:r>
              <a:rPr lang="en-US" altLang="zh-CN" dirty="0">
                <a:latin typeface="Times New Roman" panose="02020603050405020304" pitchFamily="18" charset="0"/>
                <a:hlinkClick r:id="rId4"/>
              </a:rPr>
              <a:t>数据通信</a:t>
            </a:r>
            <a:r>
              <a:rPr lang="zh-CN" altLang="zh-CN" dirty="0">
                <a:latin typeface="Times New Roman" panose="02020603050405020304" pitchFamily="18" charset="0"/>
              </a:rPr>
              <a:t>的完整性、数据通信的保密性以及机密性和完整性的</a:t>
            </a:r>
            <a:r>
              <a:rPr lang="en-US" altLang="zh-CN" dirty="0">
                <a:latin typeface="Times New Roman" panose="02020603050405020304" pitchFamily="18" charset="0"/>
                <a:hlinkClick r:id="rId5"/>
              </a:rPr>
              <a:t>网络安全</a:t>
            </a:r>
            <a:r>
              <a:rPr lang="zh-CN" altLang="zh-CN" dirty="0">
                <a:latin typeface="Times New Roman" panose="02020603050405020304" pitchFamily="18" charset="0"/>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vert="horz" wrap="square" lIns="91440" tIns="45720" rIns="91440" bIns="45720" anchor="ctr" anchorCtr="0"/>
          <a:lstStyle/>
          <a:p>
            <a:r>
              <a:rPr lang="en-US" altLang="zh-CN" dirty="0">
                <a:ea typeface="宋体" panose="02010600030101010101" pitchFamily="2" charset="-122"/>
              </a:rPr>
              <a:t>1.</a:t>
            </a:r>
            <a:r>
              <a:rPr lang="zh-CN" altLang="zh-CN" dirty="0">
                <a:ea typeface="宋体" panose="02010600030101010101" pitchFamily="2" charset="-122"/>
              </a:rPr>
              <a:t>标准间的比较分析</a:t>
            </a:r>
            <a:endParaRPr lang="zh-CN" altLang="en-US" dirty="0">
              <a:ea typeface="宋体" panose="02010600030101010101" pitchFamily="2" charset="-122"/>
            </a:endParaRPr>
          </a:p>
        </p:txBody>
      </p:sp>
      <p:sp>
        <p:nvSpPr>
          <p:cNvPr id="25603" name="矩形 2"/>
          <p:cNvSpPr/>
          <p:nvPr/>
        </p:nvSpPr>
        <p:spPr>
          <a:xfrm>
            <a:off x="381000" y="1371600"/>
            <a:ext cx="2346325" cy="492125"/>
          </a:xfrm>
          <a:prstGeom prst="rect">
            <a:avLst/>
          </a:prstGeom>
          <a:noFill/>
          <a:ln w="9525">
            <a:noFill/>
          </a:ln>
        </p:spPr>
        <p:txBody>
          <a:bodyPr wrap="none">
            <a:spAutoFit/>
          </a:bodyPr>
          <a:lstStyle/>
          <a:p>
            <a:r>
              <a:rPr lang="zh-CN" altLang="en-US" dirty="0">
                <a:solidFill>
                  <a:srgbClr val="FF0000"/>
                </a:solidFill>
                <a:latin typeface="方正粗黑宋简体" panose="02000000000000000000" pitchFamily="2" charset="-122"/>
                <a:ea typeface="方正粗黑宋简体" panose="02000000000000000000" pitchFamily="2" charset="-122"/>
              </a:rPr>
              <a:t>通用标准</a:t>
            </a:r>
            <a:r>
              <a:rPr lang="en-US" altLang="zh-CN" dirty="0">
                <a:solidFill>
                  <a:srgbClr val="FF0000"/>
                </a:solidFill>
                <a:latin typeface="方正粗黑宋简体" panose="02000000000000000000" pitchFamily="2" charset="-122"/>
                <a:ea typeface="方正粗黑宋简体" panose="02000000000000000000" pitchFamily="2" charset="-122"/>
              </a:rPr>
              <a:t>CC</a:t>
            </a:r>
            <a:r>
              <a:rPr lang="zh-CN" altLang="en-US" dirty="0">
                <a:solidFill>
                  <a:srgbClr val="FF0000"/>
                </a:solidFill>
                <a:latin typeface="方正粗黑宋简体" panose="02000000000000000000" pitchFamily="2" charset="-122"/>
                <a:ea typeface="方正粗黑宋简体" panose="02000000000000000000" pitchFamily="2" charset="-122"/>
              </a:rPr>
              <a:t>：</a:t>
            </a:r>
            <a:endParaRPr lang="zh-CN" altLang="en-US" dirty="0">
              <a:latin typeface="Times New Roman" panose="02020603050405020304" pitchFamily="18" charset="0"/>
            </a:endParaRPr>
          </a:p>
        </p:txBody>
      </p:sp>
      <p:sp>
        <p:nvSpPr>
          <p:cNvPr id="25604" name="矩形 3"/>
          <p:cNvSpPr/>
          <p:nvPr/>
        </p:nvSpPr>
        <p:spPr>
          <a:xfrm>
            <a:off x="609600" y="1735138"/>
            <a:ext cx="8153400" cy="4894262"/>
          </a:xfrm>
          <a:prstGeom prst="rect">
            <a:avLst/>
          </a:prstGeom>
          <a:noFill/>
          <a:ln w="9525">
            <a:noFill/>
          </a:ln>
        </p:spPr>
        <p:txBody>
          <a:bodyPr>
            <a:spAutoFit/>
          </a:bodyPr>
          <a:lstStyle/>
          <a:p>
            <a:pPr>
              <a:lnSpc>
                <a:spcPct val="150000"/>
              </a:lnSpc>
            </a:pPr>
            <a:r>
              <a:rPr lang="zh-CN" altLang="zh-CN" dirty="0">
                <a:latin typeface="Times New Roman" panose="02020603050405020304" pitchFamily="18" charset="0"/>
              </a:rPr>
              <a:t>安全保证部分提出</a:t>
            </a:r>
            <a:r>
              <a:rPr lang="en-US" altLang="zh-CN" dirty="0">
                <a:latin typeface="Times New Roman" panose="02020603050405020304" pitchFamily="18" charset="0"/>
              </a:rPr>
              <a:t>7</a:t>
            </a:r>
            <a:r>
              <a:rPr lang="zh-CN" altLang="zh-CN" dirty="0">
                <a:latin typeface="Times New Roman" panose="02020603050405020304" pitchFamily="18" charset="0"/>
              </a:rPr>
              <a:t>个评估保证级别（</a:t>
            </a:r>
            <a:r>
              <a:rPr lang="en-US" altLang="zh-CN" dirty="0">
                <a:latin typeface="Times New Roman" panose="02020603050405020304" pitchFamily="18" charset="0"/>
              </a:rPr>
              <a:t>EALs</a:t>
            </a:r>
            <a:r>
              <a:rPr lang="zh-CN" altLang="zh-CN" dirty="0">
                <a:latin typeface="Times New Roman" panose="02020603050405020304" pitchFamily="18" charset="0"/>
              </a:rPr>
              <a:t>）：</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1</a:t>
            </a:r>
            <a:r>
              <a:rPr lang="zh-CN" altLang="zh-CN" dirty="0">
                <a:latin typeface="Times New Roman" panose="02020603050405020304" pitchFamily="18" charset="0"/>
              </a:rPr>
              <a:t>）</a:t>
            </a:r>
            <a:r>
              <a:rPr lang="en-US" altLang="zh-CN" dirty="0">
                <a:latin typeface="Times New Roman" panose="02020603050405020304" pitchFamily="18" charset="0"/>
              </a:rPr>
              <a:t>EAL1</a:t>
            </a:r>
            <a:r>
              <a:rPr lang="zh-CN" altLang="zh-CN" dirty="0">
                <a:latin typeface="Times New Roman" panose="02020603050405020304" pitchFamily="18" charset="0"/>
              </a:rPr>
              <a:t>：</a:t>
            </a:r>
            <a:r>
              <a:rPr lang="en-US" altLang="zh-CN" dirty="0">
                <a:latin typeface="Times New Roman" panose="02020603050405020304" pitchFamily="18" charset="0"/>
              </a:rPr>
              <a:t>功能测试</a:t>
            </a:r>
            <a:endParaRPr lang="zh-CN" altLang="zh-CN" dirty="0">
              <a:latin typeface="Times New Roman" panose="02020603050405020304" pitchFamily="18" charset="0"/>
            </a:endParaRP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2</a:t>
            </a:r>
            <a:r>
              <a:rPr lang="zh-CN" altLang="zh-CN" dirty="0">
                <a:latin typeface="Times New Roman" panose="02020603050405020304" pitchFamily="18" charset="0"/>
              </a:rPr>
              <a:t>）</a:t>
            </a:r>
            <a:r>
              <a:rPr lang="en-US" altLang="zh-CN" dirty="0">
                <a:latin typeface="Times New Roman" panose="02020603050405020304" pitchFamily="18" charset="0"/>
              </a:rPr>
              <a:t>EAL2</a:t>
            </a:r>
            <a:r>
              <a:rPr lang="zh-CN" altLang="zh-CN" dirty="0">
                <a:latin typeface="Times New Roman" panose="02020603050405020304" pitchFamily="18" charset="0"/>
              </a:rPr>
              <a:t>：结构测试</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3</a:t>
            </a:r>
            <a:r>
              <a:rPr lang="zh-CN" altLang="zh-CN" dirty="0">
                <a:latin typeface="Times New Roman" panose="02020603050405020304" pitchFamily="18" charset="0"/>
              </a:rPr>
              <a:t>）</a:t>
            </a:r>
            <a:r>
              <a:rPr lang="en-US" altLang="zh-CN" dirty="0">
                <a:latin typeface="Times New Roman" panose="02020603050405020304" pitchFamily="18" charset="0"/>
              </a:rPr>
              <a:t>EAL3</a:t>
            </a:r>
            <a:r>
              <a:rPr lang="zh-CN" altLang="zh-CN" dirty="0">
                <a:latin typeface="Times New Roman" panose="02020603050405020304" pitchFamily="18" charset="0"/>
              </a:rPr>
              <a:t>：系统测试和检查</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4</a:t>
            </a:r>
            <a:r>
              <a:rPr lang="zh-CN" altLang="zh-CN" dirty="0">
                <a:latin typeface="Times New Roman" panose="02020603050405020304" pitchFamily="18" charset="0"/>
              </a:rPr>
              <a:t>）</a:t>
            </a:r>
            <a:r>
              <a:rPr lang="en-US" altLang="zh-CN" dirty="0">
                <a:latin typeface="Times New Roman" panose="02020603050405020304" pitchFamily="18" charset="0"/>
              </a:rPr>
              <a:t>EAL4</a:t>
            </a:r>
            <a:r>
              <a:rPr lang="zh-CN" altLang="zh-CN" dirty="0">
                <a:latin typeface="Times New Roman" panose="02020603050405020304" pitchFamily="18" charset="0"/>
              </a:rPr>
              <a:t>：系统设计、测试和复查</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5</a:t>
            </a:r>
            <a:r>
              <a:rPr lang="zh-CN" altLang="zh-CN" dirty="0">
                <a:latin typeface="Times New Roman" panose="02020603050405020304" pitchFamily="18" charset="0"/>
              </a:rPr>
              <a:t>）</a:t>
            </a:r>
            <a:r>
              <a:rPr lang="en-US" altLang="zh-CN" dirty="0">
                <a:latin typeface="Times New Roman" panose="02020603050405020304" pitchFamily="18" charset="0"/>
              </a:rPr>
              <a:t>EAL5</a:t>
            </a:r>
            <a:r>
              <a:rPr lang="zh-CN" altLang="zh-CN" dirty="0">
                <a:latin typeface="Times New Roman" panose="02020603050405020304" pitchFamily="18" charset="0"/>
              </a:rPr>
              <a:t>：半形式化设计和测试</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6</a:t>
            </a:r>
            <a:r>
              <a:rPr lang="zh-CN" altLang="zh-CN" dirty="0">
                <a:latin typeface="Times New Roman" panose="02020603050405020304" pitchFamily="18" charset="0"/>
              </a:rPr>
              <a:t>）</a:t>
            </a:r>
            <a:r>
              <a:rPr lang="en-US" altLang="zh-CN" dirty="0">
                <a:latin typeface="Times New Roman" panose="02020603050405020304" pitchFamily="18" charset="0"/>
              </a:rPr>
              <a:t>EAL6</a:t>
            </a:r>
            <a:r>
              <a:rPr lang="zh-CN" altLang="zh-CN" dirty="0">
                <a:latin typeface="Times New Roman" panose="02020603050405020304" pitchFamily="18" charset="0"/>
              </a:rPr>
              <a:t>：半形式化验证的设计和测试</a:t>
            </a:r>
          </a:p>
          <a:p>
            <a:pPr>
              <a:lnSpc>
                <a:spcPct val="150000"/>
              </a:lnSpc>
            </a:pPr>
            <a:r>
              <a:rPr lang="zh-CN" altLang="zh-CN" dirty="0">
                <a:latin typeface="Times New Roman" panose="02020603050405020304" pitchFamily="18" charset="0"/>
              </a:rPr>
              <a:t>（</a:t>
            </a:r>
            <a:r>
              <a:rPr lang="en-US" altLang="zh-CN" dirty="0">
                <a:latin typeface="Times New Roman" panose="02020603050405020304" pitchFamily="18" charset="0"/>
              </a:rPr>
              <a:t>7</a:t>
            </a:r>
            <a:r>
              <a:rPr lang="zh-CN" altLang="zh-CN" dirty="0">
                <a:latin typeface="Times New Roman" panose="02020603050405020304" pitchFamily="18" charset="0"/>
              </a:rPr>
              <a:t>）</a:t>
            </a:r>
            <a:r>
              <a:rPr lang="en-US" altLang="zh-CN" dirty="0">
                <a:latin typeface="Times New Roman" panose="02020603050405020304" pitchFamily="18" charset="0"/>
              </a:rPr>
              <a:t>EAL7</a:t>
            </a:r>
            <a:r>
              <a:rPr lang="zh-CN" altLang="zh-CN" dirty="0">
                <a:latin typeface="Times New Roman" panose="02020603050405020304" pitchFamily="18" charset="0"/>
              </a:rPr>
              <a:t>：形式化验证的设计和测试</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762000" y="381000"/>
            <a:ext cx="7010400" cy="563563"/>
          </a:xfrm>
        </p:spPr>
        <p:txBody>
          <a:bodyPr vert="horz" wrap="square" lIns="91440" tIns="45720" rIns="91440" bIns="45720" anchor="ctr" anchorCtr="0"/>
          <a:lstStyle/>
          <a:p>
            <a:pPr eaLnBrk="1" hangingPunct="1"/>
            <a:r>
              <a:rPr lang="en-US" altLang="zh-CN" dirty="0">
                <a:ea typeface="宋体" panose="02010600030101010101" pitchFamily="2" charset="-122"/>
              </a:rPr>
              <a:t>2. </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533400" y="1066800"/>
            <a:ext cx="8229600" cy="5181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概述</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国家有关信息系统安全等级保护的法律法规：</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《中华人民共和国计算机信息系统安全保护条例》国务院总理</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[1994]</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147</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号令</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sng"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《国家信息化领导小组关于加强信息安全保障工作的意见》中办发</a:t>
            </a:r>
            <a:r>
              <a:rPr kumimoji="0" lang="en-US" altLang="zh-CN" sz="2400" b="1" i="0" u="sng"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[2003]</a:t>
            </a:r>
            <a:r>
              <a:rPr kumimoji="0" lang="zh-CN" altLang="zh-CN" sz="2400" b="1" i="0" u="sng"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第</a:t>
            </a:r>
            <a:r>
              <a:rPr kumimoji="0" lang="en-US" altLang="zh-CN" sz="2400" b="1" i="0" u="sng"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27</a:t>
            </a:r>
            <a:r>
              <a:rPr kumimoji="0" lang="zh-CN" altLang="zh-CN" sz="2400" b="1" i="0" u="sng"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号文件</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《关于信息安全等级保护工作的实施意见》公通字</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[2004]</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66</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号文件</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《国家信息安全等级保护管理办法》及其配套管理规范性文件</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barn(inVertical)">
                                      <p:cBhvr>
                                        <p:cTn id="7" dur="5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xEl>
                                              <p:pRg st="3" end="3"/>
                                            </p:txEl>
                                          </p:spTgt>
                                        </p:tgtEl>
                                        <p:attrNameLst>
                                          <p:attrName>style.visibility</p:attrName>
                                        </p:attrNameLst>
                                      </p:cBhvr>
                                      <p:to>
                                        <p:strVal val="visible"/>
                                      </p:to>
                                    </p:set>
                                    <p:animEffect transition="in" filter="wipe(down)">
                                      <p:cBhvr>
                                        <p:cTn id="12" dur="500"/>
                                        <p:tgtEl>
                                          <p:spTgt spid="194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circle(in)">
                                      <p:cBhvr>
                                        <p:cTn id="17" dur="2000"/>
                                        <p:tgtEl>
                                          <p:spTgt spid="194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9459">
                                            <p:txEl>
                                              <p:pRg st="5" end="5"/>
                                            </p:txEl>
                                          </p:spTgt>
                                        </p:tgtEl>
                                        <p:attrNameLst>
                                          <p:attrName>style.visibility</p:attrName>
                                        </p:attrNameLst>
                                      </p:cBhvr>
                                      <p:to>
                                        <p:strVal val="visible"/>
                                      </p:to>
                                    </p:set>
                                    <p:animEffect transition="in" filter="circle(in)">
                                      <p:cBhvr>
                                        <p:cTn id="22"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762000" y="381000"/>
            <a:ext cx="7010400" cy="563563"/>
          </a:xfrm>
        </p:spPr>
        <p:txBody>
          <a:bodyPr vert="horz" wrap="square" lIns="91440" tIns="45720" rIns="91440" bIns="45720" anchor="ctr" anchorCtr="0"/>
          <a:lstStyle/>
          <a:p>
            <a:pPr eaLnBrk="1" hangingPunct="1"/>
            <a:r>
              <a:rPr lang="en-US" altLang="zh-CN" dirty="0">
                <a:ea typeface="宋体" panose="02010600030101010101" pitchFamily="2" charset="-122"/>
              </a:rPr>
              <a:t>2. </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81000" y="990600"/>
            <a:ext cx="8153400" cy="5105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国家有关信息系统安全的等级保护的标准包括：</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GB/T 17859-1999</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计算机</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信息系统安全保护等级划分准则</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GB/T 20271-2006</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信息安全技术信息系统通用安全技术</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要求</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GB/T 22240</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2008</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信息安全技术 信息系统安全等级保护定级指南》</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GB/T 22239</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2008</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信息安全技术 信息系统安全等级保护基本要求》</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GB/T20269-2006</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信息安全技术 信息系统安全管理要求》</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wipe(down)">
                                      <p:cBhvr>
                                        <p:cTn id="7" dur="5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9459">
                                            <p:txEl>
                                              <p:pRg st="3" end="3"/>
                                            </p:txEl>
                                          </p:spTgt>
                                        </p:tgtEl>
                                        <p:attrNameLst>
                                          <p:attrName>style.visibility</p:attrName>
                                        </p:attrNameLst>
                                      </p:cBhvr>
                                      <p:to>
                                        <p:strVal val="visible"/>
                                      </p:to>
                                    </p:set>
                                    <p:animEffect transition="in" filter="circle(in)">
                                      <p:cBhvr>
                                        <p:cTn id="12" dur="2000"/>
                                        <p:tgtEl>
                                          <p:spTgt spid="194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barn(inVertical)">
                                      <p:cBhvr>
                                        <p:cTn id="17" dur="500"/>
                                        <p:tgtEl>
                                          <p:spTgt spid="194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9459">
                                            <p:txEl>
                                              <p:pRg st="5" end="5"/>
                                            </p:txEl>
                                          </p:spTgt>
                                        </p:tgtEl>
                                        <p:attrNameLst>
                                          <p:attrName>style.visibility</p:attrName>
                                        </p:attrNameLst>
                                      </p:cBhvr>
                                      <p:to>
                                        <p:strVal val="visible"/>
                                      </p:to>
                                    </p:set>
                                    <p:animEffect transition="in" filter="fade">
                                      <p:cBhvr>
                                        <p:cTn id="22" dur="1000"/>
                                        <p:tgtEl>
                                          <p:spTgt spid="19459">
                                            <p:txEl>
                                              <p:pRg st="5" end="5"/>
                                            </p:txEl>
                                          </p:spTgt>
                                        </p:tgtEl>
                                      </p:cBhvr>
                                    </p:animEffect>
                                    <p:anim calcmode="lin" valueType="num">
                                      <p:cBhvr>
                                        <p:cTn id="23"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945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762000" y="381000"/>
            <a:ext cx="7010400" cy="563563"/>
          </a:xfrm>
        </p:spPr>
        <p:txBody>
          <a:bodyPr vert="horz" wrap="square" lIns="91440" tIns="45720" rIns="91440" bIns="45720" anchor="ctr" anchorCtr="0"/>
          <a:lstStyle/>
          <a:p>
            <a:pPr eaLnBrk="1" hangingPunct="1"/>
            <a:r>
              <a:rPr lang="en-US" altLang="zh-CN" dirty="0">
                <a:ea typeface="宋体" panose="02010600030101010101" pitchFamily="2" charset="-122"/>
              </a:rPr>
              <a:t>2.</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81000" y="1066800"/>
            <a:ext cx="8458200" cy="4572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计算机</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信息系统安全保护等级划分准则</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原则上</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划分了五个保护等级</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第一级：用户自主保护级；（对应</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C1</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级）</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第二级：系统审计保护级；（对应</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C2</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级）</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第三级：安全标记保护级；（对应</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B1</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级）</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第四级：结构化保护级； </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B2</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级）</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第五级：访问验证保护级</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B3</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wipe(down)">
                                      <p:cBhvr>
                                        <p:cTn id="7" dur="500"/>
                                        <p:tgtEl>
                                          <p:spTgt spid="19459">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9459">
                                            <p:txEl>
                                              <p:pRg st="3" end="3"/>
                                            </p:txEl>
                                          </p:spTgt>
                                        </p:tgtEl>
                                        <p:attrNameLst>
                                          <p:attrName>style.visibility</p:attrName>
                                        </p:attrNameLst>
                                      </p:cBhvr>
                                      <p:to>
                                        <p:strVal val="visible"/>
                                      </p:to>
                                    </p:set>
                                    <p:animEffect transition="in" filter="wipe(down)">
                                      <p:cBhvr>
                                        <p:cTn id="10" dur="500"/>
                                        <p:tgtEl>
                                          <p:spTgt spid="1945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animEffect transition="in" filter="wheel(1)">
                                      <p:cBhvr>
                                        <p:cTn id="15" dur="2000"/>
                                        <p:tgtEl>
                                          <p:spTgt spid="19459">
                                            <p:txEl>
                                              <p:pRg st="4" end="4"/>
                                            </p:txEl>
                                          </p:spTgt>
                                        </p:tgtEl>
                                      </p:cBhvr>
                                    </p:animEffect>
                                  </p:childTnLst>
                                </p:cTn>
                              </p:par>
                              <p:par>
                                <p:cTn id="16" presetID="21" presetClass="entr" presetSubtype="1" fill="hold" nodeType="withEffect">
                                  <p:stCondLst>
                                    <p:cond delay="0"/>
                                  </p:stCondLst>
                                  <p:childTnLst>
                                    <p:set>
                                      <p:cBhvr>
                                        <p:cTn id="17" dur="1" fill="hold">
                                          <p:stCondLst>
                                            <p:cond delay="0"/>
                                          </p:stCondLst>
                                        </p:cTn>
                                        <p:tgtEl>
                                          <p:spTgt spid="19459">
                                            <p:txEl>
                                              <p:pRg st="5" end="5"/>
                                            </p:txEl>
                                          </p:spTgt>
                                        </p:tgtEl>
                                        <p:attrNameLst>
                                          <p:attrName>style.visibility</p:attrName>
                                        </p:attrNameLst>
                                      </p:cBhvr>
                                      <p:to>
                                        <p:strVal val="visible"/>
                                      </p:to>
                                    </p:set>
                                    <p:animEffect transition="in" filter="wheel(1)">
                                      <p:cBhvr>
                                        <p:cTn id="18" dur="2000"/>
                                        <p:tgtEl>
                                          <p:spTgt spid="19459">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animEffect transition="in" filter="fade">
                                      <p:cBhvr>
                                        <p:cTn id="23" dur="1000"/>
                                        <p:tgtEl>
                                          <p:spTgt spid="19459">
                                            <p:txEl>
                                              <p:pRg st="6" end="6"/>
                                            </p:txEl>
                                          </p:spTgt>
                                        </p:tgtEl>
                                      </p:cBhvr>
                                    </p:animEffect>
                                    <p:anim calcmode="lin" valueType="num">
                                      <p:cBhvr>
                                        <p:cTn id="24" dur="10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1945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762000" y="381000"/>
            <a:ext cx="7010400" cy="563563"/>
          </a:xfrm>
        </p:spPr>
        <p:txBody>
          <a:bodyPr vert="horz" wrap="square" lIns="91440" tIns="45720" rIns="91440" bIns="45720" anchor="ctr" anchorCtr="0"/>
          <a:lstStyle/>
          <a:p>
            <a:pPr eaLnBrk="1" hangingPunct="1"/>
            <a:r>
              <a:rPr lang="en-US" altLang="zh-CN" dirty="0">
                <a:ea typeface="宋体" panose="02010600030101010101" pitchFamily="2" charset="-122"/>
              </a:rPr>
              <a:t>2.</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04800" y="661988"/>
            <a:ext cx="8305800" cy="563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信息系统安全管理要求</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安全等级</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保护</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从</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与信息系统安全相关的物理层面、网络层面、系统层面、应用层面和管理层面对信息和信息系统实施分等级安全</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保护</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标准</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信息安全技术 信息系统安全管理要求</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GB/T20269-2006》</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对信息和信息系统的安全保护提出了分等级安全管理的要求，阐述了</a:t>
            </a:r>
            <a:r>
              <a:rPr kumimoji="0" lang="zh-CN" altLang="en-US"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安全管理要素</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及其</a:t>
            </a:r>
            <a:r>
              <a:rPr kumimoji="0" lang="zh-CN" altLang="en-US"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强度</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，并将管理要求落实到信息安全等级保护所规定的五个等级上，有利于对安全管理的实施、评估和检查。</a:t>
            </a:r>
            <a:endPar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animEffect transition="in" filter="circle(in)">
                                      <p:cBhvr>
                                        <p:cTn id="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2.</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25603" name="内容占位符 2"/>
          <p:cNvSpPr>
            <a:spLocks noGrp="1"/>
          </p:cNvSpPr>
          <p:nvPr>
            <p:ph idx="1"/>
          </p:nvPr>
        </p:nvSpPr>
        <p:spPr>
          <a:xfrm>
            <a:off x="457200" y="1219200"/>
            <a:ext cx="7924800" cy="4664075"/>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Times New Roman" panose="02020603050405020304" pitchFamily="18" charset="0"/>
                <a:ea typeface="楷体_GB2312" pitchFamily="49" charset="-122"/>
              </a:rPr>
              <a:t> </a:t>
            </a:r>
            <a:r>
              <a:rPr lang="zh-CN" altLang="en-US" sz="2800" dirty="0">
                <a:ea typeface="宋体" panose="02010600030101010101" pitchFamily="2" charset="-122"/>
              </a:rPr>
              <a:t>信息系统通用安全技术要求</a:t>
            </a:r>
            <a:endParaRPr lang="en-US" altLang="zh-CN" dirty="0">
              <a:ea typeface="宋体" panose="02010600030101010101" pitchFamily="2" charset="-122"/>
            </a:endParaRPr>
          </a:p>
          <a:p>
            <a:pPr lvl="1" eaLnBrk="1" hangingPunct="1"/>
            <a:r>
              <a:rPr lang="en-US" altLang="zh-CN" sz="2400" dirty="0">
                <a:ea typeface="宋体" panose="02010600030101010101" pitchFamily="2" charset="-122"/>
              </a:rPr>
              <a:t>《</a:t>
            </a:r>
            <a:r>
              <a:rPr lang="zh-CN" altLang="en-US" sz="2400" dirty="0">
                <a:ea typeface="宋体" panose="02010600030101010101" pitchFamily="2" charset="-122"/>
              </a:rPr>
              <a:t>信息安全技术信息系统通用安全技术要求 </a:t>
            </a:r>
            <a:r>
              <a:rPr lang="en-US" altLang="zh-CN" sz="2400" dirty="0">
                <a:ea typeface="宋体" panose="02010600030101010101" pitchFamily="2" charset="-122"/>
              </a:rPr>
              <a:t>GB/T 20271-2006》</a:t>
            </a:r>
            <a:r>
              <a:rPr lang="zh-CN" altLang="en-US" sz="2400" dirty="0">
                <a:ea typeface="宋体" panose="02010600030101010101" pitchFamily="2" charset="-122"/>
              </a:rPr>
              <a:t>主要从信息系统安全保护等级划分的角度，说明为实现</a:t>
            </a:r>
            <a:r>
              <a:rPr lang="en-US" altLang="zh-CN" sz="2400" dirty="0">
                <a:ea typeface="宋体" panose="02010600030101010101" pitchFamily="2" charset="-122"/>
              </a:rPr>
              <a:t>GB17859-1999</a:t>
            </a:r>
            <a:r>
              <a:rPr lang="zh-CN" altLang="en-US" sz="2400" dirty="0">
                <a:ea typeface="宋体" panose="02010600030101010101" pitchFamily="2" charset="-122"/>
              </a:rPr>
              <a:t>中每一个安全保护等级的</a:t>
            </a:r>
            <a:r>
              <a:rPr lang="zh-CN" altLang="en-US" sz="2400" dirty="0">
                <a:solidFill>
                  <a:srgbClr val="FF0000"/>
                </a:solidFill>
                <a:ea typeface="宋体" panose="02010600030101010101" pitchFamily="2" charset="-122"/>
              </a:rPr>
              <a:t>安全功能要求</a:t>
            </a:r>
            <a:r>
              <a:rPr lang="zh-CN" altLang="en-US" sz="2400" dirty="0">
                <a:ea typeface="宋体" panose="02010600030101010101" pitchFamily="2" charset="-122"/>
              </a:rPr>
              <a:t>应采取的</a:t>
            </a:r>
            <a:r>
              <a:rPr lang="zh-CN" altLang="en-US" sz="2400" dirty="0">
                <a:solidFill>
                  <a:srgbClr val="FF0000"/>
                </a:solidFill>
                <a:ea typeface="宋体" panose="02010600030101010101" pitchFamily="2" charset="-122"/>
              </a:rPr>
              <a:t>安全技术措施</a:t>
            </a:r>
            <a:r>
              <a:rPr lang="zh-CN" altLang="en-US" sz="2400" dirty="0">
                <a:ea typeface="宋体" panose="02010600030101010101" pitchFamily="2" charset="-122"/>
              </a:rPr>
              <a:t>，以及各安全保护等级的安全功能在具体实现上的差异。</a:t>
            </a:r>
            <a:endParaRPr lang="en-US" altLang="zh-CN" sz="2400" dirty="0">
              <a:ea typeface="宋体" panose="02010600030101010101" pitchFamily="2" charset="-122"/>
            </a:endParaRPr>
          </a:p>
          <a:p>
            <a:pPr lvl="1" eaLnBrk="1" hangingPunct="1"/>
            <a:endParaRPr lang="en-US" altLang="zh-CN" sz="2400" b="1" dirty="0">
              <a:latin typeface="楷体_GB2312" pitchFamily="49" charset="-122"/>
              <a:ea typeface="楷体_GB2312" pitchFamily="49" charset="-122"/>
            </a:endParaRPr>
          </a:p>
          <a:p>
            <a:pPr lvl="1" eaLnBrk="1" hangingPunct="1"/>
            <a:r>
              <a:rPr lang="en-US" altLang="zh-CN" sz="2400" dirty="0">
                <a:latin typeface="楷体_GB2312" pitchFamily="49" charset="-122"/>
                <a:ea typeface="楷体_GB2312" pitchFamily="49" charset="-122"/>
              </a:rPr>
              <a:t>GB/T 20271-2006</a:t>
            </a:r>
            <a:r>
              <a:rPr lang="zh-CN" altLang="en-US" sz="2400" dirty="0">
                <a:latin typeface="楷体_GB2312" pitchFamily="49" charset="-122"/>
                <a:ea typeface="楷体_GB2312" pitchFamily="49" charset="-122"/>
              </a:rPr>
              <a:t>适用范围：</a:t>
            </a:r>
            <a:r>
              <a:rPr lang="zh-CN" altLang="en-US" sz="2400" dirty="0">
                <a:solidFill>
                  <a:srgbClr val="FF0000"/>
                </a:solidFill>
                <a:latin typeface="楷体_GB2312" pitchFamily="49" charset="-122"/>
                <a:ea typeface="楷体_GB2312" pitchFamily="49" charset="-122"/>
              </a:rPr>
              <a:t>按等级化要求进行的安全信息系统的设计和实现</a:t>
            </a:r>
            <a:r>
              <a:rPr lang="zh-CN" altLang="en-US" sz="2400" dirty="0">
                <a:latin typeface="楷体_GB2312" pitchFamily="49" charset="-122"/>
                <a:ea typeface="楷体_GB2312" pitchFamily="49" charset="-122"/>
              </a:rPr>
              <a:t>，对按等级化要求进行的信息系统安全的测试和管理可参照使用。</a:t>
            </a:r>
            <a:endParaRPr lang="en-US" altLang="zh-CN" sz="2400" dirty="0">
              <a:latin typeface="楷体_GB2312" pitchFamily="49" charset="-122"/>
              <a:ea typeface="楷体_GB2312" pitchFamily="49"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circle(in)">
                                      <p:cBhvr>
                                        <p:cTn id="7" dur="2000"/>
                                        <p:tgtEl>
                                          <p:spTgt spid="256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circle(in)">
                                      <p:cBhvr>
                                        <p:cTn id="12" dur="20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2.</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27651" name="内容占位符 2"/>
          <p:cNvSpPr>
            <a:spLocks noGrp="1" noChangeArrowheads="1"/>
          </p:cNvSpPr>
          <p:nvPr>
            <p:ph idx="1"/>
          </p:nvPr>
        </p:nvSpPr>
        <p:spPr>
          <a:xfrm>
            <a:off x="373063" y="1143000"/>
            <a:ext cx="8313738" cy="49466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信息系统安全保护定级指南</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信息系统</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安全保护等级划分</a:t>
            </a:r>
            <a:r>
              <a:rPr kumimoji="0" lang="zh-CN" altLang="en-US"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第一级，信息系统受到破坏后，会对</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公民、法人和其他组织</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的合法权益造成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，但</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国家安全、社会秩序和公共利益。</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第二级，信息系统受到破坏后，会对公民、法人和其他组织的合法权益产生</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严重损害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，或者对社会秩序和公共利益造成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，但</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国家安全</a:t>
            </a:r>
            <a:r>
              <a:rPr kumimoji="0" lang="zh-CN" altLang="en-US"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第三级，信息系统受到破坏后，会对社会秩序和公共利益造成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严重损害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，或者对国家安全造成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第四级，信息系统受到破坏后，会对社会秩序和公共利益造成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特别严重损害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，或者对国家安全造成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严重损害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第五级，信息系统受到破坏后，会对国家安全造成</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特别严重损害</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Effect transition="in" filter="wipe(down)">
                                      <p:cBhvr>
                                        <p:cTn id="7" dur="500"/>
                                        <p:tgtEl>
                                          <p:spTgt spid="276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7651">
                                            <p:txEl>
                                              <p:pRg st="3" end="3"/>
                                            </p:txEl>
                                          </p:spTgt>
                                        </p:tgtEl>
                                        <p:attrNameLst>
                                          <p:attrName>style.visibility</p:attrName>
                                        </p:attrNameLst>
                                      </p:cBhvr>
                                      <p:to>
                                        <p:strVal val="visible"/>
                                      </p:to>
                                    </p:set>
                                    <p:animEffect transition="in" filter="circle(in)">
                                      <p:cBhvr>
                                        <p:cTn id="12" dur="2000"/>
                                        <p:tgtEl>
                                          <p:spTgt spid="2765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7651">
                                            <p:txEl>
                                              <p:pRg st="4" end="4"/>
                                            </p:txEl>
                                          </p:spTgt>
                                        </p:tgtEl>
                                        <p:attrNameLst>
                                          <p:attrName>style.visibility</p:attrName>
                                        </p:attrNameLst>
                                      </p:cBhvr>
                                      <p:to>
                                        <p:strVal val="visible"/>
                                      </p:to>
                                    </p:set>
                                    <p:animEffect transition="in" filter="wipe(down)">
                                      <p:cBhvr>
                                        <p:cTn id="17" dur="500"/>
                                        <p:tgtEl>
                                          <p:spTgt spid="2765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651">
                                            <p:txEl>
                                              <p:pRg st="5" end="5"/>
                                            </p:txEl>
                                          </p:spTgt>
                                        </p:tgtEl>
                                        <p:attrNameLst>
                                          <p:attrName>style.visibility</p:attrName>
                                        </p:attrNameLst>
                                      </p:cBhvr>
                                      <p:to>
                                        <p:strVal val="visible"/>
                                      </p:to>
                                    </p:set>
                                    <p:anim calcmode="lin" valueType="num">
                                      <p:cBhvr additive="base">
                                        <p:cTn id="22"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27651">
                                            <p:txEl>
                                              <p:pRg st="6" end="6"/>
                                            </p:txEl>
                                          </p:spTgt>
                                        </p:tgtEl>
                                        <p:attrNameLst>
                                          <p:attrName>style.visibility</p:attrName>
                                        </p:attrNameLst>
                                      </p:cBhvr>
                                      <p:to>
                                        <p:strVal val="visible"/>
                                      </p:to>
                                    </p:set>
                                    <p:animEffect transition="in" filter="wheel(1)">
                                      <p:cBhvr>
                                        <p:cTn id="28" dur="2000"/>
                                        <p:tgtEl>
                                          <p:spTgt spid="276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2.</a:t>
            </a:r>
            <a:r>
              <a:rPr lang="zh-CN" altLang="zh-CN" dirty="0">
                <a:ea typeface="宋体" panose="02010600030101010101" pitchFamily="2" charset="-122"/>
              </a:rPr>
              <a:t>我国信息系统等级保护标准</a:t>
            </a:r>
            <a:endParaRPr lang="zh-CN" altLang="en-US" b="1" dirty="0">
              <a:ea typeface="宋体" panose="02010600030101010101" pitchFamily="2" charset="-122"/>
            </a:endParaRPr>
          </a:p>
        </p:txBody>
      </p:sp>
      <p:sp>
        <p:nvSpPr>
          <p:cNvPr id="32771" name="内容占位符 2"/>
          <p:cNvSpPr>
            <a:spLocks noGrp="1"/>
          </p:cNvSpPr>
          <p:nvPr>
            <p:ph idx="1"/>
          </p:nvPr>
        </p:nvSpPr>
        <p:spPr>
          <a:xfrm>
            <a:off x="373063" y="1219200"/>
            <a:ext cx="8313737" cy="487045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Times New Roman" panose="02020603050405020304" pitchFamily="18" charset="0"/>
                <a:ea typeface="楷体_GB2312" pitchFamily="49" charset="-122"/>
              </a:rPr>
              <a:t> </a:t>
            </a:r>
            <a:r>
              <a:rPr lang="zh-CN" altLang="zh-CN" dirty="0">
                <a:ea typeface="宋体" panose="02010600030101010101" pitchFamily="2" charset="-122"/>
              </a:rPr>
              <a:t>信息系统</a:t>
            </a:r>
            <a:r>
              <a:rPr lang="en-US" altLang="zh-CN" dirty="0">
                <a:ea typeface="宋体" panose="02010600030101010101" pitchFamily="2" charset="-122"/>
              </a:rPr>
              <a:t>.</a:t>
            </a:r>
            <a:r>
              <a:rPr lang="zh-CN" altLang="zh-CN" dirty="0">
                <a:ea typeface="宋体" panose="02010600030101010101" pitchFamily="2" charset="-122"/>
              </a:rPr>
              <a:t>安全保护等级划分</a:t>
            </a:r>
            <a:r>
              <a:rPr lang="zh-CN" altLang="en-US" dirty="0">
                <a:ea typeface="宋体" panose="02010600030101010101" pitchFamily="2" charset="-122"/>
              </a:rPr>
              <a:t>：</a:t>
            </a:r>
            <a:endParaRPr lang="en-US" altLang="zh-CN" dirty="0">
              <a:ea typeface="宋体" panose="02010600030101010101" pitchFamily="2" charset="-122"/>
            </a:endParaRPr>
          </a:p>
          <a:p>
            <a:pPr marL="457200" lvl="1" indent="0"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graphicFrame>
        <p:nvGraphicFramePr>
          <p:cNvPr id="2" name="表格 1"/>
          <p:cNvGraphicFramePr>
            <a:graphicFrameLocks noGrp="1"/>
          </p:cNvGraphicFramePr>
          <p:nvPr/>
        </p:nvGraphicFramePr>
        <p:xfrm>
          <a:off x="914400" y="1981200"/>
          <a:ext cx="7239000" cy="3640138"/>
        </p:xfrm>
        <a:graphic>
          <a:graphicData uri="http://schemas.openxmlformats.org/drawingml/2006/table">
            <a:tbl>
              <a:tblPr firstRow="1" bandRow="1">
                <a:tableStyleId>{073A0DAA-6AF3-43AB-8588-CEC1D06C72B9}</a:tableStyleId>
              </a:tblPr>
              <a:tblGrid>
                <a:gridCol w="1440636"/>
                <a:gridCol w="1602997"/>
                <a:gridCol w="1891986"/>
                <a:gridCol w="2303381"/>
              </a:tblGrid>
              <a:tr h="971038">
                <a:tc>
                  <a:txBody>
                    <a:bodyPr/>
                    <a:lstStyle/>
                    <a:p>
                      <a:pPr algn="l"/>
                      <a:r>
                        <a:rPr lang="zh-CN" altLang="en-US" sz="1800" dirty="0" smtClean="0"/>
                        <a:t>等级</a:t>
                      </a:r>
                      <a:endParaRPr lang="zh-CN" altLang="en-US" sz="1800" dirty="0"/>
                    </a:p>
                  </a:txBody>
                  <a:tcPr marL="91442" marR="91442" marT="45729" marB="45729"/>
                </a:tc>
                <a:tc>
                  <a:txBody>
                    <a:bodyPr/>
                    <a:lstStyle/>
                    <a:p>
                      <a:pPr algn="l"/>
                      <a:r>
                        <a:rPr lang="zh-CN" altLang="en-US" sz="1800" dirty="0" smtClean="0"/>
                        <a:t>公民、法人和其他组织</a:t>
                      </a:r>
                      <a:endParaRPr lang="zh-CN" altLang="en-US" sz="1800" dirty="0"/>
                    </a:p>
                  </a:txBody>
                  <a:tcPr marL="91442" marR="91442" marT="45729" marB="45729"/>
                </a:tc>
                <a:tc>
                  <a:txBody>
                    <a:bodyPr/>
                    <a:lstStyle/>
                    <a:p>
                      <a:pPr algn="l"/>
                      <a:r>
                        <a:rPr lang="zh-CN" altLang="en-US" sz="1800" dirty="0" smtClean="0"/>
                        <a:t>社会秩序和公共利益</a:t>
                      </a:r>
                      <a:endParaRPr lang="zh-CN" altLang="en-US" sz="1800" dirty="0"/>
                    </a:p>
                  </a:txBody>
                  <a:tcPr marL="91442" marR="91442" marT="45729" marB="45729"/>
                </a:tc>
                <a:tc>
                  <a:txBody>
                    <a:bodyPr/>
                    <a:lstStyle/>
                    <a:p>
                      <a:pPr algn="l"/>
                      <a:r>
                        <a:rPr lang="zh-CN" altLang="en-US" sz="1800" dirty="0" smtClean="0"/>
                        <a:t>国家安全</a:t>
                      </a:r>
                      <a:endParaRPr lang="zh-CN" altLang="en-US" sz="1800" dirty="0"/>
                    </a:p>
                  </a:txBody>
                  <a:tcPr marL="91442" marR="91442" marT="45729" marB="45729"/>
                </a:tc>
              </a:tr>
              <a:tr h="533820">
                <a:tc>
                  <a:txBody>
                    <a:bodyPr/>
                    <a:lstStyle/>
                    <a:p>
                      <a:r>
                        <a:rPr lang="zh-CN" altLang="en-US" sz="1800" dirty="0" smtClean="0"/>
                        <a:t>第一级</a:t>
                      </a:r>
                      <a:endParaRPr lang="zh-CN" altLang="en-US" sz="1800" dirty="0"/>
                    </a:p>
                  </a:txBody>
                  <a:tcPr marL="91442" marR="91442" marT="45729" marB="45729"/>
                </a:tc>
                <a:tc>
                  <a:txBody>
                    <a:bodyPr/>
                    <a:lstStyle/>
                    <a:p>
                      <a:r>
                        <a:rPr lang="zh-CN" altLang="en-US" sz="1800" dirty="0" smtClean="0"/>
                        <a:t>损害</a:t>
                      </a:r>
                      <a:endParaRPr lang="zh-CN" altLang="en-US" sz="1800" dirty="0"/>
                    </a:p>
                  </a:txBody>
                  <a:tcPr marL="91442" marR="91442" marT="45729" marB="45729"/>
                </a:tc>
                <a:tc>
                  <a:txBody>
                    <a:bodyPr/>
                    <a:lstStyle/>
                    <a:p>
                      <a:r>
                        <a:rPr lang="zh-CN" altLang="en-US" sz="1800" dirty="0" smtClean="0"/>
                        <a:t>不损害</a:t>
                      </a:r>
                      <a:endParaRPr lang="zh-CN" altLang="en-US" sz="1800" dirty="0"/>
                    </a:p>
                  </a:txBody>
                  <a:tcPr marL="91442" marR="91442" marT="45729" marB="45729"/>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smtClean="0"/>
                        <a:t>不损害</a:t>
                      </a:r>
                      <a:endParaRPr lang="zh-CN" altLang="en-US" sz="1800" dirty="0"/>
                    </a:p>
                  </a:txBody>
                  <a:tcPr marL="91442" marR="91442" marT="45729" marB="45729"/>
                </a:tc>
              </a:tr>
              <a:tr h="533820">
                <a:tc>
                  <a:txBody>
                    <a:bodyPr/>
                    <a:lstStyle/>
                    <a:p>
                      <a:r>
                        <a:rPr lang="zh-CN" altLang="en-US" sz="1800" dirty="0" smtClean="0"/>
                        <a:t>第二级</a:t>
                      </a:r>
                      <a:endParaRPr lang="zh-CN" altLang="en-US" sz="1800" dirty="0"/>
                    </a:p>
                  </a:txBody>
                  <a:tcPr marL="91442" marR="91442" marT="45729" marB="45729"/>
                </a:tc>
                <a:tc>
                  <a:txBody>
                    <a:bodyPr/>
                    <a:lstStyle/>
                    <a:p>
                      <a:r>
                        <a:rPr lang="zh-CN" altLang="en-US" sz="1800" dirty="0" smtClean="0"/>
                        <a:t>严重损害</a:t>
                      </a:r>
                      <a:endParaRPr lang="zh-CN" altLang="en-US" sz="1800" dirty="0"/>
                    </a:p>
                  </a:txBody>
                  <a:tcPr marL="91442" marR="91442" marT="45729" marB="45729"/>
                </a:tc>
                <a:tc>
                  <a:txBody>
                    <a:bodyPr/>
                    <a:lstStyle/>
                    <a:p>
                      <a:r>
                        <a:rPr lang="zh-CN" altLang="en-US" sz="1800" dirty="0" smtClean="0"/>
                        <a:t>损害</a:t>
                      </a:r>
                      <a:endParaRPr lang="zh-CN" altLang="en-US" sz="1800" dirty="0"/>
                    </a:p>
                  </a:txBody>
                  <a:tcPr marL="91442" marR="91442" marT="45729" marB="45729"/>
                </a:tc>
                <a:tc>
                  <a:txBody>
                    <a:bodyPr/>
                    <a:lstStyle/>
                    <a:p>
                      <a:r>
                        <a:rPr lang="zh-CN" altLang="en-US" sz="1800" dirty="0" smtClean="0"/>
                        <a:t>不损害</a:t>
                      </a:r>
                      <a:endParaRPr lang="zh-CN" altLang="en-US" sz="1800" dirty="0"/>
                    </a:p>
                  </a:txBody>
                  <a:tcPr marL="91442" marR="91442" marT="45729" marB="45729"/>
                </a:tc>
              </a:tr>
              <a:tr h="533820">
                <a:tc>
                  <a:txBody>
                    <a:bodyPr/>
                    <a:lstStyle/>
                    <a:p>
                      <a:r>
                        <a:rPr lang="zh-CN" altLang="en-US" sz="1800" dirty="0" smtClean="0"/>
                        <a:t>第三级</a:t>
                      </a:r>
                      <a:endParaRPr lang="zh-CN" altLang="en-US" sz="1800" dirty="0"/>
                    </a:p>
                  </a:txBody>
                  <a:tcPr marL="91442" marR="91442" marT="45729" marB="45729"/>
                </a:tc>
                <a:tc>
                  <a:txBody>
                    <a:bodyPr/>
                    <a:lstStyle/>
                    <a:p>
                      <a:r>
                        <a:rPr lang="en-US" altLang="zh-CN" sz="1800" dirty="0" smtClean="0"/>
                        <a:t>---</a:t>
                      </a:r>
                      <a:endParaRPr lang="zh-CN" altLang="en-US" sz="1800" dirty="0"/>
                    </a:p>
                  </a:txBody>
                  <a:tcPr marL="91442" marR="91442" marT="45729" marB="45729"/>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smtClean="0"/>
                        <a:t>严重损害</a:t>
                      </a:r>
                      <a:endParaRPr lang="zh-CN" altLang="en-US" sz="1800" dirty="0"/>
                    </a:p>
                  </a:txBody>
                  <a:tcPr marL="91442" marR="91442" marT="45729" marB="45729"/>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smtClean="0"/>
                        <a:t>损害</a:t>
                      </a:r>
                      <a:endParaRPr lang="zh-CN" altLang="en-US" sz="1800" dirty="0"/>
                    </a:p>
                  </a:txBody>
                  <a:tcPr marL="91442" marR="91442" marT="45729" marB="45729"/>
                </a:tc>
              </a:tr>
              <a:tr h="533820">
                <a:tc>
                  <a:txBody>
                    <a:bodyPr/>
                    <a:lstStyle/>
                    <a:p>
                      <a:r>
                        <a:rPr lang="zh-CN" altLang="en-US" sz="1800" dirty="0" smtClean="0"/>
                        <a:t>第四级</a:t>
                      </a:r>
                      <a:endParaRPr lang="zh-CN" altLang="en-US" sz="1800" dirty="0"/>
                    </a:p>
                  </a:txBody>
                  <a:tcPr marL="91442" marR="91442" marT="45729" marB="45729"/>
                </a:tc>
                <a:tc>
                  <a:txBody>
                    <a:bodyPr/>
                    <a:lstStyle/>
                    <a:p>
                      <a:r>
                        <a:rPr lang="en-US" altLang="zh-CN" sz="1800" dirty="0" smtClean="0"/>
                        <a:t>---</a:t>
                      </a:r>
                      <a:endParaRPr lang="zh-CN" altLang="en-US" sz="1800" dirty="0"/>
                    </a:p>
                  </a:txBody>
                  <a:tcPr marL="91442" marR="91442" marT="45729" marB="45729"/>
                </a:tc>
                <a:tc>
                  <a:txBody>
                    <a:bodyPr/>
                    <a:lstStyle/>
                    <a:p>
                      <a:r>
                        <a:rPr lang="zh-CN" altLang="en-US" sz="1800" dirty="0" smtClean="0"/>
                        <a:t>特别严重损害</a:t>
                      </a:r>
                      <a:endParaRPr lang="zh-CN" altLang="en-US" sz="1800" dirty="0"/>
                    </a:p>
                  </a:txBody>
                  <a:tcPr marL="91442" marR="91442" marT="45729" marB="45729"/>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smtClean="0"/>
                        <a:t>严重损害</a:t>
                      </a:r>
                      <a:endParaRPr lang="zh-CN" altLang="en-US" sz="1800" dirty="0"/>
                    </a:p>
                  </a:txBody>
                  <a:tcPr marL="91442" marR="91442" marT="45729" marB="45729"/>
                </a:tc>
              </a:tr>
              <a:tr h="533820">
                <a:tc>
                  <a:txBody>
                    <a:bodyPr/>
                    <a:lstStyle/>
                    <a:p>
                      <a:r>
                        <a:rPr lang="zh-CN" altLang="en-US" sz="1800" dirty="0" smtClean="0"/>
                        <a:t>第五级</a:t>
                      </a:r>
                      <a:endParaRPr lang="zh-CN" altLang="en-US" sz="1800" dirty="0"/>
                    </a:p>
                  </a:txBody>
                  <a:tcPr marL="91442" marR="91442" marT="45729" marB="45729"/>
                </a:tc>
                <a:tc>
                  <a:txBody>
                    <a:bodyPr/>
                    <a:lstStyle/>
                    <a:p>
                      <a:r>
                        <a:rPr lang="en-US" altLang="zh-CN" sz="1800" dirty="0" smtClean="0"/>
                        <a:t>---</a:t>
                      </a:r>
                      <a:endParaRPr lang="zh-CN" altLang="en-US" sz="1800" dirty="0"/>
                    </a:p>
                  </a:txBody>
                  <a:tcPr marL="91442" marR="91442" marT="45729" marB="45729"/>
                </a:tc>
                <a:tc>
                  <a:txBody>
                    <a:bodyPr/>
                    <a:lstStyle/>
                    <a:p>
                      <a:r>
                        <a:rPr lang="en-US" altLang="zh-CN" sz="1800" dirty="0" smtClean="0"/>
                        <a:t>---</a:t>
                      </a:r>
                      <a:endParaRPr lang="zh-CN" altLang="en-US" sz="1800" dirty="0"/>
                    </a:p>
                  </a:txBody>
                  <a:tcPr marL="91442" marR="91442" marT="45729" marB="45729"/>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smtClean="0"/>
                        <a:t>特别严重损害</a:t>
                      </a:r>
                      <a:endParaRPr lang="zh-CN" altLang="en-US" sz="1800" dirty="0"/>
                    </a:p>
                  </a:txBody>
                  <a:tcPr marL="91442" marR="91442" marT="45729" marB="45729"/>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28675" name="内容占位符 2"/>
          <p:cNvSpPr>
            <a:spLocks noGrp="1" noChangeArrowheads="1"/>
          </p:cNvSpPr>
          <p:nvPr>
            <p:ph idx="1"/>
          </p:nvPr>
        </p:nvSpPr>
        <p:spPr>
          <a:xfrm>
            <a:off x="304800" y="1066800"/>
            <a:ext cx="8382000" cy="53340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概述</a:t>
            </a: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 </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Information Security Management System</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）正如其名称所表述的含义，就是关于信息安全的管理体系。</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 </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如：</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ISO/IEC 27001</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2005</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《信息安全管理体系 要求》是整个管理体系的一部分。</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它是基于业务风险方法，来建立、实施、运行、监视、评审、保持和改进信息安全的</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Char char="l"/>
              <a:defRPr/>
            </a:pPr>
            <a:endParaRPr kumimoji="0" lang="en-US" altLang="zh-CN" sz="2800" b="0" i="0" u="none" strike="noStrike" kern="0" cap="none" spc="0" normalizeH="0" baseline="0" noProof="0" dirty="0" smtClean="0">
              <a:ln>
                <a:noFill/>
              </a:ln>
              <a:solidFill>
                <a:srgbClr val="FF0000"/>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Char char="l"/>
              <a:defRPr/>
            </a:pPr>
            <a:r>
              <a:rPr kumimoji="0" lang="zh-CN" altLang="zh-CN" sz="2800" b="0" i="0" u="none" strike="noStrike" kern="0" cap="none" spc="0" normalizeH="0" baseline="0" noProof="0" dirty="0" smtClean="0">
                <a:ln>
                  <a:noFill/>
                </a:ln>
                <a:solidFill>
                  <a:srgbClr val="FF0000"/>
                </a:solidFill>
                <a:effectLst/>
                <a:uLnTx/>
                <a:uFillTx/>
                <a:latin typeface="+mn-lt"/>
                <a:ea typeface="宋体" panose="02010600030101010101" pitchFamily="2" charset="-122"/>
              </a:rPr>
              <a:t>注：管理体系包括组织结构、方针策略、规划活动、职责、实践、程序、过程和资源</a:t>
            </a:r>
            <a:endParaRPr kumimoji="0" lang="en-US" altLang="zh-CN" sz="28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animEffect transition="in" filter="wipe(down)">
                                      <p:cBhvr>
                                        <p:cTn id="7" dur="500"/>
                                        <p:tgtEl>
                                          <p:spTgt spid="2867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8675">
                                            <p:txEl>
                                              <p:pRg st="3" end="3"/>
                                            </p:txEl>
                                          </p:spTgt>
                                        </p:tgtEl>
                                        <p:attrNameLst>
                                          <p:attrName>style.visibility</p:attrName>
                                        </p:attrNameLst>
                                      </p:cBhvr>
                                      <p:to>
                                        <p:strVal val="visible"/>
                                      </p:to>
                                    </p:set>
                                    <p:animEffect transition="in" filter="circle(in)">
                                      <p:cBhvr>
                                        <p:cTn id="12" dur="2000"/>
                                        <p:tgtEl>
                                          <p:spTgt spid="2867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8675">
                                            <p:txEl>
                                              <p:pRg st="5" end="5"/>
                                            </p:txEl>
                                          </p:spTgt>
                                        </p:tgtEl>
                                        <p:attrNameLst>
                                          <p:attrName>style.visibility</p:attrName>
                                        </p:attrNameLst>
                                      </p:cBhvr>
                                      <p:to>
                                        <p:strVal val="visible"/>
                                      </p:to>
                                    </p:set>
                                    <p:animEffect transition="in" filter="fade">
                                      <p:cBhvr>
                                        <p:cTn id="17" dur="1000"/>
                                        <p:tgtEl>
                                          <p:spTgt spid="28675">
                                            <p:txEl>
                                              <p:pRg st="5" end="5"/>
                                            </p:txEl>
                                          </p:spTgt>
                                        </p:tgtEl>
                                      </p:cBhvr>
                                    </p:animEffect>
                                    <p:anim calcmode="lin" valueType="num">
                                      <p:cBhvr>
                                        <p:cTn id="18" dur="10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2867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4819" name="内容占位符 2"/>
          <p:cNvSpPr>
            <a:spLocks noGrp="1"/>
          </p:cNvSpPr>
          <p:nvPr>
            <p:ph idx="1"/>
          </p:nvPr>
        </p:nvSpPr>
        <p:spPr>
          <a:xfrm>
            <a:off x="381000" y="1143000"/>
            <a:ext cx="8610600" cy="57150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eaLnBrk="1" hangingPunct="1">
              <a:buNone/>
            </a:pPr>
            <a:endParaRPr lang="zh-CN" altLang="en-US" dirty="0">
              <a:ea typeface="楷体_GB2312" pitchFamily="49" charset="-122"/>
            </a:endParaRPr>
          </a:p>
        </p:txBody>
      </p:sp>
      <p:pic>
        <p:nvPicPr>
          <p:cNvPr id="34820" name="图片 3" descr="bs7799-iso"/>
          <p:cNvPicPr>
            <a:picLocks noChangeAspect="1"/>
          </p:cNvPicPr>
          <p:nvPr/>
        </p:nvPicPr>
        <p:blipFill>
          <a:blip r:embed="rId2"/>
          <a:stretch>
            <a:fillRect/>
          </a:stretch>
        </p:blipFill>
        <p:spPr>
          <a:xfrm>
            <a:off x="817563" y="1143000"/>
            <a:ext cx="7391400" cy="4724400"/>
          </a:xfrm>
          <a:prstGeom prst="rect">
            <a:avLst/>
          </a:prstGeom>
          <a:noFill/>
          <a:ln w="9525">
            <a:noFill/>
          </a:ln>
        </p:spPr>
      </p:pic>
      <p:sp>
        <p:nvSpPr>
          <p:cNvPr id="34821" name="文本框 1"/>
          <p:cNvSpPr txBox="1"/>
          <p:nvPr/>
        </p:nvSpPr>
        <p:spPr>
          <a:xfrm>
            <a:off x="2743200" y="6048375"/>
            <a:ext cx="3352800" cy="461963"/>
          </a:xfrm>
          <a:prstGeom prst="rect">
            <a:avLst/>
          </a:prstGeom>
          <a:noFill/>
          <a:ln w="9525">
            <a:noFill/>
          </a:ln>
        </p:spPr>
        <p:txBody>
          <a:bodyPr>
            <a:spAutoFit/>
          </a:bodyPr>
          <a:lstStyle/>
          <a:p>
            <a:r>
              <a:rPr lang="zh-CN" altLang="en-US" sz="2400" dirty="0">
                <a:latin typeface="Times New Roman" panose="02020603050405020304" pitchFamily="18" charset="0"/>
              </a:rPr>
              <a:t>图</a:t>
            </a:r>
            <a:r>
              <a:rPr lang="en-US" altLang="zh-CN" sz="2400" dirty="0">
                <a:latin typeface="Times New Roman" panose="02020603050405020304" pitchFamily="18" charset="0"/>
              </a:rPr>
              <a:t>3.1</a:t>
            </a:r>
            <a:r>
              <a:rPr lang="zh-CN" altLang="en-US" sz="2400" dirty="0">
                <a:latin typeface="Times New Roman" panose="02020603050405020304" pitchFamily="18" charset="0"/>
              </a:rPr>
              <a:t>标准的发展历程</a:t>
            </a: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938213"/>
            <a:ext cx="8763000" cy="56911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国际标准化组织</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 JTC1/SC27</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成立后设有三个工作组：</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WG1</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：需求、安全服务及指南工作组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WG2</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：安全技术与机制工作组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WG3</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：信息系统、部件和产品相关的安全评估准则工作组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animEffect transition="in" filter="wipe(down)">
                                      <p:cBhvr>
                                        <p:cTn id="7" dur="500"/>
                                        <p:tgtEl>
                                          <p:spTgt spid="33795">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3795">
                                            <p:txEl>
                                              <p:pRg st="4" end="4"/>
                                            </p:txEl>
                                          </p:spTgt>
                                        </p:tgtEl>
                                        <p:attrNameLst>
                                          <p:attrName>style.visibility</p:attrName>
                                        </p:attrNameLst>
                                      </p:cBhvr>
                                      <p:to>
                                        <p:strVal val="visible"/>
                                      </p:to>
                                    </p:set>
                                    <p:animEffect transition="in" filter="wipe(down)">
                                      <p:cBhvr>
                                        <p:cTn id="10" dur="500"/>
                                        <p:tgtEl>
                                          <p:spTgt spid="33795">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3795">
                                            <p:txEl>
                                              <p:pRg st="5" end="5"/>
                                            </p:txEl>
                                          </p:spTgt>
                                        </p:tgtEl>
                                        <p:attrNameLst>
                                          <p:attrName>style.visibility</p:attrName>
                                        </p:attrNameLst>
                                      </p:cBhvr>
                                      <p:to>
                                        <p:strVal val="visible"/>
                                      </p:to>
                                    </p:set>
                                    <p:animEffect transition="in" filter="wipe(down)">
                                      <p:cBhvr>
                                        <p:cTn id="13" dur="5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381000" y="1143000"/>
            <a:ext cx="8229600" cy="5181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国际标准化组织</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2006</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5</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西班牙</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马德里举行的</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SC27</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32</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届工作组会议和第</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18</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届全体会议上，通过了</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2005</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11</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月在马来西亚会议上提出的调整</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SC27</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组织结构的提案，将原来的三个工作组调整为现在五个</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工作组</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WG1</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：需求、安全服务及指南工作组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WG2</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：安全技术与机制工作组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WG3</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：信息系统、部件和产品相关的安全评估准则</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rPr>
              <a:t>工作组</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WG4</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：安全控制与服务工作组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WG5</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：身份管理与隐私保护技术工作组</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circle(in)">
                                      <p:cBhvr>
                                        <p:cTn id="7" dur="2000"/>
                                        <p:tgtEl>
                                          <p:spTgt spid="33795">
                                            <p:txEl>
                                              <p:pRg st="2" end="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3795">
                                            <p:txEl>
                                              <p:pRg st="3" end="3"/>
                                            </p:txEl>
                                          </p:spTgt>
                                        </p:tgtEl>
                                        <p:attrNameLst>
                                          <p:attrName>style.visibility</p:attrName>
                                        </p:attrNameLst>
                                      </p:cBhvr>
                                      <p:to>
                                        <p:strVal val="visible"/>
                                      </p:to>
                                    </p:set>
                                    <p:animEffect transition="in" filter="circle(in)">
                                      <p:cBhvr>
                                        <p:cTn id="10" dur="2000"/>
                                        <p:tgtEl>
                                          <p:spTgt spid="33795">
                                            <p:txEl>
                                              <p:pRg st="3" end="3"/>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3795">
                                            <p:txEl>
                                              <p:pRg st="4" end="4"/>
                                            </p:txEl>
                                          </p:spTgt>
                                        </p:tgtEl>
                                        <p:attrNameLst>
                                          <p:attrName>style.visibility</p:attrName>
                                        </p:attrNameLst>
                                      </p:cBhvr>
                                      <p:to>
                                        <p:strVal val="visible"/>
                                      </p:to>
                                    </p:set>
                                    <p:animEffect transition="in" filter="circle(in)">
                                      <p:cBhvr>
                                        <p:cTn id="13" dur="2000"/>
                                        <p:tgtEl>
                                          <p:spTgt spid="33795">
                                            <p:txEl>
                                              <p:pRg st="4" end="4"/>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3795">
                                            <p:txEl>
                                              <p:pRg st="5" end="5"/>
                                            </p:txEl>
                                          </p:spTgt>
                                        </p:tgtEl>
                                        <p:attrNameLst>
                                          <p:attrName>style.visibility</p:attrName>
                                        </p:attrNameLst>
                                      </p:cBhvr>
                                      <p:to>
                                        <p:strVal val="visible"/>
                                      </p:to>
                                    </p:set>
                                    <p:animEffect transition="in" filter="circle(in)">
                                      <p:cBhvr>
                                        <p:cTn id="16" dur="2000"/>
                                        <p:tgtEl>
                                          <p:spTgt spid="33795">
                                            <p:txEl>
                                              <p:pRg st="5" end="5"/>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3795">
                                            <p:txEl>
                                              <p:pRg st="6" end="6"/>
                                            </p:txEl>
                                          </p:spTgt>
                                        </p:tgtEl>
                                        <p:attrNameLst>
                                          <p:attrName>style.visibility</p:attrName>
                                        </p:attrNameLst>
                                      </p:cBhvr>
                                      <p:to>
                                        <p:strVal val="visible"/>
                                      </p:to>
                                    </p:set>
                                    <p:animEffect transition="in" filter="circle(in)">
                                      <p:cBhvr>
                                        <p:cTn id="19" dur="2000"/>
                                        <p:tgtEl>
                                          <p:spTgt spid="337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2771" name="内容占位符 2"/>
          <p:cNvSpPr>
            <a:spLocks noGrp="1"/>
          </p:cNvSpPr>
          <p:nvPr>
            <p:ph idx="1"/>
          </p:nvPr>
        </p:nvSpPr>
        <p:spPr>
          <a:xfrm>
            <a:off x="228600" y="1066800"/>
            <a:ext cx="8915400" cy="5489575"/>
          </a:xfrm>
        </p:spPr>
        <p:txBody>
          <a:bodyPr vert="horz" wrap="square" lIns="91440" tIns="45720" rIns="91440" bIns="45720" anchor="t" anchorCtr="0"/>
          <a:lstStyle/>
          <a:p>
            <a:pPr>
              <a:buFont typeface="Wingdings" panose="05000000000000000000" pitchFamily="2" charset="2"/>
              <a:buChar char="Ø"/>
            </a:pPr>
            <a:r>
              <a:rPr lang="en-US" altLang="zh-CN" sz="2800" dirty="0">
                <a:ea typeface="宋体" panose="02010600030101010101" pitchFamily="2" charset="-122"/>
              </a:rPr>
              <a:t>ISMS</a:t>
            </a:r>
            <a:r>
              <a:rPr lang="zh-CN" altLang="zh-CN" sz="2800" dirty="0">
                <a:ea typeface="宋体" panose="02010600030101010101" pitchFamily="2" charset="-122"/>
              </a:rPr>
              <a:t>标准的类型</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a:t>
            </a:r>
            <a:r>
              <a:rPr lang="zh-CN" altLang="zh-CN" sz="2800" dirty="0">
                <a:ea typeface="宋体" panose="02010600030101010101" pitchFamily="2" charset="-122"/>
              </a:rPr>
              <a:t>根据</a:t>
            </a:r>
            <a:r>
              <a:rPr lang="en-US" altLang="zh-CN" sz="2800" dirty="0">
                <a:ea typeface="宋体" panose="02010600030101010101" pitchFamily="2" charset="-122"/>
              </a:rPr>
              <a:t>ISO GUIDE 72</a:t>
            </a:r>
            <a:r>
              <a:rPr lang="zh-CN" altLang="zh-CN" sz="2800" dirty="0">
                <a:ea typeface="宋体" panose="02010600030101010101" pitchFamily="2" charset="-122"/>
              </a:rPr>
              <a:t>：</a:t>
            </a:r>
            <a:r>
              <a:rPr lang="en-US" altLang="zh-CN" sz="2800" dirty="0">
                <a:ea typeface="宋体" panose="02010600030101010101" pitchFamily="2" charset="-122"/>
              </a:rPr>
              <a:t>2001</a:t>
            </a:r>
            <a:r>
              <a:rPr lang="zh-CN" altLang="zh-CN" sz="2800" dirty="0">
                <a:ea typeface="宋体" panose="02010600030101010101" pitchFamily="2" charset="-122"/>
              </a:rPr>
              <a:t>（</a:t>
            </a:r>
            <a:r>
              <a:rPr lang="en-US" altLang="zh-CN" sz="2800" dirty="0">
                <a:ea typeface="宋体" panose="02010600030101010101" pitchFamily="2" charset="-122"/>
              </a:rPr>
              <a:t>Guidelines for the justification and development of management system standards </a:t>
            </a:r>
            <a:r>
              <a:rPr lang="zh-CN" altLang="zh-CN" sz="2800" dirty="0">
                <a:ea typeface="宋体" panose="02010600030101010101" pitchFamily="2" charset="-122"/>
              </a:rPr>
              <a:t>管理体系标准合理性和制定导则）和</a:t>
            </a:r>
            <a:r>
              <a:rPr lang="en-US" altLang="zh-CN" sz="2800" dirty="0">
                <a:ea typeface="宋体" panose="02010600030101010101" pitchFamily="2" charset="-122"/>
              </a:rPr>
              <a:t>ISO/IEC</a:t>
            </a:r>
            <a:r>
              <a:rPr lang="zh-CN" altLang="zh-CN" sz="2800" dirty="0">
                <a:ea typeface="宋体" panose="02010600030101010101" pitchFamily="2" charset="-122"/>
              </a:rPr>
              <a:t>的相关导则，</a:t>
            </a:r>
            <a:r>
              <a:rPr lang="en-US" altLang="zh-CN" sz="2800" dirty="0">
                <a:ea typeface="宋体" panose="02010600030101010101" pitchFamily="2" charset="-122"/>
              </a:rPr>
              <a:t>ISO/IEC JTC1/SC27/WG1</a:t>
            </a:r>
            <a:r>
              <a:rPr lang="zh-CN" altLang="zh-CN" sz="2800" dirty="0">
                <a:ea typeface="宋体" panose="02010600030101010101" pitchFamily="2" charset="-122"/>
              </a:rPr>
              <a:t>将</a:t>
            </a:r>
            <a:r>
              <a:rPr lang="en-US" altLang="zh-CN" sz="2800" dirty="0">
                <a:ea typeface="宋体" panose="02010600030101010101" pitchFamily="2" charset="-122"/>
              </a:rPr>
              <a:t>ISMS</a:t>
            </a:r>
            <a:r>
              <a:rPr lang="zh-CN" altLang="zh-CN" sz="2800" dirty="0">
                <a:ea typeface="宋体" panose="02010600030101010101" pitchFamily="2" charset="-122"/>
              </a:rPr>
              <a:t>标准分为</a:t>
            </a:r>
            <a:r>
              <a:rPr lang="en-US" altLang="zh-CN" sz="2800" dirty="0">
                <a:ea typeface="宋体" panose="02010600030101010101" pitchFamily="2" charset="-122"/>
              </a:rPr>
              <a:t>4</a:t>
            </a:r>
            <a:r>
              <a:rPr lang="zh-CN" altLang="zh-CN" sz="2800" dirty="0">
                <a:ea typeface="宋体" panose="02010600030101010101" pitchFamily="2" charset="-122"/>
              </a:rPr>
              <a:t>类：</a:t>
            </a:r>
          </a:p>
          <a:p>
            <a:pPr lvl="1" eaLnBrk="1" hangingPunct="1"/>
            <a:r>
              <a:rPr lang="en-US" altLang="zh-CN" sz="2400" dirty="0">
                <a:ea typeface="宋体" panose="02010600030101010101" pitchFamily="2" charset="-122"/>
              </a:rPr>
              <a:t>Type A – Vocabulary Standard        A</a:t>
            </a:r>
            <a:r>
              <a:rPr lang="zh-CN" altLang="zh-CN" sz="2400" dirty="0">
                <a:ea typeface="宋体" panose="02010600030101010101" pitchFamily="2" charset="-122"/>
              </a:rPr>
              <a:t>类－词汇标准</a:t>
            </a:r>
          </a:p>
          <a:p>
            <a:pPr lvl="1" eaLnBrk="1" hangingPunct="1"/>
            <a:r>
              <a:rPr lang="en-US" altLang="zh-CN" sz="2400" dirty="0">
                <a:ea typeface="宋体" panose="02010600030101010101" pitchFamily="2" charset="-122"/>
              </a:rPr>
              <a:t>Type B – Requirements Standard    B</a:t>
            </a:r>
            <a:r>
              <a:rPr lang="zh-CN" altLang="zh-CN" sz="2400" dirty="0">
                <a:ea typeface="宋体" panose="02010600030101010101" pitchFamily="2" charset="-122"/>
              </a:rPr>
              <a:t>类－要求标准</a:t>
            </a:r>
          </a:p>
          <a:p>
            <a:pPr lvl="1" eaLnBrk="1" hangingPunct="1"/>
            <a:r>
              <a:rPr lang="en-US" altLang="zh-CN" sz="2400" dirty="0">
                <a:ea typeface="宋体" panose="02010600030101010101" pitchFamily="2" charset="-122"/>
              </a:rPr>
              <a:t>Type C – Guidelines Standard         C</a:t>
            </a:r>
            <a:r>
              <a:rPr lang="zh-CN" altLang="zh-CN" sz="2400" dirty="0">
                <a:ea typeface="宋体" panose="02010600030101010101" pitchFamily="2" charset="-122"/>
              </a:rPr>
              <a:t>类－指南标准</a:t>
            </a:r>
          </a:p>
          <a:p>
            <a:pPr lvl="1" eaLnBrk="1" hangingPunct="1"/>
            <a:r>
              <a:rPr lang="en-US" altLang="zh-CN" sz="2400" dirty="0">
                <a:ea typeface="宋体" panose="02010600030101010101" pitchFamily="2" charset="-122"/>
              </a:rPr>
              <a:t>Type D – Related Standard              D</a:t>
            </a:r>
            <a:r>
              <a:rPr lang="zh-CN" altLang="zh-CN" sz="2400" dirty="0">
                <a:ea typeface="宋体" panose="02010600030101010101" pitchFamily="2" charset="-122"/>
              </a:rPr>
              <a:t>类－相关标准</a:t>
            </a:r>
          </a:p>
          <a:p>
            <a:pPr lvl="1" eaLnBrk="1" hangingPunct="1"/>
            <a:endParaRPr lang="zh-CN" altLang="zh-CN" sz="2400" dirty="0">
              <a:ea typeface="宋体" panose="02010600030101010101" pitchFamily="2" charset="-122"/>
            </a:endParaRPr>
          </a:p>
          <a:p>
            <a:pPr lvl="1" eaLnBrk="1" hangingPunct="1">
              <a:buNone/>
            </a:pPr>
            <a:endParaRPr lang="en-US" altLang="zh-CN" dirty="0">
              <a:ea typeface="宋体" panose="02010600030101010101" pitchFamily="2" charset="-122"/>
            </a:endParaRPr>
          </a:p>
          <a:p>
            <a:pPr lvl="1" eaLnBrk="1" hangingPunct="1"/>
            <a:endParaRPr lang="zh-CN" altLang="zh-CN" dirty="0">
              <a:ea typeface="宋体" panose="02010600030101010101" pitchFamily="2"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animEffect transition="in" filter="wipe(down)">
                                      <p:cBhvr>
                                        <p:cTn id="7" dur="500"/>
                                        <p:tgtEl>
                                          <p:spTgt spid="32771">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2771">
                                            <p:txEl>
                                              <p:pRg st="3" end="3"/>
                                            </p:txEl>
                                          </p:spTgt>
                                        </p:tgtEl>
                                        <p:attrNameLst>
                                          <p:attrName>style.visibility</p:attrName>
                                        </p:attrNameLst>
                                      </p:cBhvr>
                                      <p:to>
                                        <p:strVal val="visible"/>
                                      </p:to>
                                    </p:set>
                                    <p:animEffect transition="in" filter="wipe(down)">
                                      <p:cBhvr>
                                        <p:cTn id="10" dur="500"/>
                                        <p:tgtEl>
                                          <p:spTgt spid="32771">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2771">
                                            <p:txEl>
                                              <p:pRg st="4" end="4"/>
                                            </p:txEl>
                                          </p:spTgt>
                                        </p:tgtEl>
                                        <p:attrNameLst>
                                          <p:attrName>style.visibility</p:attrName>
                                        </p:attrNameLst>
                                      </p:cBhvr>
                                      <p:to>
                                        <p:strVal val="visible"/>
                                      </p:to>
                                    </p:set>
                                    <p:animEffect transition="in" filter="wipe(down)">
                                      <p:cBhvr>
                                        <p:cTn id="13" dur="500"/>
                                        <p:tgtEl>
                                          <p:spTgt spid="32771">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2771">
                                            <p:txEl>
                                              <p:pRg st="5" end="5"/>
                                            </p:txEl>
                                          </p:spTgt>
                                        </p:tgtEl>
                                        <p:attrNameLst>
                                          <p:attrName>style.visibility</p:attrName>
                                        </p:attrNameLst>
                                      </p:cBhvr>
                                      <p:to>
                                        <p:strVal val="visible"/>
                                      </p:to>
                                    </p:set>
                                    <p:animEffect transition="in" filter="wipe(down)">
                                      <p:cBhvr>
                                        <p:cTn id="16"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3795" name="内容占位符 2"/>
          <p:cNvSpPr>
            <a:spLocks noGrp="1"/>
          </p:cNvSpPr>
          <p:nvPr>
            <p:ph idx="1"/>
          </p:nvPr>
        </p:nvSpPr>
        <p:spPr>
          <a:xfrm>
            <a:off x="381000" y="1219200"/>
            <a:ext cx="8305800" cy="48006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r>
              <a:rPr lang="en-US" altLang="zh-CN" sz="2800" dirty="0">
                <a:ea typeface="宋体" panose="02010600030101010101" pitchFamily="2" charset="-122"/>
              </a:rPr>
              <a:t>ISMS</a:t>
            </a:r>
            <a:r>
              <a:rPr lang="zh-CN" altLang="zh-CN" sz="2800" dirty="0">
                <a:ea typeface="宋体" panose="02010600030101010101" pitchFamily="2" charset="-122"/>
              </a:rPr>
              <a:t>国际标准化组织</a:t>
            </a:r>
            <a:endParaRPr lang="en-US" altLang="zh-CN" sz="2800" dirty="0">
              <a:ea typeface="宋体" panose="02010600030101010101" pitchFamily="2" charset="-122"/>
            </a:endParaRPr>
          </a:p>
          <a:p>
            <a:pPr lvl="1" eaLnBrk="1" hangingPunct="1">
              <a:buSzPct val="80000"/>
            </a:pPr>
            <a:r>
              <a:rPr lang="en-US" altLang="zh-CN" sz="2400" dirty="0">
                <a:ea typeface="宋体" panose="02010600030101010101" pitchFamily="2" charset="-122"/>
              </a:rPr>
              <a:t>A</a:t>
            </a:r>
            <a:r>
              <a:rPr lang="zh-CN" altLang="zh-CN" sz="2400" dirty="0">
                <a:ea typeface="宋体" panose="02010600030101010101" pitchFamily="2" charset="-122"/>
              </a:rPr>
              <a:t>类－</a:t>
            </a:r>
            <a:r>
              <a:rPr lang="zh-CN" altLang="zh-CN" sz="2400" dirty="0">
                <a:solidFill>
                  <a:srgbClr val="FF0000"/>
                </a:solidFill>
                <a:ea typeface="宋体" panose="02010600030101010101" pitchFamily="2" charset="-122"/>
              </a:rPr>
              <a:t>词汇标准</a:t>
            </a:r>
            <a:r>
              <a:rPr lang="zh-CN" altLang="zh-CN" sz="2400" dirty="0">
                <a:ea typeface="宋体" panose="02010600030101010101" pitchFamily="2" charset="-122"/>
              </a:rPr>
              <a:t>：主要提供标准族中所有标准所涉及的基础信息，包括通用术语、基本原则等内容。</a:t>
            </a:r>
          </a:p>
          <a:p>
            <a:pPr lvl="1" eaLnBrk="1" hangingPunct="1"/>
            <a:r>
              <a:rPr lang="en-US" altLang="zh-CN" sz="2400" dirty="0">
                <a:ea typeface="宋体" panose="02010600030101010101" pitchFamily="2" charset="-122"/>
              </a:rPr>
              <a:t>B</a:t>
            </a:r>
            <a:r>
              <a:rPr lang="zh-CN" altLang="zh-CN" sz="2400" dirty="0">
                <a:ea typeface="宋体" panose="02010600030101010101" pitchFamily="2" charset="-122"/>
              </a:rPr>
              <a:t>类－</a:t>
            </a:r>
            <a:r>
              <a:rPr lang="zh-CN" altLang="zh-CN" sz="2400" dirty="0">
                <a:solidFill>
                  <a:srgbClr val="FF0000"/>
                </a:solidFill>
                <a:ea typeface="宋体" panose="02010600030101010101" pitchFamily="2" charset="-122"/>
              </a:rPr>
              <a:t>要求标准</a:t>
            </a:r>
            <a:r>
              <a:rPr lang="zh-CN" altLang="zh-CN" sz="2400" dirty="0">
                <a:ea typeface="宋体" panose="02010600030101010101" pitchFamily="2" charset="-122"/>
              </a:rPr>
              <a:t>：主要提供管理体系的相关规范，它能够使一个组织证明其满足内部和外部要求的能力。</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C</a:t>
            </a:r>
            <a:r>
              <a:rPr lang="zh-CN" altLang="zh-CN" sz="2400" dirty="0">
                <a:ea typeface="宋体" panose="02010600030101010101" pitchFamily="2" charset="-122"/>
              </a:rPr>
              <a:t>类－</a:t>
            </a:r>
            <a:r>
              <a:rPr lang="zh-CN" altLang="zh-CN" sz="2400" dirty="0">
                <a:solidFill>
                  <a:srgbClr val="FF0000"/>
                </a:solidFill>
                <a:ea typeface="宋体" panose="02010600030101010101" pitchFamily="2" charset="-122"/>
              </a:rPr>
              <a:t>指南标准</a:t>
            </a:r>
            <a:r>
              <a:rPr lang="zh-CN" altLang="zh-CN" sz="2400" dirty="0">
                <a:ea typeface="宋体" panose="02010600030101010101" pitchFamily="2" charset="-122"/>
              </a:rPr>
              <a:t>：此类标准目的是为一个组织实施要求标准提供相关的指南</a:t>
            </a:r>
            <a:r>
              <a:rPr lang="zh-CN" altLang="en-US" sz="2400" dirty="0">
                <a:ea typeface="宋体" panose="02010600030101010101" pitchFamily="2" charset="-122"/>
              </a:rPr>
              <a:t>。</a:t>
            </a:r>
            <a:endParaRPr lang="zh-CN" altLang="zh-CN" sz="2400" dirty="0">
              <a:ea typeface="宋体" panose="02010600030101010101" pitchFamily="2" charset="-122"/>
            </a:endParaRPr>
          </a:p>
          <a:p>
            <a:pPr lvl="1" eaLnBrk="1" hangingPunct="1"/>
            <a:r>
              <a:rPr lang="en-US" altLang="zh-CN" sz="2400" dirty="0">
                <a:ea typeface="宋体" panose="02010600030101010101" pitchFamily="2" charset="-122"/>
              </a:rPr>
              <a:t>D</a:t>
            </a:r>
            <a:r>
              <a:rPr lang="zh-CN" altLang="zh-CN" sz="2400" dirty="0">
                <a:ea typeface="宋体" panose="02010600030101010101" pitchFamily="2" charset="-122"/>
              </a:rPr>
              <a:t>类－</a:t>
            </a:r>
            <a:r>
              <a:rPr lang="zh-CN" altLang="zh-CN" sz="2400" dirty="0">
                <a:solidFill>
                  <a:srgbClr val="FF0000"/>
                </a:solidFill>
                <a:ea typeface="宋体" panose="02010600030101010101" pitchFamily="2" charset="-122"/>
              </a:rPr>
              <a:t>相关标准</a:t>
            </a:r>
            <a:r>
              <a:rPr lang="zh-CN" altLang="zh-CN" sz="2400" dirty="0">
                <a:ea typeface="宋体" panose="02010600030101010101" pitchFamily="2" charset="-122"/>
              </a:rPr>
              <a:t>：此类标准严格说不是管理体系标准族中的标准，他们主要提供关于特定方面或相关支持技术的进一步的指导，此类标准一般独立开发，与要求类标准和指南类标准无明显的关联。</a:t>
            </a:r>
            <a:endParaRPr lang="en-US" altLang="zh-CN" sz="2400" dirty="0">
              <a:ea typeface="宋体" panose="02010600030101010101" pitchFamily="2" charset="-122"/>
            </a:endParaRPr>
          </a:p>
          <a:p>
            <a:pPr lvl="1" eaLnBrk="1" hangingPunct="1"/>
            <a:endParaRPr lang="zh-CN" altLang="zh-CN" dirty="0">
              <a:ea typeface="宋体" panose="02010600030101010101" pitchFamily="2"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circle(in)">
                                      <p:cBhvr>
                                        <p:cTn id="7" dur="2000"/>
                                        <p:tgtEl>
                                          <p:spTgt spid="33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795">
                                            <p:txEl>
                                              <p:pRg st="2" end="2"/>
                                            </p:txEl>
                                          </p:spTgt>
                                        </p:tgtEl>
                                        <p:attrNameLst>
                                          <p:attrName>style.visibility</p:attrName>
                                        </p:attrNameLst>
                                      </p:cBhvr>
                                      <p:to>
                                        <p:strVal val="visible"/>
                                      </p:to>
                                    </p:set>
                                    <p:animEffect transition="in" filter="circle(in)">
                                      <p:cBhvr>
                                        <p:cTn id="12" dur="2000"/>
                                        <p:tgtEl>
                                          <p:spTgt spid="337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animEffect transition="in" filter="fade">
                                      <p:cBhvr>
                                        <p:cTn id="17" dur="1000"/>
                                        <p:tgtEl>
                                          <p:spTgt spid="33795">
                                            <p:txEl>
                                              <p:pRg st="3" end="3"/>
                                            </p:txEl>
                                          </p:spTgt>
                                        </p:tgtEl>
                                      </p:cBhvr>
                                    </p:animEffect>
                                    <p:anim calcmode="lin" valueType="num">
                                      <p:cBhvr>
                                        <p:cTn id="18" dur="10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37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3795">
                                            <p:txEl>
                                              <p:pRg st="4" end="4"/>
                                            </p:txEl>
                                          </p:spTgt>
                                        </p:tgtEl>
                                        <p:attrNameLst>
                                          <p:attrName>style.visibility</p:attrName>
                                        </p:attrNameLst>
                                      </p:cBhvr>
                                      <p:to>
                                        <p:strVal val="visible"/>
                                      </p:to>
                                    </p:set>
                                    <p:animEffect transition="in" filter="circle(in)">
                                      <p:cBhvr>
                                        <p:cTn id="24" dur="2000"/>
                                        <p:tgtEl>
                                          <p:spTgt spid="33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4819" name="内容占位符 2"/>
          <p:cNvSpPr>
            <a:spLocks noGrp="1" noChangeArrowheads="1"/>
          </p:cNvSpPr>
          <p:nvPr>
            <p:ph idx="1"/>
          </p:nvPr>
        </p:nvSpPr>
        <p:spPr>
          <a:xfrm>
            <a:off x="304800" y="1219200"/>
            <a:ext cx="8305800" cy="5105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认证</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认证的标准</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ISO/IEC27001</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目前是唯一的。</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不仅仅包括体系本身，而且还包括</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的认证。</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ISO/IEC 27001</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2005</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标准是设计用于认证目的。它可帮助组织建立和维护</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的认证在某种程度上来说是</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不可或缺的一部分，是</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ISMS</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应用活动的自然延伸和结果。</a:t>
            </a: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9">
                                            <p:txEl>
                                              <p:pRg st="2" end="2"/>
                                            </p:txEl>
                                          </p:spTgt>
                                        </p:tgtEl>
                                        <p:attrNameLst>
                                          <p:attrName>style.visibility</p:attrName>
                                        </p:attrNameLst>
                                      </p:cBhvr>
                                      <p:to>
                                        <p:strVal val="visible"/>
                                      </p:to>
                                    </p:set>
                                    <p:animEffect transition="in" filter="wipe(down)">
                                      <p:cBhvr>
                                        <p:cTn id="7" dur="500"/>
                                        <p:tgtEl>
                                          <p:spTgt spid="348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4819">
                                            <p:txEl>
                                              <p:pRg st="3" end="3"/>
                                            </p:txEl>
                                          </p:spTgt>
                                        </p:tgtEl>
                                        <p:attrNameLst>
                                          <p:attrName>style.visibility</p:attrName>
                                        </p:attrNameLst>
                                      </p:cBhvr>
                                      <p:to>
                                        <p:strVal val="visible"/>
                                      </p:to>
                                    </p:set>
                                    <p:animEffect transition="in" filter="circle(in)">
                                      <p:cBhvr>
                                        <p:cTn id="12" dur="2000"/>
                                        <p:tgtEl>
                                          <p:spTgt spid="34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190500" y="1243013"/>
            <a:ext cx="8305800" cy="5081588"/>
          </a:xfrm>
        </p:spPr>
        <p:txBody>
          <a:bodyPr vert="horz" wrap="square" lIns="91440" tIns="45720" rIns="91440" bIns="45720" numCol="1" anchor="t" anchorCtr="0" compatLnSpc="1"/>
          <a:lstStyle/>
          <a:p>
            <a:pPr marL="0" indent="0">
              <a:buNone/>
            </a:pPr>
            <a:r>
              <a:rPr lang="zh-CN" altLang="en-US" sz="2800" dirty="0">
                <a:ea typeface="宋体" panose="02010600030101010101" pitchFamily="2" charset="-122"/>
              </a:rPr>
              <a:t>我国的信息安全标准化技术委员会</a:t>
            </a:r>
            <a:endParaRPr lang="en-US" altLang="zh-CN" dirty="0">
              <a:ea typeface="宋体" panose="02010600030101010101" pitchFamily="2" charset="-122"/>
            </a:endParaRPr>
          </a:p>
          <a:p>
            <a:pPr lvl="1" algn="just" eaLnBrk="1" hangingPunct="1"/>
            <a:r>
              <a:rPr lang="zh-CN" altLang="zh-CN" sz="2400" dirty="0">
                <a:ea typeface="宋体" panose="02010600030101010101" pitchFamily="2" charset="-122"/>
              </a:rPr>
              <a:t>为了加强信息安全标准化工作的组织协调力度，国家标准化管理委员会批准成立全国信息安全标准化技术委员会（简称</a:t>
            </a:r>
            <a:r>
              <a:rPr lang="en-US" altLang="zh-CN" sz="2400" dirty="0">
                <a:ea typeface="宋体" panose="02010600030101010101" pitchFamily="2" charset="-122"/>
              </a:rPr>
              <a:t>“</a:t>
            </a:r>
            <a:r>
              <a:rPr lang="zh-CN" altLang="zh-CN" sz="2400" dirty="0">
                <a:ea typeface="宋体" panose="02010600030101010101" pitchFamily="2" charset="-122"/>
              </a:rPr>
              <a:t>信息安全标委会</a:t>
            </a:r>
            <a:r>
              <a:rPr lang="en-US" altLang="zh-CN" sz="2400" dirty="0">
                <a:ea typeface="宋体" panose="02010600030101010101" pitchFamily="2" charset="-122"/>
              </a:rPr>
              <a:t>”</a:t>
            </a:r>
            <a:r>
              <a:rPr lang="zh-CN" altLang="zh-CN" sz="2400" dirty="0">
                <a:ea typeface="宋体" panose="02010600030101010101" pitchFamily="2" charset="-122"/>
              </a:rPr>
              <a:t>，委员会编号为</a:t>
            </a:r>
            <a:r>
              <a:rPr lang="en-US" altLang="zh-CN" sz="2400" dirty="0">
                <a:ea typeface="宋体" panose="02010600030101010101" pitchFamily="2" charset="-122"/>
              </a:rPr>
              <a:t>TC260</a:t>
            </a:r>
            <a:r>
              <a:rPr lang="zh-CN" altLang="zh-CN" sz="2400" dirty="0">
                <a:ea typeface="宋体" panose="02010600030101010101" pitchFamily="2" charset="-122"/>
              </a:rPr>
              <a:t>，网址为：</a:t>
            </a:r>
            <a:r>
              <a:rPr lang="en-US" altLang="zh-CN" sz="2400" dirty="0">
                <a:ea typeface="宋体" panose="02010600030101010101" pitchFamily="2" charset="-122"/>
                <a:hlinkClick r:id="rId2"/>
              </a:rPr>
              <a:t>http://www.tc260.org.cn/</a:t>
            </a:r>
            <a:r>
              <a:rPr lang="zh-CN" altLang="zh-CN" sz="2400" dirty="0">
                <a:ea typeface="宋体" panose="02010600030101010101" pitchFamily="2" charset="-122"/>
              </a:rPr>
              <a:t>）</a:t>
            </a:r>
            <a:r>
              <a:rPr lang="zh-CN" altLang="en-US" sz="2400" dirty="0">
                <a:ea typeface="宋体" panose="02010600030101010101" pitchFamily="2" charset="-122"/>
              </a:rPr>
              <a:t>。</a:t>
            </a:r>
            <a:endParaRPr lang="en-US" altLang="zh-CN" sz="2400" dirty="0">
              <a:ea typeface="宋体" panose="02010600030101010101" pitchFamily="2" charset="-122"/>
            </a:endParaRPr>
          </a:p>
          <a:p>
            <a:pPr lvl="1" algn="just" eaLnBrk="1" hangingPunct="1"/>
            <a:endParaRPr lang="en-US" altLang="zh-CN" sz="2400" dirty="0">
              <a:ea typeface="宋体" panose="02010600030101010101" pitchFamily="2" charset="-122"/>
            </a:endParaRPr>
          </a:p>
          <a:p>
            <a:pPr lvl="1" algn="just" eaLnBrk="1" hangingPunct="1"/>
            <a:r>
              <a:rPr lang="zh-CN" altLang="en-US" sz="2400" dirty="0">
                <a:ea typeface="宋体" panose="02010600030101010101" pitchFamily="2" charset="-122"/>
              </a:rPr>
              <a:t>该技术委员会的成立标志着我国信息安全标准化工作，步入了“归口管理、协调发展”的新时期，是我国在信息安全的专业领域内，从事信息安全标准化工作的技术工作组织。</a:t>
            </a:r>
            <a:endParaRPr lang="zh-CN" altLang="zh-CN" sz="2400" dirty="0">
              <a:ea typeface="宋体" panose="02010600030101010101" pitchFamily="2" charset="-122"/>
            </a:endParaRPr>
          </a:p>
          <a:p>
            <a:pPr lvl="1" eaLnBrk="1" hangingPunct="1">
              <a:buNone/>
            </a:pPr>
            <a:endParaRPr lang="zh-CN" altLang="zh-CN" dirty="0">
              <a:ea typeface="宋体" panose="02010600030101010101" pitchFamily="2" charset="-122"/>
            </a:endParaRPr>
          </a:p>
          <a:p>
            <a:pPr lvl="1" eaLnBrk="1" hangingPunct="1">
              <a:buNone/>
            </a:pPr>
            <a:endParaRPr lang="en-US" altLang="zh-CN" dirty="0">
              <a:ea typeface="宋体" panose="02010600030101010101" pitchFamily="2" charset="-122"/>
            </a:endParaRPr>
          </a:p>
          <a:p>
            <a:pPr marL="0" indent="0"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animEffect transition="in" filter="wipe(down)">
                                      <p:cBhvr>
                                        <p:cTn id="7" dur="5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3.</a:t>
            </a:r>
            <a:r>
              <a:rPr lang="zh-CN" altLang="zh-CN" dirty="0">
                <a:ea typeface="宋体" panose="02010600030101010101" pitchFamily="2" charset="-122"/>
              </a:rPr>
              <a:t>信息安全管理体系</a:t>
            </a:r>
            <a:r>
              <a:rPr lang="en-US" altLang="zh-CN" dirty="0">
                <a:ea typeface="宋体" panose="02010600030101010101" pitchFamily="2" charset="-122"/>
              </a:rPr>
              <a:t>(ISMS)</a:t>
            </a:r>
            <a:r>
              <a:rPr lang="zh-CN" altLang="zh-CN" dirty="0">
                <a:ea typeface="宋体" panose="02010600030101010101" pitchFamily="2" charset="-122"/>
              </a:rPr>
              <a:t>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381000" y="1447800"/>
            <a:ext cx="8153400" cy="5181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美国的</a:t>
            </a: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ISMS</a:t>
            </a:r>
            <a:r>
              <a:rPr kumimoji="0" lang="zh-CN" altLang="en-US"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标准</a:t>
            </a:r>
            <a:endParaRPr kumimoji="0" lang="en-US" altLang="zh-CN" sz="32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美国国家标准（</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ANSI</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美国联邦信息处理安全标准（</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FIPS</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美国国防部的信息安全指令和标准（</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DODDI</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美国电气电工工程师协会（</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IEEE</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p>
          <a:p>
            <a:pPr marL="457200" marR="0" lvl="1" indent="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4.ISO/IEC27000</a:t>
            </a:r>
            <a:r>
              <a:rPr lang="zh-CN" altLang="zh-CN" dirty="0">
                <a:ea typeface="宋体" panose="02010600030101010101" pitchFamily="2" charset="-122"/>
              </a:rPr>
              <a:t>系列标准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1143000"/>
            <a:ext cx="8763000" cy="51054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ISO/IEC </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27000</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系列共包括</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10</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个标准</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，截至</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2008</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4</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月</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10</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日，</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 JTC1/SC27/WG1</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正在制定中的标准包括</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个，分别是</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ISO/IEC27000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信息安全管理体系基础和</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术语</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ISO/IEC27001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 要求</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ISO/IEC27002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信息安全管理实用规则</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ISO/IEC27003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信息安全管理体系实施指南</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ISO/IEC27004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信息安全管理测量</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ISO/IEC27005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信息安全风险管理</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ISO/IEC27006 </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信息安全体系认证机构的认可要求</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Effect transition="in" filter="circle(in)">
                                      <p:cBhvr>
                                        <p:cTn id="7" dur="2000"/>
                                        <p:tgtEl>
                                          <p:spTgt spid="33795">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3795">
                                            <p:txEl>
                                              <p:pRg st="2" end="2"/>
                                            </p:txEl>
                                          </p:spTgt>
                                        </p:tgtEl>
                                        <p:attrNameLst>
                                          <p:attrName>style.visibility</p:attrName>
                                        </p:attrNameLst>
                                      </p:cBhvr>
                                      <p:to>
                                        <p:strVal val="visible"/>
                                      </p:to>
                                    </p:set>
                                    <p:animEffect transition="in" filter="circle(in)">
                                      <p:cBhvr>
                                        <p:cTn id="10" dur="2000"/>
                                        <p:tgtEl>
                                          <p:spTgt spid="33795">
                                            <p:txEl>
                                              <p:pRg st="2" end="2"/>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animEffect transition="in" filter="circle(in)">
                                      <p:cBhvr>
                                        <p:cTn id="13" dur="2000"/>
                                        <p:tgtEl>
                                          <p:spTgt spid="33795">
                                            <p:txEl>
                                              <p:pRg st="3" end="3"/>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3795">
                                            <p:txEl>
                                              <p:pRg st="4" end="4"/>
                                            </p:txEl>
                                          </p:spTgt>
                                        </p:tgtEl>
                                        <p:attrNameLst>
                                          <p:attrName>style.visibility</p:attrName>
                                        </p:attrNameLst>
                                      </p:cBhvr>
                                      <p:to>
                                        <p:strVal val="visible"/>
                                      </p:to>
                                    </p:set>
                                    <p:animEffect transition="in" filter="circle(in)">
                                      <p:cBhvr>
                                        <p:cTn id="16" dur="2000"/>
                                        <p:tgtEl>
                                          <p:spTgt spid="33795">
                                            <p:txEl>
                                              <p:pRg st="4" end="4"/>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3795">
                                            <p:txEl>
                                              <p:pRg st="5" end="5"/>
                                            </p:txEl>
                                          </p:spTgt>
                                        </p:tgtEl>
                                        <p:attrNameLst>
                                          <p:attrName>style.visibility</p:attrName>
                                        </p:attrNameLst>
                                      </p:cBhvr>
                                      <p:to>
                                        <p:strVal val="visible"/>
                                      </p:to>
                                    </p:set>
                                    <p:animEffect transition="in" filter="circle(in)">
                                      <p:cBhvr>
                                        <p:cTn id="19" dur="2000"/>
                                        <p:tgtEl>
                                          <p:spTgt spid="33795">
                                            <p:txEl>
                                              <p:pRg st="5" end="5"/>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3795">
                                            <p:txEl>
                                              <p:pRg st="6" end="6"/>
                                            </p:txEl>
                                          </p:spTgt>
                                        </p:tgtEl>
                                        <p:attrNameLst>
                                          <p:attrName>style.visibility</p:attrName>
                                        </p:attrNameLst>
                                      </p:cBhvr>
                                      <p:to>
                                        <p:strVal val="visible"/>
                                      </p:to>
                                    </p:set>
                                    <p:animEffect transition="in" filter="circle(in)">
                                      <p:cBhvr>
                                        <p:cTn id="22" dur="2000"/>
                                        <p:tgtEl>
                                          <p:spTgt spid="33795">
                                            <p:txEl>
                                              <p:pRg st="6" end="6"/>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3795">
                                            <p:txEl>
                                              <p:pRg st="7" end="7"/>
                                            </p:txEl>
                                          </p:spTgt>
                                        </p:tgtEl>
                                        <p:attrNameLst>
                                          <p:attrName>style.visibility</p:attrName>
                                        </p:attrNameLst>
                                      </p:cBhvr>
                                      <p:to>
                                        <p:strVal val="visible"/>
                                      </p:to>
                                    </p:set>
                                    <p:animEffect transition="in" filter="circle(in)">
                                      <p:cBhvr>
                                        <p:cTn id="25" dur="2000"/>
                                        <p:tgtEl>
                                          <p:spTgt spid="337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4.ISO/IEC27000</a:t>
            </a:r>
            <a:r>
              <a:rPr lang="zh-CN" altLang="zh-CN" dirty="0">
                <a:ea typeface="宋体" panose="02010600030101010101" pitchFamily="2" charset="-122"/>
              </a:rPr>
              <a:t>系列标准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1143000"/>
            <a:ext cx="8305800" cy="51054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ISO/IEC27000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信息安全管理体系基础和</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术语</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标准族中的每个标准都有</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术语和定义</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部分，但不同标准的术语间往往缺乏协调性，而</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ISO/IEC27000</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则主要用于实现这种</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协调</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提供了</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标准族中所涉及的通用术语及基本原则，是</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标准族中最基础的标准</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之一</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主要以</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 13335-</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１：</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2004</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《信息和通信技术安全管理 第１部分：信息和通信技术安全管理的概念和模型》为基础进行研究</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animEffect transition="in" filter="circle(in)">
                                      <p:cBhvr>
                                        <p:cTn id="7" dur="2000"/>
                                        <p:tgtEl>
                                          <p:spTgt spid="3379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795">
                                            <p:txEl>
                                              <p:pRg st="5" end="5"/>
                                            </p:txEl>
                                          </p:spTgt>
                                        </p:tgtEl>
                                        <p:attrNameLst>
                                          <p:attrName>style.visibility</p:attrName>
                                        </p:attrNameLst>
                                      </p:cBhvr>
                                      <p:to>
                                        <p:strVal val="visible"/>
                                      </p:to>
                                    </p:set>
                                    <p:animEffect transition="in" filter="circle(in)">
                                      <p:cBhvr>
                                        <p:cTn id="12" dur="20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4.ISO/IEC27000</a:t>
            </a:r>
            <a:r>
              <a:rPr lang="zh-CN" altLang="zh-CN" dirty="0">
                <a:ea typeface="宋体" panose="02010600030101010101" pitchFamily="2" charset="-122"/>
              </a:rPr>
              <a:t>系列标准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1295400"/>
            <a:ext cx="8153400" cy="46482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ISO/IEC27001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 要求</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适用于所有</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类型</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组织</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（如企事业单位、政府机关等</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它从组织的整体业务风险的角度，为建立、实施、运行、监视、评审、保持和改进文件化的</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规定了</a:t>
            </a:r>
            <a:r>
              <a:rPr kumimoji="0" lang="zh-CN"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要求</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，并提供了</a:t>
            </a:r>
            <a:r>
              <a:rPr kumimoji="0" lang="zh-CN"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方法</a:t>
            </a:r>
            <a:endParaRPr kumimoji="0" lang="en-US" altLang="zh-CN"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是组织建立和实施</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的依据，也是</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认证机构实施审核的</a:t>
            </a:r>
            <a:r>
              <a:rPr kumimoji="0" lang="zh-CN"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依据</a:t>
            </a:r>
            <a:endParaRPr kumimoji="0"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3795">
                                            <p:txEl>
                                              <p:pRg st="3" end="3"/>
                                            </p:txEl>
                                          </p:spTgt>
                                        </p:tgtEl>
                                        <p:attrNameLst>
                                          <p:attrName>style.visibility</p:attrName>
                                        </p:attrNameLst>
                                      </p:cBhvr>
                                      <p:to>
                                        <p:strVal val="visible"/>
                                      </p:to>
                                    </p:set>
                                    <p:animEffect transition="in" filter="wheel(1)">
                                      <p:cBhvr>
                                        <p:cTn id="7" dur="2000"/>
                                        <p:tgtEl>
                                          <p:spTgt spid="3379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795">
                                            <p:txEl>
                                              <p:pRg st="5" end="5"/>
                                            </p:txEl>
                                          </p:spTgt>
                                        </p:tgtEl>
                                        <p:attrNameLst>
                                          <p:attrName>style.visibility</p:attrName>
                                        </p:attrNameLst>
                                      </p:cBhvr>
                                      <p:to>
                                        <p:strVal val="visible"/>
                                      </p:to>
                                    </p:set>
                                    <p:animEffect transition="in" filter="wipe(down)">
                                      <p:cBhvr>
                                        <p:cTn id="12" dur="500"/>
                                        <p:tgtEl>
                                          <p:spTgt spid="33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4.ISO/IEC27000</a:t>
            </a:r>
            <a:r>
              <a:rPr lang="zh-CN" altLang="zh-CN" dirty="0">
                <a:ea typeface="宋体" panose="02010600030101010101" pitchFamily="2" charset="-122"/>
              </a:rPr>
              <a:t>系列标准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1143000"/>
            <a:ext cx="8534400" cy="5105400"/>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ISO/IEC27002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信息安全管理实用规则</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BS7799-1</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版本</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即</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ISO17799</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2005</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的更新版本</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从</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11</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个方面，提出了</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39</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个控制目标和</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133</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个控制措施，这些控制目标和控制措施是信息安全管理的最佳实践。</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从</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ISO27002</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的</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应用上看，它既专用，又通用</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。说</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它</a:t>
            </a:r>
            <a:r>
              <a:rPr kumimoji="0" lang="zh-CN"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专用</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，是因为它做为</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标准族的一个成员，是配合</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ISO27001</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使用的</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说</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它</a:t>
            </a:r>
            <a:r>
              <a:rPr kumimoji="0" lang="zh-CN"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通用</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，是因为</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ISO/IEC17799</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中提出的信息安全控制目标和控制措施是从信息安全工作实践中总结出来的，不管组织是否建立和实施</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，均可从中选择适合自己使用的控制措施来实现组织的信息安全目标</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circle(in)">
                                      <p:cBhvr>
                                        <p:cTn id="7" dur="2000"/>
                                        <p:tgtEl>
                                          <p:spTgt spid="337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3795">
                                            <p:txEl>
                                              <p:pRg st="3" end="3"/>
                                            </p:txEl>
                                          </p:spTgt>
                                        </p:tgtEl>
                                        <p:attrNameLst>
                                          <p:attrName>style.visibility</p:attrName>
                                        </p:attrNameLst>
                                      </p:cBhvr>
                                      <p:to>
                                        <p:strVal val="visible"/>
                                      </p:to>
                                    </p:set>
                                    <p:animEffect transition="in" filter="circle(in)">
                                      <p:cBhvr>
                                        <p:cTn id="12" dur="2000"/>
                                        <p:tgtEl>
                                          <p:spTgt spid="337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795">
                                            <p:txEl>
                                              <p:pRg st="4" end="4"/>
                                            </p:txEl>
                                          </p:spTgt>
                                        </p:tgtEl>
                                        <p:attrNameLst>
                                          <p:attrName>style.visibility</p:attrName>
                                        </p:attrNameLst>
                                      </p:cBhvr>
                                      <p:to>
                                        <p:strVal val="visible"/>
                                      </p:to>
                                    </p:set>
                                    <p:animEffect transition="in" filter="wipe(down)">
                                      <p:cBhvr>
                                        <p:cTn id="17" dur="500"/>
                                        <p:tgtEl>
                                          <p:spTgt spid="33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4.ISO/IEC27000</a:t>
            </a:r>
            <a:r>
              <a:rPr lang="zh-CN" altLang="zh-CN" dirty="0">
                <a:ea typeface="宋体" panose="02010600030101010101" pitchFamily="2" charset="-122"/>
              </a:rPr>
              <a:t>系列标准</a:t>
            </a:r>
            <a:endParaRPr lang="zh-CN" altLang="en-US" b="1" dirty="0">
              <a:ea typeface="宋体" panose="02010600030101010101" pitchFamily="2" charset="-122"/>
            </a:endParaRPr>
          </a:p>
        </p:txBody>
      </p:sp>
      <p:sp>
        <p:nvSpPr>
          <p:cNvPr id="33795" name="内容占位符 2"/>
          <p:cNvSpPr>
            <a:spLocks noGrp="1" noChangeArrowheads="1"/>
          </p:cNvSpPr>
          <p:nvPr>
            <p:ph idx="1"/>
          </p:nvPr>
        </p:nvSpPr>
        <p:spPr>
          <a:xfrm>
            <a:off x="228600" y="1143000"/>
            <a:ext cx="8839200" cy="51054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ISO/IEC27003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信息安全管理体系实施指南</a:t>
            </a: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为建立、实施、监视、评审、保持和改进符合</a:t>
            </a: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ISO27001</a:t>
            </a: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提供了实施指南和进一步的信息，使用者主要为组织内负责实施</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的人员</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ISO/IEC27004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信息安全管理测量</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主要是测量组织信息安全管理体系实施的有效性、过程的有效性和控制措施的有效性</a:t>
            </a:r>
          </a:p>
          <a:p>
            <a:pPr marL="342900" marR="0" lvl="0" indent="-34290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ISO/IEC27005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信息安全风险管理</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给出了信息安全风险管理的指南，包括风险管理的原则，风险评估方法，风险处理和风险接受，风险的监视和评审等</a:t>
            </a:r>
          </a:p>
          <a:p>
            <a:pPr marL="342900" marR="0" lvl="0" indent="-342900" algn="just"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Char char="Ø"/>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ISO/IEC27006 </a:t>
            </a:r>
            <a:r>
              <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信息安全体系认证机构的认可要求</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对从事</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认证的机构提出要求和规范，或者说具备怎样的条件就可以从事</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ISMS</a:t>
            </a:r>
            <a:r>
              <a:rPr kumimoji="0" lang="zh-CN"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认证</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业务</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wipe(down)">
                                      <p:cBhvr>
                                        <p:cTn id="7" dur="500"/>
                                        <p:tgtEl>
                                          <p:spTgt spid="33795">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3795">
                                            <p:txEl>
                                              <p:pRg st="3" end="3"/>
                                            </p:txEl>
                                          </p:spTgt>
                                        </p:tgtEl>
                                        <p:attrNameLst>
                                          <p:attrName>style.visibility</p:attrName>
                                        </p:attrNameLst>
                                      </p:cBhvr>
                                      <p:to>
                                        <p:strVal val="visible"/>
                                      </p:to>
                                    </p:set>
                                    <p:animEffect transition="in" filter="wipe(down)">
                                      <p:cBhvr>
                                        <p:cTn id="10" dur="500"/>
                                        <p:tgtEl>
                                          <p:spTgt spid="3379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animEffect transition="in" filter="circle(in)">
                                      <p:cBhvr>
                                        <p:cTn id="15" dur="2000"/>
                                        <p:tgtEl>
                                          <p:spTgt spid="33795">
                                            <p:txEl>
                                              <p:pRg st="4" end="4"/>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3795">
                                            <p:txEl>
                                              <p:pRg st="5" end="5"/>
                                            </p:txEl>
                                          </p:spTgt>
                                        </p:tgtEl>
                                        <p:attrNameLst>
                                          <p:attrName>style.visibility</p:attrName>
                                        </p:attrNameLst>
                                      </p:cBhvr>
                                      <p:to>
                                        <p:strVal val="visible"/>
                                      </p:to>
                                    </p:set>
                                    <p:animEffect transition="in" filter="circle(in)">
                                      <p:cBhvr>
                                        <p:cTn id="18" dur="2000"/>
                                        <p:tgtEl>
                                          <p:spTgt spid="3379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3795">
                                            <p:txEl>
                                              <p:pRg st="6" end="6"/>
                                            </p:txEl>
                                          </p:spTgt>
                                        </p:tgtEl>
                                        <p:attrNameLst>
                                          <p:attrName>style.visibility</p:attrName>
                                        </p:attrNameLst>
                                      </p:cBhvr>
                                      <p:to>
                                        <p:strVal val="visible"/>
                                      </p:to>
                                    </p:set>
                                    <p:animEffect transition="in" filter="fade">
                                      <p:cBhvr>
                                        <p:cTn id="23" dur="1000"/>
                                        <p:tgtEl>
                                          <p:spTgt spid="33795">
                                            <p:txEl>
                                              <p:pRg st="6" end="6"/>
                                            </p:txEl>
                                          </p:spTgt>
                                        </p:tgtEl>
                                      </p:cBhvr>
                                    </p:animEffect>
                                    <p:anim calcmode="lin" valueType="num">
                                      <p:cBhvr>
                                        <p:cTn id="24" dur="10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p:cTn id="25" dur="1000" fill="hold"/>
                                        <p:tgtEl>
                                          <p:spTgt spid="33795">
                                            <p:txEl>
                                              <p:pRg st="6" end="6"/>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3795">
                                            <p:txEl>
                                              <p:pRg st="7" end="7"/>
                                            </p:txEl>
                                          </p:spTgt>
                                        </p:tgtEl>
                                        <p:attrNameLst>
                                          <p:attrName>style.visibility</p:attrName>
                                        </p:attrNameLst>
                                      </p:cBhvr>
                                      <p:to>
                                        <p:strVal val="visible"/>
                                      </p:to>
                                    </p:set>
                                    <p:animEffect transition="in" filter="fade">
                                      <p:cBhvr>
                                        <p:cTn id="28" dur="1000"/>
                                        <p:tgtEl>
                                          <p:spTgt spid="33795">
                                            <p:txEl>
                                              <p:pRg st="7" end="7"/>
                                            </p:txEl>
                                          </p:spTgt>
                                        </p:tgtEl>
                                      </p:cBhvr>
                                    </p:animEffect>
                                    <p:anim calcmode="lin" valueType="num">
                                      <p:cBhvr>
                                        <p:cTn id="29" dur="10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379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思政点</a:t>
            </a:r>
          </a:p>
        </p:txBody>
      </p:sp>
      <p:pic>
        <p:nvPicPr>
          <p:cNvPr id="48131" name="图片 1"/>
          <p:cNvPicPr>
            <a:picLocks noChangeAspect="1"/>
          </p:cNvPicPr>
          <p:nvPr/>
        </p:nvPicPr>
        <p:blipFill>
          <a:blip r:embed="rId2"/>
          <a:stretch>
            <a:fillRect/>
          </a:stretch>
        </p:blipFill>
        <p:spPr>
          <a:xfrm>
            <a:off x="152400" y="4572000"/>
            <a:ext cx="2979738" cy="2063750"/>
          </a:xfrm>
          <a:prstGeom prst="rect">
            <a:avLst/>
          </a:prstGeom>
          <a:noFill/>
          <a:ln w="9525">
            <a:noFill/>
          </a:ln>
        </p:spPr>
      </p:pic>
      <p:sp>
        <p:nvSpPr>
          <p:cNvPr id="48132" name="矩形 2"/>
          <p:cNvSpPr/>
          <p:nvPr/>
        </p:nvSpPr>
        <p:spPr>
          <a:xfrm>
            <a:off x="457200" y="1698625"/>
            <a:ext cx="8458200" cy="1235075"/>
          </a:xfrm>
          <a:prstGeom prst="rect">
            <a:avLst/>
          </a:prstGeom>
          <a:noFill/>
          <a:ln w="9525">
            <a:noFill/>
          </a:ln>
        </p:spPr>
        <p:txBody>
          <a:bodyPr>
            <a:spAutoFit/>
          </a:bodyPr>
          <a:lstStyle/>
          <a:p>
            <a:pPr>
              <a:lnSpc>
                <a:spcPct val="150000"/>
              </a:lnSpc>
            </a:pPr>
            <a:r>
              <a:rPr lang="zh-CN" altLang="en-US" b="1" dirty="0">
                <a:solidFill>
                  <a:schemeClr val="tx1"/>
                </a:solidFill>
                <a:latin typeface="华文楷体" panose="02010600040101010101" pitchFamily="2" charset="-122"/>
                <a:ea typeface="华文楷体" panose="02010600040101010101" pitchFamily="2" charset="-122"/>
              </a:rPr>
              <a:t>核心技术是国之重器。掌握信息安全管理标准及先进科学技术，树立正确的国家安全观，才能护国之安全。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circle(in)">
                                      <p:cBhvr>
                                        <p:cTn id="7" dur="2000"/>
                                        <p:tgtEl>
                                          <p:spTgt spid="48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838200" y="892175"/>
            <a:ext cx="7010400" cy="46038"/>
          </a:xfrm>
        </p:spPr>
        <p:txBody>
          <a:bodyPr vert="horz" wrap="square" lIns="91440" tIns="45720" rIns="91440" bIns="45720" anchor="ctr" anchorCtr="0"/>
          <a:lstStyle/>
          <a:p>
            <a:pPr eaLnBrk="1" hangingPunct="1"/>
            <a:r>
              <a:rPr lang="zh-CN" altLang="zh-CN" b="1" dirty="0">
                <a:ea typeface="宋体" panose="02010600030101010101" pitchFamily="2" charset="-122"/>
              </a:rPr>
              <a:t>本章小结</a:t>
            </a:r>
            <a:br>
              <a:rPr lang="zh-CN" altLang="zh-CN" b="1" dirty="0">
                <a:ea typeface="宋体" panose="02010600030101010101" pitchFamily="2" charset="-122"/>
              </a:rPr>
            </a:br>
            <a:endParaRPr lang="zh-CN" altLang="en-US" b="1" dirty="0">
              <a:ea typeface="宋体" panose="02010600030101010101" pitchFamily="2" charset="-122"/>
            </a:endParaRPr>
          </a:p>
        </p:txBody>
      </p:sp>
      <p:sp>
        <p:nvSpPr>
          <p:cNvPr id="51203" name="内容占位符 2"/>
          <p:cNvSpPr>
            <a:spLocks noGrp="1" noChangeArrowheads="1"/>
          </p:cNvSpPr>
          <p:nvPr>
            <p:ph idx="1"/>
          </p:nvPr>
        </p:nvSpPr>
        <p:spPr>
          <a:xfrm>
            <a:off x="381000" y="1828800"/>
            <a:ext cx="8305800" cy="3505200"/>
          </a:xfrm>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a:t>
            </a:r>
            <a:r>
              <a:rPr kumimoji="0" lang="zh-CN"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本章主要对信息安全相关的标准以及信息安全法律法规进行研究，其内容包括</a:t>
            </a:r>
            <a:r>
              <a:rPr kumimoji="0" lang="zh-CN" altLang="en-US"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en-US" altLang="zh-CN" sz="28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国内外的信息安全风险评估标准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我国的信息系统等级保护相关标准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信息安全管理体系（</a:t>
            </a: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ISMS</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ISO/IEC27000</a:t>
            </a: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系列标准</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742950" marR="0" lvl="1" indent="-285750" algn="just"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rPr>
              <a:t>通过分析这些标准的特点、相互间关系，强化风险评估的实施效果，推动我国信息系统等级保护的推广应用。</a:t>
            </a:r>
            <a:endParaRPr kumimoji="0" lang="en-US" altLang="zh-CN" sz="2400" b="0" i="0" u="none" strike="noStrike" kern="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华文楷体" panose="02010600040101010101" pitchFamily="2" charset="-122"/>
              <a:ea typeface="华文楷体" panose="0201060004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2"/>
          <p:cNvSpPr txBox="1"/>
          <p:nvPr>
            <p:custDataLst>
              <p:tags r:id="rId2"/>
            </p:custDataLst>
          </p:nvPr>
        </p:nvSpPr>
        <p:spPr>
          <a:xfrm>
            <a:off x="914400" y="635000"/>
            <a:ext cx="7315200" cy="2143125"/>
          </a:xfrm>
          <a:prstGeom prst="rect">
            <a:avLst/>
          </a:prstGeom>
          <a:noFill/>
          <a:ln w="9525">
            <a:noFill/>
          </a:ln>
        </p:spPr>
        <p:txBody>
          <a:bodyPr anchor="ctr" anchorCtr="0"/>
          <a:lstStyle/>
          <a:p>
            <a:r>
              <a:rPr lang="zh-CN" altLang="en-US" dirty="0">
                <a:latin typeface="微软雅黑" panose="020B0503020204020204" charset="-122"/>
                <a:ea typeface="微软雅黑" panose="020B0503020204020204" charset="-122"/>
                <a:sym typeface="微软雅黑" panose="020B0503020204020204" charset="-122"/>
              </a:rPr>
              <a:t>美国的</a:t>
            </a:r>
            <a:r>
              <a:rPr lang="en-US" altLang="zh-CN" dirty="0">
                <a:latin typeface="微软雅黑" panose="020B0503020204020204" charset="-122"/>
                <a:ea typeface="微软雅黑" panose="020B0503020204020204" charset="-122"/>
                <a:sym typeface="微软雅黑" panose="020B0503020204020204" charset="-122"/>
              </a:rPr>
              <a:t>ISMS</a:t>
            </a:r>
            <a:r>
              <a:rPr lang="zh-CN" altLang="en-US" dirty="0">
                <a:latin typeface="微软雅黑" panose="020B0503020204020204" charset="-122"/>
                <a:ea typeface="微软雅黑" panose="020B0503020204020204" charset="-122"/>
                <a:sym typeface="微软雅黑" panose="020B0503020204020204" charset="-122"/>
              </a:rPr>
              <a:t>标准有（）</a:t>
            </a:r>
          </a:p>
        </p:txBody>
      </p:sp>
      <p:sp>
        <p:nvSpPr>
          <p:cNvPr id="50179" name="TextBox 3"/>
          <p:cNvSpPr txBox="1"/>
          <p:nvPr>
            <p:custDataLst>
              <p:tags r:id="rId3"/>
            </p:custDataLst>
          </p:nvPr>
        </p:nvSpPr>
        <p:spPr>
          <a:xfrm>
            <a:off x="1828800" y="2786063"/>
            <a:ext cx="6400800" cy="642937"/>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ANSI</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50180" name="TextBox 4"/>
          <p:cNvSpPr txBox="1"/>
          <p:nvPr>
            <p:custDataLst>
              <p:tags r:id="rId4"/>
            </p:custDataLst>
          </p:nvPr>
        </p:nvSpPr>
        <p:spPr>
          <a:xfrm>
            <a:off x="1828800" y="3471863"/>
            <a:ext cx="6400800" cy="642937"/>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FIPS</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50181" name="TextBox 5"/>
          <p:cNvSpPr txBox="1"/>
          <p:nvPr>
            <p:custDataLst>
              <p:tags r:id="rId5"/>
            </p:custDataLst>
          </p:nvPr>
        </p:nvSpPr>
        <p:spPr>
          <a:xfrm>
            <a:off x="1828800" y="4157663"/>
            <a:ext cx="6400800" cy="642937"/>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DoDDI</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50182" name="TextBox 6"/>
          <p:cNvSpPr txBox="1"/>
          <p:nvPr>
            <p:custDataLst>
              <p:tags r:id="rId6"/>
            </p:custDataLst>
          </p:nvPr>
        </p:nvSpPr>
        <p:spPr>
          <a:xfrm>
            <a:off x="1828800" y="4843463"/>
            <a:ext cx="6400800" cy="642937"/>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IEEE</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50183" name="矩形 7"/>
          <p:cNvSpPr>
            <a:spLocks noChangeAspect="1"/>
          </p:cNvSpPr>
          <p:nvPr>
            <p:custDataLst>
              <p:tags r:id="rId7"/>
            </p:custDataLst>
          </p:nvPr>
        </p:nvSpPr>
        <p:spPr>
          <a:xfrm>
            <a:off x="1114425" y="28495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50184" name="矩形 8"/>
          <p:cNvSpPr>
            <a:spLocks noChangeAspect="1"/>
          </p:cNvSpPr>
          <p:nvPr>
            <p:custDataLst>
              <p:tags r:id="rId8"/>
            </p:custDataLst>
          </p:nvPr>
        </p:nvSpPr>
        <p:spPr>
          <a:xfrm>
            <a:off x="1114425" y="35353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50185" name="矩形 9"/>
          <p:cNvSpPr>
            <a:spLocks noChangeAspect="1"/>
          </p:cNvSpPr>
          <p:nvPr>
            <p:custDataLst>
              <p:tags r:id="rId9"/>
            </p:custDataLst>
          </p:nvPr>
        </p:nvSpPr>
        <p:spPr>
          <a:xfrm>
            <a:off x="1114425" y="42211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50186" name="矩形 10"/>
          <p:cNvSpPr>
            <a:spLocks noChangeAspect="1"/>
          </p:cNvSpPr>
          <p:nvPr>
            <p:custDataLst>
              <p:tags r:id="rId10"/>
            </p:custDataLst>
          </p:nvPr>
        </p:nvSpPr>
        <p:spPr>
          <a:xfrm>
            <a:off x="1114425" y="49069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50187" name="圆角矩形 11"/>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p>
        </p:txBody>
      </p:sp>
      <p:sp>
        <p:nvSpPr>
          <p:cNvPr id="50188" name="TextBox 18"/>
          <p:cNvSpPr txBox="1"/>
          <p:nvPr>
            <p:custDataLst>
              <p:tags r:id="rId12"/>
            </p:custDataLst>
          </p:nvPr>
        </p:nvSpPr>
        <p:spPr>
          <a:xfrm>
            <a:off x="1828800" y="5529263"/>
            <a:ext cx="6400800" cy="642937"/>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ETSI</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50189" name="矩形 19"/>
          <p:cNvSpPr>
            <a:spLocks noChangeAspect="1"/>
          </p:cNvSpPr>
          <p:nvPr>
            <p:custDataLst>
              <p:tags r:id="rId13"/>
            </p:custDataLst>
          </p:nvPr>
        </p:nvSpPr>
        <p:spPr>
          <a:xfrm>
            <a:off x="1114425" y="5592763"/>
            <a:ext cx="514350" cy="514350"/>
          </a:xfrm>
          <a:prstGeom prst="rect">
            <a:avLst/>
          </a:prstGeom>
          <a:solidFill>
            <a:srgbClr val="808080"/>
          </a:solidFill>
          <a:ln w="12700" cap="flat" cmpd="sng">
            <a:solidFill>
              <a:srgbClr val="000000"/>
            </a:solidFill>
            <a:prstDash val="solid"/>
            <a:round/>
            <a:headEnd type="none" w="med" len="med"/>
            <a:tailEnd type="none" w="med" len="med"/>
          </a:ln>
        </p:spPr>
        <p:txBody>
          <a:bodyPr anchor="ctr" anchorCtr="1"/>
          <a:lstStyle/>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E</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50190" name="矩形 20"/>
          <p:cNvSpPr/>
          <p:nvPr>
            <p:custDataLst>
              <p:tags r:id="rId14"/>
            </p:custDataLst>
          </p:nvPr>
        </p:nvSpPr>
        <p:spPr>
          <a:xfrm>
            <a:off x="9525000" y="0"/>
            <a:ext cx="3840480" cy="6858000"/>
          </a:xfrm>
          <a:prstGeom prst="rect">
            <a:avLst/>
          </a:prstGeom>
          <a:solidFill>
            <a:srgbClr val="FFFFFF"/>
          </a:solidFill>
          <a:ln w="12700" cap="flat" cmpd="sng">
            <a:solidFill>
              <a:srgbClr val="9B9B9B"/>
            </a:solidFill>
            <a:prstDash val="solid"/>
            <a:round/>
            <a:headEnd type="none" w="med" len="med"/>
            <a:tailEnd type="none" w="med" len="med"/>
          </a:ln>
        </p:spPr>
        <p:txBody>
          <a:bodyPr/>
          <a:lstStyle/>
          <a:p>
            <a:pPr algn="ctr">
              <a:spcBef>
                <a:spcPct val="50000"/>
              </a:spcBef>
            </a:pPr>
            <a:endParaRPr lang="zh-CN" altLang="en-US" dirty="0">
              <a:solidFill>
                <a:srgbClr val="FFFFFF"/>
              </a:solidFill>
              <a:latin typeface="Times New Roman" panose="02020603050405020304" pitchFamily="18" charset="0"/>
            </a:endParaRPr>
          </a:p>
        </p:txBody>
      </p:sp>
      <p:sp>
        <p:nvSpPr>
          <p:cNvPr id="50191" name="TextBox 25"/>
          <p:cNvSpPr txBox="1"/>
          <p:nvPr>
            <p:custDataLst>
              <p:tags r:id="rId15"/>
            </p:custDataLst>
          </p:nvPr>
        </p:nvSpPr>
        <p:spPr>
          <a:xfrm>
            <a:off x="9613900" y="6911975"/>
            <a:ext cx="3662363" cy="461963"/>
          </a:xfrm>
          <a:prstGeom prst="rect">
            <a:avLst/>
          </a:prstGeom>
          <a:solidFill>
            <a:srgbClr val="FBFAEF"/>
          </a:solidFill>
          <a:ln w="12700">
            <a:noFill/>
          </a:ln>
        </p:spPr>
        <p:txBody>
          <a:bodyPr anchor="ctr" anchorCtr="0">
            <a:spAutoFit/>
          </a:bodyPr>
          <a:lstStyle/>
          <a:p>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可为此题添加文本、图片、公式等解析，且需将内容全部放在本区域内。正常使用需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a:t>
            </a:r>
          </a:p>
        </p:txBody>
      </p:sp>
      <p:sp>
        <p:nvSpPr>
          <p:cNvPr id="50192" name="TextBox 26"/>
          <p:cNvSpPr txBox="1"/>
          <p:nvPr>
            <p:custDataLst>
              <p:tags r:id="rId16"/>
            </p:custDataLst>
          </p:nvPr>
        </p:nvSpPr>
        <p:spPr>
          <a:xfrm>
            <a:off x="9779000" y="1270000"/>
            <a:ext cx="3332163" cy="708025"/>
          </a:xfrm>
          <a:prstGeom prst="rect">
            <a:avLst/>
          </a:prstGeom>
          <a:noFill/>
          <a:ln w="9525">
            <a:noFill/>
          </a:ln>
        </p:spPr>
        <p:txBody>
          <a:bodyPr>
            <a:spAutoFit/>
          </a:bodyPr>
          <a:lstStyle/>
          <a:p>
            <a:r>
              <a:rPr lang="en-US" altLang="zh-CN" sz="2000" dirty="0">
                <a:latin typeface="微软雅黑" panose="020B0503020204020204" charset="-122"/>
                <a:ea typeface="微软雅黑" panose="020B0503020204020204" charset="-122"/>
                <a:sym typeface="微软雅黑" panose="020B0503020204020204" charset="-122"/>
              </a:rPr>
              <a:t>E </a:t>
            </a:r>
            <a:r>
              <a:rPr lang="zh-CN" altLang="en-US" sz="2000" dirty="0">
                <a:latin typeface="微软雅黑" panose="020B0503020204020204" charset="-122"/>
                <a:ea typeface="微软雅黑" panose="020B0503020204020204" charset="-122"/>
                <a:sym typeface="微软雅黑" panose="020B0503020204020204" charset="-122"/>
              </a:rPr>
              <a:t>是区域性标准组织，不是国际通用标准</a:t>
            </a:r>
          </a:p>
        </p:txBody>
      </p:sp>
      <p:grpSp>
        <p:nvGrpSpPr>
          <p:cNvPr id="50194" name="组合 24"/>
          <p:cNvGrpSpPr/>
          <p:nvPr/>
        </p:nvGrpSpPr>
        <p:grpSpPr>
          <a:xfrm>
            <a:off x="9537700" y="0"/>
            <a:ext cx="3814763" cy="647700"/>
            <a:chOff x="9537700" y="0"/>
            <a:chExt cx="3815080" cy="647700"/>
          </a:xfrm>
        </p:grpSpPr>
        <p:sp>
          <p:nvSpPr>
            <p:cNvPr id="50196" name="RemarkBack"/>
            <p:cNvSpPr/>
            <p:nvPr>
              <p:custDataLst>
                <p:tags r:id="rId27"/>
              </p:custDataLst>
            </p:nvPr>
          </p:nvSpPr>
          <p:spPr>
            <a:xfrm>
              <a:off x="9537700" y="12700"/>
              <a:ext cx="381508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0197" name="RemarkBlock"/>
            <p:cNvSpPr/>
            <p:nvPr>
              <p:custDataLst>
                <p:tags r:id="rId28"/>
              </p:custDataLst>
            </p:nvPr>
          </p:nvSpPr>
          <p:spPr>
            <a:xfrm>
              <a:off x="9537700" y="1270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0198" name="RemarkTitleText"/>
            <p:cNvSpPr txBox="1"/>
            <p:nvPr>
              <p:custDataLst>
                <p:tags r:id="rId29"/>
              </p:custDataLst>
            </p:nvPr>
          </p:nvSpPr>
          <p:spPr>
            <a:xfrm>
              <a:off x="9779000" y="0"/>
              <a:ext cx="1905000" cy="635000"/>
            </a:xfrm>
            <a:prstGeom prst="rect">
              <a:avLst/>
            </a:prstGeom>
            <a:noFill/>
            <a:ln w="9525">
              <a:noFill/>
            </a:ln>
          </p:spPr>
          <p:txBody>
            <a:bodyPr wrap="none" anchor="ctr" anchorCtr="0"/>
            <a:lstStyle/>
            <a:p>
              <a:r>
                <a:rPr lang="zh-CN" altLang="en-US" sz="1800" dirty="0">
                  <a:latin typeface="微软雅黑" panose="020B0503020204020204" charset="-122"/>
                  <a:ea typeface="微软雅黑" panose="020B0503020204020204" charset="-122"/>
                  <a:sym typeface="微软雅黑" panose="020B0503020204020204" charset="-122"/>
                </a:rPr>
                <a:t>答案解析</a:t>
              </a:r>
            </a:p>
          </p:txBody>
        </p:sp>
      </p:grpSp>
      <p:grpSp>
        <p:nvGrpSpPr>
          <p:cNvPr id="5" name="组合 4"/>
          <p:cNvGrpSpPr/>
          <p:nvPr>
            <p:custDataLst>
              <p:tags r:id="rId17"/>
            </p:custDataLst>
          </p:nvPr>
        </p:nvGrpSpPr>
        <p:grpSpPr>
          <a:xfrm>
            <a:off x="9537700" y="0"/>
            <a:ext cx="3813810" cy="647700"/>
            <a:chOff x="15020" y="0"/>
            <a:chExt cx="6006" cy="1020"/>
          </a:xfrm>
        </p:grpSpPr>
        <p:sp>
          <p:nvSpPr>
            <p:cNvPr id="2" name="RemarkBack"/>
            <p:cNvSpPr/>
            <p:nvPr>
              <p:custDataLst>
                <p:tags r:id="rId24"/>
              </p:custDataLst>
            </p:nvPr>
          </p:nvSpPr>
          <p:spPr>
            <a:xfrm>
              <a:off x="15020" y="20"/>
              <a:ext cx="6007" cy="1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anchor="t" anchorCtr="0" compatLnSpc="1">
              <a:spAutoFit/>
            </a:bodyPr>
            <a:lstStyle/>
            <a:p>
              <a:pPr marL="0" marR="0" indent="0" algn="ctr" defTabSz="914400" rtl="0" eaLnBrk="0" fontAlgn="base" latinLnBrk="0" hangingPunct="0">
                <a:lnSpc>
                  <a:spcPct val="100000"/>
                </a:lnSpc>
                <a:spcBef>
                  <a:spcPct val="50000"/>
                </a:spcBef>
                <a:spcAft>
                  <a:spcPct val="0"/>
                </a:spcAft>
                <a:buClrTx/>
                <a:buSzTx/>
                <a:buFontTx/>
                <a:buNone/>
              </a:pPr>
              <a:endParaRPr kumimoji="0" lang="en-US" alt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p:txBody>
        </p:sp>
        <p:sp>
          <p:nvSpPr>
            <p:cNvPr id="3" name="RemarkBlock"/>
            <p:cNvSpPr/>
            <p:nvPr>
              <p:custDataLst>
                <p:tags r:id="rId25"/>
              </p:custDataLst>
            </p:nvPr>
          </p:nvSpPr>
          <p:spPr>
            <a:xfrm>
              <a:off x="15020" y="2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anchor="t" anchorCtr="0" compatLnSpc="1">
              <a:spAutoFit/>
            </a:bodyPr>
            <a:lstStyle/>
            <a:p>
              <a:pPr marL="0" marR="0" indent="0" algn="ctr" defTabSz="914400" rtl="0" eaLnBrk="0" fontAlgn="base" latinLnBrk="0" hangingPunct="0">
                <a:lnSpc>
                  <a:spcPct val="100000"/>
                </a:lnSpc>
                <a:spcBef>
                  <a:spcPct val="50000"/>
                </a:spcBef>
                <a:spcAft>
                  <a:spcPct val="0"/>
                </a:spcAft>
                <a:buClrTx/>
                <a:buSzTx/>
                <a:buFontTx/>
                <a:buNone/>
              </a:pPr>
              <a:endParaRPr kumimoji="0" lang="en-US" alt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p:txBody>
        </p:sp>
        <p:sp>
          <p:nvSpPr>
            <p:cNvPr id="4" name="RemarkTitleText"/>
            <p:cNvSpPr txBox="1"/>
            <p:nvPr>
              <p:custDataLst>
                <p:tags r:id="rId26"/>
              </p:custDataLst>
            </p:nvPr>
          </p:nvSpPr>
          <p:spPr>
            <a:xfrm>
              <a:off x="15400" y="0"/>
              <a:ext cx="3000" cy="1000"/>
            </a:xfrm>
            <a:prstGeom prst="rect">
              <a:avLst/>
            </a:prstGeom>
            <a:noFill/>
          </p:spPr>
          <p:txBody>
            <a:bodyPr wrap="none" rtlCol="0" anchor="ctr" anchorCtr="0">
              <a:noAutofit/>
            </a:bodyPr>
            <a:lstStyle/>
            <a:p>
              <a:pPr lvl="0" algn="l">
                <a:buNone/>
              </a:pPr>
              <a:r>
                <a:rPr lang="zh-CN" altLang="en-US" sz="1800">
                  <a:solidFill>
                    <a:srgbClr val="000000"/>
                  </a:solidFill>
                  <a:latin typeface="微软雅黑" panose="020B0503020204020204" charset="-122"/>
                  <a:ea typeface="微软雅黑" panose="020B0503020204020204" charset="-122"/>
                </a:rPr>
                <a:t>答案解析</a:t>
              </a:r>
            </a:p>
          </p:txBody>
        </p:sp>
      </p:grpSp>
      <p:grpSp>
        <p:nvGrpSpPr>
          <p:cNvPr id="7" name="组合 6"/>
          <p:cNvGrpSpPr/>
          <p:nvPr>
            <p:custDataLst>
              <p:tags r:id="rId18"/>
            </p:custDataLst>
          </p:nvPr>
        </p:nvGrpSpPr>
        <p:grpSpPr>
          <a:xfrm>
            <a:off x="0" y="0"/>
            <a:ext cx="9144000" cy="635000"/>
            <a:chOff x="0" y="0"/>
            <a:chExt cx="9144000" cy="635000"/>
          </a:xfrm>
        </p:grpSpPr>
        <p:sp>
          <p:nvSpPr>
            <p:cNvPr id="50199" name="TitleBackground"/>
            <p:cNvSpPr/>
            <p:nvPr>
              <p:custDataLst>
                <p:tags r:id="rId20"/>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0200" name="ColorBlock"/>
            <p:cNvSpPr/>
            <p:nvPr>
              <p:custDataLst>
                <p:tags r:id="rId21"/>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0201" name="TypeText"/>
            <p:cNvSpPr txBox="1"/>
            <p:nvPr>
              <p:custDataLst>
                <p:tags r:id="rId22"/>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charset="-122"/>
                  <a:ea typeface="微软雅黑" panose="020B0503020204020204" charset="-122"/>
                  <a:sym typeface="微软雅黑" panose="020B0503020204020204" charset="-122"/>
                </a:rPr>
                <a:t>投票</a:t>
              </a:r>
            </a:p>
          </p:txBody>
        </p:sp>
        <p:sp>
          <p:nvSpPr>
            <p:cNvPr id="6" name="TipText"/>
            <p:cNvSpPr txBox="1"/>
            <p:nvPr>
              <p:custDataLst>
                <p:tags r:id="rId23"/>
              </p:custDataLst>
            </p:nvPr>
          </p:nvSpPr>
          <p:spPr>
            <a:xfrm>
              <a:off x="1195705" y="109220"/>
              <a:ext cx="2286000" cy="5080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最多可选2项</a:t>
              </a:r>
            </a:p>
          </p:txBody>
        </p:sp>
      </p:grpSp>
      <p:pic>
        <p:nvPicPr>
          <p:cNvPr id="50195" name="图片 1"/>
          <p:cNvPicPr/>
          <p:nvPr>
            <p:custDataLst>
              <p:tags r:id="rId19"/>
            </p:custDataLst>
          </p:nvPr>
        </p:nvPicPr>
        <p:blipFill>
          <a:blip r:embed="rId31"/>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Box 2"/>
          <p:cNvSpPr txBox="1"/>
          <p:nvPr>
            <p:custDataLst>
              <p:tags r:id="rId2"/>
            </p:custDataLst>
          </p:nvPr>
        </p:nvSpPr>
        <p:spPr>
          <a:xfrm>
            <a:off x="914400" y="635000"/>
            <a:ext cx="7315200" cy="2143125"/>
          </a:xfrm>
          <a:prstGeom prst="rect">
            <a:avLst/>
          </a:prstGeom>
          <a:noFill/>
          <a:ln w="9525">
            <a:noFill/>
          </a:ln>
        </p:spPr>
        <p:txBody>
          <a:bodyPr anchor="ctr" anchorCtr="0"/>
          <a:lstStyle/>
          <a:p>
            <a:r>
              <a:rPr lang="en-US" altLang="zh-CN" dirty="0">
                <a:latin typeface="微软雅黑" panose="020B0503020204020204" charset="-122"/>
                <a:ea typeface="微软雅黑" panose="020B0503020204020204" charset="-122"/>
                <a:sym typeface="微软雅黑" panose="020B0503020204020204" charset="-122"/>
              </a:rPr>
              <a:t>ISO/IEC JTC1</a:t>
            </a:r>
            <a:r>
              <a:rPr lang="zh-CN" altLang="en-US" dirty="0">
                <a:latin typeface="微软雅黑" panose="020B0503020204020204" charset="-122"/>
                <a:ea typeface="微软雅黑" panose="020B0503020204020204" charset="-122"/>
                <a:sym typeface="微软雅黑" panose="020B0503020204020204" charset="-122"/>
              </a:rPr>
              <a:t>成立后的三个工作组是</a:t>
            </a:r>
            <a:r>
              <a:rPr lang="zh-CN" altLang="en-US" dirty="0">
                <a:latin typeface="微软雅黑" panose="020B0503020204020204" charset="-122"/>
                <a:ea typeface="微软雅黑" panose="020B0503020204020204" charset="-122"/>
                <a:sym typeface="Wingdings" panose="05000000000000000000" pitchFamily="2" charset="2"/>
              </a:rPr>
              <a:t>： </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dirty="0">
                <a:latin typeface="微软雅黑" panose="020B0503020204020204" charset="-122"/>
                <a:ea typeface="微软雅黑" panose="020B0503020204020204" charset="-122"/>
                <a:sym typeface="微软雅黑" panose="020B0503020204020204" charset="-122"/>
              </a:rPr>
              <a:t> </a:t>
            </a:r>
            <a:r>
              <a:rPr lang="zh-CN" altLang="en-US"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dirty="0">
                <a:latin typeface="微软雅黑" panose="020B0503020204020204" charset="-122"/>
                <a:ea typeface="微软雅黑" panose="020B0503020204020204" charset="-122"/>
                <a:sym typeface="微软雅黑" panose="020B0503020204020204" charset="-122"/>
              </a:rPr>
              <a:t> </a:t>
            </a:r>
            <a:r>
              <a:rPr lang="zh-CN" altLang="en-US"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dirty="0">
                <a:solidFill>
                  <a:srgbClr val="639EF4"/>
                </a:solidFill>
                <a:latin typeface="微软雅黑" panose="020B0503020204020204" charset="-122"/>
                <a:ea typeface="微软雅黑" panose="020B0503020204020204" charset="-122"/>
                <a:sym typeface="微软雅黑" panose="020B0503020204020204" charset="-122"/>
              </a:rPr>
              <a:t>3]</a:t>
            </a:r>
            <a:r>
              <a:rPr lang="en-US" altLang="zh-CN" dirty="0">
                <a:latin typeface="微软雅黑" panose="020B0503020204020204" charset="-122"/>
                <a:ea typeface="微软雅黑" panose="020B0503020204020204" charset="-122"/>
                <a:sym typeface="微软雅黑" panose="020B0503020204020204" charset="-122"/>
              </a:rPr>
              <a:t> </a:t>
            </a:r>
            <a:r>
              <a:rPr lang="zh-CN" altLang="en-US" dirty="0">
                <a:latin typeface="微软雅黑" panose="020B0503020204020204" charset="-122"/>
                <a:ea typeface="微软雅黑" panose="020B0503020204020204" charset="-122"/>
                <a:sym typeface="微软雅黑" panose="020B0503020204020204" charset="-122"/>
              </a:rPr>
              <a:t>。</a:t>
            </a:r>
          </a:p>
        </p:txBody>
      </p:sp>
      <p:sp>
        <p:nvSpPr>
          <p:cNvPr id="51203" name="圆角矩形 3"/>
          <p:cNvSpPr/>
          <p:nvPr>
            <p:custDataLst>
              <p:tags r:id="rId3"/>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lstStyle/>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作答</a:t>
            </a:r>
          </a:p>
        </p:txBody>
      </p:sp>
      <p:sp>
        <p:nvSpPr>
          <p:cNvPr id="51204" name="矩形 9"/>
          <p:cNvSpPr/>
          <p:nvPr>
            <p:custDataLst>
              <p:tags r:id="rId4"/>
            </p:custDataLst>
          </p:nvPr>
        </p:nvSpPr>
        <p:spPr>
          <a:xfrm>
            <a:off x="0" y="5849938"/>
            <a:ext cx="9144000" cy="365125"/>
          </a:xfrm>
          <a:prstGeom prst="rect">
            <a:avLst/>
          </a:prstGeom>
          <a:solidFill>
            <a:srgbClr val="FBFAEF"/>
          </a:solidFill>
          <a:ln w="9525">
            <a:noFill/>
          </a:ln>
        </p:spPr>
        <p:txBody>
          <a:bodyPr wrap="none" anchor="ctr" anchorCtr="1"/>
          <a:lstStyle/>
          <a:p>
            <a:pPr>
              <a:spcBef>
                <a:spcPct val="50000"/>
              </a:spcBef>
            </a:pP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grpSp>
        <p:nvGrpSpPr>
          <p:cNvPr id="51205" name="组合 8"/>
          <p:cNvGrpSpPr/>
          <p:nvPr>
            <p:custDataLst>
              <p:tags r:id="rId5"/>
            </p:custDataLst>
          </p:nvPr>
        </p:nvGrpSpPr>
        <p:grpSpPr>
          <a:xfrm>
            <a:off x="0" y="0"/>
            <a:ext cx="9144000" cy="635000"/>
            <a:chOff x="0" y="0"/>
            <a:chExt cx="9144000" cy="635000"/>
          </a:xfrm>
        </p:grpSpPr>
        <p:sp>
          <p:nvSpPr>
            <p:cNvPr id="51207" name="TitleBackground"/>
            <p:cNvSpPr/>
            <p:nvPr>
              <p:custDataLst>
                <p:tags r:id="rId7"/>
              </p:custDataLst>
            </p:nvPr>
          </p:nvSpPr>
          <p:spPr>
            <a:xfrm>
              <a:off x="0" y="0"/>
              <a:ext cx="9144000" cy="635000"/>
            </a:xfrm>
            <a:prstGeom prst="rect">
              <a:avLst/>
            </a:prstGeom>
            <a:solidFill>
              <a:srgbClr val="F6F7F8"/>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1208" name="ColorBlock"/>
            <p:cNvSpPr/>
            <p:nvPr>
              <p:custDataLst>
                <p:tags r:id="rId8"/>
              </p:custDataLst>
            </p:nvPr>
          </p:nvSpPr>
          <p:spPr>
            <a:xfrm>
              <a:off x="0" y="0"/>
              <a:ext cx="190500" cy="635000"/>
            </a:xfrm>
            <a:prstGeom prst="rect">
              <a:avLst/>
            </a:prstGeom>
            <a:solidFill>
              <a:srgbClr val="639EF4"/>
            </a:solidFill>
            <a:ln w="9525">
              <a:noFill/>
            </a:ln>
          </p:spPr>
          <p:txBody>
            <a:bodyPr>
              <a:spAutoFit/>
            </a:bodyPr>
            <a:lstStyle/>
            <a:p>
              <a:pPr algn="ctr">
                <a:spcBef>
                  <a:spcPct val="50000"/>
                </a:spcBef>
              </a:pPr>
              <a:endParaRPr lang="zh-CN" altLang="en-US" dirty="0">
                <a:latin typeface="Times New Roman" panose="02020603050405020304" pitchFamily="18" charset="0"/>
              </a:endParaRPr>
            </a:p>
          </p:txBody>
        </p:sp>
        <p:sp>
          <p:nvSpPr>
            <p:cNvPr id="51209" name="TypeText"/>
            <p:cNvSpPr txBox="1"/>
            <p:nvPr>
              <p:custDataLst>
                <p:tags r:id="rId9"/>
              </p:custDataLst>
            </p:nvPr>
          </p:nvSpPr>
          <p:spPr>
            <a:xfrm>
              <a:off x="254000" y="0"/>
              <a:ext cx="1905000" cy="635000"/>
            </a:xfrm>
            <a:prstGeom prst="rect">
              <a:avLst/>
            </a:prstGeom>
            <a:noFill/>
            <a:ln w="9525">
              <a:noFill/>
            </a:ln>
          </p:spPr>
          <p:txBody>
            <a:bodyPr wrap="none" anchor="ctr" anchorCtr="0"/>
            <a:lstStyle/>
            <a:p>
              <a:r>
                <a:rPr lang="zh-CN" altLang="en-US" dirty="0">
                  <a:latin typeface="微软雅黑" panose="020B0503020204020204" charset="-122"/>
                  <a:ea typeface="微软雅黑" panose="020B0503020204020204" charset="-122"/>
                  <a:sym typeface="微软雅黑" panose="020B0503020204020204" charset="-122"/>
                </a:rPr>
                <a:t>填空题</a:t>
              </a:r>
            </a:p>
          </p:txBody>
        </p:sp>
        <p:sp>
          <p:nvSpPr>
            <p:cNvPr id="51210" name="TipText"/>
            <p:cNvSpPr txBox="1"/>
            <p:nvPr>
              <p:custDataLst>
                <p:tags r:id="rId10"/>
              </p:custDataLst>
            </p:nvPr>
          </p:nvSpPr>
          <p:spPr>
            <a:xfrm>
              <a:off x="1525905" y="109220"/>
              <a:ext cx="2286000" cy="508000"/>
            </a:xfrm>
            <a:prstGeom prst="rect">
              <a:avLst/>
            </a:prstGeom>
            <a:noFill/>
            <a:ln w="9525">
              <a:noFill/>
            </a:ln>
          </p:spPr>
          <p:txBody>
            <a:bodyPr wrap="none" anchor="ctr" anchorCtr="0"/>
            <a:lstStyle/>
            <a:p>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1.5</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51206" name="图片 1"/>
          <p:cNvPicPr/>
          <p:nvPr>
            <p:custDataLst>
              <p:tags r:id="rId6"/>
            </p:custDataLst>
          </p:nvPr>
        </p:nvPicPr>
        <p:blipFill>
          <a:blip r:embed="rId12"/>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838200" y="2590800"/>
            <a:ext cx="7010400" cy="563563"/>
          </a:xfrm>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BlMjMwNjIxZjg0ZGE4OTJiNmI4NzljYmExNDFhNmUifQ=="/>
  <p:tag name="KSO_WPP_MARK_KEY" val="736cf9e1-c89c-4b80-a668-7512aacfd353"/>
</p:tagLst>
</file>

<file path=ppt/tags/tag2.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PROBLEMSCORE_HALF" val="0.0"/>
  <p:tag name="PROBLEMHASREMARK" val="True"/>
  <p:tag name="PROBLEMREMARK" val="E 是区域性标准组织，不是国际通用标准"/>
  <p:tag name="RAINPROBLEMTYPE" val="Polling"/>
  <p:tag name="ANONYMOUSPOLLING"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7.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2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5"/>
  <p:tag name="PROBLEMBLANK" val="[{&quot;Num&quot;:1,&quot;Score&quot;:0.5,&quot;Answers&quot;:[&quot;WG1&quot;],&quot;CaseSensitive&quot;:false,&quot;FuzzyMatch&quot;:false},{&quot;Num&quot;:2,&quot;Score&quot;:0.5,&quot;Answers&quot;:[&quot;WG2&quot;],&quot;CaseSensitive&quot;:false,&quot;FuzzyMatch&quot;:false},{&quot;Num&quot;:3,&quot;Score&quot;:0.5,&quot;Answers&quot;:[&quot;WG3&quot;],&quot;CaseSensitive&quot;:false,&quot;FuzzyMatch&quot;:false}]"/>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4315</Words>
  <Application>Microsoft Office PowerPoint</Application>
  <PresentationFormat>全屏显示(4:3)</PresentationFormat>
  <Paragraphs>435</Paragraphs>
  <Slides>49</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2" baseType="lpstr">
      <vt:lpstr>方正粗黑宋简体</vt:lpstr>
      <vt:lpstr>黑体</vt:lpstr>
      <vt:lpstr>华文楷体</vt:lpstr>
      <vt:lpstr>华文隶书</vt:lpstr>
      <vt:lpstr>华文细黑</vt:lpstr>
      <vt:lpstr>楷体_GB2312</vt:lpstr>
      <vt:lpstr>宋体</vt:lpstr>
      <vt:lpstr>微软雅黑</vt:lpstr>
      <vt:lpstr>Arial</vt:lpstr>
      <vt:lpstr>Times New Roman</vt:lpstr>
      <vt:lpstr>Wingdings</vt:lpstr>
      <vt:lpstr>默认设计模板</vt:lpstr>
      <vt:lpstr>Photoshop.Image.7</vt:lpstr>
      <vt:lpstr>第六章 信息安全管理标准</vt:lpstr>
      <vt:lpstr>本讲内容</vt:lpstr>
      <vt:lpstr>1. 信息安全风险评估标准</vt:lpstr>
      <vt:lpstr>1. 信息安全风险评估标准</vt:lpstr>
      <vt:lpstr>1. 风险评估技术标准</vt:lpstr>
      <vt:lpstr>1. 风险评估技术标准</vt:lpstr>
      <vt:lpstr>1. 风险评估技术标准</vt:lpstr>
      <vt:lpstr>1. 风险评估技术标准</vt:lpstr>
      <vt:lpstr>1. 风险评估技术标准</vt:lpstr>
      <vt:lpstr>1.风险评估技术标准</vt:lpstr>
      <vt:lpstr>1.风险评估技术标准</vt:lpstr>
      <vt:lpstr>1.风险评估技术标准</vt:lpstr>
      <vt:lpstr>1.风险评估技术标准</vt:lpstr>
      <vt:lpstr>1.风险评估管理标准</vt:lpstr>
      <vt:lpstr>1.风险评估管理标准</vt:lpstr>
      <vt:lpstr>1.风险评估管理标准</vt:lpstr>
      <vt:lpstr>标准间的比较分析</vt:lpstr>
      <vt:lpstr>1.标准间的比较分析</vt:lpstr>
      <vt:lpstr>1.标准间的比较分析</vt:lpstr>
      <vt:lpstr>1.标准间的比较分析</vt:lpstr>
      <vt:lpstr>1.标准间的比较分析</vt:lpstr>
      <vt:lpstr>1.标准间的比较分析</vt:lpstr>
      <vt:lpstr>1.标准间的比较分析</vt:lpstr>
      <vt:lpstr>2. 我国信息系统等级保护标准</vt:lpstr>
      <vt:lpstr>2. 我国信息系统等级保护标准</vt:lpstr>
      <vt:lpstr>2.我国信息系统等级保护标准</vt:lpstr>
      <vt:lpstr>2.我国信息系统等级保护标准</vt:lpstr>
      <vt:lpstr>2.我国信息系统等级保护标准</vt:lpstr>
      <vt:lpstr>2.我国信息系统等级保护标准</vt:lpstr>
      <vt:lpstr>2.我国信息系统等级保护标准</vt:lpstr>
      <vt:lpstr>3.信息安全管理体系(ISMS)标准</vt:lpstr>
      <vt:lpstr>3.信息安全管理体系(ISMS)标准</vt:lpstr>
      <vt:lpstr>3.信息安全管理体系(ISMS)标准</vt:lpstr>
      <vt:lpstr>3.信息安全管理体系(ISMS)标准</vt:lpstr>
      <vt:lpstr>3.信息安全管理体系(ISMS)标准</vt:lpstr>
      <vt:lpstr>3.信息安全管理体系(ISMS)标准</vt:lpstr>
      <vt:lpstr>3.信息安全管理体系(ISMS)标准</vt:lpstr>
      <vt:lpstr>3.信息安全管理体系(ISMS)标准</vt:lpstr>
      <vt:lpstr>3.信息安全管理体系(ISMS)标准</vt:lpstr>
      <vt:lpstr>4.ISO/IEC27000系列标准</vt:lpstr>
      <vt:lpstr>4.ISO/IEC27000系列标准</vt:lpstr>
      <vt:lpstr>4.ISO/IEC27000系列标准</vt:lpstr>
      <vt:lpstr>4.ISO/IEC27000系列标准</vt:lpstr>
      <vt:lpstr>4.ISO/IEC27000系列标准</vt:lpstr>
      <vt:lpstr>思政点</vt:lpstr>
      <vt:lpstr>本章小结 </vt:lpstr>
      <vt:lpstr>PowerPoint 演示文稿</vt:lpstr>
      <vt:lpstr>PowerPoint 演示文稿</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1095</cp:revision>
  <dcterms:created xsi:type="dcterms:W3CDTF">2004-07-21T02:43:00Z</dcterms:created>
  <dcterms:modified xsi:type="dcterms:W3CDTF">2023-05-10T02:27:55Z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0FACCDADB4C44E4D868A4ED1B8674C74_12</vt:lpwstr>
  </property>
</Properties>
</file>