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56" r:id="rId2"/>
    <p:sldId id="699" r:id="rId3"/>
    <p:sldId id="702" r:id="rId4"/>
    <p:sldId id="736" r:id="rId5"/>
    <p:sldId id="740" r:id="rId6"/>
    <p:sldId id="742" r:id="rId7"/>
    <p:sldId id="743" r:id="rId8"/>
    <p:sldId id="717" r:id="rId9"/>
    <p:sldId id="718" r:id="rId10"/>
    <p:sldId id="677" r:id="rId11"/>
    <p:sldId id="701" r:id="rId12"/>
    <p:sldId id="700" r:id="rId13"/>
    <p:sldId id="744" r:id="rId14"/>
    <p:sldId id="737" r:id="rId15"/>
    <p:sldId id="704" r:id="rId16"/>
    <p:sldId id="707" r:id="rId17"/>
    <p:sldId id="706" r:id="rId18"/>
    <p:sldId id="705" r:id="rId19"/>
    <p:sldId id="738" r:id="rId20"/>
    <p:sldId id="703" r:id="rId21"/>
    <p:sldId id="711" r:id="rId22"/>
    <p:sldId id="710" r:id="rId23"/>
    <p:sldId id="709" r:id="rId24"/>
    <p:sldId id="708" r:id="rId25"/>
    <p:sldId id="716" r:id="rId26"/>
    <p:sldId id="715" r:id="rId27"/>
    <p:sldId id="714" r:id="rId28"/>
    <p:sldId id="719" r:id="rId29"/>
    <p:sldId id="720" r:id="rId30"/>
    <p:sldId id="713" r:id="rId31"/>
    <p:sldId id="723" r:id="rId32"/>
    <p:sldId id="712" r:id="rId33"/>
    <p:sldId id="724" r:id="rId34"/>
    <p:sldId id="725" r:id="rId35"/>
    <p:sldId id="726" r:id="rId36"/>
    <p:sldId id="729" r:id="rId37"/>
    <p:sldId id="730" r:id="rId38"/>
    <p:sldId id="731" r:id="rId39"/>
    <p:sldId id="732" r:id="rId40"/>
    <p:sldId id="721" r:id="rId41"/>
    <p:sldId id="734" r:id="rId42"/>
    <p:sldId id="733" r:id="rId43"/>
    <p:sldId id="735" r:id="rId44"/>
    <p:sldId id="739" r:id="rId45"/>
    <p:sldId id="722" r:id="rId46"/>
    <p:sldId id="745" r:id="rId47"/>
    <p:sldId id="746" r:id="rId48"/>
    <p:sldId id="698" r:id="rId49"/>
    <p:sldId id="609" r:id="rId50"/>
  </p:sldIdLst>
  <p:sldSz cx="9144000" cy="6858000" type="screen4x3"/>
  <p:notesSz cx="6858000" cy="9144000"/>
  <p:custDataLst>
    <p:tags r:id="rId52"/>
  </p:custDataLst>
  <p:defaultTextStyle>
    <a:defPPr>
      <a:defRPr lang="en-US"/>
    </a:defPPr>
    <a:lvl1pPr marL="0" lvl="0"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3399"/>
    <a:srgbClr val="CC6600"/>
    <a:srgbClr val="FFFF66"/>
    <a:srgbClr val="FFFFCC"/>
    <a:srgbClr val="00CC99"/>
    <a:srgbClr val="97D7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63"/>
    <p:restoredTop sz="71781"/>
  </p:normalViewPr>
  <p:slideViewPr>
    <p:cSldViewPr showGuides="1">
      <p:cViewPr varScale="1">
        <p:scale>
          <a:sx n="70" d="100"/>
          <a:sy n="70" d="100"/>
        </p:scale>
        <p:origin x="1456"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a:solidFill>
                  <a:schemeClr val="tx1"/>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325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4294967295"/>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60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 altLang="en-US" sz="1200" dirty="0">
                <a:solidFill>
                  <a:schemeClr val="tx1"/>
                </a:solidFill>
                <a:latin typeface="Arial" panose="020B0604020202020204" pitchFamily="34" charset="0"/>
              </a:rPr>
              <a:t>‹#›</a:t>
            </a:fld>
            <a:endParaRPr lang=""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46841645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ln/>
        </p:spPr>
      </p:sp>
      <p:sp>
        <p:nvSpPr>
          <p:cNvPr id="54275"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5427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en-US" sz="1200" dirty="0">
                <a:solidFill>
                  <a:schemeClr val="tx1"/>
                </a:solidFill>
                <a:latin typeface="Arial" panose="020B0604020202020204" pitchFamily="34" charset="0"/>
              </a:rPr>
              <a:t>2</a:t>
            </a:fld>
            <a:endParaRPr lang=""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2884238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ln/>
        </p:spPr>
      </p:sp>
      <p:sp>
        <p:nvSpPr>
          <p:cNvPr id="55299"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5530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en-US" sz="1200" dirty="0">
                <a:solidFill>
                  <a:schemeClr val="tx1"/>
                </a:solidFill>
                <a:latin typeface="Arial" panose="020B0604020202020204" pitchFamily="34" charset="0"/>
              </a:rPr>
              <a:t>4</a:t>
            </a:fld>
            <a:endParaRPr lang=""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2183929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5632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en-US" sz="1200" dirty="0">
                <a:solidFill>
                  <a:schemeClr val="tx1"/>
                </a:solidFill>
                <a:latin typeface="Arial" panose="020B0604020202020204" pitchFamily="34" charset="0"/>
              </a:rPr>
              <a:t>14</a:t>
            </a:fld>
            <a:endParaRPr lang=""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1204676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5734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en-US" sz="1200" dirty="0">
                <a:solidFill>
                  <a:schemeClr val="tx1"/>
                </a:solidFill>
                <a:latin typeface="Arial" panose="020B0604020202020204" pitchFamily="34" charset="0"/>
              </a:rPr>
              <a:t>19</a:t>
            </a:fld>
            <a:endParaRPr lang=""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3309918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p:spPr>
      </p:sp>
      <p:sp>
        <p:nvSpPr>
          <p:cNvPr id="58371"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5837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en-US" sz="1200" dirty="0">
                <a:solidFill>
                  <a:schemeClr val="tx1"/>
                </a:solidFill>
                <a:latin typeface="Arial" panose="020B0604020202020204" pitchFamily="34" charset="0"/>
              </a:rPr>
              <a:t>44</a:t>
            </a:fld>
            <a:endParaRPr lang=""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37181776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4099" r:id="rId3" imgW="13004800" imgH="4572000" progId="Photoshop.Image.7">
                  <p:embed/>
                </p:oleObj>
              </mc:Choice>
              <mc:Fallback>
                <p:oleObj r:id="rId3" imgW="13004800" imgH="4572000" progId="Photoshop.Image.7">
                  <p:embed/>
                  <p:pic>
                    <p:nvPicPr>
                      <p:cNvPr id="0" name="图片 3075"/>
                      <p:cNvPicPr/>
                      <p:nvPr/>
                    </p:nvPicPr>
                    <p:blipFill>
                      <a:blip r:embed="rId4"/>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LOGO</a:t>
              </a:r>
            </a:p>
          </p:txBody>
        </p:sp>
        <p:sp>
          <p:nvSpPr>
            <p:cNvPr id="17" name="AutoShape 15"/>
            <p:cNvSpPr>
              <a:spLocks noChangeArrowheads="1"/>
            </p:cNvSpPr>
            <p:nvPr/>
          </p:nvSpPr>
          <p:spPr bwMode="auto">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auto">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r>
              <a:rPr lang="en-US" altLang="zh-CN" noProof="1"/>
              <a:t>Click to edit Master subtitle style</a:t>
            </a:r>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r>
              <a:rPr lang="en-US" altLang="zh-CN" noProof="1"/>
              <a:t>Click to edit Master title style</a:t>
            </a:r>
          </a:p>
        </p:txBody>
      </p:sp>
      <p:sp>
        <p:nvSpPr>
          <p:cNvPr id="19" name="Rectangle 4"/>
          <p:cNvSpPr>
            <a:spLocks noGrp="1" noChangeArrowheads="1"/>
          </p:cNvSpPr>
          <p:nvPr>
            <p:ph type="dt" sz="half" idx="2"/>
          </p:nvPr>
        </p:nvSpPr>
        <p:spPr bwMode="auto">
          <a:xfrm>
            <a:off x="457200" y="6477000"/>
            <a:ext cx="2133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 altLang="en-US" sz="1200" dirty="0">
                <a:latin typeface="Arial" panose="020B0604020202020204" pitchFamily="34" charset="0"/>
              </a:rPr>
              <a:t>‹#›</a:t>
            </a:fld>
            <a:endParaRPr lang="" altLang="en-US" sz="1200" dirty="0">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 altLang="en-US" dirty="0"/>
              <a:t>‹#›</a:t>
            </a:fld>
            <a:endParaRPr lang="" altLang="en-US" dirty="0">
              <a:latin typeface="Times New Roman" panose="02020603050405020304" pitchFamily="18"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 altLang="en-US" dirty="0"/>
              <a:t>‹#›</a:t>
            </a:fld>
            <a:endParaRPr lang="" altLang="en-US" dirty="0">
              <a:latin typeface="Times New Roman" panose="02020603050405020304" pitchFamily="18"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 altLang="en-US" dirty="0"/>
              <a:t>‹#›</a:t>
            </a:fld>
            <a:endParaRPr lang="" altLang="en-US" dirty="0">
              <a:latin typeface="Times New Roman" panose="02020603050405020304" pitchFamily="18"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 altLang="en-US" dirty="0"/>
              <a:t>‹#›</a:t>
            </a:fld>
            <a:endParaRPr lang="" altLang="en-US" dirty="0">
              <a:latin typeface="Times New Roman" panose="02020603050405020304" pitchFamily="18"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 altLang="en-US" dirty="0"/>
              <a:t>‹#›</a:t>
            </a:fld>
            <a:endParaRPr lang="" altLang="en-US" dirty="0">
              <a:latin typeface="Times New Roman" panose="02020603050405020304" pitchFamily="18"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 altLang="en-US" dirty="0"/>
              <a:t>‹#›</a:t>
            </a:fld>
            <a:endParaRPr lang="" altLang="en-US" dirty="0">
              <a:latin typeface="Times New Roman" panose="02020603050405020304" pitchFamily="18"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 altLang="en-US" dirty="0"/>
              <a:t>‹#›</a:t>
            </a:fld>
            <a:endParaRPr lang="" altLang="en-US" dirty="0">
              <a:latin typeface="Times New Roman" panose="02020603050405020304" pitchFamily="18"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 altLang="en-US" dirty="0"/>
              <a:t>‹#›</a:t>
            </a:fld>
            <a:endParaRPr lang="" altLang="en-US" dirty="0">
              <a:latin typeface="Times New Roman" panose="02020603050405020304" pitchFamily="18"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 altLang="en-US" dirty="0"/>
              <a:t>‹#›</a:t>
            </a:fld>
            <a:endParaRPr lang="" altLang="en-US" dirty="0">
              <a:latin typeface="Times New Roman" panose="02020603050405020304" pitchFamily="18"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374650"/>
            <a:ext cx="6019800" cy="594995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 altLang="en-US" dirty="0"/>
              <a:t>‹#›</a:t>
            </a:fld>
            <a:endParaRPr lang="" altLang="en-US" dirty="0">
              <a:latin typeface="Times New Roman" panose="02020603050405020304" pitchFamily="18"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081" r:id="rId14" imgW="13004800" imgH="4572000" progId="Photoshop.Image.7">
                  <p:embed/>
                </p:oleObj>
              </mc:Choice>
              <mc:Fallback>
                <p:oleObj r:id="rId14" imgW="13004800" imgH="4572000" progId="Photoshop.Image.7">
                  <p:embed/>
                  <p:pic>
                    <p:nvPicPr>
                      <p:cNvPr id="0" name="图片 3076"/>
                      <p:cNvPicPr/>
                      <p:nvPr/>
                    </p:nvPicPr>
                    <p:blipFill>
                      <a:blip r:embed="rId15"/>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hangingPunct="1">
              <a:buNone/>
            </a:pPr>
            <a:fld id="{9A0DB2DC-4C9A-4742-B13C-FB6460FD3503}" type="slidenum">
              <a:rPr lang="" altLang="en-US" dirty="0"/>
              <a:t>‹#›</a:t>
            </a:fld>
            <a:endParaRPr lang="" altLang="en-US" dirty="0">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lstStyle/>
          <a:p>
            <a:pPr lvl="0"/>
            <a:r>
              <a:rPr lang="en-US" altLang="zh-CN" dirty="0"/>
              <a:t>Click to edit Master title style</a:t>
            </a:r>
          </a:p>
        </p:txBody>
      </p:sp>
      <p:pic>
        <p:nvPicPr>
          <p:cNvPr id="1035" name="图片 3"/>
          <p:cNvPicPr>
            <a:picLocks noChangeAspect="1"/>
          </p:cNvPicPr>
          <p:nvPr userDrawn="1"/>
        </p:nvPicPr>
        <p:blipFill>
          <a:blip r:embed="rId16"/>
          <a:stretch>
            <a:fillRect/>
          </a:stretch>
        </p:blipFill>
        <p:spPr>
          <a:xfrm>
            <a:off x="8077200" y="9525"/>
            <a:ext cx="1044575" cy="10445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7.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6.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tags" Target="../tags/tag26.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6.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Layout" Target="../slideLayouts/slideLayout7.xml"/><Relationship Id="rId5" Type="http://schemas.openxmlformats.org/officeDocument/2006/relationships/tags" Target="../tags/tag2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a:xfrm>
            <a:off x="762000" y="3429000"/>
            <a:ext cx="7620000" cy="682625"/>
          </a:xfrm>
          <a:ln/>
        </p:spPr>
        <p:txBody>
          <a:bodyPr vert="horz" wrap="square" lIns="91440" tIns="45720" rIns="91440" bIns="45720" anchor="ctr" anchorCtr="0"/>
          <a:lstStyle/>
          <a:p>
            <a:pPr marL="342900" indent="-342900" eaLnBrk="1" hangingPunct="1">
              <a:spcAft>
                <a:spcPct val="20000"/>
              </a:spcAft>
              <a:buClrTx/>
              <a:buSzTx/>
              <a:buFontTx/>
            </a:pPr>
            <a:r>
              <a:rPr lang="zh-CN" altLang="zh-CN" sz="2800" dirty="0">
                <a:latin typeface="+mj-lt"/>
                <a:ea typeface="宋体" panose="02010600030101010101" pitchFamily="2" charset="-122"/>
                <a:cs typeface="+mj-cs"/>
              </a:rPr>
              <a:t>第</a:t>
            </a:r>
            <a:r>
              <a:rPr lang="zh-CN" altLang="en-US" sz="2800" dirty="0">
                <a:latin typeface="+mj-lt"/>
                <a:ea typeface="宋体" panose="02010600030101010101" pitchFamily="2" charset="-122"/>
                <a:cs typeface="+mj-cs"/>
              </a:rPr>
              <a:t>三</a:t>
            </a:r>
            <a:r>
              <a:rPr lang="zh-CN" altLang="zh-CN" sz="2800" dirty="0">
                <a:latin typeface="+mj-lt"/>
                <a:ea typeface="宋体" panose="02010600030101010101" pitchFamily="2" charset="-122"/>
                <a:cs typeface="+mj-cs"/>
              </a:rPr>
              <a:t>章</a:t>
            </a:r>
            <a:r>
              <a:rPr lang="en-US" altLang="zh-CN" sz="2800" dirty="0">
                <a:latin typeface="+mj-lt"/>
                <a:ea typeface="宋体" panose="02010600030101010101" pitchFamily="2" charset="-122"/>
                <a:cs typeface="+mj-cs"/>
              </a:rPr>
              <a:t> </a:t>
            </a:r>
            <a:r>
              <a:rPr lang="zh-CN" altLang="zh-CN" sz="2800" dirty="0">
                <a:latin typeface="+mj-lt"/>
                <a:ea typeface="宋体" panose="02010600030101010101" pitchFamily="2" charset="-122"/>
                <a:cs typeface="+mj-cs"/>
              </a:rPr>
              <a:t>信息安全法律法规</a:t>
            </a:r>
            <a:endParaRPr lang="en-US" altLang="zh-CN" sz="2800" b="0" dirty="0">
              <a:solidFill>
                <a:schemeClr val="tx2"/>
              </a:solidFill>
              <a:latin typeface="+mj-lt"/>
              <a:ea typeface="宋体" panose="02010600030101010101" pitchFamily="2" charset="-122"/>
              <a:cs typeface="+mj-cs"/>
            </a:endParaRPr>
          </a:p>
        </p:txBody>
      </p:sp>
      <p:sp>
        <p:nvSpPr>
          <p:cNvPr id="3075" name="Rectangle 3"/>
          <p:cNvSpPr>
            <a:spLocks noGrp="1"/>
          </p:cNvSpPr>
          <p:nvPr>
            <p:ph type="subTitle" idx="1"/>
          </p:nvPr>
        </p:nvSpPr>
        <p:spPr>
          <a:xfrm>
            <a:off x="920750" y="2743200"/>
            <a:ext cx="7304088" cy="574675"/>
          </a:xfrm>
          <a:ln/>
        </p:spPr>
        <p:txBody>
          <a:bodyPr vert="horz" wrap="square" lIns="91440" tIns="45720" rIns="91440" bIns="45720" anchor="t" anchorCtr="0"/>
          <a:lstStyle/>
          <a:p>
            <a:pPr eaLnBrk="1" hangingPunct="1">
              <a:lnSpc>
                <a:spcPct val="90000"/>
              </a:lnSpc>
              <a:buSzTx/>
            </a:pPr>
            <a:r>
              <a:rPr lang="zh-CN" altLang="en-US" sz="3600" dirty="0">
                <a:latin typeface="黑体" panose="02010609060101010101" pitchFamily="49" charset="-122"/>
                <a:ea typeface="黑体" panose="02010609060101010101" pitchFamily="49" charset="-122"/>
                <a:cs typeface="+mn-cs"/>
              </a:rPr>
              <a:t>信息安全法规及安全管理</a:t>
            </a:r>
            <a:endParaRPr lang="en-US" altLang="zh-CN" sz="3600" dirty="0">
              <a:latin typeface="黑体" panose="02010609060101010101" pitchFamily="49" charset="-122"/>
              <a:ea typeface="黑体" panose="02010609060101010101" pitchFamily="49" charset="-122"/>
              <a:cs typeface="+mn-cs"/>
            </a:endParaRPr>
          </a:p>
        </p:txBody>
      </p:sp>
      <p:sp>
        <p:nvSpPr>
          <p:cNvPr id="3076" name="文本框 1"/>
          <p:cNvSpPr txBox="1"/>
          <p:nvPr/>
        </p:nvSpPr>
        <p:spPr>
          <a:xfrm>
            <a:off x="1609725" y="4648200"/>
            <a:ext cx="5924550" cy="523875"/>
          </a:xfrm>
          <a:prstGeom prst="rect">
            <a:avLst/>
          </a:prstGeom>
          <a:noFill/>
          <a:ln w="9525">
            <a:noFill/>
          </a:ln>
        </p:spPr>
        <p:txBody>
          <a:bodyPr>
            <a:spAutoFit/>
          </a:bodyPr>
          <a:lstStyle/>
          <a:p>
            <a:pPr algn="ctr"/>
            <a:r>
              <a:rPr lang="zh-CN" altLang="en-US" sz="2800" dirty="0">
                <a:latin typeface="华文楷体" panose="02010600040101010101" pitchFamily="2" charset="-122"/>
                <a:ea typeface="华文楷体" panose="02010600040101010101" pitchFamily="2" charset="-122"/>
              </a:rPr>
              <a:t>授课老师：李妍</a:t>
            </a:r>
            <a:endParaRPr lang="en-US" altLang="zh-CN" sz="2800" dirty="0">
              <a:latin typeface="华文楷体" panose="02010600040101010101" pitchFamily="2" charset="-122"/>
              <a:ea typeface="华文楷体" panose="02010600040101010101" pitchFamily="2" charset="-122"/>
            </a:endParaRPr>
          </a:p>
        </p:txBody>
      </p:sp>
      <p:pic>
        <p:nvPicPr>
          <p:cNvPr id="3077" name="图片 1"/>
          <p:cNvPicPr>
            <a:picLocks noChangeAspect="1"/>
          </p:cNvPicPr>
          <p:nvPr/>
        </p:nvPicPr>
        <p:blipFill>
          <a:blip r:embed="rId2"/>
          <a:stretch>
            <a:fillRect/>
          </a:stretch>
        </p:blipFill>
        <p:spPr>
          <a:xfrm>
            <a:off x="3867150" y="5334000"/>
            <a:ext cx="1409700" cy="1409700"/>
          </a:xfrm>
          <a:prstGeom prst="rect">
            <a:avLst/>
          </a:prstGeom>
          <a:noFill/>
          <a:ln w="9525">
            <a:noFill/>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4099" name="Group 3"/>
          <p:cNvGrpSpPr/>
          <p:nvPr/>
        </p:nvGrpSpPr>
        <p:grpSpPr>
          <a:xfrm>
            <a:off x="1524000" y="1524000"/>
            <a:ext cx="762000" cy="665163"/>
            <a:chOff x="1110" y="2656"/>
            <a:chExt cx="1549" cy="1351"/>
          </a:xfrm>
        </p:grpSpPr>
        <p:sp>
          <p:nvSpPr>
            <p:cNvPr id="4133"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34"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4100" name="Group 7"/>
          <p:cNvGrpSpPr/>
          <p:nvPr/>
        </p:nvGrpSpPr>
        <p:grpSpPr>
          <a:xfrm>
            <a:off x="1524000" y="2374900"/>
            <a:ext cx="762000" cy="665163"/>
            <a:chOff x="3174" y="2656"/>
            <a:chExt cx="1549" cy="1351"/>
          </a:xfrm>
        </p:grpSpPr>
        <p:sp>
          <p:nvSpPr>
            <p:cNvPr id="4130"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31"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4101" name="Line 11"/>
          <p:cNvSpPr/>
          <p:nvPr/>
        </p:nvSpPr>
        <p:spPr>
          <a:xfrm>
            <a:off x="2133600" y="2133600"/>
            <a:ext cx="4800600" cy="4763"/>
          </a:xfrm>
          <a:prstGeom prst="line">
            <a:avLst/>
          </a:prstGeom>
          <a:ln w="25400" cap="flat" cmpd="sng">
            <a:solidFill>
              <a:srgbClr val="C0C0C0"/>
            </a:solidFill>
            <a:prstDash val="sysDot"/>
            <a:headEnd type="none" w="med" len="med"/>
            <a:tailEnd type="oval" w="med" len="med"/>
          </a:ln>
        </p:spPr>
      </p:sp>
      <p:sp>
        <p:nvSpPr>
          <p:cNvPr id="4102" name="Text Box 12"/>
          <p:cNvSpPr txBox="1"/>
          <p:nvPr/>
        </p:nvSpPr>
        <p:spPr>
          <a:xfrm>
            <a:off x="2362200" y="1581150"/>
            <a:ext cx="5638800" cy="523875"/>
          </a:xfrm>
          <a:prstGeom prst="rect">
            <a:avLst/>
          </a:prstGeom>
          <a:noFill/>
          <a:ln w="9525">
            <a:noFill/>
          </a:ln>
        </p:spPr>
        <p:txBody>
          <a:bodyPr>
            <a:spAutoFit/>
          </a:bodyPr>
          <a:lstStyle/>
          <a:p>
            <a:r>
              <a:rPr lang="zh-CN" altLang="en-US" sz="2800" b="1" dirty="0">
                <a:solidFill>
                  <a:srgbClr val="FF0000"/>
                </a:solidFill>
                <a:latin typeface="华文楷体" panose="02010600040101010101" pitchFamily="2" charset="-122"/>
                <a:ea typeface="华文楷体" panose="02010600040101010101" pitchFamily="2" charset="-122"/>
              </a:rPr>
              <a:t>法律法规</a:t>
            </a:r>
          </a:p>
        </p:txBody>
      </p:sp>
      <p:sp>
        <p:nvSpPr>
          <p:cNvPr id="4103" name="Text Box 13"/>
          <p:cNvSpPr txBox="1"/>
          <p:nvPr/>
        </p:nvSpPr>
        <p:spPr>
          <a:xfrm>
            <a:off x="1733550" y="16224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1</a:t>
            </a:r>
          </a:p>
        </p:txBody>
      </p:sp>
      <p:sp>
        <p:nvSpPr>
          <p:cNvPr id="4104" name="Line 14"/>
          <p:cNvSpPr/>
          <p:nvPr/>
        </p:nvSpPr>
        <p:spPr>
          <a:xfrm>
            <a:off x="2133600" y="3048000"/>
            <a:ext cx="4800600" cy="0"/>
          </a:xfrm>
          <a:prstGeom prst="line">
            <a:avLst/>
          </a:prstGeom>
          <a:ln w="25400" cap="flat" cmpd="sng">
            <a:solidFill>
              <a:srgbClr val="C0C0C0"/>
            </a:solidFill>
            <a:prstDash val="sysDot"/>
            <a:headEnd type="none" w="med" len="med"/>
            <a:tailEnd type="oval" w="med" len="med"/>
          </a:ln>
        </p:spPr>
      </p:sp>
      <p:sp>
        <p:nvSpPr>
          <p:cNvPr id="4105" name="Text Box 16"/>
          <p:cNvSpPr txBox="1"/>
          <p:nvPr/>
        </p:nvSpPr>
        <p:spPr>
          <a:xfrm>
            <a:off x="1733550" y="25368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2</a:t>
            </a:r>
          </a:p>
        </p:txBody>
      </p:sp>
      <p:sp>
        <p:nvSpPr>
          <p:cNvPr id="4106" name="Text Box 21"/>
          <p:cNvSpPr txBox="1"/>
          <p:nvPr/>
        </p:nvSpPr>
        <p:spPr>
          <a:xfrm>
            <a:off x="1733550" y="34290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3</a:t>
            </a:r>
          </a:p>
        </p:txBody>
      </p:sp>
      <p:sp>
        <p:nvSpPr>
          <p:cNvPr id="4107" name="Text Box 22"/>
          <p:cNvSpPr txBox="1"/>
          <p:nvPr/>
        </p:nvSpPr>
        <p:spPr>
          <a:xfrm>
            <a:off x="1689100" y="50292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5</a:t>
            </a:r>
          </a:p>
        </p:txBody>
      </p:sp>
      <p:sp>
        <p:nvSpPr>
          <p:cNvPr id="7186" name="Text Box 24"/>
          <p:cNvSpPr txBox="1">
            <a:spLocks noChangeArrowheads="1"/>
          </p:cNvSpPr>
          <p:nvPr/>
        </p:nvSpPr>
        <p:spPr bwMode="auto">
          <a:xfrm>
            <a:off x="2286000" y="2490788"/>
            <a:ext cx="502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 </a:t>
            </a:r>
            <a:r>
              <a:rPr kumimoji="0" lang="zh-CN" altLang="en-US" sz="2800" b="1" i="0" u="none" strike="noStrike" kern="120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a:t>
            </a: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安全法律规范</a:t>
            </a:r>
          </a:p>
        </p:txBody>
      </p:sp>
      <p:grpSp>
        <p:nvGrpSpPr>
          <p:cNvPr id="4109" name="组合 25"/>
          <p:cNvGrpSpPr/>
          <p:nvPr/>
        </p:nvGrpSpPr>
        <p:grpSpPr>
          <a:xfrm>
            <a:off x="1524000" y="3317875"/>
            <a:ext cx="5721350" cy="665163"/>
            <a:chOff x="1828800" y="3559175"/>
            <a:chExt cx="5721395" cy="665163"/>
          </a:xfrm>
        </p:grpSpPr>
        <p:sp>
          <p:nvSpPr>
            <p:cNvPr id="4124" name="Text Box 15"/>
            <p:cNvSpPr txBox="1"/>
            <p:nvPr/>
          </p:nvSpPr>
          <p:spPr>
            <a:xfrm>
              <a:off x="2597156" y="3657600"/>
              <a:ext cx="4953039" cy="522288"/>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 信息安全法律关系</a:t>
              </a:r>
            </a:p>
          </p:txBody>
        </p:sp>
        <p:grpSp>
          <p:nvGrpSpPr>
            <p:cNvPr id="4125" name="Group 17"/>
            <p:cNvGrpSpPr/>
            <p:nvPr/>
          </p:nvGrpSpPr>
          <p:grpSpPr>
            <a:xfrm>
              <a:off x="1828800" y="3559175"/>
              <a:ext cx="762000" cy="665163"/>
              <a:chOff x="1110" y="2656"/>
              <a:chExt cx="1549" cy="1351"/>
            </a:xfrm>
          </p:grpSpPr>
          <p:sp>
            <p:nvSpPr>
              <p:cNvPr id="4127"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28"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126"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4110" name="组合 25"/>
          <p:cNvGrpSpPr/>
          <p:nvPr/>
        </p:nvGrpSpPr>
        <p:grpSpPr>
          <a:xfrm>
            <a:off x="1541463" y="4210050"/>
            <a:ext cx="5791200" cy="665163"/>
            <a:chOff x="1828800" y="3559175"/>
            <a:chExt cx="5791200" cy="665163"/>
          </a:xfrm>
        </p:grpSpPr>
        <p:sp>
          <p:nvSpPr>
            <p:cNvPr id="4118" name="Text Box 15"/>
            <p:cNvSpPr txBox="1"/>
            <p:nvPr/>
          </p:nvSpPr>
          <p:spPr>
            <a:xfrm>
              <a:off x="2667000" y="3697288"/>
              <a:ext cx="49530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立法、司法和执法</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4119" name="Group 17"/>
            <p:cNvGrpSpPr/>
            <p:nvPr/>
          </p:nvGrpSpPr>
          <p:grpSpPr>
            <a:xfrm>
              <a:off x="1828800" y="3559175"/>
              <a:ext cx="762000" cy="665163"/>
              <a:chOff x="1110" y="2656"/>
              <a:chExt cx="1549" cy="1351"/>
            </a:xfrm>
          </p:grpSpPr>
          <p:sp>
            <p:nvSpPr>
              <p:cNvPr id="4121"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22"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120"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4111" name="组合 25"/>
          <p:cNvGrpSpPr/>
          <p:nvPr/>
        </p:nvGrpSpPr>
        <p:grpSpPr>
          <a:xfrm>
            <a:off x="1530350" y="5089525"/>
            <a:ext cx="5791200" cy="665163"/>
            <a:chOff x="1828800" y="3559175"/>
            <a:chExt cx="5791200" cy="665163"/>
          </a:xfrm>
        </p:grpSpPr>
        <p:sp>
          <p:nvSpPr>
            <p:cNvPr id="4112" name="Text Box 15"/>
            <p:cNvSpPr txBox="1"/>
            <p:nvPr/>
          </p:nvSpPr>
          <p:spPr>
            <a:xfrm>
              <a:off x="2667000" y="3657600"/>
              <a:ext cx="49530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思政点</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4113" name="Group 17"/>
            <p:cNvGrpSpPr/>
            <p:nvPr/>
          </p:nvGrpSpPr>
          <p:grpSpPr>
            <a:xfrm>
              <a:off x="1828800" y="3559175"/>
              <a:ext cx="762000" cy="665163"/>
              <a:chOff x="1110" y="2656"/>
              <a:chExt cx="1549" cy="1351"/>
            </a:xfrm>
          </p:grpSpPr>
          <p:sp>
            <p:nvSpPr>
              <p:cNvPr id="4115"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16"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0"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114"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法律法规</a:t>
            </a:r>
          </a:p>
        </p:txBody>
      </p:sp>
      <p:sp>
        <p:nvSpPr>
          <p:cNvPr id="5123" name="矩形 1"/>
          <p:cNvSpPr/>
          <p:nvPr/>
        </p:nvSpPr>
        <p:spPr>
          <a:xfrm>
            <a:off x="1066800" y="1765300"/>
            <a:ext cx="7239000" cy="1892300"/>
          </a:xfrm>
          <a:prstGeom prst="rect">
            <a:avLst/>
          </a:prstGeom>
          <a:noFill/>
          <a:ln w="9525">
            <a:noFill/>
          </a:ln>
        </p:spPr>
        <p:txBody>
          <a:bodyPr>
            <a:spAutoFit/>
          </a:bodyPr>
          <a:lstStyle/>
          <a:p>
            <a:pPr>
              <a:lnSpc>
                <a:spcPct val="150000"/>
              </a:lnSpc>
            </a:pPr>
            <a:r>
              <a:rPr lang="zh-CN" altLang="en-US" b="1" dirty="0">
                <a:solidFill>
                  <a:srgbClr val="FF0000"/>
                </a:solidFill>
                <a:latin typeface="华文楷体" panose="02010600040101010101" pitchFamily="2" charset="-122"/>
                <a:ea typeface="华文楷体" panose="02010600040101010101" pitchFamily="2" charset="-122"/>
              </a:rPr>
              <a:t>法律法规</a:t>
            </a:r>
            <a:r>
              <a:rPr lang="zh-CN" altLang="en-US" dirty="0">
                <a:latin typeface="华文楷体" panose="02010600040101010101" pitchFamily="2" charset="-122"/>
                <a:ea typeface="华文楷体" panose="02010600040101010101" pitchFamily="2" charset="-122"/>
              </a:rPr>
              <a:t>是指国家按照统治阶级的利益和意志制定、认可，并由国家强制力保障其实施的行为规范的总和。 </a:t>
            </a:r>
            <a:endParaRPr lang="en-US" altLang="zh-CN" dirty="0">
              <a:latin typeface="华文楷体" panose="02010600040101010101" pitchFamily="2" charset="-122"/>
              <a:ea typeface="华文楷体" panose="02010600040101010101" pitchFamily="2" charset="-122"/>
            </a:endParaRPr>
          </a:p>
        </p:txBody>
      </p:sp>
      <p:pic>
        <p:nvPicPr>
          <p:cNvPr id="5124" name="图片 1"/>
          <p:cNvPicPr>
            <a:picLocks noChangeAspect="1"/>
          </p:cNvPicPr>
          <p:nvPr/>
        </p:nvPicPr>
        <p:blipFill>
          <a:blip r:embed="rId2"/>
          <a:stretch>
            <a:fillRect/>
          </a:stretch>
        </p:blipFill>
        <p:spPr>
          <a:xfrm>
            <a:off x="4495800" y="3803650"/>
            <a:ext cx="3886200" cy="2749550"/>
          </a:xfrm>
          <a:prstGeom prst="rect">
            <a:avLst/>
          </a:prstGeom>
          <a:noFill/>
          <a:ln w="9525">
            <a:noFill/>
          </a:ln>
        </p:spPr>
      </p:pic>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6147" name="Group 3"/>
          <p:cNvGrpSpPr/>
          <p:nvPr/>
        </p:nvGrpSpPr>
        <p:grpSpPr>
          <a:xfrm>
            <a:off x="1524000" y="1524000"/>
            <a:ext cx="762000" cy="665163"/>
            <a:chOff x="1110" y="2656"/>
            <a:chExt cx="1549" cy="1351"/>
          </a:xfrm>
        </p:grpSpPr>
        <p:sp>
          <p:nvSpPr>
            <p:cNvPr id="618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18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6148" name="Group 7"/>
          <p:cNvGrpSpPr/>
          <p:nvPr/>
        </p:nvGrpSpPr>
        <p:grpSpPr>
          <a:xfrm>
            <a:off x="1524000" y="2374900"/>
            <a:ext cx="762000" cy="665163"/>
            <a:chOff x="3174" y="2656"/>
            <a:chExt cx="1549" cy="1351"/>
          </a:xfrm>
        </p:grpSpPr>
        <p:sp>
          <p:nvSpPr>
            <p:cNvPr id="6178"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179"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6149" name="Line 11"/>
          <p:cNvSpPr/>
          <p:nvPr/>
        </p:nvSpPr>
        <p:spPr>
          <a:xfrm>
            <a:off x="2133600" y="2133600"/>
            <a:ext cx="4800600" cy="4763"/>
          </a:xfrm>
          <a:prstGeom prst="line">
            <a:avLst/>
          </a:prstGeom>
          <a:ln w="25400" cap="flat" cmpd="sng">
            <a:solidFill>
              <a:srgbClr val="C0C0C0"/>
            </a:solidFill>
            <a:prstDash val="sysDot"/>
            <a:headEnd type="none" w="med" len="med"/>
            <a:tailEnd type="oval" w="med" len="med"/>
          </a:ln>
        </p:spPr>
      </p:sp>
      <p:sp>
        <p:nvSpPr>
          <p:cNvPr id="6150" name="Text Box 12"/>
          <p:cNvSpPr txBox="1"/>
          <p:nvPr/>
        </p:nvSpPr>
        <p:spPr>
          <a:xfrm>
            <a:off x="2362200" y="1581150"/>
            <a:ext cx="56388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法律法规</a:t>
            </a:r>
          </a:p>
        </p:txBody>
      </p:sp>
      <p:sp>
        <p:nvSpPr>
          <p:cNvPr id="6151" name="Text Box 13"/>
          <p:cNvSpPr txBox="1"/>
          <p:nvPr/>
        </p:nvSpPr>
        <p:spPr>
          <a:xfrm>
            <a:off x="1733550" y="16224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1</a:t>
            </a:r>
          </a:p>
        </p:txBody>
      </p:sp>
      <p:sp>
        <p:nvSpPr>
          <p:cNvPr id="6152" name="Line 14"/>
          <p:cNvSpPr/>
          <p:nvPr/>
        </p:nvSpPr>
        <p:spPr>
          <a:xfrm>
            <a:off x="2133600" y="3048000"/>
            <a:ext cx="4800600" cy="0"/>
          </a:xfrm>
          <a:prstGeom prst="line">
            <a:avLst/>
          </a:prstGeom>
          <a:ln w="25400" cap="flat" cmpd="sng">
            <a:solidFill>
              <a:srgbClr val="C0C0C0"/>
            </a:solidFill>
            <a:prstDash val="sysDot"/>
            <a:headEnd type="none" w="med" len="med"/>
            <a:tailEnd type="oval" w="med" len="med"/>
          </a:ln>
        </p:spPr>
      </p:sp>
      <p:sp>
        <p:nvSpPr>
          <p:cNvPr id="6153" name="Text Box 16"/>
          <p:cNvSpPr txBox="1"/>
          <p:nvPr/>
        </p:nvSpPr>
        <p:spPr>
          <a:xfrm>
            <a:off x="1733550" y="25368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2</a:t>
            </a:r>
          </a:p>
        </p:txBody>
      </p:sp>
      <p:sp>
        <p:nvSpPr>
          <p:cNvPr id="6154" name="Text Box 21"/>
          <p:cNvSpPr txBox="1"/>
          <p:nvPr/>
        </p:nvSpPr>
        <p:spPr>
          <a:xfrm>
            <a:off x="1733550" y="34290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3</a:t>
            </a:r>
          </a:p>
        </p:txBody>
      </p:sp>
      <p:sp>
        <p:nvSpPr>
          <p:cNvPr id="6155" name="Text Box 22"/>
          <p:cNvSpPr txBox="1"/>
          <p:nvPr/>
        </p:nvSpPr>
        <p:spPr>
          <a:xfrm>
            <a:off x="1689100" y="50292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5</a:t>
            </a:r>
          </a:p>
        </p:txBody>
      </p:sp>
      <p:sp>
        <p:nvSpPr>
          <p:cNvPr id="7186" name="Text Box 24"/>
          <p:cNvSpPr txBox="1">
            <a:spLocks noChangeArrowheads="1"/>
          </p:cNvSpPr>
          <p:nvPr/>
        </p:nvSpPr>
        <p:spPr bwMode="auto">
          <a:xfrm>
            <a:off x="2286000" y="2490788"/>
            <a:ext cx="502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 </a:t>
            </a:r>
            <a:r>
              <a:rPr kumimoji="0" lang="zh-CN" altLang="en-US" sz="2800" b="1" i="0" u="none" strike="noStrike" kern="120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信息</a:t>
            </a:r>
            <a:r>
              <a:rPr kumimoji="0" lang="zh-CN" altLang="en-US" sz="28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安全法律规范</a:t>
            </a:r>
          </a:p>
        </p:txBody>
      </p:sp>
      <p:grpSp>
        <p:nvGrpSpPr>
          <p:cNvPr id="6157" name="组合 25"/>
          <p:cNvGrpSpPr/>
          <p:nvPr/>
        </p:nvGrpSpPr>
        <p:grpSpPr>
          <a:xfrm>
            <a:off x="1524000" y="3317875"/>
            <a:ext cx="5721350" cy="665163"/>
            <a:chOff x="1828800" y="3559175"/>
            <a:chExt cx="5721395" cy="665163"/>
          </a:xfrm>
        </p:grpSpPr>
        <p:sp>
          <p:nvSpPr>
            <p:cNvPr id="6172" name="Text Box 15"/>
            <p:cNvSpPr txBox="1"/>
            <p:nvPr/>
          </p:nvSpPr>
          <p:spPr>
            <a:xfrm>
              <a:off x="2597156" y="3657600"/>
              <a:ext cx="4953039" cy="522288"/>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 信息安全法律关系</a:t>
              </a:r>
            </a:p>
          </p:txBody>
        </p:sp>
        <p:grpSp>
          <p:nvGrpSpPr>
            <p:cNvPr id="6173" name="Group 17"/>
            <p:cNvGrpSpPr/>
            <p:nvPr/>
          </p:nvGrpSpPr>
          <p:grpSpPr>
            <a:xfrm>
              <a:off x="1828800" y="3559175"/>
              <a:ext cx="762000" cy="665163"/>
              <a:chOff x="1110" y="2656"/>
              <a:chExt cx="1549" cy="1351"/>
            </a:xfrm>
          </p:grpSpPr>
          <p:sp>
            <p:nvSpPr>
              <p:cNvPr id="6175"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176"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6174"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6158" name="组合 25"/>
          <p:cNvGrpSpPr/>
          <p:nvPr/>
        </p:nvGrpSpPr>
        <p:grpSpPr>
          <a:xfrm>
            <a:off x="1541463" y="4210050"/>
            <a:ext cx="5791200" cy="665163"/>
            <a:chOff x="1828800" y="3559175"/>
            <a:chExt cx="5791200" cy="665163"/>
          </a:xfrm>
        </p:grpSpPr>
        <p:sp>
          <p:nvSpPr>
            <p:cNvPr id="6166" name="Text Box 15"/>
            <p:cNvSpPr txBox="1"/>
            <p:nvPr/>
          </p:nvSpPr>
          <p:spPr>
            <a:xfrm>
              <a:off x="2667000" y="3697288"/>
              <a:ext cx="49530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立法、司法和执法</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6167" name="Group 17"/>
            <p:cNvGrpSpPr/>
            <p:nvPr/>
          </p:nvGrpSpPr>
          <p:grpSpPr>
            <a:xfrm>
              <a:off x="1828800" y="3559175"/>
              <a:ext cx="762000" cy="665163"/>
              <a:chOff x="1110" y="2656"/>
              <a:chExt cx="1549" cy="1351"/>
            </a:xfrm>
          </p:grpSpPr>
          <p:sp>
            <p:nvSpPr>
              <p:cNvPr id="6169"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170"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6168"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6159" name="组合 25"/>
          <p:cNvGrpSpPr/>
          <p:nvPr/>
        </p:nvGrpSpPr>
        <p:grpSpPr>
          <a:xfrm>
            <a:off x="1530350" y="5089525"/>
            <a:ext cx="5791200" cy="665163"/>
            <a:chOff x="1828800" y="3559175"/>
            <a:chExt cx="5791200" cy="665163"/>
          </a:xfrm>
        </p:grpSpPr>
        <p:sp>
          <p:nvSpPr>
            <p:cNvPr id="6160" name="Text Box 15"/>
            <p:cNvSpPr txBox="1"/>
            <p:nvPr/>
          </p:nvSpPr>
          <p:spPr>
            <a:xfrm>
              <a:off x="2667000" y="3657600"/>
              <a:ext cx="49530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思政点</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6161" name="Group 17"/>
            <p:cNvGrpSpPr/>
            <p:nvPr/>
          </p:nvGrpSpPr>
          <p:grpSpPr>
            <a:xfrm>
              <a:off x="1828800" y="3559175"/>
              <a:ext cx="762000" cy="665163"/>
              <a:chOff x="1110" y="2656"/>
              <a:chExt cx="1549" cy="1351"/>
            </a:xfrm>
          </p:grpSpPr>
          <p:sp>
            <p:nvSpPr>
              <p:cNvPr id="6163"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164"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0"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6162"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Tree>
  </p:cSld>
  <p:clrMapOvr>
    <a:masterClrMapping/>
  </p:clrMapOvr>
  <p:transition>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信息安全法律规范</a:t>
            </a:r>
          </a:p>
        </p:txBody>
      </p:sp>
      <p:pic>
        <p:nvPicPr>
          <p:cNvPr id="7171" name="内容占位符 3"/>
          <p:cNvPicPr>
            <a:picLocks noGrp="1" noChangeAspect="1"/>
          </p:cNvPicPr>
          <p:nvPr>
            <p:ph idx="1"/>
          </p:nvPr>
        </p:nvPicPr>
        <p:blipFill>
          <a:blip r:embed="rId2"/>
          <a:srcRect/>
          <a:stretch>
            <a:fillRect/>
          </a:stretch>
        </p:blipFill>
        <p:spPr>
          <a:xfrm>
            <a:off x="5791200" y="2438400"/>
            <a:ext cx="3352800" cy="2971800"/>
          </a:xfrm>
          <a:ln/>
        </p:spPr>
      </p:pic>
      <p:sp>
        <p:nvSpPr>
          <p:cNvPr id="7172" name="矩形 4"/>
          <p:cNvSpPr/>
          <p:nvPr/>
        </p:nvSpPr>
        <p:spPr>
          <a:xfrm>
            <a:off x="304800" y="1447800"/>
            <a:ext cx="5867400" cy="5078413"/>
          </a:xfrm>
          <a:prstGeom prst="rect">
            <a:avLst/>
          </a:prstGeom>
          <a:noFill/>
          <a:ln w="9525">
            <a:noFill/>
          </a:ln>
        </p:spPr>
        <p:txBody>
          <a:bodyPr>
            <a:spAutoFit/>
          </a:bodyPr>
          <a:lstStyle/>
          <a:p>
            <a:pPr>
              <a:lnSpc>
                <a:spcPct val="150000"/>
              </a:lnSpc>
            </a:pPr>
            <a:r>
              <a:rPr lang="zh-CN" altLang="en-US" sz="2400" dirty="0">
                <a:solidFill>
                  <a:srgbClr val="FF0000"/>
                </a:solidFill>
                <a:latin typeface="华文楷体" panose="02010600040101010101" pitchFamily="2" charset="-122"/>
                <a:ea typeface="华文楷体" panose="02010600040101010101" pitchFamily="2" charset="-122"/>
              </a:rPr>
              <a:t>国家安全</a:t>
            </a:r>
            <a:r>
              <a:rPr lang="zh-CN" altLang="en-US" sz="2400" dirty="0">
                <a:latin typeface="华文楷体" panose="02010600040101010101" pitchFamily="2" charset="-122"/>
                <a:ea typeface="华文楷体" panose="02010600040101010101" pitchFamily="2" charset="-122"/>
              </a:rPr>
              <a:t>是国家政权、主权、统一和领土完整、人民福祉、经济社会可持续发展和国家其他重大利益相对处于没有危险和不受内外威胁的状态，以及保障持续安全状态的能力。</a:t>
            </a:r>
            <a:endParaRPr lang="en-US" altLang="zh-CN" sz="2400" dirty="0">
              <a:latin typeface="华文楷体" panose="02010600040101010101" pitchFamily="2" charset="-122"/>
              <a:ea typeface="华文楷体" panose="02010600040101010101" pitchFamily="2" charset="-122"/>
            </a:endParaRPr>
          </a:p>
          <a:p>
            <a:pPr>
              <a:lnSpc>
                <a:spcPct val="150000"/>
              </a:lnSpc>
            </a:pPr>
            <a:r>
              <a:rPr lang="zh-CN" altLang="en-US" sz="2400" dirty="0">
                <a:latin typeface="华文楷体" panose="02010600040101010101" pitchFamily="2" charset="-122"/>
                <a:ea typeface="华文楷体" panose="02010600040101010101" pitchFamily="2" charset="-122"/>
              </a:rPr>
              <a:t>当代国家安全包括</a:t>
            </a:r>
            <a:r>
              <a:rPr lang="en-US" altLang="zh-CN" sz="2400" dirty="0">
                <a:latin typeface="华文楷体" panose="02010600040101010101" pitchFamily="2" charset="-122"/>
                <a:ea typeface="华文楷体" panose="02010600040101010101" pitchFamily="2" charset="-122"/>
              </a:rPr>
              <a:t>11</a:t>
            </a:r>
            <a:r>
              <a:rPr lang="zh-CN" altLang="en-US" sz="2400" dirty="0">
                <a:latin typeface="华文楷体" panose="02010600040101010101" pitchFamily="2" charset="-122"/>
                <a:ea typeface="华文楷体" panose="02010600040101010101" pitchFamily="2" charset="-122"/>
              </a:rPr>
              <a:t>个方面的内容，即政治安全、国土安全、军事安全、经济安全、文化安全、社会安全、科技安全、</a:t>
            </a:r>
            <a:r>
              <a:rPr lang="zh-CN" altLang="en-US" sz="2400" b="1" dirty="0">
                <a:solidFill>
                  <a:srgbClr val="FF0000"/>
                </a:solidFill>
                <a:latin typeface="华文楷体" panose="02010600040101010101" pitchFamily="2" charset="-122"/>
                <a:ea typeface="华文楷体" panose="02010600040101010101" pitchFamily="2" charset="-122"/>
              </a:rPr>
              <a:t>信息安全、</a:t>
            </a:r>
            <a:r>
              <a:rPr lang="zh-CN" altLang="en-US" sz="2400" dirty="0">
                <a:latin typeface="华文楷体" panose="02010600040101010101" pitchFamily="2" charset="-122"/>
                <a:ea typeface="华文楷体" panose="02010600040101010101" pitchFamily="2" charset="-122"/>
              </a:rPr>
              <a:t>生态安全、资源安全、核安全。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barn(inVertical)">
                                      <p:cBhvr>
                                        <p:cTn id="7" dur="500"/>
                                        <p:tgtEl>
                                          <p:spTgt spid="717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7172">
                                            <p:txEl>
                                              <p:pRg st="1" end="1"/>
                                            </p:txEl>
                                          </p:spTgt>
                                        </p:tgtEl>
                                        <p:attrNameLst>
                                          <p:attrName>style.visibility</p:attrName>
                                        </p:attrNameLst>
                                      </p:cBhvr>
                                      <p:to>
                                        <p:strVal val="visible"/>
                                      </p:to>
                                    </p:set>
                                    <p:animEffect transition="in" filter="circle(in)">
                                      <p:cBhvr>
                                        <p:cTn id="12" dur="20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4"/>
          <p:cNvSpPr txBox="1"/>
          <p:nvPr>
            <p:custDataLst>
              <p:tags r:id="rId2"/>
            </p:custDataLst>
          </p:nvPr>
        </p:nvSpPr>
        <p:spPr>
          <a:xfrm>
            <a:off x="914400" y="635000"/>
            <a:ext cx="7315200" cy="2143125"/>
          </a:xfrm>
          <a:prstGeom prst="rect">
            <a:avLst/>
          </a:prstGeom>
          <a:noFill/>
          <a:ln w="9525">
            <a:noFill/>
          </a:ln>
        </p:spPr>
        <p:txBody>
          <a:bodyPr anchor="ctr" anchorCtr="0"/>
          <a:lstStyle/>
          <a:p>
            <a:r>
              <a:rPr lang="zh-CN" altLang="en-US" dirty="0">
                <a:latin typeface="华文楷体" panose="02010600040101010101" pitchFamily="2" charset="-122"/>
                <a:ea typeface="华文楷体" panose="02010600040101010101" pitchFamily="2" charset="-122"/>
                <a:sym typeface="微软雅黑" panose="020B0503020204020204" pitchFamily="34" charset="-122"/>
              </a:rPr>
              <a:t>信息安全的成绩取得，与相关“规矩”的不断建立和完善密不可分。规矩指的是：</a:t>
            </a:r>
          </a:p>
        </p:txBody>
      </p:sp>
      <p:sp>
        <p:nvSpPr>
          <p:cNvPr id="8195" name="TextBox 5"/>
          <p:cNvSpPr txBox="1"/>
          <p:nvPr>
            <p:custDataLst>
              <p:tags r:id="rId3"/>
            </p:custDataLst>
          </p:nvPr>
        </p:nvSpPr>
        <p:spPr>
          <a:xfrm>
            <a:off x="1828800" y="2786063"/>
            <a:ext cx="6400800" cy="642937"/>
          </a:xfrm>
          <a:prstGeom prst="rect">
            <a:avLst/>
          </a:prstGeom>
          <a:noFill/>
          <a:ln w="9525">
            <a:noFill/>
          </a:ln>
        </p:spPr>
        <p:txBody>
          <a:bodyPr anchor="ctr" anchorCtr="0"/>
          <a:lstStyle/>
          <a:p>
            <a:r>
              <a:rPr lang="zh-CN" altLang="en-US" dirty="0">
                <a:latin typeface="华文楷体" panose="02010600040101010101" pitchFamily="2" charset="-122"/>
                <a:ea typeface="华文楷体" panose="02010600040101010101" pitchFamily="2" charset="-122"/>
                <a:sym typeface="微软雅黑" panose="020B0503020204020204" pitchFamily="34" charset="-122"/>
              </a:rPr>
              <a:t>法律</a:t>
            </a:r>
          </a:p>
        </p:txBody>
      </p:sp>
      <p:sp>
        <p:nvSpPr>
          <p:cNvPr id="8196" name="TextBox 6"/>
          <p:cNvSpPr txBox="1"/>
          <p:nvPr>
            <p:custDataLst>
              <p:tags r:id="rId4"/>
            </p:custDataLst>
          </p:nvPr>
        </p:nvSpPr>
        <p:spPr>
          <a:xfrm>
            <a:off x="1828800" y="3643313"/>
            <a:ext cx="6400800" cy="642937"/>
          </a:xfrm>
          <a:prstGeom prst="rect">
            <a:avLst/>
          </a:prstGeom>
          <a:noFill/>
          <a:ln w="9525">
            <a:noFill/>
          </a:ln>
        </p:spPr>
        <p:txBody>
          <a:bodyPr anchor="ctr" anchorCtr="0"/>
          <a:lstStyle/>
          <a:p>
            <a:r>
              <a:rPr lang="zh-CN" altLang="en-US" dirty="0">
                <a:latin typeface="华文楷体" panose="02010600040101010101" pitchFamily="2" charset="-122"/>
                <a:ea typeface="华文楷体" panose="02010600040101010101" pitchFamily="2" charset="-122"/>
                <a:sym typeface="微软雅黑" panose="020B0503020204020204" pitchFamily="34" charset="-122"/>
              </a:rPr>
              <a:t>法规</a:t>
            </a:r>
          </a:p>
        </p:txBody>
      </p:sp>
      <p:sp>
        <p:nvSpPr>
          <p:cNvPr id="8197" name="TextBox 7"/>
          <p:cNvSpPr txBox="1"/>
          <p:nvPr>
            <p:custDataLst>
              <p:tags r:id="rId5"/>
            </p:custDataLst>
          </p:nvPr>
        </p:nvSpPr>
        <p:spPr>
          <a:xfrm>
            <a:off x="1828800" y="4487863"/>
            <a:ext cx="6400800" cy="642937"/>
          </a:xfrm>
          <a:prstGeom prst="rect">
            <a:avLst/>
          </a:prstGeom>
          <a:noFill/>
          <a:ln w="9525">
            <a:noFill/>
          </a:ln>
        </p:spPr>
        <p:txBody>
          <a:bodyPr anchor="ctr" anchorCtr="0"/>
          <a:lstStyle/>
          <a:p>
            <a:r>
              <a:rPr lang="zh-CN" altLang="en-US" dirty="0">
                <a:latin typeface="华文楷体" panose="02010600040101010101" pitchFamily="2" charset="-122"/>
                <a:ea typeface="华文楷体" panose="02010600040101010101" pitchFamily="2" charset="-122"/>
                <a:sym typeface="微软雅黑" panose="020B0503020204020204" pitchFamily="34" charset="-122"/>
              </a:rPr>
              <a:t>标准</a:t>
            </a:r>
          </a:p>
        </p:txBody>
      </p:sp>
      <p:sp>
        <p:nvSpPr>
          <p:cNvPr id="8198" name="TextBox 8"/>
          <p:cNvSpPr txBox="1"/>
          <p:nvPr>
            <p:custDataLst>
              <p:tags r:id="rId6"/>
            </p:custDataLst>
          </p:nvPr>
        </p:nvSpPr>
        <p:spPr>
          <a:xfrm>
            <a:off x="1828800" y="5357813"/>
            <a:ext cx="6400800" cy="642937"/>
          </a:xfrm>
          <a:prstGeom prst="rect">
            <a:avLst/>
          </a:prstGeom>
          <a:noFill/>
          <a:ln w="9525">
            <a:noFill/>
          </a:ln>
        </p:spPr>
        <p:txBody>
          <a:bodyPr anchor="ctr" anchorCtr="0"/>
          <a:lstStyle/>
          <a:p>
            <a:r>
              <a:rPr lang="zh-CN" altLang="en-US" dirty="0">
                <a:latin typeface="华文楷体" panose="02010600040101010101" pitchFamily="2" charset="-122"/>
                <a:ea typeface="华文楷体" panose="02010600040101010101" pitchFamily="2" charset="-122"/>
                <a:sym typeface="微软雅黑" panose="020B0503020204020204" pitchFamily="34" charset="-122"/>
              </a:rPr>
              <a:t>以上都是</a:t>
            </a:r>
          </a:p>
        </p:txBody>
      </p:sp>
      <p:sp>
        <p:nvSpPr>
          <p:cNvPr id="8199" name="椭圆 9"/>
          <p:cNvSpPr>
            <a:spLocks noChangeAspect="1"/>
          </p:cNvSpPr>
          <p:nvPr>
            <p:custDataLst>
              <p:tags r:id="rId7"/>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200" name="椭圆 10"/>
          <p:cNvSpPr>
            <a:spLocks noChangeAspect="1"/>
          </p:cNvSpPr>
          <p:nvPr>
            <p:custDataLst>
              <p:tags r:id="rId8"/>
            </p:custDataLst>
          </p:nvPr>
        </p:nvSpPr>
        <p:spPr>
          <a:xfrm>
            <a:off x="1114425" y="37068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201" name="椭圆 11"/>
          <p:cNvSpPr>
            <a:spLocks noChangeAspect="1"/>
          </p:cNvSpPr>
          <p:nvPr>
            <p:custDataLst>
              <p:tags r:id="rId9"/>
            </p:custDataLst>
          </p:nvPr>
        </p:nvSpPr>
        <p:spPr>
          <a:xfrm>
            <a:off x="1114425" y="45640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202" name="椭圆 12"/>
          <p:cNvSpPr>
            <a:spLocks noChangeAspect="1"/>
          </p:cNvSpPr>
          <p:nvPr>
            <p:custDataLst>
              <p:tags r:id="rId10"/>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p>
        </p:txBody>
      </p:sp>
      <p:sp>
        <p:nvSpPr>
          <p:cNvPr id="8203" name="圆角矩形 13"/>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lstStyle/>
          <a:p>
            <a:pPr algn="ctr">
              <a:spcBef>
                <a:spcPct val="50000"/>
              </a:spcBef>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3" name="组合 2"/>
          <p:cNvGrpSpPr/>
          <p:nvPr>
            <p:custDataLst>
              <p:tags r:id="rId12"/>
            </p:custDataLst>
          </p:nvPr>
        </p:nvGrpSpPr>
        <p:grpSpPr>
          <a:xfrm>
            <a:off x="0" y="0"/>
            <a:ext cx="9144000" cy="635000"/>
            <a:chOff x="0" y="0"/>
            <a:chExt cx="9144000" cy="635000"/>
          </a:xfrm>
        </p:grpSpPr>
        <p:sp>
          <p:nvSpPr>
            <p:cNvPr id="8206" name="TitleBackground"/>
            <p:cNvSpPr/>
            <p:nvPr>
              <p:custDataLst>
                <p:tags r:id="rId14"/>
              </p:custDataLst>
            </p:nvPr>
          </p:nvSpPr>
          <p:spPr>
            <a:xfrm>
              <a:off x="0" y="0"/>
              <a:ext cx="9144000" cy="635000"/>
            </a:xfrm>
            <a:prstGeom prst="rect">
              <a:avLst/>
            </a:prstGeom>
            <a:solidFill>
              <a:srgbClr val="F6F7F8"/>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8207" name="ColorBlock"/>
            <p:cNvSpPr/>
            <p:nvPr>
              <p:custDataLst>
                <p:tags r:id="rId15"/>
              </p:custDataLst>
            </p:nvPr>
          </p:nvSpPr>
          <p:spPr>
            <a:xfrm>
              <a:off x="0" y="0"/>
              <a:ext cx="190500" cy="635000"/>
            </a:xfrm>
            <a:prstGeom prst="rect">
              <a:avLst/>
            </a:prstGeom>
            <a:solidFill>
              <a:srgbClr val="639EF4"/>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8208" name="TypeText"/>
            <p:cNvSpPr txBox="1"/>
            <p:nvPr>
              <p:custDataLst>
                <p:tags r:id="rId16"/>
              </p:custDataLst>
            </p:nvPr>
          </p:nvSpPr>
          <p:spPr>
            <a:xfrm>
              <a:off x="254000" y="0"/>
              <a:ext cx="1905000" cy="635000"/>
            </a:xfrm>
            <a:prstGeom prst="rect">
              <a:avLst/>
            </a:prstGeom>
            <a:noFill/>
            <a:ln w="9525">
              <a:noFill/>
            </a:ln>
          </p:spPr>
          <p:txBody>
            <a:bodyPr wrap="none"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投票</a:t>
              </a:r>
            </a:p>
          </p:txBody>
        </p:sp>
        <p:sp>
          <p:nvSpPr>
            <p:cNvPr id="2" name="TipText"/>
            <p:cNvSpPr txBox="1"/>
            <p:nvPr>
              <p:custDataLst>
                <p:tags r:id="rId17"/>
              </p:custDataLst>
            </p:nvPr>
          </p:nvSpPr>
          <p:spPr>
            <a:xfrm>
              <a:off x="1195705" y="109220"/>
              <a:ext cx="2286000" cy="5080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最多可选1项</a:t>
              </a:r>
            </a:p>
          </p:txBody>
        </p:sp>
      </p:grpSp>
      <p:pic>
        <p:nvPicPr>
          <p:cNvPr id="8205" name="图片 3"/>
          <p:cNvPicPr/>
          <p:nvPr>
            <p:custDataLst>
              <p:tags r:id="rId13"/>
            </p:custDataLst>
          </p:nvPr>
        </p:nvPicPr>
        <p:blipFill>
          <a:blip r:embed="rId19"/>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33663" y="344488"/>
            <a:ext cx="3876675" cy="646113"/>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0" cap="none" spc="0" normalizeH="0" baseline="0" noProof="0" dirty="0">
                <a:ln>
                  <a:noFill/>
                </a:ln>
                <a:solidFill>
                  <a:srgbClr val="FFFFFF"/>
                </a:solidFill>
                <a:effectLst/>
                <a:uLnTx/>
                <a:uFillTx/>
                <a:latin typeface="Arial" panose="020B0604020202020204"/>
                <a:ea typeface="宋体" panose="02010600030101010101" pitchFamily="2" charset="-122"/>
                <a:cs typeface="+mj-cs"/>
              </a:rPr>
              <a:t>信息安全法律规范</a:t>
            </a:r>
            <a:endParaRPr kumimoji="0" lang="zh-CN" altLang="en-US" sz="2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19" name="矩形 3"/>
          <p:cNvSpPr/>
          <p:nvPr/>
        </p:nvSpPr>
        <p:spPr>
          <a:xfrm>
            <a:off x="762000" y="1752600"/>
            <a:ext cx="7543800" cy="1831975"/>
          </a:xfrm>
          <a:prstGeom prst="rect">
            <a:avLst/>
          </a:prstGeom>
          <a:noFill/>
          <a:ln w="9525">
            <a:noFill/>
          </a:ln>
        </p:spPr>
        <p:txBody>
          <a:bodyPr>
            <a:spAutoFit/>
          </a:bodyPr>
          <a:lstStyle/>
          <a:p>
            <a:pPr>
              <a:lnSpc>
                <a:spcPct val="150000"/>
              </a:lnSpc>
            </a:pPr>
            <a:r>
              <a:rPr lang="zh-CN" altLang="en-US" b="1" dirty="0">
                <a:solidFill>
                  <a:srgbClr val="0D1259"/>
                </a:solidFill>
                <a:latin typeface="华文楷体" panose="02010600040101010101" pitchFamily="2" charset="-122"/>
                <a:ea typeface="华文楷体" panose="02010600040101010101" pitchFamily="2" charset="-122"/>
              </a:rPr>
              <a:t>信息安全法律法规</a:t>
            </a:r>
            <a:r>
              <a:rPr lang="zh-CN" altLang="en-US" dirty="0">
                <a:latin typeface="华文楷体" panose="02010600040101010101" pitchFamily="2" charset="-122"/>
                <a:ea typeface="华文楷体" panose="02010600040101010101" pitchFamily="2" charset="-122"/>
              </a:rPr>
              <a:t>是法律体系的组成部分，它涉及信息安全技术各分支的信息安全法律法规体系来实现的。</a:t>
            </a:r>
            <a:endParaRPr lang="zh-CN" altLang="en-US" dirty="0">
              <a:latin typeface="Times New Roman" panose="02020603050405020304" pitchFamily="18" charset="0"/>
            </a:endParaRPr>
          </a:p>
        </p:txBody>
      </p:sp>
      <p:pic>
        <p:nvPicPr>
          <p:cNvPr id="9220" name="图片 4"/>
          <p:cNvPicPr>
            <a:picLocks noChangeAspect="1"/>
          </p:cNvPicPr>
          <p:nvPr/>
        </p:nvPicPr>
        <p:blipFill>
          <a:blip r:embed="rId2"/>
          <a:stretch>
            <a:fillRect/>
          </a:stretch>
        </p:blipFill>
        <p:spPr>
          <a:xfrm>
            <a:off x="5410200" y="4648200"/>
            <a:ext cx="2895600" cy="20574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arn(inVertical)">
                                      <p:cBhvr>
                                        <p:cTn id="7" dur="500"/>
                                        <p:tgtEl>
                                          <p:spTgt spid="92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ln/>
        </p:spPr>
        <p:txBody>
          <a:bodyPr vert="horz" wrap="square" lIns="91440" tIns="45720" rIns="91440" bIns="45720" anchor="ctr" anchorCtr="0"/>
          <a:lstStyle/>
          <a:p>
            <a:pPr eaLnBrk="1" hangingPunct="1"/>
            <a:r>
              <a:rPr lang="zh-CN" altLang="en-US" dirty="0">
                <a:ea typeface="宋体" panose="02010600030101010101" pitchFamily="2" charset="-122"/>
              </a:rPr>
              <a:t>信息安全法律规范</a:t>
            </a:r>
            <a:endParaRPr lang="zh-CN" altLang="en-US" b="1" dirty="0">
              <a:ea typeface="宋体" panose="02010600030101010101" pitchFamily="2" charset="-122"/>
            </a:endParaRPr>
          </a:p>
        </p:txBody>
      </p:sp>
      <p:sp>
        <p:nvSpPr>
          <p:cNvPr id="10243" name="矩形 1"/>
          <p:cNvSpPr/>
          <p:nvPr/>
        </p:nvSpPr>
        <p:spPr>
          <a:xfrm>
            <a:off x="609600" y="1295400"/>
            <a:ext cx="8153400" cy="4616450"/>
          </a:xfrm>
          <a:prstGeom prst="rect">
            <a:avLst/>
          </a:prstGeom>
          <a:noFill/>
          <a:ln w="9525">
            <a:noFill/>
          </a:ln>
        </p:spPr>
        <p:txBody>
          <a:bodyPr>
            <a:spAutoFit/>
          </a:bodyPr>
          <a:lstStyle/>
          <a:p>
            <a:pPr>
              <a:lnSpc>
                <a:spcPct val="150000"/>
              </a:lnSpc>
            </a:pPr>
            <a:r>
              <a:rPr lang="zh-CN" altLang="en-US" sz="2800" b="1" dirty="0">
                <a:latin typeface="华文楷体" panose="02010600040101010101" pitchFamily="2" charset="-122"/>
                <a:ea typeface="华文楷体" panose="02010600040101010101" pitchFamily="2" charset="-122"/>
              </a:rPr>
              <a:t>信息安全法律法规的</a:t>
            </a:r>
            <a:r>
              <a:rPr lang="zh-CN" altLang="en-US" sz="2800" b="1" dirty="0">
                <a:solidFill>
                  <a:srgbClr val="FF0000"/>
                </a:solidFill>
                <a:latin typeface="华文楷体" panose="02010600040101010101" pitchFamily="2" charset="-122"/>
                <a:ea typeface="华文楷体" panose="02010600040101010101" pitchFamily="2" charset="-122"/>
              </a:rPr>
              <a:t>法律地位</a:t>
            </a:r>
            <a:r>
              <a:rPr lang="zh-CN" altLang="en-US" sz="2800" b="1" dirty="0">
                <a:latin typeface="华文楷体" panose="02010600040101010101" pitchFamily="2" charset="-122"/>
                <a:ea typeface="华文楷体" panose="02010600040101010101" pitchFamily="2" charset="-122"/>
              </a:rPr>
              <a:t>：</a:t>
            </a:r>
            <a:endParaRPr lang="en-US" altLang="zh-CN" sz="2800" b="1" dirty="0">
              <a:latin typeface="华文楷体" panose="02010600040101010101" pitchFamily="2" charset="-122"/>
              <a:ea typeface="华文楷体" panose="02010600040101010101" pitchFamily="2" charset="-122"/>
            </a:endParaRPr>
          </a:p>
          <a:p>
            <a:pPr>
              <a:lnSpc>
                <a:spcPct val="150000"/>
              </a:lnSpc>
            </a:pPr>
            <a:r>
              <a:rPr lang="zh-CN" altLang="en-US" sz="2400" dirty="0">
                <a:latin typeface="华文楷体" panose="02010600040101010101" pitchFamily="2" charset="-122"/>
                <a:ea typeface="华文楷体" panose="02010600040101010101" pitchFamily="2" charset="-122"/>
              </a:rPr>
              <a:t>信息安全立法的必要性和紧迫性</a:t>
            </a:r>
          </a:p>
          <a:p>
            <a:pPr>
              <a:lnSpc>
                <a:spcPct val="150000"/>
              </a:lnSpc>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）没有信息安全就没有完全意义上的国家安全。</a:t>
            </a:r>
          </a:p>
          <a:p>
            <a:pPr>
              <a:lnSpc>
                <a:spcPct val="150000"/>
              </a:lnSpc>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）国家对信息资源的支配和控制能力，将决定国家的主权和命运。</a:t>
            </a:r>
          </a:p>
          <a:p>
            <a:pPr>
              <a:lnSpc>
                <a:spcPct val="150000"/>
              </a:lnSpc>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）对信息的强有力的控制是打赢未来信息战的保证。</a:t>
            </a:r>
          </a:p>
          <a:p>
            <a:pPr>
              <a:lnSpc>
                <a:spcPct val="150000"/>
              </a:lnSpc>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）信息安全保障能力是</a:t>
            </a:r>
            <a:r>
              <a:rPr lang="en-US" altLang="zh-CN" sz="2400" dirty="0">
                <a:latin typeface="华文楷体" panose="02010600040101010101" pitchFamily="2" charset="-122"/>
                <a:ea typeface="华文楷体" panose="02010600040101010101" pitchFamily="2" charset="-122"/>
              </a:rPr>
              <a:t>21</a:t>
            </a:r>
            <a:r>
              <a:rPr lang="zh-CN" altLang="en-US" sz="2400" dirty="0">
                <a:latin typeface="华文楷体" panose="02010600040101010101" pitchFamily="2" charset="-122"/>
                <a:ea typeface="华文楷体" panose="02010600040101010101" pitchFamily="2" charset="-122"/>
              </a:rPr>
              <a:t>世纪综合国力、经济竞争力和生成发展能力的重要组成部分。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Effect transition="in" filter="fade">
                                      <p:cBhvr>
                                        <p:cTn id="7" dur="1000"/>
                                        <p:tgtEl>
                                          <p:spTgt spid="10243">
                                            <p:txEl>
                                              <p:pRg st="1" end="1"/>
                                            </p:txEl>
                                          </p:spTgt>
                                        </p:tgtEl>
                                      </p:cBhvr>
                                    </p:animEffect>
                                    <p:anim calcmode="lin" valueType="num">
                                      <p:cBhvr>
                                        <p:cTn id="8" dur="10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2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0243">
                                            <p:txEl>
                                              <p:pRg st="2" end="2"/>
                                            </p:txEl>
                                          </p:spTgt>
                                        </p:tgtEl>
                                        <p:attrNameLst>
                                          <p:attrName>style.visibility</p:attrName>
                                        </p:attrNameLst>
                                      </p:cBhvr>
                                      <p:to>
                                        <p:strVal val="visible"/>
                                      </p:to>
                                    </p:set>
                                    <p:animEffect transition="in" filter="barn(inVertical)">
                                      <p:cBhvr>
                                        <p:cTn id="14" dur="500"/>
                                        <p:tgtEl>
                                          <p:spTgt spid="10243">
                                            <p:txEl>
                                              <p:pRg st="2" end="2"/>
                                            </p:txEl>
                                          </p:spTgt>
                                        </p:tgtEl>
                                      </p:cBhvr>
                                    </p:animEffect>
                                  </p:childTnLst>
                                </p:cTn>
                              </p:par>
                              <p:par>
                                <p:cTn id="15" presetID="16" presetClass="entr" presetSubtype="21" fill="hold" nodeType="with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animEffect transition="in" filter="barn(inVertical)">
                                      <p:cBhvr>
                                        <p:cTn id="17" dur="500"/>
                                        <p:tgtEl>
                                          <p:spTgt spid="1024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0243">
                                            <p:txEl>
                                              <p:pRg st="4" end="4"/>
                                            </p:txEl>
                                          </p:spTgt>
                                        </p:tgtEl>
                                        <p:attrNameLst>
                                          <p:attrName>style.visibility</p:attrName>
                                        </p:attrNameLst>
                                      </p:cBhvr>
                                      <p:to>
                                        <p:strVal val="visible"/>
                                      </p:to>
                                    </p:set>
                                    <p:animEffect transition="in" filter="circle(in)">
                                      <p:cBhvr>
                                        <p:cTn id="22" dur="2000"/>
                                        <p:tgtEl>
                                          <p:spTgt spid="10243">
                                            <p:txEl>
                                              <p:pRg st="4" end="4"/>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10243">
                                            <p:txEl>
                                              <p:pRg st="5" end="5"/>
                                            </p:txEl>
                                          </p:spTgt>
                                        </p:tgtEl>
                                        <p:attrNameLst>
                                          <p:attrName>style.visibility</p:attrName>
                                        </p:attrNameLst>
                                      </p:cBhvr>
                                      <p:to>
                                        <p:strVal val="visible"/>
                                      </p:to>
                                    </p:set>
                                    <p:animEffect transition="in" filter="circle(in)">
                                      <p:cBhvr>
                                        <p:cTn id="25" dur="2000"/>
                                        <p:tgtEl>
                                          <p:spTgt spid="102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ln/>
        </p:spPr>
        <p:txBody>
          <a:bodyPr vert="horz" wrap="square" lIns="91440" tIns="45720" rIns="91440" bIns="45720" anchor="ctr" anchorCtr="0"/>
          <a:lstStyle/>
          <a:p>
            <a:pPr eaLnBrk="1" hangingPunct="1"/>
            <a:r>
              <a:rPr lang="zh-CN" altLang="en-US" dirty="0">
                <a:ea typeface="宋体" panose="02010600030101010101" pitchFamily="2" charset="-122"/>
              </a:rPr>
              <a:t>信息安全法律规范</a:t>
            </a:r>
            <a:endParaRPr lang="zh-CN" altLang="en-US" b="1" dirty="0">
              <a:ea typeface="宋体" panose="02010600030101010101" pitchFamily="2" charset="-122"/>
            </a:endParaRPr>
          </a:p>
        </p:txBody>
      </p:sp>
      <p:sp>
        <p:nvSpPr>
          <p:cNvPr id="2" name="矩形 1"/>
          <p:cNvSpPr/>
          <p:nvPr/>
        </p:nvSpPr>
        <p:spPr>
          <a:xfrm>
            <a:off x="609600" y="1295400"/>
            <a:ext cx="8153400" cy="4354513"/>
          </a:xfrm>
          <a:prstGeom prst="rect">
            <a:avLst/>
          </a:prstGeom>
        </p:spPr>
        <p:txBody>
          <a:bodyPr>
            <a:spAutoFit/>
          </a:bodyPr>
          <a:lstStyle/>
          <a:p>
            <a:pPr marL="0" marR="0" lvl="0" indent="0" algn="l" defTabSz="914400" rtl="0" eaLnBrk="0" fontAlgn="base" latinLnBrk="0" hangingPunct="0">
              <a:lnSpc>
                <a:spcPct val="150000"/>
              </a:lnSpc>
              <a:spcBef>
                <a:spcPts val="60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信息安全法律法规的</a:t>
            </a:r>
            <a:r>
              <a:rPr kumimoji="0" lang="zh-CN" altLang="en-US" sz="28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基本原则</a:t>
            </a:r>
            <a:r>
              <a:rPr kumimoji="0" lang="zh-CN" altLang="en-US" sz="28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28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ts val="600"/>
              </a:spcBef>
              <a:spcAft>
                <a:spcPct val="0"/>
              </a:spcAft>
              <a:buClr>
                <a:srgbClr val="3191D3"/>
              </a:buClr>
              <a:buSzTx/>
              <a:buFont typeface="Wingdings" panose="05000000000000000000" pitchFamily="2" charset="2"/>
              <a:buChar char="§"/>
              <a:defRPr/>
            </a:pPr>
            <a:r>
              <a:rPr kumimoji="0" lang="zh-CN"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谁主管谁负责的原则</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ts val="600"/>
              </a:spcBef>
              <a:spcAft>
                <a:spcPct val="0"/>
              </a:spcAft>
              <a:buClr>
                <a:srgbClr val="3191D3"/>
              </a:buClr>
              <a:buSzTx/>
              <a:buFont typeface="Wingdings" panose="05000000000000000000" pitchFamily="2" charset="2"/>
              <a:buChar char="§"/>
              <a:defRPr/>
            </a:pPr>
            <a:r>
              <a:rPr kumimoji="0" lang="zh-CN"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突出重点的原则</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ts val="600"/>
              </a:spcBef>
              <a:spcAft>
                <a:spcPct val="0"/>
              </a:spcAft>
              <a:buClr>
                <a:srgbClr val="3191D3"/>
              </a:buClr>
              <a:buSzTx/>
              <a:buFont typeface="Wingdings" panose="05000000000000000000" pitchFamily="2" charset="2"/>
              <a:buChar char="§"/>
              <a:defRPr/>
            </a:pPr>
            <a:r>
              <a:rPr kumimoji="0" lang="zh-CN"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预防为主的原则</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ts val="600"/>
              </a:spcBef>
              <a:spcAft>
                <a:spcPct val="0"/>
              </a:spcAft>
              <a:buClr>
                <a:srgbClr val="3191D3"/>
              </a:buClr>
              <a:buSzTx/>
              <a:buFont typeface="Wingdings" panose="05000000000000000000" pitchFamily="2" charset="2"/>
              <a:buChar char="§"/>
              <a:defRPr/>
            </a:pPr>
            <a:r>
              <a:rPr kumimoji="0" lang="zh-CN"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安全审计的原则</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ts val="600"/>
              </a:spcBef>
              <a:spcAft>
                <a:spcPct val="0"/>
              </a:spcAft>
              <a:buClr>
                <a:srgbClr val="3191D3"/>
              </a:buClr>
              <a:buSzTx/>
              <a:buFont typeface="Wingdings" panose="05000000000000000000" pitchFamily="2" charset="2"/>
              <a:buChar char="§"/>
              <a:defRPr/>
            </a:pPr>
            <a:r>
              <a:rPr kumimoji="0" lang="zh-CN"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风险管理的原则</a:t>
            </a:r>
          </a:p>
        </p:txBody>
      </p:sp>
      <p:pic>
        <p:nvPicPr>
          <p:cNvPr id="11268" name="图片 3"/>
          <p:cNvPicPr>
            <a:picLocks noChangeAspect="1"/>
          </p:cNvPicPr>
          <p:nvPr/>
        </p:nvPicPr>
        <p:blipFill>
          <a:blip r:embed="rId2"/>
          <a:stretch>
            <a:fillRect/>
          </a:stretch>
        </p:blipFill>
        <p:spPr>
          <a:xfrm>
            <a:off x="6705600" y="4495800"/>
            <a:ext cx="1905000" cy="19050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ln/>
        </p:spPr>
        <p:txBody>
          <a:bodyPr vert="horz" wrap="square" lIns="91440" tIns="45720" rIns="91440" bIns="45720" anchor="ctr" anchorCtr="0"/>
          <a:lstStyle/>
          <a:p>
            <a:pPr eaLnBrk="1" hangingPunct="1"/>
            <a:r>
              <a:rPr lang="zh-CN" altLang="en-US" dirty="0">
                <a:ea typeface="宋体" panose="02010600030101010101" pitchFamily="2" charset="-122"/>
              </a:rPr>
              <a:t>信息安全法律规范</a:t>
            </a:r>
          </a:p>
        </p:txBody>
      </p:sp>
      <p:sp>
        <p:nvSpPr>
          <p:cNvPr id="12291" name="矩形 2"/>
          <p:cNvSpPr/>
          <p:nvPr/>
        </p:nvSpPr>
        <p:spPr>
          <a:xfrm>
            <a:off x="381000" y="1601788"/>
            <a:ext cx="8534400" cy="4016375"/>
          </a:xfrm>
          <a:prstGeom prst="rect">
            <a:avLst/>
          </a:prstGeom>
          <a:noFill/>
          <a:ln w="9525">
            <a:noFill/>
          </a:ln>
        </p:spPr>
        <p:txBody>
          <a:bodyPr>
            <a:spAutoFit/>
          </a:bodyPr>
          <a:lstStyle/>
          <a:p>
            <a:pPr>
              <a:lnSpc>
                <a:spcPct val="150000"/>
              </a:lnSpc>
            </a:pPr>
            <a:r>
              <a:rPr lang="zh-CN" altLang="en-US" b="1" dirty="0">
                <a:solidFill>
                  <a:schemeClr val="tx1"/>
                </a:solidFill>
                <a:latin typeface="华文楷体" panose="02010600040101010101" pitchFamily="2" charset="-122"/>
                <a:ea typeface="华文楷体" panose="02010600040101010101" pitchFamily="2" charset="-122"/>
              </a:rPr>
              <a:t>信息安全法律法规的</a:t>
            </a:r>
            <a:r>
              <a:rPr lang="zh-CN" altLang="en-US" b="1" dirty="0">
                <a:solidFill>
                  <a:srgbClr val="FF0000"/>
                </a:solidFill>
                <a:latin typeface="华文楷体" panose="02010600040101010101" pitchFamily="2" charset="-122"/>
                <a:ea typeface="华文楷体" panose="02010600040101010101" pitchFamily="2" charset="-122"/>
              </a:rPr>
              <a:t>特性</a:t>
            </a:r>
            <a:r>
              <a:rPr lang="zh-CN" altLang="en-US" dirty="0">
                <a:latin typeface="华文楷体" panose="02010600040101010101" pitchFamily="2" charset="-122"/>
                <a:ea typeface="华文楷体" panose="02010600040101010101" pitchFamily="2" charset="-122"/>
              </a:rPr>
              <a:t>如下：</a:t>
            </a:r>
          </a:p>
          <a:p>
            <a:pPr>
              <a:lnSpc>
                <a:spcPct val="150000"/>
              </a:lnSpc>
            </a:pP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）法律法规是由国家制定或者认可，并由国家强制力保证实施的规范，因而具有国家意志和国家权力的属性。</a:t>
            </a:r>
          </a:p>
          <a:p>
            <a:pPr>
              <a:lnSpc>
                <a:spcPct val="150000"/>
              </a:lnSpc>
            </a:pP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）法律法规是以规定法律权力和法律义务为内容，是具有完整逻辑结构的特殊行为规范。</a:t>
            </a:r>
          </a:p>
          <a:p>
            <a:pPr>
              <a:lnSpc>
                <a:spcPct val="150000"/>
              </a:lnSpc>
            </a:pP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）法律法规具有普遍约束力，并且对任何在其效力范围内的主体的行为的指导和评价使用同一标准。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Effect transition="in" filter="fade">
                                      <p:cBhvr>
                                        <p:cTn id="7" dur="1000"/>
                                        <p:tgtEl>
                                          <p:spTgt spid="12291">
                                            <p:txEl>
                                              <p:pRg st="1" end="1"/>
                                            </p:txEl>
                                          </p:spTgt>
                                        </p:tgtEl>
                                      </p:cBhvr>
                                    </p:animEffect>
                                    <p:anim calcmode="lin" valueType="num">
                                      <p:cBhvr>
                                        <p:cTn id="8" dur="10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12291">
                                            <p:txEl>
                                              <p:pRg st="2" end="2"/>
                                            </p:txEl>
                                          </p:spTgt>
                                        </p:tgtEl>
                                        <p:attrNameLst>
                                          <p:attrName>style.visibility</p:attrName>
                                        </p:attrNameLst>
                                      </p:cBhvr>
                                      <p:to>
                                        <p:strVal val="visible"/>
                                      </p:to>
                                    </p:set>
                                    <p:animEffect transition="in" filter="wheel(1)">
                                      <p:cBhvr>
                                        <p:cTn id="14" dur="2000"/>
                                        <p:tgtEl>
                                          <p:spTgt spid="12291">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animEffect transition="in" filter="barn(inVertical)">
                                      <p:cBhvr>
                                        <p:cTn id="19" dur="500"/>
                                        <p:tgtEl>
                                          <p:spTgt spid="122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ln/>
        </p:spPr>
        <p:txBody>
          <a:bodyPr vert="horz" wrap="square" lIns="91440" tIns="45720" rIns="91440" bIns="45720" anchor="ctr" anchorCtr="0"/>
          <a:lstStyle/>
          <a:p>
            <a:pPr eaLnBrk="1" hangingPunct="1"/>
            <a:r>
              <a:rPr lang="zh-CN" altLang="en-US" dirty="0">
                <a:ea typeface="宋体" panose="02010600030101010101" pitchFamily="2" charset="-122"/>
              </a:rPr>
              <a:t>信息安全法律规范</a:t>
            </a:r>
            <a:endParaRPr lang="zh-CN" altLang="en-US" b="1" dirty="0">
              <a:ea typeface="宋体" panose="02010600030101010101" pitchFamily="2" charset="-122"/>
            </a:endParaRPr>
          </a:p>
        </p:txBody>
      </p:sp>
      <p:sp>
        <p:nvSpPr>
          <p:cNvPr id="13315" name="矩形 1"/>
          <p:cNvSpPr/>
          <p:nvPr/>
        </p:nvSpPr>
        <p:spPr>
          <a:xfrm>
            <a:off x="838200" y="1295400"/>
            <a:ext cx="7772400" cy="4062413"/>
          </a:xfrm>
          <a:prstGeom prst="rect">
            <a:avLst/>
          </a:prstGeom>
          <a:noFill/>
          <a:ln w="9525">
            <a:noFill/>
          </a:ln>
        </p:spPr>
        <p:txBody>
          <a:bodyPr>
            <a:spAutoFit/>
          </a:bodyPr>
          <a:lstStyle/>
          <a:p>
            <a:pPr>
              <a:lnSpc>
                <a:spcPct val="150000"/>
              </a:lnSpc>
            </a:pPr>
            <a:r>
              <a:rPr lang="zh-CN" altLang="en-US" sz="2800" b="1" dirty="0">
                <a:latin typeface="华文楷体" panose="02010600040101010101" pitchFamily="2" charset="-122"/>
                <a:ea typeface="华文楷体" panose="02010600040101010101" pitchFamily="2" charset="-122"/>
              </a:rPr>
              <a:t>信息安全法律规范</a:t>
            </a:r>
            <a:r>
              <a:rPr lang="zh-CN" altLang="en-US" sz="2800" b="1" dirty="0">
                <a:solidFill>
                  <a:srgbClr val="FF0000"/>
                </a:solidFill>
                <a:latin typeface="华文楷体" panose="02010600040101010101" pitchFamily="2" charset="-122"/>
                <a:ea typeface="华文楷体" panose="02010600040101010101" pitchFamily="2" charset="-122"/>
              </a:rPr>
              <a:t>作用：</a:t>
            </a:r>
          </a:p>
          <a:p>
            <a:pPr>
              <a:lnSpc>
                <a:spcPct val="150000"/>
              </a:lnSpc>
            </a:pP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）保障作用：信息安全法律规范为执法机关行驶权利、履行职责提供法律依据和法律保障；</a:t>
            </a:r>
          </a:p>
          <a:p>
            <a:pPr>
              <a:lnSpc>
                <a:spcPct val="150000"/>
              </a:lnSpc>
            </a:pP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）规范作用：信息安全法律规范作为人们维护信息安全和国家安全的行为准则和评价标准；</a:t>
            </a:r>
          </a:p>
          <a:p>
            <a:pPr>
              <a:lnSpc>
                <a:spcPct val="150000"/>
              </a:lnSpc>
            </a:pP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）惩戒作用：信息安全法律规范中有许多禁止性法律法规。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animEffect transition="in" filter="randombar(horizontal)">
                                      <p:cBhvr>
                                        <p:cTn id="7" dur="500"/>
                                        <p:tgtEl>
                                          <p:spTgt spid="1331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13315">
                                            <p:txEl>
                                              <p:pRg st="2" end="2"/>
                                            </p:txEl>
                                          </p:spTgt>
                                        </p:tgtEl>
                                        <p:attrNameLst>
                                          <p:attrName>style.visibility</p:attrName>
                                        </p:attrNameLst>
                                      </p:cBhvr>
                                      <p:to>
                                        <p:strVal val="visible"/>
                                      </p:to>
                                    </p:set>
                                    <p:anim calcmode="lin" valueType="num">
                                      <p:cBhvr>
                                        <p:cTn id="12" dur="1000" fill="hold"/>
                                        <p:tgtEl>
                                          <p:spTgt spid="13315">
                                            <p:txEl>
                                              <p:pRg st="2" end="2"/>
                                            </p:txEl>
                                          </p:spTgt>
                                        </p:tgtEl>
                                        <p:attrNameLst>
                                          <p:attrName>ppt_w</p:attrName>
                                        </p:attrNameLst>
                                      </p:cBhvr>
                                      <p:tavLst>
                                        <p:tav tm="0">
                                          <p:val>
                                            <p:fltVal val="0"/>
                                          </p:val>
                                        </p:tav>
                                        <p:tav tm="100000">
                                          <p:val>
                                            <p:strVal val="#ppt_w"/>
                                          </p:val>
                                        </p:tav>
                                      </p:tavLst>
                                    </p:anim>
                                    <p:anim calcmode="lin" valueType="num">
                                      <p:cBhvr>
                                        <p:cTn id="13" dur="1000" fill="hold"/>
                                        <p:tgtEl>
                                          <p:spTgt spid="13315">
                                            <p:txEl>
                                              <p:pRg st="2" end="2"/>
                                            </p:txEl>
                                          </p:spTgt>
                                        </p:tgtEl>
                                        <p:attrNameLst>
                                          <p:attrName>ppt_h</p:attrName>
                                        </p:attrNameLst>
                                      </p:cBhvr>
                                      <p:tavLst>
                                        <p:tav tm="0">
                                          <p:val>
                                            <p:fltVal val="0"/>
                                          </p:val>
                                        </p:tav>
                                        <p:tav tm="100000">
                                          <p:val>
                                            <p:strVal val="#ppt_h"/>
                                          </p:val>
                                        </p:tav>
                                      </p:tavLst>
                                    </p:anim>
                                    <p:anim calcmode="lin" valueType="num">
                                      <p:cBhvr>
                                        <p:cTn id="14" dur="1000" fill="hold"/>
                                        <p:tgtEl>
                                          <p:spTgt spid="13315">
                                            <p:txEl>
                                              <p:pRg st="2" end="2"/>
                                            </p:txEl>
                                          </p:spTgt>
                                        </p:tgtEl>
                                        <p:attrNameLst>
                                          <p:attrName>style.rotation</p:attrName>
                                        </p:attrNameLst>
                                      </p:cBhvr>
                                      <p:tavLst>
                                        <p:tav tm="0">
                                          <p:val>
                                            <p:fltVal val="90"/>
                                          </p:val>
                                        </p:tav>
                                        <p:tav tm="100000">
                                          <p:val>
                                            <p:fltVal val="0"/>
                                          </p:val>
                                        </p:tav>
                                      </p:tavLst>
                                    </p:anim>
                                    <p:animEffect transition="in" filter="fade">
                                      <p:cBhvr>
                                        <p:cTn id="15" dur="1000"/>
                                        <p:tgtEl>
                                          <p:spTgt spid="1331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nodeType="clickEffect">
                                  <p:stCondLst>
                                    <p:cond delay="0"/>
                                  </p:stCondLst>
                                  <p:childTnLst>
                                    <p:set>
                                      <p:cBhvr>
                                        <p:cTn id="19" dur="1" fill="hold">
                                          <p:stCondLst>
                                            <p:cond delay="0"/>
                                          </p:stCondLst>
                                        </p:cTn>
                                        <p:tgtEl>
                                          <p:spTgt spid="13315">
                                            <p:txEl>
                                              <p:pRg st="3" end="3"/>
                                            </p:txEl>
                                          </p:spTgt>
                                        </p:tgtEl>
                                        <p:attrNameLst>
                                          <p:attrName>style.visibility</p:attrName>
                                        </p:attrNameLst>
                                      </p:cBhvr>
                                      <p:to>
                                        <p:strVal val="visible"/>
                                      </p:to>
                                    </p:set>
                                    <p:animEffect transition="in" filter="wipe(down)">
                                      <p:cBhvr>
                                        <p:cTn id="20" dur="580">
                                          <p:stCondLst>
                                            <p:cond delay="0"/>
                                          </p:stCondLst>
                                        </p:cTn>
                                        <p:tgtEl>
                                          <p:spTgt spid="13315">
                                            <p:txEl>
                                              <p:pRg st="3" end="3"/>
                                            </p:txEl>
                                          </p:spTgt>
                                        </p:tgtEl>
                                      </p:cBhvr>
                                    </p:animEffect>
                                    <p:anim calcmode="lin" valueType="num">
                                      <p:cBhvr>
                                        <p:cTn id="21" dur="1822" tmFilter="0,0; 0.14,0.36; 0.43,0.73; 0.71,0.91; 1.0,1.0">
                                          <p:stCondLst>
                                            <p:cond delay="0"/>
                                          </p:stCondLst>
                                        </p:cTn>
                                        <p:tgtEl>
                                          <p:spTgt spid="13315">
                                            <p:txEl>
                                              <p:pRg st="3" end="3"/>
                                            </p:txEl>
                                          </p:spTgt>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13315">
                                            <p:txEl>
                                              <p:pRg st="3" end="3"/>
                                            </p:txEl>
                                          </p:spTgt>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13315">
                                            <p:txEl>
                                              <p:pRg st="3" end="3"/>
                                            </p:txEl>
                                          </p:spTgt>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13315">
                                            <p:txEl>
                                              <p:pRg st="3" end="3"/>
                                            </p:txEl>
                                          </p:spTgt>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13315">
                                            <p:txEl>
                                              <p:pRg st="3" end="3"/>
                                            </p:txEl>
                                          </p:spTgt>
                                        </p:tgtEl>
                                        <p:attrNameLst>
                                          <p:attrName>ppt_y</p:attrName>
                                        </p:attrNameLst>
                                      </p:cBhvr>
                                      <p:tavLst>
                                        <p:tav tm="0" fmla="#ppt_y-sin(pi*$)/81">
                                          <p:val>
                                            <p:fltVal val="0"/>
                                          </p:val>
                                        </p:tav>
                                        <p:tav tm="100000">
                                          <p:val>
                                            <p:fltVal val="1"/>
                                          </p:val>
                                        </p:tav>
                                      </p:tavLst>
                                    </p:anim>
                                    <p:animScale>
                                      <p:cBhvr>
                                        <p:cTn id="26" dur="26">
                                          <p:stCondLst>
                                            <p:cond delay="650"/>
                                          </p:stCondLst>
                                        </p:cTn>
                                        <p:tgtEl>
                                          <p:spTgt spid="13315">
                                            <p:txEl>
                                              <p:pRg st="3" end="3"/>
                                            </p:txEl>
                                          </p:spTgt>
                                        </p:tgtEl>
                                      </p:cBhvr>
                                      <p:to x="100000" y="60000"/>
                                    </p:animScale>
                                    <p:animScale>
                                      <p:cBhvr>
                                        <p:cTn id="27" dur="166" decel="50000">
                                          <p:stCondLst>
                                            <p:cond delay="676"/>
                                          </p:stCondLst>
                                        </p:cTn>
                                        <p:tgtEl>
                                          <p:spTgt spid="13315">
                                            <p:txEl>
                                              <p:pRg st="3" end="3"/>
                                            </p:txEl>
                                          </p:spTgt>
                                        </p:tgtEl>
                                      </p:cBhvr>
                                      <p:to x="100000" y="100000"/>
                                    </p:animScale>
                                    <p:animScale>
                                      <p:cBhvr>
                                        <p:cTn id="28" dur="26">
                                          <p:stCondLst>
                                            <p:cond delay="1312"/>
                                          </p:stCondLst>
                                        </p:cTn>
                                        <p:tgtEl>
                                          <p:spTgt spid="13315">
                                            <p:txEl>
                                              <p:pRg st="3" end="3"/>
                                            </p:txEl>
                                          </p:spTgt>
                                        </p:tgtEl>
                                      </p:cBhvr>
                                      <p:to x="100000" y="80000"/>
                                    </p:animScale>
                                    <p:animScale>
                                      <p:cBhvr>
                                        <p:cTn id="29" dur="166" decel="50000">
                                          <p:stCondLst>
                                            <p:cond delay="1338"/>
                                          </p:stCondLst>
                                        </p:cTn>
                                        <p:tgtEl>
                                          <p:spTgt spid="13315">
                                            <p:txEl>
                                              <p:pRg st="3" end="3"/>
                                            </p:txEl>
                                          </p:spTgt>
                                        </p:tgtEl>
                                      </p:cBhvr>
                                      <p:to x="100000" y="100000"/>
                                    </p:animScale>
                                    <p:animScale>
                                      <p:cBhvr>
                                        <p:cTn id="30" dur="26">
                                          <p:stCondLst>
                                            <p:cond delay="1642"/>
                                          </p:stCondLst>
                                        </p:cTn>
                                        <p:tgtEl>
                                          <p:spTgt spid="13315">
                                            <p:txEl>
                                              <p:pRg st="3" end="3"/>
                                            </p:txEl>
                                          </p:spTgt>
                                        </p:tgtEl>
                                      </p:cBhvr>
                                      <p:to x="100000" y="90000"/>
                                    </p:animScale>
                                    <p:animScale>
                                      <p:cBhvr>
                                        <p:cTn id="31" dur="166" decel="50000">
                                          <p:stCondLst>
                                            <p:cond delay="1668"/>
                                          </p:stCondLst>
                                        </p:cTn>
                                        <p:tgtEl>
                                          <p:spTgt spid="13315">
                                            <p:txEl>
                                              <p:pRg st="3" end="3"/>
                                            </p:txEl>
                                          </p:spTgt>
                                        </p:tgtEl>
                                      </p:cBhvr>
                                      <p:to x="100000" y="100000"/>
                                    </p:animScale>
                                    <p:animScale>
                                      <p:cBhvr>
                                        <p:cTn id="32" dur="26">
                                          <p:stCondLst>
                                            <p:cond delay="1808"/>
                                          </p:stCondLst>
                                        </p:cTn>
                                        <p:tgtEl>
                                          <p:spTgt spid="13315">
                                            <p:txEl>
                                              <p:pRg st="3" end="3"/>
                                            </p:txEl>
                                          </p:spTgt>
                                        </p:tgtEl>
                                      </p:cBhvr>
                                      <p:to x="100000" y="95000"/>
                                    </p:animScale>
                                    <p:animScale>
                                      <p:cBhvr>
                                        <p:cTn id="33" dur="166" decel="50000">
                                          <p:stCondLst>
                                            <p:cond delay="1834"/>
                                          </p:stCondLst>
                                        </p:cTn>
                                        <p:tgtEl>
                                          <p:spTgt spid="13315">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信息安全法律规范</a:t>
            </a:r>
          </a:p>
        </p:txBody>
      </p:sp>
      <p:sp>
        <p:nvSpPr>
          <p:cNvPr id="14339" name="矩形 1"/>
          <p:cNvSpPr/>
          <p:nvPr/>
        </p:nvSpPr>
        <p:spPr>
          <a:xfrm>
            <a:off x="838200" y="1792288"/>
            <a:ext cx="7772400" cy="3846512"/>
          </a:xfrm>
          <a:prstGeom prst="rect">
            <a:avLst/>
          </a:prstGeom>
          <a:noFill/>
          <a:ln w="9525">
            <a:noFill/>
          </a:ln>
        </p:spPr>
        <p:txBody>
          <a:bodyPr>
            <a:spAutoFit/>
          </a:bodyPr>
          <a:lstStyle/>
          <a:p>
            <a:r>
              <a:rPr lang="zh-CN" altLang="en-US" sz="2800" b="1" dirty="0">
                <a:latin typeface="华文楷体" panose="02010600040101010101" pitchFamily="2" charset="-122"/>
                <a:ea typeface="华文楷体" panose="02010600040101010101" pitchFamily="2" charset="-122"/>
              </a:rPr>
              <a:t>信息安全法律规范</a:t>
            </a:r>
            <a:r>
              <a:rPr lang="zh-CN" altLang="en-US" sz="2800" b="1" dirty="0">
                <a:solidFill>
                  <a:srgbClr val="FF0000"/>
                </a:solidFill>
                <a:latin typeface="华文楷体" panose="02010600040101010101" pitchFamily="2" charset="-122"/>
                <a:ea typeface="华文楷体" panose="02010600040101010101" pitchFamily="2" charset="-122"/>
              </a:rPr>
              <a:t>分类</a:t>
            </a:r>
          </a:p>
          <a:p>
            <a:pPr>
              <a:lnSpc>
                <a:spcPct val="150000"/>
              </a:lnSpc>
            </a:pP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）按</a:t>
            </a:r>
            <a:r>
              <a:rPr lang="zh-CN" altLang="en-US" sz="2400" b="1" dirty="0">
                <a:solidFill>
                  <a:srgbClr val="FF0000"/>
                </a:solidFill>
                <a:latin typeface="华文楷体" panose="02010600040101010101" pitchFamily="2" charset="-122"/>
                <a:ea typeface="华文楷体" panose="02010600040101010101" pitchFamily="2" charset="-122"/>
              </a:rPr>
              <a:t>体系结构</a:t>
            </a:r>
            <a:r>
              <a:rPr lang="zh-CN" altLang="en-US" sz="2400" dirty="0">
                <a:latin typeface="华文楷体" panose="02010600040101010101" pitchFamily="2" charset="-122"/>
                <a:ea typeface="华文楷体" panose="02010600040101010101" pitchFamily="2" charset="-122"/>
              </a:rPr>
              <a:t>分类</a:t>
            </a:r>
          </a:p>
          <a:p>
            <a:pPr>
              <a:lnSpc>
                <a:spcPct val="150000"/>
              </a:lnSpc>
            </a:pPr>
            <a:r>
              <a:rPr lang="zh-CN" altLang="en-US" sz="2400" dirty="0">
                <a:latin typeface="华文楷体" panose="02010600040101010101" pitchFamily="2" charset="-122"/>
                <a:ea typeface="华文楷体" panose="02010600040101010101" pitchFamily="2" charset="-122"/>
              </a:rPr>
              <a:t>按体系结构，信息安全法律规范可分为法律体系（部门法体系）类、法规体系（政策体系）类。</a:t>
            </a:r>
          </a:p>
          <a:p>
            <a:pPr>
              <a:lnSpc>
                <a:spcPct val="150000"/>
              </a:lnSpc>
            </a:pP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）按</a:t>
            </a:r>
            <a:r>
              <a:rPr lang="zh-CN" altLang="en-US" sz="2400" b="1" dirty="0">
                <a:solidFill>
                  <a:srgbClr val="FF0000"/>
                </a:solidFill>
                <a:latin typeface="华文楷体" panose="02010600040101010101" pitchFamily="2" charset="-122"/>
                <a:ea typeface="华文楷体" panose="02010600040101010101" pitchFamily="2" charset="-122"/>
              </a:rPr>
              <a:t>发布机构</a:t>
            </a:r>
            <a:r>
              <a:rPr lang="zh-CN" altLang="en-US" sz="2400" dirty="0">
                <a:latin typeface="华文楷体" panose="02010600040101010101" pitchFamily="2" charset="-122"/>
                <a:ea typeface="华文楷体" panose="02010600040101010101" pitchFamily="2" charset="-122"/>
              </a:rPr>
              <a:t>分类</a:t>
            </a:r>
          </a:p>
          <a:p>
            <a:pPr>
              <a:lnSpc>
                <a:spcPct val="150000"/>
              </a:lnSpc>
            </a:pPr>
            <a:r>
              <a:rPr lang="zh-CN" altLang="en-US" sz="2400" dirty="0">
                <a:latin typeface="华文楷体" panose="02010600040101010101" pitchFamily="2" charset="-122"/>
                <a:ea typeface="华文楷体" panose="02010600040101010101" pitchFamily="2" charset="-122"/>
              </a:rPr>
              <a:t>按发布机构，信息安全法律规范可分为：国家的、地方的、国际的等等。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14339">
                                            <p:txEl>
                                              <p:pRg st="2" end="2"/>
                                            </p:txEl>
                                          </p:spTgt>
                                        </p:tgtEl>
                                        <p:attrNameLst>
                                          <p:attrName>style.visibility</p:attrName>
                                        </p:attrNameLst>
                                      </p:cBhvr>
                                      <p:to>
                                        <p:strVal val="visible"/>
                                      </p:to>
                                    </p:set>
                                    <p:animEffect transition="in" filter="wheel(1)">
                                      <p:cBhvr>
                                        <p:cTn id="11" dur="2000"/>
                                        <p:tgtEl>
                                          <p:spTgt spid="14339">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339">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14339">
                                            <p:txEl>
                                              <p:pRg st="4" end="4"/>
                                            </p:txEl>
                                          </p:spTgt>
                                        </p:tgtEl>
                                        <p:attrNameLst>
                                          <p:attrName>style.visibility</p:attrName>
                                        </p:attrNameLst>
                                      </p:cBhvr>
                                      <p:to>
                                        <p:strVal val="visible"/>
                                      </p:to>
                                    </p:set>
                                    <p:anim calcmode="lin" valueType="num">
                                      <p:cBhvr>
                                        <p:cTn id="20" dur="500" fill="hold"/>
                                        <p:tgtEl>
                                          <p:spTgt spid="14339">
                                            <p:txEl>
                                              <p:pRg st="4" end="4"/>
                                            </p:txEl>
                                          </p:spTgt>
                                        </p:tgtEl>
                                        <p:attrNameLst>
                                          <p:attrName>ppt_w</p:attrName>
                                        </p:attrNameLst>
                                      </p:cBhvr>
                                      <p:tavLst>
                                        <p:tav tm="0">
                                          <p:val>
                                            <p:fltVal val="0"/>
                                          </p:val>
                                        </p:tav>
                                        <p:tav tm="100000">
                                          <p:val>
                                            <p:strVal val="#ppt_w"/>
                                          </p:val>
                                        </p:tav>
                                      </p:tavLst>
                                    </p:anim>
                                    <p:anim calcmode="lin" valueType="num">
                                      <p:cBhvr>
                                        <p:cTn id="21" dur="500" fill="hold"/>
                                        <p:tgtEl>
                                          <p:spTgt spid="14339">
                                            <p:txEl>
                                              <p:pRg st="4" end="4"/>
                                            </p:txEl>
                                          </p:spTgt>
                                        </p:tgtEl>
                                        <p:attrNameLst>
                                          <p:attrName>ppt_h</p:attrName>
                                        </p:attrNameLst>
                                      </p:cBhvr>
                                      <p:tavLst>
                                        <p:tav tm="0">
                                          <p:val>
                                            <p:fltVal val="0"/>
                                          </p:val>
                                        </p:tav>
                                        <p:tav tm="100000">
                                          <p:val>
                                            <p:strVal val="#ppt_h"/>
                                          </p:val>
                                        </p:tav>
                                      </p:tavLst>
                                    </p:anim>
                                    <p:animEffect transition="in" filter="fade">
                                      <p:cBhvr>
                                        <p:cTn id="22" dur="500"/>
                                        <p:tgtEl>
                                          <p:spTgt spid="14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4"/>
          <p:cNvSpPr txBox="1"/>
          <p:nvPr>
            <p:custDataLst>
              <p:tags r:id="rId2"/>
            </p:custDataLst>
          </p:nvPr>
        </p:nvSpPr>
        <p:spPr>
          <a:xfrm>
            <a:off x="762000" y="2057400"/>
            <a:ext cx="7315200" cy="2143125"/>
          </a:xfrm>
          <a:prstGeom prst="rect">
            <a:avLst/>
          </a:prstGeom>
          <a:noFill/>
          <a:ln w="9525">
            <a:noFill/>
          </a:ln>
        </p:spPr>
        <p:txBody>
          <a:bodyPr anchor="ctr" anchorCtr="0"/>
          <a:lstStyle/>
          <a:p>
            <a:r>
              <a:rPr lang="zh-CN" altLang="en-US" dirty="0">
                <a:latin typeface="华文楷体" panose="02010600040101010101" pitchFamily="2" charset="-122"/>
                <a:ea typeface="华文楷体" panose="02010600040101010101" pitchFamily="2" charset="-122"/>
                <a:sym typeface="微软雅黑" panose="020B0503020204020204" pitchFamily="34" charset="-122"/>
              </a:rPr>
              <a:t>信息安全法律法规的基本原则分别是 </a:t>
            </a:r>
            <a:r>
              <a:rPr lang="en-US" altLang="zh-CN"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a:t>
            </a:r>
            <a:r>
              <a:rPr lang="zh-CN" altLang="en-US"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填空</a:t>
            </a:r>
            <a:r>
              <a:rPr lang="en-US" altLang="zh-CN"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1]</a:t>
            </a:r>
            <a:r>
              <a:rPr lang="zh-CN" altLang="en-US"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 </a:t>
            </a:r>
            <a:r>
              <a:rPr lang="en-US" altLang="zh-CN"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a:t>
            </a:r>
            <a:r>
              <a:rPr lang="zh-CN" altLang="en-US"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填空</a:t>
            </a:r>
            <a:r>
              <a:rPr lang="en-US" altLang="zh-CN"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2]</a:t>
            </a:r>
            <a:r>
              <a:rPr lang="en-US" altLang="zh-CN" dirty="0">
                <a:latin typeface="华文楷体" panose="02010600040101010101" pitchFamily="2" charset="-122"/>
                <a:ea typeface="华文楷体" panose="02010600040101010101" pitchFamily="2" charset="-122"/>
                <a:sym typeface="微软雅黑" panose="020B0503020204020204" pitchFamily="34" charset="-122"/>
              </a:rPr>
              <a:t>  </a:t>
            </a:r>
            <a:r>
              <a:rPr lang="zh-CN" altLang="en-US" dirty="0">
                <a:latin typeface="华文楷体" panose="02010600040101010101" pitchFamily="2" charset="-122"/>
                <a:ea typeface="华文楷体" panose="02010600040101010101" pitchFamily="2" charset="-122"/>
                <a:sym typeface="微软雅黑" panose="020B0503020204020204" pitchFamily="34" charset="-122"/>
              </a:rPr>
              <a:t>、</a:t>
            </a:r>
            <a:r>
              <a:rPr lang="zh-CN" altLang="en-US"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 </a:t>
            </a:r>
            <a:r>
              <a:rPr lang="en-US" altLang="zh-CN"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a:t>
            </a:r>
            <a:r>
              <a:rPr lang="zh-CN" altLang="en-US"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填空</a:t>
            </a:r>
            <a:r>
              <a:rPr lang="en-US" altLang="zh-CN"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3]</a:t>
            </a:r>
            <a:r>
              <a:rPr lang="en-US" altLang="zh-CN" dirty="0">
                <a:latin typeface="华文楷体" panose="02010600040101010101" pitchFamily="2" charset="-122"/>
                <a:ea typeface="华文楷体" panose="02010600040101010101" pitchFamily="2" charset="-122"/>
                <a:sym typeface="微软雅黑" panose="020B0503020204020204" pitchFamily="34" charset="-122"/>
              </a:rPr>
              <a:t> </a:t>
            </a:r>
            <a:r>
              <a:rPr lang="zh-CN" altLang="en-US" dirty="0">
                <a:latin typeface="华文楷体" panose="02010600040101010101" pitchFamily="2" charset="-122"/>
                <a:ea typeface="华文楷体" panose="02010600040101010101" pitchFamily="2" charset="-122"/>
                <a:sym typeface="微软雅黑" panose="020B0503020204020204" pitchFamily="34" charset="-122"/>
              </a:rPr>
              <a:t>、</a:t>
            </a:r>
            <a:r>
              <a:rPr lang="zh-CN" altLang="en-US"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 </a:t>
            </a:r>
            <a:r>
              <a:rPr lang="en-US" altLang="zh-CN"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a:t>
            </a:r>
            <a:r>
              <a:rPr lang="zh-CN" altLang="en-US"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填空</a:t>
            </a:r>
            <a:r>
              <a:rPr lang="en-US" altLang="zh-CN"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4]</a:t>
            </a:r>
            <a:r>
              <a:rPr lang="en-US" altLang="zh-CN" dirty="0">
                <a:latin typeface="华文楷体" panose="02010600040101010101" pitchFamily="2" charset="-122"/>
                <a:ea typeface="华文楷体" panose="02010600040101010101" pitchFamily="2" charset="-122"/>
                <a:sym typeface="微软雅黑" panose="020B0503020204020204" pitchFamily="34" charset="-122"/>
              </a:rPr>
              <a:t> </a:t>
            </a:r>
            <a:r>
              <a:rPr lang="zh-CN" altLang="en-US" dirty="0">
                <a:latin typeface="华文楷体" panose="02010600040101010101" pitchFamily="2" charset="-122"/>
                <a:ea typeface="华文楷体" panose="02010600040101010101" pitchFamily="2" charset="-122"/>
                <a:sym typeface="微软雅黑" panose="020B0503020204020204" pitchFamily="34" charset="-122"/>
              </a:rPr>
              <a:t>、</a:t>
            </a:r>
            <a:r>
              <a:rPr lang="zh-CN" altLang="en-US"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 </a:t>
            </a:r>
            <a:r>
              <a:rPr lang="en-US" altLang="zh-CN"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a:t>
            </a:r>
            <a:r>
              <a:rPr lang="zh-CN" altLang="en-US"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填空</a:t>
            </a:r>
            <a:r>
              <a:rPr lang="en-US" altLang="zh-CN" dirty="0">
                <a:solidFill>
                  <a:srgbClr val="639EF4"/>
                </a:solidFill>
                <a:latin typeface="华文楷体" panose="02010600040101010101" pitchFamily="2" charset="-122"/>
                <a:ea typeface="华文楷体" panose="02010600040101010101" pitchFamily="2" charset="-122"/>
                <a:sym typeface="微软雅黑" panose="020B0503020204020204" pitchFamily="34" charset="-122"/>
              </a:rPr>
              <a:t>5]</a:t>
            </a:r>
            <a:r>
              <a:rPr lang="en-US" altLang="zh-CN" dirty="0">
                <a:latin typeface="华文楷体" panose="02010600040101010101" pitchFamily="2" charset="-122"/>
                <a:ea typeface="华文楷体" panose="02010600040101010101" pitchFamily="2" charset="-122"/>
                <a:sym typeface="微软雅黑" panose="020B0503020204020204" pitchFamily="34" charset="-122"/>
              </a:rPr>
              <a:t> </a:t>
            </a:r>
            <a:r>
              <a:rPr lang="zh-CN" altLang="en-US" dirty="0">
                <a:latin typeface="华文楷体" panose="02010600040101010101" pitchFamily="2" charset="-122"/>
                <a:ea typeface="华文楷体" panose="02010600040101010101" pitchFamily="2" charset="-122"/>
                <a:sym typeface="微软雅黑" panose="020B0503020204020204" pitchFamily="34" charset="-122"/>
              </a:rPr>
              <a:t>。</a:t>
            </a:r>
          </a:p>
        </p:txBody>
      </p:sp>
      <p:sp>
        <p:nvSpPr>
          <p:cNvPr id="15363" name="圆角矩形 5"/>
          <p:cNvSpPr/>
          <p:nvPr>
            <p:custDataLst>
              <p:tags r:id="rId3"/>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lstStyle/>
          <a:p>
            <a:pPr algn="ctr">
              <a:spcBef>
                <a:spcPct val="50000"/>
              </a:spcBef>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5364" name="矩形 11"/>
          <p:cNvSpPr/>
          <p:nvPr>
            <p:custDataLst>
              <p:tags r:id="rId4"/>
            </p:custDataLst>
          </p:nvPr>
        </p:nvSpPr>
        <p:spPr>
          <a:xfrm>
            <a:off x="0" y="5849938"/>
            <a:ext cx="9144000" cy="365125"/>
          </a:xfrm>
          <a:prstGeom prst="rect">
            <a:avLst/>
          </a:prstGeom>
          <a:solidFill>
            <a:srgbClr val="FBFAEF"/>
          </a:solidFill>
          <a:ln w="9525">
            <a:noFill/>
          </a:ln>
        </p:spPr>
        <p:txBody>
          <a:bodyPr wrap="none" anchor="ctr" anchorCtr="1"/>
          <a:lstStyle/>
          <a:p>
            <a:pPr>
              <a:spcBef>
                <a:spcPct val="50000"/>
              </a:spcBef>
            </a:pPr>
            <a:r>
              <a:rPr lang="zh-CN" altLang="en-US" sz="1200" dirty="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200" dirty="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dirty="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5365" name="组合 10"/>
          <p:cNvGrpSpPr/>
          <p:nvPr>
            <p:custDataLst>
              <p:tags r:id="rId5"/>
            </p:custDataLst>
          </p:nvPr>
        </p:nvGrpSpPr>
        <p:grpSpPr>
          <a:xfrm>
            <a:off x="0" y="0"/>
            <a:ext cx="9144000" cy="635000"/>
            <a:chOff x="0" y="0"/>
            <a:chExt cx="9144000" cy="635000"/>
          </a:xfrm>
        </p:grpSpPr>
        <p:sp>
          <p:nvSpPr>
            <p:cNvPr id="15367" name="TitleBackground"/>
            <p:cNvSpPr/>
            <p:nvPr>
              <p:custDataLst>
                <p:tags r:id="rId7"/>
              </p:custDataLst>
            </p:nvPr>
          </p:nvSpPr>
          <p:spPr>
            <a:xfrm>
              <a:off x="0" y="0"/>
              <a:ext cx="9144000" cy="635000"/>
            </a:xfrm>
            <a:prstGeom prst="rect">
              <a:avLst/>
            </a:prstGeom>
            <a:solidFill>
              <a:srgbClr val="F6F7F8"/>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15368" name="ColorBlock"/>
            <p:cNvSpPr/>
            <p:nvPr>
              <p:custDataLst>
                <p:tags r:id="rId8"/>
              </p:custDataLst>
            </p:nvPr>
          </p:nvSpPr>
          <p:spPr>
            <a:xfrm>
              <a:off x="0" y="0"/>
              <a:ext cx="190500" cy="635000"/>
            </a:xfrm>
            <a:prstGeom prst="rect">
              <a:avLst/>
            </a:prstGeom>
            <a:solidFill>
              <a:srgbClr val="639EF4"/>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15369" name="TypeText"/>
            <p:cNvSpPr txBox="1"/>
            <p:nvPr>
              <p:custDataLst>
                <p:tags r:id="rId9"/>
              </p:custDataLst>
            </p:nvPr>
          </p:nvSpPr>
          <p:spPr>
            <a:xfrm>
              <a:off x="254000" y="0"/>
              <a:ext cx="1905000" cy="635000"/>
            </a:xfrm>
            <a:prstGeom prst="rect">
              <a:avLst/>
            </a:prstGeom>
            <a:noFill/>
            <a:ln w="9525">
              <a:noFill/>
            </a:ln>
          </p:spPr>
          <p:txBody>
            <a:bodyPr wrap="none" anchor="ctr" anchorCtr="0"/>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填空题</a:t>
              </a:r>
            </a:p>
          </p:txBody>
        </p:sp>
        <p:sp>
          <p:nvSpPr>
            <p:cNvPr id="15370" name="TipText"/>
            <p:cNvSpPr txBox="1"/>
            <p:nvPr>
              <p:custDataLst>
                <p:tags r:id="rId10"/>
              </p:custDataLst>
            </p:nvPr>
          </p:nvSpPr>
          <p:spPr>
            <a:xfrm>
              <a:off x="1525905" y="109220"/>
              <a:ext cx="2286000" cy="508000"/>
            </a:xfrm>
            <a:prstGeom prst="rect">
              <a:avLst/>
            </a:prstGeom>
            <a:noFill/>
            <a:ln w="9525">
              <a:noFill/>
            </a:ln>
          </p:spPr>
          <p:txBody>
            <a:bodyPr wrap="none" anchor="ctr" anchorCtr="0"/>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2.5</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15366" name="图片 3"/>
          <p:cNvPicPr/>
          <p:nvPr>
            <p:custDataLst>
              <p:tags r:id="rId6"/>
            </p:custDataLst>
          </p:nvPr>
        </p:nvPicPr>
        <p:blipFill>
          <a:blip r:embed="rId12"/>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16387" name="Group 3"/>
          <p:cNvGrpSpPr/>
          <p:nvPr/>
        </p:nvGrpSpPr>
        <p:grpSpPr>
          <a:xfrm>
            <a:off x="1524000" y="1524000"/>
            <a:ext cx="762000" cy="665163"/>
            <a:chOff x="1110" y="2656"/>
            <a:chExt cx="1549" cy="1351"/>
          </a:xfrm>
        </p:grpSpPr>
        <p:sp>
          <p:nvSpPr>
            <p:cNvPr id="1642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1642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16388" name="Group 7"/>
          <p:cNvGrpSpPr/>
          <p:nvPr/>
        </p:nvGrpSpPr>
        <p:grpSpPr>
          <a:xfrm>
            <a:off x="1524000" y="2374900"/>
            <a:ext cx="762000" cy="665163"/>
            <a:chOff x="3174" y="2656"/>
            <a:chExt cx="1549" cy="1351"/>
          </a:xfrm>
        </p:grpSpPr>
        <p:sp>
          <p:nvSpPr>
            <p:cNvPr id="16418"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16419"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16389" name="Line 11"/>
          <p:cNvSpPr/>
          <p:nvPr/>
        </p:nvSpPr>
        <p:spPr>
          <a:xfrm>
            <a:off x="2133600" y="2133600"/>
            <a:ext cx="4800600" cy="4763"/>
          </a:xfrm>
          <a:prstGeom prst="line">
            <a:avLst/>
          </a:prstGeom>
          <a:ln w="25400" cap="flat" cmpd="sng">
            <a:solidFill>
              <a:srgbClr val="C0C0C0"/>
            </a:solidFill>
            <a:prstDash val="sysDot"/>
            <a:headEnd type="none" w="med" len="med"/>
            <a:tailEnd type="oval" w="med" len="med"/>
          </a:ln>
        </p:spPr>
      </p:sp>
      <p:sp>
        <p:nvSpPr>
          <p:cNvPr id="16390" name="Text Box 12"/>
          <p:cNvSpPr txBox="1"/>
          <p:nvPr/>
        </p:nvSpPr>
        <p:spPr>
          <a:xfrm>
            <a:off x="2362200" y="1581150"/>
            <a:ext cx="56388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法律法规</a:t>
            </a:r>
          </a:p>
        </p:txBody>
      </p:sp>
      <p:sp>
        <p:nvSpPr>
          <p:cNvPr id="16391" name="Text Box 13"/>
          <p:cNvSpPr txBox="1"/>
          <p:nvPr/>
        </p:nvSpPr>
        <p:spPr>
          <a:xfrm>
            <a:off x="1733550" y="16224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1</a:t>
            </a:r>
          </a:p>
        </p:txBody>
      </p:sp>
      <p:sp>
        <p:nvSpPr>
          <p:cNvPr id="16392" name="Line 14"/>
          <p:cNvSpPr/>
          <p:nvPr/>
        </p:nvSpPr>
        <p:spPr>
          <a:xfrm>
            <a:off x="2133600" y="3048000"/>
            <a:ext cx="4800600" cy="0"/>
          </a:xfrm>
          <a:prstGeom prst="line">
            <a:avLst/>
          </a:prstGeom>
          <a:ln w="25400" cap="flat" cmpd="sng">
            <a:solidFill>
              <a:srgbClr val="C0C0C0"/>
            </a:solidFill>
            <a:prstDash val="sysDot"/>
            <a:headEnd type="none" w="med" len="med"/>
            <a:tailEnd type="oval" w="med" len="med"/>
          </a:ln>
        </p:spPr>
      </p:sp>
      <p:sp>
        <p:nvSpPr>
          <p:cNvPr id="16393" name="Text Box 16"/>
          <p:cNvSpPr txBox="1"/>
          <p:nvPr/>
        </p:nvSpPr>
        <p:spPr>
          <a:xfrm>
            <a:off x="1733550" y="25368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2</a:t>
            </a:r>
          </a:p>
        </p:txBody>
      </p:sp>
      <p:sp>
        <p:nvSpPr>
          <p:cNvPr id="16394" name="Text Box 21"/>
          <p:cNvSpPr txBox="1"/>
          <p:nvPr/>
        </p:nvSpPr>
        <p:spPr>
          <a:xfrm>
            <a:off x="1733550" y="34290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3</a:t>
            </a:r>
          </a:p>
        </p:txBody>
      </p:sp>
      <p:sp>
        <p:nvSpPr>
          <p:cNvPr id="16395" name="Text Box 22"/>
          <p:cNvSpPr txBox="1"/>
          <p:nvPr/>
        </p:nvSpPr>
        <p:spPr>
          <a:xfrm>
            <a:off x="1689100" y="50292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5</a:t>
            </a:r>
          </a:p>
        </p:txBody>
      </p:sp>
      <p:sp>
        <p:nvSpPr>
          <p:cNvPr id="7186" name="Text Box 24"/>
          <p:cNvSpPr txBox="1">
            <a:spLocks noChangeArrowheads="1"/>
          </p:cNvSpPr>
          <p:nvPr/>
        </p:nvSpPr>
        <p:spPr bwMode="auto">
          <a:xfrm>
            <a:off x="2286000" y="2490788"/>
            <a:ext cx="502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 </a:t>
            </a:r>
            <a:r>
              <a:rPr kumimoji="0" lang="zh-CN" altLang="en-US" sz="2800" b="1" i="0" u="none" strike="noStrike" kern="120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a:t>
            </a: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安全法律规范</a:t>
            </a:r>
          </a:p>
        </p:txBody>
      </p:sp>
      <p:grpSp>
        <p:nvGrpSpPr>
          <p:cNvPr id="16397" name="组合 25"/>
          <p:cNvGrpSpPr/>
          <p:nvPr/>
        </p:nvGrpSpPr>
        <p:grpSpPr>
          <a:xfrm>
            <a:off x="1524000" y="3317875"/>
            <a:ext cx="5721350" cy="665163"/>
            <a:chOff x="1828800" y="3559175"/>
            <a:chExt cx="5721395" cy="665163"/>
          </a:xfrm>
        </p:grpSpPr>
        <p:sp>
          <p:nvSpPr>
            <p:cNvPr id="16412" name="Text Box 15"/>
            <p:cNvSpPr txBox="1"/>
            <p:nvPr/>
          </p:nvSpPr>
          <p:spPr>
            <a:xfrm>
              <a:off x="2597156" y="3657600"/>
              <a:ext cx="4953039" cy="522288"/>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 </a:t>
              </a:r>
              <a:r>
                <a:rPr lang="zh-CN" altLang="en-US" sz="2800" b="1" dirty="0">
                  <a:solidFill>
                    <a:srgbClr val="FF0000"/>
                  </a:solidFill>
                  <a:latin typeface="华文楷体" panose="02010600040101010101" pitchFamily="2" charset="-122"/>
                  <a:ea typeface="华文楷体" panose="02010600040101010101" pitchFamily="2" charset="-122"/>
                </a:rPr>
                <a:t>信息安全法律关系</a:t>
              </a:r>
            </a:p>
          </p:txBody>
        </p:sp>
        <p:grpSp>
          <p:nvGrpSpPr>
            <p:cNvPr id="16413" name="Group 17"/>
            <p:cNvGrpSpPr/>
            <p:nvPr/>
          </p:nvGrpSpPr>
          <p:grpSpPr>
            <a:xfrm>
              <a:off x="1828800" y="3559175"/>
              <a:ext cx="762000" cy="665163"/>
              <a:chOff x="1110" y="2656"/>
              <a:chExt cx="1549" cy="1351"/>
            </a:xfrm>
          </p:grpSpPr>
          <p:sp>
            <p:nvSpPr>
              <p:cNvPr id="16415"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16416"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16414"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16398" name="组合 25"/>
          <p:cNvGrpSpPr/>
          <p:nvPr/>
        </p:nvGrpSpPr>
        <p:grpSpPr>
          <a:xfrm>
            <a:off x="1541463" y="4210050"/>
            <a:ext cx="5791200" cy="665163"/>
            <a:chOff x="1828800" y="3559175"/>
            <a:chExt cx="5791200" cy="665163"/>
          </a:xfrm>
        </p:grpSpPr>
        <p:sp>
          <p:nvSpPr>
            <p:cNvPr id="16406" name="Text Box 15"/>
            <p:cNvSpPr txBox="1"/>
            <p:nvPr/>
          </p:nvSpPr>
          <p:spPr>
            <a:xfrm>
              <a:off x="2667000" y="3697288"/>
              <a:ext cx="49530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立法、司法和执法</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16407" name="Group 17"/>
            <p:cNvGrpSpPr/>
            <p:nvPr/>
          </p:nvGrpSpPr>
          <p:grpSpPr>
            <a:xfrm>
              <a:off x="1828800" y="3559175"/>
              <a:ext cx="762000" cy="665163"/>
              <a:chOff x="1110" y="2656"/>
              <a:chExt cx="1549" cy="1351"/>
            </a:xfrm>
          </p:grpSpPr>
          <p:sp>
            <p:nvSpPr>
              <p:cNvPr id="16409"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16410"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16408"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16399" name="组合 25"/>
          <p:cNvGrpSpPr/>
          <p:nvPr/>
        </p:nvGrpSpPr>
        <p:grpSpPr>
          <a:xfrm>
            <a:off x="1530350" y="5089525"/>
            <a:ext cx="5791200" cy="665163"/>
            <a:chOff x="1828800" y="3559175"/>
            <a:chExt cx="5791200" cy="665163"/>
          </a:xfrm>
        </p:grpSpPr>
        <p:sp>
          <p:nvSpPr>
            <p:cNvPr id="16400" name="Text Box 15"/>
            <p:cNvSpPr txBox="1"/>
            <p:nvPr/>
          </p:nvSpPr>
          <p:spPr>
            <a:xfrm>
              <a:off x="2667000" y="3657600"/>
              <a:ext cx="49530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思政点</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16401" name="Group 17"/>
            <p:cNvGrpSpPr/>
            <p:nvPr/>
          </p:nvGrpSpPr>
          <p:grpSpPr>
            <a:xfrm>
              <a:off x="1828800" y="3559175"/>
              <a:ext cx="762000" cy="665163"/>
              <a:chOff x="1110" y="2656"/>
              <a:chExt cx="1549" cy="1351"/>
            </a:xfrm>
          </p:grpSpPr>
          <p:sp>
            <p:nvSpPr>
              <p:cNvPr id="16403"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16404"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0"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16402"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Tree>
  </p:cSld>
  <p:clrMapOvr>
    <a:masterClrMapping/>
  </p:clrMapOvr>
  <p:transition>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信息安全法律关系</a:t>
            </a:r>
          </a:p>
        </p:txBody>
      </p:sp>
      <p:sp>
        <p:nvSpPr>
          <p:cNvPr id="2" name="矩形 1"/>
          <p:cNvSpPr/>
          <p:nvPr/>
        </p:nvSpPr>
        <p:spPr>
          <a:xfrm>
            <a:off x="990600" y="1752600"/>
            <a:ext cx="6553200" cy="3316288"/>
          </a:xfrm>
          <a:prstGeom prst="rect">
            <a:avLst/>
          </a:prstGeom>
        </p:spPr>
        <p:txBody>
          <a:bodyPr>
            <a:spAutoFit/>
          </a:bodyPr>
          <a:lstStyle/>
          <a:p>
            <a:pPr marL="0" marR="0" lvl="0" indent="0" algn="l" defTabSz="914400" rtl="0" eaLnBrk="0" fontAlgn="base" latinLnBrk="0" hangingPunct="0">
              <a:lnSpc>
                <a:spcPct val="150000"/>
              </a:lnSpc>
              <a:spcBef>
                <a:spcPts val="700"/>
              </a:spcBef>
              <a:spcAft>
                <a:spcPct val="0"/>
              </a:spcAft>
              <a:buClr>
                <a:srgbClr val="DA1F28"/>
              </a:buClr>
              <a:buSzPct val="60000"/>
              <a:buFontTx/>
              <a:buNone/>
              <a:defRPr/>
            </a:pPr>
            <a:r>
              <a:rPr kumimoji="0" lang="zh-CN" altLang="en-US" sz="32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信息安全法律关系</a:t>
            </a:r>
            <a:r>
              <a:rPr kumimoji="0" lang="zh-CN" altLang="en-US" sz="32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分类：</a:t>
            </a:r>
            <a:endParaRPr kumimoji="0" lang="en-US" altLang="zh-CN" sz="32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50000"/>
              </a:lnSpc>
              <a:spcBef>
                <a:spcPts val="700"/>
              </a:spcBef>
              <a:spcAft>
                <a:spcPct val="0"/>
              </a:spcAft>
              <a:buClr>
                <a:srgbClr val="DA1F28"/>
              </a:buClr>
              <a:buSzPct val="60000"/>
              <a:buFont typeface="Wingdings" panose="05000000000000000000" pitchFamily="2" charset="2"/>
              <a:buChar char="Ø"/>
              <a:defRPr/>
            </a:pPr>
            <a:r>
              <a:rPr kumimoji="0" lang="zh-CN" altLang="en-US" sz="32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刑事法律关系</a:t>
            </a:r>
            <a:endParaRPr kumimoji="0" lang="en-US" altLang="zh-CN" sz="32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50000"/>
              </a:lnSpc>
              <a:spcBef>
                <a:spcPts val="700"/>
              </a:spcBef>
              <a:spcAft>
                <a:spcPct val="0"/>
              </a:spcAft>
              <a:buClr>
                <a:srgbClr val="DA1F28"/>
              </a:buClr>
              <a:buSzPct val="60000"/>
              <a:buFont typeface="Wingdings" panose="05000000000000000000" pitchFamily="2" charset="2"/>
              <a:buChar char="Ø"/>
              <a:defRPr/>
            </a:pPr>
            <a:r>
              <a:rPr kumimoji="0" lang="zh-CN" altLang="en-US" sz="32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行政法律关系</a:t>
            </a:r>
          </a:p>
          <a:p>
            <a:pPr marL="342900" marR="0" lvl="0" indent="-342900" algn="l" defTabSz="914400" rtl="0" eaLnBrk="0" fontAlgn="base" latinLnBrk="0" hangingPunct="0">
              <a:lnSpc>
                <a:spcPct val="150000"/>
              </a:lnSpc>
              <a:spcBef>
                <a:spcPts val="700"/>
              </a:spcBef>
              <a:spcAft>
                <a:spcPct val="0"/>
              </a:spcAft>
              <a:buClr>
                <a:srgbClr val="DA1F28"/>
              </a:buClr>
              <a:buSzPct val="60000"/>
              <a:buFont typeface="Wingdings" panose="05000000000000000000" pitchFamily="2" charset="2"/>
              <a:buChar char="Ø"/>
              <a:defRPr/>
            </a:pPr>
            <a:r>
              <a:rPr kumimoji="0" lang="zh-CN" altLang="en-US" sz="32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民事法律关系</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80">
                                          <p:stCondLst>
                                            <p:cond delay="0"/>
                                          </p:stCondLst>
                                        </p:cTn>
                                        <p:tgtEl>
                                          <p:spTgt spid="2">
                                            <p:txEl>
                                              <p:pRg st="1" end="1"/>
                                            </p:txEl>
                                          </p:spTgt>
                                        </p:tgtEl>
                                      </p:cBhvr>
                                    </p:animEffect>
                                    <p:anim calcmode="lin" valueType="num">
                                      <p:cBhvr>
                                        <p:cTn id="8"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xEl>
                                              <p:pRg st="1" end="1"/>
                                            </p:txEl>
                                          </p:spTgt>
                                        </p:tgtEl>
                                      </p:cBhvr>
                                      <p:to x="100000" y="60000"/>
                                    </p:animScale>
                                    <p:animScale>
                                      <p:cBhvr>
                                        <p:cTn id="14" dur="166" decel="50000">
                                          <p:stCondLst>
                                            <p:cond delay="676"/>
                                          </p:stCondLst>
                                        </p:cTn>
                                        <p:tgtEl>
                                          <p:spTgt spid="2">
                                            <p:txEl>
                                              <p:pRg st="1" end="1"/>
                                            </p:txEl>
                                          </p:spTgt>
                                        </p:tgtEl>
                                      </p:cBhvr>
                                      <p:to x="100000" y="100000"/>
                                    </p:animScale>
                                    <p:animScale>
                                      <p:cBhvr>
                                        <p:cTn id="15" dur="26">
                                          <p:stCondLst>
                                            <p:cond delay="1312"/>
                                          </p:stCondLst>
                                        </p:cTn>
                                        <p:tgtEl>
                                          <p:spTgt spid="2">
                                            <p:txEl>
                                              <p:pRg st="1" end="1"/>
                                            </p:txEl>
                                          </p:spTgt>
                                        </p:tgtEl>
                                      </p:cBhvr>
                                      <p:to x="100000" y="80000"/>
                                    </p:animScale>
                                    <p:animScale>
                                      <p:cBhvr>
                                        <p:cTn id="16" dur="166" decel="50000">
                                          <p:stCondLst>
                                            <p:cond delay="1338"/>
                                          </p:stCondLst>
                                        </p:cTn>
                                        <p:tgtEl>
                                          <p:spTgt spid="2">
                                            <p:txEl>
                                              <p:pRg st="1" end="1"/>
                                            </p:txEl>
                                          </p:spTgt>
                                        </p:tgtEl>
                                      </p:cBhvr>
                                      <p:to x="100000" y="100000"/>
                                    </p:animScale>
                                    <p:animScale>
                                      <p:cBhvr>
                                        <p:cTn id="17" dur="26">
                                          <p:stCondLst>
                                            <p:cond delay="1642"/>
                                          </p:stCondLst>
                                        </p:cTn>
                                        <p:tgtEl>
                                          <p:spTgt spid="2">
                                            <p:txEl>
                                              <p:pRg st="1" end="1"/>
                                            </p:txEl>
                                          </p:spTgt>
                                        </p:tgtEl>
                                      </p:cBhvr>
                                      <p:to x="100000" y="90000"/>
                                    </p:animScale>
                                    <p:animScale>
                                      <p:cBhvr>
                                        <p:cTn id="18" dur="166" decel="50000">
                                          <p:stCondLst>
                                            <p:cond delay="1668"/>
                                          </p:stCondLst>
                                        </p:cTn>
                                        <p:tgtEl>
                                          <p:spTgt spid="2">
                                            <p:txEl>
                                              <p:pRg st="1" end="1"/>
                                            </p:txEl>
                                          </p:spTgt>
                                        </p:tgtEl>
                                      </p:cBhvr>
                                      <p:to x="100000" y="100000"/>
                                    </p:animScale>
                                    <p:animScale>
                                      <p:cBhvr>
                                        <p:cTn id="19" dur="26">
                                          <p:stCondLst>
                                            <p:cond delay="1808"/>
                                          </p:stCondLst>
                                        </p:cTn>
                                        <p:tgtEl>
                                          <p:spTgt spid="2">
                                            <p:txEl>
                                              <p:pRg st="1" end="1"/>
                                            </p:txEl>
                                          </p:spTgt>
                                        </p:tgtEl>
                                      </p:cBhvr>
                                      <p:to x="100000" y="95000"/>
                                    </p:animScale>
                                    <p:animScale>
                                      <p:cBhvr>
                                        <p:cTn id="20" dur="166" decel="50000">
                                          <p:stCondLst>
                                            <p:cond delay="1834"/>
                                          </p:stCondLst>
                                        </p:cTn>
                                        <p:tgtEl>
                                          <p:spTgt spid="2">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wipe(down)">
                                      <p:cBhvr>
                                        <p:cTn id="23" dur="580">
                                          <p:stCondLst>
                                            <p:cond delay="0"/>
                                          </p:stCondLst>
                                        </p:cTn>
                                        <p:tgtEl>
                                          <p:spTgt spid="2">
                                            <p:txEl>
                                              <p:pRg st="2" end="2"/>
                                            </p:txEl>
                                          </p:spTgt>
                                        </p:tgtEl>
                                      </p:cBhvr>
                                    </p:animEffect>
                                    <p:anim calcmode="lin" valueType="num">
                                      <p:cBhvr>
                                        <p:cTn id="24" dur="1822" tmFilter="0,0; 0.14,0.36; 0.43,0.73; 0.71,0.91; 1.0,1.0">
                                          <p:stCondLst>
                                            <p:cond delay="0"/>
                                          </p:stCondLst>
                                        </p:cTn>
                                        <p:tgtEl>
                                          <p:spTgt spid="2">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2">
                                            <p:txEl>
                                              <p:pRg st="2" end="2"/>
                                            </p:txEl>
                                          </p:spTgt>
                                        </p:tgtEl>
                                      </p:cBhvr>
                                      <p:to x="100000" y="60000"/>
                                    </p:animScale>
                                    <p:animScale>
                                      <p:cBhvr>
                                        <p:cTn id="30" dur="166" decel="50000">
                                          <p:stCondLst>
                                            <p:cond delay="676"/>
                                          </p:stCondLst>
                                        </p:cTn>
                                        <p:tgtEl>
                                          <p:spTgt spid="2">
                                            <p:txEl>
                                              <p:pRg st="2" end="2"/>
                                            </p:txEl>
                                          </p:spTgt>
                                        </p:tgtEl>
                                      </p:cBhvr>
                                      <p:to x="100000" y="100000"/>
                                    </p:animScale>
                                    <p:animScale>
                                      <p:cBhvr>
                                        <p:cTn id="31" dur="26">
                                          <p:stCondLst>
                                            <p:cond delay="1312"/>
                                          </p:stCondLst>
                                        </p:cTn>
                                        <p:tgtEl>
                                          <p:spTgt spid="2">
                                            <p:txEl>
                                              <p:pRg st="2" end="2"/>
                                            </p:txEl>
                                          </p:spTgt>
                                        </p:tgtEl>
                                      </p:cBhvr>
                                      <p:to x="100000" y="80000"/>
                                    </p:animScale>
                                    <p:animScale>
                                      <p:cBhvr>
                                        <p:cTn id="32" dur="166" decel="50000">
                                          <p:stCondLst>
                                            <p:cond delay="1338"/>
                                          </p:stCondLst>
                                        </p:cTn>
                                        <p:tgtEl>
                                          <p:spTgt spid="2">
                                            <p:txEl>
                                              <p:pRg st="2" end="2"/>
                                            </p:txEl>
                                          </p:spTgt>
                                        </p:tgtEl>
                                      </p:cBhvr>
                                      <p:to x="100000" y="100000"/>
                                    </p:animScale>
                                    <p:animScale>
                                      <p:cBhvr>
                                        <p:cTn id="33" dur="26">
                                          <p:stCondLst>
                                            <p:cond delay="1642"/>
                                          </p:stCondLst>
                                        </p:cTn>
                                        <p:tgtEl>
                                          <p:spTgt spid="2">
                                            <p:txEl>
                                              <p:pRg st="2" end="2"/>
                                            </p:txEl>
                                          </p:spTgt>
                                        </p:tgtEl>
                                      </p:cBhvr>
                                      <p:to x="100000" y="90000"/>
                                    </p:animScale>
                                    <p:animScale>
                                      <p:cBhvr>
                                        <p:cTn id="34" dur="166" decel="50000">
                                          <p:stCondLst>
                                            <p:cond delay="1668"/>
                                          </p:stCondLst>
                                        </p:cTn>
                                        <p:tgtEl>
                                          <p:spTgt spid="2">
                                            <p:txEl>
                                              <p:pRg st="2" end="2"/>
                                            </p:txEl>
                                          </p:spTgt>
                                        </p:tgtEl>
                                      </p:cBhvr>
                                      <p:to x="100000" y="100000"/>
                                    </p:animScale>
                                    <p:animScale>
                                      <p:cBhvr>
                                        <p:cTn id="35" dur="26">
                                          <p:stCondLst>
                                            <p:cond delay="1808"/>
                                          </p:stCondLst>
                                        </p:cTn>
                                        <p:tgtEl>
                                          <p:spTgt spid="2">
                                            <p:txEl>
                                              <p:pRg st="2" end="2"/>
                                            </p:txEl>
                                          </p:spTgt>
                                        </p:tgtEl>
                                      </p:cBhvr>
                                      <p:to x="100000" y="95000"/>
                                    </p:animScale>
                                    <p:animScale>
                                      <p:cBhvr>
                                        <p:cTn id="36" dur="166" decel="50000">
                                          <p:stCondLst>
                                            <p:cond delay="1834"/>
                                          </p:stCondLst>
                                        </p:cTn>
                                        <p:tgtEl>
                                          <p:spTgt spid="2">
                                            <p:txEl>
                                              <p:pRg st="2" end="2"/>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2">
                                            <p:txEl>
                                              <p:pRg st="3" end="3"/>
                                            </p:txEl>
                                          </p:spTgt>
                                        </p:tgtEl>
                                        <p:attrNameLst>
                                          <p:attrName>style.visibility</p:attrName>
                                        </p:attrNameLst>
                                      </p:cBhvr>
                                      <p:to>
                                        <p:strVal val="visible"/>
                                      </p:to>
                                    </p:set>
                                    <p:animEffect transition="in" filter="wipe(down)">
                                      <p:cBhvr>
                                        <p:cTn id="39" dur="580">
                                          <p:stCondLst>
                                            <p:cond delay="0"/>
                                          </p:stCondLst>
                                        </p:cTn>
                                        <p:tgtEl>
                                          <p:spTgt spid="2">
                                            <p:txEl>
                                              <p:pRg st="3" end="3"/>
                                            </p:txEl>
                                          </p:spTgt>
                                        </p:tgtEl>
                                      </p:cBhvr>
                                    </p:animEffect>
                                    <p:anim calcmode="lin" valueType="num">
                                      <p:cBhvr>
                                        <p:cTn id="40" dur="1822" tmFilter="0,0; 0.14,0.36; 0.43,0.73; 0.71,0.91; 1.0,1.0">
                                          <p:stCondLst>
                                            <p:cond delay="0"/>
                                          </p:stCondLst>
                                        </p:cTn>
                                        <p:tgtEl>
                                          <p:spTgt spid="2">
                                            <p:txEl>
                                              <p:pRg st="3" end="3"/>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2">
                                            <p:txEl>
                                              <p:pRg st="3" end="3"/>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2">
                                            <p:txEl>
                                              <p:pRg st="3" end="3"/>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2">
                                            <p:txEl>
                                              <p:pRg st="3" end="3"/>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2">
                                            <p:txEl>
                                              <p:pRg st="3" end="3"/>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2">
                                            <p:txEl>
                                              <p:pRg st="3" end="3"/>
                                            </p:txEl>
                                          </p:spTgt>
                                        </p:tgtEl>
                                      </p:cBhvr>
                                      <p:to x="100000" y="60000"/>
                                    </p:animScale>
                                    <p:animScale>
                                      <p:cBhvr>
                                        <p:cTn id="46" dur="166" decel="50000">
                                          <p:stCondLst>
                                            <p:cond delay="676"/>
                                          </p:stCondLst>
                                        </p:cTn>
                                        <p:tgtEl>
                                          <p:spTgt spid="2">
                                            <p:txEl>
                                              <p:pRg st="3" end="3"/>
                                            </p:txEl>
                                          </p:spTgt>
                                        </p:tgtEl>
                                      </p:cBhvr>
                                      <p:to x="100000" y="100000"/>
                                    </p:animScale>
                                    <p:animScale>
                                      <p:cBhvr>
                                        <p:cTn id="47" dur="26">
                                          <p:stCondLst>
                                            <p:cond delay="1312"/>
                                          </p:stCondLst>
                                        </p:cTn>
                                        <p:tgtEl>
                                          <p:spTgt spid="2">
                                            <p:txEl>
                                              <p:pRg st="3" end="3"/>
                                            </p:txEl>
                                          </p:spTgt>
                                        </p:tgtEl>
                                      </p:cBhvr>
                                      <p:to x="100000" y="80000"/>
                                    </p:animScale>
                                    <p:animScale>
                                      <p:cBhvr>
                                        <p:cTn id="48" dur="166" decel="50000">
                                          <p:stCondLst>
                                            <p:cond delay="1338"/>
                                          </p:stCondLst>
                                        </p:cTn>
                                        <p:tgtEl>
                                          <p:spTgt spid="2">
                                            <p:txEl>
                                              <p:pRg st="3" end="3"/>
                                            </p:txEl>
                                          </p:spTgt>
                                        </p:tgtEl>
                                      </p:cBhvr>
                                      <p:to x="100000" y="100000"/>
                                    </p:animScale>
                                    <p:animScale>
                                      <p:cBhvr>
                                        <p:cTn id="49" dur="26">
                                          <p:stCondLst>
                                            <p:cond delay="1642"/>
                                          </p:stCondLst>
                                        </p:cTn>
                                        <p:tgtEl>
                                          <p:spTgt spid="2">
                                            <p:txEl>
                                              <p:pRg st="3" end="3"/>
                                            </p:txEl>
                                          </p:spTgt>
                                        </p:tgtEl>
                                      </p:cBhvr>
                                      <p:to x="100000" y="90000"/>
                                    </p:animScale>
                                    <p:animScale>
                                      <p:cBhvr>
                                        <p:cTn id="50" dur="166" decel="50000">
                                          <p:stCondLst>
                                            <p:cond delay="1668"/>
                                          </p:stCondLst>
                                        </p:cTn>
                                        <p:tgtEl>
                                          <p:spTgt spid="2">
                                            <p:txEl>
                                              <p:pRg st="3" end="3"/>
                                            </p:txEl>
                                          </p:spTgt>
                                        </p:tgtEl>
                                      </p:cBhvr>
                                      <p:to x="100000" y="100000"/>
                                    </p:animScale>
                                    <p:animScale>
                                      <p:cBhvr>
                                        <p:cTn id="51" dur="26">
                                          <p:stCondLst>
                                            <p:cond delay="1808"/>
                                          </p:stCondLst>
                                        </p:cTn>
                                        <p:tgtEl>
                                          <p:spTgt spid="2">
                                            <p:txEl>
                                              <p:pRg st="3" end="3"/>
                                            </p:txEl>
                                          </p:spTgt>
                                        </p:tgtEl>
                                      </p:cBhvr>
                                      <p:to x="100000" y="95000"/>
                                    </p:animScale>
                                    <p:animScale>
                                      <p:cBhvr>
                                        <p:cTn id="52" dur="166" decel="50000">
                                          <p:stCondLst>
                                            <p:cond delay="1834"/>
                                          </p:stCondLst>
                                        </p:cTn>
                                        <p:tgtEl>
                                          <p:spTgt spid="2">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信息安全法律关系</a:t>
            </a:r>
          </a:p>
        </p:txBody>
      </p:sp>
      <p:sp>
        <p:nvSpPr>
          <p:cNvPr id="2" name="矩形 1"/>
          <p:cNvSpPr/>
          <p:nvPr/>
        </p:nvSpPr>
        <p:spPr>
          <a:xfrm>
            <a:off x="609600" y="1600200"/>
            <a:ext cx="8229600" cy="480060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刑事法律关系：</a:t>
            </a:r>
          </a:p>
          <a:p>
            <a:pPr marL="457200"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我国信息安全刑事法律关系的核心是预防和打击利用或者针对计算机系统或计算机网络实施的各种犯罪活动；</a:t>
            </a:r>
            <a:endParaRPr kumimoji="0" lang="en-US" altLang="zh-CN"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457200"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Ø"/>
              <a:defRPr/>
            </a:pPr>
            <a:r>
              <a:rPr kumimoji="0" lang="en-US" altLang="zh-CN"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1997</a:t>
            </a:r>
            <a:r>
              <a:rPr kumimoji="0" lang="zh-CN" altLang="en-US"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刑法</a:t>
            </a:r>
            <a:r>
              <a:rPr kumimoji="0" lang="en-US" altLang="zh-CN"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修改后，除了分则规定的大多数犯罪（包括危害国家安全罪，危害公共安全罪，破坏社会主义市场经济秩序罪，侵犯公民人身权利、民主权利罪，侵犯财产罪，妨害社会管理秩序罪）都可以利用计算机网络实施以外，还专门在第</a:t>
            </a:r>
            <a:r>
              <a:rPr kumimoji="0" lang="en-US" altLang="zh-CN"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285</a:t>
            </a:r>
            <a:r>
              <a:rPr kumimoji="0" lang="zh-CN" altLang="en-US"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条和第</a:t>
            </a:r>
            <a:r>
              <a:rPr kumimoji="0" lang="en-US" altLang="zh-CN"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286</a:t>
            </a:r>
            <a:r>
              <a:rPr kumimoji="0" lang="zh-CN" altLang="en-US"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条规定了非法侵入计算机信息系统罪和破坏计算机信息系统罪。</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circle(in)">
                                      <p:cBhvr>
                                        <p:cTn id="7" dur="20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 calcmode="lin" valueType="num">
                                      <p:cBhvr additive="base">
                                        <p:cTn id="12"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信息安全法律关系</a:t>
            </a:r>
          </a:p>
        </p:txBody>
      </p:sp>
      <p:sp>
        <p:nvSpPr>
          <p:cNvPr id="2" name="矩形 1"/>
          <p:cNvSpPr/>
          <p:nvPr/>
        </p:nvSpPr>
        <p:spPr>
          <a:xfrm>
            <a:off x="609600" y="1508125"/>
            <a:ext cx="8077200" cy="421640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行政法律关系：</a:t>
            </a:r>
          </a:p>
          <a:p>
            <a:pPr marL="457200"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我国信息安全行政法律关系的主体包括行政机关和行政相对人。</a:t>
            </a:r>
            <a:endParaRPr kumimoji="0" lang="en-US" altLang="zh-CN"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457200"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根据现有法律规范和有关文件的规定，信息安全领域的行政主管部门主要包括公安部、工业和信息化部、文化部、国家安全部、国家新闻出版总署、国家广播电影电视总局、国家质量监督检验检疫总局、国务院新闻办公室、国家保密局、国家密码管理局等十多个部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信息安全法律关系</a:t>
            </a:r>
          </a:p>
        </p:txBody>
      </p:sp>
      <p:sp>
        <p:nvSpPr>
          <p:cNvPr id="2" name="矩形 1"/>
          <p:cNvSpPr/>
          <p:nvPr/>
        </p:nvSpPr>
        <p:spPr>
          <a:xfrm>
            <a:off x="609600" y="1704975"/>
            <a:ext cx="7924800" cy="360045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民事法律关系：</a:t>
            </a:r>
          </a:p>
          <a:p>
            <a:pPr marL="457200"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人们在使用计算机和网络时有意或无意地侵权，都有可能被提起民事诉讼。</a:t>
            </a:r>
            <a:endParaRPr kumimoji="0" lang="en-US" altLang="zh-CN"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457200"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我国现行信息网络安全立法所涉及和调整的民事法律关系主要包括：债权（合同），商标权、著作权、专利权等知识产权，反不正当竞争，产品质量及消费者权益保护等。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circle(in)">
                                      <p:cBhvr>
                                        <p:cTn id="7" dur="20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21507" name="Group 3"/>
          <p:cNvGrpSpPr/>
          <p:nvPr/>
        </p:nvGrpSpPr>
        <p:grpSpPr>
          <a:xfrm>
            <a:off x="1524000" y="1524000"/>
            <a:ext cx="762000" cy="665163"/>
            <a:chOff x="1110" y="2656"/>
            <a:chExt cx="1549" cy="1351"/>
          </a:xfrm>
        </p:grpSpPr>
        <p:sp>
          <p:nvSpPr>
            <p:cNvPr id="2154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154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21508" name="Group 7"/>
          <p:cNvGrpSpPr/>
          <p:nvPr/>
        </p:nvGrpSpPr>
        <p:grpSpPr>
          <a:xfrm>
            <a:off x="1524000" y="2374900"/>
            <a:ext cx="762000" cy="665163"/>
            <a:chOff x="3174" y="2656"/>
            <a:chExt cx="1549" cy="1351"/>
          </a:xfrm>
        </p:grpSpPr>
        <p:sp>
          <p:nvSpPr>
            <p:cNvPr id="21538"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1539"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21509" name="Line 11"/>
          <p:cNvSpPr/>
          <p:nvPr/>
        </p:nvSpPr>
        <p:spPr>
          <a:xfrm>
            <a:off x="2133600" y="2133600"/>
            <a:ext cx="4800600" cy="4763"/>
          </a:xfrm>
          <a:prstGeom prst="line">
            <a:avLst/>
          </a:prstGeom>
          <a:ln w="25400" cap="flat" cmpd="sng">
            <a:solidFill>
              <a:srgbClr val="C0C0C0"/>
            </a:solidFill>
            <a:prstDash val="sysDot"/>
            <a:headEnd type="none" w="med" len="med"/>
            <a:tailEnd type="oval" w="med" len="med"/>
          </a:ln>
        </p:spPr>
      </p:sp>
      <p:sp>
        <p:nvSpPr>
          <p:cNvPr id="21510" name="Text Box 12"/>
          <p:cNvSpPr txBox="1"/>
          <p:nvPr/>
        </p:nvSpPr>
        <p:spPr>
          <a:xfrm>
            <a:off x="2362200" y="1581150"/>
            <a:ext cx="56388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法律法规</a:t>
            </a:r>
          </a:p>
        </p:txBody>
      </p:sp>
      <p:sp>
        <p:nvSpPr>
          <p:cNvPr id="21511" name="Text Box 13"/>
          <p:cNvSpPr txBox="1"/>
          <p:nvPr/>
        </p:nvSpPr>
        <p:spPr>
          <a:xfrm>
            <a:off x="1733550" y="16224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1</a:t>
            </a:r>
          </a:p>
        </p:txBody>
      </p:sp>
      <p:sp>
        <p:nvSpPr>
          <p:cNvPr id="21512" name="Line 14"/>
          <p:cNvSpPr/>
          <p:nvPr/>
        </p:nvSpPr>
        <p:spPr>
          <a:xfrm>
            <a:off x="2133600" y="3048000"/>
            <a:ext cx="4800600" cy="0"/>
          </a:xfrm>
          <a:prstGeom prst="line">
            <a:avLst/>
          </a:prstGeom>
          <a:ln w="25400" cap="flat" cmpd="sng">
            <a:solidFill>
              <a:srgbClr val="C0C0C0"/>
            </a:solidFill>
            <a:prstDash val="sysDot"/>
            <a:headEnd type="none" w="med" len="med"/>
            <a:tailEnd type="oval" w="med" len="med"/>
          </a:ln>
        </p:spPr>
      </p:sp>
      <p:sp>
        <p:nvSpPr>
          <p:cNvPr id="21513" name="Text Box 16"/>
          <p:cNvSpPr txBox="1"/>
          <p:nvPr/>
        </p:nvSpPr>
        <p:spPr>
          <a:xfrm>
            <a:off x="1733550" y="25368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2</a:t>
            </a:r>
          </a:p>
        </p:txBody>
      </p:sp>
      <p:sp>
        <p:nvSpPr>
          <p:cNvPr id="21514" name="Text Box 21"/>
          <p:cNvSpPr txBox="1"/>
          <p:nvPr/>
        </p:nvSpPr>
        <p:spPr>
          <a:xfrm>
            <a:off x="1733550" y="34290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3</a:t>
            </a:r>
          </a:p>
        </p:txBody>
      </p:sp>
      <p:sp>
        <p:nvSpPr>
          <p:cNvPr id="21515" name="Text Box 22"/>
          <p:cNvSpPr txBox="1"/>
          <p:nvPr/>
        </p:nvSpPr>
        <p:spPr>
          <a:xfrm>
            <a:off x="1689100" y="50292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5</a:t>
            </a:r>
          </a:p>
        </p:txBody>
      </p:sp>
      <p:sp>
        <p:nvSpPr>
          <p:cNvPr id="7186" name="Text Box 24"/>
          <p:cNvSpPr txBox="1">
            <a:spLocks noChangeArrowheads="1"/>
          </p:cNvSpPr>
          <p:nvPr/>
        </p:nvSpPr>
        <p:spPr bwMode="auto">
          <a:xfrm>
            <a:off x="2286000" y="2490788"/>
            <a:ext cx="502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 </a:t>
            </a:r>
            <a:r>
              <a:rPr kumimoji="0" lang="zh-CN" altLang="en-US" sz="2800" b="1" i="0" u="none" strike="noStrike" kern="120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a:t>
            </a: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安全法律规范</a:t>
            </a:r>
          </a:p>
        </p:txBody>
      </p:sp>
      <p:grpSp>
        <p:nvGrpSpPr>
          <p:cNvPr id="21517" name="组合 25"/>
          <p:cNvGrpSpPr/>
          <p:nvPr/>
        </p:nvGrpSpPr>
        <p:grpSpPr>
          <a:xfrm>
            <a:off x="1524000" y="3317875"/>
            <a:ext cx="5721350" cy="665163"/>
            <a:chOff x="1828800" y="3559175"/>
            <a:chExt cx="5721395" cy="665163"/>
          </a:xfrm>
        </p:grpSpPr>
        <p:sp>
          <p:nvSpPr>
            <p:cNvPr id="21532" name="Text Box 15"/>
            <p:cNvSpPr txBox="1"/>
            <p:nvPr/>
          </p:nvSpPr>
          <p:spPr>
            <a:xfrm>
              <a:off x="2597156" y="3657600"/>
              <a:ext cx="4953039" cy="522288"/>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 信息安全法律关系</a:t>
              </a:r>
            </a:p>
          </p:txBody>
        </p:sp>
        <p:grpSp>
          <p:nvGrpSpPr>
            <p:cNvPr id="21533" name="Group 17"/>
            <p:cNvGrpSpPr/>
            <p:nvPr/>
          </p:nvGrpSpPr>
          <p:grpSpPr>
            <a:xfrm>
              <a:off x="1828800" y="3559175"/>
              <a:ext cx="762000" cy="665163"/>
              <a:chOff x="1110" y="2656"/>
              <a:chExt cx="1549" cy="1351"/>
            </a:xfrm>
          </p:grpSpPr>
          <p:sp>
            <p:nvSpPr>
              <p:cNvPr id="21535"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1536"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21534"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21518" name="组合 25"/>
          <p:cNvGrpSpPr/>
          <p:nvPr/>
        </p:nvGrpSpPr>
        <p:grpSpPr>
          <a:xfrm>
            <a:off x="1541463" y="4210050"/>
            <a:ext cx="5791200" cy="665163"/>
            <a:chOff x="1828800" y="3559175"/>
            <a:chExt cx="5791200" cy="665163"/>
          </a:xfrm>
        </p:grpSpPr>
        <p:sp>
          <p:nvSpPr>
            <p:cNvPr id="21526" name="Text Box 15"/>
            <p:cNvSpPr txBox="1"/>
            <p:nvPr/>
          </p:nvSpPr>
          <p:spPr>
            <a:xfrm>
              <a:off x="2667000" y="3697288"/>
              <a:ext cx="4953000" cy="523875"/>
            </a:xfrm>
            <a:prstGeom prst="rect">
              <a:avLst/>
            </a:prstGeom>
            <a:noFill/>
            <a:ln w="9525">
              <a:noFill/>
            </a:ln>
          </p:spPr>
          <p:txBody>
            <a:bodyPr>
              <a:spAutoFit/>
            </a:bodyPr>
            <a:lstStyle/>
            <a:p>
              <a:r>
                <a:rPr lang="zh-CN" altLang="en-US" sz="2800" b="1" dirty="0">
                  <a:solidFill>
                    <a:srgbClr val="FF0000"/>
                  </a:solidFill>
                  <a:latin typeface="华文楷体" panose="02010600040101010101" pitchFamily="2" charset="-122"/>
                  <a:ea typeface="华文楷体" panose="02010600040101010101" pitchFamily="2" charset="-122"/>
                </a:rPr>
                <a:t>立法、司法和执法</a:t>
              </a:r>
              <a:endParaRPr lang="en-US" altLang="zh-CN" sz="2800" b="1" dirty="0">
                <a:solidFill>
                  <a:srgbClr val="FF0000"/>
                </a:solidFill>
                <a:latin typeface="华文楷体" panose="02010600040101010101" pitchFamily="2" charset="-122"/>
                <a:ea typeface="华文楷体" panose="02010600040101010101" pitchFamily="2" charset="-122"/>
              </a:endParaRPr>
            </a:p>
          </p:txBody>
        </p:sp>
        <p:grpSp>
          <p:nvGrpSpPr>
            <p:cNvPr id="21527" name="Group 17"/>
            <p:cNvGrpSpPr/>
            <p:nvPr/>
          </p:nvGrpSpPr>
          <p:grpSpPr>
            <a:xfrm>
              <a:off x="1828800" y="3559175"/>
              <a:ext cx="762000" cy="665163"/>
              <a:chOff x="1110" y="2656"/>
              <a:chExt cx="1549" cy="1351"/>
            </a:xfrm>
          </p:grpSpPr>
          <p:sp>
            <p:nvSpPr>
              <p:cNvPr id="21529"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1530"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21528"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21519" name="组合 25"/>
          <p:cNvGrpSpPr/>
          <p:nvPr/>
        </p:nvGrpSpPr>
        <p:grpSpPr>
          <a:xfrm>
            <a:off x="1530350" y="5089525"/>
            <a:ext cx="5791200" cy="665163"/>
            <a:chOff x="1828800" y="3559175"/>
            <a:chExt cx="5791200" cy="665163"/>
          </a:xfrm>
        </p:grpSpPr>
        <p:sp>
          <p:nvSpPr>
            <p:cNvPr id="21520" name="Text Box 15"/>
            <p:cNvSpPr txBox="1"/>
            <p:nvPr/>
          </p:nvSpPr>
          <p:spPr>
            <a:xfrm>
              <a:off x="2667000" y="3657600"/>
              <a:ext cx="49530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思政点</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21521" name="Group 17"/>
            <p:cNvGrpSpPr/>
            <p:nvPr/>
          </p:nvGrpSpPr>
          <p:grpSpPr>
            <a:xfrm>
              <a:off x="1828800" y="3559175"/>
              <a:ext cx="762000" cy="665163"/>
              <a:chOff x="1110" y="2656"/>
              <a:chExt cx="1549" cy="1351"/>
            </a:xfrm>
          </p:grpSpPr>
          <p:sp>
            <p:nvSpPr>
              <p:cNvPr id="21523"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1524"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0"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21522"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Tree>
  </p:cSld>
  <p:clrMapOvr>
    <a:masterClrMapping/>
  </p:clrMapOvr>
  <p:transition>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ln/>
        </p:spPr>
        <p:txBody>
          <a:bodyPr vert="horz" wrap="square" lIns="91440" tIns="45720" rIns="91440" bIns="45720" anchor="ctr" anchorCtr="0"/>
          <a:lstStyle/>
          <a:p>
            <a:pPr eaLnBrk="1" hangingPunct="1"/>
            <a:r>
              <a:rPr lang="zh-CN" altLang="en-US" b="1" dirty="0">
                <a:solidFill>
                  <a:srgbClr val="FF0000"/>
                </a:solidFill>
                <a:ea typeface="宋体" panose="02010600030101010101" pitchFamily="2" charset="-122"/>
              </a:rPr>
              <a:t>立法</a:t>
            </a:r>
            <a:r>
              <a:rPr lang="zh-CN" altLang="en-US" b="1" dirty="0">
                <a:ea typeface="宋体" panose="02010600030101010101" pitchFamily="2" charset="-122"/>
              </a:rPr>
              <a:t>、司法和执法</a:t>
            </a:r>
          </a:p>
        </p:txBody>
      </p:sp>
      <p:sp>
        <p:nvSpPr>
          <p:cNvPr id="2" name="矩形 1"/>
          <p:cNvSpPr/>
          <p:nvPr/>
        </p:nvSpPr>
        <p:spPr>
          <a:xfrm>
            <a:off x="533400" y="1447800"/>
            <a:ext cx="8001000" cy="3324225"/>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立法：</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立法的概念</a:t>
            </a: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一定的国家机关依照法定职权和程序，制定、修改和废止法律和其他规范性法律文件及认可法律的活动，是将一定阶级的意志上升为国家意志的活动，是对社会资源、社会利益进行第一次分配的活动。</a:t>
            </a:r>
            <a:endParaRPr kumimoji="0" lang="en-US" altLang="zh-CN"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sp>
        <p:nvSpPr>
          <p:cNvPr id="22532" name="矩形 2"/>
          <p:cNvSpPr/>
          <p:nvPr/>
        </p:nvSpPr>
        <p:spPr>
          <a:xfrm>
            <a:off x="685800" y="4722813"/>
            <a:ext cx="8153400" cy="1754187"/>
          </a:xfrm>
          <a:prstGeom prst="rect">
            <a:avLst/>
          </a:prstGeom>
          <a:noFill/>
          <a:ln w="9525">
            <a:noFill/>
          </a:ln>
        </p:spPr>
        <p:txBody>
          <a:bodyPr>
            <a:spAutoFit/>
          </a:bodyPr>
          <a:lstStyle/>
          <a:p>
            <a:pPr>
              <a:lnSpc>
                <a:spcPct val="150000"/>
              </a:lnSpc>
            </a:pPr>
            <a:r>
              <a:rPr lang="zh-CN" altLang="en-US" sz="2400"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中国立法包括：</a:t>
            </a:r>
            <a:r>
              <a:rPr lang="zh-CN" altLang="en-US" sz="2400" dirty="0">
                <a:latin typeface="华文楷体" panose="02010600040101010101" pitchFamily="2" charset="-122"/>
                <a:ea typeface="华文楷体" panose="02010600040101010101" pitchFamily="2" charset="-122"/>
              </a:rPr>
              <a:t>全国人大及其常委会立法、国务院及其部门立法、一般地方立法、民族自治地方立法、经济特区和特别行政区立法。</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circle(in)">
                                      <p:cBhvr>
                                        <p:cTn id="12" dur="20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2532">
                                            <p:txEl>
                                              <p:pRg st="0" end="0"/>
                                            </p:txEl>
                                          </p:spTgt>
                                        </p:tgtEl>
                                        <p:attrNameLst>
                                          <p:attrName>style.visibility</p:attrName>
                                        </p:attrNameLst>
                                      </p:cBhvr>
                                      <p:to>
                                        <p:strVal val="visible"/>
                                      </p:to>
                                    </p:set>
                                    <p:anim calcmode="lin" valueType="num">
                                      <p:cBhvr additive="base">
                                        <p:cTn id="17" dur="500" fill="hold"/>
                                        <p:tgtEl>
                                          <p:spTgt spid="22532">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253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ln/>
        </p:spPr>
        <p:txBody>
          <a:bodyPr vert="horz" wrap="square" lIns="91440" tIns="45720" rIns="91440" bIns="45720" anchor="ctr" anchorCtr="0"/>
          <a:lstStyle/>
          <a:p>
            <a:pPr eaLnBrk="1" hangingPunct="1"/>
            <a:r>
              <a:rPr lang="zh-CN" altLang="en-US" b="1" dirty="0">
                <a:solidFill>
                  <a:srgbClr val="FF0000"/>
                </a:solidFill>
                <a:ea typeface="宋体" panose="02010600030101010101" pitchFamily="2" charset="-122"/>
              </a:rPr>
              <a:t>立法</a:t>
            </a:r>
            <a:r>
              <a:rPr lang="zh-CN" altLang="en-US" b="1" dirty="0">
                <a:ea typeface="宋体" panose="02010600030101010101" pitchFamily="2" charset="-122"/>
              </a:rPr>
              <a:t>、司法和执法</a:t>
            </a:r>
          </a:p>
        </p:txBody>
      </p:sp>
      <p:sp>
        <p:nvSpPr>
          <p:cNvPr id="23555" name="矩形 1"/>
          <p:cNvSpPr/>
          <p:nvPr/>
        </p:nvSpPr>
        <p:spPr>
          <a:xfrm>
            <a:off x="609600" y="1752600"/>
            <a:ext cx="7543800" cy="2832100"/>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立法制度与立法体制</a:t>
            </a:r>
          </a:p>
          <a:p>
            <a:pPr>
              <a:lnSpc>
                <a:spcPct val="150000"/>
              </a:lnSpc>
            </a:pPr>
            <a:r>
              <a:rPr lang="zh-CN" altLang="en-US" sz="28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立法制度是立法活动、立法过程所须遵循的各种实体性准则的总称，是国家法制的重要组成部分。</a:t>
            </a:r>
            <a:endParaRPr lang="en-US" altLang="zh-CN" sz="2400" dirty="0">
              <a:latin typeface="华文楷体" panose="02010600040101010101" pitchFamily="2" charset="-122"/>
              <a:ea typeface="华文楷体" panose="02010600040101010101" pitchFamily="2" charset="-122"/>
            </a:endParaRPr>
          </a:p>
          <a:p>
            <a:pPr>
              <a:lnSpc>
                <a:spcPct val="150000"/>
              </a:lnSpc>
            </a:pPr>
            <a:r>
              <a:rPr lang="zh-CN" altLang="en-US" sz="2400" dirty="0">
                <a:latin typeface="华文楷体" panose="02010600040101010101" pitchFamily="2" charset="-122"/>
                <a:ea typeface="华文楷体" panose="02010600040101010101" pitchFamily="2" charset="-122"/>
              </a:rPr>
              <a:t>         立法体制是关于立法权限、立法权运行和立法权载体诸方面的体系和制度所构成的有机整体。</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wipe(down)">
                                      <p:cBhvr>
                                        <p:cTn id="7" dur="500"/>
                                        <p:tgtEl>
                                          <p:spTgt spid="2355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circle(in)">
                                      <p:cBhvr>
                                        <p:cTn id="12" dur="2000"/>
                                        <p:tgtEl>
                                          <p:spTgt spid="235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ln/>
        </p:spPr>
        <p:txBody>
          <a:bodyPr vert="horz" wrap="square" lIns="91440" tIns="45720" rIns="91440" bIns="45720" anchor="ctr" anchorCtr="0"/>
          <a:lstStyle/>
          <a:p>
            <a:pPr eaLnBrk="1" hangingPunct="1"/>
            <a:r>
              <a:rPr lang="zh-CN" altLang="en-US" b="1" dirty="0">
                <a:solidFill>
                  <a:srgbClr val="FF0000"/>
                </a:solidFill>
                <a:ea typeface="宋体" panose="02010600030101010101" pitchFamily="2" charset="-122"/>
              </a:rPr>
              <a:t>立法</a:t>
            </a:r>
            <a:r>
              <a:rPr lang="zh-CN" altLang="en-US" b="1" dirty="0">
                <a:ea typeface="宋体" panose="02010600030101010101" pitchFamily="2" charset="-122"/>
              </a:rPr>
              <a:t>、司法和执法</a:t>
            </a:r>
          </a:p>
        </p:txBody>
      </p:sp>
      <p:sp>
        <p:nvSpPr>
          <p:cNvPr id="2" name="矩形 1"/>
          <p:cNvSpPr/>
          <p:nvPr/>
        </p:nvSpPr>
        <p:spPr>
          <a:xfrm>
            <a:off x="990600" y="1719263"/>
            <a:ext cx="5791200" cy="2016125"/>
          </a:xfrm>
          <a:prstGeom prst="rect">
            <a:avLst/>
          </a:prstGeom>
        </p:spPr>
        <p:txBody>
          <a:bodyPr>
            <a:spAutoFit/>
          </a:bodyPr>
          <a:lstStyle/>
          <a:p>
            <a:pPr marL="0" marR="0" lvl="0" indent="0" algn="l" defTabSz="914400" rtl="0" eaLnBrk="0" fontAlgn="base" latinLnBrk="0" hangingPunct="0">
              <a:lnSpc>
                <a:spcPct val="100000"/>
              </a:lnSpc>
              <a:spcBef>
                <a:spcPts val="1000"/>
              </a:spcBef>
              <a:spcAft>
                <a:spcPct val="0"/>
              </a:spcAft>
              <a:buClrTx/>
              <a:buSzTx/>
              <a:buFontTx/>
              <a:buNone/>
              <a:defRPr/>
            </a:pP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立法体制三要素构成：</a:t>
            </a:r>
          </a:p>
          <a:p>
            <a:pPr marL="342900" marR="0" lvl="0" indent="-342900" algn="l" defTabSz="914400" rtl="0" eaLnBrk="0" fontAlgn="base" latinLnBrk="0" hangingPunct="0">
              <a:lnSpc>
                <a:spcPct val="100000"/>
              </a:lnSpc>
              <a:spcBef>
                <a:spcPts val="10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立法权限的体系和制度；</a:t>
            </a:r>
            <a:endParaRPr kumimoji="0" lang="en-US" altLang="zh-CN"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ts val="10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立法权的运行体系和制度；</a:t>
            </a:r>
            <a:endParaRPr kumimoji="0" lang="en-US" altLang="zh-CN"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ts val="10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立法权的载体体系和制度。</a:t>
            </a:r>
          </a:p>
        </p:txBody>
      </p:sp>
      <p:sp>
        <p:nvSpPr>
          <p:cNvPr id="24580" name="矩形 3"/>
          <p:cNvSpPr/>
          <p:nvPr/>
        </p:nvSpPr>
        <p:spPr>
          <a:xfrm>
            <a:off x="609600" y="4418013"/>
            <a:ext cx="8153400" cy="1147762"/>
          </a:xfrm>
          <a:prstGeom prst="rect">
            <a:avLst/>
          </a:prstGeom>
          <a:noFill/>
          <a:ln w="9525">
            <a:noFill/>
          </a:ln>
        </p:spPr>
        <p:txBody>
          <a:bodyPr>
            <a:spAutoFit/>
          </a:bodyPr>
          <a:lstStyle/>
          <a:p>
            <a:pPr>
              <a:lnSpc>
                <a:spcPct val="150000"/>
              </a:lnSpc>
            </a:pPr>
            <a:r>
              <a:rPr lang="zh-CN" altLang="en-US" sz="2400" dirty="0">
                <a:latin typeface="华文楷体" panose="02010600040101010101" pitchFamily="2" charset="-122"/>
                <a:ea typeface="华文楷体" panose="02010600040101010101" pitchFamily="2" charset="-122"/>
              </a:rPr>
              <a:t>       中国现行的立法体制：中央统一领导和一定程度分权，多级并存、分类组合的立法权限划分体制。</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80">
                                          <p:stCondLst>
                                            <p:cond delay="0"/>
                                          </p:stCondLst>
                                        </p:cTn>
                                        <p:tgtEl>
                                          <p:spTgt spid="2">
                                            <p:txEl>
                                              <p:pRg st="1" end="1"/>
                                            </p:txEl>
                                          </p:spTgt>
                                        </p:tgtEl>
                                      </p:cBhvr>
                                    </p:animEffect>
                                    <p:anim calcmode="lin" valueType="num">
                                      <p:cBhvr>
                                        <p:cTn id="8"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xEl>
                                              <p:pRg st="1" end="1"/>
                                            </p:txEl>
                                          </p:spTgt>
                                        </p:tgtEl>
                                      </p:cBhvr>
                                      <p:to x="100000" y="60000"/>
                                    </p:animScale>
                                    <p:animScale>
                                      <p:cBhvr>
                                        <p:cTn id="14" dur="166" decel="50000">
                                          <p:stCondLst>
                                            <p:cond delay="676"/>
                                          </p:stCondLst>
                                        </p:cTn>
                                        <p:tgtEl>
                                          <p:spTgt spid="2">
                                            <p:txEl>
                                              <p:pRg st="1" end="1"/>
                                            </p:txEl>
                                          </p:spTgt>
                                        </p:tgtEl>
                                      </p:cBhvr>
                                      <p:to x="100000" y="100000"/>
                                    </p:animScale>
                                    <p:animScale>
                                      <p:cBhvr>
                                        <p:cTn id="15" dur="26">
                                          <p:stCondLst>
                                            <p:cond delay="1312"/>
                                          </p:stCondLst>
                                        </p:cTn>
                                        <p:tgtEl>
                                          <p:spTgt spid="2">
                                            <p:txEl>
                                              <p:pRg st="1" end="1"/>
                                            </p:txEl>
                                          </p:spTgt>
                                        </p:tgtEl>
                                      </p:cBhvr>
                                      <p:to x="100000" y="80000"/>
                                    </p:animScale>
                                    <p:animScale>
                                      <p:cBhvr>
                                        <p:cTn id="16" dur="166" decel="50000">
                                          <p:stCondLst>
                                            <p:cond delay="1338"/>
                                          </p:stCondLst>
                                        </p:cTn>
                                        <p:tgtEl>
                                          <p:spTgt spid="2">
                                            <p:txEl>
                                              <p:pRg st="1" end="1"/>
                                            </p:txEl>
                                          </p:spTgt>
                                        </p:tgtEl>
                                      </p:cBhvr>
                                      <p:to x="100000" y="100000"/>
                                    </p:animScale>
                                    <p:animScale>
                                      <p:cBhvr>
                                        <p:cTn id="17" dur="26">
                                          <p:stCondLst>
                                            <p:cond delay="1642"/>
                                          </p:stCondLst>
                                        </p:cTn>
                                        <p:tgtEl>
                                          <p:spTgt spid="2">
                                            <p:txEl>
                                              <p:pRg st="1" end="1"/>
                                            </p:txEl>
                                          </p:spTgt>
                                        </p:tgtEl>
                                      </p:cBhvr>
                                      <p:to x="100000" y="90000"/>
                                    </p:animScale>
                                    <p:animScale>
                                      <p:cBhvr>
                                        <p:cTn id="18" dur="166" decel="50000">
                                          <p:stCondLst>
                                            <p:cond delay="1668"/>
                                          </p:stCondLst>
                                        </p:cTn>
                                        <p:tgtEl>
                                          <p:spTgt spid="2">
                                            <p:txEl>
                                              <p:pRg st="1" end="1"/>
                                            </p:txEl>
                                          </p:spTgt>
                                        </p:tgtEl>
                                      </p:cBhvr>
                                      <p:to x="100000" y="100000"/>
                                    </p:animScale>
                                    <p:animScale>
                                      <p:cBhvr>
                                        <p:cTn id="19" dur="26">
                                          <p:stCondLst>
                                            <p:cond delay="1808"/>
                                          </p:stCondLst>
                                        </p:cTn>
                                        <p:tgtEl>
                                          <p:spTgt spid="2">
                                            <p:txEl>
                                              <p:pRg st="1" end="1"/>
                                            </p:txEl>
                                          </p:spTgt>
                                        </p:tgtEl>
                                      </p:cBhvr>
                                      <p:to x="100000" y="95000"/>
                                    </p:animScale>
                                    <p:animScale>
                                      <p:cBhvr>
                                        <p:cTn id="20" dur="166" decel="50000">
                                          <p:stCondLst>
                                            <p:cond delay="1834"/>
                                          </p:stCondLst>
                                        </p:cTn>
                                        <p:tgtEl>
                                          <p:spTgt spid="2">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wipe(down)">
                                      <p:cBhvr>
                                        <p:cTn id="23" dur="580">
                                          <p:stCondLst>
                                            <p:cond delay="0"/>
                                          </p:stCondLst>
                                        </p:cTn>
                                        <p:tgtEl>
                                          <p:spTgt spid="2">
                                            <p:txEl>
                                              <p:pRg st="2" end="2"/>
                                            </p:txEl>
                                          </p:spTgt>
                                        </p:tgtEl>
                                      </p:cBhvr>
                                    </p:animEffect>
                                    <p:anim calcmode="lin" valueType="num">
                                      <p:cBhvr>
                                        <p:cTn id="24" dur="1822" tmFilter="0,0; 0.14,0.36; 0.43,0.73; 0.71,0.91; 1.0,1.0">
                                          <p:stCondLst>
                                            <p:cond delay="0"/>
                                          </p:stCondLst>
                                        </p:cTn>
                                        <p:tgtEl>
                                          <p:spTgt spid="2">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2">
                                            <p:txEl>
                                              <p:pRg st="2" end="2"/>
                                            </p:txEl>
                                          </p:spTgt>
                                        </p:tgtEl>
                                      </p:cBhvr>
                                      <p:to x="100000" y="60000"/>
                                    </p:animScale>
                                    <p:animScale>
                                      <p:cBhvr>
                                        <p:cTn id="30" dur="166" decel="50000">
                                          <p:stCondLst>
                                            <p:cond delay="676"/>
                                          </p:stCondLst>
                                        </p:cTn>
                                        <p:tgtEl>
                                          <p:spTgt spid="2">
                                            <p:txEl>
                                              <p:pRg st="2" end="2"/>
                                            </p:txEl>
                                          </p:spTgt>
                                        </p:tgtEl>
                                      </p:cBhvr>
                                      <p:to x="100000" y="100000"/>
                                    </p:animScale>
                                    <p:animScale>
                                      <p:cBhvr>
                                        <p:cTn id="31" dur="26">
                                          <p:stCondLst>
                                            <p:cond delay="1312"/>
                                          </p:stCondLst>
                                        </p:cTn>
                                        <p:tgtEl>
                                          <p:spTgt spid="2">
                                            <p:txEl>
                                              <p:pRg st="2" end="2"/>
                                            </p:txEl>
                                          </p:spTgt>
                                        </p:tgtEl>
                                      </p:cBhvr>
                                      <p:to x="100000" y="80000"/>
                                    </p:animScale>
                                    <p:animScale>
                                      <p:cBhvr>
                                        <p:cTn id="32" dur="166" decel="50000">
                                          <p:stCondLst>
                                            <p:cond delay="1338"/>
                                          </p:stCondLst>
                                        </p:cTn>
                                        <p:tgtEl>
                                          <p:spTgt spid="2">
                                            <p:txEl>
                                              <p:pRg st="2" end="2"/>
                                            </p:txEl>
                                          </p:spTgt>
                                        </p:tgtEl>
                                      </p:cBhvr>
                                      <p:to x="100000" y="100000"/>
                                    </p:animScale>
                                    <p:animScale>
                                      <p:cBhvr>
                                        <p:cTn id="33" dur="26">
                                          <p:stCondLst>
                                            <p:cond delay="1642"/>
                                          </p:stCondLst>
                                        </p:cTn>
                                        <p:tgtEl>
                                          <p:spTgt spid="2">
                                            <p:txEl>
                                              <p:pRg st="2" end="2"/>
                                            </p:txEl>
                                          </p:spTgt>
                                        </p:tgtEl>
                                      </p:cBhvr>
                                      <p:to x="100000" y="90000"/>
                                    </p:animScale>
                                    <p:animScale>
                                      <p:cBhvr>
                                        <p:cTn id="34" dur="166" decel="50000">
                                          <p:stCondLst>
                                            <p:cond delay="1668"/>
                                          </p:stCondLst>
                                        </p:cTn>
                                        <p:tgtEl>
                                          <p:spTgt spid="2">
                                            <p:txEl>
                                              <p:pRg st="2" end="2"/>
                                            </p:txEl>
                                          </p:spTgt>
                                        </p:tgtEl>
                                      </p:cBhvr>
                                      <p:to x="100000" y="100000"/>
                                    </p:animScale>
                                    <p:animScale>
                                      <p:cBhvr>
                                        <p:cTn id="35" dur="26">
                                          <p:stCondLst>
                                            <p:cond delay="1808"/>
                                          </p:stCondLst>
                                        </p:cTn>
                                        <p:tgtEl>
                                          <p:spTgt spid="2">
                                            <p:txEl>
                                              <p:pRg st="2" end="2"/>
                                            </p:txEl>
                                          </p:spTgt>
                                        </p:tgtEl>
                                      </p:cBhvr>
                                      <p:to x="100000" y="95000"/>
                                    </p:animScale>
                                    <p:animScale>
                                      <p:cBhvr>
                                        <p:cTn id="36" dur="166" decel="50000">
                                          <p:stCondLst>
                                            <p:cond delay="1834"/>
                                          </p:stCondLst>
                                        </p:cTn>
                                        <p:tgtEl>
                                          <p:spTgt spid="2">
                                            <p:txEl>
                                              <p:pRg st="2" end="2"/>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2">
                                            <p:txEl>
                                              <p:pRg st="3" end="3"/>
                                            </p:txEl>
                                          </p:spTgt>
                                        </p:tgtEl>
                                        <p:attrNameLst>
                                          <p:attrName>style.visibility</p:attrName>
                                        </p:attrNameLst>
                                      </p:cBhvr>
                                      <p:to>
                                        <p:strVal val="visible"/>
                                      </p:to>
                                    </p:set>
                                    <p:animEffect transition="in" filter="wipe(down)">
                                      <p:cBhvr>
                                        <p:cTn id="39" dur="580">
                                          <p:stCondLst>
                                            <p:cond delay="0"/>
                                          </p:stCondLst>
                                        </p:cTn>
                                        <p:tgtEl>
                                          <p:spTgt spid="2">
                                            <p:txEl>
                                              <p:pRg st="3" end="3"/>
                                            </p:txEl>
                                          </p:spTgt>
                                        </p:tgtEl>
                                      </p:cBhvr>
                                    </p:animEffect>
                                    <p:anim calcmode="lin" valueType="num">
                                      <p:cBhvr>
                                        <p:cTn id="40" dur="1822" tmFilter="0,0; 0.14,0.36; 0.43,0.73; 0.71,0.91; 1.0,1.0">
                                          <p:stCondLst>
                                            <p:cond delay="0"/>
                                          </p:stCondLst>
                                        </p:cTn>
                                        <p:tgtEl>
                                          <p:spTgt spid="2">
                                            <p:txEl>
                                              <p:pRg st="3" end="3"/>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2">
                                            <p:txEl>
                                              <p:pRg st="3" end="3"/>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2">
                                            <p:txEl>
                                              <p:pRg st="3" end="3"/>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2">
                                            <p:txEl>
                                              <p:pRg st="3" end="3"/>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2">
                                            <p:txEl>
                                              <p:pRg st="3" end="3"/>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2">
                                            <p:txEl>
                                              <p:pRg st="3" end="3"/>
                                            </p:txEl>
                                          </p:spTgt>
                                        </p:tgtEl>
                                      </p:cBhvr>
                                      <p:to x="100000" y="60000"/>
                                    </p:animScale>
                                    <p:animScale>
                                      <p:cBhvr>
                                        <p:cTn id="46" dur="166" decel="50000">
                                          <p:stCondLst>
                                            <p:cond delay="676"/>
                                          </p:stCondLst>
                                        </p:cTn>
                                        <p:tgtEl>
                                          <p:spTgt spid="2">
                                            <p:txEl>
                                              <p:pRg st="3" end="3"/>
                                            </p:txEl>
                                          </p:spTgt>
                                        </p:tgtEl>
                                      </p:cBhvr>
                                      <p:to x="100000" y="100000"/>
                                    </p:animScale>
                                    <p:animScale>
                                      <p:cBhvr>
                                        <p:cTn id="47" dur="26">
                                          <p:stCondLst>
                                            <p:cond delay="1312"/>
                                          </p:stCondLst>
                                        </p:cTn>
                                        <p:tgtEl>
                                          <p:spTgt spid="2">
                                            <p:txEl>
                                              <p:pRg st="3" end="3"/>
                                            </p:txEl>
                                          </p:spTgt>
                                        </p:tgtEl>
                                      </p:cBhvr>
                                      <p:to x="100000" y="80000"/>
                                    </p:animScale>
                                    <p:animScale>
                                      <p:cBhvr>
                                        <p:cTn id="48" dur="166" decel="50000">
                                          <p:stCondLst>
                                            <p:cond delay="1338"/>
                                          </p:stCondLst>
                                        </p:cTn>
                                        <p:tgtEl>
                                          <p:spTgt spid="2">
                                            <p:txEl>
                                              <p:pRg st="3" end="3"/>
                                            </p:txEl>
                                          </p:spTgt>
                                        </p:tgtEl>
                                      </p:cBhvr>
                                      <p:to x="100000" y="100000"/>
                                    </p:animScale>
                                    <p:animScale>
                                      <p:cBhvr>
                                        <p:cTn id="49" dur="26">
                                          <p:stCondLst>
                                            <p:cond delay="1642"/>
                                          </p:stCondLst>
                                        </p:cTn>
                                        <p:tgtEl>
                                          <p:spTgt spid="2">
                                            <p:txEl>
                                              <p:pRg st="3" end="3"/>
                                            </p:txEl>
                                          </p:spTgt>
                                        </p:tgtEl>
                                      </p:cBhvr>
                                      <p:to x="100000" y="90000"/>
                                    </p:animScale>
                                    <p:animScale>
                                      <p:cBhvr>
                                        <p:cTn id="50" dur="166" decel="50000">
                                          <p:stCondLst>
                                            <p:cond delay="1668"/>
                                          </p:stCondLst>
                                        </p:cTn>
                                        <p:tgtEl>
                                          <p:spTgt spid="2">
                                            <p:txEl>
                                              <p:pRg st="3" end="3"/>
                                            </p:txEl>
                                          </p:spTgt>
                                        </p:tgtEl>
                                      </p:cBhvr>
                                      <p:to x="100000" y="100000"/>
                                    </p:animScale>
                                    <p:animScale>
                                      <p:cBhvr>
                                        <p:cTn id="51" dur="26">
                                          <p:stCondLst>
                                            <p:cond delay="1808"/>
                                          </p:stCondLst>
                                        </p:cTn>
                                        <p:tgtEl>
                                          <p:spTgt spid="2">
                                            <p:txEl>
                                              <p:pRg st="3" end="3"/>
                                            </p:txEl>
                                          </p:spTgt>
                                        </p:tgtEl>
                                      </p:cBhvr>
                                      <p:to x="100000" y="95000"/>
                                    </p:animScale>
                                    <p:animScale>
                                      <p:cBhvr>
                                        <p:cTn id="52" dur="166" decel="50000">
                                          <p:stCondLst>
                                            <p:cond delay="1834"/>
                                          </p:stCondLst>
                                        </p:cTn>
                                        <p:tgtEl>
                                          <p:spTgt spid="2">
                                            <p:txEl>
                                              <p:pRg st="3" end="3"/>
                                            </p:txEl>
                                          </p:spTgt>
                                        </p:tgtEl>
                                      </p:cBhvr>
                                      <p:to x="100000" y="100000"/>
                                    </p:animScale>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24580">
                                            <p:txEl>
                                              <p:pRg st="0" end="0"/>
                                            </p:txEl>
                                          </p:spTgt>
                                        </p:tgtEl>
                                        <p:attrNameLst>
                                          <p:attrName>style.visibility</p:attrName>
                                        </p:attrNameLst>
                                      </p:cBhvr>
                                      <p:to>
                                        <p:strVal val="visible"/>
                                      </p:to>
                                    </p:set>
                                    <p:animEffect transition="in" filter="fade">
                                      <p:cBhvr>
                                        <p:cTn id="57" dur="1000"/>
                                        <p:tgtEl>
                                          <p:spTgt spid="24580">
                                            <p:txEl>
                                              <p:pRg st="0" end="0"/>
                                            </p:txEl>
                                          </p:spTgt>
                                        </p:tgtEl>
                                      </p:cBhvr>
                                    </p:animEffect>
                                    <p:anim calcmode="lin" valueType="num">
                                      <p:cBhvr>
                                        <p:cTn id="58" dur="1000" fill="hold"/>
                                        <p:tgtEl>
                                          <p:spTgt spid="24580">
                                            <p:txEl>
                                              <p:pRg st="0" end="0"/>
                                            </p:txEl>
                                          </p:spTgt>
                                        </p:tgtEl>
                                        <p:attrNameLst>
                                          <p:attrName>ppt_x</p:attrName>
                                        </p:attrNameLst>
                                      </p:cBhvr>
                                      <p:tavLst>
                                        <p:tav tm="0">
                                          <p:val>
                                            <p:strVal val="#ppt_x"/>
                                          </p:val>
                                        </p:tav>
                                        <p:tav tm="100000">
                                          <p:val>
                                            <p:strVal val="#ppt_x"/>
                                          </p:val>
                                        </p:tav>
                                      </p:tavLst>
                                    </p:anim>
                                    <p:anim calcmode="lin" valueType="num">
                                      <p:cBhvr>
                                        <p:cTn id="59" dur="1000" fill="hold"/>
                                        <p:tgtEl>
                                          <p:spTgt spid="2458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ln/>
        </p:spPr>
        <p:txBody>
          <a:bodyPr vert="horz" wrap="square" lIns="91440" tIns="45720" rIns="91440" bIns="45720" anchor="ctr" anchorCtr="0"/>
          <a:lstStyle/>
          <a:p>
            <a:pPr eaLnBrk="1" hangingPunct="1"/>
            <a:r>
              <a:rPr lang="zh-CN" altLang="en-US" b="1" dirty="0">
                <a:solidFill>
                  <a:srgbClr val="FF0000"/>
                </a:solidFill>
                <a:ea typeface="宋体" panose="02010600030101010101" pitchFamily="2" charset="-122"/>
              </a:rPr>
              <a:t>立法</a:t>
            </a:r>
            <a:r>
              <a:rPr lang="zh-CN" altLang="en-US" b="1" dirty="0">
                <a:ea typeface="宋体" panose="02010600030101010101" pitchFamily="2" charset="-122"/>
              </a:rPr>
              <a:t>、司法和执法</a:t>
            </a:r>
          </a:p>
        </p:txBody>
      </p:sp>
      <p:sp>
        <p:nvSpPr>
          <p:cNvPr id="25603" name="矩形 1"/>
          <p:cNvSpPr/>
          <p:nvPr/>
        </p:nvSpPr>
        <p:spPr>
          <a:xfrm>
            <a:off x="533400" y="1782763"/>
            <a:ext cx="8001000" cy="3662362"/>
          </a:xfrm>
          <a:prstGeom prst="rect">
            <a:avLst/>
          </a:prstGeom>
          <a:noFill/>
          <a:ln w="9525">
            <a:noFill/>
          </a:ln>
        </p:spPr>
        <p:txBody>
          <a:bodyPr>
            <a:spAutoFit/>
          </a:bodyPr>
          <a:lstStyle/>
          <a:p>
            <a:r>
              <a:rPr lang="zh-CN" altLang="en-US" sz="3200" dirty="0">
                <a:solidFill>
                  <a:schemeClr val="tx1"/>
                </a:solidFill>
                <a:latin typeface="华文楷体" panose="02010600040101010101" pitchFamily="2" charset="-122"/>
                <a:ea typeface="华文楷体" panose="02010600040101010101" pitchFamily="2" charset="-122"/>
              </a:rPr>
              <a:t>立法权限与立法组织：</a:t>
            </a:r>
          </a:p>
          <a:p>
            <a:pPr>
              <a:lnSpc>
                <a:spcPct val="200000"/>
              </a:lnSpc>
            </a:pPr>
            <a:r>
              <a:rPr lang="zh-CN" altLang="en-US" sz="28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立法权限是一定的国家机关依法享有的制定、修改、废止法律等规范性文件的权力，是国家权力体系中最重要的核心权力。</a:t>
            </a:r>
          </a:p>
          <a:p>
            <a:pPr>
              <a:lnSpc>
                <a:spcPct val="200000"/>
              </a:lnSpc>
            </a:pPr>
            <a:r>
              <a:rPr lang="zh-CN" altLang="en-US" sz="2400" dirty="0">
                <a:latin typeface="华文楷体" panose="02010600040101010101" pitchFamily="2" charset="-122"/>
                <a:ea typeface="华文楷体" panose="02010600040101010101" pitchFamily="2" charset="-122"/>
              </a:rPr>
              <a:t>       享有立法权限的组织即立法组织。</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animEffect transition="in" filter="fade">
                                      <p:cBhvr>
                                        <p:cTn id="7" dur="1000"/>
                                        <p:tgtEl>
                                          <p:spTgt spid="25603">
                                            <p:txEl>
                                              <p:pRg st="1" end="1"/>
                                            </p:txEl>
                                          </p:spTgt>
                                        </p:tgtEl>
                                      </p:cBhvr>
                                    </p:animEffect>
                                    <p:anim calcmode="lin" valueType="num">
                                      <p:cBhvr>
                                        <p:cTn id="8" dur="10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560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5603">
                                            <p:txEl>
                                              <p:pRg st="2" end="2"/>
                                            </p:txEl>
                                          </p:spTgt>
                                        </p:tgtEl>
                                        <p:attrNameLst>
                                          <p:attrName>style.visibility</p:attrName>
                                        </p:attrNameLst>
                                      </p:cBhvr>
                                      <p:to>
                                        <p:strVal val="visible"/>
                                      </p:to>
                                    </p:set>
                                    <p:anim calcmode="lin" valueType="num">
                                      <p:cBhvr additive="base">
                                        <p:cTn id="14"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560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ln/>
        </p:spPr>
        <p:txBody>
          <a:bodyPr vert="horz" wrap="square" lIns="91440" tIns="45720" rIns="91440" bIns="45720" anchor="ctr" anchorCtr="0"/>
          <a:lstStyle/>
          <a:p>
            <a:pPr eaLnBrk="1" hangingPunct="1"/>
            <a:r>
              <a:rPr lang="zh-CN" altLang="en-US" b="1" dirty="0">
                <a:solidFill>
                  <a:srgbClr val="FF0000"/>
                </a:solidFill>
                <a:ea typeface="宋体" panose="02010600030101010101" pitchFamily="2" charset="-122"/>
              </a:rPr>
              <a:t>立法</a:t>
            </a:r>
            <a:r>
              <a:rPr lang="zh-CN" altLang="en-US" b="1" dirty="0">
                <a:ea typeface="宋体" panose="02010600030101010101" pitchFamily="2" charset="-122"/>
              </a:rPr>
              <a:t>、司法和执法</a:t>
            </a:r>
          </a:p>
        </p:txBody>
      </p:sp>
      <p:sp>
        <p:nvSpPr>
          <p:cNvPr id="26627" name="矩形 1"/>
          <p:cNvSpPr/>
          <p:nvPr/>
        </p:nvSpPr>
        <p:spPr>
          <a:xfrm>
            <a:off x="685800" y="1782763"/>
            <a:ext cx="8077200" cy="2738437"/>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立法程序：</a:t>
            </a:r>
          </a:p>
          <a:p>
            <a:pPr>
              <a:lnSpc>
                <a:spcPct val="150000"/>
              </a:lnSpc>
            </a:pPr>
            <a:r>
              <a:rPr lang="zh-CN" altLang="en-US" sz="2400" dirty="0">
                <a:latin typeface="华文楷体" panose="02010600040101010101" pitchFamily="2" charset="-122"/>
                <a:ea typeface="华文楷体" panose="02010600040101010101" pitchFamily="2" charset="-122"/>
              </a:rPr>
              <a:t>        指具有立法权限的国家机关创制规范性法律文件所遵循的制度化的正当过程，是国家通过立法手段协调利益冲突、规制社会秩序及配置社会资源的合法路径和正当法律程序。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6627">
                                            <p:txEl>
                                              <p:pRg st="1" end="1"/>
                                            </p:txEl>
                                          </p:spTgt>
                                        </p:tgtEl>
                                        <p:attrNameLst>
                                          <p:attrName>style.visibility</p:attrName>
                                        </p:attrNameLst>
                                      </p:cBhvr>
                                      <p:to>
                                        <p:strVal val="visible"/>
                                      </p:to>
                                    </p:set>
                                    <p:animEffect transition="in" filter="wipe(down)">
                                      <p:cBhvr>
                                        <p:cTn id="7" dur="500"/>
                                        <p:tgtEl>
                                          <p:spTgt spid="266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ln/>
        </p:spPr>
        <p:txBody>
          <a:bodyPr vert="horz" wrap="square" lIns="91440" tIns="45720" rIns="91440" bIns="45720" anchor="ctr" anchorCtr="0"/>
          <a:lstStyle/>
          <a:p>
            <a:pPr eaLnBrk="1" hangingPunct="1"/>
            <a:r>
              <a:rPr lang="zh-CN" altLang="en-US" b="1" dirty="0">
                <a:solidFill>
                  <a:srgbClr val="FF0000"/>
                </a:solidFill>
                <a:ea typeface="宋体" panose="02010600030101010101" pitchFamily="2" charset="-122"/>
              </a:rPr>
              <a:t>立法</a:t>
            </a:r>
            <a:r>
              <a:rPr lang="zh-CN" altLang="en-US" b="1" dirty="0">
                <a:ea typeface="宋体" panose="02010600030101010101" pitchFamily="2" charset="-122"/>
              </a:rPr>
              <a:t>、司法和执法</a:t>
            </a:r>
          </a:p>
        </p:txBody>
      </p:sp>
      <p:sp>
        <p:nvSpPr>
          <p:cNvPr id="2" name="矩形 1"/>
          <p:cNvSpPr/>
          <p:nvPr/>
        </p:nvSpPr>
        <p:spPr>
          <a:xfrm>
            <a:off x="1295400" y="1752600"/>
            <a:ext cx="6934200" cy="4554538"/>
          </a:xfrm>
          <a:prstGeom prst="rect">
            <a:avLst/>
          </a:prstGeom>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我国的立法程序主要以下</a:t>
            </a:r>
            <a:r>
              <a:rPr kumimoji="0" lang="zh-CN" altLang="en-US" sz="28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四</a:t>
            </a:r>
            <a:r>
              <a:rPr kumimoji="0" lang="zh-CN" altLang="en-US" sz="2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个步骤：</a:t>
            </a:r>
          </a:p>
          <a:p>
            <a:pPr marL="742950" marR="0" lvl="1" indent="-28575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提出法律议案</a:t>
            </a:r>
          </a:p>
          <a:p>
            <a:pPr marL="742950" marR="0" lvl="1" indent="-28575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审议立法议案</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表决立法议案</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公布法律</a:t>
            </a:r>
          </a:p>
          <a:p>
            <a:pPr marL="742950" marR="0" lvl="1" indent="-285750" algn="l" defTabSz="914400" rtl="0" eaLnBrk="1" fontAlgn="base" latinLnBrk="0" hangingPunct="1">
              <a:lnSpc>
                <a:spcPct val="100000"/>
              </a:lnSpc>
              <a:spcBef>
                <a:spcPct val="20000"/>
              </a:spcBef>
              <a:spcAft>
                <a:spcPct val="0"/>
              </a:spcAft>
              <a:buClr>
                <a:srgbClr val="3191D3"/>
              </a:buClr>
              <a:buSzTx/>
              <a:buFont typeface="Wingdings" panose="05000000000000000000" pitchFamily="2" charset="2"/>
              <a:buChar char="§"/>
              <a:defRPr/>
            </a:pPr>
            <a:endParaRPr kumimoji="0" lang="zh-CN" altLang="en-US" sz="24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rgbClr val="3191D3"/>
              </a:buClr>
              <a:buSzTx/>
              <a:buFont typeface="Wingdings" panose="05000000000000000000" pitchFamily="2" charset="2"/>
              <a:buChar char="§"/>
              <a:defRPr/>
            </a:pPr>
            <a:endParaRPr kumimoji="0" lang="zh-CN" altLang="en-US" sz="24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endParaRPr>
          </a:p>
        </p:txBody>
      </p:sp>
      <p:pic>
        <p:nvPicPr>
          <p:cNvPr id="27652" name="图片 2"/>
          <p:cNvPicPr>
            <a:picLocks noChangeAspect="1"/>
          </p:cNvPicPr>
          <p:nvPr/>
        </p:nvPicPr>
        <p:blipFill>
          <a:blip r:embed="rId2"/>
          <a:stretch>
            <a:fillRect/>
          </a:stretch>
        </p:blipFill>
        <p:spPr>
          <a:xfrm>
            <a:off x="6477000" y="4648200"/>
            <a:ext cx="1905000" cy="19050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down)">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wheel(1)">
                                      <p:cBhvr>
                                        <p:cTn id="18" dur="2000"/>
                                        <p:tgtEl>
                                          <p:spTgt spid="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 calcmode="lin" valueType="num">
                                      <p:cBhvr>
                                        <p:cTn id="23"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24"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25"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685800" y="1676400"/>
            <a:ext cx="7924800" cy="477043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司法</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司法的概念</a:t>
            </a: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a:t>
            </a:r>
            <a:r>
              <a:rPr kumimoji="0" lang="zh-CN" altLang="en-US"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指国家司法机关及其司法人员依照法定职权和法定程序，具体运用法律处理案件的专门活动。</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司法制度</a:t>
            </a: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a:t>
            </a:r>
            <a:r>
              <a:rPr kumimoji="0" lang="zh-CN" altLang="en-US"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指国家体系中司法机关及其他的司法组织的性质、任务、组织体系、组织与活动的原则以及工作制度等方面规范的总称。</a:t>
            </a:r>
            <a:r>
              <a:rPr kumimoji="0" lang="zh-CN" altLang="en-US" sz="24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Effect transition="in" filter="barn(inVertical)">
                                      <p:cBhvr>
                                        <p:cTn id="11" dur="500"/>
                                        <p:tgtEl>
                                          <p:spTgt spid="2">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barn(inVertical)">
                                      <p:cBhvr>
                                        <p:cTn id="21"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533400" y="1670050"/>
            <a:ext cx="8001000" cy="5214938"/>
          </a:xfrm>
          <a:prstGeom prst="rect">
            <a:avLst/>
          </a:prstGeom>
        </p:spPr>
        <p:txBody>
          <a:bodyPr>
            <a:spAutoFit/>
          </a:bodyPr>
          <a:lstStyle/>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32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司法制度</a:t>
            </a:r>
          </a:p>
          <a:p>
            <a:pPr marL="742950" marR="0" lvl="1" indent="-28575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侦查制度  </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800100" marR="0" lvl="1" indent="-34290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ü"/>
              <a:defRPr/>
            </a:pPr>
            <a:r>
              <a:rPr kumimoji="0" lang="zh-CN" altLang="en-US" sz="24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国家侦察机关的性质任务、组织体系、组织与活动原则以及工作制度的总和。</a:t>
            </a:r>
          </a:p>
          <a:p>
            <a:pPr marL="742950" marR="0" lvl="1" indent="-28575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检察制度</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914400" marR="0" lvl="1" indent="-45720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ü"/>
              <a:defRPr/>
            </a:pPr>
            <a:r>
              <a:rPr kumimoji="0" lang="zh-CN" altLang="en-US" sz="24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国家监察机关的性质、任务、组织体系、组织和活动原则以及工作制度的总称。</a:t>
            </a:r>
            <a:endParaRPr kumimoji="0" lang="en-US" altLang="zh-CN" sz="24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endParaRPr kumimoji="0" lang="zh-CN" altLang="en-US" sz="24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arn(inVertical)">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1000"/>
                                        <p:tgtEl>
                                          <p:spTgt spid="2">
                                            <p:txEl>
                                              <p:pRg st="3" end="3"/>
                                            </p:txEl>
                                          </p:spTgt>
                                        </p:tgtEl>
                                      </p:cBhvr>
                                    </p:animEffect>
                                    <p:anim calcmode="lin" valueType="num">
                                      <p:cBhvr>
                                        <p:cTn id="1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barn(inVertical)">
                                      <p:cBhvr>
                                        <p:cTn id="25"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533400" y="1614488"/>
            <a:ext cx="8153400" cy="4660900"/>
          </a:xfrm>
          <a:prstGeom prst="rect">
            <a:avLst/>
          </a:prstGeom>
        </p:spPr>
        <p:txBody>
          <a:bodyPr>
            <a:spAutoFit/>
          </a:bodyPr>
          <a:lstStyle/>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32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司法制度</a:t>
            </a:r>
          </a:p>
          <a:p>
            <a:pPr marL="742950" marR="0" lvl="1" indent="-28575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审判制度</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914400" marR="0" lvl="1" indent="-45720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ü"/>
              <a:defRPr/>
            </a:pPr>
            <a:r>
              <a:rPr kumimoji="0" lang="zh-CN" altLang="en-US" sz="24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法院的设置、法官、审判组织和活动等方面的法律制度。</a:t>
            </a:r>
          </a:p>
          <a:p>
            <a:pPr marL="742950" marR="0" lvl="1" indent="-28575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监狱制度</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914400" marR="0" lvl="1" indent="-45720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ü"/>
              <a:defRPr/>
            </a:pPr>
            <a:r>
              <a:rPr kumimoji="0" lang="zh-CN" altLang="en-US" sz="24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监狱的人民警察依法管理监狱、执行刑罚、对罪犯进行教育改造等活动。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1000"/>
                                        <p:tgtEl>
                                          <p:spTgt spid="2">
                                            <p:txEl>
                                              <p:pRg st="2" end="2"/>
                                            </p:txEl>
                                          </p:spTgt>
                                        </p:tgtEl>
                                      </p:cBhvr>
                                    </p:animEffect>
                                    <p:anim calcmode="lin" valueType="num">
                                      <p:cBhvr>
                                        <p:cTn id="1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down)">
                                      <p:cBhvr>
                                        <p:cTn id="20" dur="50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circle(in)">
                                      <p:cBhvr>
                                        <p:cTn id="25" dur="2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4" name="矩形 3"/>
          <p:cNvSpPr/>
          <p:nvPr/>
        </p:nvSpPr>
        <p:spPr>
          <a:xfrm>
            <a:off x="457200" y="1524000"/>
            <a:ext cx="8153400" cy="4087813"/>
          </a:xfrm>
          <a:prstGeom prst="rect">
            <a:avLst/>
          </a:prstGeom>
        </p:spPr>
        <p:txBody>
          <a:bodyPr>
            <a:spAutoFit/>
          </a:bodyPr>
          <a:lstStyle/>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司法机关与职责</a:t>
            </a:r>
          </a:p>
          <a:p>
            <a:pPr marL="742950" marR="0" lvl="1" indent="-28575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司法机关</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914400" marR="0" lvl="1" indent="-45720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ü"/>
              <a:defRPr/>
            </a:pPr>
            <a:r>
              <a:rPr kumimoji="0" lang="zh-CN" altLang="en-US" sz="24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公检法司安</a:t>
            </a:r>
          </a:p>
          <a:p>
            <a:pPr marL="742950" marR="0" lvl="1" indent="-285750" algn="l" defTabSz="914400" rtl="0" eaLnBrk="1" fontAlgn="base" latinLnBrk="0" hangingPunct="1">
              <a:lnSpc>
                <a:spcPct val="150000"/>
              </a:lnSpc>
              <a:spcBef>
                <a:spcPct val="20000"/>
              </a:spcBef>
              <a:spcAft>
                <a:spcPct val="0"/>
              </a:spcAft>
              <a:buClr>
                <a:srgbClr val="3191D3"/>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各个司法机关的职责主要表现：</a:t>
            </a:r>
            <a:endParaRPr kumimoji="0" lang="en-US" altLang="zh-CN" sz="28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endParaRPr>
          </a:p>
          <a:p>
            <a:pPr marL="457200" marR="0" lvl="1" indent="0" algn="l" defTabSz="914400" rtl="0" eaLnBrk="1" fontAlgn="base" latinLnBrk="0" hangingPunct="1">
              <a:lnSpc>
                <a:spcPct val="150000"/>
              </a:lnSpc>
              <a:spcBef>
                <a:spcPct val="20000"/>
              </a:spcBef>
              <a:spcAft>
                <a:spcPct val="0"/>
              </a:spcAft>
              <a:buClr>
                <a:srgbClr val="3191D3"/>
              </a:buClr>
              <a:buSzTx/>
              <a:buFontTx/>
              <a:buNone/>
              <a:defRPr/>
            </a:pPr>
            <a:r>
              <a:rPr kumimoji="0" lang="zh-CN" altLang="en-US" sz="2400" b="1"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公安机关的职责</a:t>
            </a:r>
          </a:p>
          <a:p>
            <a:pPr marL="457200" marR="0" lvl="1" indent="0" algn="l" defTabSz="914400" rtl="0" eaLnBrk="1" fontAlgn="base" latinLnBrk="0" hangingPunct="1">
              <a:lnSpc>
                <a:spcPct val="150000"/>
              </a:lnSpc>
              <a:spcBef>
                <a:spcPct val="20000"/>
              </a:spcBef>
              <a:spcAft>
                <a:spcPct val="0"/>
              </a:spcAft>
              <a:buClr>
                <a:srgbClr val="3191D3"/>
              </a:buClr>
              <a:buSzTx/>
              <a:buFontTx/>
              <a:buNone/>
              <a:defRPr/>
            </a:pPr>
            <a:r>
              <a:rPr kumimoji="0" lang="zh-CN" altLang="en-US" sz="2400" b="0" i="0" u="none" strike="noStrike" kern="0" cap="none" spc="0" normalizeH="0" baseline="0" noProof="0" dirty="0">
                <a:ln>
                  <a:noFill/>
                </a:ln>
                <a:solidFill>
                  <a:srgbClr val="0D1259"/>
                </a:solidFill>
                <a:effectLst/>
                <a:uLnTx/>
                <a:uFillTx/>
                <a:latin typeface="华文楷体" panose="02010600040101010101" pitchFamily="2" charset="-122"/>
                <a:ea typeface="华文楷体" panose="02010600040101010101" pitchFamily="2" charset="-122"/>
                <a:cs typeface="+mn-cs"/>
              </a:rPr>
              <a:t>      公安机关依法在管辖范围内应承担的责任和义务。</a:t>
            </a:r>
          </a:p>
        </p:txBody>
      </p:sp>
      <p:pic>
        <p:nvPicPr>
          <p:cNvPr id="31748" name="图片 2"/>
          <p:cNvPicPr>
            <a:picLocks noChangeAspect="1"/>
          </p:cNvPicPr>
          <p:nvPr/>
        </p:nvPicPr>
        <p:blipFill>
          <a:blip r:embed="rId2"/>
          <a:stretch>
            <a:fillRect/>
          </a:stretch>
        </p:blipFill>
        <p:spPr>
          <a:xfrm>
            <a:off x="6400800" y="3335338"/>
            <a:ext cx="2667000" cy="1617662"/>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circle(in)">
                                      <p:cBhvr>
                                        <p:cTn id="19" dur="2000"/>
                                        <p:tgtEl>
                                          <p:spTgt spid="4">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1748"/>
                                        </p:tgtEl>
                                        <p:attrNameLst>
                                          <p:attrName>style.visibility</p:attrName>
                                        </p:attrNameLst>
                                      </p:cBhvr>
                                      <p:to>
                                        <p:strVal val="visible"/>
                                      </p:to>
                                    </p:set>
                                    <p:animEffect transition="in" filter="barn(inVertical)">
                                      <p:cBhvr>
                                        <p:cTn id="24" dur="500"/>
                                        <p:tgtEl>
                                          <p:spTgt spid="31748"/>
                                        </p:tgtEl>
                                      </p:cBhvr>
                                    </p:animEffect>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wipe(down)">
                                      <p:cBhvr>
                                        <p:cTn id="29" dur="580">
                                          <p:stCondLst>
                                            <p:cond delay="0"/>
                                          </p:stCondLst>
                                        </p:cTn>
                                        <p:tgtEl>
                                          <p:spTgt spid="4">
                                            <p:txEl>
                                              <p:pRg st="4" end="4"/>
                                            </p:txEl>
                                          </p:spTgt>
                                        </p:tgtEl>
                                      </p:cBhvr>
                                    </p:animEffect>
                                    <p:anim calcmode="lin" valueType="num">
                                      <p:cBhvr>
                                        <p:cTn id="30" dur="1822" tmFilter="0,0; 0.14,0.36; 0.43,0.73; 0.71,0.91; 1.0,1.0">
                                          <p:stCondLst>
                                            <p:cond delay="0"/>
                                          </p:stCondLst>
                                        </p:cTn>
                                        <p:tgtEl>
                                          <p:spTgt spid="4">
                                            <p:txEl>
                                              <p:pRg st="4" end="4"/>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4">
                                            <p:txEl>
                                              <p:pRg st="4" end="4"/>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4">
                                            <p:txEl>
                                              <p:pRg st="4" end="4"/>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4">
                                            <p:txEl>
                                              <p:pRg st="4" end="4"/>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4">
                                            <p:txEl>
                                              <p:pRg st="4" end="4"/>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4">
                                            <p:txEl>
                                              <p:pRg st="4" end="4"/>
                                            </p:txEl>
                                          </p:spTgt>
                                        </p:tgtEl>
                                      </p:cBhvr>
                                      <p:to x="100000" y="60000"/>
                                    </p:animScale>
                                    <p:animScale>
                                      <p:cBhvr>
                                        <p:cTn id="36" dur="166" decel="50000">
                                          <p:stCondLst>
                                            <p:cond delay="676"/>
                                          </p:stCondLst>
                                        </p:cTn>
                                        <p:tgtEl>
                                          <p:spTgt spid="4">
                                            <p:txEl>
                                              <p:pRg st="4" end="4"/>
                                            </p:txEl>
                                          </p:spTgt>
                                        </p:tgtEl>
                                      </p:cBhvr>
                                      <p:to x="100000" y="100000"/>
                                    </p:animScale>
                                    <p:animScale>
                                      <p:cBhvr>
                                        <p:cTn id="37" dur="26">
                                          <p:stCondLst>
                                            <p:cond delay="1312"/>
                                          </p:stCondLst>
                                        </p:cTn>
                                        <p:tgtEl>
                                          <p:spTgt spid="4">
                                            <p:txEl>
                                              <p:pRg st="4" end="4"/>
                                            </p:txEl>
                                          </p:spTgt>
                                        </p:tgtEl>
                                      </p:cBhvr>
                                      <p:to x="100000" y="80000"/>
                                    </p:animScale>
                                    <p:animScale>
                                      <p:cBhvr>
                                        <p:cTn id="38" dur="166" decel="50000">
                                          <p:stCondLst>
                                            <p:cond delay="1338"/>
                                          </p:stCondLst>
                                        </p:cTn>
                                        <p:tgtEl>
                                          <p:spTgt spid="4">
                                            <p:txEl>
                                              <p:pRg st="4" end="4"/>
                                            </p:txEl>
                                          </p:spTgt>
                                        </p:tgtEl>
                                      </p:cBhvr>
                                      <p:to x="100000" y="100000"/>
                                    </p:animScale>
                                    <p:animScale>
                                      <p:cBhvr>
                                        <p:cTn id="39" dur="26">
                                          <p:stCondLst>
                                            <p:cond delay="1642"/>
                                          </p:stCondLst>
                                        </p:cTn>
                                        <p:tgtEl>
                                          <p:spTgt spid="4">
                                            <p:txEl>
                                              <p:pRg st="4" end="4"/>
                                            </p:txEl>
                                          </p:spTgt>
                                        </p:tgtEl>
                                      </p:cBhvr>
                                      <p:to x="100000" y="90000"/>
                                    </p:animScale>
                                    <p:animScale>
                                      <p:cBhvr>
                                        <p:cTn id="40" dur="166" decel="50000">
                                          <p:stCondLst>
                                            <p:cond delay="1668"/>
                                          </p:stCondLst>
                                        </p:cTn>
                                        <p:tgtEl>
                                          <p:spTgt spid="4">
                                            <p:txEl>
                                              <p:pRg st="4" end="4"/>
                                            </p:txEl>
                                          </p:spTgt>
                                        </p:tgtEl>
                                      </p:cBhvr>
                                      <p:to x="100000" y="100000"/>
                                    </p:animScale>
                                    <p:animScale>
                                      <p:cBhvr>
                                        <p:cTn id="41" dur="26">
                                          <p:stCondLst>
                                            <p:cond delay="1808"/>
                                          </p:stCondLst>
                                        </p:cTn>
                                        <p:tgtEl>
                                          <p:spTgt spid="4">
                                            <p:txEl>
                                              <p:pRg st="4" end="4"/>
                                            </p:txEl>
                                          </p:spTgt>
                                        </p:tgtEl>
                                      </p:cBhvr>
                                      <p:to x="100000" y="95000"/>
                                    </p:animScale>
                                    <p:animScale>
                                      <p:cBhvr>
                                        <p:cTn id="42" dur="166" decel="50000">
                                          <p:stCondLst>
                                            <p:cond delay="1834"/>
                                          </p:stCondLst>
                                        </p:cTn>
                                        <p:tgtEl>
                                          <p:spTgt spid="4">
                                            <p:txEl>
                                              <p:pRg st="4" end="4"/>
                                            </p:txEl>
                                          </p:spTgt>
                                        </p:tgtEl>
                                      </p:cBhvr>
                                      <p:to x="100000" y="100000"/>
                                    </p:animScale>
                                  </p:childTnLst>
                                </p:cTn>
                              </p:par>
                              <p:par>
                                <p:cTn id="43" presetID="26" presetClass="entr" presetSubtype="0" fill="hold" nodeType="with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animEffect transition="in" filter="wipe(down)">
                                      <p:cBhvr>
                                        <p:cTn id="45" dur="580">
                                          <p:stCondLst>
                                            <p:cond delay="0"/>
                                          </p:stCondLst>
                                        </p:cTn>
                                        <p:tgtEl>
                                          <p:spTgt spid="4">
                                            <p:txEl>
                                              <p:pRg st="5" end="5"/>
                                            </p:txEl>
                                          </p:spTgt>
                                        </p:tgtEl>
                                      </p:cBhvr>
                                    </p:animEffect>
                                    <p:anim calcmode="lin" valueType="num">
                                      <p:cBhvr>
                                        <p:cTn id="46" dur="1822" tmFilter="0,0; 0.14,0.36; 0.43,0.73; 0.71,0.91; 1.0,1.0">
                                          <p:stCondLst>
                                            <p:cond delay="0"/>
                                          </p:stCondLst>
                                        </p:cTn>
                                        <p:tgtEl>
                                          <p:spTgt spid="4">
                                            <p:txEl>
                                              <p:pRg st="5" end="5"/>
                                            </p:txEl>
                                          </p:spTgt>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4">
                                            <p:txEl>
                                              <p:pRg st="5" end="5"/>
                                            </p:txEl>
                                          </p:spTgt>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4">
                                            <p:txEl>
                                              <p:pRg st="5" end="5"/>
                                            </p:txEl>
                                          </p:spTgt>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4">
                                            <p:txEl>
                                              <p:pRg st="5" end="5"/>
                                            </p:txEl>
                                          </p:spTgt>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4">
                                            <p:txEl>
                                              <p:pRg st="5" end="5"/>
                                            </p:txEl>
                                          </p:spTgt>
                                        </p:tgtEl>
                                        <p:attrNameLst>
                                          <p:attrName>ppt_y</p:attrName>
                                        </p:attrNameLst>
                                      </p:cBhvr>
                                      <p:tavLst>
                                        <p:tav tm="0" fmla="#ppt_y-sin(pi*$)/81">
                                          <p:val>
                                            <p:fltVal val="0"/>
                                          </p:val>
                                        </p:tav>
                                        <p:tav tm="100000">
                                          <p:val>
                                            <p:fltVal val="1"/>
                                          </p:val>
                                        </p:tav>
                                      </p:tavLst>
                                    </p:anim>
                                    <p:animScale>
                                      <p:cBhvr>
                                        <p:cTn id="51" dur="26">
                                          <p:stCondLst>
                                            <p:cond delay="650"/>
                                          </p:stCondLst>
                                        </p:cTn>
                                        <p:tgtEl>
                                          <p:spTgt spid="4">
                                            <p:txEl>
                                              <p:pRg st="5" end="5"/>
                                            </p:txEl>
                                          </p:spTgt>
                                        </p:tgtEl>
                                      </p:cBhvr>
                                      <p:to x="100000" y="60000"/>
                                    </p:animScale>
                                    <p:animScale>
                                      <p:cBhvr>
                                        <p:cTn id="52" dur="166" decel="50000">
                                          <p:stCondLst>
                                            <p:cond delay="676"/>
                                          </p:stCondLst>
                                        </p:cTn>
                                        <p:tgtEl>
                                          <p:spTgt spid="4">
                                            <p:txEl>
                                              <p:pRg st="5" end="5"/>
                                            </p:txEl>
                                          </p:spTgt>
                                        </p:tgtEl>
                                      </p:cBhvr>
                                      <p:to x="100000" y="100000"/>
                                    </p:animScale>
                                    <p:animScale>
                                      <p:cBhvr>
                                        <p:cTn id="53" dur="26">
                                          <p:stCondLst>
                                            <p:cond delay="1312"/>
                                          </p:stCondLst>
                                        </p:cTn>
                                        <p:tgtEl>
                                          <p:spTgt spid="4">
                                            <p:txEl>
                                              <p:pRg st="5" end="5"/>
                                            </p:txEl>
                                          </p:spTgt>
                                        </p:tgtEl>
                                      </p:cBhvr>
                                      <p:to x="100000" y="80000"/>
                                    </p:animScale>
                                    <p:animScale>
                                      <p:cBhvr>
                                        <p:cTn id="54" dur="166" decel="50000">
                                          <p:stCondLst>
                                            <p:cond delay="1338"/>
                                          </p:stCondLst>
                                        </p:cTn>
                                        <p:tgtEl>
                                          <p:spTgt spid="4">
                                            <p:txEl>
                                              <p:pRg st="5" end="5"/>
                                            </p:txEl>
                                          </p:spTgt>
                                        </p:tgtEl>
                                      </p:cBhvr>
                                      <p:to x="100000" y="100000"/>
                                    </p:animScale>
                                    <p:animScale>
                                      <p:cBhvr>
                                        <p:cTn id="55" dur="26">
                                          <p:stCondLst>
                                            <p:cond delay="1642"/>
                                          </p:stCondLst>
                                        </p:cTn>
                                        <p:tgtEl>
                                          <p:spTgt spid="4">
                                            <p:txEl>
                                              <p:pRg st="5" end="5"/>
                                            </p:txEl>
                                          </p:spTgt>
                                        </p:tgtEl>
                                      </p:cBhvr>
                                      <p:to x="100000" y="90000"/>
                                    </p:animScale>
                                    <p:animScale>
                                      <p:cBhvr>
                                        <p:cTn id="56" dur="166" decel="50000">
                                          <p:stCondLst>
                                            <p:cond delay="1668"/>
                                          </p:stCondLst>
                                        </p:cTn>
                                        <p:tgtEl>
                                          <p:spTgt spid="4">
                                            <p:txEl>
                                              <p:pRg st="5" end="5"/>
                                            </p:txEl>
                                          </p:spTgt>
                                        </p:tgtEl>
                                      </p:cBhvr>
                                      <p:to x="100000" y="100000"/>
                                    </p:animScale>
                                    <p:animScale>
                                      <p:cBhvr>
                                        <p:cTn id="57" dur="26">
                                          <p:stCondLst>
                                            <p:cond delay="1808"/>
                                          </p:stCondLst>
                                        </p:cTn>
                                        <p:tgtEl>
                                          <p:spTgt spid="4">
                                            <p:txEl>
                                              <p:pRg st="5" end="5"/>
                                            </p:txEl>
                                          </p:spTgt>
                                        </p:tgtEl>
                                      </p:cBhvr>
                                      <p:to x="100000" y="95000"/>
                                    </p:animScale>
                                    <p:animScale>
                                      <p:cBhvr>
                                        <p:cTn id="58" dur="166" decel="50000">
                                          <p:stCondLst>
                                            <p:cond delay="1834"/>
                                          </p:stCondLst>
                                        </p:cTn>
                                        <p:tgtEl>
                                          <p:spTgt spid="4">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228600" y="1644650"/>
            <a:ext cx="8382000" cy="4813300"/>
          </a:xfrm>
          <a:prstGeom prst="rect">
            <a:avLst/>
          </a:prstGeom>
        </p:spPr>
        <p:txBody>
          <a:bodyPr>
            <a:spAutoFit/>
          </a:bodyPr>
          <a:lstStyle/>
          <a:p>
            <a:pPr marL="457200" marR="0" lvl="1" indent="0" algn="l" defTabSz="914400" rtl="0" eaLnBrk="1" fontAlgn="base" latinLnBrk="0" hangingPunct="1">
              <a:lnSpc>
                <a:spcPct val="150000"/>
              </a:lnSpc>
              <a:spcBef>
                <a:spcPct val="20000"/>
              </a:spcBef>
              <a:spcAft>
                <a:spcPct val="0"/>
              </a:spcAft>
              <a:buClr>
                <a:srgbClr val="3191D3"/>
              </a:buClr>
              <a:buSzTx/>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人民检察院的职责</a:t>
            </a:r>
            <a:endParaRPr kumimoji="0" lang="en-US" altLang="zh-CN"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720090" algn="l" defTabSz="914400" rtl="0" eaLnBrk="1" fontAlgn="auto" latinLnBrk="0" hangingPunct="1">
              <a:lnSpc>
                <a:spcPct val="150000"/>
              </a:lnSpc>
              <a:spcBef>
                <a:spcPts val="1000"/>
              </a:spcBef>
              <a:spcAft>
                <a:spcPts val="0"/>
              </a:spcAft>
              <a:buClr>
                <a:srgbClr val="DA1F28"/>
              </a:buClr>
              <a:buSzPct val="60000"/>
              <a:buFontTx/>
              <a:buNone/>
              <a:defRPr/>
            </a:pPr>
            <a:r>
              <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（一）对于叛国案、分裂国家案以及严重破坏国家的政策、法律、法令、政令统一实施的重大犯罪案件，行使检察权。</a:t>
            </a:r>
            <a:r>
              <a:rPr kumimoji="0" lang="en-US"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endPar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720090" algn="l" defTabSz="914400" rtl="0" eaLnBrk="1" fontAlgn="auto" latinLnBrk="0" hangingPunct="1">
              <a:lnSpc>
                <a:spcPct val="150000"/>
              </a:lnSpc>
              <a:spcBef>
                <a:spcPts val="1000"/>
              </a:spcBef>
              <a:spcAft>
                <a:spcPts val="0"/>
              </a:spcAft>
              <a:buClr>
                <a:srgbClr val="DA1F28"/>
              </a:buClr>
              <a:buSzPct val="60000"/>
              <a:buFontTx/>
              <a:buNone/>
              <a:defRPr/>
            </a:pPr>
            <a:r>
              <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（二）对于直接受理的刑事案件，进行侦查。</a:t>
            </a:r>
            <a:endPar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720090" algn="l" defTabSz="914400" rtl="0" eaLnBrk="1" fontAlgn="auto" latinLnBrk="0" hangingPunct="1">
              <a:lnSpc>
                <a:spcPct val="150000"/>
              </a:lnSpc>
              <a:spcBef>
                <a:spcPts val="1000"/>
              </a:spcBef>
              <a:spcAft>
                <a:spcPts val="0"/>
              </a:spcAft>
              <a:buClr>
                <a:srgbClr val="DA1F28"/>
              </a:buClr>
              <a:buSzPct val="60000"/>
              <a:buFontTx/>
              <a:buNone/>
              <a:defRPr/>
            </a:pPr>
            <a:r>
              <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（三）对于公安机关侦查的案件，进行审查，决定是否逮捕、起诉或者免予起诉；对于公安机关的侦查活动是否合法，实行监督。</a:t>
            </a:r>
            <a:r>
              <a:rPr kumimoji="0" lang="en-US"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endPar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319405" algn="l" defTabSz="914400" rtl="0" eaLnBrk="1" fontAlgn="auto" latinLnBrk="0" hangingPunct="1">
              <a:lnSpc>
                <a:spcPct val="100000"/>
              </a:lnSpc>
              <a:spcBef>
                <a:spcPts val="700"/>
              </a:spcBef>
              <a:spcAft>
                <a:spcPts val="0"/>
              </a:spcAft>
              <a:buClr>
                <a:srgbClr val="DA1F28"/>
              </a:buClr>
              <a:buSzPct val="60000"/>
              <a:buFontTx/>
              <a:buNone/>
              <a:defRPr/>
            </a:pPr>
            <a:r>
              <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endParaRPr kumimoji="0" lang="zh-CN" altLang="en-US" sz="2400" b="0" i="0" u="none" strike="noStrike" kern="0" cap="none" spc="0" normalizeH="0" baseline="0" noProof="0" dirty="0">
              <a:ln>
                <a:noFill/>
              </a:ln>
              <a:solidFill>
                <a:sysClr val="windowText" lastClr="000000"/>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circle(in)">
                                      <p:cBhvr>
                                        <p:cTn id="7" dur="20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 calcmode="lin" valueType="num">
                                      <p:cBhvr additive="base">
                                        <p:cTn id="12"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228600" y="1644650"/>
            <a:ext cx="8686800" cy="3041650"/>
          </a:xfrm>
          <a:prstGeom prst="rect">
            <a:avLst/>
          </a:prstGeom>
        </p:spPr>
        <p:txBody>
          <a:bodyPr>
            <a:spAutoFit/>
          </a:bodyPr>
          <a:lstStyle/>
          <a:p>
            <a:pPr marL="457200" marR="0" lvl="1" indent="0" algn="l" defTabSz="914400" rtl="0" eaLnBrk="1" fontAlgn="base" latinLnBrk="0" hangingPunct="1">
              <a:lnSpc>
                <a:spcPct val="150000"/>
              </a:lnSpc>
              <a:spcBef>
                <a:spcPct val="20000"/>
              </a:spcBef>
              <a:spcAft>
                <a:spcPct val="0"/>
              </a:spcAft>
              <a:buClr>
                <a:srgbClr val="3191D3"/>
              </a:buClr>
              <a:buSzTx/>
              <a:buFontTx/>
              <a:buNone/>
              <a:defRPr/>
            </a:pP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人民检察院的职责</a:t>
            </a:r>
            <a:endPar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319405" algn="l" defTabSz="914400" rtl="0" eaLnBrk="1" fontAlgn="auto" latinLnBrk="0" hangingPunct="1">
              <a:lnSpc>
                <a:spcPct val="150000"/>
              </a:lnSpc>
              <a:spcBef>
                <a:spcPts val="700"/>
              </a:spcBef>
              <a:spcAft>
                <a:spcPts val="0"/>
              </a:spcAft>
              <a:buClr>
                <a:srgbClr val="DA1F28"/>
              </a:buClr>
              <a:buSzPct val="60000"/>
              <a:buFontTx/>
              <a:buNone/>
              <a:defRPr/>
            </a:pPr>
            <a:r>
              <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（四）对于刑事案件提起公诉，支持公诉；对于人民法院的审判活动是否合法，实行监督。</a:t>
            </a:r>
            <a:r>
              <a:rPr kumimoji="0" lang="en-US"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endPar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319405" algn="l" defTabSz="914400" rtl="0" eaLnBrk="1" fontAlgn="auto" latinLnBrk="0" hangingPunct="1">
              <a:lnSpc>
                <a:spcPct val="150000"/>
              </a:lnSpc>
              <a:spcBef>
                <a:spcPts val="700"/>
              </a:spcBef>
              <a:spcAft>
                <a:spcPts val="0"/>
              </a:spcAft>
              <a:buClr>
                <a:srgbClr val="DA1F28"/>
              </a:buClr>
              <a:buSzPct val="60000"/>
              <a:buFontTx/>
              <a:buNone/>
              <a:defRPr/>
            </a:pPr>
            <a:r>
              <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（五）对于刑事案件判决、裁定的执行和监狱、看守所、劳动改造机关的活动是否合法，实行监督。</a:t>
            </a:r>
            <a:endParaRPr kumimoji="0" lang="zh-CN" altLang="en-US" sz="2400" b="0" i="0" u="none" strike="noStrike" kern="0" cap="none" spc="0" normalizeH="0" baseline="0" noProof="0" dirty="0">
              <a:ln>
                <a:noFill/>
              </a:ln>
              <a:solidFill>
                <a:sysClr val="windowText" lastClr="000000"/>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1000"/>
                                        <p:tgtEl>
                                          <p:spTgt spid="2">
                                            <p:txEl>
                                              <p:pRg st="2" end="2"/>
                                            </p:txEl>
                                          </p:spTgt>
                                        </p:tgtEl>
                                      </p:cBhvr>
                                    </p:animEffect>
                                    <p:anim calcmode="lin" valueType="num">
                                      <p:cBhvr>
                                        <p:cTn id="1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34819" name="矩形 1"/>
          <p:cNvSpPr/>
          <p:nvPr/>
        </p:nvSpPr>
        <p:spPr>
          <a:xfrm>
            <a:off x="533400" y="1676400"/>
            <a:ext cx="7924800" cy="3506788"/>
          </a:xfrm>
          <a:prstGeom prst="rect">
            <a:avLst/>
          </a:prstGeom>
          <a:noFill/>
          <a:ln w="9525">
            <a:noFill/>
          </a:ln>
        </p:spPr>
        <p:txBody>
          <a:bodyPr>
            <a:spAutoFit/>
          </a:bodyPr>
          <a:lstStyle/>
          <a:p>
            <a:pPr lvl="1" eaLnBrk="1" hangingPunct="1">
              <a:lnSpc>
                <a:spcPct val="150000"/>
              </a:lnSpc>
              <a:spcBef>
                <a:spcPct val="20000"/>
              </a:spcBef>
              <a:buClr>
                <a:srgbClr val="3191D3"/>
              </a:buClr>
            </a:pPr>
            <a:r>
              <a:rPr lang="zh-CN" altLang="en-US" sz="2400" b="1" dirty="0">
                <a:latin typeface="华文楷体" panose="02010600040101010101" pitchFamily="2" charset="-122"/>
                <a:ea typeface="华文楷体" panose="02010600040101010101" pitchFamily="2" charset="-122"/>
              </a:rPr>
              <a:t>人民法院的职责</a:t>
            </a:r>
            <a:endParaRPr lang="en-US" altLang="zh-CN" sz="2400" b="1" dirty="0">
              <a:latin typeface="华文楷体" panose="02010600040101010101" pitchFamily="2" charset="-122"/>
              <a:ea typeface="华文楷体" panose="02010600040101010101" pitchFamily="2" charset="-122"/>
            </a:endParaRPr>
          </a:p>
          <a:p>
            <a:pPr marL="319405" indent="-319405">
              <a:lnSpc>
                <a:spcPct val="150000"/>
              </a:lnSpc>
              <a:spcBef>
                <a:spcPts val="700"/>
              </a:spcBef>
              <a:buClr>
                <a:srgbClr val="DA1F28"/>
              </a:buClr>
              <a:buSzPct val="60000"/>
            </a:pP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主要职能是审判各类诉讼案件，惩治罪犯，保障人权，解决纠纷，调整社会关系，维护社会秩序，保卫国家制度和利益，保护公民、法人和其他组织的合法权益，并通过审判活动教育公民忠于祖国，自觉遵守宪法和法律，人民法院独立行使审判权</a:t>
            </a:r>
            <a:r>
              <a:rPr lang="en-US"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4819">
                                            <p:txEl>
                                              <p:pRg st="1" end="1"/>
                                            </p:txEl>
                                          </p:spTgt>
                                        </p:tgtEl>
                                        <p:attrNameLst>
                                          <p:attrName>style.visibility</p:attrName>
                                        </p:attrNameLst>
                                      </p:cBhvr>
                                      <p:to>
                                        <p:strVal val="visible"/>
                                      </p:to>
                                    </p:set>
                                    <p:animEffect transition="in" filter="circle(in)">
                                      <p:cBhvr>
                                        <p:cTn id="7" dur="2000"/>
                                        <p:tgtEl>
                                          <p:spTgt spid="348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0" y="1600200"/>
            <a:ext cx="8534400" cy="4746625"/>
          </a:xfrm>
          <a:prstGeom prst="rect">
            <a:avLst/>
          </a:prstGeom>
        </p:spPr>
        <p:txBody>
          <a:bodyPr>
            <a:spAutoFit/>
          </a:bodyPr>
          <a:lstStyle/>
          <a:p>
            <a:pPr marL="457200" marR="0" lvl="1" indent="0" algn="l" defTabSz="914400" rtl="0" eaLnBrk="1" fontAlgn="base" latinLnBrk="0" hangingPunct="1">
              <a:lnSpc>
                <a:spcPct val="150000"/>
              </a:lnSpc>
              <a:spcBef>
                <a:spcPct val="20000"/>
              </a:spcBef>
              <a:spcAft>
                <a:spcPct val="0"/>
              </a:spcAft>
              <a:buClr>
                <a:srgbClr val="3191D3"/>
              </a:buClr>
              <a:buSzTx/>
              <a:buFontTx/>
              <a:buNone/>
              <a:defRPr/>
            </a:pP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司法行政机关的职责</a:t>
            </a:r>
          </a:p>
          <a:p>
            <a:pPr marL="914400" marR="0" lvl="1" indent="-457200" algn="just" defTabSz="914400" rtl="0" eaLnBrk="1" fontAlgn="base" latinLnBrk="0" hangingPunct="1">
              <a:lnSpc>
                <a:spcPct val="150000"/>
              </a:lnSpc>
              <a:spcBef>
                <a:spcPct val="20000"/>
              </a:spcBef>
              <a:spcAft>
                <a:spcPct val="0"/>
              </a:spcAft>
              <a:buClr>
                <a:srgbClr val="3191D3"/>
              </a:buClr>
              <a:buSzPct val="60000"/>
              <a:buFont typeface="Wingdings" panose="05000000000000000000" pitchFamily="2" charset="2"/>
              <a:buChar char="p"/>
              <a:defRPr/>
            </a:pPr>
            <a:r>
              <a:rPr kumimoji="0" lang="zh-CN" altLang="en-US"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监督和指导全国监狱执行刑罚、改造罪犯的工作，监督和指导全国劳动教养工作；</a:t>
            </a:r>
          </a:p>
          <a:p>
            <a:pPr marL="914400" marR="0" lvl="1" indent="-457200" algn="just" defTabSz="914400" rtl="0" eaLnBrk="1" fontAlgn="base" latinLnBrk="0" hangingPunct="1">
              <a:lnSpc>
                <a:spcPct val="150000"/>
              </a:lnSpc>
              <a:spcBef>
                <a:spcPct val="20000"/>
              </a:spcBef>
              <a:spcAft>
                <a:spcPct val="0"/>
              </a:spcAft>
              <a:buClr>
                <a:srgbClr val="3191D3"/>
              </a:buClr>
              <a:buSzPct val="60000"/>
              <a:buFont typeface="Wingdings" panose="05000000000000000000" pitchFamily="2" charset="2"/>
              <a:buChar char="p"/>
              <a:defRPr/>
            </a:pPr>
            <a:r>
              <a:rPr kumimoji="0" lang="zh-CN" altLang="en-US"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制定全国法制宣传教育和普及法律常识规划并组织实施，指导和检查各地区、各行业的依法治理工作，指导对外法制宣传工作，管理法制报刊；</a:t>
            </a:r>
          </a:p>
          <a:p>
            <a:pPr marL="914400" marR="0" lvl="1" indent="-457200" algn="just" defTabSz="914400" rtl="0" eaLnBrk="1" fontAlgn="base" latinLnBrk="0" hangingPunct="1">
              <a:lnSpc>
                <a:spcPct val="150000"/>
              </a:lnSpc>
              <a:spcBef>
                <a:spcPct val="20000"/>
              </a:spcBef>
              <a:spcAft>
                <a:spcPct val="0"/>
              </a:spcAft>
              <a:buClr>
                <a:srgbClr val="3191D3"/>
              </a:buClr>
              <a:buSzPct val="60000"/>
              <a:buFont typeface="Wingdings" panose="05000000000000000000" pitchFamily="2" charset="2"/>
              <a:buChar char="p"/>
              <a:defRPr/>
            </a:pPr>
            <a:r>
              <a:rPr kumimoji="0" lang="zh-CN" altLang="en-US"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监督和指导全国的律师工作和法律顾问工作，管理社会法律服务机构和在华设立的外国（境外）律师机构；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circle(in)">
                                      <p:cBhvr>
                                        <p:cTn id="12" dur="20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arn(inVertical)">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76200" y="1450975"/>
            <a:ext cx="8458200" cy="5226050"/>
          </a:xfrm>
          <a:prstGeom prst="rect">
            <a:avLst/>
          </a:prstGeom>
        </p:spPr>
        <p:txBody>
          <a:bodyPr>
            <a:spAutoFit/>
          </a:bodyPr>
          <a:lstStyle/>
          <a:p>
            <a:pPr marL="457200" marR="0" lvl="1" indent="0" algn="l" defTabSz="914400" rtl="0" eaLnBrk="1" fontAlgn="base" latinLnBrk="0" hangingPunct="1">
              <a:lnSpc>
                <a:spcPct val="150000"/>
              </a:lnSpc>
              <a:spcBef>
                <a:spcPct val="20000"/>
              </a:spcBef>
              <a:spcAft>
                <a:spcPct val="0"/>
              </a:spcAft>
              <a:buClr>
                <a:srgbClr val="3191D3"/>
              </a:buClr>
              <a:buSzTx/>
              <a:buFontTx/>
              <a:buNone/>
              <a:defRPr/>
            </a:pPr>
            <a:r>
              <a:rPr kumimoji="0" lang="zh-CN" altLang="en-US"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司法行政机关的职责</a:t>
            </a:r>
          </a:p>
          <a:p>
            <a:pPr marL="914400" marR="0" lvl="1" indent="-457200" algn="just" defTabSz="914400" rtl="0" eaLnBrk="1" fontAlgn="base" latinLnBrk="0" hangingPunct="1">
              <a:lnSpc>
                <a:spcPct val="150000"/>
              </a:lnSpc>
              <a:spcBef>
                <a:spcPct val="20000"/>
              </a:spcBef>
              <a:spcAft>
                <a:spcPct val="0"/>
              </a:spcAft>
              <a:buClr>
                <a:srgbClr val="3191D3"/>
              </a:buClr>
              <a:buSzPct val="60000"/>
              <a:buFont typeface="Wingdings" panose="05000000000000000000" pitchFamily="2" charset="2"/>
              <a:buChar char="p"/>
              <a:defRPr/>
            </a:pPr>
            <a:r>
              <a:rPr kumimoji="0" lang="zh-CN" altLang="en-US"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监督和指导全国公证机构和公证业务活动，负责委托港澳地区律师办理在内地使用的公证事务；指导全国的人民调解和司法助理员工作；</a:t>
            </a:r>
          </a:p>
          <a:p>
            <a:pPr marL="914400" marR="0" lvl="1" indent="-457200" algn="just" defTabSz="914400" rtl="0" eaLnBrk="1" fontAlgn="base" latinLnBrk="0" hangingPunct="1">
              <a:lnSpc>
                <a:spcPct val="150000"/>
              </a:lnSpc>
              <a:spcBef>
                <a:spcPct val="20000"/>
              </a:spcBef>
              <a:spcAft>
                <a:spcPct val="0"/>
              </a:spcAft>
              <a:buClr>
                <a:srgbClr val="3191D3"/>
              </a:buClr>
              <a:buSzPct val="60000"/>
              <a:buFont typeface="Wingdings" panose="05000000000000000000" pitchFamily="2" charset="2"/>
              <a:buChar char="p"/>
              <a:defRPr/>
            </a:pPr>
            <a:r>
              <a:rPr kumimoji="0" lang="zh-CN" altLang="en-US"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管理部直属的高等政法院校，指导全国的中等、高等法学教育工作和法学理论研究工作；组织参加联合国有关预防犯罪领域的会议和活动，承办联合国有关对口部门的往来业务，组织参加国际有关人权问题的法律研讨和交流活动、开展政府间的法律交流与合作；</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wipe(down)">
                                      <p:cBhvr>
                                        <p:cTn id="14"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152400" y="1676400"/>
            <a:ext cx="8534400" cy="4117975"/>
          </a:xfrm>
          <a:prstGeom prst="rect">
            <a:avLst/>
          </a:prstGeom>
        </p:spPr>
        <p:txBody>
          <a:bodyPr>
            <a:spAutoFit/>
          </a:bodyPr>
          <a:lstStyle/>
          <a:p>
            <a:pPr marL="457200" marR="0" lvl="1" indent="0" algn="l" defTabSz="914400" rtl="0" eaLnBrk="1" fontAlgn="base" latinLnBrk="0" hangingPunct="1">
              <a:lnSpc>
                <a:spcPct val="150000"/>
              </a:lnSpc>
              <a:spcBef>
                <a:spcPct val="20000"/>
              </a:spcBef>
              <a:spcAft>
                <a:spcPct val="0"/>
              </a:spcAft>
              <a:buClr>
                <a:srgbClr val="3191D3"/>
              </a:buClr>
              <a:buSzTx/>
              <a:buFontTx/>
              <a:buNone/>
              <a:defRPr/>
            </a:pPr>
            <a:r>
              <a:rPr kumimoji="0" lang="zh-CN" altLang="en-US"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司法行政机关的职责</a:t>
            </a:r>
          </a:p>
          <a:p>
            <a:pPr marL="914400" marR="0" lvl="1" indent="-457200" algn="l" defTabSz="914400" rtl="0" eaLnBrk="1" fontAlgn="base" latinLnBrk="0" hangingPunct="1">
              <a:lnSpc>
                <a:spcPct val="150000"/>
              </a:lnSpc>
              <a:spcBef>
                <a:spcPct val="20000"/>
              </a:spcBef>
              <a:spcAft>
                <a:spcPct val="0"/>
              </a:spcAft>
              <a:buClr>
                <a:srgbClr val="3191D3"/>
              </a:buClr>
              <a:buSzPct val="60000"/>
              <a:buFont typeface="Wingdings" panose="05000000000000000000" pitchFamily="2" charset="2"/>
              <a:buChar char="p"/>
              <a:defRPr/>
            </a:pPr>
            <a:r>
              <a:rPr kumimoji="0" lang="zh-CN" altLang="en-US"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参加与外国签订司法协助协定的谈判，负责国际司法协助协定执行的有关事宜；参与国家立法工作，组织司法领域人权问题研究；监督大型监狱、劳动教养场所国有资产的保值增值，管理直属单位的国有资产；</a:t>
            </a:r>
          </a:p>
          <a:p>
            <a:pPr marL="914400" marR="0" lvl="1" indent="-457200" algn="l" defTabSz="914400" rtl="0" eaLnBrk="1" fontAlgn="base" latinLnBrk="0" hangingPunct="1">
              <a:lnSpc>
                <a:spcPct val="150000"/>
              </a:lnSpc>
              <a:spcBef>
                <a:spcPct val="20000"/>
              </a:spcBef>
              <a:spcAft>
                <a:spcPct val="0"/>
              </a:spcAft>
              <a:buClr>
                <a:srgbClr val="3191D3"/>
              </a:buClr>
              <a:buSzPct val="60000"/>
              <a:buFont typeface="Wingdings" panose="05000000000000000000" pitchFamily="2" charset="2"/>
              <a:buChar char="p"/>
              <a:defRPr/>
            </a:pPr>
            <a:r>
              <a:rPr kumimoji="0" lang="zh-CN" altLang="en-US"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指导全国司法行政系统的队伍建设和思想政治工作，协助省、自治区、直辖市管理司法厅（局）领导干部。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circle(in)">
                                      <p:cBhvr>
                                        <p:cTn id="13" dur="2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152400" y="1524000"/>
            <a:ext cx="8534400" cy="2990850"/>
          </a:xfrm>
          <a:prstGeom prst="rect">
            <a:avLst/>
          </a:prstGeom>
        </p:spPr>
        <p:txBody>
          <a:bodyPr>
            <a:spAutoFit/>
          </a:bodyPr>
          <a:lstStyle/>
          <a:p>
            <a:pPr marL="319405" marR="0" lvl="0" indent="-720090" algn="just"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国家安全机关的职权</a:t>
            </a:r>
            <a:endParaRPr kumimoji="0" lang="en-US" altLang="zh-CN"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720090" algn="just" defTabSz="914400" rtl="0" eaLnBrk="1" fontAlgn="auto" latinLnBrk="0" hangingPunct="1">
              <a:lnSpc>
                <a:spcPct val="150000"/>
              </a:lnSpc>
              <a:spcBef>
                <a:spcPts val="0"/>
              </a:spcBef>
              <a:spcAft>
                <a:spcPts val="0"/>
              </a:spcAft>
              <a:buClr>
                <a:srgbClr val="DA1F28"/>
              </a:buClr>
              <a:buSzPct val="60000"/>
              <a:buFontTx/>
              <a:buNone/>
              <a:defRPr/>
            </a:pPr>
            <a:r>
              <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根据</a:t>
            </a:r>
            <a:r>
              <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中华人民共和国国家安全法</a:t>
            </a:r>
            <a:r>
              <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的第二章规定的国家安全机关在国家安全工作中的职权（部分）：</a:t>
            </a:r>
          </a:p>
          <a:p>
            <a:pPr marL="319405" marR="0" lvl="0" indent="-720090" algn="just" defTabSz="914400" rtl="0" eaLnBrk="1" fontAlgn="auto" latinLnBrk="0" hangingPunct="1">
              <a:lnSpc>
                <a:spcPct val="150000"/>
              </a:lnSpc>
              <a:spcBef>
                <a:spcPts val="1000"/>
              </a:spcBef>
              <a:spcAft>
                <a:spcPts val="0"/>
              </a:spcAft>
              <a:buClr>
                <a:srgbClr val="DA1F28"/>
              </a:buClr>
              <a:buSzPct val="60000"/>
              <a:buFontTx/>
              <a:buNone/>
              <a:defRPr/>
            </a:pPr>
            <a:r>
              <a:rPr kumimoji="0" lang="en-US" altLang="zh-CN"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第六条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国家安全机关在国家安全工作中依法行使侦查、拘留、预审和执行逮捕以及法律规定的其他职权。</a:t>
            </a:r>
          </a:p>
        </p:txBody>
      </p:sp>
      <p:pic>
        <p:nvPicPr>
          <p:cNvPr id="38916" name="图片 3"/>
          <p:cNvPicPr>
            <a:picLocks noChangeAspect="1"/>
          </p:cNvPicPr>
          <p:nvPr/>
        </p:nvPicPr>
        <p:blipFill>
          <a:blip r:embed="rId2"/>
          <a:stretch>
            <a:fillRect/>
          </a:stretch>
        </p:blipFill>
        <p:spPr>
          <a:xfrm>
            <a:off x="2590800" y="4826000"/>
            <a:ext cx="3505200" cy="19558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circle(in)">
                                      <p:cBhvr>
                                        <p:cTn id="12" dur="20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8916"/>
                                        </p:tgtEl>
                                        <p:attrNameLst>
                                          <p:attrName>style.visibility</p:attrName>
                                        </p:attrNameLst>
                                      </p:cBhvr>
                                      <p:to>
                                        <p:strVal val="visible"/>
                                      </p:to>
                                    </p:set>
                                    <p:animEffect transition="in" filter="randombar(horizontal)">
                                      <p:cBhvr>
                                        <p:cTn id="17" dur="500"/>
                                        <p:tgtEl>
                                          <p:spTgt spid="3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304800" y="1524000"/>
            <a:ext cx="8610600" cy="4524375"/>
          </a:xfrm>
          <a:prstGeom prst="rect">
            <a:avLst/>
          </a:prstGeom>
        </p:spPr>
        <p:txBody>
          <a:bodyPr>
            <a:spAutoFit/>
          </a:bodyPr>
          <a:lstStyle/>
          <a:p>
            <a:pPr marL="319405" marR="0" lvl="0" indent="-720090" algn="l"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国家安全机关的职权</a:t>
            </a:r>
            <a:endParaRPr kumimoji="0" lang="en-US" altLang="zh-CN"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720090" algn="just"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第七条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国家安全机关的工作人员依法执行国家安全工作任务时，经出示相应证件，有权查验中国公民或者境外人员的身份证明；向有关组织和人员调查、询问有关情况。</a:t>
            </a:r>
            <a:endParaRPr kumimoji="0" lang="en-US" altLang="zh-CN"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720090" algn="just"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第八条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的工作人员依法执行国家安全工作任务时，经出示相应证件，可以进入有关场所；根据国家有关规定，经过批准，出示相应证件，可以进入限制进入的有关地区、场所、单位；查看或者调阅有关的档案、资料、物品。</a:t>
            </a:r>
            <a:endPar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circle(in)">
                                      <p:cBhvr>
                                        <p:cTn id="14" dur="2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381000" y="1600200"/>
            <a:ext cx="8153400" cy="5078413"/>
          </a:xfrm>
          <a:prstGeom prst="rect">
            <a:avLst/>
          </a:prstGeom>
        </p:spPr>
        <p:txBody>
          <a:bodyPr>
            <a:spAutoFit/>
          </a:bodyPr>
          <a:lstStyle/>
          <a:p>
            <a:pPr marL="319405" marR="0" lvl="0" indent="-720090" algn="l"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国家安全机关的职权</a:t>
            </a:r>
            <a:endParaRPr kumimoji="0" lang="en-US" altLang="zh-CN"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720090" algn="just"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第九条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国家安全机关的工作人员在依法执行紧急任务的情况下，经出示相应证件，可以优先乘坐公共交通工具，遇交通阻碍时，优先通行。</a:t>
            </a:r>
            <a:endParaRPr kumimoji="0" lang="en-US" altLang="zh-CN"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720090" algn="just"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第十条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国家安全机关因侦察危害国家安全行为的需要，根据国家有关规定，经过严格的批准手续，可以采取技术侦察措施。</a:t>
            </a:r>
          </a:p>
          <a:p>
            <a:pPr marL="319405" marR="0" lvl="0" indent="-720090" algn="just"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第十一条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国家安全机关为维护国家安全的需要，可以查验组织和个人的电子通信工具、器材等设备、设施。</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wipe(down)">
                                      <p:cBhvr>
                                        <p:cTn id="18"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a:t>
            </a:r>
            <a:r>
              <a:rPr lang="zh-CN" altLang="en-US" b="1" dirty="0">
                <a:solidFill>
                  <a:srgbClr val="FF0000"/>
                </a:solidFill>
                <a:ea typeface="宋体" panose="02010600030101010101" pitchFamily="2" charset="-122"/>
              </a:rPr>
              <a:t>司法</a:t>
            </a:r>
            <a:r>
              <a:rPr lang="zh-CN" altLang="en-US" b="1" dirty="0">
                <a:ea typeface="宋体" panose="02010600030101010101" pitchFamily="2" charset="-122"/>
              </a:rPr>
              <a:t>和执法</a:t>
            </a:r>
          </a:p>
        </p:txBody>
      </p:sp>
      <p:sp>
        <p:nvSpPr>
          <p:cNvPr id="2" name="矩形 1"/>
          <p:cNvSpPr/>
          <p:nvPr/>
        </p:nvSpPr>
        <p:spPr>
          <a:xfrm>
            <a:off x="228600" y="1571625"/>
            <a:ext cx="8382000" cy="4524375"/>
          </a:xfrm>
          <a:prstGeom prst="rect">
            <a:avLst/>
          </a:prstGeom>
        </p:spPr>
        <p:txBody>
          <a:bodyPr>
            <a:spAutoFit/>
          </a:bodyPr>
          <a:lstStyle/>
          <a:p>
            <a:pPr marL="319405" marR="0" lvl="0" indent="-720090" algn="l"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国家安全机关的职权</a:t>
            </a:r>
            <a:endParaRPr kumimoji="0" lang="en-US" altLang="zh-CN"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19405" marR="0" lvl="0" indent="-720090" algn="just"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第十二条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国家安全机关因国家安全工作的需要，根据国家有关规定，可以提请海关、边防等检查机关对有关人员和资料、器材免检。有关检查机关应当予以协助。</a:t>
            </a:r>
          </a:p>
          <a:p>
            <a:pPr marL="319405" marR="0" lvl="0" indent="-720090" algn="just"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第十三条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国家安全机关及其工作人员在国家安全工作中，应当严格依法办事，不得超越职权、滥用职权，不得侵犯组织和个人的合法权益。</a:t>
            </a:r>
          </a:p>
          <a:p>
            <a:pPr marL="319405" marR="0" lvl="0" indent="-720090" algn="just" defTabSz="914400" rtl="0" eaLnBrk="1" fontAlgn="auto" latinLnBrk="0" hangingPunct="1">
              <a:lnSpc>
                <a:spcPct val="150000"/>
              </a:lnSpc>
              <a:spcBef>
                <a:spcPts val="0"/>
              </a:spcBef>
              <a:spcAft>
                <a:spcPts val="0"/>
              </a:spcAft>
              <a:buClr>
                <a:srgbClr val="DA1F28"/>
              </a:buClr>
              <a:buSzPct val="60000"/>
              <a:buFontTx/>
              <a:buNone/>
              <a:defRPr/>
            </a:pPr>
            <a:r>
              <a:rPr kumimoji="0" lang="zh-CN" altLang="en-US" sz="24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第十四条 </a:t>
            </a:r>
            <a:r>
              <a:rPr kumimoji="0" lang="zh-CN" altLang="en-US" sz="24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国家安全机关工作人员依法执行职务受法律保护。</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down)">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立法、司法和</a:t>
            </a:r>
            <a:r>
              <a:rPr lang="zh-CN" altLang="en-US" b="1" dirty="0">
                <a:solidFill>
                  <a:srgbClr val="FF0000"/>
                </a:solidFill>
                <a:ea typeface="宋体" panose="02010600030101010101" pitchFamily="2" charset="-122"/>
              </a:rPr>
              <a:t>执法</a:t>
            </a:r>
          </a:p>
        </p:txBody>
      </p:sp>
      <p:sp>
        <p:nvSpPr>
          <p:cNvPr id="2" name="矩形 1"/>
          <p:cNvSpPr/>
          <p:nvPr/>
        </p:nvSpPr>
        <p:spPr>
          <a:xfrm>
            <a:off x="533400" y="1524000"/>
            <a:ext cx="8458200" cy="4708525"/>
          </a:xfrm>
          <a:prstGeom prst="rect">
            <a:avLst/>
          </a:prstGeom>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执法</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执法的概念</a:t>
            </a: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法律执行，是指国家行政机关依照法定职权和法定程序，行使行政管理职权、履行职责、贯彻和实施法律的活动。</a:t>
            </a:r>
            <a:endParaRPr kumimoji="0" lang="en-US" altLang="zh-CN"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通常这个概念有</a:t>
            </a:r>
            <a:r>
              <a:rPr kumimoji="0" lang="zh-CN" altLang="en-US" sz="24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广义</a:t>
            </a:r>
            <a:r>
              <a:rPr kumimoji="0" lang="zh-CN" altLang="en-US"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与</a:t>
            </a:r>
            <a:r>
              <a:rPr kumimoji="0" lang="zh-CN" altLang="en-US" sz="24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狭义</a:t>
            </a:r>
            <a:r>
              <a:rPr kumimoji="0" lang="zh-CN" altLang="en-US" sz="24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两种解释。广义的执法是指国家行政机关、司法机关及其公职人员依照法定程序实施法律的活动。狭义的执法是专指国家行政机关的公职人员依法行使管理职权、履行职责、实施法律的活动。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circle(in)">
                                      <p:cBhvr>
                                        <p:cTn id="17" dur="2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立法、司法和</a:t>
            </a:r>
            <a:r>
              <a:rPr lang="zh-CN" altLang="en-US" b="1" dirty="0">
                <a:solidFill>
                  <a:srgbClr val="FF0000"/>
                </a:solidFill>
                <a:ea typeface="宋体" panose="02010600030101010101" pitchFamily="2" charset="-122"/>
              </a:rPr>
              <a:t>执法</a:t>
            </a:r>
          </a:p>
        </p:txBody>
      </p:sp>
      <p:sp>
        <p:nvSpPr>
          <p:cNvPr id="44035" name="矩形 1"/>
          <p:cNvSpPr/>
          <p:nvPr/>
        </p:nvSpPr>
        <p:spPr>
          <a:xfrm>
            <a:off x="762000" y="1828800"/>
            <a:ext cx="7772400" cy="4260850"/>
          </a:xfrm>
          <a:prstGeom prst="rect">
            <a:avLst/>
          </a:prstGeom>
          <a:noFill/>
          <a:ln w="9525">
            <a:noFill/>
          </a:ln>
        </p:spPr>
        <p:txBody>
          <a:bodyPr>
            <a:spAutoFit/>
          </a:bodyPr>
          <a:lstStyle/>
          <a:p>
            <a:pPr>
              <a:lnSpc>
                <a:spcPct val="150000"/>
              </a:lnSpc>
              <a:spcBef>
                <a:spcPts val="500"/>
              </a:spcBef>
            </a:pPr>
            <a:r>
              <a:rPr lang="zh-CN" altLang="en-US" sz="2800" b="1" dirty="0">
                <a:latin typeface="华文楷体" panose="02010600040101010101" pitchFamily="2" charset="-122"/>
                <a:ea typeface="华文楷体" panose="02010600040101010101" pitchFamily="2" charset="-122"/>
              </a:rPr>
              <a:t>执法的特点</a:t>
            </a:r>
          </a:p>
          <a:p>
            <a:pPr algn="just">
              <a:spcBef>
                <a:spcPts val="500"/>
              </a:spcBef>
            </a:pPr>
            <a:r>
              <a:rPr lang="en-US" altLang="zh-CN" dirty="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．执法是以国家的名义对社会生活进行全面管理，具有国家权威性。</a:t>
            </a:r>
          </a:p>
          <a:p>
            <a:pPr algn="just">
              <a:spcBef>
                <a:spcPts val="500"/>
              </a:spcBef>
            </a:pPr>
            <a:r>
              <a:rPr lang="en-US" altLang="zh-CN" dirty="0">
                <a:latin typeface="华文楷体" panose="02010600040101010101" pitchFamily="2" charset="-122"/>
                <a:ea typeface="华文楷体" panose="02010600040101010101" pitchFamily="2" charset="-122"/>
              </a:rPr>
              <a:t>2</a:t>
            </a:r>
            <a:r>
              <a:rPr lang="zh-CN" altLang="en-US" dirty="0">
                <a:latin typeface="华文楷体" panose="02010600040101010101" pitchFamily="2" charset="-122"/>
                <a:ea typeface="华文楷体" panose="02010600040101010101" pitchFamily="2" charset="-122"/>
              </a:rPr>
              <a:t>．执法的主体是国家行政机关公职人员。</a:t>
            </a:r>
          </a:p>
          <a:p>
            <a:pPr algn="just">
              <a:spcBef>
                <a:spcPts val="500"/>
              </a:spcBef>
            </a:pPr>
            <a:r>
              <a:rPr lang="en-US" altLang="zh-CN" dirty="0">
                <a:latin typeface="华文楷体" panose="02010600040101010101" pitchFamily="2" charset="-122"/>
                <a:ea typeface="华文楷体" panose="02010600040101010101" pitchFamily="2" charset="-122"/>
              </a:rPr>
              <a:t>3</a:t>
            </a:r>
            <a:r>
              <a:rPr lang="zh-CN" altLang="en-US" dirty="0">
                <a:latin typeface="华文楷体" panose="02010600040101010101" pitchFamily="2" charset="-122"/>
                <a:ea typeface="华文楷体" panose="02010600040101010101" pitchFamily="2" charset="-122"/>
              </a:rPr>
              <a:t>．执法具有国家强制性，行政机关执行法律的过程同时是行使执法权的过程，行政机关根据法律的授权对社会进行管理，一定的行政机关是进行有效管理的前提。</a:t>
            </a:r>
          </a:p>
          <a:p>
            <a:pPr algn="just">
              <a:spcBef>
                <a:spcPts val="1000"/>
              </a:spcBef>
            </a:pPr>
            <a:r>
              <a:rPr lang="en-US" altLang="zh-CN" dirty="0">
                <a:latin typeface="华文楷体" panose="02010600040101010101" pitchFamily="2" charset="-122"/>
                <a:ea typeface="华文楷体" panose="02010600040101010101" pitchFamily="2" charset="-122"/>
              </a:rPr>
              <a:t>4</a:t>
            </a:r>
            <a:r>
              <a:rPr lang="zh-CN" altLang="en-US" dirty="0">
                <a:latin typeface="华文楷体" panose="02010600040101010101" pitchFamily="2" charset="-122"/>
                <a:ea typeface="华文楷体" panose="02010600040101010101" pitchFamily="2" charset="-122"/>
              </a:rPr>
              <a:t>．执法具有主动性和单方面性。</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animEffect transition="in" filter="barn(inVertical)">
                                      <p:cBhvr>
                                        <p:cTn id="7" dur="500"/>
                                        <p:tgtEl>
                                          <p:spTgt spid="440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4035">
                                            <p:txEl>
                                              <p:pRg st="2" end="2"/>
                                            </p:txEl>
                                          </p:spTgt>
                                        </p:tgtEl>
                                        <p:attrNameLst>
                                          <p:attrName>style.visibility</p:attrName>
                                        </p:attrNameLst>
                                      </p:cBhvr>
                                      <p:to>
                                        <p:strVal val="visible"/>
                                      </p:to>
                                    </p:set>
                                    <p:animEffect transition="in" filter="wipe(down)">
                                      <p:cBhvr>
                                        <p:cTn id="12" dur="500"/>
                                        <p:tgtEl>
                                          <p:spTgt spid="4403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4035">
                                            <p:txEl>
                                              <p:pRg st="3" end="3"/>
                                            </p:txEl>
                                          </p:spTgt>
                                        </p:tgtEl>
                                        <p:attrNameLst>
                                          <p:attrName>style.visibility</p:attrName>
                                        </p:attrNameLst>
                                      </p:cBhvr>
                                      <p:to>
                                        <p:strVal val="visible"/>
                                      </p:to>
                                    </p:set>
                                    <p:anim calcmode="lin" valueType="num">
                                      <p:cBhvr additive="base">
                                        <p:cTn id="17" dur="500" fill="hold"/>
                                        <p:tgtEl>
                                          <p:spTgt spid="4403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40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44035">
                                            <p:txEl>
                                              <p:pRg st="4" end="4"/>
                                            </p:txEl>
                                          </p:spTgt>
                                        </p:tgtEl>
                                        <p:attrNameLst>
                                          <p:attrName>style.visibility</p:attrName>
                                        </p:attrNameLst>
                                      </p:cBhvr>
                                      <p:to>
                                        <p:strVal val="visible"/>
                                      </p:to>
                                    </p:set>
                                    <p:animEffect transition="in" filter="circle(in)">
                                      <p:cBhvr>
                                        <p:cTn id="23" dur="2000"/>
                                        <p:tgtEl>
                                          <p:spTgt spid="440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立法、司法和</a:t>
            </a:r>
            <a:r>
              <a:rPr lang="zh-CN" altLang="en-US" b="1" dirty="0">
                <a:solidFill>
                  <a:srgbClr val="FF0000"/>
                </a:solidFill>
                <a:ea typeface="宋体" panose="02010600030101010101" pitchFamily="2" charset="-122"/>
              </a:rPr>
              <a:t>执法</a:t>
            </a:r>
          </a:p>
        </p:txBody>
      </p:sp>
      <p:sp>
        <p:nvSpPr>
          <p:cNvPr id="45059" name="矩形 1"/>
          <p:cNvSpPr/>
          <p:nvPr/>
        </p:nvSpPr>
        <p:spPr>
          <a:xfrm>
            <a:off x="533400" y="1600200"/>
            <a:ext cx="8305800" cy="5237163"/>
          </a:xfrm>
          <a:prstGeom prst="rect">
            <a:avLst/>
          </a:prstGeom>
          <a:noFill/>
          <a:ln w="9525">
            <a:noFill/>
          </a:ln>
        </p:spPr>
        <p:txBody>
          <a:bodyPr>
            <a:spAutoFit/>
          </a:bodyPr>
          <a:lstStyle/>
          <a:p>
            <a:pPr>
              <a:spcBef>
                <a:spcPts val="700"/>
              </a:spcBef>
              <a:buClr>
                <a:srgbClr val="DA1F28"/>
              </a:buClr>
              <a:buSzPct val="60000"/>
            </a:pPr>
            <a:r>
              <a:rPr lang="zh-CN" altLang="en-US" sz="2800" b="1" dirty="0">
                <a:latin typeface="华文楷体" panose="02010600040101010101" pitchFamily="2" charset="-122"/>
                <a:ea typeface="华文楷体" panose="02010600040101010101" pitchFamily="2" charset="-122"/>
              </a:rPr>
              <a:t>执法的原则</a:t>
            </a:r>
          </a:p>
          <a:p>
            <a:pPr marL="640080" lvl="1" indent="-273050" algn="just">
              <a:spcBef>
                <a:spcPts val="550"/>
              </a:spcBef>
              <a:buClr>
                <a:srgbClr val="2DA2BF"/>
              </a:buClr>
              <a:buSzPct val="70000"/>
              <a:buFont typeface="Wingdings 2" panose="05020102010507070707" pitchFamily="18" charset="2"/>
              <a:buChar char=""/>
            </a:pP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．依法行政的原则</a:t>
            </a:r>
          </a:p>
          <a:p>
            <a:pPr lvl="2" indent="-228600" algn="just">
              <a:lnSpc>
                <a:spcPct val="150000"/>
              </a:lnSpc>
              <a:spcBef>
                <a:spcPts val="500"/>
              </a:spcBef>
              <a:buClr>
                <a:srgbClr val="DA1F28"/>
              </a:buClr>
              <a:buSzPct val="75000"/>
              <a:buFont typeface="Wingdings" panose="05000000000000000000" pitchFamily="2" charset="2"/>
              <a:buChar char=""/>
            </a:pPr>
            <a:r>
              <a:rPr lang="zh-CN" altLang="en-US" sz="2400" dirty="0">
                <a:latin typeface="华文楷体" panose="02010600040101010101" pitchFamily="2" charset="-122"/>
                <a:ea typeface="华文楷体" panose="02010600040101010101" pitchFamily="2" charset="-122"/>
              </a:rPr>
              <a:t>行政机关必须根据法定权限、法定程序和法治精神进行管理，越权无效。</a:t>
            </a:r>
          </a:p>
          <a:p>
            <a:pPr marL="640080" lvl="1" indent="-273050" algn="just">
              <a:lnSpc>
                <a:spcPct val="150000"/>
              </a:lnSpc>
              <a:spcBef>
                <a:spcPts val="550"/>
              </a:spcBef>
              <a:buClr>
                <a:srgbClr val="2DA2BF"/>
              </a:buClr>
              <a:buSzPct val="70000"/>
              <a:buFont typeface="Wingdings 2" panose="05020102010507070707" pitchFamily="18" charset="2"/>
              <a:buChar char=""/>
            </a:pP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．公平合理原则。</a:t>
            </a:r>
          </a:p>
          <a:p>
            <a:pPr lvl="2" indent="-228600" algn="just">
              <a:lnSpc>
                <a:spcPct val="150000"/>
              </a:lnSpc>
              <a:spcBef>
                <a:spcPts val="500"/>
              </a:spcBef>
              <a:buClr>
                <a:srgbClr val="DA1F28"/>
              </a:buClr>
              <a:buSzPct val="75000"/>
              <a:buFont typeface="Wingdings" panose="05000000000000000000" pitchFamily="2" charset="2"/>
              <a:buChar char=""/>
            </a:pPr>
            <a:r>
              <a:rPr lang="zh-CN" altLang="en-US" sz="2400" dirty="0">
                <a:latin typeface="华文楷体" panose="02010600040101010101" pitchFamily="2" charset="-122"/>
                <a:ea typeface="华文楷体" panose="02010600040101010101" pitchFamily="2" charset="-122"/>
              </a:rPr>
              <a:t>行政机关在执法时应当权衡多方面的利益因素和情况因素，在严格执行规则的前提下，做到公平、公正、合理、适度，避免由于滥用自由裁量权而形成执法轻重不一、标准失范的结果。</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5059">
                                            <p:txEl>
                                              <p:pRg st="1" end="1"/>
                                            </p:txEl>
                                          </p:spTgt>
                                        </p:tgtEl>
                                        <p:attrNameLst>
                                          <p:attrName>style.visibility</p:attrName>
                                        </p:attrNameLst>
                                      </p:cBhvr>
                                      <p:to>
                                        <p:strVal val="visible"/>
                                      </p:to>
                                    </p:set>
                                    <p:animEffect transition="in" filter="fade">
                                      <p:cBhvr>
                                        <p:cTn id="7" dur="1000"/>
                                        <p:tgtEl>
                                          <p:spTgt spid="45059">
                                            <p:txEl>
                                              <p:pRg st="1" end="1"/>
                                            </p:txEl>
                                          </p:spTgt>
                                        </p:tgtEl>
                                      </p:cBhvr>
                                    </p:animEffect>
                                    <p:anim calcmode="lin" valueType="num">
                                      <p:cBhvr>
                                        <p:cTn id="8" dur="1000" fill="hold"/>
                                        <p:tgtEl>
                                          <p:spTgt spid="4505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505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5059">
                                            <p:txEl>
                                              <p:pRg st="2" end="2"/>
                                            </p:txEl>
                                          </p:spTgt>
                                        </p:tgtEl>
                                        <p:attrNameLst>
                                          <p:attrName>style.visibility</p:attrName>
                                        </p:attrNameLst>
                                      </p:cBhvr>
                                      <p:to>
                                        <p:strVal val="visible"/>
                                      </p:to>
                                    </p:set>
                                    <p:animEffect transition="in" filter="wipe(down)">
                                      <p:cBhvr>
                                        <p:cTn id="14" dur="500"/>
                                        <p:tgtEl>
                                          <p:spTgt spid="45059">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45059">
                                            <p:txEl>
                                              <p:pRg st="3" end="3"/>
                                            </p:txEl>
                                          </p:spTgt>
                                        </p:tgtEl>
                                        <p:attrNameLst>
                                          <p:attrName>style.visibility</p:attrName>
                                        </p:attrNameLst>
                                      </p:cBhvr>
                                      <p:to>
                                        <p:strVal val="visible"/>
                                      </p:to>
                                    </p:set>
                                    <p:animEffect transition="in" filter="barn(inVertical)">
                                      <p:cBhvr>
                                        <p:cTn id="19" dur="500"/>
                                        <p:tgtEl>
                                          <p:spTgt spid="45059">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45059">
                                            <p:txEl>
                                              <p:pRg st="4" end="4"/>
                                            </p:txEl>
                                          </p:spTgt>
                                        </p:tgtEl>
                                        <p:attrNameLst>
                                          <p:attrName>style.visibility</p:attrName>
                                        </p:attrNameLst>
                                      </p:cBhvr>
                                      <p:to>
                                        <p:strVal val="visible"/>
                                      </p:to>
                                    </p:set>
                                    <p:animEffect transition="in" filter="circle(in)">
                                      <p:cBhvr>
                                        <p:cTn id="24" dur="2000"/>
                                        <p:tgtEl>
                                          <p:spTgt spid="450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立法、司法和</a:t>
            </a:r>
            <a:r>
              <a:rPr lang="zh-CN" altLang="en-US" b="1" dirty="0">
                <a:solidFill>
                  <a:srgbClr val="FF0000"/>
                </a:solidFill>
                <a:ea typeface="宋体" panose="02010600030101010101" pitchFamily="2" charset="-122"/>
              </a:rPr>
              <a:t>执法</a:t>
            </a:r>
          </a:p>
        </p:txBody>
      </p:sp>
      <p:sp>
        <p:nvSpPr>
          <p:cNvPr id="46083" name="矩形 2"/>
          <p:cNvSpPr/>
          <p:nvPr/>
        </p:nvSpPr>
        <p:spPr>
          <a:xfrm>
            <a:off x="990600" y="1582738"/>
            <a:ext cx="7543800" cy="2954337"/>
          </a:xfrm>
          <a:prstGeom prst="rect">
            <a:avLst/>
          </a:prstGeom>
          <a:noFill/>
          <a:ln w="9525">
            <a:noFill/>
          </a:ln>
        </p:spPr>
        <p:txBody>
          <a:bodyPr>
            <a:spAutoFit/>
          </a:bodyPr>
          <a:lstStyle/>
          <a:p>
            <a:pPr>
              <a:lnSpc>
                <a:spcPct val="150000"/>
              </a:lnSpc>
            </a:pPr>
            <a:r>
              <a:rPr lang="zh-CN" altLang="en-US" sz="2800" dirty="0">
                <a:latin typeface="华文楷体" panose="02010600040101010101" pitchFamily="2" charset="-122"/>
                <a:ea typeface="华文楷体" panose="02010600040101010101" pitchFamily="2" charset="-122"/>
              </a:rPr>
              <a:t>执法规范化</a:t>
            </a:r>
          </a:p>
          <a:p>
            <a:pPr>
              <a:lnSpc>
                <a:spcPct val="150000"/>
              </a:lnSpc>
            </a:pP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．彻底转变观念，打牢执法为民思想</a:t>
            </a:r>
          </a:p>
          <a:p>
            <a:pPr>
              <a:lnSpc>
                <a:spcPct val="150000"/>
              </a:lnSpc>
            </a:pP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．提高民警素质，确保正确执法</a:t>
            </a:r>
          </a:p>
          <a:p>
            <a:pPr>
              <a:lnSpc>
                <a:spcPct val="150000"/>
              </a:lnSpc>
            </a:pP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．建立优质法制队伍，保障内部执法指导监督</a:t>
            </a:r>
          </a:p>
          <a:p>
            <a:pPr>
              <a:lnSpc>
                <a:spcPct val="150000"/>
              </a:lnSpc>
            </a:pPr>
            <a:r>
              <a:rPr lang="en-US" altLang="zh-CN" sz="24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．健全执法制度，严密执法程序，杜绝执法的随意性</a:t>
            </a:r>
          </a:p>
        </p:txBody>
      </p:sp>
      <p:pic>
        <p:nvPicPr>
          <p:cNvPr id="46084" name="图片 3"/>
          <p:cNvPicPr>
            <a:picLocks noChangeAspect="1"/>
          </p:cNvPicPr>
          <p:nvPr/>
        </p:nvPicPr>
        <p:blipFill>
          <a:blip r:embed="rId2"/>
          <a:stretch>
            <a:fillRect/>
          </a:stretch>
        </p:blipFill>
        <p:spPr>
          <a:xfrm>
            <a:off x="277813" y="5233988"/>
            <a:ext cx="2763837" cy="1436687"/>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wipe(down)">
                                      <p:cBhvr>
                                        <p:cTn id="7" dur="500"/>
                                        <p:tgtEl>
                                          <p:spTgt spid="4608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6083">
                                            <p:txEl>
                                              <p:pRg st="2" end="2"/>
                                            </p:txEl>
                                          </p:spTgt>
                                        </p:tgtEl>
                                        <p:attrNameLst>
                                          <p:attrName>style.visibility</p:attrName>
                                        </p:attrNameLst>
                                      </p:cBhvr>
                                      <p:to>
                                        <p:strVal val="visible"/>
                                      </p:to>
                                    </p:set>
                                    <p:animEffect transition="in" filter="wipe(down)">
                                      <p:cBhvr>
                                        <p:cTn id="10" dur="500"/>
                                        <p:tgtEl>
                                          <p:spTgt spid="4608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46083">
                                            <p:txEl>
                                              <p:pRg st="3" end="3"/>
                                            </p:txEl>
                                          </p:spTgt>
                                        </p:tgtEl>
                                        <p:attrNameLst>
                                          <p:attrName>style.visibility</p:attrName>
                                        </p:attrNameLst>
                                      </p:cBhvr>
                                      <p:to>
                                        <p:strVal val="visible"/>
                                      </p:to>
                                    </p:set>
                                    <p:animEffect transition="in" filter="circle(in)">
                                      <p:cBhvr>
                                        <p:cTn id="15" dur="2000"/>
                                        <p:tgtEl>
                                          <p:spTgt spid="46083">
                                            <p:txEl>
                                              <p:pRg st="3" end="3"/>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46083">
                                            <p:txEl>
                                              <p:pRg st="4" end="4"/>
                                            </p:txEl>
                                          </p:spTgt>
                                        </p:tgtEl>
                                        <p:attrNameLst>
                                          <p:attrName>style.visibility</p:attrName>
                                        </p:attrNameLst>
                                      </p:cBhvr>
                                      <p:to>
                                        <p:strVal val="visible"/>
                                      </p:to>
                                    </p:set>
                                    <p:animEffect transition="in" filter="circle(in)">
                                      <p:cBhvr>
                                        <p:cTn id="18" dur="2000"/>
                                        <p:tgtEl>
                                          <p:spTgt spid="460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47107" name="Group 3"/>
          <p:cNvGrpSpPr/>
          <p:nvPr/>
        </p:nvGrpSpPr>
        <p:grpSpPr>
          <a:xfrm>
            <a:off x="1524000" y="1524000"/>
            <a:ext cx="762000" cy="665163"/>
            <a:chOff x="1110" y="2656"/>
            <a:chExt cx="1549" cy="1351"/>
          </a:xfrm>
        </p:grpSpPr>
        <p:sp>
          <p:nvSpPr>
            <p:cNvPr id="4714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714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47108" name="Group 7"/>
          <p:cNvGrpSpPr/>
          <p:nvPr/>
        </p:nvGrpSpPr>
        <p:grpSpPr>
          <a:xfrm>
            <a:off x="1524000" y="2374900"/>
            <a:ext cx="762000" cy="665163"/>
            <a:chOff x="3174" y="2656"/>
            <a:chExt cx="1549" cy="1351"/>
          </a:xfrm>
        </p:grpSpPr>
        <p:sp>
          <p:nvSpPr>
            <p:cNvPr id="47138"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7139"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47109" name="Line 11"/>
          <p:cNvSpPr/>
          <p:nvPr/>
        </p:nvSpPr>
        <p:spPr>
          <a:xfrm>
            <a:off x="2133600" y="2133600"/>
            <a:ext cx="4800600" cy="4763"/>
          </a:xfrm>
          <a:prstGeom prst="line">
            <a:avLst/>
          </a:prstGeom>
          <a:ln w="25400" cap="flat" cmpd="sng">
            <a:solidFill>
              <a:srgbClr val="C0C0C0"/>
            </a:solidFill>
            <a:prstDash val="sysDot"/>
            <a:headEnd type="none" w="med" len="med"/>
            <a:tailEnd type="oval" w="med" len="med"/>
          </a:ln>
        </p:spPr>
      </p:sp>
      <p:sp>
        <p:nvSpPr>
          <p:cNvPr id="47110" name="Text Box 12"/>
          <p:cNvSpPr txBox="1"/>
          <p:nvPr/>
        </p:nvSpPr>
        <p:spPr>
          <a:xfrm>
            <a:off x="2362200" y="1581150"/>
            <a:ext cx="56388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法律法规</a:t>
            </a:r>
          </a:p>
        </p:txBody>
      </p:sp>
      <p:sp>
        <p:nvSpPr>
          <p:cNvPr id="47111" name="Text Box 13"/>
          <p:cNvSpPr txBox="1"/>
          <p:nvPr/>
        </p:nvSpPr>
        <p:spPr>
          <a:xfrm>
            <a:off x="1733550" y="16224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1</a:t>
            </a:r>
          </a:p>
        </p:txBody>
      </p:sp>
      <p:sp>
        <p:nvSpPr>
          <p:cNvPr id="47112" name="Line 14"/>
          <p:cNvSpPr/>
          <p:nvPr/>
        </p:nvSpPr>
        <p:spPr>
          <a:xfrm>
            <a:off x="2133600" y="3048000"/>
            <a:ext cx="4800600" cy="0"/>
          </a:xfrm>
          <a:prstGeom prst="line">
            <a:avLst/>
          </a:prstGeom>
          <a:ln w="25400" cap="flat" cmpd="sng">
            <a:solidFill>
              <a:srgbClr val="C0C0C0"/>
            </a:solidFill>
            <a:prstDash val="sysDot"/>
            <a:headEnd type="none" w="med" len="med"/>
            <a:tailEnd type="oval" w="med" len="med"/>
          </a:ln>
        </p:spPr>
      </p:sp>
      <p:sp>
        <p:nvSpPr>
          <p:cNvPr id="47113" name="Text Box 16"/>
          <p:cNvSpPr txBox="1"/>
          <p:nvPr/>
        </p:nvSpPr>
        <p:spPr>
          <a:xfrm>
            <a:off x="1733550" y="25368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2</a:t>
            </a:r>
          </a:p>
        </p:txBody>
      </p:sp>
      <p:sp>
        <p:nvSpPr>
          <p:cNvPr id="47114" name="Text Box 21"/>
          <p:cNvSpPr txBox="1"/>
          <p:nvPr/>
        </p:nvSpPr>
        <p:spPr>
          <a:xfrm>
            <a:off x="1733550" y="34290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3</a:t>
            </a:r>
          </a:p>
        </p:txBody>
      </p:sp>
      <p:sp>
        <p:nvSpPr>
          <p:cNvPr id="47115" name="Text Box 22"/>
          <p:cNvSpPr txBox="1"/>
          <p:nvPr/>
        </p:nvSpPr>
        <p:spPr>
          <a:xfrm>
            <a:off x="1689100" y="50292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5</a:t>
            </a:r>
          </a:p>
        </p:txBody>
      </p:sp>
      <p:sp>
        <p:nvSpPr>
          <p:cNvPr id="7186" name="Text Box 24"/>
          <p:cNvSpPr txBox="1">
            <a:spLocks noChangeArrowheads="1"/>
          </p:cNvSpPr>
          <p:nvPr/>
        </p:nvSpPr>
        <p:spPr bwMode="auto">
          <a:xfrm>
            <a:off x="2286000" y="2490788"/>
            <a:ext cx="502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 </a:t>
            </a:r>
            <a:r>
              <a:rPr kumimoji="0" lang="zh-CN" altLang="en-US" sz="2800" b="1" i="0" u="none" strike="noStrike" kern="120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a:t>
            </a: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安全法律规范</a:t>
            </a:r>
          </a:p>
        </p:txBody>
      </p:sp>
      <p:grpSp>
        <p:nvGrpSpPr>
          <p:cNvPr id="47117" name="组合 25"/>
          <p:cNvGrpSpPr/>
          <p:nvPr/>
        </p:nvGrpSpPr>
        <p:grpSpPr>
          <a:xfrm>
            <a:off x="1524000" y="3317875"/>
            <a:ext cx="5721350" cy="665163"/>
            <a:chOff x="1828800" y="3559175"/>
            <a:chExt cx="5721395" cy="665163"/>
          </a:xfrm>
        </p:grpSpPr>
        <p:sp>
          <p:nvSpPr>
            <p:cNvPr id="47132" name="Text Box 15"/>
            <p:cNvSpPr txBox="1"/>
            <p:nvPr/>
          </p:nvSpPr>
          <p:spPr>
            <a:xfrm>
              <a:off x="2597156" y="3657600"/>
              <a:ext cx="4953039" cy="522288"/>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 信息安全法律关系</a:t>
              </a:r>
            </a:p>
          </p:txBody>
        </p:sp>
        <p:grpSp>
          <p:nvGrpSpPr>
            <p:cNvPr id="47133" name="Group 17"/>
            <p:cNvGrpSpPr/>
            <p:nvPr/>
          </p:nvGrpSpPr>
          <p:grpSpPr>
            <a:xfrm>
              <a:off x="1828800" y="3559175"/>
              <a:ext cx="762000" cy="665163"/>
              <a:chOff x="1110" y="2656"/>
              <a:chExt cx="1549" cy="1351"/>
            </a:xfrm>
          </p:grpSpPr>
          <p:sp>
            <p:nvSpPr>
              <p:cNvPr id="47135"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7136"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7134"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47118" name="组合 25"/>
          <p:cNvGrpSpPr/>
          <p:nvPr/>
        </p:nvGrpSpPr>
        <p:grpSpPr>
          <a:xfrm>
            <a:off x="1541463" y="4210050"/>
            <a:ext cx="5791200" cy="665163"/>
            <a:chOff x="1828800" y="3559175"/>
            <a:chExt cx="5791200" cy="665163"/>
          </a:xfrm>
        </p:grpSpPr>
        <p:sp>
          <p:nvSpPr>
            <p:cNvPr id="47126" name="Text Box 15"/>
            <p:cNvSpPr txBox="1"/>
            <p:nvPr/>
          </p:nvSpPr>
          <p:spPr>
            <a:xfrm>
              <a:off x="2667000" y="3697288"/>
              <a:ext cx="4953000" cy="523875"/>
            </a:xfrm>
            <a:prstGeom prst="rect">
              <a:avLst/>
            </a:prstGeom>
            <a:noFill/>
            <a:ln w="9525">
              <a:noFill/>
            </a:ln>
          </p:spPr>
          <p:txBody>
            <a:bodyPr>
              <a:spAutoFit/>
            </a:bodyPr>
            <a:lstStyle/>
            <a:p>
              <a:r>
                <a:rPr lang="zh-CN" altLang="en-US" sz="2800" b="1" dirty="0">
                  <a:solidFill>
                    <a:schemeClr val="tx1"/>
                  </a:solidFill>
                  <a:latin typeface="华文楷体" panose="02010600040101010101" pitchFamily="2" charset="-122"/>
                  <a:ea typeface="华文楷体" panose="02010600040101010101" pitchFamily="2" charset="-122"/>
                </a:rPr>
                <a:t>立法、司法和执法</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47127" name="Group 17"/>
            <p:cNvGrpSpPr/>
            <p:nvPr/>
          </p:nvGrpSpPr>
          <p:grpSpPr>
            <a:xfrm>
              <a:off x="1828800" y="3559175"/>
              <a:ext cx="762000" cy="665163"/>
              <a:chOff x="1110" y="2656"/>
              <a:chExt cx="1549" cy="1351"/>
            </a:xfrm>
          </p:grpSpPr>
          <p:sp>
            <p:nvSpPr>
              <p:cNvPr id="47129"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7130"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7128"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47119" name="组合 25"/>
          <p:cNvGrpSpPr/>
          <p:nvPr/>
        </p:nvGrpSpPr>
        <p:grpSpPr>
          <a:xfrm>
            <a:off x="1530350" y="5089525"/>
            <a:ext cx="5791200" cy="665163"/>
            <a:chOff x="1828800" y="3559175"/>
            <a:chExt cx="5791200" cy="665163"/>
          </a:xfrm>
        </p:grpSpPr>
        <p:sp>
          <p:nvSpPr>
            <p:cNvPr id="47120" name="Text Box 15"/>
            <p:cNvSpPr txBox="1"/>
            <p:nvPr/>
          </p:nvSpPr>
          <p:spPr>
            <a:xfrm>
              <a:off x="2667000" y="3657600"/>
              <a:ext cx="4953000" cy="523875"/>
            </a:xfrm>
            <a:prstGeom prst="rect">
              <a:avLst/>
            </a:prstGeom>
            <a:noFill/>
            <a:ln w="9525">
              <a:noFill/>
            </a:ln>
          </p:spPr>
          <p:txBody>
            <a:bodyPr>
              <a:spAutoFit/>
            </a:bodyPr>
            <a:lstStyle/>
            <a:p>
              <a:r>
                <a:rPr lang="zh-CN" altLang="en-US" sz="2800" b="1" dirty="0">
                  <a:solidFill>
                    <a:srgbClr val="FF0000"/>
                  </a:solidFill>
                  <a:latin typeface="华文楷体" panose="02010600040101010101" pitchFamily="2" charset="-122"/>
                  <a:ea typeface="华文楷体" panose="02010600040101010101" pitchFamily="2" charset="-122"/>
                </a:rPr>
                <a:t>思政点</a:t>
              </a:r>
              <a:endParaRPr lang="en-US" altLang="zh-CN" sz="2800" b="1" dirty="0">
                <a:solidFill>
                  <a:srgbClr val="FF0000"/>
                </a:solidFill>
                <a:latin typeface="华文楷体" panose="02010600040101010101" pitchFamily="2" charset="-122"/>
                <a:ea typeface="华文楷体" panose="02010600040101010101" pitchFamily="2" charset="-122"/>
              </a:endParaRPr>
            </a:p>
          </p:txBody>
        </p:sp>
        <p:grpSp>
          <p:nvGrpSpPr>
            <p:cNvPr id="47121" name="Group 17"/>
            <p:cNvGrpSpPr/>
            <p:nvPr/>
          </p:nvGrpSpPr>
          <p:grpSpPr>
            <a:xfrm>
              <a:off x="1828800" y="3559175"/>
              <a:ext cx="762000" cy="665163"/>
              <a:chOff x="1110" y="2656"/>
              <a:chExt cx="1549" cy="1351"/>
            </a:xfrm>
          </p:grpSpPr>
          <p:sp>
            <p:nvSpPr>
              <p:cNvPr id="47123"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7124"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0"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7122"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Tree>
  </p:cSld>
  <p:clrMapOvr>
    <a:masterClrMapping/>
  </p:clrMapOvr>
  <p:transition>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思政点</a:t>
            </a:r>
          </a:p>
        </p:txBody>
      </p:sp>
      <p:pic>
        <p:nvPicPr>
          <p:cNvPr id="48131" name="图片 1"/>
          <p:cNvPicPr>
            <a:picLocks noChangeAspect="1"/>
          </p:cNvPicPr>
          <p:nvPr/>
        </p:nvPicPr>
        <p:blipFill>
          <a:blip r:embed="rId2"/>
          <a:stretch>
            <a:fillRect/>
          </a:stretch>
        </p:blipFill>
        <p:spPr>
          <a:xfrm>
            <a:off x="152400" y="4572000"/>
            <a:ext cx="2979738" cy="2063750"/>
          </a:xfrm>
          <a:prstGeom prst="rect">
            <a:avLst/>
          </a:prstGeom>
          <a:noFill/>
          <a:ln w="9525">
            <a:noFill/>
          </a:ln>
        </p:spPr>
      </p:pic>
      <p:sp>
        <p:nvSpPr>
          <p:cNvPr id="48132" name="矩形 2"/>
          <p:cNvSpPr/>
          <p:nvPr/>
        </p:nvSpPr>
        <p:spPr>
          <a:xfrm>
            <a:off x="1295400" y="1905000"/>
            <a:ext cx="6172200" cy="1892300"/>
          </a:xfrm>
          <a:prstGeom prst="rect">
            <a:avLst/>
          </a:prstGeom>
          <a:noFill/>
          <a:ln w="9525">
            <a:noFill/>
          </a:ln>
        </p:spPr>
        <p:txBody>
          <a:bodyPr>
            <a:spAutoFit/>
          </a:bodyPr>
          <a:lstStyle/>
          <a:p>
            <a:pPr>
              <a:lnSpc>
                <a:spcPct val="150000"/>
              </a:lnSpc>
            </a:pPr>
            <a:r>
              <a:rPr lang="zh-CN" altLang="en-US" dirty="0">
                <a:latin typeface="华文楷体" panose="02010600040101010101" pitchFamily="2" charset="-122"/>
                <a:ea typeface="华文楷体" panose="02010600040101010101" pitchFamily="2" charset="-122"/>
              </a:rPr>
              <a:t>护安全，要立德。</a:t>
            </a:r>
            <a:endParaRPr lang="en-US" altLang="zh-CN" dirty="0">
              <a:latin typeface="华文楷体" panose="02010600040101010101" pitchFamily="2" charset="-122"/>
              <a:ea typeface="华文楷体" panose="02010600040101010101" pitchFamily="2" charset="-122"/>
            </a:endParaRPr>
          </a:p>
          <a:p>
            <a:pPr>
              <a:lnSpc>
                <a:spcPct val="150000"/>
              </a:lnSpc>
            </a:pPr>
            <a:r>
              <a:rPr lang="zh-CN" altLang="en-US" dirty="0">
                <a:latin typeface="华文楷体" panose="02010600040101010101" pitchFamily="2" charset="-122"/>
                <a:ea typeface="华文楷体" panose="02010600040101010101" pitchFamily="2" charset="-122"/>
              </a:rPr>
              <a:t>国之安全，法之利刃。</a:t>
            </a:r>
            <a:endParaRPr lang="en-US" altLang="zh-CN" dirty="0">
              <a:latin typeface="华文楷体" panose="02010600040101010101" pitchFamily="2" charset="-122"/>
              <a:ea typeface="华文楷体" panose="02010600040101010101" pitchFamily="2" charset="-122"/>
            </a:endParaRPr>
          </a:p>
          <a:p>
            <a:pPr>
              <a:lnSpc>
                <a:spcPct val="150000"/>
              </a:lnSpc>
            </a:pPr>
            <a:r>
              <a:rPr lang="zh-CN" altLang="en-US" dirty="0">
                <a:latin typeface="华文楷体" panose="02010600040101010101" pitchFamily="2" charset="-122"/>
                <a:ea typeface="华文楷体" panose="02010600040101010101" pitchFamily="2" charset="-122"/>
              </a:rPr>
              <a:t>抓好自身的安全意识，才能求得大全。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132">
                                            <p:txEl>
                                              <p:pRg st="1" end="1"/>
                                            </p:txEl>
                                          </p:spTgt>
                                        </p:tgtEl>
                                        <p:attrNameLst>
                                          <p:attrName>style.visibility</p:attrName>
                                        </p:attrNameLst>
                                      </p:cBhvr>
                                      <p:to>
                                        <p:strVal val="visible"/>
                                      </p:to>
                                    </p:set>
                                    <p:anim calcmode="lin" valueType="num">
                                      <p:cBhvr additive="base">
                                        <p:cTn id="7" dur="500" fill="hold"/>
                                        <p:tgtEl>
                                          <p:spTgt spid="4813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48132">
                                            <p:txEl>
                                              <p:pRg st="2" end="2"/>
                                            </p:txEl>
                                          </p:spTgt>
                                        </p:tgtEl>
                                        <p:attrNameLst>
                                          <p:attrName>style.visibility</p:attrName>
                                        </p:attrNameLst>
                                      </p:cBhvr>
                                      <p:to>
                                        <p:strVal val="visible"/>
                                      </p:to>
                                    </p:set>
                                    <p:animEffect transition="in" filter="circle(in)">
                                      <p:cBhvr>
                                        <p:cTn id="13" dur="2000"/>
                                        <p:tgtEl>
                                          <p:spTgt spid="481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思政点</a:t>
            </a:r>
          </a:p>
        </p:txBody>
      </p:sp>
      <p:pic>
        <p:nvPicPr>
          <p:cNvPr id="49155" name="图片 1"/>
          <p:cNvPicPr>
            <a:picLocks noChangeAspect="1"/>
          </p:cNvPicPr>
          <p:nvPr/>
        </p:nvPicPr>
        <p:blipFill>
          <a:blip r:embed="rId2"/>
          <a:stretch>
            <a:fillRect/>
          </a:stretch>
        </p:blipFill>
        <p:spPr>
          <a:xfrm>
            <a:off x="152400" y="4572000"/>
            <a:ext cx="2979738" cy="2063750"/>
          </a:xfrm>
          <a:prstGeom prst="rect">
            <a:avLst/>
          </a:prstGeom>
          <a:noFill/>
          <a:ln w="9525">
            <a:noFill/>
          </a:ln>
        </p:spPr>
      </p:pic>
      <p:sp>
        <p:nvSpPr>
          <p:cNvPr id="48132" name="矩形 2"/>
          <p:cNvSpPr/>
          <p:nvPr/>
        </p:nvSpPr>
        <p:spPr>
          <a:xfrm>
            <a:off x="1295400" y="1905000"/>
            <a:ext cx="6172200" cy="1892300"/>
          </a:xfrm>
          <a:prstGeom prst="rect">
            <a:avLst/>
          </a:prstGeom>
          <a:noFill/>
          <a:ln w="9525">
            <a:noFill/>
          </a:ln>
        </p:spPr>
        <p:txBody>
          <a:bodyPr>
            <a:spAutoFit/>
          </a:bodyPr>
          <a:lstStyle/>
          <a:p>
            <a:pPr>
              <a:lnSpc>
                <a:spcPct val="150000"/>
              </a:lnSpc>
            </a:pPr>
            <a:r>
              <a:rPr lang="zh-CN" altLang="en-US" dirty="0">
                <a:latin typeface="华文楷体" panose="02010600040101010101" pitchFamily="2" charset="-122"/>
                <a:ea typeface="华文楷体" panose="02010600040101010101" pitchFamily="2" charset="-122"/>
              </a:rPr>
              <a:t>护安全，要立德。</a:t>
            </a:r>
            <a:endParaRPr lang="en-US" altLang="zh-CN" dirty="0">
              <a:latin typeface="华文楷体" panose="02010600040101010101" pitchFamily="2" charset="-122"/>
              <a:ea typeface="华文楷体" panose="02010600040101010101" pitchFamily="2" charset="-122"/>
            </a:endParaRPr>
          </a:p>
          <a:p>
            <a:pPr>
              <a:lnSpc>
                <a:spcPct val="150000"/>
              </a:lnSpc>
            </a:pPr>
            <a:r>
              <a:rPr lang="zh-CN" altLang="en-US" dirty="0">
                <a:latin typeface="华文楷体" panose="02010600040101010101" pitchFamily="2" charset="-122"/>
                <a:ea typeface="华文楷体" panose="02010600040101010101" pitchFamily="2" charset="-122"/>
              </a:rPr>
              <a:t>国之安全，法之利刃。</a:t>
            </a:r>
            <a:endParaRPr lang="en-US" altLang="zh-CN" dirty="0">
              <a:latin typeface="华文楷体" panose="02010600040101010101" pitchFamily="2" charset="-122"/>
              <a:ea typeface="华文楷体" panose="02010600040101010101" pitchFamily="2" charset="-122"/>
            </a:endParaRPr>
          </a:p>
          <a:p>
            <a:pPr>
              <a:lnSpc>
                <a:spcPct val="150000"/>
              </a:lnSpc>
            </a:pPr>
            <a:r>
              <a:rPr lang="zh-CN" altLang="en-US" dirty="0">
                <a:latin typeface="华文楷体" panose="02010600040101010101" pitchFamily="2" charset="-122"/>
                <a:ea typeface="华文楷体" panose="02010600040101010101" pitchFamily="2" charset="-122"/>
              </a:rPr>
              <a:t>抓好自身的安全意识，才能求得大全。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132">
                                            <p:txEl>
                                              <p:pRg st="1" end="1"/>
                                            </p:txEl>
                                          </p:spTgt>
                                        </p:tgtEl>
                                        <p:attrNameLst>
                                          <p:attrName>style.visibility</p:attrName>
                                        </p:attrNameLst>
                                      </p:cBhvr>
                                      <p:to>
                                        <p:strVal val="visible"/>
                                      </p:to>
                                    </p:set>
                                    <p:anim calcmode="lin" valueType="num">
                                      <p:cBhvr additive="base">
                                        <p:cTn id="7" dur="500" fill="hold"/>
                                        <p:tgtEl>
                                          <p:spTgt spid="4813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48132">
                                            <p:txEl>
                                              <p:pRg st="2" end="2"/>
                                            </p:txEl>
                                          </p:spTgt>
                                        </p:tgtEl>
                                        <p:attrNameLst>
                                          <p:attrName>style.visibility</p:attrName>
                                        </p:attrNameLst>
                                      </p:cBhvr>
                                      <p:to>
                                        <p:strVal val="visible"/>
                                      </p:to>
                                    </p:set>
                                    <p:animEffect transition="in" filter="circle(in)">
                                      <p:cBhvr>
                                        <p:cTn id="13" dur="2000"/>
                                        <p:tgtEl>
                                          <p:spTgt spid="481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思政点</a:t>
            </a:r>
          </a:p>
        </p:txBody>
      </p:sp>
      <p:pic>
        <p:nvPicPr>
          <p:cNvPr id="50179" name="图片 1"/>
          <p:cNvPicPr>
            <a:picLocks noChangeAspect="1"/>
          </p:cNvPicPr>
          <p:nvPr/>
        </p:nvPicPr>
        <p:blipFill>
          <a:blip r:embed="rId2"/>
          <a:stretch>
            <a:fillRect/>
          </a:stretch>
        </p:blipFill>
        <p:spPr>
          <a:xfrm>
            <a:off x="152400" y="5105400"/>
            <a:ext cx="2209800" cy="1530350"/>
          </a:xfrm>
          <a:prstGeom prst="rect">
            <a:avLst/>
          </a:prstGeom>
          <a:noFill/>
          <a:ln w="9525">
            <a:noFill/>
          </a:ln>
        </p:spPr>
      </p:pic>
      <p:sp>
        <p:nvSpPr>
          <p:cNvPr id="48132" name="矩形 2"/>
          <p:cNvSpPr/>
          <p:nvPr/>
        </p:nvSpPr>
        <p:spPr>
          <a:xfrm>
            <a:off x="2438400" y="1573213"/>
            <a:ext cx="6477000" cy="4894262"/>
          </a:xfrm>
          <a:prstGeom prst="rect">
            <a:avLst/>
          </a:prstGeom>
          <a:noFill/>
          <a:ln w="9525">
            <a:noFill/>
          </a:ln>
        </p:spPr>
        <p:txBody>
          <a:bodyPr>
            <a:spAutoFit/>
          </a:bodyPr>
          <a:lstStyle/>
          <a:p>
            <a:pPr>
              <a:lnSpc>
                <a:spcPct val="150000"/>
              </a:lnSpc>
            </a:pPr>
            <a:r>
              <a:rPr lang="zh-CN" altLang="en-US" b="1" dirty="0">
                <a:latin typeface="华文楷体" panose="02010600040101010101" pitchFamily="2" charset="-122"/>
                <a:ea typeface="华文楷体" panose="02010600040101010101" pitchFamily="2" charset="-122"/>
              </a:rPr>
              <a:t>重点分析</a:t>
            </a:r>
            <a:endParaRPr lang="en-US" altLang="zh-CN" b="1" dirty="0">
              <a:latin typeface="华文楷体" panose="02010600040101010101" pitchFamily="2" charset="-122"/>
              <a:ea typeface="华文楷体" panose="02010600040101010101" pitchFamily="2" charset="-122"/>
            </a:endParaRPr>
          </a:p>
          <a:p>
            <a:pPr>
              <a:lnSpc>
                <a:spcPct val="150000"/>
              </a:lnSpc>
            </a:pPr>
            <a:r>
              <a:rPr lang="zh-CN" altLang="en-US" dirty="0">
                <a:latin typeface="华文楷体" panose="02010600040101010101" pitchFamily="2" charset="-122"/>
                <a:ea typeface="华文楷体" panose="02010600040101010101" pitchFamily="2" charset="-122"/>
              </a:rPr>
              <a:t>一是确立了信息化网络空间主权原则，将网络安全顶层设计法制化。</a:t>
            </a:r>
            <a:endParaRPr lang="en-US" altLang="zh-CN" dirty="0">
              <a:latin typeface="华文楷体" panose="02010600040101010101" pitchFamily="2" charset="-122"/>
              <a:ea typeface="华文楷体" panose="02010600040101010101" pitchFamily="2" charset="-122"/>
            </a:endParaRPr>
          </a:p>
          <a:p>
            <a:pPr>
              <a:lnSpc>
                <a:spcPct val="150000"/>
              </a:lnSpc>
            </a:pPr>
            <a:r>
              <a:rPr lang="zh-CN" altLang="en-US" dirty="0">
                <a:latin typeface="华文楷体" panose="02010600040101010101" pitchFamily="2" charset="-122"/>
                <a:ea typeface="华文楷体" panose="02010600040101010101" pitchFamily="2" charset="-122"/>
              </a:rPr>
              <a:t>二是对关键信息基础设施实行重点保护，将关键信息基础设施安全保护制度确立为国家信息安全基本制度。</a:t>
            </a:r>
            <a:endParaRPr lang="en-US" altLang="zh-CN" dirty="0">
              <a:latin typeface="华文楷体" panose="02010600040101010101" pitchFamily="2" charset="-122"/>
              <a:ea typeface="华文楷体" panose="02010600040101010101" pitchFamily="2" charset="-122"/>
            </a:endParaRPr>
          </a:p>
          <a:p>
            <a:pPr>
              <a:lnSpc>
                <a:spcPct val="150000"/>
              </a:lnSpc>
            </a:pPr>
            <a:r>
              <a:rPr lang="zh-CN" altLang="en-US" dirty="0">
                <a:latin typeface="华文楷体" panose="02010600040101010101" pitchFamily="2" charset="-122"/>
                <a:ea typeface="华文楷体" panose="02010600040101010101" pitchFamily="2" charset="-122"/>
              </a:rPr>
              <a:t>三是加强个人信息保护要求，加大对信息化诈骗等不法行为的打击力度。</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132">
                                            <p:txEl>
                                              <p:pRg st="2" end="2"/>
                                            </p:txEl>
                                          </p:spTgt>
                                        </p:tgtEl>
                                        <p:attrNameLst>
                                          <p:attrName>style.visibility</p:attrName>
                                        </p:attrNameLst>
                                      </p:cBhvr>
                                      <p:to>
                                        <p:strVal val="visible"/>
                                      </p:to>
                                    </p:set>
                                    <p:anim calcmode="lin" valueType="num">
                                      <p:cBhvr additive="base">
                                        <p:cTn id="7" dur="500" fill="hold"/>
                                        <p:tgtEl>
                                          <p:spTgt spid="4813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48132">
                                            <p:txEl>
                                              <p:pRg st="3" end="3"/>
                                            </p:txEl>
                                          </p:spTgt>
                                        </p:tgtEl>
                                        <p:attrNameLst>
                                          <p:attrName>style.visibility</p:attrName>
                                        </p:attrNameLst>
                                      </p:cBhvr>
                                      <p:to>
                                        <p:strVal val="visible"/>
                                      </p:to>
                                    </p:set>
                                    <p:animEffect transition="in" filter="circle(in)">
                                      <p:cBhvr>
                                        <p:cTn id="13" dur="2000"/>
                                        <p:tgtEl>
                                          <p:spTgt spid="481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主观分析题</a:t>
            </a:r>
          </a:p>
        </p:txBody>
      </p:sp>
      <p:sp>
        <p:nvSpPr>
          <p:cNvPr id="51203" name="内容占位符 2"/>
          <p:cNvSpPr>
            <a:spLocks noGrp="1"/>
          </p:cNvSpPr>
          <p:nvPr>
            <p:ph idx="1"/>
          </p:nvPr>
        </p:nvSpPr>
        <p:spPr>
          <a:xfrm>
            <a:off x="762000" y="2057400"/>
            <a:ext cx="7848600" cy="3581400"/>
          </a:xfrm>
          <a:ln/>
        </p:spPr>
        <p:txBody>
          <a:bodyPr vert="horz" wrap="square" lIns="91440" tIns="45720" rIns="91440" bIns="45720" anchor="t" anchorCtr="0"/>
          <a:lstStyle/>
          <a:p>
            <a:r>
              <a:rPr lang="zh-CN" altLang="en-US" sz="2400" dirty="0">
                <a:latin typeface="华文楷体" panose="02010600040101010101" pitchFamily="2" charset="-122"/>
                <a:ea typeface="华文楷体" panose="02010600040101010101" pitchFamily="2" charset="-122"/>
              </a:rPr>
              <a:t>国内信息安全法律关系有哪些类？简述作用。</a:t>
            </a:r>
            <a:endParaRPr lang="en-US" altLang="zh-CN" sz="2400" dirty="0">
              <a:latin typeface="华文楷体" panose="02010600040101010101" pitchFamily="2" charset="-122"/>
              <a:ea typeface="华文楷体" panose="02010600040101010101" pitchFamily="2" charset="-122"/>
            </a:endParaRPr>
          </a:p>
          <a:p>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我国司法制度是否完善，及其职责分别是什么？</a:t>
            </a:r>
            <a:endParaRPr lang="en-US" altLang="zh-CN" sz="2400" dirty="0">
              <a:latin typeface="华文楷体" panose="02010600040101010101" pitchFamily="2" charset="-122"/>
              <a:ea typeface="华文楷体" panose="02010600040101010101" pitchFamily="2" charset="-122"/>
            </a:endParaRPr>
          </a:p>
          <a:p>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对于信息系统的安全，风险管理主要做的是什么？</a:t>
            </a: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838200" y="2590800"/>
            <a:ext cx="7010400" cy="563563"/>
          </a:xfrm>
          <a:ln/>
        </p:spPr>
        <p:txBody>
          <a:bodyPr vert="horz" wrap="square" lIns="91440" tIns="45720" rIns="91440" bIns="45720" anchor="ctr" anchorCtr="0"/>
          <a:lstStyle/>
          <a:p>
            <a:r>
              <a:rPr lang="zh-CN" altLang="en-US" dirty="0">
                <a:ea typeface="宋体" panose="02010600030101010101" pitchFamily="2" charset="-122"/>
              </a:rPr>
              <a:t>思考题</a:t>
            </a:r>
          </a:p>
        </p:txBody>
      </p:sp>
      <p:sp>
        <p:nvSpPr>
          <p:cNvPr id="22531" name="内容占位符 2"/>
          <p:cNvSpPr>
            <a:spLocks noGrp="1" noChangeArrowheads="1"/>
          </p:cNvSpPr>
          <p:nvPr>
            <p:ph idx="1"/>
          </p:nvPr>
        </p:nvSpPr>
        <p:spPr>
          <a:xfrm>
            <a:off x="152400" y="1219200"/>
            <a:ext cx="8229600" cy="510540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600" b="1" i="1" u="none" strike="noStrike" kern="0" cap="none" spc="0" normalizeH="0" baseline="0" noProof="0" dirty="0" smtClean="0">
              <a:ln>
                <a:noFill/>
              </a:ln>
              <a:solidFill>
                <a:srgbClr val="C00000"/>
              </a:solidFill>
              <a:effectLst/>
              <a:uLnTx/>
              <a:uFillTx/>
              <a:latin typeface="楷体_GB2312" pitchFamily="49" charset="-122"/>
              <a:ea typeface="楷体_GB2312" pitchFamily="49"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谢谢！</a:t>
            </a:r>
            <a:endParaRPr kumimoji="0" lang="en-US" altLang="zh-CN"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48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下节课再见</a:t>
            </a: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PP_MARK_KEY" val="75ceb150-b061-47b6-92c5-b3ea699d73a2"/>
  <p:tag name="COMMONDATA" val="eyJoZGlkIjoiYzMzOGJhZDgxYTg4MzhkNzk5Yjk1OTVmYmVlYmNmYjAifQ=="/>
</p:tagLst>
</file>

<file path=ppt/tags/tag2.xml><?xml version="1.0" encoding="utf-8"?>
<p:tagLst xmlns:a="http://schemas.openxmlformats.org/drawingml/2006/main" xmlns:r="http://schemas.openxmlformats.org/officeDocument/2006/relationships" xmlns:p="http://schemas.openxmlformats.org/presentationml/2006/main">
  <p:tag name="PROBLEMSCORE" val="0.0"/>
  <p:tag name="PROBLEMSCORE_HALF" val="0.0"/>
  <p:tag name="RAINPROBLEMTYPE" val="Polling"/>
  <p:tag name="RAINPROBLEM" val="Polling"/>
  <p:tag name="ANONYMOUSPOLLING" val="False"/>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19.xml><?xml version="1.0" encoding="utf-8"?>
<p:tagLst xmlns:a="http://schemas.openxmlformats.org/drawingml/2006/main" xmlns:r="http://schemas.openxmlformats.org/officeDocument/2006/relationships" xmlns:p="http://schemas.openxmlformats.org/presentationml/2006/main">
  <p:tag name="RAINPROBLEM" val="FillBlank"/>
  <p:tag name="PROBLEMBLANKORDER" val="true"/>
  <p:tag name="PROBLEMBLANKKEYWORD" val="填空"/>
  <p:tag name="PROBLEMSCORE" val="2.5"/>
  <p:tag name="PROBLEMBLANK" val="[{&quot;Num&quot;:1,&quot;Score&quot;:0.5,&quot;Answers&quot;:[&quot;谁主管谁负责的原则&quot;],&quot;CaseSensitive&quot;:false,&quot;FuzzyMatch&quot;:false},{&quot;Num&quot;:2,&quot;Score&quot;:0.5,&quot;Answers&quot;:[&quot;突出重点的原则&quot;],&quot;CaseSensitive&quot;:false,&quot;FuzzyMatch&quot;:false},{&quot;Num&quot;:3,&quot;Score&quot;:0.5,&quot;Answers&quot;:[&quot;预防为主的原则&quot;],&quot;CaseSensitive&quot;:false,&quot;FuzzyMatch&quot;:false},{&quot;Num&quot;:4,&quot;Score&quot;:0.5,&quot;Answers&quot;:[&quot;安全审计的原则&quot;],&quot;CaseSensitive&quot;:false,&quot;FuzzyMatch&quot;:false},{&quot;Num&quot;:5,&quot;Score&quot;:0.5,&quot;Answers&quot;:[&quot;风险管理的原则&quot;],&quot;CaseSensitive&quot;:false,&quot;FuzzyMatch&quot;:false}]"/>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2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2779</Words>
  <Application>Microsoft Office PowerPoint</Application>
  <PresentationFormat>全屏显示(4:3)</PresentationFormat>
  <Paragraphs>287</Paragraphs>
  <Slides>49</Slides>
  <Notes>5</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62" baseType="lpstr">
      <vt:lpstr>黑体</vt:lpstr>
      <vt:lpstr>华文仿宋</vt:lpstr>
      <vt:lpstr>华文楷体</vt:lpstr>
      <vt:lpstr>华文隶书</vt:lpstr>
      <vt:lpstr>楷体_GB2312</vt:lpstr>
      <vt:lpstr>宋体</vt:lpstr>
      <vt:lpstr>微软雅黑</vt:lpstr>
      <vt:lpstr>Arial</vt:lpstr>
      <vt:lpstr>Times New Roman</vt:lpstr>
      <vt:lpstr>Wingdings</vt:lpstr>
      <vt:lpstr>Wingdings 2</vt:lpstr>
      <vt:lpstr>默认设计模板</vt:lpstr>
      <vt:lpstr>Photoshop.Image.7</vt:lpstr>
      <vt:lpstr>第三章 信息安全法律法规</vt:lpstr>
      <vt:lpstr>本章授课内容</vt:lpstr>
      <vt:lpstr>法律法规</vt:lpstr>
      <vt:lpstr>本章授课内容</vt:lpstr>
      <vt:lpstr>信息安全法律规范</vt:lpstr>
      <vt:lpstr>PowerPoint 演示文稿</vt:lpstr>
      <vt:lpstr>PowerPoint 演示文稿</vt:lpstr>
      <vt:lpstr>信息安全法律规范</vt:lpstr>
      <vt:lpstr>信息安全法律规范</vt:lpstr>
      <vt:lpstr>信息安全法律规范</vt:lpstr>
      <vt:lpstr>信息安全法律规范</vt:lpstr>
      <vt:lpstr>信息安全法律规范</vt:lpstr>
      <vt:lpstr>PowerPoint 演示文稿</vt:lpstr>
      <vt:lpstr>本章授课内容</vt:lpstr>
      <vt:lpstr>信息安全法律关系</vt:lpstr>
      <vt:lpstr>信息安全法律关系</vt:lpstr>
      <vt:lpstr>信息安全法律关系</vt:lpstr>
      <vt:lpstr>信息安全法律关系</vt:lpstr>
      <vt:lpstr>本章授课内容</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立法、司法和执法</vt:lpstr>
      <vt:lpstr>本章授课内容</vt:lpstr>
      <vt:lpstr>思政点</vt:lpstr>
      <vt:lpstr>思政点</vt:lpstr>
      <vt:lpstr>思政点</vt:lpstr>
      <vt:lpstr>主观分析题</vt:lpstr>
      <vt:lpstr>思考题</vt:lpstr>
    </vt:vector>
  </TitlesOfParts>
  <Company>Guilddesign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FengYan</dc:creator>
  <cp:lastModifiedBy>1363719767@qq.com</cp:lastModifiedBy>
  <cp:revision>1145</cp:revision>
  <dcterms:created xsi:type="dcterms:W3CDTF">2004-07-21T02:43:03Z</dcterms:created>
  <dcterms:modified xsi:type="dcterms:W3CDTF">2023-03-29T14:42:29Z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D1A1D93BE44544F6BA86B0552002A6EA</vt:lpwstr>
  </property>
</Properties>
</file>