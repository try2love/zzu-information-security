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746" r:id="rId2"/>
    <p:sldId id="740" r:id="rId3"/>
    <p:sldId id="708" r:id="rId4"/>
    <p:sldId id="741" r:id="rId5"/>
    <p:sldId id="709" r:id="rId6"/>
    <p:sldId id="711" r:id="rId7"/>
    <p:sldId id="712" r:id="rId8"/>
    <p:sldId id="710" r:id="rId9"/>
    <p:sldId id="714" r:id="rId10"/>
    <p:sldId id="715" r:id="rId11"/>
    <p:sldId id="716" r:id="rId12"/>
    <p:sldId id="718" r:id="rId13"/>
    <p:sldId id="720" r:id="rId14"/>
    <p:sldId id="721" r:id="rId15"/>
    <p:sldId id="722" r:id="rId16"/>
    <p:sldId id="723" r:id="rId17"/>
    <p:sldId id="724" r:id="rId18"/>
    <p:sldId id="725" r:id="rId19"/>
    <p:sldId id="727" r:id="rId20"/>
    <p:sldId id="742" r:id="rId21"/>
    <p:sldId id="728" r:id="rId22"/>
    <p:sldId id="743" r:id="rId23"/>
    <p:sldId id="744" r:id="rId24"/>
    <p:sldId id="745" r:id="rId25"/>
    <p:sldId id="729" r:id="rId26"/>
    <p:sldId id="730" r:id="rId27"/>
    <p:sldId id="731" r:id="rId28"/>
    <p:sldId id="732" r:id="rId29"/>
    <p:sldId id="733" r:id="rId30"/>
    <p:sldId id="734" r:id="rId31"/>
    <p:sldId id="735" r:id="rId32"/>
    <p:sldId id="736" r:id="rId33"/>
    <p:sldId id="737" r:id="rId34"/>
    <p:sldId id="738" r:id="rId35"/>
    <p:sldId id="749" r:id="rId36"/>
    <p:sldId id="739" r:id="rId37"/>
    <p:sldId id="748" r:id="rId38"/>
  </p:sldIdLst>
  <p:sldSz cx="9144000" cy="6858000" type="screen4x3"/>
  <p:notesSz cx="6858000" cy="9144000"/>
  <p:defaultTextStyle>
    <a:defPPr>
      <a:defRPr lang="en-US"/>
    </a:defPPr>
    <a:lvl1pPr marL="0" lvl="0"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1pPr>
    <a:lvl2pPr marL="457200" lvl="1"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2pPr>
    <a:lvl3pPr marL="914400" lvl="2"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3pPr>
    <a:lvl4pPr marL="1371600" lvl="3"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4pPr>
    <a:lvl5pPr marL="1828800" lvl="4"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5000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defRPr>
    </a:lvl9pPr>
  </p:defaultTextStyle>
  <p:extLst>
    <p:ext uri="{EFAFB233-063F-42B5-8137-9DF3F51BA10A}">
      <p15:sldGuideLst xmlns="" xmlns:p15="http://schemas.microsoft.com/office/powerpoint/2012/main">
        <p15:guide id="1" orient="horz" pos="214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99"/>
    <a:srgbClr val="000000"/>
    <a:srgbClr val="CC6600"/>
    <a:srgbClr val="FFFF66"/>
    <a:srgbClr val="FFFFCC"/>
    <a:srgbClr val="00CC99"/>
    <a:srgbClr val="97D7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71781"/>
  </p:normalViewPr>
  <p:slideViewPr>
    <p:cSldViewPr showGuides="1">
      <p:cViewPr varScale="1">
        <p:scale>
          <a:sx n="65" d="100"/>
          <a:sy n="65" d="100"/>
        </p:scale>
        <p:origin x="-1212" y="-52"/>
      </p:cViewPr>
      <p:guideLst>
        <p:guide orient="horz" pos="2144"/>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defRPr sz="1200">
                <a:solidFill>
                  <a:schemeClr val="tx1"/>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125" name="Rectangle 5"/>
          <p:cNvSpPr>
            <a:spLocks noGrp="1"/>
          </p:cNvSpPr>
          <p:nvPr>
            <p:ph type="body" sz="quarter"/>
          </p:nvPr>
        </p:nvSpPr>
        <p:spPr>
          <a:xfrm>
            <a:off x="914400" y="4343400"/>
            <a:ext cx="5029200" cy="4114800"/>
          </a:xfrm>
          <a:prstGeom prst="rect">
            <a:avLst/>
          </a:prstGeom>
          <a:noFill/>
          <a:ln w="9525">
            <a:noFill/>
          </a:ln>
        </p:spPr>
        <p:txBody>
          <a:bodyPr vert="horz" wrap="square" lIns="91440" tIns="45720" rIns="91440" bIns="45720" anchor="t"/>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860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spcBef>
                <a:spcPct val="0"/>
              </a:spcBef>
            </a:pPr>
            <a:fld id="{9A0DB2DC-4C9A-4742-B13C-FB6460FD3503}" type="slidenum">
              <a:rPr lang="zh-CN" altLang="en-US" sz="1200" strike="noStrike" noProof="1" dirty="0">
                <a:solidFill>
                  <a:schemeClr val="tx1"/>
                </a:solidFill>
                <a:latin typeface="Arial" panose="020B0604020202020204" pitchFamily="34" charset="0"/>
                <a:ea typeface="宋体" panose="02010600030101010101" pitchFamily="2" charset="-122"/>
                <a:cs typeface="+mn-cs"/>
              </a:rPr>
              <a:t>‹#›</a:t>
            </a:fld>
            <a:endParaRPr lang="zh-CN" altLang="en-US" sz="1200" strike="noStrike" noProof="1">
              <a:solidFill>
                <a:schemeClr val="tx1"/>
              </a:solidFill>
              <a:latin typeface="Arial" panose="020B0604020202020204" pitchFamily="34" charset="0"/>
            </a:endParaRPr>
          </a:p>
        </p:txBody>
      </p:sp>
    </p:spTree>
    <p:extLst>
      <p:ext uri="{BB962C8B-B14F-4D97-AF65-F5344CB8AC3E}">
        <p14:creationId xmlns:p14="http://schemas.microsoft.com/office/powerpoint/2010/main" val="370216438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幻灯片图像占位符 1"/>
          <p:cNvSpPr>
            <a:spLocks noGrp="1" noRot="1" noChangeAspect="1" noTextEdit="1"/>
          </p:cNvSpPr>
          <p:nvPr>
            <p:ph type="sldImg"/>
          </p:nvPr>
        </p:nvSpPr>
        <p:spPr/>
      </p:sp>
      <p:sp>
        <p:nvSpPr>
          <p:cNvPr id="8194" name="备注占位符 2"/>
          <p:cNvSpPr>
            <a:spLocks noGrp="1"/>
          </p:cNvSpPr>
          <p:nvPr>
            <p:ph type="body"/>
          </p:nvPr>
        </p:nvSpPr>
        <p:spPr/>
        <p:txBody>
          <a:bodyPr wrap="square" lIns="91440" tIns="45720" rIns="91440" bIns="45720" anchor="t"/>
          <a:lstStyle/>
          <a:p>
            <a:pPr lvl="0" eaLnBrk="1" hangingPunct="1"/>
            <a:endParaRPr lang="zh-CN" altLang="en-US" dirty="0">
              <a:ea typeface="宋体" panose="02010600030101010101" pitchFamily="2" charset="-122"/>
            </a:endParaRPr>
          </a:p>
        </p:txBody>
      </p:sp>
      <p:sp>
        <p:nvSpPr>
          <p:cNvPr id="819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spcBef>
                <a:spcPct val="0"/>
              </a:spcBef>
            </a:pPr>
            <a:fld id="{9A0DB2DC-4C9A-4742-B13C-FB6460FD3503}" type="slidenum">
              <a:rPr lang="zh-CN" altLang="en-US" sz="1200" dirty="0">
                <a:solidFill>
                  <a:schemeClr val="tx1"/>
                </a:solidFill>
                <a:latin typeface="Arial" panose="020B0604020202020204" pitchFamily="34" charset="0"/>
              </a:rPr>
              <a:t>2</a:t>
            </a:fld>
            <a:endParaRPr lang="zh-CN"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36767436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4"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4143" r:id="rId3" imgW="13004800" imgH="4572000" progId="Photoshop.Image.7">
                  <p:embed/>
                </p:oleObj>
              </mc:Choice>
              <mc:Fallback>
                <p:oleObj r:id="rId3" imgW="13004800" imgH="4572000" progId="Photoshop.Image.7">
                  <p:embed/>
                  <p:pic>
                    <p:nvPicPr>
                      <p:cNvPr id="0" name="图片 2"/>
                      <p:cNvPicPr/>
                      <p:nvPr/>
                    </p:nvPicPr>
                    <p:blipFill>
                      <a:blip r:embed="rId4"/>
                      <a:stretch>
                        <a:fillRect/>
                      </a:stretch>
                    </p:blipFill>
                    <p:spPr>
                      <a:xfrm>
                        <a:off x="0" y="0"/>
                        <a:ext cx="9144000" cy="2622550"/>
                      </a:xfrm>
                      <a:prstGeom prst="rect">
                        <a:avLst/>
                      </a:prstGeom>
                      <a:noFill/>
                      <a:ln w="38100">
                        <a:noFill/>
                        <a:miter/>
                      </a:ln>
                    </p:spPr>
                  </p:pic>
                </p:oleObj>
              </mc:Fallback>
            </mc:AlternateContent>
          </a:graphicData>
        </a:graphic>
      </p:graphicFrame>
      <p:sp>
        <p:nvSpPr>
          <p:cNvPr id="16"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3077" name="Group 16"/>
          <p:cNvGrpSpPr/>
          <p:nvPr/>
        </p:nvGrpSpPr>
        <p:grpSpPr>
          <a:xfrm>
            <a:off x="4114800" y="5838825"/>
            <a:ext cx="1079500" cy="633413"/>
            <a:chOff x="2680" y="3678"/>
            <a:chExt cx="680" cy="399"/>
          </a:xfrm>
        </p:grpSpPr>
        <p:sp>
          <p:nvSpPr>
            <p:cNvPr id="18" name="Text Box 14"/>
            <p:cNvSpPr txBox="1">
              <a:spLocks noChangeArrowheads="1"/>
            </p:cNvSpPr>
            <p:nvPr/>
          </p:nvSpPr>
          <p:spPr bwMode="gray">
            <a:xfrm>
              <a:off x="2680" y="3789"/>
              <a:ext cx="680" cy="2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LOGO</a:t>
              </a:r>
            </a:p>
          </p:txBody>
        </p:sp>
        <p:sp>
          <p:nvSpPr>
            <p:cNvPr id="19" name="AutoShape 15"/>
            <p:cNvSpPr>
              <a:spLocks noChangeArrowheads="1"/>
            </p:cNvSpPr>
            <p:nvPr/>
          </p:nvSpPr>
          <p:spPr bwMode="gray">
            <a:xfrm rot="5400000">
              <a:off x="2928" y="3493"/>
              <a:ext cx="172" cy="542"/>
            </a:xfrm>
            <a:prstGeom prst="moon">
              <a:avLst>
                <a:gd name="adj" fmla="val 21208"/>
              </a:avLst>
            </a:prstGeom>
            <a:solidFill>
              <a:schemeClr val="accent2"/>
            </a:soli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20" name="AutoShape 11"/>
          <p:cNvSpPr>
            <a:spLocks noChangeArrowheads="1"/>
          </p:cNvSpPr>
          <p:nvPr/>
        </p:nvSpPr>
        <p:spPr bwMode="gray">
          <a:xfrm>
            <a:off x="685800" y="3429000"/>
            <a:ext cx="7620000" cy="685800"/>
          </a:xfrm>
          <a:prstGeom prst="roundRect">
            <a:avLst>
              <a:gd name="adj" fmla="val 38449"/>
            </a:avLst>
          </a:prstGeom>
          <a:solidFill>
            <a:schemeClr val="bg1"/>
          </a:solidFill>
          <a:ln w="38100" algn="ctr">
            <a:no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pPr fontAlgn="base"/>
            <a:r>
              <a:rPr lang="en-US" altLang="zh-CN" strike="noStrike" noProof="1"/>
              <a:t>Click to edit Master subtitle style</a:t>
            </a:r>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pPr fontAlgn="base"/>
            <a:r>
              <a:rPr lang="en-US" altLang="zh-CN" strike="noStrike" noProof="1"/>
              <a:t>Click to edit Master title style</a:t>
            </a:r>
          </a:p>
        </p:txBody>
      </p:sp>
      <p:sp>
        <p:nvSpPr>
          <p:cNvPr id="21" name="Rectangle 4"/>
          <p:cNvSpPr>
            <a:spLocks noGrp="1" noChangeArrowheads="1"/>
          </p:cNvSpPr>
          <p:nvPr>
            <p:ph type="dt" sz="half" idx="2"/>
          </p:nvPr>
        </p:nvSpPr>
        <p:spPr bwMode="auto">
          <a:xfrm>
            <a:off x="457200" y="6477000"/>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indent="0" defTabSz="914400" rtl="0" fontAlgn="base" latinLnBrk="0">
              <a:lnSpc>
                <a:spcPct val="100000"/>
              </a:lnSpc>
              <a:spcAft>
                <a:spcPct val="0"/>
              </a:spcAft>
              <a:buClrTx/>
              <a:buSzTx/>
              <a:buFontTx/>
              <a:buNone/>
              <a:defRPr/>
            </a:pPr>
            <a:endParaRPr kumimoji="0" lang="en-US" altLang="zh-CN" b="0" i="0" kern="1200" cap="none" spc="0" normalizeH="0" baseline="0" noProof="0">
              <a:latin typeface="+mn-lt"/>
              <a:ea typeface="宋体" panose="02010600030101010101" pitchFamily="2" charset="-122"/>
              <a:cs typeface="+mn-cs"/>
            </a:endParaRPr>
          </a:p>
        </p:txBody>
      </p:sp>
      <p:sp>
        <p:nvSpPr>
          <p:cNvPr id="22" name="Rectangle 5"/>
          <p:cNvSpPr>
            <a:spLocks noGrp="1" noChangeArrowheads="1"/>
          </p:cNvSpPr>
          <p:nvPr>
            <p:ph type="ftr" sz="quarter" idx="3"/>
          </p:nvPr>
        </p:nvSpPr>
        <p:spPr bwMode="auto">
          <a:xfrm>
            <a:off x="3124200" y="6477000"/>
            <a:ext cx="2895600" cy="244475"/>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indent="0" algn="ctr" defTabSz="914400" rtl="0" fontAlgn="base" latinLnBrk="0">
              <a:lnSpc>
                <a:spcPct val="100000"/>
              </a:lnSpc>
              <a:spcAft>
                <a:spcPct val="0"/>
              </a:spcAft>
              <a:buClrTx/>
              <a:buSzTx/>
              <a:buFontTx/>
              <a:buNone/>
              <a:defRPr/>
            </a:pPr>
            <a:endParaRPr kumimoji="0" lang="en-US" altLang="zh-CN" b="0" i="0" kern="1200" cap="none" spc="0" normalizeH="0" baseline="0" noProof="0">
              <a:latin typeface="+mn-lt"/>
              <a:ea typeface="宋体" panose="02010600030101010101" pitchFamily="2" charset="-122"/>
              <a:cs typeface="+mn-cs"/>
            </a:endParaRPr>
          </a:p>
        </p:txBody>
      </p:sp>
      <p:sp>
        <p:nvSpPr>
          <p:cNvPr id="23" name="Rectangle 6"/>
          <p:cNvSpPr>
            <a:spLocks noGrp="1" noChangeArrowheads="1"/>
          </p:cNvSpPr>
          <p:nvPr>
            <p:ph type="sldNum" sz="quarter" idx="4"/>
          </p:nvPr>
        </p:nvSpPr>
        <p:spPr bwMode="auto">
          <a:xfrm>
            <a:off x="6553200" y="6477000"/>
            <a:ext cx="2133600" cy="244475"/>
          </a:xfrm>
          <a:prstGeom prst="rect">
            <a:avLst/>
          </a:prstGeom>
          <a:noFill/>
          <a:ln w="9525">
            <a:noFill/>
            <a:miter lim="800000"/>
          </a:ln>
          <a:effectLst/>
        </p:spPr>
        <p:txBody>
          <a:bodyPr vert="horz" wrap="square" lIns="91440" tIns="45720" rIns="91440" bIns="45720" numCol="1" anchor="t" anchorCtr="0" compatLnSpc="1"/>
          <a:lstStyle/>
          <a:p>
            <a:pPr eaLnBrk="1" fontAlgn="base" hangingPunct="1">
              <a:spcBef>
                <a:spcPct val="0"/>
              </a:spcBef>
            </a:pPr>
            <a:fld id="{9A0DB2DC-4C9A-4742-B13C-FB6460FD3503}" type="slidenum">
              <a:rPr lang="zh-CN" altLang="en-US" sz="1200" noProof="1" dirty="0">
                <a:latin typeface="Arial" panose="020B0604020202020204" pitchFamily="34" charset="0"/>
                <a:ea typeface="宋体" panose="02010600030101010101" pitchFamily="2" charset="-122"/>
                <a:cs typeface="+mn-cs"/>
              </a:rPr>
              <a:t>‹#›</a:t>
            </a:fld>
            <a:endParaRPr lang="zh-CN" altLang="en-US" sz="1200" noProof="1">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374650"/>
            <a:ext cx="6019800" cy="5949950"/>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124" r:id="rId14" imgW="13004800" imgH="4572000" progId="Photoshop.Image.7">
                  <p:embed/>
                </p:oleObj>
              </mc:Choice>
              <mc:Fallback>
                <p:oleObj r:id="rId14" imgW="13004800" imgH="4572000" progId="Photoshop.Image.7">
                  <p:embed/>
                  <p:pic>
                    <p:nvPicPr>
                      <p:cNvPr id="0" name="图片 3075"/>
                      <p:cNvPicPr/>
                      <p:nvPr/>
                    </p:nvPicPr>
                    <p:blipFill>
                      <a:blip r:embed="rId15"/>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nchor="t"/>
          <a:lstStyle/>
          <a:p>
            <a:pPr lvl="0" indent="-342900"/>
            <a:r>
              <a:rPr lang="en-US" altLang="zh-CN" dirty="0"/>
              <a:t>Click to edit Master text styles</a:t>
            </a:r>
          </a:p>
          <a:p>
            <a:pPr lvl="1" indent="-285750"/>
            <a:r>
              <a:rPr lang="en-US" altLang="zh-CN" dirty="0"/>
              <a:t>Second level</a:t>
            </a:r>
          </a:p>
          <a:p>
            <a:pPr lvl="2" indent="-228600"/>
            <a:r>
              <a:rPr lang="en-US" altLang="zh-CN" dirty="0"/>
              <a:t>Third level</a:t>
            </a:r>
          </a:p>
          <a:p>
            <a:pPr lvl="3" indent="-228600"/>
            <a:r>
              <a:rPr lang="en-US" altLang="zh-CN" dirty="0"/>
              <a:t>Fourth level</a:t>
            </a:r>
          </a:p>
          <a:p>
            <a:pPr lvl="4" indent="-228600"/>
            <a:r>
              <a:rPr lang="en-US" altLang="zh-CN" dirty="0"/>
              <a:t>Fifth level</a:t>
            </a: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fontAlgn="base" hangingPunct="1">
              <a:spcBef>
                <a:spcPct val="0"/>
              </a:spcBef>
            </a:pPr>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lstStyle/>
          <a:p>
            <a:pPr lvl="0"/>
            <a:r>
              <a:rPr lang="en-US" altLang="zh-CN" dirty="0"/>
              <a:t>Click to edit Master title style</a:t>
            </a:r>
          </a:p>
        </p:txBody>
      </p:sp>
      <p:pic>
        <p:nvPicPr>
          <p:cNvPr id="5" name="图片 4"/>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002973" y="70000"/>
            <a:ext cx="1142699" cy="114269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6.vml"/><Relationship Id="rId4" Type="http://schemas.openxmlformats.org/officeDocument/2006/relationships/image" Target="../media/image8.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bwMode="auto">
          <a:xfrm>
            <a:off x="762000" y="3429000"/>
            <a:ext cx="7620000" cy="682625"/>
          </a:xfrm>
        </p:spPr>
        <p:txBody>
          <a:bodyPr/>
          <a:lstStyle/>
          <a:p>
            <a:pPr marL="342900" indent="-342900" eaLnBrk="1" hangingPunct="1">
              <a:spcAft>
                <a:spcPct val="20000"/>
              </a:spcAft>
            </a:pPr>
            <a:r>
              <a:rPr lang="zh-CN" altLang="zh-CN" sz="2800" dirty="0" smtClean="0">
                <a:ea typeface="宋体" pitchFamily="2" charset="-122"/>
              </a:rPr>
              <a:t>第</a:t>
            </a:r>
            <a:r>
              <a:rPr lang="zh-CN" altLang="en-US" sz="2800" dirty="0" smtClean="0">
                <a:ea typeface="宋体" pitchFamily="2" charset="-122"/>
              </a:rPr>
              <a:t>十一</a:t>
            </a:r>
            <a:r>
              <a:rPr lang="zh-CN" altLang="zh-CN" sz="2800" dirty="0" smtClean="0">
                <a:ea typeface="宋体" pitchFamily="2" charset="-122"/>
              </a:rPr>
              <a:t>章</a:t>
            </a:r>
            <a:r>
              <a:rPr lang="en-US" altLang="zh-CN" sz="2800" dirty="0" smtClean="0">
                <a:ea typeface="宋体" pitchFamily="2" charset="-122"/>
              </a:rPr>
              <a:t> </a:t>
            </a:r>
            <a:r>
              <a:rPr lang="zh-CN" altLang="en-US" sz="2800" dirty="0" smtClean="0">
                <a:ea typeface="宋体" pitchFamily="2" charset="-122"/>
              </a:rPr>
              <a:t>信息系统</a:t>
            </a:r>
            <a:r>
              <a:rPr lang="zh-CN" altLang="en-US" sz="2800" dirty="0">
                <a:ea typeface="宋体" pitchFamily="2" charset="-122"/>
              </a:rPr>
              <a:t>安全审计</a:t>
            </a:r>
            <a:endParaRPr lang="en-US" altLang="zh-CN" sz="2800" b="0" dirty="0" smtClean="0">
              <a:solidFill>
                <a:schemeClr val="tx2"/>
              </a:solidFill>
              <a:ea typeface="宋体" pitchFamily="2" charset="-122"/>
            </a:endParaRPr>
          </a:p>
        </p:txBody>
      </p:sp>
      <p:sp>
        <p:nvSpPr>
          <p:cNvPr id="3075" name="Rectangle 3"/>
          <p:cNvSpPr>
            <a:spLocks noGrp="1" noChangeArrowheads="1"/>
          </p:cNvSpPr>
          <p:nvPr>
            <p:ph type="subTitle" idx="1"/>
          </p:nvPr>
        </p:nvSpPr>
        <p:spPr bwMode="auto">
          <a:xfrm>
            <a:off x="920750" y="2743200"/>
            <a:ext cx="7304088" cy="574675"/>
          </a:xfrm>
        </p:spPr>
        <p:txBody>
          <a:bodyPr/>
          <a:lstStyle/>
          <a:p>
            <a:pPr eaLnBrk="1" hangingPunct="1">
              <a:lnSpc>
                <a:spcPct val="90000"/>
              </a:lnSpc>
            </a:pPr>
            <a:r>
              <a:rPr lang="zh-CN" altLang="en-US" sz="3600" smtClean="0">
                <a:latin typeface="黑体" pitchFamily="49" charset="-122"/>
                <a:ea typeface="黑体" pitchFamily="49" charset="-122"/>
              </a:rPr>
              <a:t>信息安全法规与安全管理</a:t>
            </a:r>
            <a:endParaRPr lang="en-US" altLang="zh-CN" sz="3600" smtClean="0">
              <a:latin typeface="黑体" pitchFamily="49" charset="-122"/>
              <a:ea typeface="黑体" pitchFamily="49" charset="-122"/>
            </a:endParaRPr>
          </a:p>
        </p:txBody>
      </p:sp>
      <p:sp>
        <p:nvSpPr>
          <p:cNvPr id="3076" name="文本框 1"/>
          <p:cNvSpPr txBox="1">
            <a:spLocks noChangeArrowheads="1"/>
          </p:cNvSpPr>
          <p:nvPr/>
        </p:nvSpPr>
        <p:spPr bwMode="auto">
          <a:xfrm>
            <a:off x="1609725" y="4648200"/>
            <a:ext cx="5924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itchFamily="18" charset="0"/>
                <a:ea typeface="宋体" pitchFamily="2" charset="-122"/>
              </a:defRPr>
            </a:lvl1pPr>
            <a:lvl2pPr marL="742950" indent="-285750">
              <a:defRPr sz="2600">
                <a:solidFill>
                  <a:srgbClr val="000000"/>
                </a:solidFill>
                <a:latin typeface="Times New Roman" pitchFamily="18" charset="0"/>
                <a:ea typeface="宋体" pitchFamily="2" charset="-122"/>
              </a:defRPr>
            </a:lvl2pPr>
            <a:lvl3pPr marL="1143000" indent="-228600">
              <a:defRPr sz="2600">
                <a:solidFill>
                  <a:srgbClr val="000000"/>
                </a:solidFill>
                <a:latin typeface="Times New Roman" pitchFamily="18" charset="0"/>
                <a:ea typeface="宋体" pitchFamily="2" charset="-122"/>
              </a:defRPr>
            </a:lvl3pPr>
            <a:lvl4pPr marL="1600200" indent="-228600">
              <a:defRPr sz="2600">
                <a:solidFill>
                  <a:srgbClr val="000000"/>
                </a:solidFill>
                <a:latin typeface="Times New Roman" pitchFamily="18" charset="0"/>
                <a:ea typeface="宋体" pitchFamily="2" charset="-122"/>
              </a:defRPr>
            </a:lvl4pPr>
            <a:lvl5pPr marL="2057400" indent="-228600">
              <a:defRPr sz="2600">
                <a:solidFill>
                  <a:srgbClr val="000000"/>
                </a:solidFill>
                <a:latin typeface="Times New Roman" pitchFamily="18" charset="0"/>
                <a:ea typeface="宋体" pitchFamily="2" charset="-122"/>
              </a:defRPr>
            </a:lvl5pPr>
            <a:lvl6pPr marL="2514600" indent="-228600" eaLnBrk="0" fontAlgn="base" hangingPunct="0">
              <a:spcBef>
                <a:spcPct val="0"/>
              </a:spcBef>
              <a:spcAft>
                <a:spcPct val="0"/>
              </a:spcAft>
              <a:defRPr sz="2600">
                <a:solidFill>
                  <a:srgbClr val="000000"/>
                </a:solidFill>
                <a:latin typeface="Times New Roman" pitchFamily="18" charset="0"/>
                <a:ea typeface="宋体" pitchFamily="2" charset="-122"/>
              </a:defRPr>
            </a:lvl6pPr>
            <a:lvl7pPr marL="2971800" indent="-228600" eaLnBrk="0" fontAlgn="base" hangingPunct="0">
              <a:spcBef>
                <a:spcPct val="0"/>
              </a:spcBef>
              <a:spcAft>
                <a:spcPct val="0"/>
              </a:spcAft>
              <a:defRPr sz="2600">
                <a:solidFill>
                  <a:srgbClr val="000000"/>
                </a:solidFill>
                <a:latin typeface="Times New Roman" pitchFamily="18" charset="0"/>
                <a:ea typeface="宋体" pitchFamily="2" charset="-122"/>
              </a:defRPr>
            </a:lvl7pPr>
            <a:lvl8pPr marL="3429000" indent="-228600" eaLnBrk="0" fontAlgn="base" hangingPunct="0">
              <a:spcBef>
                <a:spcPct val="0"/>
              </a:spcBef>
              <a:spcAft>
                <a:spcPct val="0"/>
              </a:spcAft>
              <a:defRPr sz="2600">
                <a:solidFill>
                  <a:srgbClr val="000000"/>
                </a:solidFill>
                <a:latin typeface="Times New Roman" pitchFamily="18" charset="0"/>
                <a:ea typeface="宋体" pitchFamily="2" charset="-122"/>
              </a:defRPr>
            </a:lvl8pPr>
            <a:lvl9pPr marL="3886200" indent="-228600" eaLnBrk="0" fontAlgn="base" hangingPunct="0">
              <a:spcBef>
                <a:spcPct val="0"/>
              </a:spcBef>
              <a:spcAft>
                <a:spcPct val="0"/>
              </a:spcAft>
              <a:defRPr sz="2600">
                <a:solidFill>
                  <a:srgbClr val="000000"/>
                </a:solidFill>
                <a:latin typeface="Times New Roman" pitchFamily="18" charset="0"/>
                <a:ea typeface="宋体" pitchFamily="2" charset="-122"/>
              </a:defRPr>
            </a:lvl9pPr>
          </a:lstStyle>
          <a:p>
            <a:pPr algn="ctr"/>
            <a:r>
              <a:rPr lang="zh-CN" altLang="en-US" sz="2800">
                <a:latin typeface="华文楷体" pitchFamily="2" charset="-122"/>
                <a:ea typeface="华文楷体" pitchFamily="2" charset="-122"/>
              </a:rPr>
              <a:t>授课老师：李妍</a:t>
            </a:r>
            <a:endParaRPr lang="en-US" altLang="zh-CN" sz="2800">
              <a:latin typeface="华文楷体" pitchFamily="2" charset="-122"/>
              <a:ea typeface="华文楷体" pitchFamily="2" charset="-122"/>
            </a:endParaRPr>
          </a:p>
        </p:txBody>
      </p:sp>
      <p:pic>
        <p:nvPicPr>
          <p:cNvPr id="3077" name="图片 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7150" y="5334000"/>
            <a:ext cx="140970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1253851"/>
      </p:ext>
    </p:ext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p:cNvSpPr>
          <p:nvPr>
            <p:ph type="title"/>
          </p:nvPr>
        </p:nvSpPr>
        <p:spPr/>
        <p:txBody>
          <a:bodyPr vert="horz" wrap="square" lIns="91440" tIns="45720" rIns="91440" bIns="45720" anchor="ctr"/>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7170" name="Group 3"/>
          <p:cNvGrpSpPr/>
          <p:nvPr/>
        </p:nvGrpSpPr>
        <p:grpSpPr>
          <a:xfrm>
            <a:off x="1447887" y="1134835"/>
            <a:ext cx="761987" cy="665163"/>
            <a:chOff x="1110" y="2656"/>
            <a:chExt cx="1549" cy="1351"/>
          </a:xfrm>
        </p:grpSpPr>
        <p:sp>
          <p:nvSpPr>
            <p:cNvPr id="717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717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itchFamily="2" charset="-122"/>
                <a:ea typeface="华文楷体" pitchFamily="2" charset="-122"/>
                <a:cs typeface="+mn-cs"/>
              </a:endParaRPr>
            </a:p>
          </p:txBody>
        </p:sp>
      </p:grpSp>
      <p:grpSp>
        <p:nvGrpSpPr>
          <p:cNvPr id="7174" name="Group 7"/>
          <p:cNvGrpSpPr/>
          <p:nvPr/>
        </p:nvGrpSpPr>
        <p:grpSpPr>
          <a:xfrm>
            <a:off x="1447887" y="1828850"/>
            <a:ext cx="761987" cy="665163"/>
            <a:chOff x="3174" y="2656"/>
            <a:chExt cx="1549" cy="1351"/>
          </a:xfrm>
        </p:grpSpPr>
        <p:sp>
          <p:nvSpPr>
            <p:cNvPr id="7175"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7176"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itchFamily="2" charset="-122"/>
                <a:ea typeface="华文楷体" pitchFamily="2" charset="-122"/>
                <a:cs typeface="+mn-cs"/>
              </a:endParaRPr>
            </a:p>
          </p:txBody>
        </p:sp>
      </p:grpSp>
      <p:sp>
        <p:nvSpPr>
          <p:cNvPr id="7178" name="Line 11"/>
          <p:cNvSpPr/>
          <p:nvPr/>
        </p:nvSpPr>
        <p:spPr>
          <a:xfrm>
            <a:off x="2057476" y="1749286"/>
            <a:ext cx="4800517" cy="0"/>
          </a:xfrm>
          <a:prstGeom prst="line">
            <a:avLst/>
          </a:prstGeom>
          <a:ln w="25400" cap="flat" cmpd="sng">
            <a:solidFill>
              <a:srgbClr val="C0C0C0"/>
            </a:solidFill>
            <a:prstDash val="sysDot"/>
            <a:round/>
            <a:headEnd type="none" w="med" len="med"/>
            <a:tailEnd type="oval" w="med" len="med"/>
          </a:ln>
        </p:spPr>
      </p:sp>
      <p:sp>
        <p:nvSpPr>
          <p:cNvPr id="7179" name="Text Box 12"/>
          <p:cNvSpPr txBox="1"/>
          <p:nvPr/>
        </p:nvSpPr>
        <p:spPr>
          <a:xfrm>
            <a:off x="2250571" y="1191345"/>
            <a:ext cx="4800524" cy="518160"/>
          </a:xfrm>
          <a:prstGeom prst="rect">
            <a:avLst/>
          </a:prstGeom>
          <a:noFill/>
          <a:ln w="9525">
            <a:noFill/>
          </a:ln>
        </p:spPr>
        <p:txBody>
          <a:bodyPr wrap="square" anchor="t">
            <a:spAutoFit/>
          </a:bodyPr>
          <a:lstStyle/>
          <a:p>
            <a:pPr lvl="0" indent="0" eaLnBrk="0" hangingPunct="0">
              <a:spcBef>
                <a:spcPct val="0"/>
              </a:spcBef>
            </a:pPr>
            <a:r>
              <a:rPr lang="zh-CN" sz="2800" b="1" dirty="0">
                <a:solidFill>
                  <a:schemeClr val="tx1"/>
                </a:solidFill>
                <a:latin typeface="华文楷体" pitchFamily="2" charset="-122"/>
                <a:ea typeface="华文楷体" pitchFamily="2" charset="-122"/>
              </a:rPr>
              <a:t>信息系统安全审计概述</a:t>
            </a:r>
          </a:p>
        </p:txBody>
      </p:sp>
      <p:sp>
        <p:nvSpPr>
          <p:cNvPr id="7180" name="Text Box 13"/>
          <p:cNvSpPr txBox="1"/>
          <p:nvPr/>
        </p:nvSpPr>
        <p:spPr>
          <a:xfrm>
            <a:off x="1644737" y="1233260"/>
            <a:ext cx="354007" cy="457200"/>
          </a:xfrm>
          <a:prstGeom prst="rect">
            <a:avLst/>
          </a:prstGeom>
          <a:noFill/>
          <a:ln w="9525">
            <a:noFill/>
          </a:ln>
        </p:spPr>
        <p:txBody>
          <a:bodyPr wrap="square" anchor="t">
            <a:spAutoFit/>
          </a:bodyPr>
          <a:lstStyle/>
          <a:p>
            <a:pPr lvl="0" indent="0" algn="ctr" eaLnBrk="0" hangingPunct="0">
              <a:spcBef>
                <a:spcPct val="0"/>
              </a:spcBef>
            </a:pPr>
            <a:r>
              <a:rPr lang="en-US" altLang="zh-CN" sz="2400" b="1" dirty="0">
                <a:solidFill>
                  <a:schemeClr val="bg1"/>
                </a:solidFill>
                <a:latin typeface="华文楷体" pitchFamily="2" charset="-122"/>
                <a:ea typeface="华文楷体" pitchFamily="2" charset="-122"/>
              </a:rPr>
              <a:t>1</a:t>
            </a:r>
          </a:p>
        </p:txBody>
      </p:sp>
      <p:sp>
        <p:nvSpPr>
          <p:cNvPr id="7181" name="Line 14"/>
          <p:cNvSpPr/>
          <p:nvPr/>
        </p:nvSpPr>
        <p:spPr>
          <a:xfrm>
            <a:off x="2057487" y="2438450"/>
            <a:ext cx="4800517" cy="0"/>
          </a:xfrm>
          <a:prstGeom prst="line">
            <a:avLst/>
          </a:prstGeom>
          <a:ln w="25400" cap="flat" cmpd="sng">
            <a:solidFill>
              <a:srgbClr val="C0C0C0"/>
            </a:solidFill>
            <a:prstDash val="sysDot"/>
            <a:round/>
            <a:headEnd type="none" w="med" len="med"/>
            <a:tailEnd type="oval" w="med" len="med"/>
          </a:ln>
        </p:spPr>
      </p:sp>
      <p:sp>
        <p:nvSpPr>
          <p:cNvPr id="7182" name="Text Box 16"/>
          <p:cNvSpPr txBox="1"/>
          <p:nvPr/>
        </p:nvSpPr>
        <p:spPr>
          <a:xfrm>
            <a:off x="1644737" y="1927275"/>
            <a:ext cx="354007" cy="457200"/>
          </a:xfrm>
          <a:prstGeom prst="rect">
            <a:avLst/>
          </a:prstGeom>
          <a:noFill/>
          <a:ln w="9525">
            <a:noFill/>
          </a:ln>
        </p:spPr>
        <p:txBody>
          <a:bodyPr wrap="square" anchor="t">
            <a:spAutoFit/>
          </a:bodyPr>
          <a:lstStyle/>
          <a:p>
            <a:pPr lvl="0" indent="0" algn="ctr" eaLnBrk="0" hangingPunct="0">
              <a:spcBef>
                <a:spcPct val="0"/>
              </a:spcBef>
            </a:pPr>
            <a:r>
              <a:rPr lang="en-US" altLang="zh-CN" sz="2400" b="1" dirty="0">
                <a:solidFill>
                  <a:schemeClr val="bg1"/>
                </a:solidFill>
                <a:latin typeface="华文楷体" pitchFamily="2" charset="-122"/>
                <a:ea typeface="华文楷体" pitchFamily="2" charset="-122"/>
              </a:rPr>
              <a:t>2</a:t>
            </a:r>
          </a:p>
        </p:txBody>
      </p:sp>
      <p:sp>
        <p:nvSpPr>
          <p:cNvPr id="7183" name="Text Box 21"/>
          <p:cNvSpPr txBox="1"/>
          <p:nvPr/>
        </p:nvSpPr>
        <p:spPr>
          <a:xfrm>
            <a:off x="1644737" y="2613049"/>
            <a:ext cx="354007" cy="457200"/>
          </a:xfrm>
          <a:prstGeom prst="rect">
            <a:avLst/>
          </a:prstGeom>
          <a:noFill/>
          <a:ln w="9525">
            <a:noFill/>
          </a:ln>
        </p:spPr>
        <p:txBody>
          <a:bodyPr wrap="square" anchor="t">
            <a:spAutoFit/>
          </a:bodyPr>
          <a:lstStyle/>
          <a:p>
            <a:pPr lvl="0" indent="0" algn="ctr" eaLnBrk="0" hangingPunct="0">
              <a:spcBef>
                <a:spcPct val="0"/>
              </a:spcBef>
            </a:pPr>
            <a:r>
              <a:rPr lang="en-US" altLang="zh-CN" sz="2400" b="1" dirty="0">
                <a:solidFill>
                  <a:schemeClr val="bg1"/>
                </a:solidFill>
                <a:latin typeface="华文楷体" pitchFamily="2" charset="-122"/>
                <a:ea typeface="华文楷体" pitchFamily="2" charset="-122"/>
              </a:rPr>
              <a:t>3</a:t>
            </a:r>
          </a:p>
        </p:txBody>
      </p:sp>
      <p:sp>
        <p:nvSpPr>
          <p:cNvPr id="7186" name="Text Box 24"/>
          <p:cNvSpPr txBox="1"/>
          <p:nvPr/>
        </p:nvSpPr>
        <p:spPr>
          <a:xfrm>
            <a:off x="2286087" y="1828850"/>
            <a:ext cx="5029113" cy="518160"/>
          </a:xfrm>
          <a:prstGeom prst="rect">
            <a:avLst/>
          </a:prstGeom>
          <a:noFill/>
          <a:ln w="9525">
            <a:noFill/>
          </a:ln>
        </p:spPr>
        <p:txBody>
          <a:bodyPr wrap="square" anchor="t">
            <a:spAutoFit/>
          </a:bodyPr>
          <a:lstStyle/>
          <a:p>
            <a:pPr lvl="0" indent="0" eaLnBrk="0" hangingPunct="0">
              <a:spcBef>
                <a:spcPct val="0"/>
              </a:spcBef>
            </a:pPr>
            <a:r>
              <a:rPr lang="zh-CN" sz="2800" b="1" dirty="0">
                <a:solidFill>
                  <a:schemeClr val="tx1"/>
                </a:solidFill>
                <a:latin typeface="华文楷体" pitchFamily="2" charset="-122"/>
                <a:ea typeface="华文楷体" pitchFamily="2" charset="-122"/>
                <a:sym typeface="+mn-ea"/>
              </a:rPr>
              <a:t>安全审计系统的体系结构</a:t>
            </a:r>
            <a:endParaRPr lang="en-US" altLang="zh-CN" sz="2800" b="1" dirty="0">
              <a:solidFill>
                <a:schemeClr val="tx1"/>
              </a:solidFill>
              <a:latin typeface="华文楷体" pitchFamily="2" charset="-122"/>
              <a:ea typeface="华文楷体" pitchFamily="2" charset="-122"/>
            </a:endParaRPr>
          </a:p>
        </p:txBody>
      </p:sp>
      <p:grpSp>
        <p:nvGrpSpPr>
          <p:cNvPr id="7187" name="组合 25"/>
          <p:cNvGrpSpPr/>
          <p:nvPr/>
        </p:nvGrpSpPr>
        <p:grpSpPr>
          <a:xfrm>
            <a:off x="1447887" y="2514624"/>
            <a:ext cx="5410106" cy="665163"/>
            <a:chOff x="1828800" y="3559175"/>
            <a:chExt cx="5410200" cy="665163"/>
          </a:xfrm>
        </p:grpSpPr>
        <p:sp>
          <p:nvSpPr>
            <p:cNvPr id="7188" name="Text Box 15"/>
            <p:cNvSpPr txBox="1"/>
            <p:nvPr/>
          </p:nvSpPr>
          <p:spPr>
            <a:xfrm>
              <a:off x="2667000" y="3657600"/>
              <a:ext cx="4572000" cy="518160"/>
            </a:xfrm>
            <a:prstGeom prst="rect">
              <a:avLst/>
            </a:prstGeom>
            <a:noFill/>
            <a:ln w="9525">
              <a:noFill/>
            </a:ln>
          </p:spPr>
          <p:txBody>
            <a:bodyPr anchor="t">
              <a:spAutoFit/>
            </a:bodyPr>
            <a:lstStyle/>
            <a:p>
              <a:pPr lvl="0" indent="0" eaLnBrk="0" hangingPunct="0">
                <a:spcBef>
                  <a:spcPct val="0"/>
                </a:spcBef>
              </a:pPr>
              <a:r>
                <a:rPr lang="zh-CN" sz="2800" b="1" dirty="0">
                  <a:solidFill>
                    <a:schemeClr val="tx1"/>
                  </a:solidFill>
                  <a:latin typeface="华文楷体" pitchFamily="2" charset="-122"/>
                  <a:ea typeface="华文楷体" pitchFamily="2" charset="-122"/>
                </a:rPr>
                <a:t>安全审计的一般流程</a:t>
              </a:r>
            </a:p>
          </p:txBody>
        </p:sp>
        <p:grpSp>
          <p:nvGrpSpPr>
            <p:cNvPr id="7189" name="Group 17"/>
            <p:cNvGrpSpPr/>
            <p:nvPr/>
          </p:nvGrpSpPr>
          <p:grpSpPr>
            <a:xfrm>
              <a:off x="1828800" y="3559175"/>
              <a:ext cx="762000" cy="665163"/>
              <a:chOff x="1110" y="2656"/>
              <a:chExt cx="1549" cy="1351"/>
            </a:xfrm>
          </p:grpSpPr>
          <p:sp>
            <p:nvSpPr>
              <p:cNvPr id="7190"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7191"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itchFamily="2" charset="-122"/>
                    <a:ea typeface="华文楷体"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itchFamily="2" charset="-122"/>
                  <a:ea typeface="华文楷体" pitchFamily="2" charset="-122"/>
                  <a:cs typeface="+mn-cs"/>
                  <a:sym typeface="+mn-ea"/>
                </a:endParaRPr>
              </a:p>
            </p:txBody>
          </p:sp>
        </p:grpSp>
        <p:sp>
          <p:nvSpPr>
            <p:cNvPr id="7193" name="Line 25"/>
            <p:cNvSpPr/>
            <p:nvPr/>
          </p:nvSpPr>
          <p:spPr>
            <a:xfrm>
              <a:off x="2438400" y="4191000"/>
              <a:ext cx="4800600" cy="0"/>
            </a:xfrm>
            <a:prstGeom prst="line">
              <a:avLst/>
            </a:prstGeom>
            <a:ln w="25400" cap="flat" cmpd="sng">
              <a:solidFill>
                <a:srgbClr val="C0C0C0"/>
              </a:solidFill>
              <a:prstDash val="sysDot"/>
              <a:round/>
              <a:headEnd type="none" w="med" len="med"/>
              <a:tailEnd type="oval" w="med" len="med"/>
            </a:ln>
          </p:spPr>
        </p:sp>
      </p:grpSp>
      <p:grpSp>
        <p:nvGrpSpPr>
          <p:cNvPr id="4" name="Group 7"/>
          <p:cNvGrpSpPr/>
          <p:nvPr/>
        </p:nvGrpSpPr>
        <p:grpSpPr>
          <a:xfrm>
            <a:off x="1409787" y="3200406"/>
            <a:ext cx="761987" cy="665163"/>
            <a:chOff x="3174" y="2656"/>
            <a:chExt cx="1549" cy="1351"/>
          </a:xfrm>
        </p:grpSpPr>
        <p:sp>
          <p:nvSpPr>
            <p:cNvPr id="5"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6"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7"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altLang="zh-CN" b="1" noProof="0" dirty="0">
                  <a:ln>
                    <a:noFill/>
                  </a:ln>
                  <a:solidFill>
                    <a:schemeClr val="bg1"/>
                  </a:solidFill>
                  <a:effectLst/>
                  <a:uLnTx/>
                  <a:uFillTx/>
                  <a:latin typeface="华文楷体" pitchFamily="2" charset="-122"/>
                  <a:ea typeface="华文楷体" pitchFamily="2" charset="-122"/>
                  <a:cs typeface="+mn-cs"/>
                  <a:sym typeface="+mn-ea"/>
                </a:rPr>
                <a:t>4</a:t>
              </a:r>
              <a:endParaRPr kumimoji="0" lang="en-US" altLang="zh-CN" sz="2600" b="0" i="0" u="none" strike="noStrike" kern="1200" cap="none" spc="0" normalizeH="0" baseline="0" noProof="0">
                <a:ln>
                  <a:noFill/>
                </a:ln>
                <a:solidFill>
                  <a:srgbClr val="000000"/>
                </a:solidFill>
                <a:effectLst/>
                <a:uLnTx/>
                <a:uFillTx/>
                <a:latin typeface="华文楷体" pitchFamily="2" charset="-122"/>
                <a:ea typeface="华文楷体" pitchFamily="2" charset="-122"/>
                <a:cs typeface="+mn-cs"/>
              </a:endParaRPr>
            </a:p>
          </p:txBody>
        </p:sp>
      </p:grpSp>
      <p:sp>
        <p:nvSpPr>
          <p:cNvPr id="8" name="Text Box 24"/>
          <p:cNvSpPr txBox="1"/>
          <p:nvPr/>
        </p:nvSpPr>
        <p:spPr>
          <a:xfrm>
            <a:off x="2286060" y="3257556"/>
            <a:ext cx="5029113" cy="518160"/>
          </a:xfrm>
          <a:prstGeom prst="rect">
            <a:avLst/>
          </a:prstGeom>
          <a:noFill/>
          <a:ln w="9525">
            <a:noFill/>
          </a:ln>
        </p:spPr>
        <p:txBody>
          <a:bodyPr wrap="square" anchor="t">
            <a:spAutoFit/>
          </a:bodyPr>
          <a:lstStyle/>
          <a:p>
            <a:pPr lvl="0" indent="0" eaLnBrk="0" hangingPunct="0">
              <a:spcBef>
                <a:spcPct val="0"/>
              </a:spcBef>
            </a:pPr>
            <a:r>
              <a:rPr lang="zh-CN" sz="2800" b="1" dirty="0">
                <a:solidFill>
                  <a:schemeClr val="tx1"/>
                </a:solidFill>
                <a:latin typeface="华文楷体" pitchFamily="2" charset="-122"/>
                <a:ea typeface="华文楷体" pitchFamily="2" charset="-122"/>
                <a:sym typeface="+mn-ea"/>
              </a:rPr>
              <a:t>安全审计的数据源</a:t>
            </a:r>
            <a:endParaRPr lang="en-US" altLang="zh-CN" sz="2800" b="1" dirty="0">
              <a:solidFill>
                <a:schemeClr val="tx1"/>
              </a:solidFill>
              <a:latin typeface="华文楷体" pitchFamily="2" charset="-122"/>
              <a:ea typeface="华文楷体" pitchFamily="2" charset="-122"/>
            </a:endParaRPr>
          </a:p>
        </p:txBody>
      </p:sp>
      <p:sp>
        <p:nvSpPr>
          <p:cNvPr id="9" name="Line 14"/>
          <p:cNvSpPr/>
          <p:nvPr/>
        </p:nvSpPr>
        <p:spPr>
          <a:xfrm>
            <a:off x="1999067" y="3815086"/>
            <a:ext cx="4800517" cy="0"/>
          </a:xfrm>
          <a:prstGeom prst="line">
            <a:avLst/>
          </a:prstGeom>
          <a:ln w="25400" cap="flat" cmpd="sng">
            <a:solidFill>
              <a:srgbClr val="C0C0C0"/>
            </a:solidFill>
            <a:prstDash val="sysDot"/>
            <a:round/>
            <a:headEnd type="none" w="med" len="med"/>
            <a:tailEnd type="oval" w="med" len="med"/>
          </a:ln>
        </p:spPr>
      </p:sp>
      <p:grpSp>
        <p:nvGrpSpPr>
          <p:cNvPr id="33" name="Group 3"/>
          <p:cNvGrpSpPr/>
          <p:nvPr/>
        </p:nvGrpSpPr>
        <p:grpSpPr>
          <a:xfrm>
            <a:off x="1447800" y="3922359"/>
            <a:ext cx="762000" cy="665163"/>
            <a:chOff x="1110" y="2656"/>
            <a:chExt cx="1549" cy="1351"/>
          </a:xfrm>
        </p:grpSpPr>
        <p:sp>
          <p:nvSpPr>
            <p:cNvPr id="34"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35"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36"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itchFamily="2" charset="-122"/>
                <a:ea typeface="华文楷体" pitchFamily="2" charset="-122"/>
                <a:cs typeface="+mn-cs"/>
              </a:endParaRPr>
            </a:p>
          </p:txBody>
        </p:sp>
      </p:grpSp>
      <p:grpSp>
        <p:nvGrpSpPr>
          <p:cNvPr id="37" name="Group 7"/>
          <p:cNvGrpSpPr/>
          <p:nvPr/>
        </p:nvGrpSpPr>
        <p:grpSpPr>
          <a:xfrm>
            <a:off x="1447800" y="4592589"/>
            <a:ext cx="762000" cy="665163"/>
            <a:chOff x="3174" y="2656"/>
            <a:chExt cx="1549" cy="1351"/>
          </a:xfrm>
        </p:grpSpPr>
        <p:sp>
          <p:nvSpPr>
            <p:cNvPr id="38"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39"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40"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itchFamily="2" charset="-122"/>
                <a:ea typeface="华文楷体" pitchFamily="2" charset="-122"/>
                <a:cs typeface="+mn-cs"/>
              </a:endParaRPr>
            </a:p>
          </p:txBody>
        </p:sp>
      </p:grpSp>
      <p:sp>
        <p:nvSpPr>
          <p:cNvPr id="41" name="Line 11"/>
          <p:cNvSpPr/>
          <p:nvPr/>
        </p:nvSpPr>
        <p:spPr>
          <a:xfrm>
            <a:off x="2057400" y="4531959"/>
            <a:ext cx="4800600" cy="0"/>
          </a:xfrm>
          <a:prstGeom prst="line">
            <a:avLst/>
          </a:prstGeom>
          <a:ln w="25400" cap="flat" cmpd="sng">
            <a:solidFill>
              <a:srgbClr val="C0C0C0"/>
            </a:solidFill>
            <a:prstDash val="sysDot"/>
            <a:round/>
            <a:headEnd type="none" w="med" len="med"/>
            <a:tailEnd type="oval" w="med" len="med"/>
          </a:ln>
        </p:spPr>
      </p:sp>
      <p:sp>
        <p:nvSpPr>
          <p:cNvPr id="42" name="Text Box 12"/>
          <p:cNvSpPr txBox="1"/>
          <p:nvPr/>
        </p:nvSpPr>
        <p:spPr>
          <a:xfrm>
            <a:off x="2286000" y="3979509"/>
            <a:ext cx="4876722" cy="518160"/>
          </a:xfrm>
          <a:prstGeom prst="rect">
            <a:avLst/>
          </a:prstGeom>
          <a:noFill/>
          <a:ln w="9525">
            <a:noFill/>
          </a:ln>
        </p:spPr>
        <p:txBody>
          <a:bodyPr wrap="square" anchor="t">
            <a:spAutoFit/>
          </a:bodyPr>
          <a:lstStyle/>
          <a:p>
            <a:pPr lvl="0" indent="0" eaLnBrk="0" hangingPunct="0">
              <a:spcBef>
                <a:spcPct val="0"/>
              </a:spcBef>
            </a:pPr>
            <a:r>
              <a:rPr lang="zh-CN" sz="2800" b="1" dirty="0">
                <a:solidFill>
                  <a:schemeClr val="tx1"/>
                </a:solidFill>
                <a:latin typeface="华文楷体" pitchFamily="2" charset="-122"/>
                <a:ea typeface="华文楷体" pitchFamily="2" charset="-122"/>
              </a:rPr>
              <a:t>安全审计的分析方法</a:t>
            </a:r>
          </a:p>
        </p:txBody>
      </p:sp>
      <p:sp>
        <p:nvSpPr>
          <p:cNvPr id="43" name="Text Box 13"/>
          <p:cNvSpPr txBox="1"/>
          <p:nvPr/>
        </p:nvSpPr>
        <p:spPr>
          <a:xfrm>
            <a:off x="1657188" y="4020784"/>
            <a:ext cx="328936" cy="461665"/>
          </a:xfrm>
          <a:prstGeom prst="rect">
            <a:avLst/>
          </a:prstGeom>
          <a:noFill/>
          <a:ln w="9525">
            <a:noFill/>
          </a:ln>
        </p:spPr>
        <p:txBody>
          <a:bodyPr wrap="none" anchor="t">
            <a:spAutoFit/>
          </a:bodyPr>
          <a:lstStyle/>
          <a:p>
            <a:pPr lvl="0" indent="0" algn="ctr" eaLnBrk="0" hangingPunct="0">
              <a:spcBef>
                <a:spcPct val="0"/>
              </a:spcBef>
            </a:pPr>
            <a:r>
              <a:rPr lang="en-US" altLang="zh-CN" sz="2400" b="1" dirty="0">
                <a:solidFill>
                  <a:schemeClr val="bg1"/>
                </a:solidFill>
                <a:latin typeface="华文楷体" pitchFamily="2" charset="-122"/>
                <a:ea typeface="华文楷体" pitchFamily="2" charset="-122"/>
              </a:rPr>
              <a:t>5</a:t>
            </a:r>
          </a:p>
        </p:txBody>
      </p:sp>
      <p:sp>
        <p:nvSpPr>
          <p:cNvPr id="44" name="Line 14"/>
          <p:cNvSpPr/>
          <p:nvPr/>
        </p:nvSpPr>
        <p:spPr>
          <a:xfrm>
            <a:off x="2057400" y="5202189"/>
            <a:ext cx="4800600" cy="0"/>
          </a:xfrm>
          <a:prstGeom prst="line">
            <a:avLst/>
          </a:prstGeom>
          <a:ln w="25400" cap="flat" cmpd="sng">
            <a:solidFill>
              <a:srgbClr val="C0C0C0"/>
            </a:solidFill>
            <a:prstDash val="sysDot"/>
            <a:round/>
            <a:headEnd type="none" w="med" len="med"/>
            <a:tailEnd type="oval" w="med" len="med"/>
          </a:ln>
        </p:spPr>
      </p:sp>
      <p:sp>
        <p:nvSpPr>
          <p:cNvPr id="45" name="Text Box 16"/>
          <p:cNvSpPr txBox="1"/>
          <p:nvPr/>
        </p:nvSpPr>
        <p:spPr>
          <a:xfrm>
            <a:off x="1657188" y="4691014"/>
            <a:ext cx="328936" cy="461665"/>
          </a:xfrm>
          <a:prstGeom prst="rect">
            <a:avLst/>
          </a:prstGeom>
          <a:noFill/>
          <a:ln w="9525">
            <a:noFill/>
          </a:ln>
        </p:spPr>
        <p:txBody>
          <a:bodyPr wrap="none" anchor="t">
            <a:spAutoFit/>
          </a:bodyPr>
          <a:lstStyle/>
          <a:p>
            <a:pPr lvl="0" indent="0" algn="ctr" eaLnBrk="0" hangingPunct="0">
              <a:spcBef>
                <a:spcPct val="0"/>
              </a:spcBef>
            </a:pPr>
            <a:r>
              <a:rPr lang="en-US" altLang="zh-CN" sz="2400" b="1" dirty="0">
                <a:solidFill>
                  <a:schemeClr val="bg1"/>
                </a:solidFill>
                <a:latin typeface="华文楷体" pitchFamily="2" charset="-122"/>
                <a:ea typeface="华文楷体" pitchFamily="2" charset="-122"/>
              </a:rPr>
              <a:t>6</a:t>
            </a:r>
          </a:p>
        </p:txBody>
      </p:sp>
      <p:sp>
        <p:nvSpPr>
          <p:cNvPr id="46" name="Text Box 21"/>
          <p:cNvSpPr txBox="1"/>
          <p:nvPr/>
        </p:nvSpPr>
        <p:spPr>
          <a:xfrm>
            <a:off x="1657270" y="5376796"/>
            <a:ext cx="328936" cy="461665"/>
          </a:xfrm>
          <a:prstGeom prst="rect">
            <a:avLst/>
          </a:prstGeom>
          <a:noFill/>
          <a:ln w="9525">
            <a:noFill/>
          </a:ln>
        </p:spPr>
        <p:txBody>
          <a:bodyPr wrap="none" anchor="t">
            <a:spAutoFit/>
          </a:bodyPr>
          <a:lstStyle/>
          <a:p>
            <a:pPr lvl="0" indent="0" algn="ctr" eaLnBrk="0" hangingPunct="0">
              <a:spcBef>
                <a:spcPct val="0"/>
              </a:spcBef>
            </a:pPr>
            <a:r>
              <a:rPr lang="en-US" altLang="zh-CN" sz="2400" b="1" dirty="0">
                <a:solidFill>
                  <a:schemeClr val="bg1"/>
                </a:solidFill>
                <a:latin typeface="华文楷体" pitchFamily="2" charset="-122"/>
                <a:ea typeface="华文楷体" pitchFamily="2" charset="-122"/>
              </a:rPr>
              <a:t>3</a:t>
            </a:r>
          </a:p>
        </p:txBody>
      </p:sp>
      <p:sp>
        <p:nvSpPr>
          <p:cNvPr id="47" name="Text Box 24"/>
          <p:cNvSpPr txBox="1"/>
          <p:nvPr/>
        </p:nvSpPr>
        <p:spPr>
          <a:xfrm>
            <a:off x="2286000" y="4663394"/>
            <a:ext cx="5029200" cy="518160"/>
          </a:xfrm>
          <a:prstGeom prst="rect">
            <a:avLst/>
          </a:prstGeom>
          <a:noFill/>
          <a:ln w="9525">
            <a:noFill/>
          </a:ln>
        </p:spPr>
        <p:txBody>
          <a:bodyPr anchor="t">
            <a:spAutoFit/>
          </a:bodyPr>
          <a:lstStyle/>
          <a:p>
            <a:pPr lvl="0" indent="0" eaLnBrk="0" hangingPunct="0">
              <a:spcBef>
                <a:spcPct val="0"/>
              </a:spcBef>
            </a:pPr>
            <a:r>
              <a:rPr lang="zh-CN" sz="2800" b="1" dirty="0">
                <a:solidFill>
                  <a:schemeClr val="tx1"/>
                </a:solidFill>
                <a:latin typeface="华文楷体" pitchFamily="2" charset="-122"/>
                <a:ea typeface="华文楷体" pitchFamily="2" charset="-122"/>
                <a:sym typeface="+mn-ea"/>
              </a:rPr>
              <a:t>信息安全审计与标准</a:t>
            </a:r>
            <a:endParaRPr lang="en-US" altLang="zh-CN" sz="2800" b="1" dirty="0">
              <a:solidFill>
                <a:schemeClr val="tx1"/>
              </a:solidFill>
              <a:latin typeface="华文楷体" pitchFamily="2" charset="-122"/>
              <a:ea typeface="华文楷体" pitchFamily="2" charset="-122"/>
            </a:endParaRPr>
          </a:p>
        </p:txBody>
      </p:sp>
      <p:grpSp>
        <p:nvGrpSpPr>
          <p:cNvPr id="48" name="组合 25"/>
          <p:cNvGrpSpPr/>
          <p:nvPr/>
        </p:nvGrpSpPr>
        <p:grpSpPr>
          <a:xfrm>
            <a:off x="1447882" y="5278371"/>
            <a:ext cx="5410200" cy="665163"/>
            <a:chOff x="1828800" y="3559175"/>
            <a:chExt cx="5410200" cy="665163"/>
          </a:xfrm>
        </p:grpSpPr>
        <p:sp>
          <p:nvSpPr>
            <p:cNvPr id="49" name="Text Box 15"/>
            <p:cNvSpPr txBox="1"/>
            <p:nvPr/>
          </p:nvSpPr>
          <p:spPr>
            <a:xfrm>
              <a:off x="2667000" y="3657600"/>
              <a:ext cx="4572000" cy="518160"/>
            </a:xfrm>
            <a:prstGeom prst="rect">
              <a:avLst/>
            </a:prstGeom>
            <a:noFill/>
            <a:ln w="9525">
              <a:noFill/>
            </a:ln>
          </p:spPr>
          <p:txBody>
            <a:bodyPr anchor="t">
              <a:spAutoFit/>
            </a:bodyPr>
            <a:lstStyle/>
            <a:p>
              <a:pPr lvl="0" indent="0" eaLnBrk="0" hangingPunct="0">
                <a:spcBef>
                  <a:spcPct val="0"/>
                </a:spcBef>
              </a:pPr>
              <a:r>
                <a:rPr lang="zh-CN" sz="2800" b="1" dirty="0">
                  <a:solidFill>
                    <a:schemeClr val="tx1"/>
                  </a:solidFill>
                  <a:latin typeface="华文楷体" pitchFamily="2" charset="-122"/>
                  <a:ea typeface="华文楷体" pitchFamily="2" charset="-122"/>
                </a:rPr>
                <a:t>计算机取证</a:t>
              </a:r>
            </a:p>
          </p:txBody>
        </p:sp>
        <p:grpSp>
          <p:nvGrpSpPr>
            <p:cNvPr id="50" name="Group 17"/>
            <p:cNvGrpSpPr/>
            <p:nvPr/>
          </p:nvGrpSpPr>
          <p:grpSpPr>
            <a:xfrm>
              <a:off x="1828800" y="3559175"/>
              <a:ext cx="762000" cy="665163"/>
              <a:chOff x="1110" y="2656"/>
              <a:chExt cx="1549" cy="1351"/>
            </a:xfrm>
          </p:grpSpPr>
          <p:sp>
            <p:nvSpPr>
              <p:cNvPr id="52"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53"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lstStyle/>
              <a:p>
                <a:pPr lvl="0" indent="0" algn="ctr" eaLnBrk="0" hangingPunct="0"/>
                <a:endParaRPr lang="zh-CN" altLang="en-US" dirty="0">
                  <a:latin typeface="华文楷体" pitchFamily="2" charset="-122"/>
                  <a:ea typeface="华文楷体" pitchFamily="2" charset="-122"/>
                </a:endParaRPr>
              </a:p>
            </p:txBody>
          </p:sp>
          <p:sp>
            <p:nvSpPr>
              <p:cNvPr id="54"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itchFamily="2" charset="-122"/>
                    <a:ea typeface="华文楷体" pitchFamily="2" charset="-122"/>
                    <a:cs typeface="+mn-cs"/>
                    <a:sym typeface="+mn-ea"/>
                  </a:rPr>
                  <a:t>7</a:t>
                </a:r>
                <a:endParaRPr kumimoji="0" lang="zh-CN" altLang="en-US" sz="2400" b="1" i="0" u="none" strike="noStrike" kern="1200" cap="none" spc="0" normalizeH="0" baseline="0" noProof="0" dirty="0">
                  <a:ln>
                    <a:noFill/>
                  </a:ln>
                  <a:solidFill>
                    <a:schemeClr val="bg1"/>
                  </a:solidFill>
                  <a:effectLst/>
                  <a:uLnTx/>
                  <a:uFillTx/>
                  <a:latin typeface="华文楷体" pitchFamily="2" charset="-122"/>
                  <a:ea typeface="华文楷体" pitchFamily="2" charset="-122"/>
                  <a:cs typeface="+mn-cs"/>
                  <a:sym typeface="+mn-ea"/>
                </a:endParaRPr>
              </a:p>
            </p:txBody>
          </p:sp>
        </p:grpSp>
        <p:sp>
          <p:nvSpPr>
            <p:cNvPr id="51" name="Line 25"/>
            <p:cNvSpPr/>
            <p:nvPr/>
          </p:nvSpPr>
          <p:spPr>
            <a:xfrm>
              <a:off x="2438400" y="4191000"/>
              <a:ext cx="4800600" cy="0"/>
            </a:xfrm>
            <a:prstGeom prst="line">
              <a:avLst/>
            </a:prstGeom>
            <a:ln w="25400" cap="flat" cmpd="sng">
              <a:solidFill>
                <a:srgbClr val="C0C0C0"/>
              </a:solidFill>
              <a:prstDash val="sysDot"/>
              <a:round/>
              <a:headEnd type="none" w="med" len="med"/>
              <a:tailEnd type="oval" w="med" len="med"/>
            </a:ln>
          </p:spPr>
        </p:sp>
      </p:grpSp>
    </p:spTree>
    <p:extLst>
      <p:ext uri="{BB962C8B-B14F-4D97-AF65-F5344CB8AC3E}">
        <p14:creationId xmlns:p14="http://schemas.microsoft.com/office/powerpoint/2010/main" val="2199493055"/>
      </p:ext>
    </p:extLst>
  </p:cSld>
  <p:clrMapOvr>
    <a:masterClrMapping/>
  </p:clrMapOvr>
  <p:transition>
    <p:blinds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b="1" dirty="0" smtClean="0">
                <a:solidFill>
                  <a:schemeClr val="bg1"/>
                </a:solidFill>
                <a:latin typeface="Arial" panose="020B0604020202020204" pitchFamily="34" charset="0"/>
                <a:ea typeface="宋体" panose="02010600030101010101" pitchFamily="2" charset="-122"/>
                <a:sym typeface="+mn-ea"/>
              </a:rPr>
              <a:t>信息系统</a:t>
            </a:r>
            <a:r>
              <a:rPr lang="zh-CN" b="1" dirty="0">
                <a:solidFill>
                  <a:schemeClr val="bg1"/>
                </a:solidFill>
                <a:latin typeface="Arial" panose="020B0604020202020204" pitchFamily="34" charset="0"/>
                <a:ea typeface="宋体" panose="02010600030101010101" pitchFamily="2" charset="-122"/>
                <a:sym typeface="+mn-ea"/>
              </a:rPr>
              <a:t>安全审计概述</a:t>
            </a:r>
            <a:endParaRPr lang="zh-CN" altLang="en-US" b="1" dirty="0">
              <a:solidFill>
                <a:schemeClr val="bg1"/>
              </a:solidFill>
              <a:latin typeface="Arial" panose="020B0604020202020204" pitchFamily="34" charset="0"/>
              <a:ea typeface="宋体" panose="02010600030101010101" pitchFamily="2" charset="-122"/>
              <a:sym typeface="+mn-ea"/>
            </a:endParaRPr>
          </a:p>
        </p:txBody>
      </p:sp>
      <p:sp>
        <p:nvSpPr>
          <p:cNvPr id="3" name="内容占位符 2"/>
          <p:cNvSpPr>
            <a:spLocks noGrp="1"/>
          </p:cNvSpPr>
          <p:nvPr>
            <p:ph idx="1"/>
          </p:nvPr>
        </p:nvSpPr>
        <p:spPr/>
        <p:txBody>
          <a:bodyPr/>
          <a:lstStyle/>
          <a:p>
            <a:pPr marL="0" indent="0">
              <a:buNone/>
            </a:pPr>
            <a:r>
              <a:rPr lang="en-US" altLang="zh-CN" b="1" dirty="0" smtClean="0">
                <a:latin typeface="楷体_GB2312" pitchFamily="49" charset="-122"/>
                <a:ea typeface="楷体_GB2312" pitchFamily="49" charset="-122"/>
                <a:sym typeface="+mn-ea"/>
              </a:rPr>
              <a:t>1、</a:t>
            </a:r>
            <a:r>
              <a:rPr lang="zh-CN" b="1" dirty="0" smtClean="0">
                <a:latin typeface="华文楷体" pitchFamily="2" charset="-122"/>
                <a:ea typeface="华文楷体" pitchFamily="2" charset="-122"/>
                <a:sym typeface="+mn-ea"/>
              </a:rPr>
              <a:t>概念</a:t>
            </a:r>
            <a:r>
              <a:rPr lang="zh-CN" altLang="en-US" b="1" dirty="0">
                <a:latin typeface="华文楷体" pitchFamily="2" charset="-122"/>
                <a:ea typeface="华文楷体" pitchFamily="2" charset="-122"/>
              </a:rPr>
              <a:t>：</a:t>
            </a:r>
          </a:p>
        </p:txBody>
      </p:sp>
      <p:sp>
        <p:nvSpPr>
          <p:cNvPr id="4" name="文本框 3"/>
          <p:cNvSpPr txBox="1"/>
          <p:nvPr/>
        </p:nvSpPr>
        <p:spPr>
          <a:xfrm>
            <a:off x="712470" y="1899920"/>
            <a:ext cx="7745730" cy="4585871"/>
          </a:xfrm>
          <a:prstGeom prst="rect">
            <a:avLst/>
          </a:prstGeom>
          <a:noFill/>
        </p:spPr>
        <p:txBody>
          <a:bodyPr wrap="square" rtlCol="0">
            <a:spAutoFit/>
          </a:bodyPr>
          <a:lstStyle/>
          <a:p>
            <a:r>
              <a:rPr lang="en-US" altLang="zh-CN" b="1" dirty="0">
                <a:latin typeface="华文楷体" pitchFamily="2" charset="-122"/>
                <a:ea typeface="华文楷体" pitchFamily="2" charset="-122"/>
                <a:sym typeface="+mn-ea"/>
              </a:rPr>
              <a:t>信息系统安全审计是评判一个信息系统</a:t>
            </a:r>
            <a:r>
              <a:rPr lang="en-US" altLang="zh-CN" b="1" dirty="0">
                <a:solidFill>
                  <a:srgbClr val="FF0000"/>
                </a:solidFill>
                <a:latin typeface="华文楷体" pitchFamily="2" charset="-122"/>
                <a:ea typeface="华文楷体" pitchFamily="2" charset="-122"/>
                <a:sym typeface="+mn-ea"/>
              </a:rPr>
              <a:t>是否真正安全</a:t>
            </a:r>
            <a:r>
              <a:rPr lang="en-US" altLang="zh-CN" b="1" dirty="0">
                <a:latin typeface="华文楷体" pitchFamily="2" charset="-122"/>
                <a:ea typeface="华文楷体" pitchFamily="2" charset="-122"/>
                <a:sym typeface="+mn-ea"/>
              </a:rPr>
              <a:t>的重要手段之一。</a:t>
            </a:r>
          </a:p>
          <a:p>
            <a:pPr marL="342900" indent="-342900">
              <a:buFont typeface="Arial" panose="020B0604020202020204" pitchFamily="34" charset="0"/>
              <a:buChar char="•"/>
            </a:pPr>
            <a:r>
              <a:rPr lang="zh-CN" altLang="zh-CN" sz="2000" b="1" dirty="0">
                <a:latin typeface="华文楷体" pitchFamily="2" charset="-122"/>
                <a:ea typeface="华文楷体" pitchFamily="2" charset="-122"/>
              </a:rPr>
              <a:t>通过安全审计收集、分析、评估安全信息、掌握安全状态，制定安全策略，确保整个</a:t>
            </a:r>
            <a:r>
              <a:rPr lang="zh-CN" altLang="zh-CN" sz="2000" b="1" dirty="0">
                <a:solidFill>
                  <a:srgbClr val="FF0000"/>
                </a:solidFill>
                <a:latin typeface="华文楷体" pitchFamily="2" charset="-122"/>
                <a:ea typeface="华文楷体" pitchFamily="2" charset="-122"/>
              </a:rPr>
              <a:t>安全体系的完备性、合理性和适用性</a:t>
            </a:r>
            <a:r>
              <a:rPr lang="zh-CN" altLang="zh-CN" sz="2000" b="1" dirty="0">
                <a:latin typeface="华文楷体" pitchFamily="2" charset="-122"/>
                <a:ea typeface="华文楷体" pitchFamily="2" charset="-122"/>
              </a:rPr>
              <a:t>，才能将系统调整到“最安全”和“最低风险”的状态。</a:t>
            </a:r>
            <a:endParaRPr lang="en-US" altLang="zh-CN" sz="2000" b="1" dirty="0">
              <a:latin typeface="华文楷体" pitchFamily="2" charset="-122"/>
              <a:ea typeface="华文楷体" pitchFamily="2" charset="-122"/>
              <a:sym typeface="+mn-ea"/>
            </a:endParaRPr>
          </a:p>
          <a:p>
            <a:pPr marL="342900" indent="-342900">
              <a:buFont typeface="Arial" panose="020B0604020202020204" pitchFamily="34" charset="0"/>
              <a:buChar char="•"/>
            </a:pPr>
            <a:r>
              <a:rPr lang="en-US" altLang="zh-CN" sz="2000" b="1" dirty="0" err="1">
                <a:latin typeface="华文楷体" pitchFamily="2" charset="-122"/>
                <a:ea typeface="华文楷体" pitchFamily="2" charset="-122"/>
                <a:sym typeface="+mn-ea"/>
              </a:rPr>
              <a:t>安全审计是对信息系统的各种事件及行为实行监测、信息采集、分析并针对特定事件及行为采取相应响应动作</a:t>
            </a:r>
            <a:r>
              <a:rPr lang="en-US" altLang="zh-CN" sz="2000" b="1" dirty="0">
                <a:latin typeface="华文楷体" pitchFamily="2" charset="-122"/>
                <a:ea typeface="华文楷体" pitchFamily="2" charset="-122"/>
                <a:sym typeface="+mn-ea"/>
              </a:rPr>
              <a:t>。</a:t>
            </a:r>
          </a:p>
          <a:p>
            <a:pPr marL="342900" indent="-342900">
              <a:buFont typeface="Arial" panose="020B0604020202020204" pitchFamily="34" charset="0"/>
              <a:buChar char="•"/>
            </a:pPr>
            <a:r>
              <a:rPr lang="en-US" altLang="zh-CN" sz="2000" b="1" dirty="0" err="1" smtClean="0">
                <a:solidFill>
                  <a:srgbClr val="FF0000"/>
                </a:solidFill>
                <a:latin typeface="华文楷体" pitchFamily="2" charset="-122"/>
                <a:ea typeface="华文楷体" pitchFamily="2" charset="-122"/>
                <a:sym typeface="+mn-ea"/>
              </a:rPr>
              <a:t>我国的国家标准</a:t>
            </a:r>
            <a:r>
              <a:rPr lang="en-US" altLang="zh-CN" sz="2000" b="1" dirty="0" err="1">
                <a:latin typeface="华文楷体" pitchFamily="2" charset="-122"/>
                <a:ea typeface="华文楷体" pitchFamily="2" charset="-122"/>
                <a:sym typeface="+mn-ea"/>
              </a:rPr>
              <a:t>《GB</a:t>
            </a:r>
            <a:r>
              <a:rPr lang="en-US" altLang="zh-CN" sz="2000" b="1" dirty="0">
                <a:latin typeface="华文楷体" pitchFamily="2" charset="-122"/>
                <a:ea typeface="华文楷体" pitchFamily="2" charset="-122"/>
                <a:sym typeface="+mn-ea"/>
              </a:rPr>
              <a:t>/T 20945-2007，信息安全技术信息系统安全审计产品技术要求和测试评价方法》给出了安全审计的定义</a:t>
            </a:r>
            <a:r>
              <a:rPr lang="zh-CN" altLang="en-US" sz="2000" b="1" dirty="0">
                <a:latin typeface="华文楷体" pitchFamily="2" charset="-122"/>
                <a:ea typeface="华文楷体" pitchFamily="2" charset="-122"/>
                <a:sym typeface="+mn-ea"/>
              </a:rPr>
              <a:t>。</a:t>
            </a:r>
          </a:p>
          <a:p>
            <a:pPr marL="342900" indent="-342900">
              <a:buFont typeface="Arial" panose="020B0604020202020204" pitchFamily="34" charset="0"/>
              <a:buChar char="•"/>
            </a:pPr>
            <a:r>
              <a:rPr lang="zh-CN" altLang="en-US" sz="2000" b="1" dirty="0" smtClean="0">
                <a:solidFill>
                  <a:srgbClr val="FF0000"/>
                </a:solidFill>
                <a:latin typeface="华文楷体" pitchFamily="2" charset="-122"/>
                <a:ea typeface="华文楷体" pitchFamily="2" charset="-122"/>
              </a:rPr>
              <a:t>审计的意义：</a:t>
            </a:r>
            <a:r>
              <a:rPr lang="zh-CN" altLang="zh-CN" sz="2000" b="1" dirty="0" smtClean="0">
                <a:latin typeface="华文楷体" pitchFamily="2" charset="-122"/>
                <a:ea typeface="华文楷体" pitchFamily="2" charset="-122"/>
              </a:rPr>
              <a:t>由于</a:t>
            </a:r>
            <a:r>
              <a:rPr lang="zh-CN" altLang="zh-CN" sz="2000" b="1" dirty="0">
                <a:latin typeface="华文楷体" pitchFamily="2" charset="-122"/>
                <a:ea typeface="华文楷体" pitchFamily="2" charset="-122"/>
              </a:rPr>
              <a:t>不存在绝对安全的系统，所以安全审计系统作为和其它安全措施相辅相成、互为补充的安全机制，是非常必要</a:t>
            </a:r>
            <a:r>
              <a:rPr lang="zh-CN" altLang="zh-CN" sz="2000" b="1" dirty="0" smtClean="0">
                <a:latin typeface="华文楷体" pitchFamily="2" charset="-122"/>
                <a:ea typeface="华文楷体" pitchFamily="2" charset="-122"/>
              </a:rPr>
              <a:t>的</a:t>
            </a:r>
            <a:r>
              <a:rPr lang="zh-CN" altLang="en-US" sz="2000" b="1" dirty="0" smtClean="0">
                <a:latin typeface="华文楷体" pitchFamily="2" charset="-122"/>
                <a:ea typeface="华文楷体" pitchFamily="2" charset="-122"/>
              </a:rPr>
              <a:t>。</a:t>
            </a:r>
            <a:endParaRPr lang="en-US" altLang="zh-CN" sz="2000" b="1" dirty="0">
              <a:latin typeface="华文楷体" pitchFamily="2" charset="-122"/>
              <a:ea typeface="华文楷体" pitchFamily="2"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circle(in)">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heel(1)">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1000"/>
                                        <p:tgtEl>
                                          <p:spTgt spid="4">
                                            <p:txEl>
                                              <p:pRg st="4" end="4"/>
                                            </p:txEl>
                                          </p:spTgt>
                                        </p:tgtEl>
                                      </p:cBhvr>
                                    </p:animEffect>
                                    <p:anim calcmode="lin" valueType="num">
                                      <p:cBhvr>
                                        <p:cTn id="2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b="1" dirty="0">
                <a:solidFill>
                  <a:schemeClr val="bg1"/>
                </a:solidFill>
                <a:latin typeface="Arial" panose="020B0604020202020204" pitchFamily="34" charset="0"/>
                <a:ea typeface="宋体" panose="02010600030101010101" pitchFamily="2" charset="-122"/>
                <a:sym typeface="+mn-ea"/>
              </a:rPr>
              <a:t>信息系统安全审计概述</a:t>
            </a:r>
            <a:endParaRPr lang="zh-CN" altLang="en-US" b="1" dirty="0">
              <a:solidFill>
                <a:schemeClr val="bg1"/>
              </a:solidFill>
              <a:latin typeface="Arial" panose="020B0604020202020204" pitchFamily="34" charset="0"/>
              <a:ea typeface="宋体" panose="02010600030101010101" pitchFamily="2" charset="-122"/>
              <a:sym typeface="+mn-ea"/>
            </a:endParaRPr>
          </a:p>
        </p:txBody>
      </p:sp>
      <p:sp>
        <p:nvSpPr>
          <p:cNvPr id="3" name="内容占位符 2"/>
          <p:cNvSpPr>
            <a:spLocks noGrp="1"/>
          </p:cNvSpPr>
          <p:nvPr>
            <p:ph idx="1"/>
          </p:nvPr>
        </p:nvSpPr>
        <p:spPr/>
        <p:txBody>
          <a:bodyPr/>
          <a:lstStyle/>
          <a:p>
            <a:pPr marL="0" indent="0">
              <a:buNone/>
            </a:pPr>
            <a:r>
              <a:rPr lang="zh-CN" b="1" dirty="0">
                <a:latin typeface="华文楷体" pitchFamily="2" charset="-122"/>
                <a:ea typeface="华文楷体" pitchFamily="2" charset="-122"/>
                <a:sym typeface="+mn-ea"/>
              </a:rPr>
              <a:t>概念</a:t>
            </a:r>
            <a:r>
              <a:rPr lang="zh-CN" altLang="en-US" b="1" dirty="0">
                <a:latin typeface="华文楷体" pitchFamily="2" charset="-122"/>
                <a:ea typeface="华文楷体" pitchFamily="2" charset="-122"/>
              </a:rPr>
              <a:t>：</a:t>
            </a:r>
          </a:p>
        </p:txBody>
      </p:sp>
      <p:sp>
        <p:nvSpPr>
          <p:cNvPr id="4" name="文本框 3"/>
          <p:cNvSpPr txBox="1"/>
          <p:nvPr/>
        </p:nvSpPr>
        <p:spPr>
          <a:xfrm>
            <a:off x="457200" y="1899920"/>
            <a:ext cx="8229600" cy="4247317"/>
          </a:xfrm>
          <a:prstGeom prst="rect">
            <a:avLst/>
          </a:prstGeom>
          <a:noFill/>
        </p:spPr>
        <p:txBody>
          <a:bodyPr wrap="square" rtlCol="0">
            <a:spAutoFit/>
          </a:bodyPr>
          <a:lstStyle/>
          <a:p>
            <a:pPr marL="342900" indent="-342900">
              <a:buFont typeface="Arial" panose="020B0604020202020204" pitchFamily="34" charset="0"/>
              <a:buChar char="•"/>
            </a:pPr>
            <a:r>
              <a:rPr lang="zh-CN" altLang="zh-CN" sz="2000" dirty="0">
                <a:latin typeface="华文楷体" pitchFamily="2" charset="-122"/>
                <a:ea typeface="华文楷体" pitchFamily="2" charset="-122"/>
              </a:rPr>
              <a:t>在国际通用的</a:t>
            </a:r>
            <a:r>
              <a:rPr lang="en-US" altLang="zh-CN" sz="2000" dirty="0">
                <a:solidFill>
                  <a:srgbClr val="FF0000"/>
                </a:solidFill>
                <a:latin typeface="华文楷体" pitchFamily="2" charset="-122"/>
                <a:ea typeface="华文楷体" pitchFamily="2" charset="-122"/>
              </a:rPr>
              <a:t>CC</a:t>
            </a:r>
            <a:r>
              <a:rPr lang="zh-CN" altLang="zh-CN" sz="2000" dirty="0">
                <a:solidFill>
                  <a:srgbClr val="FF0000"/>
                </a:solidFill>
                <a:latin typeface="华文楷体" pitchFamily="2" charset="-122"/>
                <a:ea typeface="华文楷体" pitchFamily="2" charset="-122"/>
              </a:rPr>
              <a:t>准则（即</a:t>
            </a:r>
            <a:r>
              <a:rPr lang="en-US" altLang="zh-CN" sz="2000" dirty="0">
                <a:solidFill>
                  <a:srgbClr val="FF0000"/>
                </a:solidFill>
                <a:latin typeface="华文楷体" pitchFamily="2" charset="-122"/>
                <a:ea typeface="华文楷体" pitchFamily="2" charset="-122"/>
              </a:rPr>
              <a:t>ISO/IEC15408-2:1999</a:t>
            </a:r>
            <a:r>
              <a:rPr lang="zh-CN" altLang="zh-CN" sz="2000" dirty="0">
                <a:latin typeface="华文楷体" pitchFamily="2" charset="-122"/>
                <a:ea typeface="华文楷体" pitchFamily="2" charset="-122"/>
              </a:rPr>
              <a:t>《信息技术安全性评估准则》 ）中对信息系统安全审计（</a:t>
            </a:r>
            <a:r>
              <a:rPr lang="en-US" altLang="zh-CN" sz="2000" dirty="0">
                <a:latin typeface="华文楷体" pitchFamily="2" charset="-122"/>
                <a:ea typeface="华文楷体" pitchFamily="2" charset="-122"/>
              </a:rPr>
              <a:t>ISSA</a:t>
            </a:r>
            <a:r>
              <a:rPr lang="zh-CN" altLang="zh-CN" sz="2000" dirty="0">
                <a:latin typeface="华文楷体" pitchFamily="2" charset="-122"/>
                <a:ea typeface="华文楷体" pitchFamily="2" charset="-122"/>
              </a:rPr>
              <a:t>，</a:t>
            </a:r>
            <a:r>
              <a:rPr lang="en-US" altLang="zh-CN" sz="2000" dirty="0">
                <a:solidFill>
                  <a:srgbClr val="FF0000"/>
                </a:solidFill>
                <a:latin typeface="华文楷体" pitchFamily="2" charset="-122"/>
                <a:ea typeface="华文楷体" pitchFamily="2" charset="-122"/>
              </a:rPr>
              <a:t>Information System Security Audit</a:t>
            </a:r>
            <a:r>
              <a:rPr lang="zh-CN" altLang="zh-CN" sz="2000" dirty="0">
                <a:latin typeface="华文楷体" pitchFamily="2" charset="-122"/>
                <a:ea typeface="华文楷体" pitchFamily="2" charset="-122"/>
              </a:rPr>
              <a:t>）给出了明确定义</a:t>
            </a:r>
            <a:r>
              <a:rPr lang="zh-CN" altLang="zh-CN" sz="2000" dirty="0" smtClean="0">
                <a:latin typeface="华文楷体" pitchFamily="2" charset="-122"/>
                <a:ea typeface="华文楷体" pitchFamily="2" charset="-122"/>
              </a:rPr>
              <a:t>：</a:t>
            </a:r>
            <a:endParaRPr lang="en-US" altLang="zh-CN" sz="2000" dirty="0" smtClean="0">
              <a:latin typeface="华文楷体" pitchFamily="2" charset="-122"/>
              <a:ea typeface="华文楷体" pitchFamily="2" charset="-122"/>
            </a:endParaRPr>
          </a:p>
          <a:p>
            <a:pPr marL="800100" lvl="1" indent="-342900">
              <a:buFont typeface="Arial" panose="020B0604020202020204" pitchFamily="34" charset="0"/>
              <a:buChar char="•"/>
            </a:pPr>
            <a:r>
              <a:rPr lang="zh-CN" altLang="zh-CN" sz="1800" b="1" u="sng" dirty="0" smtClean="0">
                <a:effectLst>
                  <a:outerShdw blurRad="38100" dist="38100" dir="2700000" algn="tl">
                    <a:srgbClr val="000000">
                      <a:alpha val="43137"/>
                    </a:srgbClr>
                  </a:outerShdw>
                </a:effectLst>
                <a:latin typeface="华文楷体" pitchFamily="2" charset="-122"/>
                <a:ea typeface="华文楷体" pitchFamily="2" charset="-122"/>
              </a:rPr>
              <a:t>信息系统</a:t>
            </a:r>
            <a:r>
              <a:rPr lang="zh-CN" altLang="zh-CN" sz="1800" b="1" u="sng" dirty="0">
                <a:effectLst>
                  <a:outerShdw blurRad="38100" dist="38100" dir="2700000" algn="tl">
                    <a:srgbClr val="000000">
                      <a:alpha val="43137"/>
                    </a:srgbClr>
                  </a:outerShdw>
                </a:effectLst>
                <a:latin typeface="华文楷体" pitchFamily="2" charset="-122"/>
                <a:ea typeface="华文楷体" pitchFamily="2" charset="-122"/>
              </a:rPr>
              <a:t>安全审计</a:t>
            </a:r>
            <a:r>
              <a:rPr lang="zh-CN" altLang="zh-CN" sz="1800" dirty="0">
                <a:latin typeface="华文楷体" pitchFamily="2" charset="-122"/>
                <a:ea typeface="华文楷体" pitchFamily="2" charset="-122"/>
              </a:rPr>
              <a:t>主要指对与安全有关的活动的相关信息进行识别、记录、存储和分析；审计记录的结果用于检查网络上发生了哪些与安全有关的活动，谁（哪个用户）对这个活动负责</a:t>
            </a:r>
            <a:r>
              <a:rPr lang="zh-CN" altLang="zh-CN" sz="1800" dirty="0" smtClean="0">
                <a:latin typeface="华文楷体" pitchFamily="2" charset="-122"/>
                <a:ea typeface="华文楷体" pitchFamily="2" charset="-122"/>
              </a:rPr>
              <a:t>；</a:t>
            </a:r>
            <a:endParaRPr lang="en-US" altLang="zh-CN" sz="1800" dirty="0" smtClean="0">
              <a:latin typeface="华文楷体" pitchFamily="2" charset="-122"/>
              <a:ea typeface="华文楷体" pitchFamily="2" charset="-122"/>
            </a:endParaRPr>
          </a:p>
          <a:p>
            <a:pPr marL="800100" lvl="1" indent="-342900">
              <a:buFont typeface="Arial" panose="020B0604020202020204" pitchFamily="34" charset="0"/>
              <a:buChar char="•"/>
            </a:pPr>
            <a:r>
              <a:rPr lang="zh-CN" altLang="zh-CN" sz="1800" b="1" u="sng" dirty="0">
                <a:effectLst>
                  <a:outerShdw blurRad="38100" dist="38100" dir="2700000" algn="tl">
                    <a:srgbClr val="000000">
                      <a:alpha val="43137"/>
                    </a:srgbClr>
                  </a:outerShdw>
                </a:effectLst>
                <a:latin typeface="华文楷体" pitchFamily="2" charset="-122"/>
                <a:ea typeface="华文楷体" pitchFamily="2" charset="-122"/>
              </a:rPr>
              <a:t>主要功能包括：</a:t>
            </a:r>
            <a:r>
              <a:rPr lang="zh-CN" altLang="zh-CN" sz="1800" dirty="0">
                <a:latin typeface="华文楷体" pitchFamily="2" charset="-122"/>
                <a:ea typeface="华文楷体" pitchFamily="2" charset="-122"/>
              </a:rPr>
              <a:t>安全审计自动响应、安全审计数据生成、安全审计分析、安全审计浏览、安全审计事件选择、安全审计事件存储等。</a:t>
            </a:r>
          </a:p>
          <a:p>
            <a:pPr marL="342900" indent="-342900">
              <a:buFont typeface="Arial" panose="020B0604020202020204" pitchFamily="34" charset="0"/>
              <a:buChar char="•"/>
            </a:pPr>
            <a:r>
              <a:rPr lang="zh-CN" altLang="zh-CN" sz="2000" dirty="0">
                <a:latin typeface="华文楷体" pitchFamily="2" charset="-122"/>
                <a:ea typeface="华文楷体" pitchFamily="2" charset="-122"/>
              </a:rPr>
              <a:t>这是国际</a:t>
            </a:r>
            <a:r>
              <a:rPr lang="en-US" altLang="zh-CN" sz="2000" dirty="0">
                <a:latin typeface="华文楷体" pitchFamily="2" charset="-122"/>
                <a:ea typeface="华文楷体" pitchFamily="2" charset="-122"/>
              </a:rPr>
              <a:t>CC</a:t>
            </a:r>
            <a:r>
              <a:rPr lang="zh-CN" altLang="zh-CN" sz="2000" dirty="0">
                <a:latin typeface="华文楷体" pitchFamily="2" charset="-122"/>
                <a:ea typeface="华文楷体" pitchFamily="2" charset="-122"/>
              </a:rPr>
              <a:t>准则给出的一个比较抽象的</a:t>
            </a:r>
            <a:r>
              <a:rPr lang="zh-CN" altLang="zh-CN" sz="2000" dirty="0" smtClean="0">
                <a:latin typeface="华文楷体" pitchFamily="2" charset="-122"/>
                <a:ea typeface="华文楷体" pitchFamily="2" charset="-122"/>
              </a:rPr>
              <a:t>概念</a:t>
            </a:r>
            <a:r>
              <a:rPr lang="zh-CN" altLang="en-US" sz="2000" dirty="0" smtClean="0">
                <a:latin typeface="华文楷体" pitchFamily="2" charset="-122"/>
                <a:ea typeface="华文楷体" pitchFamily="2" charset="-122"/>
              </a:rPr>
              <a:t>。</a:t>
            </a:r>
            <a:r>
              <a:rPr lang="zh-CN" altLang="zh-CN" sz="2000" dirty="0" smtClean="0">
                <a:latin typeface="华文楷体" pitchFamily="2" charset="-122"/>
                <a:ea typeface="华文楷体" pitchFamily="2" charset="-122"/>
              </a:rPr>
              <a:t>信息</a:t>
            </a:r>
            <a:r>
              <a:rPr lang="zh-CN" altLang="zh-CN" sz="2000" dirty="0">
                <a:latin typeface="华文楷体" pitchFamily="2" charset="-122"/>
                <a:ea typeface="华文楷体" pitchFamily="2" charset="-122"/>
              </a:rPr>
              <a:t>安全审计就是</a:t>
            </a:r>
            <a:r>
              <a:rPr lang="zh-CN" altLang="zh-CN" sz="1800" dirty="0">
                <a:solidFill>
                  <a:srgbClr val="FF0000"/>
                </a:solidFill>
                <a:latin typeface="华文楷体" pitchFamily="2" charset="-122"/>
                <a:ea typeface="华文楷体" pitchFamily="2" charset="-122"/>
              </a:rPr>
              <a:t>信息网络中的“监控摄像头”，通过运用各种技术手段，洞察网络信息系统中的活动，全面监测信息系统中的各种会话和事件，记录分析各种网络可疑行为、违规操作、敏感信息，帮助定位安全事件源头和追查取证，防范和发现计算机网络犯罪活动，为信息系统安全策略制定、风险内控提供有力的数据支撑</a:t>
            </a:r>
            <a:r>
              <a:rPr lang="zh-CN" altLang="zh-CN" sz="1800" dirty="0">
                <a:latin typeface="华文楷体" pitchFamily="2" charset="-122"/>
                <a:ea typeface="华文楷体" pitchFamily="2" charset="-122"/>
              </a:rPr>
              <a:t>。</a:t>
            </a:r>
            <a:endParaRPr lang="en-US" altLang="zh-CN" sz="1800" b="1" dirty="0">
              <a:latin typeface="华文楷体" pitchFamily="2" charset="-122"/>
              <a:ea typeface="华文楷体" pitchFamily="2" charset="-122"/>
              <a:sym typeface="+mn-ea"/>
            </a:endParaRPr>
          </a:p>
        </p:txBody>
      </p:sp>
    </p:spTree>
    <p:extLst>
      <p:ext uri="{BB962C8B-B14F-4D97-AF65-F5344CB8AC3E}">
        <p14:creationId xmlns:p14="http://schemas.microsoft.com/office/powerpoint/2010/main" val="10946697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down)">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wheel(1)">
                                      <p:cBhvr>
                                        <p:cTn id="20"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b="1" dirty="0">
                <a:latin typeface="Arial" panose="020B0604020202020204" pitchFamily="34" charset="0"/>
                <a:ea typeface="宋体" panose="02010600030101010101" pitchFamily="2" charset="-122"/>
                <a:sym typeface="+mn-ea"/>
              </a:rPr>
              <a:t>信息系统安全审计概述</a:t>
            </a:r>
            <a:endParaRPr lang="zh-CN" altLang="en-US"/>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2、</a:t>
            </a:r>
            <a:r>
              <a:rPr lang="zh-CN" b="1" dirty="0" smtClean="0">
                <a:latin typeface="华文楷体" pitchFamily="2" charset="-122"/>
                <a:ea typeface="华文楷体" pitchFamily="2" charset="-122"/>
                <a:sym typeface="+mn-ea"/>
              </a:rPr>
              <a:t>主要</a:t>
            </a:r>
            <a:r>
              <a:rPr lang="zh-CN" b="1" dirty="0">
                <a:latin typeface="华文楷体" pitchFamily="2" charset="-122"/>
                <a:ea typeface="华文楷体" pitchFamily="2" charset="-122"/>
                <a:sym typeface="+mn-ea"/>
              </a:rPr>
              <a:t>目标</a:t>
            </a:r>
            <a:r>
              <a:rPr lang="zh-CN" altLang="en-US" b="1" dirty="0">
                <a:latin typeface="华文楷体" pitchFamily="2" charset="-122"/>
                <a:ea typeface="华文楷体" pitchFamily="2" charset="-122"/>
              </a:rPr>
              <a:t>：</a:t>
            </a:r>
            <a:endParaRPr lang="en-US" altLang="zh-CN" b="1" dirty="0">
              <a:latin typeface="华文楷体" pitchFamily="2" charset="-122"/>
              <a:ea typeface="华文楷体" pitchFamily="2" charset="-122"/>
            </a:endParaRPr>
          </a:p>
        </p:txBody>
      </p:sp>
      <p:sp>
        <p:nvSpPr>
          <p:cNvPr id="4" name="文本框 3"/>
          <p:cNvSpPr txBox="1"/>
          <p:nvPr/>
        </p:nvSpPr>
        <p:spPr>
          <a:xfrm>
            <a:off x="636270" y="1835785"/>
            <a:ext cx="8191500" cy="3970318"/>
          </a:xfrm>
          <a:prstGeom prst="rect">
            <a:avLst/>
          </a:prstGeom>
          <a:noFill/>
        </p:spPr>
        <p:txBody>
          <a:bodyPr wrap="square" rtlCol="0">
            <a:spAutoFit/>
          </a:bodyPr>
          <a:lstStyle/>
          <a:p>
            <a:pPr marL="457200" indent="-457200">
              <a:buClr>
                <a:srgbClr val="3191D3"/>
              </a:buClr>
              <a:buSzPct val="65000"/>
              <a:buFont typeface="+mj-ea"/>
              <a:buAutoNum type="circleNumDbPlain"/>
            </a:pPr>
            <a:r>
              <a:rPr lang="zh-CN" altLang="en-US" sz="2400" dirty="0">
                <a:latin typeface="华文楷体" pitchFamily="2" charset="-122"/>
                <a:ea typeface="华文楷体" pitchFamily="2" charset="-122"/>
                <a:sym typeface="+mn-ea"/>
              </a:rPr>
              <a:t>检查是否符合现行的安全策略，标准，指南和程序</a:t>
            </a:r>
          </a:p>
          <a:p>
            <a:pPr marL="457200" indent="-457200">
              <a:buClr>
                <a:srgbClr val="3191D3"/>
              </a:buClr>
              <a:buSzPct val="65000"/>
              <a:buFont typeface="+mj-ea"/>
              <a:buAutoNum type="circleNumDbPlain"/>
            </a:pPr>
            <a:r>
              <a:rPr lang="zh-CN" altLang="en-US" sz="2400" dirty="0">
                <a:latin typeface="华文楷体" pitchFamily="2" charset="-122"/>
                <a:ea typeface="华文楷体" pitchFamily="2" charset="-122"/>
                <a:sym typeface="+mn-ea"/>
              </a:rPr>
              <a:t>找出不足之处，并检查现有策略，标准、指南和程序的实施效果</a:t>
            </a:r>
          </a:p>
          <a:p>
            <a:pPr marL="457200" indent="-457200">
              <a:buClr>
                <a:srgbClr val="3191D3"/>
              </a:buClr>
              <a:buSzPct val="65000"/>
              <a:buFont typeface="+mj-ea"/>
              <a:buAutoNum type="circleNumDbPlain"/>
            </a:pPr>
            <a:r>
              <a:rPr lang="zh-CN" altLang="en-US" sz="2400" dirty="0">
                <a:latin typeface="华文楷体" pitchFamily="2" charset="-122"/>
                <a:ea typeface="华文楷体" pitchFamily="2" charset="-122"/>
                <a:sym typeface="+mn-ea"/>
              </a:rPr>
              <a:t>识别和审查是否符合相关的法律、法规和合同的要求</a:t>
            </a:r>
          </a:p>
          <a:p>
            <a:pPr marL="457200" indent="-457200">
              <a:buClr>
                <a:srgbClr val="3191D3"/>
              </a:buClr>
              <a:buSzPct val="65000"/>
              <a:buFont typeface="+mj-ea"/>
              <a:buAutoNum type="circleNumDbPlain"/>
            </a:pPr>
            <a:r>
              <a:rPr lang="zh-CN" altLang="en-US" sz="2400" dirty="0">
                <a:latin typeface="华文楷体" pitchFamily="2" charset="-122"/>
                <a:ea typeface="华文楷体" pitchFamily="2" charset="-122"/>
                <a:sym typeface="+mn-ea"/>
              </a:rPr>
              <a:t>识别和理解存在的漏洞</a:t>
            </a:r>
          </a:p>
          <a:p>
            <a:pPr marL="457200" indent="-457200">
              <a:buClr>
                <a:srgbClr val="3191D3"/>
              </a:buClr>
              <a:buSzPct val="65000"/>
              <a:buFont typeface="+mj-ea"/>
              <a:buAutoNum type="circleNumDbPlain"/>
            </a:pPr>
            <a:r>
              <a:rPr lang="zh-CN" altLang="en-US" sz="2400" dirty="0">
                <a:latin typeface="华文楷体" pitchFamily="2" charset="-122"/>
                <a:ea typeface="华文楷体" pitchFamily="2" charset="-122"/>
                <a:sym typeface="+mn-ea"/>
              </a:rPr>
              <a:t>检讨现有的操作、行政和管理方面的安全控制问题，确保实现的安全措施和符合最低安全标准的要求</a:t>
            </a:r>
          </a:p>
          <a:p>
            <a:pPr marL="457200" indent="-457200">
              <a:buClr>
                <a:srgbClr val="3191D3"/>
              </a:buClr>
              <a:buSzPct val="65000"/>
              <a:buFont typeface="+mj-ea"/>
              <a:buAutoNum type="circleNumDbPlain"/>
            </a:pPr>
            <a:r>
              <a:rPr lang="zh-CN" altLang="en-US" sz="2400" dirty="0">
                <a:latin typeface="华文楷体" pitchFamily="2" charset="-122"/>
                <a:ea typeface="华文楷体" pitchFamily="2" charset="-122"/>
                <a:sym typeface="+mn-ea"/>
              </a:rPr>
              <a:t>提供改进建议和纠正措施</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arn(inVertical)">
                                      <p:cBhvr>
                                        <p:cTn id="13" dur="500"/>
                                        <p:tgtEl>
                                          <p:spTgt spid="4">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arn(inVertical)">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circle(in)">
                                      <p:cBhvr>
                                        <p:cTn id="21" dur="2000"/>
                                        <p:tgtEl>
                                          <p:spTgt spid="4">
                                            <p:txEl>
                                              <p:pRg st="4" end="4"/>
                                            </p:txEl>
                                          </p:spTgt>
                                        </p:tgtEl>
                                      </p:cBhvr>
                                    </p:animEffect>
                                  </p:childTnLst>
                                </p:cTn>
                              </p:par>
                              <p:par>
                                <p:cTn id="22" presetID="6" presetClass="entr" presetSubtype="16"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circle(in)">
                                      <p:cBhvr>
                                        <p:cTn id="24"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b="1" dirty="0">
                <a:latin typeface="Arial" panose="020B0604020202020204" pitchFamily="34" charset="0"/>
                <a:ea typeface="宋体" panose="02010600030101010101" pitchFamily="2" charset="-122"/>
                <a:sym typeface="+mn-ea"/>
              </a:rPr>
              <a:t>信息系统安全审计概述</a:t>
            </a:r>
            <a:endParaRPr lang="zh-CN" altLang="en-US"/>
          </a:p>
        </p:txBody>
      </p:sp>
      <p:sp>
        <p:nvSpPr>
          <p:cNvPr id="3" name="内容占位符 2"/>
          <p:cNvSpPr>
            <a:spLocks noGrp="1"/>
          </p:cNvSpPr>
          <p:nvPr>
            <p:ph idx="1"/>
          </p:nvPr>
        </p:nvSpPr>
        <p:spPr/>
        <p:txBody>
          <a:bodyPr/>
          <a:lstStyle/>
          <a:p>
            <a:pPr marL="0" indent="0">
              <a:buNone/>
            </a:pPr>
            <a:r>
              <a:rPr lang="en-US" altLang="zh-CN" b="1" dirty="0" smtClean="0">
                <a:latin typeface="楷体_GB2312" pitchFamily="49" charset="-122"/>
                <a:ea typeface="楷体_GB2312" pitchFamily="49" charset="-122"/>
                <a:sym typeface="+mn-ea"/>
              </a:rPr>
              <a:t>3、</a:t>
            </a:r>
            <a:r>
              <a:rPr lang="zh-CN" b="1" dirty="0" smtClean="0">
                <a:latin typeface="华文楷体" pitchFamily="2" charset="-122"/>
                <a:ea typeface="华文楷体" pitchFamily="2" charset="-122"/>
                <a:sym typeface="+mn-ea"/>
              </a:rPr>
              <a:t>功能</a:t>
            </a:r>
            <a:r>
              <a:rPr lang="zh-CN" altLang="en-US" b="1" dirty="0" smtClean="0">
                <a:latin typeface="华文楷体" pitchFamily="2" charset="-122"/>
                <a:ea typeface="华文楷体" pitchFamily="2" charset="-122"/>
                <a:sym typeface="+mn-ea"/>
              </a:rPr>
              <a:t>和作用</a:t>
            </a:r>
            <a:r>
              <a:rPr lang="zh-CN" altLang="en-US" b="1" dirty="0" smtClean="0">
                <a:latin typeface="华文楷体" pitchFamily="2" charset="-122"/>
                <a:ea typeface="华文楷体" pitchFamily="2" charset="-122"/>
              </a:rPr>
              <a:t>：</a:t>
            </a:r>
            <a:endParaRPr lang="en-US" altLang="zh-CN" b="1" dirty="0">
              <a:latin typeface="华文楷体" pitchFamily="2" charset="-122"/>
              <a:ea typeface="华文楷体" pitchFamily="2" charset="-122"/>
            </a:endParaRPr>
          </a:p>
        </p:txBody>
      </p:sp>
      <p:sp>
        <p:nvSpPr>
          <p:cNvPr id="4" name="文本框 3"/>
          <p:cNvSpPr txBox="1"/>
          <p:nvPr/>
        </p:nvSpPr>
        <p:spPr>
          <a:xfrm>
            <a:off x="777521" y="1900530"/>
            <a:ext cx="7588957" cy="4693593"/>
          </a:xfrm>
          <a:prstGeom prst="rect">
            <a:avLst/>
          </a:prstGeom>
          <a:noFill/>
        </p:spPr>
        <p:txBody>
          <a:bodyPr wrap="square" rtlCol="0">
            <a:spAutoFit/>
          </a:bodyPr>
          <a:lstStyle/>
          <a:p>
            <a:pPr marL="514350" indent="-514350">
              <a:buClr>
                <a:srgbClr val="3191D3"/>
              </a:buClr>
              <a:buSzPct val="65000"/>
              <a:buFont typeface="+mj-ea"/>
              <a:buAutoNum type="circleNumDbPlain"/>
            </a:pPr>
            <a:r>
              <a:rPr lang="zh-CN" altLang="en-US" b="1" dirty="0">
                <a:latin typeface="华文楷体" pitchFamily="2" charset="-122"/>
                <a:ea typeface="华文楷体" pitchFamily="2" charset="-122"/>
                <a:sym typeface="+mn-ea"/>
              </a:rPr>
              <a:t>取证</a:t>
            </a:r>
          </a:p>
          <a:p>
            <a:pPr marL="514350" indent="-514350">
              <a:buClr>
                <a:srgbClr val="3191D3"/>
              </a:buClr>
              <a:buSzPct val="65000"/>
              <a:buFont typeface="+mj-ea"/>
              <a:buAutoNum type="circleNumDbPlain"/>
            </a:pPr>
            <a:r>
              <a:rPr lang="zh-CN" altLang="en-US" b="1" dirty="0">
                <a:latin typeface="华文楷体" pitchFamily="2" charset="-122"/>
                <a:ea typeface="华文楷体" pitchFamily="2" charset="-122"/>
                <a:sym typeface="+mn-ea"/>
              </a:rPr>
              <a:t>威慑</a:t>
            </a:r>
          </a:p>
          <a:p>
            <a:pPr marL="514350" indent="-514350">
              <a:buClr>
                <a:srgbClr val="3191D3"/>
              </a:buClr>
              <a:buSzPct val="65000"/>
              <a:buFont typeface="+mj-ea"/>
              <a:buAutoNum type="circleNumDbPlain"/>
            </a:pPr>
            <a:r>
              <a:rPr lang="zh-CN" altLang="en-US" b="1" dirty="0">
                <a:latin typeface="华文楷体" pitchFamily="2" charset="-122"/>
                <a:ea typeface="华文楷体" pitchFamily="2" charset="-122"/>
                <a:sym typeface="+mn-ea"/>
              </a:rPr>
              <a:t>发现系统漏洞</a:t>
            </a:r>
          </a:p>
          <a:p>
            <a:pPr marL="514350" indent="-514350">
              <a:buClr>
                <a:srgbClr val="3191D3"/>
              </a:buClr>
              <a:buSzPct val="65000"/>
              <a:buFont typeface="+mj-ea"/>
              <a:buAutoNum type="circleNumDbPlain"/>
            </a:pPr>
            <a:r>
              <a:rPr lang="zh-CN" altLang="en-US" b="1" dirty="0">
                <a:latin typeface="华文楷体" pitchFamily="2" charset="-122"/>
                <a:ea typeface="华文楷体" pitchFamily="2" charset="-122"/>
                <a:sym typeface="+mn-ea"/>
              </a:rPr>
              <a:t>发现系统运行异常</a:t>
            </a:r>
          </a:p>
          <a:p>
            <a:pPr marL="514350" indent="-514350">
              <a:buClr>
                <a:srgbClr val="3191D3"/>
              </a:buClr>
              <a:buSzPct val="65000"/>
              <a:buFont typeface="+mj-ea"/>
              <a:buAutoNum type="circleNumDbPlain"/>
            </a:pPr>
            <a:r>
              <a:rPr lang="zh-CN" altLang="en-US" b="1" dirty="0">
                <a:latin typeface="华文楷体" pitchFamily="2" charset="-122"/>
                <a:ea typeface="华文楷体" pitchFamily="2" charset="-122"/>
                <a:sym typeface="+mn-ea"/>
              </a:rPr>
              <a:t>评价标准符合</a:t>
            </a:r>
            <a:r>
              <a:rPr lang="zh-CN" altLang="en-US" b="1" dirty="0" smtClean="0">
                <a:latin typeface="华文楷体" pitchFamily="2" charset="-122"/>
                <a:ea typeface="华文楷体" pitchFamily="2" charset="-122"/>
                <a:sym typeface="+mn-ea"/>
              </a:rPr>
              <a:t>程度</a:t>
            </a:r>
            <a:endParaRPr lang="en-US" altLang="zh-CN" b="1" dirty="0" smtClean="0">
              <a:latin typeface="华文楷体" pitchFamily="2" charset="-122"/>
              <a:ea typeface="华文楷体" pitchFamily="2" charset="-122"/>
              <a:sym typeface="+mn-ea"/>
            </a:endParaRPr>
          </a:p>
          <a:p>
            <a:pPr marL="514350" indent="-514350">
              <a:buClr>
                <a:srgbClr val="3191D3"/>
              </a:buClr>
              <a:buSzPct val="65000"/>
              <a:buFont typeface="+mj-ea"/>
              <a:buAutoNum type="circleNumDbPlain"/>
            </a:pPr>
            <a:endParaRPr lang="en-US" altLang="zh-CN" b="1" dirty="0">
              <a:latin typeface="华文楷体" pitchFamily="2" charset="-122"/>
              <a:ea typeface="华文楷体" pitchFamily="2" charset="-122"/>
              <a:sym typeface="+mn-ea"/>
            </a:endParaRPr>
          </a:p>
          <a:p>
            <a:pPr marL="514350" indent="-514350">
              <a:buClr>
                <a:srgbClr val="3191D3"/>
              </a:buClr>
              <a:buSzPct val="65000"/>
              <a:buFont typeface="+mj-ea"/>
              <a:buAutoNum type="circleNumDbPlain"/>
            </a:pPr>
            <a:endParaRPr lang="en-US" altLang="zh-CN" b="1" dirty="0" smtClean="0">
              <a:latin typeface="华文楷体" pitchFamily="2" charset="-122"/>
              <a:ea typeface="华文楷体" pitchFamily="2" charset="-122"/>
              <a:sym typeface="+mn-ea"/>
            </a:endParaRPr>
          </a:p>
          <a:p>
            <a:pPr marL="514350" indent="-514350">
              <a:buClr>
                <a:srgbClr val="3191D3"/>
              </a:buClr>
              <a:buSzPct val="65000"/>
              <a:buFont typeface="+mj-ea"/>
              <a:buAutoNum type="circleNumDbPlain"/>
            </a:pPr>
            <a:endParaRPr lang="zh-CN" altLang="en-US" b="1" dirty="0">
              <a:latin typeface="华文楷体" pitchFamily="2" charset="-122"/>
              <a:ea typeface="华文楷体" pitchFamily="2"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b="1" dirty="0">
                <a:latin typeface="Arial" panose="020B0604020202020204" pitchFamily="34" charset="0"/>
                <a:ea typeface="宋体" panose="02010600030101010101" pitchFamily="2" charset="-122"/>
                <a:sym typeface="+mn-ea"/>
              </a:rPr>
              <a:t>信息系统安全审计概述</a:t>
            </a:r>
            <a:endParaRPr lang="zh-CN" altLang="en-US"/>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4、</a:t>
            </a:r>
            <a:r>
              <a:rPr lang="zh-CN" b="1" dirty="0" smtClean="0">
                <a:latin typeface="华文楷体" pitchFamily="2" charset="-122"/>
                <a:ea typeface="华文楷体" pitchFamily="2" charset="-122"/>
                <a:sym typeface="+mn-ea"/>
              </a:rPr>
              <a:t>分类</a:t>
            </a:r>
            <a:r>
              <a:rPr lang="zh-CN" altLang="en-US" b="1" dirty="0">
                <a:latin typeface="华文楷体" pitchFamily="2" charset="-122"/>
                <a:ea typeface="华文楷体" pitchFamily="2" charset="-122"/>
              </a:rPr>
              <a:t>：</a:t>
            </a:r>
            <a:endParaRPr lang="en-US" altLang="zh-CN" b="1" dirty="0">
              <a:latin typeface="华文楷体" pitchFamily="2" charset="-122"/>
              <a:ea typeface="华文楷体" pitchFamily="2" charset="-122"/>
            </a:endParaRPr>
          </a:p>
        </p:txBody>
      </p:sp>
      <p:sp>
        <p:nvSpPr>
          <p:cNvPr id="4" name="文本框 3"/>
          <p:cNvSpPr txBox="1"/>
          <p:nvPr/>
        </p:nvSpPr>
        <p:spPr>
          <a:xfrm>
            <a:off x="636270" y="1835785"/>
            <a:ext cx="8191500" cy="3459480"/>
          </a:xfrm>
          <a:prstGeom prst="rect">
            <a:avLst/>
          </a:prstGeom>
          <a:noFill/>
        </p:spPr>
        <p:txBody>
          <a:bodyPr wrap="square" rtlCol="0">
            <a:spAutoFit/>
          </a:bodyPr>
          <a:lstStyle/>
          <a:p>
            <a:pPr lvl="1">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按照审计分析的对象，分为</a:t>
            </a:r>
          </a:p>
          <a:p>
            <a:pPr marL="914400" lvl="1"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针对主机的审计</a:t>
            </a:r>
          </a:p>
          <a:p>
            <a:pPr marL="914400" lvl="1"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针对网络的审计</a:t>
            </a:r>
          </a:p>
          <a:p>
            <a:pPr lvl="1">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按照审计的工作方式，分为</a:t>
            </a:r>
          </a:p>
          <a:p>
            <a:pPr marL="914400" lvl="1"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集中式安全审计</a:t>
            </a:r>
          </a:p>
          <a:p>
            <a:pPr marL="914400" lvl="1"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分布式安全审计</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barn(inVertical)">
                                      <p:cBhvr>
                                        <p:cTn id="13" dur="500"/>
                                        <p:tgtEl>
                                          <p:spTgt spid="4">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barn(inVertical)">
                                      <p:cBhvr>
                                        <p:cTn id="16" dur="500"/>
                                        <p:tgtEl>
                                          <p:spTgt spid="4">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barn(inVertical)">
                                      <p:cBhvr>
                                        <p:cTn id="19"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安全</a:t>
            </a:r>
            <a:r>
              <a:rPr lang="zh-CN" altLang="en-US" b="1" dirty="0"/>
              <a:t>审计系统的体系结构</a:t>
            </a:r>
          </a:p>
        </p:txBody>
      </p:sp>
      <p:sp>
        <p:nvSpPr>
          <p:cNvPr id="3" name="内容占位符 2"/>
          <p:cNvSpPr>
            <a:spLocks noGrp="1"/>
          </p:cNvSpPr>
          <p:nvPr>
            <p:ph idx="1"/>
          </p:nvPr>
        </p:nvSpPr>
        <p:spPr/>
        <p:txBody>
          <a:bodyPr/>
          <a:lstStyle/>
          <a:p>
            <a:pPr marL="0" indent="0">
              <a:buNone/>
            </a:pPr>
            <a:r>
              <a:rPr lang="en-US" altLang="zh-CN" b="1" dirty="0" smtClean="0">
                <a:latin typeface="楷体_GB2312" pitchFamily="49" charset="-122"/>
                <a:ea typeface="楷体_GB2312" pitchFamily="49" charset="-122"/>
                <a:sym typeface="+mn-ea"/>
              </a:rPr>
              <a:t>1</a:t>
            </a:r>
            <a:r>
              <a:rPr lang="en-US" altLang="zh-CN" b="1" dirty="0" smtClean="0">
                <a:latin typeface="华文楷体" pitchFamily="2" charset="-122"/>
                <a:ea typeface="华文楷体" pitchFamily="2" charset="-122"/>
                <a:sym typeface="+mn-ea"/>
              </a:rPr>
              <a:t>、</a:t>
            </a:r>
            <a:r>
              <a:rPr lang="zh-CN" b="1" dirty="0" smtClean="0">
                <a:latin typeface="华文楷体" pitchFamily="2" charset="-122"/>
                <a:ea typeface="华文楷体" pitchFamily="2" charset="-122"/>
                <a:sym typeface="+mn-ea"/>
              </a:rPr>
              <a:t>信息</a:t>
            </a:r>
            <a:r>
              <a:rPr lang="zh-CN" b="1" dirty="0">
                <a:latin typeface="华文楷体" pitchFamily="2" charset="-122"/>
                <a:ea typeface="华文楷体" pitchFamily="2" charset="-122"/>
                <a:sym typeface="+mn-ea"/>
              </a:rPr>
              <a:t>安全审计系统的一般组成</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graphicFrame>
        <p:nvGraphicFramePr>
          <p:cNvPr id="4" name="对象 -2147482556"/>
          <p:cNvGraphicFramePr>
            <a:graphicFrameLocks noChangeAspect="1"/>
          </p:cNvGraphicFramePr>
          <p:nvPr>
            <p:extLst>
              <p:ext uri="{D42A27DB-BD31-4B8C-83A1-F6EECF244321}">
                <p14:modId xmlns:p14="http://schemas.microsoft.com/office/powerpoint/2010/main" val="2027647937"/>
              </p:ext>
            </p:extLst>
          </p:nvPr>
        </p:nvGraphicFramePr>
        <p:xfrm>
          <a:off x="1573872" y="3121716"/>
          <a:ext cx="5539055" cy="2747511"/>
        </p:xfrm>
        <a:graphic>
          <a:graphicData uri="http://schemas.openxmlformats.org/presentationml/2006/ole">
            <mc:AlternateContent xmlns:mc="http://schemas.openxmlformats.org/markup-compatibility/2006">
              <mc:Choice xmlns:v="urn:schemas-microsoft-com:vml" Requires="v">
                <p:oleObj spid="_x0000_s5167" r:id="rId3" imgW="4114800" imgH="1917700" progId="Visio.Drawing.11">
                  <p:embed/>
                </p:oleObj>
              </mc:Choice>
              <mc:Fallback>
                <p:oleObj r:id="rId3" imgW="4114800" imgH="1917700" progId="Visio.Drawing.11">
                  <p:embed/>
                  <p:pic>
                    <p:nvPicPr>
                      <p:cNvPr id="0" name="图片 3075"/>
                      <p:cNvPicPr/>
                      <p:nvPr/>
                    </p:nvPicPr>
                    <p:blipFill>
                      <a:blip r:embed="rId4"/>
                      <a:stretch>
                        <a:fillRect/>
                      </a:stretch>
                    </p:blipFill>
                    <p:spPr>
                      <a:xfrm>
                        <a:off x="1573872" y="3121716"/>
                        <a:ext cx="5539055" cy="2747511"/>
                      </a:xfrm>
                      <a:prstGeom prst="rect">
                        <a:avLst/>
                      </a:prstGeom>
                      <a:noFill/>
                      <a:ln w="9525">
                        <a:noFill/>
                        <a:miter/>
                      </a:ln>
                    </p:spPr>
                  </p:pic>
                </p:oleObj>
              </mc:Fallback>
            </mc:AlternateContent>
          </a:graphicData>
        </a:graphic>
      </p:graphicFrame>
      <p:sp>
        <p:nvSpPr>
          <p:cNvPr id="5" name="文本框 4"/>
          <p:cNvSpPr txBox="1"/>
          <p:nvPr/>
        </p:nvSpPr>
        <p:spPr>
          <a:xfrm>
            <a:off x="874061" y="1839135"/>
            <a:ext cx="7238810" cy="861774"/>
          </a:xfrm>
          <a:prstGeom prst="rect">
            <a:avLst/>
          </a:prstGeom>
          <a:noFill/>
        </p:spPr>
        <p:txBody>
          <a:bodyPr wrap="square" rtlCol="0">
            <a:spAutoFit/>
          </a:bodyPr>
          <a:lstStyle/>
          <a:p>
            <a:pPr marL="457200" indent="-457200">
              <a:buFont typeface="Arial" panose="020B0604020202020204" pitchFamily="34" charset="0"/>
              <a:buChar char="•"/>
            </a:pPr>
            <a:r>
              <a:rPr lang="zh-CN" altLang="en-US" sz="2000" b="1" dirty="0" smtClean="0">
                <a:latin typeface="华文楷体" pitchFamily="2" charset="-122"/>
                <a:ea typeface="华文楷体" pitchFamily="2" charset="-122"/>
                <a:sym typeface="+mn-ea"/>
              </a:rPr>
              <a:t>为了满足安全审计的功能需要而研制和部署的。</a:t>
            </a:r>
            <a:endParaRPr lang="en-US" altLang="zh-CN" sz="2000" b="1" dirty="0" smtClean="0">
              <a:latin typeface="华文楷体" pitchFamily="2" charset="-122"/>
              <a:ea typeface="华文楷体" pitchFamily="2" charset="-122"/>
              <a:sym typeface="+mn-ea"/>
            </a:endParaRPr>
          </a:p>
          <a:p>
            <a:pPr marL="457200" indent="-457200">
              <a:buFont typeface="Arial" panose="020B0604020202020204" pitchFamily="34" charset="0"/>
              <a:buChar char="•"/>
            </a:pPr>
            <a:r>
              <a:rPr lang="zh-CN" altLang="en-US" sz="2000" b="1" dirty="0" smtClean="0">
                <a:latin typeface="华文楷体" pitchFamily="2" charset="-122"/>
                <a:ea typeface="华文楷体" pitchFamily="2" charset="-122"/>
                <a:sym typeface="+mn-ea"/>
              </a:rPr>
              <a:t>一般而言</a:t>
            </a:r>
            <a:r>
              <a:rPr lang="zh-CN" altLang="en-US" sz="2000" b="1" dirty="0">
                <a:latin typeface="华文楷体" pitchFamily="2" charset="-122"/>
                <a:ea typeface="华文楷体" pitchFamily="2" charset="-122"/>
                <a:sym typeface="+mn-ea"/>
              </a:rPr>
              <a:t>，一个完整的安全审计系统如图所</a:t>
            </a:r>
            <a:r>
              <a:rPr lang="zh-CN" altLang="en-US" sz="2000" b="1" dirty="0" smtClean="0">
                <a:latin typeface="华文楷体" pitchFamily="2" charset="-122"/>
                <a:ea typeface="华文楷体" pitchFamily="2" charset="-122"/>
                <a:sym typeface="+mn-ea"/>
              </a:rPr>
              <a:t>示：</a:t>
            </a:r>
            <a:endParaRPr lang="zh-CN" altLang="en-US" sz="2000" b="1" dirty="0">
              <a:latin typeface="华文楷体" pitchFamily="2" charset="-122"/>
              <a:ea typeface="华文楷体" pitchFamily="2"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安全审计系统的体系结构</a:t>
            </a:r>
          </a:p>
        </p:txBody>
      </p:sp>
      <p:sp>
        <p:nvSpPr>
          <p:cNvPr id="3" name="内容占位符 2"/>
          <p:cNvSpPr>
            <a:spLocks noGrp="1"/>
          </p:cNvSpPr>
          <p:nvPr>
            <p:ph idx="1"/>
          </p:nvPr>
        </p:nvSpPr>
        <p:spPr/>
        <p:txBody>
          <a:bodyPr/>
          <a:lstStyle/>
          <a:p>
            <a:pPr marL="0" indent="0">
              <a:buNone/>
            </a:pPr>
            <a:r>
              <a:rPr lang="en-US" altLang="zh-CN" b="1" dirty="0" smtClean="0">
                <a:latin typeface="楷体_GB2312" pitchFamily="49" charset="-122"/>
                <a:ea typeface="楷体_GB2312" pitchFamily="49" charset="-122"/>
                <a:sym typeface="+mn-ea"/>
              </a:rPr>
              <a:t>2、</a:t>
            </a:r>
            <a:r>
              <a:rPr lang="zh-CN" b="1" dirty="0" smtClean="0">
                <a:latin typeface="华文楷体" pitchFamily="2" charset="-122"/>
                <a:ea typeface="华文楷体" pitchFamily="2" charset="-122"/>
                <a:sym typeface="+mn-ea"/>
              </a:rPr>
              <a:t>集中式</a:t>
            </a:r>
            <a:r>
              <a:rPr lang="zh-CN" b="1" dirty="0">
                <a:latin typeface="华文楷体" pitchFamily="2" charset="-122"/>
                <a:ea typeface="华文楷体" pitchFamily="2" charset="-122"/>
                <a:sym typeface="+mn-ea"/>
              </a:rPr>
              <a:t>安全审计系统体系结构</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6" name="文本框 5"/>
          <p:cNvSpPr txBox="1"/>
          <p:nvPr/>
        </p:nvSpPr>
        <p:spPr>
          <a:xfrm>
            <a:off x="841375" y="1861820"/>
            <a:ext cx="7235825" cy="487680"/>
          </a:xfrm>
          <a:prstGeom prst="rect">
            <a:avLst/>
          </a:prstGeom>
          <a:noFill/>
        </p:spPr>
        <p:txBody>
          <a:bodyPr wrap="square" rtlCol="0">
            <a:spAutoFit/>
          </a:bodyPr>
          <a:lstStyle/>
          <a:p>
            <a:r>
              <a:rPr lang="zh-CN" altLang="en-US" b="1" dirty="0">
                <a:latin typeface="楷体_GB2312" pitchFamily="49" charset="-122"/>
                <a:ea typeface="楷体_GB2312" pitchFamily="49" charset="-122"/>
                <a:sym typeface="+mn-ea"/>
              </a:rPr>
              <a:t>集中式安全</a:t>
            </a:r>
            <a:r>
              <a:rPr lang="zh-CN" altLang="en-US" b="1" dirty="0">
                <a:latin typeface="华文楷体" pitchFamily="2" charset="-122"/>
                <a:ea typeface="华文楷体" pitchFamily="2" charset="-122"/>
                <a:sym typeface="+mn-ea"/>
              </a:rPr>
              <a:t>审计</a:t>
            </a:r>
            <a:r>
              <a:rPr lang="zh-CN" altLang="en-US" b="1" dirty="0">
                <a:latin typeface="楷体_GB2312" pitchFamily="49" charset="-122"/>
                <a:ea typeface="楷体_GB2312" pitchFamily="49" charset="-122"/>
                <a:sym typeface="+mn-ea"/>
              </a:rPr>
              <a:t>系统体系结构如图所示</a:t>
            </a:r>
          </a:p>
        </p:txBody>
      </p:sp>
      <p:graphicFrame>
        <p:nvGraphicFramePr>
          <p:cNvPr id="4" name="对象 -2147482555"/>
          <p:cNvGraphicFramePr>
            <a:graphicFrameLocks noChangeAspect="1"/>
          </p:cNvGraphicFramePr>
          <p:nvPr>
            <p:extLst>
              <p:ext uri="{D42A27DB-BD31-4B8C-83A1-F6EECF244321}">
                <p14:modId xmlns:p14="http://schemas.microsoft.com/office/powerpoint/2010/main" val="3775995505"/>
              </p:ext>
            </p:extLst>
          </p:nvPr>
        </p:nvGraphicFramePr>
        <p:xfrm>
          <a:off x="1040561" y="2743218"/>
          <a:ext cx="7062878" cy="2918406"/>
        </p:xfrm>
        <a:graphic>
          <a:graphicData uri="http://schemas.openxmlformats.org/presentationml/2006/ole">
            <mc:AlternateContent xmlns:mc="http://schemas.openxmlformats.org/markup-compatibility/2006">
              <mc:Choice xmlns:v="urn:schemas-microsoft-com:vml" Requires="v">
                <p:oleObj spid="_x0000_s6191" r:id="rId3" imgW="7611110" imgH="2695575" progId="Visio.Drawing.11">
                  <p:embed/>
                </p:oleObj>
              </mc:Choice>
              <mc:Fallback>
                <p:oleObj r:id="rId3" imgW="7611110" imgH="2695575" progId="Visio.Drawing.11">
                  <p:embed/>
                  <p:pic>
                    <p:nvPicPr>
                      <p:cNvPr id="0" name="图片 7"/>
                      <p:cNvPicPr/>
                      <p:nvPr/>
                    </p:nvPicPr>
                    <p:blipFill>
                      <a:blip r:embed="rId4"/>
                      <a:stretch>
                        <a:fillRect/>
                      </a:stretch>
                    </p:blipFill>
                    <p:spPr>
                      <a:xfrm>
                        <a:off x="1040561" y="2743218"/>
                        <a:ext cx="7062878" cy="2918406"/>
                      </a:xfrm>
                      <a:prstGeom prst="rect">
                        <a:avLst/>
                      </a:prstGeom>
                      <a:noFill/>
                      <a:ln w="9525">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sym typeface="+mn-ea"/>
              </a:rPr>
              <a:t>安全审计系统的体系结构</a:t>
            </a:r>
            <a:endParaRPr lang="zh-CN" altLang="en-US"/>
          </a:p>
        </p:txBody>
      </p:sp>
      <p:sp>
        <p:nvSpPr>
          <p:cNvPr id="4" name="文本框 3"/>
          <p:cNvSpPr txBox="1"/>
          <p:nvPr/>
        </p:nvSpPr>
        <p:spPr>
          <a:xfrm>
            <a:off x="457308" y="1447852"/>
            <a:ext cx="8191500" cy="3493264"/>
          </a:xfrm>
          <a:prstGeom prst="rect">
            <a:avLst/>
          </a:prstGeom>
          <a:noFill/>
        </p:spPr>
        <p:txBody>
          <a:bodyPr wrap="square" rtlCol="0">
            <a:spAutoFit/>
          </a:bodyPr>
          <a:lstStyle/>
          <a:p>
            <a:pPr>
              <a:buClr>
                <a:srgbClr val="3191D3"/>
              </a:buClr>
              <a:buSzPct val="65000"/>
              <a:buFont typeface="Wingdings" panose="05000000000000000000" charset="0"/>
            </a:pPr>
            <a:r>
              <a:rPr lang="zh-CN" altLang="en-US" b="1" dirty="0" smtClean="0">
                <a:latin typeface="华文楷体" pitchFamily="2" charset="-122"/>
                <a:ea typeface="华文楷体" pitchFamily="2" charset="-122"/>
                <a:sym typeface="+mn-ea"/>
              </a:rPr>
              <a:t>集中式审计</a:t>
            </a:r>
            <a:r>
              <a:rPr lang="zh-CN" altLang="en-US" b="1" dirty="0">
                <a:latin typeface="华文楷体" pitchFamily="2" charset="-122"/>
                <a:ea typeface="华文楷体" pitchFamily="2" charset="-122"/>
                <a:sym typeface="+mn-ea"/>
              </a:rPr>
              <a:t>体系结构越来越显示出其缺陷，主要表现在:</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造成CPU、I/O以及网络通信的负担，而且中心计算机往往容易发生单点故障</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有可能因为单个点的失败造成整个审计数据的不可用</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集中式的体系结构，自适应能力差，不能根据环境变化自动更改配置</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分布式安全审计系统体系结构</a:t>
            </a:r>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3、</a:t>
            </a:r>
            <a:r>
              <a:rPr lang="zh-CN" altLang="en-US" b="1" dirty="0" smtClean="0">
                <a:latin typeface="华文楷体" pitchFamily="2" charset="-122"/>
                <a:ea typeface="华文楷体" pitchFamily="2" charset="-122"/>
                <a:sym typeface="+mn-ea"/>
              </a:rPr>
              <a:t>分布</a:t>
            </a:r>
            <a:r>
              <a:rPr lang="zh-CN" b="1" dirty="0" smtClean="0">
                <a:latin typeface="华文楷体" pitchFamily="2" charset="-122"/>
                <a:ea typeface="华文楷体" pitchFamily="2" charset="-122"/>
                <a:sym typeface="+mn-ea"/>
              </a:rPr>
              <a:t>式</a:t>
            </a:r>
            <a:r>
              <a:rPr lang="zh-CN" b="1" dirty="0">
                <a:latin typeface="华文楷体" pitchFamily="2" charset="-122"/>
                <a:ea typeface="华文楷体" pitchFamily="2" charset="-122"/>
                <a:sym typeface="+mn-ea"/>
              </a:rPr>
              <a:t>安全审计系统体系结构</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6" name="文本框 5"/>
          <p:cNvSpPr txBox="1"/>
          <p:nvPr/>
        </p:nvSpPr>
        <p:spPr>
          <a:xfrm>
            <a:off x="838200" y="1849120"/>
            <a:ext cx="7235825" cy="48768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典型的分布式安全审计系统结构如图所示</a:t>
            </a:r>
          </a:p>
        </p:txBody>
      </p:sp>
      <p:pic>
        <p:nvPicPr>
          <p:cNvPr id="1547" name="图片 15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066892" y="2619221"/>
            <a:ext cx="6825531" cy="3504825"/>
          </a:xfrm>
          <a:prstGeom prst="rect">
            <a:avLst/>
          </a:prstGeom>
          <a:noFill/>
          <a:ln>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547"/>
                                        </p:tgtEl>
                                        <p:attrNameLst>
                                          <p:attrName>style.visibility</p:attrName>
                                        </p:attrNameLst>
                                      </p:cBhvr>
                                      <p:to>
                                        <p:strVal val="visible"/>
                                      </p:to>
                                    </p:set>
                                    <p:animEffect transition="in" filter="circle(in)">
                                      <p:cBhvr>
                                        <p:cTn id="7" dur="2000"/>
                                        <p:tgtEl>
                                          <p:spTgt spid="1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sym typeface="+mn-ea"/>
              </a:rPr>
              <a:t>分布式安全审计系统体系结构</a:t>
            </a:r>
            <a:endParaRPr lang="zh-CN" altLang="en-US"/>
          </a:p>
        </p:txBody>
      </p:sp>
      <p:sp>
        <p:nvSpPr>
          <p:cNvPr id="4" name="文本框 3"/>
          <p:cNvSpPr txBox="1"/>
          <p:nvPr/>
        </p:nvSpPr>
        <p:spPr>
          <a:xfrm>
            <a:off x="623570" y="1271270"/>
            <a:ext cx="6843954" cy="1923604"/>
          </a:xfrm>
          <a:prstGeom prst="rect">
            <a:avLst/>
          </a:prstGeom>
          <a:noFill/>
        </p:spPr>
        <p:txBody>
          <a:bodyPr wrap="square" rtlCol="0">
            <a:spAutoFit/>
          </a:bodyPr>
          <a:lstStyle/>
          <a:p>
            <a:pPr>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它由三部分组成:</a:t>
            </a:r>
          </a:p>
          <a:p>
            <a:pPr marL="914400" lvl="1" indent="-457200">
              <a:spcBef>
                <a:spcPts val="600"/>
              </a:spcBef>
              <a:buClr>
                <a:srgbClr val="3191D3"/>
              </a:buClr>
              <a:buSzPct val="65000"/>
              <a:buFont typeface="Wingdings" panose="05000000000000000000" charset="0"/>
              <a:buChar char="n"/>
            </a:pPr>
            <a:r>
              <a:rPr lang="zh-CN" altLang="en-US" b="1" dirty="0">
                <a:solidFill>
                  <a:srgbClr val="FF0000"/>
                </a:solidFill>
                <a:latin typeface="华文楷体" pitchFamily="2" charset="-122"/>
                <a:ea typeface="华文楷体" pitchFamily="2" charset="-122"/>
                <a:sym typeface="+mn-ea"/>
              </a:rPr>
              <a:t>主机</a:t>
            </a:r>
            <a:r>
              <a:rPr lang="zh-CN" altLang="en-US" b="1" dirty="0">
                <a:latin typeface="华文楷体" pitchFamily="2" charset="-122"/>
                <a:ea typeface="华文楷体" pitchFamily="2" charset="-122"/>
                <a:sym typeface="+mn-ea"/>
              </a:rPr>
              <a:t>代理模块</a:t>
            </a:r>
          </a:p>
          <a:p>
            <a:pPr marL="914400" lvl="1" indent="-457200">
              <a:spcBef>
                <a:spcPts val="600"/>
              </a:spcBef>
              <a:buClr>
                <a:srgbClr val="3191D3"/>
              </a:buClr>
              <a:buSzPct val="65000"/>
              <a:buFont typeface="Wingdings" panose="05000000000000000000" charset="0"/>
              <a:buChar char="n"/>
            </a:pPr>
            <a:r>
              <a:rPr lang="zh-CN" altLang="en-US" b="1" dirty="0">
                <a:solidFill>
                  <a:srgbClr val="FF0000"/>
                </a:solidFill>
                <a:latin typeface="华文楷体" pitchFamily="2" charset="-122"/>
                <a:ea typeface="华文楷体" pitchFamily="2" charset="-122"/>
                <a:sym typeface="+mn-ea"/>
              </a:rPr>
              <a:t>局域网监视器</a:t>
            </a:r>
            <a:r>
              <a:rPr lang="zh-CN" altLang="en-US" b="1" dirty="0">
                <a:latin typeface="华文楷体" pitchFamily="2" charset="-122"/>
                <a:ea typeface="华文楷体" pitchFamily="2" charset="-122"/>
                <a:sym typeface="+mn-ea"/>
              </a:rPr>
              <a:t>代理模块</a:t>
            </a:r>
          </a:p>
          <a:p>
            <a:pPr marL="914400" lvl="1" indent="-457200">
              <a:spcBef>
                <a:spcPts val="600"/>
              </a:spcBef>
              <a:buClr>
                <a:srgbClr val="3191D3"/>
              </a:buClr>
              <a:buSzPct val="65000"/>
              <a:buFont typeface="Wingdings" panose="05000000000000000000" charset="0"/>
              <a:buChar char="n"/>
            </a:pPr>
            <a:r>
              <a:rPr lang="zh-CN" altLang="en-US" b="1" dirty="0">
                <a:solidFill>
                  <a:srgbClr val="FF0000"/>
                </a:solidFill>
                <a:latin typeface="华文楷体" pitchFamily="2" charset="-122"/>
                <a:ea typeface="华文楷体" pitchFamily="2" charset="-122"/>
                <a:sym typeface="+mn-ea"/>
              </a:rPr>
              <a:t>中央管理者</a:t>
            </a:r>
            <a:r>
              <a:rPr lang="zh-CN" altLang="en-US" b="1" dirty="0">
                <a:latin typeface="华文楷体" pitchFamily="2" charset="-122"/>
                <a:ea typeface="华文楷体" pitchFamily="2" charset="-122"/>
                <a:sym typeface="+mn-ea"/>
              </a:rPr>
              <a:t>模块</a:t>
            </a:r>
          </a:p>
        </p:txBody>
      </p:sp>
      <p:sp>
        <p:nvSpPr>
          <p:cNvPr id="3" name="文本框 2"/>
          <p:cNvSpPr txBox="1"/>
          <p:nvPr/>
        </p:nvSpPr>
        <p:spPr>
          <a:xfrm>
            <a:off x="725781" y="3581396"/>
            <a:ext cx="7148746" cy="2400657"/>
          </a:xfrm>
          <a:prstGeom prst="rect">
            <a:avLst/>
          </a:prstGeom>
          <a:noFill/>
        </p:spPr>
        <p:txBody>
          <a:bodyPr wrap="square" rtlCol="0">
            <a:spAutoFit/>
          </a:bodyPr>
          <a:lstStyle/>
          <a:p>
            <a:pPr>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优点:</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扩展能力强</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容错能力强</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兼容性强</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适应性强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ym typeface="+mn-ea"/>
              </a:rPr>
              <a:t>安全</a:t>
            </a:r>
            <a:r>
              <a:rPr lang="zh-CN" altLang="en-US" b="1" dirty="0">
                <a:sym typeface="+mn-ea"/>
              </a:rPr>
              <a:t>审计的一般流程</a:t>
            </a:r>
          </a:p>
        </p:txBody>
      </p:sp>
      <p:sp>
        <p:nvSpPr>
          <p:cNvPr id="4" name="文本框 3"/>
          <p:cNvSpPr txBox="1"/>
          <p:nvPr/>
        </p:nvSpPr>
        <p:spPr>
          <a:xfrm>
            <a:off x="546100" y="1052830"/>
            <a:ext cx="7378700" cy="3108543"/>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安全审计流程如图所</a:t>
            </a:r>
            <a:r>
              <a:rPr lang="zh-CN" altLang="en-US" b="1" dirty="0" smtClean="0">
                <a:latin typeface="华文楷体" pitchFamily="2" charset="-122"/>
                <a:ea typeface="华文楷体" pitchFamily="2" charset="-122"/>
                <a:sym typeface="+mn-ea"/>
              </a:rPr>
              <a:t>示：</a:t>
            </a:r>
            <a:endParaRPr lang="en-US" altLang="zh-CN" b="1" dirty="0" smtClean="0">
              <a:latin typeface="华文楷体" pitchFamily="2" charset="-122"/>
              <a:ea typeface="华文楷体" pitchFamily="2" charset="-122"/>
              <a:sym typeface="+mn-ea"/>
            </a:endParaRPr>
          </a:p>
          <a:p>
            <a:r>
              <a:rPr lang="zh-CN" altLang="zh-CN" sz="2000" dirty="0">
                <a:solidFill>
                  <a:srgbClr val="FF0000"/>
                </a:solidFill>
                <a:latin typeface="华文楷体" pitchFamily="2" charset="-122"/>
                <a:ea typeface="华文楷体" pitchFamily="2" charset="-122"/>
              </a:rPr>
              <a:t>事件采集设备</a:t>
            </a:r>
            <a:r>
              <a:rPr lang="zh-CN" altLang="zh-CN" sz="2000" dirty="0">
                <a:latin typeface="华文楷体" pitchFamily="2" charset="-122"/>
                <a:ea typeface="华文楷体" pitchFamily="2" charset="-122"/>
              </a:rPr>
              <a:t>通过硬件或软件代理对客体进行事件采集，并将采集到的事件发送至</a:t>
            </a:r>
            <a:r>
              <a:rPr lang="zh-CN" altLang="zh-CN" sz="2000" dirty="0">
                <a:solidFill>
                  <a:srgbClr val="FF0000"/>
                </a:solidFill>
                <a:latin typeface="华文楷体" pitchFamily="2" charset="-122"/>
                <a:ea typeface="华文楷体" pitchFamily="2" charset="-122"/>
              </a:rPr>
              <a:t>事件辨别与分析器</a:t>
            </a:r>
            <a:r>
              <a:rPr lang="zh-CN" altLang="zh-CN" sz="2000" dirty="0">
                <a:latin typeface="华文楷体" pitchFamily="2" charset="-122"/>
                <a:ea typeface="华文楷体" pitchFamily="2" charset="-122"/>
              </a:rPr>
              <a:t>进行事件辨别与分析，</a:t>
            </a:r>
            <a:r>
              <a:rPr lang="zh-CN" altLang="zh-CN" sz="2000" dirty="0">
                <a:solidFill>
                  <a:srgbClr val="FF0000"/>
                </a:solidFill>
                <a:latin typeface="华文楷体" pitchFamily="2" charset="-122"/>
                <a:ea typeface="华文楷体" pitchFamily="2" charset="-122"/>
              </a:rPr>
              <a:t>策略定义</a:t>
            </a:r>
            <a:r>
              <a:rPr lang="zh-CN" altLang="zh-CN" sz="2000" dirty="0">
                <a:latin typeface="华文楷体" pitchFamily="2" charset="-122"/>
                <a:ea typeface="华文楷体" pitchFamily="2" charset="-122"/>
              </a:rPr>
              <a:t>的危险事件，发送至报警处理部件，进行</a:t>
            </a:r>
            <a:r>
              <a:rPr lang="zh-CN" altLang="zh-CN" sz="2000" dirty="0">
                <a:solidFill>
                  <a:srgbClr val="FF0000"/>
                </a:solidFill>
                <a:latin typeface="华文楷体" pitchFamily="2" charset="-122"/>
                <a:ea typeface="华文楷体" pitchFamily="2" charset="-122"/>
              </a:rPr>
              <a:t>报警或响应</a:t>
            </a:r>
            <a:r>
              <a:rPr lang="zh-CN" altLang="zh-CN" sz="2000" dirty="0" smtClean="0">
                <a:latin typeface="华文楷体" pitchFamily="2" charset="-122"/>
                <a:ea typeface="华文楷体" pitchFamily="2" charset="-122"/>
              </a:rPr>
              <a:t>。</a:t>
            </a:r>
            <a:endParaRPr lang="en-US" altLang="zh-CN" sz="2000" dirty="0" smtClean="0">
              <a:latin typeface="华文楷体" pitchFamily="2" charset="-122"/>
              <a:ea typeface="华文楷体" pitchFamily="2" charset="-122"/>
            </a:endParaRPr>
          </a:p>
          <a:p>
            <a:r>
              <a:rPr lang="zh-CN" altLang="zh-CN" sz="2000" dirty="0" smtClean="0">
                <a:latin typeface="华文楷体" pitchFamily="2" charset="-122"/>
                <a:ea typeface="华文楷体" pitchFamily="2" charset="-122"/>
              </a:rPr>
              <a:t>对</a:t>
            </a:r>
            <a:r>
              <a:rPr lang="zh-CN" altLang="zh-CN" sz="2000" dirty="0">
                <a:latin typeface="华文楷体" pitchFamily="2" charset="-122"/>
                <a:ea typeface="华文楷体" pitchFamily="2" charset="-122"/>
              </a:rPr>
              <a:t>所有需产生审计信息的事件，产生审计信息，并发送至</a:t>
            </a:r>
            <a:r>
              <a:rPr lang="zh-CN" altLang="zh-CN" sz="2000" dirty="0">
                <a:solidFill>
                  <a:srgbClr val="FF0000"/>
                </a:solidFill>
                <a:latin typeface="华文楷体" pitchFamily="2" charset="-122"/>
                <a:ea typeface="华文楷体" pitchFamily="2" charset="-122"/>
              </a:rPr>
              <a:t>结果汇总</a:t>
            </a:r>
            <a:r>
              <a:rPr lang="zh-CN" altLang="zh-CN" sz="2000" dirty="0">
                <a:latin typeface="华文楷体" pitchFamily="2" charset="-122"/>
                <a:ea typeface="华文楷体" pitchFamily="2" charset="-122"/>
              </a:rPr>
              <a:t>，进行数据备份或报告生成</a:t>
            </a:r>
            <a:r>
              <a:rPr lang="zh-CN" altLang="zh-CN" sz="2000" dirty="0" smtClean="0">
                <a:latin typeface="华文楷体" pitchFamily="2" charset="-122"/>
                <a:ea typeface="华文楷体" pitchFamily="2" charset="-122"/>
              </a:rPr>
              <a:t>。</a:t>
            </a:r>
            <a:endParaRPr lang="en-US" altLang="zh-CN" sz="2000" dirty="0" smtClean="0">
              <a:latin typeface="华文楷体" pitchFamily="2" charset="-122"/>
              <a:ea typeface="华文楷体" pitchFamily="2" charset="-122"/>
            </a:endParaRPr>
          </a:p>
          <a:p>
            <a:r>
              <a:rPr lang="zh-CN" altLang="zh-CN" sz="2000" dirty="0" smtClean="0">
                <a:latin typeface="华文楷体" pitchFamily="2" charset="-122"/>
                <a:ea typeface="华文楷体" pitchFamily="2" charset="-122"/>
              </a:rPr>
              <a:t>需要</a:t>
            </a:r>
            <a:r>
              <a:rPr lang="zh-CN" altLang="zh-CN" sz="2000" dirty="0">
                <a:latin typeface="华文楷体" pitchFamily="2" charset="-122"/>
                <a:ea typeface="华文楷体" pitchFamily="2" charset="-122"/>
              </a:rPr>
              <a:t>注意的是，以上各阶段之间</a:t>
            </a:r>
            <a:r>
              <a:rPr lang="zh-CN" altLang="zh-CN" sz="2000" b="1" dirty="0">
                <a:solidFill>
                  <a:srgbClr val="FF0000"/>
                </a:solidFill>
                <a:latin typeface="华文楷体" pitchFamily="2" charset="-122"/>
                <a:ea typeface="华文楷体" pitchFamily="2" charset="-122"/>
              </a:rPr>
              <a:t>并没有明显的时间相关性</a:t>
            </a:r>
            <a:r>
              <a:rPr lang="zh-CN" altLang="zh-CN" sz="2000" dirty="0">
                <a:latin typeface="华文楷体" pitchFamily="2" charset="-122"/>
                <a:ea typeface="华文楷体" pitchFamily="2" charset="-122"/>
              </a:rPr>
              <a:t>，它们之间可能存在时间上的交叉</a:t>
            </a:r>
            <a:r>
              <a:rPr lang="zh-CN" altLang="zh-CN" sz="2000" dirty="0" smtClean="0">
                <a:latin typeface="华文楷体" pitchFamily="2" charset="-122"/>
                <a:ea typeface="华文楷体" pitchFamily="2" charset="-122"/>
              </a:rPr>
              <a:t>。</a:t>
            </a:r>
            <a:endParaRPr lang="zh-CN" altLang="en-US" sz="2000" dirty="0">
              <a:latin typeface="华文楷体" pitchFamily="2" charset="-122"/>
              <a:ea typeface="华文楷体" pitchFamily="2" charset="-122"/>
            </a:endParaRPr>
          </a:p>
        </p:txBody>
      </p:sp>
      <p:graphicFrame>
        <p:nvGraphicFramePr>
          <p:cNvPr id="3" name="对象 -2147482554"/>
          <p:cNvGraphicFramePr>
            <a:graphicFrameLocks noChangeAspect="1"/>
          </p:cNvGraphicFramePr>
          <p:nvPr>
            <p:extLst>
              <p:ext uri="{D42A27DB-BD31-4B8C-83A1-F6EECF244321}">
                <p14:modId xmlns:p14="http://schemas.microsoft.com/office/powerpoint/2010/main" val="1882545867"/>
              </p:ext>
            </p:extLst>
          </p:nvPr>
        </p:nvGraphicFramePr>
        <p:xfrm>
          <a:off x="1725267" y="4495772"/>
          <a:ext cx="5236265" cy="1661043"/>
        </p:xfrm>
        <a:graphic>
          <a:graphicData uri="http://schemas.openxmlformats.org/presentationml/2006/ole">
            <mc:AlternateContent xmlns:mc="http://schemas.openxmlformats.org/markup-compatibility/2006">
              <mc:Choice xmlns:v="urn:schemas-microsoft-com:vml" Requires="v">
                <p:oleObj spid="_x0000_s7216" r:id="rId3" imgW="4000500" imgH="1038225" progId="Visio.Drawing.11">
                  <p:embed/>
                </p:oleObj>
              </mc:Choice>
              <mc:Fallback>
                <p:oleObj r:id="rId3" imgW="4000500" imgH="1038225" progId="Visio.Drawing.11">
                  <p:embed/>
                  <p:pic>
                    <p:nvPicPr>
                      <p:cNvPr id="0" name="图片 3075"/>
                      <p:cNvPicPr/>
                      <p:nvPr/>
                    </p:nvPicPr>
                    <p:blipFill>
                      <a:blip r:embed="rId4"/>
                      <a:stretch>
                        <a:fillRect/>
                      </a:stretch>
                    </p:blipFill>
                    <p:spPr>
                      <a:xfrm>
                        <a:off x="1725267" y="4495772"/>
                        <a:ext cx="5236265" cy="1661043"/>
                      </a:xfrm>
                      <a:prstGeom prst="rect">
                        <a:avLst/>
                      </a:prstGeom>
                      <a:noFill/>
                      <a:ln w="9525">
                        <a:noFill/>
                        <a:miter/>
                      </a:ln>
                    </p:spPr>
                  </p:pic>
                </p:oleObj>
              </mc:Fallback>
            </mc:AlternateContent>
          </a:graphicData>
        </a:graphic>
      </p:graphicFrame>
      <p:sp>
        <p:nvSpPr>
          <p:cNvPr id="5" name="矩形 4"/>
          <p:cNvSpPr/>
          <p:nvPr/>
        </p:nvSpPr>
        <p:spPr bwMode="auto">
          <a:xfrm>
            <a:off x="1371684" y="4161373"/>
            <a:ext cx="3809900" cy="2086953"/>
          </a:xfrm>
          <a:prstGeom prst="rect">
            <a:avLst/>
          </a:prstGeom>
          <a:noFill/>
          <a:ln w="9525" cap="flat" cmpd="sng" algn="ctr">
            <a:noFill/>
            <a:prstDash val="solid"/>
            <a:round/>
            <a:headEnd type="none" w="med" len="med"/>
            <a:tailEnd type="none" w="med" len="med"/>
          </a:ln>
        </p:spPr>
        <p:txBody>
          <a:bodyPr vert="horz" wrap="square" lIns="91440" tIns="45720" rIns="91440" bIns="45720" numCol="1" rtlCol="0" anchor="t" anchorCtr="0" compatLnSpc="1">
            <a:spAutoFit/>
          </a:bodyPr>
          <a:lstStyle/>
          <a:p>
            <a:pPr marL="0" marR="0" indent="0" algn="ctr" defTabSz="914400" rtl="0" eaLnBrk="0" fontAlgn="base" latinLnBrk="0" hangingPunct="0">
              <a:lnSpc>
                <a:spcPct val="100000"/>
              </a:lnSpc>
              <a:spcBef>
                <a:spcPct val="50000"/>
              </a:spcBef>
              <a:spcAft>
                <a:spcPct val="0"/>
              </a:spcAft>
              <a:buClrTx/>
              <a:buSzTx/>
              <a:buFontTx/>
              <a:buNone/>
            </a:pPr>
            <a:endParaRPr kumimoji="0" lang="zh-CN" alt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p:txBody>
      </p:sp>
      <p:cxnSp>
        <p:nvCxnSpPr>
          <p:cNvPr id="7" name="直接箭头连接符 6"/>
          <p:cNvCxnSpPr/>
          <p:nvPr/>
        </p:nvCxnSpPr>
        <p:spPr bwMode="auto">
          <a:xfrm flipV="1">
            <a:off x="5029188" y="5029158"/>
            <a:ext cx="1066772" cy="838178"/>
          </a:xfrm>
          <a:prstGeom prst="straightConnector1">
            <a:avLst/>
          </a:prstGeom>
          <a:ln w="19050">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wipe(down)">
                                      <p:cBhvr>
                                        <p:cTn id="14" dur="500"/>
                                        <p:tgtEl>
                                          <p:spTgt spid="4">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circle(in)">
                                      <p:cBhvr>
                                        <p:cTn id="19" dur="2000"/>
                                        <p:tgtEl>
                                          <p:spTgt spid="4">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heel(1)">
                                      <p:cBhvr>
                                        <p:cTn id="24"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安全</a:t>
            </a:r>
            <a:r>
              <a:rPr lang="zh-CN" altLang="en-US" b="1" dirty="0"/>
              <a:t>审计的一般流程</a:t>
            </a:r>
          </a:p>
        </p:txBody>
      </p:sp>
      <p:sp>
        <p:nvSpPr>
          <p:cNvPr id="3" name="内容占位符 2"/>
          <p:cNvSpPr>
            <a:spLocks noGrp="1"/>
          </p:cNvSpPr>
          <p:nvPr>
            <p:ph idx="1"/>
          </p:nvPr>
        </p:nvSpPr>
        <p:spPr/>
        <p:txBody>
          <a:bodyPr/>
          <a:lstStyle/>
          <a:p>
            <a:pPr marL="0" indent="0">
              <a:buNone/>
            </a:pPr>
            <a:r>
              <a:rPr lang="en-US" altLang="zh-CN" b="1" dirty="0" smtClean="0">
                <a:latin typeface="楷体_GB2312" pitchFamily="49" charset="-122"/>
                <a:ea typeface="楷体_GB2312" pitchFamily="49" charset="-122"/>
                <a:sym typeface="+mn-ea"/>
              </a:rPr>
              <a:t>1</a:t>
            </a:r>
            <a:r>
              <a:rPr lang="en-US" altLang="zh-CN" b="1" dirty="0" smtClean="0">
                <a:latin typeface="华文楷体" pitchFamily="2" charset="-122"/>
                <a:ea typeface="华文楷体" pitchFamily="2" charset="-122"/>
                <a:sym typeface="+mn-ea"/>
              </a:rPr>
              <a:t>、</a:t>
            </a:r>
            <a:r>
              <a:rPr lang="zh-CN" b="1" dirty="0" smtClean="0">
                <a:latin typeface="华文楷体" pitchFamily="2" charset="-122"/>
                <a:ea typeface="华文楷体" pitchFamily="2" charset="-122"/>
                <a:sym typeface="+mn-ea"/>
              </a:rPr>
              <a:t>策略</a:t>
            </a:r>
            <a:r>
              <a:rPr lang="zh-CN" b="1" dirty="0">
                <a:latin typeface="华文楷体" pitchFamily="2" charset="-122"/>
                <a:ea typeface="华文楷体" pitchFamily="2" charset="-122"/>
                <a:sym typeface="+mn-ea"/>
              </a:rPr>
              <a:t>定义</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6" name="文本框 5"/>
          <p:cNvSpPr txBox="1"/>
          <p:nvPr/>
        </p:nvSpPr>
        <p:spPr>
          <a:xfrm>
            <a:off x="838200" y="1798320"/>
            <a:ext cx="7235825" cy="286512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安全审计应在一定的审计策略下进行，审计策略规定哪些信息需要采集、哪些事件是危险事件、以及对这些事件应如何处理等。</a:t>
            </a:r>
          </a:p>
          <a:p>
            <a:endParaRPr lang="zh-CN" altLang="en-US" b="1" dirty="0">
              <a:latin typeface="华文楷体" pitchFamily="2" charset="-122"/>
              <a:ea typeface="华文楷体" pitchFamily="2" charset="-122"/>
              <a:sym typeface="+mn-ea"/>
            </a:endParaRPr>
          </a:p>
          <a:p>
            <a:r>
              <a:rPr lang="zh-CN" altLang="en-US" b="1" dirty="0">
                <a:latin typeface="华文楷体" pitchFamily="2" charset="-122"/>
                <a:ea typeface="华文楷体" pitchFamily="2" charset="-122"/>
                <a:sym typeface="+mn-ea"/>
              </a:rPr>
              <a:t>因而审计前应制定一定的审计策略，并下发到各审计单元。</a:t>
            </a:r>
          </a:p>
        </p:txBody>
      </p:sp>
    </p:spTree>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安全审计的一般流程</a:t>
            </a:r>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2、</a:t>
            </a:r>
            <a:r>
              <a:rPr lang="zh-CN" b="1" dirty="0" smtClean="0">
                <a:latin typeface="华文楷体" pitchFamily="2" charset="-122"/>
                <a:ea typeface="华文楷体" pitchFamily="2" charset="-122"/>
                <a:sym typeface="+mn-ea"/>
              </a:rPr>
              <a:t>事件</a:t>
            </a:r>
            <a:r>
              <a:rPr lang="zh-CN" b="1" dirty="0">
                <a:latin typeface="华文楷体" pitchFamily="2" charset="-122"/>
                <a:ea typeface="华文楷体" pitchFamily="2" charset="-122"/>
                <a:sym typeface="+mn-ea"/>
              </a:rPr>
              <a:t>采集</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4" name="文本框 3"/>
          <p:cNvSpPr txBox="1"/>
          <p:nvPr/>
        </p:nvSpPr>
        <p:spPr>
          <a:xfrm>
            <a:off x="597535" y="1758950"/>
            <a:ext cx="8191500" cy="2468880"/>
          </a:xfrm>
          <a:prstGeom prst="rect">
            <a:avLst/>
          </a:prstGeom>
          <a:noFill/>
        </p:spPr>
        <p:txBody>
          <a:bodyPr wrap="square" rtlCol="0">
            <a:spAutoFit/>
          </a:bodyPr>
          <a:lstStyle/>
          <a:p>
            <a:pPr>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事件采集阶段包含以下行为：</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按照预定的审计策略</a:t>
            </a:r>
            <a:r>
              <a:rPr lang="zh-CN" altLang="en-US" b="1" dirty="0">
                <a:solidFill>
                  <a:srgbClr val="FF0000"/>
                </a:solidFill>
                <a:latin typeface="华文楷体" pitchFamily="2" charset="-122"/>
                <a:ea typeface="华文楷体" pitchFamily="2" charset="-122"/>
                <a:sym typeface="+mn-ea"/>
              </a:rPr>
              <a:t>对客体进行相关审计事件采集</a:t>
            </a:r>
            <a:r>
              <a:rPr lang="zh-CN" altLang="en-US" b="1" dirty="0">
                <a:latin typeface="华文楷体" pitchFamily="2" charset="-122"/>
                <a:ea typeface="华文楷体" pitchFamily="2" charset="-122"/>
                <a:sym typeface="+mn-ea"/>
              </a:rPr>
              <a:t>。形成的结果交由事件后续的各阶段来处理</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将事件其他各阶段提交的审计策略分发至各审计代理，审计代理依据策略进行客体事件采集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安全审计的一般流程</a:t>
            </a:r>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3、</a:t>
            </a:r>
            <a:r>
              <a:rPr lang="zh-CN" b="1" dirty="0" smtClean="0">
                <a:latin typeface="华文楷体" pitchFamily="2" charset="-122"/>
                <a:ea typeface="华文楷体" pitchFamily="2" charset="-122"/>
                <a:sym typeface="+mn-ea"/>
              </a:rPr>
              <a:t>事件</a:t>
            </a:r>
            <a:r>
              <a:rPr lang="zh-CN" b="1" dirty="0">
                <a:latin typeface="华文楷体" pitchFamily="2" charset="-122"/>
                <a:ea typeface="华文楷体" pitchFamily="2" charset="-122"/>
                <a:sym typeface="+mn-ea"/>
              </a:rPr>
              <a:t>分析</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4" name="文本框 3"/>
          <p:cNvSpPr txBox="1"/>
          <p:nvPr/>
        </p:nvSpPr>
        <p:spPr>
          <a:xfrm>
            <a:off x="597535" y="1758950"/>
            <a:ext cx="8191500" cy="4001095"/>
          </a:xfrm>
          <a:prstGeom prst="rect">
            <a:avLst/>
          </a:prstGeom>
          <a:noFill/>
        </p:spPr>
        <p:txBody>
          <a:bodyPr wrap="square" rtlCol="0">
            <a:spAutoFit/>
          </a:bodyPr>
          <a:lstStyle/>
          <a:p>
            <a:pPr>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事件分析阶段包含以下行为：</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按照预定策略，对采集到事件进行事件</a:t>
            </a:r>
            <a:r>
              <a:rPr lang="zh-CN" altLang="en-US" b="1" dirty="0">
                <a:solidFill>
                  <a:srgbClr val="FF0000"/>
                </a:solidFill>
                <a:latin typeface="华文楷体" pitchFamily="2" charset="-122"/>
                <a:ea typeface="华文楷体" pitchFamily="2" charset="-122"/>
                <a:sym typeface="+mn-ea"/>
              </a:rPr>
              <a:t>辨析，决定</a:t>
            </a:r>
          </a:p>
          <a:p>
            <a:pPr marL="1371600" lvl="2" indent="-457200">
              <a:spcBef>
                <a:spcPts val="600"/>
              </a:spcBef>
              <a:buClr>
                <a:srgbClr val="3191D3"/>
              </a:buClr>
              <a:buSzPct val="65000"/>
              <a:buFont typeface="Wingdings" panose="05000000000000000000" charset="0"/>
              <a:buChar char="ü"/>
            </a:pPr>
            <a:r>
              <a:rPr lang="zh-CN" altLang="en-US" b="1" dirty="0">
                <a:latin typeface="华文楷体" pitchFamily="2" charset="-122"/>
                <a:ea typeface="华文楷体" pitchFamily="2" charset="-122"/>
                <a:sym typeface="+mn-ea"/>
              </a:rPr>
              <a:t>忽略该事件</a:t>
            </a:r>
          </a:p>
          <a:p>
            <a:pPr marL="1371600" lvl="2" indent="-457200">
              <a:spcBef>
                <a:spcPts val="600"/>
              </a:spcBef>
              <a:buClr>
                <a:srgbClr val="3191D3"/>
              </a:buClr>
              <a:buSzPct val="65000"/>
              <a:buFont typeface="Wingdings" panose="05000000000000000000" charset="0"/>
              <a:buChar char="ü"/>
            </a:pPr>
            <a:r>
              <a:rPr lang="zh-CN" altLang="en-US" b="1" dirty="0">
                <a:latin typeface="华文楷体" pitchFamily="2" charset="-122"/>
                <a:ea typeface="华文楷体" pitchFamily="2" charset="-122"/>
                <a:sym typeface="+mn-ea"/>
              </a:rPr>
              <a:t>产生审计信息</a:t>
            </a:r>
          </a:p>
          <a:p>
            <a:pPr marL="1371600" lvl="2" indent="-457200">
              <a:spcBef>
                <a:spcPts val="600"/>
              </a:spcBef>
              <a:buClr>
                <a:srgbClr val="3191D3"/>
              </a:buClr>
              <a:buSzPct val="65000"/>
              <a:buFont typeface="Wingdings" panose="05000000000000000000" charset="0"/>
              <a:buChar char="ü"/>
            </a:pPr>
            <a:r>
              <a:rPr lang="zh-CN" altLang="en-US" b="1" dirty="0">
                <a:latin typeface="华文楷体" pitchFamily="2" charset="-122"/>
                <a:ea typeface="华文楷体" pitchFamily="2" charset="-122"/>
                <a:sym typeface="+mn-ea"/>
              </a:rPr>
              <a:t>产生审计信息并报警</a:t>
            </a:r>
          </a:p>
          <a:p>
            <a:pPr marL="1371600" lvl="2" indent="-457200">
              <a:spcBef>
                <a:spcPts val="600"/>
              </a:spcBef>
              <a:buClr>
                <a:srgbClr val="3191D3"/>
              </a:buClr>
              <a:buSzPct val="65000"/>
              <a:buFont typeface="Wingdings" panose="05000000000000000000" charset="0"/>
              <a:buChar char="ü"/>
            </a:pPr>
            <a:r>
              <a:rPr lang="zh-CN" altLang="en-US" b="1" dirty="0">
                <a:latin typeface="华文楷体" pitchFamily="2" charset="-122"/>
                <a:ea typeface="华文楷体" pitchFamily="2" charset="-122"/>
                <a:sym typeface="+mn-ea"/>
              </a:rPr>
              <a:t>产生审计信息且进行响应联动</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按照用户定义与预定策略，将事件分析结果生成审计记录，并形成审计报告</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安全审计的一般流程</a:t>
            </a:r>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4、</a:t>
            </a:r>
            <a:r>
              <a:rPr lang="zh-CN" b="1" dirty="0" smtClean="0">
                <a:latin typeface="华文楷体" pitchFamily="2" charset="-122"/>
                <a:ea typeface="华文楷体" pitchFamily="2" charset="-122"/>
                <a:sym typeface="+mn-ea"/>
              </a:rPr>
              <a:t>事件</a:t>
            </a:r>
            <a:r>
              <a:rPr lang="zh-CN" b="1" dirty="0">
                <a:latin typeface="华文楷体" pitchFamily="2" charset="-122"/>
                <a:ea typeface="华文楷体" pitchFamily="2" charset="-122"/>
                <a:sym typeface="+mn-ea"/>
              </a:rPr>
              <a:t>响应</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4" name="文本框 3"/>
          <p:cNvSpPr txBox="1"/>
          <p:nvPr/>
        </p:nvSpPr>
        <p:spPr>
          <a:xfrm>
            <a:off x="597535" y="1758950"/>
            <a:ext cx="8191500" cy="3459480"/>
          </a:xfrm>
          <a:prstGeom prst="rect">
            <a:avLst/>
          </a:prstGeom>
          <a:noFill/>
        </p:spPr>
        <p:txBody>
          <a:bodyPr wrap="square" rtlCol="0">
            <a:spAutoFit/>
          </a:bodyPr>
          <a:lstStyle/>
          <a:p>
            <a:pPr>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事件响应阶段是根据事件分析的结果采用相应的</a:t>
            </a:r>
            <a:r>
              <a:rPr lang="zh-CN" altLang="en-US" b="1" dirty="0">
                <a:solidFill>
                  <a:srgbClr val="FF0000"/>
                </a:solidFill>
                <a:latin typeface="华文楷体" pitchFamily="2" charset="-122"/>
                <a:ea typeface="华文楷体" pitchFamily="2" charset="-122"/>
                <a:sym typeface="+mn-ea"/>
              </a:rPr>
              <a:t>响应行动</a:t>
            </a:r>
            <a:r>
              <a:rPr lang="zh-CN" altLang="en-US" b="1" dirty="0">
                <a:latin typeface="华文楷体" pitchFamily="2" charset="-122"/>
                <a:ea typeface="华文楷体" pitchFamily="2" charset="-122"/>
                <a:sym typeface="+mn-ea"/>
              </a:rPr>
              <a:t>，包含以下行为：</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对事件分析阶段产生的报警信息、响应请求进行报警与响应</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按照预定策略，生成审计记录，写入审计数据库，并将各类审计分析报告发送到指定的对象</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按照预定策略对审计记录进行备份</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安全审计的一般流程</a:t>
            </a:r>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5、</a:t>
            </a:r>
            <a:r>
              <a:rPr lang="zh-CN" b="1" dirty="0" smtClean="0">
                <a:latin typeface="华文楷体" pitchFamily="2" charset="-122"/>
                <a:ea typeface="华文楷体" pitchFamily="2" charset="-122"/>
                <a:sym typeface="+mn-ea"/>
              </a:rPr>
              <a:t>结果</a:t>
            </a:r>
            <a:r>
              <a:rPr lang="zh-CN" b="1" dirty="0">
                <a:latin typeface="华文楷体" pitchFamily="2" charset="-122"/>
                <a:ea typeface="华文楷体" pitchFamily="2" charset="-122"/>
                <a:sym typeface="+mn-ea"/>
              </a:rPr>
              <a:t>汇总</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4" name="文本框 3"/>
          <p:cNvSpPr txBox="1"/>
          <p:nvPr/>
        </p:nvSpPr>
        <p:spPr>
          <a:xfrm>
            <a:off x="597535" y="1758950"/>
            <a:ext cx="8191500" cy="3063240"/>
          </a:xfrm>
          <a:prstGeom prst="rect">
            <a:avLst/>
          </a:prstGeom>
          <a:noFill/>
        </p:spPr>
        <p:txBody>
          <a:bodyPr wrap="square" rtlCol="0">
            <a:spAutoFit/>
          </a:bodyPr>
          <a:lstStyle/>
          <a:p>
            <a:pPr>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结果汇总阶段负责对</a:t>
            </a:r>
            <a:r>
              <a:rPr lang="zh-CN" altLang="en-US" b="1" dirty="0">
                <a:solidFill>
                  <a:srgbClr val="FF0000"/>
                </a:solidFill>
                <a:latin typeface="华文楷体" pitchFamily="2" charset="-122"/>
                <a:ea typeface="华文楷体" pitchFamily="2" charset="-122"/>
                <a:sym typeface="+mn-ea"/>
              </a:rPr>
              <a:t>事件分析</a:t>
            </a:r>
            <a:r>
              <a:rPr lang="zh-CN" altLang="en-US" b="1" dirty="0">
                <a:latin typeface="华文楷体" pitchFamily="2" charset="-122"/>
                <a:ea typeface="华文楷体" pitchFamily="2" charset="-122"/>
                <a:sym typeface="+mn-ea"/>
              </a:rPr>
              <a:t>及</a:t>
            </a:r>
            <a:r>
              <a:rPr lang="zh-CN" altLang="en-US" b="1" dirty="0">
                <a:solidFill>
                  <a:srgbClr val="FF0000"/>
                </a:solidFill>
                <a:latin typeface="华文楷体" pitchFamily="2" charset="-122"/>
                <a:ea typeface="华文楷体" pitchFamily="2" charset="-122"/>
                <a:sym typeface="+mn-ea"/>
              </a:rPr>
              <a:t>响应的结果</a:t>
            </a:r>
            <a:r>
              <a:rPr lang="zh-CN" altLang="en-US" b="1" dirty="0">
                <a:latin typeface="华文楷体" pitchFamily="2" charset="-122"/>
                <a:ea typeface="华文楷体" pitchFamily="2" charset="-122"/>
                <a:sym typeface="+mn-ea"/>
              </a:rPr>
              <a:t>进行汇总，主要包含以下行为：</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将各类审计报告进行分类汇总</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对审计结果进行适当的统计分析，形成分析报告</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根据用户需求和事件分析处理结果形成审计策略修改意见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ym typeface="+mn-ea"/>
              </a:rPr>
              <a:t>安全</a:t>
            </a:r>
            <a:r>
              <a:rPr lang="zh-CN" altLang="en-US" b="1" dirty="0">
                <a:sym typeface="+mn-ea"/>
              </a:rPr>
              <a:t>审计的数据源</a:t>
            </a:r>
          </a:p>
        </p:txBody>
      </p:sp>
      <p:sp>
        <p:nvSpPr>
          <p:cNvPr id="3" name="文本框 2"/>
          <p:cNvSpPr txBox="1"/>
          <p:nvPr/>
        </p:nvSpPr>
        <p:spPr>
          <a:xfrm>
            <a:off x="564515" y="1219835"/>
            <a:ext cx="8198375" cy="4909036"/>
          </a:xfrm>
          <a:prstGeom prst="rect">
            <a:avLst/>
          </a:prstGeom>
          <a:noFill/>
        </p:spPr>
        <p:txBody>
          <a:bodyPr wrap="square" rtlCol="0">
            <a:spAutoFit/>
          </a:bodyPr>
          <a:lstStyle/>
          <a:p>
            <a:pPr>
              <a:buClr>
                <a:srgbClr val="3191D3"/>
              </a:buClr>
              <a:buSzPct val="65000"/>
              <a:buFont typeface="Wingdings" panose="05000000000000000000" charset="0"/>
              <a:buChar char="n"/>
            </a:pPr>
            <a:r>
              <a:rPr lang="en-US" altLang="zh-CN" b="1" dirty="0">
                <a:latin typeface="华文楷体" pitchFamily="2" charset="-122"/>
                <a:ea typeface="华文楷体" pitchFamily="2" charset="-122"/>
                <a:sym typeface="+mn-ea"/>
              </a:rPr>
              <a:t> </a:t>
            </a:r>
            <a:r>
              <a:rPr lang="zh-CN" altLang="en-US" b="1" dirty="0">
                <a:latin typeface="华文楷体" pitchFamily="2" charset="-122"/>
                <a:ea typeface="华文楷体" pitchFamily="2" charset="-122"/>
                <a:sym typeface="+mn-ea"/>
              </a:rPr>
              <a:t>基于主机的数据源</a:t>
            </a:r>
          </a:p>
          <a:p>
            <a:pPr marL="715963" lvl="1" indent="-258763">
              <a:spcBef>
                <a:spcPts val="600"/>
              </a:spcBef>
              <a:buClr>
                <a:srgbClr val="3191D3"/>
              </a:buClr>
              <a:buSzPct val="65000"/>
              <a:buFont typeface="Arial" panose="020B0604020202020204" pitchFamily="34" charset="0"/>
              <a:buChar char="•"/>
            </a:pPr>
            <a:r>
              <a:rPr lang="zh-CN" altLang="en-US" sz="1600" dirty="0">
                <a:latin typeface="华文楷体" pitchFamily="2" charset="-122"/>
                <a:ea typeface="华文楷体" pitchFamily="2" charset="-122"/>
                <a:sym typeface="+mn-ea"/>
              </a:rPr>
              <a:t>操作系统的审计记录</a:t>
            </a:r>
          </a:p>
          <a:p>
            <a:pPr marL="715963" lvl="1" indent="-258763">
              <a:spcBef>
                <a:spcPts val="600"/>
              </a:spcBef>
              <a:buClr>
                <a:srgbClr val="3191D3"/>
              </a:buClr>
              <a:buSzPct val="65000"/>
              <a:buFont typeface="Arial" panose="020B0604020202020204" pitchFamily="34" charset="0"/>
              <a:buChar char="•"/>
            </a:pPr>
            <a:r>
              <a:rPr lang="zh-CN" altLang="en-US" sz="1600" dirty="0">
                <a:latin typeface="华文楷体" pitchFamily="2" charset="-122"/>
                <a:ea typeface="华文楷体" pitchFamily="2" charset="-122"/>
                <a:sym typeface="+mn-ea"/>
              </a:rPr>
              <a:t>系统日志</a:t>
            </a:r>
          </a:p>
          <a:p>
            <a:pPr marL="715963" lvl="1" indent="-258763">
              <a:spcBef>
                <a:spcPts val="600"/>
              </a:spcBef>
              <a:buClr>
                <a:srgbClr val="3191D3"/>
              </a:buClr>
              <a:buSzPct val="65000"/>
              <a:buFont typeface="Arial" panose="020B0604020202020204" pitchFamily="34" charset="0"/>
              <a:buChar char="•"/>
            </a:pPr>
            <a:r>
              <a:rPr lang="zh-CN" altLang="en-US" sz="1600" dirty="0">
                <a:latin typeface="华文楷体" pitchFamily="2" charset="-122"/>
                <a:ea typeface="华文楷体" pitchFamily="2" charset="-122"/>
                <a:sym typeface="+mn-ea"/>
              </a:rPr>
              <a:t>应用程序日志信息</a:t>
            </a:r>
          </a:p>
          <a:p>
            <a:pPr>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 基于网络的</a:t>
            </a:r>
            <a:r>
              <a:rPr lang="zh-CN" altLang="en-US" b="1" dirty="0" smtClean="0">
                <a:latin typeface="华文楷体" pitchFamily="2" charset="-122"/>
                <a:ea typeface="华文楷体" pitchFamily="2" charset="-122"/>
                <a:sym typeface="+mn-ea"/>
              </a:rPr>
              <a:t>数据源</a:t>
            </a:r>
            <a:endParaRPr lang="en-US" altLang="zh-CN" b="1" dirty="0" smtClean="0">
              <a:latin typeface="华文楷体" pitchFamily="2" charset="-122"/>
              <a:ea typeface="华文楷体" pitchFamily="2" charset="-122"/>
              <a:sym typeface="+mn-ea"/>
            </a:endParaRPr>
          </a:p>
          <a:p>
            <a:pPr marL="715963" lvl="1" indent="-258763">
              <a:spcBef>
                <a:spcPts val="600"/>
              </a:spcBef>
              <a:buClr>
                <a:srgbClr val="3191D3"/>
              </a:buClr>
              <a:buSzPct val="65000"/>
              <a:buFont typeface="Arial" panose="020B0604020202020204" pitchFamily="34" charset="0"/>
              <a:buChar char="•"/>
            </a:pPr>
            <a:r>
              <a:rPr lang="zh-CN" altLang="en-US" sz="1600" dirty="0">
                <a:latin typeface="华文楷体" pitchFamily="2" charset="-122"/>
                <a:ea typeface="华文楷体" pitchFamily="2" charset="-122"/>
                <a:sym typeface="+mn-ea"/>
              </a:rPr>
              <a:t>入侵检测数据，有优势：</a:t>
            </a:r>
            <a:endParaRPr lang="en-US" altLang="zh-CN" sz="1600" dirty="0">
              <a:latin typeface="华文楷体" pitchFamily="2" charset="-122"/>
              <a:ea typeface="华文楷体" pitchFamily="2" charset="-122"/>
              <a:sym typeface="+mn-ea"/>
            </a:endParaRPr>
          </a:p>
          <a:p>
            <a:pPr marL="715963" lvl="1" indent="-258763">
              <a:spcBef>
                <a:spcPts val="600"/>
              </a:spcBef>
              <a:buClr>
                <a:srgbClr val="3191D3"/>
              </a:buClr>
              <a:buSzPct val="65000"/>
              <a:buFont typeface="Arial" panose="020B0604020202020204" pitchFamily="34" charset="0"/>
              <a:buChar char="•"/>
            </a:pPr>
            <a:r>
              <a:rPr lang="zh-CN" altLang="zh-CN" sz="1600" dirty="0">
                <a:solidFill>
                  <a:srgbClr val="FF0000"/>
                </a:solidFill>
                <a:latin typeface="华文楷体" pitchFamily="2" charset="-122"/>
                <a:ea typeface="华文楷体" pitchFamily="2" charset="-122"/>
              </a:rPr>
              <a:t>通过网络被动监听的方式获取网络数据包</a:t>
            </a:r>
            <a:r>
              <a:rPr lang="zh-CN" altLang="zh-CN" sz="1600" dirty="0" smtClean="0">
                <a:latin typeface="华文楷体" pitchFamily="2" charset="-122"/>
                <a:ea typeface="华文楷体" pitchFamily="2" charset="-122"/>
              </a:rPr>
              <a:t>，不会</a:t>
            </a:r>
            <a:r>
              <a:rPr lang="zh-CN" altLang="zh-CN" sz="1600" dirty="0">
                <a:latin typeface="华文楷体" pitchFamily="2" charset="-122"/>
                <a:ea typeface="华文楷体" pitchFamily="2" charset="-122"/>
              </a:rPr>
              <a:t>对目标监控系统的运行性能产生任何影响，而且通常无需改变原有的结构和工作方式。</a:t>
            </a:r>
          </a:p>
          <a:p>
            <a:pPr marL="715963" lvl="1" indent="-258763">
              <a:spcBef>
                <a:spcPts val="600"/>
              </a:spcBef>
              <a:buClr>
                <a:srgbClr val="3191D3"/>
              </a:buClr>
              <a:buSzPct val="65000"/>
              <a:buFont typeface="Arial" panose="020B0604020202020204" pitchFamily="34" charset="0"/>
              <a:buChar char="•"/>
            </a:pPr>
            <a:r>
              <a:rPr lang="zh-CN" altLang="zh-CN" sz="1600" dirty="0">
                <a:latin typeface="华文楷体" pitchFamily="2" charset="-122"/>
                <a:ea typeface="华文楷体" pitchFamily="2" charset="-122"/>
              </a:rPr>
              <a:t>嗅探</a:t>
            </a:r>
            <a:r>
              <a:rPr lang="zh-CN" altLang="zh-CN" sz="1600" dirty="0" smtClean="0">
                <a:latin typeface="华文楷体" pitchFamily="2" charset="-122"/>
                <a:ea typeface="华文楷体" pitchFamily="2" charset="-122"/>
              </a:rPr>
              <a:t>模块工作时可以</a:t>
            </a:r>
            <a:r>
              <a:rPr lang="zh-CN" altLang="zh-CN" sz="1600" dirty="0">
                <a:latin typeface="华文楷体" pitchFamily="2" charset="-122"/>
                <a:ea typeface="华文楷体" pitchFamily="2" charset="-122"/>
              </a:rPr>
              <a:t>采用对网络用户</a:t>
            </a:r>
            <a:r>
              <a:rPr lang="zh-CN" altLang="zh-CN" sz="1600" dirty="0">
                <a:solidFill>
                  <a:srgbClr val="FF0000"/>
                </a:solidFill>
                <a:latin typeface="华文楷体" pitchFamily="2" charset="-122"/>
                <a:ea typeface="华文楷体" pitchFamily="2" charset="-122"/>
              </a:rPr>
              <a:t>透明的模式</a:t>
            </a:r>
            <a:r>
              <a:rPr lang="zh-CN" altLang="zh-CN" sz="1600" dirty="0">
                <a:latin typeface="华文楷体" pitchFamily="2" charset="-122"/>
                <a:ea typeface="华文楷体" pitchFamily="2" charset="-122"/>
              </a:rPr>
              <a:t>，降低了其本身受到攻击的概率。</a:t>
            </a:r>
          </a:p>
          <a:p>
            <a:pPr marL="715963" lvl="1" indent="-258763">
              <a:spcBef>
                <a:spcPts val="600"/>
              </a:spcBef>
              <a:buClr>
                <a:srgbClr val="3191D3"/>
              </a:buClr>
              <a:buSzPct val="65000"/>
              <a:buFont typeface="Arial" panose="020B0604020202020204" pitchFamily="34" charset="0"/>
              <a:buChar char="•"/>
            </a:pPr>
            <a:r>
              <a:rPr lang="zh-CN" altLang="zh-CN" sz="1600" dirty="0">
                <a:latin typeface="华文楷体" pitchFamily="2" charset="-122"/>
                <a:ea typeface="华文楷体" pitchFamily="2" charset="-122"/>
              </a:rPr>
              <a:t>基于网络数据的输入信息源，可以</a:t>
            </a:r>
            <a:r>
              <a:rPr lang="zh-CN" altLang="zh-CN" sz="1600" dirty="0">
                <a:solidFill>
                  <a:srgbClr val="FF0000"/>
                </a:solidFill>
                <a:latin typeface="华文楷体" pitchFamily="2" charset="-122"/>
                <a:ea typeface="华文楷体" pitchFamily="2" charset="-122"/>
              </a:rPr>
              <a:t>发现许多基于主机数据源所无法发现的攻击手段，</a:t>
            </a:r>
            <a:r>
              <a:rPr lang="zh-CN" altLang="zh-CN" sz="1600" dirty="0">
                <a:latin typeface="华文楷体" pitchFamily="2" charset="-122"/>
                <a:ea typeface="华文楷体" pitchFamily="2" charset="-122"/>
              </a:rPr>
              <a:t>例如基于网络协议的漏洞发掘过程，或是发送畸形网络数据包和大量误用数据包的</a:t>
            </a:r>
            <a:r>
              <a:rPr lang="en-US" altLang="zh-CN" sz="1600" dirty="0">
                <a:latin typeface="华文楷体" pitchFamily="2" charset="-122"/>
                <a:ea typeface="华文楷体" pitchFamily="2" charset="-122"/>
              </a:rPr>
              <a:t>DOS</a:t>
            </a:r>
            <a:r>
              <a:rPr lang="zh-CN" altLang="zh-CN" sz="1600" dirty="0">
                <a:latin typeface="华文楷体" pitchFamily="2" charset="-122"/>
                <a:ea typeface="华文楷体" pitchFamily="2" charset="-122"/>
              </a:rPr>
              <a:t>攻击等。</a:t>
            </a:r>
          </a:p>
          <a:p>
            <a:pPr marL="715963" lvl="1" indent="-258763">
              <a:spcBef>
                <a:spcPts val="600"/>
              </a:spcBef>
              <a:buClr>
                <a:srgbClr val="3191D3"/>
              </a:buClr>
              <a:buSzPct val="65000"/>
              <a:buFont typeface="Arial" panose="020B0604020202020204" pitchFamily="34" charset="0"/>
              <a:buChar char="•"/>
            </a:pPr>
            <a:r>
              <a:rPr lang="zh-CN" altLang="zh-CN" sz="1600" dirty="0">
                <a:solidFill>
                  <a:srgbClr val="FF0000"/>
                </a:solidFill>
                <a:latin typeface="华文楷体" pitchFamily="2" charset="-122"/>
                <a:ea typeface="华文楷体" pitchFamily="2" charset="-122"/>
              </a:rPr>
              <a:t>网络数据包的标准化程度，比主机数据源来说要高得多</a:t>
            </a:r>
            <a:r>
              <a:rPr lang="zh-CN" altLang="zh-CN" sz="1600" dirty="0">
                <a:latin typeface="华文楷体" pitchFamily="2" charset="-122"/>
                <a:ea typeface="华文楷体" pitchFamily="2" charset="-122"/>
              </a:rPr>
              <a:t>，如目前几乎大部分网络协议都采用了</a:t>
            </a:r>
            <a:r>
              <a:rPr lang="en-US" altLang="zh-CN" sz="1600" dirty="0">
                <a:latin typeface="华文楷体" pitchFamily="2" charset="-122"/>
                <a:ea typeface="华文楷体" pitchFamily="2" charset="-122"/>
              </a:rPr>
              <a:t>TCP/IP</a:t>
            </a:r>
            <a:r>
              <a:rPr lang="zh-CN" altLang="zh-CN" sz="1600" dirty="0">
                <a:latin typeface="华文楷体" pitchFamily="2" charset="-122"/>
                <a:ea typeface="华文楷体" pitchFamily="2" charset="-122"/>
              </a:rPr>
              <a:t>协议族。由于标准化程度很高，所以，有利于安全审计系统在不同系统平台环境下的移植。</a:t>
            </a:r>
            <a:endParaRPr lang="zh-CN" altLang="en-US" sz="1600" dirty="0">
              <a:latin typeface="华文楷体" pitchFamily="2" charset="-122"/>
              <a:ea typeface="华文楷体" pitchFamily="2" charset="-122"/>
              <a:sym typeface="+mn-ea"/>
            </a:endParaRPr>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ym typeface="+mn-ea"/>
              </a:rPr>
              <a:t>安全</a:t>
            </a:r>
            <a:r>
              <a:rPr lang="zh-CN" altLang="en-US" b="1" dirty="0">
                <a:sym typeface="+mn-ea"/>
              </a:rPr>
              <a:t>审计的数据源</a:t>
            </a:r>
          </a:p>
        </p:txBody>
      </p:sp>
      <p:sp>
        <p:nvSpPr>
          <p:cNvPr id="3" name="文本框 2"/>
          <p:cNvSpPr txBox="1"/>
          <p:nvPr/>
        </p:nvSpPr>
        <p:spPr>
          <a:xfrm>
            <a:off x="564515" y="1219835"/>
            <a:ext cx="8122177" cy="4678204"/>
          </a:xfrm>
          <a:prstGeom prst="rect">
            <a:avLst/>
          </a:prstGeom>
          <a:noFill/>
        </p:spPr>
        <p:txBody>
          <a:bodyPr wrap="square" rtlCol="0">
            <a:spAutoFit/>
          </a:bodyPr>
          <a:lstStyle/>
          <a:p>
            <a:pPr>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其它数据源：</a:t>
            </a:r>
            <a:r>
              <a:rPr lang="zh-CN" altLang="en-US" sz="1800" b="1" dirty="0" smtClean="0">
                <a:solidFill>
                  <a:srgbClr val="FF0000"/>
                </a:solidFill>
                <a:latin typeface="华文楷体" pitchFamily="2" charset="-122"/>
                <a:ea typeface="华文楷体" pitchFamily="2" charset="-122"/>
                <a:sym typeface="+mn-ea"/>
              </a:rPr>
              <a:t>不属于上述的数据源，有益补充</a:t>
            </a:r>
            <a:endParaRPr lang="zh-CN" altLang="en-US" sz="1800" b="1" dirty="0">
              <a:solidFill>
                <a:srgbClr val="FF0000"/>
              </a:solidFill>
              <a:latin typeface="华文楷体" pitchFamily="2" charset="-122"/>
              <a:ea typeface="华文楷体" pitchFamily="2" charset="-122"/>
              <a:sym typeface="+mn-ea"/>
            </a:endParaRPr>
          </a:p>
          <a:p>
            <a:pPr marL="457200" lvl="0" indent="-457200">
              <a:spcBef>
                <a:spcPts val="600"/>
              </a:spcBef>
              <a:buFont typeface="Arial" panose="020B0604020202020204" pitchFamily="34" charset="0"/>
              <a:buChar char="•"/>
            </a:pPr>
            <a:r>
              <a:rPr lang="zh-CN" altLang="zh-CN" sz="2400" dirty="0">
                <a:latin typeface="华文楷体" pitchFamily="2" charset="-122"/>
                <a:ea typeface="华文楷体" pitchFamily="2" charset="-122"/>
              </a:rPr>
              <a:t>来自其它安全产品的数据源</a:t>
            </a:r>
          </a:p>
          <a:p>
            <a:pPr marL="914400" lvl="1" indent="-457200">
              <a:spcBef>
                <a:spcPts val="600"/>
              </a:spcBef>
              <a:buFont typeface="Wingdings" panose="05000000000000000000" pitchFamily="2" charset="2"/>
              <a:buChar char="Ø"/>
            </a:pPr>
            <a:r>
              <a:rPr lang="zh-CN" altLang="zh-CN" sz="2000" dirty="0">
                <a:latin typeface="华文楷体" pitchFamily="2" charset="-122"/>
                <a:ea typeface="华文楷体" pitchFamily="2" charset="-122"/>
              </a:rPr>
              <a:t>主要是指目标系统内部其他独立运行的安全产品（防火墙、身份认证系统合访问控制系统等）所产生的</a:t>
            </a:r>
            <a:r>
              <a:rPr lang="zh-CN" altLang="zh-CN" sz="2000" dirty="0">
                <a:solidFill>
                  <a:srgbClr val="FF0000"/>
                </a:solidFill>
                <a:latin typeface="华文楷体" pitchFamily="2" charset="-122"/>
                <a:ea typeface="华文楷体" pitchFamily="2" charset="-122"/>
              </a:rPr>
              <a:t>日志文件</a:t>
            </a:r>
            <a:r>
              <a:rPr lang="zh-CN" altLang="zh-CN" sz="2000" dirty="0" smtClean="0">
                <a:latin typeface="华文楷体" pitchFamily="2" charset="-122"/>
                <a:ea typeface="华文楷体" pitchFamily="2" charset="-122"/>
              </a:rPr>
              <a:t>。</a:t>
            </a:r>
            <a:endParaRPr lang="zh-CN" altLang="zh-CN" sz="2000" dirty="0">
              <a:latin typeface="华文楷体" pitchFamily="2" charset="-122"/>
              <a:ea typeface="华文楷体" pitchFamily="2" charset="-122"/>
            </a:endParaRPr>
          </a:p>
          <a:p>
            <a:pPr marL="457200" lvl="0" indent="-457200">
              <a:spcBef>
                <a:spcPts val="600"/>
              </a:spcBef>
              <a:buFont typeface="Arial" panose="020B0604020202020204" pitchFamily="34" charset="0"/>
              <a:buChar char="•"/>
            </a:pPr>
            <a:r>
              <a:rPr lang="zh-CN" altLang="zh-CN" sz="2400" dirty="0">
                <a:latin typeface="华文楷体" pitchFamily="2" charset="-122"/>
                <a:ea typeface="华文楷体" pitchFamily="2" charset="-122"/>
              </a:rPr>
              <a:t>来自网络设备的数据源</a:t>
            </a:r>
          </a:p>
          <a:p>
            <a:pPr marL="914400" lvl="1" indent="-457200">
              <a:spcBef>
                <a:spcPts val="600"/>
              </a:spcBef>
              <a:buFont typeface="Wingdings" panose="05000000000000000000" pitchFamily="2" charset="2"/>
              <a:buChar char="Ø"/>
            </a:pPr>
            <a:r>
              <a:rPr lang="zh-CN" altLang="zh-CN" sz="2000" dirty="0">
                <a:latin typeface="华文楷体" pitchFamily="2" charset="-122"/>
                <a:ea typeface="华文楷体" pitchFamily="2" charset="-122"/>
              </a:rPr>
              <a:t>如</a:t>
            </a:r>
            <a:r>
              <a:rPr lang="zh-CN" altLang="zh-CN" sz="2000" dirty="0">
                <a:solidFill>
                  <a:srgbClr val="FF0000"/>
                </a:solidFill>
                <a:latin typeface="华文楷体" pitchFamily="2" charset="-122"/>
                <a:ea typeface="华文楷体" pitchFamily="2" charset="-122"/>
              </a:rPr>
              <a:t>网络管理系统</a:t>
            </a:r>
            <a:r>
              <a:rPr lang="zh-CN" altLang="zh-CN" sz="2000" dirty="0">
                <a:latin typeface="华文楷体" pitchFamily="2" charset="-122"/>
                <a:ea typeface="华文楷体" pitchFamily="2" charset="-122"/>
              </a:rPr>
              <a:t>，例如利用</a:t>
            </a:r>
            <a:r>
              <a:rPr lang="en-US" altLang="zh-CN" sz="2000" dirty="0">
                <a:latin typeface="华文楷体" pitchFamily="2" charset="-122"/>
                <a:ea typeface="华文楷体" pitchFamily="2" charset="-122"/>
              </a:rPr>
              <a:t>SNMP(</a:t>
            </a:r>
            <a:r>
              <a:rPr lang="zh-CN" altLang="zh-CN" sz="2000" dirty="0">
                <a:latin typeface="华文楷体" pitchFamily="2" charset="-122"/>
                <a:ea typeface="华文楷体" pitchFamily="2" charset="-122"/>
              </a:rPr>
              <a:t>简单网管协议</a:t>
            </a:r>
            <a:r>
              <a:rPr lang="en-US" altLang="zh-CN" sz="2000" dirty="0">
                <a:latin typeface="华文楷体" pitchFamily="2" charset="-122"/>
                <a:ea typeface="华文楷体" pitchFamily="2" charset="-122"/>
              </a:rPr>
              <a:t>)</a:t>
            </a:r>
            <a:r>
              <a:rPr lang="zh-CN" altLang="zh-CN" sz="2000" dirty="0">
                <a:latin typeface="华文楷体" pitchFamily="2" charset="-122"/>
                <a:ea typeface="华文楷体" pitchFamily="2" charset="-122"/>
              </a:rPr>
              <a:t>所提供的信息作为数据源。</a:t>
            </a:r>
          </a:p>
          <a:p>
            <a:pPr marL="457200" lvl="0" indent="-457200">
              <a:spcBef>
                <a:spcPts val="600"/>
              </a:spcBef>
              <a:buFont typeface="Arial" panose="020B0604020202020204" pitchFamily="34" charset="0"/>
              <a:buChar char="•"/>
            </a:pPr>
            <a:r>
              <a:rPr lang="zh-CN" altLang="zh-CN" sz="2400" dirty="0">
                <a:latin typeface="华文楷体" pitchFamily="2" charset="-122"/>
                <a:ea typeface="华文楷体" pitchFamily="2" charset="-122"/>
              </a:rPr>
              <a:t>带外数据源</a:t>
            </a:r>
          </a:p>
          <a:p>
            <a:pPr marL="914400" lvl="1" indent="-457200">
              <a:spcBef>
                <a:spcPts val="600"/>
              </a:spcBef>
              <a:buFont typeface="Wingdings" panose="05000000000000000000" pitchFamily="2" charset="2"/>
              <a:buChar char="Ø"/>
            </a:pPr>
            <a:r>
              <a:rPr lang="zh-CN" altLang="zh-CN" sz="2000" dirty="0">
                <a:solidFill>
                  <a:srgbClr val="FF0000"/>
                </a:solidFill>
                <a:latin typeface="华文楷体" pitchFamily="2" charset="-122"/>
                <a:ea typeface="华文楷体" pitchFamily="2" charset="-122"/>
              </a:rPr>
              <a:t>指人工方式提供的数据信息</a:t>
            </a:r>
            <a:r>
              <a:rPr lang="zh-CN" altLang="zh-CN" sz="2000" dirty="0">
                <a:latin typeface="华文楷体" pitchFamily="2" charset="-122"/>
                <a:ea typeface="华文楷体" pitchFamily="2" charset="-122"/>
              </a:rPr>
              <a:t>，如硬件错误信息、系统配置信息、其他的各种自然危害事件等</a:t>
            </a:r>
            <a:r>
              <a:rPr lang="zh-CN" altLang="zh-CN" sz="2000" dirty="0" smtClean="0">
                <a:latin typeface="华文楷体" pitchFamily="2" charset="-122"/>
                <a:ea typeface="华文楷体" pitchFamily="2" charset="-122"/>
              </a:rPr>
              <a:t>。</a:t>
            </a:r>
            <a:endParaRPr lang="en-US" altLang="zh-CN" sz="2000" dirty="0" smtClean="0">
              <a:latin typeface="华文楷体" pitchFamily="2" charset="-122"/>
              <a:ea typeface="华文楷体" pitchFamily="2" charset="-122"/>
            </a:endParaRPr>
          </a:p>
          <a:p>
            <a:pPr marL="914400" lvl="1" indent="-457200">
              <a:spcBef>
                <a:spcPts val="600"/>
              </a:spcBef>
              <a:buFont typeface="Arial" panose="020B0604020202020204" pitchFamily="34" charset="0"/>
              <a:buChar char="•"/>
            </a:pPr>
            <a:endParaRPr lang="en-US" altLang="zh-CN" sz="2000" dirty="0">
              <a:sym typeface="+mn-ea"/>
            </a:endParaRPr>
          </a:p>
          <a:p>
            <a:pPr marL="914400" lvl="1" indent="-457200">
              <a:spcBef>
                <a:spcPts val="600"/>
              </a:spcBef>
              <a:buFont typeface="Arial" panose="020B0604020202020204" pitchFamily="34" charset="0"/>
              <a:buChar char="•"/>
            </a:pPr>
            <a:endParaRPr lang="zh-CN" altLang="en-US" sz="2000" dirty="0">
              <a:sym typeface="+mn-ea"/>
            </a:endParaRPr>
          </a:p>
        </p:txBody>
      </p:sp>
    </p:spTree>
    <p:extLst>
      <p:ext uri="{BB962C8B-B14F-4D97-AF65-F5344CB8AC3E}">
        <p14:creationId xmlns:p14="http://schemas.microsoft.com/office/powerpoint/2010/main" val="3357732614"/>
      </p:ext>
    </p:extLst>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ym typeface="+mn-ea"/>
              </a:rPr>
              <a:t>安全</a:t>
            </a:r>
            <a:r>
              <a:rPr lang="zh-CN" altLang="en-US" b="1" dirty="0">
                <a:sym typeface="+mn-ea"/>
              </a:rPr>
              <a:t>审计的分析方法</a:t>
            </a:r>
          </a:p>
        </p:txBody>
      </p:sp>
      <p:sp>
        <p:nvSpPr>
          <p:cNvPr id="3" name="文本框 2"/>
          <p:cNvSpPr txBox="1"/>
          <p:nvPr/>
        </p:nvSpPr>
        <p:spPr>
          <a:xfrm>
            <a:off x="152516" y="1244718"/>
            <a:ext cx="8610374" cy="5232202"/>
          </a:xfrm>
          <a:prstGeom prst="rect">
            <a:avLst/>
          </a:prstGeom>
          <a:noFill/>
        </p:spPr>
        <p:txBody>
          <a:bodyPr wrap="square" rtlCol="0">
            <a:spAutoFit/>
          </a:bodyPr>
          <a:lstStyle/>
          <a:p>
            <a:pPr>
              <a:buClr>
                <a:srgbClr val="3191D3"/>
              </a:buClr>
              <a:buSzPct val="65000"/>
              <a:buFont typeface="Wingdings" panose="05000000000000000000" charset="0"/>
              <a:buChar char="n"/>
            </a:pPr>
            <a:r>
              <a:rPr lang="en-US" altLang="zh-CN" b="1" dirty="0">
                <a:latin typeface="华文楷体" pitchFamily="2" charset="-122"/>
                <a:ea typeface="华文楷体" pitchFamily="2" charset="-122"/>
                <a:sym typeface="+mn-ea"/>
              </a:rPr>
              <a:t> </a:t>
            </a:r>
            <a:r>
              <a:rPr lang="zh-CN" altLang="en-US" b="1" dirty="0">
                <a:latin typeface="华文楷体" pitchFamily="2" charset="-122"/>
                <a:ea typeface="华文楷体" pitchFamily="2" charset="-122"/>
                <a:sym typeface="+mn-ea"/>
              </a:rPr>
              <a:t>基于规则库的安全审计方法</a:t>
            </a:r>
          </a:p>
          <a:p>
            <a:pPr marL="800100" lvl="1" indent="-342900">
              <a:buFont typeface="Wingdings" panose="05000000000000000000" pitchFamily="2" charset="2"/>
              <a:buChar char="l"/>
            </a:pPr>
            <a:r>
              <a:rPr lang="zh-CN" altLang="en-US" sz="1800" dirty="0" smtClean="0">
                <a:solidFill>
                  <a:srgbClr val="FF0000"/>
                </a:solidFill>
                <a:latin typeface="华文楷体" pitchFamily="2" charset="-122"/>
                <a:ea typeface="华文楷体" pitchFamily="2" charset="-122"/>
              </a:rPr>
              <a:t>概念：</a:t>
            </a:r>
            <a:r>
              <a:rPr lang="zh-CN" altLang="zh-CN" sz="1800" dirty="0" smtClean="0">
                <a:latin typeface="华文楷体" pitchFamily="2" charset="-122"/>
                <a:ea typeface="华文楷体" pitchFamily="2" charset="-122"/>
              </a:rPr>
              <a:t>是</a:t>
            </a:r>
            <a:r>
              <a:rPr lang="zh-CN" altLang="zh-CN" sz="1800" dirty="0">
                <a:latin typeface="华文楷体" pitchFamily="2" charset="-122"/>
                <a:ea typeface="华文楷体" pitchFamily="2" charset="-122"/>
              </a:rPr>
              <a:t>将已知的攻击行为进行特征提取，把这些特征用脚本语言等方法进行描述后放入规则库中，当进行安全审计时，将收集到的审核数据与这些规则进行某种比较和匹配操作</a:t>
            </a:r>
            <a:r>
              <a:rPr lang="en-US" altLang="zh-CN" sz="1800" dirty="0">
                <a:latin typeface="华文楷体" pitchFamily="2" charset="-122"/>
                <a:ea typeface="华文楷体" pitchFamily="2" charset="-122"/>
              </a:rPr>
              <a:t>(</a:t>
            </a:r>
            <a:r>
              <a:rPr lang="zh-CN" altLang="zh-CN" sz="1800" dirty="0">
                <a:latin typeface="华文楷体" pitchFamily="2" charset="-122"/>
                <a:ea typeface="华文楷体" pitchFamily="2" charset="-122"/>
              </a:rPr>
              <a:t>关键字、正则表达式、模糊近似度等</a:t>
            </a:r>
            <a:r>
              <a:rPr lang="en-US" altLang="zh-CN" sz="1800" dirty="0">
                <a:latin typeface="华文楷体" pitchFamily="2" charset="-122"/>
                <a:ea typeface="华文楷体" pitchFamily="2" charset="-122"/>
              </a:rPr>
              <a:t>)</a:t>
            </a:r>
            <a:r>
              <a:rPr lang="zh-CN" altLang="zh-CN" sz="1800" dirty="0">
                <a:latin typeface="华文楷体" pitchFamily="2" charset="-122"/>
                <a:ea typeface="华文楷体" pitchFamily="2" charset="-122"/>
              </a:rPr>
              <a:t>，从而发现可能的网络攻击行为</a:t>
            </a:r>
            <a:r>
              <a:rPr lang="zh-CN" altLang="zh-CN" sz="1800" dirty="0" smtClean="0">
                <a:latin typeface="华文楷体" pitchFamily="2" charset="-122"/>
                <a:ea typeface="华文楷体" pitchFamily="2" charset="-122"/>
              </a:rPr>
              <a:t>。</a:t>
            </a:r>
            <a:endParaRPr lang="en-US" altLang="zh-CN" sz="1800" dirty="0" smtClean="0">
              <a:latin typeface="华文楷体" pitchFamily="2" charset="-122"/>
              <a:ea typeface="华文楷体" pitchFamily="2" charset="-122"/>
            </a:endParaRPr>
          </a:p>
          <a:p>
            <a:pPr marL="800100" lvl="1" indent="-342900">
              <a:buFont typeface="Wingdings" panose="05000000000000000000" pitchFamily="2" charset="2"/>
              <a:buChar char="l"/>
            </a:pPr>
            <a:r>
              <a:rPr lang="zh-CN" altLang="en-US" sz="1800" dirty="0" smtClean="0">
                <a:solidFill>
                  <a:srgbClr val="FF0000"/>
                </a:solidFill>
                <a:latin typeface="华文楷体" pitchFamily="2" charset="-122"/>
                <a:ea typeface="华文楷体" pitchFamily="2" charset="-122"/>
              </a:rPr>
              <a:t>优点：</a:t>
            </a:r>
            <a:r>
              <a:rPr lang="zh-CN" altLang="zh-CN" sz="1800" dirty="0" smtClean="0">
                <a:latin typeface="华文楷体" pitchFamily="2" charset="-122"/>
                <a:ea typeface="华文楷体" pitchFamily="2" charset="-122"/>
              </a:rPr>
              <a:t>和防火墙</a:t>
            </a:r>
            <a:r>
              <a:rPr lang="zh-CN" altLang="zh-CN" sz="1800" dirty="0">
                <a:latin typeface="华文楷体" pitchFamily="2" charset="-122"/>
                <a:ea typeface="华文楷体" pitchFamily="2" charset="-122"/>
              </a:rPr>
              <a:t>和防病毒</a:t>
            </a:r>
            <a:r>
              <a:rPr lang="zh-CN" altLang="zh-CN" sz="1800" dirty="0" smtClean="0">
                <a:latin typeface="华文楷体" pitchFamily="2" charset="-122"/>
                <a:ea typeface="华文楷体" pitchFamily="2" charset="-122"/>
              </a:rPr>
              <a:t>软件技术</a:t>
            </a:r>
            <a:r>
              <a:rPr lang="zh-CN" altLang="zh-CN" sz="1800" dirty="0">
                <a:latin typeface="华文楷体" pitchFamily="2" charset="-122"/>
                <a:ea typeface="华文楷体" pitchFamily="2" charset="-122"/>
              </a:rPr>
              <a:t>思路类似，检测的准确率都相当高，可以通过最简单的匹配方法过滤掉大量的无效审核数据信息，对于使用特定黑客工具进行的网络攻击特别有效。</a:t>
            </a:r>
            <a:r>
              <a:rPr lang="zh-CN" altLang="zh-CN" sz="1400" dirty="0">
                <a:solidFill>
                  <a:schemeClr val="tx1">
                    <a:lumMod val="40000"/>
                    <a:lumOff val="60000"/>
                  </a:schemeClr>
                </a:solidFill>
                <a:latin typeface="华文楷体" pitchFamily="2" charset="-122"/>
                <a:ea typeface="华文楷体" pitchFamily="2" charset="-122"/>
              </a:rPr>
              <a:t>比如发现目的端口为</a:t>
            </a:r>
            <a:r>
              <a:rPr lang="en-US" altLang="zh-CN" sz="1400" dirty="0">
                <a:solidFill>
                  <a:schemeClr val="tx1">
                    <a:lumMod val="40000"/>
                    <a:lumOff val="60000"/>
                  </a:schemeClr>
                </a:solidFill>
                <a:latin typeface="华文楷体" pitchFamily="2" charset="-122"/>
                <a:ea typeface="华文楷体" pitchFamily="2" charset="-122"/>
              </a:rPr>
              <a:t>139</a:t>
            </a:r>
            <a:r>
              <a:rPr lang="zh-CN" altLang="zh-CN" sz="1400" dirty="0">
                <a:solidFill>
                  <a:schemeClr val="tx1">
                    <a:lumMod val="40000"/>
                    <a:lumOff val="60000"/>
                  </a:schemeClr>
                </a:solidFill>
                <a:latin typeface="华文楷体" pitchFamily="2" charset="-122"/>
                <a:ea typeface="华文楷体" pitchFamily="2" charset="-122"/>
              </a:rPr>
              <a:t>以及含有</a:t>
            </a:r>
            <a:r>
              <a:rPr lang="en-US" altLang="zh-CN" sz="1400" dirty="0">
                <a:solidFill>
                  <a:schemeClr val="tx1">
                    <a:lumMod val="40000"/>
                    <a:lumOff val="60000"/>
                  </a:schemeClr>
                </a:solidFill>
                <a:latin typeface="华文楷体" pitchFamily="2" charset="-122"/>
                <a:ea typeface="华文楷体" pitchFamily="2" charset="-122"/>
              </a:rPr>
              <a:t>OOB</a:t>
            </a:r>
            <a:r>
              <a:rPr lang="zh-CN" altLang="zh-CN" sz="1400" dirty="0">
                <a:solidFill>
                  <a:schemeClr val="tx1">
                    <a:lumMod val="40000"/>
                    <a:lumOff val="60000"/>
                  </a:schemeClr>
                </a:solidFill>
                <a:latin typeface="华文楷体" pitchFamily="2" charset="-122"/>
                <a:ea typeface="华文楷体" pitchFamily="2" charset="-122"/>
              </a:rPr>
              <a:t>标志的数据包，一般肯定是</a:t>
            </a:r>
            <a:r>
              <a:rPr lang="en-US" altLang="zh-CN" sz="1400" dirty="0" err="1">
                <a:solidFill>
                  <a:schemeClr val="tx1">
                    <a:lumMod val="40000"/>
                    <a:lumOff val="60000"/>
                  </a:schemeClr>
                </a:solidFill>
                <a:latin typeface="华文楷体" pitchFamily="2" charset="-122"/>
                <a:ea typeface="华文楷体" pitchFamily="2" charset="-122"/>
              </a:rPr>
              <a:t>Winnuke</a:t>
            </a:r>
            <a:r>
              <a:rPr lang="zh-CN" altLang="zh-CN" sz="1400" dirty="0">
                <a:solidFill>
                  <a:schemeClr val="tx1">
                    <a:lumMod val="40000"/>
                    <a:lumOff val="60000"/>
                  </a:schemeClr>
                </a:solidFill>
                <a:latin typeface="华文楷体" pitchFamily="2" charset="-122"/>
                <a:ea typeface="华文楷体" pitchFamily="2" charset="-122"/>
              </a:rPr>
              <a:t>攻击数据包。</a:t>
            </a:r>
            <a:endParaRPr lang="en-US" altLang="zh-CN" sz="1400" dirty="0">
              <a:solidFill>
                <a:schemeClr val="tx1">
                  <a:lumMod val="40000"/>
                  <a:lumOff val="60000"/>
                </a:schemeClr>
              </a:solidFill>
              <a:latin typeface="华文楷体" pitchFamily="2" charset="-122"/>
              <a:ea typeface="华文楷体" pitchFamily="2" charset="-122"/>
            </a:endParaRPr>
          </a:p>
          <a:p>
            <a:pPr marL="800100" lvl="1" indent="-342900">
              <a:buFont typeface="Wingdings" panose="05000000000000000000" pitchFamily="2" charset="2"/>
              <a:buChar char="l"/>
            </a:pPr>
            <a:r>
              <a:rPr lang="zh-CN" altLang="en-US" sz="1800" dirty="0" smtClean="0">
                <a:solidFill>
                  <a:srgbClr val="FF0000"/>
                </a:solidFill>
                <a:latin typeface="华文楷体" pitchFamily="2" charset="-122"/>
                <a:ea typeface="华文楷体" pitchFamily="2" charset="-122"/>
              </a:rPr>
              <a:t>缺点：</a:t>
            </a:r>
            <a:r>
              <a:rPr lang="zh-CN" altLang="zh-CN" sz="1800" dirty="0" smtClean="0">
                <a:latin typeface="华文楷体" pitchFamily="2" charset="-122"/>
                <a:ea typeface="华文楷体" pitchFamily="2" charset="-122"/>
              </a:rPr>
              <a:t>这些规则一般只针对己知攻击类型或者某类特定的攻击软件，当出现新的攻击软件或者攻击软件进行升级之后，就容易产生漏报。</a:t>
            </a:r>
            <a:r>
              <a:rPr lang="zh-CN" altLang="zh-CN" sz="1400" dirty="0" smtClean="0">
                <a:solidFill>
                  <a:schemeClr val="tx1">
                    <a:lumMod val="40000"/>
                    <a:lumOff val="60000"/>
                  </a:schemeClr>
                </a:solidFill>
                <a:latin typeface="华文楷体" pitchFamily="2" charset="-122"/>
                <a:ea typeface="华文楷体" pitchFamily="2" charset="-122"/>
              </a:rPr>
              <a:t>例如，著名的</a:t>
            </a:r>
            <a:r>
              <a:rPr lang="en-US" altLang="zh-CN" sz="1400" dirty="0" smtClean="0">
                <a:solidFill>
                  <a:schemeClr val="tx1">
                    <a:lumMod val="40000"/>
                    <a:lumOff val="60000"/>
                  </a:schemeClr>
                </a:solidFill>
                <a:latin typeface="华文楷体" pitchFamily="2" charset="-122"/>
                <a:ea typeface="华文楷体" pitchFamily="2" charset="-122"/>
              </a:rPr>
              <a:t>Back Orifice</a:t>
            </a:r>
            <a:r>
              <a:rPr lang="zh-CN" altLang="zh-CN" sz="1400" dirty="0" smtClean="0">
                <a:solidFill>
                  <a:schemeClr val="tx1">
                    <a:lumMod val="40000"/>
                    <a:lumOff val="60000"/>
                  </a:schemeClr>
                </a:solidFill>
                <a:latin typeface="华文楷体" pitchFamily="2" charset="-122"/>
                <a:ea typeface="华文楷体" pitchFamily="2" charset="-122"/>
              </a:rPr>
              <a:t>后门软件在</a:t>
            </a:r>
            <a:r>
              <a:rPr lang="en-US" altLang="zh-CN" sz="1400" dirty="0" smtClean="0">
                <a:solidFill>
                  <a:schemeClr val="tx1">
                    <a:lumMod val="40000"/>
                    <a:lumOff val="60000"/>
                  </a:schemeClr>
                </a:solidFill>
                <a:latin typeface="华文楷体" pitchFamily="2" charset="-122"/>
                <a:ea typeface="华文楷体" pitchFamily="2" charset="-122"/>
              </a:rPr>
              <a:t>90</a:t>
            </a:r>
            <a:r>
              <a:rPr lang="zh-CN" altLang="zh-CN" sz="1400" dirty="0" smtClean="0">
                <a:solidFill>
                  <a:schemeClr val="tx1">
                    <a:lumMod val="40000"/>
                    <a:lumOff val="60000"/>
                  </a:schemeClr>
                </a:solidFill>
                <a:latin typeface="华文楷体" pitchFamily="2" charset="-122"/>
                <a:ea typeface="华文楷体" pitchFamily="2" charset="-122"/>
              </a:rPr>
              <a:t>年代末非常流行，当时人们会发现攻击的端口是</a:t>
            </a:r>
            <a:r>
              <a:rPr lang="en-US" altLang="zh-CN" sz="1400" dirty="0" smtClean="0">
                <a:solidFill>
                  <a:schemeClr val="tx1">
                    <a:lumMod val="40000"/>
                    <a:lumOff val="60000"/>
                  </a:schemeClr>
                </a:solidFill>
                <a:latin typeface="华文楷体" pitchFamily="2" charset="-122"/>
                <a:ea typeface="华文楷体" pitchFamily="2" charset="-122"/>
              </a:rPr>
              <a:t>31337</a:t>
            </a:r>
            <a:r>
              <a:rPr lang="zh-CN" altLang="zh-CN" sz="1400" dirty="0" smtClean="0">
                <a:solidFill>
                  <a:schemeClr val="tx1">
                    <a:lumMod val="40000"/>
                    <a:lumOff val="60000"/>
                  </a:schemeClr>
                </a:solidFill>
                <a:latin typeface="华文楷体" pitchFamily="2" charset="-122"/>
                <a:ea typeface="华文楷体" pitchFamily="2" charset="-122"/>
              </a:rPr>
              <a:t>，因此</a:t>
            </a:r>
            <a:r>
              <a:rPr lang="en-US" altLang="zh-CN" sz="1400" dirty="0" smtClean="0">
                <a:solidFill>
                  <a:schemeClr val="tx1">
                    <a:lumMod val="40000"/>
                    <a:lumOff val="60000"/>
                  </a:schemeClr>
                </a:solidFill>
                <a:latin typeface="华文楷体" pitchFamily="2" charset="-122"/>
                <a:ea typeface="华文楷体" pitchFamily="2" charset="-122"/>
              </a:rPr>
              <a:t>31337</a:t>
            </a:r>
            <a:r>
              <a:rPr lang="zh-CN" altLang="zh-CN" sz="1400" dirty="0" smtClean="0">
                <a:solidFill>
                  <a:schemeClr val="tx1">
                    <a:lumMod val="40000"/>
                    <a:lumOff val="60000"/>
                  </a:schemeClr>
                </a:solidFill>
                <a:latin typeface="华文楷体" pitchFamily="2" charset="-122"/>
                <a:ea typeface="华文楷体" pitchFamily="2" charset="-122"/>
              </a:rPr>
              <a:t>这个古怪的端口便和</a:t>
            </a:r>
            <a:r>
              <a:rPr lang="en-US" altLang="zh-CN" sz="1400" dirty="0" smtClean="0">
                <a:solidFill>
                  <a:schemeClr val="tx1">
                    <a:lumMod val="40000"/>
                    <a:lumOff val="60000"/>
                  </a:schemeClr>
                </a:solidFill>
                <a:latin typeface="华文楷体" pitchFamily="2" charset="-122"/>
                <a:ea typeface="华文楷体" pitchFamily="2" charset="-122"/>
              </a:rPr>
              <a:t>Back Orifice</a:t>
            </a:r>
            <a:r>
              <a:rPr lang="zh-CN" altLang="zh-CN" sz="1400" dirty="0" smtClean="0">
                <a:solidFill>
                  <a:schemeClr val="tx1">
                    <a:lumMod val="40000"/>
                    <a:lumOff val="60000"/>
                  </a:schemeClr>
                </a:solidFill>
                <a:latin typeface="华文楷体" pitchFamily="2" charset="-122"/>
                <a:ea typeface="华文楷体" pitchFamily="2" charset="-122"/>
              </a:rPr>
              <a:t>联系在了一起。但不久之后，聪明的</a:t>
            </a:r>
            <a:r>
              <a:rPr lang="en-US" altLang="zh-CN" sz="1400" dirty="0" smtClean="0">
                <a:solidFill>
                  <a:schemeClr val="tx1">
                    <a:lumMod val="40000"/>
                    <a:lumOff val="60000"/>
                  </a:schemeClr>
                </a:solidFill>
                <a:latin typeface="华文楷体" pitchFamily="2" charset="-122"/>
                <a:ea typeface="华文楷体" pitchFamily="2" charset="-122"/>
              </a:rPr>
              <a:t>Back Orifice</a:t>
            </a:r>
            <a:r>
              <a:rPr lang="zh-CN" altLang="zh-CN" sz="1400" dirty="0" smtClean="0">
                <a:solidFill>
                  <a:schemeClr val="tx1">
                    <a:lumMod val="40000"/>
                    <a:lumOff val="60000"/>
                  </a:schemeClr>
                </a:solidFill>
                <a:latin typeface="华文楷体" pitchFamily="2" charset="-122"/>
                <a:ea typeface="华文楷体" pitchFamily="2" charset="-122"/>
              </a:rPr>
              <a:t>作者把这个源端口换成了</a:t>
            </a:r>
            <a:r>
              <a:rPr lang="en-US" altLang="zh-CN" sz="1400" dirty="0" smtClean="0">
                <a:solidFill>
                  <a:schemeClr val="tx1">
                    <a:lumMod val="40000"/>
                    <a:lumOff val="60000"/>
                  </a:schemeClr>
                </a:solidFill>
                <a:latin typeface="华文楷体" pitchFamily="2" charset="-122"/>
                <a:ea typeface="华文楷体" pitchFamily="2" charset="-122"/>
              </a:rPr>
              <a:t>80</a:t>
            </a:r>
            <a:r>
              <a:rPr lang="zh-CN" altLang="zh-CN" sz="1400" dirty="0" smtClean="0">
                <a:solidFill>
                  <a:schemeClr val="tx1">
                    <a:lumMod val="40000"/>
                    <a:lumOff val="60000"/>
                  </a:schemeClr>
                </a:solidFill>
                <a:latin typeface="华文楷体" pitchFamily="2" charset="-122"/>
                <a:ea typeface="华文楷体" pitchFamily="2" charset="-122"/>
              </a:rPr>
              <a:t>这个常用的</a:t>
            </a:r>
            <a:r>
              <a:rPr lang="en-US" altLang="zh-CN" sz="1400" dirty="0" smtClean="0">
                <a:solidFill>
                  <a:schemeClr val="tx1">
                    <a:lumMod val="40000"/>
                    <a:lumOff val="60000"/>
                  </a:schemeClr>
                </a:solidFill>
                <a:latin typeface="华文楷体" pitchFamily="2" charset="-122"/>
                <a:ea typeface="华文楷体" pitchFamily="2" charset="-122"/>
              </a:rPr>
              <a:t>Web</a:t>
            </a:r>
            <a:r>
              <a:rPr lang="zh-CN" altLang="zh-CN" sz="1400" dirty="0" smtClean="0">
                <a:solidFill>
                  <a:schemeClr val="tx1">
                    <a:lumMod val="40000"/>
                    <a:lumOff val="60000"/>
                  </a:schemeClr>
                </a:solidFill>
                <a:latin typeface="华文楷体" pitchFamily="2" charset="-122"/>
                <a:ea typeface="华文楷体" pitchFamily="2" charset="-122"/>
              </a:rPr>
              <a:t>服务器端口，这样就逃避了很多安全系统的检查。</a:t>
            </a:r>
          </a:p>
          <a:p>
            <a:pPr marL="800100" lvl="1" indent="-342900">
              <a:buFont typeface="Wingdings" panose="05000000000000000000" pitchFamily="2" charset="2"/>
              <a:buChar char="l"/>
            </a:pPr>
            <a:r>
              <a:rPr lang="zh-CN" altLang="zh-CN" sz="1800" dirty="0" smtClean="0">
                <a:solidFill>
                  <a:srgbClr val="FF0000"/>
                </a:solidFill>
                <a:latin typeface="华文楷体" pitchFamily="2" charset="-122"/>
                <a:ea typeface="华文楷体" pitchFamily="2" charset="-122"/>
              </a:rPr>
              <a:t>局限性</a:t>
            </a:r>
            <a:r>
              <a:rPr lang="zh-CN" altLang="en-US" sz="1800" dirty="0" smtClean="0">
                <a:solidFill>
                  <a:srgbClr val="FF0000"/>
                </a:solidFill>
                <a:latin typeface="华文楷体" pitchFamily="2" charset="-122"/>
                <a:ea typeface="华文楷体" pitchFamily="2" charset="-122"/>
              </a:rPr>
              <a:t>：</a:t>
            </a:r>
            <a:r>
              <a:rPr lang="zh-CN" altLang="zh-CN" sz="1800" dirty="0" smtClean="0">
                <a:latin typeface="华文楷体" pitchFamily="2" charset="-122"/>
                <a:ea typeface="华文楷体" pitchFamily="2" charset="-122"/>
              </a:rPr>
              <a:t>对于某些特征十分明显的网络攻击行为，该技术的效果非常之好</a:t>
            </a:r>
            <a:r>
              <a:rPr lang="en-US" altLang="zh-CN" sz="1800" dirty="0" smtClean="0">
                <a:latin typeface="华文楷体" pitchFamily="2" charset="-122"/>
                <a:ea typeface="华文楷体" pitchFamily="2" charset="-122"/>
              </a:rPr>
              <a:t>，</a:t>
            </a:r>
            <a:r>
              <a:rPr lang="zh-CN" altLang="zh-CN" sz="1800" dirty="0" smtClean="0">
                <a:latin typeface="华文楷体" pitchFamily="2" charset="-122"/>
                <a:ea typeface="华文楷体" pitchFamily="2" charset="-122"/>
              </a:rPr>
              <a:t>但是对于其他一些非常容易产生变种的网络攻击行为，规则库就很难完全满足要求了。</a:t>
            </a:r>
            <a:endParaRPr lang="zh-CN" altLang="en-US" sz="1800" b="1" dirty="0">
              <a:latin typeface="华文楷体" pitchFamily="2" charset="-122"/>
              <a:ea typeface="华文楷体" pitchFamily="2"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heel(1)">
                                      <p:cBhvr>
                                        <p:cTn id="22"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ym typeface="+mn-ea"/>
              </a:rPr>
              <a:t>安全</a:t>
            </a:r>
            <a:r>
              <a:rPr lang="zh-CN" altLang="en-US" b="1" dirty="0">
                <a:sym typeface="+mn-ea"/>
              </a:rPr>
              <a:t>审计的分析方法</a:t>
            </a:r>
          </a:p>
        </p:txBody>
      </p:sp>
      <p:sp>
        <p:nvSpPr>
          <p:cNvPr id="3" name="文本框 2"/>
          <p:cNvSpPr txBox="1"/>
          <p:nvPr/>
        </p:nvSpPr>
        <p:spPr>
          <a:xfrm>
            <a:off x="304912" y="1294616"/>
            <a:ext cx="8381780" cy="4801314"/>
          </a:xfrm>
          <a:prstGeom prst="rect">
            <a:avLst/>
          </a:prstGeom>
          <a:noFill/>
        </p:spPr>
        <p:txBody>
          <a:bodyPr wrap="square" rtlCol="0">
            <a:spAutoFit/>
          </a:bodyPr>
          <a:lstStyle/>
          <a:p>
            <a:pPr>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基于</a:t>
            </a:r>
            <a:r>
              <a:rPr lang="zh-CN" altLang="en-US" b="1" dirty="0">
                <a:latin typeface="华文楷体" pitchFamily="2" charset="-122"/>
                <a:ea typeface="华文楷体" pitchFamily="2" charset="-122"/>
                <a:sym typeface="+mn-ea"/>
              </a:rPr>
              <a:t>数理统计的安全审计方法</a:t>
            </a:r>
          </a:p>
          <a:p>
            <a:pPr marL="800100" lvl="1" indent="-342900">
              <a:buClr>
                <a:srgbClr val="3191D3"/>
              </a:buClr>
              <a:buSzPct val="65000"/>
              <a:buFont typeface="Wingdings" panose="05000000000000000000" pitchFamily="2" charset="2"/>
              <a:buChar char="l"/>
            </a:pPr>
            <a:r>
              <a:rPr lang="zh-CN" altLang="en-US" sz="2000" dirty="0" smtClean="0">
                <a:solidFill>
                  <a:srgbClr val="FF0000"/>
                </a:solidFill>
                <a:latin typeface="华文楷体" pitchFamily="2" charset="-122"/>
                <a:ea typeface="华文楷体" pitchFamily="2" charset="-122"/>
              </a:rPr>
              <a:t>概念：</a:t>
            </a:r>
            <a:r>
              <a:rPr lang="zh-CN" altLang="zh-CN" sz="2000" dirty="0" smtClean="0">
                <a:latin typeface="华文楷体" pitchFamily="2" charset="-122"/>
                <a:ea typeface="华文楷体" pitchFamily="2" charset="-122"/>
              </a:rPr>
              <a:t>是</a:t>
            </a:r>
            <a:r>
              <a:rPr lang="zh-CN" altLang="zh-CN" sz="2000" dirty="0">
                <a:latin typeface="华文楷体" pitchFamily="2" charset="-122"/>
                <a:ea typeface="华文楷体" pitchFamily="2" charset="-122"/>
              </a:rPr>
              <a:t>首先给对象创建一个统计量的描述，比如一个网络流量的平均值、方差等等，统计出正常情况下这些特征量的数值，然后用来对实际网络数据包的情况进行比较，当发现实际值远离正常数值时，就可以认为是潜在的攻击发生</a:t>
            </a:r>
            <a:r>
              <a:rPr lang="zh-CN" altLang="zh-CN" sz="2000" dirty="0" smtClean="0">
                <a:latin typeface="华文楷体" pitchFamily="2" charset="-122"/>
                <a:ea typeface="华文楷体" pitchFamily="2" charset="-122"/>
              </a:rPr>
              <a:t>。</a:t>
            </a:r>
            <a:endParaRPr lang="en-US" altLang="zh-CN" sz="2000" dirty="0" smtClean="0">
              <a:latin typeface="华文楷体" pitchFamily="2" charset="-122"/>
              <a:ea typeface="华文楷体" pitchFamily="2" charset="-122"/>
            </a:endParaRPr>
          </a:p>
          <a:p>
            <a:pPr marL="800100" lvl="1" indent="-342900">
              <a:buClr>
                <a:srgbClr val="3191D3"/>
              </a:buClr>
              <a:buSzPct val="65000"/>
              <a:buFont typeface="Wingdings" panose="05000000000000000000" pitchFamily="2" charset="2"/>
              <a:buChar char="l"/>
            </a:pPr>
            <a:r>
              <a:rPr lang="zh-CN" altLang="zh-CN" sz="1600" dirty="0" smtClean="0">
                <a:solidFill>
                  <a:schemeClr val="tx1">
                    <a:lumMod val="60000"/>
                    <a:lumOff val="40000"/>
                  </a:schemeClr>
                </a:solidFill>
                <a:latin typeface="华文楷体" pitchFamily="2" charset="-122"/>
                <a:ea typeface="华文楷体" pitchFamily="2" charset="-122"/>
              </a:rPr>
              <a:t>典型</a:t>
            </a:r>
            <a:r>
              <a:rPr lang="zh-CN" altLang="zh-CN" sz="1600" dirty="0">
                <a:solidFill>
                  <a:schemeClr val="tx1">
                    <a:lumMod val="60000"/>
                    <a:lumOff val="40000"/>
                  </a:schemeClr>
                </a:solidFill>
                <a:latin typeface="华文楷体" pitchFamily="2" charset="-122"/>
                <a:ea typeface="华文楷体" pitchFamily="2" charset="-122"/>
              </a:rPr>
              <a:t>的如著名</a:t>
            </a:r>
            <a:r>
              <a:rPr lang="en-US" altLang="zh-CN" sz="1600" dirty="0" err="1">
                <a:solidFill>
                  <a:schemeClr val="tx1">
                    <a:lumMod val="60000"/>
                    <a:lumOff val="40000"/>
                  </a:schemeClr>
                </a:solidFill>
                <a:latin typeface="华文楷体" pitchFamily="2" charset="-122"/>
                <a:ea typeface="华文楷体" pitchFamily="2" charset="-122"/>
              </a:rPr>
              <a:t>syn</a:t>
            </a:r>
            <a:r>
              <a:rPr lang="en-US" altLang="zh-CN" sz="1600" dirty="0">
                <a:solidFill>
                  <a:schemeClr val="tx1">
                    <a:lumMod val="60000"/>
                    <a:lumOff val="40000"/>
                  </a:schemeClr>
                </a:solidFill>
                <a:latin typeface="华文楷体" pitchFamily="2" charset="-122"/>
                <a:ea typeface="华文楷体" pitchFamily="2" charset="-122"/>
              </a:rPr>
              <a:t> flooding</a:t>
            </a:r>
            <a:r>
              <a:rPr lang="zh-CN" altLang="zh-CN" sz="1600" dirty="0">
                <a:solidFill>
                  <a:schemeClr val="tx1">
                    <a:lumMod val="60000"/>
                    <a:lumOff val="40000"/>
                  </a:schemeClr>
                </a:solidFill>
                <a:latin typeface="华文楷体" pitchFamily="2" charset="-122"/>
                <a:ea typeface="华文楷体" pitchFamily="2" charset="-122"/>
              </a:rPr>
              <a:t>攻击来说，攻击者的目的是不想完成正常的</a:t>
            </a:r>
            <a:r>
              <a:rPr lang="en-US" altLang="zh-CN" sz="1600" dirty="0">
                <a:solidFill>
                  <a:schemeClr val="tx1">
                    <a:lumMod val="60000"/>
                    <a:lumOff val="40000"/>
                  </a:schemeClr>
                </a:solidFill>
                <a:latin typeface="华文楷体" pitchFamily="2" charset="-122"/>
                <a:ea typeface="华文楷体" pitchFamily="2" charset="-122"/>
              </a:rPr>
              <a:t>TCP</a:t>
            </a:r>
            <a:r>
              <a:rPr lang="zh-CN" altLang="zh-CN" sz="1600" dirty="0">
                <a:solidFill>
                  <a:schemeClr val="tx1">
                    <a:lumMod val="60000"/>
                    <a:lumOff val="40000"/>
                  </a:schemeClr>
                </a:solidFill>
                <a:latin typeface="华文楷体" pitchFamily="2" charset="-122"/>
                <a:ea typeface="华文楷体" pitchFamily="2" charset="-122"/>
              </a:rPr>
              <a:t>三次握手所建立起来的连接，从而让等待建立这一特定服务的连接数量超过系统所限制的数量，这样就可以使被攻击系统无法建立关于该服务的新连接</a:t>
            </a:r>
            <a:r>
              <a:rPr lang="zh-CN" altLang="zh-CN" sz="1600" dirty="0" smtClean="0">
                <a:solidFill>
                  <a:schemeClr val="tx1">
                    <a:lumMod val="60000"/>
                    <a:lumOff val="40000"/>
                  </a:schemeClr>
                </a:solidFill>
                <a:latin typeface="华文楷体" pitchFamily="2" charset="-122"/>
                <a:ea typeface="华文楷体" pitchFamily="2" charset="-122"/>
              </a:rPr>
              <a:t>。很</a:t>
            </a:r>
            <a:r>
              <a:rPr lang="zh-CN" altLang="zh-CN" sz="1600" dirty="0">
                <a:solidFill>
                  <a:schemeClr val="tx1">
                    <a:lumMod val="60000"/>
                    <a:lumOff val="40000"/>
                  </a:schemeClr>
                </a:solidFill>
                <a:latin typeface="华文楷体" pitchFamily="2" charset="-122"/>
                <a:ea typeface="华文楷体" pitchFamily="2" charset="-122"/>
              </a:rPr>
              <a:t>显然，要填满一个队列，一般要在一段时间内不停地发送</a:t>
            </a:r>
            <a:r>
              <a:rPr lang="en-US" altLang="zh-CN" sz="1600" dirty="0">
                <a:solidFill>
                  <a:schemeClr val="tx1">
                    <a:lumMod val="60000"/>
                    <a:lumOff val="40000"/>
                  </a:schemeClr>
                </a:solidFill>
                <a:latin typeface="华文楷体" pitchFamily="2" charset="-122"/>
                <a:ea typeface="华文楷体" pitchFamily="2" charset="-122"/>
              </a:rPr>
              <a:t>SYN</a:t>
            </a:r>
            <a:r>
              <a:rPr lang="zh-CN" altLang="zh-CN" sz="1600" dirty="0">
                <a:solidFill>
                  <a:schemeClr val="tx1">
                    <a:lumMod val="60000"/>
                    <a:lumOff val="40000"/>
                  </a:schemeClr>
                </a:solidFill>
                <a:latin typeface="华文楷体" pitchFamily="2" charset="-122"/>
                <a:ea typeface="华文楷体" pitchFamily="2" charset="-122"/>
              </a:rPr>
              <a:t>连接请求，根据各个系统的不同，一般在每分钟</a:t>
            </a:r>
            <a:r>
              <a:rPr lang="en-US" altLang="zh-CN" sz="1600" dirty="0">
                <a:solidFill>
                  <a:schemeClr val="tx1">
                    <a:lumMod val="60000"/>
                    <a:lumOff val="40000"/>
                  </a:schemeClr>
                </a:solidFill>
                <a:latin typeface="华文楷体" pitchFamily="2" charset="-122"/>
                <a:ea typeface="华文楷体" pitchFamily="2" charset="-122"/>
              </a:rPr>
              <a:t>10-20</a:t>
            </a:r>
            <a:r>
              <a:rPr lang="zh-CN" altLang="zh-CN" sz="1600" dirty="0">
                <a:solidFill>
                  <a:schemeClr val="tx1">
                    <a:lumMod val="60000"/>
                    <a:lumOff val="40000"/>
                  </a:schemeClr>
                </a:solidFill>
                <a:latin typeface="华文楷体" pitchFamily="2" charset="-122"/>
                <a:ea typeface="华文楷体" pitchFamily="2" charset="-122"/>
              </a:rPr>
              <a:t>，或者更多。显然，在一分钟从同一个源地址发送来</a:t>
            </a:r>
            <a:r>
              <a:rPr lang="en-US" altLang="zh-CN" sz="1600" dirty="0">
                <a:solidFill>
                  <a:schemeClr val="tx1">
                    <a:lumMod val="60000"/>
                    <a:lumOff val="40000"/>
                  </a:schemeClr>
                </a:solidFill>
                <a:latin typeface="华文楷体" pitchFamily="2" charset="-122"/>
                <a:ea typeface="华文楷体" pitchFamily="2" charset="-122"/>
              </a:rPr>
              <a:t>20</a:t>
            </a:r>
            <a:r>
              <a:rPr lang="zh-CN" altLang="zh-CN" sz="1600" dirty="0">
                <a:solidFill>
                  <a:schemeClr val="tx1">
                    <a:lumMod val="60000"/>
                    <a:lumOff val="40000"/>
                  </a:schemeClr>
                </a:solidFill>
                <a:latin typeface="华文楷体" pitchFamily="2" charset="-122"/>
                <a:ea typeface="华文楷体" pitchFamily="2" charset="-122"/>
              </a:rPr>
              <a:t>个以上的</a:t>
            </a:r>
            <a:r>
              <a:rPr lang="en-US" altLang="zh-CN" sz="1600" dirty="0">
                <a:solidFill>
                  <a:schemeClr val="tx1">
                    <a:lumMod val="60000"/>
                    <a:lumOff val="40000"/>
                  </a:schemeClr>
                </a:solidFill>
                <a:latin typeface="华文楷体" pitchFamily="2" charset="-122"/>
                <a:ea typeface="华文楷体" pitchFamily="2" charset="-122"/>
              </a:rPr>
              <a:t>SYN</a:t>
            </a:r>
            <a:r>
              <a:rPr lang="zh-CN" altLang="zh-CN" sz="1600" dirty="0">
                <a:solidFill>
                  <a:schemeClr val="tx1">
                    <a:lumMod val="60000"/>
                    <a:lumOff val="40000"/>
                  </a:schemeClr>
                </a:solidFill>
                <a:latin typeface="华文楷体" pitchFamily="2" charset="-122"/>
                <a:ea typeface="华文楷体" pitchFamily="2" charset="-122"/>
              </a:rPr>
              <a:t>连接请求是非常不正常的，我们完全可以通过设置每分钟同一源地址的</a:t>
            </a:r>
            <a:r>
              <a:rPr lang="en-US" altLang="zh-CN" sz="1600" dirty="0">
                <a:solidFill>
                  <a:schemeClr val="tx1">
                    <a:lumMod val="60000"/>
                    <a:lumOff val="40000"/>
                  </a:schemeClr>
                </a:solidFill>
                <a:latin typeface="华文楷体" pitchFamily="2" charset="-122"/>
                <a:ea typeface="华文楷体" pitchFamily="2" charset="-122"/>
              </a:rPr>
              <a:t>SYN</a:t>
            </a:r>
            <a:r>
              <a:rPr lang="zh-CN" altLang="zh-CN" sz="1600" dirty="0">
                <a:solidFill>
                  <a:schemeClr val="tx1">
                    <a:lumMod val="60000"/>
                    <a:lumOff val="40000"/>
                  </a:schemeClr>
                </a:solidFill>
                <a:latin typeface="华文楷体" pitchFamily="2" charset="-122"/>
                <a:ea typeface="华文楷体" pitchFamily="2" charset="-122"/>
              </a:rPr>
              <a:t>连接数量这个统计量来判别攻击行为的发生</a:t>
            </a:r>
            <a:r>
              <a:rPr lang="zh-CN" altLang="zh-CN" sz="1600" dirty="0" smtClean="0">
                <a:solidFill>
                  <a:schemeClr val="tx1">
                    <a:lumMod val="60000"/>
                    <a:lumOff val="40000"/>
                  </a:schemeClr>
                </a:solidFill>
                <a:latin typeface="华文楷体" pitchFamily="2" charset="-122"/>
                <a:ea typeface="华文楷体" pitchFamily="2" charset="-122"/>
              </a:rPr>
              <a:t>。</a:t>
            </a:r>
            <a:endParaRPr lang="en-US" altLang="zh-CN" sz="1600" dirty="0" smtClean="0">
              <a:solidFill>
                <a:schemeClr val="tx1">
                  <a:lumMod val="60000"/>
                  <a:lumOff val="40000"/>
                </a:schemeClr>
              </a:solidFill>
              <a:latin typeface="华文楷体" pitchFamily="2" charset="-122"/>
              <a:ea typeface="华文楷体" pitchFamily="2" charset="-122"/>
            </a:endParaRPr>
          </a:p>
          <a:p>
            <a:pPr marL="800100" lvl="1" indent="-342900">
              <a:buClr>
                <a:srgbClr val="3191D3"/>
              </a:buClr>
              <a:buSzPct val="65000"/>
              <a:buFont typeface="Wingdings" panose="05000000000000000000" pitchFamily="2" charset="2"/>
              <a:buChar char="l"/>
            </a:pPr>
            <a:r>
              <a:rPr lang="zh-CN" altLang="en-US" sz="2000" dirty="0" smtClean="0">
                <a:solidFill>
                  <a:srgbClr val="FF0000"/>
                </a:solidFill>
                <a:latin typeface="华文楷体" pitchFamily="2" charset="-122"/>
                <a:ea typeface="华文楷体" pitchFamily="2" charset="-122"/>
              </a:rPr>
              <a:t>缺点：</a:t>
            </a:r>
            <a:r>
              <a:rPr lang="zh-CN" altLang="zh-CN" sz="2000" dirty="0" smtClean="0">
                <a:latin typeface="华文楷体" pitchFamily="2" charset="-122"/>
                <a:ea typeface="华文楷体" pitchFamily="2" charset="-122"/>
              </a:rPr>
              <a:t>数理统计</a:t>
            </a:r>
            <a:r>
              <a:rPr lang="zh-CN" altLang="zh-CN" sz="2000" dirty="0">
                <a:latin typeface="华文楷体" pitchFamily="2" charset="-122"/>
                <a:ea typeface="华文楷体" pitchFamily="2" charset="-122"/>
              </a:rPr>
              <a:t>的最大问题在于如何设定统计量的“阀值”，也就是正常数值和非正常数值的分界点，这往往取决于管理员的经验，不可避免产生误报和漏报。</a:t>
            </a:r>
            <a:endParaRPr lang="zh-CN" altLang="en-US" sz="2000" b="1" dirty="0">
              <a:latin typeface="华文楷体" pitchFamily="2" charset="-122"/>
              <a:ea typeface="华文楷体" pitchFamily="2" charset="-122"/>
              <a:sym typeface="+mn-ea"/>
            </a:endParaRPr>
          </a:p>
        </p:txBody>
      </p:sp>
    </p:spTree>
    <p:extLst>
      <p:ext uri="{BB962C8B-B14F-4D97-AF65-F5344CB8AC3E}">
        <p14:creationId xmlns:p14="http://schemas.microsoft.com/office/powerpoint/2010/main" val="165241212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ym typeface="+mn-ea"/>
              </a:rPr>
              <a:t>安全</a:t>
            </a:r>
            <a:r>
              <a:rPr lang="zh-CN" altLang="en-US" b="1" dirty="0">
                <a:sym typeface="+mn-ea"/>
              </a:rPr>
              <a:t>审计的分析方法</a:t>
            </a:r>
          </a:p>
        </p:txBody>
      </p:sp>
      <p:sp>
        <p:nvSpPr>
          <p:cNvPr id="3" name="文本框 2"/>
          <p:cNvSpPr txBox="1"/>
          <p:nvPr/>
        </p:nvSpPr>
        <p:spPr>
          <a:xfrm>
            <a:off x="564515" y="1460442"/>
            <a:ext cx="7557135" cy="3416320"/>
          </a:xfrm>
          <a:prstGeom prst="rect">
            <a:avLst/>
          </a:prstGeom>
          <a:noFill/>
        </p:spPr>
        <p:txBody>
          <a:bodyPr wrap="square" rtlCol="0">
            <a:spAutoFit/>
          </a:bodyPr>
          <a:lstStyle/>
          <a:p>
            <a:pPr>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基于</a:t>
            </a:r>
            <a:r>
              <a:rPr lang="zh-CN" altLang="en-US" b="1" dirty="0">
                <a:latin typeface="华文楷体" pitchFamily="2" charset="-122"/>
                <a:ea typeface="华文楷体" pitchFamily="2" charset="-122"/>
                <a:sym typeface="+mn-ea"/>
              </a:rPr>
              <a:t>日志数据挖掘的安全审计方法</a:t>
            </a:r>
          </a:p>
          <a:p>
            <a:pPr marL="914400" lvl="1" indent="-457200">
              <a:buFont typeface="Wingdings" panose="05000000000000000000" pitchFamily="2" charset="2"/>
              <a:buChar char="l"/>
            </a:pPr>
            <a:r>
              <a:rPr lang="zh-CN" altLang="en-US" sz="2000" dirty="0" smtClean="0">
                <a:solidFill>
                  <a:srgbClr val="FF0000"/>
                </a:solidFill>
                <a:latin typeface="华文楷体" pitchFamily="2" charset="-122"/>
                <a:ea typeface="华文楷体" pitchFamily="2" charset="-122"/>
              </a:rPr>
              <a:t>概念：</a:t>
            </a:r>
            <a:r>
              <a:rPr lang="zh-CN" altLang="zh-CN" sz="2000" dirty="0" smtClean="0">
                <a:latin typeface="华文楷体" pitchFamily="2" charset="-122"/>
                <a:ea typeface="华文楷体" pitchFamily="2" charset="-122"/>
              </a:rPr>
              <a:t>从</a:t>
            </a:r>
            <a:r>
              <a:rPr lang="zh-CN" altLang="zh-CN" sz="2000" dirty="0">
                <a:latin typeface="华文楷体" pitchFamily="2" charset="-122"/>
                <a:ea typeface="华文楷体" pitchFamily="2" charset="-122"/>
              </a:rPr>
              <a:t>系统使用或网络通信的“正常”数据中发现系统的“正常”运行模式，并和常规的一些攻击规则库进行关联分析，并用以检测系统攻击行为。</a:t>
            </a:r>
          </a:p>
          <a:p>
            <a:pPr marL="914400" lvl="1" indent="-457200">
              <a:buFont typeface="Wingdings" panose="05000000000000000000" pitchFamily="2" charset="2"/>
              <a:buChar char="l"/>
            </a:pPr>
            <a:r>
              <a:rPr lang="zh-CN" altLang="zh-CN" sz="2000" dirty="0">
                <a:latin typeface="华文楷体" pitchFamily="2" charset="-122"/>
                <a:ea typeface="华文楷体" pitchFamily="2" charset="-122"/>
              </a:rPr>
              <a:t>数据挖掘本身是一项通用的知识发现技术，其目的是要从海量数据中提取出我们所感兴趣的数据信息</a:t>
            </a:r>
            <a:r>
              <a:rPr lang="en-US" altLang="zh-CN" sz="2000" dirty="0">
                <a:latin typeface="华文楷体" pitchFamily="2" charset="-122"/>
                <a:ea typeface="华文楷体" pitchFamily="2" charset="-122"/>
              </a:rPr>
              <a:t>(</a:t>
            </a:r>
            <a:r>
              <a:rPr lang="zh-CN" altLang="zh-CN" sz="2000" dirty="0">
                <a:latin typeface="华文楷体" pitchFamily="2" charset="-122"/>
                <a:ea typeface="华文楷体" pitchFamily="2" charset="-122"/>
              </a:rPr>
              <a:t>知识</a:t>
            </a:r>
            <a:r>
              <a:rPr lang="en-US" altLang="zh-CN" sz="2000" dirty="0">
                <a:latin typeface="华文楷体" pitchFamily="2" charset="-122"/>
                <a:ea typeface="华文楷体" pitchFamily="2" charset="-122"/>
              </a:rPr>
              <a:t>)</a:t>
            </a:r>
            <a:r>
              <a:rPr lang="zh-CN" altLang="zh-CN" sz="2000" dirty="0">
                <a:latin typeface="华文楷体" pitchFamily="2" charset="-122"/>
                <a:ea typeface="华文楷体" pitchFamily="2" charset="-122"/>
              </a:rPr>
              <a:t>。这恰好与当前网络安全审计的现实相吻合。</a:t>
            </a:r>
            <a:endParaRPr lang="en-US" altLang="zh-CN" sz="2000" dirty="0">
              <a:latin typeface="华文楷体" pitchFamily="2" charset="-122"/>
              <a:ea typeface="华文楷体" pitchFamily="2" charset="-122"/>
            </a:endParaRPr>
          </a:p>
          <a:p>
            <a:pPr marL="914400" lvl="1" indent="-457200">
              <a:buFont typeface="Wingdings" panose="05000000000000000000" pitchFamily="2" charset="2"/>
              <a:buChar char="l"/>
            </a:pPr>
            <a:r>
              <a:rPr lang="zh-CN" altLang="en-US" sz="2000" dirty="0" smtClean="0">
                <a:solidFill>
                  <a:srgbClr val="FF0000"/>
                </a:solidFill>
                <a:latin typeface="华文楷体" pitchFamily="2" charset="-122"/>
                <a:ea typeface="华文楷体" pitchFamily="2" charset="-122"/>
              </a:rPr>
              <a:t>优点：</a:t>
            </a:r>
            <a:r>
              <a:rPr lang="zh-CN" altLang="zh-CN" sz="2000" dirty="0" smtClean="0">
                <a:latin typeface="华文楷体" pitchFamily="2" charset="-122"/>
                <a:ea typeface="华文楷体" pitchFamily="2" charset="-122"/>
              </a:rPr>
              <a:t>基于</a:t>
            </a:r>
            <a:r>
              <a:rPr lang="zh-CN" altLang="zh-CN" sz="2000" dirty="0">
                <a:latin typeface="华文楷体" pitchFamily="2" charset="-122"/>
                <a:ea typeface="华文楷体" pitchFamily="2" charset="-122"/>
              </a:rPr>
              <a:t>数据挖掘的网络安全审计系统有检测准确率高、速度快、自适应能力强等优点。</a:t>
            </a:r>
            <a:endParaRPr lang="zh-CN" altLang="en-US" sz="2000" dirty="0">
              <a:latin typeface="华文楷体" pitchFamily="2" charset="-122"/>
              <a:ea typeface="华文楷体" pitchFamily="2" charset="-122"/>
              <a:sym typeface="+mn-ea"/>
            </a:endParaRPr>
          </a:p>
        </p:txBody>
      </p:sp>
    </p:spTree>
    <p:extLst>
      <p:ext uri="{BB962C8B-B14F-4D97-AF65-F5344CB8AC3E}">
        <p14:creationId xmlns:p14="http://schemas.microsoft.com/office/powerpoint/2010/main" val="130584403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ym typeface="+mn-ea"/>
              </a:rPr>
              <a:t>安全</a:t>
            </a:r>
            <a:r>
              <a:rPr lang="zh-CN" altLang="en-US" b="1" dirty="0">
                <a:sym typeface="+mn-ea"/>
              </a:rPr>
              <a:t>审计的分析方法</a:t>
            </a:r>
          </a:p>
        </p:txBody>
      </p:sp>
      <p:sp>
        <p:nvSpPr>
          <p:cNvPr id="3" name="文本框 2"/>
          <p:cNvSpPr txBox="1"/>
          <p:nvPr/>
        </p:nvSpPr>
        <p:spPr>
          <a:xfrm>
            <a:off x="381110" y="1294616"/>
            <a:ext cx="8457978" cy="4801314"/>
          </a:xfrm>
          <a:prstGeom prst="rect">
            <a:avLst/>
          </a:prstGeom>
          <a:noFill/>
        </p:spPr>
        <p:txBody>
          <a:bodyPr wrap="square" rtlCol="0">
            <a:spAutoFit/>
          </a:bodyPr>
          <a:lstStyle/>
          <a:p>
            <a:pPr>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其它</a:t>
            </a:r>
            <a:r>
              <a:rPr lang="zh-CN" altLang="en-US" b="1" dirty="0">
                <a:latin typeface="华文楷体" pitchFamily="2" charset="-122"/>
                <a:ea typeface="华文楷体" pitchFamily="2" charset="-122"/>
                <a:sym typeface="+mn-ea"/>
              </a:rPr>
              <a:t>安全审计</a:t>
            </a:r>
            <a:r>
              <a:rPr lang="zh-CN" altLang="en-US" b="1" dirty="0" smtClean="0">
                <a:latin typeface="华文楷体" pitchFamily="2" charset="-122"/>
                <a:ea typeface="华文楷体" pitchFamily="2" charset="-122"/>
                <a:sym typeface="+mn-ea"/>
              </a:rPr>
              <a:t>方法</a:t>
            </a:r>
            <a:endParaRPr lang="en-US" altLang="zh-CN" b="1" dirty="0" smtClean="0">
              <a:latin typeface="华文楷体" pitchFamily="2" charset="-122"/>
              <a:ea typeface="华文楷体" pitchFamily="2" charset="-122"/>
              <a:sym typeface="+mn-ea"/>
            </a:endParaRPr>
          </a:p>
          <a:p>
            <a:pPr marL="715963" lvl="1" indent="-258763">
              <a:buClr>
                <a:srgbClr val="3191D3"/>
              </a:buClr>
              <a:buSzPct val="65000"/>
              <a:buFont typeface="Arial" panose="020B0604020202020204" pitchFamily="34" charset="0"/>
              <a:buChar char="•"/>
            </a:pPr>
            <a:r>
              <a:rPr lang="zh-CN" altLang="zh-CN" sz="2000" dirty="0">
                <a:latin typeface="华文楷体" pitchFamily="2" charset="-122"/>
                <a:ea typeface="华文楷体" pitchFamily="2" charset="-122"/>
              </a:rPr>
              <a:t>安全审计是根据收集到的关于己发生事件的各种数据来发现系统漏洞和入侵行为，能为追究造成系统危害的人员责任提供证据，是一种</a:t>
            </a:r>
            <a:r>
              <a:rPr lang="zh-CN" altLang="zh-CN" sz="2000" dirty="0">
                <a:solidFill>
                  <a:srgbClr val="FF0000"/>
                </a:solidFill>
                <a:latin typeface="华文楷体" pitchFamily="2" charset="-122"/>
                <a:ea typeface="华文楷体" pitchFamily="2" charset="-122"/>
              </a:rPr>
              <a:t>事后监督行为</a:t>
            </a:r>
            <a:r>
              <a:rPr lang="zh-CN" altLang="zh-CN" sz="2000" dirty="0" smtClean="0">
                <a:latin typeface="华文楷体" pitchFamily="2" charset="-122"/>
                <a:ea typeface="华文楷体" pitchFamily="2" charset="-122"/>
              </a:rPr>
              <a:t>。</a:t>
            </a:r>
            <a:endParaRPr lang="en-US" altLang="zh-CN" sz="2000" dirty="0" smtClean="0">
              <a:latin typeface="华文楷体" pitchFamily="2" charset="-122"/>
              <a:ea typeface="华文楷体" pitchFamily="2" charset="-122"/>
            </a:endParaRPr>
          </a:p>
          <a:p>
            <a:pPr marL="715963" lvl="1" indent="-258763">
              <a:buClr>
                <a:srgbClr val="3191D3"/>
              </a:buClr>
              <a:buSzPct val="65000"/>
              <a:buFont typeface="Arial" panose="020B0604020202020204" pitchFamily="34" charset="0"/>
              <a:buChar char="•"/>
            </a:pPr>
            <a:r>
              <a:rPr lang="zh-CN" altLang="zh-CN" sz="2000" dirty="0" smtClean="0">
                <a:latin typeface="华文楷体" pitchFamily="2" charset="-122"/>
                <a:ea typeface="华文楷体" pitchFamily="2" charset="-122"/>
              </a:rPr>
              <a:t>入侵</a:t>
            </a:r>
            <a:r>
              <a:rPr lang="zh-CN" altLang="zh-CN" sz="2000" dirty="0">
                <a:latin typeface="华文楷体" pitchFamily="2" charset="-122"/>
                <a:ea typeface="华文楷体" pitchFamily="2" charset="-122"/>
              </a:rPr>
              <a:t>检测是在事件发生前或攻击事件</a:t>
            </a:r>
            <a:r>
              <a:rPr lang="zh-CN" altLang="zh-CN" sz="2000" dirty="0">
                <a:solidFill>
                  <a:srgbClr val="FF0000"/>
                </a:solidFill>
                <a:latin typeface="华文楷体" pitchFamily="2" charset="-122"/>
                <a:ea typeface="华文楷体" pitchFamily="2" charset="-122"/>
              </a:rPr>
              <a:t>正在发生过程中</a:t>
            </a:r>
            <a:r>
              <a:rPr lang="zh-CN" altLang="zh-CN" sz="2000" dirty="0">
                <a:latin typeface="华文楷体" pitchFamily="2" charset="-122"/>
                <a:ea typeface="华文楷体" pitchFamily="2" charset="-122"/>
              </a:rPr>
              <a:t>，利用观测到的数据，发现攻击行为</a:t>
            </a:r>
            <a:r>
              <a:rPr lang="zh-CN" altLang="zh-CN" sz="2000" dirty="0" smtClean="0">
                <a:latin typeface="华文楷体" pitchFamily="2" charset="-122"/>
                <a:ea typeface="华文楷体" pitchFamily="2" charset="-122"/>
              </a:rPr>
              <a:t>。</a:t>
            </a:r>
            <a:endParaRPr lang="en-US" altLang="zh-CN" sz="2000" dirty="0" smtClean="0">
              <a:latin typeface="华文楷体" pitchFamily="2" charset="-122"/>
              <a:ea typeface="华文楷体" pitchFamily="2" charset="-122"/>
            </a:endParaRPr>
          </a:p>
          <a:p>
            <a:pPr marL="715963" lvl="1" indent="-258763">
              <a:buClr>
                <a:srgbClr val="3191D3"/>
              </a:buClr>
              <a:buSzPct val="65000"/>
              <a:buFont typeface="Arial" panose="020B0604020202020204" pitchFamily="34" charset="0"/>
              <a:buChar char="•"/>
            </a:pPr>
            <a:r>
              <a:rPr lang="zh-CN" altLang="zh-CN" sz="2000" dirty="0">
                <a:latin typeface="华文楷体" pitchFamily="2" charset="-122"/>
                <a:ea typeface="华文楷体" pitchFamily="2" charset="-122"/>
              </a:rPr>
              <a:t>两者的目的都是发现系统入侵行为，只是入侵检测要求有更高的实时性，因而安全审计与入侵检测两者在分析方法上有很大的相似之处，入侵检测分析方法多能应用与安全审计。</a:t>
            </a:r>
            <a:r>
              <a:rPr lang="zh-CN" altLang="en-US" sz="2000" dirty="0">
                <a:latin typeface="华文楷体" pitchFamily="2" charset="-122"/>
                <a:ea typeface="华文楷体" pitchFamily="2" charset="-122"/>
                <a:sym typeface="+mn-ea"/>
              </a:rPr>
              <a:t>如：神经网络、遗传</a:t>
            </a:r>
            <a:r>
              <a:rPr lang="zh-CN" altLang="en-US" sz="2000" dirty="0" smtClean="0">
                <a:latin typeface="华文楷体" pitchFamily="2" charset="-122"/>
                <a:ea typeface="华文楷体" pitchFamily="2" charset="-122"/>
                <a:sym typeface="+mn-ea"/>
              </a:rPr>
              <a:t>算法。</a:t>
            </a:r>
            <a:endParaRPr lang="en-US" altLang="zh-CN" sz="2000" dirty="0">
              <a:latin typeface="华文楷体" pitchFamily="2" charset="-122"/>
              <a:ea typeface="华文楷体" pitchFamily="2" charset="-122"/>
              <a:sym typeface="+mn-ea"/>
            </a:endParaRPr>
          </a:p>
          <a:p>
            <a:pPr marL="715963" lvl="1" indent="-258763">
              <a:buClr>
                <a:srgbClr val="3191D3"/>
              </a:buClr>
              <a:buSzPct val="65000"/>
              <a:buFont typeface="Arial" panose="020B0604020202020204" pitchFamily="34" charset="0"/>
              <a:buChar char="•"/>
            </a:pPr>
            <a:r>
              <a:rPr lang="zh-CN" altLang="zh-CN" sz="2000" dirty="0">
                <a:solidFill>
                  <a:srgbClr val="FF0000"/>
                </a:solidFill>
                <a:latin typeface="华文楷体" pitchFamily="2" charset="-122"/>
                <a:ea typeface="华文楷体" pitchFamily="2" charset="-122"/>
              </a:rPr>
              <a:t>大数据思想的检测分析</a:t>
            </a:r>
            <a:r>
              <a:rPr lang="zh-CN" altLang="zh-CN" sz="2000" dirty="0" smtClean="0">
                <a:solidFill>
                  <a:srgbClr val="FF0000"/>
                </a:solidFill>
                <a:latin typeface="华文楷体" pitchFamily="2" charset="-122"/>
                <a:ea typeface="华文楷体" pitchFamily="2" charset="-122"/>
              </a:rPr>
              <a:t>方法</a:t>
            </a:r>
            <a:r>
              <a:rPr lang="zh-CN" altLang="en-US" sz="2000" dirty="0" smtClean="0">
                <a:latin typeface="华文楷体" pitchFamily="2" charset="-122"/>
                <a:ea typeface="华文楷体" pitchFamily="2" charset="-122"/>
              </a:rPr>
              <a:t>，未来思路、人工智能分析</a:t>
            </a:r>
            <a:r>
              <a:rPr lang="zh-CN" altLang="zh-CN" sz="2000" dirty="0" smtClean="0">
                <a:latin typeface="华文楷体" pitchFamily="2" charset="-122"/>
                <a:ea typeface="华文楷体" pitchFamily="2" charset="-122"/>
              </a:rPr>
              <a:t>。</a:t>
            </a:r>
            <a:r>
              <a:rPr lang="zh-CN" altLang="en-US" sz="2000" dirty="0" smtClean="0">
                <a:latin typeface="华文楷体" pitchFamily="2" charset="-122"/>
                <a:ea typeface="华文楷体" pitchFamily="2" charset="-122"/>
              </a:rPr>
              <a:t>智能化的分析方法，</a:t>
            </a:r>
            <a:r>
              <a:rPr lang="zh-CN" altLang="zh-CN" sz="2000" dirty="0" smtClean="0">
                <a:latin typeface="华文楷体" pitchFamily="2" charset="-122"/>
                <a:ea typeface="华文楷体" pitchFamily="2" charset="-122"/>
              </a:rPr>
              <a:t>基本</a:t>
            </a:r>
            <a:r>
              <a:rPr lang="zh-CN" altLang="zh-CN" sz="2000" dirty="0">
                <a:latin typeface="华文楷体" pitchFamily="2" charset="-122"/>
                <a:ea typeface="华文楷体" pitchFamily="2" charset="-122"/>
              </a:rPr>
              <a:t>思路是对系统多源海量多模态数据进行关联分析，发现潜在威胁。</a:t>
            </a:r>
            <a:endParaRPr lang="zh-CN" altLang="en-US" sz="2000" dirty="0">
              <a:latin typeface="华文楷体" pitchFamily="2" charset="-122"/>
              <a:ea typeface="华文楷体" pitchFamily="2" charset="-122"/>
              <a:sym typeface="+mn-ea"/>
            </a:endParaRPr>
          </a:p>
        </p:txBody>
      </p:sp>
    </p:spTree>
    <p:extLst>
      <p:ext uri="{BB962C8B-B14F-4D97-AF65-F5344CB8AC3E}">
        <p14:creationId xmlns:p14="http://schemas.microsoft.com/office/powerpoint/2010/main" val="429035168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barn(inVertical)">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信息</a:t>
            </a:r>
            <a:r>
              <a:rPr lang="zh-CN" altLang="en-US" b="1" dirty="0"/>
              <a:t>安全审计与标准</a:t>
            </a:r>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1、</a:t>
            </a:r>
            <a:r>
              <a:rPr lang="zh-CN" b="1" dirty="0" smtClean="0">
                <a:latin typeface="华文楷体" pitchFamily="2" charset="-122"/>
                <a:ea typeface="华文楷体" pitchFamily="2" charset="-122"/>
                <a:sym typeface="+mn-ea"/>
              </a:rPr>
              <a:t>TCSES</a:t>
            </a:r>
            <a:r>
              <a:rPr lang="zh-CN" b="1" dirty="0">
                <a:latin typeface="华文楷体" pitchFamily="2" charset="-122"/>
                <a:ea typeface="华文楷体" pitchFamily="2" charset="-122"/>
                <a:sym typeface="+mn-ea"/>
              </a:rPr>
              <a:t>中的安全审计功能需求</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4" name="文本框 3"/>
          <p:cNvSpPr txBox="1"/>
          <p:nvPr/>
        </p:nvSpPr>
        <p:spPr>
          <a:xfrm>
            <a:off x="597535" y="1952885"/>
            <a:ext cx="8191500" cy="2923877"/>
          </a:xfrm>
          <a:prstGeom prst="rect">
            <a:avLst/>
          </a:prstGeom>
          <a:noFill/>
        </p:spPr>
        <p:txBody>
          <a:bodyPr wrap="square" rtlCol="0">
            <a:spAutoFit/>
          </a:bodyPr>
          <a:lstStyle/>
          <a:p>
            <a:pPr>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TCSEC 将系统定义为从高到低的A、B、C、D四类安全等级。</a:t>
            </a:r>
          </a:p>
          <a:p>
            <a:pPr marL="457200" indent="-457200">
              <a:buClr>
                <a:srgbClr val="3191D3"/>
              </a:buClr>
              <a:buSzPct val="65000"/>
              <a:buFont typeface="Arial" panose="020B0604020202020204" pitchFamily="34" charset="0"/>
              <a:buChar char="•"/>
            </a:pPr>
            <a:r>
              <a:rPr lang="zh-CN" altLang="en-US" sz="2400" b="1" dirty="0">
                <a:latin typeface="华文楷体" pitchFamily="2" charset="-122"/>
                <a:ea typeface="华文楷体" pitchFamily="2" charset="-122"/>
                <a:sym typeface="+mn-ea"/>
              </a:rPr>
              <a:t>A类安全等级只包含A1一个安全类别</a:t>
            </a:r>
          </a:p>
          <a:p>
            <a:pPr marL="457200" indent="-457200">
              <a:buClr>
                <a:srgbClr val="3191D3"/>
              </a:buClr>
              <a:buSzPct val="65000"/>
              <a:buFont typeface="Arial" panose="020B0604020202020204" pitchFamily="34" charset="0"/>
              <a:buChar char="•"/>
            </a:pPr>
            <a:r>
              <a:rPr lang="zh-CN" altLang="en-US" sz="2400" b="1" dirty="0">
                <a:latin typeface="华文楷体" pitchFamily="2" charset="-122"/>
                <a:ea typeface="华文楷体" pitchFamily="2" charset="-122"/>
                <a:sym typeface="+mn-ea"/>
              </a:rPr>
              <a:t>B类安全等级包括B1、B2、B3三个安全类别（其中安全等级要求强度的顺序是B1&lt;B2 &lt; B3）</a:t>
            </a:r>
          </a:p>
          <a:p>
            <a:pPr marL="457200" indent="-457200">
              <a:buClr>
                <a:srgbClr val="3191D3"/>
              </a:buClr>
              <a:buSzPct val="65000"/>
              <a:buFont typeface="Arial" panose="020B0604020202020204" pitchFamily="34" charset="0"/>
              <a:buChar char="•"/>
            </a:pPr>
            <a:r>
              <a:rPr lang="zh-CN" altLang="en-US" sz="2400" b="1" dirty="0">
                <a:latin typeface="华文楷体" pitchFamily="2" charset="-122"/>
                <a:ea typeface="华文楷体" pitchFamily="2" charset="-122"/>
                <a:sym typeface="+mn-ea"/>
              </a:rPr>
              <a:t>C类安全等级可划分为C1和C2两类（C1 &lt; C2）</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信息安全审计与标准</a:t>
            </a:r>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2、</a:t>
            </a:r>
            <a:r>
              <a:rPr lang="zh-CN" b="1" dirty="0" smtClean="0">
                <a:latin typeface="华文楷体" pitchFamily="2" charset="-122"/>
                <a:ea typeface="华文楷体" pitchFamily="2" charset="-122"/>
                <a:sym typeface="+mn-ea"/>
              </a:rPr>
              <a:t>CC</a:t>
            </a:r>
            <a:r>
              <a:rPr lang="zh-CN" b="1" dirty="0">
                <a:latin typeface="华文楷体" pitchFamily="2" charset="-122"/>
                <a:ea typeface="华文楷体" pitchFamily="2" charset="-122"/>
                <a:sym typeface="+mn-ea"/>
              </a:rPr>
              <a:t>中的安全审计功能需求</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4" name="文本框 3"/>
          <p:cNvSpPr txBox="1"/>
          <p:nvPr/>
        </p:nvSpPr>
        <p:spPr>
          <a:xfrm>
            <a:off x="597535" y="1758950"/>
            <a:ext cx="8191500" cy="3063240"/>
          </a:xfrm>
          <a:prstGeom prst="rect">
            <a:avLst/>
          </a:prstGeom>
          <a:noFill/>
        </p:spPr>
        <p:txBody>
          <a:bodyPr wrap="square" rtlCol="0">
            <a:spAutoFit/>
          </a:bodyPr>
          <a:lstStyle/>
          <a:p>
            <a:pPr marL="457200" indent="-457200">
              <a:buClr>
                <a:srgbClr val="3191D3"/>
              </a:buClr>
              <a:buSzPct val="65000"/>
              <a:buFont typeface="Arial" panose="020B0604020202020204" pitchFamily="34" charset="0"/>
              <a:buChar char="•"/>
            </a:pPr>
            <a:r>
              <a:rPr lang="zh-CN" altLang="en-US" b="1" dirty="0">
                <a:latin typeface="华文楷体" pitchFamily="2" charset="-122"/>
                <a:ea typeface="华文楷体" pitchFamily="2" charset="-122"/>
                <a:sym typeface="+mn-ea"/>
              </a:rPr>
              <a:t>CC标准基于安全功能与安全保证措施相独立的观念，在组织上分为</a:t>
            </a:r>
            <a:r>
              <a:rPr lang="zh-CN" altLang="en-US" b="1" dirty="0">
                <a:solidFill>
                  <a:srgbClr val="FF0000"/>
                </a:solidFill>
                <a:latin typeface="华文楷体" pitchFamily="2" charset="-122"/>
                <a:ea typeface="华文楷体" pitchFamily="2" charset="-122"/>
                <a:sym typeface="+mn-ea"/>
              </a:rPr>
              <a:t>基本概念</a:t>
            </a:r>
            <a:r>
              <a:rPr lang="zh-CN" altLang="en-US" b="1" dirty="0">
                <a:latin typeface="华文楷体" pitchFamily="2" charset="-122"/>
                <a:ea typeface="华文楷体" pitchFamily="2" charset="-122"/>
                <a:sym typeface="+mn-ea"/>
              </a:rPr>
              <a:t>、</a:t>
            </a:r>
            <a:r>
              <a:rPr lang="zh-CN" altLang="en-US" b="1" dirty="0">
                <a:solidFill>
                  <a:srgbClr val="FF0000"/>
                </a:solidFill>
                <a:latin typeface="华文楷体" pitchFamily="2" charset="-122"/>
                <a:ea typeface="华文楷体" pitchFamily="2" charset="-122"/>
                <a:sym typeface="+mn-ea"/>
              </a:rPr>
              <a:t>安全功能需求</a:t>
            </a:r>
            <a:r>
              <a:rPr lang="zh-CN" altLang="en-US" b="1" dirty="0">
                <a:latin typeface="华文楷体" pitchFamily="2" charset="-122"/>
                <a:ea typeface="华文楷体" pitchFamily="2" charset="-122"/>
                <a:sym typeface="+mn-ea"/>
              </a:rPr>
              <a:t>和</a:t>
            </a:r>
            <a:r>
              <a:rPr lang="zh-CN" altLang="en-US" b="1" dirty="0">
                <a:solidFill>
                  <a:srgbClr val="FF0000"/>
                </a:solidFill>
                <a:latin typeface="华文楷体" pitchFamily="2" charset="-122"/>
                <a:ea typeface="华文楷体" pitchFamily="2" charset="-122"/>
                <a:sym typeface="+mn-ea"/>
              </a:rPr>
              <a:t>安全保证需求</a:t>
            </a:r>
            <a:r>
              <a:rPr lang="zh-CN" altLang="en-US" b="1" dirty="0">
                <a:latin typeface="华文楷体" pitchFamily="2" charset="-122"/>
                <a:ea typeface="华文楷体" pitchFamily="2" charset="-122"/>
                <a:sym typeface="+mn-ea"/>
              </a:rPr>
              <a:t>三大部分。</a:t>
            </a:r>
          </a:p>
          <a:p>
            <a:pPr marL="457200" indent="-457200">
              <a:buClr>
                <a:srgbClr val="3191D3"/>
              </a:buClr>
              <a:buSzPct val="65000"/>
              <a:buFont typeface="Arial" panose="020B0604020202020204" pitchFamily="34" charset="0"/>
              <a:buChar char="•"/>
            </a:pPr>
            <a:r>
              <a:rPr lang="zh-CN" altLang="en-US" b="1" dirty="0">
                <a:latin typeface="华文楷体" pitchFamily="2" charset="-122"/>
                <a:ea typeface="华文楷体" pitchFamily="2" charset="-122"/>
                <a:sym typeface="+mn-ea"/>
              </a:rPr>
              <a:t>CC中，安全需求都以类、族、组件的层次结构形式进行定义。安全审计类有六个族（如图所示），分别对审计记录的选择、生成、存储、保护、分析以及相应的入侵响应等功能做出了不同程度的要求。</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信息安全审计与标准</a:t>
            </a:r>
          </a:p>
        </p:txBody>
      </p:sp>
      <p:graphicFrame>
        <p:nvGraphicFramePr>
          <p:cNvPr id="3" name="对象 -2147482553"/>
          <p:cNvGraphicFramePr>
            <a:graphicFrameLocks noChangeAspect="1"/>
          </p:cNvGraphicFramePr>
          <p:nvPr>
            <p:extLst>
              <p:ext uri="{D42A27DB-BD31-4B8C-83A1-F6EECF244321}">
                <p14:modId xmlns:p14="http://schemas.microsoft.com/office/powerpoint/2010/main" val="3902862308"/>
              </p:ext>
            </p:extLst>
          </p:nvPr>
        </p:nvGraphicFramePr>
        <p:xfrm>
          <a:off x="762100" y="1066862"/>
          <a:ext cx="7473315" cy="5177155"/>
        </p:xfrm>
        <a:graphic>
          <a:graphicData uri="http://schemas.openxmlformats.org/presentationml/2006/ole">
            <mc:AlternateContent xmlns:mc="http://schemas.openxmlformats.org/markup-compatibility/2006">
              <mc:Choice xmlns:v="urn:schemas-microsoft-com:vml" Requires="v">
                <p:oleObj spid="_x0000_s8239" r:id="rId3" imgW="6028055" imgH="4831715" progId="Visio.Drawing.11">
                  <p:embed/>
                </p:oleObj>
              </mc:Choice>
              <mc:Fallback>
                <p:oleObj r:id="rId3" imgW="6028055" imgH="4831715" progId="Visio.Drawing.11">
                  <p:embed/>
                  <p:pic>
                    <p:nvPicPr>
                      <p:cNvPr id="0" name="图片 3075"/>
                      <p:cNvPicPr/>
                      <p:nvPr/>
                    </p:nvPicPr>
                    <p:blipFill>
                      <a:blip r:embed="rId4"/>
                      <a:stretch>
                        <a:fillRect/>
                      </a:stretch>
                    </p:blipFill>
                    <p:spPr>
                      <a:xfrm>
                        <a:off x="762100" y="1066862"/>
                        <a:ext cx="7473315" cy="5177155"/>
                      </a:xfrm>
                      <a:prstGeom prst="rect">
                        <a:avLst/>
                      </a:prstGeom>
                      <a:noFill/>
                      <a:ln w="9525">
                        <a:noFill/>
                        <a:miter/>
                      </a:ln>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信息安全审计与标准</a:t>
            </a:r>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3、</a:t>
            </a:r>
            <a:r>
              <a:rPr lang="zh-CN" b="1" dirty="0" smtClean="0">
                <a:latin typeface="华文楷体" pitchFamily="2" charset="-122"/>
                <a:ea typeface="华文楷体" pitchFamily="2" charset="-122"/>
                <a:sym typeface="+mn-ea"/>
              </a:rPr>
              <a:t>GB</a:t>
            </a:r>
            <a:r>
              <a:rPr lang="zh-CN" b="1" dirty="0">
                <a:latin typeface="华文楷体" pitchFamily="2" charset="-122"/>
                <a:ea typeface="华文楷体" pitchFamily="2" charset="-122"/>
                <a:sym typeface="+mn-ea"/>
              </a:rPr>
              <a:t>17859对安全审计的要求</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4" name="文本框 3"/>
          <p:cNvSpPr txBox="1"/>
          <p:nvPr/>
        </p:nvSpPr>
        <p:spPr>
          <a:xfrm>
            <a:off x="495300" y="2028190"/>
            <a:ext cx="8191500" cy="1280160"/>
          </a:xfrm>
          <a:prstGeom prst="rect">
            <a:avLst/>
          </a:prstGeom>
          <a:noFill/>
        </p:spPr>
        <p:txBody>
          <a:bodyPr wrap="square" rtlCol="0">
            <a:spAutoFit/>
          </a:bodyPr>
          <a:lstStyle/>
          <a:p>
            <a:pPr>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我国的信息安全国家标准GB 17859-1999《计算机信息系统安全保护等级划分准则》定义了五个安全等级，其中较高的四个级别都对审计提出了明确的要求。</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sym typeface="+mn-ea"/>
              </a:rPr>
              <a:t>信息安全审计与标准</a:t>
            </a:r>
            <a:endParaRPr lang="zh-CN" altLang="en-US" b="1"/>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4、</a:t>
            </a:r>
            <a:r>
              <a:rPr lang="zh-CN" b="1" dirty="0" smtClean="0">
                <a:latin typeface="华文楷体" pitchFamily="2" charset="-122"/>
                <a:ea typeface="华文楷体" pitchFamily="2" charset="-122"/>
                <a:sym typeface="+mn-ea"/>
              </a:rPr>
              <a:t>信息系统</a:t>
            </a:r>
            <a:r>
              <a:rPr lang="zh-CN" b="1" dirty="0">
                <a:latin typeface="华文楷体" pitchFamily="2" charset="-122"/>
                <a:ea typeface="华文楷体" pitchFamily="2" charset="-122"/>
                <a:sym typeface="+mn-ea"/>
              </a:rPr>
              <a:t>安全审计产品技术要求</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4" name="文本框 3"/>
          <p:cNvSpPr txBox="1"/>
          <p:nvPr/>
        </p:nvSpPr>
        <p:spPr>
          <a:xfrm>
            <a:off x="597535" y="1758950"/>
            <a:ext cx="8191500" cy="3677930"/>
          </a:xfrm>
          <a:prstGeom prst="rect">
            <a:avLst/>
          </a:prstGeom>
          <a:noFill/>
        </p:spPr>
        <p:txBody>
          <a:bodyPr wrap="square" rtlCol="0">
            <a:spAutoFit/>
          </a:bodyPr>
          <a:lstStyle/>
          <a:p>
            <a:pPr>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我国的国标《GB/T 20945-2007 信息系统安全审计产品技术要求和测试评价方法》对信息安全审计产品提出了以下几个方面的</a:t>
            </a:r>
            <a:r>
              <a:rPr lang="zh-CN" altLang="en-US" b="1" dirty="0">
                <a:solidFill>
                  <a:srgbClr val="FF0000"/>
                </a:solidFill>
                <a:latin typeface="华文楷体" pitchFamily="2" charset="-122"/>
                <a:ea typeface="华文楷体" pitchFamily="2" charset="-122"/>
                <a:sym typeface="+mn-ea"/>
              </a:rPr>
              <a:t>技术要求</a:t>
            </a:r>
            <a:r>
              <a:rPr lang="zh-CN" altLang="en-US" b="1" dirty="0">
                <a:latin typeface="华文楷体" pitchFamily="2" charset="-122"/>
                <a:ea typeface="华文楷体" pitchFamily="2" charset="-122"/>
                <a:sym typeface="+mn-ea"/>
              </a:rPr>
              <a:t>。</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安全审计产品分类</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安全功能要求</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自身安全要求</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性能要求</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保证要求</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计算机</a:t>
            </a:r>
            <a:r>
              <a:rPr lang="zh-CN" altLang="en-US" b="1" dirty="0"/>
              <a:t>取证</a:t>
            </a:r>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1、</a:t>
            </a:r>
            <a:r>
              <a:rPr lang="zh-CN" b="1" dirty="0" smtClean="0">
                <a:latin typeface="华文楷体" pitchFamily="2" charset="-122"/>
                <a:ea typeface="华文楷体" pitchFamily="2" charset="-122"/>
                <a:sym typeface="+mn-ea"/>
              </a:rPr>
              <a:t>计算机</a:t>
            </a:r>
            <a:r>
              <a:rPr lang="zh-CN" b="1" dirty="0">
                <a:latin typeface="华文楷体" pitchFamily="2" charset="-122"/>
                <a:ea typeface="华文楷体" pitchFamily="2" charset="-122"/>
                <a:sym typeface="+mn-ea"/>
              </a:rPr>
              <a:t>取证的发展历程</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4" name="文本框 3"/>
          <p:cNvSpPr txBox="1"/>
          <p:nvPr/>
        </p:nvSpPr>
        <p:spPr>
          <a:xfrm>
            <a:off x="495300" y="1976755"/>
            <a:ext cx="8191500" cy="3231654"/>
          </a:xfrm>
          <a:prstGeom prst="rect">
            <a:avLst/>
          </a:prstGeom>
          <a:noFill/>
        </p:spPr>
        <p:txBody>
          <a:bodyPr wrap="square" rtlCol="0">
            <a:spAutoFit/>
          </a:bodyPr>
          <a:lstStyle/>
          <a:p>
            <a:pPr marL="457200" indent="-457200">
              <a:buClr>
                <a:srgbClr val="3191D3"/>
              </a:buClr>
              <a:buSzPct val="65000"/>
              <a:buFont typeface="Wingdings" panose="05000000000000000000" pitchFamily="2" charset="2"/>
              <a:buChar char="p"/>
            </a:pPr>
            <a:r>
              <a:rPr lang="zh-CN" altLang="en-US" sz="2400" b="1" dirty="0">
                <a:latin typeface="华文楷体" pitchFamily="2" charset="-122"/>
                <a:ea typeface="华文楷体" pitchFamily="2" charset="-122"/>
                <a:sym typeface="+mn-ea"/>
              </a:rPr>
              <a:t>美国是开展电子证据检验和研究工作最早的国家之一。</a:t>
            </a:r>
          </a:p>
          <a:p>
            <a:pPr marL="457200" indent="-457200">
              <a:buClr>
                <a:srgbClr val="3191D3"/>
              </a:buClr>
              <a:buSzPct val="65000"/>
              <a:buFont typeface="Wingdings" panose="05000000000000000000" pitchFamily="2" charset="2"/>
              <a:buChar char="p"/>
            </a:pPr>
            <a:r>
              <a:rPr lang="zh-CN" altLang="en-US" sz="2400" b="1" dirty="0">
                <a:latin typeface="华文楷体" pitchFamily="2" charset="-122"/>
                <a:ea typeface="华文楷体" pitchFamily="2" charset="-122"/>
                <a:sym typeface="+mn-ea"/>
              </a:rPr>
              <a:t>为了适应当前形势，我国从1999 年开始对电子证据检验技术进行研究，2001 年开始开展电子证据检验鉴定</a:t>
            </a:r>
            <a:r>
              <a:rPr lang="zh-CN" altLang="en-US" sz="2400" b="1" dirty="0" smtClean="0">
                <a:latin typeface="华文楷体" pitchFamily="2" charset="-122"/>
                <a:ea typeface="华文楷体" pitchFamily="2" charset="-122"/>
                <a:sym typeface="+mn-ea"/>
              </a:rPr>
              <a:t>工作。</a:t>
            </a:r>
          </a:p>
          <a:p>
            <a:pPr marL="457200" indent="-457200">
              <a:buClr>
                <a:srgbClr val="3191D3"/>
              </a:buClr>
              <a:buSzPct val="65000"/>
              <a:buFont typeface="Wingdings" panose="05000000000000000000" pitchFamily="2" charset="2"/>
              <a:buChar char="p"/>
            </a:pPr>
            <a:r>
              <a:rPr lang="zh-CN" altLang="en-US" sz="2400" b="1" dirty="0" smtClean="0">
                <a:latin typeface="华文楷体" pitchFamily="2" charset="-122"/>
                <a:ea typeface="华文楷体" pitchFamily="2" charset="-122"/>
                <a:sym typeface="+mn-ea"/>
              </a:rPr>
              <a:t>对计算机取证的技术研究、专门的工具软件的开发以及相关商业服务出现的始自于90年代中后期。</a:t>
            </a:r>
            <a:endParaRPr lang="en-US" altLang="zh-CN" sz="2400" b="1" dirty="0" smtClean="0">
              <a:latin typeface="华文楷体" pitchFamily="2" charset="-122"/>
              <a:ea typeface="华文楷体" pitchFamily="2" charset="-122"/>
              <a:sym typeface="+mn-ea"/>
            </a:endParaRPr>
          </a:p>
          <a:p>
            <a:pPr marL="457200" indent="-457200">
              <a:buClr>
                <a:srgbClr val="3191D3"/>
              </a:buClr>
              <a:buSzPct val="65000"/>
              <a:buFont typeface="Wingdings" panose="05000000000000000000" pitchFamily="2" charset="2"/>
              <a:buChar char="p"/>
            </a:pPr>
            <a:r>
              <a:rPr lang="zh-CN" altLang="en-US" sz="2400" b="1" dirty="0" smtClean="0">
                <a:latin typeface="华文楷体" pitchFamily="2" charset="-122"/>
                <a:ea typeface="华文楷体" pitchFamily="2" charset="-122"/>
                <a:sym typeface="+mn-ea"/>
              </a:rPr>
              <a:t>从近两年的计算机安全技术论坛上看，计算机取证分析已成为当前大家普遍关注的热点问题。</a:t>
            </a:r>
            <a:endParaRPr lang="zh-CN" altLang="en-US" sz="2400" b="1" dirty="0">
              <a:latin typeface="华文楷体" pitchFamily="2" charset="-122"/>
              <a:ea typeface="华文楷体" pitchFamily="2"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计算机取证</a:t>
            </a:r>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2、</a:t>
            </a:r>
            <a:r>
              <a:rPr lang="zh-CN" b="1" dirty="0" smtClean="0">
                <a:latin typeface="华文楷体" pitchFamily="2" charset="-122"/>
                <a:ea typeface="华文楷体" pitchFamily="2" charset="-122"/>
                <a:sym typeface="+mn-ea"/>
              </a:rPr>
              <a:t>计算机</a:t>
            </a:r>
            <a:r>
              <a:rPr lang="zh-CN" b="1" dirty="0">
                <a:latin typeface="华文楷体" pitchFamily="2" charset="-122"/>
                <a:ea typeface="华文楷体" pitchFamily="2" charset="-122"/>
                <a:sym typeface="+mn-ea"/>
              </a:rPr>
              <a:t>取证的概念</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4" name="文本框 3"/>
          <p:cNvSpPr txBox="1"/>
          <p:nvPr/>
        </p:nvSpPr>
        <p:spPr>
          <a:xfrm>
            <a:off x="495300" y="1976755"/>
            <a:ext cx="8191500" cy="1280160"/>
          </a:xfrm>
          <a:prstGeom prst="rect">
            <a:avLst/>
          </a:prstGeom>
          <a:noFill/>
        </p:spPr>
        <p:txBody>
          <a:bodyPr wrap="square" rtlCol="0">
            <a:spAutoFit/>
          </a:bodyPr>
          <a:lstStyle/>
          <a:p>
            <a:pPr>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计算机取证是对计算机入侵、破坏、欺诈、攻击等犯罪行为，利用计算机软硬件技术，按照符合法律规范的方式，进行识别、保存、分析和提交数字证据的过程。</a:t>
            </a:r>
          </a:p>
        </p:txBody>
      </p:sp>
      <p:sp>
        <p:nvSpPr>
          <p:cNvPr id="5" name="文本框 4"/>
          <p:cNvSpPr txBox="1"/>
          <p:nvPr/>
        </p:nvSpPr>
        <p:spPr>
          <a:xfrm>
            <a:off x="539750" y="3402965"/>
            <a:ext cx="7607300" cy="227076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计算机取证遵循如下原则：</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尽早搜集证据，并保证其没有受到任何破坏</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必须保证“证据连续性”</a:t>
            </a:r>
          </a:p>
          <a:p>
            <a:pPr marL="457200" indent="-457200">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整个检查、取证过程必须是受到监督的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计算机取证</a:t>
            </a:r>
          </a:p>
        </p:txBody>
      </p:sp>
      <p:sp>
        <p:nvSpPr>
          <p:cNvPr id="3" name="内容占位符 2"/>
          <p:cNvSpPr>
            <a:spLocks noGrp="1"/>
          </p:cNvSpPr>
          <p:nvPr>
            <p:ph idx="1"/>
          </p:nvPr>
        </p:nvSpPr>
        <p:spPr/>
        <p:txBody>
          <a:bodyPr/>
          <a:lstStyle/>
          <a:p>
            <a:pPr marL="0" indent="0">
              <a:buNone/>
            </a:pPr>
            <a:r>
              <a:rPr lang="en-US" altLang="zh-CN" b="1" dirty="0" smtClean="0">
                <a:latin typeface="华文楷体" pitchFamily="2" charset="-122"/>
                <a:ea typeface="华文楷体" pitchFamily="2" charset="-122"/>
                <a:sym typeface="+mn-ea"/>
              </a:rPr>
              <a:t>3、</a:t>
            </a:r>
            <a:r>
              <a:rPr lang="zh-CN" b="1" dirty="0" smtClean="0">
                <a:latin typeface="华文楷体" pitchFamily="2" charset="-122"/>
                <a:ea typeface="华文楷体" pitchFamily="2" charset="-122"/>
                <a:sym typeface="+mn-ea"/>
              </a:rPr>
              <a:t>计算机</a:t>
            </a:r>
            <a:r>
              <a:rPr lang="zh-CN" b="1" dirty="0">
                <a:latin typeface="华文楷体" pitchFamily="2" charset="-122"/>
                <a:ea typeface="华文楷体" pitchFamily="2" charset="-122"/>
                <a:sym typeface="+mn-ea"/>
              </a:rPr>
              <a:t>取证流程</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4" name="文本框 3"/>
          <p:cNvSpPr txBox="1"/>
          <p:nvPr/>
        </p:nvSpPr>
        <p:spPr>
          <a:xfrm>
            <a:off x="495300" y="1912620"/>
            <a:ext cx="8268335" cy="487680"/>
          </a:xfrm>
          <a:prstGeom prst="rect">
            <a:avLst/>
          </a:prstGeom>
          <a:noFill/>
        </p:spPr>
        <p:txBody>
          <a:bodyPr wrap="square" rtlCol="0">
            <a:spAutoFit/>
          </a:bodyPr>
          <a:lstStyle/>
          <a:p>
            <a:pPr>
              <a:buClr>
                <a:srgbClr val="3191D3"/>
              </a:buClr>
              <a:buSzPct val="65000"/>
              <a:buFont typeface="Wingdings" panose="05000000000000000000" charset="0"/>
            </a:pPr>
            <a:r>
              <a:rPr lang="zh-CN" altLang="en-US" b="1" dirty="0">
                <a:latin typeface="华文楷体" pitchFamily="2" charset="-122"/>
                <a:ea typeface="华文楷体" pitchFamily="2" charset="-122"/>
                <a:sym typeface="+mn-ea"/>
              </a:rPr>
              <a:t>计算机取证的一般步骤由以下几个部分</a:t>
            </a:r>
            <a:r>
              <a:rPr lang="zh-CN" altLang="en-US" b="1" dirty="0" smtClean="0">
                <a:latin typeface="华文楷体" pitchFamily="2" charset="-122"/>
                <a:ea typeface="华文楷体" pitchFamily="2" charset="-122"/>
                <a:sym typeface="+mn-ea"/>
              </a:rPr>
              <a:t>组成</a:t>
            </a:r>
            <a:endParaRPr lang="zh-CN" altLang="en-US" b="1" dirty="0">
              <a:latin typeface="华文楷体" pitchFamily="2" charset="-122"/>
              <a:ea typeface="华文楷体" pitchFamily="2" charset="-122"/>
              <a:sym typeface="+mn-ea"/>
            </a:endParaRPr>
          </a:p>
        </p:txBody>
      </p:sp>
      <p:pic>
        <p:nvPicPr>
          <p:cNvPr id="1548" name="图片 1548"/>
          <p:cNvPicPr>
            <a:picLocks noChangeAspect="1" noChangeArrowheads="1"/>
          </p:cNvPicPr>
          <p:nvPr/>
        </p:nvPicPr>
        <p:blipFill>
          <a:blip r:embed="rId2">
            <a:extLst>
              <a:ext uri="{28A0092B-C50C-407E-A947-70E740481C1C}">
                <a14:useLocalDpi xmlns:a14="http://schemas.microsoft.com/office/drawing/2010/main" val="0"/>
              </a:ext>
            </a:extLst>
          </a:blip>
          <a:srcRect l="19145" t="29860" r="15962" b="50439"/>
          <a:stretch>
            <a:fillRect/>
          </a:stretch>
        </p:blipFill>
        <p:spPr>
          <a:xfrm>
            <a:off x="1143090" y="3093720"/>
            <a:ext cx="6400632" cy="2070724"/>
          </a:xfrm>
          <a:prstGeom prst="rect">
            <a:avLst/>
          </a:prstGeom>
          <a:noFill/>
          <a:ln>
            <a:noFill/>
          </a:ln>
        </p:spPr>
      </p:pic>
    </p:spTree>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计算机取证</a:t>
            </a:r>
          </a:p>
        </p:txBody>
      </p:sp>
      <p:sp>
        <p:nvSpPr>
          <p:cNvPr id="3" name="内容占位符 2"/>
          <p:cNvSpPr>
            <a:spLocks noGrp="1"/>
          </p:cNvSpPr>
          <p:nvPr>
            <p:ph idx="1"/>
          </p:nvPr>
        </p:nvSpPr>
        <p:spPr>
          <a:xfrm>
            <a:off x="381110" y="1194581"/>
            <a:ext cx="8229600" cy="5105400"/>
          </a:xfrm>
        </p:spPr>
        <p:txBody>
          <a:bodyPr/>
          <a:lstStyle/>
          <a:p>
            <a:pPr marL="0" indent="0">
              <a:buNone/>
            </a:pPr>
            <a:r>
              <a:rPr lang="en-US" altLang="zh-CN" b="1" dirty="0" smtClean="0">
                <a:latin typeface="华文楷体" pitchFamily="2" charset="-122"/>
                <a:ea typeface="华文楷体" pitchFamily="2" charset="-122"/>
                <a:sym typeface="+mn-ea"/>
              </a:rPr>
              <a:t>4、</a:t>
            </a:r>
            <a:r>
              <a:rPr lang="zh-CN" b="1" dirty="0" smtClean="0">
                <a:latin typeface="华文楷体" pitchFamily="2" charset="-122"/>
                <a:ea typeface="华文楷体" pitchFamily="2" charset="-122"/>
                <a:sym typeface="+mn-ea"/>
              </a:rPr>
              <a:t>计算机</a:t>
            </a:r>
            <a:r>
              <a:rPr lang="zh-CN" b="1" dirty="0">
                <a:latin typeface="华文楷体" pitchFamily="2" charset="-122"/>
                <a:ea typeface="华文楷体" pitchFamily="2" charset="-122"/>
                <a:sym typeface="+mn-ea"/>
              </a:rPr>
              <a:t>取证相关技术</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5" name="文本框 4"/>
          <p:cNvSpPr txBox="1"/>
          <p:nvPr/>
        </p:nvSpPr>
        <p:spPr>
          <a:xfrm>
            <a:off x="616585" y="1887220"/>
            <a:ext cx="7607300" cy="3754874"/>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依据计算机取证的过程，涉及到的相关技术大体如下：</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电子证据监测技术</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物理证据获取技术</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电子证据收集技术</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电子证据保全技术</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电子证据处理及鉴定技术</a:t>
            </a:r>
          </a:p>
          <a:p>
            <a:pPr marL="914400" lvl="1"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电子证据提交技术</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计算机取证</a:t>
            </a:r>
          </a:p>
        </p:txBody>
      </p:sp>
      <p:sp>
        <p:nvSpPr>
          <p:cNvPr id="3" name="内容占位符 2"/>
          <p:cNvSpPr>
            <a:spLocks noGrp="1"/>
          </p:cNvSpPr>
          <p:nvPr>
            <p:ph idx="1"/>
          </p:nvPr>
        </p:nvSpPr>
        <p:spPr/>
        <p:txBody>
          <a:bodyPr/>
          <a:lstStyle/>
          <a:p>
            <a:pPr marL="0" indent="0">
              <a:buNone/>
            </a:pPr>
            <a:r>
              <a:rPr lang="zh-CN" b="1" dirty="0">
                <a:latin typeface="华文楷体" pitchFamily="2" charset="-122"/>
                <a:ea typeface="华文楷体" pitchFamily="2" charset="-122"/>
                <a:sym typeface="+mn-ea"/>
              </a:rPr>
              <a:t>计算机取证工具</a:t>
            </a:r>
            <a:r>
              <a:rPr lang="zh-CN" altLang="en-US" b="1" dirty="0">
                <a:latin typeface="华文楷体" pitchFamily="2" charset="-122"/>
                <a:ea typeface="华文楷体" pitchFamily="2" charset="-122"/>
                <a:sym typeface="+mn-ea"/>
              </a:rPr>
              <a:t>：</a:t>
            </a:r>
            <a:endParaRPr lang="zh-CN" altLang="en-US" dirty="0">
              <a:latin typeface="华文楷体" pitchFamily="2" charset="-122"/>
              <a:ea typeface="华文楷体" pitchFamily="2" charset="-122"/>
            </a:endParaRPr>
          </a:p>
        </p:txBody>
      </p:sp>
      <p:sp>
        <p:nvSpPr>
          <p:cNvPr id="5" name="文本框 4"/>
          <p:cNvSpPr txBox="1"/>
          <p:nvPr/>
        </p:nvSpPr>
        <p:spPr>
          <a:xfrm>
            <a:off x="838200" y="1905040"/>
            <a:ext cx="7607300" cy="1923604"/>
          </a:xfrm>
          <a:prstGeom prst="rect">
            <a:avLst/>
          </a:prstGeom>
          <a:noFill/>
        </p:spPr>
        <p:txBody>
          <a:bodyPr wrap="square" rtlCol="0">
            <a:spAutoFit/>
          </a:bodyPr>
          <a:lstStyle/>
          <a:p>
            <a:pPr marL="457200" indent="-457200">
              <a:spcBef>
                <a:spcPts val="600"/>
              </a:spcBef>
              <a:buClr>
                <a:srgbClr val="3191D3"/>
              </a:buClr>
              <a:buSzPct val="65000"/>
              <a:buFont typeface="Wingdings" panose="05000000000000000000" charset="0"/>
              <a:buChar char="n"/>
            </a:pPr>
            <a:r>
              <a:rPr lang="zh-CN" altLang="en-US" b="1" dirty="0" smtClean="0">
                <a:latin typeface="华文楷体" pitchFamily="2" charset="-122"/>
                <a:ea typeface="华文楷体" pitchFamily="2" charset="-122"/>
                <a:sym typeface="+mn-ea"/>
              </a:rPr>
              <a:t>证据</a:t>
            </a:r>
            <a:r>
              <a:rPr lang="zh-CN" altLang="en-US" b="1" dirty="0">
                <a:latin typeface="华文楷体" pitchFamily="2" charset="-122"/>
                <a:ea typeface="华文楷体" pitchFamily="2" charset="-122"/>
                <a:sym typeface="+mn-ea"/>
              </a:rPr>
              <a:t>获取工具</a:t>
            </a:r>
          </a:p>
          <a:p>
            <a:pPr marL="457200"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证据保全工具</a:t>
            </a:r>
          </a:p>
          <a:p>
            <a:pPr marL="457200"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证据分析工具</a:t>
            </a:r>
          </a:p>
          <a:p>
            <a:pPr marL="457200" indent="-457200">
              <a:spcBef>
                <a:spcPts val="600"/>
              </a:spcBef>
              <a:buClr>
                <a:srgbClr val="3191D3"/>
              </a:buClr>
              <a:buSzPct val="65000"/>
              <a:buFont typeface="Wingdings" panose="05000000000000000000" charset="0"/>
              <a:buChar char="n"/>
            </a:pPr>
            <a:r>
              <a:rPr lang="zh-CN" altLang="en-US" b="1" dirty="0">
                <a:latin typeface="华文楷体" pitchFamily="2" charset="-122"/>
                <a:ea typeface="华文楷体" pitchFamily="2" charset="-122"/>
                <a:sym typeface="+mn-ea"/>
              </a:rPr>
              <a:t>证据归档工具</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计算机取证</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7200" y="1447852"/>
            <a:ext cx="8229600" cy="4168613"/>
          </a:xfrm>
        </p:spPr>
      </p:pic>
    </p:spTree>
    <p:extLst>
      <p:ext uri="{BB962C8B-B14F-4D97-AF65-F5344CB8AC3E}">
        <p14:creationId xmlns:p14="http://schemas.microsoft.com/office/powerpoint/2010/main" val="1396554088"/>
      </p:ext>
    </p:ext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b="1">
                <a:latin typeface="华文楷体" pitchFamily="2" charset="-122"/>
                <a:ea typeface="华文楷体" pitchFamily="2" charset="-122"/>
                <a:sym typeface="+mn-ea"/>
              </a:rPr>
              <a:t>本章小结：</a:t>
            </a:r>
            <a:endParaRPr lang="zh-CN" altLang="en-US">
              <a:latin typeface="华文楷体" pitchFamily="2" charset="-122"/>
              <a:ea typeface="华文楷体" pitchFamily="2" charset="-122"/>
            </a:endParaRPr>
          </a:p>
          <a:p>
            <a:pPr marL="0" indent="0">
              <a:buNone/>
            </a:pPr>
            <a:endParaRPr lang="zh-CN" altLang="en-US">
              <a:latin typeface="华文楷体" pitchFamily="2" charset="-122"/>
              <a:ea typeface="华文楷体" pitchFamily="2" charset="-122"/>
            </a:endParaRPr>
          </a:p>
        </p:txBody>
      </p:sp>
      <p:sp>
        <p:nvSpPr>
          <p:cNvPr id="4" name="文本框 3"/>
          <p:cNvSpPr txBox="1"/>
          <p:nvPr/>
        </p:nvSpPr>
        <p:spPr>
          <a:xfrm>
            <a:off x="596900" y="1925955"/>
            <a:ext cx="8089900" cy="2270760"/>
          </a:xfrm>
          <a:prstGeom prst="rect">
            <a:avLst/>
          </a:prstGeom>
          <a:noFill/>
        </p:spPr>
        <p:txBody>
          <a:bodyPr wrap="square" rtlCol="0">
            <a:spAutoFit/>
          </a:bodyPr>
          <a:lstStyle/>
          <a:p>
            <a:r>
              <a:rPr lang="zh-CN" altLang="en-US" b="1" dirty="0">
                <a:latin typeface="华文楷体" pitchFamily="2" charset="-122"/>
                <a:ea typeface="华文楷体" pitchFamily="2" charset="-122"/>
                <a:sym typeface="+mn-ea"/>
              </a:rPr>
              <a:t>安全审计就是对系统安全的审核、稽查与计算。</a:t>
            </a:r>
          </a:p>
          <a:p>
            <a:r>
              <a:rPr lang="zh-CN" altLang="en-US" b="1" dirty="0">
                <a:latin typeface="华文楷体" pitchFamily="2" charset="-122"/>
                <a:ea typeface="华文楷体" pitchFamily="2" charset="-122"/>
                <a:sym typeface="+mn-ea"/>
              </a:rPr>
              <a:t>本章对信息安全审计的概念、功能、分类、一般流程、分析方法、数据源以及安全审计系统的体系结构分别进行了阐述，并对有关标准，如TESEC、CC以及我国国标GB 17859中对安全审计的要求进行了讨论。</a:t>
            </a:r>
            <a:endParaRPr lang="zh-CN" altLang="en-US" dirty="0">
              <a:latin typeface="华文楷体" pitchFamily="2" charset="-122"/>
              <a:ea typeface="华文楷体" pitchFamily="2" charset="-122"/>
            </a:endParaRPr>
          </a:p>
        </p:txBody>
      </p:sp>
    </p:spTree>
  </p:cSld>
  <p:clrMapOvr>
    <a:masterClrMapping/>
  </p:clrMapOvr>
  <p:transition>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noChangeArrowheads="1"/>
          </p:cNvSpPr>
          <p:nvPr>
            <p:ph type="title"/>
          </p:nvPr>
        </p:nvSpPr>
        <p:spPr>
          <a:xfrm>
            <a:off x="838200" y="2590800"/>
            <a:ext cx="7010400" cy="563563"/>
          </a:xfrm>
        </p:spPr>
        <p:txBody>
          <a:bodyPr/>
          <a:lstStyle/>
          <a:p>
            <a:r>
              <a:rPr lang="zh-CN" altLang="en-US" smtClean="0">
                <a:ea typeface="宋体" pitchFamily="2" charset="-122"/>
              </a:rPr>
              <a:t>思考题</a:t>
            </a:r>
          </a:p>
        </p:txBody>
      </p:sp>
      <p:sp>
        <p:nvSpPr>
          <p:cNvPr id="70659" name="内容占位符 2"/>
          <p:cNvSpPr>
            <a:spLocks noGrp="1" noChangeArrowheads="1"/>
          </p:cNvSpPr>
          <p:nvPr>
            <p:ph idx="1"/>
          </p:nvPr>
        </p:nvSpPr>
        <p:spPr>
          <a:xfrm>
            <a:off x="152400" y="1219200"/>
            <a:ext cx="8229600" cy="5105400"/>
          </a:xfrm>
        </p:spPr>
        <p:txBody>
          <a:bodyPr/>
          <a:lstStyle/>
          <a:p>
            <a:pPr>
              <a:buFont typeface="Wingdings" pitchFamily="2" charset="2"/>
              <a:buNone/>
            </a:pPr>
            <a:endParaRPr lang="en-US" altLang="zh-CN" sz="3600" b="1" i="1" smtClean="0">
              <a:solidFill>
                <a:srgbClr val="C00000"/>
              </a:solidFill>
              <a:latin typeface="楷体_GB2312" pitchFamily="49" charset="-122"/>
              <a:ea typeface="楷体_GB2312" pitchFamily="49" charset="-122"/>
            </a:endParaRPr>
          </a:p>
          <a:p>
            <a:pPr algn="ctr">
              <a:buFont typeface="Wingdings" pitchFamily="2" charset="2"/>
              <a:buNone/>
            </a:pPr>
            <a:r>
              <a:rPr lang="zh-CN" altLang="en-US" sz="9600" b="1" smtClean="0">
                <a:solidFill>
                  <a:srgbClr val="C00000"/>
                </a:solidFill>
                <a:latin typeface="华文隶书" pitchFamily="2" charset="-122"/>
                <a:ea typeface="华文隶书" pitchFamily="2" charset="-122"/>
                <a:cs typeface="楷体_GB2312" pitchFamily="49" charset="-122"/>
              </a:rPr>
              <a:t>谢谢</a:t>
            </a:r>
          </a:p>
        </p:txBody>
      </p:sp>
      <p:pic>
        <p:nvPicPr>
          <p:cNvPr id="70660"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75038" y="3962400"/>
            <a:ext cx="1736725"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6493390"/>
      </p:ext>
    </p:extLst>
  </p:cSld>
  <p:clrMapOvr>
    <a:masterClrMapping/>
  </p:clrMapOvr>
  <p:transition>
    <p:random/>
  </p:transition>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262</TotalTime>
  <Words>2881</Words>
  <Application>Microsoft Office PowerPoint</Application>
  <PresentationFormat>全屏显示(4:3)</PresentationFormat>
  <Paragraphs>220</Paragraphs>
  <Slides>37</Slides>
  <Notes>1</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37</vt:i4>
      </vt:variant>
    </vt:vector>
  </HeadingPairs>
  <TitlesOfParts>
    <vt:vector size="40" baseType="lpstr">
      <vt:lpstr>默认设计模板</vt:lpstr>
      <vt:lpstr>Photoshop.Image.7</vt:lpstr>
      <vt:lpstr>Microsoft Visio 绘图</vt:lpstr>
      <vt:lpstr>第十一章 信息系统安全审计</vt:lpstr>
      <vt:lpstr>本讲内容</vt:lpstr>
      <vt:lpstr>信息系统安全审计概述</vt:lpstr>
      <vt:lpstr>信息系统安全审计概述</vt:lpstr>
      <vt:lpstr>信息系统安全审计概述</vt:lpstr>
      <vt:lpstr>信息系统安全审计概述</vt:lpstr>
      <vt:lpstr>信息系统安全审计概述</vt:lpstr>
      <vt:lpstr>安全审计系统的体系结构</vt:lpstr>
      <vt:lpstr>安全审计系统的体系结构</vt:lpstr>
      <vt:lpstr>安全审计系统的体系结构</vt:lpstr>
      <vt:lpstr>分布式安全审计系统体系结构</vt:lpstr>
      <vt:lpstr>分布式安全审计系统体系结构</vt:lpstr>
      <vt:lpstr>安全审计的一般流程</vt:lpstr>
      <vt:lpstr>安全审计的一般流程</vt:lpstr>
      <vt:lpstr>安全审计的一般流程</vt:lpstr>
      <vt:lpstr>安全审计的一般流程</vt:lpstr>
      <vt:lpstr>安全审计的一般流程</vt:lpstr>
      <vt:lpstr>安全审计的一般流程</vt:lpstr>
      <vt:lpstr>安全审计的数据源</vt:lpstr>
      <vt:lpstr>安全审计的数据源</vt:lpstr>
      <vt:lpstr>安全审计的分析方法</vt:lpstr>
      <vt:lpstr>安全审计的分析方法</vt:lpstr>
      <vt:lpstr>安全审计的分析方法</vt:lpstr>
      <vt:lpstr>安全审计的分析方法</vt:lpstr>
      <vt:lpstr>信息安全审计与标准</vt:lpstr>
      <vt:lpstr>信息安全审计与标准</vt:lpstr>
      <vt:lpstr>信息安全审计与标准</vt:lpstr>
      <vt:lpstr>信息安全审计与标准</vt:lpstr>
      <vt:lpstr>信息安全审计与标准</vt:lpstr>
      <vt:lpstr>计算机取证</vt:lpstr>
      <vt:lpstr>计算机取证</vt:lpstr>
      <vt:lpstr>计算机取证</vt:lpstr>
      <vt:lpstr>计算机取证</vt:lpstr>
      <vt:lpstr>计算机取证</vt:lpstr>
      <vt:lpstr>计算机取证</vt:lpstr>
      <vt:lpstr>PowerPoint 演示文稿</vt:lpstr>
      <vt:lpstr>思考题</vt:lpstr>
    </vt:vector>
  </TitlesOfParts>
  <Company>Guilddesign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FengYan</dc:creator>
  <cp:lastModifiedBy>1363719767@qq.com</cp:lastModifiedBy>
  <cp:revision>1029</cp:revision>
  <dcterms:created xsi:type="dcterms:W3CDTF">2004-07-21T02:43:00Z</dcterms:created>
  <dcterms:modified xsi:type="dcterms:W3CDTF">2020-05-19T05:06:50Z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2052-10.1.0.6235</vt:lpwstr>
  </property>
</Properties>
</file>