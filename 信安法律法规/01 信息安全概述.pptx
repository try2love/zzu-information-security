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3"/>
  </p:notesMasterIdLst>
  <p:sldIdLst>
    <p:sldId id="256" r:id="rId4"/>
    <p:sldId id="695" r:id="rId5"/>
    <p:sldId id="748" r:id="rId6"/>
    <p:sldId id="749" r:id="rId7"/>
    <p:sldId id="698" r:id="rId8"/>
    <p:sldId id="699" r:id="rId9"/>
    <p:sldId id="712" r:id="rId10"/>
    <p:sldId id="720" r:id="rId11"/>
    <p:sldId id="467" r:id="rId12"/>
    <p:sldId id="697" r:id="rId14"/>
    <p:sldId id="696" r:id="rId15"/>
    <p:sldId id="645" r:id="rId16"/>
    <p:sldId id="689" r:id="rId17"/>
    <p:sldId id="688" r:id="rId18"/>
    <p:sldId id="700" r:id="rId19"/>
    <p:sldId id="701" r:id="rId20"/>
    <p:sldId id="714" r:id="rId21"/>
    <p:sldId id="702" r:id="rId22"/>
    <p:sldId id="716" r:id="rId23"/>
    <p:sldId id="646" r:id="rId24"/>
    <p:sldId id="675" r:id="rId25"/>
    <p:sldId id="703" r:id="rId26"/>
    <p:sldId id="706" r:id="rId27"/>
    <p:sldId id="705" r:id="rId28"/>
    <p:sldId id="709" r:id="rId29"/>
    <p:sldId id="718" r:id="rId30"/>
    <p:sldId id="710" r:id="rId31"/>
    <p:sldId id="708" r:id="rId32"/>
    <p:sldId id="704" r:id="rId33"/>
    <p:sldId id="707" r:id="rId34"/>
    <p:sldId id="676" r:id="rId35"/>
    <p:sldId id="711" r:id="rId36"/>
    <p:sldId id="719" r:id="rId37"/>
    <p:sldId id="717" r:id="rId38"/>
    <p:sldId id="722" r:id="rId39"/>
    <p:sldId id="609" r:id="rId40"/>
  </p:sldIdLst>
  <p:sldSz cx="9144000" cy="6858000" type="screen4x3"/>
  <p:notesSz cx="6858000" cy="9144000"/>
  <p:custDataLst>
    <p:tags r:id="rId44"/>
  </p:custDataLst>
  <p:defaultTextStyle>
    <a:defPPr>
      <a:defRPr lang="en-US"/>
    </a:defPPr>
    <a:lvl1pPr marL="0" lvl="0"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600" b="0" i="0" u="none" kern="1200" baseline="0">
        <a:solidFill>
          <a:srgbClr val="000000"/>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0000"/>
    <a:srgbClr val="CC3399"/>
    <a:srgbClr val="CC6600"/>
    <a:srgbClr val="FFFF66"/>
    <a:srgbClr val="FFFFCC"/>
    <a:srgbClr val="00CC99"/>
    <a:srgbClr val="97D7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0820"/>
    <p:restoredTop sz="71781"/>
  </p:normalViewPr>
  <p:slideViewPr>
    <p:cSldViewPr showGuides="1">
      <p:cViewPr>
        <p:scale>
          <a:sx n="73" d="100"/>
          <a:sy n="73" d="100"/>
        </p:scale>
        <p:origin x="-119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199" cy="761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90.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notesMaster" Target="notesMasters/notes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60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1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0"/>
              </a:spcBef>
              <a:buFontTx/>
              <a:buNone/>
              <a:defRPr sz="1200">
                <a:solidFill>
                  <a:schemeClr val="tx1"/>
                </a:solidFill>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8916"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4294967295"/>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602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200">
                <a:solidFill>
                  <a:schemeClr val="tx1"/>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602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幻灯片图像占位符 1"/>
          <p:cNvSpPr>
            <a:spLocks noGrp="1" noRot="1" noChangeAspect="1" noTextEdit="1"/>
          </p:cNvSpPr>
          <p:nvPr>
            <p:ph type="sldImg"/>
          </p:nvPr>
        </p:nvSpPr>
        <p:spPr/>
      </p:sp>
      <p:sp>
        <p:nvSpPr>
          <p:cNvPr id="40963" name="备注占位符 2"/>
          <p:cNvSpPr>
            <a:spLocks noGrp="1"/>
          </p:cNvSpPr>
          <p:nvPr>
            <p:ph type="body"/>
          </p:nvPr>
        </p:nvSpPr>
        <p:spPr/>
        <p:txBody>
          <a:bodyPr wrap="square" lIns="91440" tIns="45720" rIns="91440" bIns="45720" anchor="t" anchorCtr="0"/>
          <a:p>
            <a:pPr lvl="0" eaLnBrk="1" hangingPunct="1"/>
            <a:endParaRPr lang="zh-CN" altLang="en-US" dirty="0">
              <a:ea typeface="宋体" panose="02010600030101010101" pitchFamily="2" charset="-122"/>
            </a:endParaRPr>
          </a:p>
        </p:txBody>
      </p:sp>
      <p:sp>
        <p:nvSpPr>
          <p:cNvPr id="40964" name="灯片编号占位符 3"/>
          <p:cNvSpPr txBox="1">
            <a:spLocks noGrp="1"/>
          </p:cNvSpPr>
          <p:nvPr>
            <p:ph type="sldNum" sz="quarter"/>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en-US" altLang="en-US" sz="1200" dirty="0">
                <a:solidFill>
                  <a:schemeClr val="tx1"/>
                </a:solidFill>
                <a:latin typeface="Arial" panose="020B0604020202020204" pitchFamily="34" charset="0"/>
              </a:rPr>
            </a:fld>
            <a:endParaRPr lang="en-US" altLang="en-US" sz="1200" dirty="0">
              <a:solidFill>
                <a:schemeClr val="tx1"/>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3076" name="" r:id="rId2" imgW="13004800" imgH="4572000" progId="Photoshop.Image.7">
                  <p:embed/>
                </p:oleObj>
              </mc:Choice>
              <mc:Fallback>
                <p:oleObj name="" r:id="rId2" imgW="13004800" imgH="4572000" progId="Photoshop.Image.7">
                  <p:embed/>
                  <p:pic>
                    <p:nvPicPr>
                      <p:cNvPr id="0" name="图片 3075"/>
                      <p:cNvPicPr/>
                      <p:nvPr/>
                    </p:nvPicPr>
                    <p:blipFill>
                      <a:blip r:embed="rId3"/>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endPar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7" name="AutoShape 15"/>
            <p:cNvSpPr>
              <a:spLocks noChangeArrowheads="1"/>
            </p:cNvSpPr>
            <p:nvPr/>
          </p:nvSpPr>
          <p:spPr bwMode="auto">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auto">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endParaRPr lang="en-US" altLang="zh-CN" noProof="1"/>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endParaRPr lang="en-US" altLang="zh-CN" noProof="1"/>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p>
            <a:pPr algn="r" eaLnBrk="1" hangingPunct="1">
              <a:buNone/>
            </a:pPr>
            <a:fld id="{9A0DB2DC-4C9A-4742-B13C-FB6460FD3503}" type="slidenum">
              <a:rPr lang="en-US" altLang="en-US" sz="1200" dirty="0">
                <a:latin typeface="Arial" panose="020B0604020202020204" pitchFamily="34" charset="0"/>
              </a:rPr>
            </a:fld>
            <a:endParaRPr lang="en-US" altLang="en-US" sz="1200" dirty="0">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2" name="Rectangle 10"/>
          <p:cNvSpPr>
            <a:spLocks noChangeArrowheads="1"/>
          </p:cNvSpPr>
          <p:nvPr/>
        </p:nvSpPr>
        <p:spPr bwMode="gray">
          <a:xfrm>
            <a:off x="1588" y="3803650"/>
            <a:ext cx="9142413" cy="1301750"/>
          </a:xfrm>
          <a:prstGeom prst="rect">
            <a:avLst/>
          </a:prstGeom>
          <a:gradFill rotWithShape="1">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051" name="Object 18"/>
          <p:cNvGraphicFramePr/>
          <p:nvPr/>
        </p:nvGraphicFramePr>
        <p:xfrm>
          <a:off x="0" y="0"/>
          <a:ext cx="9144000" cy="2622550"/>
        </p:xfrm>
        <a:graphic>
          <a:graphicData uri="http://schemas.openxmlformats.org/presentationml/2006/ole">
            <mc:AlternateContent xmlns:mc="http://schemas.openxmlformats.org/markup-compatibility/2006">
              <mc:Choice xmlns:v="urn:schemas-microsoft-com:vml" Requires="v">
                <p:oleObj spid="_x0000_s3076" name="" r:id="rId2" imgW="13004800" imgH="4572000" progId="Photoshop.Image.7">
                  <p:embed/>
                </p:oleObj>
              </mc:Choice>
              <mc:Fallback>
                <p:oleObj name="" r:id="rId2" imgW="13004800" imgH="4572000" progId="Photoshop.Image.7">
                  <p:embed/>
                  <p:pic>
                    <p:nvPicPr>
                      <p:cNvPr id="0" name="图片 3075"/>
                      <p:cNvPicPr/>
                      <p:nvPr/>
                    </p:nvPicPr>
                    <p:blipFill>
                      <a:blip r:embed="rId3"/>
                      <a:stretch>
                        <a:fillRect/>
                      </a:stretch>
                    </p:blipFill>
                    <p:spPr>
                      <a:xfrm>
                        <a:off x="0" y="0"/>
                        <a:ext cx="9144000" cy="2622550"/>
                      </a:xfrm>
                      <a:prstGeom prst="rect">
                        <a:avLst/>
                      </a:prstGeom>
                      <a:noFill/>
                      <a:ln w="38100">
                        <a:noFill/>
                        <a:miter/>
                      </a:ln>
                    </p:spPr>
                  </p:pic>
                </p:oleObj>
              </mc:Fallback>
            </mc:AlternateContent>
          </a:graphicData>
        </a:graphic>
      </p:graphicFrame>
      <p:sp>
        <p:nvSpPr>
          <p:cNvPr id="14" name="Rectangle 19"/>
          <p:cNvSpPr>
            <a:spLocks noChangeArrowheads="1"/>
          </p:cNvSpPr>
          <p:nvPr/>
        </p:nvSpPr>
        <p:spPr bwMode="gray">
          <a:xfrm>
            <a:off x="0" y="2678113"/>
            <a:ext cx="9144000" cy="1071563"/>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3" name="Group 16"/>
          <p:cNvGrpSpPr/>
          <p:nvPr/>
        </p:nvGrpSpPr>
        <p:grpSpPr>
          <a:xfrm>
            <a:off x="4114800" y="5838825"/>
            <a:ext cx="1079500" cy="633413"/>
            <a:chOff x="2680" y="3678"/>
            <a:chExt cx="680" cy="399"/>
          </a:xfrm>
        </p:grpSpPr>
        <p:sp>
          <p:nvSpPr>
            <p:cNvPr id="16" name="Text Box 14"/>
            <p:cNvSpPr txBox="1">
              <a:spLocks noChangeArrowheads="1"/>
            </p:cNvSpPr>
            <p:nvPr/>
          </p:nvSpPr>
          <p:spPr bwMode="gray">
            <a:xfrm>
              <a:off x="2680" y="3789"/>
              <a:ext cx="6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600">
                  <a:solidFill>
                    <a:srgbClr val="000000"/>
                  </a:solidFill>
                  <a:latin typeface="Times New Roman" panose="02020603050405020304" pitchFamily="18" charset="0"/>
                  <a:ea typeface="宋体" panose="02010600030101010101" pitchFamily="2" charset="-122"/>
                </a:defRPr>
              </a:lvl1pPr>
              <a:lvl2pPr marL="742950" indent="-285750" eaLnBrk="0" hangingPunct="0">
                <a:defRPr sz="2600">
                  <a:solidFill>
                    <a:srgbClr val="000000"/>
                  </a:solidFill>
                  <a:latin typeface="Times New Roman" panose="02020603050405020304" pitchFamily="18" charset="0"/>
                  <a:ea typeface="宋体" panose="02010600030101010101" pitchFamily="2" charset="-122"/>
                </a:defRPr>
              </a:lvl2pPr>
              <a:lvl3pPr marL="1143000" indent="-228600" eaLnBrk="0" hangingPunct="0">
                <a:defRPr sz="2600">
                  <a:solidFill>
                    <a:srgbClr val="000000"/>
                  </a:solidFill>
                  <a:latin typeface="Times New Roman" panose="02020603050405020304" pitchFamily="18" charset="0"/>
                  <a:ea typeface="宋体" panose="02010600030101010101" pitchFamily="2" charset="-122"/>
                </a:defRPr>
              </a:lvl3pPr>
              <a:lvl4pPr marL="1600200" indent="-228600" eaLnBrk="0" hangingPunct="0">
                <a:defRPr sz="2600">
                  <a:solidFill>
                    <a:srgbClr val="000000"/>
                  </a:solidFill>
                  <a:latin typeface="Times New Roman" panose="02020603050405020304" pitchFamily="18" charset="0"/>
                  <a:ea typeface="宋体" panose="02010600030101010101" pitchFamily="2" charset="-122"/>
                </a:defRPr>
              </a:lvl4pPr>
              <a:lvl5pPr marL="2057400" indent="-228600" eaLnBrk="0" hangingPunct="0">
                <a:defRPr sz="26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rPr>
                <a:t>LOGO</a:t>
              </a:r>
              <a:endParaRPr kumimoji="0" lang="en-US" altLang="zh-CN" sz="24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7" name="AutoShape 15"/>
            <p:cNvSpPr>
              <a:spLocks noChangeArrowheads="1"/>
            </p:cNvSpPr>
            <p:nvPr/>
          </p:nvSpPr>
          <p:spPr bwMode="auto">
            <a:xfrm rot="5400000">
              <a:off x="2928" y="3493"/>
              <a:ext cx="172" cy="54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8" name="AutoShape 11"/>
          <p:cNvSpPr>
            <a:spLocks noChangeArrowheads="1"/>
          </p:cNvSpPr>
          <p:nvPr/>
        </p:nvSpPr>
        <p:spPr bwMode="auto">
          <a:xfrm>
            <a:off x="685800" y="3429000"/>
            <a:ext cx="7620000" cy="685800"/>
          </a:xfrm>
          <a:prstGeom prst="roundRect">
            <a:avLst>
              <a:gd name="adj" fmla="val 38449"/>
            </a:avLst>
          </a:prstGeom>
          <a:solidFill>
            <a:schemeClr val="bg1"/>
          </a:solidFill>
          <a:ln>
            <a:noFill/>
          </a:ln>
          <a:extLst>
            <a:ext uri="{91240B29-F687-4F45-9708-019B960494DF}">
              <a14:hiddenLine xmlns:a14="http://schemas.microsoft.com/office/drawing/2010/main" w="38100">
                <a:solidFill>
                  <a:srgbClr val="000000"/>
                </a:solidFill>
                <a:round/>
              </a14:hiddenLine>
            </a:ext>
          </a:extLst>
        </p:spPr>
        <p:txBody>
          <a:bodyPr wrap="none" anchor="ctr"/>
          <a:lstStyle>
            <a:lvl1pPr>
              <a:defRPr sz="2600">
                <a:solidFill>
                  <a:srgbClr val="000000"/>
                </a:solidFill>
                <a:latin typeface="Times New Roman" panose="02020603050405020304" pitchFamily="18" charset="0"/>
                <a:ea typeface="宋体" panose="02010600030101010101" pitchFamily="2" charset="-122"/>
              </a:defRPr>
            </a:lvl1pPr>
            <a:lvl2pPr>
              <a:defRPr sz="2600">
                <a:solidFill>
                  <a:srgbClr val="000000"/>
                </a:solidFill>
                <a:latin typeface="Times New Roman" panose="02020603050405020304" pitchFamily="18" charset="0"/>
                <a:ea typeface="宋体" panose="02010600030101010101" pitchFamily="2" charset="-122"/>
              </a:defRPr>
            </a:lvl2pPr>
            <a:lvl3pPr>
              <a:defRPr sz="2600">
                <a:solidFill>
                  <a:srgbClr val="000000"/>
                </a:solidFill>
                <a:latin typeface="Times New Roman" panose="02020603050405020304" pitchFamily="18" charset="0"/>
                <a:ea typeface="宋体" panose="02010600030101010101" pitchFamily="2" charset="-122"/>
              </a:defRPr>
            </a:lvl3pPr>
            <a:lvl4pPr>
              <a:defRPr sz="2600">
                <a:solidFill>
                  <a:srgbClr val="000000"/>
                </a:solidFill>
                <a:latin typeface="Times New Roman" panose="02020603050405020304" pitchFamily="18" charset="0"/>
                <a:ea typeface="宋体" panose="02010600030101010101" pitchFamily="2" charset="-122"/>
              </a:defRPr>
            </a:lvl4pPr>
            <a:lvl5pPr>
              <a:defRPr sz="2600">
                <a:solidFill>
                  <a:srgbClr val="000000"/>
                </a:solidFill>
                <a:latin typeface="Times New Roman" panose="02020603050405020304" pitchFamily="18" charset="0"/>
                <a:ea typeface="宋体" panose="02010600030101010101" pitchFamily="2" charset="-122"/>
              </a:defRPr>
            </a:lvl5pPr>
            <a:lvl6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6pPr>
            <a:lvl7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7pPr>
            <a:lvl8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8pPr>
            <a:lvl9pPr fontAlgn="base">
              <a:spcBef>
                <a:spcPct val="50000"/>
              </a:spcBef>
              <a:spcAft>
                <a:spcPct val="0"/>
              </a:spcAft>
              <a:buFont typeface="Arial" panose="020B0604020202020204" pitchFamily="34" charset="0"/>
              <a:defRPr sz="2600">
                <a:solidFill>
                  <a:srgbClr val="000000"/>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Arial" panose="020B0604020202020204" pitchFamily="34" charset="0"/>
              <a:buNone/>
              <a:defRPr/>
            </a:pPr>
            <a:endParaRPr kumimoji="0" lang="zh-CN" altLang="en-US" sz="26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subTitle" idx="1"/>
          </p:nvPr>
        </p:nvSpPr>
        <p:spPr bwMode="gray">
          <a:xfrm>
            <a:off x="914400" y="2895600"/>
            <a:ext cx="7304088" cy="381000"/>
          </a:xfrm>
        </p:spPr>
        <p:txBody>
          <a:bodyPr/>
          <a:lstStyle>
            <a:lvl1pPr marL="0" indent="0" algn="ctr">
              <a:buFont typeface="Wingdings" panose="05000000000000000000" pitchFamily="2" charset="2"/>
              <a:buNone/>
              <a:defRPr sz="2400">
                <a:solidFill>
                  <a:schemeClr val="bg1"/>
                </a:solidFill>
              </a:defRPr>
            </a:lvl1pPr>
          </a:lstStyle>
          <a:p>
            <a:r>
              <a:rPr lang="en-US" altLang="zh-CN" noProof="1"/>
              <a:t>Click to edit Master subtitle style</a:t>
            </a:r>
            <a:endParaRPr lang="en-US" altLang="zh-CN" noProof="1"/>
          </a:p>
        </p:txBody>
      </p:sp>
      <p:sp>
        <p:nvSpPr>
          <p:cNvPr id="3074" name="Rectangle 2"/>
          <p:cNvSpPr>
            <a:spLocks noGrp="1" noChangeArrowheads="1"/>
          </p:cNvSpPr>
          <p:nvPr>
            <p:ph type="ctrTitle"/>
          </p:nvPr>
        </p:nvSpPr>
        <p:spPr bwMode="gray">
          <a:xfrm>
            <a:off x="762000" y="3432175"/>
            <a:ext cx="7620000" cy="682625"/>
          </a:xfrm>
        </p:spPr>
        <p:txBody>
          <a:bodyPr/>
          <a:lstStyle>
            <a:lvl1pPr>
              <a:defRPr sz="4000" b="1">
                <a:solidFill>
                  <a:schemeClr val="tx1"/>
                </a:solidFill>
              </a:defRPr>
            </a:lvl1pPr>
          </a:lstStyle>
          <a:p>
            <a:r>
              <a:rPr lang="en-US" altLang="zh-CN" noProof="1"/>
              <a:t>Click to edit Master title style</a:t>
            </a:r>
            <a:endParaRPr lang="en-US" altLang="zh-CN" noProof="1"/>
          </a:p>
        </p:txBody>
      </p:sp>
      <p:sp>
        <p:nvSpPr>
          <p:cNvPr id="19" name="Rectangle 4"/>
          <p:cNvSpPr>
            <a:spLocks noGrp="1" noChangeArrowheads="1"/>
          </p:cNvSpPr>
          <p:nvPr>
            <p:ph type="dt" sz="half" idx="2"/>
          </p:nvPr>
        </p:nvSpPr>
        <p:spPr bwMode="auto">
          <a:xfrm>
            <a:off x="457200" y="6477000"/>
            <a:ext cx="2133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 name="Rectangle 5"/>
          <p:cNvSpPr>
            <a:spLocks noGrp="1" noChangeArrowheads="1"/>
          </p:cNvSpPr>
          <p:nvPr>
            <p:ph type="ftr" sz="quarter" idx="3"/>
          </p:nvPr>
        </p:nvSpPr>
        <p:spPr bwMode="auto">
          <a:xfrm>
            <a:off x="3124200" y="6477000"/>
            <a:ext cx="2895600" cy="244475"/>
          </a:xfrm>
          <a:prstGeom prst="rect">
            <a:avLst/>
          </a:prstGeom>
          <a:ln>
            <a:miter lim="800000"/>
          </a:ln>
        </p:spPr>
        <p:txBody>
          <a:bodyPr vert="horz" wrap="square" lIns="91440" tIns="45720" rIns="91440" bIns="45720" numCol="1" anchor="t" anchorCtr="0" compatLnSpc="1"/>
          <a:lstStyle>
            <a:lvl1pPr>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1" name="Rectangle 6"/>
          <p:cNvSpPr>
            <a:spLocks noGrp="1" noChangeArrowheads="1"/>
          </p:cNvSpPr>
          <p:nvPr>
            <p:ph type="sldNum" sz="quarter" idx="4"/>
          </p:nvPr>
        </p:nvSpPr>
        <p:spPr bwMode="auto">
          <a:xfrm>
            <a:off x="6553200" y="6477000"/>
            <a:ext cx="2133600" cy="244475"/>
          </a:xfrm>
          <a:prstGeom prst="rect">
            <a:avLst/>
          </a:prstGeom>
          <a:ln>
            <a:miter lim="800000"/>
          </a:ln>
        </p:spPr>
        <p:txBody>
          <a:bodyPr vert="horz" wrap="square" lIns="91440" tIns="45720" rIns="91440" bIns="45720" numCol="1" anchor="t" anchorCtr="0" compatLnSpc="1"/>
          <a:p>
            <a:pPr algn="r" eaLnBrk="1" hangingPunct="1">
              <a:buNone/>
            </a:pPr>
            <a:fld id="{9A0DB2DC-4C9A-4742-B13C-FB6460FD3503}" type="slidenum">
              <a:rPr lang="en-US" altLang="en-US" sz="1200" dirty="0">
                <a:latin typeface="Arial" panose="020B0604020202020204" pitchFamily="34" charset="0"/>
              </a:rPr>
            </a:fld>
            <a:endParaRPr lang="en-US" altLang="en-US" sz="1200" dirty="0">
              <a:latin typeface="Arial" panose="020B0604020202020204" pitchFamily="34" charset="0"/>
            </a:endParaRPr>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19200"/>
            <a:ext cx="4038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374650"/>
            <a:ext cx="2057400" cy="59499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374650"/>
            <a:ext cx="6019800" cy="594995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2.v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oleObject" Target="../embeddings/oleObject2.bin"/><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vmlDrawing" Target="../drawings/vmlDrawing4.v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oleObject" Target="../embeddings/oleObject4.bin"/><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77" name="" r:id="rId12" imgW="13004800" imgH="4572000" progId="Photoshop.Image.7">
                  <p:embed/>
                </p:oleObj>
              </mc:Choice>
              <mc:Fallback>
                <p:oleObj name="" r:id="rId12" imgW="13004800" imgH="4572000" progId="Photoshop.Image.7">
                  <p:embed/>
                  <p:pic>
                    <p:nvPicPr>
                      <p:cNvPr id="0" name="图片 3076"/>
                      <p:cNvPicPr/>
                      <p:nvPr/>
                    </p:nvPicPr>
                    <p:blipFill>
                      <a:blip r:embed="rId13"/>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35" name="图片 14"/>
          <p:cNvPicPr>
            <a:picLocks noChangeAspect="1"/>
          </p:cNvPicPr>
          <p:nvPr userDrawn="1"/>
        </p:nvPicPr>
        <p:blipFill>
          <a:blip r:embed="rId14"/>
          <a:stretch>
            <a:fillRect/>
          </a:stretch>
        </p:blipFill>
        <p:spPr>
          <a:xfrm>
            <a:off x="8043863" y="0"/>
            <a:ext cx="1079500" cy="10795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40" name="Rectangle 16"/>
          <p:cNvSpPr>
            <a:spLocks noChangeArrowheads="1"/>
          </p:cNvSpPr>
          <p:nvPr/>
        </p:nvSpPr>
        <p:spPr bwMode="gray">
          <a:xfrm>
            <a:off x="0" y="641350"/>
            <a:ext cx="9144000" cy="92075"/>
          </a:xfrm>
          <a:prstGeom prst="rect">
            <a:avLst/>
          </a:prstGeom>
          <a:gradFill rotWithShape="1">
            <a:gsLst>
              <a:gs pos="0">
                <a:schemeClr val="accent1"/>
              </a:gs>
              <a:gs pos="100000">
                <a:schemeClr val="accent1">
                  <a:gamma/>
                  <a:shade val="46275"/>
                  <a:invGamma/>
                </a:schemeClr>
              </a:gs>
            </a:gsLst>
            <a:lin ang="5400000" scaled="1"/>
          </a:gradFill>
          <a:ln w="9525">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a:spLocks noChangeArrowheads="1"/>
          </p:cNvSpPr>
          <p:nvPr/>
        </p:nvSpPr>
        <p:spPr bwMode="white">
          <a:xfrm>
            <a:off x="1588" y="766763"/>
            <a:ext cx="9142413" cy="1366838"/>
          </a:xfrm>
          <a:prstGeom prst="rect">
            <a:avLst/>
          </a:prstGeom>
          <a:gradFill rotWithShape="0">
            <a:gsLst>
              <a:gs pos="0">
                <a:schemeClr val="accent2"/>
              </a:gs>
              <a:gs pos="100000">
                <a:schemeClr val="accent2">
                  <a:gamma/>
                  <a:tint val="0"/>
                  <a:invGamma/>
                </a:schemeClr>
              </a:gs>
            </a:gsLst>
            <a:lin ang="5400000" scaled="1"/>
          </a:gradFill>
          <a:ln w="0" algn="ctr">
            <a:no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028" name="Object 15"/>
          <p:cNvGraphicFramePr/>
          <p:nvPr/>
        </p:nvGraphicFramePr>
        <p:xfrm>
          <a:off x="-11112" y="0"/>
          <a:ext cx="9155112" cy="609600"/>
        </p:xfrm>
        <a:graphic>
          <a:graphicData uri="http://schemas.openxmlformats.org/presentationml/2006/ole">
            <mc:AlternateContent xmlns:mc="http://schemas.openxmlformats.org/markup-compatibility/2006">
              <mc:Choice xmlns:v="urn:schemas-microsoft-com:vml" Requires="v">
                <p:oleObj spid="_x0000_s3077" name="" r:id="rId12" imgW="13004800" imgH="4572000" progId="Photoshop.Image.7">
                  <p:embed/>
                </p:oleObj>
              </mc:Choice>
              <mc:Fallback>
                <p:oleObj name="" r:id="rId12" imgW="13004800" imgH="4572000" progId="Photoshop.Image.7">
                  <p:embed/>
                  <p:pic>
                    <p:nvPicPr>
                      <p:cNvPr id="0" name="图片 3076"/>
                      <p:cNvPicPr/>
                      <p:nvPr/>
                    </p:nvPicPr>
                    <p:blipFill>
                      <a:blip r:embed="rId13"/>
                      <a:stretch>
                        <a:fillRect/>
                      </a:stretch>
                    </p:blipFill>
                    <p:spPr>
                      <a:xfrm>
                        <a:off x="-11112" y="0"/>
                        <a:ext cx="9155112" cy="609600"/>
                      </a:xfrm>
                      <a:prstGeom prst="rect">
                        <a:avLst/>
                      </a:prstGeom>
                      <a:noFill/>
                      <a:ln w="38100">
                        <a:noFill/>
                        <a:miter/>
                      </a:ln>
                    </p:spPr>
                  </p:pic>
                </p:oleObj>
              </mc:Fallback>
            </mc:AlternateContent>
          </a:graphicData>
        </a:graphic>
      </p:graphicFrame>
      <p:sp>
        <p:nvSpPr>
          <p:cNvPr id="1033" name="AutoShape 9"/>
          <p:cNvSpPr>
            <a:spLocks noChangeArrowheads="1"/>
          </p:cNvSpPr>
          <p:nvPr/>
        </p:nvSpPr>
        <p:spPr bwMode="gray">
          <a:xfrm>
            <a:off x="609600" y="344488"/>
            <a:ext cx="7366000" cy="644525"/>
          </a:xfrm>
          <a:prstGeom prst="roundRect">
            <a:avLst>
              <a:gd name="adj" fmla="val 41870"/>
            </a:avLst>
          </a:prstGeom>
          <a:gradFill rotWithShape="1">
            <a:gsLst>
              <a:gs pos="0">
                <a:schemeClr val="tx2">
                  <a:gamma/>
                  <a:shade val="46275"/>
                  <a:invGamma/>
                </a:schemeClr>
              </a:gs>
              <a:gs pos="100000">
                <a:schemeClr val="tx2"/>
              </a:gs>
            </a:gsLst>
            <a:lin ang="0" scaled="1"/>
          </a:gradFill>
          <a:ln w="38100" algn="ctr">
            <a:solidFill>
              <a:schemeClr val="bg1"/>
            </a:solidFill>
            <a:round/>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26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30" name="Rectangle 3"/>
          <p:cNvSpPr>
            <a:spLocks noGrp="1"/>
          </p:cNvSpPr>
          <p:nvPr>
            <p:ph type="body"/>
          </p:nvPr>
        </p:nvSpPr>
        <p:spPr>
          <a:xfrm>
            <a:off x="457200" y="1219200"/>
            <a:ext cx="8229600" cy="51054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0"/>
              </a:spcBef>
              <a:buFontTx/>
              <a:buNone/>
              <a:defRPr sz="1400">
                <a:solidFill>
                  <a:schemeClr val="tx1"/>
                </a:solidFill>
                <a:latin typeface="+mn-lt"/>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spcBef>
                <a:spcPct val="0"/>
              </a:spcBef>
              <a:buFontTx/>
              <a:buNone/>
              <a:defRPr sz="1400">
                <a:solidFill>
                  <a:schemeClr val="tx1"/>
                </a:solidFill>
                <a:latin typeface="+mn-lt"/>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Rectangle 6"/>
          <p:cNvSpPr>
            <a:spLocks noGrp="1" noChangeArrowheads="1"/>
          </p:cNvSpPr>
          <p:nvPr>
            <p:ph type="sldNum" sz="quarter" idx="4"/>
          </p:nvPr>
        </p:nvSpPr>
        <p:spPr bwMode="auto">
          <a:xfrm>
            <a:off x="6553200" y="6400800"/>
            <a:ext cx="2133600" cy="320675"/>
          </a:xfrm>
          <a:prstGeom prst="rect">
            <a:avLst/>
          </a:prstGeom>
          <a:noFill/>
          <a:ln w="9525">
            <a:noFill/>
            <a:miter lim="800000"/>
          </a:ln>
          <a:effectLst/>
        </p:spPr>
        <p:txBody>
          <a:bodyPr vert="horz" wrap="square" lIns="91440" tIns="45720" rIns="91440" bIns="45720" numCol="1" anchor="t" anchorCtr="0" compatLnSpc="1"/>
          <a:lstStyle>
            <a:lvl1pPr algn="r">
              <a:defRPr sz="1400">
                <a:solidFill>
                  <a:schemeClr val="tx1"/>
                </a:solidFill>
                <a:latin typeface="Arial" panose="020B0604020202020204" pitchFamily="34" charset="0"/>
              </a:defRPr>
            </a:lvl1pPr>
          </a:lstStyle>
          <a:p>
            <a:pPr lvl="0" eaLnBrk="1" hangingPunct="1">
              <a:buNone/>
            </a:pPr>
            <a:fld id="{9A0DB2DC-4C9A-4742-B13C-FB6460FD3503}" type="slidenum">
              <a:rPr lang="en-US" altLang="en-US" dirty="0"/>
            </a:fld>
            <a:endParaRPr lang="en-US" altLang="en-US" dirty="0">
              <a:latin typeface="Times New Roman" panose="02020603050405020304" pitchFamily="18" charset="0"/>
            </a:endParaRPr>
          </a:p>
        </p:txBody>
      </p:sp>
      <p:sp>
        <p:nvSpPr>
          <p:cNvPr id="1034" name="Rectangle 2"/>
          <p:cNvSpPr>
            <a:spLocks noGrp="1"/>
          </p:cNvSpPr>
          <p:nvPr>
            <p:ph type="title"/>
          </p:nvPr>
        </p:nvSpPr>
        <p:spPr>
          <a:xfrm>
            <a:off x="838200" y="374650"/>
            <a:ext cx="7010400" cy="563563"/>
          </a:xfrm>
          <a:prstGeom prst="rect">
            <a:avLst/>
          </a:prstGeom>
          <a:noFill/>
          <a:ln w="9525">
            <a:noFill/>
          </a:ln>
        </p:spPr>
        <p:txBody>
          <a:bodyPr anchor="ctr" anchorCtr="0"/>
          <a:p>
            <a:pPr lvl="0"/>
            <a:r>
              <a:rPr lang="en-US" altLang="zh-CN" dirty="0"/>
              <a:t>Click to edit Master title style</a:t>
            </a:r>
            <a:endParaRPr lang="en-US" altLang="zh-CN" dirty="0"/>
          </a:p>
        </p:txBody>
      </p:sp>
      <p:pic>
        <p:nvPicPr>
          <p:cNvPr id="1035" name="图片 14"/>
          <p:cNvPicPr>
            <a:picLocks noChangeAspect="1"/>
          </p:cNvPicPr>
          <p:nvPr userDrawn="1"/>
        </p:nvPicPr>
        <p:blipFill>
          <a:blip r:embed="rId14"/>
          <a:stretch>
            <a:fillRect/>
          </a:stretch>
        </p:blipFill>
        <p:spPr>
          <a:xfrm>
            <a:off x="8043863" y="0"/>
            <a:ext cx="1079500" cy="10795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random/>
  </p:transition>
  <p:hf sldNum="0" hdr="0" ftr="0" dt="0"/>
  <p:txStyles>
    <p:titleStyle>
      <a:lvl1pPr algn="ctr" rtl="0" eaLnBrk="0" fontAlgn="base" hangingPunct="0">
        <a:spcBef>
          <a:spcPct val="0"/>
        </a:spcBef>
        <a:spcAft>
          <a:spcPct val="0"/>
        </a:spcAft>
        <a:defRPr sz="36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Arial" panose="020B0604020202020204" pitchFamily="34" charset="0"/>
        </a:defRPr>
      </a:lvl2pPr>
      <a:lvl3pPr algn="ctr" rtl="0" eaLnBrk="0" fontAlgn="base" hangingPunct="0">
        <a:spcBef>
          <a:spcPct val="0"/>
        </a:spcBef>
        <a:spcAft>
          <a:spcPct val="0"/>
        </a:spcAft>
        <a:defRPr sz="3600">
          <a:solidFill>
            <a:schemeClr val="bg1"/>
          </a:solidFill>
          <a:latin typeface="Arial" panose="020B0604020202020204" pitchFamily="34" charset="0"/>
        </a:defRPr>
      </a:lvl3pPr>
      <a:lvl4pPr algn="ctr" rtl="0" eaLnBrk="0" fontAlgn="base" hangingPunct="0">
        <a:spcBef>
          <a:spcPct val="0"/>
        </a:spcBef>
        <a:spcAft>
          <a:spcPct val="0"/>
        </a:spcAft>
        <a:defRPr sz="3600">
          <a:solidFill>
            <a:schemeClr val="bg1"/>
          </a:solidFill>
          <a:latin typeface="Arial" panose="020B0604020202020204" pitchFamily="34" charset="0"/>
        </a:defRPr>
      </a:lvl4pPr>
      <a:lvl5pPr algn="ctr" rtl="0" eaLnBrk="0" fontAlgn="base" hangingPunct="0">
        <a:spcBef>
          <a:spcPct val="0"/>
        </a:spcBef>
        <a:spcAft>
          <a:spcPct val="0"/>
        </a:spcAft>
        <a:defRPr sz="3600">
          <a:solidFill>
            <a:schemeClr val="bg1"/>
          </a:solidFill>
          <a:latin typeface="Arial" panose="020B0604020202020204" pitchFamily="34" charset="0"/>
        </a:defRPr>
      </a:lvl5pPr>
      <a:lvl6pPr marL="457200" algn="ctr" rtl="0" fontAlgn="base">
        <a:spcBef>
          <a:spcPct val="0"/>
        </a:spcBef>
        <a:spcAft>
          <a:spcPct val="0"/>
        </a:spcAft>
        <a:defRPr sz="3600">
          <a:solidFill>
            <a:schemeClr val="bg1"/>
          </a:solidFill>
          <a:latin typeface="Arial" panose="020B0604020202020204" pitchFamily="34" charset="0"/>
        </a:defRPr>
      </a:lvl6pPr>
      <a:lvl7pPr marL="914400" algn="ctr" rtl="0" fontAlgn="base">
        <a:spcBef>
          <a:spcPct val="0"/>
        </a:spcBef>
        <a:spcAft>
          <a:spcPct val="0"/>
        </a:spcAft>
        <a:defRPr sz="3600">
          <a:solidFill>
            <a:schemeClr val="bg1"/>
          </a:solidFill>
          <a:latin typeface="Arial" panose="020B0604020202020204" pitchFamily="34" charset="0"/>
        </a:defRPr>
      </a:lvl7pPr>
      <a:lvl8pPr marL="1371600" algn="ctr" rtl="0" fontAlgn="base">
        <a:spcBef>
          <a:spcPct val="0"/>
        </a:spcBef>
        <a:spcAft>
          <a:spcPct val="0"/>
        </a:spcAft>
        <a:defRPr sz="3600">
          <a:solidFill>
            <a:schemeClr val="bg1"/>
          </a:solidFill>
          <a:latin typeface="Arial" panose="020B0604020202020204" pitchFamily="34" charset="0"/>
        </a:defRPr>
      </a:lvl8pPr>
      <a:lvl9pPr marL="1828800" algn="ctr" rtl="0" fontAlgn="base">
        <a:spcBef>
          <a:spcPct val="0"/>
        </a:spcBef>
        <a:spcAft>
          <a:spcPct val="0"/>
        </a:spcAft>
        <a:defRPr sz="3600">
          <a:solidFill>
            <a:schemeClr val="bg1"/>
          </a:solidFill>
          <a:latin typeface="Arial" panose="020B0604020202020204" pitchFamily="34" charset="0"/>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7.jpe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image" Target="../media/image9.png"/><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8" Type="http://schemas.openxmlformats.org/officeDocument/2006/relationships/slideLayout" Target="../slideLayouts/slideLayout7.xml"/><Relationship Id="rId17" Type="http://schemas.openxmlformats.org/officeDocument/2006/relationships/tags" Target="../tags/tag32.xml"/><Relationship Id="rId16" Type="http://schemas.openxmlformats.org/officeDocument/2006/relationships/tags" Target="../tags/tag31.xml"/><Relationship Id="rId15" Type="http://schemas.openxmlformats.org/officeDocument/2006/relationships/image" Target="../media/image9.png"/><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8" Type="http://schemas.openxmlformats.org/officeDocument/2006/relationships/slideLayout" Target="../slideLayouts/slideLayout7.xml"/><Relationship Id="rId17" Type="http://schemas.openxmlformats.org/officeDocument/2006/relationships/tags" Target="../tags/tag48.xml"/><Relationship Id="rId16" Type="http://schemas.openxmlformats.org/officeDocument/2006/relationships/tags" Target="../tags/tag47.xml"/><Relationship Id="rId15" Type="http://schemas.openxmlformats.org/officeDocument/2006/relationships/image" Target="../media/image9.png"/><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8" Type="http://schemas.openxmlformats.org/officeDocument/2006/relationships/slideLayout" Target="../slideLayouts/slideLayout7.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image" Target="../media/image9.png"/><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tags" Target="../tags/tag49.xml"/></Relationships>
</file>

<file path=ppt/slides/_rels/slide34.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8" Type="http://schemas.openxmlformats.org/officeDocument/2006/relationships/slideLayout" Target="../slideLayouts/slideLayout7.xml"/><Relationship Id="rId17" Type="http://schemas.openxmlformats.org/officeDocument/2006/relationships/tags" Target="../tags/tag80.xml"/><Relationship Id="rId16" Type="http://schemas.openxmlformats.org/officeDocument/2006/relationships/tags" Target="../tags/tag79.xml"/><Relationship Id="rId15" Type="http://schemas.openxmlformats.org/officeDocument/2006/relationships/image" Target="../media/image9.png"/><Relationship Id="rId14" Type="http://schemas.openxmlformats.org/officeDocument/2006/relationships/tags" Target="../tags/tag78.xml"/><Relationship Id="rId13" Type="http://schemas.openxmlformats.org/officeDocument/2006/relationships/tags" Target="../tags/tag77.xml"/><Relationship Id="rId12" Type="http://schemas.openxmlformats.org/officeDocument/2006/relationships/tags" Target="../tags/tag76.xml"/><Relationship Id="rId11" Type="http://schemas.openxmlformats.org/officeDocument/2006/relationships/tags" Target="../tags/tag75.xml"/><Relationship Id="rId10" Type="http://schemas.openxmlformats.org/officeDocument/2006/relationships/tags" Target="../tags/tag74.xml"/><Relationship Id="rId1" Type="http://schemas.openxmlformats.org/officeDocument/2006/relationships/tags" Target="../tags/tag65.xml"/></Relationships>
</file>

<file path=ppt/slides/_rels/slide35.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1" Type="http://schemas.openxmlformats.org/officeDocument/2006/relationships/slideLayout" Target="../slideLayouts/slideLayout7.xml"/><Relationship Id="rId10" Type="http://schemas.openxmlformats.org/officeDocument/2006/relationships/tags" Target="../tags/tag89.xml"/><Relationship Id="rId1" Type="http://schemas.openxmlformats.org/officeDocument/2006/relationships/tags" Target="../tags/tag8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ctrTitle"/>
          </p:nvPr>
        </p:nvSpPr>
        <p:spPr>
          <a:xfrm>
            <a:off x="762000" y="3429000"/>
            <a:ext cx="7620000" cy="682625"/>
          </a:xfrm>
        </p:spPr>
        <p:txBody>
          <a:bodyPr vert="horz" wrap="square" lIns="91440" tIns="45720" rIns="91440" bIns="45720" anchor="ctr" anchorCtr="0"/>
          <a:p>
            <a:pPr marL="342900" indent="-342900" eaLnBrk="1" hangingPunct="1">
              <a:spcAft>
                <a:spcPct val="20000"/>
              </a:spcAft>
              <a:buClrTx/>
              <a:buSzTx/>
              <a:buFontTx/>
            </a:pPr>
            <a:r>
              <a:rPr lang="zh-CN" altLang="en-US" sz="2800" b="0" dirty="0">
                <a:solidFill>
                  <a:schemeClr val="tx2"/>
                </a:solidFill>
                <a:latin typeface="+mj-lt"/>
                <a:ea typeface="宋体" panose="02010600030101010101" pitchFamily="2" charset="-122"/>
                <a:cs typeface="+mj-cs"/>
              </a:rPr>
              <a:t>前 言</a:t>
            </a:r>
            <a:endParaRPr lang="en-US" altLang="zh-CN" sz="2800" b="0" dirty="0">
              <a:solidFill>
                <a:schemeClr val="tx2"/>
              </a:solidFill>
              <a:latin typeface="+mj-lt"/>
              <a:ea typeface="宋体" panose="02010600030101010101" pitchFamily="2" charset="-122"/>
              <a:cs typeface="+mj-cs"/>
            </a:endParaRPr>
          </a:p>
        </p:txBody>
      </p:sp>
      <p:sp>
        <p:nvSpPr>
          <p:cNvPr id="3075" name="Rectangle 3"/>
          <p:cNvSpPr>
            <a:spLocks noGrp="1"/>
          </p:cNvSpPr>
          <p:nvPr>
            <p:ph type="subTitle" idx="1"/>
          </p:nvPr>
        </p:nvSpPr>
        <p:spPr>
          <a:xfrm>
            <a:off x="920750" y="2743200"/>
            <a:ext cx="7304088" cy="574675"/>
          </a:xfrm>
        </p:spPr>
        <p:txBody>
          <a:bodyPr vert="horz" wrap="square" lIns="91440" tIns="45720" rIns="91440" bIns="45720" anchor="t" anchorCtr="0"/>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信息安全法规及安全管理</a:t>
            </a:r>
            <a:endParaRPr lang="en-US" altLang="zh-CN" sz="3600" dirty="0">
              <a:latin typeface="黑体" panose="02010609060101010101" pitchFamily="49" charset="-122"/>
              <a:ea typeface="黑体" panose="02010609060101010101" pitchFamily="49" charset="-122"/>
              <a:cs typeface="+mn-cs"/>
            </a:endParaRPr>
          </a:p>
        </p:txBody>
      </p:sp>
      <p:sp>
        <p:nvSpPr>
          <p:cNvPr id="3076" name="文本框 1"/>
          <p:cNvSpPr txBox="1"/>
          <p:nvPr/>
        </p:nvSpPr>
        <p:spPr>
          <a:xfrm>
            <a:off x="1609725" y="4648200"/>
            <a:ext cx="5924550" cy="523875"/>
          </a:xfrm>
          <a:prstGeom prst="rect">
            <a:avLst/>
          </a:prstGeom>
          <a:noFill/>
          <a:ln w="9525">
            <a:noFill/>
          </a:ln>
        </p:spPr>
        <p:txBody>
          <a:bodyPr>
            <a:spAutoFit/>
          </a:bodyPr>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3077" name="图片 1"/>
          <p:cNvPicPr>
            <a:picLocks noChangeAspect="1"/>
          </p:cNvPicPr>
          <p:nvPr/>
        </p:nvPicPr>
        <p:blipFill>
          <a:blip r:embed="rId1"/>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p:cNvSpPr>
          <p:nvPr>
            <p:ph type="title"/>
          </p:nvPr>
        </p:nvSpPr>
        <p:spPr/>
        <p:txBody>
          <a:bodyPr vert="horz" wrap="square" lIns="91440" tIns="45720" rIns="91440" bIns="45720" anchor="ctr" anchorCtr="0"/>
          <a:p>
            <a:r>
              <a:rPr lang="en-US" altLang="zh-CN" b="1" dirty="0">
                <a:latin typeface="华文细黑" panose="02010600040101010101" pitchFamily="2" charset="-122"/>
                <a:ea typeface="华文细黑" panose="02010600040101010101" pitchFamily="2" charset="-122"/>
              </a:rPr>
              <a:t>教材</a:t>
            </a:r>
            <a:endParaRPr lang="zh-CN" altLang="en-US" dirty="0">
              <a:ea typeface="宋体" panose="02010600030101010101" pitchFamily="2" charset="-122"/>
            </a:endParaRPr>
          </a:p>
        </p:txBody>
      </p:sp>
      <p:sp>
        <p:nvSpPr>
          <p:cNvPr id="5123" name="矩形 3"/>
          <p:cNvSpPr/>
          <p:nvPr/>
        </p:nvSpPr>
        <p:spPr>
          <a:xfrm>
            <a:off x="381000" y="1219200"/>
            <a:ext cx="8382000" cy="1198880"/>
          </a:xfrm>
          <a:prstGeom prst="rect">
            <a:avLst/>
          </a:prstGeom>
          <a:noFill/>
          <a:ln w="9525">
            <a:noFill/>
          </a:ln>
        </p:spPr>
        <p:txBody>
          <a:bodyPr>
            <a:spAutoFit/>
          </a:bodyPr>
          <a:p>
            <a:pPr>
              <a:lnSpc>
                <a:spcPct val="150000"/>
              </a:lnSpc>
            </a:pP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网络安全法、数据安全法、个人信息保护法一本通</a:t>
            </a: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a:t>
            </a:r>
            <a:endParaRPr lang="zh-CN" altLang="en-US" sz="2400" dirty="0">
              <a:latin typeface="华文细黑" panose="02010600040101010101" pitchFamily="2" charset="-122"/>
              <a:ea typeface="华文细黑" panose="02010600040101010101" pitchFamily="2" charset="-122"/>
            </a:endParaRPr>
          </a:p>
          <a:p>
            <a:pPr>
              <a:lnSpc>
                <a:spcPct val="150000"/>
              </a:lnSpc>
            </a:pP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信息安全法律法规汇编与案例分析</a:t>
            </a:r>
            <a:r>
              <a:rPr lang="en-US" altLang="zh-CN" sz="2400" dirty="0">
                <a:latin typeface="华文细黑" panose="02010600040101010101" pitchFamily="2" charset="-122"/>
                <a:ea typeface="华文细黑" panose="02010600040101010101" pitchFamily="2" charset="-122"/>
              </a:rPr>
              <a:t>》</a:t>
            </a:r>
            <a:endParaRPr lang="en-US" altLang="zh-CN" sz="2400" dirty="0">
              <a:latin typeface="华文细黑" panose="02010600040101010101" pitchFamily="2" charset="-122"/>
              <a:ea typeface="华文细黑" panose="02010600040101010101" pitchFamily="2" charset="-122"/>
            </a:endParaRPr>
          </a:p>
        </p:txBody>
      </p:sp>
      <p:pic>
        <p:nvPicPr>
          <p:cNvPr id="5125" name="图片 5"/>
          <p:cNvPicPr>
            <a:picLocks noChangeAspect="1"/>
          </p:cNvPicPr>
          <p:nvPr/>
        </p:nvPicPr>
        <p:blipFill>
          <a:blip r:embed="rId1"/>
          <a:stretch>
            <a:fillRect/>
          </a:stretch>
        </p:blipFill>
        <p:spPr>
          <a:xfrm>
            <a:off x="4953000" y="2590800"/>
            <a:ext cx="3051175" cy="3879850"/>
          </a:xfrm>
          <a:prstGeom prst="rect">
            <a:avLst/>
          </a:prstGeom>
          <a:noFill/>
          <a:ln w="9525">
            <a:noFill/>
          </a:ln>
        </p:spPr>
      </p:pic>
      <p:pic>
        <p:nvPicPr>
          <p:cNvPr id="2" name="图片 1" descr="法律法规一本通"/>
          <p:cNvPicPr>
            <a:picLocks noChangeAspect="1"/>
          </p:cNvPicPr>
          <p:nvPr/>
        </p:nvPicPr>
        <p:blipFill>
          <a:blip r:embed="rId2"/>
          <a:stretch>
            <a:fillRect/>
          </a:stretch>
        </p:blipFill>
        <p:spPr>
          <a:xfrm>
            <a:off x="990600" y="2492375"/>
            <a:ext cx="3066415" cy="4190365"/>
          </a:xfrm>
          <a:prstGeom prst="rect">
            <a:avLst/>
          </a:prstGeom>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5"/>
                                        </p:tgtEl>
                                        <p:attrNameLst>
                                          <p:attrName>style.visibility</p:attrName>
                                        </p:attrNameLst>
                                      </p:cBhvr>
                                      <p:to>
                                        <p:strVal val="visible"/>
                                      </p:to>
                                    </p:set>
                                    <p:anim calcmode="lin" valueType="num">
                                      <p:cBhvr additive="base">
                                        <p:cTn id="7" dur="500" fill="hold"/>
                                        <p:tgtEl>
                                          <p:spTgt spid="5125"/>
                                        </p:tgtEl>
                                        <p:attrNameLst>
                                          <p:attrName>ppt_x</p:attrName>
                                        </p:attrNameLst>
                                      </p:cBhvr>
                                      <p:tavLst>
                                        <p:tav tm="0">
                                          <p:val>
                                            <p:strVal val="#ppt_x"/>
                                          </p:val>
                                        </p:tav>
                                        <p:tav tm="100000">
                                          <p:val>
                                            <p:strVal val="#ppt_x"/>
                                          </p:val>
                                        </p:tav>
                                      </p:tavLst>
                                    </p:anim>
                                    <p:anim calcmode="lin" valueType="num">
                                      <p:cBhvr additive="base">
                                        <p:cTn id="8" dur="500" fill="hold"/>
                                        <p:tgtEl>
                                          <p:spTgt spid="51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p:cNvSpPr>
          <p:nvPr>
            <p:ph type="title"/>
          </p:nvPr>
        </p:nvSpPr>
        <p:spPr/>
        <p:txBody>
          <a:bodyPr vert="horz" wrap="square" lIns="91440" tIns="45720" rIns="91440" bIns="45720" anchor="ctr" anchorCtr="0"/>
          <a:p>
            <a:r>
              <a:rPr lang="en-US" altLang="zh-CN" b="1" dirty="0">
                <a:latin typeface="华文细黑" panose="02010600040101010101" pitchFamily="2" charset="-122"/>
                <a:ea typeface="华文细黑" panose="02010600040101010101" pitchFamily="2" charset="-122"/>
              </a:rPr>
              <a:t>教材</a:t>
            </a:r>
            <a:endParaRPr lang="zh-CN" altLang="en-US" dirty="0">
              <a:ea typeface="宋体" panose="02010600030101010101" pitchFamily="2" charset="-122"/>
            </a:endParaRPr>
          </a:p>
        </p:txBody>
      </p:sp>
      <p:sp>
        <p:nvSpPr>
          <p:cNvPr id="5123" name="矩形 3"/>
          <p:cNvSpPr/>
          <p:nvPr/>
        </p:nvSpPr>
        <p:spPr>
          <a:xfrm>
            <a:off x="381000" y="1219200"/>
            <a:ext cx="8710295" cy="645160"/>
          </a:xfrm>
          <a:prstGeom prst="rect">
            <a:avLst/>
          </a:prstGeom>
          <a:noFill/>
          <a:ln w="9525">
            <a:noFill/>
          </a:ln>
        </p:spPr>
        <p:txBody>
          <a:bodyPr wrap="square">
            <a:spAutoFit/>
          </a:bodyPr>
          <a:p>
            <a:pPr>
              <a:lnSpc>
                <a:spcPct val="150000"/>
              </a:lnSpc>
            </a:pPr>
            <a:r>
              <a:rPr lang="en-US" altLang="zh-CN" sz="2400" dirty="0">
                <a:latin typeface="华文细黑" panose="02010600040101010101" pitchFamily="2" charset="-122"/>
                <a:ea typeface="华文细黑" panose="02010600040101010101" pitchFamily="2" charset="-122"/>
              </a:rPr>
              <a:t>《信息安全</a:t>
            </a:r>
            <a:r>
              <a:rPr lang="zh-CN" altLang="en-US" sz="2400" dirty="0">
                <a:latin typeface="华文细黑" panose="02010600040101010101" pitchFamily="2" charset="-122"/>
                <a:ea typeface="华文细黑" panose="02010600040101010101" pitchFamily="2" charset="-122"/>
              </a:rPr>
              <a:t>标准与法律法规</a:t>
            </a: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a:t>
            </a: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信息安全法律法规教程</a:t>
            </a:r>
            <a:r>
              <a:rPr lang="en-US" altLang="zh-CN" sz="2400" dirty="0">
                <a:latin typeface="华文细黑" panose="02010600040101010101" pitchFamily="2" charset="-122"/>
                <a:ea typeface="华文细黑" panose="02010600040101010101" pitchFamily="2" charset="-122"/>
              </a:rPr>
              <a:t>》</a:t>
            </a:r>
            <a:endParaRPr lang="en-US" altLang="zh-CN" sz="2400" dirty="0">
              <a:latin typeface="华文细黑" panose="02010600040101010101" pitchFamily="2" charset="-122"/>
              <a:ea typeface="华文细黑" panose="02010600040101010101" pitchFamily="2" charset="-122"/>
            </a:endParaRPr>
          </a:p>
        </p:txBody>
      </p:sp>
      <p:pic>
        <p:nvPicPr>
          <p:cNvPr id="2" name="图片 1" descr="信息安全标准与法律法规图片"/>
          <p:cNvPicPr>
            <a:picLocks noChangeAspect="1"/>
          </p:cNvPicPr>
          <p:nvPr/>
        </p:nvPicPr>
        <p:blipFill>
          <a:blip r:embed="rId1"/>
          <a:stretch>
            <a:fillRect/>
          </a:stretch>
        </p:blipFill>
        <p:spPr>
          <a:xfrm>
            <a:off x="991235" y="1981200"/>
            <a:ext cx="3203575" cy="4486910"/>
          </a:xfrm>
          <a:prstGeom prst="rect">
            <a:avLst/>
          </a:prstGeom>
        </p:spPr>
      </p:pic>
      <p:pic>
        <p:nvPicPr>
          <p:cNvPr id="3" name="图片 2" descr="信息安全法律法规教程"/>
          <p:cNvPicPr>
            <a:picLocks noChangeAspect="1"/>
          </p:cNvPicPr>
          <p:nvPr/>
        </p:nvPicPr>
        <p:blipFill>
          <a:blip r:embed="rId2"/>
          <a:stretch>
            <a:fillRect/>
          </a:stretch>
        </p:blipFill>
        <p:spPr>
          <a:xfrm>
            <a:off x="4724400" y="1905000"/>
            <a:ext cx="3569335" cy="4676140"/>
          </a:xfrm>
          <a:prstGeom prst="rect">
            <a:avLst/>
          </a:prstGeom>
        </p:spPr>
      </p:pic>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标题 1"/>
          <p:cNvSpPr>
            <a:spLocks noGrp="1"/>
          </p:cNvSpPr>
          <p:nvPr>
            <p:ph type="title"/>
          </p:nvPr>
        </p:nvSpPr>
        <p:spPr/>
        <p:txBody>
          <a:bodyPr vert="horz" wrap="square" lIns="91440" tIns="45720" rIns="91440" bIns="45720" anchor="ctr" anchorCtr="0"/>
          <a:p>
            <a:r>
              <a:rPr lang="en-US" altLang="zh-CN" b="1" dirty="0">
                <a:latin typeface="华文细黑" panose="02010600040101010101" pitchFamily="2" charset="-122"/>
                <a:ea typeface="华文细黑" panose="02010600040101010101" pitchFamily="2" charset="-122"/>
              </a:rPr>
              <a:t>教材</a:t>
            </a:r>
            <a:endParaRPr lang="zh-CN" altLang="en-US" dirty="0">
              <a:ea typeface="宋体" panose="02010600030101010101" pitchFamily="2" charset="-122"/>
            </a:endParaRPr>
          </a:p>
        </p:txBody>
      </p:sp>
      <p:sp>
        <p:nvSpPr>
          <p:cNvPr id="5123" name="矩形 3"/>
          <p:cNvSpPr/>
          <p:nvPr/>
        </p:nvSpPr>
        <p:spPr>
          <a:xfrm>
            <a:off x="3176905" y="1219200"/>
            <a:ext cx="4123055" cy="645160"/>
          </a:xfrm>
          <a:prstGeom prst="rect">
            <a:avLst/>
          </a:prstGeom>
          <a:noFill/>
          <a:ln w="9525">
            <a:noFill/>
          </a:ln>
        </p:spPr>
        <p:txBody>
          <a:bodyPr wrap="square">
            <a:spAutoFit/>
          </a:bodyPr>
          <a:p>
            <a:pPr>
              <a:lnSpc>
                <a:spcPct val="150000"/>
              </a:lnSpc>
            </a:pPr>
            <a:r>
              <a:rPr lang="en-US" altLang="zh-CN" sz="2400" dirty="0">
                <a:latin typeface="华文细黑" panose="02010600040101010101" pitchFamily="2" charset="-122"/>
                <a:ea typeface="华文细黑" panose="02010600040101010101" pitchFamily="2" charset="-122"/>
              </a:rPr>
              <a:t>《信息安全管理》</a:t>
            </a:r>
            <a:endParaRPr lang="en-US" altLang="zh-CN" sz="2400" dirty="0">
              <a:latin typeface="华文细黑" panose="02010600040101010101" pitchFamily="2" charset="-122"/>
              <a:ea typeface="华文细黑" panose="02010600040101010101" pitchFamily="2" charset="-122"/>
            </a:endParaRPr>
          </a:p>
        </p:txBody>
      </p:sp>
      <p:pic>
        <p:nvPicPr>
          <p:cNvPr id="5124" name="图片 4"/>
          <p:cNvPicPr>
            <a:picLocks noChangeAspect="1"/>
          </p:cNvPicPr>
          <p:nvPr/>
        </p:nvPicPr>
        <p:blipFill>
          <a:blip r:embed="rId1"/>
          <a:stretch>
            <a:fillRect/>
          </a:stretch>
        </p:blipFill>
        <p:spPr>
          <a:xfrm>
            <a:off x="2971800" y="1981200"/>
            <a:ext cx="3244850" cy="44958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additive="base">
                                        <p:cTn id="7" dur="500" fill="hold"/>
                                        <p:tgtEl>
                                          <p:spTgt spid="5124"/>
                                        </p:tgtEl>
                                        <p:attrNameLst>
                                          <p:attrName>ppt_x</p:attrName>
                                        </p:attrNameLst>
                                      </p:cBhvr>
                                      <p:tavLst>
                                        <p:tav tm="0">
                                          <p:val>
                                            <p:strVal val="#ppt_x"/>
                                          </p:val>
                                        </p:tav>
                                        <p:tav tm="100000">
                                          <p:val>
                                            <p:strVal val="#ppt_x"/>
                                          </p:val>
                                        </p:tav>
                                      </p:tavLst>
                                    </p:anim>
                                    <p:anim calcmode="lin" valueType="num">
                                      <p:cBhvr additive="base">
                                        <p:cTn id="8" dur="500" fill="hold"/>
                                        <p:tgtEl>
                                          <p:spTgt spid="5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a:xfrm>
            <a:off x="609600" y="381000"/>
            <a:ext cx="7315200" cy="563563"/>
          </a:xfrm>
        </p:spPr>
        <p:txBody>
          <a:bodyPr vert="horz" wrap="square" lIns="91440" tIns="45720" rIns="91440" bIns="45720" anchor="ctr" anchorCtr="0"/>
          <a:p>
            <a:pPr eaLnBrk="1" hangingPunct="1"/>
            <a:r>
              <a:rPr lang="zh-CN" altLang="en-US" b="1" dirty="0">
                <a:ea typeface="宋体" panose="02010600030101010101" pitchFamily="2" charset="-122"/>
              </a:rPr>
              <a:t>学期课堂内容安排</a:t>
            </a:r>
            <a:endParaRPr lang="zh-CN" altLang="en-US" b="1" dirty="0">
              <a:ea typeface="宋体" panose="02010600030101010101" pitchFamily="2" charset="-122"/>
            </a:endParaRPr>
          </a:p>
        </p:txBody>
      </p:sp>
      <p:sp>
        <p:nvSpPr>
          <p:cNvPr id="6147" name="内容占位符 2"/>
          <p:cNvSpPr>
            <a:spLocks noGrp="1"/>
          </p:cNvSpPr>
          <p:nvPr>
            <p:ph idx="1"/>
          </p:nvPr>
        </p:nvSpPr>
        <p:spPr>
          <a:xfrm>
            <a:off x="1066800" y="1828800"/>
            <a:ext cx="6858000" cy="3505200"/>
          </a:xfrm>
        </p:spPr>
        <p:txBody>
          <a:bodyPr vert="horz" wrap="square" lIns="91440" tIns="45720" rIns="91440" bIns="45720" anchor="t" anchorCtr="0"/>
          <a:p>
            <a:pPr lvl="1" eaLnBrk="1" hangingPunct="1">
              <a:spcAft>
                <a:spcPct val="20000"/>
              </a:spcAft>
              <a:buClr>
                <a:srgbClr val="AC04A0"/>
              </a:buClr>
            </a:pPr>
            <a:r>
              <a:rPr lang="zh-CN" altLang="zh-CN" sz="2400" b="1" dirty="0">
                <a:latin typeface="楷体_GB2312" pitchFamily="49" charset="-122"/>
                <a:ea typeface="楷体_GB2312" pitchFamily="49" charset="-122"/>
              </a:rPr>
              <a:t>第一章</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信息安全</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第二章</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信息安全管理</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三</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信息安全法律法规</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四</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信息安全</a:t>
            </a:r>
            <a:r>
              <a:rPr lang="zh-CN" altLang="en-US" sz="2400" b="1" dirty="0">
                <a:latin typeface="楷体_GB2312" pitchFamily="49" charset="-122"/>
                <a:ea typeface="楷体_GB2312" pitchFamily="49" charset="-122"/>
              </a:rPr>
              <a:t>相关</a:t>
            </a:r>
            <a:r>
              <a:rPr lang="zh-CN" altLang="zh-CN" sz="2400" b="1" dirty="0">
                <a:latin typeface="楷体_GB2312" pitchFamily="49" charset="-122"/>
                <a:ea typeface="楷体_GB2312" pitchFamily="49" charset="-122"/>
              </a:rPr>
              <a:t>法律法规</a:t>
            </a:r>
            <a:r>
              <a:rPr lang="zh-CN" altLang="en-US" sz="2400" b="1" dirty="0">
                <a:latin typeface="楷体_GB2312" pitchFamily="49" charset="-122"/>
                <a:ea typeface="楷体_GB2312" pitchFamily="49" charset="-122"/>
              </a:rPr>
              <a:t>体系层次</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en-US" sz="2400" b="1" dirty="0">
                <a:latin typeface="楷体_GB2312" pitchFamily="49" charset="-122"/>
                <a:ea typeface="楷体_GB2312" pitchFamily="49" charset="-122"/>
              </a:rPr>
              <a:t>第五章 信息安全相关法律法规体系分类</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六</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信息安全管理标准</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七</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信息安全管理体系（</a:t>
            </a:r>
            <a:r>
              <a:rPr lang="en-US" altLang="zh-CN" sz="2400" b="1" dirty="0">
                <a:latin typeface="楷体_GB2312" pitchFamily="49" charset="-122"/>
                <a:ea typeface="楷体_GB2312" pitchFamily="49" charset="-122"/>
              </a:rPr>
              <a:t>ISMS</a:t>
            </a:r>
            <a:r>
              <a:rPr lang="zh-CN" altLang="zh-CN"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1"/>
          <p:cNvSpPr>
            <a:spLocks noGrp="1"/>
          </p:cNvSpPr>
          <p:nvPr>
            <p:ph type="title"/>
          </p:nvPr>
        </p:nvSpPr>
        <p:spPr>
          <a:xfrm>
            <a:off x="609600" y="381000"/>
            <a:ext cx="7315200" cy="563563"/>
          </a:xfrm>
        </p:spPr>
        <p:txBody>
          <a:bodyPr vert="horz" wrap="square" lIns="91440" tIns="45720" rIns="91440" bIns="45720" anchor="ctr" anchorCtr="0"/>
          <a:p>
            <a:pPr eaLnBrk="1" hangingPunct="1"/>
            <a:r>
              <a:rPr lang="zh-CN" altLang="en-US" b="1" dirty="0">
                <a:ea typeface="宋体" panose="02010600030101010101" pitchFamily="2" charset="-122"/>
              </a:rPr>
              <a:t>学期课堂内容安排</a:t>
            </a:r>
            <a:endParaRPr lang="zh-CN" altLang="en-US" b="1" dirty="0">
              <a:ea typeface="宋体" panose="02010600030101010101" pitchFamily="2" charset="-122"/>
            </a:endParaRPr>
          </a:p>
        </p:txBody>
      </p:sp>
      <p:sp>
        <p:nvSpPr>
          <p:cNvPr id="7171" name="内容占位符 2"/>
          <p:cNvSpPr>
            <a:spLocks noGrp="1"/>
          </p:cNvSpPr>
          <p:nvPr>
            <p:ph idx="1"/>
          </p:nvPr>
        </p:nvSpPr>
        <p:spPr>
          <a:xfrm>
            <a:off x="1219200" y="1905000"/>
            <a:ext cx="6858000" cy="3581400"/>
          </a:xfrm>
        </p:spPr>
        <p:txBody>
          <a:bodyPr vert="horz" wrap="square" lIns="91440" tIns="45720" rIns="91440" bIns="45720" anchor="t" anchorCtr="0"/>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八</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信息安全风险评估</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九</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信息系统安全测评</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十</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业务连续性与灾难恢复</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十一</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信息系统安全审计</a:t>
            </a:r>
            <a:endParaRPr lang="en-US" altLang="zh-CN" sz="2400" b="1" dirty="0">
              <a:latin typeface="楷体_GB2312" pitchFamily="49" charset="-122"/>
              <a:ea typeface="楷体_GB2312" pitchFamily="49" charset="-122"/>
            </a:endParaRPr>
          </a:p>
          <a:p>
            <a:pPr lvl="1" eaLnBrk="1" hangingPunct="1">
              <a:spcAft>
                <a:spcPct val="20000"/>
              </a:spcAft>
              <a:buClr>
                <a:srgbClr val="AC04A0"/>
              </a:buClr>
            </a:pPr>
            <a:r>
              <a:rPr lang="zh-CN" altLang="zh-CN" sz="2400" b="1" dirty="0">
                <a:latin typeface="楷体_GB2312" pitchFamily="49" charset="-122"/>
                <a:ea typeface="楷体_GB2312" pitchFamily="49" charset="-122"/>
              </a:rPr>
              <a:t>第</a:t>
            </a:r>
            <a:r>
              <a:rPr lang="zh-CN" altLang="en-US" sz="2400" b="1" dirty="0">
                <a:latin typeface="楷体_GB2312" pitchFamily="49" charset="-122"/>
                <a:ea typeface="楷体_GB2312" pitchFamily="49" charset="-122"/>
              </a:rPr>
              <a:t>十二</a:t>
            </a:r>
            <a:r>
              <a:rPr lang="zh-CN" altLang="zh-CN" sz="2400" b="1" dirty="0">
                <a:latin typeface="楷体_GB2312" pitchFamily="49" charset="-122"/>
                <a:ea typeface="楷体_GB2312" pitchFamily="49" charset="-122"/>
              </a:rPr>
              <a:t>章</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信息安全保障机制</a:t>
            </a:r>
            <a:endParaRPr lang="en-US" altLang="zh-CN" sz="2400" b="1" dirty="0">
              <a:latin typeface="楷体_GB2312" pitchFamily="49" charset="-122"/>
              <a:ea typeface="楷体_GB2312" pitchFamily="49" charset="-122"/>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学习目的及课时安排</a:t>
            </a:r>
            <a:endParaRPr lang="zh-CN" altLang="en-US" dirty="0">
              <a:ea typeface="宋体" panose="02010600030101010101" pitchFamily="2" charset="-122"/>
            </a:endParaRPr>
          </a:p>
        </p:txBody>
      </p:sp>
      <p:sp>
        <p:nvSpPr>
          <p:cNvPr id="7" name="Text Box 5"/>
          <p:cNvSpPr txBox="1">
            <a:spLocks noChangeArrowheads="1"/>
          </p:cNvSpPr>
          <p:nvPr/>
        </p:nvSpPr>
        <p:spPr bwMode="auto">
          <a:xfrm>
            <a:off x="1295400" y="1752600"/>
            <a:ext cx="6789738" cy="2678113"/>
          </a:xfrm>
          <a:prstGeom prst="rect">
            <a:avLst/>
          </a:prstGeom>
          <a:solidFill>
            <a:schemeClr val="bg1"/>
          </a:solidFill>
          <a:ln w="38100">
            <a:noFill/>
            <a:miter lim="800000"/>
          </a:ln>
        </p:spPr>
        <p:txBody>
          <a:bodyPr wrap="none">
            <a:spAutoFit/>
          </a:bodyPr>
          <a:lstStyle/>
          <a:p>
            <a:pPr marR="0" defTabSz="914400">
              <a:lnSpc>
                <a:spcPct val="150000"/>
              </a:lnSpc>
              <a:buClrTx/>
              <a:buSzTx/>
              <a:buFontTx/>
              <a:buNone/>
              <a:defRPr/>
            </a:pPr>
            <a:r>
              <a:rPr kumimoji="0" lang="en-US" altLang="zh-CN" kern="1200" cap="none" spc="0" normalizeH="0" baseline="0" noProof="0" dirty="0">
                <a:solidFill>
                  <a:srgbClr val="6600FF"/>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      </a:t>
            </a:r>
            <a:r>
              <a:rPr kumimoji="0" lang="zh-CN" altLang="en-US" sz="2800" kern="1200" cap="none" spc="0" normalizeH="0" baseline="0" noProof="0" dirty="0">
                <a:solidFill>
                  <a:srgbClr val="00000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n-ea"/>
              </a:rPr>
              <a:t>掌握信息安全的基本理论和技术</a:t>
            </a:r>
            <a:endParaRPr kumimoji="0" lang="en-US" altLang="zh-CN" sz="2800" kern="1200" cap="none" spc="0" normalizeH="0" baseline="0" noProof="0" dirty="0">
              <a:solidFill>
                <a:srgbClr val="00000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n-ea"/>
            </a:endParaRPr>
          </a:p>
          <a:p>
            <a:pPr marR="0" defTabSz="914400">
              <a:lnSpc>
                <a:spcPct val="150000"/>
              </a:lnSpc>
              <a:buClrTx/>
              <a:buSzTx/>
              <a:buFontTx/>
              <a:buNone/>
              <a:defRPr/>
            </a:pPr>
            <a:r>
              <a:rPr kumimoji="0" lang="en-US" altLang="zh-CN" sz="2800" kern="1200" cap="none" spc="0" normalizeH="0" baseline="0" noProof="0" dirty="0">
                <a:solidFill>
                  <a:srgbClr val="6600FF"/>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    </a:t>
            </a:r>
            <a:r>
              <a:rPr kumimoji="0" lang="zh-CN" altLang="en-US" sz="2800" kern="1200" cap="none" spc="0" normalizeH="0" baseline="0" noProof="0" dirty="0">
                <a:solidFill>
                  <a:schemeClr val="tx1"/>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掌握信息安全相关各级法律法规</a:t>
            </a:r>
            <a:endParaRPr kumimoji="0" lang="en-US" altLang="zh-CN" sz="2800" kern="1200" cap="none" spc="0" normalizeH="0" baseline="0" noProof="0" dirty="0">
              <a:solidFill>
                <a:schemeClr val="tx1"/>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endParaRPr>
          </a:p>
          <a:p>
            <a:pPr marR="0" defTabSz="914400">
              <a:lnSpc>
                <a:spcPct val="150000"/>
              </a:lnSpc>
              <a:buClrTx/>
              <a:buSzTx/>
              <a:buFontTx/>
              <a:buNone/>
              <a:defRPr/>
            </a:pPr>
            <a:r>
              <a:rPr kumimoji="0" lang="en-US" altLang="zh-CN" sz="2800" kern="1200" cap="none" spc="0" normalizeH="0" baseline="0" noProof="0" dirty="0">
                <a:solidFill>
                  <a:srgbClr val="6600FF"/>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   </a:t>
            </a:r>
            <a:r>
              <a:rPr kumimoji="0" lang="zh-CN" altLang="en-US" sz="2800" kern="1200" cap="none" spc="0" normalizeH="0" baseline="0" noProof="0" dirty="0">
                <a:solidFill>
                  <a:schemeClr val="tx1"/>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熟悉信息安全管理评估标准</a:t>
            </a:r>
            <a:endParaRPr kumimoji="0" lang="zh-CN" altLang="en-US" sz="2800" kern="1200" cap="none" spc="0" normalizeH="0" baseline="0" noProof="0" dirty="0">
              <a:solidFill>
                <a:schemeClr val="tx1"/>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n-ea"/>
            </a:endParaRPr>
          </a:p>
          <a:p>
            <a:pPr marR="0" defTabSz="914400">
              <a:lnSpc>
                <a:spcPct val="150000"/>
              </a:lnSpc>
              <a:buClrTx/>
              <a:buSzTx/>
              <a:buFontTx/>
              <a:buNone/>
              <a:defRPr/>
            </a:pPr>
            <a:r>
              <a:rPr kumimoji="0" lang="zh-CN" altLang="en-US" sz="2800" kern="1200" cap="none" spc="0" normalizeH="0" baseline="0" noProof="0" dirty="0">
                <a:solidFill>
                  <a:srgbClr val="6600FF"/>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 </a:t>
            </a:r>
            <a:r>
              <a:rPr kumimoji="0" lang="zh-CN" altLang="en-US" sz="2800" kern="1200" cap="none" spc="0" normalizeH="0" baseline="0" noProof="0" dirty="0">
                <a:solidFill>
                  <a:schemeClr val="tx1"/>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onotype Sorts" pitchFamily="2" charset="2"/>
              </a:rPr>
              <a:t>具备</a:t>
            </a:r>
            <a:r>
              <a:rPr kumimoji="0" lang="zh-CN" altLang="en-US" sz="2800" kern="1200" cap="none" spc="0" normalizeH="0" baseline="0" noProof="0" dirty="0">
                <a:solidFill>
                  <a:srgbClr val="00000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n-ea"/>
              </a:rPr>
              <a:t>信息安全管理人员的应用管理能力</a:t>
            </a:r>
            <a:endParaRPr kumimoji="0" lang="zh-CN" altLang="en-US" sz="2800" kern="1200" cap="none" spc="0" normalizeH="0" baseline="0" noProof="0" dirty="0">
              <a:solidFill>
                <a:srgbClr val="000000"/>
              </a:solidFill>
              <a:effectLst>
                <a:outerShdw blurRad="38100" dist="38100" dir="2700000" algn="tl">
                  <a:srgbClr val="000000">
                    <a:alpha val="43137"/>
                  </a:srgbClr>
                </a:outerShdw>
              </a:effectLst>
              <a:latin typeface="华文仿宋" panose="02010600040101010101" pitchFamily="2" charset="-122"/>
              <a:ea typeface="华文仿宋" panose="02010600040101010101" pitchFamily="2" charset="-122"/>
              <a:cs typeface="+mn-cs"/>
              <a:sym typeface="+mn-ea"/>
            </a:endParaRPr>
          </a:p>
        </p:txBody>
      </p:sp>
      <p:sp>
        <p:nvSpPr>
          <p:cNvPr id="8" name="Rectangle 3"/>
          <p:cNvSpPr txBox="1">
            <a:spLocks noChangeArrowheads="1"/>
          </p:cNvSpPr>
          <p:nvPr/>
        </p:nvSpPr>
        <p:spPr bwMode="auto">
          <a:xfrm>
            <a:off x="1428750" y="4802029"/>
            <a:ext cx="6121400" cy="1252855"/>
          </a:xfrm>
          <a:prstGeom prst="rect">
            <a:avLst/>
          </a:prstGeom>
          <a:solidFill>
            <a:srgbClr val="330894"/>
          </a:solidFill>
          <a:ln w="9525">
            <a:noFill/>
            <a:miter lim="800000"/>
          </a:ln>
          <a:effectLst/>
        </p:spPr>
        <p:txBody>
          <a:bodyPr anchor="ctr">
            <a:spAutoFit/>
          </a:bodyPr>
          <a:lstStyle/>
          <a:p>
            <a:pPr marL="582930" marR="0" indent="-582930" defTabSz="914400" eaLnBrk="1" fontAlgn="auto" hangingPunct="1">
              <a:lnSpc>
                <a:spcPct val="90000"/>
              </a:lnSpc>
              <a:spcBef>
                <a:spcPts val="0"/>
              </a:spcBef>
              <a:spcAft>
                <a:spcPts val="0"/>
              </a:spcAft>
              <a:buClr>
                <a:srgbClr val="FF0000"/>
              </a:buClr>
              <a:buSzPct val="75000"/>
              <a:buFont typeface="Wingdings" panose="05000000000000000000" pitchFamily="2" charset="2"/>
              <a:buChar char="Ì"/>
              <a:defRPr/>
            </a:pPr>
            <a:r>
              <a:rPr kumimoji="0" lang="zh-CN" altLang="en-US"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rPr>
              <a:t>学期总课时：</a:t>
            </a:r>
            <a:r>
              <a:rPr kumimoji="0" lang="en-US" altLang="zh-CN"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rPr>
              <a:t>48</a:t>
            </a:r>
            <a:r>
              <a:rPr kumimoji="0" lang="zh-CN" altLang="en-US"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rPr>
              <a:t>（理论）</a:t>
            </a:r>
            <a:endParaRPr kumimoji="0" lang="en-US" altLang="zh-CN"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endParaRPr>
          </a:p>
          <a:p>
            <a:pPr marL="582930" marR="0" indent="-582930" defTabSz="914400" eaLnBrk="1" fontAlgn="auto" hangingPunct="1">
              <a:lnSpc>
                <a:spcPct val="90000"/>
              </a:lnSpc>
              <a:spcBef>
                <a:spcPts val="0"/>
              </a:spcBef>
              <a:spcAft>
                <a:spcPts val="0"/>
              </a:spcAft>
              <a:buClr>
                <a:srgbClr val="FF0000"/>
              </a:buClr>
              <a:buSzPct val="75000"/>
              <a:buFont typeface="Wingdings" panose="05000000000000000000" pitchFamily="2" charset="2"/>
              <a:buChar char="Ì"/>
              <a:defRPr/>
            </a:pPr>
            <a:endParaRPr kumimoji="0" lang="en-US" altLang="zh-CN"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endParaRPr>
          </a:p>
          <a:p>
            <a:pPr marL="582930" marR="0" indent="-582930" defTabSz="914400" eaLnBrk="1" fontAlgn="auto" hangingPunct="1">
              <a:lnSpc>
                <a:spcPct val="90000"/>
              </a:lnSpc>
              <a:spcBef>
                <a:spcPts val="0"/>
              </a:spcBef>
              <a:spcAft>
                <a:spcPts val="0"/>
              </a:spcAft>
              <a:buClr>
                <a:srgbClr val="FF0000"/>
              </a:buClr>
              <a:buSzPct val="75000"/>
              <a:buFont typeface="Wingdings" panose="05000000000000000000" pitchFamily="2" charset="2"/>
              <a:buChar char="Ì"/>
              <a:defRPr/>
            </a:pPr>
            <a:r>
              <a:rPr kumimoji="0" lang="zh-CN" altLang="en-US"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rPr>
              <a:t>考试形式：闭卷考试（</a:t>
            </a:r>
            <a:r>
              <a:rPr kumimoji="0" lang="en-US" altLang="zh-CN"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rPr>
              <a:t>70%+30%</a:t>
            </a:r>
            <a:r>
              <a:rPr kumimoji="0" lang="zh-CN" altLang="en-US"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rPr>
              <a:t>）</a:t>
            </a:r>
            <a:endParaRPr kumimoji="0" lang="en-US" altLang="zh-CN" sz="2800" b="1" kern="0" cap="none" spc="0" normalizeH="0" baseline="0" noProof="0" dirty="0">
              <a:solidFill>
                <a:srgbClr val="FFFFFF"/>
              </a:solidFill>
              <a:effectLst>
                <a:outerShdw blurRad="38100" dist="38100" dir="2700000" algn="tl">
                  <a:srgbClr val="000000"/>
                </a:outerShdw>
              </a:effectLst>
              <a:latin typeface="华文仿宋" panose="02010600040101010101" pitchFamily="2" charset="-122"/>
              <a:ea typeface="华文仿宋" panose="02010600040101010101" pitchFamily="2" charset="-122"/>
              <a:cs typeface="+mn-cs"/>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xEl>
                                              <p:charRg st="0" end="22"/>
                                            </p:txEl>
                                          </p:spTgt>
                                        </p:tgtEl>
                                        <p:attrNameLst>
                                          <p:attrName>style.visibility</p:attrName>
                                        </p:attrNameLst>
                                      </p:cBhvr>
                                      <p:to>
                                        <p:strVal val="visible"/>
                                      </p:to>
                                    </p:set>
                                    <p:animEffect transition="in" filter="blinds(horizontal)">
                                      <p:cBhvr>
                                        <p:cTn id="12" dur="500"/>
                                        <p:tgtEl>
                                          <p:spTgt spid="7">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xEl>
                                              <p:charRg st="22" end="42"/>
                                            </p:txEl>
                                          </p:spTgt>
                                        </p:tgtEl>
                                        <p:attrNameLst>
                                          <p:attrName>style.visibility</p:attrName>
                                        </p:attrNameLst>
                                      </p:cBhvr>
                                      <p:to>
                                        <p:strVal val="visible"/>
                                      </p:to>
                                    </p:set>
                                    <p:animEffect transition="in" filter="blinds(horizontal)">
                                      <p:cBhvr>
                                        <p:cTn id="17" dur="500"/>
                                        <p:tgtEl>
                                          <p:spTgt spid="7">
                                            <p:txEl>
                                              <p:charRg st="22" end="4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xEl>
                                              <p:charRg st="42" end="59"/>
                                            </p:txEl>
                                          </p:spTgt>
                                        </p:tgtEl>
                                        <p:attrNameLst>
                                          <p:attrName>style.visibility</p:attrName>
                                        </p:attrNameLst>
                                      </p:cBhvr>
                                      <p:to>
                                        <p:strVal val="visible"/>
                                      </p:to>
                                    </p:set>
                                    <p:animEffect transition="in" filter="blinds(horizontal)">
                                      <p:cBhvr>
                                        <p:cTn id="22" dur="500"/>
                                        <p:tgtEl>
                                          <p:spTgt spid="7">
                                            <p:txEl>
                                              <p:charRg st="42" end="5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charRg st="59" end="79"/>
                                            </p:txEl>
                                          </p:spTgt>
                                        </p:tgtEl>
                                        <p:attrNameLst>
                                          <p:attrName>style.visibility</p:attrName>
                                        </p:attrNameLst>
                                      </p:cBhvr>
                                      <p:to>
                                        <p:strVal val="visible"/>
                                      </p:to>
                                    </p:set>
                                    <p:animEffect transition="in" filter="blinds(horizontal)">
                                      <p:cBhvr>
                                        <p:cTn id="27" dur="500"/>
                                        <p:tgtEl>
                                          <p:spTgt spid="7">
                                            <p:txEl>
                                              <p:charRg st="59" end="7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build="p"/>
      <p:bldP spid="8"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ctrTitle"/>
          </p:nvPr>
        </p:nvSpPr>
        <p:spPr>
          <a:xfrm>
            <a:off x="762000" y="3429000"/>
            <a:ext cx="7620000" cy="682625"/>
          </a:xfrm>
        </p:spPr>
        <p:txBody>
          <a:bodyPr vert="horz" wrap="square" lIns="91440" tIns="45720" rIns="91440" bIns="45720" anchor="ctr" anchorCtr="0"/>
          <a:p>
            <a:pPr marL="342900" indent="-342900" eaLnBrk="1" hangingPunct="1">
              <a:spcAft>
                <a:spcPct val="20000"/>
              </a:spcAft>
              <a:buClrTx/>
              <a:buSzTx/>
              <a:buFontTx/>
            </a:pPr>
            <a:r>
              <a:rPr lang="zh-CN" altLang="en-US" sz="2800" b="0" dirty="0">
                <a:solidFill>
                  <a:schemeClr val="tx2"/>
                </a:solidFill>
                <a:latin typeface="+mj-lt"/>
                <a:ea typeface="宋体" panose="02010600030101010101" pitchFamily="2" charset="-122"/>
                <a:cs typeface="+mj-cs"/>
              </a:rPr>
              <a:t>第一章 信息安全概述</a:t>
            </a:r>
            <a:endParaRPr lang="en-US" altLang="zh-CN" sz="2800" b="0" dirty="0">
              <a:solidFill>
                <a:schemeClr val="tx2"/>
              </a:solidFill>
              <a:latin typeface="+mj-lt"/>
              <a:ea typeface="宋体" panose="02010600030101010101" pitchFamily="2" charset="-122"/>
              <a:cs typeface="+mj-cs"/>
            </a:endParaRPr>
          </a:p>
        </p:txBody>
      </p:sp>
      <p:sp>
        <p:nvSpPr>
          <p:cNvPr id="10243" name="Rectangle 3"/>
          <p:cNvSpPr>
            <a:spLocks noGrp="1"/>
          </p:cNvSpPr>
          <p:nvPr>
            <p:ph type="subTitle" idx="1"/>
          </p:nvPr>
        </p:nvSpPr>
        <p:spPr>
          <a:xfrm>
            <a:off x="920750" y="2743200"/>
            <a:ext cx="7304088" cy="574675"/>
          </a:xfrm>
        </p:spPr>
        <p:txBody>
          <a:bodyPr vert="horz" wrap="square" lIns="91440" tIns="45720" rIns="91440" bIns="45720" anchor="t" anchorCtr="0"/>
          <a:p>
            <a:pPr eaLnBrk="1" hangingPunct="1">
              <a:lnSpc>
                <a:spcPct val="90000"/>
              </a:lnSpc>
              <a:buSzTx/>
            </a:pPr>
            <a:r>
              <a:rPr lang="zh-CN" altLang="en-US" sz="3600" dirty="0">
                <a:latin typeface="黑体" panose="02010609060101010101" pitchFamily="49" charset="-122"/>
                <a:ea typeface="黑体" panose="02010609060101010101" pitchFamily="49" charset="-122"/>
                <a:cs typeface="+mn-cs"/>
              </a:rPr>
              <a:t>信息安全法规及安全管理</a:t>
            </a:r>
            <a:endParaRPr lang="en-US" altLang="zh-CN" sz="3600" dirty="0">
              <a:latin typeface="黑体" panose="02010609060101010101" pitchFamily="49" charset="-122"/>
              <a:ea typeface="黑体" panose="02010609060101010101" pitchFamily="49" charset="-122"/>
              <a:cs typeface="+mn-cs"/>
            </a:endParaRPr>
          </a:p>
        </p:txBody>
      </p:sp>
      <p:sp>
        <p:nvSpPr>
          <p:cNvPr id="10244" name="文本框 1"/>
          <p:cNvSpPr txBox="1"/>
          <p:nvPr/>
        </p:nvSpPr>
        <p:spPr>
          <a:xfrm>
            <a:off x="1609725" y="4648200"/>
            <a:ext cx="5924550" cy="523875"/>
          </a:xfrm>
          <a:prstGeom prst="rect">
            <a:avLst/>
          </a:prstGeom>
          <a:noFill/>
          <a:ln w="9525">
            <a:noFill/>
          </a:ln>
        </p:spPr>
        <p:txBody>
          <a:bodyPr>
            <a:spAutoFit/>
          </a:bodyPr>
          <a:p>
            <a:pPr algn="ctr"/>
            <a:r>
              <a:rPr lang="zh-CN" altLang="en-US" sz="2800" dirty="0">
                <a:latin typeface="华文楷体" panose="02010600040101010101" pitchFamily="2" charset="-122"/>
                <a:ea typeface="华文楷体" panose="02010600040101010101" pitchFamily="2" charset="-122"/>
              </a:rPr>
              <a:t>授课老师：李妍</a:t>
            </a:r>
            <a:endParaRPr lang="en-US" altLang="zh-CN" sz="2800" dirty="0">
              <a:latin typeface="华文楷体" panose="02010600040101010101" pitchFamily="2" charset="-122"/>
              <a:ea typeface="华文楷体" panose="02010600040101010101" pitchFamily="2" charset="-122"/>
            </a:endParaRPr>
          </a:p>
        </p:txBody>
      </p:sp>
      <p:pic>
        <p:nvPicPr>
          <p:cNvPr id="10245" name="图片 1"/>
          <p:cNvPicPr>
            <a:picLocks noChangeAspect="1"/>
          </p:cNvPicPr>
          <p:nvPr/>
        </p:nvPicPr>
        <p:blipFill>
          <a:blip r:embed="rId1"/>
          <a:stretch>
            <a:fillRect/>
          </a:stretch>
        </p:blipFill>
        <p:spPr>
          <a:xfrm>
            <a:off x="3867150" y="5334000"/>
            <a:ext cx="1409700" cy="1409700"/>
          </a:xfrm>
          <a:prstGeom prst="rect">
            <a:avLst/>
          </a:prstGeom>
          <a:noFill/>
          <a:ln w="9525">
            <a:noFill/>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本章授课内容</a:t>
            </a:r>
            <a:endParaRPr lang="en-US" altLang="zh-CN" b="1" dirty="0">
              <a:ea typeface="宋体" panose="02010600030101010101" pitchFamily="2" charset="-122"/>
            </a:endParaRPr>
          </a:p>
        </p:txBody>
      </p:sp>
      <p:grpSp>
        <p:nvGrpSpPr>
          <p:cNvPr id="11267" name="Group 3"/>
          <p:cNvGrpSpPr/>
          <p:nvPr/>
        </p:nvGrpSpPr>
        <p:grpSpPr>
          <a:xfrm>
            <a:off x="1487488" y="1219200"/>
            <a:ext cx="762000" cy="665163"/>
            <a:chOff x="1110" y="2656"/>
            <a:chExt cx="1549" cy="1351"/>
          </a:xfrm>
        </p:grpSpPr>
        <p:sp>
          <p:nvSpPr>
            <p:cNvPr id="11310" name="AutoShape 4"/>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11311" name="AutoShape 5"/>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326662" name="AutoShape 6"/>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1268" name="Group 7"/>
          <p:cNvGrpSpPr/>
          <p:nvPr/>
        </p:nvGrpSpPr>
        <p:grpSpPr>
          <a:xfrm>
            <a:off x="1487488" y="2133600"/>
            <a:ext cx="762000" cy="665163"/>
            <a:chOff x="3174" y="2656"/>
            <a:chExt cx="1549" cy="1351"/>
          </a:xfrm>
        </p:grpSpPr>
        <p:sp>
          <p:nvSpPr>
            <p:cNvPr id="11307" name="AutoShape 8"/>
            <p:cNvSpPr/>
            <p:nvPr/>
          </p:nvSpPr>
          <p:spPr>
            <a:xfrm>
              <a:off x="3187" y="2679"/>
              <a:ext cx="1536" cy="1328"/>
            </a:xfrm>
            <a:prstGeom prst="hexagon">
              <a:avLst>
                <a:gd name="adj" fmla="val 28915"/>
                <a:gd name="vf" fmla="val 115470"/>
              </a:avLst>
            </a:prstGeom>
            <a:solidFill>
              <a:srgbClr val="808080"/>
            </a:solidFill>
            <a:ln w="9525">
              <a:noFill/>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11308" name="AutoShape 9"/>
            <p:cNvSpPr/>
            <p:nvPr/>
          </p:nvSpPr>
          <p:spPr>
            <a:xfrm>
              <a:off x="3174"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326666" name="AutoShape 10"/>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11269" name="Line 11"/>
          <p:cNvSpPr/>
          <p:nvPr/>
        </p:nvSpPr>
        <p:spPr>
          <a:xfrm>
            <a:off x="2097088" y="1828800"/>
            <a:ext cx="4800600" cy="0"/>
          </a:xfrm>
          <a:prstGeom prst="line">
            <a:avLst/>
          </a:prstGeom>
          <a:ln w="25400" cap="flat" cmpd="sng">
            <a:solidFill>
              <a:srgbClr val="C0C0C0"/>
            </a:solidFill>
            <a:prstDash val="sysDot"/>
            <a:headEnd type="none" w="med" len="med"/>
            <a:tailEnd type="oval" w="med" len="med"/>
          </a:ln>
        </p:spPr>
      </p:sp>
      <p:sp>
        <p:nvSpPr>
          <p:cNvPr id="11270" name="Text Box 12"/>
          <p:cNvSpPr txBox="1"/>
          <p:nvPr/>
        </p:nvSpPr>
        <p:spPr>
          <a:xfrm>
            <a:off x="2325688" y="1276350"/>
            <a:ext cx="5638800" cy="369888"/>
          </a:xfrm>
          <a:prstGeom prst="rect">
            <a:avLst/>
          </a:prstGeom>
          <a:noFill/>
          <a:ln w="9525">
            <a:noFill/>
          </a:ln>
        </p:spPr>
        <p:txBody>
          <a:bodyPr>
            <a:spAutoFit/>
          </a:bodyPr>
          <a:p>
            <a:r>
              <a:rPr lang="zh-CN" altLang="en-US" sz="1800" b="1" dirty="0">
                <a:solidFill>
                  <a:schemeClr val="tx1"/>
                </a:solidFill>
                <a:latin typeface="Arial" panose="020B0604020202020204" pitchFamily="34" charset="0"/>
              </a:rPr>
              <a:t>安全意识</a:t>
            </a:r>
            <a:endParaRPr lang="zh-CN" altLang="en-US" sz="1800" b="1" dirty="0">
              <a:solidFill>
                <a:schemeClr val="tx1"/>
              </a:solidFill>
              <a:latin typeface="Arial" panose="020B0604020202020204" pitchFamily="34" charset="0"/>
            </a:endParaRPr>
          </a:p>
        </p:txBody>
      </p:sp>
      <p:sp>
        <p:nvSpPr>
          <p:cNvPr id="11271" name="Text Box 13"/>
          <p:cNvSpPr txBox="1"/>
          <p:nvPr/>
        </p:nvSpPr>
        <p:spPr>
          <a:xfrm>
            <a:off x="1704975" y="1317625"/>
            <a:ext cx="312738" cy="369888"/>
          </a:xfrm>
          <a:prstGeom prst="rect">
            <a:avLst/>
          </a:prstGeom>
          <a:noFill/>
          <a:ln w="9525">
            <a:noFill/>
          </a:ln>
        </p:spPr>
        <p:txBody>
          <a:bodyPr wrap="none">
            <a:spAutoFit/>
          </a:bodyPr>
          <a:p>
            <a:pPr algn="ctr"/>
            <a:r>
              <a:rPr lang="en-US" altLang="zh-CN" sz="1800" b="1" dirty="0">
                <a:solidFill>
                  <a:schemeClr val="bg1"/>
                </a:solidFill>
                <a:latin typeface="Arial" panose="020B0604020202020204" pitchFamily="34" charset="0"/>
              </a:rPr>
              <a:t>1</a:t>
            </a:r>
            <a:endParaRPr lang="en-US" altLang="zh-CN" sz="1800" b="1" dirty="0">
              <a:solidFill>
                <a:schemeClr val="bg1"/>
              </a:solidFill>
              <a:latin typeface="Arial" panose="020B0604020202020204" pitchFamily="34" charset="0"/>
            </a:endParaRPr>
          </a:p>
        </p:txBody>
      </p:sp>
      <p:sp>
        <p:nvSpPr>
          <p:cNvPr id="11272" name="Line 14"/>
          <p:cNvSpPr/>
          <p:nvPr/>
        </p:nvSpPr>
        <p:spPr>
          <a:xfrm>
            <a:off x="2097088" y="2743200"/>
            <a:ext cx="4800600" cy="0"/>
          </a:xfrm>
          <a:prstGeom prst="line">
            <a:avLst/>
          </a:prstGeom>
          <a:ln w="25400" cap="flat" cmpd="sng">
            <a:solidFill>
              <a:srgbClr val="C0C0C0"/>
            </a:solidFill>
            <a:prstDash val="sysDot"/>
            <a:headEnd type="none" w="med" len="med"/>
            <a:tailEnd type="oval" w="med" len="med"/>
          </a:ln>
        </p:spPr>
      </p:sp>
      <p:sp>
        <p:nvSpPr>
          <p:cNvPr id="11273" name="Text Box 16"/>
          <p:cNvSpPr txBox="1"/>
          <p:nvPr/>
        </p:nvSpPr>
        <p:spPr>
          <a:xfrm>
            <a:off x="1704975" y="2232025"/>
            <a:ext cx="312738" cy="369888"/>
          </a:xfrm>
          <a:prstGeom prst="rect">
            <a:avLst/>
          </a:prstGeom>
          <a:noFill/>
          <a:ln w="9525">
            <a:noFill/>
          </a:ln>
        </p:spPr>
        <p:txBody>
          <a:bodyPr wrap="none">
            <a:spAutoFit/>
          </a:bodyPr>
          <a:p>
            <a:pPr algn="ctr"/>
            <a:r>
              <a:rPr lang="en-US" altLang="zh-CN" sz="1800" b="1" dirty="0">
                <a:solidFill>
                  <a:schemeClr val="bg1"/>
                </a:solidFill>
                <a:latin typeface="Arial" panose="020B0604020202020204" pitchFamily="34" charset="0"/>
              </a:rPr>
              <a:t>2</a:t>
            </a:r>
            <a:endParaRPr lang="en-US" altLang="zh-CN" sz="1800" b="1" dirty="0">
              <a:solidFill>
                <a:schemeClr val="bg1"/>
              </a:solidFill>
              <a:latin typeface="Arial" panose="020B0604020202020204" pitchFamily="34" charset="0"/>
            </a:endParaRPr>
          </a:p>
        </p:txBody>
      </p:sp>
      <p:sp>
        <p:nvSpPr>
          <p:cNvPr id="11274" name="Text Box 21"/>
          <p:cNvSpPr txBox="1"/>
          <p:nvPr/>
        </p:nvSpPr>
        <p:spPr>
          <a:xfrm>
            <a:off x="1704975" y="3124200"/>
            <a:ext cx="312738" cy="369888"/>
          </a:xfrm>
          <a:prstGeom prst="rect">
            <a:avLst/>
          </a:prstGeom>
          <a:noFill/>
          <a:ln w="9525">
            <a:noFill/>
          </a:ln>
        </p:spPr>
        <p:txBody>
          <a:bodyPr wrap="none">
            <a:spAutoFit/>
          </a:bodyPr>
          <a:p>
            <a:pPr algn="ctr"/>
            <a:r>
              <a:rPr lang="en-US" altLang="zh-CN" sz="1800" b="1" dirty="0">
                <a:solidFill>
                  <a:schemeClr val="bg1"/>
                </a:solidFill>
                <a:latin typeface="Arial" panose="020B0604020202020204" pitchFamily="34" charset="0"/>
              </a:rPr>
              <a:t>3</a:t>
            </a:r>
            <a:endParaRPr lang="en-US" altLang="zh-CN" sz="1800" b="1" dirty="0">
              <a:solidFill>
                <a:schemeClr val="bg1"/>
              </a:solidFill>
              <a:latin typeface="Arial" panose="020B0604020202020204" pitchFamily="34" charset="0"/>
            </a:endParaRPr>
          </a:p>
        </p:txBody>
      </p:sp>
      <p:sp>
        <p:nvSpPr>
          <p:cNvPr id="11275" name="Text Box 22"/>
          <p:cNvSpPr txBox="1"/>
          <p:nvPr/>
        </p:nvSpPr>
        <p:spPr>
          <a:xfrm>
            <a:off x="1647825" y="4729163"/>
            <a:ext cx="312738" cy="369887"/>
          </a:xfrm>
          <a:prstGeom prst="rect">
            <a:avLst/>
          </a:prstGeom>
          <a:noFill/>
          <a:ln w="9525">
            <a:noFill/>
          </a:ln>
        </p:spPr>
        <p:txBody>
          <a:bodyPr wrap="none">
            <a:spAutoFit/>
          </a:bodyPr>
          <a:p>
            <a:pPr algn="ctr"/>
            <a:r>
              <a:rPr lang="en-US" altLang="zh-CN" sz="1800" b="1" dirty="0">
                <a:solidFill>
                  <a:schemeClr val="bg1"/>
                </a:solidFill>
                <a:latin typeface="Arial" panose="020B0604020202020204" pitchFamily="34" charset="0"/>
              </a:rPr>
              <a:t>5</a:t>
            </a:r>
            <a:endParaRPr lang="en-US" altLang="zh-CN" sz="1800" b="1" dirty="0">
              <a:solidFill>
                <a:schemeClr val="bg1"/>
              </a:solidFill>
              <a:latin typeface="Arial" panose="020B0604020202020204" pitchFamily="34" charset="0"/>
            </a:endParaRPr>
          </a:p>
        </p:txBody>
      </p:sp>
      <p:sp>
        <p:nvSpPr>
          <p:cNvPr id="11276" name="Text Box 24"/>
          <p:cNvSpPr txBox="1"/>
          <p:nvPr/>
        </p:nvSpPr>
        <p:spPr>
          <a:xfrm>
            <a:off x="2325688" y="2133600"/>
            <a:ext cx="5029200" cy="369888"/>
          </a:xfrm>
          <a:prstGeom prst="rect">
            <a:avLst/>
          </a:prstGeom>
          <a:noFill/>
          <a:ln w="9525">
            <a:noFill/>
          </a:ln>
        </p:spPr>
        <p:txBody>
          <a:bodyPr>
            <a:spAutoFit/>
          </a:bodyPr>
          <a:p>
            <a:r>
              <a:rPr lang="zh-CN" altLang="en-US" sz="1800" b="1" dirty="0">
                <a:solidFill>
                  <a:schemeClr val="tx1"/>
                </a:solidFill>
                <a:latin typeface="Arial" panose="020B0604020202020204" pitchFamily="34" charset="0"/>
              </a:rPr>
              <a:t>理解安全与不安全</a:t>
            </a:r>
            <a:endParaRPr lang="en-US" altLang="zh-CN" sz="1800" b="1" dirty="0">
              <a:solidFill>
                <a:schemeClr val="tx1"/>
              </a:solidFill>
              <a:latin typeface="Arial" panose="020B0604020202020204" pitchFamily="34" charset="0"/>
            </a:endParaRPr>
          </a:p>
        </p:txBody>
      </p:sp>
      <p:grpSp>
        <p:nvGrpSpPr>
          <p:cNvPr id="11277" name="组合 25"/>
          <p:cNvGrpSpPr/>
          <p:nvPr/>
        </p:nvGrpSpPr>
        <p:grpSpPr>
          <a:xfrm>
            <a:off x="1487488" y="3025775"/>
            <a:ext cx="5410200" cy="665163"/>
            <a:chOff x="1828800" y="3559175"/>
            <a:chExt cx="5410200" cy="665163"/>
          </a:xfrm>
        </p:grpSpPr>
        <p:sp>
          <p:nvSpPr>
            <p:cNvPr id="11301" name="Text Box 15"/>
            <p:cNvSpPr txBox="1"/>
            <p:nvPr/>
          </p:nvSpPr>
          <p:spPr>
            <a:xfrm>
              <a:off x="2667000" y="3657600"/>
              <a:ext cx="4572000" cy="369332"/>
            </a:xfrm>
            <a:prstGeom prst="rect">
              <a:avLst/>
            </a:prstGeom>
            <a:noFill/>
            <a:ln w="9525">
              <a:noFill/>
            </a:ln>
          </p:spPr>
          <p:txBody>
            <a:bodyPr>
              <a:spAutoFit/>
            </a:bodyPr>
            <a:p>
              <a:r>
                <a:rPr lang="zh-CN" altLang="en-US" sz="1800" b="1" dirty="0">
                  <a:solidFill>
                    <a:schemeClr val="tx1"/>
                  </a:solidFill>
                  <a:latin typeface="Arial" panose="020B0604020202020204" pitchFamily="34" charset="0"/>
                </a:rPr>
                <a:t>信息安全的现状</a:t>
              </a:r>
              <a:endParaRPr lang="en-US" altLang="zh-CN" sz="1800" b="1" dirty="0">
                <a:solidFill>
                  <a:schemeClr val="tx1"/>
                </a:solidFill>
                <a:latin typeface="Arial" panose="020B0604020202020204" pitchFamily="34" charset="0"/>
              </a:endParaRPr>
            </a:p>
          </p:txBody>
        </p:sp>
        <p:grpSp>
          <p:nvGrpSpPr>
            <p:cNvPr id="11302" name="Group 17"/>
            <p:cNvGrpSpPr/>
            <p:nvPr/>
          </p:nvGrpSpPr>
          <p:grpSpPr>
            <a:xfrm>
              <a:off x="1828800" y="3559175"/>
              <a:ext cx="762000" cy="665163"/>
              <a:chOff x="1110" y="2656"/>
              <a:chExt cx="1549" cy="1351"/>
            </a:xfrm>
          </p:grpSpPr>
          <p:sp>
            <p:nvSpPr>
              <p:cNvPr id="11304"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11305"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326676"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3</a:t>
                </a:r>
                <a:endParaRPr kumimoji="0" lang="zh-CN" altLang="en-US"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11303"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
        <p:nvSpPr>
          <p:cNvPr id="11278" name="Text Box 13"/>
          <p:cNvSpPr txBox="1"/>
          <p:nvPr/>
        </p:nvSpPr>
        <p:spPr>
          <a:xfrm>
            <a:off x="1709738" y="5878513"/>
            <a:ext cx="312737" cy="369887"/>
          </a:xfrm>
          <a:prstGeom prst="rect">
            <a:avLst/>
          </a:prstGeom>
          <a:noFill/>
          <a:ln w="9525">
            <a:noFill/>
          </a:ln>
        </p:spPr>
        <p:txBody>
          <a:bodyPr wrap="none">
            <a:spAutoFit/>
          </a:bodyPr>
          <a:p>
            <a:pPr algn="ctr"/>
            <a:r>
              <a:rPr lang="en-US" altLang="zh-CN" sz="1800" b="1" dirty="0">
                <a:solidFill>
                  <a:schemeClr val="bg1"/>
                </a:solidFill>
                <a:latin typeface="Arial" panose="020B0604020202020204" pitchFamily="34" charset="0"/>
              </a:rPr>
              <a:t>1</a:t>
            </a:r>
            <a:endParaRPr lang="en-US" altLang="zh-CN" sz="1800" b="1" dirty="0">
              <a:solidFill>
                <a:schemeClr val="bg1"/>
              </a:solidFill>
              <a:latin typeface="Arial" panose="020B0604020202020204" pitchFamily="34" charset="0"/>
            </a:endParaRPr>
          </a:p>
        </p:txBody>
      </p:sp>
      <p:sp>
        <p:nvSpPr>
          <p:cNvPr id="11279" name="Text Box 21"/>
          <p:cNvSpPr txBox="1"/>
          <p:nvPr/>
        </p:nvSpPr>
        <p:spPr>
          <a:xfrm>
            <a:off x="1822450" y="5715000"/>
            <a:ext cx="312738" cy="369888"/>
          </a:xfrm>
          <a:prstGeom prst="rect">
            <a:avLst/>
          </a:prstGeom>
          <a:noFill/>
          <a:ln w="9525">
            <a:noFill/>
          </a:ln>
        </p:spPr>
        <p:txBody>
          <a:bodyPr wrap="none">
            <a:spAutoFit/>
          </a:bodyPr>
          <a:p>
            <a:pPr algn="ctr"/>
            <a:r>
              <a:rPr lang="en-US" altLang="zh-CN" sz="1800" b="1" dirty="0">
                <a:solidFill>
                  <a:schemeClr val="bg1"/>
                </a:solidFill>
                <a:latin typeface="Arial" panose="020B0604020202020204" pitchFamily="34" charset="0"/>
              </a:rPr>
              <a:t>3</a:t>
            </a:r>
            <a:endParaRPr lang="en-US" altLang="zh-CN" sz="1800" b="1" dirty="0">
              <a:solidFill>
                <a:schemeClr val="bg1"/>
              </a:solidFill>
              <a:latin typeface="Arial" panose="020B0604020202020204" pitchFamily="34" charset="0"/>
            </a:endParaRPr>
          </a:p>
        </p:txBody>
      </p:sp>
      <p:grpSp>
        <p:nvGrpSpPr>
          <p:cNvPr id="11280" name="组合 25"/>
          <p:cNvGrpSpPr/>
          <p:nvPr/>
        </p:nvGrpSpPr>
        <p:grpSpPr>
          <a:xfrm>
            <a:off x="1517650" y="3937000"/>
            <a:ext cx="5410200" cy="665163"/>
            <a:chOff x="1828800" y="3559175"/>
            <a:chExt cx="5410200" cy="665163"/>
          </a:xfrm>
        </p:grpSpPr>
        <p:sp>
          <p:nvSpPr>
            <p:cNvPr id="11295" name="Text Box 15"/>
            <p:cNvSpPr txBox="1"/>
            <p:nvPr/>
          </p:nvSpPr>
          <p:spPr>
            <a:xfrm>
              <a:off x="2667000" y="3657600"/>
              <a:ext cx="4572000" cy="369333"/>
            </a:xfrm>
            <a:prstGeom prst="rect">
              <a:avLst/>
            </a:prstGeom>
            <a:noFill/>
            <a:ln w="9525">
              <a:noFill/>
            </a:ln>
          </p:spPr>
          <p:txBody>
            <a:bodyPr>
              <a:spAutoFit/>
            </a:bodyPr>
            <a:p>
              <a:r>
                <a:rPr lang="zh-CN" altLang="en-US" sz="1800" b="1" dirty="0">
                  <a:solidFill>
                    <a:schemeClr val="tx1"/>
                  </a:solidFill>
                  <a:latin typeface="Arial" panose="020B0604020202020204" pitchFamily="34" charset="0"/>
                </a:rPr>
                <a:t>信息安全的基础</a:t>
              </a:r>
              <a:endParaRPr lang="en-US" altLang="zh-CN" sz="1800" b="1" dirty="0">
                <a:solidFill>
                  <a:schemeClr val="tx1"/>
                </a:solidFill>
                <a:latin typeface="Arial" panose="020B0604020202020204" pitchFamily="34" charset="0"/>
              </a:endParaRPr>
            </a:p>
          </p:txBody>
        </p:sp>
        <p:grpSp>
          <p:nvGrpSpPr>
            <p:cNvPr id="11296" name="Group 17"/>
            <p:cNvGrpSpPr/>
            <p:nvPr/>
          </p:nvGrpSpPr>
          <p:grpSpPr>
            <a:xfrm>
              <a:off x="1828800" y="3559175"/>
              <a:ext cx="762000" cy="665163"/>
              <a:chOff x="1110" y="2656"/>
              <a:chExt cx="1549" cy="1351"/>
            </a:xfrm>
          </p:grpSpPr>
          <p:sp>
            <p:nvSpPr>
              <p:cNvPr id="11298"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11299"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35" name="AutoShape 20"/>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4</a:t>
                </a:r>
                <a:endParaRPr kumimoji="0" lang="zh-CN" altLang="en-US"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11297"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11281" name="组合 25"/>
          <p:cNvGrpSpPr/>
          <p:nvPr/>
        </p:nvGrpSpPr>
        <p:grpSpPr>
          <a:xfrm>
            <a:off x="1508125" y="4835525"/>
            <a:ext cx="5730875" cy="676275"/>
            <a:chOff x="1828800" y="3559175"/>
            <a:chExt cx="5763468" cy="665163"/>
          </a:xfrm>
        </p:grpSpPr>
        <p:sp>
          <p:nvSpPr>
            <p:cNvPr id="11289" name="Text Box 15"/>
            <p:cNvSpPr txBox="1"/>
            <p:nvPr/>
          </p:nvSpPr>
          <p:spPr>
            <a:xfrm>
              <a:off x="2714472" y="3624730"/>
              <a:ext cx="4877796" cy="363263"/>
            </a:xfrm>
            <a:prstGeom prst="rect">
              <a:avLst/>
            </a:prstGeom>
            <a:noFill/>
            <a:ln w="9525">
              <a:noFill/>
            </a:ln>
          </p:spPr>
          <p:txBody>
            <a:bodyPr>
              <a:spAutoFit/>
            </a:bodyPr>
            <a:p>
              <a:r>
                <a:rPr lang="zh-CN" altLang="en-US" sz="1800" b="1" dirty="0">
                  <a:solidFill>
                    <a:schemeClr val="tx1"/>
                  </a:solidFill>
                  <a:latin typeface="Arial" panose="020B0604020202020204" pitchFamily="34" charset="0"/>
                </a:rPr>
                <a:t>信息安全特点、属性</a:t>
              </a:r>
              <a:endParaRPr lang="en-US" altLang="zh-CN" sz="1800" b="1" dirty="0">
                <a:solidFill>
                  <a:schemeClr val="tx1"/>
                </a:solidFill>
                <a:latin typeface="Arial" panose="020B0604020202020204" pitchFamily="34" charset="0"/>
              </a:endParaRPr>
            </a:p>
          </p:txBody>
        </p:sp>
        <p:grpSp>
          <p:nvGrpSpPr>
            <p:cNvPr id="11290" name="Group 17"/>
            <p:cNvGrpSpPr/>
            <p:nvPr/>
          </p:nvGrpSpPr>
          <p:grpSpPr>
            <a:xfrm>
              <a:off x="1828800" y="3559175"/>
              <a:ext cx="762000" cy="665163"/>
              <a:chOff x="1110" y="2656"/>
              <a:chExt cx="1549" cy="1351"/>
            </a:xfrm>
          </p:grpSpPr>
          <p:sp>
            <p:nvSpPr>
              <p:cNvPr id="11292"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11293"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42" name="AutoShape 20"/>
              <p:cNvSpPr>
                <a:spLocks noChangeArrowheads="1"/>
              </p:cNvSpPr>
              <p:nvPr/>
            </p:nvSpPr>
            <p:spPr bwMode="gray">
              <a:xfrm>
                <a:off x="1198" y="2738"/>
                <a:ext cx="1350"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5</a:t>
                </a:r>
                <a:endParaRPr kumimoji="0" lang="zh-CN" altLang="en-US"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11291"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grpSp>
        <p:nvGrpSpPr>
          <p:cNvPr id="11282" name="组合 25"/>
          <p:cNvGrpSpPr/>
          <p:nvPr/>
        </p:nvGrpSpPr>
        <p:grpSpPr>
          <a:xfrm>
            <a:off x="1555750" y="5735638"/>
            <a:ext cx="5410200" cy="665162"/>
            <a:chOff x="1828800" y="3559175"/>
            <a:chExt cx="5410200" cy="665163"/>
          </a:xfrm>
        </p:grpSpPr>
        <p:sp>
          <p:nvSpPr>
            <p:cNvPr id="11283" name="Text Box 15"/>
            <p:cNvSpPr txBox="1"/>
            <p:nvPr/>
          </p:nvSpPr>
          <p:spPr>
            <a:xfrm>
              <a:off x="2667000" y="3657600"/>
              <a:ext cx="4572000" cy="369332"/>
            </a:xfrm>
            <a:prstGeom prst="rect">
              <a:avLst/>
            </a:prstGeom>
            <a:noFill/>
            <a:ln w="9525">
              <a:noFill/>
            </a:ln>
          </p:spPr>
          <p:txBody>
            <a:bodyPr>
              <a:spAutoFit/>
            </a:bodyPr>
            <a:p>
              <a:r>
                <a:rPr lang="zh-CN" altLang="en-US" sz="1800" b="1" dirty="0">
                  <a:solidFill>
                    <a:schemeClr val="tx1"/>
                  </a:solidFill>
                  <a:latin typeface="Arial" panose="020B0604020202020204" pitchFamily="34" charset="0"/>
                </a:rPr>
                <a:t>信息安全事件</a:t>
              </a:r>
              <a:endParaRPr lang="en-US" altLang="zh-CN" sz="1800" b="1" dirty="0">
                <a:solidFill>
                  <a:schemeClr val="tx1"/>
                </a:solidFill>
                <a:latin typeface="Arial" panose="020B0604020202020204" pitchFamily="34" charset="0"/>
              </a:endParaRPr>
            </a:p>
          </p:txBody>
        </p:sp>
        <p:grpSp>
          <p:nvGrpSpPr>
            <p:cNvPr id="11284" name="Group 17"/>
            <p:cNvGrpSpPr/>
            <p:nvPr/>
          </p:nvGrpSpPr>
          <p:grpSpPr>
            <a:xfrm>
              <a:off x="1828800" y="3559175"/>
              <a:ext cx="762000" cy="665163"/>
              <a:chOff x="1110" y="2656"/>
              <a:chExt cx="1549" cy="1351"/>
            </a:xfrm>
          </p:grpSpPr>
          <p:sp>
            <p:nvSpPr>
              <p:cNvPr id="11286" name="AutoShape 18"/>
              <p:cNvSpPr/>
              <p:nvPr/>
            </p:nvSpPr>
            <p:spPr>
              <a:xfrm>
                <a:off x="1123" y="2679"/>
                <a:ext cx="1536" cy="1328"/>
              </a:xfrm>
              <a:prstGeom prst="hexagon">
                <a:avLst>
                  <a:gd name="adj" fmla="val 28915"/>
                  <a:gd name="vf" fmla="val 115470"/>
                </a:avLst>
              </a:prstGeom>
              <a:solidFill>
                <a:srgbClr val="808080"/>
              </a:solidFill>
              <a:ln w="9525">
                <a:noFill/>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11287" name="AutoShape 19"/>
              <p:cNvSpPr/>
              <p:nvPr/>
            </p:nvSpPr>
            <p:spPr>
              <a:xfrm>
                <a:off x="1110" y="2656"/>
                <a:ext cx="1536" cy="1328"/>
              </a:xfrm>
              <a:prstGeom prst="hexagon">
                <a:avLst>
                  <a:gd name="adj" fmla="val 28915"/>
                  <a:gd name="vf" fmla="val 115470"/>
                </a:avLst>
              </a:prstGeom>
              <a:gradFill rotWithShape="1">
                <a:gsLst>
                  <a:gs pos="0">
                    <a:srgbClr val="E6E6E6">
                      <a:alpha val="100000"/>
                    </a:srgbClr>
                  </a:gs>
                  <a:gs pos="7500">
                    <a:srgbClr val="7D8496">
                      <a:alpha val="100000"/>
                    </a:srgbClr>
                  </a:gs>
                  <a:gs pos="26500">
                    <a:srgbClr val="E6E6E6">
                      <a:alpha val="100000"/>
                    </a:srgbClr>
                  </a:gs>
                  <a:gs pos="34000">
                    <a:srgbClr val="7D8496">
                      <a:alpha val="100000"/>
                    </a:srgbClr>
                  </a:gs>
                  <a:gs pos="46500">
                    <a:srgbClr val="E6E6E6">
                      <a:alpha val="100000"/>
                    </a:srgbClr>
                  </a:gs>
                  <a:gs pos="50000">
                    <a:srgbClr val="FFFFFF">
                      <a:alpha val="100000"/>
                    </a:srgbClr>
                  </a:gs>
                  <a:gs pos="53500">
                    <a:srgbClr val="E6E6E6">
                      <a:alpha val="100000"/>
                    </a:srgbClr>
                  </a:gs>
                  <a:gs pos="66000">
                    <a:srgbClr val="7D8496">
                      <a:alpha val="100000"/>
                    </a:srgbClr>
                  </a:gs>
                  <a:gs pos="73500">
                    <a:srgbClr val="E6E6E6">
                      <a:alpha val="100000"/>
                    </a:srgbClr>
                  </a:gs>
                  <a:gs pos="92500">
                    <a:srgbClr val="7D8496">
                      <a:alpha val="100000"/>
                    </a:srgbClr>
                  </a:gs>
                  <a:gs pos="100000">
                    <a:srgbClr val="E6E6E6">
                      <a:alpha val="100000"/>
                    </a:srgbClr>
                  </a:gs>
                </a:gsLst>
                <a:lin ang="2700000" scaled="1"/>
                <a:tileRect/>
              </a:gradFill>
              <a:ln w="9525" cap="flat" cmpd="sng">
                <a:solidFill>
                  <a:srgbClr val="C0C0C0"/>
                </a:solidFill>
                <a:prstDash val="solid"/>
                <a:miter/>
                <a:headEnd type="none" w="med" len="med"/>
                <a:tailEnd type="none" w="med" len="med"/>
              </a:ln>
            </p:spPr>
            <p:txBody>
              <a:bodyPr wrap="none" anchor="ctr" anchorCtr="0"/>
              <a:p>
                <a:pPr algn="ctr">
                  <a:spcBef>
                    <a:spcPct val="50000"/>
                  </a:spcBef>
                </a:pPr>
                <a:endParaRPr lang="zh-CN" altLang="en-US" sz="1800" dirty="0">
                  <a:latin typeface="Times New Roman" panose="02020603050405020304" pitchFamily="18" charset="0"/>
                </a:endParaRPr>
              </a:p>
            </p:txBody>
          </p:sp>
          <p:sp>
            <p:nvSpPr>
              <p:cNvPr id="49" name="AutoShape 20"/>
              <p:cNvSpPr>
                <a:spLocks noChangeArrowheads="1"/>
              </p:cNvSpPr>
              <p:nvPr/>
            </p:nvSpPr>
            <p:spPr bwMode="gray">
              <a:xfrm>
                <a:off x="1200" y="272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rPr>
                  <a:t>6</a:t>
                </a:r>
                <a:endParaRPr kumimoji="0" lang="zh-CN" altLang="en-US" sz="1800" b="1" i="0" u="none" strike="noStrike" kern="1200" cap="none" spc="0" normalizeH="0" baseline="0" noProof="0" dirty="0">
                  <a:ln>
                    <a:noFill/>
                  </a:ln>
                  <a:solidFill>
                    <a:schemeClr val="bg1"/>
                  </a:solidFill>
                  <a:effectLst/>
                  <a:uLnTx/>
                  <a:uFillTx/>
                  <a:latin typeface="Arial" panose="020B0604020202020204" pitchFamily="34" charset="0"/>
                  <a:ea typeface="宋体" panose="02010600030101010101" pitchFamily="2" charset="-122"/>
                  <a:cs typeface="+mn-cs"/>
                  <a:sym typeface="+mn-ea"/>
                </a:endParaRPr>
              </a:p>
            </p:txBody>
          </p:sp>
        </p:grpSp>
        <p:sp>
          <p:nvSpPr>
            <p:cNvPr id="11285" name="Line 25"/>
            <p:cNvSpPr/>
            <p:nvPr/>
          </p:nvSpPr>
          <p:spPr>
            <a:xfrm>
              <a:off x="2438400" y="4191000"/>
              <a:ext cx="4800600" cy="0"/>
            </a:xfrm>
            <a:prstGeom prst="line">
              <a:avLst/>
            </a:prstGeom>
            <a:ln w="25400" cap="flat" cmpd="sng">
              <a:solidFill>
                <a:srgbClr val="C0C0C0"/>
              </a:solidFill>
              <a:prstDash val="sysDot"/>
              <a:headEnd type="none" w="med" len="med"/>
              <a:tailEnd type="oval" w="med" len="med"/>
            </a:ln>
          </p:spPr>
        </p:sp>
      </p:gr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安全意识</a:t>
            </a:r>
            <a:endParaRPr lang="zh-CN" altLang="en-US" dirty="0">
              <a:ea typeface="宋体" panose="02010600030101010101" pitchFamily="2" charset="-122"/>
            </a:endParaRPr>
          </a:p>
        </p:txBody>
      </p:sp>
      <p:sp>
        <p:nvSpPr>
          <p:cNvPr id="4" name="Rectangle 3"/>
          <p:cNvSpPr>
            <a:spLocks noGrp="1"/>
          </p:cNvSpPr>
          <p:nvPr>
            <p:ph idx="1"/>
          </p:nvPr>
        </p:nvSpPr>
        <p:spPr/>
        <p:txBody>
          <a:bodyPr vert="horz" wrap="square" lIns="91440" tIns="45720" rIns="91440" bIns="45720" anchor="t" anchorCtr="0"/>
          <a:p>
            <a:pPr>
              <a:lnSpc>
                <a:spcPct val="150000"/>
              </a:lnSpc>
              <a:buClr>
                <a:srgbClr val="FB796B"/>
              </a:buClr>
              <a:buSzPct val="65000"/>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sym typeface="+mn-ea"/>
              </a:rPr>
              <a:t>我的计算机为什么突然变慢？</a:t>
            </a:r>
            <a:endParaRPr lang="zh-CN" altLang="en-US" sz="2400" dirty="0">
              <a:solidFill>
                <a:srgbClr val="000000"/>
              </a:solidFill>
              <a:latin typeface="华文仿宋" panose="02010600040101010101" pitchFamily="2" charset="-122"/>
              <a:ea typeface="华文仿宋" panose="02010600040101010101" pitchFamily="2" charset="-122"/>
              <a:sym typeface="+mn-ea"/>
            </a:endParaRPr>
          </a:p>
          <a:p>
            <a:pPr>
              <a:lnSpc>
                <a:spcPct val="150000"/>
              </a:lnSpc>
              <a:buClr>
                <a:srgbClr val="FB796B"/>
              </a:buClr>
              <a:buSzPct val="65000"/>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sym typeface="+mn-ea"/>
              </a:rPr>
              <a:t>我的计算机为什么流量突然增加？ </a:t>
            </a:r>
            <a:endParaRPr lang="zh-CN" altLang="en-US" sz="2400" dirty="0">
              <a:solidFill>
                <a:srgbClr val="000000"/>
              </a:solidFill>
              <a:latin typeface="华文仿宋" panose="02010600040101010101" pitchFamily="2" charset="-122"/>
              <a:ea typeface="华文仿宋" panose="02010600040101010101" pitchFamily="2" charset="-122"/>
              <a:sym typeface="+mn-ea"/>
            </a:endParaRPr>
          </a:p>
          <a:p>
            <a:pPr>
              <a:lnSpc>
                <a:spcPct val="150000"/>
              </a:lnSpc>
              <a:buClr>
                <a:srgbClr val="FB796B"/>
              </a:buClr>
              <a:buSzPct val="65000"/>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sym typeface="+mn-ea"/>
              </a:rPr>
              <a:t>硬盘空间突然变小很多？</a:t>
            </a:r>
            <a:endParaRPr lang="zh-CN" altLang="en-US" sz="2400" dirty="0">
              <a:solidFill>
                <a:srgbClr val="000000"/>
              </a:solidFill>
              <a:latin typeface="华文仿宋" panose="02010600040101010101" pitchFamily="2" charset="-122"/>
              <a:ea typeface="华文仿宋" panose="02010600040101010101" pitchFamily="2" charset="-122"/>
              <a:sym typeface="+mn-ea"/>
            </a:endParaRPr>
          </a:p>
          <a:p>
            <a:pPr>
              <a:lnSpc>
                <a:spcPct val="150000"/>
              </a:lnSpc>
              <a:buClr>
                <a:srgbClr val="FB796B"/>
              </a:buClr>
              <a:buSzPct val="65000"/>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sym typeface="+mn-ea"/>
              </a:rPr>
              <a:t>我的计算机安装了防病毒软件，为什么还是发现病毒？ </a:t>
            </a:r>
            <a:endParaRPr lang="zh-CN" altLang="en-US" sz="2400" dirty="0">
              <a:solidFill>
                <a:srgbClr val="000000"/>
              </a:solidFill>
              <a:latin typeface="华文仿宋" panose="02010600040101010101" pitchFamily="2" charset="-122"/>
              <a:ea typeface="华文仿宋" panose="02010600040101010101" pitchFamily="2" charset="-122"/>
              <a:sym typeface="+mn-ea"/>
            </a:endParaRPr>
          </a:p>
          <a:p>
            <a:pPr>
              <a:lnSpc>
                <a:spcPct val="150000"/>
              </a:lnSpc>
              <a:buClr>
                <a:srgbClr val="FB796B"/>
              </a:buClr>
              <a:buSzPct val="65000"/>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sym typeface="+mn-ea"/>
              </a:rPr>
              <a:t>我的计算机为什么突然丢失文件，而且多了一个未知的账号？ </a:t>
            </a:r>
            <a:endParaRPr lang="zh-CN" altLang="en-US" sz="2400" dirty="0">
              <a:solidFill>
                <a:srgbClr val="000000"/>
              </a:solidFill>
              <a:latin typeface="华文仿宋" panose="02010600040101010101" pitchFamily="2" charset="-122"/>
              <a:ea typeface="华文仿宋" panose="02010600040101010101" pitchFamily="2" charset="-122"/>
              <a:sym typeface="+mn-ea"/>
            </a:endParaRPr>
          </a:p>
          <a:p>
            <a:pPr>
              <a:lnSpc>
                <a:spcPct val="150000"/>
              </a:lnSpc>
              <a:buClr>
                <a:srgbClr val="FB796B"/>
              </a:buClr>
              <a:buSzPct val="65000"/>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sym typeface="+mn-ea"/>
              </a:rPr>
              <a:t>计算机安装了操作系统补丁（ </a:t>
            </a:r>
            <a:r>
              <a:rPr lang="en-US" altLang="zh-CN" sz="2400" dirty="0">
                <a:solidFill>
                  <a:srgbClr val="000000"/>
                </a:solidFill>
                <a:latin typeface="华文仿宋" panose="02010600040101010101" pitchFamily="2" charset="-122"/>
                <a:ea typeface="华文仿宋" panose="02010600040101010101" pitchFamily="2" charset="-122"/>
                <a:sym typeface="+mn-ea"/>
              </a:rPr>
              <a:t>windows update </a:t>
            </a:r>
            <a:r>
              <a:rPr lang="zh-CN" altLang="en-US" sz="2400" dirty="0">
                <a:solidFill>
                  <a:srgbClr val="000000"/>
                </a:solidFill>
                <a:latin typeface="华文仿宋" panose="02010600040101010101" pitchFamily="2" charset="-122"/>
                <a:ea typeface="华文仿宋" panose="02010600040101010101" pitchFamily="2" charset="-122"/>
                <a:sym typeface="+mn-ea"/>
              </a:rPr>
              <a:t>），安装了防病毒软件，而且也按时升级病毒定义文件，为什么还是被种了木马程序？ </a:t>
            </a:r>
            <a:endParaRPr lang="zh-CN" altLang="en-US" sz="2400" dirty="0">
              <a:solidFill>
                <a:srgbClr val="000000"/>
              </a:solidFill>
              <a:latin typeface="华文仿宋" panose="02010600040101010101" pitchFamily="2" charset="-122"/>
              <a:ea typeface="华文仿宋" panose="02010600040101010101" pitchFamily="2"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charRg st="0" end="14"/>
                                            </p:txEl>
                                          </p:spTgt>
                                        </p:tgtEl>
                                        <p:attrNameLst>
                                          <p:attrName>style.visibility</p:attrName>
                                        </p:attrNameLst>
                                      </p:cBhvr>
                                      <p:to>
                                        <p:strVal val="visible"/>
                                      </p:to>
                                    </p:set>
                                    <p:animEffect transition="in" filter="blinds(horizontal)">
                                      <p:cBhvr>
                                        <p:cTn id="7" dur="500"/>
                                        <p:tgtEl>
                                          <p:spTgt spid="4">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charRg st="14" end="31"/>
                                            </p:txEl>
                                          </p:spTgt>
                                        </p:tgtEl>
                                        <p:attrNameLst>
                                          <p:attrName>style.visibility</p:attrName>
                                        </p:attrNameLst>
                                      </p:cBhvr>
                                      <p:to>
                                        <p:strVal val="visible"/>
                                      </p:to>
                                    </p:set>
                                    <p:animEffect transition="in" filter="blinds(horizontal)">
                                      <p:cBhvr>
                                        <p:cTn id="12" dur="500"/>
                                        <p:tgtEl>
                                          <p:spTgt spid="4">
                                            <p:txEl>
                                              <p:charRg st="14"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4">
                                            <p:txEl>
                                              <p:charRg st="31" end="43"/>
                                            </p:txEl>
                                          </p:spTgt>
                                        </p:tgtEl>
                                        <p:attrNameLst>
                                          <p:attrName>style.visibility</p:attrName>
                                        </p:attrNameLst>
                                      </p:cBhvr>
                                      <p:to>
                                        <p:strVal val="visible"/>
                                      </p:to>
                                    </p:set>
                                    <p:animEffect transition="in" filter="box(in)">
                                      <p:cBhvr>
                                        <p:cTn id="17" dur="500"/>
                                        <p:tgtEl>
                                          <p:spTgt spid="4">
                                            <p:txEl>
                                              <p:charRg st="31" end="4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4">
                                            <p:txEl>
                                              <p:charRg st="43" end="69"/>
                                            </p:txEl>
                                          </p:spTgt>
                                        </p:tgtEl>
                                        <p:attrNameLst>
                                          <p:attrName>style.visibility</p:attrName>
                                        </p:attrNameLst>
                                      </p:cBhvr>
                                      <p:to>
                                        <p:strVal val="visible"/>
                                      </p:to>
                                    </p:set>
                                    <p:animEffect transition="in" filter="diamond(in)">
                                      <p:cBhvr>
                                        <p:cTn id="22" dur="2000"/>
                                        <p:tgtEl>
                                          <p:spTgt spid="4">
                                            <p:txEl>
                                              <p:charRg st="43" end="6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
                                            <p:txEl>
                                              <p:charRg st="69" end="98"/>
                                            </p:txEl>
                                          </p:spTgt>
                                        </p:tgtEl>
                                        <p:attrNameLst>
                                          <p:attrName>style.visibility</p:attrName>
                                        </p:attrNameLst>
                                      </p:cBhvr>
                                      <p:to>
                                        <p:strVal val="visible"/>
                                      </p:to>
                                    </p:set>
                                    <p:animEffect transition="in" filter="checkerboard(across)">
                                      <p:cBhvr>
                                        <p:cTn id="27" dur="500"/>
                                        <p:tgtEl>
                                          <p:spTgt spid="4">
                                            <p:txEl>
                                              <p:charRg st="69" end="9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4">
                                            <p:txEl>
                                              <p:charRg st="98" end="167"/>
                                            </p:txEl>
                                          </p:spTgt>
                                        </p:tgtEl>
                                        <p:attrNameLst>
                                          <p:attrName>style.visibility</p:attrName>
                                        </p:attrNameLst>
                                      </p:cBhvr>
                                      <p:to>
                                        <p:strVal val="visible"/>
                                      </p:to>
                                    </p:set>
                                    <p:animEffect transition="in" filter="box(in)">
                                      <p:cBhvr>
                                        <p:cTn id="32" dur="500"/>
                                        <p:tgtEl>
                                          <p:spTgt spid="4">
                                            <p:txEl>
                                              <p:charRg st="98" end="1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标题 1"/>
          <p:cNvSpPr>
            <a:spLocks noGrp="1"/>
          </p:cNvSpPr>
          <p:nvPr>
            <p:ph type="title"/>
          </p:nvPr>
        </p:nvSpPr>
        <p:spPr/>
        <p:txBody>
          <a:bodyPr vert="horz" wrap="square" lIns="91440" tIns="45720" rIns="91440" bIns="45720" anchor="ctr" anchorCtr="0"/>
          <a:p>
            <a:r>
              <a:rPr lang="zh-CN" altLang="en-US" dirty="0">
                <a:ea typeface="宋体" panose="02010600030101010101" pitchFamily="2" charset="-122"/>
              </a:rPr>
              <a:t>理解   安全与不安全</a:t>
            </a:r>
            <a:endParaRPr lang="zh-CN" altLang="en-US" dirty="0">
              <a:ea typeface="宋体" panose="02010600030101010101" pitchFamily="2" charset="-122"/>
            </a:endParaRPr>
          </a:p>
        </p:txBody>
      </p:sp>
      <p:sp>
        <p:nvSpPr>
          <p:cNvPr id="9219" name="内容占位符 2"/>
          <p:cNvSpPr>
            <a:spLocks noGrp="1"/>
          </p:cNvSpPr>
          <p:nvPr>
            <p:ph idx="1"/>
          </p:nvPr>
        </p:nvSpPr>
        <p:spPr>
          <a:xfrm>
            <a:off x="457200" y="1219200"/>
            <a:ext cx="8458200" cy="5105400"/>
          </a:xfrm>
        </p:spPr>
        <p:txBody>
          <a:bodyPr vert="horz" wrap="square" lIns="91440" tIns="45720" rIns="91440" bIns="45720" anchor="t" anchorCtr="0"/>
          <a:p>
            <a:pPr>
              <a:buFont typeface="Wingdings" panose="05000000000000000000" pitchFamily="2" charset="2"/>
              <a:buChar char="Ø"/>
            </a:pPr>
            <a:r>
              <a:rPr lang="zh-CN" altLang="en-US" sz="2800" dirty="0">
                <a:solidFill>
                  <a:srgbClr val="000000"/>
                </a:solidFill>
                <a:latin typeface="华文仿宋" panose="02010600040101010101" pitchFamily="2" charset="-122"/>
                <a:ea typeface="华文仿宋" panose="02010600040101010101" pitchFamily="2" charset="-122"/>
              </a:rPr>
              <a:t>讨论：举例说明什么是不安全？</a:t>
            </a:r>
            <a:endParaRPr lang="en-US" altLang="zh-CN" sz="2800" dirty="0">
              <a:solidFill>
                <a:srgbClr val="000000"/>
              </a:solidFill>
              <a:latin typeface="华文仿宋" panose="02010600040101010101" pitchFamily="2" charset="-122"/>
              <a:ea typeface="华文仿宋" panose="02010600040101010101" pitchFamily="2" charset="-122"/>
            </a:endParaRPr>
          </a:p>
          <a:p>
            <a:pPr>
              <a:lnSpc>
                <a:spcPct val="150000"/>
              </a:lnSpc>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rPr>
              <a:t>上网正开心的时候，</a:t>
            </a:r>
            <a:r>
              <a:rPr lang="en-US" altLang="zh-CN" sz="2400" dirty="0">
                <a:solidFill>
                  <a:srgbClr val="000000"/>
                </a:solidFill>
                <a:latin typeface="华文仿宋" panose="02010600040101010101" pitchFamily="2" charset="-122"/>
                <a:ea typeface="华文仿宋" panose="02010600040101010101" pitchFamily="2" charset="-122"/>
              </a:rPr>
              <a:t>IE</a:t>
            </a:r>
            <a:r>
              <a:rPr lang="zh-CN" altLang="en-US" sz="2400" dirty="0">
                <a:solidFill>
                  <a:srgbClr val="000000"/>
                </a:solidFill>
                <a:latin typeface="华文仿宋" panose="02010600040101010101" pitchFamily="2" charset="-122"/>
                <a:ea typeface="华文仿宋" panose="02010600040101010101" pitchFamily="2" charset="-122"/>
              </a:rPr>
              <a:t>窗口不停的打开，最后直到资源耗尽死机！！</a:t>
            </a:r>
            <a:endParaRPr lang="en-US" altLang="zh-CN" sz="2400" dirty="0">
              <a:solidFill>
                <a:srgbClr val="000000"/>
              </a:solidFill>
              <a:latin typeface="华文仿宋" panose="02010600040101010101" pitchFamily="2" charset="-122"/>
              <a:ea typeface="华文仿宋" panose="02010600040101010101" pitchFamily="2" charset="-122"/>
            </a:endParaRPr>
          </a:p>
          <a:p>
            <a:pPr>
              <a:lnSpc>
                <a:spcPct val="150000"/>
              </a:lnSpc>
              <a:buFont typeface="Wingdings" panose="05000000000000000000" pitchFamily="2" charset="2"/>
              <a:buChar char="Ø"/>
            </a:pPr>
            <a:r>
              <a:rPr lang="en-US" altLang="zh-CN" sz="2400" dirty="0">
                <a:solidFill>
                  <a:srgbClr val="000000"/>
                </a:solidFill>
                <a:latin typeface="华文仿宋" panose="02010600040101010101" pitchFamily="2" charset="-122"/>
                <a:ea typeface="华文仿宋" panose="02010600040101010101" pitchFamily="2" charset="-122"/>
              </a:rPr>
              <a:t>QQ</a:t>
            </a:r>
            <a:r>
              <a:rPr lang="zh-CN" altLang="en-US" sz="2400" dirty="0">
                <a:solidFill>
                  <a:srgbClr val="000000"/>
                </a:solidFill>
                <a:latin typeface="华文仿宋" panose="02010600040101010101" pitchFamily="2" charset="-122"/>
                <a:ea typeface="华文仿宋" panose="02010600040101010101" pitchFamily="2" charset="-122"/>
              </a:rPr>
              <a:t>被盗，在网上被拍卖，如何要回心爱的</a:t>
            </a:r>
            <a:r>
              <a:rPr lang="en-US" altLang="zh-CN" sz="2400" dirty="0">
                <a:solidFill>
                  <a:srgbClr val="000000"/>
                </a:solidFill>
                <a:latin typeface="华文仿宋" panose="02010600040101010101" pitchFamily="2" charset="-122"/>
                <a:ea typeface="华文仿宋" panose="02010600040101010101" pitchFamily="2" charset="-122"/>
              </a:rPr>
              <a:t>QQ</a:t>
            </a:r>
            <a:r>
              <a:rPr lang="zh-CN" altLang="en-US" sz="2400" dirty="0">
                <a:solidFill>
                  <a:srgbClr val="000000"/>
                </a:solidFill>
                <a:latin typeface="华文仿宋" panose="02010600040101010101" pitchFamily="2" charset="-122"/>
                <a:ea typeface="华文仿宋" panose="02010600040101010101" pitchFamily="2" charset="-122"/>
              </a:rPr>
              <a:t>呢？？</a:t>
            </a:r>
            <a:endParaRPr lang="en-US" altLang="zh-CN" sz="2400" dirty="0">
              <a:solidFill>
                <a:srgbClr val="000000"/>
              </a:solidFill>
              <a:latin typeface="华文仿宋" panose="02010600040101010101" pitchFamily="2" charset="-122"/>
              <a:ea typeface="华文仿宋" panose="02010600040101010101" pitchFamily="2" charset="-122"/>
            </a:endParaRPr>
          </a:p>
          <a:p>
            <a:pPr>
              <a:lnSpc>
                <a:spcPct val="150000"/>
              </a:lnSpc>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rPr>
              <a:t>大雨天，突然霹雳一声，微机室里靠窗户的电脑全部断线，什么原因？</a:t>
            </a:r>
            <a:endParaRPr lang="en-US" altLang="zh-CN" sz="2400" dirty="0">
              <a:solidFill>
                <a:srgbClr val="000000"/>
              </a:solidFill>
              <a:latin typeface="华文仿宋" panose="02010600040101010101" pitchFamily="2" charset="-122"/>
              <a:ea typeface="华文仿宋" panose="02010600040101010101" pitchFamily="2" charset="-122"/>
            </a:endParaRPr>
          </a:p>
          <a:p>
            <a:pPr>
              <a:lnSpc>
                <a:spcPct val="150000"/>
              </a:lnSpc>
              <a:buFont typeface="Wingdings" panose="05000000000000000000" pitchFamily="2" charset="2"/>
              <a:buChar char="Ø"/>
            </a:pPr>
            <a:r>
              <a:rPr lang="zh-CN" altLang="en-US" sz="2400" dirty="0">
                <a:solidFill>
                  <a:srgbClr val="000000"/>
                </a:solidFill>
                <a:latin typeface="华文仿宋" panose="02010600040101010101" pitchFamily="2" charset="-122"/>
                <a:ea typeface="华文仿宋" panose="02010600040101010101" pitchFamily="2" charset="-122"/>
              </a:rPr>
              <a:t>中国银行、工商银行等被克隆，似是而非的假银行网站具有欺骗性，呼和浩特市民登录，卡里的</a:t>
            </a:r>
            <a:r>
              <a:rPr lang="en-US" altLang="zh-CN" sz="2400" dirty="0">
                <a:solidFill>
                  <a:srgbClr val="000000"/>
                </a:solidFill>
                <a:latin typeface="华文仿宋" panose="02010600040101010101" pitchFamily="2" charset="-122"/>
                <a:ea typeface="华文仿宋" panose="02010600040101010101" pitchFamily="2" charset="-122"/>
              </a:rPr>
              <a:t>2.5</a:t>
            </a:r>
            <a:r>
              <a:rPr lang="zh-CN" altLang="en-US" sz="2400" dirty="0">
                <a:solidFill>
                  <a:srgbClr val="000000"/>
                </a:solidFill>
                <a:latin typeface="华文仿宋" panose="02010600040101010101" pitchFamily="2" charset="-122"/>
                <a:ea typeface="华文仿宋" panose="02010600040101010101" pitchFamily="2" charset="-122"/>
              </a:rPr>
              <a:t>万不翼而飞！！</a:t>
            </a:r>
            <a:endParaRPr lang="en-US" altLang="zh-CN" sz="2400" dirty="0">
              <a:solidFill>
                <a:srgbClr val="000000"/>
              </a:solidFill>
              <a:latin typeface="华文仿宋" panose="02010600040101010101" pitchFamily="2" charset="-122"/>
              <a:ea typeface="华文仿宋" panose="02010600040101010101" pitchFamily="2" charset="-122"/>
            </a:endParaRPr>
          </a:p>
          <a:p>
            <a:pPr>
              <a:lnSpc>
                <a:spcPct val="150000"/>
              </a:lnSpc>
              <a:buFont typeface="Wingdings" panose="05000000000000000000" pitchFamily="2" charset="2"/>
              <a:buChar char="l"/>
            </a:pPr>
            <a:r>
              <a:rPr lang="zh-CN" altLang="en-US" sz="2400" b="1" dirty="0">
                <a:solidFill>
                  <a:srgbClr val="FF0000"/>
                </a:solidFill>
                <a:latin typeface="华文仿宋" panose="02010600040101010101" pitchFamily="2" charset="-122"/>
                <a:ea typeface="华文仿宋" panose="02010600040101010101" pitchFamily="2" charset="-122"/>
              </a:rPr>
              <a:t>安全：没有危险；不受威胁；不出事故</a:t>
            </a:r>
            <a:endParaRPr lang="en-US" altLang="zh-CN" sz="2400" b="1" dirty="0">
              <a:solidFill>
                <a:srgbClr val="FF0000"/>
              </a:solidFill>
              <a:latin typeface="华文仿宋" panose="02010600040101010101" pitchFamily="2" charset="-122"/>
              <a:ea typeface="华文仿宋" panose="02010600040101010101" pitchFamily="2" charset="-122"/>
            </a:endParaRPr>
          </a:p>
          <a:p>
            <a:pPr>
              <a:lnSpc>
                <a:spcPct val="150000"/>
              </a:lnSpc>
              <a:buFont typeface="Wingdings" panose="05000000000000000000" pitchFamily="2" charset="2"/>
              <a:buChar char="Ø"/>
            </a:pPr>
            <a:endParaRPr lang="en-US" altLang="zh-CN" sz="2400" dirty="0">
              <a:ea typeface="宋体" panose="02010600030101010101" pitchFamily="2" charset="-122"/>
            </a:endParaRPr>
          </a:p>
          <a:p>
            <a:pPr>
              <a:buFont typeface="Wingdings" panose="05000000000000000000" pitchFamily="2" charset="2"/>
              <a:buChar char="Ø"/>
            </a:pPr>
            <a:endParaRPr lang="zh-CN" altLang="en-US" dirty="0">
              <a:ea typeface="宋体" panose="02010600030101010101" pitchFamily="2" charset="-122"/>
            </a:endParaRPr>
          </a:p>
          <a:p>
            <a:pPr>
              <a:buFont typeface="Wingdings" panose="05000000000000000000" pitchFamily="2" charset="2"/>
              <a:buChar char="v"/>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charRg st="15" end="47"/>
                                            </p:txEl>
                                          </p:spTgt>
                                        </p:tgtEl>
                                        <p:attrNameLst>
                                          <p:attrName>style.visibility</p:attrName>
                                        </p:attrNameLst>
                                      </p:cBhvr>
                                      <p:to>
                                        <p:strVal val="visible"/>
                                      </p:to>
                                    </p:set>
                                    <p:anim calcmode="lin" valueType="num">
                                      <p:cBhvr additive="base">
                                        <p:cTn id="7" dur="500" fill="hold"/>
                                        <p:tgtEl>
                                          <p:spTgt spid="9219">
                                            <p:txEl>
                                              <p:charRg st="15" end="4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charRg st="15" end="4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9219">
                                            <p:txEl>
                                              <p:charRg st="47" end="72"/>
                                            </p:txEl>
                                          </p:spTgt>
                                        </p:tgtEl>
                                        <p:attrNameLst>
                                          <p:attrName>style.visibility</p:attrName>
                                        </p:attrNameLst>
                                      </p:cBhvr>
                                      <p:to>
                                        <p:strVal val="visible"/>
                                      </p:to>
                                    </p:set>
                                    <p:animEffect transition="in" filter="fade">
                                      <p:cBhvr>
                                        <p:cTn id="13" dur="1000"/>
                                        <p:tgtEl>
                                          <p:spTgt spid="9219">
                                            <p:txEl>
                                              <p:charRg st="47" end="72"/>
                                            </p:txEl>
                                          </p:spTgt>
                                        </p:tgtEl>
                                      </p:cBhvr>
                                    </p:animEffect>
                                    <p:anim calcmode="lin" valueType="num">
                                      <p:cBhvr>
                                        <p:cTn id="14" dur="1000" fill="hold"/>
                                        <p:tgtEl>
                                          <p:spTgt spid="9219">
                                            <p:txEl>
                                              <p:charRg st="47" end="72"/>
                                            </p:txEl>
                                          </p:spTgt>
                                        </p:tgtEl>
                                        <p:attrNameLst>
                                          <p:attrName>ppt_x</p:attrName>
                                        </p:attrNameLst>
                                      </p:cBhvr>
                                      <p:tavLst>
                                        <p:tav tm="0">
                                          <p:val>
                                            <p:strVal val="#ppt_x"/>
                                          </p:val>
                                        </p:tav>
                                        <p:tav tm="100000">
                                          <p:val>
                                            <p:strVal val="#ppt_x"/>
                                          </p:val>
                                        </p:tav>
                                      </p:tavLst>
                                    </p:anim>
                                    <p:anim calcmode="lin" valueType="num">
                                      <p:cBhvr>
                                        <p:cTn id="15" dur="1000" fill="hold"/>
                                        <p:tgtEl>
                                          <p:spTgt spid="9219">
                                            <p:txEl>
                                              <p:charRg st="47" end="7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9219">
                                            <p:txEl>
                                              <p:charRg st="72" end="104"/>
                                            </p:txEl>
                                          </p:spTgt>
                                        </p:tgtEl>
                                        <p:attrNameLst>
                                          <p:attrName>style.visibility</p:attrName>
                                        </p:attrNameLst>
                                      </p:cBhvr>
                                      <p:to>
                                        <p:strVal val="visible"/>
                                      </p:to>
                                    </p:set>
                                    <p:anim calcmode="lin" valueType="num">
                                      <p:cBhvr additive="base">
                                        <p:cTn id="20" dur="500" fill="hold"/>
                                        <p:tgtEl>
                                          <p:spTgt spid="9219">
                                            <p:txEl>
                                              <p:charRg st="72" end="10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9219">
                                            <p:txEl>
                                              <p:charRg st="72" end="104"/>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9219">
                                            <p:txEl>
                                              <p:charRg st="104" end="157"/>
                                            </p:txEl>
                                          </p:spTgt>
                                        </p:tgtEl>
                                        <p:attrNameLst>
                                          <p:attrName>style.visibility</p:attrName>
                                        </p:attrNameLst>
                                      </p:cBhvr>
                                      <p:to>
                                        <p:strVal val="visible"/>
                                      </p:to>
                                    </p:set>
                                    <p:anim calcmode="lin" valueType="num">
                                      <p:cBhvr additive="base">
                                        <p:cTn id="26" dur="500" fill="hold"/>
                                        <p:tgtEl>
                                          <p:spTgt spid="9219">
                                            <p:txEl>
                                              <p:charRg st="104" end="157"/>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9219">
                                            <p:txEl>
                                              <p:charRg st="104" end="157"/>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9219">
                                            <p:txEl>
                                              <p:charRg st="157" end="175"/>
                                            </p:txEl>
                                          </p:spTgt>
                                        </p:tgtEl>
                                        <p:attrNameLst>
                                          <p:attrName>style.visibility</p:attrName>
                                        </p:attrNameLst>
                                      </p:cBhvr>
                                      <p:to>
                                        <p:strVal val="visible"/>
                                      </p:to>
                                    </p:set>
                                    <p:animEffect transition="in" filter="barn(inVertical)">
                                      <p:cBhvr>
                                        <p:cTn id="32" dur="500"/>
                                        <p:tgtEl>
                                          <p:spTgt spid="9219">
                                            <p:txEl>
                                              <p:charRg st="157"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信息安全的现状</a:t>
            </a:r>
            <a:endParaRPr lang="zh-CN" altLang="en-US" b="1" dirty="0">
              <a:ea typeface="宋体" panose="02010600030101010101" pitchFamily="2" charset="-122"/>
            </a:endParaRPr>
          </a:p>
        </p:txBody>
      </p:sp>
      <p:sp>
        <p:nvSpPr>
          <p:cNvPr id="19459" name="内容占位符 2"/>
          <p:cNvSpPr>
            <a:spLocks noGrp="1"/>
          </p:cNvSpPr>
          <p:nvPr>
            <p:ph idx="1"/>
          </p:nvPr>
        </p:nvSpPr>
        <p:spPr>
          <a:xfrm>
            <a:off x="304800" y="1905000"/>
            <a:ext cx="8229600" cy="3124200"/>
          </a:xfrm>
        </p:spPr>
        <p:txBody>
          <a:bodyPr vert="horz" wrap="square" lIns="91440" tIns="45720" rIns="91440" bIns="45720" anchor="t" anchorCtr="0"/>
          <a:p>
            <a:pPr marL="342900" lvl="1" indent="-342900">
              <a:lnSpc>
                <a:spcPct val="150000"/>
              </a:lnSpc>
              <a:buClr>
                <a:schemeClr val="tx2"/>
              </a:buClr>
              <a:buFont typeface="Wingdings" panose="05000000000000000000" pitchFamily="2" charset="2"/>
              <a:buChar char="Ø"/>
            </a:pPr>
            <a:r>
              <a:rPr lang="en-US" altLang="zh-CN" sz="2400" b="1" dirty="0">
                <a:solidFill>
                  <a:srgbClr val="000000"/>
                </a:solidFill>
                <a:latin typeface="华文仿宋" panose="02010600040101010101" pitchFamily="2" charset="-122"/>
                <a:ea typeface="华文仿宋" panose="02010600040101010101" pitchFamily="2" charset="-122"/>
              </a:rPr>
              <a:t>1988</a:t>
            </a:r>
            <a:r>
              <a:rPr lang="zh-CN" altLang="zh-CN" sz="2400" b="1" dirty="0">
                <a:solidFill>
                  <a:srgbClr val="000000"/>
                </a:solidFill>
                <a:latin typeface="华文仿宋" panose="02010600040101010101" pitchFamily="2" charset="-122"/>
                <a:ea typeface="华文仿宋" panose="02010600040101010101" pitchFamily="2" charset="-122"/>
              </a:rPr>
              <a:t>年</a:t>
            </a:r>
            <a:r>
              <a:rPr lang="en-US" altLang="zh-CN" sz="2400" b="1" dirty="0">
                <a:solidFill>
                  <a:srgbClr val="000000"/>
                </a:solidFill>
                <a:latin typeface="华文仿宋" panose="02010600040101010101" pitchFamily="2" charset="-122"/>
                <a:ea typeface="华文仿宋" panose="02010600040101010101" pitchFamily="2" charset="-122"/>
              </a:rPr>
              <a:t>11</a:t>
            </a:r>
            <a:r>
              <a:rPr lang="zh-CN" altLang="zh-CN" sz="2400" b="1" dirty="0">
                <a:solidFill>
                  <a:srgbClr val="000000"/>
                </a:solidFill>
                <a:latin typeface="华文仿宋" panose="02010600040101010101" pitchFamily="2" charset="-122"/>
                <a:ea typeface="华文仿宋" panose="02010600040101010101" pitchFamily="2" charset="-122"/>
              </a:rPr>
              <a:t>月</a:t>
            </a:r>
            <a:r>
              <a:rPr lang="en-US" altLang="zh-CN" sz="2400" b="1" dirty="0">
                <a:solidFill>
                  <a:srgbClr val="000000"/>
                </a:solidFill>
                <a:latin typeface="华文仿宋" panose="02010600040101010101" pitchFamily="2" charset="-122"/>
                <a:ea typeface="华文仿宋" panose="02010600040101010101" pitchFamily="2" charset="-122"/>
              </a:rPr>
              <a:t>2</a:t>
            </a:r>
            <a:r>
              <a:rPr lang="zh-CN" altLang="zh-CN" sz="2400" b="1" dirty="0">
                <a:solidFill>
                  <a:srgbClr val="000000"/>
                </a:solidFill>
                <a:latin typeface="华文仿宋" panose="02010600040101010101" pitchFamily="2" charset="-122"/>
                <a:ea typeface="华文仿宋" panose="02010600040101010101" pitchFamily="2" charset="-122"/>
              </a:rPr>
              <a:t>日，康奈尔大学的研究生罗伯特</a:t>
            </a:r>
            <a:r>
              <a:rPr lang="en-US" altLang="zh-CN" sz="2400" b="1" dirty="0">
                <a:solidFill>
                  <a:srgbClr val="000000"/>
                </a:solidFill>
                <a:latin typeface="华文仿宋" panose="02010600040101010101" pitchFamily="2" charset="-122"/>
                <a:ea typeface="华文仿宋" panose="02010600040101010101" pitchFamily="2" charset="-122"/>
              </a:rPr>
              <a:t>.</a:t>
            </a:r>
            <a:r>
              <a:rPr lang="zh-CN" altLang="zh-CN" sz="2400" b="1" dirty="0">
                <a:solidFill>
                  <a:srgbClr val="000000"/>
                </a:solidFill>
                <a:latin typeface="华文仿宋" panose="02010600040101010101" pitchFamily="2" charset="-122"/>
                <a:ea typeface="华文仿宋" panose="02010600040101010101" pitchFamily="2" charset="-122"/>
              </a:rPr>
              <a:t>莫里斯</a:t>
            </a:r>
            <a:r>
              <a:rPr lang="en-US" altLang="zh-CN" sz="2400" b="1" dirty="0">
                <a:solidFill>
                  <a:srgbClr val="000000"/>
                </a:solidFill>
                <a:latin typeface="华文仿宋" panose="02010600040101010101" pitchFamily="2" charset="-122"/>
                <a:ea typeface="华文仿宋" panose="02010600040101010101" pitchFamily="2" charset="-122"/>
              </a:rPr>
              <a:t>(22</a:t>
            </a:r>
            <a:r>
              <a:rPr lang="zh-CN" altLang="zh-CN" sz="2400" b="1" dirty="0">
                <a:solidFill>
                  <a:srgbClr val="000000"/>
                </a:solidFill>
                <a:latin typeface="华文仿宋" panose="02010600040101010101" pitchFamily="2" charset="-122"/>
                <a:ea typeface="华文仿宋" panose="02010600040101010101" pitchFamily="2" charset="-122"/>
              </a:rPr>
              <a:t>岁</a:t>
            </a:r>
            <a:r>
              <a:rPr lang="en-US" altLang="zh-CN" sz="2400" b="1" dirty="0">
                <a:solidFill>
                  <a:srgbClr val="000000"/>
                </a:solidFill>
                <a:latin typeface="华文仿宋" panose="02010600040101010101" pitchFamily="2" charset="-122"/>
                <a:ea typeface="华文仿宋" panose="02010600040101010101" pitchFamily="2" charset="-122"/>
              </a:rPr>
              <a:t>)</a:t>
            </a:r>
            <a:r>
              <a:rPr lang="zh-CN" altLang="zh-CN" sz="2400" b="1" dirty="0">
                <a:solidFill>
                  <a:srgbClr val="000000"/>
                </a:solidFill>
                <a:latin typeface="华文仿宋" panose="02010600040101010101" pitchFamily="2" charset="-122"/>
                <a:ea typeface="华文仿宋" panose="02010600040101010101" pitchFamily="2" charset="-122"/>
              </a:rPr>
              <a:t>设计了第一个蠕虫程序，设计初始目的是验证网络中自动传播程序的可行性。</a:t>
            </a:r>
            <a:endParaRPr lang="en-US" altLang="zh-CN" sz="2400" b="1" dirty="0">
              <a:solidFill>
                <a:srgbClr val="000000"/>
              </a:solidFill>
              <a:latin typeface="华文仿宋" panose="02010600040101010101" pitchFamily="2" charset="-122"/>
              <a:ea typeface="华文仿宋" panose="02010600040101010101" pitchFamily="2" charset="-122"/>
            </a:endParaRPr>
          </a:p>
          <a:p>
            <a:pPr marL="342900" lvl="1" indent="-342900">
              <a:lnSpc>
                <a:spcPct val="150000"/>
              </a:lnSpc>
              <a:buClr>
                <a:schemeClr val="tx2"/>
              </a:buClr>
              <a:buFont typeface="Wingdings" panose="05000000000000000000" pitchFamily="2" charset="2"/>
              <a:buChar char="Ø"/>
            </a:pPr>
            <a:endParaRPr lang="en-US" altLang="zh-CN" sz="2400" b="1" dirty="0">
              <a:solidFill>
                <a:srgbClr val="000000"/>
              </a:solidFill>
              <a:latin typeface="华文仿宋" panose="02010600040101010101" pitchFamily="2" charset="-122"/>
              <a:ea typeface="华文仿宋" panose="02010600040101010101" pitchFamily="2" charset="-122"/>
            </a:endParaRPr>
          </a:p>
          <a:p>
            <a:pPr marL="342900" lvl="1" indent="-342900">
              <a:lnSpc>
                <a:spcPct val="150000"/>
              </a:lnSpc>
              <a:buClr>
                <a:schemeClr val="tx2"/>
              </a:buClr>
              <a:buFont typeface="Wingdings" panose="05000000000000000000" pitchFamily="2" charset="2"/>
              <a:buChar char="Ø"/>
            </a:pPr>
            <a:r>
              <a:rPr lang="en-US" altLang="zh-CN" sz="2400" b="1" dirty="0">
                <a:solidFill>
                  <a:srgbClr val="000000"/>
                </a:solidFill>
                <a:latin typeface="华文仿宋" panose="02010600040101010101" pitchFamily="2" charset="-122"/>
                <a:ea typeface="华文仿宋" panose="02010600040101010101" pitchFamily="2" charset="-122"/>
              </a:rPr>
              <a:t>2000</a:t>
            </a:r>
            <a:r>
              <a:rPr lang="zh-CN" altLang="zh-CN" sz="2400" b="1" dirty="0">
                <a:solidFill>
                  <a:srgbClr val="000000"/>
                </a:solidFill>
                <a:latin typeface="华文仿宋" panose="02010600040101010101" pitchFamily="2" charset="-122"/>
                <a:ea typeface="华文仿宋" panose="02010600040101010101" pitchFamily="2" charset="-122"/>
              </a:rPr>
              <a:t>年</a:t>
            </a:r>
            <a:r>
              <a:rPr lang="en-US" altLang="zh-CN" sz="2400" b="1" dirty="0">
                <a:solidFill>
                  <a:srgbClr val="000000"/>
                </a:solidFill>
                <a:latin typeface="华文仿宋" panose="02010600040101010101" pitchFamily="2" charset="-122"/>
                <a:ea typeface="华文仿宋" panose="02010600040101010101" pitchFamily="2" charset="-122"/>
              </a:rPr>
              <a:t>5</a:t>
            </a:r>
            <a:r>
              <a:rPr lang="zh-CN" altLang="zh-CN" sz="2400" b="1" dirty="0">
                <a:solidFill>
                  <a:srgbClr val="000000"/>
                </a:solidFill>
                <a:latin typeface="华文仿宋" panose="02010600040101010101" pitchFamily="2" charset="-122"/>
                <a:ea typeface="华文仿宋" panose="02010600040101010101" pitchFamily="2" charset="-122"/>
              </a:rPr>
              <a:t>月</a:t>
            </a:r>
            <a:r>
              <a:rPr lang="en-US" altLang="zh-CN" sz="2400" b="1" dirty="0">
                <a:solidFill>
                  <a:srgbClr val="000000"/>
                </a:solidFill>
                <a:latin typeface="华文仿宋" panose="02010600040101010101" pitchFamily="2" charset="-122"/>
                <a:ea typeface="华文仿宋" panose="02010600040101010101" pitchFamily="2" charset="-122"/>
              </a:rPr>
              <a:t>4</a:t>
            </a:r>
            <a:r>
              <a:rPr lang="zh-CN" altLang="zh-CN" sz="2400" b="1" dirty="0">
                <a:solidFill>
                  <a:srgbClr val="000000"/>
                </a:solidFill>
                <a:latin typeface="华文仿宋" panose="02010600040101010101" pitchFamily="2" charset="-122"/>
                <a:ea typeface="华文仿宋" panose="02010600040101010101" pitchFamily="2" charset="-122"/>
              </a:rPr>
              <a:t>日，</a:t>
            </a:r>
            <a:r>
              <a:rPr lang="en-US" altLang="zh-CN" sz="2400" b="1" dirty="0">
                <a:solidFill>
                  <a:srgbClr val="000000"/>
                </a:solidFill>
                <a:latin typeface="华文仿宋" panose="02010600040101010101" pitchFamily="2" charset="-122"/>
                <a:ea typeface="华文仿宋" panose="02010600040101010101" pitchFamily="2" charset="-122"/>
              </a:rPr>
              <a:t>“</a:t>
            </a:r>
            <a:r>
              <a:rPr lang="zh-CN" altLang="zh-CN" sz="2400" b="1" dirty="0">
                <a:solidFill>
                  <a:srgbClr val="000000"/>
                </a:solidFill>
                <a:latin typeface="华文仿宋" panose="02010600040101010101" pitchFamily="2" charset="-122"/>
                <a:ea typeface="华文仿宋" panose="02010600040101010101" pitchFamily="2" charset="-122"/>
              </a:rPr>
              <a:t>爱虫（</a:t>
            </a:r>
            <a:r>
              <a:rPr lang="en-US" altLang="zh-CN" sz="2400" b="1" dirty="0">
                <a:solidFill>
                  <a:srgbClr val="000000"/>
                </a:solidFill>
                <a:latin typeface="华文仿宋" panose="02010600040101010101" pitchFamily="2" charset="-122"/>
                <a:ea typeface="华文仿宋" panose="02010600040101010101" pitchFamily="2" charset="-122"/>
              </a:rPr>
              <a:t>LOVE BUG</a:t>
            </a:r>
            <a:r>
              <a:rPr lang="zh-CN" altLang="zh-CN" sz="2400" b="1" dirty="0">
                <a:solidFill>
                  <a:srgbClr val="000000"/>
                </a:solidFill>
                <a:latin typeface="华文仿宋" panose="02010600040101010101" pitchFamily="2" charset="-122"/>
                <a:ea typeface="华文仿宋" panose="02010600040101010101" pitchFamily="2" charset="-122"/>
              </a:rPr>
              <a:t>）</a:t>
            </a:r>
            <a:r>
              <a:rPr lang="en-US" altLang="zh-CN" sz="2400" b="1" dirty="0">
                <a:solidFill>
                  <a:srgbClr val="000000"/>
                </a:solidFill>
                <a:latin typeface="华文仿宋" panose="02010600040101010101" pitchFamily="2" charset="-122"/>
                <a:ea typeface="华文仿宋" panose="02010600040101010101" pitchFamily="2" charset="-122"/>
              </a:rPr>
              <a:t>”</a:t>
            </a:r>
            <a:r>
              <a:rPr lang="zh-CN" altLang="zh-CN" sz="2400" b="1" dirty="0">
                <a:solidFill>
                  <a:srgbClr val="000000"/>
                </a:solidFill>
                <a:latin typeface="华文仿宋" panose="02010600040101010101" pitchFamily="2" charset="-122"/>
                <a:ea typeface="华文仿宋" panose="02010600040101010101" pitchFamily="2" charset="-122"/>
              </a:rPr>
              <a:t>病毒大爆发。主要表现是邮件群发、修改文件、消耗网络资源</a:t>
            </a:r>
            <a:r>
              <a:rPr lang="zh-CN" altLang="zh-CN" sz="2400" dirty="0">
                <a:ea typeface="宋体" panose="02010600030101010101" pitchFamily="2" charset="-122"/>
              </a:rPr>
              <a:t>。</a:t>
            </a: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charRg st="0" end="67"/>
                                            </p:txEl>
                                          </p:spTgt>
                                        </p:tgtEl>
                                        <p:attrNameLst>
                                          <p:attrName>style.visibility</p:attrName>
                                        </p:attrNameLst>
                                      </p:cBhvr>
                                      <p:to>
                                        <p:strVal val="visible"/>
                                      </p:to>
                                    </p:set>
                                    <p:animEffect transition="in" filter="fade">
                                      <p:cBhvr>
                                        <p:cTn id="7" dur="2000"/>
                                        <p:tgtEl>
                                          <p:spTgt spid="19459">
                                            <p:txEl>
                                              <p:charRg st="0" end="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68" end="121"/>
                                            </p:txEl>
                                          </p:spTgt>
                                        </p:tgtEl>
                                        <p:attrNameLst>
                                          <p:attrName>style.visibility</p:attrName>
                                        </p:attrNameLst>
                                      </p:cBhvr>
                                      <p:to>
                                        <p:strVal val="visible"/>
                                      </p:to>
                                    </p:set>
                                    <p:animEffect transition="in" filter="fade">
                                      <p:cBhvr>
                                        <p:cTn id="12" dur="2000"/>
                                        <p:tgtEl>
                                          <p:spTgt spid="19459">
                                            <p:txEl>
                                              <p:charRg st="68" end="1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内容占位符 2"/>
          <p:cNvSpPr>
            <a:spLocks noGrp="1"/>
          </p:cNvSpPr>
          <p:nvPr>
            <p:ph idx="1"/>
          </p:nvPr>
        </p:nvSpPr>
        <p:spPr>
          <a:xfrm>
            <a:off x="152400" y="1371600"/>
            <a:ext cx="8229600" cy="4953000"/>
          </a:xfrm>
        </p:spPr>
        <p:txBody>
          <a:bodyPr vert="horz" wrap="square" lIns="91440" tIns="45720" rIns="91440" bIns="45720" anchor="t" anchorCtr="0"/>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endParaRPr lang="en-US" altLang="zh-CN" b="1" dirty="0">
              <a:latin typeface="Times New Roman" panose="02020603050405020304" pitchFamily="18" charset="0"/>
              <a:ea typeface="楷体_GB2312" pitchFamily="49" charset="-122"/>
            </a:endParaRPr>
          </a:p>
          <a:p>
            <a:pPr lvl="1">
              <a:lnSpc>
                <a:spcPct val="150000"/>
              </a:lnSpc>
              <a:buFont typeface="Wingdings" panose="05000000000000000000" pitchFamily="2" charset="2"/>
              <a:buChar char="Ø"/>
            </a:pPr>
            <a:r>
              <a:rPr lang="en-US" altLang="zh-CN" sz="2400" b="1" dirty="0">
                <a:solidFill>
                  <a:srgbClr val="000000"/>
                </a:solidFill>
                <a:latin typeface="华文仿宋" panose="02010600040101010101" pitchFamily="2" charset="-122"/>
                <a:ea typeface="华文仿宋" panose="02010600040101010101" pitchFamily="2" charset="-122"/>
              </a:rPr>
              <a:t>2016</a:t>
            </a:r>
            <a:r>
              <a:rPr lang="zh-CN" altLang="zh-CN" sz="2400" b="1" dirty="0">
                <a:solidFill>
                  <a:srgbClr val="000000"/>
                </a:solidFill>
                <a:latin typeface="华文仿宋" panose="02010600040101010101" pitchFamily="2" charset="-122"/>
                <a:ea typeface="华文仿宋" panose="02010600040101010101" pitchFamily="2" charset="-122"/>
              </a:rPr>
              <a:t>年</a:t>
            </a:r>
            <a:r>
              <a:rPr lang="en-US" altLang="zh-CN" sz="2400" b="1" dirty="0">
                <a:solidFill>
                  <a:srgbClr val="000000"/>
                </a:solidFill>
                <a:latin typeface="华文仿宋" panose="02010600040101010101" pitchFamily="2" charset="-122"/>
                <a:ea typeface="华文仿宋" panose="02010600040101010101" pitchFamily="2" charset="-122"/>
              </a:rPr>
              <a:t>10</a:t>
            </a:r>
            <a:r>
              <a:rPr lang="zh-CN" altLang="zh-CN" sz="2400" b="1" dirty="0">
                <a:solidFill>
                  <a:srgbClr val="000000"/>
                </a:solidFill>
                <a:latin typeface="华文仿宋" panose="02010600040101010101" pitchFamily="2" charset="-122"/>
                <a:ea typeface="华文仿宋" panose="02010600040101010101" pitchFamily="2" charset="-122"/>
              </a:rPr>
              <a:t>月</a:t>
            </a:r>
            <a:r>
              <a:rPr lang="en-US" altLang="zh-CN" sz="2400" b="1" dirty="0">
                <a:solidFill>
                  <a:srgbClr val="000000"/>
                </a:solidFill>
                <a:latin typeface="华文仿宋" panose="02010600040101010101" pitchFamily="2" charset="-122"/>
                <a:ea typeface="华文仿宋" panose="02010600040101010101" pitchFamily="2" charset="-122"/>
              </a:rPr>
              <a:t>21</a:t>
            </a:r>
            <a:r>
              <a:rPr lang="zh-CN" altLang="zh-CN" sz="2400" b="1" dirty="0">
                <a:solidFill>
                  <a:srgbClr val="000000"/>
                </a:solidFill>
                <a:latin typeface="华文仿宋" panose="02010600040101010101" pitchFamily="2" charset="-122"/>
                <a:ea typeface="华文仿宋" panose="02010600040101010101" pitchFamily="2" charset="-122"/>
              </a:rPr>
              <a:t>日，美国东海岸发生世界上面积最大（涉及大半个美国）、时间最长（超过</a:t>
            </a:r>
            <a:r>
              <a:rPr lang="en-US" altLang="zh-CN" sz="2400" b="1" dirty="0">
                <a:solidFill>
                  <a:srgbClr val="000000"/>
                </a:solidFill>
                <a:latin typeface="华文仿宋" panose="02010600040101010101" pitchFamily="2" charset="-122"/>
                <a:ea typeface="华文仿宋" panose="02010600040101010101" pitchFamily="2" charset="-122"/>
              </a:rPr>
              <a:t>6</a:t>
            </a:r>
            <a:r>
              <a:rPr lang="zh-CN" altLang="zh-CN" sz="2400" b="1" dirty="0">
                <a:solidFill>
                  <a:srgbClr val="000000"/>
                </a:solidFill>
                <a:latin typeface="华文仿宋" panose="02010600040101010101" pitchFamily="2" charset="-122"/>
                <a:ea typeface="华文仿宋" panose="02010600040101010101" pitchFamily="2" charset="-122"/>
              </a:rPr>
              <a:t>个多小时）的</a:t>
            </a:r>
            <a:r>
              <a:rPr lang="en-US" altLang="zh-CN" sz="2400" b="1" dirty="0">
                <a:solidFill>
                  <a:srgbClr val="000000"/>
                </a:solidFill>
                <a:latin typeface="华文仿宋" panose="02010600040101010101" pitchFamily="2" charset="-122"/>
                <a:ea typeface="华文仿宋" panose="02010600040101010101" pitchFamily="2" charset="-122"/>
              </a:rPr>
              <a:t>DDOS</a:t>
            </a:r>
            <a:r>
              <a:rPr lang="zh-CN" altLang="zh-CN" sz="2400" b="1" dirty="0">
                <a:solidFill>
                  <a:srgbClr val="000000"/>
                </a:solidFill>
                <a:latin typeface="华文仿宋" panose="02010600040101010101" pitchFamily="2" charset="-122"/>
                <a:ea typeface="华文仿宋" panose="02010600040101010101" pitchFamily="2" charset="-122"/>
              </a:rPr>
              <a:t>分布式拒绝服务攻击。</a:t>
            </a:r>
            <a:endParaRPr lang="en-US" altLang="zh-CN" sz="2400" b="1" dirty="0">
              <a:solidFill>
                <a:srgbClr val="000000"/>
              </a:solidFill>
              <a:latin typeface="华文仿宋" panose="02010600040101010101" pitchFamily="2" charset="-122"/>
              <a:ea typeface="华文仿宋" panose="02010600040101010101" pitchFamily="2" charset="-122"/>
            </a:endParaRPr>
          </a:p>
          <a:p>
            <a:pPr lvl="1">
              <a:lnSpc>
                <a:spcPct val="150000"/>
              </a:lnSpc>
              <a:buFont typeface="Wingdings" panose="05000000000000000000" pitchFamily="2" charset="2"/>
              <a:buChar char="Ø"/>
            </a:pPr>
            <a:endParaRPr lang="en-US" altLang="zh-CN" sz="2400" b="1" dirty="0">
              <a:solidFill>
                <a:srgbClr val="000000"/>
              </a:solidFill>
              <a:latin typeface="华文仿宋" panose="02010600040101010101" pitchFamily="2" charset="-122"/>
              <a:ea typeface="华文仿宋" panose="02010600040101010101" pitchFamily="2" charset="-122"/>
            </a:endParaRPr>
          </a:p>
          <a:p>
            <a:pPr lvl="1">
              <a:lnSpc>
                <a:spcPct val="150000"/>
              </a:lnSpc>
              <a:buFont typeface="Wingdings" panose="05000000000000000000" pitchFamily="2" charset="2"/>
              <a:buChar char="Ø"/>
            </a:pPr>
            <a:r>
              <a:rPr lang="zh-CN" altLang="zh-CN" sz="2400" b="1" dirty="0">
                <a:solidFill>
                  <a:srgbClr val="000000"/>
                </a:solidFill>
                <a:latin typeface="华文仿宋" panose="02010600040101010101" pitchFamily="2" charset="-122"/>
                <a:ea typeface="华文仿宋" panose="02010600040101010101" pitchFamily="2" charset="-122"/>
              </a:rPr>
              <a:t>此轮攻击直接指向</a:t>
            </a:r>
            <a:r>
              <a:rPr lang="en-US" altLang="zh-CN" sz="2400" b="1" dirty="0">
                <a:solidFill>
                  <a:srgbClr val="000000"/>
                </a:solidFill>
                <a:latin typeface="华文仿宋" panose="02010600040101010101" pitchFamily="2" charset="-122"/>
                <a:ea typeface="华文仿宋" panose="02010600040101010101" pitchFamily="2" charset="-122"/>
              </a:rPr>
              <a:t>Dyn</a:t>
            </a:r>
            <a:r>
              <a:rPr lang="zh-CN" altLang="zh-CN" sz="2400" b="1" dirty="0">
                <a:solidFill>
                  <a:srgbClr val="000000"/>
                </a:solidFill>
                <a:latin typeface="华文仿宋" panose="02010600040101010101" pitchFamily="2" charset="-122"/>
                <a:ea typeface="华文仿宋" panose="02010600040101010101" pitchFamily="2" charset="-122"/>
              </a:rPr>
              <a:t>公司所管理的</a:t>
            </a:r>
            <a:r>
              <a:rPr lang="en-US" altLang="zh-CN" sz="2400" b="1" dirty="0">
                <a:solidFill>
                  <a:srgbClr val="000000"/>
                </a:solidFill>
                <a:latin typeface="华文仿宋" panose="02010600040101010101" pitchFamily="2" charset="-122"/>
                <a:ea typeface="华文仿宋" panose="02010600040101010101" pitchFamily="2" charset="-122"/>
              </a:rPr>
              <a:t>DNS</a:t>
            </a:r>
            <a:r>
              <a:rPr lang="zh-CN" altLang="zh-CN" sz="2400" b="1" dirty="0">
                <a:solidFill>
                  <a:srgbClr val="000000"/>
                </a:solidFill>
                <a:latin typeface="华文仿宋" panose="02010600040101010101" pitchFamily="2" charset="-122"/>
                <a:ea typeface="华文仿宋" panose="02010600040101010101" pitchFamily="2" charset="-122"/>
              </a:rPr>
              <a:t>基础设施。攻击活动导致众多网站与在线服务（例如</a:t>
            </a:r>
            <a:r>
              <a:rPr lang="en-US" altLang="zh-CN" sz="2400" b="1" dirty="0">
                <a:solidFill>
                  <a:srgbClr val="000000"/>
                </a:solidFill>
                <a:latin typeface="华文仿宋" panose="02010600040101010101" pitchFamily="2" charset="-122"/>
                <a:ea typeface="华文仿宋" panose="02010600040101010101" pitchFamily="2" charset="-122"/>
              </a:rPr>
              <a:t>Twitter</a:t>
            </a:r>
            <a:r>
              <a:rPr lang="zh-CN" altLang="zh-CN" sz="2400" b="1" dirty="0">
                <a:solidFill>
                  <a:srgbClr val="000000"/>
                </a:solidFill>
                <a:latin typeface="华文仿宋" panose="02010600040101010101" pitchFamily="2" charset="-122"/>
                <a:ea typeface="华文仿宋" panose="02010600040101010101" pitchFamily="2" charset="-122"/>
              </a:rPr>
              <a:t>、</a:t>
            </a:r>
            <a:r>
              <a:rPr lang="en-US" altLang="zh-CN" sz="2400" b="1" dirty="0">
                <a:solidFill>
                  <a:srgbClr val="000000"/>
                </a:solidFill>
                <a:latin typeface="华文仿宋" panose="02010600040101010101" pitchFamily="2" charset="-122"/>
                <a:ea typeface="华文仿宋" panose="02010600040101010101" pitchFamily="2" charset="-122"/>
              </a:rPr>
              <a:t>GitHub</a:t>
            </a:r>
            <a:r>
              <a:rPr lang="zh-CN" altLang="zh-CN" sz="2400" b="1" dirty="0">
                <a:solidFill>
                  <a:srgbClr val="000000"/>
                </a:solidFill>
                <a:latin typeface="华文仿宋" panose="02010600040101010101" pitchFamily="2" charset="-122"/>
                <a:ea typeface="华文仿宋" panose="02010600040101010101" pitchFamily="2" charset="-122"/>
              </a:rPr>
              <a:t>、</a:t>
            </a:r>
            <a:r>
              <a:rPr lang="en-US" altLang="zh-CN" sz="2400" b="1" dirty="0">
                <a:solidFill>
                  <a:srgbClr val="000000"/>
                </a:solidFill>
                <a:latin typeface="华文仿宋" panose="02010600040101010101" pitchFamily="2" charset="-122"/>
                <a:ea typeface="华文仿宋" panose="02010600040101010101" pitchFamily="2" charset="-122"/>
              </a:rPr>
              <a:t>PayPal</a:t>
            </a:r>
            <a:r>
              <a:rPr lang="zh-CN" altLang="zh-CN" sz="2400" b="1" dirty="0">
                <a:solidFill>
                  <a:srgbClr val="000000"/>
                </a:solidFill>
                <a:latin typeface="华文仿宋" panose="02010600040101010101" pitchFamily="2" charset="-122"/>
                <a:ea typeface="华文仿宋" panose="02010600040101010101" pitchFamily="2" charset="-122"/>
              </a:rPr>
              <a:t>等）陷入暂时无法访问的尴尬境地。</a:t>
            </a:r>
            <a:endParaRPr lang="en-US" altLang="zh-CN" b="1" dirty="0">
              <a:solidFill>
                <a:srgbClr val="000000"/>
              </a:solidFill>
              <a:latin typeface="华文仿宋" panose="02010600040101010101" pitchFamily="2" charset="-122"/>
              <a:ea typeface="华文仿宋" panose="02010600040101010101" pitchFamily="2" charset="-122"/>
            </a:endParaRPr>
          </a:p>
          <a:p>
            <a:pPr eaLnBrk="1" hangingPunct="1">
              <a:buNone/>
            </a:pPr>
            <a:endParaRPr lang="zh-CN" altLang="en-US" dirty="0">
              <a:ea typeface="楷体_GB2312" pitchFamily="49" charset="-122"/>
            </a:endParaRPr>
          </a:p>
        </p:txBody>
      </p:sp>
      <p:sp>
        <p:nvSpPr>
          <p:cNvPr id="15363"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信息安全的现状</a:t>
            </a:r>
            <a:endParaRPr lang="zh-CN" altLang="en-US" b="1"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charRg st="2" end="67"/>
                                            </p:txEl>
                                          </p:spTgt>
                                        </p:tgtEl>
                                        <p:attrNameLst>
                                          <p:attrName>style.visibility</p:attrName>
                                        </p:attrNameLst>
                                      </p:cBhvr>
                                      <p:to>
                                        <p:strVal val="visible"/>
                                      </p:to>
                                    </p:set>
                                    <p:animEffect transition="in" filter="fade">
                                      <p:cBhvr>
                                        <p:cTn id="7" dur="2000"/>
                                        <p:tgtEl>
                                          <p:spTgt spid="19459">
                                            <p:txEl>
                                              <p:charRg st="2" end="6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68" end="149"/>
                                            </p:txEl>
                                          </p:spTgt>
                                        </p:tgtEl>
                                        <p:attrNameLst>
                                          <p:attrName>style.visibility</p:attrName>
                                        </p:attrNameLst>
                                      </p:cBhvr>
                                      <p:to>
                                        <p:strVal val="visible"/>
                                      </p:to>
                                    </p:set>
                                    <p:animEffect transition="in" filter="fade">
                                      <p:cBhvr>
                                        <p:cTn id="12" dur="2000"/>
                                        <p:tgtEl>
                                          <p:spTgt spid="19459">
                                            <p:txEl>
                                              <p:charRg st="68" end="14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信息安全的现状</a:t>
            </a:r>
            <a:endParaRPr lang="zh-CN" altLang="en-US" b="1" dirty="0">
              <a:ea typeface="宋体" panose="02010600030101010101" pitchFamily="2" charset="-122"/>
            </a:endParaRPr>
          </a:p>
        </p:txBody>
      </p:sp>
      <p:sp>
        <p:nvSpPr>
          <p:cNvPr id="19459" name="内容占位符 2"/>
          <p:cNvSpPr>
            <a:spLocks noGrp="1"/>
          </p:cNvSpPr>
          <p:nvPr>
            <p:ph idx="1"/>
          </p:nvPr>
        </p:nvSpPr>
        <p:spPr>
          <a:xfrm>
            <a:off x="304800" y="1143000"/>
            <a:ext cx="8229600" cy="5486400"/>
          </a:xfrm>
        </p:spPr>
        <p:txBody>
          <a:bodyPr vert="horz" wrap="square" lIns="91440" tIns="45720" rIns="91440" bIns="45720" anchor="t" anchorCtr="0"/>
          <a:p>
            <a:pPr eaLnBrk="1" hangingPunct="1">
              <a:spcAft>
                <a:spcPct val="20000"/>
              </a:spcAft>
              <a:buClr>
                <a:srgbClr val="AC04A0"/>
              </a:buClr>
              <a:buNone/>
            </a:pPr>
            <a:r>
              <a:rPr lang="en-US" altLang="zh-CN" b="1" dirty="0">
                <a:latin typeface="Times New Roman" panose="02020603050405020304" pitchFamily="18" charset="0"/>
                <a:ea typeface="楷体_GB2312" pitchFamily="49" charset="-122"/>
              </a:rPr>
              <a:t> </a:t>
            </a:r>
            <a:endParaRPr lang="en-US" altLang="zh-CN" b="1" dirty="0">
              <a:latin typeface="Times New Roman" panose="02020603050405020304" pitchFamily="18" charset="0"/>
              <a:ea typeface="楷体_GB2312" pitchFamily="49" charset="-122"/>
            </a:endParaRPr>
          </a:p>
          <a:p>
            <a:pPr>
              <a:buFont typeface="Wingdings" panose="05000000000000000000" pitchFamily="2" charset="2"/>
              <a:buChar char="Ø"/>
            </a:pPr>
            <a:r>
              <a:rPr lang="en-US" altLang="zh-CN" sz="2400" b="1" dirty="0">
                <a:solidFill>
                  <a:srgbClr val="000000"/>
                </a:solidFill>
                <a:latin typeface="华文仿宋" panose="02010600040101010101" pitchFamily="2" charset="-122"/>
                <a:ea typeface="华文仿宋" panose="02010600040101010101" pitchFamily="2" charset="-122"/>
              </a:rPr>
              <a:t>2017</a:t>
            </a:r>
            <a:r>
              <a:rPr lang="zh-CN" altLang="zh-CN" sz="2400" b="1" dirty="0">
                <a:solidFill>
                  <a:srgbClr val="000000"/>
                </a:solidFill>
                <a:latin typeface="华文仿宋" panose="02010600040101010101" pitchFamily="2" charset="-122"/>
                <a:ea typeface="华文仿宋" panose="02010600040101010101" pitchFamily="2" charset="-122"/>
              </a:rPr>
              <a:t>年</a:t>
            </a:r>
            <a:r>
              <a:rPr lang="en-US" altLang="zh-CN" sz="2400" b="1" dirty="0">
                <a:solidFill>
                  <a:srgbClr val="000000"/>
                </a:solidFill>
                <a:latin typeface="华文仿宋" panose="02010600040101010101" pitchFamily="2" charset="-122"/>
                <a:ea typeface="华文仿宋" panose="02010600040101010101" pitchFamily="2" charset="-122"/>
              </a:rPr>
              <a:t>5</a:t>
            </a:r>
            <a:r>
              <a:rPr lang="zh-CN" altLang="zh-CN" sz="2400" b="1" dirty="0">
                <a:solidFill>
                  <a:srgbClr val="000000"/>
                </a:solidFill>
                <a:latin typeface="华文仿宋" panose="02010600040101010101" pitchFamily="2" charset="-122"/>
                <a:ea typeface="华文仿宋" panose="02010600040101010101" pitchFamily="2" charset="-122"/>
              </a:rPr>
              <a:t>月</a:t>
            </a:r>
            <a:r>
              <a:rPr lang="en-US" altLang="zh-CN" sz="2400" b="1" dirty="0">
                <a:solidFill>
                  <a:srgbClr val="000000"/>
                </a:solidFill>
                <a:latin typeface="华文仿宋" panose="02010600040101010101" pitchFamily="2" charset="-122"/>
                <a:ea typeface="华文仿宋" panose="02010600040101010101" pitchFamily="2" charset="-122"/>
              </a:rPr>
              <a:t>12</a:t>
            </a:r>
            <a:r>
              <a:rPr lang="zh-CN" altLang="zh-CN" sz="2400" b="1" dirty="0">
                <a:solidFill>
                  <a:srgbClr val="000000"/>
                </a:solidFill>
                <a:latin typeface="华文仿宋" panose="02010600040101010101" pitchFamily="2" charset="-122"/>
                <a:ea typeface="华文仿宋" panose="02010600040101010101" pitchFamily="2" charset="-122"/>
              </a:rPr>
              <a:t>日爆发的“</a:t>
            </a:r>
            <a:r>
              <a:rPr lang="en-US" altLang="zh-CN" sz="2400" b="1" dirty="0">
                <a:solidFill>
                  <a:srgbClr val="000000"/>
                </a:solidFill>
                <a:latin typeface="华文仿宋" panose="02010600040101010101" pitchFamily="2" charset="-122"/>
                <a:ea typeface="华文仿宋" panose="02010600040101010101" pitchFamily="2" charset="-122"/>
              </a:rPr>
              <a:t>WannaCry”</a:t>
            </a:r>
            <a:r>
              <a:rPr lang="zh-CN" altLang="zh-CN" sz="2400" b="1" dirty="0">
                <a:solidFill>
                  <a:srgbClr val="000000"/>
                </a:solidFill>
                <a:latin typeface="华文仿宋" panose="02010600040101010101" pitchFamily="2" charset="-122"/>
                <a:ea typeface="华文仿宋" panose="02010600040101010101" pitchFamily="2" charset="-122"/>
              </a:rPr>
              <a:t>勒索病毒，受到该病毒攻击的电脑会出现蓝屏，也就是大家都听说过的“永恒之蓝”，这种病毒侵入到个人计算机内，会对客户的数据信息进行加密，使数据变得不可用，借机勒索钱财。</a:t>
            </a:r>
            <a:endParaRPr lang="en-US" altLang="zh-CN" sz="2400" b="1" dirty="0">
              <a:solidFill>
                <a:srgbClr val="000000"/>
              </a:solidFill>
              <a:latin typeface="华文仿宋" panose="02010600040101010101" pitchFamily="2" charset="-122"/>
              <a:ea typeface="华文仿宋" panose="02010600040101010101" pitchFamily="2" charset="-122"/>
            </a:endParaRPr>
          </a:p>
          <a:p>
            <a:pPr>
              <a:buFont typeface="Wingdings" panose="05000000000000000000" pitchFamily="2" charset="2"/>
              <a:buChar char="Ø"/>
            </a:pPr>
            <a:endParaRPr lang="en-US" altLang="zh-CN" sz="2400" b="1" dirty="0">
              <a:solidFill>
                <a:srgbClr val="000000"/>
              </a:solidFill>
              <a:latin typeface="华文仿宋" panose="02010600040101010101" pitchFamily="2" charset="-122"/>
              <a:ea typeface="华文仿宋" panose="02010600040101010101" pitchFamily="2" charset="-122"/>
            </a:endParaRPr>
          </a:p>
          <a:p>
            <a:pPr>
              <a:buFont typeface="Wingdings" panose="05000000000000000000" pitchFamily="2" charset="2"/>
              <a:buChar char="Ø"/>
            </a:pPr>
            <a:r>
              <a:rPr lang="en-US" altLang="zh-CN" sz="2400" b="1" dirty="0">
                <a:solidFill>
                  <a:srgbClr val="000000"/>
                </a:solidFill>
                <a:latin typeface="华文仿宋" panose="02010600040101010101" pitchFamily="2" charset="-122"/>
                <a:ea typeface="华文仿宋" panose="02010600040101010101" pitchFamily="2" charset="-122"/>
              </a:rPr>
              <a:t>2018</a:t>
            </a:r>
            <a:r>
              <a:rPr lang="zh-CN" altLang="zh-CN" sz="2400" b="1" dirty="0">
                <a:solidFill>
                  <a:srgbClr val="000000"/>
                </a:solidFill>
                <a:latin typeface="华文仿宋" panose="02010600040101010101" pitchFamily="2" charset="-122"/>
                <a:ea typeface="华文仿宋" panose="02010600040101010101" pitchFamily="2" charset="-122"/>
              </a:rPr>
              <a:t>年</a:t>
            </a:r>
            <a:r>
              <a:rPr lang="en-US" altLang="zh-CN" sz="2400" b="1" dirty="0">
                <a:solidFill>
                  <a:srgbClr val="000000"/>
                </a:solidFill>
                <a:latin typeface="华文仿宋" panose="02010600040101010101" pitchFamily="2" charset="-122"/>
                <a:ea typeface="华文仿宋" panose="02010600040101010101" pitchFamily="2" charset="-122"/>
              </a:rPr>
              <a:t>8</a:t>
            </a:r>
            <a:r>
              <a:rPr lang="zh-CN" altLang="zh-CN" sz="2400" b="1" dirty="0">
                <a:solidFill>
                  <a:srgbClr val="000000"/>
                </a:solidFill>
                <a:latin typeface="华文仿宋" panose="02010600040101010101" pitchFamily="2" charset="-122"/>
                <a:ea typeface="华文仿宋" panose="02010600040101010101" pitchFamily="2" charset="-122"/>
              </a:rPr>
              <a:t>月</a:t>
            </a:r>
            <a:r>
              <a:rPr lang="en-US" altLang="zh-CN" sz="2400" b="1" dirty="0">
                <a:solidFill>
                  <a:srgbClr val="000000"/>
                </a:solidFill>
                <a:latin typeface="华文仿宋" panose="02010600040101010101" pitchFamily="2" charset="-122"/>
                <a:ea typeface="华文仿宋" panose="02010600040101010101" pitchFamily="2" charset="-122"/>
              </a:rPr>
              <a:t>3</a:t>
            </a:r>
            <a:r>
              <a:rPr lang="zh-CN" altLang="zh-CN" sz="2400" b="1" dirty="0">
                <a:solidFill>
                  <a:srgbClr val="000000"/>
                </a:solidFill>
                <a:latin typeface="华文仿宋" panose="02010600040101010101" pitchFamily="2" charset="-122"/>
                <a:ea typeface="华文仿宋" panose="02010600040101010101" pitchFamily="2" charset="-122"/>
              </a:rPr>
              <a:t>日，台积电遭到勒索病毒入侵，几个小时之内，台积电在中国台湾地区的三个重要生产基地全部停摆，几天内就造成约十几亿美元的经济损失。</a:t>
            </a:r>
            <a:endParaRPr lang="en-US" altLang="zh-CN" sz="2400" b="1" dirty="0">
              <a:solidFill>
                <a:srgbClr val="000000"/>
              </a:solidFill>
              <a:latin typeface="华文仿宋" panose="02010600040101010101" pitchFamily="2" charset="-122"/>
              <a:ea typeface="华文仿宋" panose="02010600040101010101" pitchFamily="2" charset="-122"/>
            </a:endParaRPr>
          </a:p>
          <a:p>
            <a:pPr>
              <a:buFont typeface="Wingdings" panose="05000000000000000000" pitchFamily="2" charset="2"/>
              <a:buChar char="v"/>
            </a:pPr>
            <a:endParaRPr lang="en-US" altLang="zh-CN" sz="2400" b="1" dirty="0">
              <a:solidFill>
                <a:srgbClr val="000000"/>
              </a:solidFill>
              <a:latin typeface="华文仿宋" panose="02010600040101010101" pitchFamily="2" charset="-122"/>
              <a:ea typeface="华文仿宋" panose="02010600040101010101" pitchFamily="2" charset="-122"/>
            </a:endParaRPr>
          </a:p>
          <a:p>
            <a:pPr>
              <a:buFont typeface="Wingdings" panose="05000000000000000000" pitchFamily="2" charset="2"/>
              <a:buChar char="l"/>
            </a:pPr>
            <a:r>
              <a:rPr lang="zh-CN" altLang="zh-CN" sz="2400" b="1" dirty="0">
                <a:solidFill>
                  <a:srgbClr val="000000"/>
                </a:solidFill>
                <a:latin typeface="华文仿宋" panose="02010600040101010101" pitchFamily="2" charset="-122"/>
                <a:ea typeface="华文仿宋" panose="02010600040101010101" pitchFamily="2" charset="-122"/>
              </a:rPr>
              <a:t>不断发生的信息安全事件，对信息安全提出了严峻的挑战</a:t>
            </a:r>
            <a:r>
              <a:rPr lang="zh-CN" altLang="en-US" sz="2400" b="1" dirty="0">
                <a:solidFill>
                  <a:srgbClr val="000000"/>
                </a:solidFill>
                <a:latin typeface="华文仿宋" panose="02010600040101010101" pitchFamily="2" charset="-122"/>
                <a:ea typeface="华文仿宋" panose="02010600040101010101" pitchFamily="2" charset="-122"/>
              </a:rPr>
              <a:t>，</a:t>
            </a:r>
            <a:r>
              <a:rPr lang="zh-CN" altLang="zh-CN" sz="2400" b="1" dirty="0">
                <a:solidFill>
                  <a:srgbClr val="000000"/>
                </a:solidFill>
                <a:latin typeface="华文仿宋" panose="02010600040101010101" pitchFamily="2" charset="-122"/>
                <a:ea typeface="华文仿宋" panose="02010600040101010101" pitchFamily="2" charset="-122"/>
              </a:rPr>
              <a:t>信息安全已成为信息社会重要的研究课题。</a:t>
            </a:r>
            <a:endParaRPr lang="en-US" altLang="zh-CN" sz="2400" b="1" dirty="0">
              <a:solidFill>
                <a:srgbClr val="000000"/>
              </a:solidFill>
              <a:latin typeface="华文仿宋" panose="02010600040101010101" pitchFamily="2" charset="-122"/>
              <a:ea typeface="华文仿宋" panose="02010600040101010101" pitchFamily="2" charset="-122"/>
            </a:endParaRPr>
          </a:p>
          <a:p>
            <a:endParaRPr lang="zh-CN" altLang="zh-CN" sz="2000" dirty="0">
              <a:ea typeface="宋体" panose="02010600030101010101" pitchFamily="2" charset="-122"/>
            </a:endParaRPr>
          </a:p>
          <a:p>
            <a:pPr lvl="1" eaLnBrk="1" hangingPunct="1">
              <a:buNone/>
            </a:pPr>
            <a:endParaRPr lang="en-US" altLang="zh-CN" b="1" dirty="0">
              <a:latin typeface="楷体_GB2312" pitchFamily="49" charset="-122"/>
              <a:ea typeface="楷体_GB2312" pitchFamily="49" charset="-122"/>
            </a:endParaRPr>
          </a:p>
          <a:p>
            <a:pPr eaLnBrk="1" hangingPunct="1">
              <a:buNone/>
            </a:pPr>
            <a:endParaRPr lang="zh-CN" altLang="en-US" dirty="0">
              <a:ea typeface="楷体_GB2312"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charRg st="2" end="108"/>
                                            </p:txEl>
                                          </p:spTgt>
                                        </p:tgtEl>
                                        <p:attrNameLst>
                                          <p:attrName>style.visibility</p:attrName>
                                        </p:attrNameLst>
                                      </p:cBhvr>
                                      <p:to>
                                        <p:strVal val="visible"/>
                                      </p:to>
                                    </p:set>
                                    <p:animEffect transition="in" filter="fade">
                                      <p:cBhvr>
                                        <p:cTn id="7" dur="2000"/>
                                        <p:tgtEl>
                                          <p:spTgt spid="19459">
                                            <p:txEl>
                                              <p:charRg st="2" end="10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109" end="181"/>
                                            </p:txEl>
                                          </p:spTgt>
                                        </p:tgtEl>
                                        <p:attrNameLst>
                                          <p:attrName>style.visibility</p:attrName>
                                        </p:attrNameLst>
                                      </p:cBhvr>
                                      <p:to>
                                        <p:strVal val="visible"/>
                                      </p:to>
                                    </p:set>
                                    <p:animEffect transition="in" filter="fade">
                                      <p:cBhvr>
                                        <p:cTn id="12" dur="2000"/>
                                        <p:tgtEl>
                                          <p:spTgt spid="19459">
                                            <p:txEl>
                                              <p:charRg st="109" end="1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charRg st="182" end="228"/>
                                            </p:txEl>
                                          </p:spTgt>
                                        </p:tgtEl>
                                        <p:attrNameLst>
                                          <p:attrName>style.visibility</p:attrName>
                                        </p:attrNameLst>
                                      </p:cBhvr>
                                      <p:to>
                                        <p:strVal val="visible"/>
                                      </p:to>
                                    </p:set>
                                    <p:animEffect transition="in" filter="fade">
                                      <p:cBhvr>
                                        <p:cTn id="17" dur="2000"/>
                                        <p:tgtEl>
                                          <p:spTgt spid="19459">
                                            <p:txEl>
                                              <p:charRg st="182" end="2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标题 1"/>
          <p:cNvSpPr>
            <a:spLocks noGrp="1"/>
          </p:cNvSpPr>
          <p:nvPr>
            <p:ph type="title"/>
          </p:nvPr>
        </p:nvSpPr>
        <p:spPr>
          <a:xfrm>
            <a:off x="838200" y="831850"/>
            <a:ext cx="7010400" cy="234950"/>
          </a:xfrm>
        </p:spPr>
        <p:txBody>
          <a:bodyPr vert="horz" wrap="square" lIns="91440" tIns="45720" rIns="91440" bIns="45720" anchor="ctr" anchorCtr="0"/>
          <a:p>
            <a:r>
              <a:rPr lang="zh-CN" altLang="en-US" b="1" dirty="0">
                <a:ea typeface="宋体" panose="02010600030101010101" pitchFamily="2" charset="-122"/>
              </a:rPr>
              <a:t>信息安全基础</a:t>
            </a:r>
            <a:br>
              <a:rPr lang="en-US" altLang="zh-CN" b="1" dirty="0">
                <a:ea typeface="宋体" panose="02010600030101010101" pitchFamily="2" charset="-122"/>
              </a:rPr>
            </a:br>
            <a:endParaRPr lang="zh-CN" altLang="en-US" dirty="0">
              <a:ea typeface="宋体" panose="02010600030101010101" pitchFamily="2" charset="-122"/>
            </a:endParaRPr>
          </a:p>
        </p:txBody>
      </p:sp>
      <p:sp>
        <p:nvSpPr>
          <p:cNvPr id="3" name="内容占位符 2"/>
          <p:cNvSpPr>
            <a:spLocks noGrp="1"/>
          </p:cNvSpPr>
          <p:nvPr>
            <p:ph idx="1"/>
          </p:nvPr>
        </p:nvSpPr>
        <p:spPr>
          <a:xfrm>
            <a:off x="76200" y="1905000"/>
            <a:ext cx="8458200" cy="4038600"/>
          </a:xfrm>
        </p:spPr>
        <p:txBody>
          <a:bodyPr vert="horz" wrap="square" lIns="91440" tIns="45720" rIns="91440" bIns="45720" numCol="1" anchor="t" anchorCtr="0" compatLnSpc="1"/>
          <a:lstStyle/>
          <a:p>
            <a:pPr marL="319405" marR="0" lvl="0" indent="-319405" algn="l" defTabSz="914400" rtl="0" eaLnBrk="0" fontAlgn="base" latinLnBrk="0" hangingPunct="0">
              <a:lnSpc>
                <a:spcPct val="150000"/>
              </a:lnSpc>
              <a:spcBef>
                <a:spcPts val="700"/>
              </a:spcBef>
              <a:spcAft>
                <a:spcPct val="0"/>
              </a:spcAft>
              <a:buClr>
                <a:srgbClr val="DA1F28"/>
              </a:buClr>
              <a:buSzPct val="60000"/>
              <a:buFont typeface="Wingdings" panose="05000000000000000000" pitchFamily="2" charset="2"/>
              <a:buNone/>
              <a:defRPr/>
            </a:pPr>
            <a:r>
              <a:rPr kumimoji="0" lang="zh-CN" altLang="en-US" sz="24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            </a:t>
            </a:r>
            <a:r>
              <a:rPr kumimoji="0" lang="zh-CN" altLang="en-US" sz="2400" b="1"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信息</a:t>
            </a:r>
            <a:r>
              <a:rPr kumimoji="0" lang="zh-CN" altLang="en-US" sz="24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作为一种资源，它的普遍性、共享性、增值性、可处理性和多效用性，使其对于人类具有特别重要的意义。</a:t>
            </a:r>
            <a:endParaRPr kumimoji="0" lang="zh-CN" altLang="en-US" sz="24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endParaRPr>
          </a:p>
          <a:p>
            <a:pPr marL="319405" marR="0" lvl="0" indent="-319405" algn="l" defTabSz="914400" rtl="0" eaLnBrk="0" fontAlgn="base" latinLnBrk="0" hangingPunct="0">
              <a:lnSpc>
                <a:spcPct val="150000"/>
              </a:lnSpc>
              <a:spcBef>
                <a:spcPts val="700"/>
              </a:spcBef>
              <a:spcAft>
                <a:spcPct val="0"/>
              </a:spcAft>
              <a:buClr>
                <a:srgbClr val="DA1F28"/>
              </a:buClr>
              <a:buSzPct val="60000"/>
              <a:buFont typeface="Wingdings" panose="05000000000000000000" pitchFamily="2" charset="2"/>
              <a:buNone/>
              <a:defRPr/>
            </a:pPr>
            <a:r>
              <a:rPr kumimoji="0" lang="en-US" altLang="zh-CN" sz="24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		</a:t>
            </a:r>
            <a:r>
              <a:rPr kumimoji="0" lang="zh-CN" altLang="en-US" sz="24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rPr>
              <a:t>信息安全是任何国家、政府、部门、行业都必须十分重视的问题，是一个不容忽视的国家安全战略。信息安全的实质就是要保护信息系统或信息网络中的信息资源免受各种类型的威胁、干扰和破坏，即保证信息的安全性。</a:t>
            </a:r>
            <a:endParaRPr kumimoji="0" lang="zh-CN" altLang="en-US" sz="2400" b="0" i="0" u="none" strike="noStrike" kern="1200" cap="none" spc="0" normalizeH="0" baseline="0" noProof="0" dirty="0" smtClean="0">
              <a:ln>
                <a:noFill/>
              </a:ln>
              <a:solidFill>
                <a:prstClr val="black"/>
              </a:solidFill>
              <a:effectLst/>
              <a:uLnTx/>
              <a:uFillTx/>
              <a:latin typeface="华文仿宋" panose="02010600040101010101" pitchFamily="2" charset="-122"/>
              <a:ea typeface="华文仿宋" panose="02010600040101010101" pitchFamily="2"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charRg st="62" end="162"/>
                                            </p:txEl>
                                          </p:spTgt>
                                        </p:tgtEl>
                                        <p:attrNameLst>
                                          <p:attrName>style.visibility</p:attrName>
                                        </p:attrNameLst>
                                      </p:cBhvr>
                                      <p:to>
                                        <p:strVal val="visible"/>
                                      </p:to>
                                    </p:set>
                                    <p:animEffect transition="in" filter="wipe(down)">
                                      <p:cBhvr>
                                        <p:cTn id="7" dur="500"/>
                                        <p:tgtEl>
                                          <p:spTgt spid="3">
                                            <p:txEl>
                                              <p:charRg st="62" end="1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标题 1"/>
          <p:cNvSpPr>
            <a:spLocks noGrp="1"/>
          </p:cNvSpPr>
          <p:nvPr>
            <p:ph type="title"/>
          </p:nvPr>
        </p:nvSpPr>
        <p:spPr>
          <a:xfrm>
            <a:off x="838200" y="831850"/>
            <a:ext cx="7010400" cy="234950"/>
          </a:xfrm>
        </p:spPr>
        <p:txBody>
          <a:bodyPr vert="horz" wrap="square" lIns="91440" tIns="45720" rIns="91440" bIns="45720" anchor="ctr" anchorCtr="0"/>
          <a:p>
            <a:r>
              <a:rPr lang="zh-CN" altLang="en-US" b="1" dirty="0">
                <a:ea typeface="宋体" panose="02010600030101010101" pitchFamily="2" charset="-122"/>
              </a:rPr>
              <a:t>信息安全基础</a:t>
            </a:r>
            <a:br>
              <a:rPr lang="en-US" altLang="zh-CN" b="1" dirty="0">
                <a:ea typeface="宋体" panose="02010600030101010101" pitchFamily="2" charset="-122"/>
              </a:rPr>
            </a:br>
            <a:endParaRPr lang="zh-CN" altLang="en-US" dirty="0">
              <a:ea typeface="宋体" panose="02010600030101010101" pitchFamily="2" charset="-122"/>
            </a:endParaRPr>
          </a:p>
        </p:txBody>
      </p:sp>
      <p:sp>
        <p:nvSpPr>
          <p:cNvPr id="3" name="内容占位符 2"/>
          <p:cNvSpPr>
            <a:spLocks noGrp="1"/>
          </p:cNvSpPr>
          <p:nvPr>
            <p:ph idx="1"/>
          </p:nvPr>
        </p:nvSpPr>
        <p:spPr>
          <a:xfrm>
            <a:off x="76200" y="1905000"/>
            <a:ext cx="8458200" cy="4038600"/>
          </a:xfrm>
        </p:spPr>
        <p:txBody>
          <a:bodyPr vert="horz" wrap="square" lIns="91440" tIns="45720" rIns="91440" bIns="45720" numCol="1" anchor="t" anchorCtr="0" compatLnSpc="1"/>
          <a:lstStyle/>
          <a:p>
            <a:pPr marL="319405" marR="0" lvl="0" indent="-319405" algn="l" defTabSz="914400" rtl="0" eaLnBrk="0" fontAlgn="base" latinLnBrk="0" hangingPunct="0">
              <a:lnSpc>
                <a:spcPct val="150000"/>
              </a:lnSpc>
              <a:spcBef>
                <a:spcPts val="700"/>
              </a:spcBef>
              <a:spcAft>
                <a:spcPct val="0"/>
              </a:spcAft>
              <a:buClr>
                <a:srgbClr val="DA1F28"/>
              </a:buClr>
              <a:buSzPct val="60000"/>
              <a:buFont typeface="Wingdings" panose="05000000000000000000" pitchFamily="2" charset="2"/>
              <a:buNone/>
              <a:defRPr/>
            </a:pPr>
            <a:r>
              <a:rPr kumimoji="0" lang="zh-CN" altLang="en-US" sz="2400" b="0"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            在最一般的意义上，亦即没有任何约束条件，可以将</a:t>
            </a:r>
            <a:r>
              <a:rPr kumimoji="0" lang="zh-CN" altLang="en-US" sz="2400" b="1" i="0" u="none" strike="noStrike" kern="1200" cap="none" spc="0" normalizeH="0" baseline="0" noProof="0" dirty="0" smtClean="0">
                <a:ln>
                  <a:noFill/>
                </a:ln>
                <a:solidFill>
                  <a:srgbClr val="FF0000"/>
                </a:solidFill>
                <a:effectLst/>
                <a:uLnTx/>
                <a:uFillTx/>
                <a:latin typeface="华文楷体" panose="02010600040101010101" pitchFamily="2" charset="-122"/>
                <a:ea typeface="华文楷体" panose="02010600040101010101" pitchFamily="2" charset="-122"/>
                <a:cs typeface="+mn-cs"/>
              </a:rPr>
              <a:t>信息</a:t>
            </a:r>
            <a:r>
              <a:rPr kumimoji="0" lang="zh-CN" altLang="en-US" sz="2400" b="0"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rPr>
              <a:t>定义为事物存在的方式和运动状态的表现形式，是事物的一种属性。在引入必要的约束条件后可以形成特定的概念体系。通常情况下，可以把信息理解为消息、信号、数据、情报和知识。</a:t>
            </a:r>
            <a:endParaRPr kumimoji="0" lang="zh-CN" altLang="en-US" sz="2400" b="0" i="0" u="none" strike="noStrike" kern="1200" cap="none" spc="0" normalizeH="0" baseline="0" noProof="0" dirty="0" smtClean="0">
              <a:ln>
                <a:noFill/>
              </a:ln>
              <a:solidFill>
                <a:prstClr val="black"/>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TextBox 4"/>
          <p:cNvSpPr txBox="1"/>
          <p:nvPr>
            <p:custDataLst>
              <p:tags r:id="rId1"/>
            </p:custDataLst>
          </p:nvPr>
        </p:nvSpPr>
        <p:spPr>
          <a:xfrm>
            <a:off x="457200" y="1397000"/>
            <a:ext cx="8458200" cy="1422400"/>
          </a:xfrm>
          <a:prstGeom prst="rect">
            <a:avLst/>
          </a:prstGeom>
          <a:noFill/>
          <a:ln w="9525">
            <a:noFill/>
          </a:ln>
        </p:spPr>
        <p:txBody>
          <a:bodyPr anchor="ctr" anchorCtr="0"/>
          <a:p>
            <a:pPr>
              <a:buNone/>
            </a:pPr>
            <a:r>
              <a:rPr lang="zh-CN" altLang="zh-CN" sz="2800" b="1" dirty="0">
                <a:latin typeface="华文仿宋" panose="02010600040101010101" pitchFamily="2" charset="-122"/>
                <a:ea typeface="华文仿宋" panose="02010600040101010101" pitchFamily="2" charset="-122"/>
              </a:rPr>
              <a:t>信息</a:t>
            </a:r>
            <a:r>
              <a:rPr lang="zh-CN" altLang="zh-CN" sz="2800" dirty="0">
                <a:latin typeface="华文仿宋" panose="02010600040101010101" pitchFamily="2" charset="-122"/>
                <a:ea typeface="华文仿宋" panose="02010600040101010101" pitchFamily="2" charset="-122"/>
              </a:rPr>
              <a:t>来源于社会又作用于社会，说明信息具有（</a:t>
            </a:r>
            <a:r>
              <a:rPr lang="en-US" altLang="zh-CN" sz="2800" dirty="0">
                <a:latin typeface="华文仿宋" panose="02010600040101010101" pitchFamily="2" charset="-122"/>
                <a:ea typeface="华文仿宋" panose="02010600040101010101" pitchFamily="2" charset="-122"/>
              </a:rPr>
              <a:t> </a:t>
            </a:r>
            <a:r>
              <a:rPr lang="zh-CN" altLang="zh-CN" sz="2800" dirty="0">
                <a:latin typeface="华文仿宋" panose="02010600040101010101" pitchFamily="2" charset="-122"/>
                <a:ea typeface="华文仿宋" panose="02010600040101010101" pitchFamily="2" charset="-122"/>
              </a:rPr>
              <a:t>）</a:t>
            </a:r>
            <a:r>
              <a:rPr lang="zh-CN" altLang="en-US" sz="2800" dirty="0">
                <a:latin typeface="华文仿宋" panose="02010600040101010101" pitchFamily="2" charset="-122"/>
                <a:ea typeface="华文仿宋" panose="02010600040101010101" pitchFamily="2" charset="-122"/>
              </a:rPr>
              <a:t>？</a:t>
            </a:r>
            <a:endParaRPr lang="zh-CN" altLang="en-US" sz="2800" dirty="0">
              <a:latin typeface="华文仿宋" panose="02010600040101010101" pitchFamily="2" charset="-122"/>
              <a:ea typeface="华文仿宋" panose="02010600040101010101" pitchFamily="2" charset="-122"/>
              <a:sym typeface="微软雅黑" panose="020B0503020204020204" charset="-122"/>
            </a:endParaRPr>
          </a:p>
        </p:txBody>
      </p:sp>
      <p:sp>
        <p:nvSpPr>
          <p:cNvPr id="19459" name="TextBox 5"/>
          <p:cNvSpPr txBox="1"/>
          <p:nvPr>
            <p:custDataLst>
              <p:tags r:id="rId2"/>
            </p:custDataLst>
          </p:nvPr>
        </p:nvSpPr>
        <p:spPr>
          <a:xfrm>
            <a:off x="1828800" y="2786063"/>
            <a:ext cx="6400800" cy="642937"/>
          </a:xfrm>
          <a:prstGeom prst="rect">
            <a:avLst/>
          </a:prstGeom>
          <a:noFill/>
          <a:ln w="9525">
            <a:noFill/>
          </a:ln>
        </p:spPr>
        <p:txBody>
          <a:bodyPr anchor="ctr" anchorCtr="0"/>
          <a:p>
            <a:r>
              <a:rPr lang="zh-CN" altLang="zh-CN" dirty="0">
                <a:latin typeface="Times New Roman" panose="02020603050405020304" pitchFamily="18" charset="0"/>
              </a:rPr>
              <a:t>社会性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19460" name="TextBox 6"/>
          <p:cNvSpPr txBox="1"/>
          <p:nvPr>
            <p:custDataLst>
              <p:tags r:id="rId3"/>
            </p:custDataLst>
          </p:nvPr>
        </p:nvSpPr>
        <p:spPr>
          <a:xfrm>
            <a:off x="1828800" y="3643313"/>
            <a:ext cx="6400800" cy="642937"/>
          </a:xfrm>
          <a:prstGeom prst="rect">
            <a:avLst/>
          </a:prstGeom>
          <a:noFill/>
          <a:ln w="9525">
            <a:noFill/>
          </a:ln>
        </p:spPr>
        <p:txBody>
          <a:bodyPr anchor="ctr" anchorCtr="0"/>
          <a:p>
            <a:r>
              <a:rPr lang="zh-CN" altLang="zh-CN" dirty="0">
                <a:latin typeface="Times New Roman" panose="02020603050405020304" pitchFamily="18" charset="0"/>
              </a:rPr>
              <a:t>传载性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19461" name="TextBox 7"/>
          <p:cNvSpPr txBox="1"/>
          <p:nvPr>
            <p:custDataLst>
              <p:tags r:id="rId4"/>
            </p:custDataLst>
          </p:nvPr>
        </p:nvSpPr>
        <p:spPr>
          <a:xfrm>
            <a:off x="1828800" y="4500563"/>
            <a:ext cx="6400800" cy="642937"/>
          </a:xfrm>
          <a:prstGeom prst="rect">
            <a:avLst/>
          </a:prstGeom>
          <a:noFill/>
          <a:ln w="9525">
            <a:noFill/>
          </a:ln>
        </p:spPr>
        <p:txBody>
          <a:bodyPr anchor="ctr" anchorCtr="0"/>
          <a:p>
            <a:r>
              <a:rPr lang="zh-CN" altLang="zh-CN" dirty="0">
                <a:latin typeface="Times New Roman" panose="02020603050405020304" pitchFamily="18" charset="0"/>
              </a:rPr>
              <a:t>时间性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19462" name="TextBox 8"/>
          <p:cNvSpPr txBox="1"/>
          <p:nvPr>
            <p:custDataLst>
              <p:tags r:id="rId5"/>
            </p:custDataLst>
          </p:nvPr>
        </p:nvSpPr>
        <p:spPr>
          <a:xfrm>
            <a:off x="1828800" y="5357813"/>
            <a:ext cx="6400800" cy="642937"/>
          </a:xfrm>
          <a:prstGeom prst="rect">
            <a:avLst/>
          </a:prstGeom>
          <a:noFill/>
          <a:ln w="9525">
            <a:noFill/>
          </a:ln>
        </p:spPr>
        <p:txBody>
          <a:bodyPr anchor="ctr" anchorCtr="0"/>
          <a:p>
            <a:r>
              <a:rPr lang="zh-CN" altLang="zh-CN" dirty="0">
                <a:latin typeface="Times New Roman" panose="02020603050405020304" pitchFamily="18" charset="0"/>
              </a:rPr>
              <a:t>不灭性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19463"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9464"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9465" name="椭圆 11"/>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9466" name="椭圆 12"/>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9467" name="圆角矩形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9468" name="组合 18"/>
          <p:cNvGrpSpPr/>
          <p:nvPr/>
        </p:nvGrpSpPr>
        <p:grpSpPr>
          <a:xfrm>
            <a:off x="0" y="0"/>
            <a:ext cx="9144000" cy="635000"/>
            <a:chOff x="-164504" y="-4102254"/>
            <a:chExt cx="9144000" cy="635000"/>
          </a:xfrm>
        </p:grpSpPr>
        <p:sp>
          <p:nvSpPr>
            <p:cNvPr id="19470" name="TitleBackground"/>
            <p:cNvSpPr/>
            <p:nvPr>
              <p:custDataLst>
                <p:tags r:id="rId11"/>
              </p:custDataLst>
            </p:nvPr>
          </p:nvSpPr>
          <p:spPr>
            <a:xfrm>
              <a:off x="-164504" y="-4102254"/>
              <a:ext cx="9144000" cy="635000"/>
            </a:xfrm>
            <a:prstGeom prst="rect">
              <a:avLst/>
            </a:prstGeom>
            <a:solidFill>
              <a:srgbClr val="F6F7F8"/>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19471" name="ColorBlock"/>
            <p:cNvSpPr/>
            <p:nvPr>
              <p:custDataLst>
                <p:tags r:id="rId12"/>
              </p:custDataLst>
            </p:nvPr>
          </p:nvSpPr>
          <p:spPr>
            <a:xfrm>
              <a:off x="-164504" y="-4102254"/>
              <a:ext cx="190500" cy="635000"/>
            </a:xfrm>
            <a:prstGeom prst="rect">
              <a:avLst/>
            </a:prstGeom>
            <a:solidFill>
              <a:srgbClr val="639EF4"/>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19472" name="TypeText"/>
            <p:cNvSpPr txBox="1"/>
            <p:nvPr>
              <p:custDataLst>
                <p:tags r:id="rId13"/>
              </p:custDataLst>
            </p:nvPr>
          </p:nvSpPr>
          <p:spPr>
            <a:xfrm>
              <a:off x="89496" y="-4102254"/>
              <a:ext cx="1905000" cy="635000"/>
            </a:xfrm>
            <a:prstGeom prst="rect">
              <a:avLst/>
            </a:prstGeom>
            <a:noFill/>
            <a:ln w="9525">
              <a:noFill/>
            </a:ln>
          </p:spPr>
          <p:txBody>
            <a:bodyPr wrap="none" anchor="ctr" anchorCtr="0"/>
            <a:p>
              <a:r>
                <a:rPr lang="zh-CN" altLang="en-US" dirty="0">
                  <a:latin typeface="微软雅黑" panose="020B0503020204020204" charset="-122"/>
                  <a:ea typeface="微软雅黑" panose="020B0503020204020204" charset="-122"/>
                  <a:sym typeface="微软雅黑" panose="020B0503020204020204" charset="-122"/>
                </a:rPr>
                <a:t>投票</a:t>
              </a:r>
              <a:endParaRPr lang="zh-CN" altLang="en-US" dirty="0">
                <a:latin typeface="微软雅黑" panose="020B0503020204020204" charset="-122"/>
                <a:ea typeface="微软雅黑" panose="020B0503020204020204" charset="-122"/>
                <a:sym typeface="微软雅黑" panose="020B0503020204020204" charset="-122"/>
              </a:endParaRPr>
            </a:p>
          </p:txBody>
        </p:sp>
      </p:grpSp>
      <p:pic>
        <p:nvPicPr>
          <p:cNvPr id="19469" name="图片 3"/>
          <p:cNvPicPr/>
          <p:nvPr>
            <p:custDataLst>
              <p:tags r:id="rId14"/>
            </p:custDataLst>
          </p:nvPr>
        </p:nvPicPr>
        <p:blipFill>
          <a:blip r:embed="rId15"/>
          <a:stretch>
            <a:fillRect/>
          </a:stretch>
        </p:blipFill>
        <p:spPr>
          <a:xfrm>
            <a:off x="7594600" y="63500"/>
            <a:ext cx="1422400" cy="508000"/>
          </a:xfrm>
          <a:prstGeom prst="rect">
            <a:avLst/>
          </a:prstGeom>
          <a:noFill/>
          <a:ln w="9525">
            <a:noFill/>
          </a:ln>
        </p:spPr>
      </p:pic>
      <p:sp>
        <p:nvSpPr>
          <p:cNvPr id="2" name="TipText"/>
          <p:cNvSpPr txBox="1"/>
          <p:nvPr>
            <p:custDataLst>
              <p:tags r:id="rId16"/>
            </p:custDataLst>
          </p:nvPr>
        </p:nvSpPr>
        <p:spPr>
          <a:xfrm>
            <a:off x="1143000" y="109220"/>
            <a:ext cx="2286000" cy="5080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spTree>
    <p:custDataLst>
      <p:tags r:id="rId17"/>
    </p:custData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1"/>
          <p:cNvSpPr>
            <a:spLocks noGrp="1"/>
          </p:cNvSpPr>
          <p:nvPr>
            <p:ph type="title"/>
          </p:nvPr>
        </p:nvSpPr>
        <p:spPr/>
        <p:txBody>
          <a:bodyPr vert="horz" wrap="square" lIns="91440" tIns="45720" rIns="91440" bIns="45720" anchor="ctr" anchorCtr="0"/>
          <a:p>
            <a:r>
              <a:rPr lang="zh-CN" altLang="en-US" b="1" dirty="0">
                <a:ea typeface="宋体" panose="02010600030101010101" pitchFamily="2" charset="-122"/>
              </a:rPr>
              <a:t>信息安全</a:t>
            </a:r>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anchor="t" anchorCtr="0"/>
          <a:p>
            <a:pPr marL="319405" indent="-319405">
              <a:spcBef>
                <a:spcPts val="700"/>
              </a:spcBef>
              <a:buClr>
                <a:srgbClr val="DA1F28"/>
              </a:buClr>
              <a:buSzPct val="60000"/>
              <a:buNone/>
            </a:pPr>
            <a:r>
              <a:rPr lang="zh-CN" altLang="en-US" sz="2800" b="1" dirty="0">
                <a:solidFill>
                  <a:srgbClr val="000000"/>
                </a:solidFill>
                <a:latin typeface="Tw Cen MT"/>
                <a:ea typeface="华文仿宋" panose="02010600040101010101" pitchFamily="2" charset="-122"/>
              </a:rPr>
              <a:t>定义：</a:t>
            </a:r>
            <a:endParaRPr lang="zh-CN" altLang="en-US" sz="2800" b="1"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Font typeface="Wingdings" panose="05000000000000000000" pitchFamily="2" charset="2"/>
              <a:buChar char=""/>
            </a:pPr>
            <a:r>
              <a:rPr lang="zh-CN" altLang="en-US" sz="2000" dirty="0">
                <a:solidFill>
                  <a:srgbClr val="000000"/>
                </a:solidFill>
                <a:latin typeface="Tw Cen MT"/>
                <a:ea typeface="华文仿宋" panose="02010600040101010101" pitchFamily="2" charset="-122"/>
              </a:rPr>
              <a:t>信息安全是一个广泛而抽象的概念，不同领域不同方面对其概念的阐述有所不同。这里给出几个有代表性的定义方式：</a:t>
            </a:r>
            <a:endParaRPr lang="zh-CN" altLang="en-US" sz="2000"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Font typeface="Wingdings" panose="05000000000000000000" pitchFamily="2" charset="2"/>
              <a:buChar char=""/>
            </a:pPr>
            <a:r>
              <a:rPr lang="zh-CN" altLang="en-US" sz="2000" dirty="0">
                <a:solidFill>
                  <a:srgbClr val="000000"/>
                </a:solidFill>
                <a:latin typeface="Tw Cen MT"/>
                <a:ea typeface="华文仿宋" panose="02010600040101010101" pitchFamily="2" charset="-122"/>
              </a:rPr>
              <a:t>建立在网络基础之上的</a:t>
            </a:r>
            <a:r>
              <a:rPr lang="zh-CN" altLang="en-US" sz="2000" b="1" dirty="0">
                <a:solidFill>
                  <a:srgbClr val="00B0F0"/>
                </a:solidFill>
                <a:latin typeface="Tw Cen MT"/>
                <a:ea typeface="华文仿宋" panose="02010600040101010101" pitchFamily="2" charset="-122"/>
              </a:rPr>
              <a:t>现代信息系统的安全定义</a:t>
            </a:r>
            <a:r>
              <a:rPr lang="zh-CN" altLang="en-US" sz="2000" dirty="0">
                <a:solidFill>
                  <a:srgbClr val="000000"/>
                </a:solidFill>
                <a:latin typeface="Tw Cen MT"/>
                <a:ea typeface="华文仿宋" panose="02010600040101010101" pitchFamily="2" charset="-122"/>
              </a:rPr>
              <a:t>是指信息网络的硬件、软件及其系统中的数据受到保护，不受偶然的或者恶意的原因而遭到破坏、更改、泄露，系统连续可靠正常地运行，信息服务不中断。</a:t>
            </a:r>
            <a:endParaRPr lang="zh-CN" altLang="en-US" sz="2000"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Font typeface="Wingdings" panose="05000000000000000000" pitchFamily="2" charset="2"/>
              <a:buChar char=""/>
            </a:pPr>
            <a:r>
              <a:rPr lang="zh-CN" altLang="en-US" sz="2000" dirty="0">
                <a:solidFill>
                  <a:srgbClr val="000000"/>
                </a:solidFill>
                <a:latin typeface="Tw Cen MT"/>
                <a:ea typeface="华文仿宋" panose="02010600040101010101" pitchFamily="2" charset="-122"/>
              </a:rPr>
              <a:t>我国</a:t>
            </a:r>
            <a:r>
              <a:rPr lang="zh-CN" altLang="en-US" sz="2000" b="1" dirty="0">
                <a:solidFill>
                  <a:srgbClr val="00B0F0"/>
                </a:solidFill>
                <a:latin typeface="Tw Cen MT"/>
                <a:ea typeface="华文仿宋" panose="02010600040101010101" pitchFamily="2" charset="-122"/>
              </a:rPr>
              <a:t>相关立法给出的定义</a:t>
            </a:r>
            <a:r>
              <a:rPr lang="zh-CN" altLang="en-US" sz="2000" dirty="0">
                <a:solidFill>
                  <a:srgbClr val="000000"/>
                </a:solidFill>
                <a:latin typeface="Tw Cen MT"/>
                <a:ea typeface="华文仿宋" panose="02010600040101010101" pitchFamily="2" charset="-122"/>
              </a:rPr>
              <a:t>是：保障计算机及其相关的和配套的设备、设施（网络）的安全，运行环境的安全，保障信息安全，保障计算机功能的正常发挥，以维护计算机信息系统的安全。</a:t>
            </a:r>
            <a:endParaRPr lang="zh-CN" altLang="en-US" sz="2000"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Font typeface="Wingdings" panose="05000000000000000000" pitchFamily="2" charset="2"/>
              <a:buChar char=""/>
            </a:pPr>
            <a:r>
              <a:rPr lang="zh-CN" altLang="en-US" sz="2000" b="1" dirty="0">
                <a:solidFill>
                  <a:srgbClr val="00B0F0"/>
                </a:solidFill>
                <a:latin typeface="Tw Cen MT"/>
                <a:ea typeface="华文仿宋" panose="02010600040101010101" pitchFamily="2" charset="-122"/>
              </a:rPr>
              <a:t>国家信息安全重点实验室给出的定义</a:t>
            </a:r>
            <a:r>
              <a:rPr lang="zh-CN" altLang="en-US" sz="2000" dirty="0">
                <a:solidFill>
                  <a:srgbClr val="000000"/>
                </a:solidFill>
                <a:latin typeface="Tw Cen MT"/>
                <a:ea typeface="华文仿宋" panose="02010600040101010101" pitchFamily="2" charset="-122"/>
              </a:rPr>
              <a:t>是：信息安全涉及到信息的机密性、完整性、可用性、可控性。综合起来说，就是要保障电子信息的有效性。</a:t>
            </a:r>
            <a:endParaRPr lang="zh-CN" altLang="en-US" sz="2000" dirty="0">
              <a:solidFill>
                <a:srgbClr val="000000"/>
              </a:solidFill>
              <a:latin typeface="Tw Cen MT"/>
              <a:ea typeface="华文仿宋" panose="02010600040101010101" pitchFamily="2" charset="-122"/>
            </a:endParaRPr>
          </a:p>
          <a:p>
            <a:pPr marL="319405" indent="-319405">
              <a:buNone/>
            </a:pPr>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charRg st="57" end="148"/>
                                            </p:txEl>
                                          </p:spTgt>
                                        </p:tgtEl>
                                        <p:attrNameLst>
                                          <p:attrName>style.visibility</p:attrName>
                                        </p:attrNameLst>
                                      </p:cBhvr>
                                      <p:to>
                                        <p:strVal val="visible"/>
                                      </p:to>
                                    </p:set>
                                    <p:animEffect transition="in" filter="barn(inVertical)">
                                      <p:cBhvr>
                                        <p:cTn id="7" dur="500"/>
                                        <p:tgtEl>
                                          <p:spTgt spid="3">
                                            <p:txEl>
                                              <p:charRg st="57" end="1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charRg st="148" end="231"/>
                                            </p:txEl>
                                          </p:spTgt>
                                        </p:tgtEl>
                                        <p:attrNameLst>
                                          <p:attrName>style.visibility</p:attrName>
                                        </p:attrNameLst>
                                      </p:cBhvr>
                                      <p:to>
                                        <p:strVal val="visible"/>
                                      </p:to>
                                    </p:set>
                                    <p:animEffect transition="in" filter="fade">
                                      <p:cBhvr>
                                        <p:cTn id="12" dur="500"/>
                                        <p:tgtEl>
                                          <p:spTgt spid="3">
                                            <p:txEl>
                                              <p:charRg st="148" end="2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charRg st="231" end="296"/>
                                            </p:txEl>
                                          </p:spTgt>
                                        </p:tgtEl>
                                        <p:attrNameLst>
                                          <p:attrName>style.visibility</p:attrName>
                                        </p:attrNameLst>
                                      </p:cBhvr>
                                      <p:to>
                                        <p:strVal val="visible"/>
                                      </p:to>
                                    </p:set>
                                    <p:animEffect transition="in" filter="fade">
                                      <p:cBhvr>
                                        <p:cTn id="17" dur="500"/>
                                        <p:tgtEl>
                                          <p:spTgt spid="3">
                                            <p:txEl>
                                              <p:charRg st="231" end="2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Box 2"/>
          <p:cNvSpPr txBox="1"/>
          <p:nvPr>
            <p:custDataLst>
              <p:tags r:id="rId1"/>
            </p:custDataLst>
          </p:nvPr>
        </p:nvSpPr>
        <p:spPr>
          <a:xfrm>
            <a:off x="914400" y="1320800"/>
            <a:ext cx="7315200" cy="1346200"/>
          </a:xfrm>
          <a:prstGeom prst="rect">
            <a:avLst/>
          </a:prstGeom>
          <a:noFill/>
          <a:ln w="9525">
            <a:noFill/>
          </a:ln>
        </p:spPr>
        <p:txBody>
          <a:bodyPr anchor="ctr" anchorCtr="0"/>
          <a:p>
            <a:r>
              <a:rPr lang="zh-CN" altLang="zh-CN" dirty="0">
                <a:latin typeface="Times New Roman" panose="02020603050405020304" pitchFamily="18" charset="0"/>
              </a:rPr>
              <a:t>信息安全的基本属性是</a:t>
            </a:r>
            <a:r>
              <a:rPr lang="zh-CN" altLang="en-US" dirty="0">
                <a:latin typeface="Times New Roman" panose="02020603050405020304" pitchFamily="18" charset="0"/>
              </a:rPr>
              <a:t>什么？</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1507" name="TextBox 3"/>
          <p:cNvSpPr txBox="1"/>
          <p:nvPr>
            <p:custDataLst>
              <p:tags r:id="rId2"/>
            </p:custDataLst>
          </p:nvPr>
        </p:nvSpPr>
        <p:spPr>
          <a:xfrm>
            <a:off x="1828800" y="278606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机密性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1508" name="TextBox 4"/>
          <p:cNvSpPr txBox="1"/>
          <p:nvPr>
            <p:custDataLst>
              <p:tags r:id="rId3"/>
            </p:custDataLst>
          </p:nvPr>
        </p:nvSpPr>
        <p:spPr>
          <a:xfrm>
            <a:off x="1828800" y="364331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完整性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1509" name="TextBox 5"/>
          <p:cNvSpPr txBox="1"/>
          <p:nvPr>
            <p:custDataLst>
              <p:tags r:id="rId4"/>
            </p:custDataLst>
          </p:nvPr>
        </p:nvSpPr>
        <p:spPr>
          <a:xfrm>
            <a:off x="1828800" y="446881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可用性、可靠性、可控性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1510" name="TextBox 6"/>
          <p:cNvSpPr txBox="1"/>
          <p:nvPr>
            <p:custDataLst>
              <p:tags r:id="rId5"/>
            </p:custDataLst>
          </p:nvPr>
        </p:nvSpPr>
        <p:spPr>
          <a:xfrm>
            <a:off x="1828800" y="535781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真实性、抗抵赖性</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1511" name="矩形 7"/>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2" name="矩形 8"/>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3" name="矩形 9"/>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4" name="矩形 10"/>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roun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1515" name="圆角矩形 11"/>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1516" name="组合 16"/>
          <p:cNvGrpSpPr/>
          <p:nvPr/>
        </p:nvGrpSpPr>
        <p:grpSpPr>
          <a:xfrm>
            <a:off x="0" y="0"/>
            <a:ext cx="9144000" cy="635000"/>
            <a:chOff x="0" y="0"/>
            <a:chExt cx="9144000" cy="635000"/>
          </a:xfrm>
        </p:grpSpPr>
        <p:sp>
          <p:nvSpPr>
            <p:cNvPr id="21518" name="TitleBackground"/>
            <p:cNvSpPr/>
            <p:nvPr>
              <p:custDataLst>
                <p:tags r:id="rId11"/>
              </p:custDataLst>
            </p:nvPr>
          </p:nvSpPr>
          <p:spPr>
            <a:xfrm>
              <a:off x="0" y="0"/>
              <a:ext cx="9144000" cy="635000"/>
            </a:xfrm>
            <a:prstGeom prst="rect">
              <a:avLst/>
            </a:prstGeom>
            <a:solidFill>
              <a:srgbClr val="F6F7F8"/>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21519" name="ColorBlock"/>
            <p:cNvSpPr/>
            <p:nvPr>
              <p:custDataLst>
                <p:tags r:id="rId12"/>
              </p:custDataLst>
            </p:nvPr>
          </p:nvSpPr>
          <p:spPr>
            <a:xfrm>
              <a:off x="0" y="0"/>
              <a:ext cx="190500" cy="635000"/>
            </a:xfrm>
            <a:prstGeom prst="rect">
              <a:avLst/>
            </a:prstGeom>
            <a:solidFill>
              <a:srgbClr val="639EF4"/>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21520" name="TypeText"/>
            <p:cNvSpPr txBox="1"/>
            <p:nvPr>
              <p:custDataLst>
                <p:tags r:id="rId13"/>
              </p:custDataLst>
            </p:nvPr>
          </p:nvSpPr>
          <p:spPr>
            <a:xfrm>
              <a:off x="254000" y="0"/>
              <a:ext cx="1905000" cy="635000"/>
            </a:xfrm>
            <a:prstGeom prst="rect">
              <a:avLst/>
            </a:prstGeom>
            <a:noFill/>
            <a:ln w="9525">
              <a:noFill/>
            </a:ln>
          </p:spPr>
          <p:txBody>
            <a:bodyPr wrap="none" anchor="ctr" anchorCtr="0"/>
            <a:p>
              <a:r>
                <a:rPr lang="zh-CN" altLang="en-US" dirty="0">
                  <a:latin typeface="微软雅黑" panose="020B0503020204020204" charset="-122"/>
                  <a:ea typeface="微软雅黑" panose="020B0503020204020204" charset="-122"/>
                  <a:sym typeface="微软雅黑" panose="020B0503020204020204" charset="-122"/>
                </a:rPr>
                <a:t>投票</a:t>
              </a:r>
              <a:endParaRPr lang="zh-CN" altLang="en-US" dirty="0">
                <a:latin typeface="微软雅黑" panose="020B0503020204020204" charset="-122"/>
                <a:ea typeface="微软雅黑" panose="020B0503020204020204" charset="-122"/>
                <a:sym typeface="微软雅黑" panose="020B0503020204020204" charset="-122"/>
              </a:endParaRPr>
            </a:p>
          </p:txBody>
        </p:sp>
      </p:grpSp>
      <p:pic>
        <p:nvPicPr>
          <p:cNvPr id="21517" name="图片 1"/>
          <p:cNvPicPr/>
          <p:nvPr>
            <p:custDataLst>
              <p:tags r:id="rId14"/>
            </p:custDataLst>
          </p:nvPr>
        </p:nvPicPr>
        <p:blipFill>
          <a:blip r:embed="rId15"/>
          <a:stretch>
            <a:fillRect/>
          </a:stretch>
        </p:blipFill>
        <p:spPr>
          <a:xfrm>
            <a:off x="7594600" y="63500"/>
            <a:ext cx="1422400" cy="508000"/>
          </a:xfrm>
          <a:prstGeom prst="rect">
            <a:avLst/>
          </a:prstGeom>
          <a:noFill/>
          <a:ln w="9525">
            <a:noFill/>
          </a:ln>
        </p:spPr>
      </p:pic>
      <p:sp>
        <p:nvSpPr>
          <p:cNvPr id="4" name="TipText"/>
          <p:cNvSpPr txBox="1"/>
          <p:nvPr>
            <p:custDataLst>
              <p:tags r:id="rId16"/>
            </p:custDataLst>
          </p:nvPr>
        </p:nvSpPr>
        <p:spPr>
          <a:xfrm>
            <a:off x="1143000" y="109220"/>
            <a:ext cx="2286000" cy="5080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spTree>
    <p:custDataLst>
      <p:tags r:id="rId17"/>
    </p:custData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533400" y="1600200"/>
            <a:ext cx="8229600" cy="4572000"/>
          </a:xfrm>
        </p:spPr>
        <p:txBody>
          <a:bodyPr vert="horz" wrap="square" lIns="91440" tIns="45720" rIns="91440" bIns="45720" numCol="1" anchor="t" anchorCtr="0" compatLnSpc="1"/>
          <a:lstStyle/>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信息</a:t>
            </a:r>
            <a:r>
              <a:rPr kumimoji="0" lang="zh-CN" altLang="en-US" sz="28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rPr>
              <a:t>安全</a:t>
            </a:r>
            <a:r>
              <a:rPr kumimoji="0" lang="zh-CN" altLang="en-US" sz="28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属性：</a:t>
            </a:r>
            <a:endParaRPr kumimoji="0" lang="en-US" altLang="zh-CN" sz="28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rPr>
              <a:t>机密性（</a:t>
            </a:r>
            <a:r>
              <a:rPr kumimoji="0" lang="en-US" altLang="zh-CN" sz="2800" b="1" i="0" u="none" strike="noStrike" kern="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rPr>
              <a:t>Confidentiality</a:t>
            </a:r>
            <a:r>
              <a:rPr kumimoji="0" lang="zh-CN" altLang="en-US" sz="28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a:t>
            </a:r>
            <a:endParaRPr kumimoji="0" lang="en-US" altLang="zh-CN" sz="28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rPr>
              <a:t>完整性（</a:t>
            </a:r>
            <a:r>
              <a:rPr kumimoji="0" lang="en-US" altLang="zh-CN" sz="2800" b="1" i="0" u="none" strike="noStrike" kern="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rPr>
              <a:t>Integrity</a:t>
            </a:r>
            <a:r>
              <a:rPr kumimoji="0" lang="zh-CN" altLang="en-US" sz="28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a:t>
            </a:r>
            <a:endParaRPr kumimoji="0" lang="en-US" altLang="zh-CN" sz="28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rPr>
              <a:t>可用性（</a:t>
            </a:r>
            <a:r>
              <a:rPr kumimoji="0" lang="en-US" altLang="zh-CN" sz="2800" b="1" i="0" u="none" strike="noStrike" kern="0" cap="none" spc="0" normalizeH="0" baseline="0" noProof="0" dirty="0">
                <a:ln>
                  <a:noFill/>
                </a:ln>
                <a:solidFill>
                  <a:srgbClr val="FF0000"/>
                </a:solidFill>
                <a:effectLst/>
                <a:uLnTx/>
                <a:uFillTx/>
                <a:latin typeface="华文仿宋" panose="02010600040101010101" pitchFamily="2" charset="-122"/>
                <a:ea typeface="华文仿宋" panose="02010600040101010101" pitchFamily="2" charset="-122"/>
              </a:rPr>
              <a:t>Availability</a:t>
            </a:r>
            <a:r>
              <a:rPr kumimoji="0" lang="zh-CN" altLang="en-US" sz="28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a:t>
            </a:r>
            <a:endParaRPr kumimoji="0" lang="en-US" altLang="zh-CN" sz="28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rPr>
              <a:t>真实性</a:t>
            </a:r>
            <a:endParaRPr kumimoji="0" lang="en-US" altLang="zh-CN" sz="28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rPr>
              <a:t>抗</a:t>
            </a:r>
            <a:r>
              <a:rPr kumimoji="0" lang="zh-CN" altLang="en-US" sz="2800" b="1" i="0" u="none" strike="noStrike" kern="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rPr>
              <a:t>抵赖</a:t>
            </a:r>
            <a:r>
              <a:rPr kumimoji="0" lang="zh-CN" altLang="en-US" sz="2800" b="1" i="0" u="none" strike="noStrike" kern="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rPr>
              <a:t>性（</a:t>
            </a:r>
            <a:r>
              <a:rPr kumimoji="0" lang="zh-CN" altLang="en-US" sz="2800" b="1" i="0" u="none" strike="noStrike" kern="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rPr>
              <a:t>不可否认</a:t>
            </a:r>
            <a:r>
              <a:rPr kumimoji="0" lang="zh-CN" altLang="en-US" sz="2800" b="1" i="0" u="none" strike="noStrike" kern="0" cap="none" spc="0" normalizeH="0" baseline="0" noProof="0" dirty="0" smtClean="0">
                <a:ln>
                  <a:noFill/>
                </a:ln>
                <a:solidFill>
                  <a:schemeClr val="tx1"/>
                </a:solidFill>
                <a:effectLst/>
                <a:uLnTx/>
                <a:uFillTx/>
                <a:latin typeface="华文仿宋" panose="02010600040101010101" pitchFamily="2" charset="-122"/>
                <a:ea typeface="华文仿宋" panose="02010600040101010101" pitchFamily="2" charset="-122"/>
              </a:rPr>
              <a:t>性</a:t>
            </a:r>
            <a:r>
              <a:rPr kumimoji="0" lang="zh-CN" altLang="en-US" sz="2800" b="1" i="0" u="none" strike="noStrike" kern="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rPr>
              <a:t>）</a:t>
            </a:r>
            <a:endParaRPr kumimoji="0" lang="en-US" altLang="zh-CN" sz="2800" b="1" i="0" u="none" strike="noStrike" kern="0" cap="none" spc="0" normalizeH="0" baseline="0" noProof="0" dirty="0">
              <a:ln>
                <a:noFill/>
              </a:ln>
              <a:solidFill>
                <a:schemeClr val="tx1"/>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可靠性</a:t>
            </a:r>
            <a:endParaRPr kumimoji="0" lang="en-US" altLang="zh-CN" sz="28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rPr>
              <a:t>可控性</a:t>
            </a:r>
            <a:endParaRPr kumimoji="0" lang="en-US" altLang="zh-CN" sz="28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endParaRPr kumimoji="0" lang="en-US" altLang="zh-CN" sz="24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charRg st="8" end="2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59">
                                            <p:txEl>
                                              <p:charRg st="29" end="4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59">
                                            <p:txEl>
                                              <p:charRg st="44" end="6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19459">
                                            <p:txEl>
                                              <p:charRg st="62" end="66"/>
                                            </p:txEl>
                                          </p:spTgt>
                                        </p:tgtEl>
                                        <p:attrNameLst>
                                          <p:attrName>style.visibility</p:attrName>
                                        </p:attrNameLst>
                                      </p:cBhvr>
                                      <p:to>
                                        <p:strVal val="visible"/>
                                      </p:to>
                                    </p:set>
                                    <p:animEffect transition="in" filter="wheel(1)">
                                      <p:cBhvr>
                                        <p:cTn id="15" dur="2000"/>
                                        <p:tgtEl>
                                          <p:spTgt spid="19459">
                                            <p:txEl>
                                              <p:charRg st="62" end="66"/>
                                            </p:txEl>
                                          </p:spTgt>
                                        </p:tgtEl>
                                      </p:cBhvr>
                                    </p:animEffect>
                                  </p:childTnLst>
                                </p:cTn>
                              </p:par>
                              <p:par>
                                <p:cTn id="16" presetID="21" presetClass="entr" presetSubtype="1" fill="hold" nodeType="withEffect">
                                  <p:stCondLst>
                                    <p:cond delay="0"/>
                                  </p:stCondLst>
                                  <p:childTnLst>
                                    <p:set>
                                      <p:cBhvr>
                                        <p:cTn id="17" dur="1" fill="hold">
                                          <p:stCondLst>
                                            <p:cond delay="0"/>
                                          </p:stCondLst>
                                        </p:cTn>
                                        <p:tgtEl>
                                          <p:spTgt spid="19459">
                                            <p:txEl>
                                              <p:charRg st="66" end="78"/>
                                            </p:txEl>
                                          </p:spTgt>
                                        </p:tgtEl>
                                        <p:attrNameLst>
                                          <p:attrName>style.visibility</p:attrName>
                                        </p:attrNameLst>
                                      </p:cBhvr>
                                      <p:to>
                                        <p:strVal val="visible"/>
                                      </p:to>
                                    </p:set>
                                    <p:animEffect transition="in" filter="wheel(1)">
                                      <p:cBhvr>
                                        <p:cTn id="18" dur="2000"/>
                                        <p:tgtEl>
                                          <p:spTgt spid="19459">
                                            <p:txEl>
                                              <p:charRg st="66" end="7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9459">
                                            <p:txEl>
                                              <p:charRg st="78" end="82"/>
                                            </p:txEl>
                                          </p:spTgt>
                                        </p:tgtEl>
                                        <p:attrNameLst>
                                          <p:attrName>style.visibility</p:attrName>
                                        </p:attrNameLst>
                                      </p:cBhvr>
                                      <p:to>
                                        <p:strVal val="visible"/>
                                      </p:to>
                                    </p:set>
                                    <p:animEffect transition="in" filter="wipe(down)">
                                      <p:cBhvr>
                                        <p:cTn id="23" dur="500"/>
                                        <p:tgtEl>
                                          <p:spTgt spid="19459">
                                            <p:txEl>
                                              <p:charRg st="78" end="82"/>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19459">
                                            <p:txEl>
                                              <p:charRg st="82" end="86"/>
                                            </p:txEl>
                                          </p:spTgt>
                                        </p:tgtEl>
                                        <p:attrNameLst>
                                          <p:attrName>style.visibility</p:attrName>
                                        </p:attrNameLst>
                                      </p:cBhvr>
                                      <p:to>
                                        <p:strVal val="visible"/>
                                      </p:to>
                                    </p:set>
                                    <p:animEffect transition="in" filter="wipe(down)">
                                      <p:cBhvr>
                                        <p:cTn id="26" dur="500"/>
                                        <p:tgtEl>
                                          <p:spTgt spid="19459">
                                            <p:txEl>
                                              <p:charRg st="82"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信息安全特点</a:t>
            </a:r>
            <a:endParaRPr lang="zh-CN" altLang="en-US" b="1" dirty="0">
              <a:ea typeface="宋体" panose="02010600030101010101" pitchFamily="2" charset="-122"/>
            </a:endParaRPr>
          </a:p>
        </p:txBody>
      </p:sp>
      <p:sp>
        <p:nvSpPr>
          <p:cNvPr id="9219" name="内容占位符 2"/>
          <p:cNvSpPr>
            <a:spLocks noGrp="1" noChangeArrowheads="1"/>
          </p:cNvSpPr>
          <p:nvPr>
            <p:ph idx="1"/>
          </p:nvPr>
        </p:nvSpPr>
        <p:spPr>
          <a:xfrm>
            <a:off x="152400" y="1219200"/>
            <a:ext cx="8534400" cy="47244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 重要特点：</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0" fontAlgn="base" latinLnBrk="0" hangingPunct="0">
              <a:lnSpc>
                <a:spcPct val="200000"/>
              </a:lnSpc>
              <a:spcBef>
                <a:spcPct val="20000"/>
              </a:spcBef>
              <a:spcAft>
                <a:spcPct val="0"/>
              </a:spcAft>
              <a:buClr>
                <a:schemeClr val="tx1"/>
              </a:buClr>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rPr>
              <a:t>必然性：</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信息系统太复杂，系统设计、实现、内部控制等方面都有弱点，运行安全，信息资产，甚至上升到国家安全的高度。</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0" fontAlgn="base" latinLnBrk="0" hangingPunct="0">
              <a:lnSpc>
                <a:spcPct val="200000"/>
              </a:lnSpc>
              <a:spcBef>
                <a:spcPct val="20000"/>
              </a:spcBef>
              <a:spcAft>
                <a:spcPct val="0"/>
              </a:spcAft>
              <a:buClr>
                <a:schemeClr val="tx1"/>
              </a:buClr>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rPr>
              <a:t>配角特性：</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信息安全是信息系统建设中的陪衬角色，安全不是目的，保证信息系统正常提供服务。</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0" fontAlgn="base" latinLnBrk="0" hangingPunct="0">
              <a:lnSpc>
                <a:spcPct val="200000"/>
              </a:lnSpc>
              <a:spcBef>
                <a:spcPct val="20000"/>
              </a:spcBef>
              <a:spcAft>
                <a:spcPct val="0"/>
              </a:spcAft>
              <a:buClr>
                <a:schemeClr val="tx1"/>
              </a:buClr>
              <a:buSzTx/>
              <a:buFontTx/>
              <a:buChar char="•"/>
              <a:defRPr/>
            </a:pPr>
            <a:r>
              <a:rPr kumimoji="0" lang="zh-CN" altLang="en-US" sz="2000" b="1" i="0" u="none" strike="noStrike" kern="0" cap="none" spc="0" normalizeH="0" baseline="0" noProof="0" dirty="0" smtClean="0">
                <a:ln>
                  <a:noFill/>
                </a:ln>
                <a:solidFill>
                  <a:srgbClr val="FF0000"/>
                </a:solidFill>
                <a:effectLst/>
                <a:uLnTx/>
                <a:uFillTx/>
                <a:latin typeface="楷体_GB2312" pitchFamily="49" charset="-122"/>
                <a:ea typeface="楷体_GB2312" pitchFamily="49" charset="-122"/>
              </a:rPr>
              <a:t>动态性：</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技术在发展，威胁在变化，信息安全是一个持续、动态的过程，根据风险变化及时调整</a:t>
            </a:r>
            <a:r>
              <a:rPr kumimoji="0" lang="zh-CN" altLang="en-US" sz="2000" b="1" i="0" u="none" strike="noStrike" kern="0" cap="none" spc="0" normalizeH="0" baseline="0" noProof="0" dirty="0" smtClean="0">
                <a:ln>
                  <a:noFill/>
                </a:ln>
                <a:solidFill>
                  <a:srgbClr val="FF0000"/>
                </a:solidFill>
                <a:effectLst>
                  <a:outerShdw blurRad="38100" dist="38100" dir="2700000" algn="tl">
                    <a:srgbClr val="000000">
                      <a:alpha val="43137"/>
                    </a:srgbClr>
                  </a:outerShdw>
                </a:effectLst>
                <a:uLnTx/>
                <a:uFillTx/>
                <a:latin typeface="楷体_GB2312" pitchFamily="49" charset="-122"/>
                <a:ea typeface="楷体_GB2312" pitchFamily="49" charset="-122"/>
              </a:rPr>
              <a:t>安全策略</a:t>
            </a:r>
            <a:r>
              <a:rPr kumimoji="0" lang="zh-CN" altLang="en-US"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a:t>
            </a: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914400" marR="0" lvl="2" indent="0" algn="l" defTabSz="914400" rtl="0" eaLnBrk="1" fontAlgn="base" latinLnBrk="0" hangingPunct="1">
              <a:lnSpc>
                <a:spcPct val="100000"/>
              </a:lnSpc>
              <a:spcBef>
                <a:spcPct val="20000"/>
              </a:spcBef>
              <a:spcAft>
                <a:spcPct val="0"/>
              </a:spcAft>
              <a:buClr>
                <a:schemeClr val="tx1"/>
              </a:buClr>
              <a:buSzTx/>
              <a:buFontTx/>
              <a:buNone/>
              <a:defRPr/>
            </a:pPr>
            <a:endParaRPr kumimoji="0" lang="en-US" altLang="zh-CN" sz="24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19">
                                            <p:txEl>
                                              <p:charRg st="8" end="64"/>
                                            </p:txEl>
                                          </p:spTgt>
                                        </p:tgtEl>
                                        <p:attrNameLst>
                                          <p:attrName>style.visibility</p:attrName>
                                        </p:attrNameLst>
                                      </p:cBhvr>
                                      <p:to>
                                        <p:strVal val="visible"/>
                                      </p:to>
                                    </p:set>
                                    <p:animEffect transition="in" filter="wipe(down)">
                                      <p:cBhvr>
                                        <p:cTn id="7" dur="500"/>
                                        <p:tgtEl>
                                          <p:spTgt spid="9219">
                                            <p:txEl>
                                              <p:charRg st="8" end="6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19">
                                            <p:txEl>
                                              <p:charRg st="64" end="108"/>
                                            </p:txEl>
                                          </p:spTgt>
                                        </p:tgtEl>
                                        <p:attrNameLst>
                                          <p:attrName>style.visibility</p:attrName>
                                        </p:attrNameLst>
                                      </p:cBhvr>
                                      <p:to>
                                        <p:strVal val="visible"/>
                                      </p:to>
                                    </p:set>
                                    <p:animEffect transition="in" filter="fade">
                                      <p:cBhvr>
                                        <p:cTn id="12" dur="500"/>
                                        <p:tgtEl>
                                          <p:spTgt spid="9219">
                                            <p:txEl>
                                              <p:charRg st="64" end="10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9219">
                                            <p:txEl>
                                              <p:charRg st="108" end="156"/>
                                            </p:txEl>
                                          </p:spTgt>
                                        </p:tgtEl>
                                        <p:attrNameLst>
                                          <p:attrName>style.visibility</p:attrName>
                                        </p:attrNameLst>
                                      </p:cBhvr>
                                      <p:to>
                                        <p:strVal val="visible"/>
                                      </p:to>
                                    </p:set>
                                    <p:animEffect transition="in" filter="fade">
                                      <p:cBhvr>
                                        <p:cTn id="17" dur="1000"/>
                                        <p:tgtEl>
                                          <p:spTgt spid="9219">
                                            <p:txEl>
                                              <p:charRg st="108" end="156"/>
                                            </p:txEl>
                                          </p:spTgt>
                                        </p:tgtEl>
                                      </p:cBhvr>
                                    </p:animEffect>
                                    <p:anim calcmode="lin" valueType="num">
                                      <p:cBhvr>
                                        <p:cTn id="18" dur="1000" fill="hold"/>
                                        <p:tgtEl>
                                          <p:spTgt spid="9219">
                                            <p:txEl>
                                              <p:charRg st="108" end="156"/>
                                            </p:txEl>
                                          </p:spTgt>
                                        </p:tgtEl>
                                        <p:attrNameLst>
                                          <p:attrName>ppt_x</p:attrName>
                                        </p:attrNameLst>
                                      </p:cBhvr>
                                      <p:tavLst>
                                        <p:tav tm="0">
                                          <p:val>
                                            <p:strVal val="#ppt_x"/>
                                          </p:val>
                                        </p:tav>
                                        <p:tav tm="100000">
                                          <p:val>
                                            <p:strVal val="#ppt_x"/>
                                          </p:val>
                                        </p:tav>
                                      </p:tavLst>
                                    </p:anim>
                                    <p:anim calcmode="lin" valueType="num">
                                      <p:cBhvr>
                                        <p:cTn id="19" dur="1000" fill="hold"/>
                                        <p:tgtEl>
                                          <p:spTgt spid="9219">
                                            <p:txEl>
                                              <p:charRg st="108" end="15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信息安全意义</a:t>
            </a:r>
            <a:endParaRPr lang="zh-CN" altLang="en-US" b="1" dirty="0">
              <a:ea typeface="宋体" panose="02010600030101010101" pitchFamily="2" charset="-122"/>
            </a:endParaRPr>
          </a:p>
        </p:txBody>
      </p:sp>
      <p:sp>
        <p:nvSpPr>
          <p:cNvPr id="9219" name="内容占位符 2"/>
          <p:cNvSpPr>
            <a:spLocks noGrp="1" noChangeArrowheads="1"/>
          </p:cNvSpPr>
          <p:nvPr>
            <p:ph idx="1"/>
          </p:nvPr>
        </p:nvSpPr>
        <p:spPr>
          <a:xfrm>
            <a:off x="304800" y="914400"/>
            <a:ext cx="8229600" cy="46482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endParaRPr kumimoji="0" lang="en-US" altLang="zh-CN" sz="32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endParaRPr kumimoji="0" lang="en-US" altLang="zh-CN" sz="20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cs typeface="+mn-cs"/>
              </a:rPr>
              <a:t> 信息安全的意义（</a:t>
            </a:r>
            <a:r>
              <a:rPr kumimoji="0" lang="zh-CN" altLang="en-US" sz="24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重大战略价值</a:t>
            </a:r>
            <a:r>
              <a:rPr kumimoji="0" lang="zh-CN" altLang="en-US" sz="24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cs typeface="+mn-cs"/>
              </a:rPr>
              <a:t>）：</a:t>
            </a:r>
            <a:endParaRPr kumimoji="0" lang="en-US" altLang="zh-CN" sz="2400" b="1" i="0" u="none" strike="noStrike" kern="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信息安全的政治意义</a:t>
            </a:r>
            <a:r>
              <a:rPr kumimoji="0" lang="zh-CN" altLang="en-US" sz="20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a:t>
            </a:r>
            <a:r>
              <a:rPr kumimoji="0" lang="zh-CN" altLang="en-US" sz="20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任何国家安全战略的重要组成部分。</a:t>
            </a:r>
            <a:endParaRPr kumimoji="0" lang="en-US" altLang="zh-CN" sz="20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信息安全的经济意义</a:t>
            </a:r>
            <a:r>
              <a:rPr kumimoji="0" lang="zh-CN" altLang="en-US" sz="20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a:t>
            </a:r>
            <a:r>
              <a:rPr kumimoji="0" lang="zh-CN" altLang="en-US" sz="20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信息化建设直接影响国家经济安全。</a:t>
            </a:r>
            <a:endParaRPr kumimoji="0" lang="en-US" altLang="zh-CN" sz="20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endParaRPr>
          </a:p>
          <a:p>
            <a:pPr marL="1143000" marR="0" lvl="2" indent="-228600" algn="l" defTabSz="914400" rtl="0" eaLnBrk="0" fontAlgn="base" latinLnBrk="0" hangingPunct="0">
              <a:lnSpc>
                <a:spcPct val="150000"/>
              </a:lnSpc>
              <a:spcBef>
                <a:spcPct val="20000"/>
              </a:spcBef>
              <a:spcAft>
                <a:spcPct val="0"/>
              </a:spcAft>
              <a:buClr>
                <a:schemeClr val="tx1"/>
              </a:buClr>
              <a:buSzTx/>
              <a:buFontTx/>
              <a:buChar char="•"/>
              <a:defRPr/>
            </a:pPr>
            <a:r>
              <a:rPr kumimoji="0" lang="zh-CN" altLang="zh-CN" sz="20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信息安全与社会稳定的意义</a:t>
            </a:r>
            <a:r>
              <a:rPr kumimoji="0" lang="zh-CN" altLang="en-US" sz="2000" b="1" i="0" u="none" strike="noStrike" kern="0" cap="none" spc="0" normalizeH="0" baseline="0" noProof="0" dirty="0" smtClean="0">
                <a:ln>
                  <a:noFill/>
                </a:ln>
                <a:solidFill>
                  <a:srgbClr val="FF0000"/>
                </a:solidFill>
                <a:effectLst/>
                <a:uLnTx/>
                <a:uFillTx/>
                <a:latin typeface="华文仿宋" panose="02010600040101010101" pitchFamily="2" charset="-122"/>
                <a:ea typeface="华文仿宋" panose="02010600040101010101" pitchFamily="2" charset="-122"/>
              </a:rPr>
              <a:t>：</a:t>
            </a:r>
            <a:r>
              <a:rPr kumimoji="0" lang="zh-CN" altLang="en-US" sz="20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社会安定需要、个人隐私数据泄漏等</a:t>
            </a:r>
            <a:r>
              <a:rPr kumimoji="0" lang="zh-CN" altLang="en-US" sz="16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rPr>
              <a:t>。</a:t>
            </a:r>
            <a:endParaRPr kumimoji="0" lang="en-US" altLang="zh-CN" sz="1600" b="1" i="0" u="none" strike="noStrike" kern="0" cap="none" spc="0" normalizeH="0" baseline="0" noProof="0" dirty="0" smtClean="0">
              <a:ln>
                <a:noFill/>
              </a:ln>
              <a:solidFill>
                <a:srgbClr val="000000"/>
              </a:solidFill>
              <a:effectLst/>
              <a:uLnTx/>
              <a:uFillTx/>
              <a:latin typeface="华文仿宋" panose="02010600040101010101" pitchFamily="2" charset="-122"/>
              <a:ea typeface="华文仿宋" panose="02010600040101010101" pitchFamily="2" charset="-122"/>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defRPr/>
            </a:pPr>
            <a:endParaRPr kumimoji="0" lang="en-US" altLang="zh-CN" sz="24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9219">
                                            <p:txEl>
                                              <p:charRg st="20" end="47"/>
                                            </p:txEl>
                                          </p:spTgt>
                                        </p:tgtEl>
                                        <p:attrNameLst>
                                          <p:attrName>style.visibility</p:attrName>
                                        </p:attrNameLst>
                                      </p:cBhvr>
                                      <p:to>
                                        <p:strVal val="visible"/>
                                      </p:to>
                                    </p:set>
                                    <p:animEffect transition="in" filter="fade">
                                      <p:cBhvr>
                                        <p:cTn id="7" dur="2000"/>
                                        <p:tgtEl>
                                          <p:spTgt spid="9219">
                                            <p:txEl>
                                              <p:charRg st="20" end="47"/>
                                            </p:txEl>
                                          </p:spTgt>
                                        </p:tgtEl>
                                      </p:cBhvr>
                                    </p:animEffect>
                                    <p:anim calcmode="lin" valueType="num">
                                      <p:cBhvr>
                                        <p:cTn id="8" dur="2000" fill="hold"/>
                                        <p:tgtEl>
                                          <p:spTgt spid="9219">
                                            <p:txEl>
                                              <p:charRg st="20" end="47"/>
                                            </p:txEl>
                                          </p:spTgt>
                                        </p:tgtEl>
                                        <p:attrNameLst>
                                          <p:attrName>ppt_w</p:attrName>
                                        </p:attrNameLst>
                                      </p:cBhvr>
                                      <p:tavLst>
                                        <p:tav tm="0" fmla="#ppt_w*sin(2.5*pi*$)">
                                          <p:val>
                                            <p:fltVal val="0.000000"/>
                                          </p:val>
                                        </p:tav>
                                        <p:tav tm="100000">
                                          <p:val>
                                            <p:fltVal val="1.000000"/>
                                          </p:val>
                                        </p:tav>
                                      </p:tavLst>
                                    </p:anim>
                                    <p:anim calcmode="lin" valueType="num">
                                      <p:cBhvr>
                                        <p:cTn id="9" dur="2000" fill="hold"/>
                                        <p:tgtEl>
                                          <p:spTgt spid="9219">
                                            <p:txEl>
                                              <p:charRg st="20" end="47"/>
                                            </p:txEl>
                                          </p:spTgt>
                                        </p:tgtEl>
                                        <p:attrNameLst>
                                          <p:attrName>ppt_h</p:attrName>
                                        </p:attrNameLst>
                                      </p:cBhvr>
                                      <p:tavLst>
                                        <p:tav tm="0">
                                          <p:val>
                                            <p:strVal val="#ppt_h"/>
                                          </p:val>
                                        </p:tav>
                                        <p:tav tm="100000">
                                          <p:val>
                                            <p:strVal val="#ppt_h"/>
                                          </p:val>
                                        </p:tav>
                                      </p:tavLst>
                                    </p:anim>
                                  </p:childTnLst>
                                </p:cTn>
                              </p:par>
                              <p:par>
                                <p:cTn id="10" presetID="45" presetClass="entr" presetSubtype="0" fill="hold" nodeType="withEffect">
                                  <p:stCondLst>
                                    <p:cond delay="0"/>
                                  </p:stCondLst>
                                  <p:childTnLst>
                                    <p:set>
                                      <p:cBhvr>
                                        <p:cTn id="11" dur="1" fill="hold">
                                          <p:stCondLst>
                                            <p:cond delay="0"/>
                                          </p:stCondLst>
                                        </p:cTn>
                                        <p:tgtEl>
                                          <p:spTgt spid="9219">
                                            <p:txEl>
                                              <p:charRg st="47" end="74"/>
                                            </p:txEl>
                                          </p:spTgt>
                                        </p:tgtEl>
                                        <p:attrNameLst>
                                          <p:attrName>style.visibility</p:attrName>
                                        </p:attrNameLst>
                                      </p:cBhvr>
                                      <p:to>
                                        <p:strVal val="visible"/>
                                      </p:to>
                                    </p:set>
                                    <p:animEffect transition="in" filter="fade">
                                      <p:cBhvr>
                                        <p:cTn id="12" dur="2000"/>
                                        <p:tgtEl>
                                          <p:spTgt spid="9219">
                                            <p:txEl>
                                              <p:charRg st="47" end="74"/>
                                            </p:txEl>
                                          </p:spTgt>
                                        </p:tgtEl>
                                      </p:cBhvr>
                                    </p:animEffect>
                                    <p:anim calcmode="lin" valueType="num">
                                      <p:cBhvr>
                                        <p:cTn id="13" dur="2000" fill="hold"/>
                                        <p:tgtEl>
                                          <p:spTgt spid="9219">
                                            <p:txEl>
                                              <p:charRg st="47" end="74"/>
                                            </p:txEl>
                                          </p:spTgt>
                                        </p:tgtEl>
                                        <p:attrNameLst>
                                          <p:attrName>ppt_w</p:attrName>
                                        </p:attrNameLst>
                                      </p:cBhvr>
                                      <p:tavLst>
                                        <p:tav tm="0" fmla="#ppt_w*sin(2.5*pi*$)">
                                          <p:val>
                                            <p:fltVal val="0.000000"/>
                                          </p:val>
                                        </p:tav>
                                        <p:tav tm="100000">
                                          <p:val>
                                            <p:fltVal val="1.000000"/>
                                          </p:val>
                                        </p:tav>
                                      </p:tavLst>
                                    </p:anim>
                                    <p:anim calcmode="lin" valueType="num">
                                      <p:cBhvr>
                                        <p:cTn id="14" dur="2000" fill="hold"/>
                                        <p:tgtEl>
                                          <p:spTgt spid="9219">
                                            <p:txEl>
                                              <p:charRg st="47" end="74"/>
                                            </p:txEl>
                                          </p:spTgt>
                                        </p:tgtEl>
                                        <p:attrNameLst>
                                          <p:attrName>ppt_h</p:attrName>
                                        </p:attrNameLst>
                                      </p:cBhvr>
                                      <p:tavLst>
                                        <p:tav tm="0">
                                          <p:val>
                                            <p:strVal val="#ppt_h"/>
                                          </p:val>
                                        </p:tav>
                                        <p:tav tm="100000">
                                          <p:val>
                                            <p:strVal val="#ppt_h"/>
                                          </p:val>
                                        </p:tav>
                                      </p:tavLst>
                                    </p:anim>
                                  </p:childTnLst>
                                </p:cTn>
                              </p:par>
                              <p:par>
                                <p:cTn id="15" presetID="45" presetClass="entr" presetSubtype="0" fill="hold" nodeType="withEffect">
                                  <p:stCondLst>
                                    <p:cond delay="0"/>
                                  </p:stCondLst>
                                  <p:childTnLst>
                                    <p:set>
                                      <p:cBhvr>
                                        <p:cTn id="16" dur="1" fill="hold">
                                          <p:stCondLst>
                                            <p:cond delay="0"/>
                                          </p:stCondLst>
                                        </p:cTn>
                                        <p:tgtEl>
                                          <p:spTgt spid="9219">
                                            <p:txEl>
                                              <p:charRg st="74" end="105"/>
                                            </p:txEl>
                                          </p:spTgt>
                                        </p:tgtEl>
                                        <p:attrNameLst>
                                          <p:attrName>style.visibility</p:attrName>
                                        </p:attrNameLst>
                                      </p:cBhvr>
                                      <p:to>
                                        <p:strVal val="visible"/>
                                      </p:to>
                                    </p:set>
                                    <p:animEffect transition="in" filter="fade">
                                      <p:cBhvr>
                                        <p:cTn id="17" dur="2000"/>
                                        <p:tgtEl>
                                          <p:spTgt spid="9219">
                                            <p:txEl>
                                              <p:charRg st="74" end="105"/>
                                            </p:txEl>
                                          </p:spTgt>
                                        </p:tgtEl>
                                      </p:cBhvr>
                                    </p:animEffect>
                                    <p:anim calcmode="lin" valueType="num">
                                      <p:cBhvr>
                                        <p:cTn id="18" dur="2000" fill="hold"/>
                                        <p:tgtEl>
                                          <p:spTgt spid="9219">
                                            <p:txEl>
                                              <p:charRg st="74" end="105"/>
                                            </p:txEl>
                                          </p:spTgt>
                                        </p:tgtEl>
                                        <p:attrNameLst>
                                          <p:attrName>ppt_w</p:attrName>
                                        </p:attrNameLst>
                                      </p:cBhvr>
                                      <p:tavLst>
                                        <p:tav tm="0" fmla="#ppt_w*sin(2.5*pi*$)">
                                          <p:val>
                                            <p:fltVal val="0.000000"/>
                                          </p:val>
                                        </p:tav>
                                        <p:tav tm="100000">
                                          <p:val>
                                            <p:fltVal val="1.000000"/>
                                          </p:val>
                                        </p:tav>
                                      </p:tavLst>
                                    </p:anim>
                                    <p:anim calcmode="lin" valueType="num">
                                      <p:cBhvr>
                                        <p:cTn id="19" dur="2000" fill="hold"/>
                                        <p:tgtEl>
                                          <p:spTgt spid="9219">
                                            <p:txEl>
                                              <p:charRg st="74" end="10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信息安全要素</a:t>
            </a:r>
            <a:endParaRPr lang="zh-CN" altLang="en-US" dirty="0">
              <a:ea typeface="宋体" panose="02010600030101010101" pitchFamily="2" charset="-122"/>
            </a:endParaRPr>
          </a:p>
        </p:txBody>
      </p:sp>
      <p:sp>
        <p:nvSpPr>
          <p:cNvPr id="3" name="内容占位符 2"/>
          <p:cNvSpPr>
            <a:spLocks noGrp="1"/>
          </p:cNvSpPr>
          <p:nvPr>
            <p:ph idx="1"/>
          </p:nvPr>
        </p:nvSpPr>
        <p:spPr>
          <a:xfrm>
            <a:off x="457200" y="1676400"/>
            <a:ext cx="8229600" cy="4648200"/>
          </a:xfrm>
        </p:spPr>
        <p:txBody>
          <a:bodyPr vert="horz" wrap="square" lIns="91440" tIns="45720" rIns="91440" bIns="45720" anchor="t" anchorCtr="0"/>
          <a:p>
            <a:pPr>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rPr>
              <a:t>信息安全保障体系的三大要素</a:t>
            </a:r>
            <a:endParaRPr lang="en-US" altLang="zh-CN"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dirty="0">
              <a:ea typeface="宋体" panose="02010600030101010101" pitchFamily="2" charset="-122"/>
            </a:endParaRPr>
          </a:p>
          <a:p>
            <a:pPr>
              <a:spcBef>
                <a:spcPts val="700"/>
              </a:spcBef>
              <a:buClr>
                <a:srgbClr val="DA1F28"/>
              </a:buClr>
              <a:buSzPct val="60000"/>
              <a:buNone/>
            </a:pPr>
            <a:r>
              <a:rPr lang="en-US" altLang="zh-CN" sz="2400" b="1" dirty="0">
                <a:solidFill>
                  <a:srgbClr val="000000"/>
                </a:solidFill>
                <a:latin typeface="华文楷体" panose="02010600040101010101" pitchFamily="2" charset="-122"/>
                <a:ea typeface="华文楷体" panose="02010600040101010101" pitchFamily="2" charset="-122"/>
              </a:rPr>
              <a:t>    </a:t>
            </a:r>
            <a:r>
              <a:rPr lang="en-US" altLang="zh-CN" sz="2400" b="1" dirty="0">
                <a:solidFill>
                  <a:srgbClr val="000000"/>
                </a:solidFill>
                <a:latin typeface="华文仿宋" panose="02010600040101010101" pitchFamily="2" charset="-122"/>
                <a:ea typeface="华文仿宋" panose="02010600040101010101" pitchFamily="2" charset="-122"/>
              </a:rPr>
              <a:t>1</a:t>
            </a:r>
            <a:r>
              <a:rPr lang="zh-CN" altLang="en-US" sz="2400" b="1" dirty="0">
                <a:solidFill>
                  <a:srgbClr val="000000"/>
                </a:solidFill>
                <a:latin typeface="华文仿宋" panose="02010600040101010101" pitchFamily="2" charset="-122"/>
                <a:ea typeface="华文仿宋" panose="02010600040101010101" pitchFamily="2" charset="-122"/>
              </a:rPr>
              <a:t>．信息安全技术（应用技术层面）</a:t>
            </a:r>
            <a:endParaRPr lang="zh-CN" altLang="en-US" sz="2400" b="1" dirty="0">
              <a:solidFill>
                <a:srgbClr val="000000"/>
              </a:solidFill>
              <a:latin typeface="华文仿宋" panose="02010600040101010101" pitchFamily="2" charset="-122"/>
              <a:ea typeface="华文仿宋" panose="02010600040101010101" pitchFamily="2" charset="-122"/>
            </a:endParaRPr>
          </a:p>
          <a:p>
            <a:pPr>
              <a:spcBef>
                <a:spcPts val="700"/>
              </a:spcBef>
              <a:buClr>
                <a:srgbClr val="DA1F28"/>
              </a:buClr>
              <a:buSzPct val="60000"/>
              <a:buNone/>
            </a:pPr>
            <a:r>
              <a:rPr lang="en-US" altLang="zh-CN" sz="2400" b="1" dirty="0">
                <a:solidFill>
                  <a:srgbClr val="000000"/>
                </a:solidFill>
                <a:latin typeface="华文仿宋" panose="02010600040101010101" pitchFamily="2" charset="-122"/>
                <a:ea typeface="华文仿宋" panose="02010600040101010101" pitchFamily="2" charset="-122"/>
              </a:rPr>
              <a:t>    2</a:t>
            </a:r>
            <a:r>
              <a:rPr lang="zh-CN" altLang="en-US" sz="2400" b="1" dirty="0">
                <a:solidFill>
                  <a:srgbClr val="000000"/>
                </a:solidFill>
                <a:latin typeface="华文仿宋" panose="02010600040101010101" pitchFamily="2" charset="-122"/>
                <a:ea typeface="华文仿宋" panose="02010600040101010101" pitchFamily="2" charset="-122"/>
              </a:rPr>
              <a:t>．信息安全标准（信息安全管理体系中重要组成部分）</a:t>
            </a:r>
            <a:endParaRPr lang="zh-CN" altLang="en-US" sz="2400" b="1" dirty="0">
              <a:solidFill>
                <a:srgbClr val="000000"/>
              </a:solidFill>
              <a:latin typeface="华文仿宋" panose="02010600040101010101" pitchFamily="2" charset="-122"/>
              <a:ea typeface="华文仿宋" panose="02010600040101010101" pitchFamily="2" charset="-122"/>
            </a:endParaRPr>
          </a:p>
          <a:p>
            <a:pPr>
              <a:spcBef>
                <a:spcPts val="700"/>
              </a:spcBef>
              <a:buClr>
                <a:srgbClr val="DA1F28"/>
              </a:buClr>
              <a:buSzPct val="60000"/>
              <a:buNone/>
            </a:pPr>
            <a:r>
              <a:rPr lang="en-US" altLang="zh-CN" sz="2400" b="1" dirty="0">
                <a:solidFill>
                  <a:srgbClr val="000000"/>
                </a:solidFill>
                <a:latin typeface="华文仿宋" panose="02010600040101010101" pitchFamily="2" charset="-122"/>
                <a:ea typeface="华文仿宋" panose="02010600040101010101" pitchFamily="2" charset="-122"/>
              </a:rPr>
              <a:t>    3</a:t>
            </a:r>
            <a:r>
              <a:rPr lang="zh-CN" altLang="en-US" sz="2400" b="1" dirty="0">
                <a:solidFill>
                  <a:srgbClr val="000000"/>
                </a:solidFill>
                <a:latin typeface="华文仿宋" panose="02010600040101010101" pitchFamily="2" charset="-122"/>
                <a:ea typeface="华文仿宋" panose="02010600040101010101" pitchFamily="2" charset="-122"/>
              </a:rPr>
              <a:t>．信息安全法律（一系列的法律法规制定）</a:t>
            </a:r>
            <a:endParaRPr lang="zh-CN" altLang="en-US" sz="2400" b="1" dirty="0">
              <a:solidFill>
                <a:srgbClr val="000000"/>
              </a:solidFill>
              <a:latin typeface="华文仿宋" panose="02010600040101010101" pitchFamily="2" charset="-122"/>
              <a:ea typeface="华文仿宋" panose="02010600040101010101" pitchFamily="2" charset="-122"/>
            </a:endParaRPr>
          </a:p>
          <a:p>
            <a:pPr>
              <a:buNone/>
            </a:pPr>
            <a:endParaRPr lang="en-US" altLang="zh-CN" dirty="0">
              <a:ea typeface="宋体" panose="02010600030101010101" pitchFamily="2" charset="-122"/>
            </a:endParaRPr>
          </a:p>
          <a:p>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charRg st="15" end="36"/>
                                            </p:txEl>
                                          </p:spTgt>
                                        </p:tgtEl>
                                        <p:attrNameLst>
                                          <p:attrName>style.visibility</p:attrName>
                                        </p:attrNameLst>
                                      </p:cBhvr>
                                      <p:to>
                                        <p:strVal val="visible"/>
                                      </p:to>
                                    </p:set>
                                    <p:animEffect transition="in" filter="wipe(down)">
                                      <p:cBhvr>
                                        <p:cTn id="7" dur="500"/>
                                        <p:tgtEl>
                                          <p:spTgt spid="3">
                                            <p:txEl>
                                              <p:charRg st="15" end="36"/>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charRg st="36" end="66"/>
                                            </p:txEl>
                                          </p:spTgt>
                                        </p:tgtEl>
                                        <p:attrNameLst>
                                          <p:attrName>style.visibility</p:attrName>
                                        </p:attrNameLst>
                                      </p:cBhvr>
                                      <p:to>
                                        <p:strVal val="visible"/>
                                      </p:to>
                                    </p:set>
                                    <p:animEffect transition="in" filter="wipe(down)">
                                      <p:cBhvr>
                                        <p:cTn id="10" dur="500"/>
                                        <p:tgtEl>
                                          <p:spTgt spid="3">
                                            <p:txEl>
                                              <p:charRg st="36" end="6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charRg st="66" end="91"/>
                                            </p:txEl>
                                          </p:spTgt>
                                        </p:tgtEl>
                                        <p:attrNameLst>
                                          <p:attrName>style.visibility</p:attrName>
                                        </p:attrNameLst>
                                      </p:cBhvr>
                                      <p:to>
                                        <p:strVal val="visible"/>
                                      </p:to>
                                    </p:set>
                                    <p:animEffect transition="in" filter="wipe(down)">
                                      <p:cBhvr>
                                        <p:cTn id="13" dur="500"/>
                                        <p:tgtEl>
                                          <p:spTgt spid="3">
                                            <p:txEl>
                                              <p:charRg st="66" end="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信息安全事件</a:t>
            </a:r>
            <a:endParaRPr lang="zh-CN" altLang="en-US" dirty="0">
              <a:ea typeface="宋体" panose="02010600030101010101" pitchFamily="2" charset="-122"/>
            </a:endParaRPr>
          </a:p>
        </p:txBody>
      </p:sp>
      <p:sp>
        <p:nvSpPr>
          <p:cNvPr id="3" name="内容占位符 2"/>
          <p:cNvSpPr>
            <a:spLocks noGrp="1"/>
          </p:cNvSpPr>
          <p:nvPr>
            <p:ph idx="1"/>
          </p:nvPr>
        </p:nvSpPr>
        <p:spPr>
          <a:xfrm>
            <a:off x="457200" y="1143000"/>
            <a:ext cx="8229600" cy="5410200"/>
          </a:xfrm>
        </p:spPr>
        <p:txBody>
          <a:bodyPr vert="horz" wrap="square" lIns="91440" tIns="45720" rIns="91440" bIns="45720" anchor="t" anchorCtr="0"/>
          <a:p>
            <a:pPr marL="319405" indent="-319405">
              <a:spcBef>
                <a:spcPts val="700"/>
              </a:spcBef>
              <a:buClr>
                <a:srgbClr val="DA1F28"/>
              </a:buClr>
              <a:buSzPct val="60000"/>
              <a:buFont typeface="Wingdings" panose="05000000000000000000" pitchFamily="2" charset="2"/>
              <a:buChar char=""/>
            </a:pPr>
            <a:r>
              <a:rPr lang="zh-CN" altLang="en-US" sz="2800" b="1" dirty="0">
                <a:solidFill>
                  <a:srgbClr val="000000"/>
                </a:solidFill>
                <a:latin typeface="Tw Cen MT"/>
                <a:ea typeface="华文仿宋" panose="02010600040101010101" pitchFamily="2" charset="-122"/>
              </a:rPr>
              <a:t>信息安全事件</a:t>
            </a:r>
            <a:endParaRPr lang="en-US" altLang="zh-CN" sz="2800" b="1"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None/>
            </a:pPr>
            <a:r>
              <a:rPr lang="en-US" altLang="zh-CN" sz="2900" dirty="0">
                <a:solidFill>
                  <a:srgbClr val="000000"/>
                </a:solidFill>
                <a:latin typeface="Tw Cen MT"/>
                <a:ea typeface="华文仿宋" panose="02010600040101010101" pitchFamily="2" charset="-122"/>
              </a:rPr>
              <a:t>		</a:t>
            </a:r>
            <a:r>
              <a:rPr lang="zh-CN" altLang="en-US" sz="2400" dirty="0">
                <a:solidFill>
                  <a:srgbClr val="000000"/>
                </a:solidFill>
                <a:latin typeface="Tw Cen MT"/>
                <a:ea typeface="华文仿宋" panose="02010600040101010101" pitchFamily="2" charset="-122"/>
              </a:rPr>
              <a:t>信息安全事件的防范和处置是国家信息安全保障体系中的重要环节，也是重要的工作内容。信息安全事件的分类分级是快速有效处置信息安全事件的基础之一。</a:t>
            </a:r>
            <a:endParaRPr lang="en-US" altLang="zh-CN" sz="2400"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Font typeface="Wingdings" panose="05000000000000000000" pitchFamily="2" charset="2"/>
              <a:buChar char="v"/>
            </a:pPr>
            <a:r>
              <a:rPr lang="en-US" altLang="zh-CN" sz="2400" b="1" dirty="0">
                <a:solidFill>
                  <a:srgbClr val="FF0000"/>
                </a:solidFill>
                <a:latin typeface="Tw Cen MT"/>
                <a:ea typeface="华文仿宋" panose="02010600040101010101" pitchFamily="2" charset="-122"/>
              </a:rPr>
              <a:t>《</a:t>
            </a:r>
            <a:r>
              <a:rPr lang="zh-CN" altLang="en-US" sz="2400" b="1" dirty="0">
                <a:solidFill>
                  <a:srgbClr val="FF0000"/>
                </a:solidFill>
                <a:latin typeface="Tw Cen MT"/>
                <a:ea typeface="华文仿宋" panose="02010600040101010101" pitchFamily="2" charset="-122"/>
              </a:rPr>
              <a:t>信息安全事件分类分级指南</a:t>
            </a:r>
            <a:r>
              <a:rPr lang="en-US" altLang="zh-CN" sz="2400" b="1" dirty="0">
                <a:solidFill>
                  <a:srgbClr val="FF0000"/>
                </a:solidFill>
                <a:latin typeface="Tw Cen MT"/>
                <a:ea typeface="华文仿宋" panose="02010600040101010101" pitchFamily="2" charset="-122"/>
              </a:rPr>
              <a:t>》</a:t>
            </a:r>
            <a:r>
              <a:rPr lang="zh-CN" altLang="en-US" sz="2400" b="1" dirty="0">
                <a:solidFill>
                  <a:srgbClr val="FF0000"/>
                </a:solidFill>
                <a:latin typeface="Tw Cen MT"/>
                <a:ea typeface="华文仿宋" panose="02010600040101010101" pitchFamily="2" charset="-122"/>
              </a:rPr>
              <a:t>提供下列安全术语：</a:t>
            </a:r>
            <a:endParaRPr lang="en-US" altLang="zh-CN" sz="2400" b="1" dirty="0">
              <a:solidFill>
                <a:srgbClr val="FF0000"/>
              </a:solidFill>
              <a:latin typeface="Tw Cen MT"/>
              <a:ea typeface="华文仿宋" panose="02010600040101010101" pitchFamily="2" charset="-122"/>
            </a:endParaRPr>
          </a:p>
          <a:p>
            <a:pPr marL="319405" indent="-319405">
              <a:spcBef>
                <a:spcPts val="700"/>
              </a:spcBef>
              <a:buClr>
                <a:srgbClr val="DA1F28"/>
              </a:buClr>
              <a:buSzPct val="60000"/>
              <a:buNone/>
            </a:pPr>
            <a:r>
              <a:rPr lang="en-US" altLang="zh-CN" sz="2400" dirty="0">
                <a:solidFill>
                  <a:srgbClr val="000000"/>
                </a:solidFill>
                <a:latin typeface="Tw Cen MT"/>
                <a:ea typeface="宋体" panose="02010600030101010101" pitchFamily="2" charset="-122"/>
              </a:rPr>
              <a:t>1</a:t>
            </a:r>
            <a:r>
              <a:rPr lang="zh-CN" altLang="en-US" sz="2400" dirty="0">
                <a:solidFill>
                  <a:srgbClr val="000000"/>
                </a:solidFill>
                <a:latin typeface="Tw Cen MT"/>
                <a:ea typeface="华文仿宋" panose="02010600040101010101" pitchFamily="2" charset="-122"/>
              </a:rPr>
              <a:t>．</a:t>
            </a:r>
            <a:r>
              <a:rPr lang="zh-CN" altLang="en-US" sz="2400" b="1" dirty="0">
                <a:solidFill>
                  <a:srgbClr val="000000"/>
                </a:solidFill>
                <a:latin typeface="Tw Cen MT"/>
                <a:ea typeface="华文仿宋" panose="02010600040101010101" pitchFamily="2" charset="-122"/>
              </a:rPr>
              <a:t>信息系统（</a:t>
            </a:r>
            <a:r>
              <a:rPr lang="en-US" altLang="zh-CN" sz="2400" b="1" dirty="0">
                <a:solidFill>
                  <a:srgbClr val="000000"/>
                </a:solidFill>
                <a:latin typeface="Tw Cen MT"/>
                <a:ea typeface="华文仿宋" panose="02010600040101010101" pitchFamily="2" charset="-122"/>
              </a:rPr>
              <a:t>information system</a:t>
            </a:r>
            <a:r>
              <a:rPr lang="zh-CN" altLang="en-US" sz="2400" b="1" dirty="0">
                <a:solidFill>
                  <a:srgbClr val="000000"/>
                </a:solidFill>
                <a:latin typeface="Tw Cen MT"/>
                <a:ea typeface="华文仿宋" panose="02010600040101010101" pitchFamily="2" charset="-122"/>
              </a:rPr>
              <a:t>）</a:t>
            </a:r>
            <a:endParaRPr lang="en-US" altLang="zh-CN" sz="2400" b="1" dirty="0">
              <a:solidFill>
                <a:srgbClr val="000000"/>
              </a:solidFill>
              <a:latin typeface="Tw Cen MT"/>
              <a:ea typeface="华文仿宋" panose="02010600040101010101" pitchFamily="2" charset="-122"/>
            </a:endParaRPr>
          </a:p>
          <a:p>
            <a:pPr marL="640080" lvl="1" indent="-273050">
              <a:spcBef>
                <a:spcPts val="550"/>
              </a:spcBef>
              <a:buClr>
                <a:srgbClr val="2DA2BF"/>
              </a:buClr>
              <a:buSzPct val="70000"/>
              <a:buNone/>
            </a:pPr>
            <a:r>
              <a:rPr lang="zh-CN" altLang="en-US" sz="2000" dirty="0">
                <a:solidFill>
                  <a:srgbClr val="000000"/>
                </a:solidFill>
                <a:latin typeface="Tw Cen MT"/>
                <a:ea typeface="华文仿宋" panose="02010600040101010101" pitchFamily="2" charset="-122"/>
              </a:rPr>
              <a:t>      由计算机及其相关的和配套的设备、设施（含网络）构成的，按照一定的应用目标和规则对信息进行采集、加工、存储、传输、检索等处理的人机系统。</a:t>
            </a:r>
            <a:endParaRPr lang="zh-CN" altLang="en-US" sz="2000"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None/>
            </a:pPr>
            <a:r>
              <a:rPr lang="en-US" altLang="zh-CN" sz="2400" dirty="0">
                <a:solidFill>
                  <a:srgbClr val="000000"/>
                </a:solidFill>
                <a:latin typeface="Tw Cen MT"/>
                <a:ea typeface="宋体" panose="02010600030101010101" pitchFamily="2" charset="-122"/>
              </a:rPr>
              <a:t>2</a:t>
            </a:r>
            <a:r>
              <a:rPr lang="zh-CN" altLang="en-US" sz="2400" dirty="0">
                <a:solidFill>
                  <a:srgbClr val="000000"/>
                </a:solidFill>
                <a:latin typeface="Tw Cen MT"/>
                <a:ea typeface="华文仿宋" panose="02010600040101010101" pitchFamily="2" charset="-122"/>
              </a:rPr>
              <a:t>．</a:t>
            </a:r>
            <a:r>
              <a:rPr lang="zh-CN" altLang="en-US" sz="2400" b="1" dirty="0">
                <a:solidFill>
                  <a:srgbClr val="000000"/>
                </a:solidFill>
                <a:latin typeface="Tw Cen MT"/>
                <a:ea typeface="华文仿宋" panose="02010600040101010101" pitchFamily="2" charset="-122"/>
              </a:rPr>
              <a:t>信息安全事件（</a:t>
            </a:r>
            <a:r>
              <a:rPr lang="en-US" altLang="zh-CN" sz="2400" b="1" dirty="0">
                <a:solidFill>
                  <a:srgbClr val="000000"/>
                </a:solidFill>
                <a:latin typeface="Tw Cen MT"/>
                <a:ea typeface="华文仿宋" panose="02010600040101010101" pitchFamily="2" charset="-122"/>
              </a:rPr>
              <a:t>information security incident</a:t>
            </a:r>
            <a:r>
              <a:rPr lang="zh-CN" altLang="en-US" sz="2400" b="1" dirty="0">
                <a:solidFill>
                  <a:srgbClr val="000000"/>
                </a:solidFill>
                <a:latin typeface="Tw Cen MT"/>
                <a:ea typeface="华文仿宋" panose="02010600040101010101" pitchFamily="2" charset="-122"/>
              </a:rPr>
              <a:t>）</a:t>
            </a:r>
            <a:endParaRPr lang="zh-CN" altLang="en-US" sz="2400" b="1" dirty="0">
              <a:solidFill>
                <a:srgbClr val="000000"/>
              </a:solidFill>
              <a:latin typeface="Tw Cen MT"/>
              <a:ea typeface="华文仿宋" panose="02010600040101010101" pitchFamily="2" charset="-122"/>
            </a:endParaRPr>
          </a:p>
          <a:p>
            <a:pPr marL="640080" lvl="1" indent="-273050">
              <a:spcBef>
                <a:spcPts val="550"/>
              </a:spcBef>
              <a:buClr>
                <a:srgbClr val="2DA2BF"/>
              </a:buClr>
              <a:buSzPct val="70000"/>
              <a:buNone/>
            </a:pPr>
            <a:r>
              <a:rPr lang="zh-CN" altLang="en-US" sz="2000" dirty="0">
                <a:solidFill>
                  <a:srgbClr val="000000"/>
                </a:solidFill>
                <a:latin typeface="Tw Cen MT"/>
                <a:ea typeface="华文仿宋" panose="02010600040101010101" pitchFamily="2" charset="-122"/>
              </a:rPr>
              <a:t>      由于自然或者人为以及软硬件本身缺陷或故障的原因，对信息系统造成危害，或对社会造成负面影响的事件。</a:t>
            </a:r>
            <a:endParaRPr lang="zh-CN" altLang="en-US" sz="2000" dirty="0">
              <a:solidFill>
                <a:srgbClr val="000000"/>
              </a:solidFill>
              <a:latin typeface="Tw Cen MT"/>
              <a:ea typeface="华文仿宋" panose="02010600040101010101" pitchFamily="2" charset="-122"/>
            </a:endParaRPr>
          </a:p>
          <a:p>
            <a:pPr marL="319405" indent="-319405">
              <a:spcBef>
                <a:spcPts val="700"/>
              </a:spcBef>
              <a:buClr>
                <a:srgbClr val="DA1F28"/>
              </a:buClr>
              <a:buSzPct val="60000"/>
              <a:buNone/>
            </a:pPr>
            <a:endParaRPr lang="zh-CN" altLang="en-US" sz="2400" dirty="0">
              <a:solidFill>
                <a:srgbClr val="000000"/>
              </a:solidFill>
              <a:latin typeface="Tw Cen MT"/>
              <a:ea typeface="华文仿宋" panose="02010600040101010101" pitchFamily="2" charset="-122"/>
            </a:endParaRPr>
          </a:p>
          <a:p>
            <a:pPr marL="319405" indent="-319405"/>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charRg st="7" end="80"/>
                                            </p:txEl>
                                          </p:spTgt>
                                        </p:tgtEl>
                                        <p:attrNameLst>
                                          <p:attrName>style.visibility</p:attrName>
                                        </p:attrNameLst>
                                      </p:cBhvr>
                                      <p:to>
                                        <p:strVal val="visible"/>
                                      </p:to>
                                    </p:set>
                                    <p:animEffect transition="in" filter="fade">
                                      <p:cBhvr>
                                        <p:cTn id="7" dur="500"/>
                                        <p:tgtEl>
                                          <p:spTgt spid="3">
                                            <p:txEl>
                                              <p:charRg st="7" end="8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charRg st="80" end="104"/>
                                            </p:txEl>
                                          </p:spTgt>
                                        </p:tgtEl>
                                        <p:attrNameLst>
                                          <p:attrName>style.visibility</p:attrName>
                                        </p:attrNameLst>
                                      </p:cBhvr>
                                      <p:to>
                                        <p:strVal val="visible"/>
                                      </p:to>
                                    </p:set>
                                    <p:animEffect transition="in" filter="randombar(horizontal)">
                                      <p:cBhvr>
                                        <p:cTn id="12" dur="500"/>
                                        <p:tgtEl>
                                          <p:spTgt spid="3">
                                            <p:txEl>
                                              <p:charRg st="80" end="10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charRg st="104" end="131"/>
                                            </p:txEl>
                                          </p:spTgt>
                                        </p:tgtEl>
                                        <p:attrNameLst>
                                          <p:attrName>style.visibility</p:attrName>
                                        </p:attrNameLst>
                                      </p:cBhvr>
                                      <p:to>
                                        <p:strVal val="visible"/>
                                      </p:to>
                                    </p:set>
                                    <p:animEffect transition="in" filter="wipe(down)">
                                      <p:cBhvr>
                                        <p:cTn id="17" dur="500"/>
                                        <p:tgtEl>
                                          <p:spTgt spid="3">
                                            <p:txEl>
                                              <p:charRg st="104" end="131"/>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
                                            <p:txEl>
                                              <p:charRg st="131" end="205"/>
                                            </p:txEl>
                                          </p:spTgt>
                                        </p:tgtEl>
                                        <p:attrNameLst>
                                          <p:attrName>style.visibility</p:attrName>
                                        </p:attrNameLst>
                                      </p:cBhvr>
                                      <p:to>
                                        <p:strVal val="visible"/>
                                      </p:to>
                                    </p:set>
                                    <p:animEffect transition="in" filter="wipe(down)">
                                      <p:cBhvr>
                                        <p:cTn id="20" dur="500"/>
                                        <p:tgtEl>
                                          <p:spTgt spid="3">
                                            <p:txEl>
                                              <p:charRg st="131" end="20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3">
                                            <p:txEl>
                                              <p:charRg st="205" end="245"/>
                                            </p:txEl>
                                          </p:spTgt>
                                        </p:tgtEl>
                                        <p:attrNameLst>
                                          <p:attrName>style.visibility</p:attrName>
                                        </p:attrNameLst>
                                      </p:cBhvr>
                                      <p:to>
                                        <p:strVal val="visible"/>
                                      </p:to>
                                    </p:set>
                                    <p:anim calcmode="lin" valueType="num">
                                      <p:cBhvr>
                                        <p:cTn id="25" dur="1000" fill="hold"/>
                                        <p:tgtEl>
                                          <p:spTgt spid="3">
                                            <p:txEl>
                                              <p:charRg st="205" end="245"/>
                                            </p:txEl>
                                          </p:spTgt>
                                        </p:tgtEl>
                                        <p:attrNameLst>
                                          <p:attrName>ppt_w</p:attrName>
                                        </p:attrNameLst>
                                      </p:cBhvr>
                                      <p:tavLst>
                                        <p:tav tm="0">
                                          <p:val>
                                            <p:fltVal val="0.000000"/>
                                          </p:val>
                                        </p:tav>
                                        <p:tav tm="100000">
                                          <p:val>
                                            <p:strVal val="#ppt_w"/>
                                          </p:val>
                                        </p:tav>
                                      </p:tavLst>
                                    </p:anim>
                                    <p:anim calcmode="lin" valueType="num">
                                      <p:cBhvr>
                                        <p:cTn id="26" dur="1000" fill="hold"/>
                                        <p:tgtEl>
                                          <p:spTgt spid="3">
                                            <p:txEl>
                                              <p:charRg st="205" end="245"/>
                                            </p:txEl>
                                          </p:spTgt>
                                        </p:tgtEl>
                                        <p:attrNameLst>
                                          <p:attrName>ppt_h</p:attrName>
                                        </p:attrNameLst>
                                      </p:cBhvr>
                                      <p:tavLst>
                                        <p:tav tm="0">
                                          <p:val>
                                            <p:fltVal val="0.000000"/>
                                          </p:val>
                                        </p:tav>
                                        <p:tav tm="100000">
                                          <p:val>
                                            <p:strVal val="#ppt_h"/>
                                          </p:val>
                                        </p:tav>
                                      </p:tavLst>
                                    </p:anim>
                                    <p:anim calcmode="lin" valueType="num">
                                      <p:cBhvr>
                                        <p:cTn id="27" dur="1000" fill="hold"/>
                                        <p:tgtEl>
                                          <p:spTgt spid="3">
                                            <p:txEl>
                                              <p:charRg st="205" end="245"/>
                                            </p:txEl>
                                          </p:spTgt>
                                        </p:tgtEl>
                                        <p:attrNameLst>
                                          <p:attrName>style.rotation</p:attrName>
                                        </p:attrNameLst>
                                      </p:cBhvr>
                                      <p:tavLst>
                                        <p:tav tm="0">
                                          <p:val>
                                            <p:fltVal val="90.000000"/>
                                          </p:val>
                                        </p:tav>
                                        <p:tav tm="100000">
                                          <p:val>
                                            <p:fltVal val="0.000000"/>
                                          </p:val>
                                        </p:tav>
                                      </p:tavLst>
                                    </p:anim>
                                    <p:animEffect transition="in" filter="fade">
                                      <p:cBhvr>
                                        <p:cTn id="28" dur="1000"/>
                                        <p:tgtEl>
                                          <p:spTgt spid="3">
                                            <p:txEl>
                                              <p:charRg st="205" end="245"/>
                                            </p:txEl>
                                          </p:spTgt>
                                        </p:tgtEl>
                                      </p:cBhvr>
                                    </p:animEffect>
                                  </p:childTnLst>
                                </p:cTn>
                              </p:par>
                              <p:par>
                                <p:cTn id="29" presetID="31" presetClass="entr" presetSubtype="0" fill="hold" nodeType="withEffect">
                                  <p:stCondLst>
                                    <p:cond delay="0"/>
                                  </p:stCondLst>
                                  <p:childTnLst>
                                    <p:set>
                                      <p:cBhvr>
                                        <p:cTn id="30" dur="1" fill="hold">
                                          <p:stCondLst>
                                            <p:cond delay="0"/>
                                          </p:stCondLst>
                                        </p:cTn>
                                        <p:tgtEl>
                                          <p:spTgt spid="3">
                                            <p:txEl>
                                              <p:charRg st="245" end="300"/>
                                            </p:txEl>
                                          </p:spTgt>
                                        </p:tgtEl>
                                        <p:attrNameLst>
                                          <p:attrName>style.visibility</p:attrName>
                                        </p:attrNameLst>
                                      </p:cBhvr>
                                      <p:to>
                                        <p:strVal val="visible"/>
                                      </p:to>
                                    </p:set>
                                    <p:anim calcmode="lin" valueType="num">
                                      <p:cBhvr>
                                        <p:cTn id="31" dur="1000" fill="hold"/>
                                        <p:tgtEl>
                                          <p:spTgt spid="3">
                                            <p:txEl>
                                              <p:charRg st="245" end="300"/>
                                            </p:txEl>
                                          </p:spTgt>
                                        </p:tgtEl>
                                        <p:attrNameLst>
                                          <p:attrName>ppt_w</p:attrName>
                                        </p:attrNameLst>
                                      </p:cBhvr>
                                      <p:tavLst>
                                        <p:tav tm="0">
                                          <p:val>
                                            <p:fltVal val="0.000000"/>
                                          </p:val>
                                        </p:tav>
                                        <p:tav tm="100000">
                                          <p:val>
                                            <p:strVal val="#ppt_w"/>
                                          </p:val>
                                        </p:tav>
                                      </p:tavLst>
                                    </p:anim>
                                    <p:anim calcmode="lin" valueType="num">
                                      <p:cBhvr>
                                        <p:cTn id="32" dur="1000" fill="hold"/>
                                        <p:tgtEl>
                                          <p:spTgt spid="3">
                                            <p:txEl>
                                              <p:charRg st="245" end="300"/>
                                            </p:txEl>
                                          </p:spTgt>
                                        </p:tgtEl>
                                        <p:attrNameLst>
                                          <p:attrName>ppt_h</p:attrName>
                                        </p:attrNameLst>
                                      </p:cBhvr>
                                      <p:tavLst>
                                        <p:tav tm="0">
                                          <p:val>
                                            <p:fltVal val="0.000000"/>
                                          </p:val>
                                        </p:tav>
                                        <p:tav tm="100000">
                                          <p:val>
                                            <p:strVal val="#ppt_h"/>
                                          </p:val>
                                        </p:tav>
                                      </p:tavLst>
                                    </p:anim>
                                    <p:anim calcmode="lin" valueType="num">
                                      <p:cBhvr>
                                        <p:cTn id="33" dur="1000" fill="hold"/>
                                        <p:tgtEl>
                                          <p:spTgt spid="3">
                                            <p:txEl>
                                              <p:charRg st="245" end="300"/>
                                            </p:txEl>
                                          </p:spTgt>
                                        </p:tgtEl>
                                        <p:attrNameLst>
                                          <p:attrName>style.rotation</p:attrName>
                                        </p:attrNameLst>
                                      </p:cBhvr>
                                      <p:tavLst>
                                        <p:tav tm="0">
                                          <p:val>
                                            <p:fltVal val="90.000000"/>
                                          </p:val>
                                        </p:tav>
                                        <p:tav tm="100000">
                                          <p:val>
                                            <p:fltVal val="0.000000"/>
                                          </p:val>
                                        </p:tav>
                                      </p:tavLst>
                                    </p:anim>
                                    <p:animEffect transition="in" filter="fade">
                                      <p:cBhvr>
                                        <p:cTn id="34" dur="1000"/>
                                        <p:tgtEl>
                                          <p:spTgt spid="3">
                                            <p:txEl>
                                              <p:charRg st="245" end="30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信息安全事件</a:t>
            </a:r>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anchor="t" anchorCtr="0"/>
          <a:p>
            <a:pPr marL="319405" indent="-319405">
              <a:spcBef>
                <a:spcPts val="700"/>
              </a:spcBef>
              <a:buClr>
                <a:srgbClr val="DA1F28"/>
              </a:buClr>
              <a:buSzPct val="60000"/>
              <a:buNone/>
            </a:pPr>
            <a:r>
              <a:rPr lang="zh-CN" altLang="en-US" sz="2800" b="1" dirty="0">
                <a:solidFill>
                  <a:srgbClr val="000000"/>
                </a:solidFill>
                <a:latin typeface="Tw Cen MT"/>
                <a:ea typeface="华文仿宋" panose="02010600040101010101" pitchFamily="2" charset="-122"/>
              </a:rPr>
              <a:t>信息安全事件分类</a:t>
            </a:r>
            <a:endParaRPr lang="zh-CN" altLang="en-US" sz="28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400" dirty="0">
                <a:solidFill>
                  <a:srgbClr val="000000"/>
                </a:solidFill>
                <a:latin typeface="Tw Cen MT"/>
                <a:ea typeface="宋体" panose="02010600030101010101" pitchFamily="2" charset="-122"/>
              </a:rPr>
              <a:t>1</a:t>
            </a:r>
            <a:r>
              <a:rPr lang="zh-CN" altLang="en-US" sz="2400" dirty="0">
                <a:solidFill>
                  <a:srgbClr val="000000"/>
                </a:solidFill>
                <a:latin typeface="Tw Cen MT"/>
                <a:ea typeface="华文仿宋" panose="02010600040101010101" pitchFamily="2" charset="-122"/>
              </a:rPr>
              <a:t>．</a:t>
            </a:r>
            <a:r>
              <a:rPr lang="zh-CN" altLang="en-US" sz="2400" b="1" dirty="0">
                <a:solidFill>
                  <a:srgbClr val="000000"/>
                </a:solidFill>
                <a:latin typeface="Tw Cen MT"/>
                <a:ea typeface="华文仿宋" panose="02010600040101010101" pitchFamily="2" charset="-122"/>
              </a:rPr>
              <a:t>有害程序事件（</a:t>
            </a:r>
            <a:r>
              <a:rPr lang="en-US" altLang="zh-CN" sz="2400" b="1" dirty="0">
                <a:solidFill>
                  <a:srgbClr val="000000"/>
                </a:solidFill>
                <a:latin typeface="Tw Cen MT"/>
                <a:ea typeface="宋体" panose="02010600030101010101" pitchFamily="2" charset="-122"/>
              </a:rPr>
              <a:t>MI</a:t>
            </a:r>
            <a:r>
              <a:rPr lang="zh-CN" altLang="en-US" sz="2400" b="1" dirty="0">
                <a:solidFill>
                  <a:srgbClr val="000000"/>
                </a:solidFill>
                <a:latin typeface="Tw Cen MT"/>
                <a:ea typeface="华文仿宋" panose="02010600040101010101" pitchFamily="2" charset="-122"/>
              </a:rPr>
              <a:t>，</a:t>
            </a:r>
            <a:r>
              <a:rPr lang="en-US" altLang="zh-CN" sz="2400" b="1" dirty="0">
                <a:solidFill>
                  <a:srgbClr val="000000"/>
                </a:solidFill>
                <a:latin typeface="Tw Cen MT"/>
                <a:ea typeface="宋体" panose="02010600030101010101" pitchFamily="2" charset="-122"/>
              </a:rPr>
              <a:t>Malware Incidents</a:t>
            </a:r>
            <a:r>
              <a:rPr lang="zh-CN" altLang="en-US" sz="2400" b="1" dirty="0">
                <a:solidFill>
                  <a:srgbClr val="000000"/>
                </a:solidFill>
                <a:latin typeface="Tw Cen MT"/>
                <a:ea typeface="华文仿宋" panose="02010600040101010101" pitchFamily="2" charset="-122"/>
              </a:rPr>
              <a:t>）</a:t>
            </a:r>
            <a:endParaRPr lang="en-US" altLang="zh-CN" sz="24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1</a:t>
            </a:r>
            <a:r>
              <a:rPr lang="zh-CN" altLang="en-US" sz="2000" b="1" dirty="0">
                <a:solidFill>
                  <a:srgbClr val="000000"/>
                </a:solidFill>
                <a:latin typeface="Tw Cen MT"/>
                <a:ea typeface="华文仿宋" panose="02010600040101010101" pitchFamily="2" charset="-122"/>
              </a:rPr>
              <a:t>）计算机病毒事件（</a:t>
            </a:r>
            <a:r>
              <a:rPr lang="en-US" altLang="zh-CN" sz="2000" b="1" dirty="0">
                <a:solidFill>
                  <a:srgbClr val="000000"/>
                </a:solidFill>
                <a:latin typeface="Tw Cen MT"/>
                <a:ea typeface="宋体" panose="02010600030101010101" pitchFamily="2" charset="-122"/>
              </a:rPr>
              <a:t>CVI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Computer Virus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2</a:t>
            </a:r>
            <a:r>
              <a:rPr lang="zh-CN" altLang="en-US" sz="2000" b="1" dirty="0">
                <a:solidFill>
                  <a:srgbClr val="000000"/>
                </a:solidFill>
                <a:latin typeface="Tw Cen MT"/>
                <a:ea typeface="华文仿宋" panose="02010600040101010101" pitchFamily="2" charset="-122"/>
              </a:rPr>
              <a:t>）蠕虫事件（</a:t>
            </a:r>
            <a:r>
              <a:rPr lang="en-US" altLang="zh-CN" sz="2000" b="1" dirty="0">
                <a:solidFill>
                  <a:srgbClr val="000000"/>
                </a:solidFill>
                <a:latin typeface="Tw Cen MT"/>
                <a:ea typeface="宋体" panose="02010600030101010101" pitchFamily="2" charset="-122"/>
              </a:rPr>
              <a:t>WI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Worms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3</a:t>
            </a:r>
            <a:r>
              <a:rPr lang="zh-CN" altLang="en-US" sz="2000" b="1" dirty="0">
                <a:solidFill>
                  <a:srgbClr val="000000"/>
                </a:solidFill>
                <a:latin typeface="Tw Cen MT"/>
                <a:ea typeface="华文仿宋" panose="02010600040101010101" pitchFamily="2" charset="-122"/>
              </a:rPr>
              <a:t>）特洛伊木马事件（</a:t>
            </a:r>
            <a:r>
              <a:rPr lang="en-US" altLang="zh-CN" sz="2000" b="1" dirty="0">
                <a:solidFill>
                  <a:srgbClr val="000000"/>
                </a:solidFill>
                <a:latin typeface="Tw Cen MT"/>
                <a:ea typeface="宋体" panose="02010600030101010101" pitchFamily="2" charset="-122"/>
              </a:rPr>
              <a:t>THI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Trojan Horses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4</a:t>
            </a:r>
            <a:r>
              <a:rPr lang="zh-CN" altLang="en-US" sz="2000" b="1" dirty="0">
                <a:solidFill>
                  <a:srgbClr val="000000"/>
                </a:solidFill>
                <a:latin typeface="Tw Cen MT"/>
                <a:ea typeface="华文仿宋" panose="02010600040101010101" pitchFamily="2" charset="-122"/>
              </a:rPr>
              <a:t>）僵尸网络事件（</a:t>
            </a:r>
            <a:r>
              <a:rPr lang="en-US" altLang="zh-CN" sz="2000" b="1" dirty="0">
                <a:solidFill>
                  <a:srgbClr val="000000"/>
                </a:solidFill>
                <a:latin typeface="Tw Cen MT"/>
                <a:ea typeface="宋体" panose="02010600030101010101" pitchFamily="2" charset="-122"/>
              </a:rPr>
              <a:t>BI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Botnets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5</a:t>
            </a:r>
            <a:r>
              <a:rPr lang="zh-CN" altLang="en-US" sz="2000" b="1" dirty="0">
                <a:solidFill>
                  <a:srgbClr val="000000"/>
                </a:solidFill>
                <a:latin typeface="Tw Cen MT"/>
                <a:ea typeface="华文仿宋" panose="02010600040101010101" pitchFamily="2" charset="-122"/>
              </a:rPr>
              <a:t>）混合攻击程序事件（</a:t>
            </a:r>
            <a:r>
              <a:rPr lang="en-US" altLang="zh-CN" sz="2000" b="1" dirty="0">
                <a:solidFill>
                  <a:srgbClr val="000000"/>
                </a:solidFill>
                <a:latin typeface="Tw Cen MT"/>
                <a:ea typeface="宋体" panose="02010600030101010101" pitchFamily="2" charset="-122"/>
              </a:rPr>
              <a:t>BAI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Blended Attacks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6</a:t>
            </a:r>
            <a:r>
              <a:rPr lang="zh-CN" altLang="en-US" sz="2000" b="1" dirty="0">
                <a:solidFill>
                  <a:srgbClr val="000000"/>
                </a:solidFill>
                <a:latin typeface="Tw Cen MT"/>
                <a:ea typeface="华文仿宋" panose="02010600040101010101" pitchFamily="2" charset="-122"/>
              </a:rPr>
              <a:t>）网页内嵌恶意代码事件</a:t>
            </a:r>
            <a:r>
              <a:rPr lang="zh-CN" altLang="en-US" sz="1800" b="1" dirty="0">
                <a:solidFill>
                  <a:srgbClr val="000000"/>
                </a:solidFill>
                <a:latin typeface="Tw Cen MT"/>
                <a:ea typeface="华文仿宋" panose="02010600040101010101" pitchFamily="2" charset="-122"/>
              </a:rPr>
              <a:t>（</a:t>
            </a:r>
            <a:r>
              <a:rPr lang="en-US" altLang="zh-CN" sz="1800" b="1" dirty="0">
                <a:solidFill>
                  <a:srgbClr val="000000"/>
                </a:solidFill>
                <a:latin typeface="Tw Cen MT"/>
                <a:ea typeface="宋体" panose="02010600030101010101" pitchFamily="2" charset="-122"/>
              </a:rPr>
              <a:t>WBPI</a:t>
            </a:r>
            <a:r>
              <a:rPr lang="zh-CN" altLang="en-US" sz="1800" b="1" dirty="0">
                <a:solidFill>
                  <a:srgbClr val="000000"/>
                </a:solidFill>
                <a:latin typeface="Tw Cen MT"/>
                <a:ea typeface="华文仿宋" panose="02010600040101010101" pitchFamily="2" charset="-122"/>
              </a:rPr>
              <a:t>，</a:t>
            </a:r>
            <a:r>
              <a:rPr lang="en-US" altLang="zh-CN" sz="1800" b="1" dirty="0">
                <a:solidFill>
                  <a:srgbClr val="000000"/>
                </a:solidFill>
                <a:latin typeface="Tw Cen MT"/>
                <a:ea typeface="宋体" panose="02010600030101010101" pitchFamily="2" charset="-122"/>
              </a:rPr>
              <a:t>Web Browser Plug-Ins Incidents</a:t>
            </a:r>
            <a:r>
              <a:rPr lang="zh-CN" altLang="en-US" sz="1800" b="1" dirty="0">
                <a:solidFill>
                  <a:srgbClr val="000000"/>
                </a:solidFill>
                <a:latin typeface="Tw Cen MT"/>
                <a:ea typeface="华文仿宋" panose="02010600040101010101" pitchFamily="2" charset="-122"/>
              </a:rPr>
              <a:t>）</a:t>
            </a:r>
            <a:endParaRPr lang="zh-CN" altLang="en-US" sz="18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7</a:t>
            </a:r>
            <a:r>
              <a:rPr lang="zh-CN" altLang="en-US" sz="2000" b="1" dirty="0">
                <a:solidFill>
                  <a:srgbClr val="000000"/>
                </a:solidFill>
                <a:latin typeface="Tw Cen MT"/>
                <a:ea typeface="华文仿宋" panose="02010600040101010101" pitchFamily="2" charset="-122"/>
              </a:rPr>
              <a:t>）其它有害程序事件（</a:t>
            </a:r>
            <a:r>
              <a:rPr lang="en-US" altLang="zh-CN" sz="2000" b="1" dirty="0">
                <a:solidFill>
                  <a:srgbClr val="000000"/>
                </a:solidFill>
                <a:latin typeface="Tw Cen MT"/>
                <a:ea typeface="宋体" panose="02010600030101010101" pitchFamily="2" charset="-122"/>
              </a:rPr>
              <a:t>OMI</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40" end="8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85" end="11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charRg st="117" end="161"/>
                                            </p:txEl>
                                          </p:spTgt>
                                        </p:tgtEl>
                                        <p:attrNameLst>
                                          <p:attrName>style.visibility</p:attrName>
                                        </p:attrNameLst>
                                      </p:cBhvr>
                                      <p:to>
                                        <p:strVal val="visible"/>
                                      </p:to>
                                    </p:set>
                                    <p:animEffect transition="in" filter="fade">
                                      <p:cBhvr>
                                        <p:cTn id="13" dur="500"/>
                                        <p:tgtEl>
                                          <p:spTgt spid="3">
                                            <p:txEl>
                                              <p:charRg st="117" end="16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charRg st="161" end="197"/>
                                            </p:txEl>
                                          </p:spTgt>
                                        </p:tgtEl>
                                        <p:attrNameLst>
                                          <p:attrName>style.visibility</p:attrName>
                                        </p:attrNameLst>
                                      </p:cBhvr>
                                      <p:to>
                                        <p:strVal val="visible"/>
                                      </p:to>
                                    </p:set>
                                    <p:animEffect transition="in" filter="fade">
                                      <p:cBhvr>
                                        <p:cTn id="16" dur="500"/>
                                        <p:tgtEl>
                                          <p:spTgt spid="3">
                                            <p:txEl>
                                              <p:charRg st="161" end="19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3">
                                            <p:txEl>
                                              <p:charRg st="197" end="244"/>
                                            </p:txEl>
                                          </p:spTgt>
                                        </p:tgtEl>
                                        <p:attrNameLst>
                                          <p:attrName>style.visibility</p:attrName>
                                        </p:attrNameLst>
                                      </p:cBhvr>
                                      <p:to>
                                        <p:strVal val="visible"/>
                                      </p:to>
                                    </p:set>
                                    <p:animEffect transition="in" filter="circle(in)">
                                      <p:cBhvr>
                                        <p:cTn id="21" dur="2000"/>
                                        <p:tgtEl>
                                          <p:spTgt spid="3">
                                            <p:txEl>
                                              <p:charRg st="197" end="244"/>
                                            </p:txEl>
                                          </p:spTgt>
                                        </p:tgtEl>
                                      </p:cBhvr>
                                    </p:animEffect>
                                  </p:childTnLst>
                                </p:cTn>
                              </p:par>
                              <p:par>
                                <p:cTn id="22" presetID="6" presetClass="entr" presetSubtype="16" fill="hold" nodeType="withEffect">
                                  <p:stCondLst>
                                    <p:cond delay="0"/>
                                  </p:stCondLst>
                                  <p:childTnLst>
                                    <p:set>
                                      <p:cBhvr>
                                        <p:cTn id="23" dur="1" fill="hold">
                                          <p:stCondLst>
                                            <p:cond delay="0"/>
                                          </p:stCondLst>
                                        </p:cTn>
                                        <p:tgtEl>
                                          <p:spTgt spid="3">
                                            <p:txEl>
                                              <p:charRg st="244" end="299"/>
                                            </p:txEl>
                                          </p:spTgt>
                                        </p:tgtEl>
                                        <p:attrNameLst>
                                          <p:attrName>style.visibility</p:attrName>
                                        </p:attrNameLst>
                                      </p:cBhvr>
                                      <p:to>
                                        <p:strVal val="visible"/>
                                      </p:to>
                                    </p:set>
                                    <p:animEffect transition="in" filter="circle(in)">
                                      <p:cBhvr>
                                        <p:cTn id="24" dur="2000"/>
                                        <p:tgtEl>
                                          <p:spTgt spid="3">
                                            <p:txEl>
                                              <p:charRg st="244" end="299"/>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3">
                                            <p:txEl>
                                              <p:charRg st="299" end="320"/>
                                            </p:txEl>
                                          </p:spTgt>
                                        </p:tgtEl>
                                        <p:attrNameLst>
                                          <p:attrName>style.visibility</p:attrName>
                                        </p:attrNameLst>
                                      </p:cBhvr>
                                      <p:to>
                                        <p:strVal val="visible"/>
                                      </p:to>
                                    </p:set>
                                    <p:animEffect transition="in" filter="circle(in)">
                                      <p:cBhvr>
                                        <p:cTn id="27" dur="2000"/>
                                        <p:tgtEl>
                                          <p:spTgt spid="3">
                                            <p:txEl>
                                              <p:charRg st="299" end="3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extBox 4"/>
          <p:cNvSpPr txBox="1"/>
          <p:nvPr>
            <p:custDataLst>
              <p:tags r:id="rId1"/>
            </p:custDataLst>
          </p:nvPr>
        </p:nvSpPr>
        <p:spPr>
          <a:xfrm>
            <a:off x="914400" y="635000"/>
            <a:ext cx="7315200" cy="2143125"/>
          </a:xfrm>
          <a:prstGeom prst="rect">
            <a:avLst/>
          </a:prstGeom>
          <a:noFill/>
          <a:ln w="9525">
            <a:noFill/>
          </a:ln>
        </p:spPr>
        <p:txBody>
          <a:bodyPr anchor="ctr" anchorCtr="0"/>
          <a:p>
            <a:r>
              <a:rPr lang="zh-CN" altLang="zh-CN" dirty="0">
                <a:latin typeface="Times New Roman" panose="02020603050405020304" pitchFamily="18" charset="0"/>
              </a:rPr>
              <a:t>计算机病毒是计算机系统中一类隐藏在（）上蓄意破坏的捣乱程序</a:t>
            </a:r>
            <a:r>
              <a:rPr lang="zh-CN" altLang="en-US" dirty="0">
                <a:latin typeface="Times New Roman" panose="02020603050405020304" pitchFamily="18" charset="0"/>
              </a:rPr>
              <a:t>？</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8675" name="TextBox 5"/>
          <p:cNvSpPr txBox="1"/>
          <p:nvPr>
            <p:custDataLst>
              <p:tags r:id="rId2"/>
            </p:custDataLst>
          </p:nvPr>
        </p:nvSpPr>
        <p:spPr>
          <a:xfrm>
            <a:off x="1828800" y="278606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内存</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8676" name="TextBox 6"/>
          <p:cNvSpPr txBox="1"/>
          <p:nvPr>
            <p:custDataLst>
              <p:tags r:id="rId3"/>
            </p:custDataLst>
          </p:nvPr>
        </p:nvSpPr>
        <p:spPr>
          <a:xfrm>
            <a:off x="1828800" y="364331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软盘</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8677" name="TextBox 7"/>
          <p:cNvSpPr txBox="1"/>
          <p:nvPr>
            <p:custDataLst>
              <p:tags r:id="rId4"/>
            </p:custDataLst>
          </p:nvPr>
        </p:nvSpPr>
        <p:spPr>
          <a:xfrm>
            <a:off x="1828800" y="450056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存储介质</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8678" name="TextBox 8"/>
          <p:cNvSpPr txBox="1"/>
          <p:nvPr>
            <p:custDataLst>
              <p:tags r:id="rId5"/>
            </p:custDataLst>
          </p:nvPr>
        </p:nvSpPr>
        <p:spPr>
          <a:xfrm>
            <a:off x="1828800" y="5357813"/>
            <a:ext cx="6400800" cy="642937"/>
          </a:xfrm>
          <a:prstGeom prst="rect">
            <a:avLst/>
          </a:prstGeom>
          <a:noFill/>
          <a:ln w="9525">
            <a:noFill/>
          </a:ln>
        </p:spPr>
        <p:txBody>
          <a:bodyPr anchor="ctr" anchorCtr="0"/>
          <a:p>
            <a:r>
              <a:rPr lang="zh-CN" altLang="en-US" dirty="0">
                <a:latin typeface="微软雅黑" panose="020B0503020204020204" charset="-122"/>
                <a:ea typeface="微软雅黑" panose="020B0503020204020204" charset="-122"/>
                <a:sym typeface="微软雅黑" panose="020B0503020204020204" charset="-122"/>
              </a:rPr>
              <a:t>网络</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28679"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8680"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8681" name="椭圆 11"/>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8682" name="椭圆 12"/>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8683" name="圆角矩形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8684" name="组合 18"/>
          <p:cNvGrpSpPr/>
          <p:nvPr/>
        </p:nvGrpSpPr>
        <p:grpSpPr>
          <a:xfrm>
            <a:off x="0" y="0"/>
            <a:ext cx="9144000" cy="635000"/>
            <a:chOff x="0" y="0"/>
            <a:chExt cx="9144000" cy="635000"/>
          </a:xfrm>
        </p:grpSpPr>
        <p:sp>
          <p:nvSpPr>
            <p:cNvPr id="28686" name="TitleBackground"/>
            <p:cNvSpPr/>
            <p:nvPr>
              <p:custDataLst>
                <p:tags r:id="rId11"/>
              </p:custDataLst>
            </p:nvPr>
          </p:nvSpPr>
          <p:spPr>
            <a:xfrm>
              <a:off x="0" y="0"/>
              <a:ext cx="9144000" cy="635000"/>
            </a:xfrm>
            <a:prstGeom prst="rect">
              <a:avLst/>
            </a:prstGeom>
            <a:solidFill>
              <a:srgbClr val="F6F7F8"/>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28687" name="ColorBlock"/>
            <p:cNvSpPr/>
            <p:nvPr>
              <p:custDataLst>
                <p:tags r:id="rId12"/>
              </p:custDataLst>
            </p:nvPr>
          </p:nvSpPr>
          <p:spPr>
            <a:xfrm>
              <a:off x="0" y="0"/>
              <a:ext cx="190500" cy="635000"/>
            </a:xfrm>
            <a:prstGeom prst="rect">
              <a:avLst/>
            </a:prstGeom>
            <a:solidFill>
              <a:srgbClr val="639EF4"/>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28688" name="TypeText"/>
            <p:cNvSpPr txBox="1"/>
            <p:nvPr>
              <p:custDataLst>
                <p:tags r:id="rId13"/>
              </p:custDataLst>
            </p:nvPr>
          </p:nvSpPr>
          <p:spPr>
            <a:xfrm>
              <a:off x="254000" y="0"/>
              <a:ext cx="1905000" cy="635000"/>
            </a:xfrm>
            <a:prstGeom prst="rect">
              <a:avLst/>
            </a:prstGeom>
            <a:noFill/>
            <a:ln w="9525">
              <a:noFill/>
            </a:ln>
          </p:spPr>
          <p:txBody>
            <a:bodyPr wrap="none" anchor="ctr" anchorCtr="0"/>
            <a:p>
              <a:r>
                <a:rPr lang="zh-CN" altLang="en-US" dirty="0">
                  <a:latin typeface="微软雅黑" panose="020B0503020204020204" charset="-122"/>
                  <a:ea typeface="微软雅黑" panose="020B0503020204020204" charset="-122"/>
                  <a:sym typeface="微软雅黑" panose="020B0503020204020204" charset="-122"/>
                </a:rPr>
                <a:t>投票</a:t>
              </a:r>
              <a:endParaRPr lang="zh-CN" altLang="en-US" dirty="0">
                <a:latin typeface="微软雅黑" panose="020B0503020204020204" charset="-122"/>
                <a:ea typeface="微软雅黑" panose="020B0503020204020204" charset="-122"/>
                <a:sym typeface="微软雅黑" panose="020B0503020204020204" charset="-122"/>
              </a:endParaRPr>
            </a:p>
          </p:txBody>
        </p:sp>
      </p:grpSp>
      <p:pic>
        <p:nvPicPr>
          <p:cNvPr id="28685" name="图片 3"/>
          <p:cNvPicPr/>
          <p:nvPr>
            <p:custDataLst>
              <p:tags r:id="rId14"/>
            </p:custDataLst>
          </p:nvPr>
        </p:nvPicPr>
        <p:blipFill>
          <a:blip r:embed="rId15"/>
          <a:stretch>
            <a:fillRect/>
          </a:stretch>
        </p:blipFill>
        <p:spPr>
          <a:xfrm>
            <a:off x="7594600" y="63500"/>
            <a:ext cx="1422400" cy="508000"/>
          </a:xfrm>
          <a:prstGeom prst="rect">
            <a:avLst/>
          </a:prstGeom>
          <a:noFill/>
          <a:ln w="9525">
            <a:noFill/>
          </a:ln>
        </p:spPr>
      </p:pic>
      <p:sp>
        <p:nvSpPr>
          <p:cNvPr id="3" name="TipText"/>
          <p:cNvSpPr txBox="1"/>
          <p:nvPr>
            <p:custDataLst>
              <p:tags r:id="rId16"/>
            </p:custDataLst>
          </p:nvPr>
        </p:nvSpPr>
        <p:spPr>
          <a:xfrm>
            <a:off x="1143000" y="109220"/>
            <a:ext cx="2286000" cy="5080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spTree>
    <p:custDataLst>
      <p:tags r:id="rId17"/>
    </p:custData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信息安全事件</a:t>
            </a:r>
            <a:endParaRPr lang="zh-CN" altLang="en-US" dirty="0">
              <a:ea typeface="宋体" panose="02010600030101010101" pitchFamily="2" charset="-122"/>
            </a:endParaRPr>
          </a:p>
        </p:txBody>
      </p:sp>
      <p:sp>
        <p:nvSpPr>
          <p:cNvPr id="3" name="内容占位符 2"/>
          <p:cNvSpPr>
            <a:spLocks noGrp="1"/>
          </p:cNvSpPr>
          <p:nvPr>
            <p:ph idx="1"/>
          </p:nvPr>
        </p:nvSpPr>
        <p:spPr>
          <a:xfrm>
            <a:off x="304800" y="1219200"/>
            <a:ext cx="8686800" cy="5105400"/>
          </a:xfrm>
        </p:spPr>
        <p:txBody>
          <a:bodyPr vert="horz" wrap="square" lIns="91440" tIns="45720" rIns="91440" bIns="45720" anchor="t" anchorCtr="0"/>
          <a:p>
            <a:pPr marL="319405" indent="-319405">
              <a:spcBef>
                <a:spcPts val="700"/>
              </a:spcBef>
              <a:buClr>
                <a:srgbClr val="DA1F28"/>
              </a:buClr>
              <a:buSzPct val="60000"/>
              <a:buNone/>
            </a:pPr>
            <a:r>
              <a:rPr lang="zh-CN" altLang="en-US" sz="2800" b="1" dirty="0">
                <a:solidFill>
                  <a:srgbClr val="000000"/>
                </a:solidFill>
                <a:latin typeface="Tw Cen MT"/>
                <a:ea typeface="华文仿宋" panose="02010600040101010101" pitchFamily="2" charset="-122"/>
              </a:rPr>
              <a:t>信息安全事件分类</a:t>
            </a:r>
            <a:endParaRPr lang="zh-CN" altLang="en-US" sz="28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en-US" altLang="zh-CN" sz="2400" b="1" dirty="0">
                <a:solidFill>
                  <a:srgbClr val="000000"/>
                </a:solidFill>
                <a:latin typeface="Tw Cen MT"/>
                <a:ea typeface="宋体" panose="02010600030101010101" pitchFamily="2" charset="-122"/>
              </a:rPr>
              <a:t>2</a:t>
            </a:r>
            <a:r>
              <a:rPr lang="zh-CN" altLang="en-US" sz="2400" b="1" dirty="0">
                <a:solidFill>
                  <a:srgbClr val="000000"/>
                </a:solidFill>
                <a:latin typeface="Tw Cen MT"/>
                <a:ea typeface="华文仿宋" panose="02010600040101010101" pitchFamily="2" charset="-122"/>
              </a:rPr>
              <a:t>．网络攻击事件（</a:t>
            </a:r>
            <a:r>
              <a:rPr lang="en-US" altLang="zh-CN" sz="2400" b="1" dirty="0">
                <a:solidFill>
                  <a:srgbClr val="000000"/>
                </a:solidFill>
                <a:latin typeface="Tw Cen MT"/>
                <a:ea typeface="宋体" panose="02010600030101010101" pitchFamily="2" charset="-122"/>
              </a:rPr>
              <a:t>NAI</a:t>
            </a:r>
            <a:r>
              <a:rPr lang="zh-CN" altLang="en-US" sz="2400" b="1" dirty="0">
                <a:solidFill>
                  <a:srgbClr val="000000"/>
                </a:solidFill>
                <a:latin typeface="Tw Cen MT"/>
                <a:ea typeface="华文仿宋" panose="02010600040101010101" pitchFamily="2" charset="-122"/>
              </a:rPr>
              <a:t>，</a:t>
            </a:r>
            <a:r>
              <a:rPr lang="en-US" altLang="zh-CN" sz="2400" b="1" dirty="0">
                <a:solidFill>
                  <a:srgbClr val="000000"/>
                </a:solidFill>
                <a:latin typeface="Tw Cen MT"/>
                <a:ea typeface="宋体" panose="02010600030101010101" pitchFamily="2" charset="-122"/>
              </a:rPr>
              <a:t>Network Attacks Incidents</a:t>
            </a:r>
            <a:r>
              <a:rPr lang="zh-CN" altLang="en-US" sz="2400" b="1" dirty="0">
                <a:solidFill>
                  <a:srgbClr val="000000"/>
                </a:solidFill>
                <a:latin typeface="Tw Cen MT"/>
                <a:ea typeface="华文仿宋" panose="02010600040101010101" pitchFamily="2" charset="-122"/>
              </a:rPr>
              <a:t>）</a:t>
            </a:r>
            <a:endParaRPr lang="en-US" altLang="zh-CN" sz="24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1</a:t>
            </a:r>
            <a:r>
              <a:rPr lang="zh-CN" altLang="en-US" sz="2000" b="1" dirty="0">
                <a:solidFill>
                  <a:srgbClr val="000000"/>
                </a:solidFill>
                <a:latin typeface="Tw Cen MT"/>
                <a:ea typeface="华文仿宋" panose="02010600040101010101" pitchFamily="2" charset="-122"/>
              </a:rPr>
              <a:t>）拒绝服务攻击事件（</a:t>
            </a:r>
            <a:r>
              <a:rPr lang="en-US" altLang="zh-CN" sz="2000" b="1" dirty="0">
                <a:solidFill>
                  <a:srgbClr val="000000"/>
                </a:solidFill>
                <a:latin typeface="Tw Cen MT"/>
                <a:ea typeface="宋体" panose="02010600030101010101" pitchFamily="2" charset="-122"/>
              </a:rPr>
              <a:t>DOSAI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Denial of Service Attacks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2</a:t>
            </a:r>
            <a:r>
              <a:rPr lang="zh-CN" altLang="en-US" sz="2000" b="1" dirty="0">
                <a:solidFill>
                  <a:srgbClr val="000000"/>
                </a:solidFill>
                <a:latin typeface="Tw Cen MT"/>
                <a:ea typeface="华文仿宋" panose="02010600040101010101" pitchFamily="2" charset="-122"/>
              </a:rPr>
              <a:t>）后门攻击事件（</a:t>
            </a:r>
            <a:r>
              <a:rPr lang="en-US" altLang="zh-CN" sz="2000" b="1" dirty="0">
                <a:solidFill>
                  <a:srgbClr val="000000"/>
                </a:solidFill>
                <a:latin typeface="Tw Cen MT"/>
                <a:ea typeface="宋体" panose="02010600030101010101" pitchFamily="2" charset="-122"/>
              </a:rPr>
              <a:t>BDAI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Backdoor Attacks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3</a:t>
            </a:r>
            <a:r>
              <a:rPr lang="zh-CN" altLang="en-US" sz="2000" b="1" dirty="0">
                <a:solidFill>
                  <a:srgbClr val="000000"/>
                </a:solidFill>
                <a:latin typeface="Tw Cen MT"/>
                <a:ea typeface="华文仿宋" panose="02010600040101010101" pitchFamily="2" charset="-122"/>
              </a:rPr>
              <a:t>）漏洞攻击事件（</a:t>
            </a:r>
            <a:r>
              <a:rPr lang="en-US" altLang="zh-CN" sz="2000" b="1" dirty="0">
                <a:solidFill>
                  <a:srgbClr val="000000"/>
                </a:solidFill>
                <a:latin typeface="Tw Cen MT"/>
                <a:ea typeface="宋体" panose="02010600030101010101" pitchFamily="2" charset="-122"/>
              </a:rPr>
              <a:t>VAI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Vulnerability Attacks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4</a:t>
            </a:r>
            <a:r>
              <a:rPr lang="zh-CN" altLang="en-US" sz="2000" b="1" dirty="0">
                <a:solidFill>
                  <a:srgbClr val="000000"/>
                </a:solidFill>
                <a:latin typeface="Tw Cen MT"/>
                <a:ea typeface="华文仿宋" panose="02010600040101010101" pitchFamily="2" charset="-122"/>
              </a:rPr>
              <a:t>）网络扫描窃听事件（</a:t>
            </a:r>
            <a:r>
              <a:rPr lang="en-US" altLang="zh-CN" sz="2000" b="1" dirty="0">
                <a:solidFill>
                  <a:srgbClr val="000000"/>
                </a:solidFill>
                <a:latin typeface="Tw Cen MT"/>
                <a:ea typeface="宋体" panose="02010600030101010101" pitchFamily="2" charset="-122"/>
              </a:rPr>
              <a:t>NSEI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Network Scan &amp; Eavesdropping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5</a:t>
            </a:r>
            <a:r>
              <a:rPr lang="zh-CN" altLang="en-US" sz="2000" b="1" dirty="0">
                <a:solidFill>
                  <a:srgbClr val="000000"/>
                </a:solidFill>
                <a:latin typeface="Tw Cen MT"/>
                <a:ea typeface="华文仿宋" panose="02010600040101010101" pitchFamily="2" charset="-122"/>
              </a:rPr>
              <a:t>）网络钓鱼事件（</a:t>
            </a:r>
            <a:r>
              <a:rPr lang="en-US" altLang="zh-CN" sz="2000" b="1" dirty="0">
                <a:solidFill>
                  <a:srgbClr val="000000"/>
                </a:solidFill>
                <a:latin typeface="Tw Cen MT"/>
                <a:ea typeface="宋体" panose="02010600030101010101" pitchFamily="2" charset="-122"/>
              </a:rPr>
              <a:t>PI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Phishing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6</a:t>
            </a:r>
            <a:r>
              <a:rPr lang="zh-CN" altLang="en-US" sz="2000" b="1" dirty="0">
                <a:solidFill>
                  <a:srgbClr val="000000"/>
                </a:solidFill>
                <a:latin typeface="Tw Cen MT"/>
                <a:ea typeface="华文仿宋" panose="02010600040101010101" pitchFamily="2" charset="-122"/>
              </a:rPr>
              <a:t>）干扰事件（</a:t>
            </a:r>
            <a:r>
              <a:rPr lang="en-US" altLang="zh-CN" sz="2000" b="1" dirty="0">
                <a:solidFill>
                  <a:srgbClr val="000000"/>
                </a:solidFill>
                <a:latin typeface="Tw Cen MT"/>
                <a:ea typeface="宋体" panose="02010600030101010101" pitchFamily="2" charset="-122"/>
              </a:rPr>
              <a:t>II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Interference Incidents</a:t>
            </a:r>
            <a:r>
              <a:rPr lang="zh-CN" altLang="en-US" sz="2000" b="1" dirty="0">
                <a:solidFill>
                  <a:srgbClr val="000000"/>
                </a:solidFill>
                <a:latin typeface="Tw Cen MT"/>
                <a:ea typeface="华文仿宋" panose="02010600040101010101" pitchFamily="2" charset="-122"/>
              </a:rPr>
              <a:t>） </a:t>
            </a:r>
            <a:endParaRPr lang="en-US" altLang="zh-CN" sz="2000" b="1" dirty="0">
              <a:solidFill>
                <a:srgbClr val="000000"/>
              </a:solidFill>
              <a:latin typeface="Tw Cen MT"/>
              <a:ea typeface="华文仿宋" panose="02010600040101010101" pitchFamily="2" charset="-122"/>
            </a:endParaRPr>
          </a:p>
          <a:p>
            <a:pPr marL="319405" indent="-319405" algn="just">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7</a:t>
            </a:r>
            <a:r>
              <a:rPr lang="zh-CN" altLang="en-US" sz="2000" b="1" dirty="0">
                <a:solidFill>
                  <a:srgbClr val="000000"/>
                </a:solidFill>
                <a:latin typeface="Tw Cen MT"/>
                <a:ea typeface="华文仿宋" panose="02010600040101010101" pitchFamily="2" charset="-122"/>
              </a:rPr>
              <a:t>）其他网络攻击事件（</a:t>
            </a:r>
            <a:r>
              <a:rPr lang="en-US" altLang="zh-CN" sz="2000" b="1" dirty="0">
                <a:solidFill>
                  <a:srgbClr val="000000"/>
                </a:solidFill>
                <a:latin typeface="Tw Cen MT"/>
                <a:ea typeface="宋体" panose="02010600030101010101" pitchFamily="2" charset="-122"/>
              </a:rPr>
              <a:t>ONAI</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mph" presetSubtype="0" fill="hold" nodeType="clickEffect">
                                  <p:stCondLst>
                                    <p:cond delay="0"/>
                                  </p:stCondLst>
                                  <p:childTnLst>
                                    <p:animClr clrSpc="hsl" dir="cw">
                                      <p:cBhvr override="childStyle">
                                        <p:cTn id="6" dur="500" fill="hold"/>
                                        <p:tgtEl>
                                          <p:spTgt spid="3">
                                            <p:txEl>
                                              <p:charRg st="49" end="108"/>
                                            </p:txEl>
                                          </p:spTgt>
                                        </p:tgtEl>
                                        <p:attrNameLst>
                                          <p:attrName>style.color</p:attrName>
                                        </p:attrNameLst>
                                      </p:cBhvr>
                                      <p:by>
                                        <p:hsl h="0" s="12544" l="25088"/>
                                      </p:by>
                                    </p:animClr>
                                    <p:animClr clrSpc="hsl" dir="cw">
                                      <p:cBhvr>
                                        <p:cTn id="7" dur="500" fill="hold"/>
                                        <p:tgtEl>
                                          <p:spTgt spid="3">
                                            <p:txEl>
                                              <p:charRg st="49" end="108"/>
                                            </p:txEl>
                                          </p:spTgt>
                                        </p:tgtEl>
                                        <p:attrNameLst>
                                          <p:attrName>fillcolor</p:attrName>
                                        </p:attrNameLst>
                                      </p:cBhvr>
                                      <p:by>
                                        <p:hsl h="0" s="12544" l="25088"/>
                                      </p:by>
                                    </p:animClr>
                                    <p:animClr clrSpc="hsl" dir="cw">
                                      <p:cBhvr>
                                        <p:cTn id="8" dur="500" fill="hold"/>
                                        <p:tgtEl>
                                          <p:spTgt spid="3">
                                            <p:txEl>
                                              <p:charRg st="49" end="108"/>
                                            </p:txEl>
                                          </p:spTgt>
                                        </p:tgtEl>
                                        <p:attrNameLst>
                                          <p:attrName>stroke.color</p:attrName>
                                        </p:attrNameLst>
                                      </p:cBhvr>
                                      <p:by>
                                        <p:hsl h="0" s="12544" l="25088"/>
                                      </p:by>
                                    </p:animClr>
                                    <p:set>
                                      <p:cBhvr>
                                        <p:cTn id="9" dur="500" fill="hold"/>
                                        <p:tgtEl>
                                          <p:spTgt spid="3">
                                            <p:txEl>
                                              <p:charRg st="49" end="108"/>
                                            </p:txEl>
                                          </p:spTgt>
                                        </p:tgtEl>
                                        <p:attrNameLst>
                                          <p:attrName>fill.type</p:attrName>
                                        </p:attrNameLst>
                                      </p:cBhvr>
                                      <p:to>
                                        <p:strVal val="solid"/>
                                      </p:to>
                                    </p:set>
                                  </p:childTnLst>
                                </p:cTn>
                              </p:par>
                              <p:par>
                                <p:cTn id="10" presetID="30" presetClass="emph" presetSubtype="0" fill="hold" nodeType="withEffect">
                                  <p:stCondLst>
                                    <p:cond delay="0"/>
                                  </p:stCondLst>
                                  <p:childTnLst>
                                    <p:animClr clrSpc="hsl" dir="cw">
                                      <p:cBhvr override="childStyle">
                                        <p:cTn id="11" dur="500" fill="hold"/>
                                        <p:tgtEl>
                                          <p:spTgt spid="3">
                                            <p:txEl>
                                              <p:charRg st="108" end="155"/>
                                            </p:txEl>
                                          </p:spTgt>
                                        </p:tgtEl>
                                        <p:attrNameLst>
                                          <p:attrName>style.color</p:attrName>
                                        </p:attrNameLst>
                                      </p:cBhvr>
                                      <p:by>
                                        <p:hsl h="0" s="12544" l="25088"/>
                                      </p:by>
                                    </p:animClr>
                                    <p:animClr clrSpc="hsl" dir="cw">
                                      <p:cBhvr>
                                        <p:cTn id="12" dur="500" fill="hold"/>
                                        <p:tgtEl>
                                          <p:spTgt spid="3">
                                            <p:txEl>
                                              <p:charRg st="108" end="155"/>
                                            </p:txEl>
                                          </p:spTgt>
                                        </p:tgtEl>
                                        <p:attrNameLst>
                                          <p:attrName>fillcolor</p:attrName>
                                        </p:attrNameLst>
                                      </p:cBhvr>
                                      <p:by>
                                        <p:hsl h="0" s="12544" l="25088"/>
                                      </p:by>
                                    </p:animClr>
                                    <p:animClr clrSpc="hsl" dir="cw">
                                      <p:cBhvr>
                                        <p:cTn id="13" dur="500" fill="hold"/>
                                        <p:tgtEl>
                                          <p:spTgt spid="3">
                                            <p:txEl>
                                              <p:charRg st="108" end="155"/>
                                            </p:txEl>
                                          </p:spTgt>
                                        </p:tgtEl>
                                        <p:attrNameLst>
                                          <p:attrName>stroke.color</p:attrName>
                                        </p:attrNameLst>
                                      </p:cBhvr>
                                      <p:by>
                                        <p:hsl h="0" s="12544" l="25088"/>
                                      </p:by>
                                    </p:animClr>
                                    <p:set>
                                      <p:cBhvr>
                                        <p:cTn id="14" dur="500" fill="hold"/>
                                        <p:tgtEl>
                                          <p:spTgt spid="3">
                                            <p:txEl>
                                              <p:charRg st="108" end="155"/>
                                            </p:txEl>
                                          </p:spTgt>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3">
                                            <p:txEl>
                                              <p:charRg st="155" end="206"/>
                                            </p:txEl>
                                          </p:spTgt>
                                        </p:tgtEl>
                                        <p:attrNameLst>
                                          <p:attrName>style.visibility</p:attrName>
                                        </p:attrNameLst>
                                      </p:cBhvr>
                                      <p:to>
                                        <p:strVal val="visible"/>
                                      </p:to>
                                    </p:set>
                                    <p:animEffect transition="in" filter="wipe(down)">
                                      <p:cBhvr>
                                        <p:cTn id="19" dur="580">
                                          <p:stCondLst>
                                            <p:cond delay="0"/>
                                          </p:stCondLst>
                                        </p:cTn>
                                        <p:tgtEl>
                                          <p:spTgt spid="3">
                                            <p:txEl>
                                              <p:charRg st="155" end="206"/>
                                            </p:txEl>
                                          </p:spTgt>
                                        </p:tgtEl>
                                      </p:cBhvr>
                                    </p:animEffect>
                                    <p:anim calcmode="lin" valueType="num">
                                      <p:cBhvr>
                                        <p:cTn id="20" dur="1822" tmFilter="0,0; 0.14,0.36; 0.43,0.73; 0.71,0.91; 1.0,1.0">
                                          <p:stCondLst>
                                            <p:cond delay="0"/>
                                          </p:stCondLst>
                                        </p:cTn>
                                        <p:tgtEl>
                                          <p:spTgt spid="3">
                                            <p:txEl>
                                              <p:charRg st="155" end="206"/>
                                            </p:txEl>
                                          </p:spTgt>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3">
                                            <p:txEl>
                                              <p:charRg st="155" end="206"/>
                                            </p:txEl>
                                          </p:spTgt>
                                        </p:tgtEl>
                                        <p:attrNameLst>
                                          <p:attrName>ppt_y</p:attrName>
                                        </p:attrNameLst>
                                      </p:cBhvr>
                                      <p:tavLst>
                                        <p:tav tm="0" fmla="#ppt_y-sin(pi*$)/3">
                                          <p:val>
                                            <p:fltVal val="0.500000"/>
                                          </p:val>
                                        </p:tav>
                                        <p:tav tm="100000">
                                          <p:val>
                                            <p:fltVal val="1.000000"/>
                                          </p:val>
                                        </p:tav>
                                      </p:tavLst>
                                    </p:anim>
                                    <p:anim calcmode="lin" valueType="num">
                                      <p:cBhvr>
                                        <p:cTn id="22" dur="664" tmFilter="0, 0; 0.125,0.2665; 0.25,0.4; 0.375,0.465; 0.5,0.5;  0.625,0.535; 0.75,0.6; 0.875,0.7335; 1,1">
                                          <p:stCondLst>
                                            <p:cond delay="664"/>
                                          </p:stCondLst>
                                        </p:cTn>
                                        <p:tgtEl>
                                          <p:spTgt spid="3">
                                            <p:txEl>
                                              <p:charRg st="155" end="206"/>
                                            </p:txEl>
                                          </p:spTgt>
                                        </p:tgtEl>
                                        <p:attrNameLst>
                                          <p:attrName>ppt_y</p:attrName>
                                        </p:attrNameLst>
                                      </p:cBhvr>
                                      <p:tavLst>
                                        <p:tav tm="0" fmla="#ppt_y-sin(pi*$)/9">
                                          <p:val>
                                            <p:fltVal val="0.000000"/>
                                          </p:val>
                                        </p:tav>
                                        <p:tav tm="100000">
                                          <p:val>
                                            <p:fltVal val="1.000000"/>
                                          </p:val>
                                        </p:tav>
                                      </p:tavLst>
                                    </p:anim>
                                    <p:anim calcmode="lin" valueType="num">
                                      <p:cBhvr>
                                        <p:cTn id="23" dur="332" tmFilter="0, 0; 0.125,0.2665; 0.25,0.4; 0.375,0.465; 0.5,0.5;  0.625,0.535; 0.75,0.6; 0.875,0.7335; 1,1">
                                          <p:stCondLst>
                                            <p:cond delay="1324"/>
                                          </p:stCondLst>
                                        </p:cTn>
                                        <p:tgtEl>
                                          <p:spTgt spid="3">
                                            <p:txEl>
                                              <p:charRg st="155" end="206"/>
                                            </p:txEl>
                                          </p:spTgt>
                                        </p:tgtEl>
                                        <p:attrNameLst>
                                          <p:attrName>ppt_y</p:attrName>
                                        </p:attrNameLst>
                                      </p:cBhvr>
                                      <p:tavLst>
                                        <p:tav tm="0" fmla="#ppt_y-sin(pi*$)/27">
                                          <p:val>
                                            <p:fltVal val="0.000000"/>
                                          </p:val>
                                        </p:tav>
                                        <p:tav tm="100000">
                                          <p:val>
                                            <p:fltVal val="1.000000"/>
                                          </p:val>
                                        </p:tav>
                                      </p:tavLst>
                                    </p:anim>
                                    <p:anim calcmode="lin" valueType="num">
                                      <p:cBhvr>
                                        <p:cTn id="24" dur="164" tmFilter="0, 0; 0.125,0.2665; 0.25,0.4; 0.375,0.465; 0.5,0.5;  0.625,0.535; 0.75,0.6; 0.875,0.7335; 1,1">
                                          <p:stCondLst>
                                            <p:cond delay="1656"/>
                                          </p:stCondLst>
                                        </p:cTn>
                                        <p:tgtEl>
                                          <p:spTgt spid="3">
                                            <p:txEl>
                                              <p:charRg st="155" end="206"/>
                                            </p:txEl>
                                          </p:spTgt>
                                        </p:tgtEl>
                                        <p:attrNameLst>
                                          <p:attrName>ppt_y</p:attrName>
                                        </p:attrNameLst>
                                      </p:cBhvr>
                                      <p:tavLst>
                                        <p:tav tm="0" fmla="#ppt_y-sin(pi*$)/81">
                                          <p:val>
                                            <p:fltVal val="0.000000"/>
                                          </p:val>
                                        </p:tav>
                                        <p:tav tm="100000">
                                          <p:val>
                                            <p:fltVal val="1.000000"/>
                                          </p:val>
                                        </p:tav>
                                      </p:tavLst>
                                    </p:anim>
                                    <p:animScale>
                                      <p:cBhvr>
                                        <p:cTn id="25" dur="26">
                                          <p:stCondLst>
                                            <p:cond delay="650"/>
                                          </p:stCondLst>
                                        </p:cTn>
                                        <p:tgtEl>
                                          <p:spTgt spid="3">
                                            <p:txEl>
                                              <p:charRg st="155" end="206"/>
                                            </p:txEl>
                                          </p:spTgt>
                                        </p:tgtEl>
                                      </p:cBhvr>
                                      <p:to x="100000" y="60000"/>
                                    </p:animScale>
                                    <p:animScale>
                                      <p:cBhvr>
                                        <p:cTn id="26" dur="166" decel="50000">
                                          <p:stCondLst>
                                            <p:cond delay="676"/>
                                          </p:stCondLst>
                                        </p:cTn>
                                        <p:tgtEl>
                                          <p:spTgt spid="3">
                                            <p:txEl>
                                              <p:charRg st="155" end="206"/>
                                            </p:txEl>
                                          </p:spTgt>
                                        </p:tgtEl>
                                      </p:cBhvr>
                                      <p:to x="100000" y="100000"/>
                                    </p:animScale>
                                    <p:animScale>
                                      <p:cBhvr>
                                        <p:cTn id="27" dur="26">
                                          <p:stCondLst>
                                            <p:cond delay="1312"/>
                                          </p:stCondLst>
                                        </p:cTn>
                                        <p:tgtEl>
                                          <p:spTgt spid="3">
                                            <p:txEl>
                                              <p:charRg st="155" end="206"/>
                                            </p:txEl>
                                          </p:spTgt>
                                        </p:tgtEl>
                                      </p:cBhvr>
                                      <p:to x="100000" y="80000"/>
                                    </p:animScale>
                                    <p:animScale>
                                      <p:cBhvr>
                                        <p:cTn id="28" dur="166" decel="50000">
                                          <p:stCondLst>
                                            <p:cond delay="1338"/>
                                          </p:stCondLst>
                                        </p:cTn>
                                        <p:tgtEl>
                                          <p:spTgt spid="3">
                                            <p:txEl>
                                              <p:charRg st="155" end="206"/>
                                            </p:txEl>
                                          </p:spTgt>
                                        </p:tgtEl>
                                      </p:cBhvr>
                                      <p:to x="100000" y="100000"/>
                                    </p:animScale>
                                    <p:animScale>
                                      <p:cBhvr>
                                        <p:cTn id="29" dur="26">
                                          <p:stCondLst>
                                            <p:cond delay="1642"/>
                                          </p:stCondLst>
                                        </p:cTn>
                                        <p:tgtEl>
                                          <p:spTgt spid="3">
                                            <p:txEl>
                                              <p:charRg st="155" end="206"/>
                                            </p:txEl>
                                          </p:spTgt>
                                        </p:tgtEl>
                                      </p:cBhvr>
                                      <p:to x="100000" y="90000"/>
                                    </p:animScale>
                                    <p:animScale>
                                      <p:cBhvr>
                                        <p:cTn id="30" dur="166" decel="50000">
                                          <p:stCondLst>
                                            <p:cond delay="1668"/>
                                          </p:stCondLst>
                                        </p:cTn>
                                        <p:tgtEl>
                                          <p:spTgt spid="3">
                                            <p:txEl>
                                              <p:charRg st="155" end="206"/>
                                            </p:txEl>
                                          </p:spTgt>
                                        </p:tgtEl>
                                      </p:cBhvr>
                                      <p:to x="100000" y="100000"/>
                                    </p:animScale>
                                    <p:animScale>
                                      <p:cBhvr>
                                        <p:cTn id="31" dur="26">
                                          <p:stCondLst>
                                            <p:cond delay="1808"/>
                                          </p:stCondLst>
                                        </p:cTn>
                                        <p:tgtEl>
                                          <p:spTgt spid="3">
                                            <p:txEl>
                                              <p:charRg st="155" end="206"/>
                                            </p:txEl>
                                          </p:spTgt>
                                        </p:tgtEl>
                                      </p:cBhvr>
                                      <p:to x="100000" y="95000"/>
                                    </p:animScale>
                                    <p:animScale>
                                      <p:cBhvr>
                                        <p:cTn id="32" dur="166" decel="50000">
                                          <p:stCondLst>
                                            <p:cond delay="1834"/>
                                          </p:stCondLst>
                                        </p:cTn>
                                        <p:tgtEl>
                                          <p:spTgt spid="3">
                                            <p:txEl>
                                              <p:charRg st="155" end="206"/>
                                            </p:txEl>
                                          </p:spTgt>
                                        </p:tgtEl>
                                      </p:cBhvr>
                                      <p:to x="100000" y="100000"/>
                                    </p:animScale>
                                  </p:childTnLst>
                                </p:cTn>
                              </p:par>
                              <p:par>
                                <p:cTn id="33" presetID="26" presetClass="entr" presetSubtype="0" fill="hold" nodeType="withEffect">
                                  <p:stCondLst>
                                    <p:cond delay="0"/>
                                  </p:stCondLst>
                                  <p:childTnLst>
                                    <p:set>
                                      <p:cBhvr>
                                        <p:cTn id="34" dur="1" fill="hold">
                                          <p:stCondLst>
                                            <p:cond delay="0"/>
                                          </p:stCondLst>
                                        </p:cTn>
                                        <p:tgtEl>
                                          <p:spTgt spid="3">
                                            <p:txEl>
                                              <p:charRg st="206" end="267"/>
                                            </p:txEl>
                                          </p:spTgt>
                                        </p:tgtEl>
                                        <p:attrNameLst>
                                          <p:attrName>style.visibility</p:attrName>
                                        </p:attrNameLst>
                                      </p:cBhvr>
                                      <p:to>
                                        <p:strVal val="visible"/>
                                      </p:to>
                                    </p:set>
                                    <p:animEffect transition="in" filter="wipe(down)">
                                      <p:cBhvr>
                                        <p:cTn id="35" dur="580">
                                          <p:stCondLst>
                                            <p:cond delay="0"/>
                                          </p:stCondLst>
                                        </p:cTn>
                                        <p:tgtEl>
                                          <p:spTgt spid="3">
                                            <p:txEl>
                                              <p:charRg st="206" end="267"/>
                                            </p:txEl>
                                          </p:spTgt>
                                        </p:tgtEl>
                                      </p:cBhvr>
                                    </p:animEffect>
                                    <p:anim calcmode="lin" valueType="num">
                                      <p:cBhvr>
                                        <p:cTn id="36" dur="1822" tmFilter="0,0; 0.14,0.36; 0.43,0.73; 0.71,0.91; 1.0,1.0">
                                          <p:stCondLst>
                                            <p:cond delay="0"/>
                                          </p:stCondLst>
                                        </p:cTn>
                                        <p:tgtEl>
                                          <p:spTgt spid="3">
                                            <p:txEl>
                                              <p:charRg st="206" end="267"/>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3">
                                            <p:txEl>
                                              <p:charRg st="206" end="267"/>
                                            </p:txEl>
                                          </p:spTgt>
                                        </p:tgtEl>
                                        <p:attrNameLst>
                                          <p:attrName>ppt_y</p:attrName>
                                        </p:attrNameLst>
                                      </p:cBhvr>
                                      <p:tavLst>
                                        <p:tav tm="0" fmla="#ppt_y-sin(pi*$)/3">
                                          <p:val>
                                            <p:fltVal val="0.500000"/>
                                          </p:val>
                                        </p:tav>
                                        <p:tav tm="100000">
                                          <p:val>
                                            <p:fltVal val="1.000000"/>
                                          </p:val>
                                        </p:tav>
                                      </p:tavLst>
                                    </p:anim>
                                    <p:anim calcmode="lin" valueType="num">
                                      <p:cBhvr>
                                        <p:cTn id="38" dur="664" tmFilter="0, 0; 0.125,0.2665; 0.25,0.4; 0.375,0.465; 0.5,0.5;  0.625,0.535; 0.75,0.6; 0.875,0.7335; 1,1">
                                          <p:stCondLst>
                                            <p:cond delay="664"/>
                                          </p:stCondLst>
                                        </p:cTn>
                                        <p:tgtEl>
                                          <p:spTgt spid="3">
                                            <p:txEl>
                                              <p:charRg st="206" end="267"/>
                                            </p:txEl>
                                          </p:spTgt>
                                        </p:tgtEl>
                                        <p:attrNameLst>
                                          <p:attrName>ppt_y</p:attrName>
                                        </p:attrNameLst>
                                      </p:cBhvr>
                                      <p:tavLst>
                                        <p:tav tm="0" fmla="#ppt_y-sin(pi*$)/9">
                                          <p:val>
                                            <p:fltVal val="0.000000"/>
                                          </p:val>
                                        </p:tav>
                                        <p:tav tm="100000">
                                          <p:val>
                                            <p:fltVal val="1.000000"/>
                                          </p:val>
                                        </p:tav>
                                      </p:tavLst>
                                    </p:anim>
                                    <p:anim calcmode="lin" valueType="num">
                                      <p:cBhvr>
                                        <p:cTn id="39" dur="332" tmFilter="0, 0; 0.125,0.2665; 0.25,0.4; 0.375,0.465; 0.5,0.5;  0.625,0.535; 0.75,0.6; 0.875,0.7335; 1,1">
                                          <p:stCondLst>
                                            <p:cond delay="1324"/>
                                          </p:stCondLst>
                                        </p:cTn>
                                        <p:tgtEl>
                                          <p:spTgt spid="3">
                                            <p:txEl>
                                              <p:charRg st="206" end="267"/>
                                            </p:txEl>
                                          </p:spTgt>
                                        </p:tgtEl>
                                        <p:attrNameLst>
                                          <p:attrName>ppt_y</p:attrName>
                                        </p:attrNameLst>
                                      </p:cBhvr>
                                      <p:tavLst>
                                        <p:tav tm="0" fmla="#ppt_y-sin(pi*$)/27">
                                          <p:val>
                                            <p:fltVal val="0.000000"/>
                                          </p:val>
                                        </p:tav>
                                        <p:tav tm="100000">
                                          <p:val>
                                            <p:fltVal val="1.000000"/>
                                          </p:val>
                                        </p:tav>
                                      </p:tavLst>
                                    </p:anim>
                                    <p:anim calcmode="lin" valueType="num">
                                      <p:cBhvr>
                                        <p:cTn id="40" dur="164" tmFilter="0, 0; 0.125,0.2665; 0.25,0.4; 0.375,0.465; 0.5,0.5;  0.625,0.535; 0.75,0.6; 0.875,0.7335; 1,1">
                                          <p:stCondLst>
                                            <p:cond delay="1656"/>
                                          </p:stCondLst>
                                        </p:cTn>
                                        <p:tgtEl>
                                          <p:spTgt spid="3">
                                            <p:txEl>
                                              <p:charRg st="206" end="267"/>
                                            </p:txEl>
                                          </p:spTgt>
                                        </p:tgtEl>
                                        <p:attrNameLst>
                                          <p:attrName>ppt_y</p:attrName>
                                        </p:attrNameLst>
                                      </p:cBhvr>
                                      <p:tavLst>
                                        <p:tav tm="0" fmla="#ppt_y-sin(pi*$)/81">
                                          <p:val>
                                            <p:fltVal val="0.000000"/>
                                          </p:val>
                                        </p:tav>
                                        <p:tav tm="100000">
                                          <p:val>
                                            <p:fltVal val="1.000000"/>
                                          </p:val>
                                        </p:tav>
                                      </p:tavLst>
                                    </p:anim>
                                    <p:animScale>
                                      <p:cBhvr>
                                        <p:cTn id="41" dur="26">
                                          <p:stCondLst>
                                            <p:cond delay="650"/>
                                          </p:stCondLst>
                                        </p:cTn>
                                        <p:tgtEl>
                                          <p:spTgt spid="3">
                                            <p:txEl>
                                              <p:charRg st="206" end="267"/>
                                            </p:txEl>
                                          </p:spTgt>
                                        </p:tgtEl>
                                      </p:cBhvr>
                                      <p:to x="100000" y="60000"/>
                                    </p:animScale>
                                    <p:animScale>
                                      <p:cBhvr>
                                        <p:cTn id="42" dur="166" decel="50000">
                                          <p:stCondLst>
                                            <p:cond delay="676"/>
                                          </p:stCondLst>
                                        </p:cTn>
                                        <p:tgtEl>
                                          <p:spTgt spid="3">
                                            <p:txEl>
                                              <p:charRg st="206" end="267"/>
                                            </p:txEl>
                                          </p:spTgt>
                                        </p:tgtEl>
                                      </p:cBhvr>
                                      <p:to x="100000" y="100000"/>
                                    </p:animScale>
                                    <p:animScale>
                                      <p:cBhvr>
                                        <p:cTn id="43" dur="26">
                                          <p:stCondLst>
                                            <p:cond delay="1312"/>
                                          </p:stCondLst>
                                        </p:cTn>
                                        <p:tgtEl>
                                          <p:spTgt spid="3">
                                            <p:txEl>
                                              <p:charRg st="206" end="267"/>
                                            </p:txEl>
                                          </p:spTgt>
                                        </p:tgtEl>
                                      </p:cBhvr>
                                      <p:to x="100000" y="80000"/>
                                    </p:animScale>
                                    <p:animScale>
                                      <p:cBhvr>
                                        <p:cTn id="44" dur="166" decel="50000">
                                          <p:stCondLst>
                                            <p:cond delay="1338"/>
                                          </p:stCondLst>
                                        </p:cTn>
                                        <p:tgtEl>
                                          <p:spTgt spid="3">
                                            <p:txEl>
                                              <p:charRg st="206" end="267"/>
                                            </p:txEl>
                                          </p:spTgt>
                                        </p:tgtEl>
                                      </p:cBhvr>
                                      <p:to x="100000" y="100000"/>
                                    </p:animScale>
                                    <p:animScale>
                                      <p:cBhvr>
                                        <p:cTn id="45" dur="26">
                                          <p:stCondLst>
                                            <p:cond delay="1642"/>
                                          </p:stCondLst>
                                        </p:cTn>
                                        <p:tgtEl>
                                          <p:spTgt spid="3">
                                            <p:txEl>
                                              <p:charRg st="206" end="267"/>
                                            </p:txEl>
                                          </p:spTgt>
                                        </p:tgtEl>
                                      </p:cBhvr>
                                      <p:to x="100000" y="90000"/>
                                    </p:animScale>
                                    <p:animScale>
                                      <p:cBhvr>
                                        <p:cTn id="46" dur="166" decel="50000">
                                          <p:stCondLst>
                                            <p:cond delay="1668"/>
                                          </p:stCondLst>
                                        </p:cTn>
                                        <p:tgtEl>
                                          <p:spTgt spid="3">
                                            <p:txEl>
                                              <p:charRg st="206" end="267"/>
                                            </p:txEl>
                                          </p:spTgt>
                                        </p:tgtEl>
                                      </p:cBhvr>
                                      <p:to x="100000" y="100000"/>
                                    </p:animScale>
                                    <p:animScale>
                                      <p:cBhvr>
                                        <p:cTn id="47" dur="26">
                                          <p:stCondLst>
                                            <p:cond delay="1808"/>
                                          </p:stCondLst>
                                        </p:cTn>
                                        <p:tgtEl>
                                          <p:spTgt spid="3">
                                            <p:txEl>
                                              <p:charRg st="206" end="267"/>
                                            </p:txEl>
                                          </p:spTgt>
                                        </p:tgtEl>
                                      </p:cBhvr>
                                      <p:to x="100000" y="95000"/>
                                    </p:animScale>
                                    <p:animScale>
                                      <p:cBhvr>
                                        <p:cTn id="48" dur="166" decel="50000">
                                          <p:stCondLst>
                                            <p:cond delay="1834"/>
                                          </p:stCondLst>
                                        </p:cTn>
                                        <p:tgtEl>
                                          <p:spTgt spid="3">
                                            <p:txEl>
                                              <p:charRg st="206" end="267"/>
                                            </p:txEl>
                                          </p:spTgt>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nodeType="clickEffect">
                                  <p:stCondLst>
                                    <p:cond delay="0"/>
                                  </p:stCondLst>
                                  <p:childTnLst>
                                    <p:set>
                                      <p:cBhvr>
                                        <p:cTn id="52" dur="1" fill="hold">
                                          <p:stCondLst>
                                            <p:cond delay="0"/>
                                          </p:stCondLst>
                                        </p:cTn>
                                        <p:tgtEl>
                                          <p:spTgt spid="3">
                                            <p:txEl>
                                              <p:charRg st="267" end="304"/>
                                            </p:txEl>
                                          </p:spTgt>
                                        </p:tgtEl>
                                        <p:attrNameLst>
                                          <p:attrName>style.visibility</p:attrName>
                                        </p:attrNameLst>
                                      </p:cBhvr>
                                      <p:to>
                                        <p:strVal val="visible"/>
                                      </p:to>
                                    </p:set>
                                    <p:animEffect transition="in" filter="randombar(horizontal)">
                                      <p:cBhvr>
                                        <p:cTn id="53" dur="500"/>
                                        <p:tgtEl>
                                          <p:spTgt spid="3">
                                            <p:txEl>
                                              <p:charRg st="267" end="304"/>
                                            </p:txEl>
                                          </p:spTgt>
                                        </p:tgtEl>
                                      </p:cBhvr>
                                    </p:animEffect>
                                  </p:childTnLst>
                                </p:cTn>
                              </p:par>
                              <p:par>
                                <p:cTn id="54" presetID="14" presetClass="entr" presetSubtype="10" fill="hold" nodeType="withEffect">
                                  <p:stCondLst>
                                    <p:cond delay="0"/>
                                  </p:stCondLst>
                                  <p:childTnLst>
                                    <p:set>
                                      <p:cBhvr>
                                        <p:cTn id="55" dur="1" fill="hold">
                                          <p:stCondLst>
                                            <p:cond delay="0"/>
                                          </p:stCondLst>
                                        </p:cTn>
                                        <p:tgtEl>
                                          <p:spTgt spid="3">
                                            <p:txEl>
                                              <p:charRg st="304" end="344"/>
                                            </p:txEl>
                                          </p:spTgt>
                                        </p:tgtEl>
                                        <p:attrNameLst>
                                          <p:attrName>style.visibility</p:attrName>
                                        </p:attrNameLst>
                                      </p:cBhvr>
                                      <p:to>
                                        <p:strVal val="visible"/>
                                      </p:to>
                                    </p:set>
                                    <p:animEffect transition="in" filter="randombar(horizontal)">
                                      <p:cBhvr>
                                        <p:cTn id="56" dur="500"/>
                                        <p:tgtEl>
                                          <p:spTgt spid="3">
                                            <p:txEl>
                                              <p:charRg st="304" end="34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charRg st="344" end="36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信息安全事件</a:t>
            </a:r>
            <a:endParaRPr lang="zh-CN" altLang="en-US" dirty="0">
              <a:ea typeface="宋体" panose="02010600030101010101" pitchFamily="2" charset="-122"/>
            </a:endParaRPr>
          </a:p>
        </p:txBody>
      </p:sp>
      <p:sp>
        <p:nvSpPr>
          <p:cNvPr id="3" name="内容占位符 2"/>
          <p:cNvSpPr>
            <a:spLocks noGrp="1"/>
          </p:cNvSpPr>
          <p:nvPr>
            <p:ph idx="1"/>
          </p:nvPr>
        </p:nvSpPr>
        <p:spPr>
          <a:xfrm>
            <a:off x="228600" y="1219200"/>
            <a:ext cx="8610600" cy="5105400"/>
          </a:xfrm>
        </p:spPr>
        <p:txBody>
          <a:bodyPr vert="horz" wrap="square" lIns="91440" tIns="45720" rIns="91440" bIns="45720" anchor="t" anchorCtr="0"/>
          <a:p>
            <a:pPr marL="319405" indent="-319405">
              <a:spcBef>
                <a:spcPts val="700"/>
              </a:spcBef>
              <a:buClr>
                <a:srgbClr val="DA1F28"/>
              </a:buClr>
              <a:buSzPct val="60000"/>
              <a:buNone/>
            </a:pPr>
            <a:r>
              <a:rPr lang="zh-CN" altLang="en-US" sz="2800" b="1" dirty="0">
                <a:solidFill>
                  <a:srgbClr val="000000"/>
                </a:solidFill>
                <a:latin typeface="Tw Cen MT"/>
                <a:ea typeface="华文仿宋" panose="02010600040101010101" pitchFamily="2" charset="-122"/>
              </a:rPr>
              <a:t>信息安全事件分类</a:t>
            </a:r>
            <a:endParaRPr lang="zh-CN" altLang="en-US" sz="28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000" b="1" dirty="0">
                <a:solidFill>
                  <a:srgbClr val="000000"/>
                </a:solidFill>
                <a:latin typeface="Tw Cen MT"/>
                <a:ea typeface="宋体" panose="02010600030101010101" pitchFamily="2" charset="-122"/>
              </a:rPr>
              <a:t>3</a:t>
            </a:r>
            <a:r>
              <a:rPr lang="zh-CN" altLang="en-US" sz="2000" b="1" dirty="0">
                <a:solidFill>
                  <a:srgbClr val="000000"/>
                </a:solidFill>
                <a:latin typeface="Tw Cen MT"/>
                <a:ea typeface="华文仿宋" panose="02010600040101010101" pitchFamily="2" charset="-122"/>
              </a:rPr>
              <a:t>．信息破坏事件（</a:t>
            </a:r>
            <a:r>
              <a:rPr lang="en-US" altLang="zh-CN" sz="2000" b="1" dirty="0">
                <a:solidFill>
                  <a:srgbClr val="000000"/>
                </a:solidFill>
                <a:latin typeface="Tw Cen MT"/>
                <a:ea typeface="华文仿宋" panose="02010600040101010101" pitchFamily="2" charset="-122"/>
              </a:rPr>
              <a:t>IDI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华文仿宋" panose="02010600040101010101" pitchFamily="2" charset="-122"/>
              </a:rPr>
              <a:t>Information Destroy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1</a:t>
            </a:r>
            <a:r>
              <a:rPr lang="zh-CN" altLang="en-US" sz="2000" b="1" dirty="0">
                <a:solidFill>
                  <a:srgbClr val="000000"/>
                </a:solidFill>
                <a:latin typeface="Tw Cen MT"/>
                <a:ea typeface="华文仿宋" panose="02010600040101010101" pitchFamily="2" charset="-122"/>
              </a:rPr>
              <a:t>）信息篡改事件（</a:t>
            </a:r>
            <a:r>
              <a:rPr lang="en-US" altLang="zh-CN" sz="2000" b="1" dirty="0">
                <a:solidFill>
                  <a:srgbClr val="000000"/>
                </a:solidFill>
                <a:latin typeface="Tw Cen MT"/>
                <a:ea typeface="宋体" panose="02010600030101010101" pitchFamily="2" charset="-122"/>
              </a:rPr>
              <a:t>IAI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Information Alteration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2</a:t>
            </a:r>
            <a:r>
              <a:rPr lang="zh-CN" altLang="en-US" sz="2000" b="1" dirty="0">
                <a:solidFill>
                  <a:srgbClr val="000000"/>
                </a:solidFill>
                <a:latin typeface="Tw Cen MT"/>
                <a:ea typeface="华文仿宋" panose="02010600040101010101" pitchFamily="2" charset="-122"/>
              </a:rPr>
              <a:t>）信息假冒事件（</a:t>
            </a:r>
            <a:r>
              <a:rPr lang="en-US" altLang="zh-CN" sz="2000" b="1" dirty="0">
                <a:solidFill>
                  <a:srgbClr val="000000"/>
                </a:solidFill>
                <a:latin typeface="Tw Cen MT"/>
                <a:ea typeface="宋体" panose="02010600030101010101" pitchFamily="2" charset="-122"/>
              </a:rPr>
              <a:t>IMI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Information Masquerading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3</a:t>
            </a:r>
            <a:r>
              <a:rPr lang="zh-CN" altLang="en-US" sz="2000" b="1" dirty="0">
                <a:solidFill>
                  <a:srgbClr val="000000"/>
                </a:solidFill>
                <a:latin typeface="Tw Cen MT"/>
                <a:ea typeface="华文仿宋" panose="02010600040101010101" pitchFamily="2" charset="-122"/>
              </a:rPr>
              <a:t>）信息泄漏事件（</a:t>
            </a:r>
            <a:r>
              <a:rPr lang="en-US" altLang="zh-CN" sz="2000" b="1" dirty="0">
                <a:solidFill>
                  <a:srgbClr val="000000"/>
                </a:solidFill>
                <a:latin typeface="Tw Cen MT"/>
                <a:ea typeface="宋体" panose="02010600030101010101" pitchFamily="2" charset="-122"/>
              </a:rPr>
              <a:t>ILEI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Information Leakage Incidents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4</a:t>
            </a:r>
            <a:r>
              <a:rPr lang="zh-CN" altLang="en-US" sz="2000" b="1" dirty="0">
                <a:solidFill>
                  <a:srgbClr val="000000"/>
                </a:solidFill>
                <a:latin typeface="Tw Cen MT"/>
                <a:ea typeface="华文仿宋" panose="02010600040101010101" pitchFamily="2" charset="-122"/>
              </a:rPr>
              <a:t>）信息窃取事件（</a:t>
            </a:r>
            <a:r>
              <a:rPr lang="en-US" altLang="zh-CN" sz="2000" b="1" dirty="0">
                <a:solidFill>
                  <a:srgbClr val="000000"/>
                </a:solidFill>
                <a:latin typeface="Tw Cen MT"/>
                <a:ea typeface="宋体" panose="02010600030101010101" pitchFamily="2" charset="-122"/>
              </a:rPr>
              <a:t>III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Information Interception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5</a:t>
            </a:r>
            <a:r>
              <a:rPr lang="zh-CN" altLang="en-US" sz="2000" b="1" dirty="0">
                <a:solidFill>
                  <a:srgbClr val="000000"/>
                </a:solidFill>
                <a:latin typeface="Tw Cen MT"/>
                <a:ea typeface="华文仿宋" panose="02010600040101010101" pitchFamily="2" charset="-122"/>
              </a:rPr>
              <a:t>）信息丢失事件（</a:t>
            </a:r>
            <a:r>
              <a:rPr lang="en-US" altLang="zh-CN" sz="2000" b="1" dirty="0">
                <a:solidFill>
                  <a:srgbClr val="000000"/>
                </a:solidFill>
                <a:latin typeface="Tw Cen MT"/>
                <a:ea typeface="宋体" panose="02010600030101010101" pitchFamily="2" charset="-122"/>
              </a:rPr>
              <a:t>ILOI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Information Loss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6</a:t>
            </a:r>
            <a:r>
              <a:rPr lang="zh-CN" altLang="en-US" sz="2000" b="1" dirty="0">
                <a:solidFill>
                  <a:srgbClr val="000000"/>
                </a:solidFill>
                <a:latin typeface="Tw Cen MT"/>
                <a:ea typeface="华文仿宋" panose="02010600040101010101" pitchFamily="2" charset="-122"/>
              </a:rPr>
              <a:t>）其它信息破坏事件（</a:t>
            </a:r>
            <a:r>
              <a:rPr lang="en-US" altLang="zh-CN" sz="2000" b="1" dirty="0">
                <a:solidFill>
                  <a:srgbClr val="000000"/>
                </a:solidFill>
                <a:latin typeface="Tw Cen MT"/>
                <a:ea typeface="宋体" panose="02010600030101010101" pitchFamily="2" charset="-122"/>
              </a:rPr>
              <a:t>OIDI</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charRg st="53" end="10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charRg st="105" end="159"/>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nodeType="clickEffect">
                                  <p:stCondLst>
                                    <p:cond delay="0"/>
                                  </p:stCondLst>
                                  <p:childTnLst>
                                    <p:set>
                                      <p:cBhvr>
                                        <p:cTn id="12" dur="1" fill="hold">
                                          <p:stCondLst>
                                            <p:cond delay="0"/>
                                          </p:stCondLst>
                                        </p:cTn>
                                        <p:tgtEl>
                                          <p:spTgt spid="3">
                                            <p:txEl>
                                              <p:charRg st="159" end="209"/>
                                            </p:txEl>
                                          </p:spTgt>
                                        </p:tgtEl>
                                        <p:attrNameLst>
                                          <p:attrName>style.visibility</p:attrName>
                                        </p:attrNameLst>
                                      </p:cBhvr>
                                      <p:to>
                                        <p:strVal val="visible"/>
                                      </p:to>
                                    </p:set>
                                    <p:anim calcmode="lin" valueType="num">
                                      <p:cBhvr>
                                        <p:cTn id="13" dur="500" fill="hold"/>
                                        <p:tgtEl>
                                          <p:spTgt spid="3">
                                            <p:txEl>
                                              <p:charRg st="159" end="209"/>
                                            </p:txEl>
                                          </p:spTgt>
                                        </p:tgtEl>
                                        <p:attrNameLst>
                                          <p:attrName>ppt_w</p:attrName>
                                        </p:attrNameLst>
                                      </p:cBhvr>
                                      <p:tavLst>
                                        <p:tav tm="0">
                                          <p:val>
                                            <p:fltVal val="0.000000"/>
                                          </p:val>
                                        </p:tav>
                                        <p:tav tm="100000">
                                          <p:val>
                                            <p:strVal val="#ppt_w"/>
                                          </p:val>
                                        </p:tav>
                                      </p:tavLst>
                                    </p:anim>
                                    <p:anim calcmode="lin" valueType="num">
                                      <p:cBhvr>
                                        <p:cTn id="14" dur="500" fill="hold"/>
                                        <p:tgtEl>
                                          <p:spTgt spid="3">
                                            <p:txEl>
                                              <p:charRg st="159" end="209"/>
                                            </p:txEl>
                                          </p:spTgt>
                                        </p:tgtEl>
                                        <p:attrNameLst>
                                          <p:attrName>ppt_h</p:attrName>
                                        </p:attrNameLst>
                                      </p:cBhvr>
                                      <p:tavLst>
                                        <p:tav tm="0">
                                          <p:val>
                                            <p:fltVal val="0.000000"/>
                                          </p:val>
                                        </p:tav>
                                        <p:tav tm="100000">
                                          <p:val>
                                            <p:strVal val="#ppt_h"/>
                                          </p:val>
                                        </p:tav>
                                      </p:tavLst>
                                    </p:anim>
                                    <p:animEffect transition="in" filter="fade">
                                      <p:cBhvr>
                                        <p:cTn id="15" dur="500"/>
                                        <p:tgtEl>
                                          <p:spTgt spid="3">
                                            <p:txEl>
                                              <p:charRg st="159" end="209"/>
                                            </p:txEl>
                                          </p:spTgt>
                                        </p:tgtEl>
                                      </p:cBhvr>
                                    </p:animEffect>
                                  </p:childTnLst>
                                </p:cTn>
                              </p:par>
                              <p:par>
                                <p:cTn id="16" presetID="53" presetClass="entr" presetSubtype="16" fill="hold" nodeType="withEffect">
                                  <p:stCondLst>
                                    <p:cond delay="0"/>
                                  </p:stCondLst>
                                  <p:childTnLst>
                                    <p:set>
                                      <p:cBhvr>
                                        <p:cTn id="17" dur="1" fill="hold">
                                          <p:stCondLst>
                                            <p:cond delay="0"/>
                                          </p:stCondLst>
                                        </p:cTn>
                                        <p:tgtEl>
                                          <p:spTgt spid="3">
                                            <p:txEl>
                                              <p:charRg st="209" end="263"/>
                                            </p:txEl>
                                          </p:spTgt>
                                        </p:tgtEl>
                                        <p:attrNameLst>
                                          <p:attrName>style.visibility</p:attrName>
                                        </p:attrNameLst>
                                      </p:cBhvr>
                                      <p:to>
                                        <p:strVal val="visible"/>
                                      </p:to>
                                    </p:set>
                                    <p:anim calcmode="lin" valueType="num">
                                      <p:cBhvr>
                                        <p:cTn id="18" dur="500" fill="hold"/>
                                        <p:tgtEl>
                                          <p:spTgt spid="3">
                                            <p:txEl>
                                              <p:charRg st="209" end="263"/>
                                            </p:txEl>
                                          </p:spTgt>
                                        </p:tgtEl>
                                        <p:attrNameLst>
                                          <p:attrName>ppt_w</p:attrName>
                                        </p:attrNameLst>
                                      </p:cBhvr>
                                      <p:tavLst>
                                        <p:tav tm="0">
                                          <p:val>
                                            <p:fltVal val="0.000000"/>
                                          </p:val>
                                        </p:tav>
                                        <p:tav tm="100000">
                                          <p:val>
                                            <p:strVal val="#ppt_w"/>
                                          </p:val>
                                        </p:tav>
                                      </p:tavLst>
                                    </p:anim>
                                    <p:anim calcmode="lin" valueType="num">
                                      <p:cBhvr>
                                        <p:cTn id="19" dur="500" fill="hold"/>
                                        <p:tgtEl>
                                          <p:spTgt spid="3">
                                            <p:txEl>
                                              <p:charRg st="209" end="263"/>
                                            </p:txEl>
                                          </p:spTgt>
                                        </p:tgtEl>
                                        <p:attrNameLst>
                                          <p:attrName>ppt_h</p:attrName>
                                        </p:attrNameLst>
                                      </p:cBhvr>
                                      <p:tavLst>
                                        <p:tav tm="0">
                                          <p:val>
                                            <p:fltVal val="0.000000"/>
                                          </p:val>
                                        </p:tav>
                                        <p:tav tm="100000">
                                          <p:val>
                                            <p:strVal val="#ppt_h"/>
                                          </p:val>
                                        </p:tav>
                                      </p:tavLst>
                                    </p:anim>
                                    <p:animEffect transition="in" filter="fade">
                                      <p:cBhvr>
                                        <p:cTn id="20" dur="500"/>
                                        <p:tgtEl>
                                          <p:spTgt spid="3">
                                            <p:txEl>
                                              <p:charRg st="209" end="26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charRg st="263" end="310"/>
                                            </p:txEl>
                                          </p:spTgt>
                                        </p:tgtEl>
                                        <p:attrNameLst>
                                          <p:attrName>style.visibility</p:attrName>
                                        </p:attrNameLst>
                                      </p:cBhvr>
                                      <p:to>
                                        <p:strVal val="visible"/>
                                      </p:to>
                                    </p:set>
                                    <p:animEffect transition="in" filter="wipe(down)">
                                      <p:cBhvr>
                                        <p:cTn id="25" dur="500"/>
                                        <p:tgtEl>
                                          <p:spTgt spid="3">
                                            <p:txEl>
                                              <p:charRg st="263" end="310"/>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charRg st="310" end="332"/>
                                            </p:txEl>
                                          </p:spTgt>
                                        </p:tgtEl>
                                        <p:attrNameLst>
                                          <p:attrName>style.visibility</p:attrName>
                                        </p:attrNameLst>
                                      </p:cBhvr>
                                      <p:to>
                                        <p:strVal val="visible"/>
                                      </p:to>
                                    </p:set>
                                    <p:animEffect transition="in" filter="wipe(down)">
                                      <p:cBhvr>
                                        <p:cTn id="28" dur="500"/>
                                        <p:tgtEl>
                                          <p:spTgt spid="3">
                                            <p:txEl>
                                              <p:charRg st="310" end="3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信息安全事件</a:t>
            </a:r>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anchor="t" anchorCtr="0"/>
          <a:p>
            <a:pPr marL="319405" indent="-319405">
              <a:spcBef>
                <a:spcPts val="700"/>
              </a:spcBef>
              <a:buClr>
                <a:srgbClr val="DA1F28"/>
              </a:buClr>
              <a:buSzPct val="60000"/>
              <a:buNone/>
            </a:pPr>
            <a:r>
              <a:rPr lang="zh-CN" altLang="en-US" sz="2800" b="1" dirty="0">
                <a:solidFill>
                  <a:srgbClr val="000000"/>
                </a:solidFill>
                <a:latin typeface="Tw Cen MT"/>
                <a:ea typeface="华文仿宋" panose="02010600040101010101" pitchFamily="2" charset="-122"/>
              </a:rPr>
              <a:t>信息安全事件分类</a:t>
            </a:r>
            <a:endParaRPr lang="zh-CN" altLang="en-US" sz="28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400" b="1" dirty="0">
                <a:solidFill>
                  <a:srgbClr val="000000"/>
                </a:solidFill>
                <a:latin typeface="Tw Cen MT"/>
                <a:ea typeface="宋体" panose="02010600030101010101" pitchFamily="2" charset="-122"/>
              </a:rPr>
              <a:t>4</a:t>
            </a:r>
            <a:r>
              <a:rPr lang="zh-CN" altLang="en-US" sz="2400" b="1" dirty="0">
                <a:solidFill>
                  <a:srgbClr val="000000"/>
                </a:solidFill>
                <a:latin typeface="Tw Cen MT"/>
                <a:ea typeface="华文仿宋" panose="02010600040101010101" pitchFamily="2" charset="-122"/>
              </a:rPr>
              <a:t>．信息内容安全事件（</a:t>
            </a:r>
            <a:r>
              <a:rPr lang="en-US" altLang="zh-CN" sz="2400" b="1" dirty="0">
                <a:solidFill>
                  <a:srgbClr val="000000"/>
                </a:solidFill>
                <a:latin typeface="Tw Cen MT"/>
                <a:ea typeface="宋体" panose="02010600030101010101" pitchFamily="2" charset="-122"/>
              </a:rPr>
              <a:t>ICSI</a:t>
            </a:r>
            <a:r>
              <a:rPr lang="zh-CN" altLang="en-US" sz="2400" b="1" dirty="0">
                <a:solidFill>
                  <a:srgbClr val="000000"/>
                </a:solidFill>
                <a:latin typeface="Tw Cen MT"/>
                <a:ea typeface="华文仿宋" panose="02010600040101010101" pitchFamily="2" charset="-122"/>
              </a:rPr>
              <a:t>，</a:t>
            </a:r>
            <a:r>
              <a:rPr lang="en-US" altLang="zh-CN" sz="2400" b="1" dirty="0">
                <a:solidFill>
                  <a:srgbClr val="000000"/>
                </a:solidFill>
                <a:latin typeface="Tw Cen MT"/>
                <a:ea typeface="宋体" panose="02010600030101010101" pitchFamily="2" charset="-122"/>
              </a:rPr>
              <a:t>Information Content Security Incidents</a:t>
            </a:r>
            <a:r>
              <a:rPr lang="zh-CN" altLang="en-US" sz="2400" b="1" dirty="0">
                <a:solidFill>
                  <a:srgbClr val="000000"/>
                </a:solidFill>
                <a:latin typeface="Tw Cen MT"/>
                <a:ea typeface="华文仿宋" panose="02010600040101010101" pitchFamily="2" charset="-122"/>
              </a:rPr>
              <a:t>）</a:t>
            </a:r>
            <a:endParaRPr lang="en-US" altLang="zh-CN" sz="24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1</a:t>
            </a:r>
            <a:r>
              <a:rPr lang="zh-CN" altLang="en-US" sz="2000" b="1" dirty="0">
                <a:solidFill>
                  <a:srgbClr val="000000"/>
                </a:solidFill>
                <a:latin typeface="Tw Cen MT"/>
                <a:ea typeface="华文仿宋" panose="02010600040101010101" pitchFamily="2" charset="-122"/>
              </a:rPr>
              <a:t>）违反宪法和法律、行政法规的信息安全事件；</a:t>
            </a:r>
            <a:endParaRPr lang="zh-CN" altLang="en-US"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2</a:t>
            </a:r>
            <a:r>
              <a:rPr lang="zh-CN" altLang="en-US" sz="2000" b="1" dirty="0">
                <a:solidFill>
                  <a:srgbClr val="000000"/>
                </a:solidFill>
                <a:latin typeface="Tw Cen MT"/>
                <a:ea typeface="华文仿宋" panose="02010600040101010101" pitchFamily="2" charset="-122"/>
              </a:rPr>
              <a:t>）针对社会事项进行讨论、评论形成网上敏感的舆论热点，出现一定规模炒作的信息安全事件；</a:t>
            </a:r>
            <a:endParaRPr lang="en-US" altLang="zh-CN" sz="2000" b="1" dirty="0">
              <a:solidFill>
                <a:srgbClr val="000000"/>
              </a:solidFill>
              <a:latin typeface="Tw Cen MT"/>
              <a:ea typeface="华文仿宋" panose="02010600040101010101" pitchFamily="2" charset="-122"/>
            </a:endParaRPr>
          </a:p>
          <a:p>
            <a:pPr marL="319405" indent="-319405" algn="just">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4</a:t>
            </a:r>
            <a:r>
              <a:rPr lang="zh-CN" altLang="en-US" sz="2000" b="1" dirty="0">
                <a:solidFill>
                  <a:srgbClr val="000000"/>
                </a:solidFill>
                <a:latin typeface="Tw Cen MT"/>
                <a:ea typeface="华文仿宋" panose="02010600040101010101" pitchFamily="2" charset="-122"/>
              </a:rPr>
              <a:t>）其他信息内容安全事件等</a:t>
            </a:r>
            <a:r>
              <a:rPr lang="en-US" altLang="zh-CN" sz="2000" b="1" dirty="0">
                <a:solidFill>
                  <a:srgbClr val="000000"/>
                </a:solidFill>
                <a:latin typeface="Tw Cen MT"/>
                <a:ea typeface="宋体" panose="02010600030101010101" pitchFamily="2" charset="-122"/>
              </a:rPr>
              <a:t>4</a:t>
            </a:r>
            <a:r>
              <a:rPr lang="zh-CN" altLang="en-US" sz="2000" b="1" dirty="0">
                <a:solidFill>
                  <a:srgbClr val="000000"/>
                </a:solidFill>
                <a:latin typeface="Tw Cen MT"/>
                <a:ea typeface="华文仿宋" panose="02010600040101010101" pitchFamily="2" charset="-122"/>
              </a:rPr>
              <a:t>个子类。 </a:t>
            </a:r>
            <a:endParaRPr lang="en-US" altLang="zh-CN" sz="2000" b="1" dirty="0">
              <a:solidFill>
                <a:srgbClr val="000000"/>
              </a:solidFill>
              <a:latin typeface="Tw Cen MT"/>
              <a:ea typeface="华文仿宋" panose="02010600040101010101" pitchFamily="2" charset="-122"/>
            </a:endParaRPr>
          </a:p>
          <a:p>
            <a:pPr marL="319405" indent="-319405"/>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charRg st="65" end="93"/>
                                            </p:txEl>
                                          </p:spTgt>
                                        </p:tgtEl>
                                        <p:attrNameLst>
                                          <p:attrName>style.visibility</p:attrName>
                                        </p:attrNameLst>
                                      </p:cBhvr>
                                      <p:to>
                                        <p:strVal val="visible"/>
                                      </p:to>
                                    </p:set>
                                    <p:animEffect transition="in" filter="circle(in)">
                                      <p:cBhvr>
                                        <p:cTn id="7" dur="2000"/>
                                        <p:tgtEl>
                                          <p:spTgt spid="3">
                                            <p:txEl>
                                              <p:charRg st="65" end="93"/>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charRg st="93" end="142"/>
                                            </p:txEl>
                                          </p:spTgt>
                                        </p:tgtEl>
                                        <p:attrNameLst>
                                          <p:attrName>style.visibility</p:attrName>
                                        </p:attrNameLst>
                                      </p:cBhvr>
                                      <p:to>
                                        <p:strVal val="visible"/>
                                      </p:to>
                                    </p:set>
                                    <p:animEffect transition="in" filter="circle(in)">
                                      <p:cBhvr>
                                        <p:cTn id="10" dur="2000"/>
                                        <p:tgtEl>
                                          <p:spTgt spid="3">
                                            <p:txEl>
                                              <p:charRg st="93" end="14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charRg st="142" end="167"/>
                                            </p:txEl>
                                          </p:spTgt>
                                        </p:tgtEl>
                                        <p:attrNameLst>
                                          <p:attrName>style.visibility</p:attrName>
                                        </p:attrNameLst>
                                      </p:cBhvr>
                                      <p:to>
                                        <p:strVal val="visible"/>
                                      </p:to>
                                    </p:set>
                                    <p:animEffect transition="in" filter="barn(inVertical)">
                                      <p:cBhvr>
                                        <p:cTn id="15" dur="500"/>
                                        <p:tgtEl>
                                          <p:spTgt spid="3">
                                            <p:txEl>
                                              <p:charRg st="142" end="1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信息安全事件</a:t>
            </a:r>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anchor="t" anchorCtr="0"/>
          <a:p>
            <a:pPr marL="319405" indent="-319405">
              <a:spcBef>
                <a:spcPts val="700"/>
              </a:spcBef>
              <a:buClr>
                <a:srgbClr val="DA1F28"/>
              </a:buClr>
              <a:buSzPct val="60000"/>
              <a:buNone/>
            </a:pPr>
            <a:r>
              <a:rPr lang="zh-CN" altLang="en-US" sz="2400" b="1" dirty="0">
                <a:solidFill>
                  <a:srgbClr val="000000"/>
                </a:solidFill>
                <a:latin typeface="Tw Cen MT"/>
                <a:ea typeface="华文仿宋" panose="02010600040101010101" pitchFamily="2" charset="-122"/>
              </a:rPr>
              <a:t>信息安全事件分类</a:t>
            </a:r>
            <a:endParaRPr lang="zh-CN" altLang="en-US" sz="24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en-US" altLang="zh-CN" sz="2000" b="1" dirty="0">
                <a:solidFill>
                  <a:srgbClr val="000000"/>
                </a:solidFill>
                <a:latin typeface="Tw Cen MT"/>
                <a:ea typeface="宋体" panose="02010600030101010101" pitchFamily="2" charset="-122"/>
              </a:rPr>
              <a:t>5</a:t>
            </a:r>
            <a:r>
              <a:rPr lang="zh-CN" altLang="en-US" sz="2000" b="1" dirty="0">
                <a:solidFill>
                  <a:srgbClr val="000000"/>
                </a:solidFill>
                <a:latin typeface="Tw Cen MT"/>
                <a:ea typeface="华文仿宋" panose="02010600040101010101" pitchFamily="2" charset="-122"/>
              </a:rPr>
              <a:t>．设备设施故障（</a:t>
            </a:r>
            <a:r>
              <a:rPr lang="en-US" altLang="zh-CN" sz="2000" b="1" dirty="0">
                <a:solidFill>
                  <a:srgbClr val="000000"/>
                </a:solidFill>
                <a:latin typeface="Tw Cen MT"/>
                <a:ea typeface="宋体" panose="02010600030101010101" pitchFamily="2" charset="-122"/>
              </a:rPr>
              <a:t>FF</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Facilities Faults</a:t>
            </a:r>
            <a:r>
              <a:rPr lang="zh-CN" altLang="en-US" sz="2000" b="1" dirty="0">
                <a:solidFill>
                  <a:srgbClr val="000000"/>
                </a:solidFill>
                <a:latin typeface="Tw Cen MT"/>
                <a:ea typeface="华文仿宋" panose="02010600040101010101" pitchFamily="2" charset="-122"/>
              </a:rPr>
              <a:t>）</a:t>
            </a:r>
            <a:endParaRPr lang="en-US" altLang="zh-CN" sz="20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1</a:t>
            </a:r>
            <a:r>
              <a:rPr lang="zh-CN" altLang="en-US" sz="2000" b="1" dirty="0">
                <a:solidFill>
                  <a:srgbClr val="000000"/>
                </a:solidFill>
                <a:latin typeface="Tw Cen MT"/>
                <a:ea typeface="华文仿宋" panose="02010600040101010101" pitchFamily="2" charset="-122"/>
              </a:rPr>
              <a:t>）软硬件自身故障（</a:t>
            </a:r>
            <a:r>
              <a:rPr lang="en-US" altLang="zh-CN" sz="2000" b="1" dirty="0">
                <a:solidFill>
                  <a:srgbClr val="000000"/>
                </a:solidFill>
                <a:latin typeface="Tw Cen MT"/>
                <a:ea typeface="宋体" panose="02010600030101010101" pitchFamily="2" charset="-122"/>
              </a:rPr>
              <a:t>SHF</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Software and Hardware Faults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en-US" altLang="zh-CN" sz="2000" b="1" dirty="0">
                <a:solidFill>
                  <a:srgbClr val="000000"/>
                </a:solidFill>
                <a:latin typeface="Tw Cen MT"/>
                <a:ea typeface="华文仿宋" panose="02010600040101010101" pitchFamily="2" charset="-122"/>
              </a:rPr>
              <a:t>    </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2</a:t>
            </a:r>
            <a:r>
              <a:rPr lang="zh-CN" altLang="en-US" sz="2000" b="1" dirty="0">
                <a:solidFill>
                  <a:srgbClr val="000000"/>
                </a:solidFill>
                <a:latin typeface="Tw Cen MT"/>
                <a:ea typeface="华文仿宋" panose="02010600040101010101" pitchFamily="2" charset="-122"/>
              </a:rPr>
              <a:t>）外围保障设施故障（</a:t>
            </a:r>
            <a:r>
              <a:rPr lang="en-US" altLang="zh-CN" sz="2000" b="1" dirty="0">
                <a:solidFill>
                  <a:srgbClr val="000000"/>
                </a:solidFill>
                <a:latin typeface="Tw Cen MT"/>
                <a:ea typeface="宋体" panose="02010600030101010101" pitchFamily="2" charset="-122"/>
              </a:rPr>
              <a:t>PSFF</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Periphery Safeguarding Facilities Faults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3</a:t>
            </a:r>
            <a:r>
              <a:rPr lang="zh-CN" altLang="en-US" sz="2000" b="1" dirty="0">
                <a:solidFill>
                  <a:srgbClr val="000000"/>
                </a:solidFill>
                <a:latin typeface="Tw Cen MT"/>
                <a:ea typeface="华文仿宋" panose="02010600040101010101" pitchFamily="2" charset="-122"/>
              </a:rPr>
              <a:t>）人为破坏事故（</a:t>
            </a:r>
            <a:r>
              <a:rPr lang="en-US" altLang="zh-CN" sz="2000" b="1" dirty="0">
                <a:solidFill>
                  <a:srgbClr val="000000"/>
                </a:solidFill>
                <a:latin typeface="Tw Cen MT"/>
                <a:ea typeface="宋体" panose="02010600030101010101" pitchFamily="2" charset="-122"/>
              </a:rPr>
              <a:t>MDA</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Man-made Destroy Accidents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zh-CN" altLang="en-US" sz="2000" b="1" dirty="0">
                <a:solidFill>
                  <a:srgbClr val="000000"/>
                </a:solidFill>
                <a:latin typeface="Tw Cen MT"/>
                <a:ea typeface="华文仿宋" panose="02010600040101010101" pitchFamily="2" charset="-122"/>
              </a:rPr>
              <a:t>    （</a:t>
            </a:r>
            <a:r>
              <a:rPr lang="en-US" altLang="zh-CN" sz="2000" b="1" dirty="0">
                <a:solidFill>
                  <a:srgbClr val="000000"/>
                </a:solidFill>
                <a:latin typeface="Tw Cen MT"/>
                <a:ea typeface="宋体" panose="02010600030101010101" pitchFamily="2" charset="-122"/>
              </a:rPr>
              <a:t>4</a:t>
            </a:r>
            <a:r>
              <a:rPr lang="zh-CN" altLang="en-US" sz="2000" b="1" dirty="0">
                <a:solidFill>
                  <a:srgbClr val="000000"/>
                </a:solidFill>
                <a:latin typeface="Tw Cen MT"/>
                <a:ea typeface="华文仿宋" panose="02010600040101010101" pitchFamily="2" charset="-122"/>
              </a:rPr>
              <a:t>）其它设备设施故障（</a:t>
            </a:r>
            <a:r>
              <a:rPr lang="en-US" altLang="zh-CN" sz="2000" b="1" dirty="0">
                <a:solidFill>
                  <a:srgbClr val="000000"/>
                </a:solidFill>
                <a:latin typeface="Tw Cen MT"/>
                <a:ea typeface="宋体" panose="02010600030101010101" pitchFamily="2" charset="-122"/>
              </a:rPr>
              <a:t>IF-OT</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en-US" altLang="zh-CN" sz="2000" b="1" dirty="0">
                <a:solidFill>
                  <a:srgbClr val="000000"/>
                </a:solidFill>
                <a:latin typeface="Tw Cen MT"/>
                <a:ea typeface="宋体" panose="02010600030101010101" pitchFamily="2" charset="-122"/>
              </a:rPr>
              <a:t>6</a:t>
            </a:r>
            <a:r>
              <a:rPr lang="zh-CN" altLang="en-US" sz="2000" b="1" dirty="0">
                <a:solidFill>
                  <a:srgbClr val="000000"/>
                </a:solidFill>
                <a:latin typeface="Tw Cen MT"/>
                <a:ea typeface="华文仿宋" panose="02010600040101010101" pitchFamily="2" charset="-122"/>
              </a:rPr>
              <a:t>．灾害性事件（</a:t>
            </a:r>
            <a:r>
              <a:rPr lang="en-US" altLang="zh-CN" sz="2000" b="1" dirty="0">
                <a:solidFill>
                  <a:srgbClr val="000000"/>
                </a:solidFill>
                <a:latin typeface="Tw Cen MT"/>
                <a:ea typeface="宋体" panose="02010600030101010101" pitchFamily="2" charset="-122"/>
              </a:rPr>
              <a:t>DI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Disaster Incidents</a:t>
            </a:r>
            <a:r>
              <a:rPr lang="zh-CN" altLang="en-US" sz="2000" b="1" dirty="0">
                <a:solidFill>
                  <a:srgbClr val="000000"/>
                </a:solidFill>
                <a:latin typeface="Tw Cen MT"/>
                <a:ea typeface="华文仿宋" panose="02010600040101010101" pitchFamily="2" charset="-122"/>
              </a:rPr>
              <a:t>） </a:t>
            </a:r>
            <a:endParaRPr lang="zh-CN" altLang="en-US" sz="2000" b="1" dirty="0">
              <a:solidFill>
                <a:srgbClr val="000000"/>
              </a:solidFill>
              <a:latin typeface="Tw Cen MT"/>
              <a:ea typeface="华文仿宋" panose="02010600040101010101" pitchFamily="2" charset="-122"/>
            </a:endParaRPr>
          </a:p>
          <a:p>
            <a:pPr marL="319405" indent="-319405">
              <a:lnSpc>
                <a:spcPct val="150000"/>
              </a:lnSpc>
              <a:spcBef>
                <a:spcPts val="700"/>
              </a:spcBef>
              <a:buClr>
                <a:srgbClr val="DA1F28"/>
              </a:buClr>
              <a:buSzPct val="60000"/>
              <a:buNone/>
            </a:pPr>
            <a:r>
              <a:rPr lang="en-US" altLang="zh-CN" sz="2000" b="1" dirty="0">
                <a:solidFill>
                  <a:srgbClr val="000000"/>
                </a:solidFill>
                <a:latin typeface="Tw Cen MT"/>
                <a:ea typeface="宋体" panose="02010600030101010101" pitchFamily="2" charset="-122"/>
              </a:rPr>
              <a:t>7</a:t>
            </a:r>
            <a:r>
              <a:rPr lang="zh-CN" altLang="en-US" sz="2000" b="1" dirty="0">
                <a:solidFill>
                  <a:srgbClr val="000000"/>
                </a:solidFill>
                <a:latin typeface="Tw Cen MT"/>
                <a:ea typeface="华文仿宋" panose="02010600040101010101" pitchFamily="2" charset="-122"/>
              </a:rPr>
              <a:t>．其他事件（</a:t>
            </a:r>
            <a:r>
              <a:rPr lang="en-US" altLang="zh-CN" sz="2000" b="1" dirty="0">
                <a:solidFill>
                  <a:srgbClr val="000000"/>
                </a:solidFill>
                <a:latin typeface="Tw Cen MT"/>
                <a:ea typeface="宋体" panose="02010600030101010101" pitchFamily="2" charset="-122"/>
              </a:rPr>
              <a:t>OI</a:t>
            </a:r>
            <a:r>
              <a:rPr lang="zh-CN" altLang="en-US" sz="2000" b="1" dirty="0">
                <a:solidFill>
                  <a:srgbClr val="000000"/>
                </a:solidFill>
                <a:latin typeface="Tw Cen MT"/>
                <a:ea typeface="华文仿宋" panose="02010600040101010101" pitchFamily="2" charset="-122"/>
              </a:rPr>
              <a:t>，</a:t>
            </a:r>
            <a:r>
              <a:rPr lang="en-US" altLang="zh-CN" sz="2000" b="1" dirty="0">
                <a:solidFill>
                  <a:srgbClr val="000000"/>
                </a:solidFill>
                <a:latin typeface="Tw Cen MT"/>
                <a:ea typeface="宋体" panose="02010600030101010101" pitchFamily="2" charset="-122"/>
              </a:rPr>
              <a:t>Other Incidents</a:t>
            </a:r>
            <a:r>
              <a:rPr lang="zh-CN" altLang="en-US" sz="2000" b="1" dirty="0">
                <a:solidFill>
                  <a:srgbClr val="000000"/>
                </a:solidFill>
                <a:latin typeface="Tw Cen MT"/>
                <a:ea typeface="华文仿宋" panose="02010600040101010101" pitchFamily="2" charset="-122"/>
              </a:rPr>
              <a:t>）</a:t>
            </a:r>
            <a:endParaRPr lang="zh-CN" altLang="en-US" sz="2000" b="1" dirty="0">
              <a:solidFill>
                <a:srgbClr val="000000"/>
              </a:solidFill>
              <a:latin typeface="Tw Cen MT"/>
              <a:ea typeface="华文仿宋" panose="02010600040101010101" pitchFamily="2" charset="-122"/>
            </a:endParaRPr>
          </a:p>
          <a:p>
            <a:pPr marL="319405" indent="-319405"/>
            <a:endParaRPr lang="zh-CN" altLang="en-US"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charRg st="40" end="89"/>
                                            </p:txEl>
                                          </p:spTgt>
                                        </p:tgtEl>
                                        <p:attrNameLst>
                                          <p:attrName>style.visibility</p:attrName>
                                        </p:attrNameLst>
                                      </p:cBhvr>
                                      <p:to>
                                        <p:strVal val="visible"/>
                                      </p:to>
                                    </p:set>
                                    <p:animEffect transition="in" filter="wheel(1)">
                                      <p:cBhvr>
                                        <p:cTn id="7" dur="2000"/>
                                        <p:tgtEl>
                                          <p:spTgt spid="3">
                                            <p:txEl>
                                              <p:charRg st="40" end="8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charRg st="89" end="152"/>
                                            </p:txEl>
                                          </p:spTgt>
                                        </p:tgtEl>
                                        <p:attrNameLst>
                                          <p:attrName>style.visibility</p:attrName>
                                        </p:attrNameLst>
                                      </p:cBhvr>
                                      <p:to>
                                        <p:strVal val="visible"/>
                                      </p:to>
                                    </p:set>
                                    <p:animEffect transition="in" filter="barn(inVertical)">
                                      <p:cBhvr>
                                        <p:cTn id="12" dur="500"/>
                                        <p:tgtEl>
                                          <p:spTgt spid="3">
                                            <p:txEl>
                                              <p:charRg st="89" end="1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charRg st="152" end="198"/>
                                            </p:txEl>
                                          </p:spTgt>
                                        </p:tgtEl>
                                        <p:attrNameLst>
                                          <p:attrName>style.visibility</p:attrName>
                                        </p:attrNameLst>
                                      </p:cBhvr>
                                      <p:to>
                                        <p:strVal val="visible"/>
                                      </p:to>
                                    </p:set>
                                    <p:animEffect transition="in" filter="barn(inVertical)">
                                      <p:cBhvr>
                                        <p:cTn id="17" dur="500"/>
                                        <p:tgtEl>
                                          <p:spTgt spid="3">
                                            <p:txEl>
                                              <p:charRg st="152" end="19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charRg st="198" end="221"/>
                                            </p:txEl>
                                          </p:spTgt>
                                        </p:tgtEl>
                                        <p:attrNameLst>
                                          <p:attrName>style.visibility</p:attrName>
                                        </p:attrNameLst>
                                      </p:cBhvr>
                                      <p:to>
                                        <p:strVal val="visible"/>
                                      </p:to>
                                    </p:set>
                                    <p:animEffect transition="in" filter="fade">
                                      <p:cBhvr>
                                        <p:cTn id="22" dur="1000"/>
                                        <p:tgtEl>
                                          <p:spTgt spid="3">
                                            <p:txEl>
                                              <p:charRg st="198" end="221"/>
                                            </p:txEl>
                                          </p:spTgt>
                                        </p:tgtEl>
                                      </p:cBhvr>
                                    </p:animEffect>
                                    <p:anim calcmode="lin" valueType="num">
                                      <p:cBhvr>
                                        <p:cTn id="23" dur="1000" fill="hold"/>
                                        <p:tgtEl>
                                          <p:spTgt spid="3">
                                            <p:txEl>
                                              <p:charRg st="198" end="22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charRg st="198" end="22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charRg st="221" end="253"/>
                                            </p:txEl>
                                          </p:spTgt>
                                        </p:tgtEl>
                                        <p:attrNameLst>
                                          <p:attrName>style.visibility</p:attrName>
                                        </p:attrNameLst>
                                      </p:cBhvr>
                                      <p:to>
                                        <p:strVal val="visible"/>
                                      </p:to>
                                    </p:set>
                                    <p:anim calcmode="lin" valueType="num">
                                      <p:cBhvr additive="base">
                                        <p:cTn id="29" dur="500" fill="hold"/>
                                        <p:tgtEl>
                                          <p:spTgt spid="3">
                                            <p:txEl>
                                              <p:charRg st="221" end="25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charRg st="221" end="25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charRg st="253" end="280"/>
                                            </p:txEl>
                                          </p:spTgt>
                                        </p:tgtEl>
                                        <p:attrNameLst>
                                          <p:attrName>style.visibility</p:attrName>
                                        </p:attrNameLst>
                                      </p:cBhvr>
                                      <p:to>
                                        <p:strVal val="visible"/>
                                      </p:to>
                                    </p:set>
                                    <p:anim calcmode="lin" valueType="num">
                                      <p:cBhvr additive="base">
                                        <p:cTn id="33" dur="500" fill="hold"/>
                                        <p:tgtEl>
                                          <p:spTgt spid="3">
                                            <p:txEl>
                                              <p:charRg st="253" end="28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charRg st="253" end="28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标题 1"/>
          <p:cNvSpPr>
            <a:spLocks noGrp="1"/>
          </p:cNvSpPr>
          <p:nvPr>
            <p:ph type="title"/>
          </p:nvPr>
        </p:nvSpPr>
        <p:spPr/>
        <p:txBody>
          <a:bodyPr vert="horz" wrap="square" lIns="91440" tIns="45720" rIns="91440" bIns="45720" anchor="ctr" anchorCtr="0"/>
          <a:p>
            <a:pPr eaLnBrk="1" hangingPunct="1"/>
            <a:r>
              <a:rPr lang="zh-CN" altLang="en-US" b="1" dirty="0">
                <a:ea typeface="宋体" panose="02010600030101010101" pitchFamily="2" charset="-122"/>
              </a:rPr>
              <a:t>信息安全</a:t>
            </a:r>
            <a:r>
              <a:rPr lang="zh-CN" altLang="en-US" b="1" dirty="0">
                <a:solidFill>
                  <a:srgbClr val="FFFFFF"/>
                </a:solidFill>
                <a:ea typeface="宋体" panose="02010600030101010101" pitchFamily="2" charset="-122"/>
              </a:rPr>
              <a:t>事件</a:t>
            </a:r>
            <a:endParaRPr lang="zh-CN" altLang="en-US" b="1" dirty="0">
              <a:ea typeface="宋体" panose="02010600030101010101" pitchFamily="2" charset="-122"/>
            </a:endParaRPr>
          </a:p>
        </p:txBody>
      </p:sp>
      <p:sp>
        <p:nvSpPr>
          <p:cNvPr id="19459" name="内容占位符 2"/>
          <p:cNvSpPr>
            <a:spLocks noGrp="1" noChangeArrowheads="1"/>
          </p:cNvSpPr>
          <p:nvPr>
            <p:ph idx="1"/>
          </p:nvPr>
        </p:nvSpPr>
        <p:spPr>
          <a:xfrm>
            <a:off x="304800" y="1524000"/>
            <a:ext cx="8229600" cy="5105400"/>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20000"/>
              </a:spcAft>
              <a:buClr>
                <a:srgbClr val="AC04A0"/>
              </a:buClr>
              <a:buSzTx/>
              <a:buFont typeface="Wingdings" panose="05000000000000000000" pitchFamily="2" charset="2"/>
              <a:buNone/>
              <a:defRPr/>
            </a:pPr>
            <a:r>
              <a:rPr kumimoji="0" lang="zh-CN" altLang="en-US" sz="3200" b="1" i="0" u="none" strike="noStrike" kern="1200" cap="none" spc="0" normalizeH="0" baseline="0" noProof="0" dirty="0" smtClean="0">
                <a:ln>
                  <a:noFill/>
                </a:ln>
                <a:solidFill>
                  <a:prstClr val="black"/>
                </a:solidFill>
                <a:effectLst/>
                <a:uLnTx/>
                <a:uFillTx/>
                <a:latin typeface="Tw Cen MT"/>
                <a:ea typeface="华文仿宋" panose="02010600040101010101" pitchFamily="2" charset="-122"/>
                <a:cs typeface="+mn-cs"/>
              </a:rPr>
              <a:t>信息安全事件</a:t>
            </a:r>
            <a:r>
              <a:rPr kumimoji="0" lang="zh-CN" altLang="en-US"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rPr>
              <a:t>：</a:t>
            </a:r>
            <a:endParaRPr kumimoji="0" lang="en-US" altLang="zh-CN" sz="32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rPr>
              <a:t>破坏性强、传播性强、扩散面广</a:t>
            </a:r>
            <a:endParaRPr kumimoji="0" lang="en-US" altLang="zh-CN"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人为的因素</a:t>
            </a:r>
            <a:r>
              <a:rPr kumimoji="0" lang="zh-CN" altLang="en-US"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方面要注意：</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rPr>
              <a:t>很多问题出在人（管理），而不是技术</a:t>
            </a:r>
            <a:endParaRPr kumimoji="0" lang="en-US" altLang="zh-CN"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rPr>
              <a:t>两类：误操作、恶意破坏</a:t>
            </a:r>
            <a:endParaRPr kumimoji="0" lang="en-US" altLang="zh-CN"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FF0000"/>
                </a:solidFill>
                <a:effectLst/>
                <a:uLnTx/>
                <a:uFillTx/>
                <a:latin typeface="华文新魏" panose="02010800040101010101" pitchFamily="2" charset="-122"/>
                <a:ea typeface="华文新魏" panose="02010800040101010101" pitchFamily="2" charset="-122"/>
              </a:rPr>
              <a:t>引申：黑客问题、间谍泄密问题</a:t>
            </a:r>
            <a:endParaRPr kumimoji="0" lang="en-US" altLang="zh-CN" sz="2400" b="1" i="0" u="none" strike="noStrike" kern="0" cap="none" spc="0" normalizeH="0" baseline="0" noProof="0" dirty="0" smtClean="0">
              <a:ln>
                <a:noFill/>
              </a:ln>
              <a:solidFill>
                <a:srgbClr val="FF0000"/>
              </a:solidFill>
              <a:effectLst/>
              <a:uLnTx/>
              <a:uFillTx/>
              <a:latin typeface="华文新魏" panose="02010800040101010101" pitchFamily="2" charset="-122"/>
              <a:ea typeface="华文新魏" panose="020108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rPr>
              <a:t>信息安全管理自身的不足</a:t>
            </a:r>
            <a:endParaRPr kumimoji="0" lang="en-US" altLang="zh-CN" sz="2800" b="1" i="0" u="none" strike="noStrike" kern="0" cap="none" spc="0" normalizeH="0" baseline="0" noProof="0" dirty="0" smtClean="0">
              <a:ln>
                <a:noFill/>
              </a:ln>
              <a:solidFill>
                <a:srgbClr val="000000"/>
              </a:solidFill>
              <a:effectLst/>
              <a:uLnTx/>
              <a:uFillTx/>
              <a:latin typeface="楷体_GB2312" pitchFamily="49" charset="-122"/>
              <a:ea typeface="楷体_GB2312" pitchFamily="49" charset="-122"/>
            </a:endParaRPr>
          </a:p>
          <a:p>
            <a:pPr marL="1143000" marR="0" lvl="2" indent="-228600" algn="l" defTabSz="914400" rtl="0" eaLnBrk="0" fontAlgn="base" latinLnBrk="0" hangingPunct="0">
              <a:lnSpc>
                <a:spcPct val="100000"/>
              </a:lnSpc>
              <a:spcBef>
                <a:spcPct val="20000"/>
              </a:spcBef>
              <a:spcAft>
                <a:spcPct val="0"/>
              </a:spcAft>
              <a:buClr>
                <a:schemeClr val="tx1"/>
              </a:buClr>
              <a:buSzTx/>
              <a:buFontTx/>
              <a:buChar char="•"/>
              <a:defRPr/>
            </a:pPr>
            <a:r>
              <a:rPr kumimoji="0" lang="zh-CN" altLang="en-US"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rPr>
              <a:t>管理水平有限、安全意识有待提高</a:t>
            </a:r>
            <a:endParaRPr kumimoji="0" lang="en-US" altLang="zh-CN" sz="2400" b="1" i="0" u="none" strike="noStrike" kern="0" cap="none" spc="0" normalizeH="0" baseline="0" noProof="0" dirty="0" smtClean="0">
              <a:ln>
                <a:noFill/>
              </a:ln>
              <a:solidFill>
                <a:srgbClr val="000000"/>
              </a:solidFill>
              <a:effectLst/>
              <a:uLnTx/>
              <a:uFillTx/>
              <a:latin typeface="华文新魏" panose="02010800040101010101" pitchFamily="2" charset="-122"/>
              <a:ea typeface="华文新魏" panose="02010800040101010101" pitchFamily="2" charset="-122"/>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endParaRPr kumimoji="0" lang="en-US" altLang="zh-CN" sz="2800" b="1" i="0" u="none" strike="noStrike" kern="0" cap="none" spc="0" normalizeH="0" baseline="0" noProof="0" dirty="0" smtClean="0">
              <a:ln>
                <a:noFill/>
              </a:ln>
              <a:solidFill>
                <a:schemeClr val="tx1"/>
              </a:solidFill>
              <a:effectLst/>
              <a:uLnTx/>
              <a:uFillTx/>
              <a:latin typeface="楷体_GB2312" pitchFamily="49" charset="-122"/>
              <a:ea typeface="楷体_GB2312" pitchFamily="49" charset="-122"/>
            </a:endParaRPr>
          </a:p>
          <a:p>
            <a:pPr marL="342900" marR="0" lvl="0" indent="-342900" algn="l" defTabSz="914400" rtl="0" eaLnBrk="1" fontAlgn="base" latinLnBrk="0" hangingPunct="1">
              <a:lnSpc>
                <a:spcPct val="100000"/>
              </a:lnSpc>
              <a:spcBef>
                <a:spcPct val="20000"/>
              </a:spcBef>
              <a:spcAft>
                <a:spcPct val="0"/>
              </a:spcAft>
              <a:buClr>
                <a:schemeClr val="tx2"/>
              </a:buClr>
              <a:buSzTx/>
              <a:buFont typeface="Wingdings" panose="05000000000000000000" pitchFamily="2" charset="2"/>
              <a:buNone/>
              <a:defRPr/>
            </a:pPr>
            <a:endParaRPr kumimoji="0" lang="zh-CN" altLang="en-US" sz="3200" b="0" i="0" u="none" strike="noStrike" kern="0" cap="none" spc="0" normalizeH="0" baseline="0" noProof="0" dirty="0" smtClean="0">
              <a:ln>
                <a:noFill/>
              </a:ln>
              <a:solidFill>
                <a:schemeClr val="tx1"/>
              </a:solidFill>
              <a:effectLst/>
              <a:uLnTx/>
              <a:uFillTx/>
              <a:latin typeface="+mn-lt"/>
              <a:ea typeface="楷体_GB2312" pitchFamily="49" charset="-122"/>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59">
                                            <p:txEl>
                                              <p:charRg st="0" end="8"/>
                                            </p:txEl>
                                          </p:spTgt>
                                        </p:tgtEl>
                                        <p:attrNameLst>
                                          <p:attrName>style.visibility</p:attrName>
                                        </p:attrNameLst>
                                      </p:cBhvr>
                                      <p:to>
                                        <p:strVal val="visible"/>
                                      </p:to>
                                    </p:set>
                                    <p:animEffect transition="in" filter="fade">
                                      <p:cBhvr>
                                        <p:cTn id="7" dur="2000"/>
                                        <p:tgtEl>
                                          <p:spTgt spid="19459">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charRg st="8" end="23"/>
                                            </p:txEl>
                                          </p:spTgt>
                                        </p:tgtEl>
                                        <p:attrNameLst>
                                          <p:attrName>style.visibility</p:attrName>
                                        </p:attrNameLst>
                                      </p:cBhvr>
                                      <p:to>
                                        <p:strVal val="visible"/>
                                      </p:to>
                                    </p:set>
                                    <p:animEffect transition="in" filter="fade">
                                      <p:cBhvr>
                                        <p:cTn id="12" dur="2000"/>
                                        <p:tgtEl>
                                          <p:spTgt spid="19459">
                                            <p:txEl>
                                              <p:charRg st="8"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59">
                                            <p:txEl>
                                              <p:charRg st="23" end="35"/>
                                            </p:txEl>
                                          </p:spTgt>
                                        </p:tgtEl>
                                        <p:attrNameLst>
                                          <p:attrName>style.visibility</p:attrName>
                                        </p:attrNameLst>
                                      </p:cBhvr>
                                      <p:to>
                                        <p:strVal val="visible"/>
                                      </p:to>
                                    </p:set>
                                    <p:animEffect transition="in" filter="fade">
                                      <p:cBhvr>
                                        <p:cTn id="17" dur="2000"/>
                                        <p:tgtEl>
                                          <p:spTgt spid="19459">
                                            <p:txEl>
                                              <p:charRg st="23" end="3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59">
                                            <p:txEl>
                                              <p:charRg st="35" end="53"/>
                                            </p:txEl>
                                          </p:spTgt>
                                        </p:tgtEl>
                                        <p:attrNameLst>
                                          <p:attrName>style.visibility</p:attrName>
                                        </p:attrNameLst>
                                      </p:cBhvr>
                                      <p:to>
                                        <p:strVal val="visible"/>
                                      </p:to>
                                    </p:set>
                                    <p:animEffect transition="in" filter="fade">
                                      <p:cBhvr>
                                        <p:cTn id="22" dur="2000"/>
                                        <p:tgtEl>
                                          <p:spTgt spid="19459">
                                            <p:txEl>
                                              <p:charRg st="35" end="5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459">
                                            <p:txEl>
                                              <p:charRg st="53" end="65"/>
                                            </p:txEl>
                                          </p:spTgt>
                                        </p:tgtEl>
                                        <p:attrNameLst>
                                          <p:attrName>style.visibility</p:attrName>
                                        </p:attrNameLst>
                                      </p:cBhvr>
                                      <p:to>
                                        <p:strVal val="visible"/>
                                      </p:to>
                                    </p:set>
                                    <p:animEffect transition="in" filter="fade">
                                      <p:cBhvr>
                                        <p:cTn id="27" dur="2000"/>
                                        <p:tgtEl>
                                          <p:spTgt spid="19459">
                                            <p:txEl>
                                              <p:charRg st="53" end="6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459">
                                            <p:txEl>
                                              <p:charRg st="65" end="80"/>
                                            </p:txEl>
                                          </p:spTgt>
                                        </p:tgtEl>
                                        <p:attrNameLst>
                                          <p:attrName>style.visibility</p:attrName>
                                        </p:attrNameLst>
                                      </p:cBhvr>
                                      <p:to>
                                        <p:strVal val="visible"/>
                                      </p:to>
                                    </p:set>
                                    <p:animEffect transition="in" filter="fade">
                                      <p:cBhvr>
                                        <p:cTn id="32" dur="2000"/>
                                        <p:tgtEl>
                                          <p:spTgt spid="19459">
                                            <p:txEl>
                                              <p:charRg st="65" end="8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459">
                                            <p:txEl>
                                              <p:charRg st="80" end="92"/>
                                            </p:txEl>
                                          </p:spTgt>
                                        </p:tgtEl>
                                        <p:attrNameLst>
                                          <p:attrName>style.visibility</p:attrName>
                                        </p:attrNameLst>
                                      </p:cBhvr>
                                      <p:to>
                                        <p:strVal val="visible"/>
                                      </p:to>
                                    </p:set>
                                    <p:animEffect transition="in" filter="fade">
                                      <p:cBhvr>
                                        <p:cTn id="37" dur="2000"/>
                                        <p:tgtEl>
                                          <p:spTgt spid="19459">
                                            <p:txEl>
                                              <p:charRg st="80" end="9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9459">
                                            <p:txEl>
                                              <p:charRg st="92" end="108"/>
                                            </p:txEl>
                                          </p:spTgt>
                                        </p:tgtEl>
                                        <p:attrNameLst>
                                          <p:attrName>style.visibility</p:attrName>
                                        </p:attrNameLst>
                                      </p:cBhvr>
                                      <p:to>
                                        <p:strVal val="visible"/>
                                      </p:to>
                                    </p:set>
                                    <p:animEffect transition="in" filter="fade">
                                      <p:cBhvr>
                                        <p:cTn id="42" dur="2000"/>
                                        <p:tgtEl>
                                          <p:spTgt spid="19459">
                                            <p:txEl>
                                              <p:charRg st="92"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1"/>
          <p:cNvSpPr>
            <a:spLocks noGrp="1"/>
          </p:cNvSpPr>
          <p:nvPr>
            <p:ph type="title"/>
          </p:nvPr>
        </p:nvSpPr>
        <p:spPr/>
        <p:txBody>
          <a:bodyPr vert="horz" wrap="square" lIns="91440" tIns="45720" rIns="91440" bIns="45720" anchor="ctr" anchorCtr="0"/>
          <a:p>
            <a:r>
              <a:rPr lang="zh-CN" altLang="en-US" b="1" dirty="0">
                <a:solidFill>
                  <a:srgbClr val="FFFFFF"/>
                </a:solidFill>
                <a:ea typeface="宋体" panose="02010600030101010101" pitchFamily="2" charset="-122"/>
              </a:rPr>
              <a:t>信息安全目的</a:t>
            </a:r>
            <a:endParaRPr lang="zh-CN" altLang="en-US" dirty="0">
              <a:ea typeface="宋体" panose="02010600030101010101" pitchFamily="2" charset="-122"/>
            </a:endParaRPr>
          </a:p>
        </p:txBody>
      </p:sp>
      <p:sp>
        <p:nvSpPr>
          <p:cNvPr id="3" name="内容占位符 2"/>
          <p:cNvSpPr>
            <a:spLocks noGrp="1"/>
          </p:cNvSpPr>
          <p:nvPr>
            <p:ph idx="1"/>
          </p:nvPr>
        </p:nvSpPr>
        <p:spPr/>
        <p:txBody>
          <a:bodyPr vert="horz" wrap="square" lIns="91440" tIns="45720" rIns="91440" bIns="45720" anchor="t" anchorCtr="0"/>
          <a:p>
            <a:pPr marL="0" indent="0">
              <a:lnSpc>
                <a:spcPct val="150000"/>
              </a:lnSpc>
              <a:buNone/>
            </a:pPr>
            <a:r>
              <a:rPr lang="zh-CN" altLang="en-US" sz="2800" b="1" dirty="0">
                <a:solidFill>
                  <a:srgbClr val="000000"/>
                </a:solidFill>
                <a:latin typeface="华文仿宋" panose="02010600040101010101" pitchFamily="2" charset="-122"/>
                <a:ea typeface="华文仿宋" panose="02010600040101010101" pitchFamily="2" charset="-122"/>
              </a:rPr>
              <a:t>信息安全的目的：</a:t>
            </a:r>
            <a:endParaRPr lang="en-US" altLang="zh-CN" sz="2800" b="1" dirty="0">
              <a:solidFill>
                <a:srgbClr val="000000"/>
              </a:solidFill>
              <a:latin typeface="华文仿宋" panose="02010600040101010101" pitchFamily="2" charset="-122"/>
              <a:ea typeface="华文仿宋" panose="02010600040101010101" pitchFamily="2" charset="-122"/>
            </a:endParaRPr>
          </a:p>
          <a:p>
            <a:pPr marL="0" indent="0">
              <a:lnSpc>
                <a:spcPct val="150000"/>
              </a:lnSpc>
              <a:buNone/>
            </a:pPr>
            <a:r>
              <a:rPr lang="zh-CN" altLang="en-US" sz="2800" b="1" dirty="0">
                <a:solidFill>
                  <a:srgbClr val="000000"/>
                </a:solidFill>
                <a:latin typeface="华文仿宋" panose="02010600040101010101" pitchFamily="2" charset="-122"/>
                <a:ea typeface="华文仿宋" panose="02010600040101010101" pitchFamily="2" charset="-122"/>
              </a:rPr>
              <a:t>        为了保护所有信息系统内的资源，包括机密数据、计算机软件资源、计算机硬件资源及网络通信设备。计算机系统的长期运行，会造成物理硬件的疲劳和损坏，致使存储系统重要数据丢失和运算错误。因此，经常性保养硬件系统安全，是</a:t>
            </a:r>
            <a:r>
              <a:rPr lang="zh-CN" altLang="en-US" sz="2800" b="1" dirty="0">
                <a:solidFill>
                  <a:srgbClr val="FF0000"/>
                </a:solidFill>
                <a:latin typeface="华文仿宋" panose="02010600040101010101" pitchFamily="2" charset="-122"/>
                <a:ea typeface="华文仿宋" panose="02010600040101010101" pitchFamily="2" charset="-122"/>
              </a:rPr>
              <a:t>信息安全管理</a:t>
            </a:r>
            <a:r>
              <a:rPr lang="zh-CN" altLang="en-US" sz="2800" b="1" dirty="0">
                <a:solidFill>
                  <a:srgbClr val="000000"/>
                </a:solidFill>
                <a:latin typeface="华文仿宋" panose="02010600040101010101" pitchFamily="2" charset="-122"/>
                <a:ea typeface="华文仿宋" panose="02010600040101010101" pitchFamily="2" charset="-122"/>
              </a:rPr>
              <a:t>的重要课题。</a:t>
            </a:r>
            <a:endParaRPr lang="zh-CN" altLang="en-US" sz="2800" b="1" dirty="0">
              <a:solidFill>
                <a:srgbClr val="000000"/>
              </a:solidFill>
              <a:latin typeface="华文仿宋" panose="02010600040101010101" pitchFamily="2" charset="-122"/>
              <a:ea typeface="华文仿宋"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charRg st="9" end="134"/>
                                            </p:txEl>
                                          </p:spTgt>
                                        </p:tgtEl>
                                        <p:attrNameLst>
                                          <p:attrName>style.visibility</p:attrName>
                                        </p:attrNameLst>
                                      </p:cBhvr>
                                      <p:to>
                                        <p:strVal val="visible"/>
                                      </p:to>
                                    </p:set>
                                    <p:animEffect transition="in" filter="wipe(down)">
                                      <p:cBhvr>
                                        <p:cTn id="7" dur="500"/>
                                        <p:tgtEl>
                                          <p:spTgt spid="3">
                                            <p:txEl>
                                              <p:charRg st="9" end="13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extBox 4"/>
          <p:cNvSpPr txBox="1"/>
          <p:nvPr>
            <p:custDataLst>
              <p:tags r:id="rId1"/>
            </p:custDataLst>
          </p:nvPr>
        </p:nvSpPr>
        <p:spPr>
          <a:xfrm>
            <a:off x="914400" y="1092200"/>
            <a:ext cx="7315200" cy="1574800"/>
          </a:xfrm>
          <a:prstGeom prst="rect">
            <a:avLst/>
          </a:prstGeom>
          <a:noFill/>
          <a:ln w="9525">
            <a:noFill/>
          </a:ln>
        </p:spPr>
        <p:txBody>
          <a:bodyPr anchor="ctr" anchorCtr="0"/>
          <a:p>
            <a:r>
              <a:rPr lang="zh-CN" altLang="zh-CN" dirty="0">
                <a:latin typeface="Times New Roman" panose="02020603050405020304" pitchFamily="18" charset="0"/>
              </a:rPr>
              <a:t>关于信息安全，下列说法中正确的是（）</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5843" name="TextBox 5"/>
          <p:cNvSpPr txBox="1"/>
          <p:nvPr>
            <p:custDataLst>
              <p:tags r:id="rId2"/>
            </p:custDataLst>
          </p:nvPr>
        </p:nvSpPr>
        <p:spPr>
          <a:xfrm>
            <a:off x="1828800" y="2786063"/>
            <a:ext cx="6400800" cy="642937"/>
          </a:xfrm>
          <a:prstGeom prst="rect">
            <a:avLst/>
          </a:prstGeom>
          <a:noFill/>
          <a:ln w="9525">
            <a:noFill/>
          </a:ln>
        </p:spPr>
        <p:txBody>
          <a:bodyPr anchor="ctr" anchorCtr="0"/>
          <a:p>
            <a:r>
              <a:rPr lang="zh-CN" altLang="zh-CN" dirty="0">
                <a:latin typeface="Times New Roman" panose="02020603050405020304" pitchFamily="18" charset="0"/>
              </a:rPr>
              <a:t>信息安全等同于网络安全</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5844" name="TextBox 6"/>
          <p:cNvSpPr txBox="1"/>
          <p:nvPr>
            <p:custDataLst>
              <p:tags r:id="rId3"/>
            </p:custDataLst>
          </p:nvPr>
        </p:nvSpPr>
        <p:spPr>
          <a:xfrm>
            <a:off x="1828800" y="3643313"/>
            <a:ext cx="6400800" cy="642937"/>
          </a:xfrm>
          <a:prstGeom prst="rect">
            <a:avLst/>
          </a:prstGeom>
          <a:noFill/>
          <a:ln w="9525">
            <a:noFill/>
          </a:ln>
        </p:spPr>
        <p:txBody>
          <a:bodyPr anchor="ctr" anchorCtr="0"/>
          <a:p>
            <a:r>
              <a:rPr lang="zh-CN" altLang="zh-CN" dirty="0">
                <a:latin typeface="Times New Roman" panose="02020603050405020304" pitchFamily="18" charset="0"/>
              </a:rPr>
              <a:t>信息安全由技术措施实现</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5845" name="TextBox 7"/>
          <p:cNvSpPr txBox="1"/>
          <p:nvPr>
            <p:custDataLst>
              <p:tags r:id="rId4"/>
            </p:custDataLst>
          </p:nvPr>
        </p:nvSpPr>
        <p:spPr>
          <a:xfrm>
            <a:off x="1828800" y="4500563"/>
            <a:ext cx="6400800" cy="642937"/>
          </a:xfrm>
          <a:prstGeom prst="rect">
            <a:avLst/>
          </a:prstGeom>
          <a:noFill/>
          <a:ln w="9525">
            <a:noFill/>
          </a:ln>
        </p:spPr>
        <p:txBody>
          <a:bodyPr anchor="ctr" anchorCtr="0"/>
          <a:p>
            <a:r>
              <a:rPr lang="zh-CN" altLang="zh-CN" dirty="0">
                <a:latin typeface="Times New Roman" panose="02020603050405020304" pitchFamily="18" charset="0"/>
              </a:rPr>
              <a:t>信息安全应当技术与管理并重</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5846" name="TextBox 8"/>
          <p:cNvSpPr txBox="1"/>
          <p:nvPr>
            <p:custDataLst>
              <p:tags r:id="rId5"/>
            </p:custDataLst>
          </p:nvPr>
        </p:nvSpPr>
        <p:spPr>
          <a:xfrm>
            <a:off x="1828800" y="5357813"/>
            <a:ext cx="6400800" cy="642937"/>
          </a:xfrm>
          <a:prstGeom prst="rect">
            <a:avLst/>
          </a:prstGeom>
          <a:noFill/>
          <a:ln w="9525">
            <a:noFill/>
          </a:ln>
        </p:spPr>
        <p:txBody>
          <a:bodyPr anchor="ctr" anchorCtr="0"/>
          <a:p>
            <a:r>
              <a:rPr lang="zh-CN" altLang="zh-CN" dirty="0">
                <a:latin typeface="Times New Roman" panose="02020603050405020304" pitchFamily="18" charset="0"/>
              </a:rPr>
              <a:t>管理措施在信息安全中不重要</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5847"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5848"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5849" name="椭圆 11"/>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5850" name="椭圆 12"/>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5851" name="圆角矩形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35852" name="组合 18"/>
          <p:cNvGrpSpPr/>
          <p:nvPr/>
        </p:nvGrpSpPr>
        <p:grpSpPr>
          <a:xfrm>
            <a:off x="0" y="0"/>
            <a:ext cx="9144000" cy="635000"/>
            <a:chOff x="0" y="0"/>
            <a:chExt cx="9144000" cy="635000"/>
          </a:xfrm>
        </p:grpSpPr>
        <p:sp>
          <p:nvSpPr>
            <p:cNvPr id="35854" name="TitleBackground"/>
            <p:cNvSpPr/>
            <p:nvPr>
              <p:custDataLst>
                <p:tags r:id="rId11"/>
              </p:custDataLst>
            </p:nvPr>
          </p:nvSpPr>
          <p:spPr>
            <a:xfrm>
              <a:off x="0" y="0"/>
              <a:ext cx="9144000" cy="635000"/>
            </a:xfrm>
            <a:prstGeom prst="rect">
              <a:avLst/>
            </a:prstGeom>
            <a:solidFill>
              <a:srgbClr val="F6F7F8"/>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35855" name="ColorBlock"/>
            <p:cNvSpPr/>
            <p:nvPr>
              <p:custDataLst>
                <p:tags r:id="rId12"/>
              </p:custDataLst>
            </p:nvPr>
          </p:nvSpPr>
          <p:spPr>
            <a:xfrm>
              <a:off x="0" y="0"/>
              <a:ext cx="190500" cy="635000"/>
            </a:xfrm>
            <a:prstGeom prst="rect">
              <a:avLst/>
            </a:prstGeom>
            <a:solidFill>
              <a:srgbClr val="639EF4"/>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35856" name="TypeText"/>
            <p:cNvSpPr txBox="1"/>
            <p:nvPr>
              <p:custDataLst>
                <p:tags r:id="rId13"/>
              </p:custDataLst>
            </p:nvPr>
          </p:nvSpPr>
          <p:spPr>
            <a:xfrm>
              <a:off x="254000" y="0"/>
              <a:ext cx="1905000" cy="635000"/>
            </a:xfrm>
            <a:prstGeom prst="rect">
              <a:avLst/>
            </a:prstGeom>
            <a:noFill/>
            <a:ln w="9525">
              <a:noFill/>
            </a:ln>
          </p:spPr>
          <p:txBody>
            <a:bodyPr wrap="none" anchor="ctr" anchorCtr="0"/>
            <a:p>
              <a:r>
                <a:rPr lang="zh-CN" altLang="en-US" dirty="0">
                  <a:latin typeface="微软雅黑" panose="020B0503020204020204" charset="-122"/>
                  <a:ea typeface="微软雅黑" panose="020B0503020204020204" charset="-122"/>
                  <a:sym typeface="微软雅黑" panose="020B0503020204020204" charset="-122"/>
                </a:rPr>
                <a:t>投票</a:t>
              </a:r>
              <a:endParaRPr lang="zh-CN" altLang="en-US" dirty="0">
                <a:latin typeface="微软雅黑" panose="020B0503020204020204" charset="-122"/>
                <a:ea typeface="微软雅黑" panose="020B0503020204020204" charset="-122"/>
                <a:sym typeface="微软雅黑" panose="020B0503020204020204" charset="-122"/>
              </a:endParaRPr>
            </a:p>
          </p:txBody>
        </p:sp>
      </p:grpSp>
      <p:pic>
        <p:nvPicPr>
          <p:cNvPr id="35853" name="图片 3"/>
          <p:cNvPicPr/>
          <p:nvPr>
            <p:custDataLst>
              <p:tags r:id="rId14"/>
            </p:custDataLst>
          </p:nvPr>
        </p:nvPicPr>
        <p:blipFill>
          <a:blip r:embed="rId15"/>
          <a:stretch>
            <a:fillRect/>
          </a:stretch>
        </p:blipFill>
        <p:spPr>
          <a:xfrm>
            <a:off x="7594600" y="63500"/>
            <a:ext cx="1422400" cy="508000"/>
          </a:xfrm>
          <a:prstGeom prst="rect">
            <a:avLst/>
          </a:prstGeom>
          <a:noFill/>
          <a:ln w="9525">
            <a:noFill/>
          </a:ln>
        </p:spPr>
      </p:pic>
      <p:sp>
        <p:nvSpPr>
          <p:cNvPr id="3" name="TipText"/>
          <p:cNvSpPr txBox="1"/>
          <p:nvPr>
            <p:custDataLst>
              <p:tags r:id="rId16"/>
            </p:custDataLst>
          </p:nvPr>
        </p:nvSpPr>
        <p:spPr>
          <a:xfrm>
            <a:off x="1143000" y="109220"/>
            <a:ext cx="2286000" cy="5080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spTree>
    <p:custDataLst>
      <p:tags r:id="rId17"/>
    </p:custData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Box 4"/>
          <p:cNvSpPr txBox="1"/>
          <p:nvPr>
            <p:custDataLst>
              <p:tags r:id="rId1"/>
            </p:custDataLst>
          </p:nvPr>
        </p:nvSpPr>
        <p:spPr>
          <a:xfrm>
            <a:off x="914400" y="1092200"/>
            <a:ext cx="7315200" cy="1498600"/>
          </a:xfrm>
          <a:prstGeom prst="rect">
            <a:avLst/>
          </a:prstGeom>
          <a:noFill/>
          <a:ln w="9525">
            <a:noFill/>
          </a:ln>
        </p:spPr>
        <p:txBody>
          <a:bodyPr anchor="ctr" anchorCtr="0"/>
          <a:p>
            <a:r>
              <a:rPr lang="zh-CN" altLang="zh-CN" dirty="0">
                <a:latin typeface="Times New Roman" panose="02020603050405020304" pitchFamily="18" charset="0"/>
              </a:rPr>
              <a:t>与信息安全不同的是学密码学的目的是</a:t>
            </a:r>
            <a:r>
              <a:rPr lang="zh-CN" altLang="en-US" dirty="0">
                <a:latin typeface="Times New Roman" panose="02020603050405020304" pitchFamily="18" charset="0"/>
              </a:rPr>
              <a:t>什么？</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9219" name="TextBox 5"/>
          <p:cNvSpPr txBox="1"/>
          <p:nvPr>
            <p:custDataLst>
              <p:tags r:id="rId2"/>
            </p:custDataLst>
          </p:nvPr>
        </p:nvSpPr>
        <p:spPr>
          <a:xfrm>
            <a:off x="1828800" y="2786063"/>
            <a:ext cx="6400800" cy="642937"/>
          </a:xfrm>
          <a:prstGeom prst="rect">
            <a:avLst/>
          </a:prstGeom>
          <a:noFill/>
          <a:ln w="9525">
            <a:noFill/>
          </a:ln>
        </p:spPr>
        <p:txBody>
          <a:bodyPr anchor="ctr" anchorCtr="0"/>
          <a:p>
            <a:r>
              <a:rPr lang="zh-CN" altLang="zh-CN" dirty="0">
                <a:latin typeface="Times New Roman" panose="02020603050405020304" pitchFamily="18" charset="0"/>
              </a:rPr>
              <a:t>研究数据加密</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9220" name="TextBox 6"/>
          <p:cNvSpPr txBox="1"/>
          <p:nvPr>
            <p:custDataLst>
              <p:tags r:id="rId3"/>
            </p:custDataLst>
          </p:nvPr>
        </p:nvSpPr>
        <p:spPr>
          <a:xfrm>
            <a:off x="1828800" y="3643313"/>
            <a:ext cx="6400800" cy="642937"/>
          </a:xfrm>
          <a:prstGeom prst="rect">
            <a:avLst/>
          </a:prstGeom>
          <a:noFill/>
          <a:ln w="9525">
            <a:noFill/>
          </a:ln>
        </p:spPr>
        <p:txBody>
          <a:bodyPr anchor="ctr" anchorCtr="0"/>
          <a:p>
            <a:r>
              <a:rPr lang="zh-CN" altLang="zh-CN" dirty="0">
                <a:latin typeface="Times New Roman" panose="02020603050405020304" pitchFamily="18" charset="0"/>
              </a:rPr>
              <a:t>研究数据解密</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9221" name="TextBox 7"/>
          <p:cNvSpPr txBox="1"/>
          <p:nvPr>
            <p:custDataLst>
              <p:tags r:id="rId4"/>
            </p:custDataLst>
          </p:nvPr>
        </p:nvSpPr>
        <p:spPr>
          <a:xfrm>
            <a:off x="1828800" y="4487863"/>
            <a:ext cx="6400800" cy="642937"/>
          </a:xfrm>
          <a:prstGeom prst="rect">
            <a:avLst/>
          </a:prstGeom>
          <a:noFill/>
          <a:ln w="9525">
            <a:noFill/>
          </a:ln>
        </p:spPr>
        <p:txBody>
          <a:bodyPr anchor="ctr" anchorCtr="0"/>
          <a:p>
            <a:r>
              <a:rPr lang="zh-CN" altLang="en-US" dirty="0">
                <a:latin typeface="宋体" panose="02010600030101010101" pitchFamily="2" charset="-122"/>
                <a:sym typeface="微软雅黑" panose="020B0503020204020204" charset="-122"/>
              </a:rPr>
              <a:t>研究数据保密</a:t>
            </a:r>
            <a:endParaRPr lang="zh-CN" altLang="en-US" dirty="0">
              <a:latin typeface="宋体" panose="02010600030101010101" pitchFamily="2" charset="-122"/>
              <a:sym typeface="微软雅黑" panose="020B0503020204020204" charset="-122"/>
            </a:endParaRPr>
          </a:p>
        </p:txBody>
      </p:sp>
      <p:sp>
        <p:nvSpPr>
          <p:cNvPr id="9222" name="TextBox 8"/>
          <p:cNvSpPr txBox="1"/>
          <p:nvPr>
            <p:custDataLst>
              <p:tags r:id="rId5"/>
            </p:custDataLst>
          </p:nvPr>
        </p:nvSpPr>
        <p:spPr>
          <a:xfrm>
            <a:off x="1828800" y="5357813"/>
            <a:ext cx="6400800" cy="642937"/>
          </a:xfrm>
          <a:prstGeom prst="rect">
            <a:avLst/>
          </a:prstGeom>
          <a:noFill/>
          <a:ln w="9525">
            <a:noFill/>
          </a:ln>
        </p:spPr>
        <p:txBody>
          <a:bodyPr anchor="ctr" anchorCtr="0"/>
          <a:p>
            <a:r>
              <a:rPr lang="zh-CN" altLang="zh-CN" dirty="0">
                <a:latin typeface="Times New Roman" panose="02020603050405020304" pitchFamily="18" charset="0"/>
              </a:rPr>
              <a:t>研究信息安全</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9223" name="椭圆 9"/>
          <p:cNvSpPr>
            <a:spLocks noChangeAspect="1"/>
          </p:cNvSpPr>
          <p:nvPr>
            <p:custDataLst>
              <p:tags r:id="rId6"/>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224" name="椭圆 10"/>
          <p:cNvSpPr>
            <a:spLocks noChangeAspect="1"/>
          </p:cNvSpPr>
          <p:nvPr>
            <p:custDataLst>
              <p:tags r:id="rId7"/>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225" name="椭圆 11"/>
          <p:cNvSpPr>
            <a:spLocks noChangeAspect="1"/>
          </p:cNvSpPr>
          <p:nvPr>
            <p:custDataLst>
              <p:tags r:id="rId8"/>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C</a:t>
            </a:r>
            <a:endParaRPr lang="en-US" altLang="zh-CN"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226" name="椭圆 12"/>
          <p:cNvSpPr>
            <a:spLocks noChangeAspect="1"/>
          </p:cNvSpPr>
          <p:nvPr>
            <p:custDataLst>
              <p:tags r:id="rId9"/>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anchor="ctr" anchorCtr="1"/>
          <a:p>
            <a:pPr algn="ctr">
              <a:spcBef>
                <a:spcPct val="50000"/>
              </a:spcBef>
            </a:pP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9227" name="圆角矩形 13"/>
          <p:cNvSpPr/>
          <p:nvPr>
            <p:custDataLst>
              <p:tags r:id="rId10"/>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9228" name="组合 18"/>
          <p:cNvGrpSpPr/>
          <p:nvPr/>
        </p:nvGrpSpPr>
        <p:grpSpPr>
          <a:xfrm>
            <a:off x="0" y="0"/>
            <a:ext cx="9144000" cy="635000"/>
            <a:chOff x="0" y="0"/>
            <a:chExt cx="9144000" cy="635000"/>
          </a:xfrm>
        </p:grpSpPr>
        <p:sp>
          <p:nvSpPr>
            <p:cNvPr id="9230" name="TitleBackground"/>
            <p:cNvSpPr/>
            <p:nvPr>
              <p:custDataLst>
                <p:tags r:id="rId11"/>
              </p:custDataLst>
            </p:nvPr>
          </p:nvSpPr>
          <p:spPr>
            <a:xfrm>
              <a:off x="0" y="0"/>
              <a:ext cx="9144000" cy="635000"/>
            </a:xfrm>
            <a:prstGeom prst="rect">
              <a:avLst/>
            </a:prstGeom>
            <a:solidFill>
              <a:srgbClr val="F6F7F8"/>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9231" name="ColorBlock"/>
            <p:cNvSpPr/>
            <p:nvPr>
              <p:custDataLst>
                <p:tags r:id="rId12"/>
              </p:custDataLst>
            </p:nvPr>
          </p:nvSpPr>
          <p:spPr>
            <a:xfrm>
              <a:off x="0" y="0"/>
              <a:ext cx="190500" cy="635000"/>
            </a:xfrm>
            <a:prstGeom prst="rect">
              <a:avLst/>
            </a:prstGeom>
            <a:solidFill>
              <a:srgbClr val="639EF4"/>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9232" name="TypeText"/>
            <p:cNvSpPr txBox="1"/>
            <p:nvPr>
              <p:custDataLst>
                <p:tags r:id="rId13"/>
              </p:custDataLst>
            </p:nvPr>
          </p:nvSpPr>
          <p:spPr>
            <a:xfrm>
              <a:off x="254000" y="0"/>
              <a:ext cx="1905000" cy="635000"/>
            </a:xfrm>
            <a:prstGeom prst="rect">
              <a:avLst/>
            </a:prstGeom>
            <a:noFill/>
            <a:ln w="9525">
              <a:noFill/>
            </a:ln>
          </p:spPr>
          <p:txBody>
            <a:bodyPr wrap="none" anchor="ctr" anchorCtr="0"/>
            <a:p>
              <a:r>
                <a:rPr lang="zh-CN" altLang="en-US" dirty="0">
                  <a:latin typeface="微软雅黑" panose="020B0503020204020204" charset="-122"/>
                  <a:ea typeface="微软雅黑" panose="020B0503020204020204" charset="-122"/>
                  <a:sym typeface="微软雅黑" panose="020B0503020204020204" charset="-122"/>
                </a:rPr>
                <a:t>投票</a:t>
              </a:r>
              <a:endParaRPr lang="zh-CN" altLang="en-US" dirty="0">
                <a:latin typeface="微软雅黑" panose="020B0503020204020204" charset="-122"/>
                <a:ea typeface="微软雅黑" panose="020B0503020204020204" charset="-122"/>
                <a:sym typeface="微软雅黑" panose="020B0503020204020204" charset="-122"/>
              </a:endParaRPr>
            </a:p>
          </p:txBody>
        </p:sp>
      </p:grpSp>
      <p:pic>
        <p:nvPicPr>
          <p:cNvPr id="9229" name="图片 3"/>
          <p:cNvPicPr/>
          <p:nvPr>
            <p:custDataLst>
              <p:tags r:id="rId14"/>
            </p:custDataLst>
          </p:nvPr>
        </p:nvPicPr>
        <p:blipFill>
          <a:blip r:embed="rId15"/>
          <a:stretch>
            <a:fillRect/>
          </a:stretch>
        </p:blipFill>
        <p:spPr>
          <a:xfrm>
            <a:off x="7594600" y="63500"/>
            <a:ext cx="1422400" cy="508000"/>
          </a:xfrm>
          <a:prstGeom prst="rect">
            <a:avLst/>
          </a:prstGeom>
          <a:noFill/>
          <a:ln w="9525">
            <a:noFill/>
          </a:ln>
        </p:spPr>
      </p:pic>
      <p:sp>
        <p:nvSpPr>
          <p:cNvPr id="2" name="TipText"/>
          <p:cNvSpPr txBox="1"/>
          <p:nvPr>
            <p:custDataLst>
              <p:tags r:id="rId16"/>
            </p:custDataLst>
          </p:nvPr>
        </p:nvSpPr>
        <p:spPr>
          <a:xfrm>
            <a:off x="1143000" y="109220"/>
            <a:ext cx="2286000" cy="508000"/>
          </a:xfrm>
          <a:prstGeom prst="rect">
            <a:avLst/>
          </a:prstGeom>
          <a:noFill/>
        </p:spPr>
        <p:txBody>
          <a:bodyPr wrap="none" rtlCol="0" anchor="ctr" anchorCtr="0">
            <a:noAutofit/>
          </a:bodyPr>
          <a:p>
            <a:pPr lvl="0" algn="l">
              <a:buNone/>
            </a:pPr>
            <a:r>
              <a:rPr lang="zh-CN" altLang="en-US" sz="2000">
                <a:solidFill>
                  <a:srgbClr val="808080"/>
                </a:solidFill>
                <a:latin typeface="微软雅黑" panose="020B0503020204020204" charset="-122"/>
                <a:ea typeface="微软雅黑" panose="020B0503020204020204" charset="-122"/>
                <a:cs typeface="微软雅黑" panose="020B0503020204020204" charset="-122"/>
              </a:rPr>
              <a:t>最多可选1项</a:t>
            </a:r>
            <a:endParaRPr lang="zh-CN" altLang="en-US" sz="2000">
              <a:solidFill>
                <a:srgbClr val="808080"/>
              </a:solidFill>
              <a:latin typeface="微软雅黑" panose="020B0503020204020204" charset="-122"/>
              <a:ea typeface="微软雅黑" panose="020B0503020204020204" charset="-122"/>
              <a:cs typeface="微软雅黑" panose="020B0503020204020204" charset="-122"/>
            </a:endParaRPr>
          </a:p>
        </p:txBody>
      </p:sp>
    </p:spTree>
    <p:custDataLst>
      <p:tags r:id="rId17"/>
    </p:custData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extBox 2"/>
          <p:cNvSpPr txBox="1"/>
          <p:nvPr>
            <p:custDataLst>
              <p:tags r:id="rId1"/>
            </p:custDataLst>
          </p:nvPr>
        </p:nvSpPr>
        <p:spPr>
          <a:xfrm>
            <a:off x="762000" y="2047875"/>
            <a:ext cx="8153400" cy="2143125"/>
          </a:xfrm>
          <a:prstGeom prst="rect">
            <a:avLst/>
          </a:prstGeom>
          <a:noFill/>
          <a:ln w="9525">
            <a:noFill/>
          </a:ln>
        </p:spPr>
        <p:txBody>
          <a:bodyPr anchor="ctr" anchorCtr="0"/>
          <a:p>
            <a:pPr marL="457200" indent="-457200">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sym typeface="微软雅黑" panose="020B0503020204020204" charset="-122"/>
              </a:rPr>
              <a:t>信息安全在技术发展和应用过程中，表现出哪些重要特点？（</a:t>
            </a:r>
            <a:r>
              <a:rPr lang="en-US" altLang="zh-CN" dirty="0">
                <a:latin typeface="微软雅黑" panose="020B0503020204020204" charset="-122"/>
                <a:ea typeface="微软雅黑" panose="020B0503020204020204" charset="-122"/>
                <a:sym typeface="微软雅黑" panose="020B0503020204020204" charset="-122"/>
              </a:rPr>
              <a:t>5</a:t>
            </a:r>
            <a:r>
              <a:rPr lang="zh-CN" altLang="en-US" dirty="0">
                <a:latin typeface="微软雅黑" panose="020B0503020204020204" charset="-122"/>
                <a:ea typeface="微软雅黑" panose="020B0503020204020204" charset="-122"/>
                <a:sym typeface="微软雅黑" panose="020B0503020204020204" charset="-122"/>
              </a:rPr>
              <a:t>）</a:t>
            </a:r>
            <a:endParaRPr lang="en-US" altLang="zh-CN" dirty="0">
              <a:latin typeface="微软雅黑" panose="020B0503020204020204" charset="-122"/>
              <a:ea typeface="微软雅黑" panose="020B0503020204020204" charset="-122"/>
              <a:sym typeface="微软雅黑" panose="020B0503020204020204" charset="-122"/>
            </a:endParaRPr>
          </a:p>
          <a:p>
            <a:pPr marL="457200" indent="-457200">
              <a:lnSpc>
                <a:spcPct val="150000"/>
              </a:lnSpc>
              <a:buFont typeface="Wingdings" panose="05000000000000000000" pitchFamily="2" charset="2"/>
              <a:buChar char="Ø"/>
            </a:pPr>
            <a:endParaRPr lang="en-US" altLang="zh-CN" dirty="0">
              <a:latin typeface="微软雅黑" panose="020B0503020204020204" charset="-122"/>
              <a:ea typeface="微软雅黑" panose="020B0503020204020204" charset="-122"/>
              <a:sym typeface="微软雅黑" panose="020B0503020204020204" charset="-122"/>
            </a:endParaRPr>
          </a:p>
          <a:p>
            <a:pPr marL="457200" indent="-457200">
              <a:lnSpc>
                <a:spcPct val="150000"/>
              </a:lnSpc>
              <a:buFont typeface="Wingdings" panose="05000000000000000000" pitchFamily="2" charset="2"/>
              <a:buChar char="Ø"/>
            </a:pPr>
            <a:r>
              <a:rPr lang="zh-CN" altLang="en-US" dirty="0">
                <a:latin typeface="微软雅黑" panose="020B0503020204020204" charset="-122"/>
                <a:ea typeface="微软雅黑" panose="020B0503020204020204" charset="-122"/>
                <a:sym typeface="微软雅黑" panose="020B0503020204020204" charset="-122"/>
              </a:rPr>
              <a:t>信息安全的内涵在哪些扩展的领域体现？（</a:t>
            </a:r>
            <a:r>
              <a:rPr lang="en-US" altLang="zh-CN" dirty="0">
                <a:latin typeface="微软雅黑" panose="020B0503020204020204" charset="-122"/>
                <a:ea typeface="微软雅黑" panose="020B0503020204020204" charset="-122"/>
                <a:sym typeface="微软雅黑" panose="020B0503020204020204" charset="-122"/>
              </a:rPr>
              <a:t>5</a:t>
            </a:r>
            <a:r>
              <a:rPr lang="zh-CN" altLang="en-US" dirty="0">
                <a:latin typeface="微软雅黑" panose="020B0503020204020204" charset="-122"/>
                <a:ea typeface="微软雅黑" panose="020B0503020204020204" charset="-122"/>
                <a:sym typeface="微软雅黑" panose="020B0503020204020204" charset="-122"/>
              </a:rPr>
              <a:t>）</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6867" name="圆角矩形 3"/>
          <p:cNvSpPr/>
          <p:nvPr>
            <p:custDataLst>
              <p:tags r:id="rId2"/>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anchor="ctr" anchorCtr="1"/>
          <a:p>
            <a:pPr algn="ctr">
              <a:spcBef>
                <a:spcPct val="50000"/>
              </a:spcBef>
            </a:pPr>
            <a:r>
              <a:rPr lang="zh-CN" altLang="en-US" sz="1600" dirty="0">
                <a:solidFill>
                  <a:srgbClr val="FFFFFF"/>
                </a:solidFill>
                <a:latin typeface="微软雅黑" panose="020B0503020204020204" charset="-122"/>
                <a:ea typeface="微软雅黑" panose="020B0503020204020204" charset="-122"/>
                <a:sym typeface="微软雅黑" panose="020B0503020204020204" charset="-122"/>
              </a:rPr>
              <a:t>作答</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36868" name="矩形 9"/>
          <p:cNvSpPr/>
          <p:nvPr>
            <p:custDataLst>
              <p:tags r:id="rId3"/>
            </p:custDataLst>
          </p:nvPr>
        </p:nvSpPr>
        <p:spPr>
          <a:xfrm>
            <a:off x="0" y="5849938"/>
            <a:ext cx="9144000" cy="365125"/>
          </a:xfrm>
          <a:prstGeom prst="rect">
            <a:avLst/>
          </a:prstGeom>
          <a:solidFill>
            <a:srgbClr val="FBFAEF"/>
          </a:solidFill>
          <a:ln w="9525">
            <a:noFill/>
          </a:ln>
        </p:spPr>
        <p:txBody>
          <a:bodyPr wrap="none" anchor="ctr" anchorCtr="1"/>
          <a:p>
            <a:pPr>
              <a:spcBef>
                <a:spcPct val="50000"/>
              </a:spcBef>
            </a:pP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200" dirty="0">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200" dirty="0">
                <a:solidFill>
                  <a:srgbClr val="F84F41"/>
                </a:solidFill>
                <a:latin typeface="微软雅黑" panose="020B0503020204020204" charset="-122"/>
                <a:ea typeface="微软雅黑" panose="020B0503020204020204" charset="-122"/>
                <a:sym typeface="微软雅黑" panose="020B0503020204020204" charset="-122"/>
              </a:rPr>
              <a:t>以上版本雨课堂</a:t>
            </a:r>
            <a:endParaRPr lang="zh-CN" altLang="en-US" sz="1200" dirty="0">
              <a:solidFill>
                <a:srgbClr val="F84F41"/>
              </a:solidFill>
              <a:latin typeface="微软雅黑" panose="020B0503020204020204" charset="-122"/>
              <a:ea typeface="微软雅黑" panose="020B0503020204020204" charset="-122"/>
              <a:sym typeface="微软雅黑" panose="020B0503020204020204" charset="-122"/>
            </a:endParaRPr>
          </a:p>
        </p:txBody>
      </p:sp>
      <p:grpSp>
        <p:nvGrpSpPr>
          <p:cNvPr id="36869" name="组合 8"/>
          <p:cNvGrpSpPr/>
          <p:nvPr/>
        </p:nvGrpSpPr>
        <p:grpSpPr>
          <a:xfrm>
            <a:off x="0" y="0"/>
            <a:ext cx="9144000" cy="635000"/>
            <a:chOff x="0" y="0"/>
            <a:chExt cx="9144000" cy="635000"/>
          </a:xfrm>
        </p:grpSpPr>
        <p:sp>
          <p:nvSpPr>
            <p:cNvPr id="36871" name="TitleBackground"/>
            <p:cNvSpPr/>
            <p:nvPr>
              <p:custDataLst>
                <p:tags r:id="rId4"/>
              </p:custDataLst>
            </p:nvPr>
          </p:nvSpPr>
          <p:spPr>
            <a:xfrm>
              <a:off x="0" y="0"/>
              <a:ext cx="9144000" cy="635000"/>
            </a:xfrm>
            <a:prstGeom prst="rect">
              <a:avLst/>
            </a:prstGeom>
            <a:solidFill>
              <a:srgbClr val="F6F7F8"/>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36872" name="ColorBlock"/>
            <p:cNvSpPr/>
            <p:nvPr>
              <p:custDataLst>
                <p:tags r:id="rId5"/>
              </p:custDataLst>
            </p:nvPr>
          </p:nvSpPr>
          <p:spPr>
            <a:xfrm>
              <a:off x="0" y="0"/>
              <a:ext cx="190500" cy="635000"/>
            </a:xfrm>
            <a:prstGeom prst="rect">
              <a:avLst/>
            </a:prstGeom>
            <a:solidFill>
              <a:srgbClr val="639EF4"/>
            </a:solidFill>
            <a:ln w="9525">
              <a:noFill/>
            </a:ln>
          </p:spPr>
          <p:txBody>
            <a:bodyPr>
              <a:spAutoFit/>
            </a:bodyPr>
            <a:p>
              <a:pPr algn="ctr">
                <a:spcBef>
                  <a:spcPct val="50000"/>
                </a:spcBef>
              </a:pPr>
              <a:endParaRPr lang="zh-CN" altLang="en-US" dirty="0">
                <a:latin typeface="Times New Roman" panose="02020603050405020304" pitchFamily="18" charset="0"/>
              </a:endParaRPr>
            </a:p>
          </p:txBody>
        </p:sp>
        <p:sp>
          <p:nvSpPr>
            <p:cNvPr id="36873" name="TypeText"/>
            <p:cNvSpPr txBox="1"/>
            <p:nvPr>
              <p:custDataLst>
                <p:tags r:id="rId6"/>
              </p:custDataLst>
            </p:nvPr>
          </p:nvSpPr>
          <p:spPr>
            <a:xfrm>
              <a:off x="254000" y="0"/>
              <a:ext cx="1905000" cy="635000"/>
            </a:xfrm>
            <a:prstGeom prst="rect">
              <a:avLst/>
            </a:prstGeom>
            <a:noFill/>
            <a:ln w="9525">
              <a:noFill/>
            </a:ln>
          </p:spPr>
          <p:txBody>
            <a:bodyPr wrap="none" anchor="ctr" anchorCtr="0"/>
            <a:p>
              <a:r>
                <a:rPr lang="zh-CN" altLang="en-US" dirty="0">
                  <a:latin typeface="微软雅黑" panose="020B0503020204020204" charset="-122"/>
                  <a:ea typeface="微软雅黑" panose="020B0503020204020204" charset="-122"/>
                  <a:sym typeface="微软雅黑" panose="020B0503020204020204" charset="-122"/>
                </a:rPr>
                <a:t>主观题</a:t>
              </a:r>
              <a:endParaRPr lang="zh-CN" altLang="en-US" dirty="0">
                <a:latin typeface="微软雅黑" panose="020B0503020204020204" charset="-122"/>
                <a:ea typeface="微软雅黑" panose="020B0503020204020204" charset="-122"/>
                <a:sym typeface="微软雅黑" panose="020B0503020204020204" charset="-122"/>
              </a:endParaRPr>
            </a:p>
          </p:txBody>
        </p:sp>
        <p:sp>
          <p:nvSpPr>
            <p:cNvPr id="36874" name="TipText"/>
            <p:cNvSpPr txBox="1"/>
            <p:nvPr>
              <p:custDataLst>
                <p:tags r:id="rId7"/>
              </p:custDataLst>
            </p:nvPr>
          </p:nvSpPr>
          <p:spPr>
            <a:xfrm>
              <a:off x="1427480" y="109220"/>
              <a:ext cx="2286000" cy="508000"/>
            </a:xfrm>
            <a:prstGeom prst="rect">
              <a:avLst/>
            </a:prstGeom>
            <a:noFill/>
            <a:ln w="9525">
              <a:noFill/>
            </a:ln>
          </p:spPr>
          <p:txBody>
            <a:bodyPr wrap="none" anchor="ctr" anchorCtr="0"/>
            <a:p>
              <a:r>
                <a:rPr lang="en-US" altLang="zh-CN" sz="2000" dirty="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dirty="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dirty="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36870" name="图片 1"/>
          <p:cNvPicPr/>
          <p:nvPr>
            <p:custDataLst>
              <p:tags r:id="rId8"/>
            </p:custDataLst>
          </p:nvPr>
        </p:nvPicPr>
        <p:blipFill>
          <a:blip r:embed="rId9"/>
          <a:stretch>
            <a:fillRect/>
          </a:stretch>
        </p:blipFill>
        <p:spPr>
          <a:xfrm>
            <a:off x="7594600" y="63500"/>
            <a:ext cx="1422400" cy="508000"/>
          </a:xfrm>
          <a:prstGeom prst="rect">
            <a:avLst/>
          </a:prstGeom>
          <a:noFill/>
          <a:ln w="9525">
            <a:noFill/>
          </a:ln>
        </p:spPr>
      </p:pic>
    </p:spTree>
    <p:custDataLst>
      <p:tags r:id="rId10"/>
    </p:custData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标题 1"/>
          <p:cNvSpPr>
            <a:spLocks noGrp="1"/>
          </p:cNvSpPr>
          <p:nvPr>
            <p:ph type="title"/>
          </p:nvPr>
        </p:nvSpPr>
        <p:spPr>
          <a:xfrm>
            <a:off x="838200" y="2590800"/>
            <a:ext cx="7010400" cy="563563"/>
          </a:xfrm>
        </p:spPr>
        <p:txBody>
          <a:bodyPr vert="horz" wrap="square" lIns="91440" tIns="45720" rIns="91440" bIns="45720" anchor="ctr" anchorCtr="0"/>
          <a:p>
            <a:r>
              <a:rPr lang="zh-CN" altLang="en-US" dirty="0">
                <a:ea typeface="宋体" panose="02010600030101010101" pitchFamily="2" charset="-122"/>
              </a:rPr>
              <a:t>思考题</a:t>
            </a:r>
            <a:endParaRPr lang="zh-CN" altLang="en-US" dirty="0">
              <a:ea typeface="宋体" panose="02010600030101010101" pitchFamily="2" charset="-122"/>
            </a:endParaRPr>
          </a:p>
        </p:txBody>
      </p:sp>
      <p:sp>
        <p:nvSpPr>
          <p:cNvPr id="22531" name="内容占位符 2"/>
          <p:cNvSpPr>
            <a:spLocks noGrp="1" noChangeArrowheads="1"/>
          </p:cNvSpPr>
          <p:nvPr>
            <p:ph idx="1"/>
          </p:nvPr>
        </p:nvSpPr>
        <p:spPr>
          <a:xfrm>
            <a:off x="152400" y="1219200"/>
            <a:ext cx="8229600" cy="510540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endParaRPr kumimoji="0" lang="en-US" altLang="zh-CN" sz="3600" b="1" i="1" u="none" strike="noStrike" kern="0" cap="none" spc="0" normalizeH="0" baseline="0" noProof="0" dirty="0" smtClean="0">
              <a:ln>
                <a:noFill/>
              </a:ln>
              <a:solidFill>
                <a:srgbClr val="C00000"/>
              </a:solidFill>
              <a:effectLst/>
              <a:uLnTx/>
              <a:uFillTx/>
              <a:latin typeface="楷体_GB2312" pitchFamily="49" charset="-122"/>
              <a:ea typeface="楷体_GB2312" pitchFamily="49"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谢谢！</a:t>
            </a:r>
            <a:endParaRPr kumimoji="0" lang="en-US" altLang="zh-CN" sz="72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a:p>
            <a:pPr marL="342900" marR="0" lvl="0" indent="-342900" algn="ctr"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defRPr/>
            </a:pPr>
            <a:r>
              <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rPr>
              <a:t>下节课再见</a:t>
            </a:r>
            <a:endParaRPr kumimoji="0" lang="zh-CN" altLang="en-US" sz="4800" b="1" i="0" u="none" strike="noStrike" kern="0" cap="none" spc="0" normalizeH="0" baseline="0" noProof="0" dirty="0" smtClean="0">
              <a:ln>
                <a:noFill/>
              </a:ln>
              <a:solidFill>
                <a:srgbClr val="C00000"/>
              </a:solidFill>
              <a:effectLst/>
              <a:uLnTx/>
              <a:uFillTx/>
              <a:latin typeface="华文隶书" panose="02010800040101010101" pitchFamily="2" charset="-122"/>
              <a:ea typeface="华文隶书" panose="02010800040101010101" pitchFamily="2" charset="-122"/>
              <a:cs typeface="+mn-cs"/>
            </a:endParaRPr>
          </a:p>
        </p:txBody>
      </p:sp>
    </p:spTree>
  </p:cSld>
  <p:clrMapOvr>
    <a:masterClrMapping/>
  </p:clrMapOvr>
  <p:transition spd="slow"/>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Polling"/>
  <p:tag name="RAINBULLET" val="Wrong"/>
</p:tagLst>
</file>

<file path=ppt/tags/tag7.xml><?xml version="1.0" encoding="utf-8"?>
<p:tagLst xmlns:p="http://schemas.openxmlformats.org/presentationml/2006/main">
  <p:tag name="RAINPROBLEM" val="ProblemBullet"/>
  <p:tag name="RAINPROBLEMTYPE" val="Polling"/>
  <p:tag name="RAINBULLET" val="Wrong"/>
</p:tagLst>
</file>

<file path=ppt/tags/tag8.xml><?xml version="1.0" encoding="utf-8"?>
<p:tagLst xmlns:p="http://schemas.openxmlformats.org/presentationml/2006/main">
  <p:tag name="RAINPROBLEM" val="ProblemBullet"/>
  <p:tag name="RAINPROBLEMTYPE" val="Polling"/>
  <p:tag name="RAINBULLET" val="Wrong"/>
</p:tagLst>
</file>

<file path=ppt/tags/tag9.xml><?xml version="1.0" encoding="utf-8"?>
<p:tagLst xmlns:p="http://schemas.openxmlformats.org/presentationml/2006/main">
  <p:tag name="RAINPROBLEM" val="ProblemBullet"/>
  <p:tag name="RAINPROBLEMTYPE" val="Polling"/>
  <p:tag name="RAINBULLET" val="Wrong"/>
</p:tagLst>
</file>

<file path=ppt/tags/tag10.xml><?xml version="1.0" encoding="utf-8"?>
<p:tagLst xmlns:p="http://schemas.openxmlformats.org/presentationml/2006/main">
  <p:tag name="RAINPROBLEM" val="ProblemSubmit"/>
  <p:tag name="RAINPROBLEMTYPE" val="Polling"/>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 val="ProblemSetting"/>
  <p:tag name="RAINPROBLEMTYPE" val="Polling"/>
</p:tagLst>
</file>

<file path=ppt/tags/tag15.xml><?xml version="1.0" encoding="utf-8"?>
<p:tagLst xmlns:p="http://schemas.openxmlformats.org/presentationml/2006/main">
  <p:tag name="RAINPROBLEMTYPE" val="ProblemTypeMarker"/>
  <p:tag name="RAINPROBLEM" val="PollingAnswer"/>
</p:tagLst>
</file>

<file path=ppt/tags/tag16.xml><?xml version="1.0" encoding="utf-8"?>
<p:tagLst xmlns:p="http://schemas.openxmlformats.org/presentationml/2006/main">
  <p:tag name="RAINPROBLEM" val="Polling"/>
  <p:tag name="PROBLEMSCORE" val="0.0"/>
  <p:tag name="RAINPROBLEMTYPE" val="Polling"/>
  <p:tag name="ANONYMOUSPOLLING" val="False"/>
</p:tagLst>
</file>

<file path=ppt/tags/tag17.xml><?xml version="1.0" encoding="utf-8"?>
<p:tagLst xmlns:p="http://schemas.openxmlformats.org/presentationml/2006/main">
  <p:tag name="RAINPROBLEM" val="ProblemBody"/>
</p:tagLst>
</file>

<file path=ppt/tags/tag18.xml><?xml version="1.0" encoding="utf-8"?>
<p:tagLst xmlns:p="http://schemas.openxmlformats.org/presentationml/2006/main">
  <p:tag name="RAINPROBLEM" val="ProblemItem"/>
</p:tagLst>
</file>

<file path=ppt/tags/tag19.xml><?xml version="1.0" encoding="utf-8"?>
<p:tagLst xmlns:p="http://schemas.openxmlformats.org/presentationml/2006/main">
  <p:tag name="RAINPROBLEM" val="ProblemItem"/>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Bullet"/>
  <p:tag name="RAINPROBLEMTYPE" val="Polling"/>
  <p:tag name="RAINBULLET" val="Wrong"/>
</p:tagLst>
</file>

<file path=ppt/tags/tag23.xml><?xml version="1.0" encoding="utf-8"?>
<p:tagLst xmlns:p="http://schemas.openxmlformats.org/presentationml/2006/main">
  <p:tag name="RAINPROBLEM" val="ProblemBullet"/>
  <p:tag name="RAINPROBLEMTYPE" val="Polling"/>
  <p:tag name="RAINBULLET" val="Wrong"/>
</p:tagLst>
</file>

<file path=ppt/tags/tag24.xml><?xml version="1.0" encoding="utf-8"?>
<p:tagLst xmlns:p="http://schemas.openxmlformats.org/presentationml/2006/main">
  <p:tag name="RAINPROBLEM" val="ProblemBullet"/>
  <p:tag name="RAINPROBLEMTYPE" val="Polling"/>
  <p:tag name="RAINBULLET" val="Wrong"/>
</p:tagLst>
</file>

<file path=ppt/tags/tag25.xml><?xml version="1.0" encoding="utf-8"?>
<p:tagLst xmlns:p="http://schemas.openxmlformats.org/presentationml/2006/main">
  <p:tag name="RAINPROBLEM" val="ProblemBullet"/>
  <p:tag name="RAINPROBLEMTYPE" val="Polling"/>
  <p:tag name="RAINBULLET" val="Wrong"/>
</p:tagLst>
</file>

<file path=ppt/tags/tag26.xml><?xml version="1.0" encoding="utf-8"?>
<p:tagLst xmlns:p="http://schemas.openxmlformats.org/presentationml/2006/main">
  <p:tag name="RAINPROBLEM" val="ProblemSubmit"/>
  <p:tag name="RAINPROBLEMTYPE" val="Polling"/>
</p:tagLst>
</file>

<file path=ppt/tags/tag27.xml><?xml version="1.0" encoding="utf-8"?>
<p:tagLst xmlns:p="http://schemas.openxmlformats.org/presentationml/2006/main">
  <p:tag name="RAINPROBLEMTYPE" val="ProblemTypeMarker"/>
</p:tagLst>
</file>

<file path=ppt/tags/tag28.xml><?xml version="1.0" encoding="utf-8"?>
<p:tagLst xmlns:p="http://schemas.openxmlformats.org/presentationml/2006/main">
  <p:tag name="RAINPROBLEMTYPE" val="ProblemTypeMarker"/>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 val="ProblemSetting"/>
  <p:tag name="RAINPROBLEMTYPE" val="Polling"/>
</p:tagLst>
</file>

<file path=ppt/tags/tag31.xml><?xml version="1.0" encoding="utf-8"?>
<p:tagLst xmlns:p="http://schemas.openxmlformats.org/presentationml/2006/main">
  <p:tag name="RAINPROBLEMTYPE" val="ProblemTypeMarker"/>
  <p:tag name="RAINPROBLEM" val="PollingAnswer"/>
</p:tagLst>
</file>

<file path=ppt/tags/tag32.xml><?xml version="1.0" encoding="utf-8"?>
<p:tagLst xmlns:p="http://schemas.openxmlformats.org/presentationml/2006/main">
  <p:tag name="RAINPROBLEM" val="Polling"/>
  <p:tag name="PROBLEMSCORE_HALF" val="0.0"/>
  <p:tag name="PROBLEMSCORE" val="0.0"/>
  <p:tag name="RAINPROBLEMTYPE" val="Polling"/>
  <p:tag name="ANONYMOUSPOLLING" val="False"/>
</p:tagLst>
</file>

<file path=ppt/tags/tag33.xml><?xml version="1.0" encoding="utf-8"?>
<p:tagLst xmlns:p="http://schemas.openxmlformats.org/presentationml/2006/main">
  <p:tag name="RAINPROBLEM" val="ProblemBody"/>
</p:tagLst>
</file>

<file path=ppt/tags/tag34.xml><?xml version="1.0" encoding="utf-8"?>
<p:tagLst xmlns:p="http://schemas.openxmlformats.org/presentationml/2006/main">
  <p:tag name="RAINPROBLEM" val="ProblemItem"/>
</p:tagLst>
</file>

<file path=ppt/tags/tag35.xml><?xml version="1.0" encoding="utf-8"?>
<p:tagLst xmlns:p="http://schemas.openxmlformats.org/presentationml/2006/main">
  <p:tag name="RAINPROBLEM" val="ProblemItem"/>
</p:tagLst>
</file>

<file path=ppt/tags/tag36.xml><?xml version="1.0" encoding="utf-8"?>
<p:tagLst xmlns:p="http://schemas.openxmlformats.org/presentationml/2006/main">
  <p:tag name="RAINPROBLEM" val="ProblemItem"/>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Bullet"/>
  <p:tag name="RAINPROBLEMTYPE" val="Polling"/>
  <p:tag name="RAINBULLET" val="Wrong"/>
</p:tagLst>
</file>

<file path=ppt/tags/tag39.xml><?xml version="1.0" encoding="utf-8"?>
<p:tagLst xmlns:p="http://schemas.openxmlformats.org/presentationml/2006/main">
  <p:tag name="RAINPROBLEM" val="ProblemBullet"/>
  <p:tag name="RAINPROBLEMTYPE" val="Polling"/>
  <p:tag name="RAINBULLET" val="Wrong"/>
</p:tagLst>
</file>

<file path=ppt/tags/tag40.xml><?xml version="1.0" encoding="utf-8"?>
<p:tagLst xmlns:p="http://schemas.openxmlformats.org/presentationml/2006/main">
  <p:tag name="RAINPROBLEM" val="ProblemBullet"/>
  <p:tag name="RAINPROBLEMTYPE" val="Polling"/>
  <p:tag name="RAINBULLET" val="Wrong"/>
</p:tagLst>
</file>

<file path=ppt/tags/tag41.xml><?xml version="1.0" encoding="utf-8"?>
<p:tagLst xmlns:p="http://schemas.openxmlformats.org/presentationml/2006/main">
  <p:tag name="RAINPROBLEM" val="ProblemBullet"/>
  <p:tag name="RAINPROBLEMTYPE" val="Polling"/>
  <p:tag name="RAINBULLET" val="Wrong"/>
</p:tagLst>
</file>

<file path=ppt/tags/tag42.xml><?xml version="1.0" encoding="utf-8"?>
<p:tagLst xmlns:p="http://schemas.openxmlformats.org/presentationml/2006/main">
  <p:tag name="RAINPROBLEM" val="ProblemSubmit"/>
  <p:tag name="RAINPROBLEMTYPE" val="Polling"/>
</p:tagLst>
</file>

<file path=ppt/tags/tag43.xml><?xml version="1.0" encoding="utf-8"?>
<p:tagLst xmlns:p="http://schemas.openxmlformats.org/presentationml/2006/main">
  <p:tag name="RAINPROBLEMTYPE" val="ProblemTypeMarker"/>
</p:tagLst>
</file>

<file path=ppt/tags/tag44.xml><?xml version="1.0" encoding="utf-8"?>
<p:tagLst xmlns:p="http://schemas.openxmlformats.org/presentationml/2006/main">
  <p:tag name="RAINPROBLEMTYPE" val="ProblemTypeMarker"/>
</p:tagLst>
</file>

<file path=ppt/tags/tag45.xml><?xml version="1.0" encoding="utf-8"?>
<p:tagLst xmlns:p="http://schemas.openxmlformats.org/presentationml/2006/main">
  <p:tag name="RAINPROBLEMTYPE" val="ProblemTypeMarker"/>
</p:tagLst>
</file>

<file path=ppt/tags/tag46.xml><?xml version="1.0" encoding="utf-8"?>
<p:tagLst xmlns:p="http://schemas.openxmlformats.org/presentationml/2006/main">
  <p:tag name="RAINPROBLEM" val="ProblemSetting"/>
  <p:tag name="RAINPROBLEMTYPE" val="Polling"/>
</p:tagLst>
</file>

<file path=ppt/tags/tag47.xml><?xml version="1.0" encoding="utf-8"?>
<p:tagLst xmlns:p="http://schemas.openxmlformats.org/presentationml/2006/main">
  <p:tag name="RAINPROBLEMTYPE" val="ProblemTypeMarker"/>
  <p:tag name="RAINPROBLEM" val="PollingAnswer"/>
</p:tagLst>
</file>

<file path=ppt/tags/tag48.xml><?xml version="1.0" encoding="utf-8"?>
<p:tagLst xmlns:p="http://schemas.openxmlformats.org/presentationml/2006/main">
  <p:tag name="RAINPROBLEM" val="Polling"/>
  <p:tag name="PROBLEMSCORE" val="0.0"/>
  <p:tag name="RAINPROBLEMTYPE" val="Polling"/>
  <p:tag name="ANONYMOUSPOLLING" val="False"/>
</p:tagLst>
</file>

<file path=ppt/tags/tag49.xml><?xml version="1.0" encoding="utf-8"?>
<p:tagLst xmlns:p="http://schemas.openxmlformats.org/presentationml/2006/main">
  <p:tag name="RAINPROBLEM" val="ProblemBody"/>
</p:tagLst>
</file>

<file path=ppt/tags/tag50.xml><?xml version="1.0" encoding="utf-8"?>
<p:tagLst xmlns:p="http://schemas.openxmlformats.org/presentationml/2006/main">
  <p:tag name="RAINPROBLEM" val="ProblemItem"/>
</p:tagLst>
</file>

<file path=ppt/tags/tag51.xml><?xml version="1.0" encoding="utf-8"?>
<p:tagLst xmlns:p="http://schemas.openxmlformats.org/presentationml/2006/main">
  <p:tag name="RAINPROBLEM" val="ProblemItem"/>
</p:tagLst>
</file>

<file path=ppt/tags/tag52.xml><?xml version="1.0" encoding="utf-8"?>
<p:tagLst xmlns:p="http://schemas.openxmlformats.org/presentationml/2006/main">
  <p:tag name="RAINPROBLEM" val="ProblemItem"/>
</p:tagLst>
</file>

<file path=ppt/tags/tag53.xml><?xml version="1.0" encoding="utf-8"?>
<p:tagLst xmlns:p="http://schemas.openxmlformats.org/presentationml/2006/main">
  <p:tag name="RAINPROBLEM" val="ProblemItem"/>
</p:tagLst>
</file>

<file path=ppt/tags/tag54.xml><?xml version="1.0" encoding="utf-8"?>
<p:tagLst xmlns:p="http://schemas.openxmlformats.org/presentationml/2006/main">
  <p:tag name="RAINPROBLEM" val="ProblemBullet"/>
  <p:tag name="RAINPROBLEMTYPE" val="Polling"/>
  <p:tag name="RAINBULLET" val="Wrong"/>
</p:tagLst>
</file>

<file path=ppt/tags/tag55.xml><?xml version="1.0" encoding="utf-8"?>
<p:tagLst xmlns:p="http://schemas.openxmlformats.org/presentationml/2006/main">
  <p:tag name="RAINPROBLEM" val="ProblemBullet"/>
  <p:tag name="RAINPROBLEMTYPE" val="Polling"/>
  <p:tag name="RAINBULLET" val="Wrong"/>
</p:tagLst>
</file>

<file path=ppt/tags/tag56.xml><?xml version="1.0" encoding="utf-8"?>
<p:tagLst xmlns:p="http://schemas.openxmlformats.org/presentationml/2006/main">
  <p:tag name="RAINPROBLEM" val="ProblemBullet"/>
  <p:tag name="RAINPROBLEMTYPE" val="Polling"/>
  <p:tag name="RAINBULLET" val="Wrong"/>
</p:tagLst>
</file>

<file path=ppt/tags/tag57.xml><?xml version="1.0" encoding="utf-8"?>
<p:tagLst xmlns:p="http://schemas.openxmlformats.org/presentationml/2006/main">
  <p:tag name="RAINPROBLEM" val="ProblemBullet"/>
  <p:tag name="RAINPROBLEMTYPE" val="Polling"/>
  <p:tag name="RAINBULLET" val="Wrong"/>
</p:tagLst>
</file>

<file path=ppt/tags/tag58.xml><?xml version="1.0" encoding="utf-8"?>
<p:tagLst xmlns:p="http://schemas.openxmlformats.org/presentationml/2006/main">
  <p:tag name="RAINPROBLEM" val="ProblemSubmit"/>
  <p:tag name="RAINPROBLEMTYPE" val="Polling"/>
</p:tagLst>
</file>

<file path=ppt/tags/tag59.xml><?xml version="1.0" encoding="utf-8"?>
<p:tagLst xmlns:p="http://schemas.openxmlformats.org/presentationml/2006/main">
  <p:tag name="RAINPROBLEMTYPE" val="ProblemTypeMarker"/>
</p:tagLst>
</file>

<file path=ppt/tags/tag60.xml><?xml version="1.0" encoding="utf-8"?>
<p:tagLst xmlns:p="http://schemas.openxmlformats.org/presentationml/2006/main">
  <p:tag name="RAINPROBLEMTYPE" val="ProblemTypeMarker"/>
</p:tagLst>
</file>

<file path=ppt/tags/tag61.xml><?xml version="1.0" encoding="utf-8"?>
<p:tagLst xmlns:p="http://schemas.openxmlformats.org/presentationml/2006/main">
  <p:tag name="RAINPROBLEMTYPE" val="ProblemTypeMarker"/>
</p:tagLst>
</file>

<file path=ppt/tags/tag62.xml><?xml version="1.0" encoding="utf-8"?>
<p:tagLst xmlns:p="http://schemas.openxmlformats.org/presentationml/2006/main">
  <p:tag name="RAINPROBLEM" val="ProblemSetting"/>
  <p:tag name="RAINPROBLEMTYPE" val="Polling"/>
</p:tagLst>
</file>

<file path=ppt/tags/tag63.xml><?xml version="1.0" encoding="utf-8"?>
<p:tagLst xmlns:p="http://schemas.openxmlformats.org/presentationml/2006/main">
  <p:tag name="RAINPROBLEMTYPE" val="ProblemTypeMarker"/>
  <p:tag name="RAINPROBLEM" val="PollingAnswer"/>
</p:tagLst>
</file>

<file path=ppt/tags/tag64.xml><?xml version="1.0" encoding="utf-8"?>
<p:tagLst xmlns:p="http://schemas.openxmlformats.org/presentationml/2006/main">
  <p:tag name="RAINPROBLEM" val="Polling"/>
  <p:tag name="PROBLEMSCORE" val="0.0"/>
  <p:tag name="RAINPROBLEMTYPE" val="Polling"/>
  <p:tag name="ANONYMOUSPOLLING" val="False"/>
</p:tagLst>
</file>

<file path=ppt/tags/tag65.xml><?xml version="1.0" encoding="utf-8"?>
<p:tagLst xmlns:p="http://schemas.openxmlformats.org/presentationml/2006/main">
  <p:tag name="RAINPROBLEM" val="ProblemBody"/>
</p:tagLst>
</file>

<file path=ppt/tags/tag66.xml><?xml version="1.0" encoding="utf-8"?>
<p:tagLst xmlns:p="http://schemas.openxmlformats.org/presentationml/2006/main">
  <p:tag name="RAINPROBLEM" val="ProblemItem"/>
</p:tagLst>
</file>

<file path=ppt/tags/tag67.xml><?xml version="1.0" encoding="utf-8"?>
<p:tagLst xmlns:p="http://schemas.openxmlformats.org/presentationml/2006/main">
  <p:tag name="RAINPROBLEM" val="ProblemItem"/>
</p:tagLst>
</file>

<file path=ppt/tags/tag68.xml><?xml version="1.0" encoding="utf-8"?>
<p:tagLst xmlns:p="http://schemas.openxmlformats.org/presentationml/2006/main">
  <p:tag name="RAINPROBLEM" val="ProblemItem"/>
</p:tagLst>
</file>

<file path=ppt/tags/tag69.xml><?xml version="1.0" encoding="utf-8"?>
<p:tagLst xmlns:p="http://schemas.openxmlformats.org/presentationml/2006/main">
  <p:tag name="RAINPROBLEM" val="ProblemItem"/>
</p:tagLst>
</file>

<file path=ppt/tags/tag70.xml><?xml version="1.0" encoding="utf-8"?>
<p:tagLst xmlns:p="http://schemas.openxmlformats.org/presentationml/2006/main">
  <p:tag name="RAINPROBLEM" val="ProblemBullet"/>
  <p:tag name="RAINPROBLEMTYPE" val="Polling"/>
  <p:tag name="RAINBULLET" val="Wrong"/>
</p:tagLst>
</file>

<file path=ppt/tags/tag71.xml><?xml version="1.0" encoding="utf-8"?>
<p:tagLst xmlns:p="http://schemas.openxmlformats.org/presentationml/2006/main">
  <p:tag name="RAINPROBLEM" val="ProblemBullet"/>
  <p:tag name="RAINPROBLEMTYPE" val="Polling"/>
  <p:tag name="RAINBULLET" val="Wrong"/>
</p:tagLst>
</file>

<file path=ppt/tags/tag72.xml><?xml version="1.0" encoding="utf-8"?>
<p:tagLst xmlns:p="http://schemas.openxmlformats.org/presentationml/2006/main">
  <p:tag name="RAINPROBLEM" val="ProblemBullet"/>
  <p:tag name="RAINPROBLEMTYPE" val="Polling"/>
  <p:tag name="RAINBULLET" val="Wrong"/>
</p:tagLst>
</file>

<file path=ppt/tags/tag73.xml><?xml version="1.0" encoding="utf-8"?>
<p:tagLst xmlns:p="http://schemas.openxmlformats.org/presentationml/2006/main">
  <p:tag name="RAINPROBLEM" val="ProblemBullet"/>
  <p:tag name="RAINPROBLEMTYPE" val="Polling"/>
  <p:tag name="RAINBULLET" val="Wrong"/>
</p:tagLst>
</file>

<file path=ppt/tags/tag74.xml><?xml version="1.0" encoding="utf-8"?>
<p:tagLst xmlns:p="http://schemas.openxmlformats.org/presentationml/2006/main">
  <p:tag name="RAINPROBLEM" val="ProblemSubmit"/>
  <p:tag name="RAINPROBLEMTYPE" val="Polling"/>
</p:tagLst>
</file>

<file path=ppt/tags/tag75.xml><?xml version="1.0" encoding="utf-8"?>
<p:tagLst xmlns:p="http://schemas.openxmlformats.org/presentationml/2006/main">
  <p:tag name="RAINPROBLEMTYPE" val="ProblemTypeMarker"/>
</p:tagLst>
</file>

<file path=ppt/tags/tag76.xml><?xml version="1.0" encoding="utf-8"?>
<p:tagLst xmlns:p="http://schemas.openxmlformats.org/presentationml/2006/main">
  <p:tag name="RAINPROBLEMTYPE" val="ProblemTypeMarker"/>
</p:tagLst>
</file>

<file path=ppt/tags/tag77.xml><?xml version="1.0" encoding="utf-8"?>
<p:tagLst xmlns:p="http://schemas.openxmlformats.org/presentationml/2006/main">
  <p:tag name="RAINPROBLEMTYPE" val="ProblemTypeMarker"/>
</p:tagLst>
</file>

<file path=ppt/tags/tag78.xml><?xml version="1.0" encoding="utf-8"?>
<p:tagLst xmlns:p="http://schemas.openxmlformats.org/presentationml/2006/main">
  <p:tag name="RAINPROBLEM" val="ProblemSetting"/>
  <p:tag name="RAINPROBLEMTYPE" val="Polling"/>
</p:tagLst>
</file>

<file path=ppt/tags/tag79.xml><?xml version="1.0" encoding="utf-8"?>
<p:tagLst xmlns:p="http://schemas.openxmlformats.org/presentationml/2006/main">
  <p:tag name="RAINPROBLEMTYPE" val="ProblemTypeMarker"/>
  <p:tag name="RAINPROBLEM" val="PollingAnswer"/>
</p:tagLst>
</file>

<file path=ppt/tags/tag80.xml><?xml version="1.0" encoding="utf-8"?>
<p:tagLst xmlns:p="http://schemas.openxmlformats.org/presentationml/2006/main">
  <p:tag name="RAINPROBLEM" val="Polling"/>
  <p:tag name="PROBLEMSCORE" val="0.0"/>
  <p:tag name="RAINPROBLEMTYPE" val="Polling"/>
  <p:tag name="ANONYMOUSPOLLING" val="False"/>
</p:tagLst>
</file>

<file path=ppt/tags/tag81.xml><?xml version="1.0" encoding="utf-8"?>
<p:tagLst xmlns:p="http://schemas.openxmlformats.org/presentationml/2006/main">
  <p:tag name="RAINPROBLEM" val="ProblemBody"/>
</p:tagLst>
</file>

<file path=ppt/tags/tag82.xml><?xml version="1.0" encoding="utf-8"?>
<p:tagLst xmlns:p="http://schemas.openxmlformats.org/presentationml/2006/main">
  <p:tag name="RAINPROBLEM" val="ProblemSubmit"/>
  <p:tag name="RAINPROBLEMTYPE" val="ShortAnswer"/>
</p:tagLst>
</file>

<file path=ppt/tags/tag83.xml><?xml version="1.0" encoding="utf-8"?>
<p:tagLst xmlns:p="http://schemas.openxmlformats.org/presentationml/2006/main">
  <p:tag name="PRODUCTVERSIONTIP" val="PRODUCTVERSIONTIP"/>
</p:tagLst>
</file>

<file path=ppt/tags/tag84.xml><?xml version="1.0" encoding="utf-8"?>
<p:tagLst xmlns:p="http://schemas.openxmlformats.org/presentationml/2006/main">
  <p:tag name="RAINPROBLEMTYPE" val="ProblemTypeMarker"/>
</p:tagLst>
</file>

<file path=ppt/tags/tag85.xml><?xml version="1.0" encoding="utf-8"?>
<p:tagLst xmlns:p="http://schemas.openxmlformats.org/presentationml/2006/main">
  <p:tag name="RAINPROBLEMTYPE" val="ProblemTypeMarker"/>
</p:tagLst>
</file>

<file path=ppt/tags/tag86.xml><?xml version="1.0" encoding="utf-8"?>
<p:tagLst xmlns:p="http://schemas.openxmlformats.org/presentationml/2006/main">
  <p:tag name="RAINPROBLEMTYPE" val="ProblemTypeMarker"/>
</p:tagLst>
</file>

<file path=ppt/tags/tag87.xml><?xml version="1.0" encoding="utf-8"?>
<p:tagLst xmlns:p="http://schemas.openxmlformats.org/presentationml/2006/main">
  <p:tag name="RAINPROBLEMTYPE" val="ProblemTypeMarker"/>
</p:tagLst>
</file>

<file path=ppt/tags/tag88.xml><?xml version="1.0" encoding="utf-8"?>
<p:tagLst xmlns:p="http://schemas.openxmlformats.org/presentationml/2006/main">
  <p:tag name="RAINPROBLEM" val="ProblemSetting"/>
  <p:tag name="RAINPROBLEMTYPE" val="ShortAnswer"/>
</p:tagLst>
</file>

<file path=ppt/tags/tag89.xml><?xml version="1.0" encoding="utf-8"?>
<p:tagLst xmlns:p="http://schemas.openxmlformats.org/presentationml/2006/main">
  <p:tag name="RAINPROBLEM" val="ShortAnswer"/>
  <p:tag name="PROBLEMSCORE" val="10.0"/>
  <p:tag name="PROBLEMVOICEALLOWED" val="False"/>
</p:tagLst>
</file>

<file path=ppt/tags/tag90.xml><?xml version="1.0" encoding="utf-8"?>
<p:tagLst xmlns:p="http://schemas.openxmlformats.org/presentationml/2006/main">
  <p:tag name="KSO_WPP_MARK_KEY" val="0e68d0c5-3e69-4e0b-9de4-0b7d1a485163"/>
  <p:tag name="COMMONDATA" val="eyJoZGlkIjoiMTlhMTA5NGU4YTQ5MmY0MGQzMGY2YTA2YzFlYzk1YmUifQ=="/>
</p:tagLst>
</file>

<file path=ppt/theme/theme1.xml><?xml version="1.0" encoding="utf-8"?>
<a:theme xmlns:a="http://schemas.openxmlformats.org/drawingml/2006/main" name="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fontScheme name="默认设计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0" fontAlgn="base" latinLnBrk="0" hangingPunct="0">
          <a:lnSpc>
            <a:spcPct val="100000"/>
          </a:lnSpc>
          <a:spcBef>
            <a:spcPct val="50000"/>
          </a:spcBef>
          <a:spcAft>
            <a:spcPct val="0"/>
          </a:spcAft>
          <a:buClrTx/>
          <a:buSzTx/>
          <a:buFontTx/>
          <a:buNone/>
          <a:defRPr kumimoji="0" lang="en-US" sz="2600" b="0" i="0" u="none" strike="noStrike" cap="none" normalizeH="0" baseline="0" smtClean="0">
            <a:ln>
              <a:noFill/>
            </a:ln>
            <a:solidFill>
              <a:srgbClr val="000000"/>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D1259"/>
        </a:dk1>
        <a:lt1>
          <a:srgbClr val="FFFFFF"/>
        </a:lt1>
        <a:dk2>
          <a:srgbClr val="0E4AA2"/>
        </a:dk2>
        <a:lt2>
          <a:srgbClr val="C0C0C0"/>
        </a:lt2>
        <a:accent1>
          <a:srgbClr val="3191D3"/>
        </a:accent1>
        <a:accent2>
          <a:srgbClr val="81CFEB"/>
        </a:accent2>
        <a:accent3>
          <a:srgbClr val="FFFFFF"/>
        </a:accent3>
        <a:accent4>
          <a:srgbClr val="090E4B"/>
        </a:accent4>
        <a:accent5>
          <a:srgbClr val="ADC7E6"/>
        </a:accent5>
        <a:accent6>
          <a:srgbClr val="74BBD5"/>
        </a:accent6>
        <a:hlink>
          <a:srgbClr val="6FB7B7"/>
        </a:hlink>
        <a:folHlink>
          <a:srgbClr val="DCCA42"/>
        </a:folHlink>
      </a:clrScheme>
      <a:clrMap bg1="lt1" tx1="dk1" bg2="lt2" tx2="dk2" accent1="accent1" accent2="accent2" accent3="accent3" accent4="accent4" accent5="accent5" accent6="accent6" hlink="hlink" folHlink="folHlink"/>
    </a:extraClrScheme>
    <a:extraClrScheme>
      <a:clrScheme name="默认设计模板 2">
        <a:dk1>
          <a:srgbClr val="542F81"/>
        </a:dk1>
        <a:lt1>
          <a:srgbClr val="FFFFFF"/>
        </a:lt1>
        <a:dk2>
          <a:srgbClr val="0E4AA2"/>
        </a:dk2>
        <a:lt2>
          <a:srgbClr val="C0C0C0"/>
        </a:lt2>
        <a:accent1>
          <a:srgbClr val="2B59D9"/>
        </a:accent1>
        <a:accent2>
          <a:srgbClr val="EFA441"/>
        </a:accent2>
        <a:accent3>
          <a:srgbClr val="FFFFFF"/>
        </a:accent3>
        <a:accent4>
          <a:srgbClr val="46276D"/>
        </a:accent4>
        <a:accent5>
          <a:srgbClr val="ACB5E9"/>
        </a:accent5>
        <a:accent6>
          <a:srgbClr val="D9943A"/>
        </a:accent6>
        <a:hlink>
          <a:srgbClr val="63C398"/>
        </a:hlink>
        <a:folHlink>
          <a:srgbClr val="AAC856"/>
        </a:folHlink>
      </a:clrScheme>
      <a:clrMap bg1="lt1" tx1="dk1" bg2="lt2" tx2="dk2" accent1="accent1" accent2="accent2" accent3="accent3" accent4="accent4" accent5="accent5" accent6="accent6" hlink="hlink" folHlink="folHlink"/>
    </a:extraClrScheme>
    <a:extraClrScheme>
      <a:clrScheme name="默认设计模板 3">
        <a:dk1>
          <a:srgbClr val="0E3558"/>
        </a:dk1>
        <a:lt1>
          <a:srgbClr val="FFFFFF"/>
        </a:lt1>
        <a:dk2>
          <a:srgbClr val="006666"/>
        </a:dk2>
        <a:lt2>
          <a:srgbClr val="969696"/>
        </a:lt2>
        <a:accent1>
          <a:srgbClr val="E3BE05"/>
        </a:accent1>
        <a:accent2>
          <a:srgbClr val="4BC77A"/>
        </a:accent2>
        <a:accent3>
          <a:srgbClr val="FFFFFF"/>
        </a:accent3>
        <a:accent4>
          <a:srgbClr val="0A2C4A"/>
        </a:accent4>
        <a:accent5>
          <a:srgbClr val="EFDBAA"/>
        </a:accent5>
        <a:accent6>
          <a:srgbClr val="43B46E"/>
        </a:accent6>
        <a:hlink>
          <a:srgbClr val="CC3300"/>
        </a:hlink>
        <a:folHlink>
          <a:srgbClr val="3333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4736</Words>
  <Application>WPS 演示</Application>
  <PresentationFormat>全屏显示(4:3)</PresentationFormat>
  <Paragraphs>422</Paragraphs>
  <Slides>36</Slides>
  <Notes>2</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4</vt:i4>
      </vt:variant>
      <vt:variant>
        <vt:lpstr>幻灯片标题</vt:lpstr>
      </vt:variant>
      <vt:variant>
        <vt:i4>36</vt:i4>
      </vt:variant>
    </vt:vector>
  </HeadingPairs>
  <TitlesOfParts>
    <vt:vector size="61" baseType="lpstr">
      <vt:lpstr>Arial</vt:lpstr>
      <vt:lpstr>宋体</vt:lpstr>
      <vt:lpstr>Wingdings</vt:lpstr>
      <vt:lpstr>Times New Roman</vt:lpstr>
      <vt:lpstr>黑体</vt:lpstr>
      <vt:lpstr>华文楷体</vt:lpstr>
      <vt:lpstr>微软雅黑</vt:lpstr>
      <vt:lpstr>华文细黑</vt:lpstr>
      <vt:lpstr>楷体_GB2312</vt:lpstr>
      <vt:lpstr>新宋体</vt:lpstr>
      <vt:lpstr>华文仿宋</vt:lpstr>
      <vt:lpstr>仿宋</vt:lpstr>
      <vt:lpstr>Monotype Sorts</vt:lpstr>
      <vt:lpstr>Arial Unicode MS</vt:lpstr>
      <vt:lpstr>Tw Cen MT</vt:lpstr>
      <vt:lpstr>Segoe Print</vt:lpstr>
      <vt:lpstr>华文新魏</vt:lpstr>
      <vt:lpstr>华文隶书</vt:lpstr>
      <vt:lpstr>Wingdings</vt:lpstr>
      <vt:lpstr>默认设计模板</vt:lpstr>
      <vt:lpstr>1_默认设计模板</vt:lpstr>
      <vt:lpstr>Photoshop.Image.7</vt:lpstr>
      <vt:lpstr>Photoshop.Image.7</vt:lpstr>
      <vt:lpstr>Photoshop.Image.7</vt:lpstr>
      <vt:lpstr>Photoshop.Image.7</vt:lpstr>
      <vt:lpstr>前 言</vt:lpstr>
      <vt:lpstr>教材</vt:lpstr>
      <vt:lpstr>教材</vt:lpstr>
      <vt:lpstr>教材</vt:lpstr>
      <vt:lpstr>学期课堂内容安排</vt:lpstr>
      <vt:lpstr>学期课堂内容安排</vt:lpstr>
      <vt:lpstr>学习目的及课时安排</vt:lpstr>
      <vt:lpstr>第一章 信息安全概述</vt:lpstr>
      <vt:lpstr>本章授课内容</vt:lpstr>
      <vt:lpstr>安全意识</vt:lpstr>
      <vt:lpstr>理解   安全与不安全</vt:lpstr>
      <vt:lpstr>信息安全的现状</vt:lpstr>
      <vt:lpstr>信息安全的现状</vt:lpstr>
      <vt:lpstr>信息安全的现状</vt:lpstr>
      <vt:lpstr>信息安全基础 </vt:lpstr>
      <vt:lpstr>信息安全基础 </vt:lpstr>
      <vt:lpstr>PowerPoint 演示文稿</vt:lpstr>
      <vt:lpstr>信息安全</vt:lpstr>
      <vt:lpstr>PowerPoint 演示文稿</vt:lpstr>
      <vt:lpstr>信息安全</vt:lpstr>
      <vt:lpstr>信息安全特点</vt:lpstr>
      <vt:lpstr>信息安全意义</vt:lpstr>
      <vt:lpstr>信息安全要素</vt:lpstr>
      <vt:lpstr>信息安全事件</vt:lpstr>
      <vt:lpstr>信息安全事件</vt:lpstr>
      <vt:lpstr>PowerPoint 演示文稿</vt:lpstr>
      <vt:lpstr>信息安全事件</vt:lpstr>
      <vt:lpstr>信息安全事件</vt:lpstr>
      <vt:lpstr>信息安全事件</vt:lpstr>
      <vt:lpstr>信息安全事件</vt:lpstr>
      <vt:lpstr>信息安全事件</vt:lpstr>
      <vt:lpstr>信息安全目的</vt:lpstr>
      <vt:lpstr>PowerPoint 演示文稿</vt:lpstr>
      <vt:lpstr>PowerPoint 演示文稿</vt:lpstr>
      <vt:lpstr>PowerPoint 演示文稿</vt:lpstr>
      <vt:lpstr>思考题</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FengYan</dc:creator>
  <cp:lastModifiedBy>Administrator</cp:lastModifiedBy>
  <cp:revision>1115</cp:revision>
  <dcterms:created xsi:type="dcterms:W3CDTF">2004-07-21T02:43:00Z</dcterms:created>
  <dcterms:modified xsi:type="dcterms:W3CDTF">2023-03-23T01:46:17Z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4E57C86C01024247AB8B97D3B5DC183B</vt:lpwstr>
  </property>
</Properties>
</file>