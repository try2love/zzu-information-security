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1"/>
  </p:notesMasterIdLst>
  <p:sldIdLst>
    <p:sldId id="722" r:id="rId3"/>
    <p:sldId id="467" r:id="rId4"/>
    <p:sldId id="645" r:id="rId5"/>
    <p:sldId id="646" r:id="rId6"/>
    <p:sldId id="700" r:id="rId7"/>
    <p:sldId id="650" r:id="rId8"/>
    <p:sldId id="701" r:id="rId9"/>
    <p:sldId id="652" r:id="rId10"/>
    <p:sldId id="653" r:id="rId11"/>
    <p:sldId id="654" r:id="rId12"/>
    <p:sldId id="731" r:id="rId13"/>
    <p:sldId id="655" r:id="rId14"/>
    <p:sldId id="657" r:id="rId15"/>
    <p:sldId id="658" r:id="rId16"/>
    <p:sldId id="659" r:id="rId17"/>
    <p:sldId id="660" r:id="rId18"/>
    <p:sldId id="699" r:id="rId19"/>
    <p:sldId id="789" r:id="rId20"/>
    <p:sldId id="663" r:id="rId21"/>
    <p:sldId id="702" r:id="rId22"/>
    <p:sldId id="703" r:id="rId23"/>
    <p:sldId id="704" r:id="rId24"/>
    <p:sldId id="665" r:id="rId25"/>
    <p:sldId id="666" r:id="rId26"/>
    <p:sldId id="705" r:id="rId27"/>
    <p:sldId id="707" r:id="rId28"/>
    <p:sldId id="708" r:id="rId29"/>
    <p:sldId id="706" r:id="rId30"/>
    <p:sldId id="668" r:id="rId31"/>
    <p:sldId id="709" r:id="rId32"/>
    <p:sldId id="669" r:id="rId33"/>
    <p:sldId id="710" r:id="rId34"/>
    <p:sldId id="680" r:id="rId35"/>
    <p:sldId id="711" r:id="rId36"/>
    <p:sldId id="739" r:id="rId37"/>
    <p:sldId id="741" r:id="rId38"/>
    <p:sldId id="732" r:id="rId39"/>
    <p:sldId id="712" r:id="rId40"/>
    <p:sldId id="681" r:id="rId41"/>
    <p:sldId id="714" r:id="rId42"/>
    <p:sldId id="682" r:id="rId43"/>
    <p:sldId id="713" r:id="rId44"/>
    <p:sldId id="715" r:id="rId45"/>
    <p:sldId id="716" r:id="rId46"/>
    <p:sldId id="683" r:id="rId47"/>
    <p:sldId id="717" r:id="rId48"/>
    <p:sldId id="684" r:id="rId49"/>
    <p:sldId id="685" r:id="rId50"/>
    <p:sldId id="718" r:id="rId51"/>
    <p:sldId id="686" r:id="rId52"/>
    <p:sldId id="687" r:id="rId53"/>
    <p:sldId id="719" r:id="rId54"/>
    <p:sldId id="688" r:id="rId55"/>
    <p:sldId id="689" r:id="rId56"/>
    <p:sldId id="733" r:id="rId57"/>
    <p:sldId id="690" r:id="rId58"/>
    <p:sldId id="692" r:id="rId59"/>
    <p:sldId id="734" r:id="rId60"/>
    <p:sldId id="693" r:id="rId61"/>
    <p:sldId id="727" r:id="rId62"/>
    <p:sldId id="729" r:id="rId63"/>
    <p:sldId id="730" r:id="rId64"/>
    <p:sldId id="728" r:id="rId65"/>
    <p:sldId id="735" r:id="rId66"/>
    <p:sldId id="736" r:id="rId67"/>
    <p:sldId id="737" r:id="rId68"/>
    <p:sldId id="738" r:id="rId69"/>
    <p:sldId id="721" r:id="rId70"/>
  </p:sldIdLst>
  <p:sldSz cx="9144000" cy="6858000" type="screen4x3"/>
  <p:notesSz cx="6858000" cy="9144000"/>
  <p:custDataLst>
    <p:tags r:id="rId7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7" userDrawn="1">
          <p15:clr>
            <a:srgbClr val="A4A3A4"/>
          </p15:clr>
        </p15:guide>
        <p15:guide id="2" pos="28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8"/>
    <p:restoredTop sz="96378"/>
  </p:normalViewPr>
  <p:slideViewPr>
    <p:cSldViewPr showGuides="1">
      <p:cViewPr varScale="1">
        <p:scale>
          <a:sx n="66" d="100"/>
          <a:sy n="66" d="100"/>
        </p:scale>
        <p:origin x="768" y="40"/>
      </p:cViewPr>
      <p:guideLst>
        <p:guide orient="horz" pos="2207"/>
        <p:guide pos="288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68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solidFill>
                  <a:schemeClr val="tx1"/>
                </a:solidFill>
                <a:latin typeface="Arial" panose="020B0604020202020204" pitchFamily="34" charset="0"/>
              </a:rPr>
              <a:t>‹#›</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787945426"/>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270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2</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529593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373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11</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78995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33</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868787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578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37</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918253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680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55</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051975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58</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895686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7885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64</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1516113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vmlDrawing" Target="../drawings/vmlDrawing4.v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108" r:id="rId3" imgW="13004800" imgH="4572000" progId="Photoshop.Image.7">
                  <p:embed/>
                </p:oleObj>
              </mc:Choice>
              <mc:Fallback>
                <p:oleObj r:id="rId3" imgW="13004800" imgH="4572000" progId="Photoshop.Image.7">
                  <p:embed/>
                  <p:pic>
                    <p:nvPicPr>
                      <p:cNvPr id="0" name="图片 3076"/>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zh-CN" altLang="en-US" sz="1200" dirty="0">
                <a:latin typeface="Arial" panose="020B0604020202020204" pitchFamily="34" charset="0"/>
              </a:rPr>
              <a:t>‹#›</a:t>
            </a:fld>
            <a:endParaRPr lang="zh-CN"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6156" r:id="rId3" imgW="13004800" imgH="4572000" progId="Photoshop.Image.7">
                  <p:embed/>
                </p:oleObj>
              </mc:Choice>
              <mc:Fallback>
                <p:oleObj r:id="rId3" imgW="13004800" imgH="4572000" progId="Photoshop.Image.7">
                  <p:embed/>
                  <p:pic>
                    <p:nvPicPr>
                      <p:cNvPr id="0" name="图片 3076"/>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zh-CN" altLang="en-US" sz="1200" dirty="0">
                <a:latin typeface="Arial" panose="020B0604020202020204" pitchFamily="34" charset="0"/>
              </a:rPr>
              <a:t>‹#›</a:t>
            </a:fld>
            <a:endParaRPr lang="zh-CN" altLang="en-US" sz="1200"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vmlDrawing" Target="../drawings/vmlDrawing3.v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9" r:id="rId14" imgW="13004800" imgH="4572000" progId="Photoshop.Image.7">
                  <p:embed/>
                </p:oleObj>
              </mc:Choice>
              <mc:Fallback>
                <p:oleObj r:id="rId14" imgW="13004800" imgH="4572000" progId="Photoshop.Image.7">
                  <p:embed/>
                  <p:pic>
                    <p:nvPicPr>
                      <p:cNvPr id="0" name="图片 3075"/>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77200" y="146050"/>
            <a:ext cx="990600" cy="9906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5132" r:id="rId14" imgW="13004800" imgH="4572000" progId="Photoshop.Image.7">
                  <p:embed/>
                </p:oleObj>
              </mc:Choice>
              <mc:Fallback>
                <p:oleObj r:id="rId14" imgW="13004800" imgH="4572000" progId="Photoshop.Image.7">
                  <p:embed/>
                  <p:pic>
                    <p:nvPicPr>
                      <p:cNvPr id="0" name="图片 3075"/>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77200" y="146050"/>
            <a:ext cx="990600" cy="9906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image" Target="../media/image1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Layout" Target="../slideLayouts/slideLayout7.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s/_rels/slide36.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slideLayout" Target="../slideLayouts/slideLayout7.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tags" Target="../tags/tag29.xml"/><Relationship Id="rId2" Type="http://schemas.openxmlformats.org/officeDocument/2006/relationships/tags" Target="../tags/tag14.xml"/><Relationship Id="rId16" Type="http://schemas.openxmlformats.org/officeDocument/2006/relationships/tags" Target="../tags/tag28.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tags" Target="../tags/tag27.xml"/><Relationship Id="rId10" Type="http://schemas.openxmlformats.org/officeDocument/2006/relationships/tags" Target="../tags/tag22.xml"/><Relationship Id="rId19" Type="http://schemas.openxmlformats.org/officeDocument/2006/relationships/image" Target="../media/image13.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4.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18" Type="http://schemas.openxmlformats.org/officeDocument/2006/relationships/slideLayout" Target="../slideLayouts/slideLayout7.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tags" Target="../tags/tag46.xml"/><Relationship Id="rId2" Type="http://schemas.openxmlformats.org/officeDocument/2006/relationships/tags" Target="../tags/tag31.xml"/><Relationship Id="rId16" Type="http://schemas.openxmlformats.org/officeDocument/2006/relationships/tags" Target="../tags/tag45.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tags" Target="../tags/tag44.xml"/><Relationship Id="rId10" Type="http://schemas.openxmlformats.org/officeDocument/2006/relationships/tags" Target="../tags/tag39.xml"/><Relationship Id="rId19" Type="http://schemas.openxmlformats.org/officeDocument/2006/relationships/image" Target="../media/image13.png"/><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6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a:ln/>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八</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a:t>
            </a:r>
            <a:r>
              <a:rPr lang="zh-CN" altLang="en-US" sz="2800" dirty="0">
                <a:latin typeface="+mj-lt"/>
                <a:ea typeface="宋体" panose="02010600030101010101" pitchFamily="2" charset="-122"/>
                <a:cs typeface="+mj-cs"/>
              </a:rPr>
              <a:t>风险评估</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a:ln/>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信息安全法规与安全管理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4099" name="Group 3"/>
          <p:cNvGrpSpPr/>
          <p:nvPr/>
        </p:nvGrpSpPr>
        <p:grpSpPr>
          <a:xfrm>
            <a:off x="1828800" y="1752600"/>
            <a:ext cx="762000" cy="665163"/>
            <a:chOff x="1110" y="2656"/>
            <a:chExt cx="1549" cy="1351"/>
          </a:xfrm>
        </p:grpSpPr>
        <p:sp>
          <p:nvSpPr>
            <p:cNvPr id="41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00" name="Group 7"/>
          <p:cNvGrpSpPr/>
          <p:nvPr/>
        </p:nvGrpSpPr>
        <p:grpSpPr>
          <a:xfrm>
            <a:off x="1828800" y="2667000"/>
            <a:ext cx="762000" cy="665163"/>
            <a:chOff x="3174" y="2656"/>
            <a:chExt cx="1549" cy="1351"/>
          </a:xfrm>
        </p:grpSpPr>
        <p:sp>
          <p:nvSpPr>
            <p:cNvPr id="413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01"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4102"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信息安全风险评估策略</a:t>
            </a:r>
          </a:p>
        </p:txBody>
      </p:sp>
      <p:sp>
        <p:nvSpPr>
          <p:cNvPr id="4103"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4104"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4106"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4107"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4108"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信息安全风险评估过程</a:t>
            </a:r>
          </a:p>
        </p:txBody>
      </p:sp>
      <p:grpSp>
        <p:nvGrpSpPr>
          <p:cNvPr id="4109" name="组合 25"/>
          <p:cNvGrpSpPr/>
          <p:nvPr/>
        </p:nvGrpSpPr>
        <p:grpSpPr>
          <a:xfrm>
            <a:off x="1779588" y="3482975"/>
            <a:ext cx="5535612" cy="665163"/>
            <a:chOff x="1828800" y="3559175"/>
            <a:chExt cx="5534899" cy="665163"/>
          </a:xfrm>
        </p:grpSpPr>
        <p:sp>
          <p:nvSpPr>
            <p:cNvPr id="4132"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典型的风险分析方法</a:t>
              </a:r>
            </a:p>
          </p:txBody>
        </p:sp>
        <p:grpSp>
          <p:nvGrpSpPr>
            <p:cNvPr id="4133" name="Group 17"/>
            <p:cNvGrpSpPr/>
            <p:nvPr/>
          </p:nvGrpSpPr>
          <p:grpSpPr>
            <a:xfrm>
              <a:off x="1828800" y="3559175"/>
              <a:ext cx="762000" cy="665163"/>
              <a:chOff x="1110" y="2656"/>
              <a:chExt cx="1549" cy="1351"/>
            </a:xfrm>
          </p:grpSpPr>
          <p:sp>
            <p:nvSpPr>
              <p:cNvPr id="413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413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4110"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4111"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4112" name="Group 7"/>
          <p:cNvGrpSpPr/>
          <p:nvPr/>
        </p:nvGrpSpPr>
        <p:grpSpPr>
          <a:xfrm>
            <a:off x="1784350" y="4303713"/>
            <a:ext cx="762000" cy="665162"/>
            <a:chOff x="3174" y="2656"/>
            <a:chExt cx="1549" cy="1351"/>
          </a:xfrm>
        </p:grpSpPr>
        <p:sp>
          <p:nvSpPr>
            <p:cNvPr id="4129"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0"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13"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4114"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数据采集方法与评价工具</a:t>
            </a:r>
          </a:p>
        </p:txBody>
      </p:sp>
      <p:grpSp>
        <p:nvGrpSpPr>
          <p:cNvPr id="4115" name="Group 3"/>
          <p:cNvGrpSpPr/>
          <p:nvPr/>
        </p:nvGrpSpPr>
        <p:grpSpPr>
          <a:xfrm>
            <a:off x="1836738" y="5159375"/>
            <a:ext cx="762000" cy="665163"/>
            <a:chOff x="1110" y="2656"/>
            <a:chExt cx="1549" cy="1351"/>
          </a:xfrm>
        </p:grpSpPr>
        <p:sp>
          <p:nvSpPr>
            <p:cNvPr id="4126"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27"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16"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4117"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4118"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风险评估实例报告</a:t>
            </a:r>
          </a:p>
        </p:txBody>
      </p:sp>
      <p:grpSp>
        <p:nvGrpSpPr>
          <p:cNvPr id="4119" name="Group 3"/>
          <p:cNvGrpSpPr/>
          <p:nvPr/>
        </p:nvGrpSpPr>
        <p:grpSpPr>
          <a:xfrm>
            <a:off x="1828800" y="5888038"/>
            <a:ext cx="762000" cy="665162"/>
            <a:chOff x="1110" y="2656"/>
            <a:chExt cx="1549" cy="1351"/>
          </a:xfrm>
        </p:grpSpPr>
        <p:sp>
          <p:nvSpPr>
            <p:cNvPr id="412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2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20"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4121"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4122"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4.1</a:t>
            </a:r>
            <a:r>
              <a:rPr lang="zh-CN" altLang="en-US" b="1" dirty="0">
                <a:ea typeface="宋体" panose="02010600030101010101" pitchFamily="2" charset="-122"/>
              </a:rPr>
              <a:t>信息安全风险评估策略</a:t>
            </a:r>
          </a:p>
        </p:txBody>
      </p:sp>
      <p:sp>
        <p:nvSpPr>
          <p:cNvPr id="5123" name="内容占位符 2"/>
          <p:cNvSpPr>
            <a:spLocks noGrp="1"/>
          </p:cNvSpPr>
          <p:nvPr>
            <p:ph idx="1"/>
          </p:nvPr>
        </p:nvSpPr>
        <p:spPr>
          <a:xfrm>
            <a:off x="228600" y="1143000"/>
            <a:ext cx="8686800" cy="5257800"/>
          </a:xfrm>
          <a:ln/>
        </p:spPr>
        <p:txBody>
          <a:bodyPr vert="horz" wrap="square" lIns="91440" tIns="45720" rIns="91440" bIns="45720" anchor="t" anchorCtr="0"/>
          <a:lstStyle/>
          <a:p>
            <a:pPr marL="0" indent="0" eaLnBrk="1" hangingPunct="1">
              <a:spcAft>
                <a:spcPct val="20000"/>
              </a:spcAft>
              <a:buClr>
                <a:srgbClr val="AC04A0"/>
              </a:buClr>
              <a:buNone/>
            </a:pPr>
            <a:r>
              <a:rPr lang="" altLang="zh-CN" b="1" dirty="0">
                <a:solidFill>
                  <a:srgbClr val="000000"/>
                </a:solidFill>
                <a:latin typeface="楷体_GB2312" pitchFamily="49" charset="-122"/>
                <a:ea typeface="楷体_GB2312" pitchFamily="49" charset="-122"/>
              </a:rPr>
              <a:t>风险评估</a:t>
            </a:r>
          </a:p>
          <a:p>
            <a:pPr lvl="1" eaLnBrk="1" hangingPunct="1">
              <a:spcAft>
                <a:spcPct val="20000"/>
              </a:spcAft>
              <a:buClr>
                <a:srgbClr val="AC04A0"/>
              </a:buClr>
            </a:pPr>
            <a:r>
              <a:rPr lang="" altLang="zh-CN" b="1" dirty="0">
                <a:solidFill>
                  <a:srgbClr val="000000"/>
                </a:solidFill>
                <a:latin typeface="楷体_GB2312" pitchFamily="49" charset="-122"/>
                <a:ea typeface="楷体_GB2312" pitchFamily="49" charset="-122"/>
              </a:rPr>
              <a:t>（也称</a:t>
            </a:r>
            <a:r>
              <a:rPr lang="" altLang="zh-CN" b="1" dirty="0">
                <a:solidFill>
                  <a:srgbClr val="FF0000"/>
                </a:solidFill>
                <a:latin typeface="楷体_GB2312" pitchFamily="49" charset="-122"/>
                <a:ea typeface="楷体_GB2312" pitchFamily="49" charset="-122"/>
              </a:rPr>
              <a:t>风险分析</a:t>
            </a:r>
            <a:r>
              <a:rPr lang="" altLang="zh-CN" b="1" dirty="0">
                <a:solidFill>
                  <a:srgbClr val="000000"/>
                </a:solidFill>
                <a:latin typeface="楷体_GB2312" pitchFamily="49" charset="-122"/>
                <a:ea typeface="楷体_GB2312" pitchFamily="49" charset="-122"/>
              </a:rPr>
              <a:t>）是风险管理的基础，是组织确定信息安全要求的途径之一，属于组织信息安全管理体系策划的过程。</a:t>
            </a:r>
          </a:p>
          <a:p>
            <a:pPr lvl="1"/>
            <a:r>
              <a:rPr lang="" altLang="zh-CN" b="1" dirty="0">
                <a:solidFill>
                  <a:srgbClr val="000000"/>
                </a:solidFill>
                <a:latin typeface="楷体_GB2312" pitchFamily="49" charset="-122"/>
                <a:ea typeface="楷体_GB2312" pitchFamily="49" charset="-122"/>
              </a:rPr>
              <a:t>常见的风险评估方法策略有三种：</a:t>
            </a:r>
          </a:p>
          <a:p>
            <a:pPr lvl="2"/>
            <a:r>
              <a:rPr lang="" altLang="zh-CN" b="1" dirty="0">
                <a:solidFill>
                  <a:srgbClr val="000000"/>
                </a:solidFill>
                <a:latin typeface="楷体_GB2312" pitchFamily="49" charset="-122"/>
                <a:ea typeface="楷体_GB2312" pitchFamily="49" charset="-122"/>
              </a:rPr>
              <a:t> 基线风险评估</a:t>
            </a:r>
          </a:p>
          <a:p>
            <a:pPr lvl="2"/>
            <a:r>
              <a:rPr lang="" altLang="zh-CN" b="1" dirty="0">
                <a:latin typeface="楷体_GB2312" pitchFamily="49" charset="-122"/>
                <a:ea typeface="楷体_GB2312" pitchFamily="49" charset="-122"/>
              </a:rPr>
              <a:t> </a:t>
            </a:r>
            <a:r>
              <a:rPr lang="" altLang="zh-CN" b="1" dirty="0">
                <a:solidFill>
                  <a:srgbClr val="000000"/>
                </a:solidFill>
                <a:latin typeface="楷体_GB2312" pitchFamily="49" charset="-122"/>
                <a:ea typeface="楷体_GB2312" pitchFamily="49" charset="-122"/>
              </a:rPr>
              <a:t>详细风险评估</a:t>
            </a:r>
          </a:p>
          <a:p>
            <a:pPr lvl="2"/>
            <a:r>
              <a:rPr lang="" altLang="zh-CN" b="1" dirty="0">
                <a:latin typeface="楷体_GB2312" pitchFamily="49" charset="-122"/>
                <a:ea typeface="楷体_GB2312" pitchFamily="49" charset="-122"/>
              </a:rPr>
              <a:t> </a:t>
            </a:r>
            <a:r>
              <a:rPr lang="" altLang="zh-CN" b="1" dirty="0">
                <a:solidFill>
                  <a:srgbClr val="000000"/>
                </a:solidFill>
                <a:latin typeface="楷体_GB2312" pitchFamily="49" charset="-122"/>
                <a:ea typeface="楷体_GB2312" pitchFamily="49" charset="-122"/>
              </a:rPr>
              <a:t>综合风险评估</a:t>
            </a:r>
          </a:p>
          <a:p>
            <a:pPr lvl="1"/>
            <a:endParaRPr lang="" altLang="zh-CN" b="1" dirty="0">
              <a:solidFill>
                <a:srgbClr val="000000"/>
              </a:solidFill>
              <a:ea typeface="楷体_GB2312" pitchFamily="49" charset="-122"/>
            </a:endParaRPr>
          </a:p>
          <a:p>
            <a:pPr lvl="1"/>
            <a:r>
              <a:rPr lang="" altLang="en-US" b="1" dirty="0">
                <a:solidFill>
                  <a:srgbClr val="FF0000"/>
                </a:solidFill>
                <a:latin typeface="黑体" panose="02010609060101010101" pitchFamily="49" charset="-122"/>
                <a:ea typeface="黑体" panose="02010609060101010101" pitchFamily="49" charset="-122"/>
              </a:rPr>
              <a:t>风险评估、风险分析，理解其相对概念。</a:t>
            </a:r>
            <a:endParaRPr lang=""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barn(inVertical)">
                                      <p:cBhvr>
                                        <p:cTn id="7" dur="5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arn(inVertical)">
                                      <p:cBhvr>
                                        <p:cTn id="12" dur="500"/>
                                        <p:tgtEl>
                                          <p:spTgt spid="5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animEffect transition="in" filter="circle(in)">
                                      <p:cBhvr>
                                        <p:cTn id="17" dur="2000"/>
                                        <p:tgtEl>
                                          <p:spTgt spid="5123">
                                            <p:txEl>
                                              <p:pRg st="3" end="3"/>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5123">
                                            <p:txEl>
                                              <p:pRg st="4" end="4"/>
                                            </p:txEl>
                                          </p:spTgt>
                                        </p:tgtEl>
                                        <p:attrNameLst>
                                          <p:attrName>style.visibility</p:attrName>
                                        </p:attrNameLst>
                                      </p:cBhvr>
                                      <p:to>
                                        <p:strVal val="visible"/>
                                      </p:to>
                                    </p:set>
                                    <p:animEffect transition="in" filter="circle(in)">
                                      <p:cBhvr>
                                        <p:cTn id="20" dur="2000"/>
                                        <p:tgtEl>
                                          <p:spTgt spid="5123">
                                            <p:txEl>
                                              <p:pRg st="4" end="4"/>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animEffect transition="in" filter="circle(in)">
                                      <p:cBhvr>
                                        <p:cTn id="23" dur="2000"/>
                                        <p:tgtEl>
                                          <p:spTgt spid="512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5123">
                                            <p:txEl>
                                              <p:pRg st="7" end="7"/>
                                            </p:txEl>
                                          </p:spTgt>
                                        </p:tgtEl>
                                        <p:attrNameLst>
                                          <p:attrName>style.visibility</p:attrName>
                                        </p:attrNameLst>
                                      </p:cBhvr>
                                      <p:to>
                                        <p:strVal val="visible"/>
                                      </p:to>
                                    </p:set>
                                    <p:animEffect transition="in" filter="circle(in)">
                                      <p:cBhvr>
                                        <p:cTn id="28" dur="2000"/>
                                        <p:tgtEl>
                                          <p:spTgt spid="51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6147" name="内容占位符 2"/>
          <p:cNvSpPr>
            <a:spLocks noGrp="1"/>
          </p:cNvSpPr>
          <p:nvPr>
            <p:ph idx="1"/>
          </p:nvPr>
        </p:nvSpPr>
        <p:spPr>
          <a:xfrm>
            <a:off x="304800" y="968375"/>
            <a:ext cx="8610600" cy="5432425"/>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基线风险评估</a:t>
            </a:r>
            <a:endParaRPr lang="en-US" altLang="zh-CN" b="1" dirty="0">
              <a:latin typeface="楷体_GB2312" pitchFamily="49" charset="-122"/>
              <a:ea typeface="楷体_GB2312" pitchFamily="49" charset="-122"/>
            </a:endParaRPr>
          </a:p>
          <a:p>
            <a:pPr lvl="1"/>
            <a:r>
              <a:rPr lang="zh-CN" altLang="zh-CN" sz="2000" dirty="0">
                <a:ea typeface="宋体" panose="02010600030101010101" pitchFamily="2" charset="-122"/>
              </a:rPr>
              <a:t>基线风险评估要求组织根据自己的实际情况，对信息系统进行</a:t>
            </a:r>
            <a:r>
              <a:rPr lang="zh-CN" altLang="zh-CN" sz="2000" dirty="0">
                <a:solidFill>
                  <a:srgbClr val="FF0000"/>
                </a:solidFill>
                <a:ea typeface="宋体" panose="02010600030101010101" pitchFamily="2" charset="-122"/>
              </a:rPr>
              <a:t>基线安全检查</a:t>
            </a:r>
            <a:r>
              <a:rPr lang="zh-CN" altLang="zh-CN" sz="2000" dirty="0">
                <a:ea typeface="宋体" panose="02010600030101010101" pitchFamily="2" charset="-122"/>
              </a:rPr>
              <a:t>，得出基本的安全需求，通过选择并实施标准的安全措施来消减和控制风险。</a:t>
            </a:r>
            <a:endParaRPr lang="en-US" altLang="zh-CN" sz="2000" dirty="0">
              <a:ea typeface="宋体" panose="02010600030101010101" pitchFamily="2" charset="-122"/>
            </a:endParaRPr>
          </a:p>
          <a:p>
            <a:pPr lvl="1"/>
            <a:r>
              <a:rPr lang="zh-CN" altLang="zh-CN" sz="2000" dirty="0">
                <a:ea typeface="宋体" panose="02010600030101010101" pitchFamily="2" charset="-122"/>
              </a:rPr>
              <a:t>所谓的</a:t>
            </a:r>
            <a:r>
              <a:rPr lang="zh-CN" altLang="zh-CN" sz="2000" dirty="0">
                <a:solidFill>
                  <a:srgbClr val="FF0000"/>
                </a:solidFill>
                <a:ea typeface="宋体" panose="02010600030101010101" pitchFamily="2" charset="-122"/>
              </a:rPr>
              <a:t>安全基线</a:t>
            </a:r>
            <a:r>
              <a:rPr lang="zh-CN" altLang="zh-CN" sz="2000" dirty="0">
                <a:ea typeface="宋体" panose="02010600030101010101" pitchFamily="2" charset="-122"/>
              </a:rPr>
              <a:t>，是在诸多标准规范中规定的一组安全控制措施或者惯例，这些措施和惯例适用于特定环境下的所有系统，可以满足基本的安全需求，能使系统达到一定的安全防护水平。组织可以根据以下资源来选择安全基线：</a:t>
            </a:r>
          </a:p>
          <a:p>
            <a:pPr lvl="2"/>
            <a:r>
              <a:rPr lang="en-US" altLang="zh-CN" sz="1800" dirty="0">
                <a:ea typeface="宋体" panose="02010600030101010101" pitchFamily="2" charset="-122"/>
              </a:rPr>
              <a:t>(1)</a:t>
            </a:r>
            <a:r>
              <a:rPr lang="zh-CN" altLang="zh-CN" sz="1800" dirty="0">
                <a:ea typeface="宋体" panose="02010600030101010101" pitchFamily="2" charset="-122"/>
              </a:rPr>
              <a:t>国际标准和国家标准，例如</a:t>
            </a:r>
            <a:r>
              <a:rPr lang="en-US" altLang="zh-CN" sz="1800" dirty="0">
                <a:ea typeface="宋体" panose="02010600030101010101" pitchFamily="2" charset="-122"/>
              </a:rPr>
              <a:t>ISO17799</a:t>
            </a:r>
            <a:r>
              <a:rPr lang="zh-CN" altLang="zh-CN" sz="1800" dirty="0">
                <a:ea typeface="宋体" panose="02010600030101010101" pitchFamily="2" charset="-122"/>
              </a:rPr>
              <a:t>、</a:t>
            </a:r>
            <a:r>
              <a:rPr lang="en-US" altLang="zh-CN" sz="1800" dirty="0">
                <a:ea typeface="宋体" panose="02010600030101010101" pitchFamily="2" charset="-122"/>
              </a:rPr>
              <a:t>ISO13335</a:t>
            </a:r>
            <a:r>
              <a:rPr lang="zh-CN" altLang="zh-CN" sz="1800" dirty="0">
                <a:ea typeface="宋体" panose="02010600030101010101" pitchFamily="2" charset="-122"/>
              </a:rPr>
              <a:t>；</a:t>
            </a:r>
          </a:p>
          <a:p>
            <a:pPr lvl="2"/>
            <a:r>
              <a:rPr lang="en-US" altLang="zh-CN" sz="1800" dirty="0">
                <a:ea typeface="宋体" panose="02010600030101010101" pitchFamily="2" charset="-122"/>
              </a:rPr>
              <a:t>(2)</a:t>
            </a:r>
            <a:r>
              <a:rPr lang="zh-CN" altLang="zh-CN" sz="1800" dirty="0">
                <a:ea typeface="宋体" panose="02010600030101010101" pitchFamily="2" charset="-122"/>
              </a:rPr>
              <a:t>行业标准或推荐</a:t>
            </a:r>
            <a:r>
              <a:rPr lang="zh-CN" altLang="en-US" sz="1800" dirty="0">
                <a:ea typeface="宋体" panose="02010600030101010101" pitchFamily="2" charset="-122"/>
              </a:rPr>
              <a:t>标准</a:t>
            </a:r>
            <a:r>
              <a:rPr lang="zh-CN" altLang="zh-CN" sz="1800" dirty="0">
                <a:ea typeface="宋体" panose="02010600030101010101" pitchFamily="2" charset="-122"/>
              </a:rPr>
              <a:t>，例如德国联邦安全局的《</a:t>
            </a:r>
            <a:r>
              <a:rPr lang="en-US" altLang="zh-CN" sz="1800" dirty="0">
                <a:ea typeface="宋体" panose="02010600030101010101" pitchFamily="2" charset="-122"/>
              </a:rPr>
              <a:t>IT </a:t>
            </a:r>
            <a:r>
              <a:rPr lang="zh-CN" altLang="zh-CN" sz="1800" dirty="0">
                <a:ea typeface="宋体" panose="02010600030101010101" pitchFamily="2" charset="-122"/>
              </a:rPr>
              <a:t>基线保护手册》；</a:t>
            </a:r>
          </a:p>
          <a:p>
            <a:pPr lvl="2"/>
            <a:r>
              <a:rPr lang="en-US" altLang="zh-CN" sz="1800" dirty="0">
                <a:ea typeface="宋体" panose="02010600030101010101" pitchFamily="2" charset="-122"/>
              </a:rPr>
              <a:t>(3)</a:t>
            </a:r>
            <a:r>
              <a:rPr lang="zh-CN" altLang="zh-CN" sz="1800" dirty="0">
                <a:ea typeface="宋体" panose="02010600030101010101" pitchFamily="2" charset="-122"/>
              </a:rPr>
              <a:t>来自其他有类似商务目标和规模的组织的惯例。</a:t>
            </a:r>
            <a:endParaRPr lang="zh-CN" altLang="en-US" sz="1800" b="1" dirty="0">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wheel(1)">
                                      <p:cBhvr>
                                        <p:cTn id="7" dur="20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circle(in)">
                                      <p:cBhvr>
                                        <p:cTn id="12" dur="20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wheel(1)">
                                      <p:cBhvr>
                                        <p:cTn id="17" dur="2000"/>
                                        <p:tgtEl>
                                          <p:spTgt spid="6147">
                                            <p:txEl>
                                              <p:pRg st="3" end="3"/>
                                            </p:txEl>
                                          </p:spTgt>
                                        </p:tgtEl>
                                      </p:cBhvr>
                                    </p:animEffect>
                                  </p:childTnLst>
                                </p:cTn>
                              </p:par>
                              <p:par>
                                <p:cTn id="18" presetID="21" presetClass="entr" presetSubtype="1" fill="hold" nodeType="withEffect">
                                  <p:stCondLst>
                                    <p:cond delay="0"/>
                                  </p:stCondLst>
                                  <p:childTnLst>
                                    <p:set>
                                      <p:cBhvr>
                                        <p:cTn id="19" dur="1" fill="hold">
                                          <p:stCondLst>
                                            <p:cond delay="0"/>
                                          </p:stCondLst>
                                        </p:cTn>
                                        <p:tgtEl>
                                          <p:spTgt spid="6147">
                                            <p:txEl>
                                              <p:pRg st="4" end="4"/>
                                            </p:txEl>
                                          </p:spTgt>
                                        </p:tgtEl>
                                        <p:attrNameLst>
                                          <p:attrName>style.visibility</p:attrName>
                                        </p:attrNameLst>
                                      </p:cBhvr>
                                      <p:to>
                                        <p:strVal val="visible"/>
                                      </p:to>
                                    </p:set>
                                    <p:animEffect transition="in" filter="wheel(1)">
                                      <p:cBhvr>
                                        <p:cTn id="20" dur="2000"/>
                                        <p:tgtEl>
                                          <p:spTgt spid="6147">
                                            <p:txEl>
                                              <p:pRg st="4" end="4"/>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animEffect transition="in" filter="wheel(1)">
                                      <p:cBhvr>
                                        <p:cTn id="23" dur="20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7171" name="内容占位符 2"/>
          <p:cNvSpPr>
            <a:spLocks noGrp="1"/>
          </p:cNvSpPr>
          <p:nvPr>
            <p:ph idx="1"/>
          </p:nvPr>
        </p:nvSpPr>
        <p:spPr>
          <a:xfrm>
            <a:off x="457200" y="938213"/>
            <a:ext cx="8458200" cy="5614988"/>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楷体_GB2312"/>
                <a:ea typeface="楷体_GB2312"/>
                <a:cs typeface="楷体_GB2312"/>
              </a:rPr>
              <a:t>基线风险评估</a:t>
            </a: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rPr>
              <a:t>基线评估的</a:t>
            </a:r>
            <a:r>
              <a:rPr kumimoji="0" lang="zh-CN" altLang="en-US" sz="2800" b="1" i="0" u="none" strike="noStrike" kern="0" cap="none" spc="0" normalizeH="0" baseline="0" noProof="0" dirty="0" smtClean="0">
                <a:ln>
                  <a:noFill/>
                </a:ln>
                <a:solidFill>
                  <a:srgbClr val="FF0000"/>
                </a:solidFill>
                <a:effectLst/>
                <a:uLnTx/>
                <a:uFillTx/>
                <a:latin typeface="+mn-lt"/>
                <a:ea typeface="楷体_GB2312"/>
                <a:cs typeface="楷体_GB2312"/>
              </a:rPr>
              <a:t>优点</a:t>
            </a:r>
            <a:r>
              <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rPr>
              <a:t>是：</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风险分析和每个防护措施的实施管理只需要最少数量的资源，并且在选择防护措施时花费更少的时间和努力 </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如果系统安排需求相似，可以采用相同或相似的基线防护措施而不需要太多的努力</a:t>
            </a: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rPr>
              <a:t>基线评估的的</a:t>
            </a:r>
            <a:r>
              <a:rPr kumimoji="0" lang="zh-CN" altLang="en-US" sz="2800" b="1" i="0" u="none" strike="noStrike" kern="0" cap="none" spc="0" normalizeH="0" baseline="0" noProof="0" dirty="0" smtClean="0">
                <a:ln>
                  <a:noFill/>
                </a:ln>
                <a:solidFill>
                  <a:srgbClr val="FF0000"/>
                </a:solidFill>
                <a:effectLst/>
                <a:uLnTx/>
                <a:uFillTx/>
                <a:latin typeface="+mn-lt"/>
                <a:ea typeface="楷体_GB2312"/>
                <a:cs typeface="楷体_GB2312"/>
              </a:rPr>
              <a:t>缺点</a:t>
            </a:r>
            <a:r>
              <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rPr>
              <a:t>是： </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基线水平难以设置（</a:t>
            </a:r>
            <a:r>
              <a:rPr kumimoji="0" lang="zh-CN" altLang="en-US" sz="2400" b="1" i="0" u="none" strike="noStrike" kern="0" cap="none" spc="0" normalizeH="0" baseline="0" noProof="0" dirty="0" smtClean="0">
                <a:ln>
                  <a:noFill/>
                </a:ln>
                <a:solidFill>
                  <a:srgbClr val="FF0000"/>
                </a:solidFill>
                <a:effectLst/>
                <a:uLnTx/>
                <a:uFillTx/>
                <a:latin typeface="楷体_GB2312"/>
                <a:ea typeface="楷体_GB2312"/>
                <a:cs typeface="楷体_GB2312"/>
              </a:rPr>
              <a:t>对照标准不好确定</a:t>
            </a: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风险评估不全面、不透彻，且不易处理变更（</a:t>
            </a:r>
            <a:r>
              <a:rPr kumimoji="0" lang="zh-CN" altLang="en-US" sz="2400" b="1" i="0" u="none" strike="noStrike" kern="0" cap="none" spc="0" normalizeH="0" baseline="0" noProof="0" dirty="0" smtClean="0">
                <a:ln>
                  <a:noFill/>
                </a:ln>
                <a:solidFill>
                  <a:srgbClr val="FF0000"/>
                </a:solidFill>
                <a:effectLst/>
                <a:uLnTx/>
                <a:uFillTx/>
                <a:latin typeface="楷体_GB2312"/>
                <a:ea typeface="楷体_GB2312"/>
                <a:cs typeface="楷体_GB2312"/>
              </a:rPr>
              <a:t>系统升级后，原有的基线是否合适</a:t>
            </a: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a:t>
            </a:r>
            <a:endParaRPr kumimoji="0" lang="en-US" altLang="zh-CN" sz="24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最大问题，</a:t>
            </a:r>
            <a:r>
              <a:rPr kumimoji="0" lang="zh-CN" altLang="en-US" sz="2400" b="1" i="0" u="none" strike="noStrike" kern="0" cap="none" spc="0" normalizeH="0" baseline="0" noProof="0" dirty="0" smtClean="0">
                <a:ln>
                  <a:noFill/>
                </a:ln>
                <a:solidFill>
                  <a:srgbClr val="FF0000"/>
                </a:solidFill>
                <a:effectLst/>
                <a:uLnTx/>
                <a:uFillTx/>
                <a:latin typeface="楷体_GB2312"/>
                <a:ea typeface="楷体_GB2312"/>
                <a:cs typeface="楷体_GB2312"/>
              </a:rPr>
              <a:t>普遍适用的安全基线不好确定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circle(in)">
                                      <p:cBhvr>
                                        <p:cTn id="7" dur="2000"/>
                                        <p:tgtEl>
                                          <p:spTgt spid="7171">
                                            <p:txEl>
                                              <p:pRg st="2" end="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7171">
                                            <p:txEl>
                                              <p:pRg st="3" end="3"/>
                                            </p:txEl>
                                          </p:spTgt>
                                        </p:tgtEl>
                                        <p:attrNameLst>
                                          <p:attrName>style.visibility</p:attrName>
                                        </p:attrNameLst>
                                      </p:cBhvr>
                                      <p:to>
                                        <p:strVal val="visible"/>
                                      </p:to>
                                    </p:set>
                                    <p:animEffect transition="in" filter="circle(in)">
                                      <p:cBhvr>
                                        <p:cTn id="10" dur="2000"/>
                                        <p:tgtEl>
                                          <p:spTgt spid="717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animEffect transition="in" filter="fade">
                                      <p:cBhvr>
                                        <p:cTn id="15" dur="1000"/>
                                        <p:tgtEl>
                                          <p:spTgt spid="7171">
                                            <p:txEl>
                                              <p:pRg st="4" end="4"/>
                                            </p:txEl>
                                          </p:spTgt>
                                        </p:tgtEl>
                                      </p:cBhvr>
                                    </p:animEffect>
                                    <p:anim calcmode="lin" valueType="num">
                                      <p:cBhvr>
                                        <p:cTn id="16" dur="1000" fill="hold"/>
                                        <p:tgtEl>
                                          <p:spTgt spid="7171">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71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wheel(1)">
                                      <p:cBhvr>
                                        <p:cTn id="22" dur="2000"/>
                                        <p:tgtEl>
                                          <p:spTgt spid="7171">
                                            <p:txEl>
                                              <p:pRg st="5" end="5"/>
                                            </p:txEl>
                                          </p:spTgt>
                                        </p:tgtEl>
                                      </p:cBhvr>
                                    </p:animEffect>
                                  </p:childTnLst>
                                </p:cTn>
                              </p:par>
                              <p:par>
                                <p:cTn id="23" presetID="21" presetClass="entr" presetSubtype="1" fill="hold" nodeType="with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animEffect transition="in" filter="wheel(1)">
                                      <p:cBhvr>
                                        <p:cTn id="25" dur="2000"/>
                                        <p:tgtEl>
                                          <p:spTgt spid="7171">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7171">
                                            <p:txEl>
                                              <p:pRg st="8" end="8"/>
                                            </p:txEl>
                                          </p:spTgt>
                                        </p:tgtEl>
                                        <p:attrNameLst>
                                          <p:attrName>style.visibility</p:attrName>
                                        </p:attrNameLst>
                                      </p:cBhvr>
                                      <p:to>
                                        <p:strVal val="visible"/>
                                      </p:to>
                                    </p:set>
                                    <p:animEffect transition="in" filter="fade">
                                      <p:cBhvr>
                                        <p:cTn id="30" dur="1000"/>
                                        <p:tgtEl>
                                          <p:spTgt spid="7171">
                                            <p:txEl>
                                              <p:pRg st="8" end="8"/>
                                            </p:txEl>
                                          </p:spTgt>
                                        </p:tgtEl>
                                      </p:cBhvr>
                                    </p:animEffect>
                                    <p:anim calcmode="lin" valueType="num">
                                      <p:cBhvr>
                                        <p:cTn id="31" dur="1000" fill="hold"/>
                                        <p:tgtEl>
                                          <p:spTgt spid="7171">
                                            <p:txEl>
                                              <p:pRg st="8" end="8"/>
                                            </p:txEl>
                                          </p:spTgt>
                                        </p:tgtEl>
                                        <p:attrNameLst>
                                          <p:attrName>ppt_x</p:attrName>
                                        </p:attrNameLst>
                                      </p:cBhvr>
                                      <p:tavLst>
                                        <p:tav tm="0">
                                          <p:val>
                                            <p:strVal val="#ppt_x"/>
                                          </p:val>
                                        </p:tav>
                                        <p:tav tm="100000">
                                          <p:val>
                                            <p:strVal val="#ppt_x"/>
                                          </p:val>
                                        </p:tav>
                                      </p:tavLst>
                                    </p:anim>
                                    <p:anim calcmode="lin" valueType="num">
                                      <p:cBhvr>
                                        <p:cTn id="32" dur="1000" fill="hold"/>
                                        <p:tgtEl>
                                          <p:spTgt spid="717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19459" name="内容占位符 2"/>
          <p:cNvSpPr>
            <a:spLocks noGrp="1"/>
          </p:cNvSpPr>
          <p:nvPr>
            <p:ph idx="1"/>
          </p:nvPr>
        </p:nvSpPr>
        <p:spPr>
          <a:xfrm>
            <a:off x="228600" y="990600"/>
            <a:ext cx="86868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zh-CN" sz="3200" b="1" i="0" u="none" strike="noStrike" kern="0" cap="none" spc="0" normalizeH="0" baseline="0" noProof="1" smtClean="0">
                <a:ln>
                  <a:noFill/>
                </a:ln>
                <a:solidFill>
                  <a:schemeClr val="tx1"/>
                </a:solidFill>
                <a:effectLst/>
                <a:uLnTx/>
                <a:uFillTx/>
                <a:latin typeface="楷体_GB2312" pitchFamily="49" charset="-122"/>
                <a:ea typeface="楷体_GB2312" pitchFamily="49" charset="-122"/>
                <a:cs typeface="+mn-cs"/>
                <a:sym typeface="+mn-ea"/>
              </a:rPr>
              <a:t>详细风险评估</a:t>
            </a: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400" b="1" i="0"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宋体" panose="02010600030101010101" pitchFamily="2" charset="-122"/>
              </a:rPr>
              <a:t>详细风险评估要求对资产、威胁和脆弱点进行详细识别和评价</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，并对可能引起风险的水平进行评估，这通过</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不期望事件</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的潜在负面业务影响评估和他们发生的可能性来完成。</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不期望事件</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可能表现为直接形式，如直接的经济损失，如物理设备的破坏；也可能表现为间接的影响，如法律责任等。</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不期望事件发生的可能性依赖于资产对于潜在攻击者的吸引力、威胁出现的可能性以及脆弱点被利用的难易程度。</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根据风险评估的结果来识别和选择安全措施，将风险降低到可接受的水平。</a:t>
            </a:r>
            <a:endParaRPr kumimoji="0" lang="zh-CN" altLang="zh-CN" sz="2400" b="1" i="0" u="none" strike="noStrike" kern="0" cap="none" spc="0" normalizeH="0" baseline="0" noProof="1" smtClean="0">
              <a:ln>
                <a:noFill/>
              </a:ln>
              <a:solidFill>
                <a:schemeClr val="tx1"/>
              </a:solidFill>
              <a:effectLst/>
              <a:uLnTx/>
              <a:uFillTx/>
              <a:latin typeface="楷体_GB2312" pitchFamily="49" charset="-122"/>
              <a:ea typeface="楷体_GB2312" pitchFamily="49"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circle(in)">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circle(in)">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wheel(1)">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9459">
                                            <p:txEl>
                                              <p:pRg st="5" end="5"/>
                                            </p:txEl>
                                          </p:spTgt>
                                        </p:tgtEl>
                                        <p:attrNameLst>
                                          <p:attrName>style.visibility</p:attrName>
                                        </p:attrNameLst>
                                      </p:cBhvr>
                                      <p:to>
                                        <p:strVal val="visible"/>
                                      </p:to>
                                    </p:set>
                                    <p:animEffect transition="in" filter="barn(inVertical)">
                                      <p:cBhvr>
                                        <p:cTn id="22" dur="5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19459" name="内容占位符 2"/>
          <p:cNvSpPr>
            <a:spLocks noGrp="1"/>
          </p:cNvSpPr>
          <p:nvPr>
            <p:ph idx="1"/>
          </p:nvPr>
        </p:nvSpPr>
        <p:spPr>
          <a:xfrm>
            <a:off x="228600" y="990600"/>
            <a:ext cx="8686800" cy="5334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1" smtClean="0">
                <a:ln>
                  <a:noFill/>
                </a:ln>
                <a:solidFill>
                  <a:schemeClr val="tx1"/>
                </a:solidFill>
                <a:effectLst/>
                <a:uLnTx/>
                <a:uFillTx/>
                <a:latin typeface="楷体_GB2312" pitchFamily="49" charset="-122"/>
                <a:ea typeface="楷体_GB2312" pitchFamily="49" charset="-122"/>
                <a:cs typeface="+mn-cs"/>
                <a:sym typeface="+mn-ea"/>
              </a:rPr>
              <a:t>详细风险评估</a:t>
            </a:r>
            <a:endParaRPr kumimoji="0" lang="en-US" altLang="zh-CN"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1">
                <a:ln>
                  <a:noFill/>
                </a:ln>
                <a:solidFill>
                  <a:schemeClr val="tx2">
                    <a:lumMod val="50000"/>
                  </a:schemeClr>
                </a:solidFill>
                <a:effectLst/>
                <a:uLnTx/>
                <a:uFillTx/>
                <a:latin typeface="楷体_GB2312" pitchFamily="49" charset="-122"/>
                <a:ea typeface="楷体_GB2312" pitchFamily="49" charset="-122"/>
                <a:sym typeface="+mn-ea"/>
              </a:rPr>
              <a:t>详细评估的</a:t>
            </a:r>
            <a:r>
              <a:rPr kumimoji="0" lang="en-US" altLang="zh-CN" sz="2800" b="1" i="0" u="none" strike="noStrike" kern="0" cap="none" spc="0" normalizeH="0" baseline="0" noProof="1">
                <a:ln>
                  <a:noFill/>
                </a:ln>
                <a:solidFill>
                  <a:srgbClr val="FF0000"/>
                </a:solidFill>
                <a:effectLst/>
                <a:uLnTx/>
                <a:uFillTx/>
                <a:latin typeface="楷体_GB2312" pitchFamily="49" charset="-122"/>
                <a:ea typeface="楷体_GB2312" pitchFamily="49" charset="-122"/>
                <a:sym typeface="+mn-ea"/>
              </a:rPr>
              <a:t>优点</a:t>
            </a:r>
            <a:r>
              <a:rPr kumimoji="0" lang="en-US" altLang="zh-CN" sz="2800" b="1" i="0" u="none" strike="noStrike" kern="0" cap="none" spc="0" normalizeH="0" baseline="0" noProof="1">
                <a:ln>
                  <a:noFill/>
                </a:ln>
                <a:solidFill>
                  <a:schemeClr val="tx2">
                    <a:lumMod val="50000"/>
                  </a:schemeClr>
                </a:solidFill>
                <a:effectLst/>
                <a:uLnTx/>
                <a:uFillTx/>
                <a:latin typeface="楷体_GB2312" pitchFamily="49" charset="-122"/>
                <a:ea typeface="楷体_GB2312" pitchFamily="49" charset="-122"/>
                <a:sym typeface="+mn-ea"/>
              </a:rPr>
              <a:t>是：</a:t>
            </a:r>
            <a:endParaRPr kumimoji="0" lang="en-US" altLang="zh-CN" sz="2800" b="1" i="0" u="none" strike="noStrike" kern="0" cap="none" spc="0" normalizeH="0" baseline="0" noProof="1">
              <a:ln>
                <a:noFill/>
              </a:ln>
              <a:solidFill>
                <a:schemeClr val="tx2">
                  <a:lumMod val="50000"/>
                </a:schemeClr>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sym typeface="+mn-ea"/>
              </a:rPr>
              <a:t>有可能为所有系统识别出适当的安全措施</a:t>
            </a:r>
            <a:endParaRPr kumimoji="0" lang="en-US" altLang="zh-CN" sz="2400" b="1" i="0" u="none" strike="noStrike" kern="0" cap="none" spc="0" normalizeH="0" baseline="0" noProof="1">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sym typeface="+mn-ea"/>
              </a:rPr>
              <a:t>详细分析的结果可用于安全变更管理</a:t>
            </a:r>
            <a:endParaRPr kumimoji="0" lang="en-US" altLang="zh-CN" sz="2400" b="1" i="0" u="none" strike="noStrike" kern="0" cap="none" spc="0" normalizeH="0" baseline="0" noProof="1">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1" smtClean="0">
              <a:ln>
                <a:noFill/>
              </a:ln>
              <a:solidFill>
                <a:schemeClr val="tx2">
                  <a:lumMod val="50000"/>
                </a:schemeClr>
              </a:solidFill>
              <a:effectLst/>
              <a:uLnTx/>
              <a:uFillTx/>
              <a:latin typeface="楷体_GB2312" pitchFamily="49" charset="-122"/>
              <a:ea typeface="楷体_GB2312" pitchFamily="49" charset="-122"/>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1" smtClean="0">
                <a:ln>
                  <a:noFill/>
                </a:ln>
                <a:solidFill>
                  <a:schemeClr val="tx2">
                    <a:lumMod val="50000"/>
                  </a:schemeClr>
                </a:solidFill>
                <a:effectLst/>
                <a:uLnTx/>
                <a:uFillTx/>
                <a:latin typeface="楷体_GB2312" pitchFamily="49" charset="-122"/>
                <a:ea typeface="楷体_GB2312" pitchFamily="49" charset="-122"/>
                <a:sym typeface="+mn-ea"/>
              </a:rPr>
              <a:t>详细评估的</a:t>
            </a:r>
            <a:r>
              <a:rPr kumimoji="0" lang="en-US" altLang="zh-CN" sz="2800" b="1" i="0" u="none" strike="noStrike" kern="0" cap="none" spc="0" normalizeH="0" baseline="0" noProof="1" smtClean="0">
                <a:ln>
                  <a:noFill/>
                </a:ln>
                <a:solidFill>
                  <a:srgbClr val="FF0000"/>
                </a:solidFill>
                <a:effectLst/>
                <a:uLnTx/>
                <a:uFillTx/>
                <a:latin typeface="楷体_GB2312" pitchFamily="49" charset="-122"/>
                <a:ea typeface="楷体_GB2312" pitchFamily="49" charset="-122"/>
                <a:sym typeface="+mn-ea"/>
              </a:rPr>
              <a:t>缺点</a:t>
            </a:r>
            <a:r>
              <a:rPr kumimoji="0" lang="en-US" altLang="zh-CN" sz="2800" b="1" i="0" u="none" strike="noStrike" kern="0" cap="none" spc="0" normalizeH="0" baseline="0" noProof="1" smtClean="0">
                <a:ln>
                  <a:noFill/>
                </a:ln>
                <a:solidFill>
                  <a:schemeClr val="tx2">
                    <a:lumMod val="50000"/>
                  </a:schemeClr>
                </a:solidFill>
                <a:effectLst/>
                <a:uLnTx/>
                <a:uFillTx/>
                <a:latin typeface="楷体_GB2312" pitchFamily="49" charset="-122"/>
                <a:ea typeface="楷体_GB2312" pitchFamily="49" charset="-122"/>
                <a:sym typeface="+mn-ea"/>
              </a:rPr>
              <a:t>是</a:t>
            </a:r>
            <a:r>
              <a:rPr kumimoji="0" lang="zh-CN" altLang="en-US" sz="2800" b="1" i="0" u="none" strike="noStrike" kern="0" cap="none" spc="0" normalizeH="0" baseline="0" noProof="1">
                <a:ln>
                  <a:noFill/>
                </a:ln>
                <a:solidFill>
                  <a:schemeClr val="tx2">
                    <a:lumMod val="50000"/>
                  </a:schemeClr>
                </a:solidFill>
                <a:effectLst/>
                <a:uLnTx/>
                <a:uFillTx/>
                <a:latin typeface="楷体_GB2312" pitchFamily="49" charset="-122"/>
                <a:ea typeface="楷体_GB2312" pitchFamily="49" charset="-122"/>
                <a:sym typeface="+mn-ea"/>
              </a:rPr>
              <a:t>：</a:t>
            </a:r>
            <a:endParaRPr kumimoji="0" lang="zh-CN" altLang="en-US" sz="2800" b="1" i="0" u="none" strike="noStrike" kern="0" cap="none" spc="0" normalizeH="0" baseline="0" noProof="1">
              <a:ln>
                <a:noFill/>
              </a:ln>
              <a:solidFill>
                <a:schemeClr val="tx2">
                  <a:lumMod val="50000"/>
                </a:schemeClr>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sym typeface="+mn-ea"/>
              </a:rPr>
              <a:t>需要更多的时间</a:t>
            </a:r>
            <a:r>
              <a:rPr kumimoji="0" lang="en-US" altLang="zh-CN" sz="2400" b="1" i="0" u="none" strike="noStrike" kern="0" cap="none" spc="0" normalizeH="0" baseline="0" noProof="1">
                <a:ln>
                  <a:noFill/>
                </a:ln>
                <a:solidFill>
                  <a:srgbClr val="000000"/>
                </a:solidFill>
                <a:effectLst/>
                <a:uLnTx/>
                <a:uFillTx/>
                <a:latin typeface="楷体_GB2312" pitchFamily="49" charset="-122"/>
                <a:ea typeface="楷体_GB2312" pitchFamily="49" charset="-122"/>
                <a:sym typeface="+mn-ea"/>
              </a:rPr>
              <a:t>、</a:t>
            </a:r>
            <a:r>
              <a:rPr kumimoji="0" lang="en-US" altLang="zh-CN"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sym typeface="+mn-ea"/>
              </a:rPr>
              <a:t>努力和专业知识</a:t>
            </a:r>
            <a:endParaRPr kumimoji="0" lang="zh-CN" altLang="en-US" sz="2400" b="0" i="0" u="none" strike="noStrike" kern="0" cap="none" spc="0" normalizeH="0" baseline="0" noProof="1">
              <a:ln>
                <a:noFill/>
              </a:ln>
              <a:solidFill>
                <a:schemeClr val="tx2">
                  <a:lumMod val="50000"/>
                </a:schemeClr>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barn(inVertical)">
                                      <p:cBhvr>
                                        <p:cTn id="7" dur="500"/>
                                        <p:tgtEl>
                                          <p:spTgt spid="19459">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9459">
                                            <p:txEl>
                                              <p:pRg st="3" end="3"/>
                                            </p:txEl>
                                          </p:spTgt>
                                        </p:tgtEl>
                                        <p:attrNameLst>
                                          <p:attrName>style.visibility</p:attrName>
                                        </p:attrNameLst>
                                      </p:cBhvr>
                                      <p:to>
                                        <p:strVal val="visible"/>
                                      </p:to>
                                    </p:set>
                                    <p:animEffect transition="in" filter="barn(inVertical)">
                                      <p:cBhvr>
                                        <p:cTn id="10" dur="500"/>
                                        <p:tgtEl>
                                          <p:spTgt spid="1945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9459">
                                            <p:txEl>
                                              <p:pRg st="5" end="5"/>
                                            </p:txEl>
                                          </p:spTgt>
                                        </p:tgtEl>
                                        <p:attrNameLst>
                                          <p:attrName>style.visibility</p:attrName>
                                        </p:attrNameLst>
                                      </p:cBhvr>
                                      <p:to>
                                        <p:strVal val="visible"/>
                                      </p:to>
                                    </p:set>
                                    <p:animEffect transition="in" filter="circle(in)">
                                      <p:cBhvr>
                                        <p:cTn id="15" dur="2000"/>
                                        <p:tgtEl>
                                          <p:spTgt spid="19459">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19459">
                                            <p:txEl>
                                              <p:pRg st="6" end="6"/>
                                            </p:txEl>
                                          </p:spTgt>
                                        </p:tgtEl>
                                        <p:attrNameLst>
                                          <p:attrName>style.visibility</p:attrName>
                                        </p:attrNameLst>
                                      </p:cBhvr>
                                      <p:to>
                                        <p:strVal val="visible"/>
                                      </p:to>
                                    </p:set>
                                    <p:animEffect transition="in" filter="wheel(1)">
                                      <p:cBhvr>
                                        <p:cTn id="20" dur="20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10243" name="内容占位符 2"/>
          <p:cNvSpPr>
            <a:spLocks noGrp="1"/>
          </p:cNvSpPr>
          <p:nvPr>
            <p:ph idx="1"/>
          </p:nvPr>
        </p:nvSpPr>
        <p:spPr>
          <a:xfrm>
            <a:off x="381000" y="985838"/>
            <a:ext cx="8382000" cy="5338762"/>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 altLang="zh-CN" b="1" dirty="0">
                <a:latin typeface="楷体_GB2312" pitchFamily="49" charset="-122"/>
                <a:ea typeface="楷体_GB2312" pitchFamily="49" charset="-122"/>
              </a:rPr>
              <a:t>综合风险评估</a:t>
            </a:r>
          </a:p>
          <a:p>
            <a:pPr lvl="1" eaLnBrk="1" hangingPunct="1">
              <a:spcAft>
                <a:spcPct val="20000"/>
              </a:spcAft>
              <a:buClr>
                <a:srgbClr val="AC04A0"/>
              </a:buClr>
            </a:pPr>
            <a:r>
              <a:rPr lang="" altLang="zh-CN" b="1" dirty="0">
                <a:latin typeface="华文楷体" panose="02010600040101010101" pitchFamily="2" charset="-122"/>
                <a:ea typeface="华文楷体" panose="02010600040101010101" pitchFamily="2" charset="-122"/>
              </a:rPr>
              <a:t>基线风险评估</a:t>
            </a:r>
            <a:r>
              <a:rPr lang="" altLang="zh-CN" b="1" dirty="0">
                <a:solidFill>
                  <a:srgbClr val="FF0000"/>
                </a:solidFill>
                <a:latin typeface="华文楷体" panose="02010600040101010101" pitchFamily="2" charset="-122"/>
                <a:ea typeface="华文楷体" panose="02010600040101010101" pitchFamily="2" charset="-122"/>
              </a:rPr>
              <a:t>耗费资源少、周期短、操作简单，但不够准确，</a:t>
            </a:r>
            <a:r>
              <a:rPr lang="" altLang="zh-CN" b="1" dirty="0">
                <a:latin typeface="华文楷体" panose="02010600040101010101" pitchFamily="2" charset="-122"/>
                <a:ea typeface="华文楷体" panose="02010600040101010101" pitchFamily="2" charset="-122"/>
              </a:rPr>
              <a:t>适合一般环境的评估；</a:t>
            </a:r>
          </a:p>
          <a:p>
            <a:pPr lvl="1" eaLnBrk="1" hangingPunct="1">
              <a:spcAft>
                <a:spcPct val="20000"/>
              </a:spcAft>
              <a:buClr>
                <a:srgbClr val="AC04A0"/>
              </a:buClr>
            </a:pPr>
            <a:r>
              <a:rPr lang="" altLang="zh-CN" b="1" dirty="0">
                <a:latin typeface="华文楷体" panose="02010600040101010101" pitchFamily="2" charset="-122"/>
                <a:ea typeface="华文楷体" panose="02010600040101010101" pitchFamily="2" charset="-122"/>
              </a:rPr>
              <a:t>详细风险评估</a:t>
            </a:r>
            <a:r>
              <a:rPr lang="" altLang="zh-CN" b="1" dirty="0">
                <a:solidFill>
                  <a:srgbClr val="FF0000"/>
                </a:solidFill>
                <a:latin typeface="华文楷体" panose="02010600040101010101" pitchFamily="2" charset="-122"/>
                <a:ea typeface="华文楷体" panose="02010600040101010101" pitchFamily="2" charset="-122"/>
              </a:rPr>
              <a:t>准确而细致，但耗费资源较多</a:t>
            </a:r>
            <a:r>
              <a:rPr lang="" altLang="zh-CN" b="1" dirty="0">
                <a:latin typeface="华文楷体" panose="02010600040101010101" pitchFamily="2" charset="-122"/>
                <a:ea typeface="华文楷体" panose="02010600040101010101" pitchFamily="2" charset="-122"/>
              </a:rPr>
              <a:t>，适合严格限定边界的较小范围内的评估。</a:t>
            </a:r>
          </a:p>
          <a:p>
            <a:pPr lvl="1" eaLnBrk="1" hangingPunct="1">
              <a:buNone/>
            </a:pPr>
            <a:r>
              <a:rPr lang="" altLang="zh-CN" b="1" dirty="0">
                <a:latin typeface="华文楷体" panose="02010600040101010101" pitchFamily="2" charset="-122"/>
                <a:ea typeface="华文楷体" panose="02010600040101010101" pitchFamily="2" charset="-122"/>
              </a:rPr>
              <a:t>ISO/IEC 13335-3提出了综合风险评估框架，其实施流程如图4-1所示。</a:t>
            </a:r>
            <a:endParaRPr lang="" altLang="en-US"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circle(in)">
                                      <p:cBhvr>
                                        <p:cTn id="7" dur="20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wheel(1)">
                                      <p:cBhvr>
                                        <p:cTn id="12" dur="20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wheel(1)">
                                      <p:cBhvr>
                                        <p:cTn id="17" dur="20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11267" name="内容占位符 2"/>
          <p:cNvSpPr>
            <a:spLocks noGrp="1"/>
          </p:cNvSpPr>
          <p:nvPr>
            <p:ph idx="1"/>
          </p:nvPr>
        </p:nvSpPr>
        <p:spPr>
          <a:xfrm>
            <a:off x="304800" y="304800"/>
            <a:ext cx="8229600" cy="6096000"/>
          </a:xfrm>
          <a:ln/>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lvl="1" eaLnBrk="1" hangingPunct="1"/>
            <a:endParaRPr lang="en-US" altLang="zh-CN" b="1" dirty="0">
              <a:solidFill>
                <a:srgbClr val="000000"/>
              </a:solidFill>
              <a:latin typeface="楷体_GB2312" pitchFamily="49" charset="-122"/>
              <a:ea typeface="楷体_GB2312" pitchFamily="49" charset="-122"/>
            </a:endParaRPr>
          </a:p>
          <a:p>
            <a:pPr lvl="1" eaLnBrk="1" hangingPunct="1">
              <a:buNone/>
            </a:pPr>
            <a:endParaRPr lang="en-US" altLang="zh-CN" b="1" dirty="0">
              <a:solidFill>
                <a:srgbClr val="000000"/>
              </a:solidFill>
              <a:latin typeface="楷体_GB2312" pitchFamily="49" charset="-122"/>
              <a:ea typeface="楷体_GB2312" pitchFamily="49" charset="-122"/>
            </a:endParaRPr>
          </a:p>
          <a:p>
            <a:pPr lvl="2" eaLnBrk="1" hangingPunct="1"/>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graphicFrame>
        <p:nvGraphicFramePr>
          <p:cNvPr id="11268" name="对象 -2147482549"/>
          <p:cNvGraphicFramePr>
            <a:graphicFrameLocks noChangeAspect="1"/>
          </p:cNvGraphicFramePr>
          <p:nvPr/>
        </p:nvGraphicFramePr>
        <p:xfrm>
          <a:off x="2474913" y="1195388"/>
          <a:ext cx="3887787" cy="5205412"/>
        </p:xfrm>
        <a:graphic>
          <a:graphicData uri="http://schemas.openxmlformats.org/presentationml/2006/ole">
            <mc:AlternateContent xmlns:mc="http://schemas.openxmlformats.org/markup-compatibility/2006">
              <mc:Choice xmlns:v="urn:schemas-microsoft-com:vml" Requires="v">
                <p:oleObj spid="_x0000_s7180" r:id="rId3" imgW="3726815" imgH="4999990" progId="Visio.Drawing.11">
                  <p:embed/>
                </p:oleObj>
              </mc:Choice>
              <mc:Fallback>
                <p:oleObj r:id="rId3" imgW="3726815" imgH="4999990" progId="Visio.Drawing.11">
                  <p:embed/>
                  <p:pic>
                    <p:nvPicPr>
                      <p:cNvPr id="0" name="图片 3077"/>
                      <p:cNvPicPr/>
                      <p:nvPr/>
                    </p:nvPicPr>
                    <p:blipFill>
                      <a:blip r:embed="rId4"/>
                      <a:stretch>
                        <a:fillRect/>
                      </a:stretch>
                    </p:blipFill>
                    <p:spPr>
                      <a:xfrm>
                        <a:off x="2474913" y="1195388"/>
                        <a:ext cx="3887787" cy="5205412"/>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heel(1)">
                                      <p:cBhvr>
                                        <p:cTn id="7" dur="20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信息安全风险评估策略</a:t>
            </a:r>
          </a:p>
        </p:txBody>
      </p:sp>
      <p:sp>
        <p:nvSpPr>
          <p:cNvPr id="12291" name="内容占位符 2"/>
          <p:cNvSpPr>
            <a:spLocks noGrp="1" noChangeArrowheads="1"/>
          </p:cNvSpPr>
          <p:nvPr>
            <p:ph idx="1"/>
          </p:nvPr>
        </p:nvSpPr>
        <p:spPr>
          <a:xfrm>
            <a:off x="304800" y="1297305"/>
            <a:ext cx="8229600" cy="38100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综合风险评估的第一步是高层风险分析确定</a:t>
            </a: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楷体_GB2312"/>
              </a:rPr>
              <a:t>IT</a:t>
            </a:r>
            <a:r>
              <a:rPr kumimoji="0" lang="zh-CN" altLang="en-US" sz="2400" b="1" i="0" u="none" strike="noStrike" kern="0" cap="none" spc="0" normalizeH="0" baseline="0" noProof="0" dirty="0" smtClean="0">
                <a:ln>
                  <a:noFill/>
                </a:ln>
                <a:solidFill>
                  <a:schemeClr val="tx1"/>
                </a:solidFill>
                <a:effectLst/>
                <a:uLnTx/>
                <a:uFillTx/>
                <a:latin typeface="+mn-lt"/>
                <a:ea typeface="楷体_GB2312"/>
                <a:cs typeface="楷体_GB2312"/>
              </a:rPr>
              <a:t>系统采用的具体分析（基线</a:t>
            </a: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楷体_GB2312"/>
              </a:rPr>
              <a:t>/</a:t>
            </a:r>
            <a:r>
              <a:rPr kumimoji="0" lang="zh-CN" altLang="en-US" sz="2400" b="1" i="0" u="none" strike="noStrike" kern="0" cap="none" spc="0" normalizeH="0" baseline="0" noProof="0" dirty="0" smtClean="0">
                <a:ln>
                  <a:noFill/>
                </a:ln>
                <a:solidFill>
                  <a:schemeClr val="tx1"/>
                </a:solidFill>
                <a:effectLst/>
                <a:uLnTx/>
                <a:uFillTx/>
                <a:latin typeface="+mn-lt"/>
                <a:ea typeface="楷体_GB2312"/>
                <a:cs typeface="楷体_GB2312"/>
              </a:rPr>
              <a:t>详细）方法。</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综合风险评估的中间两步是根据分析选择安全措施及风险接受方式。</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综合风险评估的最后两步是</a:t>
            </a: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楷体_GB2312"/>
              </a:rPr>
              <a:t>IT</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系统安全策略和</a:t>
            </a: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楷体_GB2312"/>
              </a:rPr>
              <a:t>IT</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安全计划</a:t>
            </a:r>
            <a:endParaRPr kumimoji="0" lang="en-US" altLang="zh-CN" sz="2400" b="1" i="0" u="none" strike="noStrike" kern="0" cap="none" spc="0" normalizeH="0" baseline="0" noProof="0" dirty="0" smtClean="0">
              <a:ln>
                <a:noFill/>
              </a:ln>
              <a:solidFill>
                <a:schemeClr val="tx1"/>
              </a:solidFill>
              <a:effectLst/>
              <a:uLnTx/>
              <a:uFillTx/>
              <a:latin typeface="+mn-lt"/>
              <a:ea typeface="楷体_GB2312"/>
              <a:cs typeface="楷体_GB231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en-US" altLang="zh-CN" sz="2000" b="1" i="0" u="none" strike="noStrike" kern="0" cap="none" spc="0" normalizeH="0" baseline="0" noProof="0" dirty="0" smtClean="0">
                <a:ln>
                  <a:noFill/>
                </a:ln>
                <a:solidFill>
                  <a:schemeClr val="tx1"/>
                </a:solidFill>
                <a:effectLst/>
                <a:uLnTx/>
                <a:uFillTx/>
                <a:latin typeface="+mn-lt"/>
                <a:ea typeface="楷体_GB2312"/>
                <a:cs typeface="楷体_GB2312"/>
              </a:rPr>
              <a:t>IT</a:t>
            </a:r>
            <a:r>
              <a:rPr kumimoji="0" lang="zh-CN" altLang="zh-CN" sz="2000" b="1" i="0" u="none" strike="noStrike" kern="0" cap="none" spc="0" normalizeH="0" baseline="0" noProof="0" dirty="0" smtClean="0">
                <a:ln>
                  <a:noFill/>
                </a:ln>
                <a:solidFill>
                  <a:schemeClr val="tx1"/>
                </a:solidFill>
                <a:effectLst/>
                <a:uLnTx/>
                <a:uFillTx/>
                <a:latin typeface="+mn-lt"/>
                <a:ea typeface="楷体_GB2312"/>
                <a:cs typeface="楷体_GB2312"/>
              </a:rPr>
              <a:t>系统安全策略是前面各阶段评估结果的结晶，包括系统安全目标、系统边界、系统资产、威胁、脆弱点、所选取的安全措施、安全措施选取的原因、费用估计等。</a:t>
            </a:r>
            <a:endParaRPr kumimoji="0" lang="en-US" altLang="zh-CN" sz="2000" b="1" i="0" u="none" strike="noStrike" kern="0" cap="none" spc="0" normalizeH="0" baseline="0" noProof="0" dirty="0" smtClean="0">
              <a:ln>
                <a:noFill/>
              </a:ln>
              <a:solidFill>
                <a:schemeClr val="tx1"/>
              </a:solidFill>
              <a:effectLst/>
              <a:uLnTx/>
              <a:uFillTx/>
              <a:latin typeface="+mn-lt"/>
              <a:ea typeface="楷体_GB2312"/>
              <a:cs typeface="楷体_GB231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en-US" altLang="zh-CN" sz="2000" b="1" i="0" u="none" strike="noStrike" kern="0" cap="none" spc="0" normalizeH="0" baseline="0" noProof="0" dirty="0" smtClean="0">
                <a:ln>
                  <a:noFill/>
                </a:ln>
                <a:solidFill>
                  <a:schemeClr val="tx1"/>
                </a:solidFill>
                <a:effectLst/>
                <a:uLnTx/>
                <a:uFillTx/>
                <a:latin typeface="+mn-lt"/>
                <a:ea typeface="楷体_GB2312"/>
                <a:cs typeface="楷体_GB2312"/>
              </a:rPr>
              <a:t>IT</a:t>
            </a:r>
            <a:r>
              <a:rPr kumimoji="0" lang="zh-CN" altLang="zh-CN" sz="2000" b="1" i="0" u="none" strike="noStrike" kern="0" cap="none" spc="0" normalizeH="0" baseline="0" noProof="0" dirty="0" smtClean="0">
                <a:ln>
                  <a:noFill/>
                </a:ln>
                <a:solidFill>
                  <a:schemeClr val="tx1"/>
                </a:solidFill>
                <a:effectLst/>
                <a:uLnTx/>
                <a:uFillTx/>
                <a:latin typeface="+mn-lt"/>
                <a:ea typeface="楷体_GB2312"/>
                <a:cs typeface="楷体_GB2312"/>
              </a:rPr>
              <a:t>安全计划则处理如何去实施所选取的安全措施。</a:t>
            </a:r>
            <a:r>
              <a:rPr kumimoji="0" lang="en-US" altLang="zh-CN" sz="2000" b="1" i="0" u="none" strike="noStrike" kern="0" cap="none" spc="0" normalizeH="0" baseline="0" noProof="0" dirty="0" smtClean="0">
                <a:ln>
                  <a:noFill/>
                </a:ln>
                <a:solidFill>
                  <a:schemeClr val="tx1"/>
                </a:solidFill>
                <a:effectLst/>
                <a:uLnTx/>
                <a:uFillTx/>
                <a:latin typeface="+mn-lt"/>
                <a:ea typeface="楷体_GB2312"/>
                <a:cs typeface="楷体_GB2312"/>
              </a:rPr>
              <a:t> </a:t>
            </a:r>
            <a:endParaRPr kumimoji="0" lang="en-US" altLang="zh-CN" sz="2800" b="0" i="0" u="none" strike="noStrike" kern="0" cap="none" spc="0" normalizeH="0" baseline="0" noProof="0" dirty="0" smtClean="0">
              <a:ln>
                <a:noFill/>
              </a:ln>
              <a:solidFill>
                <a:schemeClr val="tx1"/>
              </a:solidFill>
              <a:effectLst/>
              <a:uLnTx/>
              <a:uFillTx/>
              <a:latin typeface="+mn-lt"/>
              <a:ea typeface="楷体_GB2312"/>
              <a:cs typeface="楷体_GB2312"/>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mn-lt"/>
                <a:ea typeface="楷体_GB2312"/>
                <a:cs typeface="楷体_GB2312"/>
              </a:rPr>
              <a:t>    </a:t>
            </a:r>
            <a:r>
              <a:rPr kumimoji="0" lang="zh-CN" altLang="en-US" sz="2400" b="1" i="0" u="none" strike="noStrike" kern="0" cap="none" spc="0" normalizeH="0" baseline="0" noProof="0" dirty="0" smtClean="0">
                <a:ln>
                  <a:noFill/>
                </a:ln>
                <a:solidFill>
                  <a:srgbClr val="FF0000"/>
                </a:solidFill>
                <a:effectLst/>
                <a:uLnTx/>
                <a:uFillTx/>
                <a:latin typeface="+mn-lt"/>
                <a:ea typeface="楷体_GB2312"/>
                <a:cs typeface="楷体_GB2312"/>
              </a:rPr>
              <a:t>综合评估将基线和详细风险评估的优势结合起来</a:t>
            </a:r>
            <a:r>
              <a:rPr kumimoji="0" lang="zh-CN" altLang="en-US" sz="2400" b="1" i="0" u="none" strike="noStrike" kern="0" cap="none" spc="0" normalizeH="0" baseline="0" noProof="0" dirty="0" smtClean="0">
                <a:ln>
                  <a:noFill/>
                </a:ln>
                <a:solidFill>
                  <a:schemeClr val="tx1"/>
                </a:solidFill>
                <a:effectLst/>
                <a:uLnTx/>
                <a:uFillTx/>
                <a:latin typeface="+mn-lt"/>
                <a:ea typeface="楷体_GB2312"/>
                <a:cs typeface="楷体_GB2312"/>
              </a:rPr>
              <a:t>，既节省了评估所耗费的资源，又能确保获得一个全面系统的评估结果。</a:t>
            </a:r>
            <a:endPar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1000"/>
                                        <p:tgtEl>
                                          <p:spTgt spid="12291">
                                            <p:txEl>
                                              <p:pRg st="1" end="1"/>
                                            </p:txEl>
                                          </p:spTgt>
                                        </p:tgtEl>
                                      </p:cBhvr>
                                    </p:animEffect>
                                    <p:anim calcmode="lin" valueType="num">
                                      <p:cBhvr>
                                        <p:cTn id="8"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291">
                                            <p:txEl>
                                              <p:pRg st="2" end="2"/>
                                            </p:txEl>
                                          </p:spTgt>
                                        </p:tgtEl>
                                        <p:attrNameLst>
                                          <p:attrName>style.visibility</p:attrName>
                                        </p:attrNameLst>
                                      </p:cBhvr>
                                      <p:to>
                                        <p:strVal val="visible"/>
                                      </p:to>
                                    </p:set>
                                    <p:animEffect transition="in" filter="fade">
                                      <p:cBhvr>
                                        <p:cTn id="14" dur="1000"/>
                                        <p:tgtEl>
                                          <p:spTgt spid="12291">
                                            <p:txEl>
                                              <p:pRg st="2" end="2"/>
                                            </p:txEl>
                                          </p:spTgt>
                                        </p:tgtEl>
                                      </p:cBhvr>
                                    </p:animEffect>
                                    <p:anim calcmode="lin" valueType="num">
                                      <p:cBhvr>
                                        <p:cTn id="15"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291">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animEffect transition="in" filter="fade">
                                      <p:cBhvr>
                                        <p:cTn id="19" dur="1000"/>
                                        <p:tgtEl>
                                          <p:spTgt spid="12291">
                                            <p:txEl>
                                              <p:pRg st="3" end="3"/>
                                            </p:txEl>
                                          </p:spTgt>
                                        </p:tgtEl>
                                      </p:cBhvr>
                                    </p:animEffect>
                                    <p:anim calcmode="lin" valueType="num">
                                      <p:cBhvr>
                                        <p:cTn id="20"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29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291">
                                            <p:txEl>
                                              <p:pRg st="4" end="4"/>
                                            </p:txEl>
                                          </p:spTgt>
                                        </p:tgtEl>
                                        <p:attrNameLst>
                                          <p:attrName>style.visibility</p:attrName>
                                        </p:attrNameLst>
                                      </p:cBhvr>
                                      <p:to>
                                        <p:strVal val="visible"/>
                                      </p:to>
                                    </p:set>
                                    <p:animEffect transition="in" filter="fade">
                                      <p:cBhvr>
                                        <p:cTn id="24" dur="1000"/>
                                        <p:tgtEl>
                                          <p:spTgt spid="12291">
                                            <p:txEl>
                                              <p:pRg st="4" end="4"/>
                                            </p:txEl>
                                          </p:spTgt>
                                        </p:tgtEl>
                                      </p:cBhvr>
                                    </p:animEffect>
                                    <p:anim calcmode="lin" valueType="num">
                                      <p:cBhvr>
                                        <p:cTn id="25" dur="10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229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2291">
                                            <p:txEl>
                                              <p:pRg st="5" end="5"/>
                                            </p:txEl>
                                          </p:spTgt>
                                        </p:tgtEl>
                                        <p:attrNameLst>
                                          <p:attrName>style.visibility</p:attrName>
                                        </p:attrNameLst>
                                      </p:cBhvr>
                                      <p:to>
                                        <p:strVal val="visible"/>
                                      </p:to>
                                    </p:set>
                                    <p:animEffect transition="in" filter="wipe(down)">
                                      <p:cBhvr>
                                        <p:cTn id="31" dur="500"/>
                                        <p:tgtEl>
                                          <p:spTgt spid="12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13315" name="Group 3"/>
          <p:cNvGrpSpPr/>
          <p:nvPr/>
        </p:nvGrpSpPr>
        <p:grpSpPr>
          <a:xfrm>
            <a:off x="1828800" y="1752600"/>
            <a:ext cx="762000" cy="665163"/>
            <a:chOff x="1110" y="2656"/>
            <a:chExt cx="1549" cy="1351"/>
          </a:xfrm>
        </p:grpSpPr>
        <p:sp>
          <p:nvSpPr>
            <p:cNvPr id="1335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5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3316" name="Group 7"/>
          <p:cNvGrpSpPr/>
          <p:nvPr/>
        </p:nvGrpSpPr>
        <p:grpSpPr>
          <a:xfrm>
            <a:off x="1828800" y="2667000"/>
            <a:ext cx="762000" cy="665163"/>
            <a:chOff x="3174" y="2656"/>
            <a:chExt cx="1549" cy="1351"/>
          </a:xfrm>
        </p:grpSpPr>
        <p:sp>
          <p:nvSpPr>
            <p:cNvPr id="13354"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55"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3317"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13318"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信息安全风险评估策略</a:t>
            </a:r>
          </a:p>
        </p:txBody>
      </p:sp>
      <p:sp>
        <p:nvSpPr>
          <p:cNvPr id="13319"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13320"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13321"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13322"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13323"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13324"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信息安全风险评估过程</a:t>
            </a:r>
          </a:p>
        </p:txBody>
      </p:sp>
      <p:grpSp>
        <p:nvGrpSpPr>
          <p:cNvPr id="13325" name="组合 25"/>
          <p:cNvGrpSpPr/>
          <p:nvPr/>
        </p:nvGrpSpPr>
        <p:grpSpPr>
          <a:xfrm>
            <a:off x="1779588" y="3482975"/>
            <a:ext cx="5535612" cy="665163"/>
            <a:chOff x="1828800" y="3559175"/>
            <a:chExt cx="5534899" cy="665163"/>
          </a:xfrm>
        </p:grpSpPr>
        <p:sp>
          <p:nvSpPr>
            <p:cNvPr id="13348"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典型的风险分析方法</a:t>
              </a:r>
            </a:p>
          </p:txBody>
        </p:sp>
        <p:grpSp>
          <p:nvGrpSpPr>
            <p:cNvPr id="13349" name="Group 17"/>
            <p:cNvGrpSpPr/>
            <p:nvPr/>
          </p:nvGrpSpPr>
          <p:grpSpPr>
            <a:xfrm>
              <a:off x="1828800" y="3559175"/>
              <a:ext cx="762000" cy="665163"/>
              <a:chOff x="1110" y="2656"/>
              <a:chExt cx="1549" cy="1351"/>
            </a:xfrm>
          </p:grpSpPr>
          <p:sp>
            <p:nvSpPr>
              <p:cNvPr id="1335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5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13350"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13326"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13327"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13328" name="Group 7"/>
          <p:cNvGrpSpPr/>
          <p:nvPr/>
        </p:nvGrpSpPr>
        <p:grpSpPr>
          <a:xfrm>
            <a:off x="1784350" y="4303713"/>
            <a:ext cx="762000" cy="665162"/>
            <a:chOff x="3174" y="2656"/>
            <a:chExt cx="1549" cy="1351"/>
          </a:xfrm>
        </p:grpSpPr>
        <p:sp>
          <p:nvSpPr>
            <p:cNvPr id="1334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4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3329"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13330"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数据采集方法与评价工具</a:t>
            </a:r>
          </a:p>
        </p:txBody>
      </p:sp>
      <p:grpSp>
        <p:nvGrpSpPr>
          <p:cNvPr id="13331" name="Group 3"/>
          <p:cNvGrpSpPr/>
          <p:nvPr/>
        </p:nvGrpSpPr>
        <p:grpSpPr>
          <a:xfrm>
            <a:off x="1836738" y="5159375"/>
            <a:ext cx="762000" cy="665163"/>
            <a:chOff x="1110" y="2656"/>
            <a:chExt cx="1549" cy="1351"/>
          </a:xfrm>
        </p:grpSpPr>
        <p:sp>
          <p:nvSpPr>
            <p:cNvPr id="13342"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43"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3332"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13333"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13334"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风险评估实例报告</a:t>
            </a:r>
          </a:p>
        </p:txBody>
      </p:sp>
      <p:grpSp>
        <p:nvGrpSpPr>
          <p:cNvPr id="13335" name="Group 3"/>
          <p:cNvGrpSpPr/>
          <p:nvPr/>
        </p:nvGrpSpPr>
        <p:grpSpPr>
          <a:xfrm>
            <a:off x="1828800" y="5888038"/>
            <a:ext cx="762000" cy="665162"/>
            <a:chOff x="1110" y="2656"/>
            <a:chExt cx="1549" cy="1351"/>
          </a:xfrm>
        </p:grpSpPr>
        <p:sp>
          <p:nvSpPr>
            <p:cNvPr id="13339"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3340"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3336"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13337"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13338"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a:xfrm>
            <a:off x="914400" y="304800"/>
            <a:ext cx="7010400" cy="7731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smtClean="0">
                <a:ln>
                  <a:noFill/>
                </a:ln>
                <a:solidFill>
                  <a:schemeClr val="accent3"/>
                </a:solidFill>
                <a:effectLst/>
                <a:uLnTx/>
                <a:uFillTx/>
                <a:latin typeface="+mj-lt"/>
                <a:ea typeface="宋体" panose="02010600030101010101" pitchFamily="2" charset="-122"/>
                <a:cs typeface="+mj-cs"/>
              </a:rPr>
              <a:t>信息安全风险评估过程</a:t>
            </a:r>
          </a:p>
        </p:txBody>
      </p:sp>
      <p:pic>
        <p:nvPicPr>
          <p:cNvPr id="14339" name="图片 1"/>
          <p:cNvPicPr>
            <a:picLocks noChangeAspect="1"/>
          </p:cNvPicPr>
          <p:nvPr/>
        </p:nvPicPr>
        <p:blipFill>
          <a:blip r:embed="rId2"/>
          <a:stretch>
            <a:fillRect/>
          </a:stretch>
        </p:blipFill>
        <p:spPr>
          <a:xfrm>
            <a:off x="1295400" y="1077913"/>
            <a:ext cx="6167438" cy="5649912"/>
          </a:xfrm>
          <a:prstGeom prst="rect">
            <a:avLst/>
          </a:prstGeom>
          <a:solidFill>
            <a:srgbClr val="FF0000"/>
          </a:solidFill>
          <a:ln w="9525">
            <a:noFill/>
          </a:ln>
        </p:spPr>
      </p:pic>
      <p:sp>
        <p:nvSpPr>
          <p:cNvPr id="14340" name="矩形 2"/>
          <p:cNvSpPr/>
          <p:nvPr/>
        </p:nvSpPr>
        <p:spPr>
          <a:xfrm>
            <a:off x="1295400" y="1077913"/>
            <a:ext cx="6019800" cy="522287"/>
          </a:xfrm>
          <a:prstGeom prst="rect">
            <a:avLst/>
          </a:prstGeom>
          <a:no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cxnSp>
        <p:nvCxnSpPr>
          <p:cNvPr id="14341" name="直接连接符 6"/>
          <p:cNvCxnSpPr/>
          <p:nvPr/>
        </p:nvCxnSpPr>
        <p:spPr>
          <a:xfrm>
            <a:off x="914400" y="1600200"/>
            <a:ext cx="6400800" cy="0"/>
          </a:xfrm>
          <a:prstGeom prst="line">
            <a:avLst/>
          </a:prstGeom>
          <a:ln w="31750" cap="flat" cmpd="sng">
            <a:solidFill>
              <a:schemeClr val="accent1"/>
            </a:solidFill>
            <a:prstDash val="dash"/>
            <a:headEnd type="none" w="med" len="med"/>
            <a:tailEnd type="none" w="med" len="med"/>
          </a:ln>
        </p:spPr>
      </p:cxnSp>
      <p:cxnSp>
        <p:nvCxnSpPr>
          <p:cNvPr id="14342" name="直接连接符 11"/>
          <p:cNvCxnSpPr/>
          <p:nvPr/>
        </p:nvCxnSpPr>
        <p:spPr>
          <a:xfrm>
            <a:off x="914400" y="3048000"/>
            <a:ext cx="4953000" cy="0"/>
          </a:xfrm>
          <a:prstGeom prst="line">
            <a:avLst/>
          </a:prstGeom>
          <a:ln w="31750" cap="flat" cmpd="sng">
            <a:solidFill>
              <a:schemeClr val="accent1"/>
            </a:solidFill>
            <a:prstDash val="dash"/>
            <a:headEnd type="none" w="med" len="med"/>
            <a:tailEnd type="none" w="med" len="med"/>
          </a:ln>
        </p:spPr>
      </p:cxnSp>
      <p:cxnSp>
        <p:nvCxnSpPr>
          <p:cNvPr id="14343" name="直接连接符 12"/>
          <p:cNvCxnSpPr/>
          <p:nvPr/>
        </p:nvCxnSpPr>
        <p:spPr>
          <a:xfrm>
            <a:off x="914400" y="4495800"/>
            <a:ext cx="4953000" cy="0"/>
          </a:xfrm>
          <a:prstGeom prst="line">
            <a:avLst/>
          </a:prstGeom>
          <a:ln w="31750" cap="flat" cmpd="sng">
            <a:solidFill>
              <a:schemeClr val="accent1"/>
            </a:solidFill>
            <a:prstDash val="dash"/>
            <a:headEnd type="none" w="med" len="med"/>
            <a:tailEnd type="none" w="med" len="med"/>
          </a:ln>
        </p:spPr>
      </p:cxnSp>
      <p:sp>
        <p:nvSpPr>
          <p:cNvPr id="14344" name="文本框 13"/>
          <p:cNvSpPr txBox="1"/>
          <p:nvPr/>
        </p:nvSpPr>
        <p:spPr>
          <a:xfrm>
            <a:off x="838200" y="1219200"/>
            <a:ext cx="1676400" cy="369888"/>
          </a:xfrm>
          <a:prstGeom prst="rect">
            <a:avLst/>
          </a:prstGeom>
          <a:noFill/>
          <a:ln w="9525">
            <a:noFill/>
          </a:ln>
        </p:spPr>
        <p:txBody>
          <a:bodyPr>
            <a:spAutoFit/>
          </a:bodyPr>
          <a:lstStyle/>
          <a:p>
            <a:pPr eaLnBrk="1" hangingPunct="1">
              <a:spcBef>
                <a:spcPct val="50000"/>
              </a:spcBef>
            </a:pPr>
            <a:r>
              <a:rPr lang="zh-CN" altLang="en-US" sz="1800" dirty="0">
                <a:solidFill>
                  <a:srgbClr val="FF0000"/>
                </a:solidFill>
                <a:latin typeface="黑体" panose="02010609060101010101" pitchFamily="49" charset="-122"/>
                <a:ea typeface="黑体" panose="02010609060101010101" pitchFamily="49" charset="-122"/>
              </a:rPr>
              <a:t>风险评估准备</a:t>
            </a:r>
          </a:p>
        </p:txBody>
      </p:sp>
      <p:sp>
        <p:nvSpPr>
          <p:cNvPr id="14345" name="文本框 18"/>
          <p:cNvSpPr txBox="1"/>
          <p:nvPr/>
        </p:nvSpPr>
        <p:spPr>
          <a:xfrm>
            <a:off x="877888" y="2665413"/>
            <a:ext cx="1676400" cy="369887"/>
          </a:xfrm>
          <a:prstGeom prst="rect">
            <a:avLst/>
          </a:prstGeom>
          <a:noFill/>
          <a:ln w="9525">
            <a:noFill/>
          </a:ln>
        </p:spPr>
        <p:txBody>
          <a:bodyPr>
            <a:spAutoFit/>
          </a:bodyPr>
          <a:lstStyle/>
          <a:p>
            <a:pPr eaLnBrk="1" hangingPunct="1">
              <a:spcBef>
                <a:spcPct val="50000"/>
              </a:spcBef>
            </a:pPr>
            <a:r>
              <a:rPr lang="zh-CN" altLang="en-US" sz="1800" dirty="0">
                <a:solidFill>
                  <a:srgbClr val="FF0000"/>
                </a:solidFill>
                <a:latin typeface="黑体" panose="02010609060101010101" pitchFamily="49" charset="-122"/>
                <a:ea typeface="黑体" panose="02010609060101010101" pitchFamily="49" charset="-122"/>
              </a:rPr>
              <a:t>风险识别</a:t>
            </a:r>
          </a:p>
        </p:txBody>
      </p:sp>
      <p:sp>
        <p:nvSpPr>
          <p:cNvPr id="14346" name="文本框 19"/>
          <p:cNvSpPr txBox="1"/>
          <p:nvPr/>
        </p:nvSpPr>
        <p:spPr>
          <a:xfrm>
            <a:off x="833438" y="4113213"/>
            <a:ext cx="1676400" cy="369887"/>
          </a:xfrm>
          <a:prstGeom prst="rect">
            <a:avLst/>
          </a:prstGeom>
          <a:noFill/>
          <a:ln w="9525">
            <a:noFill/>
          </a:ln>
        </p:spPr>
        <p:txBody>
          <a:bodyPr>
            <a:spAutoFit/>
          </a:bodyPr>
          <a:lstStyle/>
          <a:p>
            <a:pPr eaLnBrk="1" hangingPunct="1">
              <a:spcBef>
                <a:spcPct val="50000"/>
              </a:spcBef>
            </a:pPr>
            <a:r>
              <a:rPr lang="zh-CN" altLang="en-US" sz="1800" dirty="0">
                <a:solidFill>
                  <a:srgbClr val="FF0000"/>
                </a:solidFill>
                <a:latin typeface="黑体" panose="02010609060101010101" pitchFamily="49" charset="-122"/>
                <a:ea typeface="黑体" panose="02010609060101010101" pitchFamily="49" charset="-122"/>
              </a:rPr>
              <a:t>风险评价</a:t>
            </a:r>
          </a:p>
        </p:txBody>
      </p:sp>
      <p:sp>
        <p:nvSpPr>
          <p:cNvPr id="14347" name="文本框 20"/>
          <p:cNvSpPr txBox="1"/>
          <p:nvPr/>
        </p:nvSpPr>
        <p:spPr>
          <a:xfrm>
            <a:off x="833438" y="5884863"/>
            <a:ext cx="1676400" cy="368300"/>
          </a:xfrm>
          <a:prstGeom prst="rect">
            <a:avLst/>
          </a:prstGeom>
          <a:noFill/>
          <a:ln w="9525">
            <a:noFill/>
          </a:ln>
        </p:spPr>
        <p:txBody>
          <a:bodyPr>
            <a:spAutoFit/>
          </a:bodyPr>
          <a:lstStyle/>
          <a:p>
            <a:pPr eaLnBrk="1" hangingPunct="1">
              <a:spcBef>
                <a:spcPct val="50000"/>
              </a:spcBef>
            </a:pPr>
            <a:r>
              <a:rPr lang="zh-CN" altLang="en-US" sz="1800" dirty="0">
                <a:solidFill>
                  <a:srgbClr val="FF0000"/>
                </a:solidFill>
                <a:latin typeface="黑体" panose="02010609060101010101" pitchFamily="49" charset="-122"/>
                <a:ea typeface="黑体" panose="02010609060101010101" pitchFamily="49" charset="-122"/>
              </a:rPr>
              <a:t>风险处理</a:t>
            </a:r>
          </a:p>
        </p:txBody>
      </p:sp>
      <p:cxnSp>
        <p:nvCxnSpPr>
          <p:cNvPr id="14348" name="直接连接符 21"/>
          <p:cNvCxnSpPr/>
          <p:nvPr/>
        </p:nvCxnSpPr>
        <p:spPr>
          <a:xfrm>
            <a:off x="914400" y="6324600"/>
            <a:ext cx="4953000" cy="0"/>
          </a:xfrm>
          <a:prstGeom prst="line">
            <a:avLst/>
          </a:prstGeom>
          <a:ln w="31750" cap="flat" cmpd="sng">
            <a:solidFill>
              <a:schemeClr val="accent1"/>
            </a:solidFill>
            <a:prstDash val="dash"/>
            <a:headEnd type="none" w="med" len="med"/>
            <a:tailEnd type="none" w="med" len="med"/>
          </a:ln>
        </p:spPr>
      </p:cxnSp>
      <p:sp>
        <p:nvSpPr>
          <p:cNvPr id="14349" name="矩形 16"/>
          <p:cNvSpPr/>
          <p:nvPr/>
        </p:nvSpPr>
        <p:spPr>
          <a:xfrm>
            <a:off x="5908675" y="2665413"/>
            <a:ext cx="1143000" cy="3659187"/>
          </a:xfrm>
          <a:prstGeom prst="rect">
            <a:avLst/>
          </a:prstGeom>
          <a:noFill/>
          <a:ln w="50800" cap="flat" cmpd="sng">
            <a:solidFill>
              <a:srgbClr val="FF0000"/>
            </a:solidFill>
            <a:prstDash val="dash"/>
            <a:roun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 name="内容占位符 2"/>
          <p:cNvSpPr>
            <a:spLocks noGrp="1"/>
          </p:cNvSpPr>
          <p:nvPr>
            <p:ph idx="1"/>
          </p:nvPr>
        </p:nvSpPr>
        <p:spPr>
          <a:xfrm>
            <a:off x="304800" y="304800"/>
            <a:ext cx="8229600" cy="609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1">
                <a:ln>
                  <a:noFill/>
                </a:ln>
                <a:solidFill>
                  <a:schemeClr val="tx1"/>
                </a:solidFill>
                <a:effectLst/>
                <a:uLnTx/>
                <a:uFillTx/>
                <a:latin typeface="Times New Roman" panose="02020603050405020304" pitchFamily="18" charset="0"/>
                <a:ea typeface="楷体_GB2312" pitchFamily="49" charset="-122"/>
                <a:cs typeface="+mn-cs"/>
              </a:rPr>
              <a:t> </a:t>
            </a:r>
          </a:p>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en-US" sz="3200" b="1" i="0" u="none" strike="noStrike" kern="0" cap="none" spc="0" normalizeH="0" baseline="0" noProof="1" smtClean="0">
                <a:ln>
                  <a:noFill/>
                </a:ln>
                <a:solidFill>
                  <a:schemeClr val="tx1"/>
                </a:solidFill>
                <a:effectLst/>
                <a:uLnTx/>
                <a:uFillTx/>
                <a:latin typeface="楷体_GB2312" pitchFamily="49" charset="-122"/>
                <a:ea typeface="楷体_GB2312" pitchFamily="49" charset="-122"/>
                <a:cs typeface="+mn-cs"/>
              </a:rPr>
              <a:t>风险评估准备</a:t>
            </a:r>
            <a:endParaRPr kumimoji="0" lang="zh-CN" altLang="en-US"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风险评估准备</a:t>
            </a:r>
            <a:r>
              <a:rPr kumimoji="0" lang="zh-CN" altLang="en-US" sz="2400" b="1" i="0" u="none" strike="noStrike" kern="0" cap="none" spc="0" normalizeH="0" baseline="0" noProof="1">
                <a:ln>
                  <a:noFill/>
                </a:ln>
                <a:solidFill>
                  <a:srgbClr val="000000"/>
                </a:solidFill>
                <a:effectLst/>
                <a:uLnTx/>
                <a:uFillTx/>
                <a:latin typeface="楷体_GB2312" pitchFamily="49" charset="-122"/>
                <a:ea typeface="楷体_GB2312" pitchFamily="49" charset="-122"/>
              </a:rPr>
              <a:t>是整个风险评估过程有效性的保证。其工作主要包括：</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确定</a:t>
            </a:r>
            <a:r>
              <a:rPr kumimoji="0" lang="zh-CN" altLang="en-US" sz="2400" b="1" i="0" u="none" strike="noStrike" kern="0" cap="none" spc="0" normalizeH="0" baseline="0" noProof="1">
                <a:ln>
                  <a:noFill/>
                </a:ln>
                <a:solidFill>
                  <a:srgbClr val="000000"/>
                </a:solidFill>
                <a:effectLst/>
                <a:uLnTx/>
                <a:uFillTx/>
                <a:latin typeface="楷体_GB2312" pitchFamily="49" charset="-122"/>
                <a:ea typeface="楷体_GB2312" pitchFamily="49" charset="-122"/>
              </a:rPr>
              <a:t>风险评估</a:t>
            </a: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目标：</a:t>
            </a:r>
            <a:r>
              <a:rPr kumimoji="0" lang="zh-CN" altLang="en-US" sz="1800" b="1" i="0" u="none" strike="noStrike" kern="0" cap="none" spc="0" normalizeH="0" baseline="0" noProof="1" smtClean="0">
                <a:ln>
                  <a:noFill/>
                </a:ln>
                <a:solidFill>
                  <a:srgbClr val="FF0000"/>
                </a:solidFill>
                <a:effectLst/>
                <a:uLnTx/>
                <a:uFillTx/>
                <a:latin typeface="楷体_GB2312" pitchFamily="49" charset="-122"/>
                <a:ea typeface="楷体_GB2312" pitchFamily="49" charset="-122"/>
              </a:rPr>
              <a:t>是满足组织业务持续发展在安全方面的需要，或符合相关要求、遵守法律法规的规定。</a:t>
            </a:r>
            <a:endParaRPr kumimoji="0" lang="zh-CN" altLang="en-US" sz="1800" b="1" i="0" u="none" strike="noStrike" kern="0" cap="none" spc="0" normalizeH="0" baseline="0" noProof="1">
              <a:ln>
                <a:noFill/>
              </a:ln>
              <a:solidFill>
                <a:srgbClr val="FF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确定</a:t>
            </a:r>
            <a:r>
              <a:rPr kumimoji="0" lang="zh-CN" altLang="en-US" sz="2400" b="1" i="0" u="none" strike="noStrike" kern="0" cap="none" spc="0" normalizeH="0" baseline="0" noProof="1">
                <a:ln>
                  <a:noFill/>
                </a:ln>
                <a:solidFill>
                  <a:srgbClr val="000000"/>
                </a:solidFill>
                <a:effectLst/>
                <a:uLnTx/>
                <a:uFillTx/>
                <a:latin typeface="楷体_GB2312" pitchFamily="49" charset="-122"/>
                <a:ea typeface="楷体_GB2312" pitchFamily="49" charset="-122"/>
              </a:rPr>
              <a:t>风险评估的对象和范围</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组建</a:t>
            </a:r>
            <a:r>
              <a:rPr kumimoji="0" lang="zh-CN" altLang="en-US" sz="2400" b="1" i="0" u="none" strike="noStrike" kern="0" cap="none" spc="0" normalizeH="0" baseline="0" noProof="1">
                <a:ln>
                  <a:noFill/>
                </a:ln>
                <a:solidFill>
                  <a:srgbClr val="000000"/>
                </a:solidFill>
                <a:effectLst/>
                <a:uLnTx/>
                <a:uFillTx/>
                <a:latin typeface="楷体_GB2312" pitchFamily="49" charset="-122"/>
                <a:ea typeface="楷体_GB2312" pitchFamily="49" charset="-122"/>
              </a:rPr>
              <a:t>团队</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选择方法：</a:t>
            </a:r>
            <a:r>
              <a:rPr kumimoji="0" lang="zh-CN" altLang="en-US" sz="1800" b="1" i="0" u="none" strike="noStrike" kern="0" cap="none" spc="0" normalizeH="0" baseline="0" noProof="1">
                <a:ln>
                  <a:noFill/>
                </a:ln>
                <a:solidFill>
                  <a:srgbClr val="FF0000"/>
                </a:solidFill>
                <a:effectLst/>
                <a:uLnTx/>
                <a:uFillTx/>
                <a:latin typeface="楷体_GB2312" pitchFamily="49" charset="-122"/>
                <a:ea typeface="楷体_GB2312" pitchFamily="49" charset="-122"/>
              </a:rPr>
              <a:t>合适的风险判断方法</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获得支持：</a:t>
            </a:r>
            <a:r>
              <a:rPr kumimoji="0" lang="zh-CN" altLang="en-US" sz="1800" b="1" i="0" u="none" strike="noStrike" kern="0" cap="none" spc="0" normalizeH="0" baseline="0" noProof="1">
                <a:ln>
                  <a:noFill/>
                </a:ln>
                <a:solidFill>
                  <a:srgbClr val="FF0000"/>
                </a:solidFill>
                <a:effectLst/>
                <a:uLnTx/>
                <a:uFillTx/>
                <a:latin typeface="楷体_GB2312" pitchFamily="49" charset="-122"/>
                <a:ea typeface="楷体_GB2312" pitchFamily="49" charset="-122"/>
              </a:rPr>
              <a:t>获得组织管理者的支持、批准。</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准备</a:t>
            </a:r>
            <a:r>
              <a:rPr kumimoji="0" lang="zh-CN" altLang="en-US" sz="2400" b="1" i="0" u="none" strike="noStrike" kern="0" cap="none" spc="0" normalizeH="0" baseline="0" noProof="1">
                <a:ln>
                  <a:noFill/>
                </a:ln>
                <a:solidFill>
                  <a:srgbClr val="000000"/>
                </a:solidFill>
                <a:effectLst/>
                <a:uLnTx/>
                <a:uFillTx/>
                <a:latin typeface="楷体_GB2312" pitchFamily="49" charset="-122"/>
                <a:ea typeface="楷体_GB2312" pitchFamily="49" charset="-122"/>
              </a:rPr>
              <a:t>相关的评估</a:t>
            </a:r>
            <a:r>
              <a:rPr kumimoji="0" lang="zh-CN" altLang="en-US" sz="24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rPr>
              <a:t>工具：</a:t>
            </a:r>
            <a:r>
              <a:rPr kumimoji="0" lang="zh-CN" altLang="en-US" sz="1800" b="1" i="0" u="none" strike="noStrike" kern="0" cap="none" spc="0" normalizeH="0" baseline="0" noProof="1">
                <a:ln>
                  <a:noFill/>
                </a:ln>
                <a:solidFill>
                  <a:srgbClr val="FF0000"/>
                </a:solidFill>
                <a:effectLst/>
                <a:uLnTx/>
                <a:uFillTx/>
                <a:latin typeface="楷体_GB2312" pitchFamily="49" charset="-122"/>
                <a:ea typeface="楷体_GB2312" pitchFamily="49" charset="-122"/>
              </a:rPr>
              <a:t>信息收集工具、数据及文档管理工具，如漏洞扫描工具、渗透性测试工具，评估数据管理相关系统等。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wipe(down)">
                                      <p:cBhvr>
                                        <p:cTn id="20" dur="500"/>
                                        <p:tgtEl>
                                          <p:spTgt spid="2">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heel(1)">
                                      <p:cBhvr>
                                        <p:cTn id="25" dur="2000"/>
                                        <p:tgtEl>
                                          <p:spTgt spid="2">
                                            <p:txEl>
                                              <p:pRg st="6" end="6"/>
                                            </p:txEl>
                                          </p:spTgt>
                                        </p:tgtEl>
                                      </p:cBhvr>
                                    </p:animEffect>
                                  </p:childTnLst>
                                </p:cTn>
                              </p:par>
                              <p:par>
                                <p:cTn id="26" presetID="21" presetClass="entr" presetSubtype="1"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wheel(1)">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wheel(1)">
                                      <p:cBhvr>
                                        <p:cTn id="33"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17410" name="内容占位符 2"/>
          <p:cNvSpPr>
            <a:spLocks noGrp="1" noChangeArrowheads="1"/>
          </p:cNvSpPr>
          <p:nvPr>
            <p:ph idx="1"/>
          </p:nvPr>
        </p:nvSpPr>
        <p:spPr>
          <a:xfrm>
            <a:off x="276225" y="1066800"/>
            <a:ext cx="8639175"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资产识别与评估</a:t>
            </a:r>
            <a:endParaRPr kumimoji="0" lang="en-US" altLang="zh-CN"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1、</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资产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识别</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资产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是指对组织具有价值的信息资源。资产识别是风险识别的必要环节。</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资产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识别的</a:t>
            </a:r>
            <a:r>
              <a:rPr kumimoji="0" lang="zh-CN" altLang="en-US" sz="28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任务：</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就是</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对确定的评估对象所涉及或包含的资产进行详细的标识，由于它以多种形式存在，有无形的、有形的。</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资产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识别的</a:t>
            </a:r>
            <a:r>
              <a:rPr kumimoji="0" lang="zh-CN" altLang="en-US" sz="28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方法：</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主要</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有访谈、现场调查、问卷、文档查阅等。</a:t>
            </a: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7410">
                                            <p:txEl>
                                              <p:pRg st="2" end="2"/>
                                            </p:txEl>
                                          </p:spTgt>
                                        </p:tgtEl>
                                        <p:attrNameLst>
                                          <p:attrName>style.visibility</p:attrName>
                                        </p:attrNameLst>
                                      </p:cBhvr>
                                      <p:to>
                                        <p:strVal val="visible"/>
                                      </p:to>
                                    </p:set>
                                    <p:animEffect transition="in" filter="wheel(1)">
                                      <p:cBhvr>
                                        <p:cTn id="7" dur="2000"/>
                                        <p:tgtEl>
                                          <p:spTgt spid="174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410">
                                            <p:txEl>
                                              <p:pRg st="3" end="3"/>
                                            </p:txEl>
                                          </p:spTgt>
                                        </p:tgtEl>
                                        <p:attrNameLst>
                                          <p:attrName>style.visibility</p:attrName>
                                        </p:attrNameLst>
                                      </p:cBhvr>
                                      <p:to>
                                        <p:strVal val="visible"/>
                                      </p:to>
                                    </p:set>
                                    <p:animEffect transition="in" filter="fade">
                                      <p:cBhvr>
                                        <p:cTn id="12" dur="1000"/>
                                        <p:tgtEl>
                                          <p:spTgt spid="17410">
                                            <p:txEl>
                                              <p:pRg st="3" end="3"/>
                                            </p:txEl>
                                          </p:spTgt>
                                        </p:tgtEl>
                                      </p:cBhvr>
                                    </p:animEffect>
                                    <p:anim calcmode="lin" valueType="num">
                                      <p:cBhvr>
                                        <p:cTn id="13" dur="1000" fill="hold"/>
                                        <p:tgtEl>
                                          <p:spTgt spid="174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74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7410">
                                            <p:txEl>
                                              <p:pRg st="4" end="4"/>
                                            </p:txEl>
                                          </p:spTgt>
                                        </p:tgtEl>
                                        <p:attrNameLst>
                                          <p:attrName>style.visibility</p:attrName>
                                        </p:attrNameLst>
                                      </p:cBhvr>
                                      <p:to>
                                        <p:strVal val="visible"/>
                                      </p:to>
                                    </p:set>
                                    <p:animEffect transition="in" filter="circle(in)">
                                      <p:cBhvr>
                                        <p:cTn id="19" dur="2000"/>
                                        <p:tgtEl>
                                          <p:spTgt spid="174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18434" name="内容占位符 2"/>
          <p:cNvSpPr>
            <a:spLocks noGrp="1" noChangeArrowheads="1"/>
          </p:cNvSpPr>
          <p:nvPr>
            <p:ph idx="1"/>
          </p:nvPr>
        </p:nvSpPr>
        <p:spPr>
          <a:xfrm>
            <a:off x="304800" y="1066800"/>
            <a:ext cx="8686800" cy="5334000"/>
          </a:xfrm>
        </p:spPr>
        <p:txBody>
          <a:bodyPr vert="horz" wrap="square" lIns="91440" tIns="45720" rIns="91440" bIns="45720" numCol="1" anchor="t" anchorCtr="0" compatLnSpc="1"/>
          <a:lstStyle/>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2、资产评估</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资产的评价是对资产的价值或重要程度进行评估</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，资产本身的货币价值是资产价值的体现，但</a:t>
            </a:r>
            <a:r>
              <a:rPr kumimoji="0" lang="en-US"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更重要的是资产对组织关键业务的顺利开展乃至组织目标实现的</a:t>
            </a:r>
            <a:r>
              <a:rPr kumimoji="0" lang="en-US" altLang="zh-CN" sz="2400" b="1" i="0" u="sng"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楷体_GB2312" pitchFamily="49" charset="-122"/>
                <a:ea typeface="楷体_GB2312" pitchFamily="49" charset="-122"/>
              </a:rPr>
              <a:t>重要程度</a:t>
            </a:r>
            <a:r>
              <a:rPr kumimoji="0" lang="en-US"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通常</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信息资产的机密性、完整性、可用性、可审计性和不可抵赖性等是评价资产的安全属性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a:t>
            </a:r>
            <a:r>
              <a:rPr kumimoji="0" lang="zh-CN"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安全风险评估中资产的价值可由资产在这些安全属性上的</a:t>
            </a:r>
            <a:r>
              <a:rPr kumimoji="0" lang="zh-CN"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达成程度</a:t>
            </a:r>
            <a:r>
              <a:rPr kumimoji="0" lang="zh-CN"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或者其安全属性未达成时所造成的</a:t>
            </a:r>
            <a:r>
              <a:rPr kumimoji="0" lang="zh-CN"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影响程度</a:t>
            </a:r>
            <a:r>
              <a:rPr kumimoji="0" lang="zh-CN"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来决定的</a:t>
            </a:r>
            <a:r>
              <a:rPr kumimoji="0" lang="zh-CN"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表1</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表2</a:t>
            </a:r>
            <a:r>
              <a:rPr kumimoji="0" lang="zh-CN" altLang="en-US" sz="2400" b="1" i="0" u="none" strike="noStrike" kern="0" cap="none" spc="0" normalizeH="0" baseline="0" noProof="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smtClean="0">
                <a:ln>
                  <a:noFill/>
                </a:ln>
                <a:solidFill>
                  <a:srgbClr val="000000"/>
                </a:solidFill>
                <a:effectLst/>
                <a:uLnTx/>
                <a:uFillTx/>
                <a:latin typeface="楷体_GB2312" pitchFamily="49" charset="-122"/>
                <a:ea typeface="楷体_GB2312" pitchFamily="49" charset="-122"/>
              </a:rPr>
              <a:t>表3</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分别给出</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了资产的机密性</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、完整性、可用性参考赋值表。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barn(inVertical)">
                                      <p:cBhvr>
                                        <p:cTn id="7" dur="500"/>
                                        <p:tgtEl>
                                          <p:spTgt spid="184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434">
                                            <p:txEl>
                                              <p:pRg st="2" end="2"/>
                                            </p:txEl>
                                          </p:spTgt>
                                        </p:tgtEl>
                                        <p:attrNameLst>
                                          <p:attrName>style.visibility</p:attrName>
                                        </p:attrNameLst>
                                      </p:cBhvr>
                                      <p:to>
                                        <p:strVal val="visible"/>
                                      </p:to>
                                    </p:set>
                                    <p:animEffect transition="in" filter="wipe(down)">
                                      <p:cBhvr>
                                        <p:cTn id="12" dur="500"/>
                                        <p:tgtEl>
                                          <p:spTgt spid="184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Effect transition="in" filter="fade">
                                      <p:cBhvr>
                                        <p:cTn id="17" dur="1000"/>
                                        <p:tgtEl>
                                          <p:spTgt spid="18434">
                                            <p:txEl>
                                              <p:pRg st="3" end="3"/>
                                            </p:txEl>
                                          </p:spTgt>
                                        </p:tgtEl>
                                      </p:cBhvr>
                                    </p:animEffect>
                                    <p:anim calcmode="lin" valueType="num">
                                      <p:cBhvr>
                                        <p:cTn id="18" dur="1000" fill="hold"/>
                                        <p:tgtEl>
                                          <p:spTgt spid="1843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843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8434">
                                            <p:txEl>
                                              <p:pRg st="4" end="4"/>
                                            </p:txEl>
                                          </p:spTgt>
                                        </p:tgtEl>
                                        <p:attrNameLst>
                                          <p:attrName>style.visibility</p:attrName>
                                        </p:attrNameLst>
                                      </p:cBhvr>
                                      <p:to>
                                        <p:strVal val="visible"/>
                                      </p:to>
                                    </p:set>
                                    <p:animEffect transition="in" filter="wipe(down)">
                                      <p:cBhvr>
                                        <p:cTn id="24" dur="500"/>
                                        <p:tgtEl>
                                          <p:spTgt spid="184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19459" name="内容占位符 2"/>
          <p:cNvSpPr>
            <a:spLocks noGrp="1"/>
          </p:cNvSpPr>
          <p:nvPr>
            <p:ph idx="1"/>
          </p:nvPr>
        </p:nvSpPr>
        <p:spPr>
          <a:xfrm>
            <a:off x="304800" y="381000"/>
            <a:ext cx="8229600" cy="609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1">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1">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1">
              <a:ln>
                <a:noFill/>
              </a:ln>
              <a:solidFill>
                <a:schemeClr val="tx1"/>
              </a:solidFill>
              <a:effectLst/>
              <a:uLnTx/>
              <a:uFillTx/>
              <a:latin typeface="+mn-lt"/>
              <a:ea typeface="楷体_GB2312" pitchFamily="49" charset="-122"/>
              <a:cs typeface="+mn-cs"/>
            </a:endParaRPr>
          </a:p>
        </p:txBody>
      </p:sp>
      <p:pic>
        <p:nvPicPr>
          <p:cNvPr id="18436" name="图片 2"/>
          <p:cNvPicPr>
            <a:picLocks noChangeAspect="1"/>
          </p:cNvPicPr>
          <p:nvPr/>
        </p:nvPicPr>
        <p:blipFill>
          <a:blip r:embed="rId2"/>
          <a:stretch>
            <a:fillRect/>
          </a:stretch>
        </p:blipFill>
        <p:spPr>
          <a:xfrm>
            <a:off x="342900" y="1162050"/>
            <a:ext cx="8153400" cy="5276850"/>
          </a:xfrm>
          <a:prstGeom prst="rect">
            <a:avLst/>
          </a:prstGeom>
          <a:noFill/>
          <a:ln w="9525">
            <a:noFill/>
          </a:ln>
        </p:spPr>
      </p:pic>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信息安全风险评估过程</a:t>
            </a:r>
            <a:endParaRPr lang="zh-CN" altLang="en-US" dirty="0">
              <a:ea typeface="宋体" panose="02010600030101010101" pitchFamily="2" charset="-122"/>
            </a:endParaRPr>
          </a:p>
        </p:txBody>
      </p:sp>
      <p:pic>
        <p:nvPicPr>
          <p:cNvPr id="19459" name="图片 1"/>
          <p:cNvPicPr>
            <a:picLocks noChangeAspect="1"/>
          </p:cNvPicPr>
          <p:nvPr/>
        </p:nvPicPr>
        <p:blipFill>
          <a:blip r:embed="rId2"/>
          <a:stretch>
            <a:fillRect/>
          </a:stretch>
        </p:blipFill>
        <p:spPr>
          <a:xfrm>
            <a:off x="533400" y="1219200"/>
            <a:ext cx="8043863" cy="3768725"/>
          </a:xfrm>
          <a:prstGeom prst="rect">
            <a:avLst/>
          </a:prstGeom>
          <a:noFill/>
          <a:ln w="9525">
            <a:noFill/>
          </a:ln>
        </p:spPr>
      </p:pic>
      <p:sp>
        <p:nvSpPr>
          <p:cNvPr id="19460" name="文本框 2"/>
          <p:cNvSpPr txBox="1"/>
          <p:nvPr/>
        </p:nvSpPr>
        <p:spPr>
          <a:xfrm>
            <a:off x="838200" y="5268913"/>
            <a:ext cx="7010400" cy="492125"/>
          </a:xfrm>
          <a:prstGeom prst="rect">
            <a:avLst/>
          </a:prstGeom>
          <a:noFill/>
          <a:ln w="9525">
            <a:noFill/>
          </a:ln>
        </p:spPr>
        <p:txBody>
          <a:bodyPr>
            <a:spAutoFit/>
          </a:bodyPr>
          <a:lstStyle/>
          <a:p>
            <a:r>
              <a:rPr lang="zh-CN" altLang="en-US" dirty="0">
                <a:latin typeface="Times New Roman" panose="02020603050405020304" pitchFamily="18" charset="0"/>
              </a:rPr>
              <a:t>综合评价原则：</a:t>
            </a:r>
            <a:r>
              <a:rPr lang="zh-CN" altLang="en-US" dirty="0">
                <a:solidFill>
                  <a:srgbClr val="FF0000"/>
                </a:solidFill>
                <a:latin typeface="Times New Roman" panose="02020603050405020304" pitchFamily="18" charset="0"/>
              </a:rPr>
              <a:t>最大原则、加权原则</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19459" name="内容占位符 2"/>
          <p:cNvSpPr>
            <a:spLocks noGrp="1"/>
          </p:cNvSpPr>
          <p:nvPr>
            <p:ph idx="1"/>
          </p:nvPr>
        </p:nvSpPr>
        <p:spPr>
          <a:xfrm>
            <a:off x="304800" y="381000"/>
            <a:ext cx="8229600" cy="609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1">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1">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1">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1">
              <a:ln>
                <a:noFill/>
              </a:ln>
              <a:solidFill>
                <a:schemeClr val="tx1"/>
              </a:solidFill>
              <a:effectLst/>
              <a:uLnTx/>
              <a:uFillTx/>
              <a:latin typeface="+mn-lt"/>
              <a:ea typeface="楷体_GB2312" pitchFamily="49" charset="-122"/>
              <a:cs typeface="+mn-cs"/>
            </a:endParaRPr>
          </a:p>
        </p:txBody>
      </p:sp>
      <p:sp>
        <p:nvSpPr>
          <p:cNvPr id="2" name="内容占位符 2"/>
          <p:cNvSpPr>
            <a:spLocks noGrp="1" noChangeArrowheads="1"/>
          </p:cNvSpPr>
          <p:nvPr>
            <p:custDataLst>
              <p:tags r:id="rId1"/>
            </p:custDataLst>
          </p:nvPr>
        </p:nvSpPr>
        <p:spPr>
          <a:xfrm>
            <a:off x="304800" y="1066800"/>
            <a:ext cx="8686800" cy="53340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2、资产评估</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信息资产的机密性、完整性、可用性、可审计性和不可抵赖性的赋值是</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VAc VAi VAa VAac VAn</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，综合价值记为</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VA</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p>
          <a:p>
            <a:pPr marL="742950" marR="0" lvl="1" indent="-285750" algn="l" defTabSz="914400" rtl="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最大原则：</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最大原则就是选取最大的某一方面的赋值作为综合评价值，即：</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VA=max{ </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VAc,VAi,VAa,VAac,VAn</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ts val="1200"/>
              </a:spcBef>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加权原则：</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根据几大特性保护对组织开展的影响大小，赋予一非负的</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权值</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Wc Wi Wa Wac Wn</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Wc+Wi+Wa+Wac+Wn=1</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综合机制加权求得，即</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VA=</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VAc*</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Wc</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+VAi*</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Wi</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+VAa*</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Wa</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+VAac*</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Wac</a:t>
            </a:r>
            <a:r>
              <a:rPr lang="en-US" altLang="zh-CN" sz="2400" b="1" kern="0" noProof="0" dirty="0">
                <a:ln>
                  <a:noFill/>
                </a:ln>
                <a:solidFill>
                  <a:srgbClr val="000000"/>
                </a:solidFill>
                <a:effectLst/>
                <a:uLnTx/>
                <a:uFillTx/>
                <a:latin typeface="楷体_GB2312" pitchFamily="49" charset="-122"/>
                <a:ea typeface="楷体_GB2312" pitchFamily="49" charset="-122"/>
                <a:sym typeface="+mn-ea"/>
              </a:rPr>
              <a:t>+VAn*</a:t>
            </a:r>
            <a:r>
              <a:rPr lang="en-US" altLang="zh-CN" sz="2400" b="1" kern="0" noProof="0" dirty="0" smtClean="0">
                <a:ln>
                  <a:noFill/>
                </a:ln>
                <a:solidFill>
                  <a:srgbClr val="000000"/>
                </a:solidFill>
                <a:effectLst/>
                <a:uLnTx/>
                <a:uFillTx/>
                <a:latin typeface="楷体_GB2312" pitchFamily="49" charset="-122"/>
                <a:ea typeface="楷体_GB2312" pitchFamily="49" charset="-122"/>
                <a:sym typeface="+mn-ea"/>
              </a:rPr>
              <a:t>Wn</a:t>
            </a:r>
            <a:endPar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19459" name="内容占位符 2"/>
          <p:cNvSpPr>
            <a:spLocks noGrp="1" noChangeArrowheads="1"/>
          </p:cNvSpPr>
          <p:nvPr>
            <p:ph idx="1"/>
          </p:nvPr>
        </p:nvSpPr>
        <p:spPr>
          <a:xfrm>
            <a:off x="304800" y="457200"/>
            <a:ext cx="8763000" cy="6019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p>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chemeClr val="tx1"/>
                </a:solidFill>
                <a:effectLst/>
                <a:uLnTx/>
                <a:uFillTx/>
                <a:latin typeface="楷体_GB2312"/>
                <a:ea typeface="楷体_GB2312"/>
                <a:cs typeface="楷体_GB2312"/>
              </a:rPr>
              <a:t>威胁识别与评估</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a:ea typeface="楷体_GB2312"/>
                <a:cs typeface="楷体_GB2312"/>
              </a:rPr>
              <a:t>威胁识别</a:t>
            </a:r>
            <a:endParaRPr kumimoji="0" lang="en-US" altLang="zh-CN" sz="28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威胁识别的任务是对组织资产面临的威胁进行全面的标识。</a:t>
            </a:r>
            <a:endPar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从威胁源角度，威胁可分为：自然威胁、环境威胁、系统威胁、外部人员威胁、内部人员威胁。</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ISO13335-3列举了常用的威胁：</a:t>
            </a:r>
            <a:r>
              <a:rPr kumimoji="0" lang="zh-CN" altLang="zh-CN" sz="1400" b="0" i="0" u="none" strike="noStrike" kern="0" cap="none" spc="0" normalizeH="0" baseline="0" noProof="0" dirty="0" smtClean="0">
                <a:ln>
                  <a:noFill/>
                </a:ln>
                <a:solidFill>
                  <a:schemeClr val="tx1"/>
                </a:solidFill>
                <a:effectLst/>
                <a:uLnTx/>
                <a:uFillTx/>
                <a:latin typeface="+mn-lt"/>
                <a:ea typeface="宋体" panose="02010600030101010101" pitchFamily="2" charset="-122"/>
              </a:rPr>
              <a:t>地震、洪水、飓风、闪电、工业活动、炸弹攻击、使用武力、火灾、恶意破坏、断电、水供应故障、空调故障、硬件失效、电力波动、极端的温度和湿度、灰尘 、电磁辐射、静电干扰、偷窃、存储介质的未授权的使用、存储介质的老化、操作人员错误、维护错误、软件失效、软件被未授权用户使用、以未授权方式使用软件、用户身份冒充、软件的非法使用、恶意软件、软件的非法进口</a:t>
            </a:r>
            <a:r>
              <a:rPr kumimoji="0" lang="en-US" altLang="zh-CN" sz="1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zh-CN" sz="1400" b="0" i="0" u="none" strike="noStrike" kern="0" cap="none" spc="0" normalizeH="0" baseline="0" noProof="0" dirty="0" smtClean="0">
                <a:ln>
                  <a:noFill/>
                </a:ln>
                <a:solidFill>
                  <a:schemeClr val="tx1"/>
                </a:solidFill>
                <a:effectLst/>
                <a:uLnTx/>
                <a:uFillTx/>
                <a:latin typeface="+mn-lt"/>
                <a:ea typeface="宋体" panose="02010600030101010101" pitchFamily="2" charset="-122"/>
              </a:rPr>
              <a:t>出口、未授权用户的网络访问、用未授权的方式使用网络设备、网络组件的技术性失效、传输错误、线路损坏、流量过载、窃听、通信渗透、流量分析、信息的错误路径、信息重选路由、抵赖、通讯服务失效（如网络服务）、人员短缺、用户错误、资源的滥用。</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animEffect transition="in" filter="barn(inVertical)">
                                      <p:cBhvr>
                                        <p:cTn id="7" dur="500"/>
                                        <p:tgtEl>
                                          <p:spTgt spid="1945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4" end="4"/>
                                            </p:txEl>
                                          </p:spTgt>
                                        </p:tgtEl>
                                        <p:attrNameLst>
                                          <p:attrName>style.visibility</p:attrName>
                                        </p:attrNameLst>
                                      </p:cBhvr>
                                      <p:to>
                                        <p:strVal val="visible"/>
                                      </p:to>
                                    </p:set>
                                    <p:animEffect transition="in" filter="wipe(down)">
                                      <p:cBhvr>
                                        <p:cTn id="12" dur="500"/>
                                        <p:tgtEl>
                                          <p:spTgt spid="1945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9459">
                                            <p:txEl>
                                              <p:pRg st="5" end="5"/>
                                            </p:txEl>
                                          </p:spTgt>
                                        </p:tgtEl>
                                        <p:attrNameLst>
                                          <p:attrName>style.visibility</p:attrName>
                                        </p:attrNameLst>
                                      </p:cBhvr>
                                      <p:to>
                                        <p:strVal val="visible"/>
                                      </p:to>
                                    </p:set>
                                    <p:animEffect transition="in" filter="circle(in)">
                                      <p:cBhvr>
                                        <p:cTn id="1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0483" name="内容占位符 2"/>
          <p:cNvSpPr>
            <a:spLocks noGrp="1" noChangeArrowheads="1"/>
          </p:cNvSpPr>
          <p:nvPr>
            <p:ph idx="1"/>
          </p:nvPr>
        </p:nvSpPr>
        <p:spPr>
          <a:xfrm>
            <a:off x="304800" y="457200"/>
            <a:ext cx="8534400" cy="6019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p>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chemeClr val="tx1"/>
                </a:solidFill>
                <a:effectLst/>
                <a:uLnTx/>
                <a:uFillTx/>
                <a:latin typeface="楷体_GB2312"/>
                <a:ea typeface="楷体_GB2312"/>
                <a:cs typeface="楷体_GB2312"/>
              </a:rPr>
              <a:t>威胁识别与评估</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楷体_GB2312"/>
              </a:rPr>
              <a:t>威胁识别</a:t>
            </a:r>
            <a:endParaRPr kumimoji="0" lang="en-US" altLang="zh-CN" sz="24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OCTAVE</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Operationally Critical Threat</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Asset</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and Vulnerability Evaluation</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，可操作的关键威胁、资产和薄弱点评估）是由美国卡耐基</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梅隆大学软件工程研究所下属的</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CERT</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协调中心开发的用以定义</a:t>
            </a:r>
            <a:r>
              <a:rPr kumimoji="0" lang="zh-CN" altLang="en-US"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一种系统的、组织范围内的评估信息安全风险的方法</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OCTAVE</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则通过建立威胁配置文件来进行威胁识别与分析</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威胁。配置文件包括5个属性，分别是：</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资产（assert）、</a:t>
            </a:r>
            <a:endPar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访问（access）、</a:t>
            </a:r>
            <a:endPar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主体（actor）、</a:t>
            </a:r>
            <a:endPar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动机（motive）、</a:t>
            </a:r>
            <a:endPar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后果（outcome）。</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483">
                                            <p:txEl>
                                              <p:pRg st="3" end="3"/>
                                            </p:txEl>
                                          </p:spTgt>
                                        </p:tgtEl>
                                        <p:attrNameLst>
                                          <p:attrName>style.visibility</p:attrName>
                                        </p:attrNameLst>
                                      </p:cBhvr>
                                      <p:to>
                                        <p:strVal val="visible"/>
                                      </p:to>
                                    </p:set>
                                    <p:animEffect transition="in" filter="barn(inVertical)">
                                      <p:cBhvr>
                                        <p:cTn id="7" dur="500"/>
                                        <p:tgtEl>
                                          <p:spTgt spid="2048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483">
                                            <p:txEl>
                                              <p:pRg st="4" end="4"/>
                                            </p:txEl>
                                          </p:spTgt>
                                        </p:tgtEl>
                                        <p:attrNameLst>
                                          <p:attrName>style.visibility</p:attrName>
                                        </p:attrNameLst>
                                      </p:cBhvr>
                                      <p:to>
                                        <p:strVal val="visible"/>
                                      </p:to>
                                    </p:set>
                                    <p:animEffect transition="in" filter="wipe(down)">
                                      <p:cBhvr>
                                        <p:cTn id="12" dur="500"/>
                                        <p:tgtEl>
                                          <p:spTgt spid="20483">
                                            <p:txEl>
                                              <p:pRg st="4" end="4"/>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0483">
                                            <p:txEl>
                                              <p:pRg st="5" end="5"/>
                                            </p:txEl>
                                          </p:spTgt>
                                        </p:tgtEl>
                                        <p:attrNameLst>
                                          <p:attrName>style.visibility</p:attrName>
                                        </p:attrNameLst>
                                      </p:cBhvr>
                                      <p:to>
                                        <p:strVal val="visible"/>
                                      </p:to>
                                    </p:set>
                                    <p:animEffect transition="in" filter="wipe(down)">
                                      <p:cBhvr>
                                        <p:cTn id="15" dur="500"/>
                                        <p:tgtEl>
                                          <p:spTgt spid="20483">
                                            <p:txEl>
                                              <p:pRg st="5" end="5"/>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0483">
                                            <p:txEl>
                                              <p:pRg st="6" end="6"/>
                                            </p:txEl>
                                          </p:spTgt>
                                        </p:tgtEl>
                                        <p:attrNameLst>
                                          <p:attrName>style.visibility</p:attrName>
                                        </p:attrNameLst>
                                      </p:cBhvr>
                                      <p:to>
                                        <p:strVal val="visible"/>
                                      </p:to>
                                    </p:set>
                                    <p:animEffect transition="in" filter="wipe(down)">
                                      <p:cBhvr>
                                        <p:cTn id="18" dur="500"/>
                                        <p:tgtEl>
                                          <p:spTgt spid="20483">
                                            <p:txEl>
                                              <p:pRg st="6" end="6"/>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animEffect transition="in" filter="wipe(down)">
                                      <p:cBhvr>
                                        <p:cTn id="21" dur="500"/>
                                        <p:tgtEl>
                                          <p:spTgt spid="20483">
                                            <p:txEl>
                                              <p:pRg st="7" end="7"/>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0483">
                                            <p:txEl>
                                              <p:pRg st="8" end="8"/>
                                            </p:txEl>
                                          </p:spTgt>
                                        </p:tgtEl>
                                        <p:attrNameLst>
                                          <p:attrName>style.visibility</p:attrName>
                                        </p:attrNameLst>
                                      </p:cBhvr>
                                      <p:to>
                                        <p:strVal val="visible"/>
                                      </p:to>
                                    </p:set>
                                    <p:animEffect transition="in" filter="wipe(down)">
                                      <p:cBhvr>
                                        <p:cTn id="24" dur="500"/>
                                        <p:tgtEl>
                                          <p:spTgt spid="20483">
                                            <p:txEl>
                                              <p:pRg st="8" end="8"/>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20483">
                                            <p:txEl>
                                              <p:pRg st="9" end="9"/>
                                            </p:txEl>
                                          </p:spTgt>
                                        </p:tgtEl>
                                        <p:attrNameLst>
                                          <p:attrName>style.visibility</p:attrName>
                                        </p:attrNameLst>
                                      </p:cBhvr>
                                      <p:to>
                                        <p:strVal val="visible"/>
                                      </p:to>
                                    </p:set>
                                    <p:animEffect transition="in" filter="wipe(down)">
                                      <p:cBhvr>
                                        <p:cTn id="27" dur="500"/>
                                        <p:tgtEl>
                                          <p:spTgt spid="204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pic>
        <p:nvPicPr>
          <p:cNvPr id="22531" name="图片 1"/>
          <p:cNvPicPr>
            <a:picLocks noChangeAspect="1"/>
          </p:cNvPicPr>
          <p:nvPr/>
        </p:nvPicPr>
        <p:blipFill>
          <a:blip r:embed="rId2"/>
          <a:stretch>
            <a:fillRect/>
          </a:stretch>
        </p:blipFill>
        <p:spPr>
          <a:xfrm>
            <a:off x="381000" y="1371600"/>
            <a:ext cx="8351838" cy="4913313"/>
          </a:xfrm>
          <a:prstGeom prst="rect">
            <a:avLst/>
          </a:prstGeom>
          <a:noFill/>
          <a:ln w="9525">
            <a:noFill/>
          </a:ln>
        </p:spPr>
      </p:pic>
      <p:sp>
        <p:nvSpPr>
          <p:cNvPr id="22532" name="矩形 4"/>
          <p:cNvSpPr/>
          <p:nvPr/>
        </p:nvSpPr>
        <p:spPr>
          <a:xfrm>
            <a:off x="5029200" y="1357313"/>
            <a:ext cx="71438" cy="4930775"/>
          </a:xfrm>
          <a:prstGeom prst="rect">
            <a:avLst/>
          </a:prstGeom>
          <a:solidFill>
            <a:schemeClr val="accent1"/>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2531" name="内容占位符 2"/>
          <p:cNvSpPr>
            <a:spLocks noGrp="1"/>
          </p:cNvSpPr>
          <p:nvPr>
            <p:ph idx="1"/>
          </p:nvPr>
        </p:nvSpPr>
        <p:spPr>
          <a:xfrm>
            <a:off x="295275" y="1066800"/>
            <a:ext cx="8229600" cy="54102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latin typeface="Times New Roman" panose="02020603050405020304" pitchFamily="18" charset="0"/>
                <a:ea typeface="楷体_GB2312" pitchFamily="49" charset="-122"/>
              </a:rPr>
              <a:t> </a:t>
            </a:r>
            <a:r>
              <a:rPr lang="en-US" altLang="zh-CN" b="1" dirty="0">
                <a:latin typeface="楷体_GB2312" pitchFamily="49" charset="-122"/>
                <a:ea typeface="楷体_GB2312" pitchFamily="49" charset="-122"/>
              </a:rPr>
              <a:t> </a:t>
            </a:r>
            <a:r>
              <a:rPr lang="en-US" altLang="zh-CN" b="1" dirty="0">
                <a:solidFill>
                  <a:srgbClr val="000000"/>
                </a:solidFill>
                <a:latin typeface="楷体_GB2312" pitchFamily="49" charset="-122"/>
                <a:ea typeface="楷体_GB2312" pitchFamily="49" charset="-122"/>
              </a:rPr>
              <a:t>威胁评估</a:t>
            </a:r>
          </a:p>
          <a:p>
            <a:pPr lvl="1" eaLnBrk="1" hangingPunct="1">
              <a:spcAft>
                <a:spcPct val="20000"/>
              </a:spcAft>
              <a:buClr>
                <a:srgbClr val="AC04A0"/>
              </a:buClr>
            </a:pPr>
            <a:r>
              <a:rPr lang="zh-CN" altLang="zh-CN" sz="2400" dirty="0">
                <a:ea typeface="宋体" panose="02010600030101010101" pitchFamily="2" charset="-122"/>
              </a:rPr>
              <a:t>安全风险的大小是由安全事件发生的</a:t>
            </a:r>
            <a:r>
              <a:rPr lang="zh-CN" altLang="zh-CN" sz="2400" dirty="0">
                <a:solidFill>
                  <a:srgbClr val="FF0000"/>
                </a:solidFill>
                <a:ea typeface="宋体" panose="02010600030101010101" pitchFamily="2" charset="-122"/>
              </a:rPr>
              <a:t>可能性</a:t>
            </a:r>
            <a:r>
              <a:rPr lang="zh-CN" altLang="zh-CN" sz="2400" dirty="0">
                <a:ea typeface="宋体" panose="02010600030101010101" pitchFamily="2" charset="-122"/>
              </a:rPr>
              <a:t>以及它造成的</a:t>
            </a:r>
            <a:r>
              <a:rPr lang="zh-CN" altLang="zh-CN" sz="2400" dirty="0">
                <a:solidFill>
                  <a:srgbClr val="FF0000"/>
                </a:solidFill>
                <a:ea typeface="宋体" panose="02010600030101010101" pitchFamily="2" charset="-122"/>
              </a:rPr>
              <a:t>影响</a:t>
            </a:r>
            <a:r>
              <a:rPr lang="zh-CN" altLang="zh-CN" sz="2400" dirty="0">
                <a:ea typeface="宋体" panose="02010600030101010101" pitchFamily="2" charset="-122"/>
              </a:rPr>
              <a:t>决定</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安全事件发生的可能性与威胁出现的</a:t>
            </a:r>
            <a:r>
              <a:rPr lang="zh-CN" altLang="zh-CN" sz="2400" dirty="0">
                <a:solidFill>
                  <a:srgbClr val="FF0000"/>
                </a:solidFill>
                <a:ea typeface="宋体" panose="02010600030101010101" pitchFamily="2" charset="-122"/>
              </a:rPr>
              <a:t>频率</a:t>
            </a:r>
            <a:r>
              <a:rPr lang="zh-CN" altLang="zh-CN" sz="2400" dirty="0">
                <a:ea typeface="宋体" panose="02010600030101010101" pitchFamily="2" charset="-122"/>
              </a:rPr>
              <a:t>有关</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安全事件的影响则与威胁的</a:t>
            </a:r>
            <a:r>
              <a:rPr lang="zh-CN" altLang="zh-CN" sz="2400" dirty="0">
                <a:solidFill>
                  <a:srgbClr val="FF0000"/>
                </a:solidFill>
                <a:ea typeface="宋体" panose="02010600030101010101" pitchFamily="2" charset="-122"/>
              </a:rPr>
              <a:t>强度或破坏能力</a:t>
            </a:r>
            <a:r>
              <a:rPr lang="zh-CN" altLang="zh-CN" sz="2400" dirty="0">
                <a:ea typeface="宋体" panose="02010600030101010101" pitchFamily="2" charset="-122"/>
              </a:rPr>
              <a:t>有关，如地震的等级或破坏力等。</a:t>
            </a:r>
            <a:endParaRPr lang="en-US" altLang="zh-CN" sz="2400"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威胁评估就是对威胁出现的频率及强度进行评估，这是风险评估的重要环节。</a:t>
            </a:r>
            <a:endParaRPr lang="en-US" altLang="zh-CN" sz="2400"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评估者应根据经验和（或）有关的统计数据来分析威胁出现的频率及其强度或破坏能力。</a:t>
            </a:r>
            <a:endParaRPr lang="zh-CN" altLang="en-US" sz="2400"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arn(inVertical)">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circle(in)">
                                      <p:cBhvr>
                                        <p:cTn id="12" dur="2000"/>
                                        <p:tgtEl>
                                          <p:spTgt spid="22531">
                                            <p:txEl>
                                              <p:pRg st="2" end="2"/>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animEffect transition="in" filter="circle(in)">
                                      <p:cBhvr>
                                        <p:cTn id="15" dur="2000"/>
                                        <p:tgtEl>
                                          <p:spTgt spid="2253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2531">
                                            <p:txEl>
                                              <p:pRg st="4" end="4"/>
                                            </p:txEl>
                                          </p:spTgt>
                                        </p:tgtEl>
                                        <p:attrNameLst>
                                          <p:attrName>style.visibility</p:attrName>
                                        </p:attrNameLst>
                                      </p:cBhvr>
                                      <p:to>
                                        <p:strVal val="visible"/>
                                      </p:to>
                                    </p:set>
                                    <p:animEffect transition="in" filter="wipe(down)">
                                      <p:cBhvr>
                                        <p:cTn id="20" dur="500"/>
                                        <p:tgtEl>
                                          <p:spTgt spid="22531">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2531">
                                            <p:txEl>
                                              <p:pRg st="5" end="5"/>
                                            </p:txEl>
                                          </p:spTgt>
                                        </p:tgtEl>
                                        <p:attrNameLst>
                                          <p:attrName>style.visibility</p:attrName>
                                        </p:attrNameLst>
                                      </p:cBhvr>
                                      <p:to>
                                        <p:strVal val="visible"/>
                                      </p:to>
                                    </p:set>
                                    <p:animEffect transition="in" filter="wipe(down)">
                                      <p:cBhvr>
                                        <p:cTn id="23"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4579" name="内容占位符 2"/>
          <p:cNvSpPr>
            <a:spLocks noGrp="1"/>
          </p:cNvSpPr>
          <p:nvPr>
            <p:ph idx="1"/>
          </p:nvPr>
        </p:nvSpPr>
        <p:spPr>
          <a:xfrm>
            <a:off x="295275" y="1066800"/>
            <a:ext cx="8229600" cy="5410200"/>
          </a:xfrm>
          <a:ln/>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en-US" altLang="zh-CN" b="1" dirty="0">
                <a:latin typeface="楷体_GB2312" pitchFamily="49" charset="-122"/>
                <a:ea typeface="楷体_GB2312" pitchFamily="49" charset="-122"/>
              </a:rPr>
              <a:t> </a:t>
            </a:r>
            <a:r>
              <a:rPr lang="en-US" altLang="zh-CN" b="1" dirty="0">
                <a:solidFill>
                  <a:srgbClr val="000000"/>
                </a:solidFill>
                <a:latin typeface="楷体_GB2312" pitchFamily="49" charset="-122"/>
                <a:ea typeface="楷体_GB2312" pitchFamily="49" charset="-122"/>
              </a:rPr>
              <a:t>威胁评估</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pic>
        <p:nvPicPr>
          <p:cNvPr id="24580" name="图片 1"/>
          <p:cNvPicPr>
            <a:picLocks noChangeAspect="1"/>
          </p:cNvPicPr>
          <p:nvPr/>
        </p:nvPicPr>
        <p:blipFill>
          <a:blip r:embed="rId2"/>
          <a:stretch>
            <a:fillRect/>
          </a:stretch>
        </p:blipFill>
        <p:spPr>
          <a:xfrm>
            <a:off x="552450" y="2133600"/>
            <a:ext cx="7972425" cy="2401888"/>
          </a:xfrm>
          <a:prstGeom prst="rect">
            <a:avLst/>
          </a:prstGeom>
          <a:noFill/>
          <a:ln w="9525">
            <a:noFill/>
          </a:ln>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4579" name="内容占位符 2"/>
          <p:cNvSpPr>
            <a:spLocks noGrp="1"/>
          </p:cNvSpPr>
          <p:nvPr>
            <p:ph idx="1"/>
          </p:nvPr>
        </p:nvSpPr>
        <p:spPr>
          <a:xfrm>
            <a:off x="228600" y="1066800"/>
            <a:ext cx="8686800" cy="54102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latin typeface="Times New Roman" panose="02020603050405020304" pitchFamily="18" charset="0"/>
                <a:ea typeface="楷体_GB2312" pitchFamily="49" charset="-122"/>
              </a:rPr>
              <a:t> </a:t>
            </a:r>
            <a:r>
              <a:rPr lang="en-US" altLang="zh-CN" b="1" dirty="0">
                <a:solidFill>
                  <a:srgbClr val="000000"/>
                </a:solidFill>
                <a:latin typeface="楷体_GB2312" pitchFamily="49" charset="-122"/>
                <a:ea typeface="楷体_GB2312" pitchFamily="49" charset="-122"/>
              </a:rPr>
              <a:t>脆弱点识别与评估</a:t>
            </a:r>
          </a:p>
          <a:p>
            <a:pPr lvl="1"/>
            <a:r>
              <a:rPr lang="en-US" altLang="zh-CN" b="1" dirty="0">
                <a:solidFill>
                  <a:srgbClr val="000000"/>
                </a:solidFill>
                <a:latin typeface="楷体_GB2312" pitchFamily="49" charset="-122"/>
                <a:ea typeface="楷体_GB2312" pitchFamily="49" charset="-122"/>
              </a:rPr>
              <a:t>脆弱点识别</a:t>
            </a:r>
          </a:p>
          <a:p>
            <a:pPr lvl="2">
              <a:spcBef>
                <a:spcPts val="600"/>
              </a:spcBef>
            </a:pPr>
            <a:r>
              <a:rPr lang="zh-CN" altLang="zh-CN" sz="2000" dirty="0">
                <a:ea typeface="宋体" panose="02010600030101010101" pitchFamily="2" charset="-122"/>
              </a:rPr>
              <a:t>脆弱点识别也称为弱点识别，</a:t>
            </a:r>
            <a:r>
              <a:rPr lang="zh-CN" altLang="zh-CN" sz="2000" dirty="0">
                <a:solidFill>
                  <a:srgbClr val="FF0000"/>
                </a:solidFill>
                <a:ea typeface="宋体" panose="02010600030101010101" pitchFamily="2" charset="-122"/>
              </a:rPr>
              <a:t>弱点是资产本身存在的</a:t>
            </a:r>
            <a:r>
              <a:rPr lang="zh-CN" altLang="zh-CN" sz="2000" dirty="0">
                <a:ea typeface="宋体" panose="02010600030101010101" pitchFamily="2" charset="-122"/>
              </a:rPr>
              <a:t>，如果没有相应的威胁发生，单纯的弱点本身不会对资产造成损害。</a:t>
            </a:r>
            <a:endParaRPr lang="en-US" altLang="zh-CN" sz="2000" dirty="0">
              <a:ea typeface="宋体" panose="02010600030101010101" pitchFamily="2" charset="-122"/>
            </a:endParaRPr>
          </a:p>
          <a:p>
            <a:pPr lvl="2">
              <a:spcBef>
                <a:spcPts val="600"/>
              </a:spcBef>
            </a:pPr>
            <a:r>
              <a:rPr lang="zh-CN" altLang="zh-CN" sz="2000" dirty="0">
                <a:ea typeface="宋体" panose="02010600030101010101" pitchFamily="2" charset="-122"/>
              </a:rPr>
              <a:t>如果系统足够强健，再严重的威胁也不会导致安全事件，并造成损失。即，</a:t>
            </a:r>
            <a:r>
              <a:rPr lang="zh-CN" altLang="zh-CN" sz="2000" dirty="0">
                <a:solidFill>
                  <a:srgbClr val="FF0000"/>
                </a:solidFill>
                <a:ea typeface="宋体" panose="02010600030101010101" pitchFamily="2" charset="-122"/>
              </a:rPr>
              <a:t>威胁总是要利用资产的弱点才可能造成危害</a:t>
            </a:r>
            <a:r>
              <a:rPr lang="zh-CN" altLang="zh-CN" sz="2000" dirty="0">
                <a:ea typeface="宋体" panose="02010600030101010101" pitchFamily="2" charset="-122"/>
              </a:rPr>
              <a:t>。</a:t>
            </a:r>
          </a:p>
          <a:p>
            <a:pPr lvl="2">
              <a:spcBef>
                <a:spcPts val="600"/>
              </a:spcBef>
            </a:pPr>
            <a:endParaRPr lang="en-US" altLang="zh-CN" sz="2000" dirty="0">
              <a:ea typeface="宋体" panose="02010600030101010101" pitchFamily="2" charset="-122"/>
            </a:endParaRPr>
          </a:p>
          <a:p>
            <a:pPr lvl="2">
              <a:spcBef>
                <a:spcPts val="600"/>
              </a:spcBef>
            </a:pPr>
            <a:r>
              <a:rPr lang="zh-CN" altLang="zh-CN" sz="2000" dirty="0">
                <a:ea typeface="宋体" panose="02010600030101010101" pitchFamily="2" charset="-122"/>
              </a:rPr>
              <a:t>脆弱点识别主要从技术和管理两个方面进行</a:t>
            </a:r>
            <a:r>
              <a:rPr lang="zh-CN" altLang="en-US" sz="2000" dirty="0">
                <a:ea typeface="宋体" panose="02010600030101010101" pitchFamily="2" charset="-122"/>
              </a:rPr>
              <a:t>。</a:t>
            </a:r>
            <a:endParaRPr lang="en-US" altLang="zh-CN" sz="2000" dirty="0">
              <a:ea typeface="宋体" panose="02010600030101010101" pitchFamily="2" charset="-122"/>
            </a:endParaRPr>
          </a:p>
          <a:p>
            <a:pPr lvl="2">
              <a:spcBef>
                <a:spcPts val="600"/>
              </a:spcBef>
            </a:pPr>
            <a:r>
              <a:rPr lang="zh-CN" altLang="zh-CN" sz="2000" dirty="0">
                <a:solidFill>
                  <a:srgbClr val="FF0000"/>
                </a:solidFill>
                <a:ea typeface="宋体" panose="02010600030101010101" pitchFamily="2" charset="-122"/>
              </a:rPr>
              <a:t>技术脆弱点</a:t>
            </a:r>
            <a:r>
              <a:rPr lang="zh-CN" altLang="zh-CN" sz="2000" dirty="0">
                <a:ea typeface="宋体" panose="02010600030101010101" pitchFamily="2" charset="-122"/>
              </a:rPr>
              <a:t>涉及物理层、网络层、系统层、应用层等各个层面的安全问题。</a:t>
            </a:r>
            <a:endParaRPr lang="en-US" altLang="zh-CN" sz="2000" dirty="0">
              <a:ea typeface="宋体" panose="02010600030101010101" pitchFamily="2" charset="-122"/>
            </a:endParaRPr>
          </a:p>
          <a:p>
            <a:pPr lvl="2">
              <a:spcBef>
                <a:spcPts val="600"/>
              </a:spcBef>
            </a:pPr>
            <a:r>
              <a:rPr lang="zh-CN" altLang="zh-CN" sz="2000" dirty="0">
                <a:solidFill>
                  <a:srgbClr val="FF0000"/>
                </a:solidFill>
                <a:ea typeface="宋体" panose="02010600030101010101" pitchFamily="2" charset="-122"/>
              </a:rPr>
              <a:t>管理脆弱点</a:t>
            </a:r>
            <a:r>
              <a:rPr lang="zh-CN" altLang="zh-CN" sz="2000" dirty="0">
                <a:ea typeface="宋体" panose="02010600030101010101" pitchFamily="2" charset="-122"/>
              </a:rPr>
              <a:t>又可分为技术管理和组织管理两方面，前者与具体技术活动相关，后者与管理环境相关。</a:t>
            </a: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animEffect transition="in" filter="wipe(down)">
                                      <p:cBhvr>
                                        <p:cTn id="7" dur="500"/>
                                        <p:tgtEl>
                                          <p:spTgt spid="24579">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4579">
                                            <p:txEl>
                                              <p:pRg st="3" end="3"/>
                                            </p:txEl>
                                          </p:spTgt>
                                        </p:tgtEl>
                                        <p:attrNameLst>
                                          <p:attrName>style.visibility</p:attrName>
                                        </p:attrNameLst>
                                      </p:cBhvr>
                                      <p:to>
                                        <p:strVal val="visible"/>
                                      </p:to>
                                    </p:set>
                                    <p:animEffect transition="in" filter="wipe(down)">
                                      <p:cBhvr>
                                        <p:cTn id="10" dur="500"/>
                                        <p:tgtEl>
                                          <p:spTgt spid="2457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4579">
                                            <p:txEl>
                                              <p:pRg st="5" end="5"/>
                                            </p:txEl>
                                          </p:spTgt>
                                        </p:tgtEl>
                                        <p:attrNameLst>
                                          <p:attrName>style.visibility</p:attrName>
                                        </p:attrNameLst>
                                      </p:cBhvr>
                                      <p:to>
                                        <p:strVal val="visible"/>
                                      </p:to>
                                    </p:set>
                                    <p:animEffect transition="in" filter="circle(in)">
                                      <p:cBhvr>
                                        <p:cTn id="15" dur="2000"/>
                                        <p:tgtEl>
                                          <p:spTgt spid="24579">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24579">
                                            <p:txEl>
                                              <p:pRg st="6" end="6"/>
                                            </p:txEl>
                                          </p:spTgt>
                                        </p:tgtEl>
                                        <p:attrNameLst>
                                          <p:attrName>style.visibility</p:attrName>
                                        </p:attrNameLst>
                                      </p:cBhvr>
                                      <p:to>
                                        <p:strVal val="visible"/>
                                      </p:to>
                                    </p:set>
                                    <p:animEffect transition="in" filter="circle(in)">
                                      <p:cBhvr>
                                        <p:cTn id="20" dur="2000"/>
                                        <p:tgtEl>
                                          <p:spTgt spid="24579">
                                            <p:txEl>
                                              <p:pRg st="6" end="6"/>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24579">
                                            <p:txEl>
                                              <p:pRg st="7" end="7"/>
                                            </p:txEl>
                                          </p:spTgt>
                                        </p:tgtEl>
                                        <p:attrNameLst>
                                          <p:attrName>style.visibility</p:attrName>
                                        </p:attrNameLst>
                                      </p:cBhvr>
                                      <p:to>
                                        <p:strVal val="visible"/>
                                      </p:to>
                                    </p:set>
                                    <p:animEffect transition="in" filter="circle(in)">
                                      <p:cBhvr>
                                        <p:cTn id="23" dur="2000"/>
                                        <p:tgtEl>
                                          <p:spTgt spid="245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6627" name="内容占位符 2"/>
          <p:cNvSpPr>
            <a:spLocks noGrp="1"/>
          </p:cNvSpPr>
          <p:nvPr>
            <p:ph idx="1"/>
          </p:nvPr>
        </p:nvSpPr>
        <p:spPr>
          <a:xfrm>
            <a:off x="228600" y="990600"/>
            <a:ext cx="8229600" cy="51054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latin typeface="Times New Roman" panose="02020603050405020304" pitchFamily="18" charset="0"/>
                <a:ea typeface="楷体_GB2312" pitchFamily="49" charset="-122"/>
              </a:rPr>
              <a:t> </a:t>
            </a:r>
            <a:r>
              <a:rPr lang="en-US" altLang="zh-CN" b="1" dirty="0">
                <a:solidFill>
                  <a:srgbClr val="000000"/>
                </a:solidFill>
                <a:latin typeface="楷体_GB2312" pitchFamily="49" charset="-122"/>
                <a:ea typeface="楷体_GB2312" pitchFamily="49" charset="-122"/>
              </a:rPr>
              <a:t>脆弱点识别与评估</a:t>
            </a:r>
          </a:p>
          <a:p>
            <a:pPr eaLnBrk="1" hangingPunct="1">
              <a:buNone/>
            </a:pPr>
            <a:endParaRPr lang="zh-CN" altLang="en-US" dirty="0">
              <a:ea typeface="楷体_GB2312" pitchFamily="49" charset="-122"/>
            </a:endParaRPr>
          </a:p>
        </p:txBody>
      </p:sp>
      <p:pic>
        <p:nvPicPr>
          <p:cNvPr id="25604" name="图片 1"/>
          <p:cNvPicPr>
            <a:picLocks noChangeAspect="1"/>
          </p:cNvPicPr>
          <p:nvPr/>
        </p:nvPicPr>
        <p:blipFill>
          <a:blip r:embed="rId2"/>
          <a:stretch>
            <a:fillRect/>
          </a:stretch>
        </p:blipFill>
        <p:spPr>
          <a:xfrm>
            <a:off x="0" y="1600200"/>
            <a:ext cx="8994775" cy="48006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wheel(1)">
                                      <p:cBhvr>
                                        <p:cTn id="7" dur="20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6627" name="内容占位符 2"/>
          <p:cNvSpPr>
            <a:spLocks noGrp="1"/>
          </p:cNvSpPr>
          <p:nvPr>
            <p:ph idx="1"/>
          </p:nvPr>
        </p:nvSpPr>
        <p:spPr>
          <a:xfrm>
            <a:off x="228600" y="990600"/>
            <a:ext cx="8229600" cy="51054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latin typeface="Times New Roman" panose="02020603050405020304" pitchFamily="18" charset="0"/>
                <a:ea typeface="楷体_GB2312" pitchFamily="49" charset="-122"/>
              </a:rPr>
              <a:t> </a:t>
            </a:r>
            <a:r>
              <a:rPr lang="en-US" altLang="zh-CN" b="1" dirty="0">
                <a:solidFill>
                  <a:srgbClr val="000000"/>
                </a:solidFill>
                <a:latin typeface="楷体_GB2312" pitchFamily="49" charset="-122"/>
                <a:ea typeface="楷体_GB2312" pitchFamily="49" charset="-122"/>
              </a:rPr>
              <a:t>脆弱点识别与评估</a:t>
            </a:r>
          </a:p>
          <a:p>
            <a:pPr lvl="1" eaLnBrk="1" hangingPunct="1">
              <a:spcAft>
                <a:spcPct val="20000"/>
              </a:spcAft>
              <a:buClr>
                <a:srgbClr val="AC04A0"/>
              </a:buClr>
              <a:buFont typeface="Wingdings" panose="05000000000000000000" pitchFamily="2" charset="2"/>
              <a:buChar char="§"/>
            </a:pPr>
            <a:r>
              <a:rPr lang="en-US" altLang="zh-CN" b="1" dirty="0">
                <a:solidFill>
                  <a:srgbClr val="000000"/>
                </a:solidFill>
                <a:latin typeface="楷体_GB2312" pitchFamily="49" charset="-122"/>
                <a:ea typeface="楷体_GB2312" pitchFamily="49" charset="-122"/>
              </a:rPr>
              <a:t>脆弱点识别</a:t>
            </a:r>
            <a:endParaRPr lang="en-US" altLang="zh-CN"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脆弱点识别将针对每一项需要保护的资产，找出可能被威胁利用的弱点，并对脆弱点的严重程度进行评估。</a:t>
            </a:r>
            <a:endParaRPr lang="en-US" altLang="zh-CN" sz="2400" dirty="0">
              <a:ea typeface="宋体" panose="02010600030101010101" pitchFamily="2" charset="-122"/>
            </a:endParaRPr>
          </a:p>
          <a:p>
            <a:pPr lvl="1" eaLnBrk="1" hangingPunct="1">
              <a:spcAft>
                <a:spcPct val="20000"/>
              </a:spcAft>
              <a:buClr>
                <a:srgbClr val="AC04A0"/>
              </a:buClr>
            </a:pPr>
            <a:r>
              <a:rPr lang="zh-CN" altLang="zh-CN" sz="2400" dirty="0">
                <a:ea typeface="宋体" panose="02010600030101010101" pitchFamily="2" charset="-122"/>
              </a:rPr>
              <a:t>脆弱点识别时的</a:t>
            </a:r>
            <a:r>
              <a:rPr lang="zh-CN" altLang="zh-CN" sz="2400" dirty="0">
                <a:solidFill>
                  <a:srgbClr val="FF0000"/>
                </a:solidFill>
                <a:ea typeface="宋体" panose="02010600030101010101" pitchFamily="2" charset="-122"/>
              </a:rPr>
              <a:t>数据</a:t>
            </a:r>
            <a:r>
              <a:rPr lang="zh-CN" altLang="zh-CN" sz="2400" dirty="0">
                <a:ea typeface="宋体" panose="02010600030101010101" pitchFamily="2" charset="-122"/>
              </a:rPr>
              <a:t>应来自于资产的所有者、使用者，以及相关业务领域的专家和软硬件方面的专业等人员。</a:t>
            </a:r>
            <a:endParaRPr lang="en-US" altLang="zh-CN" sz="2400" dirty="0">
              <a:ea typeface="宋体" panose="02010600030101010101" pitchFamily="2" charset="-122"/>
            </a:endParaRPr>
          </a:p>
          <a:p>
            <a:pPr lvl="1" eaLnBrk="1" hangingPunct="1">
              <a:spcAft>
                <a:spcPct val="20000"/>
              </a:spcAft>
              <a:buClr>
                <a:srgbClr val="AC04A0"/>
              </a:buClr>
            </a:pPr>
            <a:r>
              <a:rPr lang="" altLang="zh-CN" sz="2400" dirty="0"/>
              <a:t>脆弱点识别所</a:t>
            </a:r>
            <a:r>
              <a:rPr lang="" altLang="zh-CN" sz="2400" dirty="0">
                <a:solidFill>
                  <a:srgbClr val="FF0000"/>
                </a:solidFill>
              </a:rPr>
              <a:t>采用的方法</a:t>
            </a:r>
            <a:r>
              <a:rPr lang="" altLang="zh-CN" sz="2400" dirty="0"/>
              <a:t>主要有：问卷调查、工具检测、人工核查、文档查阅、渗透性测试等。</a:t>
            </a:r>
          </a:p>
          <a:p>
            <a:pPr eaLnBrk="1" hangingPunct="1">
              <a:spcAft>
                <a:spcPct val="20000"/>
              </a:spcAft>
              <a:buClr>
                <a:srgbClr val="AC04A0"/>
              </a:buClr>
            </a:pPr>
            <a:endParaRPr lang="en-US" altLang="zh-CN" b="1" dirty="0">
              <a:solidFill>
                <a:srgbClr val="000000"/>
              </a:solidFill>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animEffect transition="in" filter="wipe(down)">
                                      <p:cBhvr>
                                        <p:cTn id="7" dur="500"/>
                                        <p:tgtEl>
                                          <p:spTgt spid="2662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627">
                                            <p:txEl>
                                              <p:pRg st="3" end="3"/>
                                            </p:txEl>
                                          </p:spTgt>
                                        </p:tgtEl>
                                        <p:attrNameLst>
                                          <p:attrName>style.visibility</p:attrName>
                                        </p:attrNameLst>
                                      </p:cBhvr>
                                      <p:to>
                                        <p:strVal val="visible"/>
                                      </p:to>
                                    </p:set>
                                    <p:animEffect transition="in" filter="wipe(down)">
                                      <p:cBhvr>
                                        <p:cTn id="12" dur="500"/>
                                        <p:tgtEl>
                                          <p:spTgt spid="2662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6627">
                                            <p:txEl>
                                              <p:pRg st="4" end="4"/>
                                            </p:txEl>
                                          </p:spTgt>
                                        </p:tgtEl>
                                        <p:attrNameLst>
                                          <p:attrName>style.visibility</p:attrName>
                                        </p:attrNameLst>
                                      </p:cBhvr>
                                      <p:to>
                                        <p:strVal val="visible"/>
                                      </p:to>
                                    </p:set>
                                    <p:animEffect transition="in" filter="circle(in)">
                                      <p:cBhvr>
                                        <p:cTn id="17" dur="20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0" y="374650"/>
            <a:ext cx="7010400" cy="563563"/>
          </a:xfrm>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7651" name="内容占位符 2"/>
          <p:cNvSpPr>
            <a:spLocks noGrp="1"/>
          </p:cNvSpPr>
          <p:nvPr>
            <p:ph idx="4294967295"/>
          </p:nvPr>
        </p:nvSpPr>
        <p:spPr>
          <a:xfrm>
            <a:off x="304800" y="1447800"/>
            <a:ext cx="8229600" cy="4953000"/>
          </a:xfrm>
          <a:ln/>
        </p:spPr>
        <p:txBody>
          <a:bodyPr vert="horz" wrap="square" lIns="91440" tIns="45720" rIns="91440" bIns="45720" anchor="t" anchorCtr="0"/>
          <a:lstStyle/>
          <a:p>
            <a:pPr marL="0" indent="0" eaLnBrk="1" hangingPunct="1">
              <a:spcAft>
                <a:spcPct val="20000"/>
              </a:spcAft>
              <a:buClr>
                <a:srgbClr val="AC04A0"/>
              </a:buClr>
              <a:buNone/>
            </a:pPr>
            <a:r>
              <a:rPr lang="" altLang="zh-CN" sz="2800" b="1" dirty="0">
                <a:solidFill>
                  <a:srgbClr val="000000"/>
                </a:solidFill>
                <a:latin typeface="楷体_GB2312" pitchFamily="49" charset="-122"/>
                <a:ea typeface="楷体_GB2312" pitchFamily="49" charset="-122"/>
              </a:rPr>
              <a:t>脆弱点评估</a:t>
            </a:r>
          </a:p>
          <a:p>
            <a:pPr lvl="1" eaLnBrk="1" hangingPunct="1">
              <a:spcBef>
                <a:spcPts val="800"/>
              </a:spcBef>
            </a:pPr>
            <a:r>
              <a:rPr lang="zh-CN" altLang="zh-CN" sz="2400" dirty="0">
                <a:ea typeface="宋体" panose="02010600030101010101" pitchFamily="2" charset="-122"/>
              </a:rPr>
              <a:t>脆弱点评估就是</a:t>
            </a:r>
            <a:r>
              <a:rPr lang="zh-CN" altLang="zh-CN" sz="2400" dirty="0">
                <a:solidFill>
                  <a:srgbClr val="FF0000"/>
                </a:solidFill>
                <a:ea typeface="宋体" panose="02010600030101010101" pitchFamily="2" charset="-122"/>
              </a:rPr>
              <a:t>对脆弱点被利用后对资产损害程度、技术实现的难易程度、弱点流行程度进行评估</a:t>
            </a:r>
            <a:r>
              <a:rPr lang="zh-CN" altLang="en-US" sz="2400" dirty="0">
                <a:solidFill>
                  <a:srgbClr val="FF0000"/>
                </a:solidFill>
                <a:ea typeface="宋体" panose="02010600030101010101" pitchFamily="2" charset="-122"/>
              </a:rPr>
              <a:t>。</a:t>
            </a:r>
            <a:endParaRPr lang="en-US" altLang="zh-CN" sz="2400" dirty="0">
              <a:solidFill>
                <a:srgbClr val="FF0000"/>
              </a:solidFill>
              <a:ea typeface="宋体" panose="02010600030101010101" pitchFamily="2" charset="-122"/>
            </a:endParaRPr>
          </a:p>
          <a:p>
            <a:pPr lvl="1" eaLnBrk="1" hangingPunct="1">
              <a:spcBef>
                <a:spcPts val="800"/>
              </a:spcBef>
            </a:pPr>
            <a:r>
              <a:rPr lang="zh-CN" altLang="zh-CN" sz="2400" dirty="0">
                <a:ea typeface="宋体" panose="02010600030101010101" pitchFamily="2" charset="-122"/>
              </a:rPr>
              <a:t>评估的结果一般都是定性等级划分形式，综合的标识脆弱点的严重程度。</a:t>
            </a:r>
            <a:endParaRPr lang="en-US" altLang="zh-CN" sz="2400" dirty="0">
              <a:ea typeface="宋体" panose="02010600030101010101" pitchFamily="2" charset="-122"/>
            </a:endParaRPr>
          </a:p>
          <a:p>
            <a:pPr lvl="1" eaLnBrk="1" hangingPunct="1">
              <a:spcBef>
                <a:spcPts val="800"/>
              </a:spcBef>
            </a:pPr>
            <a:r>
              <a:rPr lang="zh-CN" altLang="zh-CN" sz="2400" dirty="0">
                <a:ea typeface="宋体" panose="02010600030101010101" pitchFamily="2" charset="-122"/>
              </a:rPr>
              <a:t>也可以对脆弱点被利用后对资产的损害程度以及被利用的可能性分别评估，然后以一定方式综合。</a:t>
            </a:r>
            <a:endParaRPr lang="en-US" altLang="zh-CN" sz="240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Effect transition="in" filter="wipe(down)">
                                      <p:cBhvr>
                                        <p:cTn id="7" dur="500"/>
                                        <p:tgtEl>
                                          <p:spTgt spid="276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7651">
                                            <p:txEl>
                                              <p:pRg st="3" end="3"/>
                                            </p:txEl>
                                          </p:spTgt>
                                        </p:tgtEl>
                                        <p:attrNameLst>
                                          <p:attrName>style.visibility</p:attrName>
                                        </p:attrNameLst>
                                      </p:cBhvr>
                                      <p:to>
                                        <p:strVal val="visible"/>
                                      </p:to>
                                    </p:set>
                                    <p:animEffect transition="in" filter="circle(in)">
                                      <p:cBhvr>
                                        <p:cTn id="12" dur="2000"/>
                                        <p:tgtEl>
                                          <p:spTgt spid="2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0" y="374650"/>
            <a:ext cx="7010400" cy="563563"/>
          </a:xfrm>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9699" name="内容占位符 2"/>
          <p:cNvSpPr>
            <a:spLocks noGrp="1"/>
          </p:cNvSpPr>
          <p:nvPr>
            <p:ph idx="4294967295"/>
          </p:nvPr>
        </p:nvSpPr>
        <p:spPr>
          <a:xfrm>
            <a:off x="0" y="1143000"/>
            <a:ext cx="8229600" cy="4953000"/>
          </a:xfrm>
          <a:ln/>
        </p:spPr>
        <p:txBody>
          <a:bodyPr vert="horz" wrap="square" lIns="91440" tIns="45720" rIns="91440" bIns="45720" anchor="t" anchorCtr="0"/>
          <a:lstStyle/>
          <a:p>
            <a:pPr marL="0" indent="0" eaLnBrk="1" hangingPunct="1">
              <a:spcAft>
                <a:spcPct val="20000"/>
              </a:spcAft>
              <a:buClr>
                <a:srgbClr val="AC04A0"/>
              </a:buClr>
              <a:buNone/>
            </a:pPr>
            <a:r>
              <a:rPr lang="" altLang="zh-CN" sz="2800" b="1" dirty="0">
                <a:solidFill>
                  <a:srgbClr val="000000"/>
                </a:solidFill>
                <a:latin typeface="楷体_GB2312" pitchFamily="49" charset="-122"/>
                <a:ea typeface="楷体_GB2312" pitchFamily="49" charset="-122"/>
              </a:rPr>
              <a:t>脆弱点评估</a:t>
            </a:r>
          </a:p>
          <a:p>
            <a:pPr lvl="1" eaLnBrk="1" hangingPunct="1"/>
            <a:r>
              <a:rPr lang="" altLang="zh-CN" sz="2400" dirty="0"/>
              <a:t>我国的《信息安全风险评估指南》将脆弱点严重程度的等级划分为五级，分别代表资产脆弱点严重程度的高低。等级数值越大，脆弱点严重程度越高。</a:t>
            </a:r>
          </a:p>
        </p:txBody>
      </p:sp>
      <p:pic>
        <p:nvPicPr>
          <p:cNvPr id="28676" name="图片 3"/>
          <p:cNvPicPr>
            <a:picLocks noChangeAspect="1"/>
          </p:cNvPicPr>
          <p:nvPr/>
        </p:nvPicPr>
        <p:blipFill>
          <a:blip r:embed="rId2"/>
          <a:stretch>
            <a:fillRect/>
          </a:stretch>
        </p:blipFill>
        <p:spPr>
          <a:xfrm>
            <a:off x="381000" y="3276600"/>
            <a:ext cx="8458200" cy="23209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heel(1)">
                                      <p:cBhvr>
                                        <p:cTn id="7" dur="2000"/>
                                        <p:tgtEl>
                                          <p:spTgt spid="2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9699" name="内容占位符 2"/>
          <p:cNvSpPr>
            <a:spLocks noGrp="1"/>
          </p:cNvSpPr>
          <p:nvPr>
            <p:ph idx="1"/>
          </p:nvPr>
        </p:nvSpPr>
        <p:spPr>
          <a:xfrm>
            <a:off x="76200" y="1066800"/>
            <a:ext cx="8915400" cy="54102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u"/>
            </a:pPr>
            <a:r>
              <a:rPr lang="en-US" altLang="zh-CN" b="1" dirty="0">
                <a:solidFill>
                  <a:srgbClr val="000000"/>
                </a:solidFill>
                <a:latin typeface="楷体_GB2312" pitchFamily="49" charset="-122"/>
                <a:ea typeface="楷体_GB2312" pitchFamily="49" charset="-122"/>
              </a:rPr>
              <a:t>已有安全措施的确认</a:t>
            </a:r>
          </a:p>
          <a:p>
            <a:pPr lvl="1"/>
            <a:r>
              <a:rPr lang="zh-CN" altLang="zh-CN" sz="2400" b="1" dirty="0">
                <a:solidFill>
                  <a:srgbClr val="000000"/>
                </a:solidFill>
                <a:latin typeface="楷体_GB2312" pitchFamily="49" charset="-122"/>
                <a:ea typeface="楷体_GB2312" pitchFamily="49" charset="-122"/>
              </a:rPr>
              <a:t>主要任务是，对当前信息系统所采用的安全措施进行标识，并对其预期功能、有效性进行分析。</a:t>
            </a:r>
            <a:endParaRPr lang="en-US" altLang="zh-CN" sz="2400" b="1" dirty="0">
              <a:solidFill>
                <a:srgbClr val="000000"/>
              </a:solidFill>
              <a:latin typeface="楷体_GB2312" pitchFamily="49" charset="-122"/>
              <a:ea typeface="楷体_GB2312" pitchFamily="49" charset="-122"/>
            </a:endParaRPr>
          </a:p>
          <a:p>
            <a:pPr lvl="1"/>
            <a:r>
              <a:rPr lang="zh-CN" altLang="en-US" sz="2400" b="1" dirty="0">
                <a:solidFill>
                  <a:srgbClr val="000000"/>
                </a:solidFill>
                <a:latin typeface="楷体_GB2312" pitchFamily="49" charset="-122"/>
                <a:ea typeface="楷体_GB2312" pitchFamily="49" charset="-122"/>
              </a:rPr>
              <a:t>安全措施可以分为预防性安全措施和保护性安全措施两种。</a:t>
            </a:r>
            <a:endParaRPr lang="en-US" altLang="zh-CN" sz="2400" b="1" dirty="0">
              <a:solidFill>
                <a:srgbClr val="000000"/>
              </a:solidFill>
              <a:latin typeface="楷体_GB2312" pitchFamily="49" charset="-122"/>
              <a:ea typeface="楷体_GB2312" pitchFamily="49" charset="-122"/>
            </a:endParaRPr>
          </a:p>
          <a:p>
            <a:pPr lvl="1"/>
            <a:r>
              <a:rPr lang="zh-CN" altLang="zh-CN" sz="2000" dirty="0">
                <a:ea typeface="宋体" panose="02010600030101010101" pitchFamily="2" charset="-122"/>
              </a:rPr>
              <a:t>预防性安全措施可以</a:t>
            </a:r>
            <a:r>
              <a:rPr lang="en-US" altLang="zh-CN" sz="2000" dirty="0">
                <a:ea typeface="宋体" panose="02010600030101010101" pitchFamily="2" charset="-122"/>
              </a:rPr>
              <a:t>【</a:t>
            </a:r>
            <a:r>
              <a:rPr lang="zh-CN" altLang="zh-CN" sz="2000" dirty="0">
                <a:ea typeface="宋体" panose="02010600030101010101" pitchFamily="2" charset="-122"/>
              </a:rPr>
              <a:t>降低</a:t>
            </a:r>
            <a:r>
              <a:rPr lang="zh-CN" altLang="en-US" sz="2000" dirty="0">
                <a:ea typeface="宋体" panose="02010600030101010101" pitchFamily="2" charset="-122"/>
              </a:rPr>
              <a:t>（</a:t>
            </a:r>
            <a:r>
              <a:rPr lang="zh-CN" altLang="zh-CN" sz="2000" dirty="0">
                <a:solidFill>
                  <a:srgbClr val="FF0000"/>
                </a:solidFill>
                <a:ea typeface="宋体" panose="02010600030101010101" pitchFamily="2" charset="-122"/>
              </a:rPr>
              <a:t>威胁利用脆弱点导致安全事件</a:t>
            </a:r>
            <a:r>
              <a:rPr lang="zh-CN" altLang="en-US" sz="2000" dirty="0">
                <a:solidFill>
                  <a:srgbClr val="FF0000"/>
                </a:solidFill>
                <a:ea typeface="宋体" panose="02010600030101010101" pitchFamily="2" charset="-122"/>
              </a:rPr>
              <a:t>）</a:t>
            </a:r>
            <a:r>
              <a:rPr lang="zh-CN" altLang="zh-CN" sz="2000" dirty="0">
                <a:ea typeface="宋体" panose="02010600030101010101" pitchFamily="2" charset="-122"/>
              </a:rPr>
              <a:t>发生的可能性</a:t>
            </a:r>
            <a:r>
              <a:rPr lang="en-US" altLang="zh-CN" sz="2000" dirty="0">
                <a:ea typeface="宋体" panose="02010600030101010101" pitchFamily="2" charset="-122"/>
              </a:rPr>
              <a:t>】</a:t>
            </a:r>
            <a:r>
              <a:rPr lang="zh-CN" altLang="zh-CN" sz="2000" dirty="0">
                <a:ea typeface="宋体" panose="02010600030101010101" pitchFamily="2" charset="-122"/>
              </a:rPr>
              <a:t>。这可以通过两个方面的作用来实现</a:t>
            </a:r>
            <a:r>
              <a:rPr lang="zh-CN" altLang="en-US" sz="2000" dirty="0">
                <a:ea typeface="宋体" panose="02010600030101010101" pitchFamily="2" charset="-122"/>
              </a:rPr>
              <a:t>：</a:t>
            </a:r>
            <a:endParaRPr lang="en-US" altLang="zh-CN" sz="2000" dirty="0">
              <a:ea typeface="宋体" panose="02010600030101010101" pitchFamily="2" charset="-122"/>
            </a:endParaRPr>
          </a:p>
          <a:p>
            <a:pPr lvl="1"/>
            <a:r>
              <a:rPr lang="zh-CN" altLang="en-US" sz="2000" dirty="0">
                <a:ea typeface="宋体" panose="02010600030101010101" pitchFamily="2" charset="-122"/>
              </a:rPr>
              <a:t>（</a:t>
            </a:r>
            <a:r>
              <a:rPr lang="en-US" altLang="zh-CN" sz="2000" dirty="0">
                <a:ea typeface="宋体" panose="02010600030101010101" pitchFamily="2" charset="-122"/>
              </a:rPr>
              <a:t>1</a:t>
            </a:r>
            <a:r>
              <a:rPr lang="zh-CN" altLang="en-US" sz="2000" dirty="0">
                <a:ea typeface="宋体" panose="02010600030101010101" pitchFamily="2" charset="-122"/>
              </a:rPr>
              <a:t>）</a:t>
            </a:r>
            <a:r>
              <a:rPr lang="zh-CN" altLang="zh-CN" sz="2000" dirty="0">
                <a:ea typeface="宋体" panose="02010600030101010101" pitchFamily="2" charset="-122"/>
              </a:rPr>
              <a:t>一方面是</a:t>
            </a:r>
            <a:r>
              <a:rPr lang="zh-CN" altLang="zh-CN" sz="2000" dirty="0">
                <a:solidFill>
                  <a:srgbClr val="FF0000"/>
                </a:solidFill>
                <a:ea typeface="宋体" panose="02010600030101010101" pitchFamily="2" charset="-122"/>
              </a:rPr>
              <a:t>减少威胁出现的频率</a:t>
            </a:r>
            <a:r>
              <a:rPr lang="zh-CN" altLang="zh-CN" sz="2000" dirty="0">
                <a:ea typeface="宋体" panose="02010600030101010101" pitchFamily="2" charset="-122"/>
              </a:rPr>
              <a:t>，如通过立法或健全制度加大对员工恶意行为的惩罚，可以减少员工故意行为威胁出现的频率，通过安全培训可以减少无意行为导致安全事件出现的频率；</a:t>
            </a:r>
            <a:endParaRPr lang="en-US" altLang="zh-CN" sz="2000" dirty="0">
              <a:ea typeface="宋体" panose="02010600030101010101" pitchFamily="2" charset="-122"/>
            </a:endParaRPr>
          </a:p>
          <a:p>
            <a:pPr lvl="1"/>
            <a:r>
              <a:rPr lang="zh-CN" altLang="en-US" sz="2000" dirty="0">
                <a:ea typeface="宋体" panose="02010600030101010101" pitchFamily="2" charset="-122"/>
              </a:rPr>
              <a:t>（</a:t>
            </a:r>
            <a:r>
              <a:rPr lang="en-US" altLang="zh-CN" sz="2000" dirty="0">
                <a:ea typeface="宋体" panose="02010600030101010101" pitchFamily="2" charset="-122"/>
              </a:rPr>
              <a:t>2</a:t>
            </a:r>
            <a:r>
              <a:rPr lang="zh-CN" altLang="en-US" sz="2000" dirty="0">
                <a:ea typeface="宋体" panose="02010600030101010101" pitchFamily="2" charset="-122"/>
              </a:rPr>
              <a:t>）</a:t>
            </a:r>
            <a:r>
              <a:rPr lang="zh-CN" altLang="zh-CN" sz="2000" dirty="0">
                <a:ea typeface="宋体" panose="02010600030101010101" pitchFamily="2" charset="-122"/>
              </a:rPr>
              <a:t>另一方面是</a:t>
            </a:r>
            <a:r>
              <a:rPr lang="zh-CN" altLang="zh-CN" sz="2000" dirty="0">
                <a:solidFill>
                  <a:srgbClr val="FF0000"/>
                </a:solidFill>
                <a:ea typeface="宋体" panose="02010600030101010101" pitchFamily="2" charset="-122"/>
              </a:rPr>
              <a:t>减少脆弱点</a:t>
            </a:r>
            <a:r>
              <a:rPr lang="zh-CN" altLang="zh-CN" sz="2000" dirty="0">
                <a:ea typeface="宋体" panose="02010600030101010101" pitchFamily="2" charset="-122"/>
              </a:rPr>
              <a:t>，如及时为系统打补丁、对硬件设备定期检查能够减少系统的技术脆弱点等。保护性安全措施可以减少因安全事件发生对信息系统造成的影响，如业务持续性计划。</a:t>
            </a:r>
            <a:endParaRPr lang="zh-CN" altLang="en-US" sz="2000" b="1" dirty="0">
              <a:solidFill>
                <a:srgbClr val="000000"/>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wipe(down)">
                                      <p:cBhvr>
                                        <p:cTn id="7" dur="500"/>
                                        <p:tgtEl>
                                          <p:spTgt spid="2969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wipe(down)">
                                      <p:cBhvr>
                                        <p:cTn id="10" dur="500"/>
                                        <p:tgtEl>
                                          <p:spTgt spid="2969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9699">
                                            <p:txEl>
                                              <p:pRg st="3" end="3"/>
                                            </p:txEl>
                                          </p:spTgt>
                                        </p:tgtEl>
                                        <p:attrNameLst>
                                          <p:attrName>style.visibility</p:attrName>
                                        </p:attrNameLst>
                                      </p:cBhvr>
                                      <p:to>
                                        <p:strVal val="visible"/>
                                      </p:to>
                                    </p:set>
                                    <p:animEffect transition="in" filter="circle(in)">
                                      <p:cBhvr>
                                        <p:cTn id="15" dur="2000"/>
                                        <p:tgtEl>
                                          <p:spTgt spid="2969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29699">
                                            <p:txEl>
                                              <p:pRg st="4" end="4"/>
                                            </p:txEl>
                                          </p:spTgt>
                                        </p:tgtEl>
                                        <p:attrNameLst>
                                          <p:attrName>style.visibility</p:attrName>
                                        </p:attrNameLst>
                                      </p:cBhvr>
                                      <p:to>
                                        <p:strVal val="visible"/>
                                      </p:to>
                                    </p:set>
                                    <p:animEffect transition="in" filter="circle(in)">
                                      <p:cBhvr>
                                        <p:cTn id="20" dur="2000"/>
                                        <p:tgtEl>
                                          <p:spTgt spid="2969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29699">
                                            <p:txEl>
                                              <p:pRg st="5" end="5"/>
                                            </p:txEl>
                                          </p:spTgt>
                                        </p:tgtEl>
                                        <p:attrNameLst>
                                          <p:attrName>style.visibility</p:attrName>
                                        </p:attrNameLst>
                                      </p:cBhvr>
                                      <p:to>
                                        <p:strVal val="visible"/>
                                      </p:to>
                                    </p:set>
                                    <p:animEffect transition="in" filter="wheel(1)">
                                      <p:cBhvr>
                                        <p:cTn id="25" dur="2000"/>
                                        <p:tgtEl>
                                          <p:spTgt spid="29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30723" name="内容占位符 2"/>
          <p:cNvSpPr>
            <a:spLocks noGrp="1"/>
          </p:cNvSpPr>
          <p:nvPr>
            <p:ph idx="1"/>
          </p:nvPr>
        </p:nvSpPr>
        <p:spPr>
          <a:xfrm>
            <a:off x="304800" y="1524000"/>
            <a:ext cx="8610600" cy="5410200"/>
          </a:xfrm>
          <a:ln/>
        </p:spPr>
        <p:txBody>
          <a:bodyPr vert="horz" wrap="square" lIns="91440" tIns="45720" rIns="91440" bIns="45720" anchor="t" anchorCtr="0"/>
          <a:lstStyle/>
          <a:p>
            <a:pPr lvl="1"/>
            <a:r>
              <a:rPr lang="zh-CN" altLang="zh-CN" sz="2400" dirty="0">
                <a:ea typeface="宋体" panose="02010600030101010101" pitchFamily="2" charset="-122"/>
              </a:rPr>
              <a:t>对已采取的安全措施进行确认，至少有两个方面的意义。</a:t>
            </a:r>
            <a:endParaRPr lang="en-US" altLang="zh-CN" sz="2400" dirty="0">
              <a:ea typeface="宋体" panose="02010600030101010101" pitchFamily="2" charset="-122"/>
            </a:endParaRPr>
          </a:p>
          <a:p>
            <a:pPr lvl="1"/>
            <a:r>
              <a:rPr lang="zh-CN" altLang="zh-CN" sz="2400" dirty="0">
                <a:ea typeface="宋体" panose="02010600030101010101" pitchFamily="2" charset="-122"/>
              </a:rPr>
              <a:t>一方面，这有助于</a:t>
            </a:r>
            <a:r>
              <a:rPr lang="zh-CN" altLang="zh-CN" sz="2400" dirty="0">
                <a:solidFill>
                  <a:srgbClr val="FF0000"/>
                </a:solidFill>
                <a:ea typeface="宋体" panose="02010600030101010101" pitchFamily="2" charset="-122"/>
              </a:rPr>
              <a:t>对当前信息系统面临的风险进行分析，</a:t>
            </a:r>
            <a:r>
              <a:rPr lang="zh-CN" altLang="zh-CN" sz="1800" dirty="0">
                <a:ea typeface="宋体" panose="02010600030101010101" pitchFamily="2" charset="-122"/>
              </a:rPr>
              <a:t>由于安全措施能够减少安全事件发生的可能性及影响，对当前安全措施进行分析与确认，是资产评估、威胁评估、脆弱点评估的有益补充，其结果可用于后面的风险分析；</a:t>
            </a:r>
            <a:endParaRPr lang="en-US" altLang="zh-CN" sz="1800" dirty="0">
              <a:ea typeface="宋体" panose="02010600030101010101" pitchFamily="2" charset="-122"/>
            </a:endParaRPr>
          </a:p>
          <a:p>
            <a:pPr lvl="1"/>
            <a:r>
              <a:rPr lang="zh-CN" altLang="zh-CN" sz="2400" dirty="0">
                <a:ea typeface="宋体" panose="02010600030101010101" pitchFamily="2" charset="-122"/>
              </a:rPr>
              <a:t>另一方面，通过对当前安全措施的确认，分析其有效性，</a:t>
            </a:r>
            <a:r>
              <a:rPr lang="zh-CN" altLang="zh-CN" sz="2400" dirty="0">
                <a:solidFill>
                  <a:srgbClr val="FF0000"/>
                </a:solidFill>
                <a:ea typeface="宋体" panose="02010600030101010101" pitchFamily="2" charset="-122"/>
              </a:rPr>
              <a:t>对有效的安全措施继续保持</a:t>
            </a:r>
            <a:r>
              <a:rPr lang="zh-CN" altLang="zh-CN" sz="2400" dirty="0">
                <a:ea typeface="宋体" panose="02010600030101010101" pitchFamily="2" charset="-122"/>
              </a:rPr>
              <a:t>，以避免不必要的工作和费用，防止安全措施的重复实施。</a:t>
            </a:r>
            <a:r>
              <a:rPr lang="zh-CN" altLang="zh-CN" sz="2400" dirty="0">
                <a:solidFill>
                  <a:srgbClr val="FF0000"/>
                </a:solidFill>
                <a:ea typeface="宋体" panose="02010600030101010101" pitchFamily="2" charset="-122"/>
              </a:rPr>
              <a:t>对于确认为不适当的安全措施应核实是否应被取消</a:t>
            </a:r>
            <a:r>
              <a:rPr lang="zh-CN" altLang="zh-CN" sz="2400" dirty="0">
                <a:ea typeface="宋体" panose="02010600030101010101" pitchFamily="2" charset="-122"/>
              </a:rPr>
              <a:t>，或者用更合适的安全措施替代，这有足于随后进行的安全措施的选取。</a:t>
            </a:r>
            <a:endParaRPr lang="zh-CN" altLang="en-US" sz="2400" b="1" dirty="0">
              <a:solidFill>
                <a:srgbClr val="000000"/>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Effect transition="in" filter="barn(inVertical)">
                                      <p:cBhvr>
                                        <p:cTn id="7" dur="500"/>
                                        <p:tgtEl>
                                          <p:spTgt spid="307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23">
                                            <p:txEl>
                                              <p:pRg st="2" end="2"/>
                                            </p:txEl>
                                          </p:spTgt>
                                        </p:tgtEl>
                                        <p:attrNameLst>
                                          <p:attrName>style.visibility</p:attrName>
                                        </p:attrNameLst>
                                      </p:cBhvr>
                                      <p:to>
                                        <p:strVal val="visible"/>
                                      </p:to>
                                    </p:set>
                                    <p:animEffect transition="in" filter="circle(in)">
                                      <p:cBhvr>
                                        <p:cTn id="12" dur="20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28674" name="内容占位符 2"/>
          <p:cNvSpPr>
            <a:spLocks noGrp="1" noChangeArrowheads="1"/>
          </p:cNvSpPr>
          <p:nvPr>
            <p:ph idx="1"/>
          </p:nvPr>
        </p:nvSpPr>
        <p:spPr>
          <a:xfrm>
            <a:off x="319088" y="938213"/>
            <a:ext cx="8229600" cy="5691188"/>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rgbClr val="000000"/>
                </a:solidFill>
                <a:effectLst/>
                <a:uLnTx/>
                <a:uFillTx/>
                <a:latin typeface="楷体_GB2312" pitchFamily="49" charset="-122"/>
                <a:ea typeface="楷体_GB2312" pitchFamily="49" charset="-122"/>
                <a:cs typeface="+mn-cs"/>
              </a:rPr>
              <a:t>风险分析</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Tx/>
              <a:buNone/>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a:t>
            </a:r>
            <a:r>
              <a:rPr kumimoji="0" lang="en-US" altLang="zh-CN" sz="2400" b="1" i="0" u="none" strike="noStrike" kern="0" cap="none" spc="0" normalizeH="0" baseline="0" noProof="0" dirty="0" err="1" smtClean="0">
                <a:ln>
                  <a:noFill/>
                </a:ln>
                <a:solidFill>
                  <a:srgbClr val="000000"/>
                </a:solidFill>
                <a:effectLst/>
                <a:uLnTx/>
                <a:uFillTx/>
                <a:latin typeface="楷体_GB2312" pitchFamily="49" charset="-122"/>
                <a:ea typeface="楷体_GB2312" pitchFamily="49" charset="-122"/>
              </a:rPr>
              <a:t>风险分析就是利用资产、威胁、脆弱点识别与评估结果以及已有安全措施的确认与分析结果，对资产面临的风险进行分析</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smtClean="0">
                <a:ln>
                  <a:noFill/>
                </a:ln>
                <a:solidFill>
                  <a:schemeClr val="tx1"/>
                </a:solidFill>
                <a:effectLst/>
                <a:uLnTx/>
                <a:uFillTx/>
                <a:latin typeface="+mn-lt"/>
                <a:ea typeface="楷体_GB2312" pitchFamily="49" charset="-122"/>
              </a:rPr>
              <a:t> </a:t>
            </a:r>
            <a:endParaRPr kumimoji="0" lang="en-US" altLang="zh-CN" sz="2800" b="1" i="0" u="none" strike="noStrike" kern="0" cap="none" spc="0" normalizeH="0" baseline="0" noProof="0" dirty="0" smtClean="0">
              <a:ln>
                <a:noFill/>
              </a:ln>
              <a:solidFill>
                <a:schemeClr val="tx1"/>
              </a:solidFill>
              <a:effectLst/>
              <a:uLnTx/>
              <a:uFillTx/>
              <a:latin typeface="+mn-lt"/>
              <a:ea typeface="楷体_GB2312" pitchFamily="49" charset="-122"/>
            </a:endParaRPr>
          </a:p>
          <a:p>
            <a:pPr marL="400050" marR="0" lvl="2" indent="0" algn="l" defTabSz="914400" rtl="0" eaLnBrk="1" fontAlgn="base" latinLnBrk="0" hangingPunct="1">
              <a:lnSpc>
                <a:spcPct val="100000"/>
              </a:lnSpc>
              <a:spcBef>
                <a:spcPts val="0"/>
              </a:spcBef>
              <a:spcAft>
                <a:spcPts val="600"/>
              </a:spcAft>
              <a:buClr>
                <a:srgbClr val="AC04A0"/>
              </a:buClr>
              <a:buSzTx/>
              <a:buFontTx/>
              <a:buNone/>
              <a:defRPr/>
            </a:pPr>
            <a:r>
              <a:rPr kumimoji="0" lang="en-US" altLang="zh-CN" sz="2800" b="0" i="0" u="none" strike="noStrike" kern="0" cap="none" spc="0" normalizeH="0" baseline="0" noProof="0" dirty="0" smtClean="0">
                <a:ln>
                  <a:noFill/>
                </a:ln>
                <a:solidFill>
                  <a:schemeClr val="tx1"/>
                </a:solidFill>
                <a:effectLst/>
                <a:uLnTx/>
                <a:uFillTx/>
                <a:latin typeface="+mn-lt"/>
                <a:ea typeface="楷体_GB2312" pitchFamily="49" charset="-122"/>
              </a:rPr>
              <a:t>1、风险计算</a:t>
            </a:r>
            <a:endParaRPr kumimoji="0" lang="zh-CN" altLang="en-US" sz="2800" b="0" i="0" u="none" strike="noStrike" kern="0" cap="none" spc="0" normalizeH="0" baseline="0" noProof="0" dirty="0" smtClean="0">
              <a:ln>
                <a:noFill/>
              </a:ln>
              <a:solidFill>
                <a:schemeClr val="tx1"/>
              </a:solidFill>
              <a:effectLst/>
              <a:uLnTx/>
              <a:uFillTx/>
              <a:latin typeface="+mn-lt"/>
              <a:ea typeface="楷体_GB2312" pitchFamily="49" charset="-122"/>
            </a:endParaRPr>
          </a:p>
        </p:txBody>
      </p:sp>
      <p:pic>
        <p:nvPicPr>
          <p:cNvPr id="31748" name="图片 1"/>
          <p:cNvPicPr>
            <a:picLocks noChangeAspect="1"/>
          </p:cNvPicPr>
          <p:nvPr/>
        </p:nvPicPr>
        <p:blipFill>
          <a:blip r:embed="rId2"/>
          <a:stretch>
            <a:fillRect/>
          </a:stretch>
        </p:blipFill>
        <p:spPr>
          <a:xfrm>
            <a:off x="598488" y="3352800"/>
            <a:ext cx="7950200" cy="3198813"/>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674">
                                            <p:txEl>
                                              <p:pRg st="1" end="1"/>
                                            </p:txEl>
                                          </p:spTgt>
                                        </p:tgtEl>
                                        <p:attrNameLst>
                                          <p:attrName>style.visibility</p:attrName>
                                        </p:attrNameLst>
                                      </p:cBhvr>
                                      <p:to>
                                        <p:strVal val="visible"/>
                                      </p:to>
                                    </p:set>
                                    <p:animEffect transition="in" filter="wipe(down)">
                                      <p:cBhvr>
                                        <p:cTn id="7" dur="500"/>
                                        <p:tgtEl>
                                          <p:spTgt spid="286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8674">
                                            <p:txEl>
                                              <p:pRg st="2" end="2"/>
                                            </p:txEl>
                                          </p:spTgt>
                                        </p:tgtEl>
                                        <p:attrNameLst>
                                          <p:attrName>style.visibility</p:attrName>
                                        </p:attrNameLst>
                                      </p:cBhvr>
                                      <p:to>
                                        <p:strVal val="visible"/>
                                      </p:to>
                                    </p:set>
                                    <p:animEffect transition="in" filter="circle(in)">
                                      <p:cBhvr>
                                        <p:cTn id="12" dur="2000"/>
                                        <p:tgtEl>
                                          <p:spTgt spid="286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1748"/>
                                        </p:tgtEl>
                                        <p:attrNameLst>
                                          <p:attrName>style.visibility</p:attrName>
                                        </p:attrNameLst>
                                      </p:cBhvr>
                                      <p:to>
                                        <p:strVal val="visible"/>
                                      </p:to>
                                    </p:set>
                                    <p:animEffect transition="in" filter="wheel(1)">
                                      <p:cBhvr>
                                        <p:cTn id="17" dur="20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信息安全风险评估过程</a:t>
            </a:r>
          </a:p>
        </p:txBody>
      </p:sp>
      <p:sp>
        <p:nvSpPr>
          <p:cNvPr id="32771" name="内容占位符 2"/>
          <p:cNvSpPr>
            <a:spLocks noGrp="1"/>
          </p:cNvSpPr>
          <p:nvPr>
            <p:ph idx="1"/>
          </p:nvPr>
        </p:nvSpPr>
        <p:spPr>
          <a:xfrm>
            <a:off x="319088" y="938213"/>
            <a:ext cx="8596312" cy="5767387"/>
          </a:xfrm>
          <a:ln/>
        </p:spPr>
        <p:txBody>
          <a:bodyPr vert="horz" wrap="square" lIns="91440" tIns="45720" rIns="91440" bIns="45720" anchor="t" anchorCtr="0"/>
          <a:lstStyle/>
          <a:p>
            <a:pPr marL="457200" lvl="1" indent="-457200" eaLnBrk="1" hangingPunct="1">
              <a:spcAft>
                <a:spcPct val="20000"/>
              </a:spcAft>
              <a:buClr>
                <a:srgbClr val="AC04A0"/>
              </a:buClr>
              <a:buFont typeface="Wingdings" panose="05000000000000000000" pitchFamily="2" charset="2"/>
              <a:buChar char="u"/>
            </a:pPr>
            <a:r>
              <a:rPr lang="en-US" altLang="zh-CN" sz="3200" b="1" dirty="0">
                <a:solidFill>
                  <a:srgbClr val="000000"/>
                </a:solidFill>
                <a:latin typeface="楷体_GB2312" pitchFamily="49" charset="-122"/>
                <a:ea typeface="楷体_GB2312" pitchFamily="49" charset="-122"/>
              </a:rPr>
              <a:t>风险分析</a:t>
            </a:r>
          </a:p>
          <a:p>
            <a:pPr marL="400050" lvl="2" indent="0" eaLnBrk="1" hangingPunct="1">
              <a:spcAft>
                <a:spcPct val="20000"/>
              </a:spcAft>
              <a:buClr>
                <a:srgbClr val="AC04A0"/>
              </a:buClr>
              <a:buNone/>
            </a:pPr>
            <a:r>
              <a:rPr lang="en-US" altLang="zh-CN" b="1" dirty="0">
                <a:solidFill>
                  <a:srgbClr val="000000"/>
                </a:solidFill>
                <a:latin typeface="楷体_GB2312" pitchFamily="49" charset="-122"/>
                <a:ea typeface="楷体_GB2312" pitchFamily="49" charset="-122"/>
              </a:rPr>
              <a:t>2、</a:t>
            </a:r>
            <a:r>
              <a:rPr lang="zh-CN" altLang="en-US" b="1" dirty="0">
                <a:solidFill>
                  <a:srgbClr val="000000"/>
                </a:solidFill>
                <a:latin typeface="楷体_GB2312" pitchFamily="49" charset="-122"/>
                <a:ea typeface="楷体_GB2312" pitchFamily="49" charset="-122"/>
              </a:rPr>
              <a:t>影响分析</a:t>
            </a:r>
            <a:endParaRPr lang="en-US" altLang="zh-CN" b="1" dirty="0">
              <a:solidFill>
                <a:srgbClr val="000000"/>
              </a:solidFill>
              <a:latin typeface="楷体_GB2312" pitchFamily="49" charset="-122"/>
              <a:ea typeface="楷体_GB2312" pitchFamily="49" charset="-122"/>
            </a:endParaRPr>
          </a:p>
          <a:p>
            <a:pPr marL="1200150" lvl="3" indent="-342900" eaLnBrk="1" hangingPunct="1">
              <a:spcAft>
                <a:spcPct val="20000"/>
              </a:spcAft>
              <a:buClr>
                <a:srgbClr val="AC04A0"/>
              </a:buClr>
              <a:buFont typeface="Wingdings" panose="05000000000000000000" pitchFamily="2" charset="2"/>
              <a:buChar char="n"/>
            </a:pPr>
            <a:r>
              <a:rPr lang="zh-CN" altLang="zh-CN" dirty="0">
                <a:ea typeface="宋体" panose="02010600030101010101" pitchFamily="2" charset="-122"/>
              </a:rPr>
              <a:t>安全事件对组织的影响可体现在以下方面：直接经济损失、物理资产的损坏、业务影响、法律责任、人员安全危害、信誉（形象）损失等。这些损失有些容易定量表示，有些则很难。</a:t>
            </a:r>
            <a:r>
              <a:rPr lang="zh-CN" altLang="en-US" sz="2400" b="1" dirty="0">
                <a:ea typeface="楷体_GB2312" pitchFamily="49" charset="-122"/>
              </a:rPr>
              <a:t> </a:t>
            </a:r>
            <a:endParaRPr lang="en-US" altLang="zh-CN" sz="2400" b="1" dirty="0">
              <a:ea typeface="楷体_GB2312" pitchFamily="49" charset="-122"/>
            </a:endParaRPr>
          </a:p>
          <a:p>
            <a:pPr marL="400050" lvl="2" indent="0" eaLnBrk="1" hangingPunct="1">
              <a:spcAft>
                <a:spcPct val="20000"/>
              </a:spcAft>
              <a:buClr>
                <a:srgbClr val="AC04A0"/>
              </a:buClr>
              <a:buNone/>
            </a:pPr>
            <a:r>
              <a:rPr lang="en-US" altLang="zh-CN" b="1" dirty="0">
                <a:solidFill>
                  <a:srgbClr val="000000"/>
                </a:solidFill>
                <a:latin typeface="楷体_GB2312" pitchFamily="49" charset="-122"/>
                <a:ea typeface="楷体_GB2312" pitchFamily="49" charset="-122"/>
              </a:rPr>
              <a:t>3、可能性分析</a:t>
            </a:r>
          </a:p>
          <a:p>
            <a:pPr marL="1200150" lvl="3" indent="-342900" eaLnBrk="1" hangingPunct="1">
              <a:spcAft>
                <a:spcPct val="20000"/>
              </a:spcAft>
              <a:buClr>
                <a:srgbClr val="AC04A0"/>
              </a:buClr>
              <a:buFont typeface="Wingdings" panose="05000000000000000000" pitchFamily="2" charset="2"/>
              <a:buChar char="n"/>
            </a:pPr>
            <a:r>
              <a:rPr lang="zh-CN" altLang="zh-CN" dirty="0">
                <a:ea typeface="宋体" panose="02010600030101010101" pitchFamily="2" charset="-122"/>
              </a:rPr>
              <a:t>安全事件发生的可能性的因素有：资产吸引力、威胁出现的可能性、脆弱点的属性、安全措施的效能等。</a:t>
            </a:r>
            <a:endParaRPr lang="en-US" altLang="zh-CN" dirty="0">
              <a:ea typeface="宋体" panose="02010600030101010101" pitchFamily="2" charset="-122"/>
            </a:endParaRPr>
          </a:p>
          <a:p>
            <a:pPr marL="1200150" lvl="3" indent="-342900" eaLnBrk="1" hangingPunct="1">
              <a:spcAft>
                <a:spcPct val="20000"/>
              </a:spcAft>
              <a:buClr>
                <a:srgbClr val="AC04A0"/>
              </a:buClr>
              <a:buFont typeface="Wingdings" panose="05000000000000000000" pitchFamily="2" charset="2"/>
              <a:buChar char="n"/>
            </a:pPr>
            <a:r>
              <a:rPr lang="zh-CN" altLang="zh-CN" dirty="0">
                <a:ea typeface="宋体" panose="02010600030101010101" pitchFamily="2" charset="-122"/>
              </a:rPr>
              <a:t>根据威胁源的分类，引起安全事件发生的原因可能是自然灾害、环境及系统威胁、人员无意行为、人员故意行为等。</a:t>
            </a:r>
            <a:endParaRPr lang="en-US" altLang="zh-CN" dirty="0">
              <a:ea typeface="宋体" panose="02010600030101010101" pitchFamily="2" charset="-122"/>
            </a:endParaRPr>
          </a:p>
          <a:p>
            <a:pPr marL="1200150" lvl="3" indent="-342900" eaLnBrk="1" hangingPunct="1">
              <a:spcAft>
                <a:spcPct val="20000"/>
              </a:spcAft>
              <a:buClr>
                <a:srgbClr val="AC04A0"/>
              </a:buClr>
              <a:buFont typeface="Wingdings" panose="05000000000000000000" pitchFamily="2" charset="2"/>
              <a:buChar char="n"/>
            </a:pPr>
            <a:r>
              <a:rPr lang="zh-CN" altLang="zh-CN" dirty="0">
                <a:ea typeface="宋体" panose="02010600030101010101" pitchFamily="2" charset="-122"/>
              </a:rPr>
              <a:t>不同类型的安全事件，其可能</a:t>
            </a:r>
            <a:r>
              <a:rPr lang="zh-CN" altLang="en-US" dirty="0">
                <a:ea typeface="宋体" panose="02010600030101010101" pitchFamily="2" charset="-122"/>
              </a:rPr>
              <a:t>性影响因素也不同。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wipe(down)">
                                      <p:cBhvr>
                                        <p:cTn id="7" dur="500"/>
                                        <p:tgtEl>
                                          <p:spTgt spid="32771">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2771">
                                            <p:txEl>
                                              <p:pRg st="2" end="2"/>
                                            </p:txEl>
                                          </p:spTgt>
                                        </p:tgtEl>
                                        <p:attrNameLst>
                                          <p:attrName>style.visibility</p:attrName>
                                        </p:attrNameLst>
                                      </p:cBhvr>
                                      <p:to>
                                        <p:strVal val="visible"/>
                                      </p:to>
                                    </p:set>
                                    <p:animEffect transition="in" filter="wipe(down)">
                                      <p:cBhvr>
                                        <p:cTn id="10" dur="500"/>
                                        <p:tgtEl>
                                          <p:spTgt spid="3277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2771">
                                            <p:txEl>
                                              <p:pRg st="3" end="3"/>
                                            </p:txEl>
                                          </p:spTgt>
                                        </p:tgtEl>
                                        <p:attrNameLst>
                                          <p:attrName>style.visibility</p:attrName>
                                        </p:attrNameLst>
                                      </p:cBhvr>
                                      <p:to>
                                        <p:strVal val="visible"/>
                                      </p:to>
                                    </p:set>
                                    <p:animEffect transition="in" filter="wipe(down)">
                                      <p:cBhvr>
                                        <p:cTn id="15" dur="500"/>
                                        <p:tgtEl>
                                          <p:spTgt spid="32771">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2771">
                                            <p:txEl>
                                              <p:pRg st="4" end="4"/>
                                            </p:txEl>
                                          </p:spTgt>
                                        </p:tgtEl>
                                        <p:attrNameLst>
                                          <p:attrName>style.visibility</p:attrName>
                                        </p:attrNameLst>
                                      </p:cBhvr>
                                      <p:to>
                                        <p:strVal val="visible"/>
                                      </p:to>
                                    </p:set>
                                    <p:animEffect transition="in" filter="wipe(down)">
                                      <p:cBhvr>
                                        <p:cTn id="18" dur="500"/>
                                        <p:tgtEl>
                                          <p:spTgt spid="3277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32771">
                                            <p:txEl>
                                              <p:pRg st="5" end="5"/>
                                            </p:txEl>
                                          </p:spTgt>
                                        </p:tgtEl>
                                        <p:attrNameLst>
                                          <p:attrName>style.visibility</p:attrName>
                                        </p:attrNameLst>
                                      </p:cBhvr>
                                      <p:to>
                                        <p:strVal val="visible"/>
                                      </p:to>
                                    </p:set>
                                    <p:animEffect transition="in" filter="circle(in)">
                                      <p:cBhvr>
                                        <p:cTn id="23" dur="2000"/>
                                        <p:tgtEl>
                                          <p:spTgt spid="32771">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32771">
                                            <p:txEl>
                                              <p:pRg st="6" end="6"/>
                                            </p:txEl>
                                          </p:spTgt>
                                        </p:tgtEl>
                                        <p:attrNameLst>
                                          <p:attrName>style.visibility</p:attrName>
                                        </p:attrNameLst>
                                      </p:cBhvr>
                                      <p:to>
                                        <p:strVal val="visible"/>
                                      </p:to>
                                    </p:set>
                                    <p:animEffect transition="in" filter="wheel(1)">
                                      <p:cBhvr>
                                        <p:cTn id="28" dur="2000"/>
                                        <p:tgtEl>
                                          <p:spTgt spid="32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信息安全风险评估过程</a:t>
            </a:r>
          </a:p>
        </p:txBody>
      </p:sp>
      <p:sp>
        <p:nvSpPr>
          <p:cNvPr id="33795" name="内容占位符 2"/>
          <p:cNvSpPr>
            <a:spLocks noGrp="1" noChangeArrowheads="1"/>
          </p:cNvSpPr>
          <p:nvPr>
            <p:ph idx="1"/>
          </p:nvPr>
        </p:nvSpPr>
        <p:spPr>
          <a:xfrm>
            <a:off x="381000" y="1066800"/>
            <a:ext cx="8229600" cy="51054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rgbClr val="000000"/>
                </a:solidFill>
                <a:effectLst/>
                <a:uLnTx/>
                <a:uFillTx/>
                <a:latin typeface="楷体_GB2312"/>
                <a:ea typeface="楷体_GB2312"/>
                <a:cs typeface="楷体_GB2312"/>
              </a:rPr>
              <a:t>安全措施的选取</a:t>
            </a:r>
            <a:endParaRPr kumimoji="0" lang="en-US" altLang="zh-CN" sz="32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风险评估的目的不仅是获取组织面临的有关风险信息，更重要的是采取适当的措施将安全风险控制在可接受的范围内</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在对组织面临的安全风险有全面认识后，应</a:t>
            </a:r>
            <a:r>
              <a:rPr kumimoji="0" lang="zh-CN" altLang="zh-CN" sz="28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根据风险的性质选取合适的安全措施，并对对可能的残余风险进行分析，直到残余风险为可接受风险为止</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endPar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wheel(1)">
                                      <p:cBhvr>
                                        <p:cTn id="7" dur="2000"/>
                                        <p:tgtEl>
                                          <p:spTgt spid="33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795">
                                            <p:txEl>
                                              <p:pRg st="3" end="3"/>
                                            </p:txEl>
                                          </p:spTgt>
                                        </p:tgtEl>
                                        <p:attrNameLst>
                                          <p:attrName>style.visibility</p:attrName>
                                        </p:attrNameLst>
                                      </p:cBhvr>
                                      <p:to>
                                        <p:strVal val="visible"/>
                                      </p:to>
                                    </p:set>
                                    <p:animEffect transition="in" filter="circle(in)">
                                      <p:cBhvr>
                                        <p:cTn id="12" dur="20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信息安全风险评估过程</a:t>
            </a:r>
          </a:p>
        </p:txBody>
      </p:sp>
      <p:sp>
        <p:nvSpPr>
          <p:cNvPr id="34819" name="内容占位符 2"/>
          <p:cNvSpPr>
            <a:spLocks noGrp="1" noChangeArrowheads="1"/>
          </p:cNvSpPr>
          <p:nvPr>
            <p:ph idx="1"/>
          </p:nvPr>
        </p:nvSpPr>
        <p:spPr>
          <a:xfrm>
            <a:off x="381000" y="1066800"/>
            <a:ext cx="8229600" cy="56388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err="1" smtClean="0">
                <a:ln>
                  <a:noFill/>
                </a:ln>
                <a:solidFill>
                  <a:srgbClr val="000000"/>
                </a:solidFill>
                <a:effectLst/>
                <a:uLnTx/>
                <a:uFillTx/>
                <a:latin typeface="楷体_GB2312"/>
                <a:ea typeface="楷体_GB2312"/>
                <a:cs typeface="楷体_GB2312"/>
              </a:rPr>
              <a:t>风险评估文件记录</a:t>
            </a:r>
            <a:endParaRPr kumimoji="0" lang="en-US" altLang="zh-CN" sz="32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0" dirty="0" err="1"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风险评估文件包括在整个风险评估过程中产生的评估过程文档和评估结果文档，包括</a:t>
            </a: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a:t>
            </a: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en-US" altLang="zh-CN" sz="2000" b="1" i="0" u="none" strike="noStrike" kern="0" cap="none" spc="0" normalizeH="0" baseline="0" noProof="0" dirty="0" err="1"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风险评估计划</a:t>
            </a: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风险评估程序，</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资产识别清单，</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重要资产清单，</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威胁列表，</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脆弱点列表，</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已有安全措施确认表，</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风险评估报告，</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风险处理计划，</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endParaRPr>
          </a:p>
          <a:p>
            <a:pPr marL="1371600" marR="0" lvl="2" indent="-457200" algn="l" defTabSz="914400" rtl="0" eaLnBrk="0" fontAlgn="base" latinLnBrk="0" hangingPunct="0">
              <a:lnSpc>
                <a:spcPct val="100000"/>
              </a:lnSpc>
              <a:spcBef>
                <a:spcPct val="20000"/>
              </a:spcBef>
              <a:spcAft>
                <a:spcPct val="0"/>
              </a:spcAft>
              <a:buClr>
                <a:schemeClr val="tx1"/>
              </a:buClr>
              <a:buSzTx/>
              <a:buFontTx/>
              <a:buAutoNum type="arabicPeriod"/>
              <a:defRPr/>
            </a:pP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风险评估记录。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Effect transition="in" filter="wipe(down)">
                                      <p:cBhvr>
                                        <p:cTn id="7" dur="500"/>
                                        <p:tgtEl>
                                          <p:spTgt spid="348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4819">
                                            <p:txEl>
                                              <p:pRg st="2" end="2"/>
                                            </p:txEl>
                                          </p:spTgt>
                                        </p:tgtEl>
                                        <p:attrNameLst>
                                          <p:attrName>style.visibility</p:attrName>
                                        </p:attrNameLst>
                                      </p:cBhvr>
                                      <p:to>
                                        <p:strVal val="visible"/>
                                      </p:to>
                                    </p:set>
                                    <p:animEffect transition="in" filter="circle(in)">
                                      <p:cBhvr>
                                        <p:cTn id="12" dur="2000"/>
                                        <p:tgtEl>
                                          <p:spTgt spid="34819">
                                            <p:txEl>
                                              <p:pRg st="2" end="2"/>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animEffect transition="in" filter="circle(in)">
                                      <p:cBhvr>
                                        <p:cTn id="15" dur="2000"/>
                                        <p:tgtEl>
                                          <p:spTgt spid="3481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4819">
                                            <p:txEl>
                                              <p:pRg st="4" end="4"/>
                                            </p:txEl>
                                          </p:spTgt>
                                        </p:tgtEl>
                                        <p:attrNameLst>
                                          <p:attrName>style.visibility</p:attrName>
                                        </p:attrNameLst>
                                      </p:cBhvr>
                                      <p:to>
                                        <p:strVal val="visible"/>
                                      </p:to>
                                    </p:set>
                                    <p:animEffect transition="in" filter="circle(in)">
                                      <p:cBhvr>
                                        <p:cTn id="20" dur="2000"/>
                                        <p:tgtEl>
                                          <p:spTgt spid="34819">
                                            <p:txEl>
                                              <p:pRg st="4" end="4"/>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34819">
                                            <p:txEl>
                                              <p:pRg st="5" end="5"/>
                                            </p:txEl>
                                          </p:spTgt>
                                        </p:tgtEl>
                                        <p:attrNameLst>
                                          <p:attrName>style.visibility</p:attrName>
                                        </p:attrNameLst>
                                      </p:cBhvr>
                                      <p:to>
                                        <p:strVal val="visible"/>
                                      </p:to>
                                    </p:set>
                                    <p:animEffect transition="in" filter="circle(in)">
                                      <p:cBhvr>
                                        <p:cTn id="23" dur="2000"/>
                                        <p:tgtEl>
                                          <p:spTgt spid="34819">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34819">
                                            <p:txEl>
                                              <p:pRg st="6" end="6"/>
                                            </p:txEl>
                                          </p:spTgt>
                                        </p:tgtEl>
                                        <p:attrNameLst>
                                          <p:attrName>style.visibility</p:attrName>
                                        </p:attrNameLst>
                                      </p:cBhvr>
                                      <p:to>
                                        <p:strVal val="visible"/>
                                      </p:to>
                                    </p:set>
                                    <p:animEffect transition="in" filter="wheel(1)">
                                      <p:cBhvr>
                                        <p:cTn id="28" dur="2000"/>
                                        <p:tgtEl>
                                          <p:spTgt spid="34819">
                                            <p:txEl>
                                              <p:pRg st="6" end="6"/>
                                            </p:txEl>
                                          </p:spTgt>
                                        </p:tgtEl>
                                      </p:cBhvr>
                                    </p:animEffect>
                                  </p:childTnLst>
                                </p:cTn>
                              </p:par>
                              <p:par>
                                <p:cTn id="29" presetID="21" presetClass="entr" presetSubtype="1" fill="hold" nodeType="withEffect">
                                  <p:stCondLst>
                                    <p:cond delay="0"/>
                                  </p:stCondLst>
                                  <p:childTnLst>
                                    <p:set>
                                      <p:cBhvr>
                                        <p:cTn id="30" dur="1" fill="hold">
                                          <p:stCondLst>
                                            <p:cond delay="0"/>
                                          </p:stCondLst>
                                        </p:cTn>
                                        <p:tgtEl>
                                          <p:spTgt spid="34819">
                                            <p:txEl>
                                              <p:pRg st="7" end="7"/>
                                            </p:txEl>
                                          </p:spTgt>
                                        </p:tgtEl>
                                        <p:attrNameLst>
                                          <p:attrName>style.visibility</p:attrName>
                                        </p:attrNameLst>
                                      </p:cBhvr>
                                      <p:to>
                                        <p:strVal val="visible"/>
                                      </p:to>
                                    </p:set>
                                    <p:animEffect transition="in" filter="wheel(1)">
                                      <p:cBhvr>
                                        <p:cTn id="31" dur="2000"/>
                                        <p:tgtEl>
                                          <p:spTgt spid="34819">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4819">
                                            <p:txEl>
                                              <p:pRg st="8" end="8"/>
                                            </p:txEl>
                                          </p:spTgt>
                                        </p:tgtEl>
                                        <p:attrNameLst>
                                          <p:attrName>style.visibility</p:attrName>
                                        </p:attrNameLst>
                                      </p:cBhvr>
                                      <p:to>
                                        <p:strVal val="visible"/>
                                      </p:to>
                                    </p:set>
                                    <p:animEffect transition="in" filter="barn(inVertical)">
                                      <p:cBhvr>
                                        <p:cTn id="36" dur="500"/>
                                        <p:tgtEl>
                                          <p:spTgt spid="34819">
                                            <p:txEl>
                                              <p:pRg st="8" end="8"/>
                                            </p:txEl>
                                          </p:spTgt>
                                        </p:tgtEl>
                                      </p:cBhvr>
                                    </p:animEffect>
                                  </p:childTnLst>
                                </p:cTn>
                              </p:par>
                              <p:par>
                                <p:cTn id="37" presetID="16" presetClass="entr" presetSubtype="21" fill="hold" nodeType="withEffect">
                                  <p:stCondLst>
                                    <p:cond delay="0"/>
                                  </p:stCondLst>
                                  <p:childTnLst>
                                    <p:set>
                                      <p:cBhvr>
                                        <p:cTn id="38" dur="1" fill="hold">
                                          <p:stCondLst>
                                            <p:cond delay="0"/>
                                          </p:stCondLst>
                                        </p:cTn>
                                        <p:tgtEl>
                                          <p:spTgt spid="34819">
                                            <p:txEl>
                                              <p:pRg st="9" end="9"/>
                                            </p:txEl>
                                          </p:spTgt>
                                        </p:tgtEl>
                                        <p:attrNameLst>
                                          <p:attrName>style.visibility</p:attrName>
                                        </p:attrNameLst>
                                      </p:cBhvr>
                                      <p:to>
                                        <p:strVal val="visible"/>
                                      </p:to>
                                    </p:set>
                                    <p:animEffect transition="in" filter="barn(inVertical)">
                                      <p:cBhvr>
                                        <p:cTn id="39" dur="500"/>
                                        <p:tgtEl>
                                          <p:spTgt spid="34819">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4819">
                                            <p:txEl>
                                              <p:pRg st="10" end="10"/>
                                            </p:txEl>
                                          </p:spTgt>
                                        </p:tgtEl>
                                        <p:attrNameLst>
                                          <p:attrName>style.visibility</p:attrName>
                                        </p:attrNameLst>
                                      </p:cBhvr>
                                      <p:to>
                                        <p:strVal val="visible"/>
                                      </p:to>
                                    </p:set>
                                    <p:animEffect transition="in" filter="fade">
                                      <p:cBhvr>
                                        <p:cTn id="44" dur="1000"/>
                                        <p:tgtEl>
                                          <p:spTgt spid="34819">
                                            <p:txEl>
                                              <p:pRg st="10" end="10"/>
                                            </p:txEl>
                                          </p:spTgt>
                                        </p:tgtEl>
                                      </p:cBhvr>
                                    </p:animEffect>
                                    <p:anim calcmode="lin" valueType="num">
                                      <p:cBhvr>
                                        <p:cTn id="45" dur="1000" fill="hold"/>
                                        <p:tgtEl>
                                          <p:spTgt spid="34819">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4819">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4819">
                                            <p:txEl>
                                              <p:pRg st="11" end="11"/>
                                            </p:txEl>
                                          </p:spTgt>
                                        </p:tgtEl>
                                        <p:attrNameLst>
                                          <p:attrName>style.visibility</p:attrName>
                                        </p:attrNameLst>
                                      </p:cBhvr>
                                      <p:to>
                                        <p:strVal val="visible"/>
                                      </p:to>
                                    </p:set>
                                    <p:animEffect transition="in" filter="fade">
                                      <p:cBhvr>
                                        <p:cTn id="49" dur="1000"/>
                                        <p:tgtEl>
                                          <p:spTgt spid="34819">
                                            <p:txEl>
                                              <p:pRg st="11" end="11"/>
                                            </p:txEl>
                                          </p:spTgt>
                                        </p:tgtEl>
                                      </p:cBhvr>
                                    </p:animEffect>
                                    <p:anim calcmode="lin" valueType="num">
                                      <p:cBhvr>
                                        <p:cTn id="50" dur="1000" fill="hold"/>
                                        <p:tgtEl>
                                          <p:spTgt spid="34819">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34819">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p:cNvSpPr txBox="1"/>
          <p:nvPr>
            <p:custDataLst>
              <p:tags r:id="rId2"/>
            </p:custDataLst>
          </p:nvPr>
        </p:nvSpPr>
        <p:spPr>
          <a:xfrm>
            <a:off x="914400" y="1133475"/>
            <a:ext cx="7315200" cy="2143125"/>
          </a:xfrm>
          <a:prstGeom prst="rect">
            <a:avLst/>
          </a:prstGeom>
          <a:noFill/>
          <a:ln w="9525">
            <a:noFill/>
          </a:ln>
        </p:spPr>
        <p:txBody>
          <a:bodyPr anchor="ctr" anchorCtr="0"/>
          <a:lstStyle/>
          <a:p>
            <a:pPr marL="0" lvl="1" indent="0"/>
            <a:r>
              <a:rPr lang="zh-CN" altLang="en-US"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 altLang="zh-CN" b="1" dirty="0">
                <a:latin typeface="楷体_GB2312" pitchFamily="49" charset="-122"/>
                <a:ea typeface="楷体_GB2312" pitchFamily="49" charset="-122"/>
              </a:rPr>
              <a:t>是风险管理的基础，是组织确定信息安全要求的途径之一，属于组织信息安全管理体系策划的过程。</a:t>
            </a:r>
          </a:p>
          <a:p>
            <a:r>
              <a:rPr lang="en-US" altLang="zh-CN" dirty="0">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867" name="圆角矩形 5"/>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36868" name="矩形 11"/>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p>
            <a:pPr>
              <a:spcBef>
                <a:spcPct val="50000"/>
              </a:spcBef>
            </a:pPr>
            <a:r>
              <a:rPr lang="zh-CN" altLang="en-US"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36869" name="组合 10"/>
          <p:cNvGrpSpPr/>
          <p:nvPr>
            <p:custDataLst>
              <p:tags r:id="rId5"/>
            </p:custDataLst>
          </p:nvPr>
        </p:nvGrpSpPr>
        <p:grpSpPr>
          <a:xfrm>
            <a:off x="0" y="0"/>
            <a:ext cx="9144000" cy="635000"/>
            <a:chOff x="0" y="0"/>
            <a:chExt cx="9144000" cy="635000"/>
          </a:xfrm>
        </p:grpSpPr>
        <p:sp>
          <p:nvSpPr>
            <p:cNvPr id="36871" name="TitleBackground"/>
            <p:cNvSpPr/>
            <p:nvPr>
              <p:custDataLst>
                <p:tags r:id="rId7"/>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36872" name="ColorBlock"/>
            <p:cNvSpPr/>
            <p:nvPr>
              <p:custDataLst>
                <p:tags r:id="rId8"/>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36873" name="TypeText"/>
            <p:cNvSpPr txBox="1"/>
            <p:nvPr>
              <p:custDataLst>
                <p:tags r:id="rId9"/>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填空题</a:t>
              </a:r>
            </a:p>
          </p:txBody>
        </p:sp>
        <p:sp>
          <p:nvSpPr>
            <p:cNvPr id="36874" name="TipText"/>
            <p:cNvSpPr txBox="1"/>
            <p:nvPr>
              <p:custDataLst>
                <p:tags r:id="rId10"/>
              </p:custDataLst>
            </p:nvPr>
          </p:nvSpPr>
          <p:spPr>
            <a:xfrm>
              <a:off x="1525905"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6870" name="图片 3"/>
          <p:cNvPicPr/>
          <p:nvPr>
            <p:custDataLst>
              <p:tags r:id="rId6"/>
            </p:custDataLst>
          </p:nvPr>
        </p:nvPicPr>
        <p:blipFill>
          <a:blip r:embed="rId12"/>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2"/>
          <p:cNvSpPr txBox="1"/>
          <p:nvPr>
            <p:custDataLst>
              <p:tags r:id="rId2"/>
            </p:custDataLst>
          </p:nvPr>
        </p:nvSpPr>
        <p:spPr>
          <a:xfrm>
            <a:off x="914400" y="635000"/>
            <a:ext cx="7315200" cy="2143125"/>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常见的风险评估方法策略有三种：</a:t>
            </a:r>
          </a:p>
        </p:txBody>
      </p:sp>
      <p:sp>
        <p:nvSpPr>
          <p:cNvPr id="37891" name="TextBox 3"/>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基线风险评估</a:t>
            </a:r>
          </a:p>
        </p:txBody>
      </p:sp>
      <p:sp>
        <p:nvSpPr>
          <p:cNvPr id="37892" name="TextBox 4"/>
          <p:cNvSpPr txBox="1"/>
          <p:nvPr>
            <p:custDataLst>
              <p:tags r:id="rId4"/>
            </p:custDataLst>
          </p:nvPr>
        </p:nvSpPr>
        <p:spPr>
          <a:xfrm>
            <a:off x="1828800" y="364331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详细风险评估</a:t>
            </a:r>
          </a:p>
        </p:txBody>
      </p:sp>
      <p:sp>
        <p:nvSpPr>
          <p:cNvPr id="37893" name="TextBox 5"/>
          <p:cNvSpPr txBox="1"/>
          <p:nvPr>
            <p:custDataLst>
              <p:tags r:id="rId5"/>
            </p:custDataLst>
          </p:nvPr>
        </p:nvSpPr>
        <p:spPr>
          <a:xfrm>
            <a:off x="1828800" y="450056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综合风险评估</a:t>
            </a:r>
          </a:p>
        </p:txBody>
      </p:sp>
      <p:sp>
        <p:nvSpPr>
          <p:cNvPr id="37894" name="TextBox 6"/>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资产风险评估</a:t>
            </a:r>
          </a:p>
        </p:txBody>
      </p:sp>
      <p:sp>
        <p:nvSpPr>
          <p:cNvPr id="37895" name="矩形 7"/>
          <p:cNvSpPr>
            <a:spLocks noChangeAspect="1"/>
          </p:cNvSpPr>
          <p:nvPr>
            <p:custDataLst>
              <p:tags r:id="rId7"/>
            </p:custDataLst>
          </p:nvPr>
        </p:nvSpPr>
        <p:spPr>
          <a:xfrm>
            <a:off x="1114425" y="28495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p>
        </p:txBody>
      </p:sp>
      <p:sp>
        <p:nvSpPr>
          <p:cNvPr id="37896" name="矩形 8"/>
          <p:cNvSpPr>
            <a:spLocks noChangeAspect="1"/>
          </p:cNvSpPr>
          <p:nvPr>
            <p:custDataLst>
              <p:tags r:id="rId8"/>
            </p:custDataLst>
          </p:nvPr>
        </p:nvSpPr>
        <p:spPr>
          <a:xfrm>
            <a:off x="1114425" y="370681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p>
        </p:txBody>
      </p:sp>
      <p:sp>
        <p:nvSpPr>
          <p:cNvPr id="37897" name="矩形 9"/>
          <p:cNvSpPr>
            <a:spLocks noChangeAspect="1"/>
          </p:cNvSpPr>
          <p:nvPr>
            <p:custDataLst>
              <p:tags r:id="rId9"/>
            </p:custDataLst>
          </p:nvPr>
        </p:nvSpPr>
        <p:spPr>
          <a:xfrm>
            <a:off x="1114425" y="45640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p>
        </p:txBody>
      </p:sp>
      <p:sp>
        <p:nvSpPr>
          <p:cNvPr id="37898" name="矩形 10"/>
          <p:cNvSpPr>
            <a:spLocks noChangeAspect="1"/>
          </p:cNvSpPr>
          <p:nvPr>
            <p:custDataLst>
              <p:tags r:id="rId10"/>
            </p:custDataLst>
          </p:nvPr>
        </p:nvSpPr>
        <p:spPr>
          <a:xfrm>
            <a:off x="1114425" y="542131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9" name="圆角矩形 11"/>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3" name="组合 2"/>
          <p:cNvGrpSpPr/>
          <p:nvPr>
            <p:custDataLst>
              <p:tags r:id="rId12"/>
            </p:custDataLst>
          </p:nvPr>
        </p:nvGrpSpPr>
        <p:grpSpPr>
          <a:xfrm>
            <a:off x="0" y="0"/>
            <a:ext cx="9144000" cy="635000"/>
            <a:chOff x="0" y="0"/>
            <a:chExt cx="9144000" cy="635000"/>
          </a:xfrm>
        </p:grpSpPr>
        <p:sp>
          <p:nvSpPr>
            <p:cNvPr id="37902" name="TitleBackground"/>
            <p:cNvSpPr/>
            <p:nvPr>
              <p:custDataLst>
                <p:tags r:id="rId14"/>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37903" name="ColorBlock"/>
            <p:cNvSpPr/>
            <p:nvPr>
              <p:custDataLst>
                <p:tags r:id="rId15"/>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37904" name="TypeText"/>
            <p:cNvSpPr txBox="1"/>
            <p:nvPr>
              <p:custDataLst>
                <p:tags r:id="rId16"/>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投票</a:t>
              </a:r>
            </a:p>
          </p:txBody>
        </p:sp>
        <p:sp>
          <p:nvSpPr>
            <p:cNvPr id="2" name="TipText"/>
            <p:cNvSpPr txBox="1"/>
            <p:nvPr>
              <p:custDataLst>
                <p:tags r:id="rId17"/>
              </p:custDataLst>
            </p:nvPr>
          </p:nvSpPr>
          <p:spPr>
            <a:xfrm>
              <a:off x="1195705" y="109220"/>
              <a:ext cx="2286000" cy="5080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最多可选2项</a:t>
              </a:r>
            </a:p>
          </p:txBody>
        </p:sp>
      </p:grpSp>
      <p:pic>
        <p:nvPicPr>
          <p:cNvPr id="37901" name="图片 1"/>
          <p:cNvPicPr/>
          <p:nvPr>
            <p:custDataLst>
              <p:tags r:id="rId13"/>
            </p:custDataLst>
          </p:nvPr>
        </p:nvPicPr>
        <p:blipFill>
          <a:blip r:embed="rId19"/>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38915" name="Group 3"/>
          <p:cNvGrpSpPr/>
          <p:nvPr/>
        </p:nvGrpSpPr>
        <p:grpSpPr>
          <a:xfrm>
            <a:off x="1828800" y="1752600"/>
            <a:ext cx="762000" cy="665163"/>
            <a:chOff x="1110" y="2656"/>
            <a:chExt cx="1549" cy="1351"/>
          </a:xfrm>
        </p:grpSpPr>
        <p:sp>
          <p:nvSpPr>
            <p:cNvPr id="3895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5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38916" name="Group 7"/>
          <p:cNvGrpSpPr/>
          <p:nvPr/>
        </p:nvGrpSpPr>
        <p:grpSpPr>
          <a:xfrm>
            <a:off x="1828800" y="2667000"/>
            <a:ext cx="762000" cy="665163"/>
            <a:chOff x="3174" y="2656"/>
            <a:chExt cx="1549" cy="1351"/>
          </a:xfrm>
        </p:grpSpPr>
        <p:sp>
          <p:nvSpPr>
            <p:cNvPr id="38954"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55"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8917"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38918"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信息安全风险评估策略</a:t>
            </a:r>
          </a:p>
        </p:txBody>
      </p:sp>
      <p:sp>
        <p:nvSpPr>
          <p:cNvPr id="38919"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38920"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38921"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38922"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38923"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38924"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信息安全风险评估过程</a:t>
            </a:r>
          </a:p>
        </p:txBody>
      </p:sp>
      <p:grpSp>
        <p:nvGrpSpPr>
          <p:cNvPr id="38925" name="组合 25"/>
          <p:cNvGrpSpPr/>
          <p:nvPr/>
        </p:nvGrpSpPr>
        <p:grpSpPr>
          <a:xfrm>
            <a:off x="1779588" y="3482975"/>
            <a:ext cx="5535612" cy="665163"/>
            <a:chOff x="1828800" y="3559175"/>
            <a:chExt cx="5534899" cy="665163"/>
          </a:xfrm>
        </p:grpSpPr>
        <p:sp>
          <p:nvSpPr>
            <p:cNvPr id="38948"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典型的风险分析方法</a:t>
              </a:r>
            </a:p>
          </p:txBody>
        </p:sp>
        <p:grpSp>
          <p:nvGrpSpPr>
            <p:cNvPr id="38949" name="Group 17"/>
            <p:cNvGrpSpPr/>
            <p:nvPr/>
          </p:nvGrpSpPr>
          <p:grpSpPr>
            <a:xfrm>
              <a:off x="1828800" y="3559175"/>
              <a:ext cx="762000" cy="665163"/>
              <a:chOff x="1110" y="2656"/>
              <a:chExt cx="1549" cy="1351"/>
            </a:xfrm>
          </p:grpSpPr>
          <p:sp>
            <p:nvSpPr>
              <p:cNvPr id="3895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5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38950"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38926"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38927"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38928" name="Group 7"/>
          <p:cNvGrpSpPr/>
          <p:nvPr/>
        </p:nvGrpSpPr>
        <p:grpSpPr>
          <a:xfrm>
            <a:off x="1784350" y="4303713"/>
            <a:ext cx="762000" cy="665162"/>
            <a:chOff x="3174" y="2656"/>
            <a:chExt cx="1549" cy="1351"/>
          </a:xfrm>
        </p:grpSpPr>
        <p:sp>
          <p:nvSpPr>
            <p:cNvPr id="3894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4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8929"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38930"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数据采集方法与评价工具</a:t>
            </a:r>
          </a:p>
        </p:txBody>
      </p:sp>
      <p:grpSp>
        <p:nvGrpSpPr>
          <p:cNvPr id="38931" name="Group 3"/>
          <p:cNvGrpSpPr/>
          <p:nvPr/>
        </p:nvGrpSpPr>
        <p:grpSpPr>
          <a:xfrm>
            <a:off x="1836738" y="5159375"/>
            <a:ext cx="762000" cy="665163"/>
            <a:chOff x="1110" y="2656"/>
            <a:chExt cx="1549" cy="1351"/>
          </a:xfrm>
        </p:grpSpPr>
        <p:sp>
          <p:nvSpPr>
            <p:cNvPr id="38942"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43"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8932"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38933"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38934"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风险评估实例报告</a:t>
            </a:r>
          </a:p>
        </p:txBody>
      </p:sp>
      <p:grpSp>
        <p:nvGrpSpPr>
          <p:cNvPr id="38935" name="Group 3"/>
          <p:cNvGrpSpPr/>
          <p:nvPr/>
        </p:nvGrpSpPr>
        <p:grpSpPr>
          <a:xfrm>
            <a:off x="1828800" y="5888038"/>
            <a:ext cx="762000" cy="665162"/>
            <a:chOff x="1110" y="2656"/>
            <a:chExt cx="1549" cy="1351"/>
          </a:xfrm>
        </p:grpSpPr>
        <p:sp>
          <p:nvSpPr>
            <p:cNvPr id="38939"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8940"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8936"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38937"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38938"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37891" name="内容占位符 2"/>
          <p:cNvSpPr>
            <a:spLocks noGrp="1"/>
          </p:cNvSpPr>
          <p:nvPr>
            <p:ph idx="1"/>
          </p:nvPr>
        </p:nvSpPr>
        <p:spPr>
          <a:xfrm>
            <a:off x="457200" y="1600200"/>
            <a:ext cx="8229600" cy="3352800"/>
          </a:xfrm>
          <a:ln/>
        </p:spPr>
        <p:txBody>
          <a:bodyPr vert="horz" wrap="square" lIns="91440" tIns="45720" rIns="91440" bIns="45720" anchor="t" anchorCtr="0"/>
          <a:lstStyle/>
          <a:p>
            <a:pPr marL="457200" lvl="1" indent="-457200" eaLnBrk="1" hangingPunct="1">
              <a:lnSpc>
                <a:spcPct val="150000"/>
              </a:lnSpc>
              <a:spcAft>
                <a:spcPct val="20000"/>
              </a:spcAft>
              <a:buClr>
                <a:srgbClr val="AC04A0"/>
              </a:buClr>
              <a:buFont typeface="Wingdings" panose="05000000000000000000" pitchFamily="2" charset="2"/>
              <a:buChar char="n"/>
            </a:pPr>
            <a:r>
              <a:rPr lang="zh-CN" altLang="en-US" dirty="0">
                <a:latin typeface="华文楷体" panose="02010600040101010101" pitchFamily="2" charset="-122"/>
                <a:ea typeface="华文楷体" panose="02010600040101010101" pitchFamily="2" charset="-122"/>
              </a:rPr>
              <a:t>风险</a:t>
            </a:r>
            <a:r>
              <a:rPr lang="zh-CN" altLang="zh-CN" dirty="0">
                <a:latin typeface="华文楷体" panose="02010600040101010101" pitchFamily="2" charset="-122"/>
                <a:ea typeface="华文楷体" panose="02010600040101010101" pitchFamily="2" charset="-122"/>
              </a:rPr>
              <a:t>评估</a:t>
            </a:r>
            <a:r>
              <a:rPr lang="zh-CN" altLang="en-US" dirty="0">
                <a:latin typeface="华文楷体" panose="02010600040101010101" pitchFamily="2" charset="-122"/>
                <a:ea typeface="华文楷体" panose="02010600040101010101" pitchFamily="2" charset="-122"/>
              </a:rPr>
              <a:t>分析方法，主要是风险的计算方法、定性与定量转化的</a:t>
            </a:r>
            <a:r>
              <a:rPr lang="zh-CN" altLang="en-US" dirty="0">
                <a:solidFill>
                  <a:srgbClr val="FF0000"/>
                </a:solidFill>
                <a:latin typeface="华文楷体" panose="02010600040101010101" pitchFamily="2" charset="-122"/>
                <a:ea typeface="华文楷体" panose="02010600040101010101" pitchFamily="2" charset="-122"/>
              </a:rPr>
              <a:t>模型</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457200" lvl="1" indent="-457200" eaLnBrk="1" hangingPunct="1">
              <a:lnSpc>
                <a:spcPct val="150000"/>
              </a:lnSpc>
              <a:spcAft>
                <a:spcPct val="20000"/>
              </a:spcAft>
              <a:buClr>
                <a:srgbClr val="AC04A0"/>
              </a:buClr>
              <a:buFont typeface="Wingdings" panose="05000000000000000000" pitchFamily="2" charset="2"/>
              <a:buChar char="n"/>
            </a:pPr>
            <a:r>
              <a:rPr lang="zh-CN" altLang="en-US" dirty="0">
                <a:latin typeface="华文楷体" panose="02010600040101010101" pitchFamily="2" charset="-122"/>
                <a:ea typeface="华文楷体" panose="02010600040101010101" pitchFamily="2" charset="-122"/>
              </a:rPr>
              <a:t>评估</a:t>
            </a:r>
            <a:r>
              <a:rPr lang="zh-CN" altLang="zh-CN" dirty="0">
                <a:latin typeface="华文楷体" panose="02010600040101010101" pitchFamily="2" charset="-122"/>
                <a:ea typeface="华文楷体" panose="02010600040101010101" pitchFamily="2" charset="-122"/>
              </a:rPr>
              <a:t>需要</a:t>
            </a:r>
            <a:r>
              <a:rPr lang="zh-CN" altLang="zh-CN" dirty="0">
                <a:solidFill>
                  <a:srgbClr val="FF0000"/>
                </a:solidFill>
                <a:latin typeface="华文楷体" panose="02010600040101010101" pitchFamily="2" charset="-122"/>
                <a:ea typeface="华文楷体" panose="02010600040101010101" pitchFamily="2" charset="-122"/>
              </a:rPr>
              <a:t>选择一个合适的</a:t>
            </a:r>
            <a:r>
              <a:rPr lang="zh-CN" altLang="en-US" dirty="0">
                <a:solidFill>
                  <a:srgbClr val="FF0000"/>
                </a:solidFill>
                <a:latin typeface="华文楷体" panose="02010600040101010101" pitchFamily="2" charset="-122"/>
                <a:ea typeface="华文楷体" panose="02010600040101010101" pitchFamily="2" charset="-122"/>
              </a:rPr>
              <a:t>风险</a:t>
            </a:r>
            <a:r>
              <a:rPr lang="zh-CN" altLang="zh-CN" dirty="0">
                <a:solidFill>
                  <a:srgbClr val="FF0000"/>
                </a:solidFill>
                <a:latin typeface="华文楷体" panose="02010600040101010101" pitchFamily="2" charset="-122"/>
                <a:ea typeface="华文楷体" panose="02010600040101010101" pitchFamily="2" charset="-122"/>
              </a:rPr>
              <a:t>评估模型</a:t>
            </a:r>
            <a:r>
              <a:rPr lang="zh-CN" altLang="zh-CN" dirty="0">
                <a:latin typeface="华文楷体" panose="02010600040101010101" pitchFamily="2" charset="-122"/>
                <a:ea typeface="华文楷体" panose="02010600040101010101" pitchFamily="2" charset="-122"/>
              </a:rPr>
              <a:t>和评估方法，</a:t>
            </a:r>
            <a:r>
              <a:rPr lang="zh-CN" altLang="en-US" dirty="0">
                <a:latin typeface="华文楷体" panose="02010600040101010101" pitchFamily="2" charset="-122"/>
                <a:ea typeface="华文楷体" panose="02010600040101010101" pitchFamily="2" charset="-122"/>
              </a:rPr>
              <a:t>以适应不同的被评估系统或环境</a:t>
            </a:r>
            <a:r>
              <a:rPr lang="zh-CN"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457200" lvl="1" indent="-457200" eaLnBrk="1" hangingPunct="1">
              <a:lnSpc>
                <a:spcPct val="150000"/>
              </a:lnSpc>
              <a:spcAft>
                <a:spcPct val="20000"/>
              </a:spcAft>
              <a:buClr>
                <a:srgbClr val="AC04A0"/>
              </a:buClr>
              <a:buFont typeface="Wingdings" panose="05000000000000000000" pitchFamily="2" charset="2"/>
              <a:buChar char="n"/>
            </a:pPr>
            <a:r>
              <a:rPr lang="zh-CN" altLang="zh-CN" dirty="0">
                <a:latin typeface="华文楷体" panose="02010600040101010101" pitchFamily="2" charset="-122"/>
                <a:ea typeface="华文楷体" panose="02010600040101010101" pitchFamily="2" charset="-122"/>
              </a:rPr>
              <a:t>信息安全</a:t>
            </a:r>
            <a:r>
              <a:rPr lang="zh-CN" altLang="en-US" dirty="0">
                <a:latin typeface="华文楷体" panose="02010600040101010101" pitchFamily="2" charset="-122"/>
                <a:ea typeface="华文楷体" panose="02010600040101010101" pitchFamily="2" charset="-122"/>
              </a:rPr>
              <a:t>风险</a:t>
            </a:r>
            <a:r>
              <a:rPr lang="zh-CN" altLang="zh-CN" dirty="0">
                <a:latin typeface="华文楷体" panose="02010600040101010101" pitchFamily="2" charset="-122"/>
                <a:ea typeface="华文楷体" panose="02010600040101010101" pitchFamily="2" charset="-122"/>
              </a:rPr>
              <a:t>评估是信息风险管理</a:t>
            </a:r>
            <a:r>
              <a:rPr lang="zh-CN" altLang="en-US" dirty="0">
                <a:latin typeface="华文楷体" panose="02010600040101010101" pitchFamily="2" charset="-122"/>
                <a:ea typeface="华文楷体" panose="02010600040101010101" pitchFamily="2" charset="-122"/>
              </a:rPr>
              <a:t>的</a:t>
            </a:r>
            <a:r>
              <a:rPr lang="zh-CN" altLang="zh-CN" dirty="0">
                <a:latin typeface="华文楷体" panose="02010600040101010101" pitchFamily="2" charset="-122"/>
                <a:ea typeface="华文楷体" panose="02010600040101010101" pitchFamily="2" charset="-122"/>
              </a:rPr>
              <a:t>重要一步，因此信息安全风险管理模型具有重要的作用。</a:t>
            </a:r>
            <a:r>
              <a:rPr lang="" altLang="en-US" dirty="0">
                <a:solidFill>
                  <a:srgbClr val="000000"/>
                </a:solidFill>
                <a:latin typeface="华文楷体" panose="02010600040101010101" pitchFamily="2" charset="-122"/>
                <a:ea typeface="华文楷体" panose="02010600040101010101" pitchFamily="2" charset="-122"/>
              </a:rPr>
              <a:t>   </a:t>
            </a:r>
            <a:endParaRPr lang="" altLang="en-US" sz="2400"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Effect transition="in" filter="barn(inVertical)">
                                      <p:cBhvr>
                                        <p:cTn id="7" dur="500"/>
                                        <p:tgtEl>
                                          <p:spTgt spid="378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7891">
                                            <p:txEl>
                                              <p:pRg st="2" end="2"/>
                                            </p:txEl>
                                          </p:spTgt>
                                        </p:tgtEl>
                                        <p:attrNameLst>
                                          <p:attrName>style.visibility</p:attrName>
                                        </p:attrNameLst>
                                      </p:cBhvr>
                                      <p:to>
                                        <p:strVal val="visible"/>
                                      </p:to>
                                    </p:set>
                                    <p:animEffect transition="in" filter="wheel(1)">
                                      <p:cBhvr>
                                        <p:cTn id="12" dur="2000"/>
                                        <p:tgtEl>
                                          <p:spTgt spid="378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3" name="内容占位符 2"/>
          <p:cNvSpPr>
            <a:spLocks noGrp="1"/>
          </p:cNvSpPr>
          <p:nvPr>
            <p:ph idx="1"/>
          </p:nvPr>
        </p:nvSpPr>
        <p:spPr>
          <a:xfrm>
            <a:off x="457200" y="1219200"/>
            <a:ext cx="8382000" cy="51054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en-US" sz="3200" b="1" i="0" u="none" strike="noStrike" kern="0" cap="none" spc="0" normalizeH="0" baseline="0" noProof="1" smtClean="0">
                <a:ln>
                  <a:noFill/>
                </a:ln>
                <a:solidFill>
                  <a:srgbClr val="000000"/>
                </a:solidFill>
                <a:effectLst/>
                <a:uLnTx/>
                <a:uFillTx/>
                <a:latin typeface="楷体_GB2312"/>
                <a:ea typeface="楷体_GB2312"/>
                <a:cs typeface="楷体_GB2312"/>
              </a:rPr>
              <a:t>故障</a:t>
            </a:r>
            <a:r>
              <a:rPr kumimoji="0" lang="zh-CN" altLang="en-US" sz="3200" b="1" i="0" u="none" strike="noStrike" kern="0" cap="none" spc="0" normalizeH="0" baseline="0" noProof="1" smtClean="0">
                <a:ln>
                  <a:noFill/>
                </a:ln>
                <a:solidFill>
                  <a:srgbClr val="FF0000"/>
                </a:solidFill>
                <a:effectLst/>
                <a:uLnTx/>
                <a:uFillTx/>
                <a:latin typeface="楷体_GB2312"/>
                <a:ea typeface="楷体_GB2312"/>
                <a:cs typeface="楷体_GB2312"/>
              </a:rPr>
              <a:t>树</a:t>
            </a:r>
            <a:r>
              <a:rPr kumimoji="0" lang="zh-CN" altLang="en-US" sz="3200" b="1" i="0" u="none" strike="noStrike" kern="0" cap="none" spc="0" normalizeH="0" baseline="0" noProof="1" smtClean="0">
                <a:ln>
                  <a:noFill/>
                </a:ln>
                <a:solidFill>
                  <a:srgbClr val="000000"/>
                </a:solidFill>
                <a:effectLst/>
                <a:uLnTx/>
                <a:uFillTx/>
                <a:latin typeface="楷体_GB2312"/>
                <a:ea typeface="楷体_GB2312"/>
                <a:cs typeface="楷体_GB2312"/>
              </a:rPr>
              <a:t>分析</a:t>
            </a: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故障树分析（</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Fault Tree Analysis</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FTA</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）模型是由</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Bell</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电话试验室的</a:t>
            </a:r>
            <a:r>
              <a:rPr kumimoji="0" lang="en-US" altLang="zh-CN" sz="20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Waston.HA</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于</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1961</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年提出的，作为</a:t>
            </a:r>
            <a:r>
              <a:rPr kumimoji="0" lang="zh-CN" altLang="zh-CN" sz="20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rPr>
              <a:t>分析系统可靠性的数学模型</a:t>
            </a:r>
            <a:r>
              <a:rPr kumimoji="0" lang="zh-CN" altLang="en-US" sz="20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rPr>
              <a:t>。</a:t>
            </a:r>
            <a:endParaRPr kumimoji="0" lang="en-US" altLang="zh-CN" sz="20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通过把可能造成系统故障（顶事件）的各种因素（底事件）进行分析，确定发生故障的各种组合，计算相应的概率，找出纠正措施，从而提高系统的可靠性，该方法现已经成为比较完善的系统可靠性分析技术。</a:t>
            </a:r>
            <a:r>
              <a:rPr kumimoji="0" lang="zh-CN" altLang="en-US" sz="1800" b="0"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       </a:t>
            </a:r>
            <a:endParaRPr kumimoji="0" lang="zh-CN" altLang="zh-CN" sz="1800" b="0"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是一种</a:t>
            </a: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T</a:t>
            </a:r>
            <a:r>
              <a:rPr kumimoji="0" lang="en-US"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op-</a:t>
            </a: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D</a:t>
            </a:r>
            <a:r>
              <a:rPr kumimoji="0" lang="en-US"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own</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方法，通过对可能造成系统故障的硬件、软件、环境、人为因素进行分析，</a:t>
            </a:r>
            <a:r>
              <a:rPr kumimoji="0" lang="zh-CN" altLang="en-US" sz="2000" b="0" i="0" u="none" strike="noStrike" kern="0" cap="none" spc="0" normalizeH="0" baseline="0" noProof="1" smtClean="0">
                <a:ln>
                  <a:noFill/>
                </a:ln>
                <a:solidFill>
                  <a:srgbClr val="FF0000"/>
                </a:solidFill>
                <a:effectLst/>
                <a:uLnTx/>
                <a:uFillTx/>
                <a:latin typeface="华文楷体" panose="02010600040101010101" pitchFamily="2" charset="-122"/>
                <a:ea typeface="华文楷体" panose="02010600040101010101" pitchFamily="2" charset="-122"/>
              </a:rPr>
              <a:t>画出故障原因的各种可能组合方式</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和/或其</a:t>
            </a:r>
            <a:r>
              <a:rPr kumimoji="0" lang="zh-CN" altLang="en-US" sz="2000" b="0" i="0" u="none" strike="noStrike" kern="0" cap="none" spc="0" normalizeH="0" baseline="0" noProof="1" smtClean="0">
                <a:ln>
                  <a:noFill/>
                </a:ln>
                <a:solidFill>
                  <a:srgbClr val="FF0000"/>
                </a:solidFill>
                <a:effectLst/>
                <a:uLnTx/>
                <a:uFillTx/>
                <a:latin typeface="华文楷体" panose="02010600040101010101" pitchFamily="2" charset="-122"/>
                <a:ea typeface="华文楷体" panose="02010600040101010101" pitchFamily="2" charset="-122"/>
              </a:rPr>
              <a:t>发生概率</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，由总体至部分，按树状结构，逐层细化的一种分析方法。</a:t>
            </a: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特点：</a:t>
            </a:r>
            <a:r>
              <a:rPr kumimoji="0" lang="zh-CN" altLang="en-US" sz="2000" b="0" i="0" u="none" strike="noStrike" kern="0" cap="none" spc="0" normalizeH="0" baseline="0" noProof="1" smtClean="0">
                <a:ln>
                  <a:noFill/>
                </a:ln>
                <a:solidFill>
                  <a:srgbClr val="FF0000"/>
                </a:solidFill>
                <a:effectLst/>
                <a:uLnTx/>
                <a:uFillTx/>
                <a:latin typeface="华文楷体" panose="02010600040101010101" pitchFamily="2" charset="-122"/>
                <a:ea typeface="华文楷体" panose="02010600040101010101" pitchFamily="2" charset="-122"/>
              </a:rPr>
              <a:t>灵活性</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a:t>
            </a:r>
            <a:r>
              <a:rPr kumimoji="0" lang="zh-CN" altLang="en-US" sz="2000" b="0" i="0" u="none" strike="noStrike" kern="0" cap="none" spc="0" normalizeH="0" baseline="0" noProof="1" smtClean="0">
                <a:ln>
                  <a:noFill/>
                </a:ln>
                <a:solidFill>
                  <a:srgbClr val="FF0000"/>
                </a:solidFill>
                <a:effectLst/>
                <a:uLnTx/>
                <a:uFillTx/>
                <a:latin typeface="华文楷体" panose="02010600040101010101" pitchFamily="2" charset="-122"/>
                <a:ea typeface="华文楷体" panose="02010600040101010101" pitchFamily="2" charset="-122"/>
              </a:rPr>
              <a:t>图形演绎</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rPr>
              <a:t>，通过故障树可以定量地计算复杂系统的故障概率及其他可靠性参数，为改善和评估系统可靠性提供定量数据。</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circle(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heel(1)">
                                      <p:cBhvr>
                                        <p:cTn id="2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39939" name="内容占位符 2"/>
          <p:cNvSpPr>
            <a:spLocks noGrp="1"/>
          </p:cNvSpPr>
          <p:nvPr>
            <p:ph idx="1"/>
          </p:nvPr>
        </p:nvSpPr>
        <p:spPr>
          <a:ln/>
        </p:spPr>
        <p:txBody>
          <a:bodyPr vert="horz" wrap="square" lIns="91440" tIns="45720" rIns="91440" bIns="45720" anchor="t" anchorCtr="0"/>
          <a:lstStyle/>
          <a:p>
            <a:pPr marL="0" indent="0">
              <a:buNone/>
            </a:pPr>
            <a:r>
              <a:rPr lang="zh-CN" altLang="en-US" sz="2800" b="1" dirty="0">
                <a:solidFill>
                  <a:srgbClr val="000000"/>
                </a:solidFill>
                <a:latin typeface="华文楷体" panose="02010600040101010101" pitchFamily="2" charset="-122"/>
                <a:ea typeface="华文楷体" panose="02010600040101010101" pitchFamily="2" charset="-122"/>
              </a:rPr>
              <a:t>故障树分析的过程简述如下：</a:t>
            </a:r>
          </a:p>
          <a:p>
            <a:pPr lvl="1"/>
            <a:r>
              <a:rPr lang="zh-CN" altLang="en-US" b="1" dirty="0">
                <a:solidFill>
                  <a:srgbClr val="000000"/>
                </a:solidFill>
                <a:latin typeface="华文楷体" panose="02010600040101010101" pitchFamily="2" charset="-122"/>
                <a:ea typeface="华文楷体" panose="02010600040101010101" pitchFamily="2" charset="-122"/>
              </a:rPr>
              <a:t>建造故障树</a:t>
            </a:r>
          </a:p>
          <a:p>
            <a:pPr lvl="1"/>
            <a:r>
              <a:rPr lang="zh-CN" altLang="en-US" b="1" dirty="0">
                <a:solidFill>
                  <a:srgbClr val="000000"/>
                </a:solidFill>
                <a:latin typeface="华文楷体" panose="02010600040101010101" pitchFamily="2" charset="-122"/>
                <a:ea typeface="华文楷体" panose="02010600040101010101" pitchFamily="2" charset="-122"/>
              </a:rPr>
              <a:t>求出故障树的全部最小割集</a:t>
            </a:r>
          </a:p>
          <a:p>
            <a:pPr lvl="1"/>
            <a:r>
              <a:rPr lang="zh-CN" altLang="en-US" b="1" dirty="0">
                <a:solidFill>
                  <a:srgbClr val="000000"/>
                </a:solidFill>
                <a:latin typeface="华文楷体" panose="02010600040101010101" pitchFamily="2" charset="-122"/>
                <a:ea typeface="华文楷体" panose="02010600040101010101" pitchFamily="2" charset="-122"/>
              </a:rPr>
              <a:t>计算顶事件的发生概率</a:t>
            </a:r>
          </a:p>
          <a:p>
            <a:pPr lvl="1"/>
            <a:r>
              <a:rPr lang="zh-CN" altLang="en-US" b="1" dirty="0">
                <a:solidFill>
                  <a:srgbClr val="000000"/>
                </a:solidFill>
                <a:latin typeface="华文楷体" panose="02010600040101010101" pitchFamily="2" charset="-122"/>
                <a:ea typeface="华文楷体" panose="02010600040101010101" pitchFamily="2" charset="-122"/>
              </a:rPr>
              <a:t>重要度的计算</a:t>
            </a:r>
          </a:p>
          <a:p>
            <a:pPr lvl="1"/>
            <a:r>
              <a:rPr lang="zh-CN" altLang="en-US" b="1" dirty="0">
                <a:solidFill>
                  <a:srgbClr val="000000"/>
                </a:solidFill>
                <a:latin typeface="华文楷体" panose="02010600040101010101" pitchFamily="2" charset="-122"/>
                <a:ea typeface="华文楷体" panose="02010600040101010101" pitchFamily="2" charset="-122"/>
              </a:rPr>
              <a:t>排列出各风险事件（顶事件）的顺序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Effect transition="in" filter="wipe(down)">
                                      <p:cBhvr>
                                        <p:cTn id="7" dur="500"/>
                                        <p:tgtEl>
                                          <p:spTgt spid="3993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9939">
                                            <p:txEl>
                                              <p:pRg st="2" end="2"/>
                                            </p:txEl>
                                          </p:spTgt>
                                        </p:tgtEl>
                                        <p:attrNameLst>
                                          <p:attrName>style.visibility</p:attrName>
                                        </p:attrNameLst>
                                      </p:cBhvr>
                                      <p:to>
                                        <p:strVal val="visible"/>
                                      </p:to>
                                    </p:set>
                                    <p:animEffect transition="in" filter="wipe(down)">
                                      <p:cBhvr>
                                        <p:cTn id="10" dur="500"/>
                                        <p:tgtEl>
                                          <p:spTgt spid="3993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9939">
                                            <p:txEl>
                                              <p:pRg st="3" end="3"/>
                                            </p:txEl>
                                          </p:spTgt>
                                        </p:tgtEl>
                                        <p:attrNameLst>
                                          <p:attrName>style.visibility</p:attrName>
                                        </p:attrNameLst>
                                      </p:cBhvr>
                                      <p:to>
                                        <p:strVal val="visible"/>
                                      </p:to>
                                    </p:set>
                                    <p:animEffect transition="in" filter="circle(in)">
                                      <p:cBhvr>
                                        <p:cTn id="15" dur="2000"/>
                                        <p:tgtEl>
                                          <p:spTgt spid="39939">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9939">
                                            <p:txEl>
                                              <p:pRg st="4" end="4"/>
                                            </p:txEl>
                                          </p:spTgt>
                                        </p:tgtEl>
                                        <p:attrNameLst>
                                          <p:attrName>style.visibility</p:attrName>
                                        </p:attrNameLst>
                                      </p:cBhvr>
                                      <p:to>
                                        <p:strVal val="visible"/>
                                      </p:to>
                                    </p:set>
                                    <p:animEffect transition="in" filter="circle(in)">
                                      <p:cBhvr>
                                        <p:cTn id="18" dur="2000"/>
                                        <p:tgtEl>
                                          <p:spTgt spid="3993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9939">
                                            <p:txEl>
                                              <p:pRg st="5" end="5"/>
                                            </p:txEl>
                                          </p:spTgt>
                                        </p:tgtEl>
                                        <p:attrNameLst>
                                          <p:attrName>style.visibility</p:attrName>
                                        </p:attrNameLst>
                                      </p:cBhvr>
                                      <p:to>
                                        <p:strVal val="visible"/>
                                      </p:to>
                                    </p:set>
                                    <p:animEffect transition="in" filter="barn(inVertical)">
                                      <p:cBhvr>
                                        <p:cTn id="23" dur="500"/>
                                        <p:tgtEl>
                                          <p:spTgt spid="399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0963" name="内容占位符 2"/>
          <p:cNvSpPr>
            <a:spLocks noGrp="1"/>
          </p:cNvSpPr>
          <p:nvPr>
            <p:ph idx="1"/>
          </p:nvPr>
        </p:nvSpPr>
        <p:spPr>
          <a:xfrm>
            <a:off x="76200" y="990600"/>
            <a:ext cx="8839200" cy="5638800"/>
          </a:xfrm>
          <a:ln/>
        </p:spPr>
        <p:txBody>
          <a:bodyPr vert="horz" wrap="square" lIns="91440" tIns="45720" rIns="91440" bIns="45720" anchor="t" anchorCtr="0"/>
          <a:lstStyle/>
          <a:p>
            <a:pPr marL="0" indent="0">
              <a:buNone/>
            </a:pPr>
            <a:r>
              <a:rPr lang="zh-CN" altLang="en-US" sz="2800" b="1" dirty="0">
                <a:solidFill>
                  <a:srgbClr val="000000"/>
                </a:solidFill>
                <a:latin typeface="华文楷体" panose="02010600040101010101" pitchFamily="2" charset="-122"/>
                <a:ea typeface="华文楷体" panose="02010600040101010101" pitchFamily="2" charset="-122"/>
              </a:rPr>
              <a:t>故障树分析的过程简述如下：</a:t>
            </a:r>
          </a:p>
          <a:p>
            <a:pPr lvl="1"/>
            <a:r>
              <a:rPr lang="zh-CN" altLang="en-US" b="1" dirty="0">
                <a:solidFill>
                  <a:srgbClr val="000000"/>
                </a:solidFill>
                <a:latin typeface="华文楷体" panose="02010600040101010101" pitchFamily="2" charset="-122"/>
                <a:ea typeface="华文楷体" panose="02010600040101010101" pitchFamily="2" charset="-122"/>
              </a:rPr>
              <a:t>建造故障树</a:t>
            </a:r>
            <a:endParaRPr lang="en-US" altLang="zh-CN" b="1" dirty="0">
              <a:solidFill>
                <a:srgbClr val="000000"/>
              </a:solidFill>
              <a:latin typeface="华文楷体" panose="02010600040101010101" pitchFamily="2" charset="-122"/>
              <a:ea typeface="华文楷体" panose="02010600040101010101" pitchFamily="2" charset="-122"/>
            </a:endParaRPr>
          </a:p>
          <a:p>
            <a:pPr lvl="2"/>
            <a:r>
              <a:rPr lang="zh-CN" altLang="en-US" dirty="0">
                <a:latin typeface="华文楷体" panose="02010600040101010101" pitchFamily="2" charset="-122"/>
                <a:ea typeface="华文楷体" panose="02010600040101010101" pitchFamily="2" charset="-122"/>
              </a:rPr>
              <a:t>概念：</a:t>
            </a:r>
            <a:r>
              <a:rPr lang="zh-CN" altLang="zh-CN" dirty="0">
                <a:solidFill>
                  <a:srgbClr val="2935E0"/>
                </a:solidFill>
                <a:latin typeface="华文楷体" panose="02010600040101010101" pitchFamily="2" charset="-122"/>
                <a:ea typeface="华文楷体" panose="02010600040101010101" pitchFamily="2" charset="-122"/>
              </a:rPr>
              <a:t>寻找</a:t>
            </a:r>
            <a:r>
              <a:rPr lang="zh-CN" altLang="zh-CN" dirty="0">
                <a:latin typeface="华文楷体" panose="02010600040101010101" pitchFamily="2" charset="-122"/>
                <a:ea typeface="华文楷体" panose="02010600040101010101" pitchFamily="2" charset="-122"/>
              </a:rPr>
              <a:t>系统故障和导致系统故障的诸因素之间</a:t>
            </a:r>
            <a:r>
              <a:rPr lang="zh-CN" altLang="zh-CN" dirty="0">
                <a:solidFill>
                  <a:srgbClr val="FF0000"/>
                </a:solidFill>
                <a:latin typeface="华文楷体" panose="02010600040101010101" pitchFamily="2" charset="-122"/>
                <a:ea typeface="华文楷体" panose="02010600040101010101" pitchFamily="2" charset="-122"/>
              </a:rPr>
              <a:t>逻辑关系</a:t>
            </a:r>
            <a:r>
              <a:rPr lang="zh-CN" altLang="zh-CN" dirty="0">
                <a:latin typeface="华文楷体" panose="02010600040101010101" pitchFamily="2" charset="-122"/>
                <a:ea typeface="华文楷体" panose="02010600040101010101" pitchFamily="2" charset="-122"/>
              </a:rPr>
              <a:t>，并且用故障树的图形符号</a:t>
            </a:r>
            <a:r>
              <a:rPr lang="zh-CN" altLang="zh-CN" sz="1800" dirty="0">
                <a:latin typeface="华文楷体" panose="02010600040101010101" pitchFamily="2" charset="-122"/>
                <a:ea typeface="华文楷体" panose="02010600040101010101" pitchFamily="2" charset="-122"/>
              </a:rPr>
              <a:t>（事件符号与逻辑门符号）</a:t>
            </a:r>
            <a:r>
              <a:rPr lang="zh-CN" altLang="zh-CN" dirty="0">
                <a:latin typeface="华文楷体" panose="02010600040101010101" pitchFamily="2" charset="-122"/>
                <a:ea typeface="华文楷体" panose="02010600040101010101" pitchFamily="2" charset="-122"/>
              </a:rPr>
              <a:t>，</a:t>
            </a:r>
            <a:r>
              <a:rPr lang="zh-CN" altLang="zh-CN" dirty="0">
                <a:solidFill>
                  <a:srgbClr val="2935E0"/>
                </a:solidFill>
                <a:latin typeface="华文楷体" panose="02010600040101010101" pitchFamily="2" charset="-122"/>
                <a:ea typeface="华文楷体" panose="02010600040101010101" pitchFamily="2" charset="-122"/>
              </a:rPr>
              <a:t>抽象表示</a:t>
            </a:r>
            <a:r>
              <a:rPr lang="zh-CN" altLang="zh-CN" dirty="0">
                <a:latin typeface="华文楷体" panose="02010600040101010101" pitchFamily="2" charset="-122"/>
                <a:ea typeface="华文楷体" panose="02010600040101010101" pitchFamily="2" charset="-122"/>
              </a:rPr>
              <a:t>实际系统故障组合和传递的逻辑关系。</a:t>
            </a:r>
          </a:p>
          <a:p>
            <a:pPr lvl="2"/>
            <a:r>
              <a:rPr lang="zh-CN" altLang="zh-CN" dirty="0">
                <a:latin typeface="华文楷体" panose="02010600040101010101" pitchFamily="2" charset="-122"/>
                <a:ea typeface="华文楷体" panose="02010600040101010101" pitchFamily="2" charset="-122"/>
              </a:rPr>
              <a:t>将重大风险事件作为</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顶事件</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顶事件</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的发生是由若干</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中间事件</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的逻辑组合所导致，</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中间事件</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又是各个</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底事件</a:t>
            </a:r>
            <a:r>
              <a:rPr lang="en-US" altLang="zh-CN"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逻辑组成所导致。这样构成一个</a:t>
            </a:r>
            <a:r>
              <a:rPr lang="zh-CN" altLang="zh-CN" dirty="0">
                <a:solidFill>
                  <a:srgbClr val="FF0000"/>
                </a:solidFill>
                <a:latin typeface="华文楷体" panose="02010600040101010101" pitchFamily="2" charset="-122"/>
                <a:ea typeface="华文楷体" panose="02010600040101010101" pitchFamily="2" charset="-122"/>
              </a:rPr>
              <a:t>倒立的树状逻辑因果关系图</a:t>
            </a:r>
            <a:r>
              <a:rPr lang="zh-CN" altLang="zh-CN" dirty="0">
                <a:latin typeface="华文楷体" panose="02010600040101010101" pitchFamily="2" charset="-122"/>
                <a:ea typeface="华文楷体" panose="02010600040101010101" pitchFamily="2" charset="-122"/>
              </a:rPr>
              <a:t>，顶事件可用各底事件的逻辑组合表示。</a:t>
            </a:r>
          </a:p>
          <a:p>
            <a:pPr lvl="2"/>
            <a:r>
              <a:rPr lang="zh-CN" altLang="en-US" dirty="0">
                <a:latin typeface="华文楷体" panose="02010600040101010101" pitchFamily="2" charset="-122"/>
                <a:ea typeface="华文楷体" panose="02010600040101010101" pitchFamily="2" charset="-122"/>
              </a:rPr>
              <a:t>故障树</a:t>
            </a:r>
            <a:r>
              <a:rPr lang="zh-CN" altLang="zh-CN" dirty="0">
                <a:latin typeface="华文楷体" panose="02010600040101010101" pitchFamily="2" charset="-122"/>
                <a:ea typeface="华文楷体" panose="02010600040101010101" pitchFamily="2" charset="-122"/>
              </a:rPr>
              <a:t>构造完成后，需要</a:t>
            </a:r>
            <a:r>
              <a:rPr lang="zh-CN" altLang="zh-CN" dirty="0">
                <a:solidFill>
                  <a:srgbClr val="FF0000"/>
                </a:solidFill>
                <a:latin typeface="华文楷体" panose="02010600040101010101" pitchFamily="2" charset="-122"/>
                <a:ea typeface="华文楷体" panose="02010600040101010101" pitchFamily="2" charset="-122"/>
              </a:rPr>
              <a:t>简化故障树</a:t>
            </a:r>
            <a:r>
              <a:rPr lang="zh-CN" altLang="zh-CN" dirty="0">
                <a:latin typeface="华文楷体" panose="02010600040101010101" pitchFamily="2" charset="-122"/>
                <a:ea typeface="华文楷体" panose="02010600040101010101" pitchFamily="2" charset="-122"/>
              </a:rPr>
              <a:t>，消除多余事件，特别是在故障树的不同位置存在同一基本事件时，必须利用布尔代数描述并进行整理，然后才能计算顶事件的发生概率，否则就会造成定性分析或定量分析的错误。</a:t>
            </a:r>
            <a:endParaRPr lang="zh-CN" altLang="en-US"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63">
                                            <p:txEl>
                                              <p:pRg st="2" end="2"/>
                                            </p:txEl>
                                          </p:spTgt>
                                        </p:tgtEl>
                                        <p:attrNameLst>
                                          <p:attrName>style.visibility</p:attrName>
                                        </p:attrNameLst>
                                      </p:cBhvr>
                                      <p:to>
                                        <p:strVal val="visible"/>
                                      </p:to>
                                    </p:set>
                                    <p:animEffect transition="in" filter="barn(inVertical)">
                                      <p:cBhvr>
                                        <p:cTn id="7" dur="500"/>
                                        <p:tgtEl>
                                          <p:spTgt spid="409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0963">
                                            <p:txEl>
                                              <p:pRg st="3" end="3"/>
                                            </p:txEl>
                                          </p:spTgt>
                                        </p:tgtEl>
                                        <p:attrNameLst>
                                          <p:attrName>style.visibility</p:attrName>
                                        </p:attrNameLst>
                                      </p:cBhvr>
                                      <p:to>
                                        <p:strVal val="visible"/>
                                      </p:to>
                                    </p:set>
                                    <p:animEffect transition="in" filter="circle(in)">
                                      <p:cBhvr>
                                        <p:cTn id="12" dur="2000"/>
                                        <p:tgtEl>
                                          <p:spTgt spid="409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animEffect transition="in" filter="wheel(1)">
                                      <p:cBhvr>
                                        <p:cTn id="17" dur="2000"/>
                                        <p:tgtEl>
                                          <p:spTgt spid="409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1987" name="内容占位符 2"/>
          <p:cNvSpPr>
            <a:spLocks noGrp="1"/>
          </p:cNvSpPr>
          <p:nvPr>
            <p:ph idx="1"/>
          </p:nvPr>
        </p:nvSpPr>
        <p:spPr>
          <a:xfrm>
            <a:off x="0" y="1066800"/>
            <a:ext cx="9067800" cy="5638800"/>
          </a:xfrm>
          <a:ln/>
        </p:spPr>
        <p:txBody>
          <a:bodyPr vert="horz" wrap="square" lIns="91440" tIns="45720" rIns="91440" bIns="45720" anchor="t" anchorCtr="0"/>
          <a:lstStyle/>
          <a:p>
            <a:pPr marL="0" indent="0">
              <a:buNone/>
            </a:pPr>
            <a:r>
              <a:rPr lang="zh-CN" altLang="en-US" sz="2800" b="1" dirty="0">
                <a:solidFill>
                  <a:srgbClr val="000000"/>
                </a:solidFill>
                <a:ea typeface="宋体" panose="02010600030101010101" pitchFamily="2" charset="-122"/>
              </a:rPr>
              <a:t>故障树分析的过程简述如下：</a:t>
            </a:r>
          </a:p>
          <a:p>
            <a:pPr lvl="1"/>
            <a:r>
              <a:rPr lang="zh-CN" altLang="en-US" b="1" dirty="0">
                <a:solidFill>
                  <a:srgbClr val="000000"/>
                </a:solidFill>
                <a:latin typeface="楷体_GB2312" pitchFamily="49" charset="-122"/>
                <a:ea typeface="楷体_GB2312" pitchFamily="49" charset="-122"/>
              </a:rPr>
              <a:t>求出故障树的全部最小割集</a:t>
            </a:r>
            <a:endParaRPr lang="en-US" altLang="zh-CN" b="1" dirty="0">
              <a:solidFill>
                <a:srgbClr val="000000"/>
              </a:solidFill>
              <a:latin typeface="楷体_GB2312" pitchFamily="49" charset="-122"/>
              <a:ea typeface="楷体_GB2312" pitchFamily="49" charset="-122"/>
            </a:endParaRPr>
          </a:p>
          <a:p>
            <a:pPr lvl="2"/>
            <a:r>
              <a:rPr lang="zh-CN" altLang="zh-CN" sz="2000" dirty="0">
                <a:solidFill>
                  <a:srgbClr val="FF0000"/>
                </a:solidFill>
                <a:latin typeface="华文楷体" panose="02010600040101010101" pitchFamily="2" charset="-122"/>
                <a:ea typeface="华文楷体" panose="02010600040101010101" pitchFamily="2" charset="-122"/>
              </a:rPr>
              <a:t>割集：</a:t>
            </a:r>
            <a:r>
              <a:rPr lang="zh-CN" altLang="zh-CN" sz="2000" dirty="0">
                <a:latin typeface="华文楷体" panose="02010600040101010101" pitchFamily="2" charset="-122"/>
                <a:ea typeface="华文楷体" panose="02010600040101010101" pitchFamily="2" charset="-122"/>
              </a:rPr>
              <a:t>指故障树中一些底事件的集合，当这些底事件发生时顶事件必然发生。</a:t>
            </a:r>
          </a:p>
          <a:p>
            <a:pPr lvl="2"/>
            <a:r>
              <a:rPr lang="zh-CN" altLang="zh-CN" sz="2000" dirty="0">
                <a:solidFill>
                  <a:srgbClr val="FF0000"/>
                </a:solidFill>
                <a:latin typeface="华文楷体" panose="02010600040101010101" pitchFamily="2" charset="-122"/>
                <a:ea typeface="华文楷体" panose="02010600040101010101" pitchFamily="2" charset="-122"/>
              </a:rPr>
              <a:t>最小割集：</a:t>
            </a:r>
            <a:r>
              <a:rPr lang="zh-CN" altLang="zh-CN" sz="2000" dirty="0">
                <a:latin typeface="华文楷体" panose="02010600040101010101" pitchFamily="2" charset="-122"/>
                <a:ea typeface="华文楷体" panose="02010600040101010101" pitchFamily="2" charset="-122"/>
              </a:rPr>
              <a:t>若在某个割集中将所含的底事件任意去掉一个，余下的底事件构不成割集（不能使顶事件必然发生），则这样的割集就是</a:t>
            </a:r>
            <a:r>
              <a:rPr lang="en-US" altLang="zh-CN" sz="2000" dirty="0">
                <a:latin typeface="华文楷体" panose="02010600040101010101" pitchFamily="2" charset="-122"/>
                <a:ea typeface="华文楷体" panose="02010600040101010101" pitchFamily="2" charset="-122"/>
              </a:rPr>
              <a:t>“</a:t>
            </a:r>
            <a:r>
              <a:rPr lang="zh-CN" altLang="zh-CN" sz="2000" dirty="0">
                <a:latin typeface="华文楷体" panose="02010600040101010101" pitchFamily="2" charset="-122"/>
                <a:ea typeface="华文楷体" panose="02010600040101010101" pitchFamily="2" charset="-122"/>
              </a:rPr>
              <a:t>最小割集</a:t>
            </a:r>
            <a:r>
              <a:rPr lang="en-US" altLang="zh-CN" sz="2000" dirty="0">
                <a:latin typeface="华文楷体" panose="02010600040101010101" pitchFamily="2" charset="-122"/>
                <a:ea typeface="华文楷体" panose="02010600040101010101" pitchFamily="2" charset="-122"/>
              </a:rPr>
              <a:t>”</a:t>
            </a:r>
            <a:r>
              <a:rPr lang="zh-CN" altLang="zh-CN" sz="2000" dirty="0">
                <a:latin typeface="华文楷体" panose="02010600040101010101" pitchFamily="2" charset="-122"/>
                <a:ea typeface="华文楷体" panose="02010600040101010101" pitchFamily="2" charset="-122"/>
              </a:rPr>
              <a:t>。</a:t>
            </a:r>
          </a:p>
          <a:p>
            <a:pPr lvl="2"/>
            <a:r>
              <a:rPr lang="zh-CN" altLang="zh-CN" sz="2000" dirty="0">
                <a:latin typeface="华文楷体" panose="02010600040101010101" pitchFamily="2" charset="-122"/>
                <a:ea typeface="华文楷体" panose="02010600040101010101" pitchFamily="2" charset="-122"/>
              </a:rPr>
              <a:t>求解最小割集的方法有很多， 目前常用方法有</a:t>
            </a:r>
            <a:r>
              <a:rPr lang="zh-CN" altLang="en-US" sz="2000" dirty="0">
                <a:latin typeface="华文楷体" panose="02010600040101010101" pitchFamily="2" charset="-122"/>
                <a:ea typeface="华文楷体" panose="02010600040101010101" pitchFamily="2" charset="-122"/>
              </a:rPr>
              <a:t>：</a:t>
            </a:r>
            <a:r>
              <a:rPr lang="zh-CN" altLang="zh-CN" sz="2000" dirty="0">
                <a:latin typeface="华文楷体" panose="02010600040101010101" pitchFamily="2" charset="-122"/>
                <a:ea typeface="华文楷体" panose="02010600040101010101" pitchFamily="2" charset="-122"/>
              </a:rPr>
              <a:t>下行法（</a:t>
            </a:r>
            <a:r>
              <a:rPr lang="en-US" altLang="zh-CN" sz="2000" dirty="0">
                <a:latin typeface="华文楷体" panose="02010600040101010101" pitchFamily="2" charset="-122"/>
                <a:ea typeface="华文楷体" panose="02010600040101010101" pitchFamily="2" charset="-122"/>
              </a:rPr>
              <a:t>Fussell-Vesely</a:t>
            </a:r>
            <a:r>
              <a:rPr lang="zh-CN" altLang="zh-CN" sz="2000" dirty="0">
                <a:latin typeface="华文楷体" panose="02010600040101010101" pitchFamily="2" charset="-122"/>
                <a:ea typeface="华文楷体" panose="02010600040101010101" pitchFamily="2" charset="-122"/>
              </a:rPr>
              <a:t>算法）和上行法（</a:t>
            </a:r>
            <a:r>
              <a:rPr lang="en-US" altLang="zh-CN" sz="2000" dirty="0">
                <a:latin typeface="华文楷体" panose="02010600040101010101" pitchFamily="2" charset="-122"/>
                <a:ea typeface="华文楷体" panose="02010600040101010101" pitchFamily="2" charset="-122"/>
              </a:rPr>
              <a:t> Seman-deres</a:t>
            </a:r>
            <a:r>
              <a:rPr lang="zh-CN" altLang="zh-CN" sz="2000" dirty="0">
                <a:latin typeface="华文楷体" panose="02010600040101010101" pitchFamily="2" charset="-122"/>
                <a:ea typeface="华文楷体" panose="02010600040101010101" pitchFamily="2" charset="-122"/>
              </a:rPr>
              <a:t>算法） 。</a:t>
            </a:r>
            <a:endParaRPr lang="en-US" altLang="zh-CN" sz="2000" dirty="0">
              <a:latin typeface="华文楷体" panose="02010600040101010101" pitchFamily="2" charset="-122"/>
              <a:ea typeface="华文楷体" panose="02010600040101010101" pitchFamily="2" charset="-122"/>
            </a:endParaRPr>
          </a:p>
          <a:p>
            <a:pPr lvl="2"/>
            <a:r>
              <a:rPr lang="zh-CN" altLang="zh-CN" sz="1800" dirty="0">
                <a:solidFill>
                  <a:srgbClr val="FF0000"/>
                </a:solidFill>
                <a:latin typeface="华文楷体" panose="02010600040101010101" pitchFamily="2" charset="-122"/>
                <a:ea typeface="华文楷体" panose="02010600040101010101" pitchFamily="2" charset="-122"/>
              </a:rPr>
              <a:t>下行法的主要思想</a:t>
            </a:r>
            <a:r>
              <a:rPr lang="zh-CN" altLang="zh-CN" sz="1800" dirty="0">
                <a:latin typeface="华文楷体" panose="02010600040101010101" pitchFamily="2" charset="-122"/>
                <a:ea typeface="华文楷体" panose="02010600040101010101" pitchFamily="2" charset="-122"/>
              </a:rPr>
              <a:t>是：从顶事件开始，依次把逻辑门的输出事件用输入事件置换。经过或门输入事件竖向写出，经过与门输入事件横向写出，直到全部门事件均置换为底事件为止。每行由若干个底事件组成，构成一个割集。再吸收、简化掉互相完全包含和冗余的割集，最后得到全部最小割集。</a:t>
            </a:r>
          </a:p>
          <a:p>
            <a:pPr lvl="1"/>
            <a:endParaRPr lang="zh-CN" altLang="en-US" sz="2400" b="1" dirty="0">
              <a:solidFill>
                <a:srgbClr val="000000"/>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1987">
                                            <p:txEl>
                                              <p:pRg st="2" end="2"/>
                                            </p:txEl>
                                          </p:spTgt>
                                        </p:tgtEl>
                                        <p:attrNameLst>
                                          <p:attrName>style.visibility</p:attrName>
                                        </p:attrNameLst>
                                      </p:cBhvr>
                                      <p:to>
                                        <p:strVal val="visible"/>
                                      </p:to>
                                    </p:set>
                                    <p:animEffect transition="in" filter="circle(in)">
                                      <p:cBhvr>
                                        <p:cTn id="7" dur="2000"/>
                                        <p:tgtEl>
                                          <p:spTgt spid="4198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1987">
                                            <p:txEl>
                                              <p:pRg st="3" end="3"/>
                                            </p:txEl>
                                          </p:spTgt>
                                        </p:tgtEl>
                                        <p:attrNameLst>
                                          <p:attrName>style.visibility</p:attrName>
                                        </p:attrNameLst>
                                      </p:cBhvr>
                                      <p:to>
                                        <p:strVal val="visible"/>
                                      </p:to>
                                    </p:set>
                                    <p:animEffect transition="in" filter="circle(in)">
                                      <p:cBhvr>
                                        <p:cTn id="12" dur="2000"/>
                                        <p:tgtEl>
                                          <p:spTgt spid="4198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animEffect transition="in" filter="circle(in)">
                                      <p:cBhvr>
                                        <p:cTn id="17" dur="2000"/>
                                        <p:tgtEl>
                                          <p:spTgt spid="4198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1987">
                                            <p:txEl>
                                              <p:pRg st="5" end="5"/>
                                            </p:txEl>
                                          </p:spTgt>
                                        </p:tgtEl>
                                        <p:attrNameLst>
                                          <p:attrName>style.visibility</p:attrName>
                                        </p:attrNameLst>
                                      </p:cBhvr>
                                      <p:to>
                                        <p:strVal val="visible"/>
                                      </p:to>
                                    </p:set>
                                    <p:animEffect transition="in" filter="circle(in)">
                                      <p:cBhvr>
                                        <p:cTn id="22" dur="2000"/>
                                        <p:tgtEl>
                                          <p:spTgt spid="419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3011" name="内容占位符 2"/>
          <p:cNvSpPr>
            <a:spLocks noGrp="1"/>
          </p:cNvSpPr>
          <p:nvPr>
            <p:ph idx="1"/>
          </p:nvPr>
        </p:nvSpPr>
        <p:spPr>
          <a:xfrm>
            <a:off x="457200" y="1219200"/>
            <a:ext cx="8458200" cy="5105400"/>
          </a:xfrm>
          <a:ln/>
        </p:spPr>
        <p:txBody>
          <a:bodyPr vert="horz" wrap="square" lIns="91440" tIns="45720" rIns="91440" bIns="45720" anchor="t" anchorCtr="0"/>
          <a:lstStyle/>
          <a:p>
            <a:pPr marL="0" indent="0">
              <a:buNone/>
            </a:pPr>
            <a:r>
              <a:rPr lang="zh-CN" altLang="en-US" sz="2800" b="1" dirty="0">
                <a:solidFill>
                  <a:srgbClr val="000000"/>
                </a:solidFill>
                <a:ea typeface="宋体" panose="02010600030101010101" pitchFamily="2" charset="-122"/>
              </a:rPr>
              <a:t>故障树分析的过程简述如下：</a:t>
            </a:r>
          </a:p>
          <a:p>
            <a:pPr lvl="1"/>
            <a:r>
              <a:rPr lang="zh-CN" altLang="en-US" b="1" dirty="0">
                <a:solidFill>
                  <a:srgbClr val="000000"/>
                </a:solidFill>
                <a:latin typeface="华文楷体" panose="02010600040101010101" pitchFamily="2" charset="-122"/>
                <a:ea typeface="华文楷体" panose="02010600040101010101" pitchFamily="2" charset="-122"/>
              </a:rPr>
              <a:t>计算顶事件的发生概率</a:t>
            </a:r>
            <a:endParaRPr lang="en-US" altLang="zh-CN" b="1" dirty="0">
              <a:solidFill>
                <a:srgbClr val="000000"/>
              </a:solidFill>
              <a:latin typeface="华文楷体" panose="02010600040101010101" pitchFamily="2" charset="-122"/>
              <a:ea typeface="华文楷体" panose="02010600040101010101" pitchFamily="2" charset="-122"/>
            </a:endParaRPr>
          </a:p>
          <a:p>
            <a:pPr lvl="2">
              <a:spcBef>
                <a:spcPts val="900"/>
              </a:spcBef>
            </a:pPr>
            <a:r>
              <a:rPr lang="zh-CN" altLang="zh-CN" dirty="0">
                <a:latin typeface="华文楷体" panose="02010600040101010101" pitchFamily="2" charset="-122"/>
                <a:ea typeface="华文楷体" panose="02010600040101010101" pitchFamily="2" charset="-122"/>
              </a:rPr>
              <a:t>计算顶事件发生概率的方法有若干种，用得最多的是借助</a:t>
            </a:r>
            <a:r>
              <a:rPr lang="zh-CN" altLang="zh-CN" dirty="0">
                <a:solidFill>
                  <a:srgbClr val="FF0000"/>
                </a:solidFill>
                <a:latin typeface="华文楷体" panose="02010600040101010101" pitchFamily="2" charset="-122"/>
                <a:ea typeface="华文楷体" panose="02010600040101010101" pitchFamily="2" charset="-122"/>
              </a:rPr>
              <a:t>定性分析</a:t>
            </a:r>
            <a:r>
              <a:rPr lang="zh-CN" altLang="zh-CN" dirty="0">
                <a:latin typeface="华文楷体" panose="02010600040101010101" pitchFamily="2" charset="-122"/>
                <a:ea typeface="华文楷体" panose="02010600040101010101" pitchFamily="2" charset="-122"/>
              </a:rPr>
              <a:t>的结果，利用最小割集等效成的故障树来求解。</a:t>
            </a:r>
            <a:endParaRPr lang="en-US" altLang="zh-CN" dirty="0">
              <a:latin typeface="华文楷体" panose="02010600040101010101" pitchFamily="2" charset="-122"/>
              <a:ea typeface="华文楷体" panose="02010600040101010101" pitchFamily="2" charset="-122"/>
            </a:endParaRPr>
          </a:p>
          <a:p>
            <a:pPr lvl="2">
              <a:spcBef>
                <a:spcPts val="900"/>
              </a:spcBef>
            </a:pPr>
            <a:r>
              <a:rPr lang="zh-CN" altLang="en-US" dirty="0">
                <a:latin typeface="华文楷体" panose="02010600040101010101" pitchFamily="2" charset="-122"/>
                <a:ea typeface="华文楷体" panose="02010600040101010101" pitchFamily="2" charset="-122"/>
              </a:rPr>
              <a:t>定性分析与定量分析相结合。</a:t>
            </a:r>
            <a:endParaRPr lang="en-US" altLang="zh-CN" dirty="0">
              <a:latin typeface="华文楷体" panose="02010600040101010101" pitchFamily="2" charset="-122"/>
              <a:ea typeface="华文楷体" panose="02010600040101010101" pitchFamily="2" charset="-122"/>
            </a:endParaRPr>
          </a:p>
          <a:p>
            <a:pPr lvl="2">
              <a:spcBef>
                <a:spcPts val="900"/>
              </a:spcBef>
            </a:pPr>
            <a:r>
              <a:rPr lang="zh-CN" altLang="zh-CN" dirty="0">
                <a:latin typeface="华文楷体" panose="02010600040101010101" pitchFamily="2" charset="-122"/>
                <a:ea typeface="华文楷体" panose="02010600040101010101" pitchFamily="2" charset="-122"/>
              </a:rPr>
              <a:t>对于庞大的故障树而言，求解最小割集和</a:t>
            </a:r>
            <a:r>
              <a:rPr lang="zh-CN" altLang="zh-CN" dirty="0" smtClean="0">
                <a:latin typeface="华文楷体" panose="02010600040101010101" pitchFamily="2" charset="-122"/>
                <a:ea typeface="华文楷体" panose="02010600040101010101" pitchFamily="2" charset="-122"/>
              </a:rPr>
              <a:t>利用公式</a:t>
            </a:r>
            <a:r>
              <a:rPr lang="zh-CN" altLang="zh-CN" dirty="0">
                <a:latin typeface="华文楷体" panose="02010600040101010101" pitchFamily="2" charset="-122"/>
                <a:ea typeface="华文楷体" panose="02010600040101010101" pitchFamily="2" charset="-122"/>
              </a:rPr>
              <a:t>计算顶事件发生概率时规模可能是相当繁杂的。</a:t>
            </a:r>
            <a:endParaRPr lang="en-US" altLang="zh-CN" dirty="0">
              <a:latin typeface="华文楷体" panose="02010600040101010101" pitchFamily="2" charset="-122"/>
              <a:ea typeface="华文楷体" panose="02010600040101010101" pitchFamily="2" charset="-122"/>
            </a:endParaRPr>
          </a:p>
          <a:p>
            <a:pPr lvl="2">
              <a:spcBef>
                <a:spcPts val="900"/>
              </a:spcBef>
            </a:pPr>
            <a:r>
              <a:rPr lang="zh-CN" altLang="zh-CN" dirty="0">
                <a:latin typeface="华文楷体" panose="02010600040101010101" pitchFamily="2" charset="-122"/>
                <a:ea typeface="华文楷体" panose="02010600040101010101" pitchFamily="2" charset="-122"/>
              </a:rPr>
              <a:t>可以采用</a:t>
            </a:r>
            <a:r>
              <a:rPr lang="zh-CN" altLang="zh-CN" dirty="0">
                <a:solidFill>
                  <a:srgbClr val="FF0000"/>
                </a:solidFill>
                <a:latin typeface="华文楷体" panose="02010600040101010101" pitchFamily="2" charset="-122"/>
                <a:ea typeface="华文楷体" panose="02010600040101010101" pitchFamily="2" charset="-122"/>
              </a:rPr>
              <a:t>近似计算</a:t>
            </a:r>
            <a:r>
              <a:rPr lang="zh-CN" altLang="en-US" dirty="0">
                <a:latin typeface="华文楷体" panose="02010600040101010101" pitchFamily="2" charset="-122"/>
                <a:ea typeface="华文楷体" panose="02010600040101010101" pitchFamily="2" charset="-122"/>
              </a:rPr>
              <a:t>，对定量计算公式</a:t>
            </a:r>
            <a:r>
              <a:rPr lang="zh-CN" altLang="zh-CN" dirty="0">
                <a:latin typeface="华文楷体" panose="02010600040101010101" pitchFamily="2" charset="-122"/>
                <a:ea typeface="华文楷体" panose="02010600040101010101" pitchFamily="2" charset="-122"/>
              </a:rPr>
              <a:t>简化处理。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011">
                                            <p:txEl>
                                              <p:pRg st="2" end="2"/>
                                            </p:txEl>
                                          </p:spTgt>
                                        </p:tgtEl>
                                        <p:attrNameLst>
                                          <p:attrName>style.visibility</p:attrName>
                                        </p:attrNameLst>
                                      </p:cBhvr>
                                      <p:to>
                                        <p:strVal val="visible"/>
                                      </p:to>
                                    </p:set>
                                    <p:animEffect transition="in" filter="wipe(down)">
                                      <p:cBhvr>
                                        <p:cTn id="7" dur="500"/>
                                        <p:tgtEl>
                                          <p:spTgt spid="430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3011">
                                            <p:txEl>
                                              <p:pRg st="3" end="3"/>
                                            </p:txEl>
                                          </p:spTgt>
                                        </p:tgtEl>
                                        <p:attrNameLst>
                                          <p:attrName>style.visibility</p:attrName>
                                        </p:attrNameLst>
                                      </p:cBhvr>
                                      <p:to>
                                        <p:strVal val="visible"/>
                                      </p:to>
                                    </p:set>
                                    <p:animEffect transition="in" filter="circle(in)">
                                      <p:cBhvr>
                                        <p:cTn id="12" dur="2000"/>
                                        <p:tgtEl>
                                          <p:spTgt spid="430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3011">
                                            <p:txEl>
                                              <p:pRg st="4" end="4"/>
                                            </p:txEl>
                                          </p:spTgt>
                                        </p:tgtEl>
                                        <p:attrNameLst>
                                          <p:attrName>style.visibility</p:attrName>
                                        </p:attrNameLst>
                                      </p:cBhvr>
                                      <p:to>
                                        <p:strVal val="visible"/>
                                      </p:to>
                                    </p:set>
                                    <p:animEffect transition="in" filter="circle(in)">
                                      <p:cBhvr>
                                        <p:cTn id="17" dur="2000"/>
                                        <p:tgtEl>
                                          <p:spTgt spid="430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43011">
                                            <p:txEl>
                                              <p:pRg st="5" end="5"/>
                                            </p:txEl>
                                          </p:spTgt>
                                        </p:tgtEl>
                                        <p:attrNameLst>
                                          <p:attrName>style.visibility</p:attrName>
                                        </p:attrNameLst>
                                      </p:cBhvr>
                                      <p:to>
                                        <p:strVal val="visible"/>
                                      </p:to>
                                    </p:set>
                                    <p:animEffect transition="in" filter="wheel(1)">
                                      <p:cBhvr>
                                        <p:cTn id="22" dur="2000"/>
                                        <p:tgtEl>
                                          <p:spTgt spid="430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4035" name="内容占位符 2"/>
          <p:cNvSpPr>
            <a:spLocks noGrp="1"/>
          </p:cNvSpPr>
          <p:nvPr>
            <p:ph idx="1"/>
          </p:nvPr>
        </p:nvSpPr>
        <p:spPr>
          <a:xfrm>
            <a:off x="457200" y="1066800"/>
            <a:ext cx="8229600" cy="5410200"/>
          </a:xfrm>
          <a:ln/>
        </p:spPr>
        <p:txBody>
          <a:bodyPr vert="horz" wrap="square" lIns="91440" tIns="45720" rIns="91440" bIns="45720" anchor="t" anchorCtr="0"/>
          <a:lstStyle/>
          <a:p>
            <a:pPr marL="0" indent="0">
              <a:buNone/>
            </a:pPr>
            <a:r>
              <a:rPr lang="zh-CN" altLang="en-US" sz="2800" b="1" dirty="0">
                <a:solidFill>
                  <a:srgbClr val="000000"/>
                </a:solidFill>
                <a:latin typeface="华文楷体" panose="02010600040101010101" pitchFamily="2" charset="-122"/>
                <a:ea typeface="华文楷体" panose="02010600040101010101" pitchFamily="2" charset="-122"/>
              </a:rPr>
              <a:t>故障树分析的过程简述如下：</a:t>
            </a:r>
          </a:p>
          <a:p>
            <a:pPr lvl="1"/>
            <a:r>
              <a:rPr lang="zh-CN" altLang="en-US" b="1" dirty="0">
                <a:solidFill>
                  <a:srgbClr val="000000"/>
                </a:solidFill>
                <a:latin typeface="华文楷体" panose="02010600040101010101" pitchFamily="2" charset="-122"/>
                <a:ea typeface="华文楷体" panose="02010600040101010101" pitchFamily="2" charset="-122"/>
              </a:rPr>
              <a:t>重要度的计算</a:t>
            </a:r>
            <a:endParaRPr lang="en-US" altLang="zh-CN" b="1" dirty="0">
              <a:solidFill>
                <a:srgbClr val="000000"/>
              </a:solidFill>
              <a:latin typeface="华文楷体" panose="02010600040101010101" pitchFamily="2" charset="-122"/>
              <a:ea typeface="华文楷体" panose="02010600040101010101" pitchFamily="2" charset="-122"/>
            </a:endParaRPr>
          </a:p>
          <a:p>
            <a:pPr lvl="2">
              <a:spcBef>
                <a:spcPts val="1200"/>
              </a:spcBef>
            </a:pPr>
            <a:r>
              <a:rPr lang="zh-CN" altLang="zh-CN" dirty="0">
                <a:latin typeface="华文楷体" panose="02010600040101010101" pitchFamily="2" charset="-122"/>
                <a:ea typeface="华文楷体" panose="02010600040101010101" pitchFamily="2" charset="-122"/>
              </a:rPr>
              <a:t>故障树中</a:t>
            </a:r>
            <a:r>
              <a:rPr lang="zh-CN" altLang="zh-CN" dirty="0">
                <a:solidFill>
                  <a:srgbClr val="FF0000"/>
                </a:solidFill>
                <a:latin typeface="华文楷体" panose="02010600040101010101" pitchFamily="2" charset="-122"/>
                <a:ea typeface="华文楷体" panose="02010600040101010101" pitchFamily="2" charset="-122"/>
              </a:rPr>
              <a:t>各底事件并非同等重要</a:t>
            </a:r>
            <a:r>
              <a:rPr lang="zh-CN" altLang="zh-CN" dirty="0">
                <a:latin typeface="华文楷体" panose="02010600040101010101" pitchFamily="2" charset="-122"/>
                <a:ea typeface="华文楷体" panose="02010600040101010101" pitchFamily="2" charset="-122"/>
              </a:rPr>
              <a:t>，为了定量分析各个底事件对顶事件发生的影响大小，对每个底事件的重要性程度给予定量的描述</a:t>
            </a:r>
            <a:r>
              <a:rPr lang="zh-CN" altLang="en-US" dirty="0">
                <a:latin typeface="华文楷体" panose="02010600040101010101" pitchFamily="2" charset="-122"/>
                <a:ea typeface="华文楷体" panose="02010600040101010101" pitchFamily="2" charset="-122"/>
              </a:rPr>
              <a:t>，从而引入</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重要度</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的概念。</a:t>
            </a:r>
            <a:endParaRPr lang="en-US" altLang="zh-CN" dirty="0">
              <a:latin typeface="华文楷体" panose="02010600040101010101" pitchFamily="2" charset="-122"/>
              <a:ea typeface="华文楷体" panose="02010600040101010101" pitchFamily="2" charset="-122"/>
            </a:endParaRPr>
          </a:p>
          <a:p>
            <a:pPr lvl="2">
              <a:spcBef>
                <a:spcPts val="1200"/>
              </a:spcBef>
            </a:pPr>
            <a:r>
              <a:rPr lang="zh-CN" altLang="zh-CN" dirty="0">
                <a:latin typeface="华文楷体" panose="02010600040101010101" pitchFamily="2" charset="-122"/>
                <a:ea typeface="华文楷体" panose="02010600040101010101" pitchFamily="2" charset="-122"/>
              </a:rPr>
              <a:t>包括</a:t>
            </a:r>
            <a:r>
              <a:rPr lang="zh-CN" altLang="en-US" dirty="0">
                <a:latin typeface="华文楷体" panose="02010600040101010101" pitchFamily="2" charset="-122"/>
                <a:ea typeface="华文楷体" panose="02010600040101010101" pitchFamily="2" charset="-122"/>
              </a:rPr>
              <a:t>四种：</a:t>
            </a:r>
            <a:endParaRPr lang="en-US" altLang="zh-CN" dirty="0">
              <a:latin typeface="华文楷体" panose="02010600040101010101" pitchFamily="2" charset="-122"/>
              <a:ea typeface="华文楷体" panose="02010600040101010101" pitchFamily="2" charset="-122"/>
            </a:endParaRPr>
          </a:p>
          <a:p>
            <a:pPr lvl="3"/>
            <a:r>
              <a:rPr lang="zh-CN" altLang="zh-CN" b="1" dirty="0">
                <a:solidFill>
                  <a:srgbClr val="FF0000"/>
                </a:solidFill>
                <a:latin typeface="华文楷体" panose="02010600040101010101" pitchFamily="2" charset="-122"/>
                <a:ea typeface="华文楷体" panose="02010600040101010101" pitchFamily="2" charset="-122"/>
              </a:rPr>
              <a:t>结构重要度</a:t>
            </a:r>
            <a:endParaRPr lang="en-US" altLang="zh-CN" b="1" dirty="0">
              <a:solidFill>
                <a:srgbClr val="FF0000"/>
              </a:solidFill>
              <a:latin typeface="华文楷体" panose="02010600040101010101" pitchFamily="2" charset="-122"/>
              <a:ea typeface="华文楷体" panose="02010600040101010101" pitchFamily="2" charset="-122"/>
            </a:endParaRPr>
          </a:p>
          <a:p>
            <a:pPr lvl="3"/>
            <a:r>
              <a:rPr lang="zh-CN" altLang="zh-CN" b="1" dirty="0">
                <a:solidFill>
                  <a:srgbClr val="FF0000"/>
                </a:solidFill>
                <a:latin typeface="华文楷体" panose="02010600040101010101" pitchFamily="2" charset="-122"/>
                <a:ea typeface="华文楷体" panose="02010600040101010101" pitchFamily="2" charset="-122"/>
              </a:rPr>
              <a:t>概率重要度</a:t>
            </a:r>
            <a:endParaRPr lang="en-US" altLang="zh-CN" b="1" dirty="0">
              <a:solidFill>
                <a:srgbClr val="FF0000"/>
              </a:solidFill>
              <a:latin typeface="华文楷体" panose="02010600040101010101" pitchFamily="2" charset="-122"/>
              <a:ea typeface="华文楷体" panose="02010600040101010101" pitchFamily="2" charset="-122"/>
            </a:endParaRPr>
          </a:p>
          <a:p>
            <a:pPr lvl="3"/>
            <a:r>
              <a:rPr lang="zh-CN" altLang="zh-CN" dirty="0">
                <a:latin typeface="华文楷体" panose="02010600040101010101" pitchFamily="2" charset="-122"/>
                <a:ea typeface="华文楷体" panose="02010600040101010101" pitchFamily="2" charset="-122"/>
              </a:rPr>
              <a:t>相对概率重要度</a:t>
            </a:r>
            <a:endParaRPr lang="en-US" altLang="zh-CN" dirty="0">
              <a:latin typeface="华文楷体" panose="02010600040101010101" pitchFamily="2" charset="-122"/>
              <a:ea typeface="华文楷体" panose="02010600040101010101" pitchFamily="2" charset="-122"/>
            </a:endParaRPr>
          </a:p>
          <a:p>
            <a:pPr lvl="3"/>
            <a:r>
              <a:rPr lang="zh-CN" altLang="zh-CN" dirty="0">
                <a:latin typeface="华文楷体" panose="02010600040101010101" pitchFamily="2" charset="-122"/>
                <a:ea typeface="华文楷体" panose="02010600040101010101" pitchFamily="2" charset="-122"/>
              </a:rPr>
              <a:t>相关割集重要度</a:t>
            </a:r>
            <a:endParaRPr lang="en-US" altLang="zh-CN" dirty="0">
              <a:latin typeface="华文楷体" panose="02010600040101010101" pitchFamily="2" charset="-122"/>
              <a:ea typeface="华文楷体" panose="02010600040101010101" pitchFamily="2" charset="-122"/>
            </a:endParaRPr>
          </a:p>
          <a:p>
            <a:pPr lvl="1"/>
            <a:r>
              <a:rPr lang="zh-CN" altLang="en-US" b="1" dirty="0">
                <a:solidFill>
                  <a:srgbClr val="000000"/>
                </a:solidFill>
                <a:latin typeface="华文楷体" panose="02010600040101010101" pitchFamily="2" charset="-122"/>
                <a:ea typeface="华文楷体" panose="02010600040101010101" pitchFamily="2" charset="-122"/>
              </a:rPr>
              <a:t>排列出各风险事件（顶事件）的顺序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4035">
                                            <p:txEl>
                                              <p:pRg st="2" end="2"/>
                                            </p:txEl>
                                          </p:spTgt>
                                        </p:tgtEl>
                                        <p:attrNameLst>
                                          <p:attrName>style.visibility</p:attrName>
                                        </p:attrNameLst>
                                      </p:cBhvr>
                                      <p:to>
                                        <p:strVal val="visible"/>
                                      </p:to>
                                    </p:set>
                                    <p:animEffect transition="in" filter="barn(inVertical)">
                                      <p:cBhvr>
                                        <p:cTn id="7" dur="500"/>
                                        <p:tgtEl>
                                          <p:spTgt spid="4403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4035">
                                            <p:txEl>
                                              <p:pRg st="3" end="3"/>
                                            </p:txEl>
                                          </p:spTgt>
                                        </p:tgtEl>
                                        <p:attrNameLst>
                                          <p:attrName>style.visibility</p:attrName>
                                        </p:attrNameLst>
                                      </p:cBhvr>
                                      <p:to>
                                        <p:strVal val="visible"/>
                                      </p:to>
                                    </p:set>
                                    <p:animEffect transition="in" filter="wipe(down)">
                                      <p:cBhvr>
                                        <p:cTn id="12" dur="500"/>
                                        <p:tgtEl>
                                          <p:spTgt spid="4403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4035">
                                            <p:txEl>
                                              <p:pRg st="4" end="4"/>
                                            </p:txEl>
                                          </p:spTgt>
                                        </p:tgtEl>
                                        <p:attrNameLst>
                                          <p:attrName>style.visibility</p:attrName>
                                        </p:attrNameLst>
                                      </p:cBhvr>
                                      <p:to>
                                        <p:strVal val="visible"/>
                                      </p:to>
                                    </p:set>
                                    <p:animEffect transition="in" filter="circle(in)">
                                      <p:cBhvr>
                                        <p:cTn id="17" dur="2000"/>
                                        <p:tgtEl>
                                          <p:spTgt spid="44035">
                                            <p:txEl>
                                              <p:pRg st="4" end="4"/>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44035">
                                            <p:txEl>
                                              <p:pRg st="5" end="5"/>
                                            </p:txEl>
                                          </p:spTgt>
                                        </p:tgtEl>
                                        <p:attrNameLst>
                                          <p:attrName>style.visibility</p:attrName>
                                        </p:attrNameLst>
                                      </p:cBhvr>
                                      <p:to>
                                        <p:strVal val="visible"/>
                                      </p:to>
                                    </p:set>
                                    <p:animEffect transition="in" filter="circle(in)">
                                      <p:cBhvr>
                                        <p:cTn id="20" dur="2000"/>
                                        <p:tgtEl>
                                          <p:spTgt spid="4403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44035">
                                            <p:txEl>
                                              <p:pRg st="6" end="6"/>
                                            </p:txEl>
                                          </p:spTgt>
                                        </p:tgtEl>
                                        <p:attrNameLst>
                                          <p:attrName>style.visibility</p:attrName>
                                        </p:attrNameLst>
                                      </p:cBhvr>
                                      <p:to>
                                        <p:strVal val="visible"/>
                                      </p:to>
                                    </p:set>
                                    <p:animEffect transition="in" filter="circle(in)">
                                      <p:cBhvr>
                                        <p:cTn id="25" dur="2000"/>
                                        <p:tgtEl>
                                          <p:spTgt spid="44035">
                                            <p:txEl>
                                              <p:pRg st="6" end="6"/>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44035">
                                            <p:txEl>
                                              <p:pRg st="7" end="7"/>
                                            </p:txEl>
                                          </p:spTgt>
                                        </p:tgtEl>
                                        <p:attrNameLst>
                                          <p:attrName>style.visibility</p:attrName>
                                        </p:attrNameLst>
                                      </p:cBhvr>
                                      <p:to>
                                        <p:strVal val="visible"/>
                                      </p:to>
                                    </p:set>
                                    <p:animEffect transition="in" filter="circle(in)">
                                      <p:cBhvr>
                                        <p:cTn id="28" dur="2000"/>
                                        <p:tgtEl>
                                          <p:spTgt spid="44035">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nodeType="clickEffect">
                                  <p:stCondLst>
                                    <p:cond delay="0"/>
                                  </p:stCondLst>
                                  <p:childTnLst>
                                    <p:set>
                                      <p:cBhvr>
                                        <p:cTn id="32" dur="1" fill="hold">
                                          <p:stCondLst>
                                            <p:cond delay="0"/>
                                          </p:stCondLst>
                                        </p:cTn>
                                        <p:tgtEl>
                                          <p:spTgt spid="44035">
                                            <p:txEl>
                                              <p:pRg st="8" end="8"/>
                                            </p:txEl>
                                          </p:spTgt>
                                        </p:tgtEl>
                                        <p:attrNameLst>
                                          <p:attrName>style.visibility</p:attrName>
                                        </p:attrNameLst>
                                      </p:cBhvr>
                                      <p:to>
                                        <p:strVal val="visible"/>
                                      </p:to>
                                    </p:set>
                                    <p:animEffect transition="in" filter="wheel(1)">
                                      <p:cBhvr>
                                        <p:cTn id="33" dur="2000"/>
                                        <p:tgtEl>
                                          <p:spTgt spid="440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5059" name="内容占位符 2"/>
          <p:cNvSpPr>
            <a:spLocks noGrp="1"/>
          </p:cNvSpPr>
          <p:nvPr>
            <p:ph idx="1"/>
          </p:nvPr>
        </p:nvSpPr>
        <p:spPr>
          <a:xfrm>
            <a:off x="0" y="1082675"/>
            <a:ext cx="8913813" cy="5775325"/>
          </a:xfrm>
          <a:ln/>
        </p:spPr>
        <p:txBody>
          <a:bodyPr vert="horz" wrap="square" lIns="91440" tIns="45720" rIns="91440" bIns="45720" anchor="t" anchorCtr="0"/>
          <a:lstStyle/>
          <a:p>
            <a:pPr marL="457200" lvl="1" indent="-457200" eaLnBrk="1" hangingPunct="1">
              <a:spcAft>
                <a:spcPct val="20000"/>
              </a:spcAft>
              <a:buClr>
                <a:srgbClr val="AC04A0"/>
              </a:buClr>
              <a:buFont typeface="Wingdings" panose="05000000000000000000" pitchFamily="2" charset="2"/>
              <a:buChar char="u"/>
            </a:pPr>
            <a:r>
              <a:rPr lang="zh-CN" altLang="en-US" sz="3200" b="1" dirty="0">
                <a:solidFill>
                  <a:srgbClr val="000000"/>
                </a:solidFill>
                <a:latin typeface="楷体_GB2312" pitchFamily="49" charset="-122"/>
                <a:ea typeface="楷体_GB2312" pitchFamily="49" charset="-122"/>
              </a:rPr>
              <a:t>故障模式影响及危害性分析</a:t>
            </a:r>
          </a:p>
          <a:p>
            <a:pPr marL="1200150" lvl="2" indent="-342900">
              <a:spcBef>
                <a:spcPts val="600"/>
              </a:spcBef>
              <a:buFont typeface="Wingdings" panose="05000000000000000000" pitchFamily="2" charset="2"/>
              <a:buChar char="n"/>
            </a:pPr>
            <a:r>
              <a:rPr lang="zh-CN" altLang="zh-CN" sz="2000" dirty="0">
                <a:ea typeface="宋体" panose="02010600030101010101" pitchFamily="2" charset="-122"/>
              </a:rPr>
              <a:t>故障模式影响及危害性分析（</a:t>
            </a:r>
            <a:r>
              <a:rPr lang="en-US" altLang="zh-CN" sz="2000" dirty="0">
                <a:ea typeface="宋体" panose="02010600030101010101" pitchFamily="2" charset="-122"/>
              </a:rPr>
              <a:t>Failure Mode</a:t>
            </a:r>
            <a:r>
              <a:rPr lang="zh-CN" altLang="zh-CN" sz="2000" dirty="0">
                <a:ea typeface="宋体" panose="02010600030101010101" pitchFamily="2" charset="-122"/>
              </a:rPr>
              <a:t>，</a:t>
            </a:r>
            <a:r>
              <a:rPr lang="en-US" altLang="zh-CN" sz="2000" dirty="0">
                <a:ea typeface="宋体" panose="02010600030101010101" pitchFamily="2" charset="-122"/>
              </a:rPr>
              <a:t>Effects and Criticality Analysis</a:t>
            </a:r>
            <a:r>
              <a:rPr lang="zh-CN" altLang="zh-CN" sz="2000" dirty="0">
                <a:ea typeface="宋体" panose="02010600030101010101" pitchFamily="2" charset="-122"/>
              </a:rPr>
              <a:t>，简记为</a:t>
            </a:r>
            <a:r>
              <a:rPr lang="en-US" altLang="zh-CN" sz="2000" dirty="0">
                <a:ea typeface="宋体" panose="02010600030101010101" pitchFamily="2" charset="-122"/>
              </a:rPr>
              <a:t>FMECA</a:t>
            </a:r>
            <a:r>
              <a:rPr lang="zh-CN" altLang="zh-CN" sz="2000" dirty="0">
                <a:ea typeface="宋体" panose="02010600030101010101" pitchFamily="2" charset="-122"/>
              </a:rPr>
              <a:t>）是故障模式影响分析（</a:t>
            </a:r>
            <a:r>
              <a:rPr lang="en-US" altLang="zh-CN" sz="2000" dirty="0">
                <a:ea typeface="宋体" panose="02010600030101010101" pitchFamily="2" charset="-122"/>
              </a:rPr>
              <a:t>FMEA</a:t>
            </a:r>
            <a:r>
              <a:rPr lang="zh-CN" altLang="zh-CN" sz="2000" dirty="0">
                <a:ea typeface="宋体" panose="02010600030101010101" pitchFamily="2" charset="-122"/>
              </a:rPr>
              <a:t>）和危害性分析（</a:t>
            </a:r>
            <a:r>
              <a:rPr lang="en-US" altLang="zh-CN" sz="2000" dirty="0">
                <a:ea typeface="宋体" panose="02010600030101010101" pitchFamily="2" charset="-122"/>
              </a:rPr>
              <a:t>Criticality Analysis-CA</a:t>
            </a:r>
            <a:r>
              <a:rPr lang="zh-CN" altLang="zh-CN" sz="2000" dirty="0">
                <a:ea typeface="宋体" panose="02010600030101010101" pitchFamily="2" charset="-122"/>
              </a:rPr>
              <a:t>）的</a:t>
            </a:r>
            <a:r>
              <a:rPr lang="zh-CN" altLang="zh-CN" sz="2000" dirty="0">
                <a:solidFill>
                  <a:srgbClr val="FF0000"/>
                </a:solidFill>
                <a:ea typeface="宋体" panose="02010600030101010101" pitchFamily="2" charset="-122"/>
              </a:rPr>
              <a:t>组合分析方法</a:t>
            </a:r>
            <a:r>
              <a:rPr lang="zh-CN" altLang="zh-CN" sz="2000" dirty="0">
                <a:ea typeface="宋体" panose="02010600030101010101" pitchFamily="2" charset="-122"/>
              </a:rPr>
              <a:t>。</a:t>
            </a:r>
            <a:endParaRPr lang="en-US" altLang="zh-CN" sz="2000" b="1" dirty="0">
              <a:solidFill>
                <a:srgbClr val="000000"/>
              </a:solidFill>
              <a:ea typeface="宋体" panose="02010600030101010101" pitchFamily="2" charset="-122"/>
            </a:endParaRPr>
          </a:p>
          <a:p>
            <a:pPr marL="1200150" lvl="2" indent="-342900">
              <a:spcBef>
                <a:spcPts val="600"/>
              </a:spcBef>
              <a:buFont typeface="Wingdings" panose="05000000000000000000" pitchFamily="2" charset="2"/>
              <a:buChar char="n"/>
            </a:pPr>
            <a:r>
              <a:rPr lang="zh-CN" altLang="en-US" sz="2000" dirty="0">
                <a:ea typeface="宋体" panose="02010600030101010101" pitchFamily="2" charset="-122"/>
              </a:rPr>
              <a:t>是分析系统中每一产品所有可能产生的故障模式及其对系统造成的</a:t>
            </a:r>
            <a:r>
              <a:rPr lang="zh-CN" altLang="en-US" sz="2000" dirty="0">
                <a:solidFill>
                  <a:srgbClr val="FF0000"/>
                </a:solidFill>
                <a:ea typeface="宋体" panose="02010600030101010101" pitchFamily="2" charset="-122"/>
              </a:rPr>
              <a:t>所有可能影响</a:t>
            </a:r>
            <a:r>
              <a:rPr lang="zh-CN" altLang="en-US" sz="2000" dirty="0">
                <a:ea typeface="宋体" panose="02010600030101010101" pitchFamily="2" charset="-122"/>
              </a:rPr>
              <a:t>，并按每一个故障模式的严重程度、检测难易程度以及发生频度予以分类的一种</a:t>
            </a:r>
            <a:r>
              <a:rPr lang="zh-CN" altLang="en-US" sz="2000" dirty="0">
                <a:solidFill>
                  <a:srgbClr val="FF0000"/>
                </a:solidFill>
                <a:ea typeface="宋体" panose="02010600030101010101" pitchFamily="2" charset="-122"/>
              </a:rPr>
              <a:t>归纳分析方法</a:t>
            </a:r>
            <a:r>
              <a:rPr lang="zh-CN" altLang="en-US" sz="2000" dirty="0">
                <a:ea typeface="宋体" panose="02010600030101010101" pitchFamily="2" charset="-122"/>
              </a:rPr>
              <a:t>。</a:t>
            </a:r>
          </a:p>
          <a:p>
            <a:pPr marL="1200150" lvl="2" indent="-342900">
              <a:spcBef>
                <a:spcPts val="600"/>
              </a:spcBef>
              <a:buFont typeface="Wingdings" panose="05000000000000000000" pitchFamily="2" charset="2"/>
              <a:buChar char="n"/>
            </a:pPr>
            <a:r>
              <a:rPr lang="zh-CN" altLang="en-US" sz="2000" dirty="0">
                <a:ea typeface="宋体" panose="02010600030101010101" pitchFamily="2" charset="-122"/>
              </a:rPr>
              <a:t>基本步骤是：</a:t>
            </a:r>
          </a:p>
          <a:p>
            <a:pPr lvl="3"/>
            <a:r>
              <a:rPr lang="zh-CN" altLang="en-US" b="1" dirty="0">
                <a:solidFill>
                  <a:srgbClr val="000000"/>
                </a:solidFill>
                <a:latin typeface="楷体_GB2312" pitchFamily="49" charset="-122"/>
                <a:ea typeface="楷体_GB2312" pitchFamily="49" charset="-122"/>
              </a:rPr>
              <a:t>系统分解，建立层次结构模型</a:t>
            </a:r>
          </a:p>
          <a:p>
            <a:pPr lvl="3"/>
            <a:r>
              <a:rPr lang="zh-CN" altLang="en-US" b="1" dirty="0">
                <a:solidFill>
                  <a:srgbClr val="000000"/>
                </a:solidFill>
                <a:latin typeface="楷体_GB2312" pitchFamily="49" charset="-122"/>
                <a:ea typeface="楷体_GB2312" pitchFamily="49" charset="-122"/>
              </a:rPr>
              <a:t>构造判断矩阵</a:t>
            </a:r>
          </a:p>
          <a:p>
            <a:pPr lvl="3"/>
            <a:r>
              <a:rPr lang="zh-CN" altLang="en-US" b="1" dirty="0">
                <a:solidFill>
                  <a:srgbClr val="000000"/>
                </a:solidFill>
                <a:latin typeface="楷体_GB2312" pitchFamily="49" charset="-122"/>
                <a:ea typeface="楷体_GB2312" pitchFamily="49" charset="-122"/>
              </a:rPr>
              <a:t>通过单层次计算进行安全性判断</a:t>
            </a:r>
          </a:p>
          <a:p>
            <a:pPr lvl="3"/>
            <a:r>
              <a:rPr lang="zh-CN" altLang="en-US" b="1" dirty="0">
                <a:solidFill>
                  <a:srgbClr val="000000"/>
                </a:solidFill>
                <a:latin typeface="楷体_GB2312" pitchFamily="49" charset="-122"/>
                <a:ea typeface="楷体_GB2312" pitchFamily="49" charset="-122"/>
              </a:rPr>
              <a:t>层次总排序，完成综合判断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animEffect transition="in" filter="wipe(down)">
                                      <p:cBhvr>
                                        <p:cTn id="7" dur="500"/>
                                        <p:tgtEl>
                                          <p:spTgt spid="450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5059">
                                            <p:txEl>
                                              <p:pRg st="2" end="2"/>
                                            </p:txEl>
                                          </p:spTgt>
                                        </p:tgtEl>
                                        <p:attrNameLst>
                                          <p:attrName>style.visibility</p:attrName>
                                        </p:attrNameLst>
                                      </p:cBhvr>
                                      <p:to>
                                        <p:strVal val="visible"/>
                                      </p:to>
                                    </p:set>
                                    <p:animEffect transition="in" filter="wheel(1)">
                                      <p:cBhvr>
                                        <p:cTn id="12" dur="2000"/>
                                        <p:tgtEl>
                                          <p:spTgt spid="450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5059">
                                            <p:txEl>
                                              <p:pRg st="3" end="3"/>
                                            </p:txEl>
                                          </p:spTgt>
                                        </p:tgtEl>
                                        <p:attrNameLst>
                                          <p:attrName>style.visibility</p:attrName>
                                        </p:attrNameLst>
                                      </p:cBhvr>
                                      <p:to>
                                        <p:strVal val="visible"/>
                                      </p:to>
                                    </p:set>
                                    <p:animEffect transition="in" filter="wipe(down)">
                                      <p:cBhvr>
                                        <p:cTn id="17" dur="500"/>
                                        <p:tgtEl>
                                          <p:spTgt spid="450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5059">
                                            <p:txEl>
                                              <p:pRg st="4" end="4"/>
                                            </p:txEl>
                                          </p:spTgt>
                                        </p:tgtEl>
                                        <p:attrNameLst>
                                          <p:attrName>style.visibility</p:attrName>
                                        </p:attrNameLst>
                                      </p:cBhvr>
                                      <p:to>
                                        <p:strVal val="visible"/>
                                      </p:to>
                                    </p:set>
                                    <p:animEffect transition="in" filter="circle(in)">
                                      <p:cBhvr>
                                        <p:cTn id="22" dur="2000"/>
                                        <p:tgtEl>
                                          <p:spTgt spid="45059">
                                            <p:txEl>
                                              <p:pRg st="4" end="4"/>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45059">
                                            <p:txEl>
                                              <p:pRg st="5" end="5"/>
                                            </p:txEl>
                                          </p:spTgt>
                                        </p:tgtEl>
                                        <p:attrNameLst>
                                          <p:attrName>style.visibility</p:attrName>
                                        </p:attrNameLst>
                                      </p:cBhvr>
                                      <p:to>
                                        <p:strVal val="visible"/>
                                      </p:to>
                                    </p:set>
                                    <p:animEffect transition="in" filter="circle(in)">
                                      <p:cBhvr>
                                        <p:cTn id="25" dur="2000"/>
                                        <p:tgtEl>
                                          <p:spTgt spid="4505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45059">
                                            <p:txEl>
                                              <p:pRg st="6" end="6"/>
                                            </p:txEl>
                                          </p:spTgt>
                                        </p:tgtEl>
                                        <p:attrNameLst>
                                          <p:attrName>style.visibility</p:attrName>
                                        </p:attrNameLst>
                                      </p:cBhvr>
                                      <p:to>
                                        <p:strVal val="visible"/>
                                      </p:to>
                                    </p:set>
                                    <p:animEffect transition="in" filter="circle(in)">
                                      <p:cBhvr>
                                        <p:cTn id="30" dur="2000"/>
                                        <p:tgtEl>
                                          <p:spTgt spid="45059">
                                            <p:txEl>
                                              <p:pRg st="6" end="6"/>
                                            </p:txEl>
                                          </p:spTgt>
                                        </p:tgtEl>
                                      </p:cBhvr>
                                    </p:animEffect>
                                  </p:childTnLst>
                                </p:cTn>
                              </p:par>
                              <p:par>
                                <p:cTn id="31" presetID="6" presetClass="entr" presetSubtype="16" fill="hold" nodeType="withEffect">
                                  <p:stCondLst>
                                    <p:cond delay="0"/>
                                  </p:stCondLst>
                                  <p:childTnLst>
                                    <p:set>
                                      <p:cBhvr>
                                        <p:cTn id="32" dur="1" fill="hold">
                                          <p:stCondLst>
                                            <p:cond delay="0"/>
                                          </p:stCondLst>
                                        </p:cTn>
                                        <p:tgtEl>
                                          <p:spTgt spid="45059">
                                            <p:txEl>
                                              <p:pRg st="7" end="7"/>
                                            </p:txEl>
                                          </p:spTgt>
                                        </p:tgtEl>
                                        <p:attrNameLst>
                                          <p:attrName>style.visibility</p:attrName>
                                        </p:attrNameLst>
                                      </p:cBhvr>
                                      <p:to>
                                        <p:strVal val="visible"/>
                                      </p:to>
                                    </p:set>
                                    <p:animEffect transition="in" filter="circle(in)">
                                      <p:cBhvr>
                                        <p:cTn id="33" dur="20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6083" name="内容占位符 2"/>
          <p:cNvSpPr>
            <a:spLocks noGrp="1"/>
          </p:cNvSpPr>
          <p:nvPr>
            <p:ph idx="1"/>
          </p:nvPr>
        </p:nvSpPr>
        <p:spPr>
          <a:xfrm>
            <a:off x="228600" y="1066800"/>
            <a:ext cx="8610600" cy="5632450"/>
          </a:xfrm>
          <a:ln/>
        </p:spPr>
        <p:txBody>
          <a:bodyPr vert="horz" wrap="square" lIns="91440" tIns="45720" rIns="91440" bIns="45720" anchor="t" anchorCtr="0"/>
          <a:lstStyle/>
          <a:p>
            <a:pPr>
              <a:buClr>
                <a:srgbClr val="CC3399"/>
              </a:buClr>
              <a:buFont typeface="Wingdings" panose="05000000000000000000" pitchFamily="2" charset="2"/>
              <a:buChar char="u"/>
            </a:pPr>
            <a:r>
              <a:rPr lang="" altLang="en-US" b="1" dirty="0">
                <a:solidFill>
                  <a:srgbClr val="000000"/>
                </a:solidFill>
                <a:latin typeface="楷体_GB2312" pitchFamily="49" charset="-122"/>
                <a:ea typeface="楷体_GB2312" pitchFamily="49" charset="-122"/>
              </a:rPr>
              <a:t>模糊综合评价法</a:t>
            </a:r>
          </a:p>
          <a:p>
            <a:pPr lvl="1">
              <a:spcBef>
                <a:spcPts val="600"/>
              </a:spcBef>
            </a:pPr>
            <a:r>
              <a:rPr lang="zh-CN" altLang="zh-CN" sz="2200" dirty="0">
                <a:latin typeface="华文楷体" panose="02010600040101010101" pitchFamily="2" charset="-122"/>
                <a:ea typeface="华文楷体" panose="02010600040101010101" pitchFamily="2" charset="-122"/>
              </a:rPr>
              <a:t>模糊分析是建立在模糊集合基础上的一种预测和评价方法。它的</a:t>
            </a:r>
            <a:r>
              <a:rPr lang="zh-CN" altLang="zh-CN" sz="2200" dirty="0">
                <a:solidFill>
                  <a:srgbClr val="FF0000"/>
                </a:solidFill>
                <a:latin typeface="华文楷体" panose="02010600040101010101" pitchFamily="2" charset="-122"/>
                <a:ea typeface="华文楷体" panose="02010600040101010101" pitchFamily="2" charset="-122"/>
              </a:rPr>
              <a:t>特点在于其评价方式与人们的正常思维模式很接近</a:t>
            </a:r>
            <a:r>
              <a:rPr lang="zh-CN" altLang="zh-CN" sz="2200" dirty="0">
                <a:latin typeface="华文楷体" panose="02010600040101010101" pitchFamily="2" charset="-122"/>
                <a:ea typeface="华文楷体" panose="02010600040101010101" pitchFamily="2" charset="-122"/>
              </a:rPr>
              <a:t>，可用程度语言描述对象。</a:t>
            </a:r>
          </a:p>
          <a:p>
            <a:pPr lvl="1">
              <a:spcBef>
                <a:spcPts val="600"/>
              </a:spcBef>
            </a:pPr>
            <a:r>
              <a:rPr lang="zh-CN" altLang="zh-CN" sz="2200" dirty="0">
                <a:latin typeface="华文楷体" panose="02010600040101010101" pitchFamily="2" charset="-122"/>
                <a:ea typeface="华文楷体" panose="02010600040101010101" pitchFamily="2" charset="-122"/>
              </a:rPr>
              <a:t>模糊评价是一种</a:t>
            </a:r>
            <a:r>
              <a:rPr lang="zh-CN" altLang="zh-CN" sz="2200" dirty="0">
                <a:solidFill>
                  <a:srgbClr val="FF0000"/>
                </a:solidFill>
                <a:latin typeface="华文楷体" panose="02010600040101010101" pitchFamily="2" charset="-122"/>
                <a:ea typeface="华文楷体" panose="02010600040101010101" pitchFamily="2" charset="-122"/>
              </a:rPr>
              <a:t>对不能准确定义的事件进行评价的方法</a:t>
            </a:r>
            <a:r>
              <a:rPr lang="zh-CN" altLang="zh-CN" sz="2200" dirty="0">
                <a:latin typeface="华文楷体" panose="02010600040101010101" pitchFamily="2" charset="-122"/>
                <a:ea typeface="华文楷体" panose="02010600040101010101" pitchFamily="2" charset="-122"/>
              </a:rPr>
              <a:t>。它将某种定性描述和人的主观判断用量化的形式表达。该方法可在一定程度上</a:t>
            </a:r>
            <a:r>
              <a:rPr lang="zh-CN" altLang="zh-CN" sz="2200" dirty="0">
                <a:solidFill>
                  <a:srgbClr val="FF0000"/>
                </a:solidFill>
                <a:latin typeface="华文楷体" panose="02010600040101010101" pitchFamily="2" charset="-122"/>
                <a:ea typeface="华文楷体" panose="02010600040101010101" pitchFamily="2" charset="-122"/>
              </a:rPr>
              <a:t>检查和减少人的主观影响</a:t>
            </a:r>
            <a:r>
              <a:rPr lang="zh-CN" altLang="zh-CN" sz="2200" dirty="0">
                <a:latin typeface="华文楷体" panose="02010600040101010101" pitchFamily="2" charset="-122"/>
                <a:ea typeface="华文楷体" panose="02010600040101010101" pitchFamily="2" charset="-122"/>
              </a:rPr>
              <a:t>，使评价更科学合理。</a:t>
            </a:r>
          </a:p>
          <a:p>
            <a:pPr lvl="1">
              <a:spcBef>
                <a:spcPts val="600"/>
              </a:spcBef>
            </a:pPr>
            <a:r>
              <a:rPr lang="zh-CN" altLang="zh-CN" sz="2200" dirty="0">
                <a:latin typeface="华文楷体" panose="02010600040101010101" pitchFamily="2" charset="-122"/>
                <a:ea typeface="华文楷体" panose="02010600040101010101" pitchFamily="2" charset="-122"/>
              </a:rPr>
              <a:t>模糊综合评价法的</a:t>
            </a:r>
            <a:r>
              <a:rPr lang="zh-CN" altLang="zh-CN" sz="2200" dirty="0">
                <a:solidFill>
                  <a:srgbClr val="FF0000"/>
                </a:solidFill>
                <a:latin typeface="华文楷体" panose="02010600040101010101" pitchFamily="2" charset="-122"/>
                <a:ea typeface="华文楷体" panose="02010600040101010101" pitchFamily="2" charset="-122"/>
              </a:rPr>
              <a:t>基本思想</a:t>
            </a:r>
            <a:r>
              <a:rPr lang="zh-CN" altLang="zh-CN" sz="2200" dirty="0">
                <a:latin typeface="华文楷体" panose="02010600040101010101" pitchFamily="2" charset="-122"/>
                <a:ea typeface="华文楷体" panose="02010600040101010101" pitchFamily="2" charset="-122"/>
              </a:rPr>
              <a:t>是：在确定评价因素、因子的评价等级标准和权值的基础上，运用模糊集合变换原理，以隶属度描述各因素及因子的模糊界线，构造模糊评价矩阵，通过多层的复合运算，最终确定评价对象所属等级。关键点是模糊评价矩阵的计算。</a:t>
            </a:r>
            <a:endParaRPr lang="" altLang="en-US" sz="2200"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circle(in)">
                                      <p:cBhvr>
                                        <p:cTn id="7" dur="2000"/>
                                        <p:tgtEl>
                                          <p:spTgt spid="460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6083">
                                            <p:txEl>
                                              <p:pRg st="2" end="2"/>
                                            </p:txEl>
                                          </p:spTgt>
                                        </p:tgtEl>
                                        <p:attrNameLst>
                                          <p:attrName>style.visibility</p:attrName>
                                        </p:attrNameLst>
                                      </p:cBhvr>
                                      <p:to>
                                        <p:strVal val="visible"/>
                                      </p:to>
                                    </p:set>
                                    <p:animEffect transition="in" filter="barn(inVertical)">
                                      <p:cBhvr>
                                        <p:cTn id="12" dur="500"/>
                                        <p:tgtEl>
                                          <p:spTgt spid="460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6083">
                                            <p:txEl>
                                              <p:pRg st="3" end="3"/>
                                            </p:txEl>
                                          </p:spTgt>
                                        </p:tgtEl>
                                        <p:attrNameLst>
                                          <p:attrName>style.visibility</p:attrName>
                                        </p:attrNameLst>
                                      </p:cBhvr>
                                      <p:to>
                                        <p:strVal val="visible"/>
                                      </p:to>
                                    </p:set>
                                    <p:animEffect transition="in" filter="circle(in)">
                                      <p:cBhvr>
                                        <p:cTn id="17" dur="2000"/>
                                        <p:tgtEl>
                                          <p:spTgt spid="46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7107" name="内容占位符 2"/>
          <p:cNvSpPr>
            <a:spLocks noGrp="1"/>
          </p:cNvSpPr>
          <p:nvPr>
            <p:ph idx="1"/>
          </p:nvPr>
        </p:nvSpPr>
        <p:spPr>
          <a:xfrm>
            <a:off x="228600" y="1066800"/>
            <a:ext cx="8570913" cy="5632450"/>
          </a:xfrm>
          <a:ln/>
        </p:spPr>
        <p:txBody>
          <a:bodyPr vert="horz" wrap="square" lIns="91440" tIns="45720" rIns="91440" bIns="45720" anchor="t" anchorCtr="0"/>
          <a:lstStyle/>
          <a:p>
            <a:pPr lvl="1"/>
            <a:r>
              <a:rPr lang="" altLang="en-US" b="1" dirty="0">
                <a:solidFill>
                  <a:srgbClr val="000000"/>
                </a:solidFill>
                <a:latin typeface="楷体_GB2312" pitchFamily="49" charset="-122"/>
                <a:ea typeface="楷体_GB2312" pitchFamily="49" charset="-122"/>
              </a:rPr>
              <a:t>评价过程如下：</a:t>
            </a:r>
            <a:endParaRPr lang="" altLang="zh-CN" b="1" dirty="0">
              <a:solidFill>
                <a:srgbClr val="000000"/>
              </a:solidFill>
              <a:latin typeface="楷体_GB2312" pitchFamily="49" charset="-122"/>
              <a:ea typeface="楷体_GB2312" pitchFamily="49" charset="-122"/>
            </a:endParaRPr>
          </a:p>
          <a:p>
            <a:pPr marL="1371600" lvl="2" indent="-457200">
              <a:buFontTx/>
              <a:buAutoNum type="arabicPeriod"/>
            </a:pPr>
            <a:r>
              <a:rPr lang="" altLang="en-US" b="1" dirty="0">
                <a:solidFill>
                  <a:srgbClr val="000000"/>
                </a:solidFill>
                <a:latin typeface="楷体_GB2312" pitchFamily="49" charset="-122"/>
                <a:ea typeface="楷体_GB2312" pitchFamily="49" charset="-122"/>
              </a:rPr>
              <a:t>建立系统评价指标体系</a:t>
            </a:r>
          </a:p>
          <a:p>
            <a:pPr marL="1371600" lvl="2" indent="-457200">
              <a:buFontTx/>
              <a:buAutoNum type="arabicPeriod"/>
            </a:pPr>
            <a:r>
              <a:rPr lang="" altLang="en-US" b="1" dirty="0">
                <a:solidFill>
                  <a:srgbClr val="000000"/>
                </a:solidFill>
                <a:latin typeface="楷体_GB2312" pitchFamily="49" charset="-122"/>
                <a:ea typeface="楷体_GB2312" pitchFamily="49" charset="-122"/>
              </a:rPr>
              <a:t>确定因素集</a:t>
            </a:r>
          </a:p>
          <a:p>
            <a:pPr marL="1371600" lvl="2" indent="-457200">
              <a:buFontTx/>
              <a:buAutoNum type="arabicPeriod"/>
            </a:pPr>
            <a:r>
              <a:rPr lang="" altLang="en-US" b="1" dirty="0">
                <a:solidFill>
                  <a:srgbClr val="000000"/>
                </a:solidFill>
                <a:latin typeface="楷体_GB2312" pitchFamily="49" charset="-122"/>
                <a:ea typeface="楷体_GB2312" pitchFamily="49" charset="-122"/>
              </a:rPr>
              <a:t>确定模糊权重集</a:t>
            </a:r>
          </a:p>
          <a:p>
            <a:pPr marL="1371600" lvl="2" indent="-457200">
              <a:buFontTx/>
              <a:buAutoNum type="arabicPeriod"/>
            </a:pPr>
            <a:r>
              <a:rPr lang="" altLang="en-US" b="1" dirty="0">
                <a:solidFill>
                  <a:srgbClr val="000000"/>
                </a:solidFill>
                <a:latin typeface="楷体_GB2312" pitchFamily="49" charset="-122"/>
                <a:ea typeface="楷体_GB2312" pitchFamily="49" charset="-122"/>
              </a:rPr>
              <a:t>确定评价集</a:t>
            </a:r>
          </a:p>
          <a:p>
            <a:pPr marL="1371600" lvl="2" indent="-457200">
              <a:buFontTx/>
              <a:buAutoNum type="arabicPeriod"/>
            </a:pPr>
            <a:r>
              <a:rPr lang="" altLang="en-US" b="1" dirty="0">
                <a:solidFill>
                  <a:srgbClr val="000000"/>
                </a:solidFill>
                <a:latin typeface="楷体_GB2312" pitchFamily="49" charset="-122"/>
                <a:ea typeface="楷体_GB2312" pitchFamily="49" charset="-122"/>
              </a:rPr>
              <a:t>建立模糊评价矩阵	</a:t>
            </a:r>
          </a:p>
          <a:p>
            <a:pPr marL="1371600" lvl="2" indent="-457200">
              <a:buFontTx/>
              <a:buAutoNum type="arabicPeriod"/>
            </a:pPr>
            <a:r>
              <a:rPr lang="" altLang="en-US" b="1" dirty="0">
                <a:solidFill>
                  <a:srgbClr val="000000"/>
                </a:solidFill>
                <a:latin typeface="楷体_GB2312" pitchFamily="49" charset="-122"/>
                <a:ea typeface="楷体_GB2312" pitchFamily="49" charset="-122"/>
              </a:rPr>
              <a:t>计算综合评价结果</a:t>
            </a:r>
          </a:p>
          <a:p>
            <a:pPr marL="1371600" lvl="2" indent="-457200">
              <a:buFontTx/>
              <a:buAutoNum type="arabicPeriod"/>
            </a:pPr>
            <a:r>
              <a:rPr lang="" altLang="en-US" b="1" dirty="0">
                <a:solidFill>
                  <a:srgbClr val="000000"/>
                </a:solidFill>
                <a:latin typeface="楷体_GB2312" pitchFamily="49" charset="-122"/>
                <a:ea typeface="楷体_GB2312" pitchFamily="49" charset="-122"/>
              </a:rPr>
              <a:t>给出评价报告</a:t>
            </a:r>
          </a:p>
          <a:p>
            <a:pPr>
              <a:buNone/>
            </a:pPr>
            <a:r>
              <a:rPr lang="" altLang="en-US" sz="2800" b="1" dirty="0">
                <a:solidFill>
                  <a:srgbClr val="000000"/>
                </a:solidFill>
              </a:rPr>
              <a:t>     </a:t>
            </a:r>
            <a:r>
              <a:rPr lang="" altLang="en-US" sz="2800" b="1" dirty="0">
                <a:solidFill>
                  <a:srgbClr val="FF0000"/>
                </a:solidFill>
                <a:latin typeface="华文新魏" panose="02010800040101010101" pitchFamily="2" charset="-122"/>
                <a:ea typeface="华文新魏" panose="02010800040101010101" pitchFamily="2" charset="-122"/>
              </a:rPr>
              <a:t>常用的评价原则有：最大隶属度原则,最小代价原则，置信度原则，评分原则等。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barn(inVertical)">
                                      <p:cBhvr>
                                        <p:cTn id="7" dur="500"/>
                                        <p:tgtEl>
                                          <p:spTgt spid="47107">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7107">
                                            <p:txEl>
                                              <p:pRg st="2" end="2"/>
                                            </p:txEl>
                                          </p:spTgt>
                                        </p:tgtEl>
                                        <p:attrNameLst>
                                          <p:attrName>style.visibility</p:attrName>
                                        </p:attrNameLst>
                                      </p:cBhvr>
                                      <p:to>
                                        <p:strVal val="visible"/>
                                      </p:to>
                                    </p:set>
                                    <p:animEffect transition="in" filter="barn(inVertical)">
                                      <p:cBhvr>
                                        <p:cTn id="10" dur="500"/>
                                        <p:tgtEl>
                                          <p:spTgt spid="4710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animEffect transition="in" filter="wipe(down)">
                                      <p:cBhvr>
                                        <p:cTn id="15" dur="500"/>
                                        <p:tgtEl>
                                          <p:spTgt spid="47107">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7107">
                                            <p:txEl>
                                              <p:pRg st="4" end="4"/>
                                            </p:txEl>
                                          </p:spTgt>
                                        </p:tgtEl>
                                        <p:attrNameLst>
                                          <p:attrName>style.visibility</p:attrName>
                                        </p:attrNameLst>
                                      </p:cBhvr>
                                      <p:to>
                                        <p:strVal val="visible"/>
                                      </p:to>
                                    </p:set>
                                    <p:animEffect transition="in" filter="wipe(down)">
                                      <p:cBhvr>
                                        <p:cTn id="18" dur="500"/>
                                        <p:tgtEl>
                                          <p:spTgt spid="4710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animEffect transition="in" filter="wipe(down)">
                                      <p:cBhvr>
                                        <p:cTn id="23" dur="500"/>
                                        <p:tgtEl>
                                          <p:spTgt spid="47107">
                                            <p:txEl>
                                              <p:pRg st="5" end="5"/>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47107">
                                            <p:txEl>
                                              <p:pRg st="6" end="6"/>
                                            </p:txEl>
                                          </p:spTgt>
                                        </p:tgtEl>
                                        <p:attrNameLst>
                                          <p:attrName>style.visibility</p:attrName>
                                        </p:attrNameLst>
                                      </p:cBhvr>
                                      <p:to>
                                        <p:strVal val="visible"/>
                                      </p:to>
                                    </p:set>
                                    <p:animEffect transition="in" filter="wipe(down)">
                                      <p:cBhvr>
                                        <p:cTn id="26" dur="500"/>
                                        <p:tgtEl>
                                          <p:spTgt spid="47107">
                                            <p:txEl>
                                              <p:pRg st="6" end="6"/>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47107">
                                            <p:txEl>
                                              <p:pRg st="7" end="7"/>
                                            </p:txEl>
                                          </p:spTgt>
                                        </p:tgtEl>
                                        <p:attrNameLst>
                                          <p:attrName>style.visibility</p:attrName>
                                        </p:attrNameLst>
                                      </p:cBhvr>
                                      <p:to>
                                        <p:strVal val="visible"/>
                                      </p:to>
                                    </p:set>
                                    <p:animEffect transition="in" filter="wipe(down)">
                                      <p:cBhvr>
                                        <p:cTn id="29" dur="500"/>
                                        <p:tgtEl>
                                          <p:spTgt spid="47107">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7107">
                                            <p:txEl>
                                              <p:pRg st="8" end="8"/>
                                            </p:txEl>
                                          </p:spTgt>
                                        </p:tgtEl>
                                        <p:attrNameLst>
                                          <p:attrName>style.visibility</p:attrName>
                                        </p:attrNameLst>
                                      </p:cBhvr>
                                      <p:to>
                                        <p:strVal val="visible"/>
                                      </p:to>
                                    </p:set>
                                    <p:animEffect transition="in" filter="wipe(down)">
                                      <p:cBhvr>
                                        <p:cTn id="34" dur="500"/>
                                        <p:tgtEl>
                                          <p:spTgt spid="471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8131" name="内容占位符 2"/>
          <p:cNvSpPr>
            <a:spLocks noGrp="1"/>
          </p:cNvSpPr>
          <p:nvPr>
            <p:ph idx="1"/>
          </p:nvPr>
        </p:nvSpPr>
        <p:spPr>
          <a:xfrm>
            <a:off x="152400" y="990600"/>
            <a:ext cx="8915400" cy="5562600"/>
          </a:xfrm>
          <a:ln/>
        </p:spPr>
        <p:txBody>
          <a:bodyPr vert="horz" wrap="square" lIns="91440" tIns="45720" rIns="91440" bIns="45720" anchor="t" anchorCtr="0"/>
          <a:lstStyle/>
          <a:p>
            <a:pPr>
              <a:buClr>
                <a:srgbClr val="C00000"/>
              </a:buClr>
              <a:buFont typeface="Wingdings" panose="05000000000000000000" pitchFamily="2" charset="2"/>
              <a:buChar char="u"/>
            </a:pPr>
            <a:r>
              <a:rPr lang="" altLang="en-US" b="1" dirty="0">
                <a:solidFill>
                  <a:srgbClr val="000000"/>
                </a:solidFill>
                <a:latin typeface="楷体_GB2312" pitchFamily="49" charset="-122"/>
                <a:ea typeface="楷体_GB2312" pitchFamily="49" charset="-122"/>
              </a:rPr>
              <a:t>德尔斐法</a:t>
            </a:r>
          </a:p>
          <a:p>
            <a:pPr lvl="1"/>
            <a:r>
              <a:rPr lang="" altLang="en-US" sz="2400" dirty="0">
                <a:latin typeface="华文楷体" panose="02010600040101010101" pitchFamily="2" charset="-122"/>
                <a:ea typeface="华文楷体" panose="02010600040101010101" pitchFamily="2" charset="-122"/>
              </a:rPr>
              <a:t>德尔斐法是一种</a:t>
            </a:r>
            <a:r>
              <a:rPr lang="" altLang="en-US" sz="2400" dirty="0">
                <a:solidFill>
                  <a:srgbClr val="FF0000"/>
                </a:solidFill>
                <a:latin typeface="华文楷体" panose="02010600040101010101" pitchFamily="2" charset="-122"/>
                <a:ea typeface="华文楷体" panose="02010600040101010101" pitchFamily="2" charset="-122"/>
              </a:rPr>
              <a:t>定性预测方法</a:t>
            </a:r>
            <a:r>
              <a:rPr lang="" altLang="en-US" sz="2400" dirty="0">
                <a:latin typeface="华文楷体" panose="02010600040101010101" pitchFamily="2" charset="-122"/>
                <a:ea typeface="华文楷体" panose="02010600040101010101" pitchFamily="2" charset="-122"/>
              </a:rPr>
              <a:t>，通过背对背群体决策咨询的方法，群体成员各自独立工作，然后以系统的、独立的方式综合他们的判断，克服了为某些权威所左右的缺点，减少调查对象的心理压力，使预测的可靠性增加。</a:t>
            </a:r>
            <a:endParaRPr lang="" altLang="zh-CN" sz="2400" dirty="0">
              <a:latin typeface="华文楷体" panose="02010600040101010101" pitchFamily="2" charset="-122"/>
              <a:ea typeface="华文楷体" panose="02010600040101010101" pitchFamily="2" charset="-122"/>
            </a:endParaRPr>
          </a:p>
          <a:p>
            <a:pPr marL="914400" lvl="2" indent="0">
              <a:buNone/>
            </a:pPr>
            <a:r>
              <a:rPr lang="en-US" altLang="zh-CN" sz="2000" dirty="0">
                <a:latin typeface="华文楷体" panose="02010600040101010101" pitchFamily="2" charset="-122"/>
                <a:ea typeface="华文楷体" panose="02010600040101010101" pitchFamily="2" charset="-122"/>
              </a:rPr>
              <a:t>(1)</a:t>
            </a:r>
            <a:r>
              <a:rPr lang="zh-CN" altLang="zh-CN" sz="2000" dirty="0">
                <a:latin typeface="华文楷体" panose="02010600040101010101" pitchFamily="2" charset="-122"/>
                <a:ea typeface="华文楷体" panose="02010600040101010101" pitchFamily="2" charset="-122"/>
              </a:rPr>
              <a:t>在风险明确之后，要求群体成员通过填写精心设计的问卷，来提出可能解决问题的方案。</a:t>
            </a:r>
          </a:p>
          <a:p>
            <a:pPr marL="914400" lvl="2" indent="0">
              <a:buNone/>
            </a:pPr>
            <a:r>
              <a:rPr lang="en-US" altLang="zh-CN" sz="2000" dirty="0">
                <a:latin typeface="华文楷体" panose="02010600040101010101" pitchFamily="2" charset="-122"/>
                <a:ea typeface="华文楷体" panose="02010600040101010101" pitchFamily="2" charset="-122"/>
              </a:rPr>
              <a:t>(2)</a:t>
            </a:r>
            <a:r>
              <a:rPr lang="zh-CN" altLang="zh-CN" sz="2000" dirty="0">
                <a:latin typeface="华文楷体" panose="02010600040101010101" pitchFamily="2" charset="-122"/>
                <a:ea typeface="华文楷体" panose="02010600040101010101" pitchFamily="2" charset="-122"/>
              </a:rPr>
              <a:t>每个群体成员匿名并独立完成每一份问卷。</a:t>
            </a:r>
          </a:p>
          <a:p>
            <a:pPr marL="914400" lvl="2" indent="0">
              <a:buNone/>
            </a:pPr>
            <a:r>
              <a:rPr lang="en-US" altLang="zh-CN" sz="2000" dirty="0">
                <a:latin typeface="华文楷体" panose="02010600040101010101" pitchFamily="2" charset="-122"/>
                <a:ea typeface="华文楷体" panose="02010600040101010101" pitchFamily="2" charset="-122"/>
              </a:rPr>
              <a:t>(3)</a:t>
            </a:r>
            <a:r>
              <a:rPr lang="zh-CN" altLang="zh-CN" sz="2000" dirty="0">
                <a:latin typeface="华文楷体" panose="02010600040101010101" pitchFamily="2" charset="-122"/>
                <a:ea typeface="华文楷体" panose="02010600040101010101" pitchFamily="2" charset="-122"/>
              </a:rPr>
              <a:t>把这些问卷调查的结果收集到另一个中心地点整理出来。</a:t>
            </a:r>
          </a:p>
          <a:p>
            <a:pPr marL="914400" lvl="2" indent="0">
              <a:buNone/>
            </a:pPr>
            <a:r>
              <a:rPr lang="en-US" altLang="zh-CN" sz="2000" dirty="0">
                <a:latin typeface="华文楷体" panose="02010600040101010101" pitchFamily="2" charset="-122"/>
                <a:ea typeface="华文楷体" panose="02010600040101010101" pitchFamily="2" charset="-122"/>
              </a:rPr>
              <a:t>(4)</a:t>
            </a:r>
            <a:r>
              <a:rPr lang="zh-CN" altLang="zh-CN" sz="2000" dirty="0">
                <a:latin typeface="华文楷体" panose="02010600040101010101" pitchFamily="2" charset="-122"/>
                <a:ea typeface="华文楷体" panose="02010600040101010101" pitchFamily="2" charset="-122"/>
              </a:rPr>
              <a:t>把整理和调整的结果分发给每个人一份。</a:t>
            </a:r>
          </a:p>
          <a:p>
            <a:pPr marL="914400" lvl="2" indent="0">
              <a:buNone/>
            </a:pPr>
            <a:r>
              <a:rPr lang="en-US" altLang="zh-CN" sz="2000" dirty="0">
                <a:latin typeface="华文楷体" panose="02010600040101010101" pitchFamily="2" charset="-122"/>
                <a:ea typeface="华文楷体" panose="02010600040101010101" pitchFamily="2" charset="-122"/>
              </a:rPr>
              <a:t>(5)</a:t>
            </a:r>
            <a:r>
              <a:rPr lang="zh-CN" altLang="zh-CN" sz="2000" dirty="0">
                <a:latin typeface="华文楷体" panose="02010600040101010101" pitchFamily="2" charset="-122"/>
                <a:ea typeface="华文楷体" panose="02010600040101010101" pitchFamily="2" charset="-122"/>
              </a:rPr>
              <a:t>在群体成员看完整理结果之后，要求他们再次提出解决问题的方案。结果通常是启发出新的解决办法，或使原有方案得到改善。</a:t>
            </a:r>
          </a:p>
          <a:p>
            <a:pPr marL="914400" lvl="2" indent="0">
              <a:buNone/>
            </a:pPr>
            <a:r>
              <a:rPr lang="en-US" altLang="zh-CN" sz="2000" dirty="0">
                <a:latin typeface="华文楷体" panose="02010600040101010101" pitchFamily="2" charset="-122"/>
                <a:ea typeface="华文楷体" panose="02010600040101010101" pitchFamily="2" charset="-122"/>
              </a:rPr>
              <a:t>(6)</a:t>
            </a:r>
            <a:r>
              <a:rPr lang="zh-CN" altLang="zh-CN" sz="2000" dirty="0">
                <a:latin typeface="华文楷体" panose="02010600040101010101" pitchFamily="2" charset="-122"/>
                <a:ea typeface="华文楷体" panose="02010600040101010101" pitchFamily="2" charset="-122"/>
              </a:rPr>
              <a:t>如果有必要，重复步骤（</a:t>
            </a:r>
            <a:r>
              <a:rPr lang="en-US" altLang="zh-CN" sz="2000" dirty="0">
                <a:latin typeface="华文楷体" panose="02010600040101010101" pitchFamily="2" charset="-122"/>
                <a:ea typeface="华文楷体" panose="02010600040101010101" pitchFamily="2" charset="-122"/>
              </a:rPr>
              <a:t>4</a:t>
            </a:r>
            <a:r>
              <a:rPr lang="zh-CN" altLang="zh-CN" sz="2000" dirty="0">
                <a:latin typeface="华文楷体" panose="02010600040101010101" pitchFamily="2" charset="-122"/>
                <a:ea typeface="华文楷体" panose="02010600040101010101" pitchFamily="2" charset="-122"/>
              </a:rPr>
              <a:t>）和步骤（</a:t>
            </a:r>
            <a:r>
              <a:rPr lang="en-US" altLang="zh-CN" sz="2000" dirty="0">
                <a:latin typeface="华文楷体" panose="02010600040101010101" pitchFamily="2" charset="-122"/>
                <a:ea typeface="华文楷体" panose="02010600040101010101" pitchFamily="2" charset="-122"/>
              </a:rPr>
              <a:t>5</a:t>
            </a:r>
            <a:r>
              <a:rPr lang="zh-CN" altLang="zh-CN" sz="2000" dirty="0">
                <a:latin typeface="华文楷体" panose="02010600040101010101" pitchFamily="2" charset="-122"/>
                <a:ea typeface="华文楷体" panose="02010600040101010101" pitchFamily="2" charset="-122"/>
              </a:rPr>
              <a:t>），直到找到大家意见一致的解决办法为止。</a:t>
            </a:r>
          </a:p>
          <a:p>
            <a:pPr lvl="1"/>
            <a:endParaRPr lang=""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131">
                                            <p:txEl>
                                              <p:pRg st="1" end="1"/>
                                            </p:txEl>
                                          </p:spTgt>
                                        </p:tgtEl>
                                        <p:attrNameLst>
                                          <p:attrName>style.visibility</p:attrName>
                                        </p:attrNameLst>
                                      </p:cBhvr>
                                      <p:to>
                                        <p:strVal val="visible"/>
                                      </p:to>
                                    </p:set>
                                    <p:animEffect transition="in" filter="fade">
                                      <p:cBhvr>
                                        <p:cTn id="7" dur="1000"/>
                                        <p:tgtEl>
                                          <p:spTgt spid="48131">
                                            <p:txEl>
                                              <p:pRg st="1" end="1"/>
                                            </p:txEl>
                                          </p:spTgt>
                                        </p:tgtEl>
                                      </p:cBhvr>
                                    </p:animEffect>
                                    <p:anim calcmode="lin" valueType="num">
                                      <p:cBhvr>
                                        <p:cTn id="8" dur="10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813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8131">
                                            <p:txEl>
                                              <p:pRg st="2" end="2"/>
                                            </p:txEl>
                                          </p:spTgt>
                                        </p:tgtEl>
                                        <p:attrNameLst>
                                          <p:attrName>style.visibility</p:attrName>
                                        </p:attrNameLst>
                                      </p:cBhvr>
                                      <p:to>
                                        <p:strVal val="visible"/>
                                      </p:to>
                                    </p:set>
                                    <p:animEffect transition="in" filter="wipe(down)">
                                      <p:cBhvr>
                                        <p:cTn id="14" dur="500"/>
                                        <p:tgtEl>
                                          <p:spTgt spid="4813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animEffect transition="in" filter="circle(in)">
                                      <p:cBhvr>
                                        <p:cTn id="19" dur="2000"/>
                                        <p:tgtEl>
                                          <p:spTgt spid="4813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8131">
                                            <p:txEl>
                                              <p:pRg st="4" end="4"/>
                                            </p:txEl>
                                          </p:spTgt>
                                        </p:tgtEl>
                                        <p:attrNameLst>
                                          <p:attrName>style.visibility</p:attrName>
                                        </p:attrNameLst>
                                      </p:cBhvr>
                                      <p:to>
                                        <p:strVal val="visible"/>
                                      </p:to>
                                    </p:set>
                                    <p:animEffect transition="in" filter="circle(in)">
                                      <p:cBhvr>
                                        <p:cTn id="24" dur="2000"/>
                                        <p:tgtEl>
                                          <p:spTgt spid="48131">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48131">
                                            <p:txEl>
                                              <p:pRg st="5" end="5"/>
                                            </p:txEl>
                                          </p:spTgt>
                                        </p:tgtEl>
                                        <p:attrNameLst>
                                          <p:attrName>style.visibility</p:attrName>
                                        </p:attrNameLst>
                                      </p:cBhvr>
                                      <p:to>
                                        <p:strVal val="visible"/>
                                      </p:to>
                                    </p:set>
                                    <p:animEffect transition="in" filter="circle(in)">
                                      <p:cBhvr>
                                        <p:cTn id="29" dur="2000"/>
                                        <p:tgtEl>
                                          <p:spTgt spid="4813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8131">
                                            <p:txEl>
                                              <p:pRg st="6" end="6"/>
                                            </p:txEl>
                                          </p:spTgt>
                                        </p:tgtEl>
                                        <p:attrNameLst>
                                          <p:attrName>style.visibility</p:attrName>
                                        </p:attrNameLst>
                                      </p:cBhvr>
                                      <p:to>
                                        <p:strVal val="visible"/>
                                      </p:to>
                                    </p:set>
                                    <p:animEffect transition="in" filter="wipe(down)">
                                      <p:cBhvr>
                                        <p:cTn id="34" dur="500"/>
                                        <p:tgtEl>
                                          <p:spTgt spid="48131">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48131">
                                            <p:txEl>
                                              <p:pRg st="7" end="7"/>
                                            </p:txEl>
                                          </p:spTgt>
                                        </p:tgtEl>
                                        <p:attrNameLst>
                                          <p:attrName>style.visibility</p:attrName>
                                        </p:attrNameLst>
                                      </p:cBhvr>
                                      <p:to>
                                        <p:strVal val="visible"/>
                                      </p:to>
                                    </p:set>
                                    <p:animEffect transition="in" filter="circle(in)">
                                      <p:cBhvr>
                                        <p:cTn id="39" dur="2000"/>
                                        <p:tgtEl>
                                          <p:spTgt spid="481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9155" name="内容占位符 2"/>
          <p:cNvSpPr>
            <a:spLocks noGrp="1"/>
          </p:cNvSpPr>
          <p:nvPr>
            <p:ph idx="1"/>
          </p:nvPr>
        </p:nvSpPr>
        <p:spPr>
          <a:xfrm>
            <a:off x="228600" y="990600"/>
            <a:ext cx="8686800" cy="5562600"/>
          </a:xfrm>
          <a:ln/>
        </p:spPr>
        <p:txBody>
          <a:bodyPr vert="horz" wrap="square" lIns="91440" tIns="45720" rIns="91440" bIns="45720" anchor="t" anchorCtr="0"/>
          <a:lstStyle/>
          <a:p>
            <a:pPr>
              <a:buClr>
                <a:srgbClr val="C00000"/>
              </a:buClr>
              <a:buFont typeface="Wingdings" panose="05000000000000000000" pitchFamily="2" charset="2"/>
              <a:buChar char="u"/>
            </a:pPr>
            <a:r>
              <a:rPr lang="" altLang="en-US" sz="3600" b="1" dirty="0">
                <a:solidFill>
                  <a:srgbClr val="000000"/>
                </a:solidFill>
                <a:latin typeface="楷体_GB2312" pitchFamily="49" charset="-122"/>
                <a:ea typeface="楷体_GB2312" pitchFamily="49" charset="-122"/>
              </a:rPr>
              <a:t>层次分析法</a:t>
            </a:r>
          </a:p>
          <a:p>
            <a:pPr lvl="1"/>
            <a:r>
              <a:rPr lang="" altLang="en-US" sz="2400" dirty="0">
                <a:latin typeface="华文楷体" panose="02010600040101010101" pitchFamily="2" charset="-122"/>
                <a:ea typeface="华文楷体" panose="02010600040101010101" pitchFamily="2" charset="-122"/>
              </a:rPr>
              <a:t>是一种定性与定量相结合的多目标决策分析方法。</a:t>
            </a:r>
            <a:endParaRPr lang="" altLang="zh-CN" sz="24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核心是将决策者的</a:t>
            </a:r>
            <a:r>
              <a:rPr lang="zh-CN" altLang="zh-CN" sz="2000" dirty="0">
                <a:solidFill>
                  <a:srgbClr val="FF0000"/>
                </a:solidFill>
                <a:latin typeface="华文楷体" panose="02010600040101010101" pitchFamily="2" charset="-122"/>
                <a:ea typeface="华文楷体" panose="02010600040101010101" pitchFamily="2" charset="-122"/>
              </a:rPr>
              <a:t>经验判断给予量化</a:t>
            </a:r>
            <a:r>
              <a:rPr lang="zh-CN" altLang="zh-CN" sz="2000" dirty="0">
                <a:latin typeface="华文楷体" panose="02010600040101010101" pitchFamily="2" charset="-122"/>
                <a:ea typeface="华文楷体" panose="02010600040101010101" pitchFamily="2" charset="-122"/>
              </a:rPr>
              <a:t>，从而为决策者提供定量形式的决策依据。</a:t>
            </a:r>
            <a:endParaRPr lang="en-US" altLang="zh-CN" sz="20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目前该方法已被广泛的应用于尚无统一度量标尺的复杂问题的分析，解决用纯参数数学模型方法难以解决的决策分析问题。</a:t>
            </a:r>
            <a:endParaRPr lang="en-US" altLang="zh-CN" sz="20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该方法对系统进行分层次、拟定量、规范化处理，在评估过程中经历</a:t>
            </a:r>
            <a:r>
              <a:rPr lang="zh-CN" altLang="zh-CN" sz="2000" dirty="0">
                <a:solidFill>
                  <a:srgbClr val="FF0000"/>
                </a:solidFill>
                <a:latin typeface="华文楷体" panose="02010600040101010101" pitchFamily="2" charset="-122"/>
                <a:ea typeface="华文楷体" panose="02010600040101010101" pitchFamily="2" charset="-122"/>
              </a:rPr>
              <a:t>系统分解、安全性判断和综合判断</a:t>
            </a:r>
            <a:r>
              <a:rPr lang="zh-CN" altLang="zh-CN" sz="2000" dirty="0">
                <a:latin typeface="华文楷体" panose="02010600040101010101" pitchFamily="2" charset="-122"/>
                <a:ea typeface="华文楷体" panose="02010600040101010101" pitchFamily="2" charset="-122"/>
              </a:rPr>
              <a:t>三个阶段。</a:t>
            </a:r>
          </a:p>
          <a:p>
            <a:pPr lvl="2"/>
            <a:r>
              <a:rPr lang="zh-CN" altLang="zh-CN" sz="2000" dirty="0">
                <a:latin typeface="华文楷体" panose="02010600040101010101" pitchFamily="2" charset="-122"/>
                <a:ea typeface="华文楷体" panose="02010600040101010101" pitchFamily="2" charset="-122"/>
              </a:rPr>
              <a:t>层次分析法是将决策问题的有关元素分解成目标、准则、方案等层次，在此基础上进行定量和定性分析的一种决策方法。</a:t>
            </a:r>
            <a:endParaRPr lang="en-US" altLang="zh-CN" sz="2000" dirty="0">
              <a:latin typeface="华文楷体" panose="02010600040101010101" pitchFamily="2" charset="-122"/>
              <a:ea typeface="华文楷体" panose="02010600040101010101" pitchFamily="2" charset="-122"/>
            </a:endParaRPr>
          </a:p>
          <a:p>
            <a:pPr lvl="2"/>
            <a:r>
              <a:rPr lang="zh-CN" altLang="zh-CN" sz="2000" dirty="0">
                <a:latin typeface="华文楷体" panose="02010600040101010101" pitchFamily="2" charset="-122"/>
                <a:ea typeface="华文楷体" panose="02010600040101010101" pitchFamily="2" charset="-122"/>
              </a:rPr>
              <a:t>这一方法的特点是在对复杂决策问题的本质、影响因素及其内在关系等进行深入分析后，构建一个层次模型，然后利用较少的定量信息，把决策的四围过程数学化，从而为求解多目标、多准则的</a:t>
            </a:r>
            <a:r>
              <a:rPr lang="zh-CN" altLang="zh-CN" sz="2000" dirty="0">
                <a:solidFill>
                  <a:srgbClr val="FF0000"/>
                </a:solidFill>
                <a:latin typeface="华文楷体" panose="02010600040101010101" pitchFamily="2" charset="-122"/>
                <a:ea typeface="华文楷体" panose="02010600040101010101" pitchFamily="2" charset="-122"/>
              </a:rPr>
              <a:t>复杂决策问题</a:t>
            </a:r>
            <a:r>
              <a:rPr lang="zh-CN" altLang="zh-CN" sz="2000" dirty="0">
                <a:latin typeface="华文楷体" panose="02010600040101010101" pitchFamily="2" charset="-122"/>
                <a:ea typeface="华文楷体" panose="02010600040101010101" pitchFamily="2" charset="-122"/>
              </a:rPr>
              <a:t>。</a:t>
            </a:r>
            <a:endParaRPr lang="" altLang="en-US" sz="54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fade">
                                      <p:cBhvr>
                                        <p:cTn id="7" dur="1000"/>
                                        <p:tgtEl>
                                          <p:spTgt spid="49155">
                                            <p:txEl>
                                              <p:pRg st="1" end="1"/>
                                            </p:txEl>
                                          </p:spTgt>
                                        </p:tgtEl>
                                      </p:cBhvr>
                                    </p:animEffect>
                                    <p:anim calcmode="lin" valueType="num">
                                      <p:cBhvr>
                                        <p:cTn id="8" dur="10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91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9155">
                                            <p:txEl>
                                              <p:pRg st="2" end="2"/>
                                            </p:txEl>
                                          </p:spTgt>
                                        </p:tgtEl>
                                        <p:attrNameLst>
                                          <p:attrName>style.visibility</p:attrName>
                                        </p:attrNameLst>
                                      </p:cBhvr>
                                      <p:to>
                                        <p:strVal val="visible"/>
                                      </p:to>
                                    </p:set>
                                    <p:animEffect transition="in" filter="wipe(down)">
                                      <p:cBhvr>
                                        <p:cTn id="14" dur="500"/>
                                        <p:tgtEl>
                                          <p:spTgt spid="49155">
                                            <p:txEl>
                                              <p:pRg st="2" end="2"/>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49155">
                                            <p:txEl>
                                              <p:pRg st="3" end="3"/>
                                            </p:txEl>
                                          </p:spTgt>
                                        </p:tgtEl>
                                        <p:attrNameLst>
                                          <p:attrName>style.visibility</p:attrName>
                                        </p:attrNameLst>
                                      </p:cBhvr>
                                      <p:to>
                                        <p:strVal val="visible"/>
                                      </p:to>
                                    </p:set>
                                    <p:animEffect transition="in" filter="wipe(down)">
                                      <p:cBhvr>
                                        <p:cTn id="17" dur="500"/>
                                        <p:tgtEl>
                                          <p:spTgt spid="491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9155">
                                            <p:txEl>
                                              <p:pRg st="4" end="4"/>
                                            </p:txEl>
                                          </p:spTgt>
                                        </p:tgtEl>
                                        <p:attrNameLst>
                                          <p:attrName>style.visibility</p:attrName>
                                        </p:attrNameLst>
                                      </p:cBhvr>
                                      <p:to>
                                        <p:strVal val="visible"/>
                                      </p:to>
                                    </p:set>
                                    <p:animEffect transition="in" filter="circle(in)">
                                      <p:cBhvr>
                                        <p:cTn id="22" dur="2000"/>
                                        <p:tgtEl>
                                          <p:spTgt spid="49155">
                                            <p:txEl>
                                              <p:pRg st="4" end="4"/>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49155">
                                            <p:txEl>
                                              <p:pRg st="5" end="5"/>
                                            </p:txEl>
                                          </p:spTgt>
                                        </p:tgtEl>
                                        <p:attrNameLst>
                                          <p:attrName>style.visibility</p:attrName>
                                        </p:attrNameLst>
                                      </p:cBhvr>
                                      <p:to>
                                        <p:strVal val="visible"/>
                                      </p:to>
                                    </p:set>
                                    <p:animEffect transition="in" filter="circle(in)">
                                      <p:cBhvr>
                                        <p:cTn id="25" dur="2000"/>
                                        <p:tgtEl>
                                          <p:spTgt spid="4915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49155">
                                            <p:txEl>
                                              <p:pRg st="6" end="6"/>
                                            </p:txEl>
                                          </p:spTgt>
                                        </p:tgtEl>
                                        <p:attrNameLst>
                                          <p:attrName>style.visibility</p:attrName>
                                        </p:attrNameLst>
                                      </p:cBhvr>
                                      <p:to>
                                        <p:strVal val="visible"/>
                                      </p:to>
                                    </p:set>
                                    <p:animEffect transition="in" filter="wheel(1)">
                                      <p:cBhvr>
                                        <p:cTn id="30" dur="2000"/>
                                        <p:tgtEl>
                                          <p:spTgt spid="491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50179" name="内容占位符 2"/>
          <p:cNvSpPr>
            <a:spLocks noGrp="1"/>
          </p:cNvSpPr>
          <p:nvPr>
            <p:ph idx="1"/>
          </p:nvPr>
        </p:nvSpPr>
        <p:spPr>
          <a:xfrm>
            <a:off x="185738" y="979488"/>
            <a:ext cx="8729662" cy="5726112"/>
          </a:xfrm>
          <a:ln/>
        </p:spPr>
        <p:txBody>
          <a:bodyPr vert="horz" wrap="square" lIns="91440" tIns="45720" rIns="91440" bIns="45720" anchor="t" anchorCtr="0"/>
          <a:lstStyle/>
          <a:p>
            <a:pPr marL="0" indent="0">
              <a:buNone/>
            </a:pPr>
            <a:r>
              <a:rPr lang="zh-CN" altLang="en-US" sz="2800" b="1" dirty="0">
                <a:ea typeface="宋体" panose="02010600030101010101" pitchFamily="2" charset="-122"/>
              </a:rPr>
              <a:t>     </a:t>
            </a:r>
            <a:r>
              <a:rPr lang="zh-CN" altLang="en-US" sz="2800" b="1" dirty="0">
                <a:solidFill>
                  <a:srgbClr val="000000"/>
                </a:solidFill>
                <a:ea typeface="宋体" panose="02010600030101010101" pitchFamily="2" charset="-122"/>
              </a:rPr>
              <a:t>层次分析法的决策过程如下：</a:t>
            </a:r>
          </a:p>
          <a:p>
            <a:pPr lvl="1"/>
            <a:r>
              <a:rPr lang="en-US" altLang="zh-CN" sz="2400" b="1" dirty="0">
                <a:solidFill>
                  <a:srgbClr val="000000"/>
                </a:solidFill>
                <a:latin typeface="楷体_GB2312" pitchFamily="49" charset="-122"/>
                <a:ea typeface="楷体_GB2312" pitchFamily="49" charset="-122"/>
              </a:rPr>
              <a:t>1.</a:t>
            </a:r>
            <a:r>
              <a:rPr lang="zh-CN" altLang="zh-CN" sz="2400" b="1" dirty="0">
                <a:solidFill>
                  <a:srgbClr val="000000"/>
                </a:solidFill>
                <a:latin typeface="楷体_GB2312" pitchFamily="49" charset="-122"/>
                <a:ea typeface="楷体_GB2312" pitchFamily="49" charset="-122"/>
              </a:rPr>
              <a:t>分析各影响因素间的关系，建立层次模型</a:t>
            </a:r>
            <a:r>
              <a:rPr lang="zh-CN" altLang="en-US" sz="2400" b="1" dirty="0">
                <a:solidFill>
                  <a:srgbClr val="000000"/>
                </a:solidFill>
                <a:latin typeface="楷体_GB2312" pitchFamily="49" charset="-122"/>
                <a:ea typeface="楷体_GB2312" pitchFamily="49" charset="-122"/>
              </a:rPr>
              <a:t>。</a:t>
            </a:r>
            <a:endParaRPr lang="en-US" altLang="zh-CN" sz="2400" b="1" dirty="0">
              <a:solidFill>
                <a:srgbClr val="000000"/>
              </a:solidFill>
              <a:latin typeface="楷体_GB2312" pitchFamily="49" charset="-122"/>
              <a:ea typeface="楷体_GB2312" pitchFamily="49" charset="-122"/>
            </a:endParaRPr>
          </a:p>
          <a:p>
            <a:pPr lvl="2"/>
            <a:r>
              <a:rPr lang="zh-CN" altLang="en-US" sz="1800" b="1" dirty="0">
                <a:solidFill>
                  <a:srgbClr val="000000"/>
                </a:solidFill>
                <a:latin typeface="楷体_GB2312" pitchFamily="49" charset="-122"/>
                <a:ea typeface="楷体_GB2312" pitchFamily="49" charset="-122"/>
              </a:rPr>
              <a:t>层次模型如图4-6所示，层次模型至少包含三层。</a:t>
            </a:r>
            <a:endParaRPr lang="en-US" altLang="zh-CN" sz="1800" b="1" dirty="0">
              <a:solidFill>
                <a:srgbClr val="000000"/>
              </a:solidFill>
              <a:latin typeface="楷体_GB2312" pitchFamily="49" charset="-122"/>
              <a:ea typeface="楷体_GB2312" pitchFamily="49" charset="-122"/>
            </a:endParaRPr>
          </a:p>
          <a:p>
            <a:pPr lvl="1"/>
            <a:r>
              <a:rPr lang="" altLang="zh-CN" sz="2400" b="1" dirty="0">
                <a:solidFill>
                  <a:srgbClr val="000000"/>
                </a:solidFill>
                <a:latin typeface="楷体_GB2312" pitchFamily="49" charset="-122"/>
                <a:ea typeface="楷体_GB2312" pitchFamily="49" charset="-122"/>
              </a:rPr>
              <a:t>2.</a:t>
            </a:r>
            <a:r>
              <a:rPr lang="" altLang="en-US" sz="2400" b="1" dirty="0">
                <a:solidFill>
                  <a:srgbClr val="000000"/>
                </a:solidFill>
                <a:latin typeface="楷体_GB2312" pitchFamily="49" charset="-122"/>
                <a:ea typeface="楷体_GB2312" pitchFamily="49" charset="-122"/>
              </a:rPr>
              <a:t>构建两两比较判断矩阵</a:t>
            </a:r>
          </a:p>
          <a:p>
            <a:pPr lvl="1"/>
            <a:r>
              <a:rPr lang="" altLang="zh-CN" sz="2400" b="1" dirty="0">
                <a:solidFill>
                  <a:srgbClr val="000000"/>
                </a:solidFill>
                <a:latin typeface="楷体_GB2312" pitchFamily="49" charset="-122"/>
                <a:ea typeface="楷体_GB2312" pitchFamily="49" charset="-122"/>
              </a:rPr>
              <a:t>3.</a:t>
            </a:r>
            <a:r>
              <a:rPr lang="" altLang="en-US" sz="2400" b="1" dirty="0">
                <a:solidFill>
                  <a:srgbClr val="000000"/>
                </a:solidFill>
                <a:latin typeface="楷体_GB2312" pitchFamily="49" charset="-122"/>
                <a:ea typeface="楷体_GB2312" pitchFamily="49" charset="-122"/>
              </a:rPr>
              <a:t>计算单个判断矩阵对应的权重向量</a:t>
            </a:r>
          </a:p>
          <a:p>
            <a:pPr lvl="1"/>
            <a:r>
              <a:rPr lang="" altLang="zh-CN" sz="2400" b="1" dirty="0">
                <a:solidFill>
                  <a:srgbClr val="000000"/>
                </a:solidFill>
                <a:latin typeface="楷体_GB2312" pitchFamily="49" charset="-122"/>
                <a:ea typeface="楷体_GB2312" pitchFamily="49" charset="-122"/>
              </a:rPr>
              <a:t>4.</a:t>
            </a:r>
            <a:r>
              <a:rPr lang="" altLang="en-US" sz="2400" b="1" dirty="0">
                <a:solidFill>
                  <a:srgbClr val="000000"/>
                </a:solidFill>
                <a:latin typeface="楷体_GB2312" pitchFamily="49" charset="-122"/>
                <a:ea typeface="楷体_GB2312" pitchFamily="49" charset="-122"/>
              </a:rPr>
              <a:t>计算各层元素对目标层的合成权重向量</a:t>
            </a:r>
            <a:endParaRPr lang="" altLang="zh-CN" sz="2400" b="1" dirty="0">
              <a:solidFill>
                <a:srgbClr val="000000"/>
              </a:solidFill>
              <a:latin typeface="楷体_GB2312" pitchFamily="49" charset="-122"/>
              <a:ea typeface="楷体_GB2312" pitchFamily="49" charset="-122"/>
            </a:endParaRPr>
          </a:p>
          <a:p>
            <a:pPr lvl="2"/>
            <a:endParaRPr lang="en-US" altLang="zh-CN" sz="2000" b="1" dirty="0">
              <a:solidFill>
                <a:srgbClr val="000000"/>
              </a:solidFill>
              <a:latin typeface="楷体_GB2312" pitchFamily="49" charset="-122"/>
              <a:ea typeface="楷体_GB2312" pitchFamily="49" charset="-122"/>
            </a:endParaRPr>
          </a:p>
          <a:p>
            <a:pPr marL="0" indent="0">
              <a:buNone/>
            </a:pPr>
            <a:endParaRPr lang="zh-CN" altLang="en-US" sz="2800" b="1" dirty="0">
              <a:solidFill>
                <a:srgbClr val="000000"/>
              </a:solidFill>
              <a:ea typeface="宋体" panose="02010600030101010101" pitchFamily="2" charset="-122"/>
            </a:endParaRPr>
          </a:p>
        </p:txBody>
      </p:sp>
      <p:graphicFrame>
        <p:nvGraphicFramePr>
          <p:cNvPr id="50180" name="对象 -2147482550"/>
          <p:cNvGraphicFramePr>
            <a:graphicFrameLocks noChangeAspect="1"/>
          </p:cNvGraphicFramePr>
          <p:nvPr/>
        </p:nvGraphicFramePr>
        <p:xfrm>
          <a:off x="2590800" y="3581400"/>
          <a:ext cx="3095625" cy="2513013"/>
        </p:xfrm>
        <a:graphic>
          <a:graphicData uri="http://schemas.openxmlformats.org/presentationml/2006/ole">
            <mc:AlternateContent xmlns:mc="http://schemas.openxmlformats.org/markup-compatibility/2006">
              <mc:Choice xmlns:v="urn:schemas-microsoft-com:vml" Requires="v">
                <p:oleObj spid="_x0000_s8204" r:id="rId3" imgW="4557395" imgH="2512695" progId="Visio.Drawing.11">
                  <p:embed/>
                </p:oleObj>
              </mc:Choice>
              <mc:Fallback>
                <p:oleObj r:id="rId3" imgW="4557395" imgH="2512695" progId="Visio.Drawing.11">
                  <p:embed/>
                  <p:pic>
                    <p:nvPicPr>
                      <p:cNvPr id="0" name="图片 3075"/>
                      <p:cNvPicPr/>
                      <p:nvPr/>
                    </p:nvPicPr>
                    <p:blipFill>
                      <a:blip r:embed="rId4"/>
                      <a:stretch>
                        <a:fillRect/>
                      </a:stretch>
                    </p:blipFill>
                    <p:spPr>
                      <a:xfrm>
                        <a:off x="2590800" y="3581400"/>
                        <a:ext cx="3095625" cy="2513013"/>
                      </a:xfrm>
                      <a:prstGeom prst="rect">
                        <a:avLst/>
                      </a:prstGeom>
                      <a:noFill/>
                      <a:ln w="38100">
                        <a:noFill/>
                        <a:miter/>
                      </a:ln>
                    </p:spPr>
                  </p:pic>
                </p:oleObj>
              </mc:Fallback>
            </mc:AlternateContent>
          </a:graphicData>
        </a:graphic>
      </p:graphicFrame>
      <p:sp>
        <p:nvSpPr>
          <p:cNvPr id="50181" name="文本框 99"/>
          <p:cNvSpPr txBox="1"/>
          <p:nvPr/>
        </p:nvSpPr>
        <p:spPr>
          <a:xfrm>
            <a:off x="1803400" y="6232525"/>
            <a:ext cx="5080000" cy="336550"/>
          </a:xfrm>
          <a:prstGeom prst="rect">
            <a:avLst/>
          </a:prstGeom>
          <a:noFill/>
          <a:ln w="9525">
            <a:noFill/>
          </a:ln>
        </p:spPr>
        <p:txBody>
          <a:bodyPr>
            <a:spAutoFit/>
          </a:bodyPr>
          <a:lstStyle/>
          <a:p>
            <a:pPr indent="127000" algn="ctr" eaLnBrk="1" hangingPunct="1">
              <a:spcBef>
                <a:spcPct val="50000"/>
              </a:spcBef>
            </a:pPr>
            <a:r>
              <a:rPr lang="zh-CN" altLang="zh-CN" sz="1600" dirty="0">
                <a:latin typeface="Times New Roman" panose="02020603050405020304" pitchFamily="18" charset="0"/>
              </a:rPr>
              <a:t>图</a:t>
            </a:r>
            <a:r>
              <a:rPr lang="en-US" altLang="zh-CN" sz="1600" dirty="0">
                <a:latin typeface="宋体" panose="02010600030101010101" pitchFamily="2" charset="-122"/>
              </a:rPr>
              <a:t>6 </a:t>
            </a:r>
            <a:r>
              <a:rPr lang="zh-CN" altLang="zh-CN" sz="1600" dirty="0">
                <a:latin typeface="Times New Roman" panose="02020603050405020304" pitchFamily="18" charset="0"/>
              </a:rPr>
              <a:t>层次结构模型</a:t>
            </a:r>
            <a:endParaRPr lang="zh-CN" altLang="en-US" sz="160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 calcmode="lin" valueType="num">
                                      <p:cBhvr additive="base">
                                        <p:cTn id="7"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179">
                                            <p:txEl>
                                              <p:pRg st="2" end="2"/>
                                            </p:txEl>
                                          </p:spTgt>
                                        </p:tgtEl>
                                        <p:attrNameLst>
                                          <p:attrName>style.visibility</p:attrName>
                                        </p:attrNameLst>
                                      </p:cBhvr>
                                      <p:to>
                                        <p:strVal val="visible"/>
                                      </p:to>
                                    </p:set>
                                    <p:anim calcmode="lin" valueType="num">
                                      <p:cBhvr additive="base">
                                        <p:cTn id="11"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0179">
                                            <p:txEl>
                                              <p:pRg st="3" end="3"/>
                                            </p:txEl>
                                          </p:spTgt>
                                        </p:tgtEl>
                                        <p:attrNameLst>
                                          <p:attrName>style.visibility</p:attrName>
                                        </p:attrNameLst>
                                      </p:cBhvr>
                                      <p:to>
                                        <p:strVal val="visible"/>
                                      </p:to>
                                    </p:set>
                                    <p:animEffect transition="in" filter="barn(inVertical)">
                                      <p:cBhvr>
                                        <p:cTn id="17" dur="500"/>
                                        <p:tgtEl>
                                          <p:spTgt spid="50179">
                                            <p:txEl>
                                              <p:pRg st="3" end="3"/>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0179">
                                            <p:txEl>
                                              <p:pRg st="4" end="4"/>
                                            </p:txEl>
                                          </p:spTgt>
                                        </p:tgtEl>
                                        <p:attrNameLst>
                                          <p:attrName>style.visibility</p:attrName>
                                        </p:attrNameLst>
                                      </p:cBhvr>
                                      <p:to>
                                        <p:strVal val="visible"/>
                                      </p:to>
                                    </p:set>
                                    <p:animEffect transition="in" filter="barn(inVertical)">
                                      <p:cBhvr>
                                        <p:cTn id="20" dur="500"/>
                                        <p:tgtEl>
                                          <p:spTgt spid="5017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50179">
                                            <p:txEl>
                                              <p:pRg st="5" end="5"/>
                                            </p:txEl>
                                          </p:spTgt>
                                        </p:tgtEl>
                                        <p:attrNameLst>
                                          <p:attrName>style.visibility</p:attrName>
                                        </p:attrNameLst>
                                      </p:cBhvr>
                                      <p:to>
                                        <p:strVal val="visible"/>
                                      </p:to>
                                    </p:set>
                                    <p:animEffect transition="in" filter="circle(in)">
                                      <p:cBhvr>
                                        <p:cTn id="25" dur="2000"/>
                                        <p:tgtEl>
                                          <p:spTgt spid="5017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0180"/>
                                        </p:tgtEl>
                                        <p:attrNameLst>
                                          <p:attrName>style.visibility</p:attrName>
                                        </p:attrNameLst>
                                      </p:cBhvr>
                                      <p:to>
                                        <p:strVal val="visible"/>
                                      </p:to>
                                    </p:set>
                                    <p:animEffect transition="in" filter="wipe(down)">
                                      <p:cBhvr>
                                        <p:cTn id="30" dur="500"/>
                                        <p:tgtEl>
                                          <p:spTgt spid="50180"/>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50181"/>
                                        </p:tgtEl>
                                        <p:attrNameLst>
                                          <p:attrName>style.visibility</p:attrName>
                                        </p:attrNameLst>
                                      </p:cBhvr>
                                      <p:to>
                                        <p:strVal val="visible"/>
                                      </p:to>
                                    </p:set>
                                    <p:animEffect transition="in" filter="circle(in)">
                                      <p:cBhvr>
                                        <p:cTn id="35" dur="20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51203" name="内容占位符 2"/>
          <p:cNvSpPr>
            <a:spLocks noGrp="1"/>
          </p:cNvSpPr>
          <p:nvPr>
            <p:ph idx="1"/>
          </p:nvPr>
        </p:nvSpPr>
        <p:spPr>
          <a:ln/>
        </p:spPr>
        <p:txBody>
          <a:bodyPr vert="horz" wrap="square" lIns="91440" tIns="45720" rIns="91440" bIns="45720" anchor="t" anchorCtr="0"/>
          <a:lstStyle/>
          <a:p>
            <a:pPr>
              <a:buClr>
                <a:srgbClr val="C00000"/>
              </a:buClr>
              <a:buFont typeface="Wingdings" panose="05000000000000000000" pitchFamily="2" charset="2"/>
              <a:buChar char="u"/>
            </a:pPr>
            <a:r>
              <a:rPr lang="" altLang="en-US" b="1" dirty="0">
                <a:solidFill>
                  <a:srgbClr val="000000"/>
                </a:solidFill>
                <a:latin typeface="楷体_GB2312" pitchFamily="49" charset="-122"/>
                <a:ea typeface="楷体_GB2312" pitchFamily="49" charset="-122"/>
              </a:rPr>
              <a:t>事件树分析法	</a:t>
            </a:r>
          </a:p>
          <a:p>
            <a:pPr lvl="1"/>
            <a:r>
              <a:rPr lang="" altLang="en-US" sz="2000" dirty="0">
                <a:latin typeface="华文楷体" panose="02010600040101010101" pitchFamily="2" charset="-122"/>
                <a:ea typeface="华文楷体" panose="02010600040101010101" pitchFamily="2" charset="-122"/>
              </a:rPr>
              <a:t>事件树分析是风险分析的一种重要方法。</a:t>
            </a:r>
            <a:endParaRPr lang="" altLang="zh-CN" sz="2000" dirty="0">
              <a:latin typeface="华文楷体" panose="02010600040101010101" pitchFamily="2" charset="-122"/>
              <a:ea typeface="华文楷体" panose="02010600040101010101" pitchFamily="2" charset="-122"/>
            </a:endParaRPr>
          </a:p>
          <a:p>
            <a:pPr lvl="1"/>
            <a:r>
              <a:rPr lang="" altLang="en-US" sz="2000" dirty="0">
                <a:latin typeface="华文楷体" panose="02010600040101010101" pitchFamily="2" charset="-122"/>
                <a:ea typeface="华文楷体" panose="02010600040101010101" pitchFamily="2" charset="-122"/>
              </a:rPr>
              <a:t>它是在给定系统事件的情况下，</a:t>
            </a:r>
            <a:r>
              <a:rPr lang="" altLang="en-US" sz="2000" dirty="0">
                <a:solidFill>
                  <a:srgbClr val="FF0000"/>
                </a:solidFill>
                <a:latin typeface="华文楷体" panose="02010600040101010101" pitchFamily="2" charset="-122"/>
                <a:ea typeface="华文楷体" panose="02010600040101010101" pitchFamily="2" charset="-122"/>
              </a:rPr>
              <a:t>分析此事件可能导致的各种事件的一系列结果。</a:t>
            </a:r>
            <a:r>
              <a:rPr lang="zh-CN" altLang="zh-CN" sz="2000" dirty="0">
                <a:solidFill>
                  <a:srgbClr val="FF0000"/>
                </a:solidFill>
                <a:latin typeface="华文楷体" panose="02010600040101010101" pitchFamily="2" charset="-122"/>
                <a:ea typeface="华文楷体" panose="02010600040101010101" pitchFamily="2" charset="-122"/>
              </a:rPr>
              <a:t>从而定性与定量的评价系统的特性</a:t>
            </a:r>
            <a:r>
              <a:rPr lang="zh-CN" altLang="zh-CN" sz="2000" dirty="0">
                <a:latin typeface="华文楷体" panose="02010600040101010101" pitchFamily="2" charset="-122"/>
                <a:ea typeface="华文楷体" panose="02010600040101010101" pitchFamily="2" charset="-122"/>
              </a:rPr>
              <a:t>，并可帮助人们做出处理或防范的决策。</a:t>
            </a:r>
          </a:p>
          <a:p>
            <a:pPr lvl="1"/>
            <a:r>
              <a:rPr lang="zh-CN" altLang="zh-CN" sz="2000" dirty="0">
                <a:latin typeface="华文楷体" panose="02010600040101010101" pitchFamily="2" charset="-122"/>
                <a:ea typeface="华文楷体" panose="02010600040101010101" pitchFamily="2" charset="-122"/>
              </a:rPr>
              <a:t>事件树描述了初始事件一切可能的发展方式与途径。事件树的每个环节事件（除顶事件外）均执行一定的功能措施以预防事故的发生，且其均具有</a:t>
            </a:r>
            <a:r>
              <a:rPr lang="zh-CN" altLang="zh-CN" sz="2000" dirty="0">
                <a:solidFill>
                  <a:srgbClr val="FF0000"/>
                </a:solidFill>
                <a:latin typeface="华文楷体" panose="02010600040101010101" pitchFamily="2" charset="-122"/>
                <a:ea typeface="华文楷体" panose="02010600040101010101" pitchFamily="2" charset="-122"/>
              </a:rPr>
              <a:t>二元性结果（成功或失败），在事件树建立过程中可以吸收专家知识</a:t>
            </a:r>
            <a:r>
              <a:rPr lang="zh-CN"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lvl="1"/>
            <a:r>
              <a:rPr lang="zh-CN" altLang="zh-CN" sz="2000" dirty="0">
                <a:latin typeface="华文楷体" panose="02010600040101010101" pitchFamily="2" charset="-122"/>
                <a:ea typeface="华文楷体" panose="02010600040101010101" pitchFamily="2" charset="-122"/>
              </a:rPr>
              <a:t>事件树虽然列举了导致事故发生的各种事故序列组，但这只是中间步骤，必非最后结果，有了这个中间步骤就可以进一步来整理初始事件与减少系统风险概率措施之间的复杂关系，并识别除事故序列组所对应得事故场景。</a:t>
            </a:r>
            <a:endParaRPr lang="" altLang="en-US" sz="3600"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Effect transition="in" filter="fade">
                                      <p:cBhvr>
                                        <p:cTn id="7" dur="1000"/>
                                        <p:tgtEl>
                                          <p:spTgt spid="51203">
                                            <p:txEl>
                                              <p:pRg st="1" end="1"/>
                                            </p:txEl>
                                          </p:spTgt>
                                        </p:tgtEl>
                                      </p:cBhvr>
                                    </p:animEffect>
                                    <p:anim calcmode="lin" valueType="num">
                                      <p:cBhvr>
                                        <p:cTn id="8" dur="10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120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1203">
                                            <p:txEl>
                                              <p:pRg st="2" end="2"/>
                                            </p:txEl>
                                          </p:spTgt>
                                        </p:tgtEl>
                                        <p:attrNameLst>
                                          <p:attrName>style.visibility</p:attrName>
                                        </p:attrNameLst>
                                      </p:cBhvr>
                                      <p:to>
                                        <p:strVal val="visible"/>
                                      </p:to>
                                    </p:set>
                                    <p:animEffect transition="in" filter="fade">
                                      <p:cBhvr>
                                        <p:cTn id="12" dur="1000"/>
                                        <p:tgtEl>
                                          <p:spTgt spid="51203">
                                            <p:txEl>
                                              <p:pRg st="2" end="2"/>
                                            </p:txEl>
                                          </p:spTgt>
                                        </p:tgtEl>
                                      </p:cBhvr>
                                    </p:animEffect>
                                    <p:anim calcmode="lin" valueType="num">
                                      <p:cBhvr>
                                        <p:cTn id="13" dur="10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12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51203">
                                            <p:txEl>
                                              <p:pRg st="3" end="3"/>
                                            </p:txEl>
                                          </p:spTgt>
                                        </p:tgtEl>
                                        <p:attrNameLst>
                                          <p:attrName>style.visibility</p:attrName>
                                        </p:attrNameLst>
                                      </p:cBhvr>
                                      <p:to>
                                        <p:strVal val="visible"/>
                                      </p:to>
                                    </p:set>
                                    <p:animEffect transition="in" filter="wheel(1)">
                                      <p:cBhvr>
                                        <p:cTn id="19" dur="2000"/>
                                        <p:tgtEl>
                                          <p:spTgt spid="5120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1203">
                                            <p:txEl>
                                              <p:pRg st="4" end="4"/>
                                            </p:txEl>
                                          </p:spTgt>
                                        </p:tgtEl>
                                        <p:attrNameLst>
                                          <p:attrName>style.visibility</p:attrName>
                                        </p:attrNameLst>
                                      </p:cBhvr>
                                      <p:to>
                                        <p:strVal val="visible"/>
                                      </p:to>
                                    </p:set>
                                    <p:animEffect transition="in" filter="wipe(down)">
                                      <p:cBhvr>
                                        <p:cTn id="24" dur="500"/>
                                        <p:tgtEl>
                                          <p:spTgt spid="51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52227" name="内容占位符 2"/>
          <p:cNvSpPr>
            <a:spLocks noGrp="1"/>
          </p:cNvSpPr>
          <p:nvPr>
            <p:ph idx="1"/>
          </p:nvPr>
        </p:nvSpPr>
        <p:spPr>
          <a:xfrm>
            <a:off x="228600" y="1143000"/>
            <a:ext cx="8686800" cy="5486400"/>
          </a:xfrm>
          <a:ln/>
        </p:spPr>
        <p:txBody>
          <a:bodyPr vert="horz" wrap="square" lIns="91440" tIns="45720" rIns="91440" bIns="45720" anchor="t" anchorCtr="0"/>
          <a:lstStyle/>
          <a:p>
            <a:pPr>
              <a:buClr>
                <a:srgbClr val="C00000"/>
              </a:buClr>
              <a:buFont typeface="Wingdings" panose="05000000000000000000" pitchFamily="2" charset="2"/>
              <a:buChar char="u"/>
            </a:pPr>
            <a:r>
              <a:rPr lang="" altLang="en-US" sz="2800" b="1" dirty="0">
                <a:solidFill>
                  <a:srgbClr val="000000"/>
                </a:solidFill>
                <a:latin typeface="楷体_GB2312" pitchFamily="49" charset="-122"/>
                <a:ea typeface="楷体_GB2312" pitchFamily="49" charset="-122"/>
                <a:sym typeface="+mn-ea"/>
              </a:rPr>
              <a:t>原因</a:t>
            </a:r>
            <a:r>
              <a:rPr lang="" altLang="zh-CN" sz="2800" b="1" dirty="0">
                <a:solidFill>
                  <a:srgbClr val="000000"/>
                </a:solidFill>
                <a:latin typeface="楷体_GB2312" pitchFamily="49" charset="-122"/>
                <a:ea typeface="楷体_GB2312" pitchFamily="49" charset="-122"/>
                <a:sym typeface="+mn-ea"/>
              </a:rPr>
              <a:t>-</a:t>
            </a:r>
            <a:r>
              <a:rPr lang="" altLang="en-US" sz="2800" b="1" dirty="0">
                <a:solidFill>
                  <a:srgbClr val="000000"/>
                </a:solidFill>
                <a:latin typeface="楷体_GB2312" pitchFamily="49" charset="-122"/>
                <a:ea typeface="楷体_GB2312" pitchFamily="49" charset="-122"/>
                <a:sym typeface="+mn-ea"/>
              </a:rPr>
              <a:t>后果分析</a:t>
            </a:r>
            <a:endParaRPr lang="" altLang="zh-CN" sz="2800" b="1" dirty="0">
              <a:solidFill>
                <a:srgbClr val="000000"/>
              </a:solidFill>
              <a:latin typeface="楷体_GB2312" pitchFamily="49" charset="-122"/>
              <a:ea typeface="楷体_GB2312" pitchFamily="49" charset="-122"/>
              <a:sym typeface="+mn-ea"/>
            </a:endParaRPr>
          </a:p>
          <a:p>
            <a:pPr lvl="1">
              <a:spcBef>
                <a:spcPts val="1200"/>
              </a:spcBef>
            </a:pPr>
            <a:r>
              <a:rPr lang="zh-CN" altLang="zh-CN" sz="2400" dirty="0">
                <a:latin typeface="华文楷体" panose="02010600040101010101" pitchFamily="2" charset="-122"/>
                <a:ea typeface="华文楷体" panose="02010600040101010101" pitchFamily="2" charset="-122"/>
              </a:rPr>
              <a:t>原因</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后果分析（</a:t>
            </a:r>
            <a:r>
              <a:rPr lang="en-US" altLang="zh-CN" sz="2400" dirty="0">
                <a:latin typeface="华文楷体" panose="02010600040101010101" pitchFamily="2" charset="-122"/>
                <a:ea typeface="华文楷体" panose="02010600040101010101" pitchFamily="2" charset="-122"/>
              </a:rPr>
              <a:t>Cause Consequence Analysis, CCA</a:t>
            </a:r>
            <a:r>
              <a:rPr lang="zh-CN" altLang="zh-CN" sz="2400" dirty="0">
                <a:latin typeface="华文楷体" panose="02010600040101010101" pitchFamily="2" charset="-122"/>
                <a:ea typeface="华文楷体" panose="02010600040101010101" pitchFamily="2" charset="-122"/>
              </a:rPr>
              <a:t>）实际上是故障树分析（</a:t>
            </a:r>
            <a:r>
              <a:rPr lang="en-US" altLang="zh-CN" sz="2400" dirty="0">
                <a:latin typeface="华文楷体" panose="02010600040101010101" pitchFamily="2" charset="-122"/>
                <a:ea typeface="华文楷体" panose="02010600040101010101" pitchFamily="2" charset="-122"/>
              </a:rPr>
              <a:t>FTA</a:t>
            </a:r>
            <a:r>
              <a:rPr lang="zh-CN" altLang="zh-CN" sz="2400" dirty="0">
                <a:latin typeface="华文楷体" panose="02010600040101010101" pitchFamily="2" charset="-122"/>
                <a:ea typeface="华文楷体" panose="02010600040101010101" pitchFamily="2" charset="-122"/>
              </a:rPr>
              <a:t>）和事件树分析（</a:t>
            </a:r>
            <a:r>
              <a:rPr lang="en-US" altLang="zh-CN" sz="2400" dirty="0">
                <a:latin typeface="华文楷体" panose="02010600040101010101" pitchFamily="2" charset="-122"/>
                <a:ea typeface="华文楷体" panose="02010600040101010101" pitchFamily="2" charset="-122"/>
              </a:rPr>
              <a:t>ETA</a:t>
            </a:r>
            <a:r>
              <a:rPr lang="zh-CN" altLang="zh-CN" sz="2400" dirty="0">
                <a:latin typeface="华文楷体" panose="02010600040101010101" pitchFamily="2" charset="-122"/>
                <a:ea typeface="华文楷体" panose="02010600040101010101" pitchFamily="2" charset="-122"/>
              </a:rPr>
              <a:t>）的混合。</a:t>
            </a:r>
            <a:endParaRPr lang="en-US" altLang="zh-CN" sz="2400" dirty="0">
              <a:latin typeface="华文楷体" panose="02010600040101010101" pitchFamily="2" charset="-122"/>
              <a:ea typeface="华文楷体" panose="02010600040101010101" pitchFamily="2" charset="-122"/>
            </a:endParaRPr>
          </a:p>
          <a:p>
            <a:pPr lvl="1">
              <a:spcBef>
                <a:spcPts val="1200"/>
              </a:spcBef>
            </a:pPr>
            <a:r>
              <a:rPr lang="zh-CN" altLang="zh-CN" sz="2400" dirty="0">
                <a:latin typeface="华文楷体" panose="02010600040101010101" pitchFamily="2" charset="-122"/>
                <a:ea typeface="华文楷体" panose="02010600040101010101" pitchFamily="2" charset="-122"/>
              </a:rPr>
              <a:t>这种方法结合了原因分析（故障树分析）和后果分析（事件树分析），因此使用演绎以及归纳的分析方法。</a:t>
            </a:r>
            <a:endParaRPr lang="en-US" altLang="zh-CN" sz="2400" dirty="0">
              <a:latin typeface="华文楷体" panose="02010600040101010101" pitchFamily="2" charset="-122"/>
              <a:ea typeface="华文楷体" panose="02010600040101010101" pitchFamily="2" charset="-122"/>
            </a:endParaRPr>
          </a:p>
          <a:p>
            <a:pPr lvl="1">
              <a:spcBef>
                <a:spcPts val="1200"/>
              </a:spcBef>
            </a:pPr>
            <a:r>
              <a:rPr lang="zh-CN" altLang="zh-CN" sz="2400" dirty="0">
                <a:latin typeface="华文楷体" panose="02010600040101010101" pitchFamily="2" charset="-122"/>
                <a:ea typeface="华文楷体" panose="02010600040101010101" pitchFamily="2" charset="-122"/>
              </a:rPr>
              <a:t>原因</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结果分析的</a:t>
            </a:r>
            <a:r>
              <a:rPr lang="zh-CN" altLang="zh-CN" sz="2400" dirty="0">
                <a:solidFill>
                  <a:srgbClr val="FF0000"/>
                </a:solidFill>
                <a:latin typeface="华文楷体" panose="02010600040101010101" pitchFamily="2" charset="-122"/>
                <a:ea typeface="华文楷体" panose="02010600040101010101" pitchFamily="2" charset="-122"/>
              </a:rPr>
              <a:t>目的是识别出导致突发后果的事件链。</a:t>
            </a:r>
            <a:endParaRPr lang="en-US" altLang="zh-CN" sz="2400" dirty="0">
              <a:solidFill>
                <a:srgbClr val="FF0000"/>
              </a:solidFill>
              <a:latin typeface="华文楷体" panose="02010600040101010101" pitchFamily="2" charset="-122"/>
              <a:ea typeface="华文楷体" panose="02010600040101010101" pitchFamily="2" charset="-122"/>
            </a:endParaRPr>
          </a:p>
          <a:p>
            <a:pPr lvl="1">
              <a:spcBef>
                <a:spcPts val="1200"/>
              </a:spcBef>
            </a:pPr>
            <a:r>
              <a:rPr lang="zh-CN" altLang="zh-CN" sz="2400" dirty="0">
                <a:latin typeface="华文楷体" panose="02010600040101010101" pitchFamily="2" charset="-122"/>
                <a:ea typeface="华文楷体" panose="02010600040101010101" pitchFamily="2" charset="-122"/>
              </a:rPr>
              <a:t>根据</a:t>
            </a:r>
            <a:r>
              <a:rPr lang="en-US" altLang="zh-CN" sz="2400" dirty="0">
                <a:latin typeface="华文楷体" panose="02010600040101010101" pitchFamily="2" charset="-122"/>
                <a:ea typeface="华文楷体" panose="02010600040101010101" pitchFamily="2" charset="-122"/>
              </a:rPr>
              <a:t>CCA</a:t>
            </a:r>
            <a:r>
              <a:rPr lang="zh-CN" altLang="zh-CN" sz="2400" dirty="0">
                <a:latin typeface="华文楷体" panose="02010600040101010101" pitchFamily="2" charset="-122"/>
                <a:ea typeface="华文楷体" panose="02010600040101010101" pitchFamily="2" charset="-122"/>
              </a:rPr>
              <a:t>原因</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后果分析图中不同事件的发生概率，我们就可以计算出不同后果发生的概率，从而确定系统的风险等级。</a:t>
            </a:r>
            <a:endParaRPr lang="" altLang="en-US" sz="2000"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down)">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wipe(down)">
                                      <p:cBhvr>
                                        <p:cTn id="12" dur="500"/>
                                        <p:tgtEl>
                                          <p:spTgt spid="522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2227">
                                            <p:txEl>
                                              <p:pRg st="3" end="3"/>
                                            </p:txEl>
                                          </p:spTgt>
                                        </p:tgtEl>
                                        <p:attrNameLst>
                                          <p:attrName>style.visibility</p:attrName>
                                        </p:attrNameLst>
                                      </p:cBhvr>
                                      <p:to>
                                        <p:strVal val="visible"/>
                                      </p:to>
                                    </p:set>
                                    <p:animEffect transition="in" filter="circle(in)">
                                      <p:cBhvr>
                                        <p:cTn id="17" dur="2000"/>
                                        <p:tgtEl>
                                          <p:spTgt spid="522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52227">
                                            <p:txEl>
                                              <p:pRg st="4" end="4"/>
                                            </p:txEl>
                                          </p:spTgt>
                                        </p:tgtEl>
                                        <p:attrNameLst>
                                          <p:attrName>style.visibility</p:attrName>
                                        </p:attrNameLst>
                                      </p:cBhvr>
                                      <p:to>
                                        <p:strVal val="visible"/>
                                      </p:to>
                                    </p:set>
                                    <p:animEffect transition="in" filter="wheel(1)">
                                      <p:cBhvr>
                                        <p:cTn id="22" dur="2000"/>
                                        <p:tgtEl>
                                          <p:spTgt spid="52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47107" name="内容占位符 2"/>
          <p:cNvSpPr>
            <a:spLocks noGrp="1"/>
          </p:cNvSpPr>
          <p:nvPr>
            <p:ph idx="1"/>
          </p:nvPr>
        </p:nvSpPr>
        <p:spPr>
          <a:xfrm>
            <a:off x="152400" y="1057275"/>
            <a:ext cx="8642350" cy="580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C00000"/>
              </a:buClr>
              <a:buSzTx/>
              <a:buFont typeface="Wingdings" panose="05000000000000000000" pitchFamily="2" charset="2"/>
              <a:buChar char="u"/>
              <a:defRPr/>
            </a:pPr>
            <a:r>
              <a:rPr kumimoji="0" lang="zh-CN" altLang="en-US"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cs typeface="+mn-cs"/>
              </a:rPr>
              <a:t>概率风险评估和动态风险概率评估</a:t>
            </a: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1" smtClean="0">
                <a:ln>
                  <a:noFill/>
                </a:ln>
                <a:solidFill>
                  <a:srgbClr val="000000"/>
                </a:solidFill>
                <a:effectLst/>
                <a:uLnTx/>
                <a:uFillTx/>
                <a:latin typeface="+mn-lt"/>
                <a:ea typeface="+mn-ea"/>
                <a:cs typeface="+mn-cs"/>
              </a:rPr>
              <a:t>       </a:t>
            </a: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cs typeface="+mn-cs"/>
              </a:rPr>
              <a:t>该风险分析方法以事件树和故障树为核心的分析方法。其分析步骤如下：</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识别系统中存在的事件，找出风险源</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对各风险源考察其在系统安全中的地位，及相互逻</a:t>
            </a: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sym typeface="+mn-ea"/>
              </a:rPr>
              <a:t>辑关系，给出系统的风险源树</a:t>
            </a:r>
            <a:endPar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sym typeface="+mn-ea"/>
              </a:rPr>
              <a:t>标识各风险源后果大小及风险概率</a:t>
            </a:r>
            <a:endPar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sym typeface="+mn-ea"/>
              </a:rPr>
              <a:t>对风险源通过逻辑及数学方法进行组合，最后得到系统风险的度量</a:t>
            </a: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 calcmode="lin" valueType="num">
                                      <p:cBhvr additive="base">
                                        <p:cTn id="7"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anim calcmode="lin" valueType="num">
                                      <p:cBhvr additive="base">
                                        <p:cTn id="11"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7107">
                                            <p:txEl>
                                              <p:pRg st="3" end="3"/>
                                            </p:txEl>
                                          </p:spTgt>
                                        </p:tgtEl>
                                        <p:attrNameLst>
                                          <p:attrName>style.visibility</p:attrName>
                                        </p:attrNameLst>
                                      </p:cBhvr>
                                      <p:to>
                                        <p:strVal val="visible"/>
                                      </p:to>
                                    </p:set>
                                    <p:animEffect transition="in" filter="wipe(down)">
                                      <p:cBhvr>
                                        <p:cTn id="17" dur="500"/>
                                        <p:tgtEl>
                                          <p:spTgt spid="471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7107">
                                            <p:txEl>
                                              <p:pRg st="4" end="4"/>
                                            </p:txEl>
                                          </p:spTgt>
                                        </p:tgtEl>
                                        <p:attrNameLst>
                                          <p:attrName>style.visibility</p:attrName>
                                        </p:attrNameLst>
                                      </p:cBhvr>
                                      <p:to>
                                        <p:strVal val="visible"/>
                                      </p:to>
                                    </p:set>
                                    <p:animEffect transition="in" filter="circle(in)">
                                      <p:cBhvr>
                                        <p:cTn id="22" dur="2000"/>
                                        <p:tgtEl>
                                          <p:spTgt spid="471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animEffect transition="in" filter="wheel(1)">
                                      <p:cBhvr>
                                        <p:cTn id="27" dur="20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典型的风险分析方法</a:t>
            </a:r>
          </a:p>
        </p:txBody>
      </p:sp>
      <p:sp>
        <p:nvSpPr>
          <p:cNvPr id="52227" name="内容占位符 2"/>
          <p:cNvSpPr>
            <a:spLocks noGrp="1"/>
          </p:cNvSpPr>
          <p:nvPr>
            <p:ph idx="1"/>
          </p:nvPr>
        </p:nvSpPr>
        <p:spPr>
          <a:xfrm>
            <a:off x="228600" y="1066800"/>
            <a:ext cx="8534400" cy="54102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3200" b="1" i="0" u="none" strike="noStrike" kern="0" cap="none" spc="0" normalizeH="0" baseline="0" noProof="0" dirty="0" smtClean="0">
                <a:ln>
                  <a:noFill/>
                </a:ln>
                <a:solidFill>
                  <a:srgbClr val="000000"/>
                </a:solidFill>
                <a:effectLst/>
                <a:uLnTx/>
                <a:uFillTx/>
                <a:latin typeface="Yu Gothic Light" panose="020B0300000000000000" pitchFamily="34" charset="-128"/>
                <a:ea typeface="Yu Gothic Light" panose="020B0300000000000000" pitchFamily="34" charset="-128"/>
              </a:rPr>
              <a:t>O</a:t>
            </a:r>
            <a:r>
              <a:rPr kumimoji="0" lang="zh-CN" altLang="en-US" sz="3200" b="1" i="0" u="none" strike="noStrike" kern="0" cap="none" spc="0" normalizeH="0" baseline="0" noProof="0" dirty="0" smtClean="0">
                <a:ln>
                  <a:noFill/>
                </a:ln>
                <a:solidFill>
                  <a:srgbClr val="000000"/>
                </a:solidFill>
                <a:effectLst/>
                <a:uLnTx/>
                <a:uFillTx/>
                <a:latin typeface="Yu Gothic Light" panose="020B0300000000000000" pitchFamily="34" charset="-128"/>
                <a:ea typeface="Yu Gothic Light" panose="020B0300000000000000" pitchFamily="34" charset="-128"/>
              </a:rPr>
              <a:t>CTAVE模型</a:t>
            </a: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1999</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年，卡内基</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梅隆大学的</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SEI</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发布了</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OCTAVE</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框架，这是一种自主型信息安全风险评估方法。</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OCTAVE</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方法是</a:t>
            </a:r>
            <a:r>
              <a:rPr kumimoji="0" lang="en-US" altLang="zh-CN" sz="24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Alberts</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和</a:t>
            </a:r>
            <a:r>
              <a:rPr kumimoji="0" lang="en-US" altLang="zh-CN" sz="24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Dorofee</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共同研究的成果，这是一种从系统的、组织的角度开发的新型信息安全保护方法，主要针对大型组织，中小型组织也可以对其适当裁剪，以满足自身需要。</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342900" marR="0" lvl="1"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它的实施分为三个阶段：</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建立基于资产的威胁配置文件（Threat Profile）</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标识基础结构的弱点</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楷体_GB2312"/>
              </a:rPr>
              <a:t>开发安全策略和计划</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down)">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barn(inVertical)">
                                      <p:cBhvr>
                                        <p:cTn id="12" dur="500"/>
                                        <p:tgtEl>
                                          <p:spTgt spid="522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2227">
                                            <p:txEl>
                                              <p:pRg st="3" end="3"/>
                                            </p:txEl>
                                          </p:spTgt>
                                        </p:tgtEl>
                                        <p:attrNameLst>
                                          <p:attrName>style.visibility</p:attrName>
                                        </p:attrNameLst>
                                      </p:cBhvr>
                                      <p:to>
                                        <p:strVal val="visible"/>
                                      </p:to>
                                    </p:set>
                                    <p:animEffect transition="in" filter="circle(in)">
                                      <p:cBhvr>
                                        <p:cTn id="17" dur="2000"/>
                                        <p:tgtEl>
                                          <p:spTgt spid="522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52227">
                                            <p:txEl>
                                              <p:pRg st="4" end="4"/>
                                            </p:txEl>
                                          </p:spTgt>
                                        </p:tgtEl>
                                        <p:attrNameLst>
                                          <p:attrName>style.visibility</p:attrName>
                                        </p:attrNameLst>
                                      </p:cBhvr>
                                      <p:to>
                                        <p:strVal val="visible"/>
                                      </p:to>
                                    </p:set>
                                    <p:animEffect transition="in" filter="wheel(1)">
                                      <p:cBhvr>
                                        <p:cTn id="22" dur="2000"/>
                                        <p:tgtEl>
                                          <p:spTgt spid="5222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2227">
                                            <p:txEl>
                                              <p:pRg st="5" end="5"/>
                                            </p:txEl>
                                          </p:spTgt>
                                        </p:tgtEl>
                                        <p:attrNameLst>
                                          <p:attrName>style.visibility</p:attrName>
                                        </p:attrNameLst>
                                      </p:cBhvr>
                                      <p:to>
                                        <p:strVal val="visible"/>
                                      </p:to>
                                    </p:set>
                                    <p:animEffect transition="in" filter="wipe(down)">
                                      <p:cBhvr>
                                        <p:cTn id="27" dur="500"/>
                                        <p:tgtEl>
                                          <p:spTgt spid="5222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52227">
                                            <p:txEl>
                                              <p:pRg st="6" end="6"/>
                                            </p:txEl>
                                          </p:spTgt>
                                        </p:tgtEl>
                                        <p:attrNameLst>
                                          <p:attrName>style.visibility</p:attrName>
                                        </p:attrNameLst>
                                      </p:cBhvr>
                                      <p:to>
                                        <p:strVal val="visible"/>
                                      </p:to>
                                    </p:set>
                                    <p:animEffect transition="in" filter="barn(inVertical)">
                                      <p:cBhvr>
                                        <p:cTn id="32" dur="500"/>
                                        <p:tgtEl>
                                          <p:spTgt spid="522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57347" name="Group 3"/>
          <p:cNvGrpSpPr/>
          <p:nvPr/>
        </p:nvGrpSpPr>
        <p:grpSpPr>
          <a:xfrm>
            <a:off x="1828800" y="1752600"/>
            <a:ext cx="762000" cy="665163"/>
            <a:chOff x="1110" y="2656"/>
            <a:chExt cx="1549" cy="1351"/>
          </a:xfrm>
        </p:grpSpPr>
        <p:sp>
          <p:nvSpPr>
            <p:cNvPr id="57389"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90"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7348" name="Group 7"/>
          <p:cNvGrpSpPr/>
          <p:nvPr/>
        </p:nvGrpSpPr>
        <p:grpSpPr>
          <a:xfrm>
            <a:off x="1828800" y="2667000"/>
            <a:ext cx="762000" cy="665163"/>
            <a:chOff x="3174" y="2656"/>
            <a:chExt cx="1549" cy="1351"/>
          </a:xfrm>
        </p:grpSpPr>
        <p:sp>
          <p:nvSpPr>
            <p:cNvPr id="57386"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87"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7349"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57350"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信息安全风险评估策略</a:t>
            </a:r>
          </a:p>
        </p:txBody>
      </p:sp>
      <p:sp>
        <p:nvSpPr>
          <p:cNvPr id="57351"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57352"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57353"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57354"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57355"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57356"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信息安全风险评估过程</a:t>
            </a:r>
          </a:p>
        </p:txBody>
      </p:sp>
      <p:grpSp>
        <p:nvGrpSpPr>
          <p:cNvPr id="57357" name="组合 25"/>
          <p:cNvGrpSpPr/>
          <p:nvPr/>
        </p:nvGrpSpPr>
        <p:grpSpPr>
          <a:xfrm>
            <a:off x="1779588" y="3482975"/>
            <a:ext cx="5535612" cy="665163"/>
            <a:chOff x="1828800" y="3559175"/>
            <a:chExt cx="5534899" cy="665163"/>
          </a:xfrm>
        </p:grpSpPr>
        <p:sp>
          <p:nvSpPr>
            <p:cNvPr id="57380"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典型的风险分析方法</a:t>
              </a:r>
            </a:p>
          </p:txBody>
        </p:sp>
        <p:grpSp>
          <p:nvGrpSpPr>
            <p:cNvPr id="57381" name="Group 17"/>
            <p:cNvGrpSpPr/>
            <p:nvPr/>
          </p:nvGrpSpPr>
          <p:grpSpPr>
            <a:xfrm>
              <a:off x="1828800" y="3559175"/>
              <a:ext cx="762000" cy="665163"/>
              <a:chOff x="1110" y="2656"/>
              <a:chExt cx="1549" cy="1351"/>
            </a:xfrm>
          </p:grpSpPr>
          <p:sp>
            <p:nvSpPr>
              <p:cNvPr id="57383"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84"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57382"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57358"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57359"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57360" name="Group 7"/>
          <p:cNvGrpSpPr/>
          <p:nvPr/>
        </p:nvGrpSpPr>
        <p:grpSpPr>
          <a:xfrm>
            <a:off x="1784350" y="4303713"/>
            <a:ext cx="762000" cy="665162"/>
            <a:chOff x="3174" y="2656"/>
            <a:chExt cx="1549" cy="1351"/>
          </a:xfrm>
        </p:grpSpPr>
        <p:sp>
          <p:nvSpPr>
            <p:cNvPr id="5737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7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7361"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57362"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数据采集方法与评价工具</a:t>
            </a:r>
          </a:p>
        </p:txBody>
      </p:sp>
      <p:grpSp>
        <p:nvGrpSpPr>
          <p:cNvPr id="57363" name="Group 3"/>
          <p:cNvGrpSpPr/>
          <p:nvPr/>
        </p:nvGrpSpPr>
        <p:grpSpPr>
          <a:xfrm>
            <a:off x="1836738" y="5159375"/>
            <a:ext cx="762000" cy="665163"/>
            <a:chOff x="1110" y="2656"/>
            <a:chExt cx="1549" cy="1351"/>
          </a:xfrm>
        </p:grpSpPr>
        <p:sp>
          <p:nvSpPr>
            <p:cNvPr id="57374"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75"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7364"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57365"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57366"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风险评估实例报告</a:t>
            </a:r>
          </a:p>
        </p:txBody>
      </p:sp>
      <p:grpSp>
        <p:nvGrpSpPr>
          <p:cNvPr id="57367" name="Group 3"/>
          <p:cNvGrpSpPr/>
          <p:nvPr/>
        </p:nvGrpSpPr>
        <p:grpSpPr>
          <a:xfrm>
            <a:off x="1828800" y="5888038"/>
            <a:ext cx="762000" cy="665162"/>
            <a:chOff x="1110" y="2656"/>
            <a:chExt cx="1549" cy="1351"/>
          </a:xfrm>
        </p:grpSpPr>
        <p:sp>
          <p:nvSpPr>
            <p:cNvPr id="5737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737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7368"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57369"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57370"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数据采集方法与评价工具</a:t>
            </a:r>
          </a:p>
        </p:txBody>
      </p:sp>
      <p:sp>
        <p:nvSpPr>
          <p:cNvPr id="3" name="内容占位符 2"/>
          <p:cNvSpPr>
            <a:spLocks noGrp="1"/>
          </p:cNvSpPr>
          <p:nvPr>
            <p:ph idx="1"/>
          </p:nvPr>
        </p:nvSpPr>
        <p:spPr>
          <a:xfrm>
            <a:off x="152400" y="1066800"/>
            <a:ext cx="9140825" cy="5662613"/>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en-US" sz="32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cs typeface="+mn-cs"/>
              </a:rPr>
              <a:t>风险分析</a:t>
            </a:r>
            <a:r>
              <a:rPr kumimoji="0" lang="zh-CN" altLang="en-US" sz="3200" b="1" i="0" u="none" strike="noStrike" kern="0" cap="none" spc="0" normalizeH="0" baseline="0" noProof="1">
                <a:ln>
                  <a:noFill/>
                </a:ln>
                <a:solidFill>
                  <a:srgbClr val="000000"/>
                </a:solidFill>
                <a:effectLst/>
                <a:uLnTx/>
                <a:uFillTx/>
                <a:latin typeface="楷体_GB2312" pitchFamily="49" charset="-122"/>
                <a:ea typeface="楷体_GB2312" pitchFamily="49" charset="-122"/>
                <a:cs typeface="+mn-cs"/>
              </a:rPr>
              <a:t>数据的采集方法</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rPr>
              <a:t>风险评估过程中，可以利用一些辅助性的工具和方法来采集数据，包括：</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调查</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问卷</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检查</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列表</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人员</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访谈</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文档</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检查</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漏洞</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扫描器</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1" smtClean="0">
                <a:ln>
                  <a:noFill/>
                </a:ln>
                <a:solidFill>
                  <a:srgbClr val="000000"/>
                </a:solidFill>
                <a:effectLst/>
                <a:uLnTx/>
                <a:uFillTx/>
                <a:latin typeface="华文楷体" panose="02010600040101010101" pitchFamily="2" charset="-122"/>
                <a:ea typeface="华文楷体" panose="02010600040101010101" pitchFamily="2" charset="-122"/>
              </a:rPr>
              <a:t>渗透</a:t>
            </a:r>
            <a:r>
              <a:rPr kumimoji="0" lang="zh-CN" altLang="en-US" sz="2400" b="1" i="0" u="none" strike="noStrike" kern="0" cap="none" spc="0" normalizeH="0" baseline="0" noProof="1">
                <a:ln>
                  <a:noFill/>
                </a:ln>
                <a:solidFill>
                  <a:srgbClr val="000000"/>
                </a:solidFill>
                <a:effectLst/>
                <a:uLnTx/>
                <a:uFillTx/>
                <a:latin typeface="华文楷体" panose="02010600040101010101" pitchFamily="2" charset="-122"/>
                <a:ea typeface="华文楷体" panose="02010600040101010101" pitchFamily="2" charset="-122"/>
              </a:rPr>
              <a:t>测试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heel(1)">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arn(inVertical)">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circle(in)">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1000"/>
                                        <p:tgtEl>
                                          <p:spTgt spid="3">
                                            <p:txEl>
                                              <p:pRg st="7" end="7"/>
                                            </p:txEl>
                                          </p:spTgt>
                                        </p:tgtEl>
                                      </p:cBhvr>
                                    </p:animEffect>
                                    <p:anim calcmode="lin" valueType="num">
                                      <p:cBhvr>
                                        <p:cTn id="3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数据采集方法与评价工具</a:t>
            </a:r>
          </a:p>
        </p:txBody>
      </p:sp>
      <p:sp>
        <p:nvSpPr>
          <p:cNvPr id="3" name="内容占位符 2"/>
          <p:cNvSpPr>
            <a:spLocks noGrp="1"/>
          </p:cNvSpPr>
          <p:nvPr>
            <p:ph idx="1"/>
          </p:nvPr>
        </p:nvSpPr>
        <p:spPr>
          <a:xfrm>
            <a:off x="228600" y="1066800"/>
            <a:ext cx="8458200" cy="52578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en-US" sz="3200" b="1" i="0" u="none" strike="noStrike" kern="0" cap="none" spc="0" normalizeH="0" baseline="0" noProof="1">
                <a:ln>
                  <a:noFill/>
                </a:ln>
                <a:solidFill>
                  <a:srgbClr val="000000"/>
                </a:solidFill>
                <a:effectLst/>
                <a:uLnTx/>
                <a:uFillTx/>
                <a:latin typeface="楷体_GB2312" pitchFamily="49" charset="-122"/>
                <a:ea typeface="楷体_GB2312" pitchFamily="49" charset="-122"/>
                <a:cs typeface="+mn-cs"/>
              </a:rPr>
              <a:t>风险评价工具</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1" i="0" u="none" strike="noStrike" kern="0" cap="none" spc="0" normalizeH="0" baseline="0" noProof="1">
                <a:ln>
                  <a:noFill/>
                </a:ln>
                <a:solidFill>
                  <a:srgbClr val="000000"/>
                </a:solidFill>
                <a:effectLst/>
                <a:uLnTx/>
                <a:uFillTx/>
                <a:latin typeface="+mn-lt"/>
              </a:rPr>
              <a:t>	</a:t>
            </a:r>
            <a:r>
              <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SAFESuite套件</a:t>
            </a: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000" b="1" i="0" u="none" strike="noStrike" kern="0" cap="none" spc="0" normalizeH="0" baseline="0" noProof="1" smtClean="0">
                <a:ln>
                  <a:noFill/>
                </a:ln>
                <a:solidFill>
                  <a:srgbClr val="FF0000"/>
                </a:solidFill>
                <a:effectLst/>
                <a:uLnTx/>
                <a:uFillTx/>
                <a:latin typeface="华文楷体" panose="02010600040101010101" pitchFamily="2" charset="-122"/>
                <a:ea typeface="华文楷体" panose="02010600040101010101" pitchFamily="2" charset="-122"/>
              </a:rPr>
              <a:t>Internet扫描器、系统扫描器、数据库扫描器、实时监控器、Safe Suite套件决策软件。</a:t>
            </a:r>
            <a:endParaRPr kumimoji="0" lang="zh-CN" altLang="en-US" sz="2800" b="1" i="0" u="none" strike="noStrike" kern="0" cap="none" spc="0" normalizeH="0" baseline="0" noProof="1">
              <a:ln>
                <a:noFill/>
              </a:ln>
              <a:solidFill>
                <a:srgbClr val="FF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KaneSecurityAnalyst</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WebTrendsSecurityAnalyzer</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COBRA</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CRAMM</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ASSET</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800" b="0" i="0" u="none" strike="noStrike" kern="0" cap="none" spc="0" normalizeH="0" baseline="0" noProof="1" smtClean="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CORA</a:t>
            </a:r>
            <a:endParaRPr kumimoji="0" lang="zh-CN" altLang="en-US" sz="2800" b="0" i="0" u="none" strike="noStrike" kern="0" cap="none" spc="0" normalizeH="0" baseline="0" noProof="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heel(1)">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heel(1)">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barn(inVertical)">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60419" name="Group 3"/>
          <p:cNvGrpSpPr/>
          <p:nvPr/>
        </p:nvGrpSpPr>
        <p:grpSpPr>
          <a:xfrm>
            <a:off x="1828800" y="1752600"/>
            <a:ext cx="762000" cy="665163"/>
            <a:chOff x="1110" y="2656"/>
            <a:chExt cx="1549" cy="1351"/>
          </a:xfrm>
        </p:grpSpPr>
        <p:sp>
          <p:nvSpPr>
            <p:cNvPr id="6046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6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60420" name="Group 7"/>
          <p:cNvGrpSpPr/>
          <p:nvPr/>
        </p:nvGrpSpPr>
        <p:grpSpPr>
          <a:xfrm>
            <a:off x="1828800" y="2667000"/>
            <a:ext cx="762000" cy="665163"/>
            <a:chOff x="3174" y="2656"/>
            <a:chExt cx="1549" cy="1351"/>
          </a:xfrm>
        </p:grpSpPr>
        <p:sp>
          <p:nvSpPr>
            <p:cNvPr id="6045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5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21"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60422"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信息安全风险评估策略</a:t>
            </a:r>
          </a:p>
        </p:txBody>
      </p:sp>
      <p:sp>
        <p:nvSpPr>
          <p:cNvPr id="60423"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60424"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60425"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60426"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60427"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60428"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信息安全风险评估过程</a:t>
            </a:r>
          </a:p>
        </p:txBody>
      </p:sp>
      <p:grpSp>
        <p:nvGrpSpPr>
          <p:cNvPr id="60429" name="组合 25"/>
          <p:cNvGrpSpPr/>
          <p:nvPr/>
        </p:nvGrpSpPr>
        <p:grpSpPr>
          <a:xfrm>
            <a:off x="1779588" y="3482975"/>
            <a:ext cx="5535612" cy="665163"/>
            <a:chOff x="1828800" y="3559175"/>
            <a:chExt cx="5534899" cy="665163"/>
          </a:xfrm>
        </p:grpSpPr>
        <p:sp>
          <p:nvSpPr>
            <p:cNvPr id="60452"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典型的风险分析方法</a:t>
              </a:r>
            </a:p>
          </p:txBody>
        </p:sp>
        <p:grpSp>
          <p:nvGrpSpPr>
            <p:cNvPr id="60453" name="Group 17"/>
            <p:cNvGrpSpPr/>
            <p:nvPr/>
          </p:nvGrpSpPr>
          <p:grpSpPr>
            <a:xfrm>
              <a:off x="1828800" y="3559175"/>
              <a:ext cx="762000" cy="665163"/>
              <a:chOff x="1110" y="2656"/>
              <a:chExt cx="1549" cy="1351"/>
            </a:xfrm>
          </p:grpSpPr>
          <p:sp>
            <p:nvSpPr>
              <p:cNvPr id="6045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5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6045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60430"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60431"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60432" name="Group 7"/>
          <p:cNvGrpSpPr/>
          <p:nvPr/>
        </p:nvGrpSpPr>
        <p:grpSpPr>
          <a:xfrm>
            <a:off x="1784350" y="4303713"/>
            <a:ext cx="762000" cy="665162"/>
            <a:chOff x="3174" y="2656"/>
            <a:chExt cx="1549" cy="1351"/>
          </a:xfrm>
        </p:grpSpPr>
        <p:sp>
          <p:nvSpPr>
            <p:cNvPr id="60449"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50"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33"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60434"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数据采集方法与评价工具</a:t>
            </a:r>
          </a:p>
        </p:txBody>
      </p:sp>
      <p:grpSp>
        <p:nvGrpSpPr>
          <p:cNvPr id="60435" name="Group 3"/>
          <p:cNvGrpSpPr/>
          <p:nvPr/>
        </p:nvGrpSpPr>
        <p:grpSpPr>
          <a:xfrm>
            <a:off x="1836738" y="5159375"/>
            <a:ext cx="762000" cy="665163"/>
            <a:chOff x="1110" y="2656"/>
            <a:chExt cx="1549" cy="1351"/>
          </a:xfrm>
        </p:grpSpPr>
        <p:sp>
          <p:nvSpPr>
            <p:cNvPr id="60446"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47"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36"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60437"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60438"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风险评估实例报告</a:t>
            </a:r>
          </a:p>
        </p:txBody>
      </p:sp>
      <p:grpSp>
        <p:nvGrpSpPr>
          <p:cNvPr id="60439" name="Group 3"/>
          <p:cNvGrpSpPr/>
          <p:nvPr/>
        </p:nvGrpSpPr>
        <p:grpSpPr>
          <a:xfrm>
            <a:off x="1828800" y="5888038"/>
            <a:ext cx="762000" cy="665162"/>
            <a:chOff x="1110" y="2656"/>
            <a:chExt cx="1549" cy="1351"/>
          </a:xfrm>
        </p:grpSpPr>
        <p:sp>
          <p:nvSpPr>
            <p:cNvPr id="6044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4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40"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60441"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60442"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风险评估实例报告</a:t>
            </a:r>
            <a:endParaRPr lang="zh-CN" altLang="en-US" dirty="0">
              <a:ea typeface="宋体" panose="02010600030101010101" pitchFamily="2" charset="-122"/>
            </a:endParaRPr>
          </a:p>
        </p:txBody>
      </p:sp>
      <p:sp>
        <p:nvSpPr>
          <p:cNvPr id="43010" name="内容占位符 2"/>
          <p:cNvSpPr>
            <a:spLocks noGrp="1" noChangeArrowheads="1"/>
          </p:cNvSpPr>
          <p:nvPr>
            <p:ph idx="1"/>
          </p:nvPr>
        </p:nvSpPr>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风险评估实例</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报告</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p:txBody>
      </p:sp>
      <p:pic>
        <p:nvPicPr>
          <p:cNvPr id="59396" name="Picture 5"/>
          <p:cNvPicPr>
            <a:picLocks noChangeAspect="1"/>
          </p:cNvPicPr>
          <p:nvPr/>
        </p:nvPicPr>
        <p:blipFill>
          <a:blip r:embed="rId2"/>
          <a:stretch>
            <a:fillRect/>
          </a:stretch>
        </p:blipFill>
        <p:spPr>
          <a:xfrm>
            <a:off x="685800" y="1800225"/>
            <a:ext cx="3937000" cy="4667250"/>
          </a:xfrm>
          <a:prstGeom prst="rect">
            <a:avLst/>
          </a:prstGeom>
          <a:noFill/>
          <a:ln w="9525">
            <a:noFill/>
          </a:ln>
        </p:spPr>
      </p:pic>
      <p:pic>
        <p:nvPicPr>
          <p:cNvPr id="61445" name="Picture 6"/>
          <p:cNvPicPr>
            <a:picLocks noChangeAspect="1"/>
          </p:cNvPicPr>
          <p:nvPr/>
        </p:nvPicPr>
        <p:blipFill>
          <a:blip r:embed="rId3"/>
          <a:stretch>
            <a:fillRect/>
          </a:stretch>
        </p:blipFill>
        <p:spPr>
          <a:xfrm>
            <a:off x="4622800" y="1800225"/>
            <a:ext cx="3911600" cy="46672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396"/>
                                        </p:tgtEl>
                                        <p:attrNameLst>
                                          <p:attrName>style.visibility</p:attrName>
                                        </p:attrNameLst>
                                      </p:cBhvr>
                                      <p:to>
                                        <p:strVal val="visible"/>
                                      </p:to>
                                    </p:set>
                                    <p:anim calcmode="lin" valueType="num">
                                      <p:cBhvr additive="base">
                                        <p:cTn id="7" dur="500" fill="hold"/>
                                        <p:tgtEl>
                                          <p:spTgt spid="59396"/>
                                        </p:tgtEl>
                                        <p:attrNameLst>
                                          <p:attrName>ppt_x</p:attrName>
                                        </p:attrNameLst>
                                      </p:cBhvr>
                                      <p:tavLst>
                                        <p:tav tm="0">
                                          <p:val>
                                            <p:strVal val="#ppt_x"/>
                                          </p:val>
                                        </p:tav>
                                        <p:tav tm="100000">
                                          <p:val>
                                            <p:strVal val="#ppt_x"/>
                                          </p:val>
                                        </p:tav>
                                      </p:tavLst>
                                    </p:anim>
                                    <p:anim calcmode="lin" valueType="num">
                                      <p:cBhvr additive="base">
                                        <p:cTn id="8" dur="500" fill="hold"/>
                                        <p:tgtEl>
                                          <p:spTgt spid="593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风险评估实例报告</a:t>
            </a:r>
            <a:endParaRPr lang="zh-CN" altLang="en-US" dirty="0">
              <a:ea typeface="宋体" panose="02010600030101010101" pitchFamily="2" charset="-122"/>
            </a:endParaRPr>
          </a:p>
        </p:txBody>
      </p:sp>
      <p:pic>
        <p:nvPicPr>
          <p:cNvPr id="60419" name="Picture 2"/>
          <p:cNvPicPr>
            <a:picLocks noChangeAspect="1"/>
          </p:cNvPicPr>
          <p:nvPr/>
        </p:nvPicPr>
        <p:blipFill>
          <a:blip r:embed="rId2"/>
          <a:stretch>
            <a:fillRect/>
          </a:stretch>
        </p:blipFill>
        <p:spPr>
          <a:xfrm>
            <a:off x="614363" y="1066800"/>
            <a:ext cx="3994150" cy="5530850"/>
          </a:xfrm>
          <a:prstGeom prst="rect">
            <a:avLst/>
          </a:prstGeom>
          <a:noFill/>
          <a:ln w="9525">
            <a:noFill/>
          </a:ln>
        </p:spPr>
      </p:pic>
      <p:pic>
        <p:nvPicPr>
          <p:cNvPr id="60420" name="Picture 3"/>
          <p:cNvPicPr>
            <a:picLocks noChangeAspect="1"/>
          </p:cNvPicPr>
          <p:nvPr/>
        </p:nvPicPr>
        <p:blipFill>
          <a:blip r:embed="rId3"/>
          <a:stretch>
            <a:fillRect/>
          </a:stretch>
        </p:blipFill>
        <p:spPr>
          <a:xfrm>
            <a:off x="4724400" y="1049338"/>
            <a:ext cx="3956050" cy="55308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circle(in)">
                                      <p:cBhvr>
                                        <p:cTn id="7" dur="2000"/>
                                        <p:tgtEl>
                                          <p:spTgt spid="6041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0420"/>
                                        </p:tgtEl>
                                        <p:attrNameLst>
                                          <p:attrName>style.visibility</p:attrName>
                                        </p:attrNameLst>
                                      </p:cBhvr>
                                      <p:to>
                                        <p:strVal val="visible"/>
                                      </p:to>
                                    </p:set>
                                    <p:animEffect transition="in" filter="wheel(1)">
                                      <p:cBhvr>
                                        <p:cTn id="12" dur="20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风险评估实例报告</a:t>
            </a:r>
            <a:endParaRPr lang="zh-CN" altLang="en-US" dirty="0">
              <a:ea typeface="宋体" panose="02010600030101010101" pitchFamily="2" charset="-122"/>
            </a:endParaRPr>
          </a:p>
        </p:txBody>
      </p:sp>
      <p:pic>
        <p:nvPicPr>
          <p:cNvPr id="61443" name="Picture 2"/>
          <p:cNvPicPr>
            <a:picLocks noChangeAspect="1"/>
          </p:cNvPicPr>
          <p:nvPr/>
        </p:nvPicPr>
        <p:blipFill>
          <a:blip r:embed="rId2"/>
          <a:stretch>
            <a:fillRect/>
          </a:stretch>
        </p:blipFill>
        <p:spPr>
          <a:xfrm>
            <a:off x="762000" y="1066800"/>
            <a:ext cx="3937000" cy="5537200"/>
          </a:xfrm>
          <a:prstGeom prst="rect">
            <a:avLst/>
          </a:prstGeom>
          <a:noFill/>
          <a:ln w="9525">
            <a:noFill/>
          </a:ln>
        </p:spPr>
      </p:pic>
      <p:pic>
        <p:nvPicPr>
          <p:cNvPr id="61444" name="Picture 3"/>
          <p:cNvPicPr>
            <a:picLocks noChangeAspect="1"/>
          </p:cNvPicPr>
          <p:nvPr/>
        </p:nvPicPr>
        <p:blipFill>
          <a:blip r:embed="rId3"/>
          <a:stretch>
            <a:fillRect/>
          </a:stretch>
        </p:blipFill>
        <p:spPr>
          <a:xfrm>
            <a:off x="4692650" y="1049338"/>
            <a:ext cx="3937000" cy="55372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circle(in)">
                                      <p:cBhvr>
                                        <p:cTn id="7" dur="2000"/>
                                        <p:tgtEl>
                                          <p:spTgt spid="614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barn(inVertical)">
                                      <p:cBhvr>
                                        <p:cTn id="12"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风险评估实例报告</a:t>
            </a:r>
            <a:endParaRPr lang="zh-CN" altLang="en-US" dirty="0">
              <a:ea typeface="宋体" panose="02010600030101010101" pitchFamily="2" charset="-122"/>
            </a:endParaRPr>
          </a:p>
        </p:txBody>
      </p:sp>
      <p:pic>
        <p:nvPicPr>
          <p:cNvPr id="62467" name="Picture 2"/>
          <p:cNvPicPr>
            <a:picLocks noChangeAspect="1"/>
          </p:cNvPicPr>
          <p:nvPr/>
        </p:nvPicPr>
        <p:blipFill>
          <a:blip r:embed="rId2"/>
          <a:stretch>
            <a:fillRect/>
          </a:stretch>
        </p:blipFill>
        <p:spPr>
          <a:xfrm>
            <a:off x="698500" y="1066800"/>
            <a:ext cx="3911600" cy="5511800"/>
          </a:xfrm>
          <a:prstGeom prst="rect">
            <a:avLst/>
          </a:prstGeom>
          <a:noFill/>
          <a:ln w="9525">
            <a:noFill/>
          </a:ln>
        </p:spPr>
      </p:pic>
      <p:pic>
        <p:nvPicPr>
          <p:cNvPr id="62468" name="Picture 3"/>
          <p:cNvPicPr>
            <a:picLocks noChangeAspect="1"/>
          </p:cNvPicPr>
          <p:nvPr/>
        </p:nvPicPr>
        <p:blipFill>
          <a:blip r:embed="rId3"/>
          <a:stretch>
            <a:fillRect/>
          </a:stretch>
        </p:blipFill>
        <p:spPr>
          <a:xfrm>
            <a:off x="4632325" y="1066800"/>
            <a:ext cx="3911600" cy="55054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wipe(down)">
                                      <p:cBhvr>
                                        <p:cTn id="7" dur="500"/>
                                        <p:tgtEl>
                                          <p:spTgt spid="6246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2468"/>
                                        </p:tgtEl>
                                        <p:attrNameLst>
                                          <p:attrName>style.visibility</p:attrName>
                                        </p:attrNameLst>
                                      </p:cBhvr>
                                      <p:to>
                                        <p:strVal val="visible"/>
                                      </p:to>
                                    </p:set>
                                    <p:animEffect transition="in" filter="wheel(1)">
                                      <p:cBhvr>
                                        <p:cTn id="12" dur="2000"/>
                                        <p:tgtEl>
                                          <p:spTgt spid="6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ln/>
        </p:spPr>
        <p:txBody>
          <a:bodyPr vert="horz" wrap="square" lIns="91440" tIns="45720" rIns="91440" bIns="45720" anchor="ctr" anchorCtr="0"/>
          <a:lstStyle/>
          <a:p>
            <a:r>
              <a:rPr lang="zh-CN" altLang="en-US" b="1" dirty="0">
                <a:ea typeface="宋体" panose="02010600030101010101" pitchFamily="2" charset="-122"/>
              </a:rPr>
              <a:t>风险评估实例报告</a:t>
            </a:r>
            <a:endParaRPr lang="zh-CN" altLang="en-US" dirty="0">
              <a:ea typeface="宋体" panose="02010600030101010101" pitchFamily="2" charset="-122"/>
            </a:endParaRPr>
          </a:p>
        </p:txBody>
      </p:sp>
      <p:pic>
        <p:nvPicPr>
          <p:cNvPr id="63491" name="Picture 2"/>
          <p:cNvPicPr>
            <a:picLocks noChangeAspect="1"/>
          </p:cNvPicPr>
          <p:nvPr/>
        </p:nvPicPr>
        <p:blipFill>
          <a:blip r:embed="rId2"/>
          <a:stretch>
            <a:fillRect/>
          </a:stretch>
        </p:blipFill>
        <p:spPr>
          <a:xfrm>
            <a:off x="533400" y="1066800"/>
            <a:ext cx="3937000" cy="5505450"/>
          </a:xfrm>
          <a:prstGeom prst="rect">
            <a:avLst/>
          </a:prstGeom>
          <a:noFill/>
          <a:ln w="9525">
            <a:noFill/>
          </a:ln>
        </p:spPr>
      </p:pic>
      <p:pic>
        <p:nvPicPr>
          <p:cNvPr id="63492" name="Picture 3"/>
          <p:cNvPicPr>
            <a:picLocks noChangeAspect="1"/>
          </p:cNvPicPr>
          <p:nvPr/>
        </p:nvPicPr>
        <p:blipFill>
          <a:blip r:embed="rId3"/>
          <a:stretch>
            <a:fillRect/>
          </a:stretch>
        </p:blipFill>
        <p:spPr>
          <a:xfrm>
            <a:off x="4495800" y="1041400"/>
            <a:ext cx="3924300" cy="55308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barn(inVertical)">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fade">
                                      <p:cBhvr>
                                        <p:cTn id="12" dur="1000"/>
                                        <p:tgtEl>
                                          <p:spTgt spid="63492"/>
                                        </p:tgtEl>
                                      </p:cBhvr>
                                    </p:animEffect>
                                    <p:anim calcmode="lin" valueType="num">
                                      <p:cBhvr>
                                        <p:cTn id="13" dur="1000" fill="hold"/>
                                        <p:tgtEl>
                                          <p:spTgt spid="63492"/>
                                        </p:tgtEl>
                                        <p:attrNameLst>
                                          <p:attrName>ppt_x</p:attrName>
                                        </p:attrNameLst>
                                      </p:cBhvr>
                                      <p:tavLst>
                                        <p:tav tm="0">
                                          <p:val>
                                            <p:strVal val="#ppt_x"/>
                                          </p:val>
                                        </p:tav>
                                        <p:tav tm="100000">
                                          <p:val>
                                            <p:strVal val="#ppt_x"/>
                                          </p:val>
                                        </p:tav>
                                      </p:tavLst>
                                    </p:anim>
                                    <p:anim calcmode="lin" valueType="num">
                                      <p:cBhvr>
                                        <p:cTn id="14" dur="1000" fill="hold"/>
                                        <p:tgtEl>
                                          <p:spTgt spid="634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66563" name="Group 3"/>
          <p:cNvGrpSpPr/>
          <p:nvPr/>
        </p:nvGrpSpPr>
        <p:grpSpPr>
          <a:xfrm>
            <a:off x="1828800" y="1752600"/>
            <a:ext cx="762000" cy="665163"/>
            <a:chOff x="1110" y="2656"/>
            <a:chExt cx="1549" cy="1351"/>
          </a:xfrm>
        </p:grpSpPr>
        <p:sp>
          <p:nvSpPr>
            <p:cNvPr id="66605"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606"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66564" name="Group 7"/>
          <p:cNvGrpSpPr/>
          <p:nvPr/>
        </p:nvGrpSpPr>
        <p:grpSpPr>
          <a:xfrm>
            <a:off x="1828800" y="2667000"/>
            <a:ext cx="762000" cy="665163"/>
            <a:chOff x="3174" y="2656"/>
            <a:chExt cx="1549" cy="1351"/>
          </a:xfrm>
        </p:grpSpPr>
        <p:sp>
          <p:nvSpPr>
            <p:cNvPr id="66602"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603"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6565"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66566" name="Text Box 12"/>
          <p:cNvSpPr txBox="1"/>
          <p:nvPr/>
        </p:nvSpPr>
        <p:spPr>
          <a:xfrm>
            <a:off x="2667000" y="1851025"/>
            <a:ext cx="56388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信息安全风险评估策略</a:t>
            </a:r>
          </a:p>
        </p:txBody>
      </p:sp>
      <p:sp>
        <p:nvSpPr>
          <p:cNvPr id="66567"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66568"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66569"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66570"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66571" name="Text Box 22"/>
          <p:cNvSpPr txBox="1"/>
          <p:nvPr/>
        </p:nvSpPr>
        <p:spPr>
          <a:xfrm>
            <a:off x="1973263" y="5257800"/>
            <a:ext cx="354012"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66572" name="Text Box 24"/>
          <p:cNvSpPr txBox="1"/>
          <p:nvPr/>
        </p:nvSpPr>
        <p:spPr>
          <a:xfrm>
            <a:off x="2667000" y="2667000"/>
            <a:ext cx="5029200" cy="522288"/>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信息安全风险评估过程</a:t>
            </a:r>
          </a:p>
        </p:txBody>
      </p:sp>
      <p:grpSp>
        <p:nvGrpSpPr>
          <p:cNvPr id="66573" name="组合 25"/>
          <p:cNvGrpSpPr/>
          <p:nvPr/>
        </p:nvGrpSpPr>
        <p:grpSpPr>
          <a:xfrm>
            <a:off x="1779588" y="3482975"/>
            <a:ext cx="5535612" cy="665163"/>
            <a:chOff x="1828800" y="3559175"/>
            <a:chExt cx="5534899" cy="665163"/>
          </a:xfrm>
        </p:grpSpPr>
        <p:sp>
          <p:nvSpPr>
            <p:cNvPr id="66596" name="Text Box 15"/>
            <p:cNvSpPr txBox="1"/>
            <p:nvPr/>
          </p:nvSpPr>
          <p:spPr>
            <a:xfrm>
              <a:off x="2707244" y="3581398"/>
              <a:ext cx="4656455" cy="52197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典型的风险分析方法</a:t>
              </a:r>
            </a:p>
          </p:txBody>
        </p:sp>
        <p:grpSp>
          <p:nvGrpSpPr>
            <p:cNvPr id="66597" name="Group 17"/>
            <p:cNvGrpSpPr/>
            <p:nvPr/>
          </p:nvGrpSpPr>
          <p:grpSpPr>
            <a:xfrm>
              <a:off x="1828800" y="3559175"/>
              <a:ext cx="762000" cy="665163"/>
              <a:chOff x="1110" y="2656"/>
              <a:chExt cx="1549" cy="1351"/>
            </a:xfrm>
          </p:grpSpPr>
          <p:sp>
            <p:nvSpPr>
              <p:cNvPr id="6659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60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66598"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66574" name="Line 11"/>
          <p:cNvSpPr/>
          <p:nvPr/>
        </p:nvSpPr>
        <p:spPr>
          <a:xfrm>
            <a:off x="2447925" y="4918075"/>
            <a:ext cx="4800600" cy="1588"/>
          </a:xfrm>
          <a:prstGeom prst="line">
            <a:avLst/>
          </a:prstGeom>
          <a:ln w="25400" cap="flat" cmpd="sng">
            <a:solidFill>
              <a:srgbClr val="C0C0C0"/>
            </a:solidFill>
            <a:prstDash val="sysDot"/>
            <a:headEnd type="none" w="med" len="med"/>
            <a:tailEnd type="oval" w="med" len="med"/>
          </a:ln>
        </p:spPr>
      </p:sp>
      <p:sp>
        <p:nvSpPr>
          <p:cNvPr id="66575" name="文本框 6"/>
          <p:cNvSpPr txBox="1"/>
          <p:nvPr/>
        </p:nvSpPr>
        <p:spPr>
          <a:xfrm>
            <a:off x="1947863" y="4386263"/>
            <a:ext cx="379412" cy="490537"/>
          </a:xfrm>
          <a:prstGeom prst="rect">
            <a:avLst/>
          </a:prstGeom>
          <a:noFill/>
          <a:ln w="9525">
            <a:noFill/>
          </a:ln>
        </p:spPr>
        <p:txBody>
          <a:bodyPr>
            <a:spAutoFit/>
          </a:bodyPr>
          <a:lstStyle/>
          <a:p>
            <a:pPr algn="ctr"/>
            <a:r>
              <a:rPr lang="en-US" altLang="zh-CN" b="1" dirty="0">
                <a:solidFill>
                  <a:schemeClr val="bg1"/>
                </a:solidFill>
                <a:latin typeface="Arial" panose="020B0604020202020204" pitchFamily="34" charset="0"/>
              </a:rPr>
              <a:t>4</a:t>
            </a:r>
            <a:endParaRPr lang="en-US" altLang="zh-CN" dirty="0">
              <a:latin typeface="Times New Roman" panose="02020603050405020304" pitchFamily="18" charset="0"/>
            </a:endParaRPr>
          </a:p>
        </p:txBody>
      </p:sp>
      <p:grpSp>
        <p:nvGrpSpPr>
          <p:cNvPr id="66576" name="Group 7"/>
          <p:cNvGrpSpPr/>
          <p:nvPr/>
        </p:nvGrpSpPr>
        <p:grpSpPr>
          <a:xfrm>
            <a:off x="1784350" y="4303713"/>
            <a:ext cx="762000" cy="665162"/>
            <a:chOff x="3174" y="2656"/>
            <a:chExt cx="1549" cy="1351"/>
          </a:xfrm>
        </p:grpSpPr>
        <p:sp>
          <p:nvSpPr>
            <p:cNvPr id="66593"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594"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15"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6577" name="Text Box 13"/>
          <p:cNvSpPr txBox="1"/>
          <p:nvPr/>
        </p:nvSpPr>
        <p:spPr>
          <a:xfrm>
            <a:off x="2027238" y="4386263"/>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4</a:t>
            </a:r>
          </a:p>
        </p:txBody>
      </p:sp>
      <p:sp>
        <p:nvSpPr>
          <p:cNvPr id="66578" name="Text Box 12"/>
          <p:cNvSpPr txBox="1"/>
          <p:nvPr/>
        </p:nvSpPr>
        <p:spPr>
          <a:xfrm>
            <a:off x="2609850" y="4324350"/>
            <a:ext cx="5638800" cy="52070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数据采集方法与评价工具</a:t>
            </a:r>
          </a:p>
        </p:txBody>
      </p:sp>
      <p:grpSp>
        <p:nvGrpSpPr>
          <p:cNvPr id="66579" name="Group 3"/>
          <p:cNvGrpSpPr/>
          <p:nvPr/>
        </p:nvGrpSpPr>
        <p:grpSpPr>
          <a:xfrm>
            <a:off x="1836738" y="5159375"/>
            <a:ext cx="762000" cy="665163"/>
            <a:chOff x="1110" y="2656"/>
            <a:chExt cx="1549" cy="1351"/>
          </a:xfrm>
        </p:grpSpPr>
        <p:sp>
          <p:nvSpPr>
            <p:cNvPr id="66590"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591"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6580" name="Line 11"/>
          <p:cNvSpPr/>
          <p:nvPr/>
        </p:nvSpPr>
        <p:spPr>
          <a:xfrm>
            <a:off x="2438400" y="5772150"/>
            <a:ext cx="4800600" cy="1588"/>
          </a:xfrm>
          <a:prstGeom prst="line">
            <a:avLst/>
          </a:prstGeom>
          <a:ln w="25400" cap="flat" cmpd="sng">
            <a:solidFill>
              <a:srgbClr val="C0C0C0"/>
            </a:solidFill>
            <a:prstDash val="sysDot"/>
            <a:headEnd type="none" w="med" len="med"/>
            <a:tailEnd type="oval" w="med" len="med"/>
          </a:ln>
        </p:spPr>
      </p:sp>
      <p:sp>
        <p:nvSpPr>
          <p:cNvPr id="66581" name="Text Box 13"/>
          <p:cNvSpPr txBox="1"/>
          <p:nvPr/>
        </p:nvSpPr>
        <p:spPr>
          <a:xfrm>
            <a:off x="2038350" y="5257800"/>
            <a:ext cx="352425" cy="460375"/>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66582" name="Text Box 12"/>
          <p:cNvSpPr txBox="1"/>
          <p:nvPr/>
        </p:nvSpPr>
        <p:spPr>
          <a:xfrm>
            <a:off x="2609850" y="5237163"/>
            <a:ext cx="5638800" cy="522287"/>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风险评估实例报告</a:t>
            </a:r>
          </a:p>
        </p:txBody>
      </p:sp>
      <p:grpSp>
        <p:nvGrpSpPr>
          <p:cNvPr id="66583" name="Group 3"/>
          <p:cNvGrpSpPr/>
          <p:nvPr/>
        </p:nvGrpSpPr>
        <p:grpSpPr>
          <a:xfrm>
            <a:off x="1828800" y="5888038"/>
            <a:ext cx="762000" cy="665162"/>
            <a:chOff x="1110" y="2656"/>
            <a:chExt cx="1549" cy="1351"/>
          </a:xfrm>
        </p:grpSpPr>
        <p:sp>
          <p:nvSpPr>
            <p:cNvPr id="6658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658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6584" name="Line 11"/>
          <p:cNvSpPr/>
          <p:nvPr/>
        </p:nvSpPr>
        <p:spPr>
          <a:xfrm>
            <a:off x="2430463" y="6500813"/>
            <a:ext cx="4800600" cy="1587"/>
          </a:xfrm>
          <a:prstGeom prst="line">
            <a:avLst/>
          </a:prstGeom>
          <a:ln w="25400" cap="flat" cmpd="sng">
            <a:solidFill>
              <a:srgbClr val="C0C0C0"/>
            </a:solidFill>
            <a:prstDash val="sysDot"/>
            <a:headEnd type="none" w="med" len="med"/>
            <a:tailEnd type="oval" w="med" len="med"/>
          </a:ln>
        </p:spPr>
      </p:sp>
      <p:sp>
        <p:nvSpPr>
          <p:cNvPr id="66585" name="Text Box 13"/>
          <p:cNvSpPr txBox="1"/>
          <p:nvPr/>
        </p:nvSpPr>
        <p:spPr>
          <a:xfrm>
            <a:off x="2028825" y="5986463"/>
            <a:ext cx="355600" cy="461962"/>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6</a:t>
            </a:r>
          </a:p>
        </p:txBody>
      </p:sp>
      <p:sp>
        <p:nvSpPr>
          <p:cNvPr id="66586" name="Text Box 12"/>
          <p:cNvSpPr txBox="1"/>
          <p:nvPr/>
        </p:nvSpPr>
        <p:spPr>
          <a:xfrm>
            <a:off x="2601913" y="5965825"/>
            <a:ext cx="5638800" cy="522288"/>
          </a:xfrm>
          <a:prstGeom prst="rect">
            <a:avLst/>
          </a:prstGeom>
          <a:noFill/>
          <a:ln w="9525">
            <a:noFill/>
          </a:ln>
        </p:spPr>
        <p:txBody>
          <a:bodyPr>
            <a:spAutoFit/>
          </a:bodyPr>
          <a:lstStyle/>
          <a:p>
            <a:r>
              <a:rPr lang="zh-CN" altLang="en-US" sz="2800" b="1" dirty="0">
                <a:solidFill>
                  <a:srgbClr val="FF0000"/>
                </a:solidFill>
                <a:latin typeface="Arial" panose="020B0604020202020204" pitchFamily="34" charset="0"/>
              </a:rPr>
              <a:t>思政点</a:t>
            </a:r>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67587"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304800" y="1698625"/>
            <a:ext cx="8686800" cy="1892300"/>
          </a:xfrm>
          <a:prstGeom prst="rect">
            <a:avLst/>
          </a:prstGeom>
          <a:noFill/>
          <a:ln w="9525">
            <a:noFill/>
          </a:ln>
        </p:spPr>
        <p:txBody>
          <a:bodyPr>
            <a:spAutoFit/>
          </a:bodyPr>
          <a:lstStyle/>
          <a:p>
            <a:pPr>
              <a:lnSpc>
                <a:spcPct val="150000"/>
              </a:lnSpc>
            </a:pPr>
            <a:r>
              <a:rPr lang="zh-CN" altLang="en-US" b="1" dirty="0">
                <a:solidFill>
                  <a:schemeClr val="tx1"/>
                </a:solidFill>
                <a:latin typeface="华文楷体" panose="02010600040101010101" pitchFamily="2" charset="-122"/>
                <a:ea typeface="华文楷体" panose="02010600040101010101" pitchFamily="2" charset="-122"/>
              </a:rPr>
              <a:t>       政府及企业对信息系统依赖性不断增强，而且存在无处不在的安全威胁和风险，从组织自身业务的需要和法律法规的要求的角度考虑，更加需要增强对信息风险的管理。</a:t>
            </a:r>
            <a:endParaRPr lang="en-US" altLang="zh-CN" b="1"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68611"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381000" y="1295400"/>
            <a:ext cx="8458200" cy="3092450"/>
          </a:xfrm>
          <a:prstGeom prst="rect">
            <a:avLst/>
          </a:prstGeom>
          <a:noFill/>
          <a:ln w="9525">
            <a:noFill/>
          </a:ln>
        </p:spPr>
        <p:txBody>
          <a:bodyPr>
            <a:spAutoFit/>
          </a:bodyPr>
          <a:lstStyle/>
          <a:p>
            <a:pPr>
              <a:lnSpc>
                <a:spcPct val="150000"/>
              </a:lnSpc>
            </a:pPr>
            <a:r>
              <a:rPr lang="zh-CN" altLang="en-US" b="1" dirty="0">
                <a:solidFill>
                  <a:schemeClr val="tx1"/>
                </a:solidFill>
                <a:latin typeface="华文楷体" panose="02010600040101010101" pitchFamily="2" charset="-122"/>
                <a:ea typeface="华文楷体" panose="02010600040101010101" pitchFamily="2" charset="-122"/>
              </a:rPr>
              <a:t>       风险评估是风险管理的基础，风险管理要依靠风险评估的结果来确定随后的风险控制和审核批准活动，使得组织能够准确“定位”风险管理的策略、实践和工具。从而将安全活动的重点放在重要的问题上，选择成本效益合理的、适用的安全对策。</a:t>
            </a:r>
          </a:p>
        </p:txBody>
      </p:sp>
      <p:sp>
        <p:nvSpPr>
          <p:cNvPr id="66565" name="矩形 2"/>
          <p:cNvSpPr/>
          <p:nvPr/>
        </p:nvSpPr>
        <p:spPr>
          <a:xfrm>
            <a:off x="3505200" y="4213225"/>
            <a:ext cx="5334000" cy="2492375"/>
          </a:xfrm>
          <a:prstGeom prst="rect">
            <a:avLst/>
          </a:prstGeom>
          <a:noFill/>
          <a:ln w="9525">
            <a:noFill/>
          </a:ln>
        </p:spPr>
        <p:txBody>
          <a:bodyPr>
            <a:spAutoFit/>
          </a:bodyPr>
          <a:lstStyle/>
          <a:p>
            <a:pPr>
              <a:lnSpc>
                <a:spcPct val="150000"/>
              </a:lnSpc>
            </a:pPr>
            <a:r>
              <a:rPr lang="zh-CN" altLang="en-US" b="1" dirty="0">
                <a:solidFill>
                  <a:schemeClr val="tx1"/>
                </a:solidFill>
                <a:latin typeface="华文楷体" panose="02010600040101010101" pitchFamily="2" charset="-122"/>
                <a:ea typeface="华文楷体" panose="02010600040101010101" pitchFamily="2" charset="-122"/>
              </a:rPr>
              <a:t>        风险评估可以明确信息系统的安全现状，确定信息系统的主要安全风险，是信息系统安全技术体系与组织管理体系建设的基础。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6565"/>
                                        </p:tgtEl>
                                        <p:attrNameLst>
                                          <p:attrName>style.visibility</p:attrName>
                                        </p:attrNameLst>
                                      </p:cBhvr>
                                      <p:to>
                                        <p:strVal val="visible"/>
                                      </p:to>
                                    </p:set>
                                    <p:animEffect transition="in" filter="wheel(1)">
                                      <p:cBhvr>
                                        <p:cTn id="12" dur="2000"/>
                                        <p:tgtEl>
                                          <p:spTgt spid="6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4"/>
          <p:cNvSpPr txBox="1"/>
          <p:nvPr>
            <p:custDataLst>
              <p:tags r:id="rId2"/>
            </p:custDataLst>
          </p:nvPr>
        </p:nvSpPr>
        <p:spPr>
          <a:xfrm>
            <a:off x="914400" y="635000"/>
            <a:ext cx="7315200" cy="2143125"/>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 ）是故障树分析（</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FTA</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）和事件树分析（</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ETA</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）的混合。</a:t>
            </a:r>
          </a:p>
        </p:txBody>
      </p:sp>
      <p:sp>
        <p:nvSpPr>
          <p:cNvPr id="69635" name="TextBox 5"/>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原因</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后果分析</a:t>
            </a:r>
          </a:p>
        </p:txBody>
      </p:sp>
      <p:sp>
        <p:nvSpPr>
          <p:cNvPr id="69636" name="TextBox 6"/>
          <p:cNvSpPr txBox="1"/>
          <p:nvPr>
            <p:custDataLst>
              <p:tags r:id="rId4"/>
            </p:custDataLst>
          </p:nvPr>
        </p:nvSpPr>
        <p:spPr>
          <a:xfrm>
            <a:off x="1828800" y="364331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故障模式影响及危害性分析</a:t>
            </a:r>
          </a:p>
        </p:txBody>
      </p:sp>
      <p:sp>
        <p:nvSpPr>
          <p:cNvPr id="69637" name="TextBox 7"/>
          <p:cNvSpPr txBox="1"/>
          <p:nvPr>
            <p:custDataLst>
              <p:tags r:id="rId5"/>
            </p:custDataLst>
          </p:nvPr>
        </p:nvSpPr>
        <p:spPr>
          <a:xfrm>
            <a:off x="1828800" y="450056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模糊综合评价法</a:t>
            </a:r>
          </a:p>
        </p:txBody>
      </p:sp>
      <p:sp>
        <p:nvSpPr>
          <p:cNvPr id="69638" name="TextBox 8"/>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层次分析法</a:t>
            </a:r>
          </a:p>
        </p:txBody>
      </p:sp>
      <p:sp>
        <p:nvSpPr>
          <p:cNvPr id="69639"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640"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641" name="椭圆 11"/>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642" name="椭圆 12"/>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643" name="圆角矩形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3" name="组合 2"/>
          <p:cNvGrpSpPr/>
          <p:nvPr>
            <p:custDataLst>
              <p:tags r:id="rId12"/>
            </p:custDataLst>
          </p:nvPr>
        </p:nvGrpSpPr>
        <p:grpSpPr>
          <a:xfrm>
            <a:off x="0" y="0"/>
            <a:ext cx="9144000" cy="635000"/>
            <a:chOff x="0" y="0"/>
            <a:chExt cx="9144000" cy="635000"/>
          </a:xfrm>
        </p:grpSpPr>
        <p:sp>
          <p:nvSpPr>
            <p:cNvPr id="69646" name="TitleBackground"/>
            <p:cNvSpPr/>
            <p:nvPr>
              <p:custDataLst>
                <p:tags r:id="rId14"/>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69647" name="ColorBlock"/>
            <p:cNvSpPr/>
            <p:nvPr>
              <p:custDataLst>
                <p:tags r:id="rId15"/>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69648" name="TypeText"/>
            <p:cNvSpPr txBox="1"/>
            <p:nvPr>
              <p:custDataLst>
                <p:tags r:id="rId16"/>
              </p:custDataLst>
            </p:nvPr>
          </p:nvSpPr>
          <p:spPr>
            <a:xfrm>
              <a:off x="254000" y="0"/>
              <a:ext cx="1905000" cy="635000"/>
            </a:xfrm>
            <a:prstGeom prst="rect">
              <a:avLst/>
            </a:prstGeom>
            <a:noFill/>
            <a:ln w="9525">
              <a:noFill/>
            </a:ln>
          </p:spPr>
          <p:txBody>
            <a:bodyPr wrap="none" anchor="ctr" anchorCtr="0"/>
            <a:lstStyle/>
            <a:p>
              <a:r>
                <a:rPr lang="zh-CN" altLang="en-US" smtClean="0">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69645" name="图片 3"/>
          <p:cNvPicPr/>
          <p:nvPr>
            <p:custDataLst>
              <p:tags r:id="rId13"/>
            </p:custDataLst>
          </p:nvPr>
        </p:nvPicPr>
        <p:blipFill>
          <a:blip r:embed="rId19"/>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838200" y="2590800"/>
            <a:ext cx="7010400" cy="563563"/>
          </a:xfrm>
          <a:ln/>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70659" name="内容占位符 2"/>
          <p:cNvSpPr>
            <a:spLocks noGrp="1"/>
          </p:cNvSpPr>
          <p:nvPr>
            <p:ph idx="1"/>
          </p:nvPr>
        </p:nvSpPr>
        <p:spPr>
          <a:xfrm>
            <a:off x="152400" y="1219200"/>
            <a:ext cx="8229600" cy="5105400"/>
          </a:xfrm>
          <a:ln/>
        </p:spPr>
        <p:txBody>
          <a:bodyPr vert="horz" wrap="square" lIns="91440" tIns="45720" rIns="91440" bIns="45720" anchor="t" anchorCtr="0"/>
          <a:lstStyle/>
          <a:p>
            <a:pPr>
              <a:buNone/>
            </a:pPr>
            <a:endParaRPr lang="en-US" altLang="zh-CN" sz="3600" b="1" i="1" dirty="0">
              <a:solidFill>
                <a:srgbClr val="C00000"/>
              </a:solidFill>
              <a:latin typeface="楷体_GB2312" pitchFamily="49" charset="-122"/>
              <a:ea typeface="楷体_GB2312" pitchFamily="49" charset="-122"/>
            </a:endParaRPr>
          </a:p>
          <a:p>
            <a:pPr algn="ctr">
              <a:buNone/>
            </a:pPr>
            <a:r>
              <a:rPr lang="zh-CN" altLang="en-US" sz="9600" b="1" dirty="0">
                <a:solidFill>
                  <a:srgbClr val="C00000"/>
                </a:solidFill>
                <a:latin typeface="华文隶书" panose="02010800040101010101" pitchFamily="2" charset="-122"/>
                <a:ea typeface="华文隶书" panose="02010800040101010101" pitchFamily="2" charset="-122"/>
              </a:rPr>
              <a:t>谢谢</a:t>
            </a:r>
          </a:p>
        </p:txBody>
      </p:sp>
      <p:pic>
        <p:nvPicPr>
          <p:cNvPr id="70660" name="图片 1"/>
          <p:cNvPicPr>
            <a:picLocks noChangeAspect="1"/>
          </p:cNvPicPr>
          <p:nvPr/>
        </p:nvPicPr>
        <p:blipFill>
          <a:blip r:embed="rId2"/>
          <a:stretch>
            <a:fillRect/>
          </a:stretch>
        </p:blipFill>
        <p:spPr>
          <a:xfrm>
            <a:off x="3475038" y="3962400"/>
            <a:ext cx="1736725" cy="1730375"/>
          </a:xfrm>
          <a:prstGeom prst="rect">
            <a:avLst/>
          </a:prstGeom>
          <a:noFill/>
          <a:ln w="9525">
            <a:noFill/>
          </a:ln>
        </p:spPr>
      </p:pic>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96207aad-3306-41aa-8975-68d9b6389dfd"/>
  <p:tag name="COMMONDATA" val="eyJoZGlkIjoiYzMzOGJhZDgxYTg4MzhkNzk5Yjk1OTVmYmVlYmNmYjA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风险分析（风险评估）&quot;],&quot;CaseSensitive&quot;:false,&quot;FuzzyMatch&quot;:false}]"/>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6.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PROBLEMSCORE_HALF" val="0.0"/>
  <p:tag name="RAINPROBLEMTYPE" val="Polling"/>
  <p:tag name="ANONYMOUSPOLLING" val="False"/>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30.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4750</Words>
  <Application>Microsoft Office PowerPoint</Application>
  <PresentationFormat>全屏显示(4:3)</PresentationFormat>
  <Paragraphs>485</Paragraphs>
  <Slides>68</Slides>
  <Notes>7</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68</vt:i4>
      </vt:variant>
    </vt:vector>
  </HeadingPairs>
  <TitlesOfParts>
    <vt:vector size="84" baseType="lpstr">
      <vt:lpstr>Microsoft Yahei</vt:lpstr>
      <vt:lpstr>Yu Gothic Light</vt:lpstr>
      <vt:lpstr>黑体</vt:lpstr>
      <vt:lpstr>华文楷体</vt:lpstr>
      <vt:lpstr>华文隶书</vt:lpstr>
      <vt:lpstr>华文新魏</vt:lpstr>
      <vt:lpstr>楷体_GB2312</vt:lpstr>
      <vt:lpstr>宋体</vt:lpstr>
      <vt:lpstr>微软雅黑</vt:lpstr>
      <vt:lpstr>Arial</vt:lpstr>
      <vt:lpstr>Times New Roman</vt:lpstr>
      <vt:lpstr>Wingdings</vt:lpstr>
      <vt:lpstr>默认设计模板</vt:lpstr>
      <vt:lpstr>1_默认设计模板</vt:lpstr>
      <vt:lpstr>Photoshop.Image.7</vt:lpstr>
      <vt:lpstr>Microsoft Visio 绘图</vt:lpstr>
      <vt:lpstr>第八章 信息安全风险评估</vt:lpstr>
      <vt:lpstr>本讲内容</vt:lpstr>
      <vt:lpstr>4.1信息安全风险评估策略</vt:lpstr>
      <vt:lpstr>信息安全风险评估策略</vt:lpstr>
      <vt:lpstr>信息安全风险评估策略</vt:lpstr>
      <vt:lpstr>信息安全风险评估策略</vt:lpstr>
      <vt:lpstr>信息安全风险评估策略</vt:lpstr>
      <vt:lpstr>信息安全风险评估策略</vt:lpstr>
      <vt:lpstr>信息安全风险评估策略</vt:lpstr>
      <vt:lpstr>信息安全风险评估策略</vt:lpstr>
      <vt:lpstr>本讲内容</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信息安全风险评估过程</vt:lpstr>
      <vt:lpstr>PowerPoint 演示文稿</vt:lpstr>
      <vt:lpstr>PowerPoint 演示文稿</vt:lpstr>
      <vt:lpstr>本讲内容</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典型的风险分析方法</vt:lpstr>
      <vt:lpstr>本讲内容</vt:lpstr>
      <vt:lpstr>数据采集方法与评价工具</vt:lpstr>
      <vt:lpstr>数据采集方法与评价工具</vt:lpstr>
      <vt:lpstr>本讲内容</vt:lpstr>
      <vt:lpstr>风险评估实例报告</vt:lpstr>
      <vt:lpstr>风险评估实例报告</vt:lpstr>
      <vt:lpstr>风险评估实例报告</vt:lpstr>
      <vt:lpstr>风险评估实例报告</vt:lpstr>
      <vt:lpstr>风险评估实例报告</vt:lpstr>
      <vt:lpstr>本讲内容</vt:lpstr>
      <vt:lpstr>思政点</vt:lpstr>
      <vt:lpstr>思政点</vt:lpstr>
      <vt:lpstr>PowerPoint 演示文稿</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1083</cp:revision>
  <dcterms:created xsi:type="dcterms:W3CDTF">2004-07-21T02:43:03Z</dcterms:created>
  <dcterms:modified xsi:type="dcterms:W3CDTF">2023-05-10T14:23:27Z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FAF87F660D3F423398F95960C719389D_13</vt:lpwstr>
  </property>
</Properties>
</file>