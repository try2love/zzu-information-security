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48"/>
  </p:notesMasterIdLst>
  <p:handoutMasterIdLst>
    <p:handoutMasterId r:id="rId49"/>
  </p:handoutMasterIdLst>
  <p:sldIdLst>
    <p:sldId id="403" r:id="rId4"/>
    <p:sldId id="573" r:id="rId5"/>
    <p:sldId id="574" r:id="rId6"/>
    <p:sldId id="615" r:id="rId7"/>
    <p:sldId id="576" r:id="rId8"/>
    <p:sldId id="577" r:id="rId9"/>
    <p:sldId id="578" r:id="rId10"/>
    <p:sldId id="579" r:id="rId11"/>
    <p:sldId id="580" r:id="rId12"/>
    <p:sldId id="581" r:id="rId13"/>
    <p:sldId id="582" r:id="rId14"/>
    <p:sldId id="583" r:id="rId15"/>
    <p:sldId id="584" r:id="rId16"/>
    <p:sldId id="585" r:id="rId17"/>
    <p:sldId id="586" r:id="rId18"/>
    <p:sldId id="587" r:id="rId19"/>
    <p:sldId id="588" r:id="rId20"/>
    <p:sldId id="589" r:id="rId21"/>
    <p:sldId id="590" r:id="rId22"/>
    <p:sldId id="616" r:id="rId23"/>
    <p:sldId id="592" r:id="rId24"/>
    <p:sldId id="593" r:id="rId25"/>
    <p:sldId id="617" r:id="rId26"/>
    <p:sldId id="595" r:id="rId27"/>
    <p:sldId id="596" r:id="rId28"/>
    <p:sldId id="597" r:id="rId29"/>
    <p:sldId id="598" r:id="rId30"/>
    <p:sldId id="599" r:id="rId31"/>
    <p:sldId id="600" r:id="rId32"/>
    <p:sldId id="601" r:id="rId33"/>
    <p:sldId id="602"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8"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3" autoAdjust="0"/>
    <p:restoredTop sz="94674"/>
  </p:normalViewPr>
  <p:slideViewPr>
    <p:cSldViewPr snapToGrid="0" snapToObjects="1" showGuides="1">
      <p:cViewPr varScale="1">
        <p:scale>
          <a:sx n="116" d="100"/>
          <a:sy n="116" d="100"/>
        </p:scale>
        <p:origin x="114" y="186"/>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a:t>
            </a:fld>
            <a:endParaRPr lang="zh-CN" altLang="en-US"/>
          </a:p>
        </p:txBody>
      </p:sp>
    </p:spTree>
    <p:extLst>
      <p:ext uri="{BB962C8B-B14F-4D97-AF65-F5344CB8AC3E}">
        <p14:creationId xmlns:p14="http://schemas.microsoft.com/office/powerpoint/2010/main" val="94908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a:t>
            </a:fld>
            <a:endParaRPr lang="zh-CN" altLang="en-US"/>
          </a:p>
        </p:txBody>
      </p:sp>
    </p:spTree>
    <p:extLst>
      <p:ext uri="{BB962C8B-B14F-4D97-AF65-F5344CB8AC3E}">
        <p14:creationId xmlns:p14="http://schemas.microsoft.com/office/powerpoint/2010/main" val="162185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a:t>
            </a:fld>
            <a:endParaRPr lang="zh-CN" altLang="en-US"/>
          </a:p>
        </p:txBody>
      </p:sp>
    </p:spTree>
    <p:extLst>
      <p:ext uri="{BB962C8B-B14F-4D97-AF65-F5344CB8AC3E}">
        <p14:creationId xmlns:p14="http://schemas.microsoft.com/office/powerpoint/2010/main" val="3026766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6</a:t>
            </a:fld>
            <a:endParaRPr lang="zh-CN" altLang="en-US"/>
          </a:p>
        </p:txBody>
      </p:sp>
    </p:spTree>
    <p:extLst>
      <p:ext uri="{BB962C8B-B14F-4D97-AF65-F5344CB8AC3E}">
        <p14:creationId xmlns:p14="http://schemas.microsoft.com/office/powerpoint/2010/main" val="2759575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7</a:t>
            </a:fld>
            <a:endParaRPr lang="zh-CN" altLang="en-US"/>
          </a:p>
        </p:txBody>
      </p:sp>
    </p:spTree>
    <p:extLst>
      <p:ext uri="{BB962C8B-B14F-4D97-AF65-F5344CB8AC3E}">
        <p14:creationId xmlns:p14="http://schemas.microsoft.com/office/powerpoint/2010/main" val="2126284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8</a:t>
            </a:fld>
            <a:endParaRPr lang="zh-CN" altLang="en-US"/>
          </a:p>
        </p:txBody>
      </p:sp>
    </p:spTree>
    <p:extLst>
      <p:ext uri="{BB962C8B-B14F-4D97-AF65-F5344CB8AC3E}">
        <p14:creationId xmlns:p14="http://schemas.microsoft.com/office/powerpoint/2010/main" val="3534463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9</a:t>
            </a:fld>
            <a:endParaRPr lang="zh-CN" altLang="en-US"/>
          </a:p>
        </p:txBody>
      </p:sp>
    </p:spTree>
    <p:extLst>
      <p:ext uri="{BB962C8B-B14F-4D97-AF65-F5344CB8AC3E}">
        <p14:creationId xmlns:p14="http://schemas.microsoft.com/office/powerpoint/2010/main" val="589837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10</a:t>
            </a:fld>
            <a:endParaRPr lang="zh-CN" altLang="en-US"/>
          </a:p>
        </p:txBody>
      </p:sp>
    </p:spTree>
    <p:extLst>
      <p:ext uri="{BB962C8B-B14F-4D97-AF65-F5344CB8AC3E}">
        <p14:creationId xmlns:p14="http://schemas.microsoft.com/office/powerpoint/2010/main" val="166789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11</a:t>
            </a:fld>
            <a:endParaRPr lang="zh-CN" altLang="en-US"/>
          </a:p>
        </p:txBody>
      </p:sp>
    </p:spTree>
    <p:extLst>
      <p:ext uri="{BB962C8B-B14F-4D97-AF65-F5344CB8AC3E}">
        <p14:creationId xmlns:p14="http://schemas.microsoft.com/office/powerpoint/2010/main" val="2879218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12</a:t>
            </a:fld>
            <a:endParaRPr lang="zh-CN" altLang="en-US"/>
          </a:p>
        </p:txBody>
      </p:sp>
    </p:spTree>
    <p:extLst>
      <p:ext uri="{BB962C8B-B14F-4D97-AF65-F5344CB8AC3E}">
        <p14:creationId xmlns:p14="http://schemas.microsoft.com/office/powerpoint/2010/main" val="3305882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13</a:t>
            </a:fld>
            <a:endParaRPr lang="zh-CN" altLang="en-US"/>
          </a:p>
        </p:txBody>
      </p:sp>
    </p:spTree>
    <p:extLst>
      <p:ext uri="{BB962C8B-B14F-4D97-AF65-F5344CB8AC3E}">
        <p14:creationId xmlns:p14="http://schemas.microsoft.com/office/powerpoint/2010/main" val="3820012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14</a:t>
            </a:fld>
            <a:endParaRPr lang="zh-CN" altLang="en-US"/>
          </a:p>
        </p:txBody>
      </p:sp>
    </p:spTree>
    <p:extLst>
      <p:ext uri="{BB962C8B-B14F-4D97-AF65-F5344CB8AC3E}">
        <p14:creationId xmlns:p14="http://schemas.microsoft.com/office/powerpoint/2010/main" val="3156274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15</a:t>
            </a:fld>
            <a:endParaRPr lang="zh-CN" altLang="en-US"/>
          </a:p>
        </p:txBody>
      </p:sp>
    </p:spTree>
    <p:extLst>
      <p:ext uri="{BB962C8B-B14F-4D97-AF65-F5344CB8AC3E}">
        <p14:creationId xmlns:p14="http://schemas.microsoft.com/office/powerpoint/2010/main" val="1424944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16</a:t>
            </a:fld>
            <a:endParaRPr lang="zh-CN" altLang="en-US"/>
          </a:p>
        </p:txBody>
      </p:sp>
    </p:spTree>
    <p:extLst>
      <p:ext uri="{BB962C8B-B14F-4D97-AF65-F5344CB8AC3E}">
        <p14:creationId xmlns:p14="http://schemas.microsoft.com/office/powerpoint/2010/main" val="3990028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17</a:t>
            </a:fld>
            <a:endParaRPr lang="zh-CN" altLang="en-US"/>
          </a:p>
        </p:txBody>
      </p:sp>
    </p:spTree>
    <p:extLst>
      <p:ext uri="{BB962C8B-B14F-4D97-AF65-F5344CB8AC3E}">
        <p14:creationId xmlns:p14="http://schemas.microsoft.com/office/powerpoint/2010/main" val="3106538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18</a:t>
            </a:fld>
            <a:endParaRPr lang="zh-CN" altLang="en-US"/>
          </a:p>
        </p:txBody>
      </p:sp>
    </p:spTree>
    <p:extLst>
      <p:ext uri="{BB962C8B-B14F-4D97-AF65-F5344CB8AC3E}">
        <p14:creationId xmlns:p14="http://schemas.microsoft.com/office/powerpoint/2010/main" val="3504313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19</a:t>
            </a:fld>
            <a:endParaRPr lang="zh-CN" altLang="en-US"/>
          </a:p>
        </p:txBody>
      </p:sp>
    </p:spTree>
    <p:extLst>
      <p:ext uri="{BB962C8B-B14F-4D97-AF65-F5344CB8AC3E}">
        <p14:creationId xmlns:p14="http://schemas.microsoft.com/office/powerpoint/2010/main" val="2387501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21</a:t>
            </a:fld>
            <a:endParaRPr lang="zh-CN" altLang="en-US"/>
          </a:p>
        </p:txBody>
      </p:sp>
    </p:spTree>
    <p:extLst>
      <p:ext uri="{BB962C8B-B14F-4D97-AF65-F5344CB8AC3E}">
        <p14:creationId xmlns:p14="http://schemas.microsoft.com/office/powerpoint/2010/main" val="2416491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22</a:t>
            </a:fld>
            <a:endParaRPr lang="zh-CN" altLang="en-US"/>
          </a:p>
        </p:txBody>
      </p:sp>
    </p:spTree>
    <p:extLst>
      <p:ext uri="{BB962C8B-B14F-4D97-AF65-F5344CB8AC3E}">
        <p14:creationId xmlns:p14="http://schemas.microsoft.com/office/powerpoint/2010/main" val="2048843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24</a:t>
            </a:fld>
            <a:endParaRPr lang="zh-CN" altLang="en-US"/>
          </a:p>
        </p:txBody>
      </p:sp>
    </p:spTree>
    <p:extLst>
      <p:ext uri="{BB962C8B-B14F-4D97-AF65-F5344CB8AC3E}">
        <p14:creationId xmlns:p14="http://schemas.microsoft.com/office/powerpoint/2010/main" val="2526858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25</a:t>
            </a:fld>
            <a:endParaRPr lang="zh-CN" altLang="en-US"/>
          </a:p>
        </p:txBody>
      </p:sp>
    </p:spTree>
    <p:extLst>
      <p:ext uri="{BB962C8B-B14F-4D97-AF65-F5344CB8AC3E}">
        <p14:creationId xmlns:p14="http://schemas.microsoft.com/office/powerpoint/2010/main" val="1363624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26</a:t>
            </a:fld>
            <a:endParaRPr lang="zh-CN" altLang="en-US"/>
          </a:p>
        </p:txBody>
      </p:sp>
    </p:spTree>
    <p:extLst>
      <p:ext uri="{BB962C8B-B14F-4D97-AF65-F5344CB8AC3E}">
        <p14:creationId xmlns:p14="http://schemas.microsoft.com/office/powerpoint/2010/main" val="3393822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27</a:t>
            </a:fld>
            <a:endParaRPr lang="zh-CN" altLang="en-US"/>
          </a:p>
        </p:txBody>
      </p:sp>
    </p:spTree>
    <p:extLst>
      <p:ext uri="{BB962C8B-B14F-4D97-AF65-F5344CB8AC3E}">
        <p14:creationId xmlns:p14="http://schemas.microsoft.com/office/powerpoint/2010/main" val="1812501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28</a:t>
            </a:fld>
            <a:endParaRPr lang="zh-CN" altLang="en-US"/>
          </a:p>
        </p:txBody>
      </p:sp>
    </p:spTree>
    <p:extLst>
      <p:ext uri="{BB962C8B-B14F-4D97-AF65-F5344CB8AC3E}">
        <p14:creationId xmlns:p14="http://schemas.microsoft.com/office/powerpoint/2010/main" val="483092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29</a:t>
            </a:fld>
            <a:endParaRPr lang="zh-CN" altLang="en-US"/>
          </a:p>
        </p:txBody>
      </p:sp>
    </p:spTree>
    <p:extLst>
      <p:ext uri="{BB962C8B-B14F-4D97-AF65-F5344CB8AC3E}">
        <p14:creationId xmlns:p14="http://schemas.microsoft.com/office/powerpoint/2010/main" val="3727472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30</a:t>
            </a:fld>
            <a:endParaRPr lang="zh-CN" altLang="en-US"/>
          </a:p>
        </p:txBody>
      </p:sp>
    </p:spTree>
    <p:extLst>
      <p:ext uri="{BB962C8B-B14F-4D97-AF65-F5344CB8AC3E}">
        <p14:creationId xmlns:p14="http://schemas.microsoft.com/office/powerpoint/2010/main" val="2358232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31</a:t>
            </a:fld>
            <a:endParaRPr lang="zh-CN" altLang="en-US"/>
          </a:p>
        </p:txBody>
      </p:sp>
    </p:spTree>
    <p:extLst>
      <p:ext uri="{BB962C8B-B14F-4D97-AF65-F5344CB8AC3E}">
        <p14:creationId xmlns:p14="http://schemas.microsoft.com/office/powerpoint/2010/main" val="484956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32</a:t>
            </a:fld>
            <a:endParaRPr lang="zh-CN" altLang="en-US"/>
          </a:p>
        </p:txBody>
      </p:sp>
    </p:spTree>
    <p:extLst>
      <p:ext uri="{BB962C8B-B14F-4D97-AF65-F5344CB8AC3E}">
        <p14:creationId xmlns:p14="http://schemas.microsoft.com/office/powerpoint/2010/main" val="1974433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33</a:t>
            </a:fld>
            <a:endParaRPr lang="zh-CN" altLang="en-US"/>
          </a:p>
        </p:txBody>
      </p:sp>
    </p:spTree>
    <p:extLst>
      <p:ext uri="{BB962C8B-B14F-4D97-AF65-F5344CB8AC3E}">
        <p14:creationId xmlns:p14="http://schemas.microsoft.com/office/powerpoint/2010/main" val="24830947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34</a:t>
            </a:fld>
            <a:endParaRPr lang="zh-CN" altLang="en-US"/>
          </a:p>
        </p:txBody>
      </p:sp>
    </p:spTree>
    <p:extLst>
      <p:ext uri="{BB962C8B-B14F-4D97-AF65-F5344CB8AC3E}">
        <p14:creationId xmlns:p14="http://schemas.microsoft.com/office/powerpoint/2010/main" val="48563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35</a:t>
            </a:fld>
            <a:endParaRPr lang="zh-CN" altLang="en-US"/>
          </a:p>
        </p:txBody>
      </p:sp>
    </p:spTree>
    <p:extLst>
      <p:ext uri="{BB962C8B-B14F-4D97-AF65-F5344CB8AC3E}">
        <p14:creationId xmlns:p14="http://schemas.microsoft.com/office/powerpoint/2010/main" val="4123270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36</a:t>
            </a:fld>
            <a:endParaRPr lang="zh-CN" altLang="en-US"/>
          </a:p>
        </p:txBody>
      </p:sp>
    </p:spTree>
    <p:extLst>
      <p:ext uri="{BB962C8B-B14F-4D97-AF65-F5344CB8AC3E}">
        <p14:creationId xmlns:p14="http://schemas.microsoft.com/office/powerpoint/2010/main" val="3071681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37</a:t>
            </a:fld>
            <a:endParaRPr lang="zh-CN" altLang="en-US"/>
          </a:p>
        </p:txBody>
      </p:sp>
    </p:spTree>
    <p:extLst>
      <p:ext uri="{BB962C8B-B14F-4D97-AF65-F5344CB8AC3E}">
        <p14:creationId xmlns:p14="http://schemas.microsoft.com/office/powerpoint/2010/main" val="31286622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38</a:t>
            </a:fld>
            <a:endParaRPr lang="zh-CN" altLang="en-US"/>
          </a:p>
        </p:txBody>
      </p:sp>
    </p:spTree>
    <p:extLst>
      <p:ext uri="{BB962C8B-B14F-4D97-AF65-F5344CB8AC3E}">
        <p14:creationId xmlns:p14="http://schemas.microsoft.com/office/powerpoint/2010/main" val="319731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39</a:t>
            </a:fld>
            <a:endParaRPr lang="zh-CN" altLang="en-US"/>
          </a:p>
        </p:txBody>
      </p:sp>
    </p:spTree>
    <p:extLst>
      <p:ext uri="{BB962C8B-B14F-4D97-AF65-F5344CB8AC3E}">
        <p14:creationId xmlns:p14="http://schemas.microsoft.com/office/powerpoint/2010/main" val="2580426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40</a:t>
            </a:fld>
            <a:endParaRPr lang="zh-CN" altLang="en-US"/>
          </a:p>
        </p:txBody>
      </p:sp>
    </p:spTree>
    <p:extLst>
      <p:ext uri="{BB962C8B-B14F-4D97-AF65-F5344CB8AC3E}">
        <p14:creationId xmlns:p14="http://schemas.microsoft.com/office/powerpoint/2010/main" val="35377595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41</a:t>
            </a:fld>
            <a:endParaRPr lang="zh-CN" altLang="en-US"/>
          </a:p>
        </p:txBody>
      </p:sp>
    </p:spTree>
    <p:extLst>
      <p:ext uri="{BB962C8B-B14F-4D97-AF65-F5344CB8AC3E}">
        <p14:creationId xmlns:p14="http://schemas.microsoft.com/office/powerpoint/2010/main" val="29951848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42</a:t>
            </a:fld>
            <a:endParaRPr lang="zh-CN" altLang="en-US"/>
          </a:p>
        </p:txBody>
      </p:sp>
    </p:spTree>
    <p:extLst>
      <p:ext uri="{BB962C8B-B14F-4D97-AF65-F5344CB8AC3E}">
        <p14:creationId xmlns:p14="http://schemas.microsoft.com/office/powerpoint/2010/main" val="10911078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43</a:t>
            </a:fld>
            <a:endParaRPr lang="zh-CN" altLang="en-US"/>
          </a:p>
        </p:txBody>
      </p:sp>
    </p:spTree>
    <p:extLst>
      <p:ext uri="{BB962C8B-B14F-4D97-AF65-F5344CB8AC3E}">
        <p14:creationId xmlns:p14="http://schemas.microsoft.com/office/powerpoint/2010/main" val="4364077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FB8FA16-67FA-4446-A715-D21FFB0D05C9}"/>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58FEB78F-7E96-49B7-A09A-F0872CC9E14B}"/>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A85F5C9-847A-4E56-B4C0-8B3304464DCC}"/>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192610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8580EB04-E9EA-4174-96B0-C3291A3CC611}"/>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16207291-66EA-4A0A-AC34-EA6AEAC53A82}"/>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36CB227E-8490-4320-A52A-D266A62F0265}"/>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ED072970-11E2-4545-8807-16E7ED0890C0}"/>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746A8F2-1614-427C-9FDD-E02A7CDD74AA}"/>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19FF1987-DFDD-4224-82B4-3E94625B0925}"/>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6" r:id="rId22"/>
    <p:sldLayoutId id="2147485177" r:id="rId23"/>
    <p:sldLayoutId id="2147485178" r:id="rId24"/>
    <p:sldLayoutId id="2147485179" r:id="rId25"/>
    <p:sldLayoutId id="2147485180" r:id="rId26"/>
    <p:sldLayoutId id="2147485181" r:id="rId27"/>
    <p:sldLayoutId id="2147485182" r:id="rId28"/>
    <p:sldLayoutId id="2147485183" r:id="rId29"/>
    <p:sldLayoutId id="2147485184" r:id="rId30"/>
    <p:sldLayoutId id="2147485186" r:id="rId31"/>
    <p:sldLayoutId id="2147485223"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5.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5.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5.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5.xml"/><Relationship Id="rId1" Type="http://schemas.openxmlformats.org/officeDocument/2006/relationships/vmlDrawing" Target="../drawings/vmlDrawing4.vml"/><Relationship Id="rId5" Type="http://schemas.openxmlformats.org/officeDocument/2006/relationships/image" Target="../media/image9.emf"/><Relationship Id="rId4" Type="http://schemas.openxmlformats.org/officeDocument/2006/relationships/package" Target="../embeddings/Microsoft_Visio___.vsd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769441"/>
          </a:xfrm>
          <a:prstGeom prst="rect">
            <a:avLst/>
          </a:prstGeom>
          <a:noFill/>
        </p:spPr>
        <p:txBody>
          <a:bodyPr wrap="square">
            <a:spAutoFit/>
          </a:bodyPr>
          <a:lstStyle/>
          <a:p>
            <a:pPr algn="ctr">
              <a:spcBef>
                <a:spcPct val="0"/>
              </a:spcBef>
            </a:pP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3</a:t>
            </a:r>
            <a:r>
              <a:rPr lang="zh-CN" altLang="en-US" sz="4400" b="1" spc="300" dirty="0" smtClean="0">
                <a:solidFill>
                  <a:srgbClr val="117EC8"/>
                </a:solidFill>
                <a:latin typeface="Microsoft YaHei" charset="-122"/>
                <a:ea typeface="Microsoft YaHei" charset="-122"/>
                <a:cs typeface="Microsoft YaHei" charset="-122"/>
              </a:rPr>
              <a:t>章   </a:t>
            </a:r>
            <a:r>
              <a:rPr lang="zh-CN" altLang="en-US" sz="4400" b="1" spc="300" dirty="0">
                <a:solidFill>
                  <a:srgbClr val="117EC8"/>
                </a:solidFill>
                <a:latin typeface="Microsoft YaHei" charset="-122"/>
                <a:ea typeface="Microsoft YaHei" charset="-122"/>
                <a:cs typeface="Microsoft YaHei" charset="-122"/>
              </a:rPr>
              <a:t>事件归一化</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5"/>
          <p:cNvSpPr txBox="1"/>
          <p:nvPr/>
        </p:nvSpPr>
        <p:spPr>
          <a:xfrm>
            <a:off x="1247336" y="1334946"/>
            <a:ext cx="6836734"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en-US" altLang="zh-CN" sz="2400" dirty="0"/>
              <a:t>3.1 </a:t>
            </a:r>
            <a:r>
              <a:rPr lang="zh-CN" altLang="en-US" sz="2400" dirty="0"/>
              <a:t>事件过滤</a:t>
            </a:r>
            <a:endParaRPr lang="en-US" altLang="zh-CN" sz="2400" dirty="0"/>
          </a:p>
          <a:p>
            <a:r>
              <a:rPr lang="en-US" altLang="zh-CN" sz="2400" dirty="0"/>
              <a:t>3.2 </a:t>
            </a:r>
            <a:r>
              <a:rPr lang="zh-CN" altLang="en-US" sz="2400" dirty="0"/>
              <a:t>归一化的原因</a:t>
            </a:r>
            <a:endParaRPr lang="en-US" altLang="zh-CN" sz="2400" dirty="0"/>
          </a:p>
          <a:p>
            <a:r>
              <a:rPr lang="en-US" altLang="zh-CN" sz="2400" dirty="0"/>
              <a:t>3.3 </a:t>
            </a:r>
            <a:r>
              <a:rPr lang="zh-CN" altLang="en-US" sz="2400" dirty="0"/>
              <a:t>归一化的方法及效果</a:t>
            </a:r>
            <a:endParaRPr lang="en-US" altLang="zh-CN" sz="2400" dirty="0"/>
          </a:p>
        </p:txBody>
      </p:sp>
      <p:sp>
        <p:nvSpPr>
          <p:cNvPr id="2" name="标题 1"/>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2002138086"/>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447937" y="1320764"/>
            <a:ext cx="6460448"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2400" spc="100">
                <a:latin typeface="微软雅黑" panose="020B0503020204020204" pitchFamily="34" charset="-122"/>
                <a:ea typeface="微软雅黑" panose="020B0503020204020204" pitchFamily="34" charset="-122"/>
              </a:defRPr>
            </a:lvl1pPr>
          </a:lstStyle>
          <a:p>
            <a:r>
              <a:rPr lang="en-US" altLang="zh-CN" dirty="0"/>
              <a:t>1. </a:t>
            </a:r>
            <a:r>
              <a:rPr lang="zh-CN" altLang="zh-CN" dirty="0"/>
              <a:t>了解</a:t>
            </a:r>
            <a:r>
              <a:rPr lang="zh-CN" altLang="en-US" dirty="0"/>
              <a:t>事件过滤的原理</a:t>
            </a:r>
            <a:endParaRPr lang="en-US" altLang="zh-CN" dirty="0"/>
          </a:p>
          <a:p>
            <a:r>
              <a:rPr lang="en-US" altLang="zh-CN" dirty="0"/>
              <a:t>2. </a:t>
            </a:r>
            <a:r>
              <a:rPr lang="zh-CN" altLang="en-US" dirty="0"/>
              <a:t>了解事件过滤的方法</a:t>
            </a:r>
            <a:endParaRPr lang="zh-CN" altLang="zh-CN" dirty="0"/>
          </a:p>
          <a:p>
            <a:r>
              <a:rPr lang="en-US" altLang="zh-CN" dirty="0"/>
              <a:t>3. </a:t>
            </a:r>
            <a:r>
              <a:rPr lang="zh-CN" altLang="en-US" dirty="0"/>
              <a:t>理解事件归一化的原因</a:t>
            </a:r>
            <a:endParaRPr lang="en-US" altLang="zh-CN" dirty="0"/>
          </a:p>
          <a:p>
            <a:r>
              <a:rPr lang="en-US" altLang="zh-CN" dirty="0"/>
              <a:t>4. </a:t>
            </a:r>
            <a:r>
              <a:rPr lang="zh-CN" altLang="en-US" dirty="0"/>
              <a:t>理解事件归一化的效果</a:t>
            </a:r>
          </a:p>
          <a:p>
            <a:r>
              <a:rPr lang="en-US" altLang="zh-CN" dirty="0"/>
              <a:t>4. </a:t>
            </a:r>
            <a:r>
              <a:rPr lang="zh-CN" altLang="en-US" dirty="0"/>
              <a:t>掌握事件归一化使用的方法</a:t>
            </a:r>
          </a:p>
        </p:txBody>
      </p:sp>
      <p:sp>
        <p:nvSpPr>
          <p:cNvPr id="2" name="标题 1"/>
          <p:cNvSpPr>
            <a:spLocks noGrp="1"/>
          </p:cNvSpPr>
          <p:nvPr>
            <p:ph type="title"/>
          </p:nvPr>
        </p:nvSpPr>
        <p:spPr/>
        <p:txBody>
          <a:bodyPr/>
          <a:lstStyle/>
          <a:p>
            <a:r>
              <a:rPr lang="zh-CN" altLang="en-US" dirty="0"/>
              <a:t>本章学习目标</a:t>
            </a:r>
          </a:p>
        </p:txBody>
      </p:sp>
    </p:spTree>
    <p:extLst>
      <p:ext uri="{BB962C8B-B14F-4D97-AF65-F5344CB8AC3E}">
        <p14:creationId xmlns:p14="http://schemas.microsoft.com/office/powerpoint/2010/main" val="3670676203"/>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事件过滤</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3.1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21361498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Rot="1" noChangeArrowheads="1"/>
          </p:cNvSpPr>
          <p:nvPr/>
        </p:nvSpPr>
        <p:spPr>
          <a:xfrm>
            <a:off x="1167605" y="1519015"/>
            <a:ext cx="332601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    在日志记录和日志管理的过程中，为减轻管理员审核日志、寻找潜在问题的工作负担，当今的日志分析系统提供自动化机制来对原始日志事件进行过滤、规范化和关联。</a:t>
            </a:r>
            <a:endParaRPr lang="zh-CN" altLang="en-US" noProof="1"/>
          </a:p>
        </p:txBody>
      </p:sp>
      <p:sp>
        <p:nvSpPr>
          <p:cNvPr id="16" name="矩形 15">
            <a:extLst>
              <a:ext uri="{FF2B5EF4-FFF2-40B4-BE49-F238E27FC236}">
                <a16:creationId xmlns:a16="http://schemas.microsoft.com/office/drawing/2014/main" id="{219E3D24-D4A5-4CAA-B986-FE4E4D5C9787}"/>
              </a:ext>
            </a:extLst>
          </p:cNvPr>
          <p:cNvSpPr/>
          <p:nvPr/>
        </p:nvSpPr>
        <p:spPr>
          <a:xfrm>
            <a:off x="6745882" y="5615582"/>
            <a:ext cx="1826141"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日志事件处理过程</a:t>
            </a:r>
          </a:p>
        </p:txBody>
      </p:sp>
      <p:graphicFrame>
        <p:nvGraphicFramePr>
          <p:cNvPr id="17" name="对象 16">
            <a:extLst>
              <a:ext uri="{FF2B5EF4-FFF2-40B4-BE49-F238E27FC236}">
                <a16:creationId xmlns:a16="http://schemas.microsoft.com/office/drawing/2014/main" id="{7D2E31D5-E2E2-4605-8B35-027488A6D95D}"/>
              </a:ext>
            </a:extLst>
          </p:cNvPr>
          <p:cNvGraphicFramePr>
            <a:graphicFrameLocks noChangeAspect="1"/>
          </p:cNvGraphicFramePr>
          <p:nvPr/>
        </p:nvGraphicFramePr>
        <p:xfrm>
          <a:off x="4748717" y="1682893"/>
          <a:ext cx="5820473" cy="3712284"/>
        </p:xfrm>
        <a:graphic>
          <a:graphicData uri="http://schemas.openxmlformats.org/presentationml/2006/ole">
            <mc:AlternateContent xmlns:mc="http://schemas.openxmlformats.org/markup-compatibility/2006">
              <mc:Choice xmlns:v="urn:schemas-microsoft-com:vml" Requires="v">
                <p:oleObj spid="_x0000_s1041" name="Visio" r:id="rId4" imgW="7705812" imgH="4486320" progId="Visio.Drawing.15">
                  <p:embed/>
                </p:oleObj>
              </mc:Choice>
              <mc:Fallback>
                <p:oleObj name="Visio" r:id="rId4" imgW="7705812" imgH="4486320" progId="Visio.Drawing.15">
                  <p:embed/>
                  <p:pic>
                    <p:nvPicPr>
                      <p:cNvPr id="17" name="对象 16">
                        <a:extLst>
                          <a:ext uri="{FF2B5EF4-FFF2-40B4-BE49-F238E27FC236}">
                            <a16:creationId xmlns:a16="http://schemas.microsoft.com/office/drawing/2014/main" id="{7D2E31D5-E2E2-4605-8B35-027488A6D9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8717" y="1682893"/>
                        <a:ext cx="5820473" cy="3712284"/>
                      </a:xfrm>
                      <a:prstGeom prst="rect">
                        <a:avLst/>
                      </a:prstGeom>
                      <a:noFill/>
                    </p:spPr>
                  </p:pic>
                </p:oleObj>
              </mc:Fallback>
            </mc:AlternateContent>
          </a:graphicData>
        </a:graphic>
      </p:graphicFrame>
      <p:sp>
        <p:nvSpPr>
          <p:cNvPr id="2" name="标题 1"/>
          <p:cNvSpPr>
            <a:spLocks noGrp="1"/>
          </p:cNvSpPr>
          <p:nvPr>
            <p:ph type="title"/>
          </p:nvPr>
        </p:nvSpPr>
        <p:spPr/>
        <p:txBody>
          <a:bodyPr/>
          <a:lstStyle/>
          <a:p>
            <a:r>
              <a:rPr lang="zh-CN" altLang="en-US" dirty="0"/>
              <a:t>日志事件处理过程</a:t>
            </a:r>
          </a:p>
        </p:txBody>
      </p:sp>
    </p:spTree>
    <p:extLst>
      <p:ext uri="{BB962C8B-B14F-4D97-AF65-F5344CB8AC3E}">
        <p14:creationId xmlns:p14="http://schemas.microsoft.com/office/powerpoint/2010/main" val="551230265"/>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927463" y="1234177"/>
            <a:ext cx="9993086"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）概念：</a:t>
            </a:r>
            <a:endParaRPr lang="en-US" altLang="zh-CN" dirty="0">
              <a:sym typeface="+mn-ea"/>
            </a:endParaRPr>
          </a:p>
          <a:p>
            <a:r>
              <a:rPr lang="zh-CN" altLang="en-US" dirty="0">
                <a:sym typeface="+mn-ea"/>
              </a:rPr>
              <a:t>    事件过滤是对从不同远程机器上收集的原始日志数据进行分析，保留对管理员有用的日志消息，而将无关的日志消息抛弃，以减少整个系统的负载。</a:t>
            </a:r>
            <a:endParaRPr lang="en-US" altLang="zh-CN" dirty="0">
              <a:sym typeface="+mn-ea"/>
            </a:endParaRPr>
          </a:p>
          <a:p>
            <a:r>
              <a:rPr lang="zh-CN" altLang="en-US" dirty="0"/>
              <a:t>（</a:t>
            </a:r>
            <a:r>
              <a:rPr lang="en-US" altLang="zh-CN" dirty="0"/>
              <a:t>2</a:t>
            </a:r>
            <a:r>
              <a:rPr lang="zh-CN" altLang="en-US" dirty="0"/>
              <a:t>）事件过滤的必要性：</a:t>
            </a:r>
            <a:endParaRPr lang="en-US" altLang="zh-CN" dirty="0"/>
          </a:p>
          <a:p>
            <a:r>
              <a:rPr lang="en-US" altLang="zh-CN" dirty="0"/>
              <a:t>    </a:t>
            </a:r>
            <a:r>
              <a:rPr lang="zh-CN" altLang="zh-CN" dirty="0"/>
              <a:t>大规模网络通常具有复杂性，再加上各种日志记录的事件具有不确定性，导致各种日志设备产生的日志信息可能不完善甚至存在某些错误。因此，为了保证日志归一化的准确度和效率，必须对原始日志数据进行过滤操作。</a:t>
            </a:r>
            <a:endParaRPr lang="en-US" altLang="zh-CN" dirty="0"/>
          </a:p>
          <a:p>
            <a:r>
              <a:rPr lang="zh-CN" altLang="en-US" noProof="1"/>
              <a:t>（</a:t>
            </a:r>
            <a:r>
              <a:rPr lang="en-US" altLang="zh-CN" noProof="1"/>
              <a:t>3</a:t>
            </a:r>
            <a:r>
              <a:rPr lang="zh-CN" altLang="en-US" noProof="1"/>
              <a:t>）事件过滤的主旨</a:t>
            </a:r>
            <a:endParaRPr lang="en-US" altLang="zh-CN" noProof="1"/>
          </a:p>
          <a:p>
            <a:r>
              <a:rPr lang="en-US" altLang="zh-CN" dirty="0"/>
              <a:t>    </a:t>
            </a:r>
            <a:r>
              <a:rPr lang="zh-CN" altLang="zh-CN" dirty="0"/>
              <a:t>旨在按照需求对不完整、错误的或者无关紧要的数据从日志中删除。</a:t>
            </a:r>
            <a:endParaRPr lang="en-US" altLang="zh-CN" noProof="1"/>
          </a:p>
          <a:p>
            <a:endParaRPr lang="zh-CN" altLang="en-US" noProof="1"/>
          </a:p>
        </p:txBody>
      </p:sp>
      <p:sp>
        <p:nvSpPr>
          <p:cNvPr id="2" name="标题 1"/>
          <p:cNvSpPr>
            <a:spLocks noGrp="1"/>
          </p:cNvSpPr>
          <p:nvPr>
            <p:ph type="title"/>
          </p:nvPr>
        </p:nvSpPr>
        <p:spPr/>
        <p:txBody>
          <a:bodyPr/>
          <a:lstStyle/>
          <a:p>
            <a:r>
              <a:rPr lang="zh-CN" altLang="en-US" dirty="0"/>
              <a:t>事件过滤概述</a:t>
            </a:r>
          </a:p>
        </p:txBody>
      </p:sp>
    </p:spTree>
    <p:extLst>
      <p:ext uri="{BB962C8B-B14F-4D97-AF65-F5344CB8AC3E}">
        <p14:creationId xmlns:p14="http://schemas.microsoft.com/office/powerpoint/2010/main" val="2101113156"/>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822960" y="1475633"/>
            <a:ext cx="10084526"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pPr lvl="1"/>
            <a:r>
              <a:rPr lang="zh-CN" altLang="en-US" dirty="0">
                <a:sym typeface="+mn-ea"/>
              </a:rPr>
              <a:t>（</a:t>
            </a:r>
            <a:r>
              <a:rPr lang="en-US" altLang="zh-CN" dirty="0">
                <a:sym typeface="+mn-ea"/>
              </a:rPr>
              <a:t>1</a:t>
            </a:r>
            <a:r>
              <a:rPr lang="zh-CN" altLang="en-US" dirty="0">
                <a:sym typeface="+mn-ea"/>
              </a:rPr>
              <a:t>）信息不全面：日志收集与分析系统所收集的各种设备日志的某些重要属性值可能缺失，直接处理这些信息毫无意义，应将其过滤掉。</a:t>
            </a:r>
          </a:p>
          <a:p>
            <a:pPr lvl="1"/>
            <a:r>
              <a:rPr lang="zh-CN" altLang="en-US" dirty="0">
                <a:sym typeface="+mn-ea"/>
              </a:rPr>
              <a:t>（</a:t>
            </a:r>
            <a:r>
              <a:rPr lang="en-US" altLang="zh-CN" dirty="0">
                <a:sym typeface="+mn-ea"/>
              </a:rPr>
              <a:t>2</a:t>
            </a:r>
            <a:r>
              <a:rPr lang="zh-CN" altLang="en-US" dirty="0">
                <a:sym typeface="+mn-ea"/>
              </a:rPr>
              <a:t>）</a:t>
            </a:r>
            <a:r>
              <a:rPr lang="en-US" altLang="zh-CN" dirty="0">
                <a:sym typeface="+mn-ea"/>
              </a:rPr>
              <a:t>IP</a:t>
            </a:r>
            <a:r>
              <a:rPr lang="zh-CN" altLang="en-US" dirty="0">
                <a:sym typeface="+mn-ea"/>
              </a:rPr>
              <a:t>地址错误：很多网络攻击者为了逃避追踪常常会使用虚假的源</a:t>
            </a:r>
            <a:r>
              <a:rPr lang="en-US" altLang="zh-CN" dirty="0">
                <a:sym typeface="+mn-ea"/>
              </a:rPr>
              <a:t>IP</a:t>
            </a:r>
            <a:r>
              <a:rPr lang="zh-CN" altLang="en-US" dirty="0">
                <a:sym typeface="+mn-ea"/>
              </a:rPr>
              <a:t>地址，因此需要过滤这类日志信息。当目的</a:t>
            </a:r>
            <a:r>
              <a:rPr lang="en-US" altLang="zh-CN" dirty="0">
                <a:sym typeface="+mn-ea"/>
              </a:rPr>
              <a:t>IP</a:t>
            </a:r>
            <a:r>
              <a:rPr lang="zh-CN" altLang="en-US" dirty="0">
                <a:sym typeface="+mn-ea"/>
              </a:rPr>
              <a:t>不在检测网络范围内时，应将其过滤掉。</a:t>
            </a:r>
          </a:p>
          <a:p>
            <a:pPr lvl="1"/>
            <a:r>
              <a:rPr lang="zh-CN" altLang="en-US" dirty="0">
                <a:sym typeface="+mn-ea"/>
              </a:rPr>
              <a:t>（</a:t>
            </a:r>
            <a:r>
              <a:rPr lang="en-US" altLang="zh-CN" dirty="0">
                <a:sym typeface="+mn-ea"/>
              </a:rPr>
              <a:t>3</a:t>
            </a:r>
            <a:r>
              <a:rPr lang="zh-CN" altLang="en-US" dirty="0">
                <a:sym typeface="+mn-ea"/>
              </a:rPr>
              <a:t>）重复记录：对于同一个事件，可能短期内会产生多条日志记录。据有关统计，</a:t>
            </a:r>
            <a:r>
              <a:rPr lang="en-US" altLang="zh-CN" dirty="0">
                <a:sym typeface="+mn-ea"/>
              </a:rPr>
              <a:t>DDOS</a:t>
            </a:r>
            <a:r>
              <a:rPr lang="zh-CN" altLang="en-US" dirty="0">
                <a:sym typeface="+mn-ea"/>
              </a:rPr>
              <a:t>攻击可以诱发</a:t>
            </a:r>
            <a:r>
              <a:rPr lang="en-US" altLang="zh-CN" dirty="0">
                <a:sym typeface="+mn-ea"/>
              </a:rPr>
              <a:t>IDS</a:t>
            </a:r>
            <a:r>
              <a:rPr lang="zh-CN" altLang="en-US" dirty="0">
                <a:sym typeface="+mn-ea"/>
              </a:rPr>
              <a:t>在</a:t>
            </a:r>
            <a:r>
              <a:rPr lang="en-US" altLang="zh-CN" dirty="0">
                <a:sym typeface="+mn-ea"/>
              </a:rPr>
              <a:t>92</a:t>
            </a:r>
            <a:r>
              <a:rPr lang="zh-CN" altLang="en-US" dirty="0">
                <a:sym typeface="+mn-ea"/>
              </a:rPr>
              <a:t>秒内产生</a:t>
            </a:r>
            <a:r>
              <a:rPr lang="en-US" altLang="zh-CN" dirty="0">
                <a:sym typeface="+mn-ea"/>
              </a:rPr>
              <a:t>92832</a:t>
            </a:r>
            <a:r>
              <a:rPr lang="zh-CN" altLang="en-US" dirty="0">
                <a:sym typeface="+mn-ea"/>
              </a:rPr>
              <a:t>条相同的日志警告信息。</a:t>
            </a:r>
          </a:p>
        </p:txBody>
      </p:sp>
      <p:sp>
        <p:nvSpPr>
          <p:cNvPr id="2" name="标题 1"/>
          <p:cNvSpPr>
            <a:spLocks noGrp="1"/>
          </p:cNvSpPr>
          <p:nvPr>
            <p:ph type="title"/>
          </p:nvPr>
        </p:nvSpPr>
        <p:spPr/>
        <p:txBody>
          <a:bodyPr/>
          <a:lstStyle/>
          <a:p>
            <a:r>
              <a:rPr lang="zh-CN" altLang="en-US" dirty="0"/>
              <a:t>原始日志存在错误信息</a:t>
            </a:r>
          </a:p>
        </p:txBody>
      </p:sp>
    </p:spTree>
    <p:extLst>
      <p:ext uri="{BB962C8B-B14F-4D97-AF65-F5344CB8AC3E}">
        <p14:creationId xmlns:p14="http://schemas.microsoft.com/office/powerpoint/2010/main" val="4037339794"/>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1058091" y="1227439"/>
            <a:ext cx="961426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pPr lvl="1"/>
            <a:r>
              <a:rPr lang="zh-CN" altLang="en-US" dirty="0"/>
              <a:t>（</a:t>
            </a:r>
            <a:r>
              <a:rPr lang="en-US" altLang="zh-CN" dirty="0"/>
              <a:t>1</a:t>
            </a:r>
            <a:r>
              <a:rPr lang="zh-CN" altLang="en-US" dirty="0"/>
              <a:t>）</a:t>
            </a:r>
            <a:r>
              <a:rPr lang="en-US" altLang="zh-CN" dirty="0"/>
              <a:t>Marcus </a:t>
            </a:r>
            <a:r>
              <a:rPr lang="en-US" altLang="zh-CN" dirty="0" err="1"/>
              <a:t>Ranum</a:t>
            </a:r>
            <a:r>
              <a:rPr lang="en-US" altLang="zh-CN" dirty="0"/>
              <a:t> </a:t>
            </a:r>
            <a:r>
              <a:rPr lang="zh-CN" altLang="zh-CN" dirty="0"/>
              <a:t>在</a:t>
            </a:r>
            <a:r>
              <a:rPr lang="en-US" altLang="zh-CN" dirty="0"/>
              <a:t>1997</a:t>
            </a:r>
            <a:r>
              <a:rPr lang="zh-CN" altLang="zh-CN" dirty="0"/>
              <a:t>年创造</a:t>
            </a:r>
            <a:r>
              <a:rPr lang="zh-CN" altLang="en-US" dirty="0"/>
              <a:t>的</a:t>
            </a:r>
            <a:r>
              <a:rPr lang="zh-CN" altLang="zh-CN" dirty="0"/>
              <a:t>概念</a:t>
            </a:r>
            <a:r>
              <a:rPr lang="zh-CN" altLang="en-US" dirty="0"/>
              <a:t>。</a:t>
            </a:r>
            <a:endParaRPr lang="en-US" altLang="zh-CN" dirty="0"/>
          </a:p>
          <a:p>
            <a:pPr lvl="1"/>
            <a:r>
              <a:rPr lang="zh-CN" altLang="en-US" dirty="0"/>
              <a:t>（</a:t>
            </a:r>
            <a:r>
              <a:rPr lang="en-US" altLang="zh-CN" dirty="0"/>
              <a:t>2</a:t>
            </a:r>
            <a:r>
              <a:rPr lang="zh-CN" altLang="en-US" dirty="0"/>
              <a:t>）</a:t>
            </a:r>
            <a:r>
              <a:rPr lang="zh-CN" altLang="zh-CN" dirty="0"/>
              <a:t>核心机制</a:t>
            </a:r>
            <a:r>
              <a:rPr lang="zh-CN" altLang="en-US" dirty="0"/>
              <a:t>：</a:t>
            </a:r>
            <a:r>
              <a:rPr lang="zh-CN" altLang="zh-CN" dirty="0"/>
              <a:t>通过寻找管理员熟悉的日志数据，从而发现管理员尚不知道的事件。</a:t>
            </a:r>
            <a:endParaRPr lang="zh-CN" altLang="en-US" dirty="0">
              <a:sym typeface="+mn-ea"/>
            </a:endParaRPr>
          </a:p>
        </p:txBody>
      </p:sp>
      <p:sp>
        <p:nvSpPr>
          <p:cNvPr id="2" name="标题 1"/>
          <p:cNvSpPr>
            <a:spLocks noGrp="1"/>
          </p:cNvSpPr>
          <p:nvPr>
            <p:ph type="title"/>
          </p:nvPr>
        </p:nvSpPr>
        <p:spPr/>
        <p:txBody>
          <a:bodyPr/>
          <a:lstStyle/>
          <a:p>
            <a:r>
              <a:rPr lang="zh-CN" altLang="en-US" dirty="0"/>
              <a:t>人为忽略</a:t>
            </a:r>
          </a:p>
        </p:txBody>
      </p:sp>
    </p:spTree>
    <p:extLst>
      <p:ext uri="{BB962C8B-B14F-4D97-AF65-F5344CB8AC3E}">
        <p14:creationId xmlns:p14="http://schemas.microsoft.com/office/powerpoint/2010/main" val="1656918013"/>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D8F569E-52D3-433A-92AF-315142661ECD}"/>
              </a:ext>
            </a:extLst>
          </p:cNvPr>
          <p:cNvSpPr/>
          <p:nvPr/>
        </p:nvSpPr>
        <p:spPr>
          <a:xfrm>
            <a:off x="1227909" y="1319401"/>
            <a:ext cx="936606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）状态级别识别：通常运行日志中，主要分为</a:t>
            </a:r>
            <a:r>
              <a:rPr lang="en-US" altLang="zh-CN" sz="1600" spc="100" dirty="0">
                <a:latin typeface="微软雅黑" panose="020B0503020204020204" pitchFamily="34" charset="-122"/>
                <a:ea typeface="微软雅黑" panose="020B0503020204020204" pitchFamily="34" charset="-122"/>
              </a:rPr>
              <a:t>medium</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info</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error</a:t>
            </a:r>
            <a:r>
              <a:rPr lang="zh-CN" altLang="en-US" sz="1600" spc="100" dirty="0">
                <a:latin typeface="微软雅黑" panose="020B0503020204020204" pitchFamily="34" charset="-122"/>
                <a:ea typeface="微软雅黑" panose="020B0503020204020204" pitchFamily="34" charset="-122"/>
              </a:rPr>
              <a:t>三个级别表示程序运行情况，</a:t>
            </a:r>
            <a:r>
              <a:rPr lang="en-US" altLang="zh-CN" sz="1600" spc="100" dirty="0">
                <a:latin typeface="微软雅黑" panose="020B0503020204020204" pitchFamily="34" charset="-122"/>
                <a:ea typeface="微软雅黑" panose="020B0503020204020204" pitchFamily="34" charset="-122"/>
              </a:rPr>
              <a:t>medium</a:t>
            </a:r>
            <a:r>
              <a:rPr lang="zh-CN" altLang="en-US" sz="1600" spc="100" dirty="0">
                <a:latin typeface="微软雅黑" panose="020B0503020204020204" pitchFamily="34" charset="-122"/>
                <a:ea typeface="微软雅黑" panose="020B0503020204020204" pitchFamily="34" charset="-122"/>
              </a:rPr>
              <a:t>代表正常，</a:t>
            </a:r>
            <a:r>
              <a:rPr lang="en-US" altLang="zh-CN" sz="1600" spc="100" dirty="0">
                <a:latin typeface="微软雅黑" panose="020B0503020204020204" pitchFamily="34" charset="-122"/>
                <a:ea typeface="微软雅黑" panose="020B0503020204020204" pitchFamily="34" charset="-122"/>
              </a:rPr>
              <a:t>info</a:t>
            </a:r>
            <a:r>
              <a:rPr lang="zh-CN" altLang="en-US" sz="1600" spc="100" dirty="0">
                <a:latin typeface="微软雅黑" panose="020B0503020204020204" pitchFamily="34" charset="-122"/>
                <a:ea typeface="微软雅黑" panose="020B0503020204020204" pitchFamily="34" charset="-122"/>
              </a:rPr>
              <a:t>代表警告、</a:t>
            </a:r>
            <a:r>
              <a:rPr lang="en-US" altLang="zh-CN" sz="1600" spc="100" dirty="0">
                <a:latin typeface="微软雅黑" panose="020B0503020204020204" pitchFamily="34" charset="-122"/>
                <a:ea typeface="微软雅黑" panose="020B0503020204020204" pitchFamily="34" charset="-122"/>
              </a:rPr>
              <a:t>error</a:t>
            </a:r>
            <a:r>
              <a:rPr lang="zh-CN" altLang="en-US" sz="1600" spc="100" dirty="0">
                <a:latin typeface="微软雅黑" panose="020B0503020204020204" pitchFamily="34" charset="-122"/>
                <a:ea typeface="微软雅黑" panose="020B0503020204020204" pitchFamily="34" charset="-122"/>
              </a:rPr>
              <a:t>代表错误，所以在数据筛选时主要取</a:t>
            </a:r>
            <a:r>
              <a:rPr lang="en-US" altLang="zh-CN" sz="1600" spc="100" dirty="0">
                <a:latin typeface="微软雅黑" panose="020B0503020204020204" pitchFamily="34" charset="-122"/>
                <a:ea typeface="微软雅黑" panose="020B0503020204020204" pitchFamily="34" charset="-122"/>
              </a:rPr>
              <a:t>error</a:t>
            </a:r>
            <a:r>
              <a:rPr lang="zh-CN" altLang="en-US" sz="1600" spc="100" dirty="0">
                <a:latin typeface="微软雅黑" panose="020B0503020204020204" pitchFamily="34" charset="-122"/>
                <a:ea typeface="微软雅黑" panose="020B0503020204020204" pitchFamily="34" charset="-122"/>
              </a:rPr>
              <a:t>的日志。</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）服务进程识别：在监控的服务进程中，日志存在</a:t>
            </a:r>
            <a:r>
              <a:rPr lang="en-US" altLang="zh-CN" sz="1600" spc="100" dirty="0" err="1">
                <a:latin typeface="微软雅黑" panose="020B0503020204020204" pitchFamily="34" charset="-122"/>
                <a:ea typeface="微软雅黑" panose="020B0503020204020204" pitchFamily="34" charset="-122"/>
              </a:rPr>
              <a:t>processname</a:t>
            </a:r>
            <a:r>
              <a:rPr lang="zh-CN" altLang="en-US" sz="1600" spc="100" dirty="0">
                <a:latin typeface="微软雅黑" panose="020B0503020204020204" pitchFamily="34" charset="-122"/>
                <a:ea typeface="微软雅黑" panose="020B0503020204020204" pitchFamily="34" charset="-122"/>
              </a:rPr>
              <a:t>字段，可以看到所有的进程日志，需要筛选用户启动的服务进程，如浏览器进程或者ＱＱ进程等具体流程。</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）日志去重：在实际进行取值的过程中，需要对事件日志进行去重操作，在数万条的记录中，筛选出最新的，最有价值的日志信息，进行后续操作，从而缩小日志范围。</a:t>
            </a:r>
          </a:p>
        </p:txBody>
      </p:sp>
      <p:sp>
        <p:nvSpPr>
          <p:cNvPr id="2" name="标题 1"/>
          <p:cNvSpPr>
            <a:spLocks noGrp="1"/>
          </p:cNvSpPr>
          <p:nvPr>
            <p:ph type="title"/>
          </p:nvPr>
        </p:nvSpPr>
        <p:spPr/>
        <p:txBody>
          <a:bodyPr/>
          <a:lstStyle/>
          <a:p>
            <a:r>
              <a:rPr lang="zh-CN" altLang="en-US" dirty="0"/>
              <a:t>事件过滤使用的方法</a:t>
            </a:r>
          </a:p>
        </p:txBody>
      </p:sp>
    </p:spTree>
    <p:extLst>
      <p:ext uri="{BB962C8B-B14F-4D97-AF65-F5344CB8AC3E}">
        <p14:creationId xmlns:p14="http://schemas.microsoft.com/office/powerpoint/2010/main" val="1249588778"/>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a:extLst>
              <a:ext uri="{FF2B5EF4-FFF2-40B4-BE49-F238E27FC236}">
                <a16:creationId xmlns:a16="http://schemas.microsoft.com/office/drawing/2014/main" id="{462A65C9-0F66-4609-88B8-DFA152D15AF0}"/>
              </a:ext>
            </a:extLst>
          </p:cNvPr>
          <p:cNvGraphicFramePr>
            <a:graphicFrameLocks noChangeAspect="1"/>
          </p:cNvGraphicFramePr>
          <p:nvPr/>
        </p:nvGraphicFramePr>
        <p:xfrm>
          <a:off x="5291787" y="1382436"/>
          <a:ext cx="4782615" cy="4957834"/>
        </p:xfrm>
        <a:graphic>
          <a:graphicData uri="http://schemas.openxmlformats.org/presentationml/2006/ole">
            <mc:AlternateContent xmlns:mc="http://schemas.openxmlformats.org/markup-compatibility/2006">
              <mc:Choice xmlns:v="urn:schemas-microsoft-com:vml" Requires="v">
                <p:oleObj spid="_x0000_s2065" name="Visio" r:id="rId4" imgW="6934313" imgH="7896150" progId="Visio.Drawing.15">
                  <p:embed/>
                </p:oleObj>
              </mc:Choice>
              <mc:Fallback>
                <p:oleObj name="Visio" r:id="rId4" imgW="6934313" imgH="7896150" progId="Visio.Drawing.15">
                  <p:embed/>
                  <p:pic>
                    <p:nvPicPr>
                      <p:cNvPr id="9" name="对象 8">
                        <a:extLst>
                          <a:ext uri="{FF2B5EF4-FFF2-40B4-BE49-F238E27FC236}">
                            <a16:creationId xmlns:a16="http://schemas.microsoft.com/office/drawing/2014/main" id="{462A65C9-0F66-4609-88B8-DFA152D15A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1787" y="1382436"/>
                        <a:ext cx="4782615" cy="4957834"/>
                      </a:xfrm>
                      <a:prstGeom prst="rect">
                        <a:avLst/>
                      </a:prstGeom>
                      <a:noFill/>
                    </p:spPr>
                  </p:pic>
                </p:oleObj>
              </mc:Fallback>
            </mc:AlternateContent>
          </a:graphicData>
        </a:graphic>
      </p:graphicFrame>
      <p:sp>
        <p:nvSpPr>
          <p:cNvPr id="2" name="文本框 1"/>
          <p:cNvSpPr txBox="1"/>
          <p:nvPr/>
        </p:nvSpPr>
        <p:spPr>
          <a:xfrm>
            <a:off x="1327238" y="1798986"/>
            <a:ext cx="317156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）读入一条日志数据；</a:t>
            </a:r>
            <a:endParaRPr lang="en-US" altLang="zh-CN" dirty="0"/>
          </a:p>
          <a:p>
            <a:r>
              <a:rPr lang="zh-CN" altLang="en-US" dirty="0"/>
              <a:t>（</a:t>
            </a:r>
            <a:r>
              <a:rPr lang="en-US" altLang="zh-CN" dirty="0"/>
              <a:t>2</a:t>
            </a:r>
            <a:r>
              <a:rPr lang="zh-CN" altLang="en-US" dirty="0"/>
              <a:t>）判断该日志是否是错误日志，如果包含错误信息则将其删除；</a:t>
            </a:r>
            <a:endParaRPr lang="en-US" altLang="zh-CN" dirty="0"/>
          </a:p>
          <a:p>
            <a:r>
              <a:rPr lang="zh-CN" altLang="en-US" dirty="0"/>
              <a:t>（</a:t>
            </a:r>
            <a:r>
              <a:rPr lang="en-US" altLang="zh-CN" dirty="0"/>
              <a:t>3</a:t>
            </a:r>
            <a:r>
              <a:rPr lang="zh-CN" altLang="en-US" dirty="0"/>
              <a:t>）判断该日志是否是用户所关心的日志，如果不是则将其删除；</a:t>
            </a:r>
            <a:endParaRPr lang="en-US" altLang="zh-CN" dirty="0"/>
          </a:p>
          <a:p>
            <a:r>
              <a:rPr lang="zh-CN" altLang="en-US" dirty="0"/>
              <a:t>（</a:t>
            </a:r>
            <a:r>
              <a:rPr lang="en-US" altLang="zh-CN" dirty="0"/>
              <a:t>4</a:t>
            </a:r>
            <a:r>
              <a:rPr lang="zh-CN" altLang="en-US" dirty="0"/>
              <a:t>）最后按时间顺序对日志记录进行去重。</a:t>
            </a:r>
          </a:p>
        </p:txBody>
      </p:sp>
      <p:sp>
        <p:nvSpPr>
          <p:cNvPr id="3" name="标题 2"/>
          <p:cNvSpPr>
            <a:spLocks noGrp="1"/>
          </p:cNvSpPr>
          <p:nvPr>
            <p:ph type="title"/>
          </p:nvPr>
        </p:nvSpPr>
        <p:spPr/>
        <p:txBody>
          <a:bodyPr/>
          <a:lstStyle/>
          <a:p>
            <a:r>
              <a:rPr lang="zh-CN" altLang="en-US" dirty="0"/>
              <a:t>事件过滤流程</a:t>
            </a:r>
          </a:p>
        </p:txBody>
      </p:sp>
    </p:spTree>
    <p:extLst>
      <p:ext uri="{BB962C8B-B14F-4D97-AF65-F5344CB8AC3E}">
        <p14:creationId xmlns:p14="http://schemas.microsoft.com/office/powerpoint/2010/main" val="2300247886"/>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1A76C7FD-A8D6-48D4-A99B-816F24035C6E}"/>
              </a:ext>
            </a:extLst>
          </p:cNvPr>
          <p:cNvSpPr/>
          <p:nvPr/>
        </p:nvSpPr>
        <p:spPr>
          <a:xfrm>
            <a:off x="1293223" y="1293445"/>
            <a:ext cx="936606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）根据日志的标志字段进行事件过滤：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对从不同远程机器上收集的日志汇总到中央日志处理服务器上，分析日志中不同字段，通常日志中包含错误代码、传输协议、</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地址、进程名、远程地址、用户名、</a:t>
            </a:r>
            <a:r>
              <a:rPr lang="en-US" altLang="zh-CN" sz="1600" spc="100" dirty="0">
                <a:latin typeface="微软雅黑" panose="020B0503020204020204" pitchFamily="34" charset="-122"/>
                <a:ea typeface="微软雅黑" panose="020B0503020204020204" pitchFamily="34" charset="-122"/>
              </a:rPr>
              <a:t>URL</a:t>
            </a:r>
            <a:r>
              <a:rPr lang="zh-CN" altLang="en-US" sz="1600" spc="100" dirty="0">
                <a:latin typeface="微软雅黑" panose="020B0503020204020204" pitchFamily="34" charset="-122"/>
                <a:ea typeface="微软雅黑" panose="020B0503020204020204" pitchFamily="34" charset="-122"/>
              </a:rPr>
              <a:t>、时间等字段。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）根据存储格式或内容规范进行过滤：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通过检查日志记录中每个属性的存储格式以及检查其实际内容是否符合规范对事件进行过滤，如空缺值，识别、删除孤立点，删除某些重复记录，对属性值的有效性进行检验等等。</a:t>
            </a:r>
          </a:p>
        </p:txBody>
      </p:sp>
      <p:sp>
        <p:nvSpPr>
          <p:cNvPr id="2" name="标题 1"/>
          <p:cNvSpPr>
            <a:spLocks noGrp="1"/>
          </p:cNvSpPr>
          <p:nvPr>
            <p:ph type="title"/>
          </p:nvPr>
        </p:nvSpPr>
        <p:spPr/>
        <p:txBody>
          <a:bodyPr/>
          <a:lstStyle/>
          <a:p>
            <a:r>
              <a:rPr lang="zh-CN" altLang="en-US" dirty="0"/>
              <a:t>事件过滤分类</a:t>
            </a:r>
          </a:p>
        </p:txBody>
      </p:sp>
    </p:spTree>
    <p:extLst>
      <p:ext uri="{BB962C8B-B14F-4D97-AF65-F5344CB8AC3E}">
        <p14:creationId xmlns:p14="http://schemas.microsoft.com/office/powerpoint/2010/main" val="3037860174"/>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240971" y="1417797"/>
            <a:ext cx="9666515"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）忽略元组：除非元组有多个属性缺少值，否则该方法不是很有效。</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）人工填写空缺值：一般来说，该方法很费时，并且当数据集很大、空缺值很多时，该方法行不通。</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）使用一个全局变量填补空缺值：将空缺的属性值用同一个常数（如“</a:t>
            </a:r>
            <a:r>
              <a:rPr lang="en-US" altLang="zh-CN" sz="1600" spc="100" dirty="0">
                <a:latin typeface="微软雅黑" panose="020B0503020204020204" pitchFamily="34" charset="-122"/>
                <a:ea typeface="微软雅黑" panose="020B0503020204020204" pitchFamily="34" charset="-122"/>
              </a:rPr>
              <a:t>Unknown”</a:t>
            </a:r>
            <a:r>
              <a:rPr lang="zh-CN" altLang="en-US" sz="1600" spc="100" dirty="0">
                <a:latin typeface="微软雅黑" panose="020B0503020204020204" pitchFamily="34" charset="-122"/>
                <a:ea typeface="微软雅黑" panose="020B0503020204020204" pitchFamily="34" charset="-122"/>
              </a:rPr>
              <a:t>或</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）替换。如果空缺值都用“</a:t>
            </a:r>
            <a:r>
              <a:rPr lang="en-US" altLang="zh-CN" sz="1600" spc="100" dirty="0">
                <a:latin typeface="微软雅黑" panose="020B0503020204020204" pitchFamily="34" charset="-122"/>
                <a:ea typeface="微软雅黑" panose="020B0503020204020204" pitchFamily="34" charset="-122"/>
              </a:rPr>
              <a:t>Unknown”</a:t>
            </a:r>
            <a:r>
              <a:rPr lang="zh-CN" altLang="en-US" sz="1600" spc="100" dirty="0">
                <a:latin typeface="微软雅黑" panose="020B0503020204020204" pitchFamily="34" charset="-122"/>
                <a:ea typeface="微软雅黑" panose="020B0503020204020204" pitchFamily="34" charset="-122"/>
              </a:rPr>
              <a:t>替换，程序可能误以为它们形成了一个有趣的概念，因为它们都具有相同的值“</a:t>
            </a:r>
            <a:r>
              <a:rPr lang="en-US" altLang="zh-CN" sz="1600" spc="100" dirty="0">
                <a:latin typeface="微软雅黑" panose="020B0503020204020204" pitchFamily="34" charset="-122"/>
                <a:ea typeface="微软雅黑" panose="020B0503020204020204" pitchFamily="34" charset="-122"/>
              </a:rPr>
              <a:t>Unknown”</a:t>
            </a:r>
            <a:r>
              <a:rPr lang="zh-CN" altLang="en-US" sz="1600" spc="100" dirty="0">
                <a:latin typeface="微软雅黑" panose="020B0503020204020204" pitchFamily="34" charset="-122"/>
                <a:ea typeface="微软雅黑" panose="020B0503020204020204" pitchFamily="34" charset="-122"/>
              </a:rPr>
              <a:t>。因此虽然该方法简单，但一般不使用。</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）使用属性的平均值填充空缺值。</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）使用与给定元组属同一类的所有样本的平均值。</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）使用最可能的值填充空缺值：可以用回归、贝叶斯形式化方法工具或判定树归纳等确定空缺值。</a:t>
            </a:r>
          </a:p>
        </p:txBody>
      </p:sp>
      <p:sp>
        <p:nvSpPr>
          <p:cNvPr id="2" name="标题 1"/>
          <p:cNvSpPr>
            <a:spLocks noGrp="1"/>
          </p:cNvSpPr>
          <p:nvPr>
            <p:ph type="title"/>
          </p:nvPr>
        </p:nvSpPr>
        <p:spPr/>
        <p:txBody>
          <a:bodyPr/>
          <a:lstStyle/>
          <a:p>
            <a:r>
              <a:rPr lang="zh-CN" altLang="en-US" dirty="0"/>
              <a:t>空缺值处理方法</a:t>
            </a:r>
          </a:p>
        </p:txBody>
      </p:sp>
    </p:spTree>
    <p:extLst>
      <p:ext uri="{BB962C8B-B14F-4D97-AF65-F5344CB8AC3E}">
        <p14:creationId xmlns:p14="http://schemas.microsoft.com/office/powerpoint/2010/main" val="1733875979"/>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332411" y="1332529"/>
            <a:ext cx="941832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）方法</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针对元组数据，除非元组有多个属性缺少值，否则该方法不是很有效。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）方法</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的时间成本比较高，而且在数据量很大时可行性较低。</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方法</a:t>
            </a:r>
            <a:r>
              <a:rPr lang="en-US" altLang="zh-CN" sz="1600" spc="100" dirty="0">
                <a:latin typeface="微软雅黑" panose="020B0503020204020204" pitchFamily="34" charset="-122"/>
                <a:ea typeface="微软雅黑" panose="020B0503020204020204" pitchFamily="34" charset="-122"/>
              </a:rPr>
              <a:t>3~6</a:t>
            </a:r>
            <a:r>
              <a:rPr lang="zh-CN" altLang="zh-CN" sz="1600" spc="100" dirty="0">
                <a:latin typeface="微软雅黑" panose="020B0503020204020204" pitchFamily="34" charset="-122"/>
                <a:ea typeface="微软雅黑" panose="020B0503020204020204" pitchFamily="34" charset="-122"/>
              </a:rPr>
              <a:t>使数据倾斜，填入的值可能不正确。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方法</a:t>
            </a:r>
            <a:r>
              <a:rPr lang="en-US" altLang="zh-CN" sz="1600" spc="100" dirty="0">
                <a:latin typeface="微软雅黑" panose="020B0503020204020204" pitchFamily="34" charset="-122"/>
                <a:ea typeface="微软雅黑" panose="020B0503020204020204" pitchFamily="34" charset="-122"/>
              </a:rPr>
              <a:t>F</a:t>
            </a:r>
            <a:r>
              <a:rPr lang="zh-CN" altLang="zh-CN" sz="1600" spc="100" dirty="0">
                <a:latin typeface="微软雅黑" panose="020B0503020204020204" pitchFamily="34" charset="-122"/>
                <a:ea typeface="微软雅黑" panose="020B0503020204020204" pitchFamily="34" charset="-122"/>
              </a:rPr>
              <a:t>是最常用的方法</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与其他方法相比，它使用现存数据的多数信息来推测空缺值。在估</a:t>
            </a:r>
            <a:r>
              <a:rPr lang="zh-CN" altLang="en-US" sz="1600" spc="100" dirty="0">
                <a:latin typeface="微软雅黑" panose="020B0503020204020204" pitchFamily="34" charset="-122"/>
                <a:ea typeface="微软雅黑" panose="020B0503020204020204" pitchFamily="34" charset="-122"/>
              </a:rPr>
              <a:t>计某个</a:t>
            </a:r>
            <a:r>
              <a:rPr lang="zh-CN" altLang="zh-CN" sz="1600" spc="100" dirty="0">
                <a:latin typeface="微软雅黑" panose="020B0503020204020204" pitchFamily="34" charset="-122"/>
                <a:ea typeface="微软雅黑" panose="020B0503020204020204" pitchFamily="34" charset="-122"/>
              </a:rPr>
              <a:t>属性的空缺值时，通过考虑其他属性的值，有更大的机会保持收入和其他属性之间的联系。</a:t>
            </a:r>
          </a:p>
        </p:txBody>
      </p:sp>
      <p:sp>
        <p:nvSpPr>
          <p:cNvPr id="2" name="标题 1"/>
          <p:cNvSpPr>
            <a:spLocks noGrp="1"/>
          </p:cNvSpPr>
          <p:nvPr>
            <p:ph type="title"/>
          </p:nvPr>
        </p:nvSpPr>
        <p:spPr/>
        <p:txBody>
          <a:bodyPr/>
          <a:lstStyle/>
          <a:p>
            <a:r>
              <a:rPr lang="zh-CN" altLang="en-US" dirty="0"/>
              <a:t>空缺值处理方法比较</a:t>
            </a:r>
          </a:p>
        </p:txBody>
      </p:sp>
    </p:spTree>
    <p:extLst>
      <p:ext uri="{BB962C8B-B14F-4D97-AF65-F5344CB8AC3E}">
        <p14:creationId xmlns:p14="http://schemas.microsoft.com/office/powerpoint/2010/main" val="1722725101"/>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410788" y="1293445"/>
            <a:ext cx="931381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）重复数据会导致错误的归并模式，因此有必要去除数据集中的重复数据，以提高其后归并的精度和速度。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）每种重复记录检测方法都需要确定是否有两个及以上的实例表示的是同一实体。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）有效的检测方法是对每一个实例都与其他实例进行对比，从而发现重复实例。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p>
        </p:txBody>
      </p:sp>
      <p:sp>
        <p:nvSpPr>
          <p:cNvPr id="2" name="标题 1"/>
          <p:cNvSpPr>
            <a:spLocks noGrp="1"/>
          </p:cNvSpPr>
          <p:nvPr>
            <p:ph type="title"/>
          </p:nvPr>
        </p:nvSpPr>
        <p:spPr/>
        <p:txBody>
          <a:bodyPr/>
          <a:lstStyle/>
          <a:p>
            <a:r>
              <a:rPr lang="zh-CN" altLang="en-US" dirty="0"/>
              <a:t>重复数据</a:t>
            </a:r>
          </a:p>
        </p:txBody>
      </p:sp>
    </p:spTree>
    <p:extLst>
      <p:ext uri="{BB962C8B-B14F-4D97-AF65-F5344CB8AC3E}">
        <p14:creationId xmlns:p14="http://schemas.microsoft.com/office/powerpoint/2010/main" val="4184258933"/>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A76C7FD-A8D6-48D4-A99B-816F24035C6E}"/>
              </a:ext>
            </a:extLst>
          </p:cNvPr>
          <p:cNvSpPr/>
          <p:nvPr/>
        </p:nvSpPr>
        <p:spPr>
          <a:xfrm>
            <a:off x="1227909" y="1286813"/>
            <a:ext cx="9483634"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）排序一合并方法，该方法是检测数据库中完全重复记录的标准方法。基本思想是：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Step1.  </a:t>
            </a:r>
            <a:r>
              <a:rPr lang="zh-CN" altLang="en-US" sz="1600" spc="100" dirty="0">
                <a:latin typeface="微软雅黑" panose="020B0503020204020204" pitchFamily="34" charset="-122"/>
                <a:ea typeface="微软雅黑" panose="020B0503020204020204" pitchFamily="34" charset="-122"/>
              </a:rPr>
              <a:t>对数据集排序；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Step2.  </a:t>
            </a:r>
            <a:r>
              <a:rPr lang="zh-CN" altLang="en-US" sz="1600" spc="100" dirty="0">
                <a:latin typeface="微软雅黑" panose="020B0503020204020204" pitchFamily="34" charset="-122"/>
                <a:ea typeface="微软雅黑" panose="020B0503020204020204" pitchFamily="34" charset="-122"/>
              </a:rPr>
              <a:t>比较相邻一记录是否相等。</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）基本近邻排序算法（</a:t>
            </a:r>
            <a:r>
              <a:rPr lang="en-US" altLang="zh-CN" sz="1600" spc="100" dirty="0">
                <a:latin typeface="微软雅黑" panose="020B0503020204020204" pitchFamily="34" charset="-122"/>
                <a:ea typeface="微软雅黑" panose="020B0503020204020204" pitchFamily="34" charset="-122"/>
              </a:rPr>
              <a:t>Basic Sorted Neighborhood Method</a:t>
            </a: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SNM</a:t>
            </a:r>
            <a:r>
              <a:rPr lang="zh-CN" altLang="en-US" sz="1600" spc="100" dirty="0">
                <a:latin typeface="微软雅黑" panose="020B0503020204020204" pitchFamily="34" charset="-122"/>
                <a:ea typeface="微软雅黑" panose="020B0503020204020204" pitchFamily="34" charset="-122"/>
              </a:rPr>
              <a:t>）。该方法的思想是：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Step1.  </a:t>
            </a:r>
            <a:r>
              <a:rPr lang="zh-CN" altLang="en-US" sz="1600" spc="100" dirty="0">
                <a:latin typeface="微软雅黑" panose="020B0503020204020204" pitchFamily="34" charset="-122"/>
                <a:ea typeface="微软雅黑" panose="020B0503020204020204" pitchFamily="34" charset="-122"/>
              </a:rPr>
              <a:t>将数据集中的记录按指定的关键字（</a:t>
            </a:r>
            <a:r>
              <a:rPr lang="en-US" altLang="zh-CN" sz="1600" spc="100" dirty="0">
                <a:latin typeface="微软雅黑" panose="020B0503020204020204" pitchFamily="34" charset="-122"/>
                <a:ea typeface="微软雅黑" panose="020B0503020204020204" pitchFamily="34" charset="-122"/>
              </a:rPr>
              <a:t>key</a:t>
            </a:r>
            <a:r>
              <a:rPr lang="zh-CN" altLang="en-US" sz="1600" spc="100" dirty="0">
                <a:latin typeface="微软雅黑" panose="020B0503020204020204" pitchFamily="34" charset="-122"/>
                <a:ea typeface="微软雅黑" panose="020B0503020204020204" pitchFamily="34" charset="-122"/>
              </a:rPr>
              <a:t>）排序；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Step2.  </a:t>
            </a:r>
            <a:r>
              <a:rPr lang="zh-CN" altLang="en-US" sz="1600" spc="100" dirty="0">
                <a:latin typeface="微软雅黑" panose="020B0503020204020204" pitchFamily="34" charset="-122"/>
                <a:ea typeface="微软雅黑" panose="020B0503020204020204" pitchFamily="34" charset="-122"/>
              </a:rPr>
              <a:t>在排序后的数据集上移动一个固定大小的窗口，只检测窗口内的记录，并判定它们是否匹配，以此来减少记录的比较次数。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检测重复数据的方法</a:t>
            </a:r>
          </a:p>
        </p:txBody>
      </p:sp>
    </p:spTree>
    <p:extLst>
      <p:ext uri="{BB962C8B-B14F-4D97-AF65-F5344CB8AC3E}">
        <p14:creationId xmlns:p14="http://schemas.microsoft.com/office/powerpoint/2010/main" val="647295150"/>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387927" y="1454499"/>
            <a:ext cx="919298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）噪声数据的出现可能有多种原因，由于噪声数据的存在使得数据不在规定的数据域内，从而会影响后面的挖掘效果和结果。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）噪声是一个测量变量中的随机错误或偏差。</a:t>
            </a:r>
          </a:p>
        </p:txBody>
      </p:sp>
      <p:sp>
        <p:nvSpPr>
          <p:cNvPr id="2" name="标题 1"/>
          <p:cNvSpPr>
            <a:spLocks noGrp="1"/>
          </p:cNvSpPr>
          <p:nvPr>
            <p:ph type="title"/>
          </p:nvPr>
        </p:nvSpPr>
        <p:spPr/>
        <p:txBody>
          <a:bodyPr/>
          <a:lstStyle/>
          <a:p>
            <a:r>
              <a:rPr lang="zh-CN" altLang="en-US" dirty="0"/>
              <a:t>噪声数据</a:t>
            </a:r>
          </a:p>
        </p:txBody>
      </p:sp>
    </p:spTree>
    <p:extLst>
      <p:ext uri="{BB962C8B-B14F-4D97-AF65-F5344CB8AC3E}">
        <p14:creationId xmlns:p14="http://schemas.microsoft.com/office/powerpoint/2010/main" val="2473836297"/>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384663" y="1113823"/>
            <a:ext cx="9379131"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）分箱（</a:t>
            </a:r>
            <a:r>
              <a:rPr lang="en-US" altLang="zh-CN" sz="1600" spc="100" dirty="0">
                <a:latin typeface="微软雅黑" panose="020B0503020204020204" pitchFamily="34" charset="-122"/>
                <a:ea typeface="微软雅黑" panose="020B0503020204020204" pitchFamily="34" charset="-122"/>
              </a:rPr>
              <a:t>binning</a:t>
            </a:r>
            <a:r>
              <a:rPr lang="zh-CN" altLang="en-US" sz="1600" spc="100" dirty="0">
                <a:latin typeface="微软雅黑" panose="020B0503020204020204" pitchFamily="34" charset="-122"/>
                <a:ea typeface="微软雅黑" panose="020B0503020204020204" pitchFamily="34" charset="-122"/>
              </a:rPr>
              <a:t>）：分箱法是通过考察“邻居”（即周围的值）来平滑存贮数据的值，即，存储的值被分布到一些“桶”或箱中。分箱法参考的是邻居数据，进行的是局部平滑。</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）聚类（</a:t>
            </a:r>
            <a:r>
              <a:rPr lang="en-US" altLang="zh-CN" sz="1600" spc="100" dirty="0">
                <a:latin typeface="微软雅黑" panose="020B0503020204020204" pitchFamily="34" charset="-122"/>
                <a:ea typeface="微软雅黑" panose="020B0503020204020204" pitchFamily="34" charset="-122"/>
              </a:rPr>
              <a:t>clustering</a:t>
            </a:r>
            <a:r>
              <a:rPr lang="zh-CN" altLang="en-US" sz="1600" spc="100" dirty="0">
                <a:latin typeface="微软雅黑" panose="020B0503020204020204" pitchFamily="34" charset="-122"/>
                <a:ea typeface="微软雅黑" panose="020B0503020204020204" pitchFamily="34" charset="-122"/>
              </a:rPr>
              <a:t>）：孤立点可以被聚类检测。聚类将类似的值组织成群或“聚类”。落在聚类集合之外的值则被视为孤立点。</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）计算机与人工检查结合：通过计算机和人工检查结合的方法来识别孤立点。</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）回归（</a:t>
            </a:r>
            <a:r>
              <a:rPr lang="en-US" altLang="zh-CN" sz="1600" spc="100" dirty="0">
                <a:latin typeface="微软雅黑" panose="020B0503020204020204" pitchFamily="34" charset="-122"/>
                <a:ea typeface="微软雅黑" panose="020B0503020204020204" pitchFamily="34" charset="-122"/>
              </a:rPr>
              <a:t>regression</a:t>
            </a:r>
            <a:r>
              <a:rPr lang="zh-CN" altLang="en-US" sz="1600" spc="100" dirty="0">
                <a:latin typeface="微软雅黑" panose="020B0503020204020204" pitchFamily="34" charset="-122"/>
                <a:ea typeface="微软雅黑" panose="020B0503020204020204" pitchFamily="34" charset="-122"/>
              </a:rPr>
              <a:t>）：使用回归，找出适合数据的数学方程式，能够帮助消除数据中的噪声。</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通过让数据适合一个函数如回归函数来平滑数据。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线性回归涉及找出适合两个变量的“最佳”直线，使得一个变量能够预测另一个。</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多线性回归是线性回归的扩展，它涉及多于两个变量，数据要适合一个多维面。</a:t>
            </a:r>
          </a:p>
        </p:txBody>
      </p:sp>
      <p:sp>
        <p:nvSpPr>
          <p:cNvPr id="2" name="标题 1"/>
          <p:cNvSpPr>
            <a:spLocks noGrp="1"/>
          </p:cNvSpPr>
          <p:nvPr>
            <p:ph type="title"/>
          </p:nvPr>
        </p:nvSpPr>
        <p:spPr/>
        <p:txBody>
          <a:bodyPr/>
          <a:lstStyle/>
          <a:p>
            <a:r>
              <a:rPr lang="zh-CN" altLang="en-US" dirty="0"/>
              <a:t>去噪声方法</a:t>
            </a:r>
          </a:p>
        </p:txBody>
      </p:sp>
    </p:spTree>
    <p:extLst>
      <p:ext uri="{BB962C8B-B14F-4D97-AF65-F5344CB8AC3E}">
        <p14:creationId xmlns:p14="http://schemas.microsoft.com/office/powerpoint/2010/main" val="2036525068"/>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473AD0E-6C7B-45AD-83B2-96BC8299C8A1}"/>
              </a:ext>
            </a:extLst>
          </p:cNvPr>
          <p:cNvSpPr/>
          <p:nvPr/>
        </p:nvSpPr>
        <p:spPr>
          <a:xfrm>
            <a:off x="1520615" y="1397344"/>
            <a:ext cx="879896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）由于系统和应用造成的数据类型、格式、制式、粒度和编码方式等。</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）由于错误的输入，硬件或软件故障，不及时更新造成的数据库状态改变等。</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不一致数据产生的原因</a:t>
            </a:r>
          </a:p>
        </p:txBody>
      </p:sp>
    </p:spTree>
    <p:extLst>
      <p:ext uri="{BB962C8B-B14F-4D97-AF65-F5344CB8AC3E}">
        <p14:creationId xmlns:p14="http://schemas.microsoft.com/office/powerpoint/2010/main" val="439143463"/>
      </p:ext>
    </p:extLst>
  </p:cSld>
  <p:clrMapOvr>
    <a:masterClrMapping/>
  </p:clrMapOvr>
  <p:transition spd="slow">
    <p:blinds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473AD0E-6C7B-45AD-83B2-96BC8299C8A1}"/>
              </a:ext>
            </a:extLst>
          </p:cNvPr>
          <p:cNvSpPr/>
          <p:nvPr/>
        </p:nvSpPr>
        <p:spPr>
          <a:xfrm>
            <a:off x="1572865" y="1381241"/>
            <a:ext cx="630766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）分析不一致性数据产生原因。</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）应用多种变换函数、格式函数、汇总分解函数库去实现清理。</a:t>
            </a:r>
          </a:p>
        </p:txBody>
      </p:sp>
      <p:sp>
        <p:nvSpPr>
          <p:cNvPr id="2" name="标题 1"/>
          <p:cNvSpPr>
            <a:spLocks noGrp="1"/>
          </p:cNvSpPr>
          <p:nvPr>
            <p:ph type="title"/>
          </p:nvPr>
        </p:nvSpPr>
        <p:spPr/>
        <p:txBody>
          <a:bodyPr/>
          <a:lstStyle/>
          <a:p>
            <a:r>
              <a:rPr lang="zh-CN" altLang="en-US" dirty="0"/>
              <a:t>不一致数据过滤的方法</a:t>
            </a:r>
          </a:p>
        </p:txBody>
      </p:sp>
    </p:spTree>
    <p:extLst>
      <p:ext uri="{BB962C8B-B14F-4D97-AF65-F5344CB8AC3E}">
        <p14:creationId xmlns:p14="http://schemas.microsoft.com/office/powerpoint/2010/main" val="2488746468"/>
      </p:ext>
    </p:extLst>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归一化的原因</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3.2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9555199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40971" y="1163412"/>
            <a:ext cx="953588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从数据库中提取数据是复杂的。需要提取的数据是多表融合的数据，需将不同表字段值合并为一个字段值（或重命名字段）；或取某字符字段值的子字符串；或需对某些数据进行较高层次的聚集，如对某数值字段的平均。</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）存在多个输入数据源。待转换的数据一般来自不同数据源中的不同表，这就要求数据与数据源的对应关系逻辑上很清楚，以便从正确的数据源提取正确的数据。</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）源数据库的键及其它约束在目标数据库中可能改变。将多表数据融合后，原来的约束常常改变，目标数据库中的新约束与待转换数据是否矛盾，需要仔细考察和妥善解决。</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）源数据与目标数据类型的转换问题。不同的数据库系统的数据类型不同，在将数据存入目标数据库时需要做类型的转换。</a:t>
            </a:r>
          </a:p>
        </p:txBody>
      </p:sp>
      <p:sp>
        <p:nvSpPr>
          <p:cNvPr id="2" name="标题 1"/>
          <p:cNvSpPr>
            <a:spLocks noGrp="1"/>
          </p:cNvSpPr>
          <p:nvPr>
            <p:ph type="title"/>
          </p:nvPr>
        </p:nvSpPr>
        <p:spPr/>
        <p:txBody>
          <a:bodyPr/>
          <a:lstStyle/>
          <a:p>
            <a:r>
              <a:rPr lang="zh-CN" altLang="en-US" dirty="0"/>
              <a:t>归一化的原因</a:t>
            </a:r>
          </a:p>
        </p:txBody>
      </p:sp>
    </p:spTree>
    <p:extLst>
      <p:ext uri="{BB962C8B-B14F-4D97-AF65-F5344CB8AC3E}">
        <p14:creationId xmlns:p14="http://schemas.microsoft.com/office/powerpoint/2010/main" val="3563215495"/>
      </p:ext>
    </p:extLst>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5"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5178" y="71"/>
            <a:ext cx="1971143" cy="197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1CE5620A-1867-496C-B4DF-B998CB7039CA}"/>
              </a:ext>
            </a:extLst>
          </p:cNvPr>
          <p:cNvSpPr/>
          <p:nvPr/>
        </p:nvSpPr>
        <p:spPr>
          <a:xfrm>
            <a:off x="1568044" y="1417237"/>
            <a:ext cx="855567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日志归一化实现将不同格式的原始日志归一化为一种具有统一格式的日志</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）日志归一化</a:t>
            </a:r>
            <a:r>
              <a:rPr lang="zh-CN" altLang="zh-CN" sz="1600" spc="100" dirty="0">
                <a:latin typeface="微软雅黑" panose="020B0503020204020204" pitchFamily="34" charset="-122"/>
                <a:ea typeface="微软雅黑" panose="020B0503020204020204" pitchFamily="34" charset="-122"/>
              </a:rPr>
              <a:t>为其他模块集中处理日志奠定基础。</a:t>
            </a:r>
          </a:p>
        </p:txBody>
      </p:sp>
      <p:sp>
        <p:nvSpPr>
          <p:cNvPr id="2" name="标题 1"/>
          <p:cNvSpPr>
            <a:spLocks noGrp="1"/>
          </p:cNvSpPr>
          <p:nvPr>
            <p:ph type="title"/>
          </p:nvPr>
        </p:nvSpPr>
        <p:spPr/>
        <p:txBody>
          <a:bodyPr/>
          <a:lstStyle/>
          <a:p>
            <a:r>
              <a:rPr lang="zh-CN" altLang="en-US" dirty="0"/>
              <a:t>归一化</a:t>
            </a:r>
          </a:p>
        </p:txBody>
      </p:sp>
    </p:spTree>
    <p:extLst>
      <p:ext uri="{BB962C8B-B14F-4D97-AF65-F5344CB8AC3E}">
        <p14:creationId xmlns:p14="http://schemas.microsoft.com/office/powerpoint/2010/main" val="3891224075"/>
      </p:ext>
    </p:extLst>
  </p:cSld>
  <p:clrMapOvr>
    <a:masterClrMapping/>
  </p:clrMapOvr>
  <p:transition spd="slow">
    <p:blinds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归一化的方法及效果</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3.3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6824415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CE5620A-1867-496C-B4DF-B998CB7039CA}"/>
              </a:ext>
            </a:extLst>
          </p:cNvPr>
          <p:cNvSpPr/>
          <p:nvPr/>
        </p:nvSpPr>
        <p:spPr>
          <a:xfrm>
            <a:off x="1162595" y="1442481"/>
            <a:ext cx="961426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）获取过滤后的原始日志消息。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）阅读原始日志数据形式及每个字段的说明。</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）数据转换和数据归并，提出格式化数据所用的对应的解析表达式，大部分日志分析系统利用正则表达式来解析数据。</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）在样本原始日志数据上测试解析逻辑。</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）部署解析逻辑。</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）存储。</a:t>
            </a:r>
          </a:p>
        </p:txBody>
      </p:sp>
      <p:sp>
        <p:nvSpPr>
          <p:cNvPr id="2" name="标题 1"/>
          <p:cNvSpPr>
            <a:spLocks noGrp="1"/>
          </p:cNvSpPr>
          <p:nvPr>
            <p:ph type="title"/>
          </p:nvPr>
        </p:nvSpPr>
        <p:spPr/>
        <p:txBody>
          <a:bodyPr/>
          <a:lstStyle/>
          <a:p>
            <a:r>
              <a:rPr lang="zh-CN" altLang="en-US" dirty="0"/>
              <a:t>归一化的基本步骤</a:t>
            </a:r>
          </a:p>
        </p:txBody>
      </p:sp>
    </p:spTree>
    <p:extLst>
      <p:ext uri="{BB962C8B-B14F-4D97-AF65-F5344CB8AC3E}">
        <p14:creationId xmlns:p14="http://schemas.microsoft.com/office/powerpoint/2010/main" val="3699745306"/>
      </p:ext>
    </p:extLst>
  </p:cSld>
  <p:clrMapOvr>
    <a:masterClrMapping/>
  </p:clrMapOvr>
  <p:transition spd="slow">
    <p:blinds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1CE5620A-1867-496C-B4DF-B998CB7039CA}"/>
              </a:ext>
            </a:extLst>
          </p:cNvPr>
          <p:cNvSpPr/>
          <p:nvPr/>
        </p:nvSpPr>
        <p:spPr>
          <a:xfrm>
            <a:off x="1018903" y="1071796"/>
            <a:ext cx="9784080"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不管归一化事件所使用的最终存储机制是什么，最终都需要保留一些通用的字段，这些字段包括：</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）源和目标</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地址：在后续关联分析过程中非常有用。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）源和目标端口：用于理解哪些服务试图访问或者被访问。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）分类学：分类学是分类和编码日志消息含义的一种手段。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）时间戳：最关心的两类时间戳是日志消息在设备上生成的时间，日志记录系统接收日志消息的时间。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）用户信息：用户名、命令、目录位置等用户信息。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）优先级：有些日志消息自身包含了某种优先级。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7</a:t>
            </a:r>
            <a:r>
              <a:rPr lang="zh-CN" altLang="en-US" sz="1600" spc="100" dirty="0">
                <a:latin typeface="微软雅黑" panose="020B0503020204020204" pitchFamily="34" charset="-122"/>
                <a:ea typeface="微软雅黑" panose="020B0503020204020204" pitchFamily="34" charset="-122"/>
              </a:rPr>
              <a:t>）原始日志：作为归一化过程的一部分，应该保留原始日志数据。这用于确保归一化事件的有效性。另一个用例是日志留存，可以将保存原始日志作为事件归一化的一部分，或者将其保存在磁盘上，提供一种从归一化事件中“取回”原始日志消息的手段。</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通用字段</a:t>
            </a:r>
          </a:p>
        </p:txBody>
      </p:sp>
    </p:spTree>
    <p:extLst>
      <p:ext uri="{BB962C8B-B14F-4D97-AF65-F5344CB8AC3E}">
        <p14:creationId xmlns:p14="http://schemas.microsoft.com/office/powerpoint/2010/main" val="1331865179"/>
      </p:ext>
    </p:extLst>
  </p:cSld>
  <p:clrMapOvr>
    <a:masterClrMapping/>
  </p:clrMapOvr>
  <p:transition spd="slow">
    <p:blinds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40971" y="1163411"/>
            <a:ext cx="96012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）基于软件工具的转换方法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数据库管理系统一般都提供将外部文件数据转移到本身数据库表中的数据装入工具，利用这些软件工具可简单、快速地实现数据转换。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）基于中间数据库的转换方法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在两个具体的数据库之间转换时，依据关系定义，从源数据库中读出数据通过中间数据库写入目的数据库中。这种方法，所需转换模块少，且扩展性较强，但实现过程复杂，转换时需要大量的空间。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）基于数据库组件的转换方法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利用</a:t>
            </a:r>
            <a:r>
              <a:rPr lang="en-US" altLang="zh-CN" sz="1600" spc="100" dirty="0">
                <a:latin typeface="微软雅黑" panose="020B0503020204020204" pitchFamily="34" charset="-122"/>
                <a:ea typeface="微软雅黑" panose="020B0503020204020204" pitchFamily="34" charset="-122"/>
              </a:rPr>
              <a:t>Delphi</a:t>
            </a:r>
            <a:r>
              <a:rPr lang="zh-CN" altLang="en-US" sz="1600" spc="100" dirty="0">
                <a:latin typeface="微软雅黑" panose="020B0503020204020204" pitchFamily="34" charset="-122"/>
                <a:ea typeface="微软雅黑" panose="020B0503020204020204" pitchFamily="34" charset="-122"/>
              </a:rPr>
              <a:t>等数据库应用程序开发技术，通过源数据库与目的数据库组件来存取数据信息，实现直接转换。但若源数据库与目的数据库对应的数据类型不相同，必须先进行类型的转化，然后双方才能实施赋值。</a:t>
            </a:r>
          </a:p>
        </p:txBody>
      </p:sp>
      <p:sp>
        <p:nvSpPr>
          <p:cNvPr id="2" name="标题 1"/>
          <p:cNvSpPr>
            <a:spLocks noGrp="1"/>
          </p:cNvSpPr>
          <p:nvPr>
            <p:ph type="title"/>
          </p:nvPr>
        </p:nvSpPr>
        <p:spPr/>
        <p:txBody>
          <a:bodyPr/>
          <a:lstStyle/>
          <a:p>
            <a:r>
              <a:rPr lang="zh-CN" altLang="en-US" dirty="0"/>
              <a:t>异构数据源间数据转换的方法</a:t>
            </a:r>
          </a:p>
        </p:txBody>
      </p:sp>
    </p:spTree>
    <p:extLst>
      <p:ext uri="{BB962C8B-B14F-4D97-AF65-F5344CB8AC3E}">
        <p14:creationId xmlns:p14="http://schemas.microsoft.com/office/powerpoint/2010/main" val="4168689150"/>
      </p:ext>
    </p:extLst>
  </p:cSld>
  <p:clrMapOvr>
    <a:masterClrMapping/>
  </p:clrMapOvr>
  <p:transition spd="slow">
    <p:blinds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110343" y="1120020"/>
            <a:ext cx="9666514"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）简单变换</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即数据类型转换，转换源数据库表中的某些字段类型、长度以及</a:t>
            </a:r>
            <a:r>
              <a:rPr lang="en-US" altLang="zh-CN" sz="1600" spc="100" dirty="0">
                <a:latin typeface="微软雅黑" panose="020B0503020204020204" pitchFamily="34" charset="-122"/>
                <a:ea typeface="微软雅黑" panose="020B0503020204020204" pitchFamily="34" charset="-122"/>
              </a:rPr>
              <a:t>NULL</a:t>
            </a:r>
            <a:r>
              <a:rPr lang="zh-CN" altLang="en-US" sz="1600" spc="100" dirty="0">
                <a:latin typeface="微软雅黑" panose="020B0503020204020204" pitchFamily="34" charset="-122"/>
                <a:ea typeface="微软雅黑" panose="020B0503020204020204" pitchFamily="34" charset="-122"/>
              </a:rPr>
              <a:t>约束。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）日期、时间格式的转换</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几乎所有数据转换的实现都必须将日期和时间变换成数据定义的规范格式。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）由编码到名称的转换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为使数据转换后的数据被大多数用户所理解，在数据转换之前，根据编码从代码表中查到对应的文字描述（名称），使用该文字描述代编码。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）字段值合并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将数据库中的多个字段值合并成一个字段的值加载到数据库，主要针对文本类型字段。</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）字段值拆分</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合并字段的逆过程。将元数据库中的一个字段值拆分成多个字段的值进行转换。</a:t>
            </a:r>
          </a:p>
        </p:txBody>
      </p:sp>
      <p:sp>
        <p:nvSpPr>
          <p:cNvPr id="2" name="标题 1"/>
          <p:cNvSpPr>
            <a:spLocks noGrp="1"/>
          </p:cNvSpPr>
          <p:nvPr>
            <p:ph type="title"/>
          </p:nvPr>
        </p:nvSpPr>
        <p:spPr/>
        <p:txBody>
          <a:bodyPr/>
          <a:lstStyle/>
          <a:p>
            <a:r>
              <a:rPr lang="zh-CN" altLang="en-US" dirty="0"/>
              <a:t>数据转换的主要内容</a:t>
            </a:r>
          </a:p>
        </p:txBody>
      </p:sp>
    </p:spTree>
    <p:extLst>
      <p:ext uri="{BB962C8B-B14F-4D97-AF65-F5344CB8AC3E}">
        <p14:creationId xmlns:p14="http://schemas.microsoft.com/office/powerpoint/2010/main" val="3796049499"/>
      </p:ext>
    </p:extLst>
  </p:cSld>
  <p:clrMapOvr>
    <a:masterClrMapping/>
  </p:clrMapOvr>
  <p:transition spd="slow">
    <p:blinds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93223" y="1163412"/>
            <a:ext cx="945750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）模式归并：来自多个信息源的现实世界的实体如何才能“匹配”，这涉及实体识别问题。数据库有元数据</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关于数据的数据</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 可以避免模式集成中的错误。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）冗余：如果一个属性能由另一个表导出，那么它是冗余的。属性或维命名的不一致可能导致数据集中的冗余，可以用相关分析来检测。</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）数据值冲突的检测与处理：由于各自表示、比例或编码不同，导致这些来自不同数据源的属性值也可能不同。将多个数据源中的数据集成起来，能够减少或避免结果数据集中数据的冗余和不一致性。</a:t>
            </a:r>
          </a:p>
        </p:txBody>
      </p:sp>
      <p:sp>
        <p:nvSpPr>
          <p:cNvPr id="2" name="标题 1"/>
          <p:cNvSpPr>
            <a:spLocks noGrp="1"/>
          </p:cNvSpPr>
          <p:nvPr>
            <p:ph type="title"/>
          </p:nvPr>
        </p:nvSpPr>
        <p:spPr/>
        <p:txBody>
          <a:bodyPr/>
          <a:lstStyle/>
          <a:p>
            <a:r>
              <a:rPr lang="zh-CN" altLang="en-US" dirty="0"/>
              <a:t>数据归并考虑的问题</a:t>
            </a:r>
          </a:p>
        </p:txBody>
      </p:sp>
    </p:spTree>
    <p:extLst>
      <p:ext uri="{BB962C8B-B14F-4D97-AF65-F5344CB8AC3E}">
        <p14:creationId xmlns:p14="http://schemas.microsoft.com/office/powerpoint/2010/main" val="1759779522"/>
      </p:ext>
    </p:extLst>
  </p:cSld>
  <p:clrMapOvr>
    <a:masterClrMapping/>
  </p:clrMapOvr>
  <p:transition spd="slow">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708879" y="1604620"/>
            <a:ext cx="5018491"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日志归一化从原始日志池或者磁盘缓存文件中读取原始日志。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）进行数据转换和数据归并。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）解析原始日志的特殊字段，得到不同的原始日志来源，选择相应的的规则文件，对原始日志进行归一化的任务。</a:t>
            </a:r>
            <a:endParaRPr lang="en-US" altLang="zh-CN" sz="1600" spc="100" dirty="0">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1241A60B-B993-4734-875E-C30235873094}"/>
              </a:ext>
            </a:extLst>
          </p:cNvPr>
          <p:cNvGraphicFramePr>
            <a:graphicFrameLocks noChangeAspect="1"/>
          </p:cNvGraphicFramePr>
          <p:nvPr/>
        </p:nvGraphicFramePr>
        <p:xfrm>
          <a:off x="7139385" y="1153401"/>
          <a:ext cx="2924175" cy="5124450"/>
        </p:xfrm>
        <a:graphic>
          <a:graphicData uri="http://schemas.openxmlformats.org/presentationml/2006/ole">
            <mc:AlternateContent xmlns:mc="http://schemas.openxmlformats.org/markup-compatibility/2006">
              <mc:Choice xmlns:v="urn:schemas-microsoft-com:vml" Requires="v">
                <p:oleObj spid="_x0000_s3089" name="Visio" r:id="rId4" imgW="3857498" imgH="6772410" progId="Visio.Drawing.15">
                  <p:embed/>
                </p:oleObj>
              </mc:Choice>
              <mc:Fallback>
                <p:oleObj name="Visio" r:id="rId4" imgW="3857498" imgH="6772410" progId="Visio.Drawing.15">
                  <p:embed/>
                  <p:pic>
                    <p:nvPicPr>
                      <p:cNvPr id="9" name="对象 8">
                        <a:extLst>
                          <a:ext uri="{FF2B5EF4-FFF2-40B4-BE49-F238E27FC236}">
                            <a16:creationId xmlns:a16="http://schemas.microsoft.com/office/drawing/2014/main" id="{1241A60B-B993-4734-875E-C302358730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9385" y="1153401"/>
                        <a:ext cx="2924175" cy="512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a:extLst>
              <a:ext uri="{FF2B5EF4-FFF2-40B4-BE49-F238E27FC236}">
                <a16:creationId xmlns:a16="http://schemas.microsoft.com/office/drawing/2014/main" id="{A8C837C9-DBB6-4C47-8A40-A15274B9C9B0}"/>
              </a:ext>
            </a:extLst>
          </p:cNvPr>
          <p:cNvSpPr/>
          <p:nvPr/>
        </p:nvSpPr>
        <p:spPr>
          <a:xfrm>
            <a:off x="7497395" y="6225118"/>
            <a:ext cx="1415772"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归一化流程图</a:t>
            </a:r>
          </a:p>
        </p:txBody>
      </p:sp>
      <p:sp>
        <p:nvSpPr>
          <p:cNvPr id="2" name="标题 1"/>
          <p:cNvSpPr>
            <a:spLocks noGrp="1"/>
          </p:cNvSpPr>
          <p:nvPr>
            <p:ph type="title"/>
          </p:nvPr>
        </p:nvSpPr>
        <p:spPr/>
        <p:txBody>
          <a:bodyPr/>
          <a:lstStyle/>
          <a:p>
            <a:r>
              <a:rPr lang="zh-CN" altLang="en-US" dirty="0"/>
              <a:t>归一化流程</a:t>
            </a:r>
          </a:p>
        </p:txBody>
      </p:sp>
    </p:spTree>
    <p:extLst>
      <p:ext uri="{BB962C8B-B14F-4D97-AF65-F5344CB8AC3E}">
        <p14:creationId xmlns:p14="http://schemas.microsoft.com/office/powerpoint/2010/main" val="1638648502"/>
      </p:ext>
    </p:extLst>
  </p:cSld>
  <p:clrMapOvr>
    <a:masterClrMapping/>
  </p:clrMapOvr>
  <p:transition spd="slow">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84663" y="1381642"/>
            <a:ext cx="9496697"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）技术：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针对日志的归一化预处理，当前主要采用可扩展标识语言（</a:t>
            </a:r>
            <a:r>
              <a:rPr lang="en-US" altLang="zh-CN" sz="1600" spc="100" dirty="0">
                <a:latin typeface="微软雅黑" panose="020B0503020204020204" pitchFamily="34" charset="-122"/>
                <a:ea typeface="微软雅黑" panose="020B0503020204020204" pitchFamily="34" charset="-122"/>
              </a:rPr>
              <a:t>Extensive Markup Language</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）规则对原始日志进行重新构造，产生新的</a:t>
            </a: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格式日志，进一步转化为二进制的</a:t>
            </a: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格式日志</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）优点：</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提高审计效率</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减少日志的存储容量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表达方式简单、易读</a:t>
            </a:r>
          </a:p>
        </p:txBody>
      </p:sp>
      <p:sp>
        <p:nvSpPr>
          <p:cNvPr id="3" name="标题 2"/>
          <p:cNvSpPr>
            <a:spLocks noGrp="1"/>
          </p:cNvSpPr>
          <p:nvPr>
            <p:ph type="title"/>
          </p:nvPr>
        </p:nvSpPr>
        <p:spPr/>
        <p:txBody>
          <a:bodyPr/>
          <a:lstStyle/>
          <a:p>
            <a:r>
              <a:rPr lang="zh-CN" altLang="en-US" dirty="0"/>
              <a:t>日志归一化处理技术</a:t>
            </a:r>
          </a:p>
        </p:txBody>
      </p:sp>
    </p:spTree>
    <p:extLst>
      <p:ext uri="{BB962C8B-B14F-4D97-AF65-F5344CB8AC3E}">
        <p14:creationId xmlns:p14="http://schemas.microsoft.com/office/powerpoint/2010/main" val="24657428"/>
      </p:ext>
    </p:extLst>
  </p:cSld>
  <p:clrMapOvr>
    <a:masterClrMapping/>
  </p:clrMapOvr>
  <p:transition spd="slow">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80160" y="1172613"/>
            <a:ext cx="958813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）概念：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是一种新的</a:t>
            </a:r>
            <a:r>
              <a:rPr lang="en-US" altLang="zh-CN" sz="1600" spc="100" dirty="0">
                <a:latin typeface="微软雅黑" panose="020B0503020204020204" pitchFamily="34" charset="-122"/>
                <a:ea typeface="微软雅黑" panose="020B0503020204020204" pitchFamily="34" charset="-122"/>
              </a:rPr>
              <a:t>Internet</a:t>
            </a:r>
            <a:r>
              <a:rPr lang="zh-CN" altLang="en-US" sz="1600" spc="100" dirty="0">
                <a:latin typeface="微软雅黑" panose="020B0503020204020204" pitchFamily="34" charset="-122"/>
                <a:ea typeface="微软雅黑" panose="020B0503020204020204" pitchFamily="34" charset="-122"/>
              </a:rPr>
              <a:t>异构环境中的数据交换标准，与使用</a:t>
            </a:r>
            <a:r>
              <a:rPr lang="en-US" altLang="zh-CN" sz="1600" spc="100" dirty="0">
                <a:latin typeface="微软雅黑" panose="020B0503020204020204" pitchFamily="34" charset="-122"/>
                <a:ea typeface="微软雅黑" panose="020B0503020204020204" pitchFamily="34" charset="-122"/>
              </a:rPr>
              <a:t>HTML</a:t>
            </a:r>
            <a:r>
              <a:rPr lang="zh-CN" altLang="en-US" sz="1600" spc="100" dirty="0">
                <a:latin typeface="微软雅黑" panose="020B0503020204020204" pitchFamily="34" charset="-122"/>
                <a:ea typeface="微软雅黑" panose="020B0503020204020204" pitchFamily="34" charset="-122"/>
              </a:rPr>
              <a:t>标签来描述外观和数据不同。</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XML</a:t>
            </a:r>
            <a:r>
              <a:rPr lang="zh-CN" altLang="en-US" sz="1600" spc="100" dirty="0">
                <a:latin typeface="微软雅黑" panose="020B0503020204020204" pitchFamily="34" charset="-122"/>
                <a:ea typeface="微软雅黑" panose="020B0503020204020204" pitchFamily="34" charset="-122"/>
              </a:rPr>
              <a:t>严格的定义可移植的结构化数据，其应用范围从最早的</a:t>
            </a:r>
            <a:r>
              <a:rPr lang="en-US" altLang="zh-CN" sz="1600" spc="100" dirty="0">
                <a:latin typeface="微软雅黑" panose="020B0503020204020204" pitchFamily="34" charset="-122"/>
                <a:ea typeface="微软雅黑" panose="020B0503020204020204" pitchFamily="34" charset="-122"/>
              </a:rPr>
              <a:t>WEB</a:t>
            </a:r>
            <a:r>
              <a:rPr lang="zh-CN" altLang="en-US" sz="1600" spc="100" dirty="0">
                <a:latin typeface="微软雅黑" panose="020B0503020204020204" pitchFamily="34" charset="-122"/>
                <a:ea typeface="微软雅黑" panose="020B0503020204020204" pitchFamily="34" charset="-122"/>
              </a:rPr>
              <a:t>信息描述，到现在成为开放环境下描述数据的开放标准，具有自描述性、可扩展性、层次性、异构系统间的信息互通性等特征。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三要素：</a:t>
            </a:r>
            <a:r>
              <a:rPr lang="en-US" altLang="zh-CN" sz="1600" spc="100" dirty="0">
                <a:latin typeface="微软雅黑" panose="020B0503020204020204" pitchFamily="34" charset="-122"/>
                <a:ea typeface="微软雅黑" panose="020B0503020204020204" pitchFamily="34" charset="-122"/>
              </a:rPr>
              <a:t>DTD(</a:t>
            </a:r>
            <a:r>
              <a:rPr lang="en-US" altLang="zh-CN" sz="1600" spc="100" dirty="0" err="1">
                <a:latin typeface="微软雅黑" panose="020B0503020204020204" pitchFamily="34" charset="-122"/>
                <a:ea typeface="微软雅黑" panose="020B0503020204020204" pitchFamily="34" charset="-122"/>
              </a:rPr>
              <a:t>XMLSehema</a:t>
            </a:r>
            <a:r>
              <a:rPr lang="en-US" altLang="zh-CN"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XSL</a:t>
            </a:r>
            <a:r>
              <a:rPr lang="zh-CN" altLang="zh-CN" sz="1600" spc="100" dirty="0">
                <a:latin typeface="微软雅黑" panose="020B0503020204020204" pitchFamily="34" charset="-122"/>
                <a:ea typeface="微软雅黑" panose="020B0503020204020204" pitchFamily="34" charset="-122"/>
              </a:rPr>
              <a:t>和</a:t>
            </a:r>
            <a:r>
              <a:rPr lang="en-US" altLang="zh-CN" sz="1600" spc="100" dirty="0" err="1">
                <a:latin typeface="微软雅黑" panose="020B0503020204020204" pitchFamily="34" charset="-122"/>
                <a:ea typeface="微软雅黑" panose="020B0503020204020204" pitchFamily="34" charset="-122"/>
              </a:rPr>
              <a:t>Xlink</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XML</a:t>
            </a:r>
            <a:endParaRPr lang="zh-CN" altLang="en-US" dirty="0"/>
          </a:p>
        </p:txBody>
      </p:sp>
    </p:spTree>
    <p:extLst>
      <p:ext uri="{BB962C8B-B14F-4D97-AF65-F5344CB8AC3E}">
        <p14:creationId xmlns:p14="http://schemas.microsoft.com/office/powerpoint/2010/main" val="3901341075"/>
      </p:ext>
    </p:extLst>
  </p:cSld>
  <p:clrMapOvr>
    <a:masterClrMapping/>
  </p:clrMapOvr>
  <p:transition spd="slow">
    <p:blinds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2664756" y="1876310"/>
            <a:ext cx="286397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的基本格式如下：</a:t>
            </a: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&lt;record&gt;</a:t>
            </a:r>
            <a:endParaRPr lang="zh-CN"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&lt;field…/&gt; […n]</a:t>
            </a:r>
            <a:endParaRPr lang="zh-CN"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&lt;/record&gt;</a:t>
            </a:r>
            <a:endParaRPr lang="zh-CN" altLang="zh-CN" sz="1600" spc="100" dirty="0">
              <a:latin typeface="微软雅黑" panose="020B0503020204020204" pitchFamily="34" charset="-122"/>
              <a:ea typeface="微软雅黑" panose="020B0503020204020204" pitchFamily="34" charset="-122"/>
            </a:endParaRPr>
          </a:p>
        </p:txBody>
      </p:sp>
      <p:sp>
        <p:nvSpPr>
          <p:cNvPr id="2" name="矩形 1"/>
          <p:cNvSpPr/>
          <p:nvPr/>
        </p:nvSpPr>
        <p:spPr>
          <a:xfrm>
            <a:off x="5715001" y="1317186"/>
            <a:ext cx="399626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每个</a:t>
            </a:r>
            <a:r>
              <a:rPr lang="en-US" altLang="zh-CN" sz="1600" spc="100" dirty="0">
                <a:latin typeface="微软雅黑" panose="020B0503020204020204" pitchFamily="34" charset="-122"/>
                <a:ea typeface="微软雅黑" panose="020B0503020204020204" pitchFamily="34" charset="-122"/>
              </a:rPr>
              <a:t>&lt;field&gt;</a:t>
            </a:r>
            <a:r>
              <a:rPr lang="zh-CN" altLang="zh-CN" sz="1600" spc="100" dirty="0">
                <a:latin typeface="微软雅黑" panose="020B0503020204020204" pitchFamily="34" charset="-122"/>
                <a:ea typeface="微软雅黑" panose="020B0503020204020204" pitchFamily="34" charset="-122"/>
              </a:rPr>
              <a:t>元素说明特定数据字段的内容。一个字段只能映射到表中的一列，并不是所有字段都需要映射到列。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数据文件中字段的长度可以是固定或可变的，也可以由字符结尾。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“字段值”可以表示为字符（使用单字节表示形式）、宽字符（使用</a:t>
            </a:r>
            <a:r>
              <a:rPr lang="en-US" altLang="zh-CN" sz="1600" spc="100" dirty="0">
                <a:latin typeface="微软雅黑" panose="020B0503020204020204" pitchFamily="34" charset="-122"/>
                <a:ea typeface="微软雅黑" panose="020B0503020204020204" pitchFamily="34" charset="-122"/>
              </a:rPr>
              <a:t>Unicode</a:t>
            </a:r>
            <a:r>
              <a:rPr lang="zh-CN" altLang="zh-CN" sz="1600" spc="100" dirty="0">
                <a:latin typeface="微软雅黑" panose="020B0503020204020204" pitchFamily="34" charset="-122"/>
                <a:ea typeface="微软雅黑" panose="020B0503020204020204" pitchFamily="34" charset="-122"/>
              </a:rPr>
              <a:t>双字节表示形式）、本机数据库格式或文件名。</a:t>
            </a:r>
          </a:p>
        </p:txBody>
      </p:sp>
      <p:sp>
        <p:nvSpPr>
          <p:cNvPr id="3" name="标题 2"/>
          <p:cNvSpPr>
            <a:spLocks noGrp="1"/>
          </p:cNvSpPr>
          <p:nvPr>
            <p:ph type="title"/>
          </p:nvPr>
        </p:nvSpPr>
        <p:spPr/>
        <p:txBody>
          <a:bodyPr/>
          <a:lstStyle/>
          <a:p>
            <a:r>
              <a:rPr lang="en-US" altLang="zh-CN" dirty="0"/>
              <a:t>XML </a:t>
            </a:r>
            <a:r>
              <a:rPr lang="zh-CN" altLang="en-US" dirty="0"/>
              <a:t>基本格式</a:t>
            </a:r>
          </a:p>
        </p:txBody>
      </p:sp>
    </p:spTree>
    <p:extLst>
      <p:ext uri="{BB962C8B-B14F-4D97-AF65-F5344CB8AC3E}">
        <p14:creationId xmlns:p14="http://schemas.microsoft.com/office/powerpoint/2010/main" val="586119193"/>
      </p:ext>
    </p:extLst>
  </p:cSld>
  <p:clrMapOvr>
    <a:masterClrMapping/>
  </p:clrMapOvr>
  <p:transition spd="slow">
    <p:blinds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175657" y="1207480"/>
            <a:ext cx="9575074"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）样式表（</a:t>
            </a:r>
            <a:r>
              <a:rPr lang="en-US" altLang="zh-CN" sz="1600" spc="100" dirty="0" err="1">
                <a:latin typeface="微软雅黑" panose="020B0503020204020204" pitchFamily="34" charset="-122"/>
                <a:ea typeface="微软雅黑" panose="020B0503020204020204" pitchFamily="34" charset="-122"/>
              </a:rPr>
              <a:t>eXtensible</a:t>
            </a:r>
            <a:r>
              <a:rPr lang="en-US" altLang="zh-CN" sz="1600" spc="100" dirty="0">
                <a:latin typeface="微软雅黑" panose="020B0503020204020204" pitchFamily="34" charset="-122"/>
                <a:ea typeface="微软雅黑" panose="020B0503020204020204" pitchFamily="34" charset="-122"/>
              </a:rPr>
              <a:t> Stylesheet </a:t>
            </a:r>
            <a:r>
              <a:rPr lang="en-US" altLang="zh-CN" sz="1600" spc="100" dirty="0" err="1">
                <a:latin typeface="微软雅黑" panose="020B0503020204020204" pitchFamily="34" charset="-122"/>
                <a:ea typeface="微软雅黑" panose="020B0503020204020204" pitchFamily="34" charset="-122"/>
              </a:rPr>
              <a:t>Languge</a:t>
            </a: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XSL</a:t>
            </a:r>
            <a:r>
              <a:rPr lang="zh-CN" altLang="en-US" sz="1600" spc="100" dirty="0">
                <a:latin typeface="微软雅黑" panose="020B0503020204020204" pitchFamily="34" charset="-122"/>
                <a:ea typeface="微软雅黑" panose="020B0503020204020204" pitchFamily="34" charset="-122"/>
              </a:rPr>
              <a:t>）：描述</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的元数据文件格式的语言。</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 样式表转换（</a:t>
            </a:r>
            <a:r>
              <a:rPr lang="en-US" altLang="zh-CN" sz="1600" spc="100" dirty="0" err="1">
                <a:latin typeface="微软雅黑" panose="020B0503020204020204" pitchFamily="34" charset="-122"/>
                <a:ea typeface="微软雅黑" panose="020B0503020204020204" pitchFamily="34" charset="-122"/>
              </a:rPr>
              <a:t>eXtensible</a:t>
            </a:r>
            <a:r>
              <a:rPr lang="en-US" altLang="zh-CN" sz="1600" spc="100" dirty="0">
                <a:latin typeface="微软雅黑" panose="020B0503020204020204" pitchFamily="34" charset="-122"/>
                <a:ea typeface="微软雅黑" panose="020B0503020204020204" pitchFamily="34" charset="-122"/>
              </a:rPr>
              <a:t> Stylesheet </a:t>
            </a:r>
            <a:r>
              <a:rPr lang="en-US" altLang="zh-CN" sz="1600" spc="100" dirty="0" err="1">
                <a:latin typeface="微软雅黑" panose="020B0503020204020204" pitchFamily="34" charset="-122"/>
                <a:ea typeface="微软雅黑" panose="020B0503020204020204" pitchFamily="34" charset="-122"/>
              </a:rPr>
              <a:t>Languge</a:t>
            </a:r>
            <a:r>
              <a:rPr lang="en-US" altLang="zh-CN" sz="1600" spc="100" dirty="0">
                <a:latin typeface="微软雅黑" panose="020B0503020204020204" pitchFamily="34" charset="-122"/>
                <a:ea typeface="微软雅黑" panose="020B0503020204020204" pitchFamily="34" charset="-122"/>
              </a:rPr>
              <a:t> </a:t>
            </a:r>
            <a:r>
              <a:rPr lang="en-US" altLang="zh-CN" sz="1600" spc="100" dirty="0" err="1">
                <a:latin typeface="微软雅黑" panose="020B0503020204020204" pitchFamily="34" charset="-122"/>
                <a:ea typeface="微软雅黑" panose="020B0503020204020204" pitchFamily="34" charset="-122"/>
              </a:rPr>
              <a:t>Tramsformation</a:t>
            </a: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XSLT</a:t>
            </a:r>
            <a:r>
              <a:rPr lang="zh-CN" altLang="en-US" sz="1600" spc="100" dirty="0">
                <a:latin typeface="微软雅黑" panose="020B0503020204020204" pitchFamily="34" charset="-122"/>
                <a:ea typeface="微软雅黑" panose="020B0503020204020204" pitchFamily="34" charset="-122"/>
              </a:rPr>
              <a:t>）：负责将</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的源代码转换为另一种格式。</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 文档类型定义（</a:t>
            </a:r>
            <a:r>
              <a:rPr lang="en-US" altLang="zh-CN" sz="1600" spc="100" dirty="0">
                <a:latin typeface="微软雅黑" panose="020B0503020204020204" pitchFamily="34" charset="-122"/>
                <a:ea typeface="微软雅黑" panose="020B0503020204020204" pitchFamily="34" charset="-122"/>
              </a:rPr>
              <a:t>Document Type Definition</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DTD</a:t>
            </a:r>
            <a:r>
              <a:rPr lang="zh-CN" altLang="en-US" sz="1600" spc="100" dirty="0">
                <a:latin typeface="微软雅黑" panose="020B0503020204020204" pitchFamily="34" charset="-122"/>
                <a:ea typeface="微软雅黑" panose="020B0503020204020204" pitchFamily="34" charset="-122"/>
              </a:rPr>
              <a:t>）：对</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文件进行格式上的定义和规范，用</a:t>
            </a:r>
            <a:r>
              <a:rPr lang="en-US" altLang="zh-CN" sz="1600" spc="100" dirty="0">
                <a:latin typeface="微软雅黑" panose="020B0503020204020204" pitchFamily="34" charset="-122"/>
                <a:ea typeface="微软雅黑" panose="020B0503020204020204" pitchFamily="34" charset="-122"/>
              </a:rPr>
              <a:t>DTD</a:t>
            </a:r>
            <a:r>
              <a:rPr lang="zh-CN" altLang="en-US" sz="1600" spc="100" dirty="0">
                <a:latin typeface="微软雅黑" panose="020B0503020204020204" pitchFamily="34" charset="-122"/>
                <a:ea typeface="微软雅黑" panose="020B0503020204020204" pitchFamily="34" charset="-122"/>
              </a:rPr>
              <a:t>来确定为正确的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文档称为有效</a:t>
            </a:r>
            <a:r>
              <a:rPr lang="en-US" altLang="zh-CN" sz="1600" spc="100" dirty="0">
                <a:latin typeface="微软雅黑" panose="020B0503020204020204" pitchFamily="34" charset="-122"/>
                <a:ea typeface="微软雅黑" panose="020B0503020204020204" pitchFamily="34" charset="-122"/>
              </a:rPr>
              <a:t>XML </a:t>
            </a:r>
            <a:r>
              <a:rPr lang="zh-CN" altLang="en-US" sz="1600" spc="100" dirty="0">
                <a:latin typeface="微软雅黑" panose="020B0503020204020204" pitchFamily="34" charset="-122"/>
                <a:ea typeface="微软雅黑" panose="020B0503020204020204" pitchFamily="34" charset="-122"/>
              </a:rPr>
              <a:t>。</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组织结构（</a:t>
            </a:r>
            <a:r>
              <a:rPr lang="en-US" altLang="zh-CN" sz="1600" spc="100" dirty="0" err="1">
                <a:latin typeface="微软雅黑" panose="020B0503020204020204" pitchFamily="34" charset="-122"/>
                <a:ea typeface="微软雅黑" panose="020B0503020204020204" pitchFamily="34" charset="-122"/>
              </a:rPr>
              <a:t>XMLSchema</a:t>
            </a:r>
            <a:r>
              <a:rPr lang="zh-CN" altLang="en-US" sz="1600" spc="100" dirty="0">
                <a:latin typeface="微软雅黑" panose="020B0503020204020204" pitchFamily="34" charset="-122"/>
                <a:ea typeface="微软雅黑" panose="020B0503020204020204" pitchFamily="34" charset="-122"/>
              </a:rPr>
              <a:t>）：也是一种用来规范</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文档的一种组织结构，与</a:t>
            </a:r>
            <a:r>
              <a:rPr lang="en-US" altLang="zh-CN" sz="1600" spc="100" dirty="0">
                <a:latin typeface="微软雅黑" panose="020B0503020204020204" pitchFamily="34" charset="-122"/>
                <a:ea typeface="微软雅黑" panose="020B0503020204020204" pitchFamily="34" charset="-122"/>
              </a:rPr>
              <a:t>DTD</a:t>
            </a:r>
            <a:r>
              <a:rPr lang="zh-CN" altLang="en-US" sz="1600" spc="100" dirty="0">
                <a:latin typeface="微软雅黑" panose="020B0503020204020204" pitchFamily="34" charset="-122"/>
                <a:ea typeface="微软雅黑" panose="020B0503020204020204" pitchFamily="34" charset="-122"/>
              </a:rPr>
              <a:t>具有异曲同工的作用，由于有其自身的优越性，有取代</a:t>
            </a:r>
            <a:r>
              <a:rPr lang="en-US" altLang="zh-CN" sz="1600" spc="100" dirty="0">
                <a:latin typeface="微软雅黑" panose="020B0503020204020204" pitchFamily="34" charset="-122"/>
                <a:ea typeface="微软雅黑" panose="020B0503020204020204" pitchFamily="34" charset="-122"/>
              </a:rPr>
              <a:t>DTD</a:t>
            </a:r>
            <a:r>
              <a:rPr lang="zh-CN" altLang="en-US" sz="1600" spc="100" dirty="0">
                <a:latin typeface="微软雅黑" panose="020B0503020204020204" pitchFamily="34" charset="-122"/>
                <a:ea typeface="微软雅黑" panose="020B0503020204020204" pitchFamily="34" charset="-122"/>
              </a:rPr>
              <a:t>的趋势。</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Xlink</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中的链接语言。</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）文档对象模型（</a:t>
            </a:r>
            <a:r>
              <a:rPr lang="en-US" altLang="zh-CN" sz="1600" spc="100" dirty="0">
                <a:latin typeface="微软雅黑" panose="020B0503020204020204" pitchFamily="34" charset="-122"/>
                <a:ea typeface="微软雅黑" panose="020B0503020204020204" pitchFamily="34" charset="-122"/>
              </a:rPr>
              <a:t>Document object Model</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DOM</a:t>
            </a:r>
            <a:r>
              <a:rPr lang="zh-CN" altLang="en-US" sz="1600" spc="100" dirty="0">
                <a:latin typeface="微软雅黑" panose="020B0503020204020204" pitchFamily="34" charset="-122"/>
                <a:ea typeface="微软雅黑" panose="020B0503020204020204" pitchFamily="34" charset="-122"/>
              </a:rPr>
              <a:t>）：在应用程序中，基于</a:t>
            </a:r>
            <a:r>
              <a:rPr lang="en-US" altLang="zh-CN" sz="1600" spc="100" dirty="0">
                <a:latin typeface="微软雅黑" panose="020B0503020204020204" pitchFamily="34" charset="-122"/>
                <a:ea typeface="微软雅黑" panose="020B0503020204020204" pitchFamily="34" charset="-122"/>
              </a:rPr>
              <a:t>DOM</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分析器将一个</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文档转换成一个对象模型的集合（通常称</a:t>
            </a:r>
            <a:r>
              <a:rPr lang="en-US" altLang="zh-CN" sz="1600" spc="100" dirty="0">
                <a:latin typeface="微软雅黑" panose="020B0503020204020204" pitchFamily="34" charset="-122"/>
                <a:ea typeface="微软雅黑" panose="020B0503020204020204" pitchFamily="34" charset="-122"/>
              </a:rPr>
              <a:t>DOM</a:t>
            </a:r>
            <a:r>
              <a:rPr lang="zh-CN" altLang="en-US" sz="1600" spc="100" dirty="0">
                <a:latin typeface="微软雅黑" panose="020B0503020204020204" pitchFamily="34" charset="-122"/>
                <a:ea typeface="微软雅黑" panose="020B0503020204020204" pitchFamily="34" charset="-122"/>
              </a:rPr>
              <a:t>树）。</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7</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SAX</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Simple APIs for XML</a:t>
            </a: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简单应用程序接口。</a:t>
            </a:r>
          </a:p>
        </p:txBody>
      </p:sp>
      <p:sp>
        <p:nvSpPr>
          <p:cNvPr id="2" name="标题 1"/>
          <p:cNvSpPr>
            <a:spLocks noGrp="1"/>
          </p:cNvSpPr>
          <p:nvPr>
            <p:ph type="title"/>
          </p:nvPr>
        </p:nvSpPr>
        <p:spPr/>
        <p:txBody>
          <a:bodyPr/>
          <a:lstStyle/>
          <a:p>
            <a:r>
              <a:rPr lang="en-US" altLang="zh-CN" dirty="0"/>
              <a:t>XML</a:t>
            </a:r>
            <a:r>
              <a:rPr lang="zh-CN" altLang="en-US" dirty="0"/>
              <a:t>的重要术语</a:t>
            </a:r>
          </a:p>
        </p:txBody>
      </p:sp>
    </p:spTree>
    <p:extLst>
      <p:ext uri="{BB962C8B-B14F-4D97-AF65-F5344CB8AC3E}">
        <p14:creationId xmlns:p14="http://schemas.microsoft.com/office/powerpoint/2010/main" val="2163157248"/>
      </p:ext>
    </p:extLst>
  </p:cSld>
  <p:clrMapOvr>
    <a:masterClrMapping/>
  </p:clrMapOvr>
  <p:transition spd="slow">
    <p:blinds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580605" y="1417593"/>
            <a:ext cx="91048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符合</a:t>
            </a:r>
            <a:r>
              <a:rPr lang="en-US" altLang="zh-CN" sz="1600" spc="100" dirty="0">
                <a:latin typeface="微软雅黑" panose="020B0503020204020204" pitchFamily="34" charset="-122"/>
                <a:ea typeface="微软雅黑" panose="020B0503020204020204" pitchFamily="34" charset="-122"/>
              </a:rPr>
              <a:t>XML</a:t>
            </a:r>
            <a:r>
              <a:rPr lang="zh-CN" altLang="zh-CN" sz="1600" spc="100" dirty="0">
                <a:latin typeface="微软雅黑" panose="020B0503020204020204" pitchFamily="34" charset="-122"/>
                <a:ea typeface="微软雅黑" panose="020B0503020204020204" pitchFamily="34" charset="-122"/>
              </a:rPr>
              <a:t>语法限制</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well-formed XML</a:t>
            </a:r>
            <a:r>
              <a:rPr lang="zh-CN" altLang="en-US" sz="1600" spc="100" dirty="0">
                <a:latin typeface="微软雅黑" panose="020B0503020204020204" pitchFamily="34" charset="-122"/>
                <a:ea typeface="微软雅黑" panose="020B0503020204020204" pitchFamily="34" charset="-122"/>
              </a:rPr>
              <a:t>）：容易验证。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根据应用为其定义语义上的限制</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validating XML</a:t>
            </a:r>
            <a:r>
              <a:rPr lang="zh-CN" altLang="en-US" sz="1600" spc="100" dirty="0">
                <a:latin typeface="微软雅黑" panose="020B0503020204020204" pitchFamily="34" charset="-122"/>
                <a:ea typeface="微软雅黑" panose="020B0503020204020204" pitchFamily="34" charset="-122"/>
              </a:rPr>
              <a:t>）：需要另一个关联的文档来定义</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标记规范。</a:t>
            </a:r>
          </a:p>
        </p:txBody>
      </p:sp>
      <p:sp>
        <p:nvSpPr>
          <p:cNvPr id="2" name="标题 1"/>
          <p:cNvSpPr>
            <a:spLocks noGrp="1"/>
          </p:cNvSpPr>
          <p:nvPr>
            <p:ph type="title"/>
          </p:nvPr>
        </p:nvSpPr>
        <p:spPr/>
        <p:txBody>
          <a:bodyPr/>
          <a:lstStyle/>
          <a:p>
            <a:r>
              <a:rPr lang="en-US" altLang="zh-CN" dirty="0"/>
              <a:t>XML</a:t>
            </a:r>
            <a:r>
              <a:rPr lang="zh-CN" altLang="en-US" dirty="0"/>
              <a:t>的文档规范</a:t>
            </a:r>
          </a:p>
        </p:txBody>
      </p:sp>
    </p:spTree>
    <p:extLst>
      <p:ext uri="{BB962C8B-B14F-4D97-AF65-F5344CB8AC3E}">
        <p14:creationId xmlns:p14="http://schemas.microsoft.com/office/powerpoint/2010/main" val="3734330601"/>
      </p:ext>
    </p:extLst>
  </p:cSld>
  <p:clrMapOvr>
    <a:masterClrMapping/>
  </p:clrMapOvr>
  <p:transition spd="slow">
    <p:blinds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CE5620A-1867-496C-B4DF-B998CB7039CA}"/>
              </a:ext>
            </a:extLst>
          </p:cNvPr>
          <p:cNvSpPr/>
          <p:nvPr/>
        </p:nvSpPr>
        <p:spPr>
          <a:xfrm>
            <a:off x="1598031" y="1286514"/>
            <a:ext cx="904819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XML DTD</a:t>
            </a:r>
            <a:r>
              <a:rPr lang="zh-CN" altLang="en-US" sz="1600" spc="100" dirty="0">
                <a:latin typeface="微软雅黑" panose="020B0503020204020204" pitchFamily="34" charset="-122"/>
                <a:ea typeface="微软雅黑" panose="020B0503020204020204" pitchFamily="34" charset="-122"/>
              </a:rPr>
              <a:t>是近几年来</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技术领域所使用的最广泛的一种模式，但是由于</a:t>
            </a:r>
            <a:r>
              <a:rPr lang="en-US" altLang="zh-CN" sz="1600" spc="100" dirty="0">
                <a:latin typeface="微软雅黑" panose="020B0503020204020204" pitchFamily="34" charset="-122"/>
                <a:ea typeface="微软雅黑" panose="020B0503020204020204" pitchFamily="34" charset="-122"/>
              </a:rPr>
              <a:t>XML DTD</a:t>
            </a:r>
            <a:r>
              <a:rPr lang="zh-CN" altLang="en-US" sz="1600" spc="100" dirty="0">
                <a:latin typeface="微软雅黑" panose="020B0503020204020204" pitchFamily="34" charset="-122"/>
                <a:ea typeface="微软雅黑" panose="020B0503020204020204" pitchFamily="34" charset="-122"/>
              </a:rPr>
              <a:t>并不能完全满足</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自动化处理的要求。具体：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）不能很好实现应用程序不同模块间的相互协调。</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）缺乏对文档结构、属性、数据类型等约束的足够描述。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XML DTD</a:t>
            </a:r>
            <a:endParaRPr lang="zh-CN" altLang="en-US" dirty="0"/>
          </a:p>
        </p:txBody>
      </p:sp>
    </p:spTree>
    <p:extLst>
      <p:ext uri="{BB962C8B-B14F-4D97-AF65-F5344CB8AC3E}">
        <p14:creationId xmlns:p14="http://schemas.microsoft.com/office/powerpoint/2010/main" val="3347253960"/>
      </p:ext>
    </p:extLst>
  </p:cSld>
  <p:clrMapOvr>
    <a:masterClrMapping/>
  </p:clrMapOvr>
  <p:transition spd="slow">
    <p:blinds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27909" y="1015155"/>
            <a:ext cx="9601200"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用户在使用</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的时候，不需要为了理解</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而重新学习，节省了时间。</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）由于</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本身也是一种</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，所以许多的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编辑工具、</a:t>
            </a:r>
            <a:r>
              <a:rPr lang="en-US" altLang="zh-CN" sz="1600" spc="100" dirty="0">
                <a:latin typeface="微软雅黑" panose="020B0503020204020204" pitchFamily="34" charset="-122"/>
                <a:ea typeface="微软雅黑" panose="020B0503020204020204" pitchFamily="34" charset="-122"/>
              </a:rPr>
              <a:t>API</a:t>
            </a:r>
            <a:r>
              <a:rPr lang="zh-CN" altLang="en-US" sz="1600" spc="100" dirty="0">
                <a:latin typeface="微软雅黑" panose="020B0503020204020204" pitchFamily="34" charset="-122"/>
                <a:ea typeface="微软雅黑" panose="020B0503020204020204" pitchFamily="34" charset="-122"/>
              </a:rPr>
              <a:t>开发包、</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语法分析器可以直接的应用到</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，而不需要修改。</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）作为</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的一个应用，</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理所当然的继承了</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的自描述性和可扩展性，这使得</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更具有可读性和灵活性。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）由于格式完全与</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一样，</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除了可以像</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一样处理外，也可以同它所描述的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文档以同样的方式存储在一起，方便管理。</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与</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格式的一致性，使得以</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为数据交换的应用系统之间，也可以方便的进行模式交换。</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有非常高的合法性要求，</a:t>
            </a:r>
            <a:r>
              <a:rPr lang="en-US" altLang="zh-CN" sz="1600" spc="100" dirty="0">
                <a:latin typeface="微软雅黑" panose="020B0503020204020204" pitchFamily="34" charset="-122"/>
                <a:ea typeface="微软雅黑" panose="020B0503020204020204" pitchFamily="34" charset="-122"/>
              </a:rPr>
              <a:t>XML DTD</a:t>
            </a:r>
            <a:r>
              <a:rPr lang="zh-CN" altLang="en-US" sz="1600" spc="100" dirty="0">
                <a:latin typeface="微软雅黑" panose="020B0503020204020204" pitchFamily="34" charset="-122"/>
                <a:ea typeface="微软雅黑" panose="020B0503020204020204" pitchFamily="34" charset="-122"/>
              </a:rPr>
              <a:t>对</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的描述，往往也被用作验证</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合法性的一个基础，但是</a:t>
            </a:r>
            <a:r>
              <a:rPr lang="en-US" altLang="zh-CN" sz="1600" spc="100" dirty="0">
                <a:latin typeface="微软雅黑" panose="020B0503020204020204" pitchFamily="34" charset="-122"/>
                <a:ea typeface="微软雅黑" panose="020B0503020204020204" pitchFamily="34" charset="-122"/>
              </a:rPr>
              <a:t>XML DTD</a:t>
            </a:r>
            <a:r>
              <a:rPr lang="zh-CN" altLang="en-US" sz="1600" spc="100" dirty="0">
                <a:latin typeface="微软雅黑" panose="020B0503020204020204" pitchFamily="34" charset="-122"/>
                <a:ea typeface="微软雅黑" panose="020B0503020204020204" pitchFamily="34" charset="-122"/>
              </a:rPr>
              <a:t>本身的合法性却缺少较好的验证机制，必须独立处理。</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则不同，它与</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有着同样的合法性验证机制。</a:t>
            </a:r>
          </a:p>
        </p:txBody>
      </p:sp>
      <p:sp>
        <p:nvSpPr>
          <p:cNvPr id="2" name="标题 1"/>
          <p:cNvSpPr>
            <a:spLocks noGrp="1"/>
          </p:cNvSpPr>
          <p:nvPr>
            <p:ph type="title"/>
          </p:nvPr>
        </p:nvSpPr>
        <p:spPr/>
        <p:txBody>
          <a:bodyPr/>
          <a:lstStyle/>
          <a:p>
            <a:r>
              <a:rPr lang="en-US" altLang="zh-CN" dirty="0"/>
              <a:t>Schema</a:t>
            </a:r>
            <a:r>
              <a:rPr lang="zh-CN" altLang="en-US" dirty="0"/>
              <a:t>文档优点</a:t>
            </a:r>
          </a:p>
        </p:txBody>
      </p:sp>
    </p:spTree>
    <p:extLst>
      <p:ext uri="{BB962C8B-B14F-4D97-AF65-F5344CB8AC3E}">
        <p14:creationId xmlns:p14="http://schemas.microsoft.com/office/powerpoint/2010/main" val="1766950306"/>
      </p:ext>
    </p:extLst>
  </p:cSld>
  <p:clrMapOvr>
    <a:masterClrMapping/>
  </p:clrMapOvr>
  <p:transition spd="slow">
    <p:blinds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CE52E83F-FC99-4DA4-ABE7-97114A8E0B7D}"/>
              </a:ext>
            </a:extLst>
          </p:cNvPr>
          <p:cNvGraphicFramePr>
            <a:graphicFrameLocks noChangeAspect="1"/>
          </p:cNvGraphicFramePr>
          <p:nvPr/>
        </p:nvGraphicFramePr>
        <p:xfrm>
          <a:off x="6089556" y="1346007"/>
          <a:ext cx="3159181" cy="4641097"/>
        </p:xfrm>
        <a:graphic>
          <a:graphicData uri="http://schemas.openxmlformats.org/presentationml/2006/ole">
            <mc:AlternateContent xmlns:mc="http://schemas.openxmlformats.org/markup-compatibility/2006">
              <mc:Choice xmlns:v="urn:schemas-microsoft-com:vml" Requires="v">
                <p:oleObj spid="_x0000_s4113" name="Visio" r:id="rId4" imgW="4267290" imgH="6438960" progId="Visio.Drawing.15">
                  <p:embed/>
                </p:oleObj>
              </mc:Choice>
              <mc:Fallback>
                <p:oleObj name="Visio" r:id="rId4" imgW="4267290" imgH="6438960" progId="Visio.Drawing.15">
                  <p:embed/>
                  <p:pic>
                    <p:nvPicPr>
                      <p:cNvPr id="8" name="对象 7">
                        <a:extLst>
                          <a:ext uri="{FF2B5EF4-FFF2-40B4-BE49-F238E27FC236}">
                            <a16:creationId xmlns:a16="http://schemas.microsoft.com/office/drawing/2014/main" id="{CE52E83F-FC99-4DA4-ABE7-97114A8E0B7D}"/>
                          </a:ext>
                        </a:extLst>
                      </p:cNvPr>
                      <p:cNvPicPr>
                        <a:picLocks noChangeAspect="1" noChangeArrowheads="1"/>
                      </p:cNvPicPr>
                      <p:nvPr/>
                    </p:nvPicPr>
                    <p:blipFill>
                      <a:blip r:embed="rId5"/>
                      <a:srcRect/>
                      <a:stretch>
                        <a:fillRect/>
                      </a:stretch>
                    </p:blipFill>
                    <p:spPr bwMode="auto">
                      <a:xfrm>
                        <a:off x="6089556" y="1346007"/>
                        <a:ext cx="3159181" cy="4641097"/>
                      </a:xfrm>
                      <a:prstGeom prst="rect">
                        <a:avLst/>
                      </a:prstGeom>
                      <a:noFill/>
                    </p:spPr>
                  </p:pic>
                </p:oleObj>
              </mc:Fallback>
            </mc:AlternateContent>
          </a:graphicData>
        </a:graphic>
      </p:graphicFrame>
      <p:sp>
        <p:nvSpPr>
          <p:cNvPr id="3" name="矩形 2"/>
          <p:cNvSpPr/>
          <p:nvPr/>
        </p:nvSpPr>
        <p:spPr>
          <a:xfrm>
            <a:off x="1731633" y="1952106"/>
            <a:ext cx="310716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对多源异构日志数据转换分为设计模块和实现模块两部分</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设计模块实现对</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的设计；实现模块主要为数据转换具体的使用方法。</a:t>
            </a:r>
            <a:endParaRPr lang="en-US" altLang="zh-CN" sz="1600" spc="100"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A8C837C9-DBB6-4C47-8A40-A15274B9C9B0}"/>
              </a:ext>
            </a:extLst>
          </p:cNvPr>
          <p:cNvSpPr/>
          <p:nvPr/>
        </p:nvSpPr>
        <p:spPr>
          <a:xfrm>
            <a:off x="6673612" y="6250099"/>
            <a:ext cx="2852063"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多源异构日志数据转换流程图</a:t>
            </a:r>
          </a:p>
        </p:txBody>
      </p:sp>
      <p:sp>
        <p:nvSpPr>
          <p:cNvPr id="2" name="标题 1"/>
          <p:cNvSpPr>
            <a:spLocks noGrp="1"/>
          </p:cNvSpPr>
          <p:nvPr>
            <p:ph type="title"/>
          </p:nvPr>
        </p:nvSpPr>
        <p:spPr/>
        <p:txBody>
          <a:bodyPr/>
          <a:lstStyle/>
          <a:p>
            <a:r>
              <a:rPr lang="zh-CN" altLang="en-US" dirty="0"/>
              <a:t>多源异构日志数据转换流程</a:t>
            </a:r>
          </a:p>
        </p:txBody>
      </p:sp>
    </p:spTree>
    <p:extLst>
      <p:ext uri="{BB962C8B-B14F-4D97-AF65-F5344CB8AC3E}">
        <p14:creationId xmlns:p14="http://schemas.microsoft.com/office/powerpoint/2010/main" val="102592869"/>
      </p:ext>
    </p:extLst>
  </p:cSld>
  <p:clrMapOvr>
    <a:masterClrMapping/>
  </p:clrMapOvr>
  <p:transition spd="slow">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417804" y="1316192"/>
            <a:ext cx="9202299"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）数据转换设计模块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数据转换设计模块包括设计</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文档格式、生成</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文件、利用</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将</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中的元素生成</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类三个部分。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）数据转换实现模块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数据转换实现模块将</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转换出的</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类库文件导入</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中</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在</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环境下编程操作</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中的数据。</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多源异构日志数据转换模块说明</a:t>
            </a:r>
          </a:p>
        </p:txBody>
      </p:sp>
    </p:spTree>
    <p:extLst>
      <p:ext uri="{BB962C8B-B14F-4D97-AF65-F5344CB8AC3E}">
        <p14:creationId xmlns:p14="http://schemas.microsoft.com/office/powerpoint/2010/main" val="2662084059"/>
      </p:ext>
    </p:extLst>
  </p:cSld>
  <p:clrMapOvr>
    <a:masterClrMapping/>
  </p:clrMapOvr>
  <p:transition spd="slow">
    <p:blinds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01783" y="1471769"/>
            <a:ext cx="962732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）多源异构日志具有数据种类不一致、数据类型不统一的特点。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）对多源异构日志进行数据归并</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首先需要进行数据转换</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将多源异构日志数据转换成数据种类一致、数据类型统一的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）在设计</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文档格式时</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需要按照各个日志数据之间的逻辑关系分层次、按结构设计。</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设计</a:t>
            </a:r>
            <a:r>
              <a:rPr lang="en-US" altLang="zh-CN" dirty="0"/>
              <a:t>XML</a:t>
            </a:r>
            <a:r>
              <a:rPr lang="zh-CN" altLang="en-US" dirty="0"/>
              <a:t>文档格式</a:t>
            </a:r>
          </a:p>
        </p:txBody>
      </p:sp>
    </p:spTree>
    <p:extLst>
      <p:ext uri="{BB962C8B-B14F-4D97-AF65-F5344CB8AC3E}">
        <p14:creationId xmlns:p14="http://schemas.microsoft.com/office/powerpoint/2010/main" val="3711406607"/>
      </p:ext>
    </p:extLst>
  </p:cSld>
  <p:clrMapOvr>
    <a:masterClrMapping/>
  </p:clrMapOvr>
  <p:transition spd="slow">
    <p:blinds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80161" y="1364677"/>
            <a:ext cx="945750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）根据</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文档格式</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利用</a:t>
            </a:r>
            <a:r>
              <a:rPr lang="en-US" altLang="zh-CN" sz="1600" spc="100" dirty="0">
                <a:latin typeface="微软雅黑" panose="020B0503020204020204" pitchFamily="34" charset="-122"/>
                <a:ea typeface="微软雅黑" panose="020B0503020204020204" pitchFamily="34" charset="-122"/>
              </a:rPr>
              <a:t>XML Schema</a:t>
            </a:r>
            <a:r>
              <a:rPr lang="zh-CN" altLang="en-US" sz="1600" spc="100" dirty="0">
                <a:latin typeface="微软雅黑" panose="020B0503020204020204" pitchFamily="34" charset="-122"/>
                <a:ea typeface="微软雅黑" panose="020B0503020204020204" pitchFamily="34" charset="-122"/>
              </a:rPr>
              <a:t>设计工具生成</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文件。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文件是按照</a:t>
            </a:r>
            <a:r>
              <a:rPr lang="en-US" altLang="zh-CN" sz="1600" spc="100" dirty="0">
                <a:latin typeface="微软雅黑" panose="020B0503020204020204" pitchFamily="34" charset="-122"/>
                <a:ea typeface="微软雅黑" panose="020B0503020204020204" pitchFamily="34" charset="-122"/>
              </a:rPr>
              <a:t>SAIM-Message</a:t>
            </a:r>
            <a:r>
              <a:rPr lang="zh-CN" altLang="en-US" sz="1600" spc="100" dirty="0">
                <a:latin typeface="微软雅黑" panose="020B0503020204020204" pitchFamily="34" charset="-122"/>
                <a:ea typeface="微软雅黑" panose="020B0503020204020204" pitchFamily="34" charset="-122"/>
              </a:rPr>
              <a:t>中元素层次结构来组织的。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对顶级元素</a:t>
            </a:r>
            <a:r>
              <a:rPr lang="en-US" altLang="zh-CN" sz="1600" spc="100" dirty="0">
                <a:latin typeface="微软雅黑" panose="020B0503020204020204" pitchFamily="34" charset="-122"/>
                <a:ea typeface="微软雅黑" panose="020B0503020204020204" pitchFamily="34" charset="-122"/>
              </a:rPr>
              <a:t>SAIM-Message</a:t>
            </a:r>
            <a:r>
              <a:rPr lang="zh-CN" altLang="en-US" sz="1600" spc="100" dirty="0">
                <a:latin typeface="微软雅黑" panose="020B0503020204020204" pitchFamily="34" charset="-122"/>
                <a:ea typeface="微软雅黑" panose="020B0503020204020204" pitchFamily="34" charset="-122"/>
              </a:rPr>
              <a:t>进行描述</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包括该元素功能性描述、元素属性描述、子元素概要描述。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对</a:t>
            </a:r>
            <a:r>
              <a:rPr lang="en-US" altLang="zh-CN" sz="1600" spc="100" dirty="0">
                <a:latin typeface="微软雅黑" panose="020B0503020204020204" pitchFamily="34" charset="-122"/>
                <a:ea typeface="微软雅黑" panose="020B0503020204020204" pitchFamily="34" charset="-122"/>
              </a:rPr>
              <a:t>SAIM-Message</a:t>
            </a:r>
            <a:r>
              <a:rPr lang="zh-CN" altLang="en-US" sz="1600" spc="100" dirty="0">
                <a:latin typeface="微软雅黑" panose="020B0503020204020204" pitchFamily="34" charset="-122"/>
                <a:ea typeface="微软雅黑" panose="020B0503020204020204" pitchFamily="34" charset="-122"/>
              </a:rPr>
              <a:t>的子元素</a:t>
            </a:r>
            <a:r>
              <a:rPr lang="en-US" altLang="zh-CN" sz="1600" spc="100" dirty="0">
                <a:latin typeface="微软雅黑" panose="020B0503020204020204" pitchFamily="34" charset="-122"/>
                <a:ea typeface="微软雅黑" panose="020B0503020204020204" pitchFamily="34" charset="-122"/>
              </a:rPr>
              <a:t>Alert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Heartbeat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Monitor</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RespQuery</a:t>
            </a:r>
            <a:r>
              <a:rPr lang="zh-CN" altLang="en-US" sz="1600" spc="100" dirty="0">
                <a:latin typeface="微软雅黑" panose="020B0503020204020204" pitchFamily="34" charset="-122"/>
                <a:ea typeface="微软雅黑" panose="020B0503020204020204" pitchFamily="34" charset="-122"/>
              </a:rPr>
              <a:t>按类似方法分别逐层展开描述。其中</a:t>
            </a:r>
            <a:r>
              <a:rPr lang="en-US" altLang="zh-CN" sz="1600" spc="100" dirty="0">
                <a:latin typeface="微软雅黑" panose="020B0503020204020204" pitchFamily="34" charset="-122"/>
                <a:ea typeface="微软雅黑" panose="020B0503020204020204" pitchFamily="34" charset="-122"/>
              </a:rPr>
              <a:t>,Alert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Heartbeat</a:t>
            </a:r>
            <a:r>
              <a:rPr lang="zh-CN" altLang="en-US" sz="1600" spc="100" dirty="0">
                <a:latin typeface="微软雅黑" panose="020B0503020204020204" pitchFamily="34" charset="-122"/>
                <a:ea typeface="微软雅黑" panose="020B0503020204020204" pitchFamily="34" charset="-122"/>
              </a:rPr>
              <a:t>元素基本与</a:t>
            </a:r>
            <a:r>
              <a:rPr lang="en-US" altLang="zh-CN" sz="1600" spc="100" dirty="0">
                <a:latin typeface="微软雅黑" panose="020B0503020204020204" pitchFamily="34" charset="-122"/>
                <a:ea typeface="微软雅黑" panose="020B0503020204020204" pitchFamily="34" charset="-122"/>
              </a:rPr>
              <a:t>IDMEF</a:t>
            </a:r>
            <a:r>
              <a:rPr lang="zh-CN" altLang="en-US" sz="1600" spc="100" dirty="0">
                <a:latin typeface="微软雅黑" panose="020B0503020204020204" pitchFamily="34" charset="-122"/>
                <a:ea typeface="微软雅黑" panose="020B0503020204020204" pitchFamily="34" charset="-122"/>
              </a:rPr>
              <a:t>中对应元素相同</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只是根据多源日志模型的自身需要在某些地方略作改动。</a:t>
            </a:r>
          </a:p>
        </p:txBody>
      </p:sp>
      <p:sp>
        <p:nvSpPr>
          <p:cNvPr id="2" name="标题 1"/>
          <p:cNvSpPr>
            <a:spLocks noGrp="1"/>
          </p:cNvSpPr>
          <p:nvPr>
            <p:ph type="title"/>
          </p:nvPr>
        </p:nvSpPr>
        <p:spPr/>
        <p:txBody>
          <a:bodyPr/>
          <a:lstStyle/>
          <a:p>
            <a:r>
              <a:rPr lang="zh-CN" altLang="en-US" dirty="0"/>
              <a:t>生成</a:t>
            </a:r>
            <a:r>
              <a:rPr lang="en-US" altLang="zh-CN" dirty="0"/>
              <a:t>schema</a:t>
            </a:r>
            <a:r>
              <a:rPr lang="zh-CN" altLang="en-US" dirty="0"/>
              <a:t>文件</a:t>
            </a:r>
          </a:p>
        </p:txBody>
      </p:sp>
    </p:spTree>
    <p:extLst>
      <p:ext uri="{BB962C8B-B14F-4D97-AF65-F5344CB8AC3E}">
        <p14:creationId xmlns:p14="http://schemas.microsoft.com/office/powerpoint/2010/main" val="4009554053"/>
      </p:ext>
    </p:extLst>
  </p:cSld>
  <p:clrMapOvr>
    <a:masterClrMapping/>
  </p:clrMapOvr>
  <p:transition spd="slow">
    <p:blinds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80160" y="1669477"/>
            <a:ext cx="945750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是一种可以将</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文件映射成</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类库的工具。</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拥有可执行规范的能力。它提供在架构和</a:t>
            </a:r>
            <a:r>
              <a:rPr lang="en-US" altLang="zh-CN" sz="1600" spc="100" dirty="0">
                <a:latin typeface="微软雅黑" panose="020B0503020204020204" pitchFamily="34" charset="-122"/>
                <a:ea typeface="微软雅黑" panose="020B0503020204020204" pitchFamily="34" charset="-122"/>
              </a:rPr>
              <a:t>Java</a:t>
            </a:r>
            <a:r>
              <a:rPr lang="zh-CN" altLang="en-US" sz="1600" spc="100" dirty="0">
                <a:latin typeface="微软雅黑" panose="020B0503020204020204" pitchFamily="34" charset="-122"/>
                <a:ea typeface="微软雅黑" panose="020B0503020204020204" pitchFamily="34" charset="-122"/>
              </a:rPr>
              <a:t>类型间的自动映射。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用面向对象的观点来对待和处理</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数据。同时又忠实于该</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数据对应的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结构和</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a:t>
            </a:r>
          </a:p>
        </p:txBody>
      </p:sp>
      <p:sp>
        <p:nvSpPr>
          <p:cNvPr id="2" name="标题 1"/>
          <p:cNvSpPr>
            <a:spLocks noGrp="1"/>
          </p:cNvSpPr>
          <p:nvPr>
            <p:ph type="title"/>
          </p:nvPr>
        </p:nvSpPr>
        <p:spPr/>
        <p:txBody>
          <a:bodyPr/>
          <a:lstStyle/>
          <a:p>
            <a:r>
              <a:rPr lang="en-US" altLang="zh-CN" dirty="0" err="1"/>
              <a:t>XMLBean</a:t>
            </a:r>
            <a:r>
              <a:rPr lang="zh-CN" altLang="en-US" dirty="0"/>
              <a:t>转换</a:t>
            </a:r>
            <a:r>
              <a:rPr lang="en-US" altLang="zh-CN" dirty="0"/>
              <a:t>schema</a:t>
            </a:r>
            <a:endParaRPr lang="zh-CN" altLang="en-US" dirty="0"/>
          </a:p>
        </p:txBody>
      </p:sp>
    </p:spTree>
    <p:extLst>
      <p:ext uri="{BB962C8B-B14F-4D97-AF65-F5344CB8AC3E}">
        <p14:creationId xmlns:p14="http://schemas.microsoft.com/office/powerpoint/2010/main" val="160826849"/>
      </p:ext>
    </p:extLst>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201783" y="1163412"/>
            <a:ext cx="9562011"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）用</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读取</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要读取某一个符合</a:t>
            </a:r>
            <a:r>
              <a:rPr lang="en-US" altLang="zh-CN" sz="1600" spc="100" dirty="0">
                <a:latin typeface="微软雅黑" panose="020B0503020204020204" pitchFamily="34" charset="-122"/>
                <a:ea typeface="微软雅黑" panose="020B0503020204020204" pitchFamily="34" charset="-122"/>
              </a:rPr>
              <a:t>transfer.xsd</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文件</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可使用如下的语句：</a:t>
            </a:r>
            <a:r>
              <a:rPr lang="en-US" altLang="zh-CN" sz="1600" spc="100" dirty="0" err="1">
                <a:latin typeface="微软雅黑" panose="020B0503020204020204" pitchFamily="34" charset="-122"/>
                <a:ea typeface="微软雅黑" panose="020B0503020204020204" pitchFamily="34" charset="-122"/>
              </a:rPr>
              <a:t>MyFriendsDocument</a:t>
            </a:r>
            <a:r>
              <a:rPr lang="en-US" altLang="zh-CN" sz="1600" spc="100" dirty="0">
                <a:latin typeface="微软雅黑" panose="020B0503020204020204" pitchFamily="34" charset="-122"/>
                <a:ea typeface="微软雅黑" panose="020B0503020204020204" pitchFamily="34" charset="-122"/>
              </a:rPr>
              <a:t> </a:t>
            </a:r>
            <a:r>
              <a:rPr lang="en-US" altLang="zh-CN" sz="1600" spc="100" dirty="0" err="1">
                <a:latin typeface="微软雅黑" panose="020B0503020204020204" pitchFamily="34" charset="-122"/>
                <a:ea typeface="微软雅黑" panose="020B0503020204020204" pitchFamily="34" charset="-122"/>
              </a:rPr>
              <a:t>fldoc</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MyFriendsDocument</a:t>
            </a:r>
            <a:r>
              <a:rPr lang="en-US" altLang="zh-CN" sz="1600" spc="100" dirty="0">
                <a:latin typeface="微软雅黑" panose="020B0503020204020204" pitchFamily="34" charset="-122"/>
                <a:ea typeface="微软雅黑" panose="020B0503020204020204" pitchFamily="34" charset="-122"/>
              </a:rPr>
              <a:t>. </a:t>
            </a:r>
            <a:r>
              <a:rPr lang="en-US" altLang="zh-CN" sz="1600" spc="100" dirty="0" err="1">
                <a:latin typeface="微软雅黑" panose="020B0503020204020204" pitchFamily="34" charset="-122"/>
                <a:ea typeface="微软雅黑" panose="020B0503020204020204" pitchFamily="34" charset="-122"/>
              </a:rPr>
              <a:t>Factory.parse</a:t>
            </a:r>
            <a:r>
              <a:rPr lang="en-US" altLang="zh-CN"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xmlFile</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其中</a:t>
            </a:r>
            <a:r>
              <a:rPr lang="en-US" altLang="zh-CN" sz="1600" spc="100" dirty="0">
                <a:latin typeface="微软雅黑" panose="020B0503020204020204" pitchFamily="34" charset="-122"/>
                <a:ea typeface="微软雅黑" panose="020B0503020204020204" pitchFamily="34" charset="-122"/>
              </a:rPr>
              <a:t>, </a:t>
            </a:r>
            <a:r>
              <a:rPr lang="en-US" altLang="zh-CN" sz="1600" spc="100" dirty="0" err="1">
                <a:latin typeface="微软雅黑" panose="020B0503020204020204" pitchFamily="34" charset="-122"/>
                <a:ea typeface="微软雅黑" panose="020B0503020204020204" pitchFamily="34" charset="-122"/>
              </a:rPr>
              <a:t>MyFriendsDocument</a:t>
            </a:r>
            <a:r>
              <a:rPr lang="zh-CN" altLang="en-US" sz="1600" spc="100" dirty="0">
                <a:latin typeface="微软雅黑" panose="020B0503020204020204" pitchFamily="34" charset="-122"/>
                <a:ea typeface="微软雅黑" panose="020B0503020204020204" pitchFamily="34" charset="-122"/>
              </a:rPr>
              <a:t>是</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自动生成的类</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它代表这个</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）用</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生成</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用</a:t>
            </a:r>
            <a:r>
              <a:rPr lang="en-US" altLang="zh-CN" sz="1600" spc="100" dirty="0" err="1">
                <a:latin typeface="微软雅黑" panose="020B0503020204020204" pitchFamily="34" charset="-122"/>
                <a:ea typeface="微软雅黑" panose="020B0503020204020204" pitchFamily="34" charset="-122"/>
              </a:rPr>
              <a:t>XMLBean</a:t>
            </a:r>
            <a:r>
              <a:rPr lang="zh-CN" altLang="en-US" sz="1600" spc="100" dirty="0">
                <a:latin typeface="微软雅黑" panose="020B0503020204020204" pitchFamily="34" charset="-122"/>
                <a:ea typeface="微软雅黑" panose="020B0503020204020204" pitchFamily="34" charset="-122"/>
              </a:rPr>
              <a:t>生成的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文档都是符合特定的</a:t>
            </a:r>
            <a:r>
              <a:rPr lang="en-US" altLang="zh-CN" sz="1600" spc="100" dirty="0">
                <a:latin typeface="微软雅黑" panose="020B0503020204020204" pitchFamily="34" charset="-122"/>
                <a:ea typeface="微软雅黑" panose="020B0503020204020204" pitchFamily="34" charset="-122"/>
              </a:rPr>
              <a:t>schema</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可以使用下面的语句来生成某一个文档。首先要利用工厂类生成一个新的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文档对象：</a:t>
            </a:r>
            <a:r>
              <a:rPr lang="en-US" altLang="zh-CN" sz="1600" spc="100" dirty="0" err="1">
                <a:latin typeface="微软雅黑" panose="020B0503020204020204" pitchFamily="34" charset="-122"/>
                <a:ea typeface="微软雅黑" panose="020B0503020204020204" pitchFamily="34" charset="-122"/>
              </a:rPr>
              <a:t>MyFriendsDocument</a:t>
            </a:r>
            <a:r>
              <a:rPr lang="en-US" altLang="zh-CN" sz="1600" spc="100" dirty="0">
                <a:latin typeface="微软雅黑" panose="020B0503020204020204" pitchFamily="34" charset="-122"/>
                <a:ea typeface="微软雅黑" panose="020B0503020204020204" pitchFamily="34" charset="-122"/>
              </a:rPr>
              <a:t> </a:t>
            </a:r>
            <a:r>
              <a:rPr lang="en-US" altLang="zh-CN" sz="1600" spc="100" dirty="0" err="1">
                <a:latin typeface="微软雅黑" panose="020B0503020204020204" pitchFamily="34" charset="-122"/>
                <a:ea typeface="微软雅黑" panose="020B0503020204020204" pitchFamily="34" charset="-122"/>
              </a:rPr>
              <a:t>mfdoc</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MyFriendsDocument.Factory.newInstance</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；这个</a:t>
            </a:r>
            <a:r>
              <a:rPr lang="en-US" altLang="zh-CN" sz="1600" spc="100" dirty="0" err="1">
                <a:latin typeface="微软雅黑" panose="020B0503020204020204" pitchFamily="34" charset="-122"/>
                <a:ea typeface="微软雅黑" panose="020B0503020204020204" pitchFamily="34" charset="-122"/>
              </a:rPr>
              <a:t>mfdoc</a:t>
            </a:r>
            <a:r>
              <a:rPr lang="zh-CN" altLang="en-US" sz="1600" spc="100" dirty="0">
                <a:latin typeface="微软雅黑" panose="020B0503020204020204" pitchFamily="34" charset="-122"/>
                <a:ea typeface="微软雅黑" panose="020B0503020204020204" pitchFamily="34" charset="-122"/>
              </a:rPr>
              <a:t>对象代表了一个空白的</a:t>
            </a:r>
            <a:r>
              <a:rPr lang="en-US" altLang="zh-CN" sz="1600" spc="100" dirty="0">
                <a:latin typeface="微软雅黑" panose="020B0503020204020204" pitchFamily="34" charset="-122"/>
                <a:ea typeface="微软雅黑" panose="020B0503020204020204" pitchFamily="34" charset="-122"/>
              </a:rPr>
              <a:t>XML</a:t>
            </a:r>
            <a:r>
              <a:rPr lang="zh-CN" altLang="en-US" sz="1600" spc="100" dirty="0">
                <a:latin typeface="微软雅黑" panose="020B0503020204020204" pitchFamily="34" charset="-122"/>
                <a:ea typeface="微软雅黑" panose="020B0503020204020204" pitchFamily="34" charset="-122"/>
              </a:rPr>
              <a:t>文档，然后需要增加新的根元素</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之后增加节点</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设置节点的值和属性。</a:t>
            </a:r>
          </a:p>
        </p:txBody>
      </p:sp>
      <p:sp>
        <p:nvSpPr>
          <p:cNvPr id="2" name="标题 1"/>
          <p:cNvSpPr>
            <a:spLocks noGrp="1"/>
          </p:cNvSpPr>
          <p:nvPr>
            <p:ph type="title"/>
          </p:nvPr>
        </p:nvSpPr>
        <p:spPr/>
        <p:txBody>
          <a:bodyPr/>
          <a:lstStyle/>
          <a:p>
            <a:r>
              <a:rPr lang="zh-CN" altLang="en-US" dirty="0"/>
              <a:t>数据转化实现模块</a:t>
            </a:r>
          </a:p>
        </p:txBody>
      </p:sp>
    </p:spTree>
    <p:extLst>
      <p:ext uri="{BB962C8B-B14F-4D97-AF65-F5344CB8AC3E}">
        <p14:creationId xmlns:p14="http://schemas.microsoft.com/office/powerpoint/2010/main" val="3360977151"/>
      </p:ext>
    </p:extLst>
  </p:cSld>
  <p:clrMapOvr>
    <a:masterClrMapping/>
  </p:clrMapOvr>
  <p:transition spd="slow">
    <p:blinds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A95CBC7-EFBD-4D8C-9978-7D4E07B06022}"/>
              </a:ext>
            </a:extLst>
          </p:cNvPr>
          <p:cNvSpPr/>
          <p:nvPr/>
        </p:nvSpPr>
        <p:spPr>
          <a:xfrm>
            <a:off x="1214846" y="1357697"/>
            <a:ext cx="937913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地址验证：日志解析过程发现</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地址很重要，由于</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地址的固有形式可以通过形如‘</a:t>
            </a:r>
            <a:r>
              <a:rPr lang="en-US" altLang="zh-CN" sz="1600" spc="100" dirty="0">
                <a:latin typeface="微软雅黑" panose="020B0503020204020204" pitchFamily="34" charset="-122"/>
                <a:ea typeface="微软雅黑" panose="020B0503020204020204" pitchFamily="34" charset="-122"/>
              </a:rPr>
              <a:t>\d+\d.\d+\.\d+\.\d+</a:t>
            </a:r>
            <a:r>
              <a:rPr lang="zh-CN" altLang="en-US" sz="1600" spc="100" dirty="0">
                <a:latin typeface="微软雅黑" panose="020B0503020204020204" pitchFamily="34" charset="-122"/>
                <a:ea typeface="微软雅黑" panose="020B0503020204020204" pitchFamily="34" charset="-122"/>
              </a:rPr>
              <a:t>’的正则表达式进行解析。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）正则表达式：</a:t>
            </a:r>
            <a:r>
              <a:rPr lang="zh-CN" altLang="zh-CN" sz="1600" spc="100" dirty="0">
                <a:latin typeface="微软雅黑" panose="020B0503020204020204" pitchFamily="34" charset="-122"/>
                <a:ea typeface="微软雅黑" panose="020B0503020204020204" pitchFamily="34" charset="-122"/>
              </a:rPr>
              <a:t>设计正则表达式时除了需要针对不同的消息设计不同的正则表达式进行解析之外，在设计正则表达式的时候还需要考虑正则表达式的性能因素。</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事件归一化的效果</a:t>
            </a:r>
          </a:p>
        </p:txBody>
      </p:sp>
    </p:spTree>
    <p:extLst>
      <p:ext uri="{BB962C8B-B14F-4D97-AF65-F5344CB8AC3E}">
        <p14:creationId xmlns:p14="http://schemas.microsoft.com/office/powerpoint/2010/main" val="1111864093"/>
      </p:ext>
    </p:extLst>
  </p:cSld>
  <p:clrMapOvr>
    <a:masterClrMapping/>
  </p:clrMapOvr>
  <p:transition spd="slow">
    <p:blinds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7028327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17874</TotalTime>
  <Words>4202</Words>
  <Application>Microsoft Office PowerPoint</Application>
  <PresentationFormat>宽屏</PresentationFormat>
  <Paragraphs>254</Paragraphs>
  <Slides>44</Slides>
  <Notes>39</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44</vt:i4>
      </vt:variant>
    </vt:vector>
  </HeadingPairs>
  <TitlesOfParts>
    <vt:vector size="64" baseType="lpstr">
      <vt:lpstr>Hiragino Sans GB W3</vt:lpstr>
      <vt:lpstr>Microsoft YaHei Light</vt:lpstr>
      <vt:lpstr>Roboto Black</vt:lpstr>
      <vt:lpstr>Source Sans Pro</vt:lpstr>
      <vt:lpstr>Source Sans Pro Light</vt:lpstr>
      <vt:lpstr>DengXian</vt:lpstr>
      <vt:lpstr>DengXian Light</vt:lpstr>
      <vt:lpstr>黑体</vt:lpstr>
      <vt:lpstr>华文行楷</vt:lpstr>
      <vt:lpstr>宋体</vt:lpstr>
      <vt:lpstr>Microsoft YaHei</vt:lpstr>
      <vt:lpstr>Microsoft YaHei</vt:lpstr>
      <vt:lpstr>Arial</vt:lpstr>
      <vt:lpstr>Calibri</vt:lpstr>
      <vt:lpstr>Calibri Light</vt:lpstr>
      <vt:lpstr>Cambria</vt:lpstr>
      <vt:lpstr>自定义设计方案</vt:lpstr>
      <vt:lpstr>目录及模块</vt:lpstr>
      <vt:lpstr>44_Approach - Color 09</vt:lpstr>
      <vt:lpstr>Visio</vt:lpstr>
      <vt:lpstr>PowerPoint 演示文稿</vt:lpstr>
      <vt:lpstr>目录</vt:lpstr>
      <vt:lpstr>本章学习目标</vt:lpstr>
      <vt:lpstr>PowerPoint 演示文稿</vt:lpstr>
      <vt:lpstr>日志事件处理过程</vt:lpstr>
      <vt:lpstr>事件过滤概述</vt:lpstr>
      <vt:lpstr>原始日志存在错误信息</vt:lpstr>
      <vt:lpstr>人为忽略</vt:lpstr>
      <vt:lpstr>事件过滤使用的方法</vt:lpstr>
      <vt:lpstr>事件过滤流程</vt:lpstr>
      <vt:lpstr>事件过滤分类</vt:lpstr>
      <vt:lpstr>空缺值处理方法</vt:lpstr>
      <vt:lpstr>空缺值处理方法比较</vt:lpstr>
      <vt:lpstr>重复数据</vt:lpstr>
      <vt:lpstr>检测重复数据的方法</vt:lpstr>
      <vt:lpstr>噪声数据</vt:lpstr>
      <vt:lpstr>去噪声方法</vt:lpstr>
      <vt:lpstr>不一致数据产生的原因</vt:lpstr>
      <vt:lpstr>不一致数据过滤的方法</vt:lpstr>
      <vt:lpstr>PowerPoint 演示文稿</vt:lpstr>
      <vt:lpstr>归一化的原因</vt:lpstr>
      <vt:lpstr>归一化</vt:lpstr>
      <vt:lpstr>PowerPoint 演示文稿</vt:lpstr>
      <vt:lpstr>归一化的基本步骤</vt:lpstr>
      <vt:lpstr>通用字段</vt:lpstr>
      <vt:lpstr>异构数据源间数据转换的方法</vt:lpstr>
      <vt:lpstr>数据转换的主要内容</vt:lpstr>
      <vt:lpstr>数据归并考虑的问题</vt:lpstr>
      <vt:lpstr>归一化流程</vt:lpstr>
      <vt:lpstr>日志归一化处理技术</vt:lpstr>
      <vt:lpstr>XML</vt:lpstr>
      <vt:lpstr>XML 基本格式</vt:lpstr>
      <vt:lpstr>XML的重要术语</vt:lpstr>
      <vt:lpstr>XML的文档规范</vt:lpstr>
      <vt:lpstr>XML DTD</vt:lpstr>
      <vt:lpstr>Schema文档优点</vt:lpstr>
      <vt:lpstr>多源异构日志数据转换流程</vt:lpstr>
      <vt:lpstr>多源异构日志数据转换模块说明</vt:lpstr>
      <vt:lpstr>设计XML文档格式</vt:lpstr>
      <vt:lpstr>生成schema文件</vt:lpstr>
      <vt:lpstr>XMLBean转换schema</vt:lpstr>
      <vt:lpstr>数据转化实现模块</vt:lpstr>
      <vt:lpstr>事件归一化的效果</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307</cp:revision>
  <dcterms:created xsi:type="dcterms:W3CDTF">2018-11-06T06:32:09Z</dcterms:created>
  <dcterms:modified xsi:type="dcterms:W3CDTF">2019-08-19T03:24:09Z</dcterms:modified>
</cp:coreProperties>
</file>