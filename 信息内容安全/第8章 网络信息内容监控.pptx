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9"/>
  </p:notesMasterIdLst>
  <p:sldIdLst>
    <p:sldId id="262" r:id="rId2"/>
    <p:sldId id="312" r:id="rId3"/>
    <p:sldId id="318" r:id="rId4"/>
    <p:sldId id="317" r:id="rId5"/>
    <p:sldId id="369" r:id="rId6"/>
    <p:sldId id="530" r:id="rId7"/>
    <p:sldId id="319" r:id="rId8"/>
    <p:sldId id="371" r:id="rId9"/>
    <p:sldId id="372" r:id="rId10"/>
    <p:sldId id="287" r:id="rId11"/>
    <p:sldId id="271" r:id="rId12"/>
    <p:sldId id="322" r:id="rId13"/>
    <p:sldId id="394" r:id="rId14"/>
    <p:sldId id="395" r:id="rId15"/>
    <p:sldId id="396" r:id="rId16"/>
    <p:sldId id="397" r:id="rId17"/>
    <p:sldId id="398"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2" r:id="rId42"/>
    <p:sldId id="423" r:id="rId43"/>
    <p:sldId id="427" r:id="rId44"/>
    <p:sldId id="428" r:id="rId45"/>
    <p:sldId id="429" r:id="rId46"/>
    <p:sldId id="430" r:id="rId47"/>
    <p:sldId id="431" r:id="rId48"/>
    <p:sldId id="432" r:id="rId49"/>
    <p:sldId id="434" r:id="rId50"/>
    <p:sldId id="435" r:id="rId51"/>
    <p:sldId id="436" r:id="rId52"/>
    <p:sldId id="437" r:id="rId53"/>
    <p:sldId id="439" r:id="rId54"/>
    <p:sldId id="444" r:id="rId55"/>
    <p:sldId id="446" r:id="rId56"/>
    <p:sldId id="448" r:id="rId57"/>
    <p:sldId id="449" r:id="rId58"/>
    <p:sldId id="450" r:id="rId59"/>
    <p:sldId id="451" r:id="rId60"/>
    <p:sldId id="455" r:id="rId61"/>
    <p:sldId id="463" r:id="rId62"/>
    <p:sldId id="464" r:id="rId63"/>
    <p:sldId id="465" r:id="rId64"/>
    <p:sldId id="466" r:id="rId65"/>
    <p:sldId id="467" r:id="rId66"/>
    <p:sldId id="468" r:id="rId67"/>
    <p:sldId id="469" r:id="rId68"/>
    <p:sldId id="470" r:id="rId69"/>
    <p:sldId id="471" r:id="rId70"/>
    <p:sldId id="472" r:id="rId71"/>
    <p:sldId id="473" r:id="rId72"/>
    <p:sldId id="474" r:id="rId73"/>
    <p:sldId id="475" r:id="rId74"/>
    <p:sldId id="476" r:id="rId75"/>
    <p:sldId id="477" r:id="rId76"/>
    <p:sldId id="478" r:id="rId77"/>
    <p:sldId id="479" r:id="rId78"/>
    <p:sldId id="480" r:id="rId79"/>
    <p:sldId id="481" r:id="rId80"/>
    <p:sldId id="482" r:id="rId81"/>
    <p:sldId id="483" r:id="rId82"/>
    <p:sldId id="484" r:id="rId83"/>
    <p:sldId id="485" r:id="rId84"/>
    <p:sldId id="486" r:id="rId85"/>
    <p:sldId id="487" r:id="rId86"/>
    <p:sldId id="488" r:id="rId87"/>
    <p:sldId id="489" r:id="rId88"/>
    <p:sldId id="490" r:id="rId89"/>
    <p:sldId id="491" r:id="rId90"/>
    <p:sldId id="492" r:id="rId91"/>
    <p:sldId id="493" r:id="rId92"/>
    <p:sldId id="494" r:id="rId93"/>
    <p:sldId id="495" r:id="rId94"/>
    <p:sldId id="496" r:id="rId95"/>
    <p:sldId id="497" r:id="rId96"/>
    <p:sldId id="498" r:id="rId97"/>
    <p:sldId id="499" r:id="rId98"/>
    <p:sldId id="500" r:id="rId99"/>
    <p:sldId id="501" r:id="rId100"/>
    <p:sldId id="502" r:id="rId101"/>
    <p:sldId id="503" r:id="rId102"/>
    <p:sldId id="504" r:id="rId103"/>
    <p:sldId id="505" r:id="rId104"/>
    <p:sldId id="506" r:id="rId105"/>
    <p:sldId id="507" r:id="rId106"/>
    <p:sldId id="508" r:id="rId107"/>
    <p:sldId id="509" r:id="rId108"/>
    <p:sldId id="510" r:id="rId109"/>
    <p:sldId id="511" r:id="rId110"/>
    <p:sldId id="512" r:id="rId111"/>
    <p:sldId id="513" r:id="rId112"/>
    <p:sldId id="514" r:id="rId113"/>
    <p:sldId id="515" r:id="rId114"/>
    <p:sldId id="516" r:id="rId115"/>
    <p:sldId id="517" r:id="rId116"/>
    <p:sldId id="518" r:id="rId117"/>
    <p:sldId id="519" r:id="rId118"/>
    <p:sldId id="520" r:id="rId119"/>
    <p:sldId id="521" r:id="rId120"/>
    <p:sldId id="522" r:id="rId121"/>
    <p:sldId id="523" r:id="rId122"/>
    <p:sldId id="524" r:id="rId123"/>
    <p:sldId id="525" r:id="rId124"/>
    <p:sldId id="526" r:id="rId125"/>
    <p:sldId id="527" r:id="rId126"/>
    <p:sldId id="528" r:id="rId127"/>
    <p:sldId id="529" r:id="rId128"/>
  </p:sldIdLst>
  <p:sldSz cx="12192000" cy="6858000"/>
  <p:notesSz cx="6858000" cy="9144000"/>
  <p:embeddedFontLst>
    <p:embeddedFont>
      <p:font typeface="方正粗宋简体" panose="02010600030101010101" charset="-122"/>
      <p:regular r:id="rId130"/>
    </p:embeddedFont>
    <p:embeddedFont>
      <p:font typeface="Calibri" panose="020F0502020204030204" pitchFamily="34" charset="0"/>
      <p:regular r:id="rId131"/>
      <p:bold r:id="rId132"/>
      <p:italic r:id="rId133"/>
      <p:boldItalic r:id="rId134"/>
    </p:embeddedFont>
    <p:embeddedFont>
      <p:font typeface="Calibri Light" panose="020F0302020204030204" pitchFamily="34" charset="0"/>
      <p:regular r:id="rId135"/>
      <p:italic r:id="rId136"/>
    </p:embeddedFont>
    <p:embeddedFont>
      <p:font typeface="Impact" panose="020B0806030902050204" pitchFamily="34" charset="0"/>
      <p:regular r:id="rId137"/>
    </p:embeddedFont>
    <p:embeddedFont>
      <p:font typeface="等线" panose="02010600030101010101" pitchFamily="2" charset="-122"/>
      <p:regular r:id="rId138"/>
      <p:bold r:id="rId139"/>
    </p:embeddedFont>
    <p:embeddedFont>
      <p:font typeface="微软雅黑" panose="020B0503020204020204" pitchFamily="34" charset="-122"/>
      <p:regular r:id="rId140"/>
      <p:bold r:id="rId141"/>
    </p:embeddedFont>
    <p:embeddedFont>
      <p:font typeface="微软雅黑" panose="020B0503020204020204" pitchFamily="34" charset="-122"/>
      <p:regular r:id="rId140"/>
      <p:bold r:id="rId14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4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B5D6"/>
    <a:srgbClr val="3DA2CB"/>
    <a:srgbClr val="F784A5"/>
    <a:srgbClr val="DBAA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3" autoAdjust="0"/>
    <p:restoredTop sz="94660"/>
  </p:normalViewPr>
  <p:slideViewPr>
    <p:cSldViewPr snapToGrid="0">
      <p:cViewPr varScale="1">
        <p:scale>
          <a:sx n="92" d="100"/>
          <a:sy n="92" d="100"/>
        </p:scale>
        <p:origin x="72" y="112"/>
      </p:cViewPr>
      <p:guideLst>
        <p:guide orient="horz" pos="2161"/>
        <p:guide pos="3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9.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5.fntdata"/><Relationship Id="rId139" Type="http://schemas.openxmlformats.org/officeDocument/2006/relationships/font" Target="fonts/font10.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1.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fntdata"/><Relationship Id="rId135" Type="http://schemas.openxmlformats.org/officeDocument/2006/relationships/font" Target="fonts/font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2.fntdata"/><Relationship Id="rId136"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4.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2">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B82EDC0-28C3-4FE7-9893-B4115506E30C}" type="doc">
      <dgm:prSet loTypeId="urn:microsoft.com/office/officeart/2005/8/layout/vList5" loCatId="list" qsTypeId="urn:microsoft.com/office/officeart/2005/8/quickstyle/simple4#1" qsCatId="simple" csTypeId="urn:microsoft.com/office/officeart/2005/8/colors/accent1_5#1" csCatId="accent1" phldr="1"/>
      <dgm:spPr/>
      <dgm:t>
        <a:bodyPr/>
        <a:lstStyle/>
        <a:p>
          <a:endParaRPr lang="zh-CN" altLang="en-US"/>
        </a:p>
      </dgm:t>
    </dgm:pt>
    <dgm:pt modelId="{0D7B64AF-E89E-4F47-93DF-875AC7EA9F80}">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网络内容安全既是一门新兴的课题，又需要多个学科进行交叉研究。不局限于技术领域，对它的研究将更加复杂和丰富。</a:t>
          </a:r>
        </a:p>
      </dgm:t>
    </dgm:pt>
    <dgm:pt modelId="{408B7941-512D-4F86-AD27-749BF2A690AD}" type="parTrans" cxnId="{4C9CCEF2-01E0-4C0D-9F49-97C4E60277EF}">
      <dgm:prSet/>
      <dgm:spPr/>
      <dgm:t>
        <a:bodyPr/>
        <a:lstStyle/>
        <a:p>
          <a:endParaRPr lang="zh-CN" altLang="en-US">
            <a:solidFill>
              <a:schemeClr val="tx1"/>
            </a:solidFill>
            <a:latin typeface="微软雅黑" panose="020B0503020204020204" pitchFamily="34" charset="-122"/>
            <a:ea typeface="华康俪金黑W8(P)"/>
          </a:endParaRPr>
        </a:p>
      </dgm:t>
    </dgm:pt>
    <dgm:pt modelId="{A9C35514-23AE-45F2-802C-53551939B0A1}" type="sibTrans" cxnId="{4C9CCEF2-01E0-4C0D-9F49-97C4E60277EF}">
      <dgm:prSet/>
      <dgm:spPr/>
      <dgm:t>
        <a:bodyPr/>
        <a:lstStyle/>
        <a:p>
          <a:endParaRPr lang="zh-CN" altLang="en-US">
            <a:solidFill>
              <a:schemeClr val="tx1"/>
            </a:solidFill>
            <a:latin typeface="微软雅黑" panose="020B0503020204020204" pitchFamily="34" charset="-122"/>
            <a:ea typeface="华康俪金黑W8(P)"/>
          </a:endParaRPr>
        </a:p>
      </dgm:t>
    </dgm:pt>
    <dgm:pt modelId="{E7B058C8-9F24-4425-9245-540C959E25B2}">
      <dgm:prSet phldrT="[文本]" custT="1"/>
      <dgm:spPr/>
      <dgm:t>
        <a:bodyPr/>
        <a:lstStyle/>
        <a:p>
          <a:r>
            <a:rPr lang="zh-CN" altLang="en-US" sz="2800" dirty="0">
              <a:latin typeface="微软雅黑" panose="020B0503020204020204" pitchFamily="34" charset="-122"/>
              <a:ea typeface="华康俪金黑W8(P)"/>
            </a:rPr>
            <a:t>互  联</a:t>
          </a:r>
        </a:p>
      </dgm:t>
    </dgm:pt>
    <dgm:pt modelId="{C930D84C-0E90-4901-8249-526B90587C3A}" type="parTrans" cxnId="{ACCD2F28-22F2-44D6-AE16-5A29EDD7F34D}">
      <dgm:prSet/>
      <dgm:spPr/>
      <dgm:t>
        <a:bodyPr/>
        <a:lstStyle/>
        <a:p>
          <a:endParaRPr lang="zh-CN" altLang="en-US">
            <a:solidFill>
              <a:schemeClr val="tx1"/>
            </a:solidFill>
            <a:latin typeface="微软雅黑" panose="020B0503020204020204" pitchFamily="34" charset="-122"/>
            <a:ea typeface="华康俪金黑W8(P)"/>
          </a:endParaRPr>
        </a:p>
      </dgm:t>
    </dgm:pt>
    <dgm:pt modelId="{C1CB44BA-B18A-4102-8277-02BDC5534532}" type="sibTrans" cxnId="{ACCD2F28-22F2-44D6-AE16-5A29EDD7F34D}">
      <dgm:prSet/>
      <dgm:spPr/>
      <dgm:t>
        <a:bodyPr/>
        <a:lstStyle/>
        <a:p>
          <a:endParaRPr lang="zh-CN" altLang="en-US">
            <a:solidFill>
              <a:schemeClr val="tx1"/>
            </a:solidFill>
            <a:latin typeface="微软雅黑" panose="020B0503020204020204" pitchFamily="34" charset="-122"/>
            <a:ea typeface="华康俪金黑W8(P)"/>
          </a:endParaRPr>
        </a:p>
      </dgm:t>
    </dgm:pt>
    <dgm:pt modelId="{2592691F-9E79-4BC0-87E5-69D7D698006D}">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银行都将基于企业大数据平台开展银行直销业务，同时按照产业链金融服务事业部模式开展业务</a:t>
          </a:r>
        </a:p>
      </dgm:t>
    </dgm:pt>
    <dgm:pt modelId="{C0845D3B-5494-47F6-927D-C8582491F5CA}" type="parTrans" cxnId="{E8B28251-E2BD-46B1-B26C-1CC275AB2F85}">
      <dgm:prSet/>
      <dgm:spPr/>
      <dgm:t>
        <a:bodyPr/>
        <a:lstStyle/>
        <a:p>
          <a:endParaRPr lang="zh-CN" altLang="en-US">
            <a:solidFill>
              <a:schemeClr val="tx1"/>
            </a:solidFill>
            <a:latin typeface="微软雅黑" panose="020B0503020204020204" pitchFamily="34" charset="-122"/>
            <a:ea typeface="华康俪金黑W8(P)"/>
          </a:endParaRPr>
        </a:p>
      </dgm:t>
    </dgm:pt>
    <dgm:pt modelId="{0FA4D93A-AD3F-4434-AA55-CEB49328E211}" type="sibTrans" cxnId="{E8B28251-E2BD-46B1-B26C-1CC275AB2F85}">
      <dgm:prSet/>
      <dgm:spPr/>
      <dgm:t>
        <a:bodyPr/>
        <a:lstStyle/>
        <a:p>
          <a:endParaRPr lang="zh-CN" altLang="en-US">
            <a:solidFill>
              <a:schemeClr val="tx1"/>
            </a:solidFill>
            <a:latin typeface="微软雅黑" panose="020B0503020204020204" pitchFamily="34" charset="-122"/>
            <a:ea typeface="华康俪金黑W8(P)"/>
          </a:endParaRPr>
        </a:p>
      </dgm:t>
    </dgm:pt>
    <dgm:pt modelId="{B6259541-DC05-42DE-803A-E680E08D6C9F}">
      <dgm:prSet phldrT="[文本]" custT="1"/>
      <dgm:spPr/>
      <dgm:t>
        <a:bodyPr/>
        <a:lstStyle/>
        <a:p>
          <a:r>
            <a:rPr lang="zh-CN" altLang="en-US" sz="2800" dirty="0">
              <a:latin typeface="微软雅黑" panose="020B0503020204020204" pitchFamily="34" charset="-122"/>
              <a:ea typeface="华康俪金黑W8(P)"/>
            </a:rPr>
            <a:t>融  合</a:t>
          </a:r>
        </a:p>
      </dgm:t>
    </dgm:pt>
    <dgm:pt modelId="{37D6F386-8381-4B6F-978B-E137AE3DF9AA}" type="parTrans" cxnId="{E4931202-E6BE-4BC8-B65B-11D412988295}">
      <dgm:prSet/>
      <dgm:spPr/>
      <dgm:t>
        <a:bodyPr/>
        <a:lstStyle/>
        <a:p>
          <a:endParaRPr lang="zh-CN" altLang="en-US">
            <a:solidFill>
              <a:schemeClr val="tx1"/>
            </a:solidFill>
            <a:latin typeface="微软雅黑" panose="020B0503020204020204" pitchFamily="34" charset="-122"/>
            <a:ea typeface="华康俪金黑W8(P)"/>
          </a:endParaRPr>
        </a:p>
      </dgm:t>
    </dgm:pt>
    <dgm:pt modelId="{268DB079-41ED-404F-B186-2A61D37917A2}" type="sibTrans" cxnId="{E4931202-E6BE-4BC8-B65B-11D412988295}">
      <dgm:prSet/>
      <dgm:spPr/>
      <dgm:t>
        <a:bodyPr/>
        <a:lstStyle/>
        <a:p>
          <a:endParaRPr lang="zh-CN" altLang="en-US">
            <a:solidFill>
              <a:schemeClr val="tx1"/>
            </a:solidFill>
            <a:latin typeface="微软雅黑" panose="020B0503020204020204" pitchFamily="34" charset="-122"/>
            <a:ea typeface="华康俪金黑W8(P)"/>
          </a:endParaRPr>
        </a:p>
      </dgm:t>
    </dgm:pt>
    <dgm:pt modelId="{A1E47C7B-F182-4DF4-A19B-69BAAE382931}">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因大数据系统的出现，所有依赖信息不对称盈利的业务都将消失。</a:t>
          </a:r>
        </a:p>
      </dgm:t>
    </dgm:pt>
    <dgm:pt modelId="{719D88D6-1635-491E-8C93-A79FE7CA5E24}" type="parTrans" cxnId="{0E27294B-D241-4242-A5D4-BAB975F1D3DA}">
      <dgm:prSet/>
      <dgm:spPr/>
      <dgm:t>
        <a:bodyPr/>
        <a:lstStyle/>
        <a:p>
          <a:endParaRPr lang="zh-CN" altLang="en-US">
            <a:solidFill>
              <a:schemeClr val="tx1"/>
            </a:solidFill>
            <a:latin typeface="微软雅黑" panose="020B0503020204020204" pitchFamily="34" charset="-122"/>
            <a:ea typeface="华康俪金黑W8(P)"/>
          </a:endParaRPr>
        </a:p>
      </dgm:t>
    </dgm:pt>
    <dgm:pt modelId="{6051CE2A-AC3B-4295-AD33-637560233BA3}" type="sibTrans" cxnId="{0E27294B-D241-4242-A5D4-BAB975F1D3DA}">
      <dgm:prSet/>
      <dgm:spPr/>
      <dgm:t>
        <a:bodyPr/>
        <a:lstStyle/>
        <a:p>
          <a:endParaRPr lang="zh-CN" altLang="en-US">
            <a:solidFill>
              <a:schemeClr val="tx1"/>
            </a:solidFill>
            <a:latin typeface="微软雅黑" panose="020B0503020204020204" pitchFamily="34" charset="-122"/>
            <a:ea typeface="华康俪金黑W8(P)"/>
          </a:endParaRPr>
        </a:p>
      </dgm:t>
    </dgm:pt>
    <dgm:pt modelId="{9045D98D-C66A-48E7-A245-35B5957A7399}">
      <dgm:prSet phldrT="[文本]" custT="1"/>
      <dgm:spPr/>
      <dgm:t>
        <a:bodyPr/>
        <a:lstStyle/>
        <a:p>
          <a:r>
            <a:rPr lang="zh-CN" altLang="en-US" sz="2800" dirty="0">
              <a:latin typeface="微软雅黑" panose="020B0503020204020204" pitchFamily="34" charset="-122"/>
              <a:ea typeface="华康俪金黑W8(P)"/>
            </a:rPr>
            <a:t>海  量</a:t>
          </a:r>
        </a:p>
      </dgm:t>
    </dgm:pt>
    <dgm:pt modelId="{7B01EB5F-D381-47EE-A0D6-7EA31871E775}" type="parTrans" cxnId="{23276639-2DC3-442C-8B7D-748EB1AD5582}">
      <dgm:prSet/>
      <dgm:spPr/>
      <dgm:t>
        <a:bodyPr/>
        <a:lstStyle/>
        <a:p>
          <a:endParaRPr lang="zh-CN" altLang="en-US">
            <a:solidFill>
              <a:schemeClr val="tx1"/>
            </a:solidFill>
            <a:latin typeface="微软雅黑" panose="020B0503020204020204" pitchFamily="34" charset="-122"/>
            <a:ea typeface="华康俪金黑W8(P)"/>
          </a:endParaRPr>
        </a:p>
      </dgm:t>
    </dgm:pt>
    <dgm:pt modelId="{74FC76FF-A29E-4DFE-8C92-6E52071A2043}" type="sibTrans" cxnId="{23276639-2DC3-442C-8B7D-748EB1AD5582}">
      <dgm:prSet/>
      <dgm:spPr/>
      <dgm:t>
        <a:bodyPr/>
        <a:lstStyle/>
        <a:p>
          <a:endParaRPr lang="zh-CN" altLang="en-US">
            <a:solidFill>
              <a:schemeClr val="tx1"/>
            </a:solidFill>
            <a:latin typeface="微软雅黑" panose="020B0503020204020204" pitchFamily="34" charset="-122"/>
            <a:ea typeface="华康俪金黑W8(P)"/>
          </a:endParaRPr>
        </a:p>
      </dgm:t>
    </dgm:pt>
    <dgm:pt modelId="{22B677B6-3E43-4154-B276-2F0542B27522}">
      <dgm:prSet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在网络信息内容研究中，从互联网技术角度入手仍然是对网络信息内容安全管理最有效的手段。</a:t>
          </a:r>
        </a:p>
      </dgm:t>
    </dgm:pt>
    <dgm:pt modelId="{C66618F6-CDF1-4D85-B7FD-0943F4E529C4}" type="parTrans" cxnId="{07F729FE-C9BB-4789-9F88-9C20DAA478A1}">
      <dgm:prSet/>
      <dgm:spPr/>
      <dgm:t>
        <a:bodyPr/>
        <a:lstStyle/>
        <a:p>
          <a:endParaRPr lang="zh-CN" altLang="en-US">
            <a:solidFill>
              <a:schemeClr val="tx1"/>
            </a:solidFill>
            <a:latin typeface="微软雅黑" panose="020B0503020204020204" pitchFamily="34" charset="-122"/>
            <a:ea typeface="华康俪金黑W8(P)"/>
          </a:endParaRPr>
        </a:p>
      </dgm:t>
    </dgm:pt>
    <dgm:pt modelId="{AA5B8F94-81EA-4C94-90D0-B7F8BB2995D5}" type="sibTrans" cxnId="{07F729FE-C9BB-4789-9F88-9C20DAA478A1}">
      <dgm:prSet/>
      <dgm:spPr/>
      <dgm:t>
        <a:bodyPr/>
        <a:lstStyle/>
        <a:p>
          <a:endParaRPr lang="zh-CN" altLang="en-US">
            <a:solidFill>
              <a:schemeClr val="tx1"/>
            </a:solidFill>
            <a:latin typeface="微软雅黑" panose="020B0503020204020204" pitchFamily="34" charset="-122"/>
            <a:ea typeface="华康俪金黑W8(P)"/>
          </a:endParaRPr>
        </a:p>
      </dgm:t>
    </dgm:pt>
    <dgm:pt modelId="{8164C08B-7FEA-49D1-8EDB-A34D4A5AE13A}">
      <dgm:prSet phldrT="[文本]" custT="1"/>
      <dgm:spPr/>
      <dgm:t>
        <a:bodyPr/>
        <a:lstStyle/>
        <a:p>
          <a:endParaRPr lang="zh-CN" altLang="en-US" sz="3600" dirty="0">
            <a:latin typeface="微软雅黑" panose="020B0503020204020204" pitchFamily="34" charset="-122"/>
            <a:ea typeface="华康俪金黑W8(P)"/>
          </a:endParaRPr>
        </a:p>
      </dgm:t>
    </dgm:pt>
    <dgm:pt modelId="{4E35E266-2D6C-496B-BD37-903EA4C5BA82}" type="sibTrans" cxnId="{4A1FEBDE-DA7A-4D53-9D66-9319811ED352}">
      <dgm:prSet/>
      <dgm:spPr/>
      <dgm:t>
        <a:bodyPr/>
        <a:lstStyle/>
        <a:p>
          <a:endParaRPr lang="zh-CN" altLang="en-US">
            <a:solidFill>
              <a:schemeClr val="tx1"/>
            </a:solidFill>
            <a:latin typeface="微软雅黑" panose="020B0503020204020204" pitchFamily="34" charset="-122"/>
            <a:ea typeface="华康俪金黑W8(P)"/>
          </a:endParaRPr>
        </a:p>
      </dgm:t>
    </dgm:pt>
    <dgm:pt modelId="{4EB2FA3F-42A2-448C-B44D-49C48D464BE5}" type="parTrans" cxnId="{4A1FEBDE-DA7A-4D53-9D66-9319811ED352}">
      <dgm:prSet/>
      <dgm:spPr/>
      <dgm:t>
        <a:bodyPr/>
        <a:lstStyle/>
        <a:p>
          <a:endParaRPr lang="zh-CN" altLang="en-US">
            <a:solidFill>
              <a:schemeClr val="tx1"/>
            </a:solidFill>
            <a:latin typeface="微软雅黑" panose="020B0503020204020204" pitchFamily="34" charset="-122"/>
            <a:ea typeface="华康俪金黑W8(P)"/>
          </a:endParaRPr>
        </a:p>
      </dgm:t>
    </dgm:pt>
    <dgm:pt modelId="{1AF1258D-7D71-462E-899A-895332038374}" type="pres">
      <dgm:prSet presAssocID="{7B82EDC0-28C3-4FE7-9893-B4115506E30C}" presName="Name0" presStyleCnt="0">
        <dgm:presLayoutVars>
          <dgm:dir/>
          <dgm:animLvl val="lvl"/>
          <dgm:resizeHandles val="exact"/>
        </dgm:presLayoutVars>
      </dgm:prSet>
      <dgm:spPr/>
    </dgm:pt>
    <dgm:pt modelId="{464B684D-6A54-4966-A942-B64EFDFA3F3A}" type="pres">
      <dgm:prSet presAssocID="{8164C08B-7FEA-49D1-8EDB-A34D4A5AE13A}" presName="linNode" presStyleCnt="0"/>
      <dgm:spPr/>
    </dgm:pt>
    <dgm:pt modelId="{F4149E3D-D159-4E8D-9645-4C34100CAD08}" type="pres">
      <dgm:prSet presAssocID="{8164C08B-7FEA-49D1-8EDB-A34D4A5AE13A}" presName="parentText" presStyleLbl="node1" presStyleIdx="0" presStyleCnt="4" custScaleX="60862">
        <dgm:presLayoutVars>
          <dgm:chMax val="1"/>
          <dgm:bulletEnabled val="1"/>
        </dgm:presLayoutVars>
      </dgm:prSet>
      <dgm:spPr/>
    </dgm:pt>
    <dgm:pt modelId="{5E312260-BB8C-4259-9A9A-07FD49D660DE}" type="pres">
      <dgm:prSet presAssocID="{8164C08B-7FEA-49D1-8EDB-A34D4A5AE13A}" presName="descendantText" presStyleLbl="alignAccFollowNode1" presStyleIdx="0" presStyleCnt="4">
        <dgm:presLayoutVars>
          <dgm:bulletEnabled val="1"/>
        </dgm:presLayoutVars>
      </dgm:prSet>
      <dgm:spPr/>
    </dgm:pt>
    <dgm:pt modelId="{B15E52DD-BF95-48EF-83BF-64D9AE8A1181}" type="pres">
      <dgm:prSet presAssocID="{4E35E266-2D6C-496B-BD37-903EA4C5BA82}" presName="sp" presStyleCnt="0"/>
      <dgm:spPr/>
    </dgm:pt>
    <dgm:pt modelId="{561821EA-E295-47E4-A7EF-0FAE72E8F842}" type="pres">
      <dgm:prSet presAssocID="{E7B058C8-9F24-4425-9245-540C959E25B2}" presName="linNode" presStyleCnt="0"/>
      <dgm:spPr/>
    </dgm:pt>
    <dgm:pt modelId="{988D9766-81DD-42EA-8025-F35CE451537D}" type="pres">
      <dgm:prSet presAssocID="{E7B058C8-9F24-4425-9245-540C959E25B2}" presName="parentText" presStyleLbl="node1" presStyleIdx="1" presStyleCnt="4" custScaleX="61289">
        <dgm:presLayoutVars>
          <dgm:chMax val="1"/>
          <dgm:bulletEnabled val="1"/>
        </dgm:presLayoutVars>
      </dgm:prSet>
      <dgm:spPr/>
    </dgm:pt>
    <dgm:pt modelId="{C36456F2-C104-49EC-A4F4-9E741C50E57D}" type="pres">
      <dgm:prSet presAssocID="{E7B058C8-9F24-4425-9245-540C959E25B2}" presName="descendantText" presStyleLbl="alignAccFollowNode1" presStyleIdx="1" presStyleCnt="4">
        <dgm:presLayoutVars>
          <dgm:bulletEnabled val="1"/>
        </dgm:presLayoutVars>
      </dgm:prSet>
      <dgm:spPr/>
    </dgm:pt>
    <dgm:pt modelId="{84D8518D-A12B-4BCA-84D3-1E1FB4A6F4BC}" type="pres">
      <dgm:prSet presAssocID="{C1CB44BA-B18A-4102-8277-02BDC5534532}" presName="sp" presStyleCnt="0"/>
      <dgm:spPr/>
    </dgm:pt>
    <dgm:pt modelId="{2D02B444-8067-4F2B-BE1C-FB30DFA33E38}" type="pres">
      <dgm:prSet presAssocID="{9045D98D-C66A-48E7-A245-35B5957A7399}" presName="linNode" presStyleCnt="0"/>
      <dgm:spPr/>
    </dgm:pt>
    <dgm:pt modelId="{D516C599-DE5A-42A2-88A9-704EB00499F1}" type="pres">
      <dgm:prSet presAssocID="{9045D98D-C66A-48E7-A245-35B5957A7399}" presName="parentText" presStyleLbl="node1" presStyleIdx="2" presStyleCnt="4" custScaleX="60429">
        <dgm:presLayoutVars>
          <dgm:chMax val="1"/>
          <dgm:bulletEnabled val="1"/>
        </dgm:presLayoutVars>
      </dgm:prSet>
      <dgm:spPr/>
    </dgm:pt>
    <dgm:pt modelId="{B384A40A-3548-4A73-A19D-621C79A2EA79}" type="pres">
      <dgm:prSet presAssocID="{9045D98D-C66A-48E7-A245-35B5957A7399}" presName="descendantText" presStyleLbl="alignAccFollowNode1" presStyleIdx="2" presStyleCnt="4" custLinFactNeighborY="2294">
        <dgm:presLayoutVars>
          <dgm:bulletEnabled val="1"/>
        </dgm:presLayoutVars>
      </dgm:prSet>
      <dgm:spPr/>
    </dgm:pt>
    <dgm:pt modelId="{7087A52F-0B29-4C33-8A51-37C6BDA8202E}" type="pres">
      <dgm:prSet presAssocID="{74FC76FF-A29E-4DFE-8C92-6E52071A2043}" presName="sp" presStyleCnt="0"/>
      <dgm:spPr/>
    </dgm:pt>
    <dgm:pt modelId="{1B00E73A-0AF2-4D6F-8F6F-ABCEAF64862F}" type="pres">
      <dgm:prSet presAssocID="{B6259541-DC05-42DE-803A-E680E08D6C9F}" presName="linNode" presStyleCnt="0"/>
      <dgm:spPr/>
    </dgm:pt>
    <dgm:pt modelId="{E6E01B5A-8BEE-4FEC-8416-8610EF675C5F}" type="pres">
      <dgm:prSet presAssocID="{B6259541-DC05-42DE-803A-E680E08D6C9F}" presName="parentText" presStyleLbl="node1" presStyleIdx="3" presStyleCnt="4" custScaleX="60428">
        <dgm:presLayoutVars>
          <dgm:chMax val="1"/>
          <dgm:bulletEnabled val="1"/>
        </dgm:presLayoutVars>
      </dgm:prSet>
      <dgm:spPr/>
    </dgm:pt>
    <dgm:pt modelId="{1F0D7FAF-2C3A-41BB-B40E-71733DC8AA53}" type="pres">
      <dgm:prSet presAssocID="{B6259541-DC05-42DE-803A-E680E08D6C9F}" presName="descendantText" presStyleLbl="alignAccFollowNode1" presStyleIdx="3" presStyleCnt="4">
        <dgm:presLayoutVars>
          <dgm:bulletEnabled val="1"/>
        </dgm:presLayoutVars>
      </dgm:prSet>
      <dgm:spPr/>
    </dgm:pt>
  </dgm:ptLst>
  <dgm:cxnLst>
    <dgm:cxn modelId="{E4931202-E6BE-4BC8-B65B-11D412988295}" srcId="{7B82EDC0-28C3-4FE7-9893-B4115506E30C}" destId="{B6259541-DC05-42DE-803A-E680E08D6C9F}" srcOrd="3" destOrd="0" parTransId="{37D6F386-8381-4B6F-978B-E137AE3DF9AA}" sibTransId="{268DB079-41ED-404F-B186-2A61D37917A2}"/>
    <dgm:cxn modelId="{AA9BBF06-C276-4F67-948C-45CF9B975578}" type="presOf" srcId="{A1E47C7B-F182-4DF4-A19B-69BAAE382931}" destId="{1F0D7FAF-2C3A-41BB-B40E-71733DC8AA53}" srcOrd="0" destOrd="0" presId="urn:microsoft.com/office/officeart/2005/8/layout/vList5"/>
    <dgm:cxn modelId="{ACCD2F28-22F2-44D6-AE16-5A29EDD7F34D}" srcId="{7B82EDC0-28C3-4FE7-9893-B4115506E30C}" destId="{E7B058C8-9F24-4425-9245-540C959E25B2}" srcOrd="1" destOrd="0" parTransId="{C930D84C-0E90-4901-8249-526B90587C3A}" sibTransId="{C1CB44BA-B18A-4102-8277-02BDC5534532}"/>
    <dgm:cxn modelId="{0C033C33-D44A-499C-B081-E29180D2C6E2}" type="presOf" srcId="{22B677B6-3E43-4154-B276-2F0542B27522}" destId="{C36456F2-C104-49EC-A4F4-9E741C50E57D}" srcOrd="0" destOrd="0" presId="urn:microsoft.com/office/officeart/2005/8/layout/vList5"/>
    <dgm:cxn modelId="{23276639-2DC3-442C-8B7D-748EB1AD5582}" srcId="{7B82EDC0-28C3-4FE7-9893-B4115506E30C}" destId="{9045D98D-C66A-48E7-A245-35B5957A7399}" srcOrd="2" destOrd="0" parTransId="{7B01EB5F-D381-47EE-A0D6-7EA31871E775}" sibTransId="{74FC76FF-A29E-4DFE-8C92-6E52071A2043}"/>
    <dgm:cxn modelId="{07537A43-8C5E-4942-8439-CE123173B277}" type="presOf" srcId="{E7B058C8-9F24-4425-9245-540C959E25B2}" destId="{988D9766-81DD-42EA-8025-F35CE451537D}" srcOrd="0" destOrd="0" presId="urn:microsoft.com/office/officeart/2005/8/layout/vList5"/>
    <dgm:cxn modelId="{0E27294B-D241-4242-A5D4-BAB975F1D3DA}" srcId="{B6259541-DC05-42DE-803A-E680E08D6C9F}" destId="{A1E47C7B-F182-4DF4-A19B-69BAAE382931}" srcOrd="0" destOrd="0" parTransId="{719D88D6-1635-491E-8C93-A79FE7CA5E24}" sibTransId="{6051CE2A-AC3B-4295-AD33-637560233BA3}"/>
    <dgm:cxn modelId="{E8B28251-E2BD-46B1-B26C-1CC275AB2F85}" srcId="{9045D98D-C66A-48E7-A245-35B5957A7399}" destId="{2592691F-9E79-4BC0-87E5-69D7D698006D}" srcOrd="0" destOrd="0" parTransId="{C0845D3B-5494-47F6-927D-C8582491F5CA}" sibTransId="{0FA4D93A-AD3F-4434-AA55-CEB49328E211}"/>
    <dgm:cxn modelId="{6CD69571-3B5A-4454-92BC-460950FD3DB5}" type="presOf" srcId="{0D7B64AF-E89E-4F47-93DF-875AC7EA9F80}" destId="{5E312260-BB8C-4259-9A9A-07FD49D660DE}" srcOrd="0" destOrd="0" presId="urn:microsoft.com/office/officeart/2005/8/layout/vList5"/>
    <dgm:cxn modelId="{1F25868A-0773-4AE4-9F4C-5F7C6258841A}" type="presOf" srcId="{8164C08B-7FEA-49D1-8EDB-A34D4A5AE13A}" destId="{F4149E3D-D159-4E8D-9645-4C34100CAD08}" srcOrd="0" destOrd="0" presId="urn:microsoft.com/office/officeart/2005/8/layout/vList5"/>
    <dgm:cxn modelId="{15D454C2-860D-4972-B620-6BCDF549D590}" type="presOf" srcId="{7B82EDC0-28C3-4FE7-9893-B4115506E30C}" destId="{1AF1258D-7D71-462E-899A-895332038374}" srcOrd="0" destOrd="0" presId="urn:microsoft.com/office/officeart/2005/8/layout/vList5"/>
    <dgm:cxn modelId="{B2DD8CC6-08FF-4C87-A03D-A6D2656E7CAB}" type="presOf" srcId="{9045D98D-C66A-48E7-A245-35B5957A7399}" destId="{D516C599-DE5A-42A2-88A9-704EB00499F1}" srcOrd="0" destOrd="0" presId="urn:microsoft.com/office/officeart/2005/8/layout/vList5"/>
    <dgm:cxn modelId="{C1B73AD2-6CE0-4B7B-B347-5148CCD04A0A}" type="presOf" srcId="{2592691F-9E79-4BC0-87E5-69D7D698006D}" destId="{B384A40A-3548-4A73-A19D-621C79A2EA79}" srcOrd="0" destOrd="0" presId="urn:microsoft.com/office/officeart/2005/8/layout/vList5"/>
    <dgm:cxn modelId="{4A1FEBDE-DA7A-4D53-9D66-9319811ED352}" srcId="{7B82EDC0-28C3-4FE7-9893-B4115506E30C}" destId="{8164C08B-7FEA-49D1-8EDB-A34D4A5AE13A}" srcOrd="0" destOrd="0" parTransId="{4EB2FA3F-42A2-448C-B44D-49C48D464BE5}" sibTransId="{4E35E266-2D6C-496B-BD37-903EA4C5BA82}"/>
    <dgm:cxn modelId="{592A3AED-C8EB-4019-B166-2079F9E3A964}" type="presOf" srcId="{B6259541-DC05-42DE-803A-E680E08D6C9F}" destId="{E6E01B5A-8BEE-4FEC-8416-8610EF675C5F}" srcOrd="0" destOrd="0" presId="urn:microsoft.com/office/officeart/2005/8/layout/vList5"/>
    <dgm:cxn modelId="{4C9CCEF2-01E0-4C0D-9F49-97C4E60277EF}" srcId="{8164C08B-7FEA-49D1-8EDB-A34D4A5AE13A}" destId="{0D7B64AF-E89E-4F47-93DF-875AC7EA9F80}" srcOrd="0" destOrd="0" parTransId="{408B7941-512D-4F86-AD27-749BF2A690AD}" sibTransId="{A9C35514-23AE-45F2-802C-53551939B0A1}"/>
    <dgm:cxn modelId="{07F729FE-C9BB-4789-9F88-9C20DAA478A1}" srcId="{E7B058C8-9F24-4425-9245-540C959E25B2}" destId="{22B677B6-3E43-4154-B276-2F0542B27522}" srcOrd="0" destOrd="0" parTransId="{C66618F6-CDF1-4D85-B7FD-0943F4E529C4}" sibTransId="{AA5B8F94-81EA-4C94-90D0-B7F8BB2995D5}"/>
    <dgm:cxn modelId="{F8AF0B55-1203-448F-AC2D-B5CEDE9DD11B}" type="presParOf" srcId="{1AF1258D-7D71-462E-899A-895332038374}" destId="{464B684D-6A54-4966-A942-B64EFDFA3F3A}" srcOrd="0" destOrd="0" presId="urn:microsoft.com/office/officeart/2005/8/layout/vList5"/>
    <dgm:cxn modelId="{34DCC701-BB83-4607-B07D-8231F040809C}" type="presParOf" srcId="{464B684D-6A54-4966-A942-B64EFDFA3F3A}" destId="{F4149E3D-D159-4E8D-9645-4C34100CAD08}" srcOrd="0" destOrd="0" presId="urn:microsoft.com/office/officeart/2005/8/layout/vList5"/>
    <dgm:cxn modelId="{AE48359A-2DDB-40E2-92D5-DB8478599399}" type="presParOf" srcId="{464B684D-6A54-4966-A942-B64EFDFA3F3A}" destId="{5E312260-BB8C-4259-9A9A-07FD49D660DE}" srcOrd="1" destOrd="0" presId="urn:microsoft.com/office/officeart/2005/8/layout/vList5"/>
    <dgm:cxn modelId="{FC9D203B-9D6C-422A-8E3E-EA4FC9594AA0}" type="presParOf" srcId="{1AF1258D-7D71-462E-899A-895332038374}" destId="{B15E52DD-BF95-48EF-83BF-64D9AE8A1181}" srcOrd="1" destOrd="0" presId="urn:microsoft.com/office/officeart/2005/8/layout/vList5"/>
    <dgm:cxn modelId="{1AFC6ACB-AC15-4848-BF2B-EA45772910E1}" type="presParOf" srcId="{1AF1258D-7D71-462E-899A-895332038374}" destId="{561821EA-E295-47E4-A7EF-0FAE72E8F842}" srcOrd="2" destOrd="0" presId="urn:microsoft.com/office/officeart/2005/8/layout/vList5"/>
    <dgm:cxn modelId="{B241D26B-FB40-42BE-833F-7F823A8BAC4B}" type="presParOf" srcId="{561821EA-E295-47E4-A7EF-0FAE72E8F842}" destId="{988D9766-81DD-42EA-8025-F35CE451537D}" srcOrd="0" destOrd="0" presId="urn:microsoft.com/office/officeart/2005/8/layout/vList5"/>
    <dgm:cxn modelId="{FFCA140B-3793-4C1A-B381-3510ED67C021}" type="presParOf" srcId="{561821EA-E295-47E4-A7EF-0FAE72E8F842}" destId="{C36456F2-C104-49EC-A4F4-9E741C50E57D}" srcOrd="1" destOrd="0" presId="urn:microsoft.com/office/officeart/2005/8/layout/vList5"/>
    <dgm:cxn modelId="{91699DF5-21AD-42F1-801B-2B30FA116B9D}" type="presParOf" srcId="{1AF1258D-7D71-462E-899A-895332038374}" destId="{84D8518D-A12B-4BCA-84D3-1E1FB4A6F4BC}" srcOrd="3" destOrd="0" presId="urn:microsoft.com/office/officeart/2005/8/layout/vList5"/>
    <dgm:cxn modelId="{C6AF7EDB-6F58-4221-B494-EBF563CDBD89}" type="presParOf" srcId="{1AF1258D-7D71-462E-899A-895332038374}" destId="{2D02B444-8067-4F2B-BE1C-FB30DFA33E38}" srcOrd="4" destOrd="0" presId="urn:microsoft.com/office/officeart/2005/8/layout/vList5"/>
    <dgm:cxn modelId="{783D4A27-A8DD-461F-9202-C460656ED904}" type="presParOf" srcId="{2D02B444-8067-4F2B-BE1C-FB30DFA33E38}" destId="{D516C599-DE5A-42A2-88A9-704EB00499F1}" srcOrd="0" destOrd="0" presId="urn:microsoft.com/office/officeart/2005/8/layout/vList5"/>
    <dgm:cxn modelId="{C68F85B2-BC37-4BB1-91C3-ECA29B62980F}" type="presParOf" srcId="{2D02B444-8067-4F2B-BE1C-FB30DFA33E38}" destId="{B384A40A-3548-4A73-A19D-621C79A2EA79}" srcOrd="1" destOrd="0" presId="urn:microsoft.com/office/officeart/2005/8/layout/vList5"/>
    <dgm:cxn modelId="{52B228C0-D637-4458-8C76-E5F9AD5C8540}" type="presParOf" srcId="{1AF1258D-7D71-462E-899A-895332038374}" destId="{7087A52F-0B29-4C33-8A51-37C6BDA8202E}" srcOrd="5" destOrd="0" presId="urn:microsoft.com/office/officeart/2005/8/layout/vList5"/>
    <dgm:cxn modelId="{BB46DB6C-82CD-4A5F-9BE0-3F1C817894A6}" type="presParOf" srcId="{1AF1258D-7D71-462E-899A-895332038374}" destId="{1B00E73A-0AF2-4D6F-8F6F-ABCEAF64862F}" srcOrd="6" destOrd="0" presId="urn:microsoft.com/office/officeart/2005/8/layout/vList5"/>
    <dgm:cxn modelId="{1F79DD0A-BE9E-427B-8D6E-7023273996EB}" type="presParOf" srcId="{1B00E73A-0AF2-4D6F-8F6F-ABCEAF64862F}" destId="{E6E01B5A-8BEE-4FEC-8416-8610EF675C5F}" srcOrd="0" destOrd="0" presId="urn:microsoft.com/office/officeart/2005/8/layout/vList5"/>
    <dgm:cxn modelId="{F283A1A9-3447-405A-BE56-AE26C90B00BC}" type="presParOf" srcId="{1B00E73A-0AF2-4D6F-8F6F-ABCEAF64862F}" destId="{1F0D7FAF-2C3A-41BB-B40E-71733DC8AA5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82EDC0-28C3-4FE7-9893-B4115506E30C}" type="doc">
      <dgm:prSet loTypeId="urn:microsoft.com/office/officeart/2005/8/layout/vList5" loCatId="list" qsTypeId="urn:microsoft.com/office/officeart/2005/8/quickstyle/simple4#2" qsCatId="simple" csTypeId="urn:microsoft.com/office/officeart/2005/8/colors/accent1_5#2" csCatId="accent1" phldr="1"/>
      <dgm:spPr/>
      <dgm:t>
        <a:bodyPr/>
        <a:lstStyle/>
        <a:p>
          <a:endParaRPr lang="zh-CN" altLang="en-US"/>
        </a:p>
      </dgm:t>
    </dgm:pt>
    <dgm:pt modelId="{0D7B64AF-E89E-4F47-93DF-875AC7EA9F80}">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数据爆发式增长所造成的狂潮困扰着用户，从中提取有用信息仍然是一大难题。</a:t>
          </a:r>
        </a:p>
      </dgm:t>
    </dgm:pt>
    <dgm:pt modelId="{408B7941-512D-4F86-AD27-749BF2A690AD}" type="parTrans" cxnId="{4C9CCEF2-01E0-4C0D-9F49-97C4E60277EF}">
      <dgm:prSet/>
      <dgm:spPr/>
      <dgm:t>
        <a:bodyPr/>
        <a:lstStyle/>
        <a:p>
          <a:endParaRPr lang="zh-CN" altLang="en-US">
            <a:solidFill>
              <a:schemeClr val="tx1"/>
            </a:solidFill>
            <a:latin typeface="微软雅黑" panose="020B0503020204020204" pitchFamily="34" charset="-122"/>
            <a:ea typeface="华康俪金黑W8(P)"/>
          </a:endParaRPr>
        </a:p>
      </dgm:t>
    </dgm:pt>
    <dgm:pt modelId="{A9C35514-23AE-45F2-802C-53551939B0A1}" type="sibTrans" cxnId="{4C9CCEF2-01E0-4C0D-9F49-97C4E60277EF}">
      <dgm:prSet/>
      <dgm:spPr/>
      <dgm:t>
        <a:bodyPr/>
        <a:lstStyle/>
        <a:p>
          <a:endParaRPr lang="zh-CN" altLang="en-US">
            <a:solidFill>
              <a:schemeClr val="tx1"/>
            </a:solidFill>
            <a:latin typeface="微软雅黑" panose="020B0503020204020204" pitchFamily="34" charset="-122"/>
            <a:ea typeface="华康俪金黑W8(P)"/>
          </a:endParaRPr>
        </a:p>
      </dgm:t>
    </dgm:pt>
    <dgm:pt modelId="{E7B058C8-9F24-4425-9245-540C959E25B2}">
      <dgm:prSet phldrT="[文本]" custT="1"/>
      <dgm:spPr/>
      <dgm:t>
        <a:bodyPr/>
        <a:lstStyle/>
        <a:p>
          <a:r>
            <a:rPr lang="zh-CN" altLang="en-US" sz="2800" dirty="0">
              <a:latin typeface="微软雅黑" panose="020B0503020204020204" pitchFamily="34" charset="-122"/>
              <a:ea typeface="华康俪金黑W8(P)"/>
            </a:rPr>
            <a:t>快速获取信息</a:t>
          </a:r>
        </a:p>
      </dgm:t>
    </dgm:pt>
    <dgm:pt modelId="{C930D84C-0E90-4901-8249-526B90587C3A}" type="parTrans" cxnId="{ACCD2F28-22F2-44D6-AE16-5A29EDD7F34D}">
      <dgm:prSet/>
      <dgm:spPr/>
      <dgm:t>
        <a:bodyPr/>
        <a:lstStyle/>
        <a:p>
          <a:endParaRPr lang="zh-CN" altLang="en-US">
            <a:solidFill>
              <a:schemeClr val="tx1"/>
            </a:solidFill>
            <a:latin typeface="微软雅黑" panose="020B0503020204020204" pitchFamily="34" charset="-122"/>
            <a:ea typeface="华康俪金黑W8(P)"/>
          </a:endParaRPr>
        </a:p>
      </dgm:t>
    </dgm:pt>
    <dgm:pt modelId="{C1CB44BA-B18A-4102-8277-02BDC5534532}" type="sibTrans" cxnId="{ACCD2F28-22F2-44D6-AE16-5A29EDD7F34D}">
      <dgm:prSet/>
      <dgm:spPr/>
      <dgm:t>
        <a:bodyPr/>
        <a:lstStyle/>
        <a:p>
          <a:endParaRPr lang="zh-CN" altLang="en-US">
            <a:solidFill>
              <a:schemeClr val="tx1"/>
            </a:solidFill>
            <a:latin typeface="微软雅黑" panose="020B0503020204020204" pitchFamily="34" charset="-122"/>
            <a:ea typeface="华康俪金黑W8(P)"/>
          </a:endParaRPr>
        </a:p>
      </dgm:t>
    </dgm:pt>
    <dgm:pt modelId="{2592691F-9E79-4BC0-87E5-69D7D698006D}">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由于网络上缺乏有效监管，人人都可以发布信息，很多情况下难以保证信息的真实可靠</a:t>
          </a:r>
        </a:p>
      </dgm:t>
    </dgm:pt>
    <dgm:pt modelId="{C0845D3B-5494-47F6-927D-C8582491F5CA}" type="parTrans" cxnId="{E8B28251-E2BD-46B1-B26C-1CC275AB2F85}">
      <dgm:prSet/>
      <dgm:spPr/>
      <dgm:t>
        <a:bodyPr/>
        <a:lstStyle/>
        <a:p>
          <a:endParaRPr lang="zh-CN" altLang="en-US">
            <a:solidFill>
              <a:schemeClr val="tx1"/>
            </a:solidFill>
            <a:latin typeface="微软雅黑" panose="020B0503020204020204" pitchFamily="34" charset="-122"/>
            <a:ea typeface="华康俪金黑W8(P)"/>
          </a:endParaRPr>
        </a:p>
      </dgm:t>
    </dgm:pt>
    <dgm:pt modelId="{0FA4D93A-AD3F-4434-AA55-CEB49328E211}" type="sibTrans" cxnId="{E8B28251-E2BD-46B1-B26C-1CC275AB2F85}">
      <dgm:prSet/>
      <dgm:spPr/>
      <dgm:t>
        <a:bodyPr/>
        <a:lstStyle/>
        <a:p>
          <a:endParaRPr lang="zh-CN" altLang="en-US">
            <a:solidFill>
              <a:schemeClr val="tx1"/>
            </a:solidFill>
            <a:latin typeface="微软雅黑" panose="020B0503020204020204" pitchFamily="34" charset="-122"/>
            <a:ea typeface="华康俪金黑W8(P)"/>
          </a:endParaRPr>
        </a:p>
      </dgm:t>
    </dgm:pt>
    <dgm:pt modelId="{B6259541-DC05-42DE-803A-E680E08D6C9F}">
      <dgm:prSet phldrT="[文本]" custT="1"/>
      <dgm:spPr/>
      <dgm:t>
        <a:bodyPr/>
        <a:lstStyle/>
        <a:p>
          <a:r>
            <a:rPr lang="zh-CN" altLang="en-US" sz="2400" dirty="0">
              <a:latin typeface="微软雅黑" panose="020B0503020204020204" pitchFamily="34" charset="-122"/>
              <a:ea typeface="华康俪金黑W8(P)"/>
            </a:rPr>
            <a:t>信息容易混淆</a:t>
          </a:r>
        </a:p>
      </dgm:t>
    </dgm:pt>
    <dgm:pt modelId="{37D6F386-8381-4B6F-978B-E137AE3DF9AA}" type="parTrans" cxnId="{E4931202-E6BE-4BC8-B65B-11D412988295}">
      <dgm:prSet/>
      <dgm:spPr/>
      <dgm:t>
        <a:bodyPr/>
        <a:lstStyle/>
        <a:p>
          <a:endParaRPr lang="zh-CN" altLang="en-US">
            <a:solidFill>
              <a:schemeClr val="tx1"/>
            </a:solidFill>
            <a:latin typeface="微软雅黑" panose="020B0503020204020204" pitchFamily="34" charset="-122"/>
            <a:ea typeface="华康俪金黑W8(P)"/>
          </a:endParaRPr>
        </a:p>
      </dgm:t>
    </dgm:pt>
    <dgm:pt modelId="{268DB079-41ED-404F-B186-2A61D37917A2}" type="sibTrans" cxnId="{E4931202-E6BE-4BC8-B65B-11D412988295}">
      <dgm:prSet/>
      <dgm:spPr/>
      <dgm:t>
        <a:bodyPr/>
        <a:lstStyle/>
        <a:p>
          <a:endParaRPr lang="zh-CN" altLang="en-US">
            <a:solidFill>
              <a:schemeClr val="tx1"/>
            </a:solidFill>
            <a:latin typeface="微软雅黑" panose="020B0503020204020204" pitchFamily="34" charset="-122"/>
            <a:ea typeface="华康俪金黑W8(P)"/>
          </a:endParaRPr>
        </a:p>
      </dgm:t>
    </dgm:pt>
    <dgm:pt modelId="{A1E47C7B-F182-4DF4-A19B-69BAAE382931}">
      <dgm:prSet phldrT="[文本]"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安全性难以保证，道高一尺魔高一丈，黑客们很容易将错误的信息混淆视听。</a:t>
          </a:r>
        </a:p>
      </dgm:t>
    </dgm:pt>
    <dgm:pt modelId="{719D88D6-1635-491E-8C93-A79FE7CA5E24}" type="parTrans" cxnId="{0E27294B-D241-4242-A5D4-BAB975F1D3DA}">
      <dgm:prSet/>
      <dgm:spPr/>
      <dgm:t>
        <a:bodyPr/>
        <a:lstStyle/>
        <a:p>
          <a:endParaRPr lang="zh-CN" altLang="en-US">
            <a:solidFill>
              <a:schemeClr val="tx1"/>
            </a:solidFill>
            <a:latin typeface="微软雅黑" panose="020B0503020204020204" pitchFamily="34" charset="-122"/>
            <a:ea typeface="华康俪金黑W8(P)"/>
          </a:endParaRPr>
        </a:p>
      </dgm:t>
    </dgm:pt>
    <dgm:pt modelId="{6051CE2A-AC3B-4295-AD33-637560233BA3}" type="sibTrans" cxnId="{0E27294B-D241-4242-A5D4-BAB975F1D3DA}">
      <dgm:prSet/>
      <dgm:spPr/>
      <dgm:t>
        <a:bodyPr/>
        <a:lstStyle/>
        <a:p>
          <a:endParaRPr lang="zh-CN" altLang="en-US">
            <a:solidFill>
              <a:schemeClr val="tx1"/>
            </a:solidFill>
            <a:latin typeface="微软雅黑" panose="020B0503020204020204" pitchFamily="34" charset="-122"/>
            <a:ea typeface="华康俪金黑W8(P)"/>
          </a:endParaRPr>
        </a:p>
      </dgm:t>
    </dgm:pt>
    <dgm:pt modelId="{9045D98D-C66A-48E7-A245-35B5957A7399}">
      <dgm:prSet phldrT="[文本]" custT="1"/>
      <dgm:spPr/>
      <dgm:t>
        <a:bodyPr/>
        <a:lstStyle/>
        <a:p>
          <a:r>
            <a:rPr lang="zh-CN" altLang="en-US" sz="2400" dirty="0">
              <a:latin typeface="微软雅黑" panose="020B0503020204020204" pitchFamily="34" charset="-122"/>
              <a:ea typeface="华康俪金黑W8(P)"/>
            </a:rPr>
            <a:t>真实度不高</a:t>
          </a:r>
        </a:p>
      </dgm:t>
    </dgm:pt>
    <dgm:pt modelId="{7B01EB5F-D381-47EE-A0D6-7EA31871E775}" type="parTrans" cxnId="{23276639-2DC3-442C-8B7D-748EB1AD5582}">
      <dgm:prSet/>
      <dgm:spPr/>
      <dgm:t>
        <a:bodyPr/>
        <a:lstStyle/>
        <a:p>
          <a:endParaRPr lang="zh-CN" altLang="en-US">
            <a:solidFill>
              <a:schemeClr val="tx1"/>
            </a:solidFill>
            <a:latin typeface="微软雅黑" panose="020B0503020204020204" pitchFamily="34" charset="-122"/>
            <a:ea typeface="华康俪金黑W8(P)"/>
          </a:endParaRPr>
        </a:p>
      </dgm:t>
    </dgm:pt>
    <dgm:pt modelId="{74FC76FF-A29E-4DFE-8C92-6E52071A2043}" type="sibTrans" cxnId="{23276639-2DC3-442C-8B7D-748EB1AD5582}">
      <dgm:prSet/>
      <dgm:spPr/>
      <dgm:t>
        <a:bodyPr/>
        <a:lstStyle/>
        <a:p>
          <a:endParaRPr lang="zh-CN" altLang="en-US">
            <a:solidFill>
              <a:schemeClr val="tx1"/>
            </a:solidFill>
            <a:latin typeface="微软雅黑" panose="020B0503020204020204" pitchFamily="34" charset="-122"/>
            <a:ea typeface="华康俪金黑W8(P)"/>
          </a:endParaRPr>
        </a:p>
      </dgm:t>
    </dgm:pt>
    <dgm:pt modelId="{22B677B6-3E43-4154-B276-2F0542B27522}">
      <dgm:prSet custT="1"/>
      <dgm:spPr/>
      <dgm:t>
        <a:bodyPr/>
        <a:lstStyle/>
        <a:p>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开放性、动态性的互联网信息，用户如果要快捷地获取信息，仍然存在一定难度。</a:t>
          </a:r>
        </a:p>
      </dgm:t>
    </dgm:pt>
    <dgm:pt modelId="{C66618F6-CDF1-4D85-B7FD-0943F4E529C4}" type="parTrans" cxnId="{07F729FE-C9BB-4789-9F88-9C20DAA478A1}">
      <dgm:prSet/>
      <dgm:spPr/>
      <dgm:t>
        <a:bodyPr/>
        <a:lstStyle/>
        <a:p>
          <a:endParaRPr lang="zh-CN" altLang="en-US">
            <a:solidFill>
              <a:schemeClr val="tx1"/>
            </a:solidFill>
            <a:latin typeface="微软雅黑" panose="020B0503020204020204" pitchFamily="34" charset="-122"/>
            <a:ea typeface="华康俪金黑W8(P)"/>
          </a:endParaRPr>
        </a:p>
      </dgm:t>
    </dgm:pt>
    <dgm:pt modelId="{AA5B8F94-81EA-4C94-90D0-B7F8BB2995D5}" type="sibTrans" cxnId="{07F729FE-C9BB-4789-9F88-9C20DAA478A1}">
      <dgm:prSet/>
      <dgm:spPr/>
      <dgm:t>
        <a:bodyPr/>
        <a:lstStyle/>
        <a:p>
          <a:endParaRPr lang="zh-CN" altLang="en-US">
            <a:solidFill>
              <a:schemeClr val="tx1"/>
            </a:solidFill>
            <a:latin typeface="微软雅黑" panose="020B0503020204020204" pitchFamily="34" charset="-122"/>
            <a:ea typeface="华康俪金黑W8(P)"/>
          </a:endParaRPr>
        </a:p>
      </dgm:t>
    </dgm:pt>
    <dgm:pt modelId="{8164C08B-7FEA-49D1-8EDB-A34D4A5AE13A}">
      <dgm:prSet phldrT="[文本]" custT="1"/>
      <dgm:spPr/>
      <dgm:t>
        <a:bodyPr/>
        <a:lstStyle/>
        <a:p>
          <a:endParaRPr lang="zh-CN" altLang="en-US" sz="3600" dirty="0">
            <a:latin typeface="微软雅黑" panose="020B0503020204020204" pitchFamily="34" charset="-122"/>
            <a:ea typeface="华康俪金黑W8(P)"/>
          </a:endParaRPr>
        </a:p>
      </dgm:t>
    </dgm:pt>
    <dgm:pt modelId="{4E35E266-2D6C-496B-BD37-903EA4C5BA82}" type="sibTrans" cxnId="{4A1FEBDE-DA7A-4D53-9D66-9319811ED352}">
      <dgm:prSet/>
      <dgm:spPr/>
      <dgm:t>
        <a:bodyPr/>
        <a:lstStyle/>
        <a:p>
          <a:endParaRPr lang="zh-CN" altLang="en-US">
            <a:solidFill>
              <a:schemeClr val="tx1"/>
            </a:solidFill>
            <a:latin typeface="微软雅黑" panose="020B0503020204020204" pitchFamily="34" charset="-122"/>
            <a:ea typeface="华康俪金黑W8(P)"/>
          </a:endParaRPr>
        </a:p>
      </dgm:t>
    </dgm:pt>
    <dgm:pt modelId="{4EB2FA3F-42A2-448C-B44D-49C48D464BE5}" type="parTrans" cxnId="{4A1FEBDE-DA7A-4D53-9D66-9319811ED352}">
      <dgm:prSet/>
      <dgm:spPr/>
      <dgm:t>
        <a:bodyPr/>
        <a:lstStyle/>
        <a:p>
          <a:endParaRPr lang="zh-CN" altLang="en-US">
            <a:solidFill>
              <a:schemeClr val="tx1"/>
            </a:solidFill>
            <a:latin typeface="微软雅黑" panose="020B0503020204020204" pitchFamily="34" charset="-122"/>
            <a:ea typeface="华康俪金黑W8(P)"/>
          </a:endParaRPr>
        </a:p>
      </dgm:t>
    </dgm:pt>
    <dgm:pt modelId="{1AF1258D-7D71-462E-899A-895332038374}" type="pres">
      <dgm:prSet presAssocID="{7B82EDC0-28C3-4FE7-9893-B4115506E30C}" presName="Name0" presStyleCnt="0">
        <dgm:presLayoutVars>
          <dgm:dir/>
          <dgm:animLvl val="lvl"/>
          <dgm:resizeHandles val="exact"/>
        </dgm:presLayoutVars>
      </dgm:prSet>
      <dgm:spPr/>
    </dgm:pt>
    <dgm:pt modelId="{464B684D-6A54-4966-A942-B64EFDFA3F3A}" type="pres">
      <dgm:prSet presAssocID="{8164C08B-7FEA-49D1-8EDB-A34D4A5AE13A}" presName="linNode" presStyleCnt="0"/>
      <dgm:spPr/>
    </dgm:pt>
    <dgm:pt modelId="{F4149E3D-D159-4E8D-9645-4C34100CAD08}" type="pres">
      <dgm:prSet presAssocID="{8164C08B-7FEA-49D1-8EDB-A34D4A5AE13A}" presName="parentText" presStyleLbl="node1" presStyleIdx="0" presStyleCnt="4" custScaleX="60862">
        <dgm:presLayoutVars>
          <dgm:chMax val="1"/>
          <dgm:bulletEnabled val="1"/>
        </dgm:presLayoutVars>
      </dgm:prSet>
      <dgm:spPr/>
    </dgm:pt>
    <dgm:pt modelId="{5E312260-BB8C-4259-9A9A-07FD49D660DE}" type="pres">
      <dgm:prSet presAssocID="{8164C08B-7FEA-49D1-8EDB-A34D4A5AE13A}" presName="descendantText" presStyleLbl="alignAccFollowNode1" presStyleIdx="0" presStyleCnt="4">
        <dgm:presLayoutVars>
          <dgm:bulletEnabled val="1"/>
        </dgm:presLayoutVars>
      </dgm:prSet>
      <dgm:spPr/>
    </dgm:pt>
    <dgm:pt modelId="{B15E52DD-BF95-48EF-83BF-64D9AE8A1181}" type="pres">
      <dgm:prSet presAssocID="{4E35E266-2D6C-496B-BD37-903EA4C5BA82}" presName="sp" presStyleCnt="0"/>
      <dgm:spPr/>
    </dgm:pt>
    <dgm:pt modelId="{561821EA-E295-47E4-A7EF-0FAE72E8F842}" type="pres">
      <dgm:prSet presAssocID="{E7B058C8-9F24-4425-9245-540C959E25B2}" presName="linNode" presStyleCnt="0"/>
      <dgm:spPr/>
    </dgm:pt>
    <dgm:pt modelId="{988D9766-81DD-42EA-8025-F35CE451537D}" type="pres">
      <dgm:prSet presAssocID="{E7B058C8-9F24-4425-9245-540C959E25B2}" presName="parentText" presStyleLbl="node1" presStyleIdx="1" presStyleCnt="4" custScaleX="61289">
        <dgm:presLayoutVars>
          <dgm:chMax val="1"/>
          <dgm:bulletEnabled val="1"/>
        </dgm:presLayoutVars>
      </dgm:prSet>
      <dgm:spPr/>
    </dgm:pt>
    <dgm:pt modelId="{C36456F2-C104-49EC-A4F4-9E741C50E57D}" type="pres">
      <dgm:prSet presAssocID="{E7B058C8-9F24-4425-9245-540C959E25B2}" presName="descendantText" presStyleLbl="alignAccFollowNode1" presStyleIdx="1" presStyleCnt="4">
        <dgm:presLayoutVars>
          <dgm:bulletEnabled val="1"/>
        </dgm:presLayoutVars>
      </dgm:prSet>
      <dgm:spPr/>
    </dgm:pt>
    <dgm:pt modelId="{84D8518D-A12B-4BCA-84D3-1E1FB4A6F4BC}" type="pres">
      <dgm:prSet presAssocID="{C1CB44BA-B18A-4102-8277-02BDC5534532}" presName="sp" presStyleCnt="0"/>
      <dgm:spPr/>
    </dgm:pt>
    <dgm:pt modelId="{2D02B444-8067-4F2B-BE1C-FB30DFA33E38}" type="pres">
      <dgm:prSet presAssocID="{9045D98D-C66A-48E7-A245-35B5957A7399}" presName="linNode" presStyleCnt="0"/>
      <dgm:spPr/>
    </dgm:pt>
    <dgm:pt modelId="{D516C599-DE5A-42A2-88A9-704EB00499F1}" type="pres">
      <dgm:prSet presAssocID="{9045D98D-C66A-48E7-A245-35B5957A7399}" presName="parentText" presStyleLbl="node1" presStyleIdx="2" presStyleCnt="4" custScaleX="60539">
        <dgm:presLayoutVars>
          <dgm:chMax val="1"/>
          <dgm:bulletEnabled val="1"/>
        </dgm:presLayoutVars>
      </dgm:prSet>
      <dgm:spPr/>
    </dgm:pt>
    <dgm:pt modelId="{B384A40A-3548-4A73-A19D-621C79A2EA79}" type="pres">
      <dgm:prSet presAssocID="{9045D98D-C66A-48E7-A245-35B5957A7399}" presName="descendantText" presStyleLbl="alignAccFollowNode1" presStyleIdx="2" presStyleCnt="4" custLinFactNeighborY="2294">
        <dgm:presLayoutVars>
          <dgm:bulletEnabled val="1"/>
        </dgm:presLayoutVars>
      </dgm:prSet>
      <dgm:spPr/>
    </dgm:pt>
    <dgm:pt modelId="{7087A52F-0B29-4C33-8A51-37C6BDA8202E}" type="pres">
      <dgm:prSet presAssocID="{74FC76FF-A29E-4DFE-8C92-6E52071A2043}" presName="sp" presStyleCnt="0"/>
      <dgm:spPr/>
    </dgm:pt>
    <dgm:pt modelId="{1B00E73A-0AF2-4D6F-8F6F-ABCEAF64862F}" type="pres">
      <dgm:prSet presAssocID="{B6259541-DC05-42DE-803A-E680E08D6C9F}" presName="linNode" presStyleCnt="0"/>
      <dgm:spPr/>
    </dgm:pt>
    <dgm:pt modelId="{E6E01B5A-8BEE-4FEC-8416-8610EF675C5F}" type="pres">
      <dgm:prSet presAssocID="{B6259541-DC05-42DE-803A-E680E08D6C9F}" presName="parentText" presStyleLbl="node1" presStyleIdx="3" presStyleCnt="4" custScaleX="60428">
        <dgm:presLayoutVars>
          <dgm:chMax val="1"/>
          <dgm:bulletEnabled val="1"/>
        </dgm:presLayoutVars>
      </dgm:prSet>
      <dgm:spPr/>
    </dgm:pt>
    <dgm:pt modelId="{1F0D7FAF-2C3A-41BB-B40E-71733DC8AA53}" type="pres">
      <dgm:prSet presAssocID="{B6259541-DC05-42DE-803A-E680E08D6C9F}" presName="descendantText" presStyleLbl="alignAccFollowNode1" presStyleIdx="3" presStyleCnt="4">
        <dgm:presLayoutVars>
          <dgm:bulletEnabled val="1"/>
        </dgm:presLayoutVars>
      </dgm:prSet>
      <dgm:spPr/>
    </dgm:pt>
  </dgm:ptLst>
  <dgm:cxnLst>
    <dgm:cxn modelId="{E4931202-E6BE-4BC8-B65B-11D412988295}" srcId="{7B82EDC0-28C3-4FE7-9893-B4115506E30C}" destId="{B6259541-DC05-42DE-803A-E680E08D6C9F}" srcOrd="3" destOrd="0" parTransId="{37D6F386-8381-4B6F-978B-E137AE3DF9AA}" sibTransId="{268DB079-41ED-404F-B186-2A61D37917A2}"/>
    <dgm:cxn modelId="{9D70EF03-7317-4741-B076-EB6FDEA2FCFE}" type="presOf" srcId="{9045D98D-C66A-48E7-A245-35B5957A7399}" destId="{D516C599-DE5A-42A2-88A9-704EB00499F1}" srcOrd="0" destOrd="0" presId="urn:microsoft.com/office/officeart/2005/8/layout/vList5"/>
    <dgm:cxn modelId="{0F45481F-25B8-49AC-A5C1-2B677FC399B2}" type="presOf" srcId="{8164C08B-7FEA-49D1-8EDB-A34D4A5AE13A}" destId="{F4149E3D-D159-4E8D-9645-4C34100CAD08}" srcOrd="0" destOrd="0" presId="urn:microsoft.com/office/officeart/2005/8/layout/vList5"/>
    <dgm:cxn modelId="{1D625F22-20E0-4524-92A6-EA649D68B180}" type="presOf" srcId="{B6259541-DC05-42DE-803A-E680E08D6C9F}" destId="{E6E01B5A-8BEE-4FEC-8416-8610EF675C5F}" srcOrd="0" destOrd="0" presId="urn:microsoft.com/office/officeart/2005/8/layout/vList5"/>
    <dgm:cxn modelId="{ACCD2F28-22F2-44D6-AE16-5A29EDD7F34D}" srcId="{7B82EDC0-28C3-4FE7-9893-B4115506E30C}" destId="{E7B058C8-9F24-4425-9245-540C959E25B2}" srcOrd="1" destOrd="0" parTransId="{C930D84C-0E90-4901-8249-526B90587C3A}" sibTransId="{C1CB44BA-B18A-4102-8277-02BDC5534532}"/>
    <dgm:cxn modelId="{23276639-2DC3-442C-8B7D-748EB1AD5582}" srcId="{7B82EDC0-28C3-4FE7-9893-B4115506E30C}" destId="{9045D98D-C66A-48E7-A245-35B5957A7399}" srcOrd="2" destOrd="0" parTransId="{7B01EB5F-D381-47EE-A0D6-7EA31871E775}" sibTransId="{74FC76FF-A29E-4DFE-8C92-6E52071A2043}"/>
    <dgm:cxn modelId="{0E27294B-D241-4242-A5D4-BAB975F1D3DA}" srcId="{B6259541-DC05-42DE-803A-E680E08D6C9F}" destId="{A1E47C7B-F182-4DF4-A19B-69BAAE382931}" srcOrd="0" destOrd="0" parTransId="{719D88D6-1635-491E-8C93-A79FE7CA5E24}" sibTransId="{6051CE2A-AC3B-4295-AD33-637560233BA3}"/>
    <dgm:cxn modelId="{E8B28251-E2BD-46B1-B26C-1CC275AB2F85}" srcId="{9045D98D-C66A-48E7-A245-35B5957A7399}" destId="{2592691F-9E79-4BC0-87E5-69D7D698006D}" srcOrd="0" destOrd="0" parTransId="{C0845D3B-5494-47F6-927D-C8582491F5CA}" sibTransId="{0FA4D93A-AD3F-4434-AA55-CEB49328E211}"/>
    <dgm:cxn modelId="{08E1885A-87A9-48B9-9C08-7104B8C29385}" type="presOf" srcId="{A1E47C7B-F182-4DF4-A19B-69BAAE382931}" destId="{1F0D7FAF-2C3A-41BB-B40E-71733DC8AA53}" srcOrd="0" destOrd="0" presId="urn:microsoft.com/office/officeart/2005/8/layout/vList5"/>
    <dgm:cxn modelId="{F9AD5C7C-0ADD-452D-AFD0-4D3813A4CDAC}" type="presOf" srcId="{0D7B64AF-E89E-4F47-93DF-875AC7EA9F80}" destId="{5E312260-BB8C-4259-9A9A-07FD49D660DE}" srcOrd="0" destOrd="0" presId="urn:microsoft.com/office/officeart/2005/8/layout/vList5"/>
    <dgm:cxn modelId="{E7DFB7B2-4857-4F10-88D8-6BFEC8D066EF}" type="presOf" srcId="{7B82EDC0-28C3-4FE7-9893-B4115506E30C}" destId="{1AF1258D-7D71-462E-899A-895332038374}" srcOrd="0" destOrd="0" presId="urn:microsoft.com/office/officeart/2005/8/layout/vList5"/>
    <dgm:cxn modelId="{4A1FEBDE-DA7A-4D53-9D66-9319811ED352}" srcId="{7B82EDC0-28C3-4FE7-9893-B4115506E30C}" destId="{8164C08B-7FEA-49D1-8EDB-A34D4A5AE13A}" srcOrd="0" destOrd="0" parTransId="{4EB2FA3F-42A2-448C-B44D-49C48D464BE5}" sibTransId="{4E35E266-2D6C-496B-BD37-903EA4C5BA82}"/>
    <dgm:cxn modelId="{4148D2E8-B71A-41CD-9D8E-C7C99BB5E265}" type="presOf" srcId="{E7B058C8-9F24-4425-9245-540C959E25B2}" destId="{988D9766-81DD-42EA-8025-F35CE451537D}" srcOrd="0" destOrd="0" presId="urn:microsoft.com/office/officeart/2005/8/layout/vList5"/>
    <dgm:cxn modelId="{4C9CCEF2-01E0-4C0D-9F49-97C4E60277EF}" srcId="{8164C08B-7FEA-49D1-8EDB-A34D4A5AE13A}" destId="{0D7B64AF-E89E-4F47-93DF-875AC7EA9F80}" srcOrd="0" destOrd="0" parTransId="{408B7941-512D-4F86-AD27-749BF2A690AD}" sibTransId="{A9C35514-23AE-45F2-802C-53551939B0A1}"/>
    <dgm:cxn modelId="{4997BFF5-1EC9-426D-B030-5231B5A638C4}" type="presOf" srcId="{22B677B6-3E43-4154-B276-2F0542B27522}" destId="{C36456F2-C104-49EC-A4F4-9E741C50E57D}" srcOrd="0" destOrd="0" presId="urn:microsoft.com/office/officeart/2005/8/layout/vList5"/>
    <dgm:cxn modelId="{CC2631FA-8677-430C-AC46-89A09B6E0908}" type="presOf" srcId="{2592691F-9E79-4BC0-87E5-69D7D698006D}" destId="{B384A40A-3548-4A73-A19D-621C79A2EA79}" srcOrd="0" destOrd="0" presId="urn:microsoft.com/office/officeart/2005/8/layout/vList5"/>
    <dgm:cxn modelId="{07F729FE-C9BB-4789-9F88-9C20DAA478A1}" srcId="{E7B058C8-9F24-4425-9245-540C959E25B2}" destId="{22B677B6-3E43-4154-B276-2F0542B27522}" srcOrd="0" destOrd="0" parTransId="{C66618F6-CDF1-4D85-B7FD-0943F4E529C4}" sibTransId="{AA5B8F94-81EA-4C94-90D0-B7F8BB2995D5}"/>
    <dgm:cxn modelId="{5D9F3459-DB64-4B3B-8911-349214DAEA01}" type="presParOf" srcId="{1AF1258D-7D71-462E-899A-895332038374}" destId="{464B684D-6A54-4966-A942-B64EFDFA3F3A}" srcOrd="0" destOrd="0" presId="urn:microsoft.com/office/officeart/2005/8/layout/vList5"/>
    <dgm:cxn modelId="{040BC7C3-BE00-4FB8-B2FB-4328FFF5F8A0}" type="presParOf" srcId="{464B684D-6A54-4966-A942-B64EFDFA3F3A}" destId="{F4149E3D-D159-4E8D-9645-4C34100CAD08}" srcOrd="0" destOrd="0" presId="urn:microsoft.com/office/officeart/2005/8/layout/vList5"/>
    <dgm:cxn modelId="{BF79A319-EDEC-455C-AF29-B892BDC7B6CA}" type="presParOf" srcId="{464B684D-6A54-4966-A942-B64EFDFA3F3A}" destId="{5E312260-BB8C-4259-9A9A-07FD49D660DE}" srcOrd="1" destOrd="0" presId="urn:microsoft.com/office/officeart/2005/8/layout/vList5"/>
    <dgm:cxn modelId="{D27C6448-55C1-41D8-921B-E198DF534EEB}" type="presParOf" srcId="{1AF1258D-7D71-462E-899A-895332038374}" destId="{B15E52DD-BF95-48EF-83BF-64D9AE8A1181}" srcOrd="1" destOrd="0" presId="urn:microsoft.com/office/officeart/2005/8/layout/vList5"/>
    <dgm:cxn modelId="{1B97CF4B-C0D3-480D-ACA9-1DFB59688717}" type="presParOf" srcId="{1AF1258D-7D71-462E-899A-895332038374}" destId="{561821EA-E295-47E4-A7EF-0FAE72E8F842}" srcOrd="2" destOrd="0" presId="urn:microsoft.com/office/officeart/2005/8/layout/vList5"/>
    <dgm:cxn modelId="{EDD7AC4C-2436-43EC-B0F5-5151722D12F2}" type="presParOf" srcId="{561821EA-E295-47E4-A7EF-0FAE72E8F842}" destId="{988D9766-81DD-42EA-8025-F35CE451537D}" srcOrd="0" destOrd="0" presId="urn:microsoft.com/office/officeart/2005/8/layout/vList5"/>
    <dgm:cxn modelId="{E05939B2-013D-40DD-AD35-76D088CD4706}" type="presParOf" srcId="{561821EA-E295-47E4-A7EF-0FAE72E8F842}" destId="{C36456F2-C104-49EC-A4F4-9E741C50E57D}" srcOrd="1" destOrd="0" presId="urn:microsoft.com/office/officeart/2005/8/layout/vList5"/>
    <dgm:cxn modelId="{676AB133-8646-47B2-8075-83F1B21D91D4}" type="presParOf" srcId="{1AF1258D-7D71-462E-899A-895332038374}" destId="{84D8518D-A12B-4BCA-84D3-1E1FB4A6F4BC}" srcOrd="3" destOrd="0" presId="urn:microsoft.com/office/officeart/2005/8/layout/vList5"/>
    <dgm:cxn modelId="{7871CA46-5FA8-4923-B601-36324A182F76}" type="presParOf" srcId="{1AF1258D-7D71-462E-899A-895332038374}" destId="{2D02B444-8067-4F2B-BE1C-FB30DFA33E38}" srcOrd="4" destOrd="0" presId="urn:microsoft.com/office/officeart/2005/8/layout/vList5"/>
    <dgm:cxn modelId="{3E182B55-7FEA-4F09-B8B7-5EE673DCB101}" type="presParOf" srcId="{2D02B444-8067-4F2B-BE1C-FB30DFA33E38}" destId="{D516C599-DE5A-42A2-88A9-704EB00499F1}" srcOrd="0" destOrd="0" presId="urn:microsoft.com/office/officeart/2005/8/layout/vList5"/>
    <dgm:cxn modelId="{CEBC2919-C6D3-4F5D-ABB2-ABD58B8CA0FC}" type="presParOf" srcId="{2D02B444-8067-4F2B-BE1C-FB30DFA33E38}" destId="{B384A40A-3548-4A73-A19D-621C79A2EA79}" srcOrd="1" destOrd="0" presId="urn:microsoft.com/office/officeart/2005/8/layout/vList5"/>
    <dgm:cxn modelId="{95BB2D13-5BDE-42C3-BCA7-FB367667A1C7}" type="presParOf" srcId="{1AF1258D-7D71-462E-899A-895332038374}" destId="{7087A52F-0B29-4C33-8A51-37C6BDA8202E}" srcOrd="5" destOrd="0" presId="urn:microsoft.com/office/officeart/2005/8/layout/vList5"/>
    <dgm:cxn modelId="{46B29DC4-6274-4273-8355-D60CAB10DFA2}" type="presParOf" srcId="{1AF1258D-7D71-462E-899A-895332038374}" destId="{1B00E73A-0AF2-4D6F-8F6F-ABCEAF64862F}" srcOrd="6" destOrd="0" presId="urn:microsoft.com/office/officeart/2005/8/layout/vList5"/>
    <dgm:cxn modelId="{0AAFD82B-8025-4C89-884E-68692F6375EE}" type="presParOf" srcId="{1B00E73A-0AF2-4D6F-8F6F-ABCEAF64862F}" destId="{E6E01B5A-8BEE-4FEC-8416-8610EF675C5F}" srcOrd="0" destOrd="0" presId="urn:microsoft.com/office/officeart/2005/8/layout/vList5"/>
    <dgm:cxn modelId="{14BA275E-8F61-4D88-9C30-4A8E6B482EF9}" type="presParOf" srcId="{1B00E73A-0AF2-4D6F-8F6F-ABCEAF64862F}" destId="{1F0D7FAF-2C3A-41BB-B40E-71733DC8AA5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A48DD8-EB7F-4451-8518-639FEF532BC2}" type="doc">
      <dgm:prSet loTypeId="urn:microsoft.com/office/officeart/2005/8/layout/hProcess3" loCatId="process" qsTypeId="urn:microsoft.com/office/officeart/2005/8/quickstyle/simple1#1" qsCatId="simple" csTypeId="urn:microsoft.com/office/officeart/2005/8/colors/accent1_2#1" csCatId="accent1" phldr="1"/>
      <dgm:spPr/>
    </dgm:pt>
    <dgm:pt modelId="{E855C9CE-01DA-44C9-BAD7-6EA41828C21D}">
      <dgm:prSet phldrT="[文本]" custT="1"/>
      <dgm:spPr/>
      <dgm:t>
        <a:bodyPr/>
        <a:lstStyle/>
        <a:p>
          <a:r>
            <a:rPr lang="zh-CN" altLang="en-US" sz="1800" b="1" dirty="0">
              <a:solidFill>
                <a:schemeClr val="tx1"/>
              </a:solidFill>
              <a:latin typeface="微软雅黑" panose="020B0503020204020204" pitchFamily="34" charset="-122"/>
              <a:ea typeface="微软雅黑" panose="020B0503020204020204" pitchFamily="34" charset="-122"/>
            </a:rPr>
            <a:t>表现形式分类</a:t>
          </a:r>
        </a:p>
      </dgm:t>
    </dgm:pt>
    <dgm:pt modelId="{52E04A9B-63A6-4F6A-A5DF-5558B449F8CE}" type="parTrans" cxnId="{D414A7B2-6A66-4646-BF99-6D9F332F9975}">
      <dgm:prSet/>
      <dgm:spPr/>
      <dgm:t>
        <a:bodyPr/>
        <a:lstStyle/>
        <a:p>
          <a:endParaRPr lang="zh-CN" altLang="en-US"/>
        </a:p>
      </dgm:t>
    </dgm:pt>
    <dgm:pt modelId="{9529F3A5-955B-4C13-A9D1-605A4F435831}" type="sibTrans" cxnId="{D414A7B2-6A66-4646-BF99-6D9F332F9975}">
      <dgm:prSet/>
      <dgm:spPr/>
      <dgm:t>
        <a:bodyPr/>
        <a:lstStyle/>
        <a:p>
          <a:endParaRPr lang="zh-CN" altLang="en-US"/>
        </a:p>
      </dgm:t>
    </dgm:pt>
    <dgm:pt modelId="{CDB6D667-C975-46FF-AE6C-65026B1F657E}" type="pres">
      <dgm:prSet presAssocID="{2FA48DD8-EB7F-4451-8518-639FEF532BC2}" presName="Name0" presStyleCnt="0">
        <dgm:presLayoutVars>
          <dgm:dir/>
          <dgm:animLvl val="lvl"/>
          <dgm:resizeHandles val="exact"/>
        </dgm:presLayoutVars>
      </dgm:prSet>
      <dgm:spPr/>
    </dgm:pt>
    <dgm:pt modelId="{A978001F-F385-4F41-A039-28FA2C2F44F4}" type="pres">
      <dgm:prSet presAssocID="{2FA48DD8-EB7F-4451-8518-639FEF532BC2}" presName="dummy" presStyleCnt="0"/>
      <dgm:spPr/>
    </dgm:pt>
    <dgm:pt modelId="{48768363-9D25-4FD8-A4C9-21BF6DDE65BB}" type="pres">
      <dgm:prSet presAssocID="{2FA48DD8-EB7F-4451-8518-639FEF532BC2}" presName="linH" presStyleCnt="0"/>
      <dgm:spPr/>
    </dgm:pt>
    <dgm:pt modelId="{A0A05E83-EAB7-4D7E-BF35-97FDAD2F16A9}" type="pres">
      <dgm:prSet presAssocID="{2FA48DD8-EB7F-4451-8518-639FEF532BC2}" presName="padding1" presStyleCnt="0"/>
      <dgm:spPr/>
    </dgm:pt>
    <dgm:pt modelId="{27400D78-2F90-47D5-AFE3-938B85C92742}" type="pres">
      <dgm:prSet presAssocID="{E855C9CE-01DA-44C9-BAD7-6EA41828C21D}" presName="linV" presStyleCnt="0"/>
      <dgm:spPr/>
    </dgm:pt>
    <dgm:pt modelId="{79DC37B3-2FA0-47AF-AFCB-1EAAD24AB259}" type="pres">
      <dgm:prSet presAssocID="{E855C9CE-01DA-44C9-BAD7-6EA41828C21D}" presName="spVertical1" presStyleCnt="0"/>
      <dgm:spPr/>
    </dgm:pt>
    <dgm:pt modelId="{E11275C8-9DC9-41D3-8953-6A9B9BC51EC8}" type="pres">
      <dgm:prSet presAssocID="{E855C9CE-01DA-44C9-BAD7-6EA41828C21D}" presName="parTx" presStyleLbl="revTx" presStyleIdx="0" presStyleCnt="1" custLinFactNeighborX="-7117" custLinFactNeighborY="-144">
        <dgm:presLayoutVars>
          <dgm:chMax val="0"/>
          <dgm:chPref val="0"/>
          <dgm:bulletEnabled val="1"/>
        </dgm:presLayoutVars>
      </dgm:prSet>
      <dgm:spPr/>
    </dgm:pt>
    <dgm:pt modelId="{9E80B861-7044-4474-8CAD-0A83B05F91FA}" type="pres">
      <dgm:prSet presAssocID="{E855C9CE-01DA-44C9-BAD7-6EA41828C21D}" presName="spVertical2" presStyleCnt="0"/>
      <dgm:spPr/>
    </dgm:pt>
    <dgm:pt modelId="{E3EE2892-3BFD-47BF-BCAC-2E9FBAC30307}" type="pres">
      <dgm:prSet presAssocID="{E855C9CE-01DA-44C9-BAD7-6EA41828C21D}" presName="spVertical3" presStyleCnt="0"/>
      <dgm:spPr/>
    </dgm:pt>
    <dgm:pt modelId="{BDD0E4A1-D2B5-4382-B8E9-45BCC56547FA}" type="pres">
      <dgm:prSet presAssocID="{2FA48DD8-EB7F-4451-8518-639FEF532BC2}" presName="padding2" presStyleCnt="0"/>
      <dgm:spPr/>
    </dgm:pt>
    <dgm:pt modelId="{7D30C1D0-D04D-4336-A852-25437F63D043}" type="pres">
      <dgm:prSet presAssocID="{2FA48DD8-EB7F-4451-8518-639FEF532BC2}" presName="negArrow" presStyleCnt="0"/>
      <dgm:spPr/>
    </dgm:pt>
    <dgm:pt modelId="{FFB11DA4-9622-4BFC-BC6B-CA73056CF5EC}" type="pres">
      <dgm:prSet presAssocID="{2FA48DD8-EB7F-4451-8518-639FEF532BC2}" presName="backgroundArrow" presStyleLbl="node1" presStyleIdx="0" presStyleCnt="1" custLinFactX="59033" custLinFactY="100000" custLinFactNeighborX="100000" custLinFactNeighborY="103908"/>
      <dgm:spPr/>
    </dgm:pt>
  </dgm:ptLst>
  <dgm:cxnLst>
    <dgm:cxn modelId="{A7557755-FBA2-4740-811B-A22C0E8138AC}" type="presOf" srcId="{E855C9CE-01DA-44C9-BAD7-6EA41828C21D}" destId="{E11275C8-9DC9-41D3-8953-6A9B9BC51EC8}" srcOrd="0" destOrd="0" presId="urn:microsoft.com/office/officeart/2005/8/layout/hProcess3"/>
    <dgm:cxn modelId="{D414A7B2-6A66-4646-BF99-6D9F332F9975}" srcId="{2FA48DD8-EB7F-4451-8518-639FEF532BC2}" destId="{E855C9CE-01DA-44C9-BAD7-6EA41828C21D}" srcOrd="0" destOrd="0" parTransId="{52E04A9B-63A6-4F6A-A5DF-5558B449F8CE}" sibTransId="{9529F3A5-955B-4C13-A9D1-605A4F435831}"/>
    <dgm:cxn modelId="{9A20F2B8-4779-42E1-B5DA-EA347CD07144}" type="presOf" srcId="{2FA48DD8-EB7F-4451-8518-639FEF532BC2}" destId="{CDB6D667-C975-46FF-AE6C-65026B1F657E}" srcOrd="0" destOrd="0" presId="urn:microsoft.com/office/officeart/2005/8/layout/hProcess3"/>
    <dgm:cxn modelId="{355FB5A4-A9FC-4846-9C61-5D5858B82027}" type="presParOf" srcId="{CDB6D667-C975-46FF-AE6C-65026B1F657E}" destId="{A978001F-F385-4F41-A039-28FA2C2F44F4}" srcOrd="0" destOrd="0" presId="urn:microsoft.com/office/officeart/2005/8/layout/hProcess3"/>
    <dgm:cxn modelId="{0E88004B-C5E5-4909-83AB-73240107BF0A}" type="presParOf" srcId="{CDB6D667-C975-46FF-AE6C-65026B1F657E}" destId="{48768363-9D25-4FD8-A4C9-21BF6DDE65BB}" srcOrd="1" destOrd="0" presId="urn:microsoft.com/office/officeart/2005/8/layout/hProcess3"/>
    <dgm:cxn modelId="{EFE5CC3A-D0EB-4677-AA62-3133AFAB23AC}" type="presParOf" srcId="{48768363-9D25-4FD8-A4C9-21BF6DDE65BB}" destId="{A0A05E83-EAB7-4D7E-BF35-97FDAD2F16A9}" srcOrd="0" destOrd="0" presId="urn:microsoft.com/office/officeart/2005/8/layout/hProcess3"/>
    <dgm:cxn modelId="{8DE8ABF8-6DB4-4DC1-BD27-D239246D9EBB}" type="presParOf" srcId="{48768363-9D25-4FD8-A4C9-21BF6DDE65BB}" destId="{27400D78-2F90-47D5-AFE3-938B85C92742}" srcOrd="1" destOrd="0" presId="urn:microsoft.com/office/officeart/2005/8/layout/hProcess3"/>
    <dgm:cxn modelId="{A6706BED-6FA9-47C8-A100-015333FDC83E}" type="presParOf" srcId="{27400D78-2F90-47D5-AFE3-938B85C92742}" destId="{79DC37B3-2FA0-47AF-AFCB-1EAAD24AB259}" srcOrd="0" destOrd="0" presId="urn:microsoft.com/office/officeart/2005/8/layout/hProcess3"/>
    <dgm:cxn modelId="{7FD99AD9-26C8-4F06-BFE4-643C07B93EED}" type="presParOf" srcId="{27400D78-2F90-47D5-AFE3-938B85C92742}" destId="{E11275C8-9DC9-41D3-8953-6A9B9BC51EC8}" srcOrd="1" destOrd="0" presId="urn:microsoft.com/office/officeart/2005/8/layout/hProcess3"/>
    <dgm:cxn modelId="{456C2F01-0B72-4D33-922B-E12D7D47A09B}" type="presParOf" srcId="{27400D78-2F90-47D5-AFE3-938B85C92742}" destId="{9E80B861-7044-4474-8CAD-0A83B05F91FA}" srcOrd="2" destOrd="0" presId="urn:microsoft.com/office/officeart/2005/8/layout/hProcess3"/>
    <dgm:cxn modelId="{26F2DE76-9A54-4591-8EDB-5A88FED738B2}" type="presParOf" srcId="{27400D78-2F90-47D5-AFE3-938B85C92742}" destId="{E3EE2892-3BFD-47BF-BCAC-2E9FBAC30307}" srcOrd="3" destOrd="0" presId="urn:microsoft.com/office/officeart/2005/8/layout/hProcess3"/>
    <dgm:cxn modelId="{2A4EC3B4-E0BA-45BF-A782-A61608996E50}" type="presParOf" srcId="{48768363-9D25-4FD8-A4C9-21BF6DDE65BB}" destId="{BDD0E4A1-D2B5-4382-B8E9-45BCC56547FA}" srcOrd="2" destOrd="0" presId="urn:microsoft.com/office/officeart/2005/8/layout/hProcess3"/>
    <dgm:cxn modelId="{3C3862BD-9DE0-4989-9418-8488BB174FAE}" type="presParOf" srcId="{48768363-9D25-4FD8-A4C9-21BF6DDE65BB}" destId="{7D30C1D0-D04D-4336-A852-25437F63D043}" srcOrd="3" destOrd="0" presId="urn:microsoft.com/office/officeart/2005/8/layout/hProcess3"/>
    <dgm:cxn modelId="{84F2AF17-F873-4E0B-86AB-B03069DB8EE0}" type="presParOf" srcId="{48768363-9D25-4FD8-A4C9-21BF6DDE65BB}" destId="{FFB11DA4-9622-4BFC-BC6B-CA73056CF5EC}" srcOrd="4"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CAD53B-6436-49F0-B2EA-BB131E422530}" type="doc">
      <dgm:prSet loTypeId="urn:microsoft.com/office/officeart/2005/8/layout/radial5" loCatId="relationship" qsTypeId="urn:microsoft.com/office/officeart/2005/8/quickstyle/simple2#1" qsCatId="simple" csTypeId="urn:microsoft.com/office/officeart/2005/8/colors/colorful4#1" csCatId="colorful" phldr="1"/>
      <dgm:spPr/>
      <dgm:t>
        <a:bodyPr/>
        <a:lstStyle/>
        <a:p>
          <a:endParaRPr lang="zh-CN" altLang="en-US"/>
        </a:p>
      </dgm:t>
    </dgm:pt>
    <dgm:pt modelId="{186E3D6C-601F-4AA1-9CBA-EB52ECFE8488}">
      <dgm:prSet phldrT="[文本]" custT="1"/>
      <dgm:spPr>
        <a:xfrm>
          <a:off x="2952956" y="1983167"/>
          <a:ext cx="1523638" cy="1523638"/>
        </a:xfrm>
        <a:noFill/>
        <a:ln w="34925" cap="flat" cmpd="sng" algn="ctr">
          <a:solidFill>
            <a:srgbClr val="0066CC"/>
          </a:solidFill>
          <a:prstDash val="solid"/>
        </a:ln>
        <a:effectLst>
          <a:outerShdw blurRad="40000" dist="20000" dir="5400000" rotWithShape="0">
            <a:srgbClr val="000000">
              <a:alpha val="38000"/>
            </a:srgbClr>
          </a:outerShdw>
        </a:effectLst>
      </dgm:spPr>
      <dgm:t>
        <a:bodyPr/>
        <a:lstStyle/>
        <a:p>
          <a:pPr>
            <a:lnSpc>
              <a:spcPts val="2000"/>
            </a:lnSpc>
          </a:pPr>
          <a:r>
            <a:rPr lang="zh-CN" altLang="en-US" sz="1800" b="1" dirty="0">
              <a:solidFill>
                <a:srgbClr val="0066CC"/>
              </a:solidFill>
              <a:effectLst/>
              <a:latin typeface="微软雅黑" panose="020B0503020204020204" pitchFamily="34" charset="-122"/>
              <a:ea typeface="微软雅黑" panose="020B0503020204020204" pitchFamily="34" charset="-122"/>
              <a:cs typeface="+mn-cs"/>
            </a:rPr>
            <a:t>网络舆情</a:t>
          </a:r>
          <a:endParaRPr lang="en-US" altLang="zh-CN" sz="1800" b="1" dirty="0">
            <a:solidFill>
              <a:srgbClr val="0066CC"/>
            </a:solidFill>
            <a:effectLst/>
            <a:latin typeface="微软雅黑" panose="020B0503020204020204" pitchFamily="34" charset="-122"/>
            <a:ea typeface="微软雅黑" panose="020B0503020204020204" pitchFamily="34" charset="-122"/>
            <a:cs typeface="+mn-cs"/>
          </a:endParaRPr>
        </a:p>
        <a:p>
          <a:pPr>
            <a:lnSpc>
              <a:spcPts val="2000"/>
            </a:lnSpc>
          </a:pPr>
          <a:r>
            <a:rPr lang="zh-CN" altLang="en-US" sz="1800" b="1" dirty="0">
              <a:solidFill>
                <a:srgbClr val="0066CC"/>
              </a:solidFill>
              <a:effectLst/>
              <a:latin typeface="微软雅黑" panose="020B0503020204020204" pitchFamily="34" charset="-122"/>
              <a:ea typeface="微软雅黑" panose="020B0503020204020204" pitchFamily="34" charset="-122"/>
              <a:cs typeface="+mn-cs"/>
            </a:rPr>
            <a:t>特点</a:t>
          </a:r>
        </a:p>
      </dgm:t>
    </dgm:pt>
    <dgm:pt modelId="{C0368C09-2DB3-4740-8DD0-DA2669E694A0}" type="parTrans" cxnId="{8C6E93B9-6833-45AD-AFD9-EC7E41945F8A}">
      <dgm:prSet/>
      <dgm:spPr/>
      <dgm:t>
        <a:bodyPr/>
        <a:lstStyle/>
        <a:p>
          <a:endParaRPr lang="zh-CN" altLang="en-US">
            <a:latin typeface="微软雅黑" panose="020B0503020204020204" pitchFamily="34" charset="-122"/>
            <a:ea typeface="微软雅黑" panose="020B0503020204020204" pitchFamily="34" charset="-122"/>
          </a:endParaRPr>
        </a:p>
      </dgm:t>
    </dgm:pt>
    <dgm:pt modelId="{10AB6890-CBCD-470D-848F-CDC73F86DE2C}" type="sibTrans" cxnId="{8C6E93B9-6833-45AD-AFD9-EC7E41945F8A}">
      <dgm:prSet/>
      <dgm:spPr/>
      <dgm:t>
        <a:bodyPr/>
        <a:lstStyle/>
        <a:p>
          <a:endParaRPr lang="zh-CN" altLang="en-US">
            <a:latin typeface="微软雅黑" panose="020B0503020204020204" pitchFamily="34" charset="-122"/>
            <a:ea typeface="微软雅黑" panose="020B0503020204020204" pitchFamily="34" charset="-122"/>
          </a:endParaRPr>
        </a:p>
      </dgm:t>
    </dgm:pt>
    <dgm:pt modelId="{59D3524C-E899-49C5-9D43-D6656CB7F7E7}">
      <dgm:prSet phldrT="[文本]" custT="1"/>
      <dgm:spPr>
        <a:xfrm>
          <a:off x="3029138" y="3815"/>
          <a:ext cx="1371274" cy="1371274"/>
        </a:xfrm>
        <a:solidFill>
          <a:srgbClr val="0066CC"/>
        </a:solidFill>
        <a:ln w="38100" cap="flat" cmpd="sng" algn="ctr">
          <a:noFill/>
          <a:prstDash val="solid"/>
        </a:ln>
        <a:effectLst>
          <a:outerShdw blurRad="40000" dist="20000" dir="5400000" rotWithShape="0">
            <a:srgbClr val="000000">
              <a:alpha val="38000"/>
            </a:srgbClr>
          </a:outerShdw>
        </a:effectLst>
      </dgm:spPr>
      <dgm:t>
        <a:bodyPr/>
        <a:lstStyle/>
        <a:p>
          <a:pPr>
            <a:lnSpc>
              <a:spcPts val="1500"/>
            </a:lnSpc>
          </a:pP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一</a:t>
          </a:r>
        </a:p>
      </dgm:t>
    </dgm:pt>
    <dgm:pt modelId="{BD1708AD-7A97-4257-9CB6-B0242F93C390}" type="parTrans" cxnId="{6564A98E-1CBA-42F3-83FE-6E1FC6530213}">
      <dgm:prSet/>
      <dgm:spPr>
        <a:xfrm rot="16200000">
          <a:off x="3553635" y="1429231"/>
          <a:ext cx="322280" cy="518037"/>
        </a:xfrm>
        <a:solidFill>
          <a:srgbClr val="0066CC"/>
        </a:solidFill>
        <a:ln>
          <a:noFill/>
        </a:ln>
        <a:effectLst>
          <a:outerShdw blurRad="40000" dist="20000" dir="5400000" rotWithShape="0">
            <a:srgbClr val="000000">
              <a:alpha val="38000"/>
            </a:srgbClr>
          </a:outerShdw>
        </a:effectLst>
      </dgm:spPr>
      <dgm:t>
        <a:bodyPr/>
        <a:lstStyle/>
        <a:p>
          <a:endParaRPr lang="zh-CN" altLang="en-US">
            <a:solidFill>
              <a:sysClr val="window" lastClr="FFFFFF"/>
            </a:solidFill>
            <a:latin typeface="微软雅黑" panose="020B0503020204020204" pitchFamily="34" charset="-122"/>
            <a:ea typeface="微软雅黑" panose="020B0503020204020204" pitchFamily="34" charset="-122"/>
            <a:cs typeface="+mn-cs"/>
          </a:endParaRPr>
        </a:p>
      </dgm:t>
    </dgm:pt>
    <dgm:pt modelId="{7999FED0-F325-4227-A3A1-5EF98585FA3F}" type="sibTrans" cxnId="{6564A98E-1CBA-42F3-83FE-6E1FC6530213}">
      <dgm:prSet/>
      <dgm:spPr/>
      <dgm:t>
        <a:bodyPr/>
        <a:lstStyle/>
        <a:p>
          <a:endParaRPr lang="zh-CN" altLang="en-US">
            <a:latin typeface="微软雅黑" panose="020B0503020204020204" pitchFamily="34" charset="-122"/>
            <a:ea typeface="微软雅黑" panose="020B0503020204020204" pitchFamily="34" charset="-122"/>
          </a:endParaRPr>
        </a:p>
      </dgm:t>
    </dgm:pt>
    <dgm:pt modelId="{3D24C5FA-6508-45BA-AAA3-5862E4852272}">
      <dgm:prSet phldrT="[文本]" custT="1"/>
      <dgm:spPr>
        <a:xfrm>
          <a:off x="4636219" y="777745"/>
          <a:ext cx="1371274" cy="1371274"/>
        </a:xfrm>
        <a:solidFill>
          <a:srgbClr val="0066CC"/>
        </a:solidFill>
        <a:ln w="38100" cap="flat" cmpd="sng" algn="ctr">
          <a:noFill/>
          <a:prstDash val="solid"/>
        </a:ln>
        <a:effectLst>
          <a:outerShdw blurRad="40000" dist="20000" dir="5400000" rotWithShape="0">
            <a:srgbClr val="000000">
              <a:alpha val="38000"/>
            </a:srgbClr>
          </a:outerShdw>
        </a:effectLst>
      </dgm:spPr>
      <dgm:t>
        <a:bodyPr/>
        <a:lstStyle/>
        <a:p>
          <a:pPr>
            <a:lnSpc>
              <a:spcPts val="1500"/>
            </a:lnSpc>
          </a:pP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二</a:t>
          </a:r>
        </a:p>
      </dgm:t>
    </dgm:pt>
    <dgm:pt modelId="{52DE2218-718B-4C6E-8AC3-6C1F50D0AD2D}" type="parTrans" cxnId="{201AD72E-4A9A-40AB-91F6-DC516D2CB6D7}">
      <dgm:prSet/>
      <dgm:spPr>
        <a:xfrm rot="19285714">
          <a:off x="4379825" y="1827103"/>
          <a:ext cx="322280" cy="518037"/>
        </a:xfrm>
        <a:solidFill>
          <a:srgbClr val="0066CC"/>
        </a:solidFill>
        <a:ln>
          <a:noFill/>
        </a:ln>
        <a:effectLst>
          <a:outerShdw blurRad="40000" dist="20000" dir="5400000" rotWithShape="0">
            <a:srgbClr val="000000">
              <a:alpha val="38000"/>
            </a:srgbClr>
          </a:outerShdw>
        </a:effectLst>
      </dgm:spPr>
      <dgm:t>
        <a:bodyPr/>
        <a:lstStyle/>
        <a:p>
          <a:endParaRPr lang="zh-CN" altLang="en-US">
            <a:solidFill>
              <a:sysClr val="window" lastClr="FFFFFF"/>
            </a:solidFill>
            <a:latin typeface="微软雅黑" panose="020B0503020204020204" pitchFamily="34" charset="-122"/>
            <a:ea typeface="微软雅黑" panose="020B0503020204020204" pitchFamily="34" charset="-122"/>
            <a:cs typeface="+mn-cs"/>
          </a:endParaRPr>
        </a:p>
      </dgm:t>
    </dgm:pt>
    <dgm:pt modelId="{3D266424-0F5F-484D-BA7D-6D6E1A114760}" type="sibTrans" cxnId="{201AD72E-4A9A-40AB-91F6-DC516D2CB6D7}">
      <dgm:prSet/>
      <dgm:spPr/>
      <dgm:t>
        <a:bodyPr/>
        <a:lstStyle/>
        <a:p>
          <a:endParaRPr lang="zh-CN" altLang="en-US">
            <a:latin typeface="微软雅黑" panose="020B0503020204020204" pitchFamily="34" charset="-122"/>
            <a:ea typeface="微软雅黑" panose="020B0503020204020204" pitchFamily="34" charset="-122"/>
          </a:endParaRPr>
        </a:p>
      </dgm:t>
    </dgm:pt>
    <dgm:pt modelId="{42B535FE-42E8-4894-99BA-1382C7A122A2}">
      <dgm:prSet phldrT="[文本]" custT="1"/>
      <dgm:spPr>
        <a:xfrm>
          <a:off x="5033135" y="2516748"/>
          <a:ext cx="1371274" cy="1371274"/>
        </a:xfrm>
        <a:solidFill>
          <a:srgbClr val="0066CC"/>
        </a:solidFill>
        <a:ln w="38100" cap="flat" cmpd="sng" algn="ctr">
          <a:noFill/>
          <a:prstDash val="solid"/>
        </a:ln>
        <a:effectLst>
          <a:outerShdw blurRad="40000" dist="20000" dir="5400000" rotWithShape="0">
            <a:srgbClr val="000000">
              <a:alpha val="38000"/>
            </a:srgbClr>
          </a:outerShdw>
        </a:effectLst>
      </dgm:spPr>
      <dgm:t>
        <a:bodyPr/>
        <a:lstStyle/>
        <a:p>
          <a:pPr>
            <a:lnSpc>
              <a:spcPts val="1500"/>
            </a:lnSpc>
          </a:pP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三</a:t>
          </a:r>
        </a:p>
      </dgm:t>
    </dgm:pt>
    <dgm:pt modelId="{856456DD-0039-4A91-98FE-416C2C328164}" type="parTrans" cxnId="{E0BA839E-2EE7-4743-B86B-684D3585768C}">
      <dgm:prSet/>
      <dgm:spPr>
        <a:xfrm rot="771429">
          <a:off x="4583877" y="2721114"/>
          <a:ext cx="322280" cy="518037"/>
        </a:xfrm>
        <a:solidFill>
          <a:srgbClr val="0066CC"/>
        </a:solidFill>
        <a:ln>
          <a:noFill/>
        </a:ln>
        <a:effectLst>
          <a:outerShdw blurRad="40000" dist="20000" dir="5400000" rotWithShape="0">
            <a:srgbClr val="000000">
              <a:alpha val="38000"/>
            </a:srgbClr>
          </a:outerShdw>
        </a:effectLst>
      </dgm:spPr>
      <dgm:t>
        <a:bodyPr/>
        <a:lstStyle/>
        <a:p>
          <a:endParaRPr lang="zh-CN" altLang="en-US">
            <a:solidFill>
              <a:sysClr val="window" lastClr="FFFFFF"/>
            </a:solidFill>
            <a:latin typeface="微软雅黑" panose="020B0503020204020204" pitchFamily="34" charset="-122"/>
            <a:ea typeface="微软雅黑" panose="020B0503020204020204" pitchFamily="34" charset="-122"/>
            <a:cs typeface="+mn-cs"/>
          </a:endParaRPr>
        </a:p>
      </dgm:t>
    </dgm:pt>
    <dgm:pt modelId="{5362245E-E2D1-45B0-922C-A063435B89B2}" type="sibTrans" cxnId="{E0BA839E-2EE7-4743-B86B-684D3585768C}">
      <dgm:prSet/>
      <dgm:spPr/>
      <dgm:t>
        <a:bodyPr/>
        <a:lstStyle/>
        <a:p>
          <a:endParaRPr lang="zh-CN" altLang="en-US">
            <a:latin typeface="微软雅黑" panose="020B0503020204020204" pitchFamily="34" charset="-122"/>
            <a:ea typeface="微软雅黑" panose="020B0503020204020204" pitchFamily="34" charset="-122"/>
          </a:endParaRPr>
        </a:p>
      </dgm:t>
    </dgm:pt>
    <dgm:pt modelId="{2BD7E754-D6CC-46A4-A4EA-32D09525DF17}">
      <dgm:prSet phldrT="[文本]" custT="1"/>
      <dgm:spPr>
        <a:xfrm>
          <a:off x="3921001" y="3911321"/>
          <a:ext cx="1371274" cy="1371274"/>
        </a:xfrm>
        <a:solidFill>
          <a:srgbClr val="0066CC"/>
        </a:solidFill>
        <a:ln w="38100" cap="flat" cmpd="sng" algn="ctr">
          <a:noFill/>
          <a:prstDash val="solid"/>
        </a:ln>
        <a:effectLst>
          <a:outerShdw blurRad="40000" dist="20000" dir="5400000" rotWithShape="0">
            <a:srgbClr val="000000">
              <a:alpha val="38000"/>
            </a:srgbClr>
          </a:outerShdw>
        </a:effectLst>
      </dgm:spPr>
      <dgm:t>
        <a:bodyPr/>
        <a:lstStyle/>
        <a:p>
          <a:pPr>
            <a:lnSpc>
              <a:spcPts val="1500"/>
            </a:lnSpc>
          </a:pP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四</a:t>
          </a:r>
        </a:p>
      </dgm:t>
    </dgm:pt>
    <dgm:pt modelId="{542B8B8C-EF2D-402E-B576-59485F5F6DB6}" type="parTrans" cxnId="{0970A3C4-0CBC-4BB3-916D-C7399B4DE9BD}">
      <dgm:prSet/>
      <dgm:spPr>
        <a:xfrm rot="3857143">
          <a:off x="4012136" y="3438055"/>
          <a:ext cx="322280" cy="518037"/>
        </a:xfrm>
        <a:solidFill>
          <a:srgbClr val="0066CC"/>
        </a:solidFill>
        <a:ln>
          <a:noFill/>
        </a:ln>
        <a:effectLst>
          <a:outerShdw blurRad="40000" dist="20000" dir="5400000" rotWithShape="0">
            <a:srgbClr val="000000">
              <a:alpha val="38000"/>
            </a:srgbClr>
          </a:outerShdw>
        </a:effectLst>
      </dgm:spPr>
      <dgm:t>
        <a:bodyPr/>
        <a:lstStyle/>
        <a:p>
          <a:endParaRPr lang="zh-CN" altLang="en-US">
            <a:solidFill>
              <a:sysClr val="window" lastClr="FFFFFF"/>
            </a:solidFill>
            <a:latin typeface="微软雅黑" panose="020B0503020204020204" pitchFamily="34" charset="-122"/>
            <a:ea typeface="微软雅黑" panose="020B0503020204020204" pitchFamily="34" charset="-122"/>
            <a:cs typeface="+mn-cs"/>
          </a:endParaRPr>
        </a:p>
      </dgm:t>
    </dgm:pt>
    <dgm:pt modelId="{18AA8E03-C91B-401C-9766-DFD0907A5AB6}" type="sibTrans" cxnId="{0970A3C4-0CBC-4BB3-916D-C7399B4DE9BD}">
      <dgm:prSet/>
      <dgm:spPr/>
      <dgm:t>
        <a:bodyPr/>
        <a:lstStyle/>
        <a:p>
          <a:endParaRPr lang="zh-CN" altLang="en-US">
            <a:latin typeface="微软雅黑" panose="020B0503020204020204" pitchFamily="34" charset="-122"/>
            <a:ea typeface="微软雅黑" panose="020B0503020204020204" pitchFamily="34" charset="-122"/>
          </a:endParaRPr>
        </a:p>
      </dgm:t>
    </dgm:pt>
    <dgm:pt modelId="{F3A1472D-4FB8-449D-89D1-D5E6763CFE46}">
      <dgm:prSet phldrT="[文本]" custT="1"/>
      <dgm:spPr>
        <a:xfrm>
          <a:off x="2137275" y="3911321"/>
          <a:ext cx="1371274" cy="1371274"/>
        </a:xfrm>
        <a:solidFill>
          <a:srgbClr val="0066CC"/>
        </a:solidFill>
        <a:ln w="38100" cap="flat" cmpd="sng" algn="ctr">
          <a:noFill/>
          <a:prstDash val="solid"/>
        </a:ln>
        <a:effectLst>
          <a:outerShdw blurRad="40000" dist="20000" dir="5400000" rotWithShape="0">
            <a:srgbClr val="000000">
              <a:alpha val="38000"/>
            </a:srgbClr>
          </a:outerShdw>
        </a:effectLst>
      </dgm:spPr>
      <dgm:t>
        <a:bodyPr/>
        <a:lstStyle/>
        <a:p>
          <a:pPr>
            <a:lnSpc>
              <a:spcPts val="1500"/>
            </a:lnSpc>
          </a:pP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五</a:t>
          </a:r>
        </a:p>
      </dgm:t>
    </dgm:pt>
    <dgm:pt modelId="{B394AE0E-7D49-4A29-BF7B-D449E8FDACB2}" type="parTrans" cxnId="{3B1C69C6-C20E-4394-9696-5D4BF3D025FA}">
      <dgm:prSet/>
      <dgm:spPr>
        <a:xfrm rot="6942857">
          <a:off x="3095134" y="3438055"/>
          <a:ext cx="322280" cy="518037"/>
        </a:xfrm>
        <a:solidFill>
          <a:srgbClr val="0066CC"/>
        </a:solidFill>
        <a:ln>
          <a:noFill/>
        </a:ln>
        <a:effectLst>
          <a:outerShdw blurRad="40000" dist="20000" dir="5400000" rotWithShape="0">
            <a:srgbClr val="000000">
              <a:alpha val="38000"/>
            </a:srgbClr>
          </a:outerShdw>
        </a:effectLst>
      </dgm:spPr>
      <dgm:t>
        <a:bodyPr/>
        <a:lstStyle/>
        <a:p>
          <a:endParaRPr lang="zh-CN" altLang="en-US">
            <a:solidFill>
              <a:sysClr val="window" lastClr="FFFFFF"/>
            </a:solidFill>
            <a:latin typeface="微软雅黑" panose="020B0503020204020204" pitchFamily="34" charset="-122"/>
            <a:ea typeface="微软雅黑" panose="020B0503020204020204" pitchFamily="34" charset="-122"/>
            <a:cs typeface="+mn-cs"/>
          </a:endParaRPr>
        </a:p>
      </dgm:t>
    </dgm:pt>
    <dgm:pt modelId="{26BED5A6-9BEF-4C7D-870E-9A54DF7EFB3E}" type="sibTrans" cxnId="{3B1C69C6-C20E-4394-9696-5D4BF3D025FA}">
      <dgm:prSet/>
      <dgm:spPr/>
      <dgm:t>
        <a:bodyPr/>
        <a:lstStyle/>
        <a:p>
          <a:endParaRPr lang="zh-CN" altLang="en-US">
            <a:latin typeface="微软雅黑" panose="020B0503020204020204" pitchFamily="34" charset="-122"/>
            <a:ea typeface="微软雅黑" panose="020B0503020204020204" pitchFamily="34" charset="-122"/>
          </a:endParaRPr>
        </a:p>
      </dgm:t>
    </dgm:pt>
    <dgm:pt modelId="{185016CD-3AAF-4EA2-8EE3-84D001B6E9C0}" type="pres">
      <dgm:prSet presAssocID="{D0CAD53B-6436-49F0-B2EA-BB131E422530}" presName="Name0" presStyleCnt="0">
        <dgm:presLayoutVars>
          <dgm:chMax val="1"/>
          <dgm:dir/>
          <dgm:animLvl val="ctr"/>
          <dgm:resizeHandles val="exact"/>
        </dgm:presLayoutVars>
      </dgm:prSet>
      <dgm:spPr/>
    </dgm:pt>
    <dgm:pt modelId="{AC60B0D0-E26B-4EF5-90AB-6169E2A8EF10}" type="pres">
      <dgm:prSet presAssocID="{186E3D6C-601F-4AA1-9CBA-EB52ECFE8488}" presName="centerShape" presStyleLbl="node0" presStyleIdx="0" presStyleCnt="1" custScaleX="138322"/>
      <dgm:spPr>
        <a:prstGeom prst="ellipse">
          <a:avLst/>
        </a:prstGeom>
      </dgm:spPr>
    </dgm:pt>
    <dgm:pt modelId="{622878C7-CF97-4AC9-A06D-9970200DD9F9}" type="pres">
      <dgm:prSet presAssocID="{BD1708AD-7A97-4257-9CB6-B0242F93C390}" presName="parTrans" presStyleLbl="sibTrans2D1" presStyleIdx="0" presStyleCnt="5"/>
      <dgm:spPr>
        <a:prstGeom prst="rightArrow">
          <a:avLst>
            <a:gd name="adj1" fmla="val 60000"/>
            <a:gd name="adj2" fmla="val 50000"/>
          </a:avLst>
        </a:prstGeom>
      </dgm:spPr>
    </dgm:pt>
    <dgm:pt modelId="{60A1305A-4CDB-4463-B249-8A3C983FAC74}" type="pres">
      <dgm:prSet presAssocID="{BD1708AD-7A97-4257-9CB6-B0242F93C390}" presName="connectorText" presStyleLbl="sibTrans2D1" presStyleIdx="0" presStyleCnt="5"/>
      <dgm:spPr/>
    </dgm:pt>
    <dgm:pt modelId="{5F97D607-F571-4917-A97F-79ED7C0C19D2}" type="pres">
      <dgm:prSet presAssocID="{59D3524C-E899-49C5-9D43-D6656CB7F7E7}" presName="node" presStyleLbl="node1" presStyleIdx="0" presStyleCnt="5">
        <dgm:presLayoutVars>
          <dgm:bulletEnabled val="1"/>
        </dgm:presLayoutVars>
      </dgm:prSet>
      <dgm:spPr>
        <a:prstGeom prst="ellipse">
          <a:avLst/>
        </a:prstGeom>
      </dgm:spPr>
    </dgm:pt>
    <dgm:pt modelId="{2A789BF8-BECF-4D07-BA52-AA141F024B3B}" type="pres">
      <dgm:prSet presAssocID="{52DE2218-718B-4C6E-8AC3-6C1F50D0AD2D}" presName="parTrans" presStyleLbl="sibTrans2D1" presStyleIdx="1" presStyleCnt="5"/>
      <dgm:spPr>
        <a:prstGeom prst="rightArrow">
          <a:avLst>
            <a:gd name="adj1" fmla="val 60000"/>
            <a:gd name="adj2" fmla="val 50000"/>
          </a:avLst>
        </a:prstGeom>
      </dgm:spPr>
    </dgm:pt>
    <dgm:pt modelId="{7C05864D-D6A4-43B2-A0C4-5175AB693765}" type="pres">
      <dgm:prSet presAssocID="{52DE2218-718B-4C6E-8AC3-6C1F50D0AD2D}" presName="connectorText" presStyleLbl="sibTrans2D1" presStyleIdx="1" presStyleCnt="5"/>
      <dgm:spPr/>
    </dgm:pt>
    <dgm:pt modelId="{D88FB904-D5CB-4D8C-8B3A-E19495AE423B}" type="pres">
      <dgm:prSet presAssocID="{3D24C5FA-6508-45BA-AAA3-5862E4852272}" presName="node" presStyleLbl="node1" presStyleIdx="1" presStyleCnt="5">
        <dgm:presLayoutVars>
          <dgm:bulletEnabled val="1"/>
        </dgm:presLayoutVars>
      </dgm:prSet>
      <dgm:spPr>
        <a:prstGeom prst="ellipse">
          <a:avLst/>
        </a:prstGeom>
      </dgm:spPr>
    </dgm:pt>
    <dgm:pt modelId="{E492AD16-B5B3-477A-BE94-9FC4D2E850B5}" type="pres">
      <dgm:prSet presAssocID="{856456DD-0039-4A91-98FE-416C2C328164}" presName="parTrans" presStyleLbl="sibTrans2D1" presStyleIdx="2" presStyleCnt="5"/>
      <dgm:spPr>
        <a:prstGeom prst="rightArrow">
          <a:avLst>
            <a:gd name="adj1" fmla="val 60000"/>
            <a:gd name="adj2" fmla="val 50000"/>
          </a:avLst>
        </a:prstGeom>
      </dgm:spPr>
    </dgm:pt>
    <dgm:pt modelId="{03506BCF-182A-4DCD-9B7B-E697C7B0A387}" type="pres">
      <dgm:prSet presAssocID="{856456DD-0039-4A91-98FE-416C2C328164}" presName="connectorText" presStyleLbl="sibTrans2D1" presStyleIdx="2" presStyleCnt="5"/>
      <dgm:spPr/>
    </dgm:pt>
    <dgm:pt modelId="{010B5CEF-EBDF-4699-A5B8-98CCF0267E98}" type="pres">
      <dgm:prSet presAssocID="{42B535FE-42E8-4894-99BA-1382C7A122A2}" presName="node" presStyleLbl="node1" presStyleIdx="2" presStyleCnt="5">
        <dgm:presLayoutVars>
          <dgm:bulletEnabled val="1"/>
        </dgm:presLayoutVars>
      </dgm:prSet>
      <dgm:spPr>
        <a:prstGeom prst="ellipse">
          <a:avLst/>
        </a:prstGeom>
      </dgm:spPr>
    </dgm:pt>
    <dgm:pt modelId="{A7CD35BD-FE1D-4514-B2C4-D6207CDB5E93}" type="pres">
      <dgm:prSet presAssocID="{542B8B8C-EF2D-402E-B576-59485F5F6DB6}" presName="parTrans" presStyleLbl="sibTrans2D1" presStyleIdx="3" presStyleCnt="5"/>
      <dgm:spPr>
        <a:prstGeom prst="rightArrow">
          <a:avLst>
            <a:gd name="adj1" fmla="val 60000"/>
            <a:gd name="adj2" fmla="val 50000"/>
          </a:avLst>
        </a:prstGeom>
      </dgm:spPr>
    </dgm:pt>
    <dgm:pt modelId="{AF263BD9-3139-4616-AE35-99B16F90C8AC}" type="pres">
      <dgm:prSet presAssocID="{542B8B8C-EF2D-402E-B576-59485F5F6DB6}" presName="connectorText" presStyleLbl="sibTrans2D1" presStyleIdx="3" presStyleCnt="5"/>
      <dgm:spPr/>
    </dgm:pt>
    <dgm:pt modelId="{28697490-14A2-4860-8CC3-A0A571CBE904}" type="pres">
      <dgm:prSet presAssocID="{2BD7E754-D6CC-46A4-A4EA-32D09525DF17}" presName="node" presStyleLbl="node1" presStyleIdx="3" presStyleCnt="5">
        <dgm:presLayoutVars>
          <dgm:bulletEnabled val="1"/>
        </dgm:presLayoutVars>
      </dgm:prSet>
      <dgm:spPr>
        <a:prstGeom prst="ellipse">
          <a:avLst/>
        </a:prstGeom>
      </dgm:spPr>
    </dgm:pt>
    <dgm:pt modelId="{84A16D57-3E02-41A7-9A0D-5AFB53973C16}" type="pres">
      <dgm:prSet presAssocID="{B394AE0E-7D49-4A29-BF7B-D449E8FDACB2}" presName="parTrans" presStyleLbl="sibTrans2D1" presStyleIdx="4" presStyleCnt="5"/>
      <dgm:spPr>
        <a:prstGeom prst="rightArrow">
          <a:avLst>
            <a:gd name="adj1" fmla="val 60000"/>
            <a:gd name="adj2" fmla="val 50000"/>
          </a:avLst>
        </a:prstGeom>
      </dgm:spPr>
    </dgm:pt>
    <dgm:pt modelId="{44919A4F-7C6B-4B0F-A425-CDF04B2AE28B}" type="pres">
      <dgm:prSet presAssocID="{B394AE0E-7D49-4A29-BF7B-D449E8FDACB2}" presName="connectorText" presStyleLbl="sibTrans2D1" presStyleIdx="4" presStyleCnt="5"/>
      <dgm:spPr/>
    </dgm:pt>
    <dgm:pt modelId="{980BA0AF-614A-4CDC-8541-EB5761B252F7}" type="pres">
      <dgm:prSet presAssocID="{F3A1472D-4FB8-449D-89D1-D5E6763CFE46}" presName="node" presStyleLbl="node1" presStyleIdx="4" presStyleCnt="5">
        <dgm:presLayoutVars>
          <dgm:bulletEnabled val="1"/>
        </dgm:presLayoutVars>
      </dgm:prSet>
      <dgm:spPr>
        <a:prstGeom prst="ellipse">
          <a:avLst/>
        </a:prstGeom>
      </dgm:spPr>
    </dgm:pt>
  </dgm:ptLst>
  <dgm:cxnLst>
    <dgm:cxn modelId="{00316E19-D9A8-48B4-B206-B8E8AD569036}" type="presOf" srcId="{52DE2218-718B-4C6E-8AC3-6C1F50D0AD2D}" destId="{2A789BF8-BECF-4D07-BA52-AA141F024B3B}" srcOrd="0" destOrd="0" presId="urn:microsoft.com/office/officeart/2005/8/layout/radial5"/>
    <dgm:cxn modelId="{B943912D-EE40-4BAA-B60D-F0FE8E6D17C5}" type="presOf" srcId="{BD1708AD-7A97-4257-9CB6-B0242F93C390}" destId="{622878C7-CF97-4AC9-A06D-9970200DD9F9}" srcOrd="0" destOrd="0" presId="urn:microsoft.com/office/officeart/2005/8/layout/radial5"/>
    <dgm:cxn modelId="{326A862E-7948-4913-BE17-143D1A86C403}" type="presOf" srcId="{542B8B8C-EF2D-402E-B576-59485F5F6DB6}" destId="{A7CD35BD-FE1D-4514-B2C4-D6207CDB5E93}" srcOrd="0" destOrd="0" presId="urn:microsoft.com/office/officeart/2005/8/layout/radial5"/>
    <dgm:cxn modelId="{201AD72E-4A9A-40AB-91F6-DC516D2CB6D7}" srcId="{186E3D6C-601F-4AA1-9CBA-EB52ECFE8488}" destId="{3D24C5FA-6508-45BA-AAA3-5862E4852272}" srcOrd="1" destOrd="0" parTransId="{52DE2218-718B-4C6E-8AC3-6C1F50D0AD2D}" sibTransId="{3D266424-0F5F-484D-BA7D-6D6E1A114760}"/>
    <dgm:cxn modelId="{F644E362-CC41-403F-A2DF-3DE47020031C}" type="presOf" srcId="{856456DD-0039-4A91-98FE-416C2C328164}" destId="{03506BCF-182A-4DCD-9B7B-E697C7B0A387}" srcOrd="1" destOrd="0" presId="urn:microsoft.com/office/officeart/2005/8/layout/radial5"/>
    <dgm:cxn modelId="{28FA3945-5885-4A5E-89AC-98A5934E0C93}" type="presOf" srcId="{59D3524C-E899-49C5-9D43-D6656CB7F7E7}" destId="{5F97D607-F571-4917-A97F-79ED7C0C19D2}" srcOrd="0" destOrd="0" presId="urn:microsoft.com/office/officeart/2005/8/layout/radial5"/>
    <dgm:cxn modelId="{9CBA4851-E9AB-434A-A978-E1C36C387B62}" type="presOf" srcId="{186E3D6C-601F-4AA1-9CBA-EB52ECFE8488}" destId="{AC60B0D0-E26B-4EF5-90AB-6169E2A8EF10}" srcOrd="0" destOrd="0" presId="urn:microsoft.com/office/officeart/2005/8/layout/radial5"/>
    <dgm:cxn modelId="{DDE3D352-5B06-4F67-A129-19210A28A443}" type="presOf" srcId="{3D24C5FA-6508-45BA-AAA3-5862E4852272}" destId="{D88FB904-D5CB-4D8C-8B3A-E19495AE423B}" srcOrd="0" destOrd="0" presId="urn:microsoft.com/office/officeart/2005/8/layout/radial5"/>
    <dgm:cxn modelId="{ED27B159-8A18-4FCF-AB39-EE79C140C573}" type="presOf" srcId="{856456DD-0039-4A91-98FE-416C2C328164}" destId="{E492AD16-B5B3-477A-BE94-9FC4D2E850B5}" srcOrd="0" destOrd="0" presId="urn:microsoft.com/office/officeart/2005/8/layout/radial5"/>
    <dgm:cxn modelId="{8C8CCF81-484B-41AB-A243-2E2BA2913A17}" type="presOf" srcId="{F3A1472D-4FB8-449D-89D1-D5E6763CFE46}" destId="{980BA0AF-614A-4CDC-8541-EB5761B252F7}" srcOrd="0" destOrd="0" presId="urn:microsoft.com/office/officeart/2005/8/layout/radial5"/>
    <dgm:cxn modelId="{6564A98E-1CBA-42F3-83FE-6E1FC6530213}" srcId="{186E3D6C-601F-4AA1-9CBA-EB52ECFE8488}" destId="{59D3524C-E899-49C5-9D43-D6656CB7F7E7}" srcOrd="0" destOrd="0" parTransId="{BD1708AD-7A97-4257-9CB6-B0242F93C390}" sibTransId="{7999FED0-F325-4227-A3A1-5EF98585FA3F}"/>
    <dgm:cxn modelId="{28BCFC9B-EC51-41BD-B8D8-94DA5F60575C}" type="presOf" srcId="{42B535FE-42E8-4894-99BA-1382C7A122A2}" destId="{010B5CEF-EBDF-4699-A5B8-98CCF0267E98}" srcOrd="0" destOrd="0" presId="urn:microsoft.com/office/officeart/2005/8/layout/radial5"/>
    <dgm:cxn modelId="{E0BA839E-2EE7-4743-B86B-684D3585768C}" srcId="{186E3D6C-601F-4AA1-9CBA-EB52ECFE8488}" destId="{42B535FE-42E8-4894-99BA-1382C7A122A2}" srcOrd="2" destOrd="0" parTransId="{856456DD-0039-4A91-98FE-416C2C328164}" sibTransId="{5362245E-E2D1-45B0-922C-A063435B89B2}"/>
    <dgm:cxn modelId="{8C6E93B9-6833-45AD-AFD9-EC7E41945F8A}" srcId="{D0CAD53B-6436-49F0-B2EA-BB131E422530}" destId="{186E3D6C-601F-4AA1-9CBA-EB52ECFE8488}" srcOrd="0" destOrd="0" parTransId="{C0368C09-2DB3-4740-8DD0-DA2669E694A0}" sibTransId="{10AB6890-CBCD-470D-848F-CDC73F86DE2C}"/>
    <dgm:cxn modelId="{E449F4BE-6C0C-4970-BF18-1F50434A9EB5}" type="presOf" srcId="{B394AE0E-7D49-4A29-BF7B-D449E8FDACB2}" destId="{84A16D57-3E02-41A7-9A0D-5AFB53973C16}" srcOrd="0" destOrd="0" presId="urn:microsoft.com/office/officeart/2005/8/layout/radial5"/>
    <dgm:cxn modelId="{FF8E3ABF-9829-44BC-9184-83AB4906E4D4}" type="presOf" srcId="{2BD7E754-D6CC-46A4-A4EA-32D09525DF17}" destId="{28697490-14A2-4860-8CC3-A0A571CBE904}" srcOrd="0" destOrd="0" presId="urn:microsoft.com/office/officeart/2005/8/layout/radial5"/>
    <dgm:cxn modelId="{BC9C84BF-0880-40F2-8875-6DB4B02670DE}" type="presOf" srcId="{B394AE0E-7D49-4A29-BF7B-D449E8FDACB2}" destId="{44919A4F-7C6B-4B0F-A425-CDF04B2AE28B}" srcOrd="1" destOrd="0" presId="urn:microsoft.com/office/officeart/2005/8/layout/radial5"/>
    <dgm:cxn modelId="{0970A3C4-0CBC-4BB3-916D-C7399B4DE9BD}" srcId="{186E3D6C-601F-4AA1-9CBA-EB52ECFE8488}" destId="{2BD7E754-D6CC-46A4-A4EA-32D09525DF17}" srcOrd="3" destOrd="0" parTransId="{542B8B8C-EF2D-402E-B576-59485F5F6DB6}" sibTransId="{18AA8E03-C91B-401C-9766-DFD0907A5AB6}"/>
    <dgm:cxn modelId="{3B1C69C6-C20E-4394-9696-5D4BF3D025FA}" srcId="{186E3D6C-601F-4AA1-9CBA-EB52ECFE8488}" destId="{F3A1472D-4FB8-449D-89D1-D5E6763CFE46}" srcOrd="4" destOrd="0" parTransId="{B394AE0E-7D49-4A29-BF7B-D449E8FDACB2}" sibTransId="{26BED5A6-9BEF-4C7D-870E-9A54DF7EFB3E}"/>
    <dgm:cxn modelId="{54AD7CC6-10EE-4B17-974B-DB197A9D393E}" type="presOf" srcId="{D0CAD53B-6436-49F0-B2EA-BB131E422530}" destId="{185016CD-3AAF-4EA2-8EE3-84D001B6E9C0}" srcOrd="0" destOrd="0" presId="urn:microsoft.com/office/officeart/2005/8/layout/radial5"/>
    <dgm:cxn modelId="{4EA718CC-0305-45C2-9CF9-92E623B9B66F}" type="presOf" srcId="{52DE2218-718B-4C6E-8AC3-6C1F50D0AD2D}" destId="{7C05864D-D6A4-43B2-A0C4-5175AB693765}" srcOrd="1" destOrd="0" presId="urn:microsoft.com/office/officeart/2005/8/layout/radial5"/>
    <dgm:cxn modelId="{1BD92FD2-E275-4097-A6F5-9C76A7C87099}" type="presOf" srcId="{542B8B8C-EF2D-402E-B576-59485F5F6DB6}" destId="{AF263BD9-3139-4616-AE35-99B16F90C8AC}" srcOrd="1" destOrd="0" presId="urn:microsoft.com/office/officeart/2005/8/layout/radial5"/>
    <dgm:cxn modelId="{5D5407D8-54BB-4DA7-8721-9EE878A96AFF}" type="presOf" srcId="{BD1708AD-7A97-4257-9CB6-B0242F93C390}" destId="{60A1305A-4CDB-4463-B249-8A3C983FAC74}" srcOrd="1" destOrd="0" presId="urn:microsoft.com/office/officeart/2005/8/layout/radial5"/>
    <dgm:cxn modelId="{B60480DC-D39B-4373-94A7-011EFF25F018}" type="presParOf" srcId="{185016CD-3AAF-4EA2-8EE3-84D001B6E9C0}" destId="{AC60B0D0-E26B-4EF5-90AB-6169E2A8EF10}" srcOrd="0" destOrd="0" presId="urn:microsoft.com/office/officeart/2005/8/layout/radial5"/>
    <dgm:cxn modelId="{AF648728-1528-4489-8C44-96B005969FC4}" type="presParOf" srcId="{185016CD-3AAF-4EA2-8EE3-84D001B6E9C0}" destId="{622878C7-CF97-4AC9-A06D-9970200DD9F9}" srcOrd="1" destOrd="0" presId="urn:microsoft.com/office/officeart/2005/8/layout/radial5"/>
    <dgm:cxn modelId="{F04C791B-472C-4D25-B2A9-E9EBAE997057}" type="presParOf" srcId="{622878C7-CF97-4AC9-A06D-9970200DD9F9}" destId="{60A1305A-4CDB-4463-B249-8A3C983FAC74}" srcOrd="0" destOrd="0" presId="urn:microsoft.com/office/officeart/2005/8/layout/radial5"/>
    <dgm:cxn modelId="{371250B5-C6DB-424C-B88A-F840E1798FC4}" type="presParOf" srcId="{185016CD-3AAF-4EA2-8EE3-84D001B6E9C0}" destId="{5F97D607-F571-4917-A97F-79ED7C0C19D2}" srcOrd="2" destOrd="0" presId="urn:microsoft.com/office/officeart/2005/8/layout/radial5"/>
    <dgm:cxn modelId="{32333D7B-91D7-4FFE-BE4F-607C9AC0334B}" type="presParOf" srcId="{185016CD-3AAF-4EA2-8EE3-84D001B6E9C0}" destId="{2A789BF8-BECF-4D07-BA52-AA141F024B3B}" srcOrd="3" destOrd="0" presId="urn:microsoft.com/office/officeart/2005/8/layout/radial5"/>
    <dgm:cxn modelId="{3BE91275-3146-4554-8C25-F45B8D7F691B}" type="presParOf" srcId="{2A789BF8-BECF-4D07-BA52-AA141F024B3B}" destId="{7C05864D-D6A4-43B2-A0C4-5175AB693765}" srcOrd="0" destOrd="0" presId="urn:microsoft.com/office/officeart/2005/8/layout/radial5"/>
    <dgm:cxn modelId="{25B4C7F8-5B02-4592-8CB7-20027693A313}" type="presParOf" srcId="{185016CD-3AAF-4EA2-8EE3-84D001B6E9C0}" destId="{D88FB904-D5CB-4D8C-8B3A-E19495AE423B}" srcOrd="4" destOrd="0" presId="urn:microsoft.com/office/officeart/2005/8/layout/radial5"/>
    <dgm:cxn modelId="{2AECCE05-8B5A-4870-9874-88EB545D0A62}" type="presParOf" srcId="{185016CD-3AAF-4EA2-8EE3-84D001B6E9C0}" destId="{E492AD16-B5B3-477A-BE94-9FC4D2E850B5}" srcOrd="5" destOrd="0" presId="urn:microsoft.com/office/officeart/2005/8/layout/radial5"/>
    <dgm:cxn modelId="{5386E552-73BC-445F-AA13-EB56FF30B6B5}" type="presParOf" srcId="{E492AD16-B5B3-477A-BE94-9FC4D2E850B5}" destId="{03506BCF-182A-4DCD-9B7B-E697C7B0A387}" srcOrd="0" destOrd="0" presId="urn:microsoft.com/office/officeart/2005/8/layout/radial5"/>
    <dgm:cxn modelId="{F339FEEB-CD12-489C-9DEE-BA98EEC06D62}" type="presParOf" srcId="{185016CD-3AAF-4EA2-8EE3-84D001B6E9C0}" destId="{010B5CEF-EBDF-4699-A5B8-98CCF0267E98}" srcOrd="6" destOrd="0" presId="urn:microsoft.com/office/officeart/2005/8/layout/radial5"/>
    <dgm:cxn modelId="{2A966BD6-5C13-49D8-8B49-4DD3E44485B8}" type="presParOf" srcId="{185016CD-3AAF-4EA2-8EE3-84D001B6E9C0}" destId="{A7CD35BD-FE1D-4514-B2C4-D6207CDB5E93}" srcOrd="7" destOrd="0" presId="urn:microsoft.com/office/officeart/2005/8/layout/radial5"/>
    <dgm:cxn modelId="{F1778919-9EBE-47CA-814A-23ED3B5BBD80}" type="presParOf" srcId="{A7CD35BD-FE1D-4514-B2C4-D6207CDB5E93}" destId="{AF263BD9-3139-4616-AE35-99B16F90C8AC}" srcOrd="0" destOrd="0" presId="urn:microsoft.com/office/officeart/2005/8/layout/radial5"/>
    <dgm:cxn modelId="{6F67CFFE-63B4-42BB-BA96-A7827599EFCE}" type="presParOf" srcId="{185016CD-3AAF-4EA2-8EE3-84D001B6E9C0}" destId="{28697490-14A2-4860-8CC3-A0A571CBE904}" srcOrd="8" destOrd="0" presId="urn:microsoft.com/office/officeart/2005/8/layout/radial5"/>
    <dgm:cxn modelId="{D1902053-C018-4E58-98B6-26458F1E1EF7}" type="presParOf" srcId="{185016CD-3AAF-4EA2-8EE3-84D001B6E9C0}" destId="{84A16D57-3E02-41A7-9A0D-5AFB53973C16}" srcOrd="9" destOrd="0" presId="urn:microsoft.com/office/officeart/2005/8/layout/radial5"/>
    <dgm:cxn modelId="{8275B5AE-3C7F-44E5-A371-5862AC67CBE2}" type="presParOf" srcId="{84A16D57-3E02-41A7-9A0D-5AFB53973C16}" destId="{44919A4F-7C6B-4B0F-A425-CDF04B2AE28B}" srcOrd="0" destOrd="0" presId="urn:microsoft.com/office/officeart/2005/8/layout/radial5"/>
    <dgm:cxn modelId="{9986A397-9158-4985-ADEE-42D45587FDE3}" type="presParOf" srcId="{185016CD-3AAF-4EA2-8EE3-84D001B6E9C0}" destId="{980BA0AF-614A-4CDC-8541-EB5761B252F7}"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9A1326-7F60-4227-8EA0-9382FAFD1CC2}" type="doc">
      <dgm:prSet loTypeId="urn:microsoft.com/office/officeart/2005/8/layout/vProcess5" loCatId="process" qsTypeId="urn:microsoft.com/office/officeart/2005/8/quickstyle/simple1#2" qsCatId="simple" csTypeId="urn:microsoft.com/office/officeart/2005/8/colors/accent1_2#2" csCatId="accent1" phldr="1"/>
      <dgm:spPr/>
      <dgm:t>
        <a:bodyPr/>
        <a:lstStyle/>
        <a:p>
          <a:endParaRPr lang="zh-CN" altLang="en-US"/>
        </a:p>
      </dgm:t>
    </dgm:pt>
    <dgm:pt modelId="{DEAD24A4-FC0D-41A7-AA1C-245ABE5811FA}">
      <dgm:prSet phldrT="[文本]" custT="1"/>
      <dgm:spPr/>
      <dgm:t>
        <a:bodyPr/>
        <a:lstStyle/>
        <a:p>
          <a:r>
            <a:rPr lang="zh-CN" altLang="en-US" sz="2000" b="1" dirty="0">
              <a:latin typeface="微软雅黑" panose="020B0503020204020204" pitchFamily="34" charset="-122"/>
              <a:ea typeface="微软雅黑" panose="020B0503020204020204" pitchFamily="34" charset="-122"/>
            </a:rPr>
            <a:t>确定对象集和评估因素集</a:t>
          </a:r>
        </a:p>
      </dgm:t>
    </dgm:pt>
    <dgm:pt modelId="{0CD2EA74-83D6-4E7B-8ACE-9374383BB18A}" type="parTrans" cxnId="{6854D09F-90CB-4947-AF80-5BE8B493FE4C}">
      <dgm:prSet/>
      <dgm:spPr/>
      <dgm:t>
        <a:bodyPr/>
        <a:lstStyle/>
        <a:p>
          <a:endParaRPr lang="zh-CN" altLang="en-US"/>
        </a:p>
      </dgm:t>
    </dgm:pt>
    <dgm:pt modelId="{2DC63F5D-8107-462D-A927-335EC6CC81F3}" type="sibTrans" cxnId="{6854D09F-90CB-4947-AF80-5BE8B493FE4C}">
      <dgm:prSet/>
      <dgm:spPr>
        <a:solidFill>
          <a:schemeClr val="accent2">
            <a:alpha val="90000"/>
          </a:schemeClr>
        </a:solidFill>
      </dgm:spPr>
      <dgm:t>
        <a:bodyPr/>
        <a:lstStyle/>
        <a:p>
          <a:endParaRPr lang="zh-CN" altLang="en-US"/>
        </a:p>
      </dgm:t>
    </dgm:pt>
    <dgm:pt modelId="{E07EBCEE-E9A6-49BA-B1B0-85AD3A205661}">
      <dgm:prSet phldrT="[文本]" custT="1"/>
      <dgm:spPr/>
      <dgm:t>
        <a:bodyPr/>
        <a:lstStyle/>
        <a:p>
          <a:r>
            <a:rPr lang="zh-CN" altLang="en-US" sz="2000" b="1" dirty="0">
              <a:latin typeface="微软雅黑" panose="020B0503020204020204" pitchFamily="34" charset="-122"/>
              <a:ea typeface="微软雅黑" panose="020B0503020204020204" pitchFamily="34" charset="-122"/>
            </a:rPr>
            <a:t>确定评估集</a:t>
          </a:r>
          <a:endParaRPr lang="zh-CN" altLang="en-US" sz="2000" dirty="0">
            <a:latin typeface="微软雅黑" panose="020B0503020204020204" pitchFamily="34" charset="-122"/>
            <a:ea typeface="微软雅黑" panose="020B0503020204020204" pitchFamily="34" charset="-122"/>
          </a:endParaRPr>
        </a:p>
      </dgm:t>
    </dgm:pt>
    <dgm:pt modelId="{F490E60A-7108-4867-8D74-50C8E7550D86}" type="parTrans" cxnId="{2663066E-4392-43CD-B0C6-298B2AE7B07A}">
      <dgm:prSet/>
      <dgm:spPr/>
      <dgm:t>
        <a:bodyPr/>
        <a:lstStyle/>
        <a:p>
          <a:endParaRPr lang="zh-CN" altLang="en-US"/>
        </a:p>
      </dgm:t>
    </dgm:pt>
    <dgm:pt modelId="{7FDE2A5D-F87F-42CB-B8BF-9BF93B6EAFB1}" type="sibTrans" cxnId="{2663066E-4392-43CD-B0C6-298B2AE7B07A}">
      <dgm:prSet/>
      <dgm:spPr>
        <a:solidFill>
          <a:schemeClr val="accent2">
            <a:alpha val="90000"/>
          </a:schemeClr>
        </a:solidFill>
      </dgm:spPr>
      <dgm:t>
        <a:bodyPr/>
        <a:lstStyle/>
        <a:p>
          <a:endParaRPr lang="zh-CN" altLang="en-US"/>
        </a:p>
      </dgm:t>
    </dgm:pt>
    <dgm:pt modelId="{289D5C84-A6DE-4BEE-86E1-6CB81A18A37C}">
      <dgm:prSet phldrT="[文本]" custT="1"/>
      <dgm:spPr/>
      <dgm:t>
        <a:bodyPr/>
        <a:lstStyle/>
        <a:p>
          <a:r>
            <a:rPr lang="zh-CN" altLang="en-US" sz="2000" b="1" dirty="0">
              <a:latin typeface="微软雅黑" panose="020B0503020204020204" pitchFamily="34" charset="-122"/>
              <a:ea typeface="微软雅黑" panose="020B0503020204020204" pitchFamily="34" charset="-122"/>
            </a:rPr>
            <a:t>评估指标权重的确定</a:t>
          </a:r>
        </a:p>
      </dgm:t>
    </dgm:pt>
    <dgm:pt modelId="{EBAC8CC5-D0B0-410B-87F1-99D91827A628}" type="parTrans" cxnId="{0AFC46D0-810C-403B-8302-5FD851704615}">
      <dgm:prSet/>
      <dgm:spPr/>
      <dgm:t>
        <a:bodyPr/>
        <a:lstStyle/>
        <a:p>
          <a:endParaRPr lang="zh-CN" altLang="en-US"/>
        </a:p>
      </dgm:t>
    </dgm:pt>
    <dgm:pt modelId="{9B2E855A-36C3-4643-9826-542EAC60C834}" type="sibTrans" cxnId="{0AFC46D0-810C-403B-8302-5FD851704615}">
      <dgm:prSet/>
      <dgm:spPr>
        <a:solidFill>
          <a:schemeClr val="accent2">
            <a:alpha val="90000"/>
          </a:schemeClr>
        </a:solidFill>
      </dgm:spPr>
      <dgm:t>
        <a:bodyPr/>
        <a:lstStyle/>
        <a:p>
          <a:endParaRPr lang="zh-CN" altLang="en-US"/>
        </a:p>
      </dgm:t>
    </dgm:pt>
    <dgm:pt modelId="{780B9A9F-6773-4467-A67F-1FDF80A3E4BE}">
      <dgm:prSet phldrT="[文本]" custT="1"/>
      <dgm:spPr/>
      <dgm:t>
        <a:bodyPr/>
        <a:lstStyle/>
        <a:p>
          <a:r>
            <a:rPr lang="zh-CN" altLang="en-US" sz="2000" b="1" dirty="0">
              <a:latin typeface="微软雅黑" panose="020B0503020204020204" pitchFamily="34" charset="-122"/>
              <a:ea typeface="微软雅黑" panose="020B0503020204020204" pitchFamily="34" charset="-122"/>
            </a:rPr>
            <a:t>评估指标隶属度的确定</a:t>
          </a:r>
        </a:p>
      </dgm:t>
    </dgm:pt>
    <dgm:pt modelId="{89B21555-47D5-4BD3-89B8-47D54691F695}" type="parTrans" cxnId="{E386AC36-4787-4558-99D3-E5E6310849FA}">
      <dgm:prSet/>
      <dgm:spPr/>
      <dgm:t>
        <a:bodyPr/>
        <a:lstStyle/>
        <a:p>
          <a:endParaRPr lang="zh-CN" altLang="en-US"/>
        </a:p>
      </dgm:t>
    </dgm:pt>
    <dgm:pt modelId="{92CC4E9E-418B-4ADB-BBB1-AF08436D5A20}" type="sibTrans" cxnId="{E386AC36-4787-4558-99D3-E5E6310849FA}">
      <dgm:prSet/>
      <dgm:spPr/>
      <dgm:t>
        <a:bodyPr/>
        <a:lstStyle/>
        <a:p>
          <a:endParaRPr lang="zh-CN" altLang="en-US"/>
        </a:p>
      </dgm:t>
    </dgm:pt>
    <dgm:pt modelId="{F2EB2601-4959-4FF2-8341-A36D1CCB874E}" type="pres">
      <dgm:prSet presAssocID="{FB9A1326-7F60-4227-8EA0-9382FAFD1CC2}" presName="outerComposite" presStyleCnt="0">
        <dgm:presLayoutVars>
          <dgm:chMax val="5"/>
          <dgm:dir/>
          <dgm:resizeHandles val="exact"/>
        </dgm:presLayoutVars>
      </dgm:prSet>
      <dgm:spPr/>
    </dgm:pt>
    <dgm:pt modelId="{8DA71F2A-5674-4621-8951-50C839A1E9F5}" type="pres">
      <dgm:prSet presAssocID="{FB9A1326-7F60-4227-8EA0-9382FAFD1CC2}" presName="dummyMaxCanvas" presStyleCnt="0">
        <dgm:presLayoutVars/>
      </dgm:prSet>
      <dgm:spPr/>
    </dgm:pt>
    <dgm:pt modelId="{46ACE377-51C1-46E9-BF76-2883CAE4C699}" type="pres">
      <dgm:prSet presAssocID="{FB9A1326-7F60-4227-8EA0-9382FAFD1CC2}" presName="FourNodes_1" presStyleLbl="node1" presStyleIdx="0" presStyleCnt="4">
        <dgm:presLayoutVars>
          <dgm:bulletEnabled val="1"/>
        </dgm:presLayoutVars>
      </dgm:prSet>
      <dgm:spPr/>
    </dgm:pt>
    <dgm:pt modelId="{D301DB76-48A3-4017-BE66-D7F1AB95E935}" type="pres">
      <dgm:prSet presAssocID="{FB9A1326-7F60-4227-8EA0-9382FAFD1CC2}" presName="FourNodes_2" presStyleLbl="node1" presStyleIdx="1" presStyleCnt="4">
        <dgm:presLayoutVars>
          <dgm:bulletEnabled val="1"/>
        </dgm:presLayoutVars>
      </dgm:prSet>
      <dgm:spPr/>
    </dgm:pt>
    <dgm:pt modelId="{11A6BB92-FE89-44D6-BA5B-5874F5236F6C}" type="pres">
      <dgm:prSet presAssocID="{FB9A1326-7F60-4227-8EA0-9382FAFD1CC2}" presName="FourNodes_3" presStyleLbl="node1" presStyleIdx="2" presStyleCnt="4">
        <dgm:presLayoutVars>
          <dgm:bulletEnabled val="1"/>
        </dgm:presLayoutVars>
      </dgm:prSet>
      <dgm:spPr/>
    </dgm:pt>
    <dgm:pt modelId="{3C61F83D-0CEB-436D-9579-280104D93E98}" type="pres">
      <dgm:prSet presAssocID="{FB9A1326-7F60-4227-8EA0-9382FAFD1CC2}" presName="FourNodes_4" presStyleLbl="node1" presStyleIdx="3" presStyleCnt="4">
        <dgm:presLayoutVars>
          <dgm:bulletEnabled val="1"/>
        </dgm:presLayoutVars>
      </dgm:prSet>
      <dgm:spPr/>
    </dgm:pt>
    <dgm:pt modelId="{AB0A130D-2C5E-4892-9648-7066CB5B445A}" type="pres">
      <dgm:prSet presAssocID="{FB9A1326-7F60-4227-8EA0-9382FAFD1CC2}" presName="FourConn_1-2" presStyleLbl="fgAccFollowNode1" presStyleIdx="0" presStyleCnt="3">
        <dgm:presLayoutVars>
          <dgm:bulletEnabled val="1"/>
        </dgm:presLayoutVars>
      </dgm:prSet>
      <dgm:spPr/>
    </dgm:pt>
    <dgm:pt modelId="{6370004E-C88A-43BA-A9F2-01796D1E1A6E}" type="pres">
      <dgm:prSet presAssocID="{FB9A1326-7F60-4227-8EA0-9382FAFD1CC2}" presName="FourConn_2-3" presStyleLbl="fgAccFollowNode1" presStyleIdx="1" presStyleCnt="3">
        <dgm:presLayoutVars>
          <dgm:bulletEnabled val="1"/>
        </dgm:presLayoutVars>
      </dgm:prSet>
      <dgm:spPr/>
    </dgm:pt>
    <dgm:pt modelId="{522A84C9-056B-46CF-A246-F6266FC045BA}" type="pres">
      <dgm:prSet presAssocID="{FB9A1326-7F60-4227-8EA0-9382FAFD1CC2}" presName="FourConn_3-4" presStyleLbl="fgAccFollowNode1" presStyleIdx="2" presStyleCnt="3">
        <dgm:presLayoutVars>
          <dgm:bulletEnabled val="1"/>
        </dgm:presLayoutVars>
      </dgm:prSet>
      <dgm:spPr/>
    </dgm:pt>
    <dgm:pt modelId="{74BF6CCB-B3CB-49E0-8EB5-F2F4ECF459EB}" type="pres">
      <dgm:prSet presAssocID="{FB9A1326-7F60-4227-8EA0-9382FAFD1CC2}" presName="FourNodes_1_text" presStyleLbl="node1" presStyleIdx="3" presStyleCnt="4">
        <dgm:presLayoutVars>
          <dgm:bulletEnabled val="1"/>
        </dgm:presLayoutVars>
      </dgm:prSet>
      <dgm:spPr/>
    </dgm:pt>
    <dgm:pt modelId="{3BC9D60F-CC48-4F49-8DDA-565FE2D4BED3}" type="pres">
      <dgm:prSet presAssocID="{FB9A1326-7F60-4227-8EA0-9382FAFD1CC2}" presName="FourNodes_2_text" presStyleLbl="node1" presStyleIdx="3" presStyleCnt="4">
        <dgm:presLayoutVars>
          <dgm:bulletEnabled val="1"/>
        </dgm:presLayoutVars>
      </dgm:prSet>
      <dgm:spPr/>
    </dgm:pt>
    <dgm:pt modelId="{0DCEF2D6-8201-401C-805D-25ED375F2ACE}" type="pres">
      <dgm:prSet presAssocID="{FB9A1326-7F60-4227-8EA0-9382FAFD1CC2}" presName="FourNodes_3_text" presStyleLbl="node1" presStyleIdx="3" presStyleCnt="4">
        <dgm:presLayoutVars>
          <dgm:bulletEnabled val="1"/>
        </dgm:presLayoutVars>
      </dgm:prSet>
      <dgm:spPr/>
    </dgm:pt>
    <dgm:pt modelId="{585BE494-5480-44BF-BDE8-E9D02A4FA164}" type="pres">
      <dgm:prSet presAssocID="{FB9A1326-7F60-4227-8EA0-9382FAFD1CC2}" presName="FourNodes_4_text" presStyleLbl="node1" presStyleIdx="3" presStyleCnt="4">
        <dgm:presLayoutVars>
          <dgm:bulletEnabled val="1"/>
        </dgm:presLayoutVars>
      </dgm:prSet>
      <dgm:spPr/>
    </dgm:pt>
  </dgm:ptLst>
  <dgm:cxnLst>
    <dgm:cxn modelId="{E386AC36-4787-4558-99D3-E5E6310849FA}" srcId="{FB9A1326-7F60-4227-8EA0-9382FAFD1CC2}" destId="{780B9A9F-6773-4467-A67F-1FDF80A3E4BE}" srcOrd="3" destOrd="0" parTransId="{89B21555-47D5-4BD3-89B8-47D54691F695}" sibTransId="{92CC4E9E-418B-4ADB-BBB1-AF08436D5A20}"/>
    <dgm:cxn modelId="{519CB53F-8E39-41BA-BA7C-2E0E1C40DA7A}" type="presOf" srcId="{780B9A9F-6773-4467-A67F-1FDF80A3E4BE}" destId="{3C61F83D-0CEB-436D-9579-280104D93E98}" srcOrd="0" destOrd="0" presId="urn:microsoft.com/office/officeart/2005/8/layout/vProcess5"/>
    <dgm:cxn modelId="{A3759F5C-51BD-4E70-A9C6-8FF5EC9AB142}" type="presOf" srcId="{289D5C84-A6DE-4BEE-86E1-6CB81A18A37C}" destId="{0DCEF2D6-8201-401C-805D-25ED375F2ACE}" srcOrd="1" destOrd="0" presId="urn:microsoft.com/office/officeart/2005/8/layout/vProcess5"/>
    <dgm:cxn modelId="{2663066E-4392-43CD-B0C6-298B2AE7B07A}" srcId="{FB9A1326-7F60-4227-8EA0-9382FAFD1CC2}" destId="{E07EBCEE-E9A6-49BA-B1B0-85AD3A205661}" srcOrd="1" destOrd="0" parTransId="{F490E60A-7108-4867-8D74-50C8E7550D86}" sibTransId="{7FDE2A5D-F87F-42CB-B8BF-9BF93B6EAFB1}"/>
    <dgm:cxn modelId="{11330B4F-5E69-43A1-96DE-1F3F1A7BDA00}" type="presOf" srcId="{289D5C84-A6DE-4BEE-86E1-6CB81A18A37C}" destId="{11A6BB92-FE89-44D6-BA5B-5874F5236F6C}" srcOrd="0" destOrd="0" presId="urn:microsoft.com/office/officeart/2005/8/layout/vProcess5"/>
    <dgm:cxn modelId="{698CDA57-8A99-4513-BF1C-BE437214DB35}" type="presOf" srcId="{DEAD24A4-FC0D-41A7-AA1C-245ABE5811FA}" destId="{74BF6CCB-B3CB-49E0-8EB5-F2F4ECF459EB}" srcOrd="1" destOrd="0" presId="urn:microsoft.com/office/officeart/2005/8/layout/vProcess5"/>
    <dgm:cxn modelId="{7AE23278-B5FC-4B97-A533-67EFF26B963B}" type="presOf" srcId="{E07EBCEE-E9A6-49BA-B1B0-85AD3A205661}" destId="{D301DB76-48A3-4017-BE66-D7F1AB95E935}" srcOrd="0" destOrd="0" presId="urn:microsoft.com/office/officeart/2005/8/layout/vProcess5"/>
    <dgm:cxn modelId="{ECBC0A9F-9F29-4FD9-AADC-91353AB6CDB8}" type="presOf" srcId="{E07EBCEE-E9A6-49BA-B1B0-85AD3A205661}" destId="{3BC9D60F-CC48-4F49-8DDA-565FE2D4BED3}" srcOrd="1" destOrd="0" presId="urn:microsoft.com/office/officeart/2005/8/layout/vProcess5"/>
    <dgm:cxn modelId="{6854D09F-90CB-4947-AF80-5BE8B493FE4C}" srcId="{FB9A1326-7F60-4227-8EA0-9382FAFD1CC2}" destId="{DEAD24A4-FC0D-41A7-AA1C-245ABE5811FA}" srcOrd="0" destOrd="0" parTransId="{0CD2EA74-83D6-4E7B-8ACE-9374383BB18A}" sibTransId="{2DC63F5D-8107-462D-A927-335EC6CC81F3}"/>
    <dgm:cxn modelId="{0AFC46D0-810C-403B-8302-5FD851704615}" srcId="{FB9A1326-7F60-4227-8EA0-9382FAFD1CC2}" destId="{289D5C84-A6DE-4BEE-86E1-6CB81A18A37C}" srcOrd="2" destOrd="0" parTransId="{EBAC8CC5-D0B0-410B-87F1-99D91827A628}" sibTransId="{9B2E855A-36C3-4643-9826-542EAC60C834}"/>
    <dgm:cxn modelId="{4AE102D4-0345-49D0-AA7D-A7E17EF7FE40}" type="presOf" srcId="{780B9A9F-6773-4467-A67F-1FDF80A3E4BE}" destId="{585BE494-5480-44BF-BDE8-E9D02A4FA164}" srcOrd="1" destOrd="0" presId="urn:microsoft.com/office/officeart/2005/8/layout/vProcess5"/>
    <dgm:cxn modelId="{99BA4AD6-B675-4A54-AE4C-8FE7BB7DA26B}" type="presOf" srcId="{9B2E855A-36C3-4643-9826-542EAC60C834}" destId="{522A84C9-056B-46CF-A246-F6266FC045BA}" srcOrd="0" destOrd="0" presId="urn:microsoft.com/office/officeart/2005/8/layout/vProcess5"/>
    <dgm:cxn modelId="{16E0DEE9-D0F8-45F5-8872-15772C33ABE1}" type="presOf" srcId="{7FDE2A5D-F87F-42CB-B8BF-9BF93B6EAFB1}" destId="{6370004E-C88A-43BA-A9F2-01796D1E1A6E}" srcOrd="0" destOrd="0" presId="urn:microsoft.com/office/officeart/2005/8/layout/vProcess5"/>
    <dgm:cxn modelId="{F9B431F4-3A8B-42F2-8D50-0429DED01FC9}" type="presOf" srcId="{2DC63F5D-8107-462D-A927-335EC6CC81F3}" destId="{AB0A130D-2C5E-4892-9648-7066CB5B445A}" srcOrd="0" destOrd="0" presId="urn:microsoft.com/office/officeart/2005/8/layout/vProcess5"/>
    <dgm:cxn modelId="{A0954AF8-5137-40E4-9725-7E31976C3309}" type="presOf" srcId="{FB9A1326-7F60-4227-8EA0-9382FAFD1CC2}" destId="{F2EB2601-4959-4FF2-8341-A36D1CCB874E}" srcOrd="0" destOrd="0" presId="urn:microsoft.com/office/officeart/2005/8/layout/vProcess5"/>
    <dgm:cxn modelId="{380C54FB-0C15-487D-9A29-B46381E0957F}" type="presOf" srcId="{DEAD24A4-FC0D-41A7-AA1C-245ABE5811FA}" destId="{46ACE377-51C1-46E9-BF76-2883CAE4C699}" srcOrd="0" destOrd="0" presId="urn:microsoft.com/office/officeart/2005/8/layout/vProcess5"/>
    <dgm:cxn modelId="{26238480-2FBD-4D22-BFA2-653861BBF390}" type="presParOf" srcId="{F2EB2601-4959-4FF2-8341-A36D1CCB874E}" destId="{8DA71F2A-5674-4621-8951-50C839A1E9F5}" srcOrd="0" destOrd="0" presId="urn:microsoft.com/office/officeart/2005/8/layout/vProcess5"/>
    <dgm:cxn modelId="{782058D4-BA8E-4ABE-9A12-E358DF23C6C0}" type="presParOf" srcId="{F2EB2601-4959-4FF2-8341-A36D1CCB874E}" destId="{46ACE377-51C1-46E9-BF76-2883CAE4C699}" srcOrd="1" destOrd="0" presId="urn:microsoft.com/office/officeart/2005/8/layout/vProcess5"/>
    <dgm:cxn modelId="{6DF4B673-3F4B-49F7-8910-4C183AD63EA4}" type="presParOf" srcId="{F2EB2601-4959-4FF2-8341-A36D1CCB874E}" destId="{D301DB76-48A3-4017-BE66-D7F1AB95E935}" srcOrd="2" destOrd="0" presId="urn:microsoft.com/office/officeart/2005/8/layout/vProcess5"/>
    <dgm:cxn modelId="{4BB96CAE-A878-49D8-B22C-FE9FA7911C07}" type="presParOf" srcId="{F2EB2601-4959-4FF2-8341-A36D1CCB874E}" destId="{11A6BB92-FE89-44D6-BA5B-5874F5236F6C}" srcOrd="3" destOrd="0" presId="urn:microsoft.com/office/officeart/2005/8/layout/vProcess5"/>
    <dgm:cxn modelId="{084D637A-8AC4-4748-96D3-C64737CA46C8}" type="presParOf" srcId="{F2EB2601-4959-4FF2-8341-A36D1CCB874E}" destId="{3C61F83D-0CEB-436D-9579-280104D93E98}" srcOrd="4" destOrd="0" presId="urn:microsoft.com/office/officeart/2005/8/layout/vProcess5"/>
    <dgm:cxn modelId="{67DB4C1E-9825-420D-9710-9EFBF02BD5AD}" type="presParOf" srcId="{F2EB2601-4959-4FF2-8341-A36D1CCB874E}" destId="{AB0A130D-2C5E-4892-9648-7066CB5B445A}" srcOrd="5" destOrd="0" presId="urn:microsoft.com/office/officeart/2005/8/layout/vProcess5"/>
    <dgm:cxn modelId="{2F1DF9BD-59CD-44F3-B4EB-3D42EEC1DDA3}" type="presParOf" srcId="{F2EB2601-4959-4FF2-8341-A36D1CCB874E}" destId="{6370004E-C88A-43BA-A9F2-01796D1E1A6E}" srcOrd="6" destOrd="0" presId="urn:microsoft.com/office/officeart/2005/8/layout/vProcess5"/>
    <dgm:cxn modelId="{0F19E43D-168F-4799-A028-8C0A3BBB5EF7}" type="presParOf" srcId="{F2EB2601-4959-4FF2-8341-A36D1CCB874E}" destId="{522A84C9-056B-46CF-A246-F6266FC045BA}" srcOrd="7" destOrd="0" presId="urn:microsoft.com/office/officeart/2005/8/layout/vProcess5"/>
    <dgm:cxn modelId="{61FA3CDD-86E6-4424-A2E0-D462ED6F3570}" type="presParOf" srcId="{F2EB2601-4959-4FF2-8341-A36D1CCB874E}" destId="{74BF6CCB-B3CB-49E0-8EB5-F2F4ECF459EB}" srcOrd="8" destOrd="0" presId="urn:microsoft.com/office/officeart/2005/8/layout/vProcess5"/>
    <dgm:cxn modelId="{688AA4E2-1BB9-4607-A0E3-33E748E79658}" type="presParOf" srcId="{F2EB2601-4959-4FF2-8341-A36D1CCB874E}" destId="{3BC9D60F-CC48-4F49-8DDA-565FE2D4BED3}" srcOrd="9" destOrd="0" presId="urn:microsoft.com/office/officeart/2005/8/layout/vProcess5"/>
    <dgm:cxn modelId="{9F4B3C97-077D-4077-B1A0-FFBDEA74C2DD}" type="presParOf" srcId="{F2EB2601-4959-4FF2-8341-A36D1CCB874E}" destId="{0DCEF2D6-8201-401C-805D-25ED375F2ACE}" srcOrd="10" destOrd="0" presId="urn:microsoft.com/office/officeart/2005/8/layout/vProcess5"/>
    <dgm:cxn modelId="{B08DEA40-4DDA-4317-B303-D27CB9E8AB95}" type="presParOf" srcId="{F2EB2601-4959-4FF2-8341-A36D1CCB874E}" destId="{585BE494-5480-44BF-BDE8-E9D02A4FA164}"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12260-BB8C-4259-9A9A-07FD49D660DE}">
      <dsp:nvSpPr>
        <dsp:cNvPr id="0" name=""/>
        <dsp:cNvSpPr/>
      </dsp:nvSpPr>
      <dsp:spPr>
        <a:xfrm rot="5400000">
          <a:off x="6344855" y="-3038492"/>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网络内容安全既是一门新兴的课题，又需要多个学科进行交叉研究。不局限于技术领域，对它的研究将更加复杂和丰富。</a:t>
          </a:r>
        </a:p>
      </dsp:txBody>
      <dsp:txXfrm rot="-5400000">
        <a:off x="3202610" y="143446"/>
        <a:ext cx="7057920" cy="733735"/>
      </dsp:txXfrm>
    </dsp:sp>
    <dsp:sp modelId="{F4149E3D-D159-4E8D-9645-4C34100CAD08}">
      <dsp:nvSpPr>
        <dsp:cNvPr id="0" name=""/>
        <dsp:cNvSpPr/>
      </dsp:nvSpPr>
      <dsp:spPr>
        <a:xfrm>
          <a:off x="772750" y="2113"/>
          <a:ext cx="2429859" cy="1016401"/>
        </a:xfrm>
        <a:prstGeom prst="roundRect">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endParaRPr lang="zh-CN" altLang="en-US" sz="3600" kern="1200" dirty="0">
            <a:latin typeface="微软雅黑" panose="020B0503020204020204" pitchFamily="34" charset="-122"/>
            <a:ea typeface="华康俪金黑W8(P)"/>
          </a:endParaRPr>
        </a:p>
      </dsp:txBody>
      <dsp:txXfrm>
        <a:off x="822367" y="51730"/>
        <a:ext cx="2330625" cy="917167"/>
      </dsp:txXfrm>
    </dsp:sp>
    <dsp:sp modelId="{C36456F2-C104-49EC-A4F4-9E741C50E57D}">
      <dsp:nvSpPr>
        <dsp:cNvPr id="0" name=""/>
        <dsp:cNvSpPr/>
      </dsp:nvSpPr>
      <dsp:spPr>
        <a:xfrm rot="5400000">
          <a:off x="6361903" y="-1971271"/>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在网络信息内容研究中，从互联网技术角度入手仍然是对网络信息内容安全管理最有效的手段。</a:t>
          </a:r>
        </a:p>
      </dsp:txBody>
      <dsp:txXfrm rot="-5400000">
        <a:off x="3219658" y="1210667"/>
        <a:ext cx="7057920" cy="733735"/>
      </dsp:txXfrm>
    </dsp:sp>
    <dsp:sp modelId="{988D9766-81DD-42EA-8025-F35CE451537D}">
      <dsp:nvSpPr>
        <dsp:cNvPr id="0" name=""/>
        <dsp:cNvSpPr/>
      </dsp:nvSpPr>
      <dsp:spPr>
        <a:xfrm>
          <a:off x="772750" y="1069334"/>
          <a:ext cx="2446906" cy="1016401"/>
        </a:xfrm>
        <a:prstGeom prst="roundRect">
          <a:avLst/>
        </a:prstGeom>
        <a:gradFill rotWithShape="0">
          <a:gsLst>
            <a:gs pos="0">
              <a:schemeClr val="accent1">
                <a:alpha val="90000"/>
                <a:hueOff val="0"/>
                <a:satOff val="0"/>
                <a:lumOff val="0"/>
                <a:alphaOff val="-13333"/>
                <a:satMod val="103000"/>
                <a:lumMod val="102000"/>
                <a:tint val="94000"/>
              </a:schemeClr>
            </a:gs>
            <a:gs pos="50000">
              <a:schemeClr val="accent1">
                <a:alpha val="90000"/>
                <a:hueOff val="0"/>
                <a:satOff val="0"/>
                <a:lumOff val="0"/>
                <a:alphaOff val="-13333"/>
                <a:satMod val="110000"/>
                <a:lumMod val="100000"/>
                <a:shade val="100000"/>
              </a:schemeClr>
            </a:gs>
            <a:gs pos="100000">
              <a:schemeClr val="accent1">
                <a:alpha val="90000"/>
                <a:hueOff val="0"/>
                <a:satOff val="0"/>
                <a:lumOff val="0"/>
                <a:alphaOff val="-13333"/>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华康俪金黑W8(P)"/>
            </a:rPr>
            <a:t>互  联</a:t>
          </a:r>
        </a:p>
      </dsp:txBody>
      <dsp:txXfrm>
        <a:off x="822367" y="1118951"/>
        <a:ext cx="2347672" cy="917167"/>
      </dsp:txXfrm>
    </dsp:sp>
    <dsp:sp modelId="{B384A40A-3548-4A73-A19D-621C79A2EA79}">
      <dsp:nvSpPr>
        <dsp:cNvPr id="0" name=""/>
        <dsp:cNvSpPr/>
      </dsp:nvSpPr>
      <dsp:spPr>
        <a:xfrm rot="5400000">
          <a:off x="6327568" y="-885396"/>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银行都将基于企业大数据平台开展银行直销业务，同时按照产业链金融服务事业部模式开展业务</a:t>
          </a:r>
        </a:p>
      </dsp:txBody>
      <dsp:txXfrm rot="-5400000">
        <a:off x="3185323" y="2296542"/>
        <a:ext cx="7057920" cy="733735"/>
      </dsp:txXfrm>
    </dsp:sp>
    <dsp:sp modelId="{D516C599-DE5A-42A2-88A9-704EB00499F1}">
      <dsp:nvSpPr>
        <dsp:cNvPr id="0" name=""/>
        <dsp:cNvSpPr/>
      </dsp:nvSpPr>
      <dsp:spPr>
        <a:xfrm>
          <a:off x="772750" y="2136556"/>
          <a:ext cx="2412571" cy="1016401"/>
        </a:xfrm>
        <a:prstGeom prst="roundRect">
          <a:avLst/>
        </a:prstGeom>
        <a:gradFill rotWithShape="0">
          <a:gsLst>
            <a:gs pos="0">
              <a:schemeClr val="accent1">
                <a:alpha val="90000"/>
                <a:hueOff val="0"/>
                <a:satOff val="0"/>
                <a:lumOff val="0"/>
                <a:alphaOff val="-26667"/>
                <a:satMod val="103000"/>
                <a:lumMod val="102000"/>
                <a:tint val="94000"/>
              </a:schemeClr>
            </a:gs>
            <a:gs pos="50000">
              <a:schemeClr val="accent1">
                <a:alpha val="90000"/>
                <a:hueOff val="0"/>
                <a:satOff val="0"/>
                <a:lumOff val="0"/>
                <a:alphaOff val="-26667"/>
                <a:satMod val="110000"/>
                <a:lumMod val="100000"/>
                <a:shade val="100000"/>
              </a:schemeClr>
            </a:gs>
            <a:gs pos="100000">
              <a:schemeClr val="accent1">
                <a:alpha val="90000"/>
                <a:hueOff val="0"/>
                <a:satOff val="0"/>
                <a:lumOff val="0"/>
                <a:alphaOff val="-26667"/>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华康俪金黑W8(P)"/>
            </a:rPr>
            <a:t>海  量</a:t>
          </a:r>
        </a:p>
      </dsp:txBody>
      <dsp:txXfrm>
        <a:off x="822367" y="2186173"/>
        <a:ext cx="2313337" cy="917167"/>
      </dsp:txXfrm>
    </dsp:sp>
    <dsp:sp modelId="{1F0D7FAF-2C3A-41BB-B40E-71733DC8AA53}">
      <dsp:nvSpPr>
        <dsp:cNvPr id="0" name=""/>
        <dsp:cNvSpPr/>
      </dsp:nvSpPr>
      <dsp:spPr>
        <a:xfrm rot="5400000">
          <a:off x="6327528" y="163172"/>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因大数据系统的出现，所有依赖信息不对称盈利的业务都将消失。</a:t>
          </a:r>
        </a:p>
      </dsp:txBody>
      <dsp:txXfrm rot="-5400000">
        <a:off x="3185283" y="3345111"/>
        <a:ext cx="7057920" cy="733735"/>
      </dsp:txXfrm>
    </dsp:sp>
    <dsp:sp modelId="{E6E01B5A-8BEE-4FEC-8416-8610EF675C5F}">
      <dsp:nvSpPr>
        <dsp:cNvPr id="0" name=""/>
        <dsp:cNvSpPr/>
      </dsp:nvSpPr>
      <dsp:spPr>
        <a:xfrm>
          <a:off x="772750" y="3203778"/>
          <a:ext cx="2412532" cy="1016401"/>
        </a:xfrm>
        <a:prstGeom prst="roundRect">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华康俪金黑W8(P)"/>
            </a:rPr>
            <a:t>融  合</a:t>
          </a:r>
        </a:p>
      </dsp:txBody>
      <dsp:txXfrm>
        <a:off x="822367" y="3253395"/>
        <a:ext cx="2313298" cy="9171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12260-BB8C-4259-9A9A-07FD49D660DE}">
      <dsp:nvSpPr>
        <dsp:cNvPr id="0" name=""/>
        <dsp:cNvSpPr/>
      </dsp:nvSpPr>
      <dsp:spPr>
        <a:xfrm rot="5400000">
          <a:off x="6344855" y="-3038492"/>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数据爆发式增长所造成的狂潮困扰着用户，从中提取有用信息仍然是一大难题。</a:t>
          </a:r>
        </a:p>
      </dsp:txBody>
      <dsp:txXfrm rot="-5400000">
        <a:off x="3202610" y="143446"/>
        <a:ext cx="7057920" cy="733735"/>
      </dsp:txXfrm>
    </dsp:sp>
    <dsp:sp modelId="{F4149E3D-D159-4E8D-9645-4C34100CAD08}">
      <dsp:nvSpPr>
        <dsp:cNvPr id="0" name=""/>
        <dsp:cNvSpPr/>
      </dsp:nvSpPr>
      <dsp:spPr>
        <a:xfrm>
          <a:off x="772750" y="2113"/>
          <a:ext cx="2429859" cy="1016401"/>
        </a:xfrm>
        <a:prstGeom prst="roundRect">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endParaRPr lang="zh-CN" altLang="en-US" sz="3600" kern="1200" dirty="0">
            <a:latin typeface="微软雅黑" panose="020B0503020204020204" pitchFamily="34" charset="-122"/>
            <a:ea typeface="华康俪金黑W8(P)"/>
          </a:endParaRPr>
        </a:p>
      </dsp:txBody>
      <dsp:txXfrm>
        <a:off x="822367" y="51730"/>
        <a:ext cx="2330625" cy="917167"/>
      </dsp:txXfrm>
    </dsp:sp>
    <dsp:sp modelId="{C36456F2-C104-49EC-A4F4-9E741C50E57D}">
      <dsp:nvSpPr>
        <dsp:cNvPr id="0" name=""/>
        <dsp:cNvSpPr/>
      </dsp:nvSpPr>
      <dsp:spPr>
        <a:xfrm rot="5400000">
          <a:off x="6361903" y="-1971271"/>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开放性、动态性的互联网信息，用户如果要快捷地获取信息，仍然存在一定难度。</a:t>
          </a:r>
        </a:p>
      </dsp:txBody>
      <dsp:txXfrm rot="-5400000">
        <a:off x="3219658" y="1210667"/>
        <a:ext cx="7057920" cy="733735"/>
      </dsp:txXfrm>
    </dsp:sp>
    <dsp:sp modelId="{988D9766-81DD-42EA-8025-F35CE451537D}">
      <dsp:nvSpPr>
        <dsp:cNvPr id="0" name=""/>
        <dsp:cNvSpPr/>
      </dsp:nvSpPr>
      <dsp:spPr>
        <a:xfrm>
          <a:off x="772750" y="1069334"/>
          <a:ext cx="2446906" cy="1016401"/>
        </a:xfrm>
        <a:prstGeom prst="roundRect">
          <a:avLst/>
        </a:prstGeom>
        <a:gradFill rotWithShape="0">
          <a:gsLst>
            <a:gs pos="0">
              <a:schemeClr val="accent1">
                <a:alpha val="90000"/>
                <a:hueOff val="0"/>
                <a:satOff val="0"/>
                <a:lumOff val="0"/>
                <a:alphaOff val="-13333"/>
                <a:satMod val="103000"/>
                <a:lumMod val="102000"/>
                <a:tint val="94000"/>
              </a:schemeClr>
            </a:gs>
            <a:gs pos="50000">
              <a:schemeClr val="accent1">
                <a:alpha val="90000"/>
                <a:hueOff val="0"/>
                <a:satOff val="0"/>
                <a:lumOff val="0"/>
                <a:alphaOff val="-13333"/>
                <a:satMod val="110000"/>
                <a:lumMod val="100000"/>
                <a:shade val="100000"/>
              </a:schemeClr>
            </a:gs>
            <a:gs pos="100000">
              <a:schemeClr val="accent1">
                <a:alpha val="90000"/>
                <a:hueOff val="0"/>
                <a:satOff val="0"/>
                <a:lumOff val="0"/>
                <a:alphaOff val="-13333"/>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华康俪金黑W8(P)"/>
            </a:rPr>
            <a:t>快速获取信息</a:t>
          </a:r>
        </a:p>
      </dsp:txBody>
      <dsp:txXfrm>
        <a:off x="822367" y="1118951"/>
        <a:ext cx="2347672" cy="917167"/>
      </dsp:txXfrm>
    </dsp:sp>
    <dsp:sp modelId="{B384A40A-3548-4A73-A19D-621C79A2EA79}">
      <dsp:nvSpPr>
        <dsp:cNvPr id="0" name=""/>
        <dsp:cNvSpPr/>
      </dsp:nvSpPr>
      <dsp:spPr>
        <a:xfrm rot="5400000">
          <a:off x="6331960" y="-885396"/>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由于网络上缺乏有效监管，人人都可以发布信息，很多情况下难以保证信息的真实可靠</a:t>
          </a:r>
        </a:p>
      </dsp:txBody>
      <dsp:txXfrm rot="-5400000">
        <a:off x="3189715" y="2296542"/>
        <a:ext cx="7057920" cy="733735"/>
      </dsp:txXfrm>
    </dsp:sp>
    <dsp:sp modelId="{D516C599-DE5A-42A2-88A9-704EB00499F1}">
      <dsp:nvSpPr>
        <dsp:cNvPr id="0" name=""/>
        <dsp:cNvSpPr/>
      </dsp:nvSpPr>
      <dsp:spPr>
        <a:xfrm>
          <a:off x="772750" y="2136556"/>
          <a:ext cx="2416963" cy="1016401"/>
        </a:xfrm>
        <a:prstGeom prst="roundRect">
          <a:avLst/>
        </a:prstGeom>
        <a:gradFill rotWithShape="0">
          <a:gsLst>
            <a:gs pos="0">
              <a:schemeClr val="accent1">
                <a:alpha val="90000"/>
                <a:hueOff val="0"/>
                <a:satOff val="0"/>
                <a:lumOff val="0"/>
                <a:alphaOff val="-26667"/>
                <a:satMod val="103000"/>
                <a:lumMod val="102000"/>
                <a:tint val="94000"/>
              </a:schemeClr>
            </a:gs>
            <a:gs pos="50000">
              <a:schemeClr val="accent1">
                <a:alpha val="90000"/>
                <a:hueOff val="0"/>
                <a:satOff val="0"/>
                <a:lumOff val="0"/>
                <a:alphaOff val="-26667"/>
                <a:satMod val="110000"/>
                <a:lumMod val="100000"/>
                <a:shade val="100000"/>
              </a:schemeClr>
            </a:gs>
            <a:gs pos="100000">
              <a:schemeClr val="accent1">
                <a:alpha val="90000"/>
                <a:hueOff val="0"/>
                <a:satOff val="0"/>
                <a:lumOff val="0"/>
                <a:alphaOff val="-26667"/>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华康俪金黑W8(P)"/>
            </a:rPr>
            <a:t>真实度不高</a:t>
          </a:r>
        </a:p>
      </dsp:txBody>
      <dsp:txXfrm>
        <a:off x="822367" y="2186173"/>
        <a:ext cx="2317729" cy="917167"/>
      </dsp:txXfrm>
    </dsp:sp>
    <dsp:sp modelId="{1F0D7FAF-2C3A-41BB-B40E-71733DC8AA53}">
      <dsp:nvSpPr>
        <dsp:cNvPr id="0" name=""/>
        <dsp:cNvSpPr/>
      </dsp:nvSpPr>
      <dsp:spPr>
        <a:xfrm rot="5400000">
          <a:off x="6327528" y="163172"/>
          <a:ext cx="813121" cy="7097613"/>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安全性难以保证，道高一尺魔高一丈，黑客们很容易将错误的信息混淆视听。</a:t>
          </a:r>
        </a:p>
      </dsp:txBody>
      <dsp:txXfrm rot="-5400000">
        <a:off x="3185283" y="3345111"/>
        <a:ext cx="7057920" cy="733735"/>
      </dsp:txXfrm>
    </dsp:sp>
    <dsp:sp modelId="{E6E01B5A-8BEE-4FEC-8416-8610EF675C5F}">
      <dsp:nvSpPr>
        <dsp:cNvPr id="0" name=""/>
        <dsp:cNvSpPr/>
      </dsp:nvSpPr>
      <dsp:spPr>
        <a:xfrm>
          <a:off x="772750" y="3203778"/>
          <a:ext cx="2412532" cy="1016401"/>
        </a:xfrm>
        <a:prstGeom prst="roundRect">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华康俪金黑W8(P)"/>
            </a:rPr>
            <a:t>信息容易混淆</a:t>
          </a:r>
        </a:p>
      </dsp:txBody>
      <dsp:txXfrm>
        <a:off x="822367" y="3253395"/>
        <a:ext cx="2313298" cy="9171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11DA4-9622-4BFC-BC6B-CA73056CF5EC}">
      <dsp:nvSpPr>
        <dsp:cNvPr id="0" name=""/>
        <dsp:cNvSpPr/>
      </dsp:nvSpPr>
      <dsp:spPr>
        <a:xfrm>
          <a:off x="0" y="1862"/>
          <a:ext cx="1979569" cy="1296000"/>
        </a:xfrm>
        <a:prstGeom prst="right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1275C8-9DC9-41D3-8953-6A9B9BC51EC8}">
      <dsp:nvSpPr>
        <dsp:cNvPr id="0" name=""/>
        <dsp:cNvSpPr/>
      </dsp:nvSpPr>
      <dsp:spPr>
        <a:xfrm>
          <a:off x="44247" y="324464"/>
          <a:ext cx="1621932"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表现形式分类</a:t>
          </a:r>
        </a:p>
      </dsp:txBody>
      <dsp:txXfrm>
        <a:off x="44247" y="324464"/>
        <a:ext cx="1621932" cy="648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0B0D0-E26B-4EF5-90AB-6169E2A8EF10}">
      <dsp:nvSpPr>
        <dsp:cNvPr id="0" name=""/>
        <dsp:cNvSpPr/>
      </dsp:nvSpPr>
      <dsp:spPr>
        <a:xfrm>
          <a:off x="2374757" y="1557463"/>
          <a:ext cx="1537028" cy="1111195"/>
        </a:xfrm>
        <a:prstGeom prst="ellipse">
          <a:avLst/>
        </a:prstGeom>
        <a:noFill/>
        <a:ln w="34925" cap="flat" cmpd="sng" algn="ctr">
          <a:solidFill>
            <a:srgbClr val="0066CC"/>
          </a:solid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ts val="2000"/>
            </a:lnSpc>
            <a:spcBef>
              <a:spcPct val="0"/>
            </a:spcBef>
            <a:spcAft>
              <a:spcPct val="35000"/>
            </a:spcAft>
            <a:buNone/>
          </a:pPr>
          <a:r>
            <a:rPr lang="zh-CN" altLang="en-US" sz="1800" b="1" kern="1200" dirty="0">
              <a:solidFill>
                <a:srgbClr val="0066CC"/>
              </a:solidFill>
              <a:effectLst/>
              <a:latin typeface="微软雅黑" panose="020B0503020204020204" pitchFamily="34" charset="-122"/>
              <a:ea typeface="微软雅黑" panose="020B0503020204020204" pitchFamily="34" charset="-122"/>
              <a:cs typeface="+mn-cs"/>
            </a:rPr>
            <a:t>网络舆情</a:t>
          </a:r>
          <a:endParaRPr lang="en-US" altLang="zh-CN" sz="1800" b="1" kern="1200" dirty="0">
            <a:solidFill>
              <a:srgbClr val="0066CC"/>
            </a:solidFill>
            <a:effectLst/>
            <a:latin typeface="微软雅黑" panose="020B0503020204020204" pitchFamily="34" charset="-122"/>
            <a:ea typeface="微软雅黑" panose="020B0503020204020204" pitchFamily="34" charset="-122"/>
            <a:cs typeface="+mn-cs"/>
          </a:endParaRPr>
        </a:p>
        <a:p>
          <a:pPr marL="0" lvl="0" indent="0" algn="ctr" defTabSz="800100">
            <a:lnSpc>
              <a:spcPts val="2000"/>
            </a:lnSpc>
            <a:spcBef>
              <a:spcPct val="0"/>
            </a:spcBef>
            <a:spcAft>
              <a:spcPct val="35000"/>
            </a:spcAft>
            <a:buNone/>
          </a:pPr>
          <a:r>
            <a:rPr lang="zh-CN" altLang="en-US" sz="1800" b="1" kern="1200" dirty="0">
              <a:solidFill>
                <a:srgbClr val="0066CC"/>
              </a:solidFill>
              <a:effectLst/>
              <a:latin typeface="微软雅黑" panose="020B0503020204020204" pitchFamily="34" charset="-122"/>
              <a:ea typeface="微软雅黑" panose="020B0503020204020204" pitchFamily="34" charset="-122"/>
              <a:cs typeface="+mn-cs"/>
            </a:rPr>
            <a:t>特点</a:t>
          </a:r>
        </a:p>
      </dsp:txBody>
      <dsp:txXfrm>
        <a:off x="2599850" y="1720194"/>
        <a:ext cx="1086842" cy="785733"/>
      </dsp:txXfrm>
    </dsp:sp>
    <dsp:sp modelId="{622878C7-CF97-4AC9-A06D-9970200DD9F9}">
      <dsp:nvSpPr>
        <dsp:cNvPr id="0" name=""/>
        <dsp:cNvSpPr/>
      </dsp:nvSpPr>
      <dsp:spPr>
        <a:xfrm rot="16200000">
          <a:off x="3025588" y="1153177"/>
          <a:ext cx="235366" cy="377806"/>
        </a:xfrm>
        <a:prstGeom prst="rightArrow">
          <a:avLst>
            <a:gd name="adj1" fmla="val 60000"/>
            <a:gd name="adj2" fmla="val 50000"/>
          </a:avLst>
        </a:prstGeom>
        <a:solidFill>
          <a:srgbClr val="0066CC"/>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ysClr val="window" lastClr="FFFFFF"/>
            </a:solidFill>
            <a:latin typeface="微软雅黑" panose="020B0503020204020204" pitchFamily="34" charset="-122"/>
            <a:ea typeface="微软雅黑" panose="020B0503020204020204" pitchFamily="34" charset="-122"/>
            <a:cs typeface="+mn-cs"/>
          </a:endParaRPr>
        </a:p>
      </dsp:txBody>
      <dsp:txXfrm>
        <a:off x="3060893" y="1264043"/>
        <a:ext cx="164756" cy="226684"/>
      </dsp:txXfrm>
    </dsp:sp>
    <dsp:sp modelId="{5F97D607-F571-4917-A97F-79ED7C0C19D2}">
      <dsp:nvSpPr>
        <dsp:cNvPr id="0" name=""/>
        <dsp:cNvSpPr/>
      </dsp:nvSpPr>
      <dsp:spPr>
        <a:xfrm>
          <a:off x="2587674" y="2179"/>
          <a:ext cx="1111195" cy="1111195"/>
        </a:xfrm>
        <a:prstGeom prst="ellipse">
          <a:avLst/>
        </a:prstGeom>
        <a:solidFill>
          <a:srgbClr val="0066CC"/>
        </a:solidFill>
        <a:ln w="38100" cap="flat" cmpd="sng" algn="ctr">
          <a:no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ts val="1500"/>
            </a:lnSpc>
            <a:spcBef>
              <a:spcPct val="0"/>
            </a:spcBef>
            <a:spcAft>
              <a:spcPct val="35000"/>
            </a:spcAft>
            <a:buNone/>
          </a:pP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一</a:t>
          </a:r>
        </a:p>
      </dsp:txBody>
      <dsp:txXfrm>
        <a:off x="2750405" y="164910"/>
        <a:ext cx="785733" cy="785733"/>
      </dsp:txXfrm>
    </dsp:sp>
    <dsp:sp modelId="{2A789BF8-BECF-4D07-BA52-AA141F024B3B}">
      <dsp:nvSpPr>
        <dsp:cNvPr id="0" name=""/>
        <dsp:cNvSpPr/>
      </dsp:nvSpPr>
      <dsp:spPr>
        <a:xfrm rot="20520000">
          <a:off x="3895790" y="1657035"/>
          <a:ext cx="139199" cy="377806"/>
        </a:xfrm>
        <a:prstGeom prst="rightArrow">
          <a:avLst>
            <a:gd name="adj1" fmla="val 60000"/>
            <a:gd name="adj2" fmla="val 50000"/>
          </a:avLst>
        </a:prstGeom>
        <a:solidFill>
          <a:srgbClr val="0066CC"/>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ysClr val="window" lastClr="FFFFFF"/>
            </a:solidFill>
            <a:latin typeface="微软雅黑" panose="020B0503020204020204" pitchFamily="34" charset="-122"/>
            <a:ea typeface="微软雅黑" panose="020B0503020204020204" pitchFamily="34" charset="-122"/>
            <a:cs typeface="+mn-cs"/>
          </a:endParaRPr>
        </a:p>
      </dsp:txBody>
      <dsp:txXfrm>
        <a:off x="3896812" y="1739048"/>
        <a:ext cx="97439" cy="226684"/>
      </dsp:txXfrm>
    </dsp:sp>
    <dsp:sp modelId="{D88FB904-D5CB-4D8C-8B3A-E19495AE423B}">
      <dsp:nvSpPr>
        <dsp:cNvPr id="0" name=""/>
        <dsp:cNvSpPr/>
      </dsp:nvSpPr>
      <dsp:spPr>
        <a:xfrm>
          <a:off x="4066837" y="1076854"/>
          <a:ext cx="1111195" cy="1111195"/>
        </a:xfrm>
        <a:prstGeom prst="ellipse">
          <a:avLst/>
        </a:prstGeom>
        <a:solidFill>
          <a:srgbClr val="0066CC"/>
        </a:solidFill>
        <a:ln w="38100" cap="flat" cmpd="sng" algn="ctr">
          <a:no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ts val="1500"/>
            </a:lnSpc>
            <a:spcBef>
              <a:spcPct val="0"/>
            </a:spcBef>
            <a:spcAft>
              <a:spcPct val="35000"/>
            </a:spcAft>
            <a:buNone/>
          </a:pP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二</a:t>
          </a:r>
        </a:p>
      </dsp:txBody>
      <dsp:txXfrm>
        <a:off x="4229568" y="1239585"/>
        <a:ext cx="785733" cy="785733"/>
      </dsp:txXfrm>
    </dsp:sp>
    <dsp:sp modelId="{E492AD16-B5B3-477A-BE94-9FC4D2E850B5}">
      <dsp:nvSpPr>
        <dsp:cNvPr id="0" name=""/>
        <dsp:cNvSpPr/>
      </dsp:nvSpPr>
      <dsp:spPr>
        <a:xfrm rot="3240000">
          <a:off x="3508502" y="2569723"/>
          <a:ext cx="207599" cy="377806"/>
        </a:xfrm>
        <a:prstGeom prst="rightArrow">
          <a:avLst>
            <a:gd name="adj1" fmla="val 60000"/>
            <a:gd name="adj2" fmla="val 50000"/>
          </a:avLst>
        </a:prstGeom>
        <a:solidFill>
          <a:srgbClr val="0066CC"/>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ysClr val="window" lastClr="FFFFFF"/>
            </a:solidFill>
            <a:latin typeface="微软雅黑" panose="020B0503020204020204" pitchFamily="34" charset="-122"/>
            <a:ea typeface="微软雅黑" panose="020B0503020204020204" pitchFamily="34" charset="-122"/>
            <a:cs typeface="+mn-cs"/>
          </a:endParaRPr>
        </a:p>
      </dsp:txBody>
      <dsp:txXfrm>
        <a:off x="3521338" y="2620091"/>
        <a:ext cx="145319" cy="226684"/>
      </dsp:txXfrm>
    </dsp:sp>
    <dsp:sp modelId="{010B5CEF-EBDF-4699-A5B8-98CCF0267E98}">
      <dsp:nvSpPr>
        <dsp:cNvPr id="0" name=""/>
        <dsp:cNvSpPr/>
      </dsp:nvSpPr>
      <dsp:spPr>
        <a:xfrm>
          <a:off x="3501847" y="2815715"/>
          <a:ext cx="1111195" cy="1111195"/>
        </a:xfrm>
        <a:prstGeom prst="ellipse">
          <a:avLst/>
        </a:prstGeom>
        <a:solidFill>
          <a:srgbClr val="0066CC"/>
        </a:solidFill>
        <a:ln w="38100" cap="flat" cmpd="sng" algn="ctr">
          <a:no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ts val="1500"/>
            </a:lnSpc>
            <a:spcBef>
              <a:spcPct val="0"/>
            </a:spcBef>
            <a:spcAft>
              <a:spcPct val="35000"/>
            </a:spcAft>
            <a:buNone/>
          </a:pP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三</a:t>
          </a:r>
        </a:p>
      </dsp:txBody>
      <dsp:txXfrm>
        <a:off x="3664578" y="2978446"/>
        <a:ext cx="785733" cy="785733"/>
      </dsp:txXfrm>
    </dsp:sp>
    <dsp:sp modelId="{A7CD35BD-FE1D-4514-B2C4-D6207CDB5E93}">
      <dsp:nvSpPr>
        <dsp:cNvPr id="0" name=""/>
        <dsp:cNvSpPr/>
      </dsp:nvSpPr>
      <dsp:spPr>
        <a:xfrm rot="7560000">
          <a:off x="2570441" y="2569723"/>
          <a:ext cx="207599" cy="377806"/>
        </a:xfrm>
        <a:prstGeom prst="rightArrow">
          <a:avLst>
            <a:gd name="adj1" fmla="val 60000"/>
            <a:gd name="adj2" fmla="val 50000"/>
          </a:avLst>
        </a:prstGeom>
        <a:solidFill>
          <a:srgbClr val="0066CC"/>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ysClr val="window" lastClr="FFFFFF"/>
            </a:solidFill>
            <a:latin typeface="微软雅黑" panose="020B0503020204020204" pitchFamily="34" charset="-122"/>
            <a:ea typeface="微软雅黑" panose="020B0503020204020204" pitchFamily="34" charset="-122"/>
            <a:cs typeface="+mn-cs"/>
          </a:endParaRPr>
        </a:p>
      </dsp:txBody>
      <dsp:txXfrm rot="10800000">
        <a:off x="2619885" y="2620091"/>
        <a:ext cx="145319" cy="226684"/>
      </dsp:txXfrm>
    </dsp:sp>
    <dsp:sp modelId="{28697490-14A2-4860-8CC3-A0A571CBE904}">
      <dsp:nvSpPr>
        <dsp:cNvPr id="0" name=""/>
        <dsp:cNvSpPr/>
      </dsp:nvSpPr>
      <dsp:spPr>
        <a:xfrm>
          <a:off x="1673500" y="2815715"/>
          <a:ext cx="1111195" cy="1111195"/>
        </a:xfrm>
        <a:prstGeom prst="ellipse">
          <a:avLst/>
        </a:prstGeom>
        <a:solidFill>
          <a:srgbClr val="0066CC"/>
        </a:solidFill>
        <a:ln w="38100" cap="flat" cmpd="sng" algn="ctr">
          <a:no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ts val="1500"/>
            </a:lnSpc>
            <a:spcBef>
              <a:spcPct val="0"/>
            </a:spcBef>
            <a:spcAft>
              <a:spcPct val="35000"/>
            </a:spcAft>
            <a:buNone/>
          </a:pP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四</a:t>
          </a:r>
        </a:p>
      </dsp:txBody>
      <dsp:txXfrm>
        <a:off x="1836231" y="2978446"/>
        <a:ext cx="785733" cy="785733"/>
      </dsp:txXfrm>
    </dsp:sp>
    <dsp:sp modelId="{84A16D57-3E02-41A7-9A0D-5AFB53973C16}">
      <dsp:nvSpPr>
        <dsp:cNvPr id="0" name=""/>
        <dsp:cNvSpPr/>
      </dsp:nvSpPr>
      <dsp:spPr>
        <a:xfrm rot="11880000">
          <a:off x="2251553" y="1657035"/>
          <a:ext cx="139199" cy="377806"/>
        </a:xfrm>
        <a:prstGeom prst="rightArrow">
          <a:avLst>
            <a:gd name="adj1" fmla="val 60000"/>
            <a:gd name="adj2" fmla="val 50000"/>
          </a:avLst>
        </a:prstGeom>
        <a:solidFill>
          <a:srgbClr val="0066CC"/>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ysClr val="window" lastClr="FFFFFF"/>
            </a:solidFill>
            <a:latin typeface="微软雅黑" panose="020B0503020204020204" pitchFamily="34" charset="-122"/>
            <a:ea typeface="微软雅黑" panose="020B0503020204020204" pitchFamily="34" charset="-122"/>
            <a:cs typeface="+mn-cs"/>
          </a:endParaRPr>
        </a:p>
      </dsp:txBody>
      <dsp:txXfrm rot="10800000">
        <a:off x="2292291" y="1739048"/>
        <a:ext cx="97439" cy="226684"/>
      </dsp:txXfrm>
    </dsp:sp>
    <dsp:sp modelId="{980BA0AF-614A-4CDC-8541-EB5761B252F7}">
      <dsp:nvSpPr>
        <dsp:cNvPr id="0" name=""/>
        <dsp:cNvSpPr/>
      </dsp:nvSpPr>
      <dsp:spPr>
        <a:xfrm>
          <a:off x="1108510" y="1076854"/>
          <a:ext cx="1111195" cy="1111195"/>
        </a:xfrm>
        <a:prstGeom prst="ellipse">
          <a:avLst/>
        </a:prstGeom>
        <a:solidFill>
          <a:srgbClr val="0066CC"/>
        </a:solidFill>
        <a:ln w="38100" cap="flat" cmpd="sng" algn="ctr">
          <a:noFill/>
          <a:prstDash val="solid"/>
          <a:miter lim="800000"/>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ts val="1500"/>
            </a:lnSpc>
            <a:spcBef>
              <a:spcPct val="0"/>
            </a:spcBef>
            <a:spcAft>
              <a:spcPct val="35000"/>
            </a:spcAft>
            <a:buNone/>
          </a:pP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五</a:t>
          </a:r>
        </a:p>
      </dsp:txBody>
      <dsp:txXfrm>
        <a:off x="1271241" y="1239585"/>
        <a:ext cx="785733" cy="7857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CE377-51C1-46E9-BF76-2883CAE4C699}">
      <dsp:nvSpPr>
        <dsp:cNvPr id="0" name=""/>
        <dsp:cNvSpPr/>
      </dsp:nvSpPr>
      <dsp:spPr bwMode="white">
        <a:xfrm>
          <a:off x="0" y="0"/>
          <a:ext cx="4710307" cy="740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确定对象集和评估因素集</a:t>
          </a:r>
        </a:p>
      </dsp:txBody>
      <dsp:txXfrm>
        <a:off x="21687" y="21687"/>
        <a:ext cx="3848747" cy="697065"/>
      </dsp:txXfrm>
    </dsp:sp>
    <dsp:sp modelId="{D301DB76-48A3-4017-BE66-D7F1AB95E935}">
      <dsp:nvSpPr>
        <dsp:cNvPr id="0" name=""/>
        <dsp:cNvSpPr/>
      </dsp:nvSpPr>
      <dsp:spPr bwMode="white">
        <a:xfrm>
          <a:off x="394488" y="875065"/>
          <a:ext cx="4710307" cy="740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确定评估集</a:t>
          </a:r>
          <a:endParaRPr lang="zh-CN" altLang="en-US" sz="2000" kern="1200" dirty="0">
            <a:latin typeface="微软雅黑" panose="020B0503020204020204" pitchFamily="34" charset="-122"/>
            <a:ea typeface="微软雅黑" panose="020B0503020204020204" pitchFamily="34" charset="-122"/>
          </a:endParaRPr>
        </a:p>
      </dsp:txBody>
      <dsp:txXfrm>
        <a:off x="416175" y="896752"/>
        <a:ext cx="3791159" cy="697065"/>
      </dsp:txXfrm>
    </dsp:sp>
    <dsp:sp modelId="{11A6BB92-FE89-44D6-BA5B-5874F5236F6C}">
      <dsp:nvSpPr>
        <dsp:cNvPr id="0" name=""/>
        <dsp:cNvSpPr/>
      </dsp:nvSpPr>
      <dsp:spPr bwMode="white">
        <a:xfrm>
          <a:off x="783088" y="1750130"/>
          <a:ext cx="4710307" cy="740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评估指标权重的确定</a:t>
          </a:r>
        </a:p>
      </dsp:txBody>
      <dsp:txXfrm>
        <a:off x="804775" y="1771817"/>
        <a:ext cx="3797046" cy="697065"/>
      </dsp:txXfrm>
    </dsp:sp>
    <dsp:sp modelId="{3C61F83D-0CEB-436D-9579-280104D93E98}">
      <dsp:nvSpPr>
        <dsp:cNvPr id="0" name=""/>
        <dsp:cNvSpPr/>
      </dsp:nvSpPr>
      <dsp:spPr bwMode="white">
        <a:xfrm>
          <a:off x="1177576" y="2625196"/>
          <a:ext cx="4710307" cy="740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评估指标隶属度的确定</a:t>
          </a:r>
        </a:p>
      </dsp:txBody>
      <dsp:txXfrm>
        <a:off x="1199263" y="2646883"/>
        <a:ext cx="3791159" cy="697065"/>
      </dsp:txXfrm>
    </dsp:sp>
    <dsp:sp modelId="{AB0A130D-2C5E-4892-9648-7066CB5B445A}">
      <dsp:nvSpPr>
        <dsp:cNvPr id="0" name=""/>
        <dsp:cNvSpPr/>
      </dsp:nvSpPr>
      <dsp:spPr bwMode="white">
        <a:xfrm>
          <a:off x="4229021" y="567109"/>
          <a:ext cx="481285" cy="481285"/>
        </a:xfrm>
        <a:prstGeom prst="downArrow">
          <a:avLst>
            <a:gd name="adj1" fmla="val 55000"/>
            <a:gd name="adj2" fmla="val 45000"/>
          </a:avLst>
        </a:prstGeom>
        <a:solidFill>
          <a:schemeClr val="accent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4337310" y="567109"/>
        <a:ext cx="264707" cy="362167"/>
      </dsp:txXfrm>
    </dsp:sp>
    <dsp:sp modelId="{6370004E-C88A-43BA-A9F2-01796D1E1A6E}">
      <dsp:nvSpPr>
        <dsp:cNvPr id="0" name=""/>
        <dsp:cNvSpPr/>
      </dsp:nvSpPr>
      <dsp:spPr bwMode="white">
        <a:xfrm>
          <a:off x="4623509" y="1442175"/>
          <a:ext cx="481285" cy="481285"/>
        </a:xfrm>
        <a:prstGeom prst="downArrow">
          <a:avLst>
            <a:gd name="adj1" fmla="val 55000"/>
            <a:gd name="adj2" fmla="val 45000"/>
          </a:avLst>
        </a:prstGeom>
        <a:solidFill>
          <a:schemeClr val="accent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4731798" y="1442175"/>
        <a:ext cx="264707" cy="362167"/>
      </dsp:txXfrm>
    </dsp:sp>
    <dsp:sp modelId="{522A84C9-056B-46CF-A246-F6266FC045BA}">
      <dsp:nvSpPr>
        <dsp:cNvPr id="0" name=""/>
        <dsp:cNvSpPr/>
      </dsp:nvSpPr>
      <dsp:spPr bwMode="white">
        <a:xfrm>
          <a:off x="5012109" y="2317240"/>
          <a:ext cx="481285" cy="481285"/>
        </a:xfrm>
        <a:prstGeom prst="downArrow">
          <a:avLst>
            <a:gd name="adj1" fmla="val 55000"/>
            <a:gd name="adj2" fmla="val 45000"/>
          </a:avLst>
        </a:prstGeom>
        <a:solidFill>
          <a:schemeClr val="accent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5120398" y="2317240"/>
        <a:ext cx="264707" cy="36216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2D9FA4-EA2D-4642-9AB3-58F4DFE4A986}" type="datetimeFigureOut">
              <a:rPr lang="zh-CN" altLang="en-US" smtClean="0"/>
              <a:t>2022/12/15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ED7E9-B20B-40CB-89C0-CAF7F9D595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11</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24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25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26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27</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28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30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34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40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44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56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57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58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59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67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76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77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78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80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7ED7E9-B20B-40CB-89C0-CAF7F9D5953A}" type="slidenum">
              <a:rPr lang="zh-CN" altLang="en-US" smtClean="0"/>
              <a:t>83</a:t>
            </a:fld>
            <a:endParaRPr lang="zh-CN" altLang="en-US"/>
          </a:p>
        </p:txBody>
      </p:sp>
    </p:spTree>
    <p:extLst>
      <p:ext uri="{BB962C8B-B14F-4D97-AF65-F5344CB8AC3E}">
        <p14:creationId xmlns:p14="http://schemas.microsoft.com/office/powerpoint/2010/main" val="16761537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7ED7E9-B20B-40CB-89C0-CAF7F9D5953A}" type="slidenum">
              <a:rPr lang="zh-CN" altLang="en-US" smtClean="0"/>
              <a:t>90</a:t>
            </a:fld>
            <a:endParaRPr lang="zh-CN" altLang="en-US"/>
          </a:p>
        </p:txBody>
      </p:sp>
    </p:spTree>
    <p:extLst>
      <p:ext uri="{BB962C8B-B14F-4D97-AF65-F5344CB8AC3E}">
        <p14:creationId xmlns:p14="http://schemas.microsoft.com/office/powerpoint/2010/main" val="2486680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98</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101</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116</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117</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118</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119</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120</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ED7E9-B20B-40CB-89C0-CAF7F9D5953A}" type="slidenum">
              <a:rPr lang="zh-CN" altLang="en-US" smtClean="0"/>
              <a:t>123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pPr>
              <a:defRPr/>
            </a:pPr>
            <a:fld id="{B8A2BE66-3A1D-4F69-92F9-8180C3DFAFD8}" type="slidenum">
              <a:rPr lang="zh-CN" altLang="zh-CN"/>
              <a:t>‹#›</a:t>
            </a:fld>
            <a:endParaRPr lang="zh-CN"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t="20709" b="20363"/>
          <a:stretch>
            <a:fillRect/>
          </a:stretch>
        </p:blipFill>
        <p:spPr>
          <a:xfrm>
            <a:off x="152400" y="-14515"/>
            <a:ext cx="11504149" cy="6872515"/>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pPr>
              <a:defRPr/>
            </a:pPr>
            <a:fld id="{54D9912E-CD21-4B76-91AB-8AF6576DF20D}" type="slidenum">
              <a:rPr lang="zh-CN" altLang="zh-CN"/>
              <a:t>‹#›</a:t>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组合 6"/>
          <p:cNvGrpSpPr/>
          <p:nvPr userDrawn="1"/>
        </p:nvGrpSpPr>
        <p:grpSpPr>
          <a:xfrm>
            <a:off x="3586250" y="1245799"/>
            <a:ext cx="6480000" cy="6480000"/>
            <a:chOff x="3586250" y="1245799"/>
            <a:chExt cx="6480000" cy="6480000"/>
          </a:xfrm>
        </p:grpSpPr>
        <p:sp>
          <p:nvSpPr>
            <p:cNvPr id="8" name="弧形 7"/>
            <p:cNvSpPr/>
            <p:nvPr/>
          </p:nvSpPr>
          <p:spPr>
            <a:xfrm>
              <a:off x="4305300" y="1964849"/>
              <a:ext cx="5041900" cy="5041900"/>
            </a:xfrm>
            <a:prstGeom prst="arc">
              <a:avLst>
                <a:gd name="adj1" fmla="val 13814770"/>
                <a:gd name="adj2" fmla="val 1284488"/>
              </a:avLst>
            </a:prstGeom>
            <a:ln w="381000">
              <a:solidFill>
                <a:srgbClr val="31B5D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a:off x="3946250" y="1605799"/>
              <a:ext cx="5760000" cy="5760000"/>
            </a:xfrm>
            <a:prstGeom prst="arc">
              <a:avLst>
                <a:gd name="adj1" fmla="val 13814770"/>
                <a:gd name="adj2" fmla="val 1284488"/>
              </a:avLst>
            </a:prstGeom>
            <a:ln w="381000">
              <a:solidFill>
                <a:srgbClr val="F784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p:nvSpPr>
          <p:spPr>
            <a:xfrm>
              <a:off x="3586250" y="1245799"/>
              <a:ext cx="6480000" cy="6480000"/>
            </a:xfrm>
            <a:prstGeom prst="arc">
              <a:avLst>
                <a:gd name="adj1" fmla="val 13814770"/>
                <a:gd name="adj2" fmla="val 1284488"/>
              </a:avLst>
            </a:prstGeom>
            <a:ln w="3810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1" name="Oval 15"/>
          <p:cNvSpPr/>
          <p:nvPr userDrawn="1"/>
        </p:nvSpPr>
        <p:spPr>
          <a:xfrm>
            <a:off x="1608110" y="1405008"/>
            <a:ext cx="6133399" cy="4271893"/>
          </a:xfrm>
          <a:custGeom>
            <a:avLst/>
            <a:gdLst>
              <a:gd name="connsiteX0" fmla="*/ 1112520 w 2895600"/>
              <a:gd name="connsiteY0" fmla="*/ 0 h 1487173"/>
              <a:gd name="connsiteX1" fmla="*/ 1776897 w 2895600"/>
              <a:gd name="connsiteY1" fmla="*/ 523460 h 1487173"/>
              <a:gd name="connsiteX2" fmla="*/ 1981200 w 2895600"/>
              <a:gd name="connsiteY2" fmla="*/ 443446 h 1487173"/>
              <a:gd name="connsiteX3" fmla="*/ 2283615 w 2895600"/>
              <a:gd name="connsiteY3" fmla="*/ 724590 h 1487173"/>
              <a:gd name="connsiteX4" fmla="*/ 2461260 w 2895600"/>
              <a:gd name="connsiteY4" fmla="*/ 685800 h 1487173"/>
              <a:gd name="connsiteX5" fmla="*/ 2895600 w 2895600"/>
              <a:gd name="connsiteY5" fmla="*/ 1120140 h 1487173"/>
              <a:gd name="connsiteX6" fmla="*/ 2698117 w 2895600"/>
              <a:gd name="connsiteY6" fmla="*/ 1478280 h 1487173"/>
              <a:gd name="connsiteX7" fmla="*/ 2700675 w 2895600"/>
              <a:gd name="connsiteY7" fmla="*/ 1487173 h 1487173"/>
              <a:gd name="connsiteX8" fmla="*/ 64333 w 2895600"/>
              <a:gd name="connsiteY8" fmla="*/ 1478280 h 1487173"/>
              <a:gd name="connsiteX9" fmla="*/ 0 w 2895600"/>
              <a:gd name="connsiteY9" fmla="*/ 1257300 h 1487173"/>
              <a:gd name="connsiteX10" fmla="*/ 419100 w 2895600"/>
              <a:gd name="connsiteY10" fmla="*/ 838200 h 1487173"/>
              <a:gd name="connsiteX11" fmla="*/ 445895 w 2895600"/>
              <a:gd name="connsiteY11" fmla="*/ 840901 h 1487173"/>
              <a:gd name="connsiteX12" fmla="*/ 426720 w 2895600"/>
              <a:gd name="connsiteY12" fmla="*/ 685800 h 1487173"/>
              <a:gd name="connsiteX13" fmla="*/ 1112520 w 2895600"/>
              <a:gd name="connsiteY13" fmla="*/ 0 h 1487173"/>
              <a:gd name="connsiteX0-1" fmla="*/ 1112520 w 2895600"/>
              <a:gd name="connsiteY0-2" fmla="*/ 0 h 1656195"/>
              <a:gd name="connsiteX1-3" fmla="*/ 1776897 w 2895600"/>
              <a:gd name="connsiteY1-4" fmla="*/ 523460 h 1656195"/>
              <a:gd name="connsiteX2-5" fmla="*/ 1981200 w 2895600"/>
              <a:gd name="connsiteY2-6" fmla="*/ 443446 h 1656195"/>
              <a:gd name="connsiteX3-7" fmla="*/ 2283615 w 2895600"/>
              <a:gd name="connsiteY3-8" fmla="*/ 724590 h 1656195"/>
              <a:gd name="connsiteX4-9" fmla="*/ 2461260 w 2895600"/>
              <a:gd name="connsiteY4-10" fmla="*/ 685800 h 1656195"/>
              <a:gd name="connsiteX5-11" fmla="*/ 2895600 w 2895600"/>
              <a:gd name="connsiteY5-12" fmla="*/ 1120140 h 1656195"/>
              <a:gd name="connsiteX6-13" fmla="*/ 2698117 w 2895600"/>
              <a:gd name="connsiteY6-14" fmla="*/ 1478280 h 1656195"/>
              <a:gd name="connsiteX7-15" fmla="*/ 1980496 w 2895600"/>
              <a:gd name="connsiteY7-16" fmla="*/ 1656195 h 1656195"/>
              <a:gd name="connsiteX8-17" fmla="*/ 64333 w 2895600"/>
              <a:gd name="connsiteY8-18" fmla="*/ 1478280 h 1656195"/>
              <a:gd name="connsiteX9-19" fmla="*/ 0 w 2895600"/>
              <a:gd name="connsiteY9-20" fmla="*/ 1257300 h 1656195"/>
              <a:gd name="connsiteX10-21" fmla="*/ 419100 w 2895600"/>
              <a:gd name="connsiteY10-22" fmla="*/ 838200 h 1656195"/>
              <a:gd name="connsiteX11-23" fmla="*/ 445895 w 2895600"/>
              <a:gd name="connsiteY11-24" fmla="*/ 840901 h 1656195"/>
              <a:gd name="connsiteX12-25" fmla="*/ 426720 w 2895600"/>
              <a:gd name="connsiteY12-26" fmla="*/ 685800 h 1656195"/>
              <a:gd name="connsiteX13-27" fmla="*/ 1112520 w 2895600"/>
              <a:gd name="connsiteY13-28" fmla="*/ 0 h 1656195"/>
              <a:gd name="connsiteX0-29" fmla="*/ 1112520 w 2895600"/>
              <a:gd name="connsiteY0-30" fmla="*/ 0 h 1668502"/>
              <a:gd name="connsiteX1-31" fmla="*/ 1776897 w 2895600"/>
              <a:gd name="connsiteY1-32" fmla="*/ 523460 h 1668502"/>
              <a:gd name="connsiteX2-33" fmla="*/ 1981200 w 2895600"/>
              <a:gd name="connsiteY2-34" fmla="*/ 443446 h 1668502"/>
              <a:gd name="connsiteX3-35" fmla="*/ 2283615 w 2895600"/>
              <a:gd name="connsiteY3-36" fmla="*/ 724590 h 1668502"/>
              <a:gd name="connsiteX4-37" fmla="*/ 2461260 w 2895600"/>
              <a:gd name="connsiteY4-38" fmla="*/ 685800 h 1668502"/>
              <a:gd name="connsiteX5-39" fmla="*/ 2895600 w 2895600"/>
              <a:gd name="connsiteY5-40" fmla="*/ 1120140 h 1668502"/>
              <a:gd name="connsiteX6-41" fmla="*/ 2698117 w 2895600"/>
              <a:gd name="connsiteY6-42" fmla="*/ 1478280 h 1668502"/>
              <a:gd name="connsiteX7-43" fmla="*/ 1980496 w 2895600"/>
              <a:gd name="connsiteY7-44" fmla="*/ 1656195 h 1668502"/>
              <a:gd name="connsiteX8-45" fmla="*/ 64333 w 2895600"/>
              <a:gd name="connsiteY8-46" fmla="*/ 1478280 h 1668502"/>
              <a:gd name="connsiteX9-47" fmla="*/ 0 w 2895600"/>
              <a:gd name="connsiteY9-48" fmla="*/ 1257300 h 1668502"/>
              <a:gd name="connsiteX10-49" fmla="*/ 419100 w 2895600"/>
              <a:gd name="connsiteY10-50" fmla="*/ 838200 h 1668502"/>
              <a:gd name="connsiteX11-51" fmla="*/ 445895 w 2895600"/>
              <a:gd name="connsiteY11-52" fmla="*/ 840901 h 1668502"/>
              <a:gd name="connsiteX12-53" fmla="*/ 426720 w 2895600"/>
              <a:gd name="connsiteY12-54" fmla="*/ 685800 h 1668502"/>
              <a:gd name="connsiteX13-55" fmla="*/ 1112520 w 2895600"/>
              <a:gd name="connsiteY13-56" fmla="*/ 0 h 1668502"/>
              <a:gd name="connsiteX0-57" fmla="*/ 1112520 w 2895600"/>
              <a:gd name="connsiteY0-58" fmla="*/ 0 h 1687775"/>
              <a:gd name="connsiteX1-59" fmla="*/ 1776897 w 2895600"/>
              <a:gd name="connsiteY1-60" fmla="*/ 523460 h 1687775"/>
              <a:gd name="connsiteX2-61" fmla="*/ 1981200 w 2895600"/>
              <a:gd name="connsiteY2-62" fmla="*/ 443446 h 1687775"/>
              <a:gd name="connsiteX3-63" fmla="*/ 2283615 w 2895600"/>
              <a:gd name="connsiteY3-64" fmla="*/ 724590 h 1687775"/>
              <a:gd name="connsiteX4-65" fmla="*/ 2461260 w 2895600"/>
              <a:gd name="connsiteY4-66" fmla="*/ 685800 h 1687775"/>
              <a:gd name="connsiteX5-67" fmla="*/ 2895600 w 2895600"/>
              <a:gd name="connsiteY5-68" fmla="*/ 1120140 h 1687775"/>
              <a:gd name="connsiteX6-69" fmla="*/ 2698117 w 2895600"/>
              <a:gd name="connsiteY6-70" fmla="*/ 1478280 h 1687775"/>
              <a:gd name="connsiteX7-71" fmla="*/ 1980496 w 2895600"/>
              <a:gd name="connsiteY7-72" fmla="*/ 1656195 h 1687775"/>
              <a:gd name="connsiteX8-73" fmla="*/ 1965798 w 2895600"/>
              <a:gd name="connsiteY8-74" fmla="*/ 1670891 h 1687775"/>
              <a:gd name="connsiteX9-75" fmla="*/ 64333 w 2895600"/>
              <a:gd name="connsiteY9-76" fmla="*/ 1478280 h 1687775"/>
              <a:gd name="connsiteX10-77" fmla="*/ 0 w 2895600"/>
              <a:gd name="connsiteY10-78" fmla="*/ 1257300 h 1687775"/>
              <a:gd name="connsiteX11-79" fmla="*/ 419100 w 2895600"/>
              <a:gd name="connsiteY11-80" fmla="*/ 838200 h 1687775"/>
              <a:gd name="connsiteX12-81" fmla="*/ 445895 w 2895600"/>
              <a:gd name="connsiteY12-82" fmla="*/ 840901 h 1687775"/>
              <a:gd name="connsiteX13-83" fmla="*/ 426720 w 2895600"/>
              <a:gd name="connsiteY13-84" fmla="*/ 685800 h 1687775"/>
              <a:gd name="connsiteX14" fmla="*/ 1112520 w 2895600"/>
              <a:gd name="connsiteY14" fmla="*/ 0 h 1687775"/>
              <a:gd name="connsiteX0-85" fmla="*/ 1112520 w 2895600"/>
              <a:gd name="connsiteY0-86" fmla="*/ 0 h 1693144"/>
              <a:gd name="connsiteX1-87" fmla="*/ 1776897 w 2895600"/>
              <a:gd name="connsiteY1-88" fmla="*/ 523460 h 1693144"/>
              <a:gd name="connsiteX2-89" fmla="*/ 1981200 w 2895600"/>
              <a:gd name="connsiteY2-90" fmla="*/ 443446 h 1693144"/>
              <a:gd name="connsiteX3-91" fmla="*/ 2283615 w 2895600"/>
              <a:gd name="connsiteY3-92" fmla="*/ 724590 h 1693144"/>
              <a:gd name="connsiteX4-93" fmla="*/ 2461260 w 2895600"/>
              <a:gd name="connsiteY4-94" fmla="*/ 685800 h 1693144"/>
              <a:gd name="connsiteX5-95" fmla="*/ 2895600 w 2895600"/>
              <a:gd name="connsiteY5-96" fmla="*/ 1120140 h 1693144"/>
              <a:gd name="connsiteX6-97" fmla="*/ 2698117 w 2895600"/>
              <a:gd name="connsiteY6-98" fmla="*/ 1478280 h 1693144"/>
              <a:gd name="connsiteX7-99" fmla="*/ 1980496 w 2895600"/>
              <a:gd name="connsiteY7-100" fmla="*/ 1656195 h 1693144"/>
              <a:gd name="connsiteX8-101" fmla="*/ 863483 w 2895600"/>
              <a:gd name="connsiteY8-102" fmla="*/ 1678240 h 1693144"/>
              <a:gd name="connsiteX9-103" fmla="*/ 64333 w 2895600"/>
              <a:gd name="connsiteY9-104" fmla="*/ 1478280 h 1693144"/>
              <a:gd name="connsiteX10-105" fmla="*/ 0 w 2895600"/>
              <a:gd name="connsiteY10-106" fmla="*/ 1257300 h 1693144"/>
              <a:gd name="connsiteX11-107" fmla="*/ 419100 w 2895600"/>
              <a:gd name="connsiteY11-108" fmla="*/ 838200 h 1693144"/>
              <a:gd name="connsiteX12-109" fmla="*/ 445895 w 2895600"/>
              <a:gd name="connsiteY12-110" fmla="*/ 840901 h 1693144"/>
              <a:gd name="connsiteX13-111" fmla="*/ 426720 w 2895600"/>
              <a:gd name="connsiteY13-112" fmla="*/ 685800 h 1693144"/>
              <a:gd name="connsiteX14-113" fmla="*/ 1112520 w 2895600"/>
              <a:gd name="connsiteY14-114" fmla="*/ 0 h 1693144"/>
              <a:gd name="connsiteX0-115" fmla="*/ 1112520 w 2895600"/>
              <a:gd name="connsiteY0-116" fmla="*/ 0 h 1656322"/>
              <a:gd name="connsiteX1-117" fmla="*/ 1776897 w 2895600"/>
              <a:gd name="connsiteY1-118" fmla="*/ 523460 h 1656322"/>
              <a:gd name="connsiteX2-119" fmla="*/ 1981200 w 2895600"/>
              <a:gd name="connsiteY2-120" fmla="*/ 443446 h 1656322"/>
              <a:gd name="connsiteX3-121" fmla="*/ 2283615 w 2895600"/>
              <a:gd name="connsiteY3-122" fmla="*/ 724590 h 1656322"/>
              <a:gd name="connsiteX4-123" fmla="*/ 2461260 w 2895600"/>
              <a:gd name="connsiteY4-124" fmla="*/ 685800 h 1656322"/>
              <a:gd name="connsiteX5-125" fmla="*/ 2895600 w 2895600"/>
              <a:gd name="connsiteY5-126" fmla="*/ 1120140 h 1656322"/>
              <a:gd name="connsiteX6-127" fmla="*/ 2698117 w 2895600"/>
              <a:gd name="connsiteY6-128" fmla="*/ 1478280 h 1656322"/>
              <a:gd name="connsiteX7-129" fmla="*/ 1980496 w 2895600"/>
              <a:gd name="connsiteY7-130" fmla="*/ 1656195 h 1656322"/>
              <a:gd name="connsiteX8-131" fmla="*/ 951668 w 2895600"/>
              <a:gd name="connsiteY8-132" fmla="*/ 1450427 h 1656322"/>
              <a:gd name="connsiteX9-133" fmla="*/ 64333 w 2895600"/>
              <a:gd name="connsiteY9-134" fmla="*/ 1478280 h 1656322"/>
              <a:gd name="connsiteX10-135" fmla="*/ 0 w 2895600"/>
              <a:gd name="connsiteY10-136" fmla="*/ 1257300 h 1656322"/>
              <a:gd name="connsiteX11-137" fmla="*/ 419100 w 2895600"/>
              <a:gd name="connsiteY11-138" fmla="*/ 838200 h 1656322"/>
              <a:gd name="connsiteX12-139" fmla="*/ 445895 w 2895600"/>
              <a:gd name="connsiteY12-140" fmla="*/ 840901 h 1656322"/>
              <a:gd name="connsiteX13-141" fmla="*/ 426720 w 2895600"/>
              <a:gd name="connsiteY13-142" fmla="*/ 685800 h 1656322"/>
              <a:gd name="connsiteX14-143" fmla="*/ 1112520 w 2895600"/>
              <a:gd name="connsiteY14-144" fmla="*/ 0 h 1656322"/>
              <a:gd name="connsiteX0-145" fmla="*/ 1112520 w 2895600"/>
              <a:gd name="connsiteY0-146" fmla="*/ 0 h 1684771"/>
              <a:gd name="connsiteX1-147" fmla="*/ 1776897 w 2895600"/>
              <a:gd name="connsiteY1-148" fmla="*/ 523460 h 1684771"/>
              <a:gd name="connsiteX2-149" fmla="*/ 1981200 w 2895600"/>
              <a:gd name="connsiteY2-150" fmla="*/ 443446 h 1684771"/>
              <a:gd name="connsiteX3-151" fmla="*/ 2283615 w 2895600"/>
              <a:gd name="connsiteY3-152" fmla="*/ 724590 h 1684771"/>
              <a:gd name="connsiteX4-153" fmla="*/ 2461260 w 2895600"/>
              <a:gd name="connsiteY4-154" fmla="*/ 685800 h 1684771"/>
              <a:gd name="connsiteX5-155" fmla="*/ 2895600 w 2895600"/>
              <a:gd name="connsiteY5-156" fmla="*/ 1120140 h 1684771"/>
              <a:gd name="connsiteX6-157" fmla="*/ 2698117 w 2895600"/>
              <a:gd name="connsiteY6-158" fmla="*/ 1478280 h 1684771"/>
              <a:gd name="connsiteX7-159" fmla="*/ 1980496 w 2895600"/>
              <a:gd name="connsiteY7-160" fmla="*/ 1656195 h 1684771"/>
              <a:gd name="connsiteX8-161" fmla="*/ 1965798 w 2895600"/>
              <a:gd name="connsiteY8-162" fmla="*/ 1663542 h 1684771"/>
              <a:gd name="connsiteX9-163" fmla="*/ 951668 w 2895600"/>
              <a:gd name="connsiteY9-164" fmla="*/ 1450427 h 1684771"/>
              <a:gd name="connsiteX10-165" fmla="*/ 64333 w 2895600"/>
              <a:gd name="connsiteY10-166" fmla="*/ 1478280 h 1684771"/>
              <a:gd name="connsiteX11-167" fmla="*/ 0 w 2895600"/>
              <a:gd name="connsiteY11-168" fmla="*/ 1257300 h 1684771"/>
              <a:gd name="connsiteX12-169" fmla="*/ 419100 w 2895600"/>
              <a:gd name="connsiteY12-170" fmla="*/ 838200 h 1684771"/>
              <a:gd name="connsiteX13-171" fmla="*/ 445895 w 2895600"/>
              <a:gd name="connsiteY13-172" fmla="*/ 840901 h 1684771"/>
              <a:gd name="connsiteX14-173" fmla="*/ 426720 w 2895600"/>
              <a:gd name="connsiteY14-174" fmla="*/ 685800 h 1684771"/>
              <a:gd name="connsiteX15" fmla="*/ 1112520 w 2895600"/>
              <a:gd name="connsiteY15" fmla="*/ 0 h 1684771"/>
              <a:gd name="connsiteX0-175" fmla="*/ 1112520 w 2895600"/>
              <a:gd name="connsiteY0-176" fmla="*/ 0 h 1667103"/>
              <a:gd name="connsiteX1-177" fmla="*/ 1776897 w 2895600"/>
              <a:gd name="connsiteY1-178" fmla="*/ 523460 h 1667103"/>
              <a:gd name="connsiteX2-179" fmla="*/ 1981200 w 2895600"/>
              <a:gd name="connsiteY2-180" fmla="*/ 443446 h 1667103"/>
              <a:gd name="connsiteX3-181" fmla="*/ 2283615 w 2895600"/>
              <a:gd name="connsiteY3-182" fmla="*/ 724590 h 1667103"/>
              <a:gd name="connsiteX4-183" fmla="*/ 2461260 w 2895600"/>
              <a:gd name="connsiteY4-184" fmla="*/ 685800 h 1667103"/>
              <a:gd name="connsiteX5-185" fmla="*/ 2895600 w 2895600"/>
              <a:gd name="connsiteY5-186" fmla="*/ 1120140 h 1667103"/>
              <a:gd name="connsiteX6-187" fmla="*/ 2698117 w 2895600"/>
              <a:gd name="connsiteY6-188" fmla="*/ 1478280 h 1667103"/>
              <a:gd name="connsiteX7-189" fmla="*/ 2274446 w 2895600"/>
              <a:gd name="connsiteY7-190" fmla="*/ 1443080 h 1667103"/>
              <a:gd name="connsiteX8-191" fmla="*/ 1965798 w 2895600"/>
              <a:gd name="connsiteY8-192" fmla="*/ 1663542 h 1667103"/>
              <a:gd name="connsiteX9-193" fmla="*/ 951668 w 2895600"/>
              <a:gd name="connsiteY9-194" fmla="*/ 1450427 h 1667103"/>
              <a:gd name="connsiteX10-195" fmla="*/ 64333 w 2895600"/>
              <a:gd name="connsiteY10-196" fmla="*/ 1478280 h 1667103"/>
              <a:gd name="connsiteX11-197" fmla="*/ 0 w 2895600"/>
              <a:gd name="connsiteY11-198" fmla="*/ 1257300 h 1667103"/>
              <a:gd name="connsiteX12-199" fmla="*/ 419100 w 2895600"/>
              <a:gd name="connsiteY12-200" fmla="*/ 838200 h 1667103"/>
              <a:gd name="connsiteX13-201" fmla="*/ 445895 w 2895600"/>
              <a:gd name="connsiteY13-202" fmla="*/ 840901 h 1667103"/>
              <a:gd name="connsiteX14-203" fmla="*/ 426720 w 2895600"/>
              <a:gd name="connsiteY14-204" fmla="*/ 685800 h 1667103"/>
              <a:gd name="connsiteX15-205" fmla="*/ 1112520 w 2895600"/>
              <a:gd name="connsiteY15-206" fmla="*/ 0 h 1667103"/>
              <a:gd name="connsiteX0-207" fmla="*/ 1112520 w 2895600"/>
              <a:gd name="connsiteY0-208" fmla="*/ 0 h 1667103"/>
              <a:gd name="connsiteX1-209" fmla="*/ 1776897 w 2895600"/>
              <a:gd name="connsiteY1-210" fmla="*/ 523460 h 1667103"/>
              <a:gd name="connsiteX2-211" fmla="*/ 1981200 w 2895600"/>
              <a:gd name="connsiteY2-212" fmla="*/ 443446 h 1667103"/>
              <a:gd name="connsiteX3-213" fmla="*/ 2283615 w 2895600"/>
              <a:gd name="connsiteY3-214" fmla="*/ 724590 h 1667103"/>
              <a:gd name="connsiteX4-215" fmla="*/ 2461260 w 2895600"/>
              <a:gd name="connsiteY4-216" fmla="*/ 685800 h 1667103"/>
              <a:gd name="connsiteX5-217" fmla="*/ 2895600 w 2895600"/>
              <a:gd name="connsiteY5-218" fmla="*/ 1120140 h 1667103"/>
              <a:gd name="connsiteX6-219" fmla="*/ 2698117 w 2895600"/>
              <a:gd name="connsiteY6-220" fmla="*/ 1478280 h 1667103"/>
              <a:gd name="connsiteX7-221" fmla="*/ 2274446 w 2895600"/>
              <a:gd name="connsiteY7-222" fmla="*/ 1443080 h 1667103"/>
              <a:gd name="connsiteX8-223" fmla="*/ 1965798 w 2895600"/>
              <a:gd name="connsiteY8-224" fmla="*/ 1663542 h 1667103"/>
              <a:gd name="connsiteX9-225" fmla="*/ 951668 w 2895600"/>
              <a:gd name="connsiteY9-226" fmla="*/ 1450427 h 1667103"/>
              <a:gd name="connsiteX10-227" fmla="*/ 951669 w 2895600"/>
              <a:gd name="connsiteY10-228" fmla="*/ 1465124 h 1667103"/>
              <a:gd name="connsiteX11-229" fmla="*/ 64333 w 2895600"/>
              <a:gd name="connsiteY11-230" fmla="*/ 1478280 h 1667103"/>
              <a:gd name="connsiteX12-231" fmla="*/ 0 w 2895600"/>
              <a:gd name="connsiteY12-232" fmla="*/ 1257300 h 1667103"/>
              <a:gd name="connsiteX13-233" fmla="*/ 419100 w 2895600"/>
              <a:gd name="connsiteY13-234" fmla="*/ 838200 h 1667103"/>
              <a:gd name="connsiteX14-235" fmla="*/ 445895 w 2895600"/>
              <a:gd name="connsiteY14-236" fmla="*/ 840901 h 1667103"/>
              <a:gd name="connsiteX15-237" fmla="*/ 426720 w 2895600"/>
              <a:gd name="connsiteY15-238" fmla="*/ 685800 h 1667103"/>
              <a:gd name="connsiteX16" fmla="*/ 1112520 w 2895600"/>
              <a:gd name="connsiteY16" fmla="*/ 0 h 1667103"/>
              <a:gd name="connsiteX0-239" fmla="*/ 1112520 w 2895600"/>
              <a:gd name="connsiteY0-240" fmla="*/ 0 h 1836772"/>
              <a:gd name="connsiteX1-241" fmla="*/ 1776897 w 2895600"/>
              <a:gd name="connsiteY1-242" fmla="*/ 523460 h 1836772"/>
              <a:gd name="connsiteX2-243" fmla="*/ 1981200 w 2895600"/>
              <a:gd name="connsiteY2-244" fmla="*/ 443446 h 1836772"/>
              <a:gd name="connsiteX3-245" fmla="*/ 2283615 w 2895600"/>
              <a:gd name="connsiteY3-246" fmla="*/ 724590 h 1836772"/>
              <a:gd name="connsiteX4-247" fmla="*/ 2461260 w 2895600"/>
              <a:gd name="connsiteY4-248" fmla="*/ 685800 h 1836772"/>
              <a:gd name="connsiteX5-249" fmla="*/ 2895600 w 2895600"/>
              <a:gd name="connsiteY5-250" fmla="*/ 1120140 h 1836772"/>
              <a:gd name="connsiteX6-251" fmla="*/ 2698117 w 2895600"/>
              <a:gd name="connsiteY6-252" fmla="*/ 1478280 h 1836772"/>
              <a:gd name="connsiteX7-253" fmla="*/ 2274446 w 2895600"/>
              <a:gd name="connsiteY7-254" fmla="*/ 1443080 h 1836772"/>
              <a:gd name="connsiteX8-255" fmla="*/ 1965798 w 2895600"/>
              <a:gd name="connsiteY8-256" fmla="*/ 1663542 h 1836772"/>
              <a:gd name="connsiteX9-257" fmla="*/ 1326456 w 2895600"/>
              <a:gd name="connsiteY9-258" fmla="*/ 1832564 h 1836772"/>
              <a:gd name="connsiteX10-259" fmla="*/ 951668 w 2895600"/>
              <a:gd name="connsiteY10-260" fmla="*/ 1450427 h 1836772"/>
              <a:gd name="connsiteX11-261" fmla="*/ 951669 w 2895600"/>
              <a:gd name="connsiteY11-262" fmla="*/ 1465124 h 1836772"/>
              <a:gd name="connsiteX12-263" fmla="*/ 64333 w 2895600"/>
              <a:gd name="connsiteY12-264" fmla="*/ 1478280 h 1836772"/>
              <a:gd name="connsiteX13-265" fmla="*/ 0 w 2895600"/>
              <a:gd name="connsiteY13-266" fmla="*/ 1257300 h 1836772"/>
              <a:gd name="connsiteX14-267" fmla="*/ 419100 w 2895600"/>
              <a:gd name="connsiteY14-268" fmla="*/ 838200 h 1836772"/>
              <a:gd name="connsiteX15-269" fmla="*/ 445895 w 2895600"/>
              <a:gd name="connsiteY15-270" fmla="*/ 840901 h 1836772"/>
              <a:gd name="connsiteX16-271" fmla="*/ 426720 w 2895600"/>
              <a:gd name="connsiteY16-272" fmla="*/ 685800 h 1836772"/>
              <a:gd name="connsiteX17" fmla="*/ 1112520 w 2895600"/>
              <a:gd name="connsiteY17" fmla="*/ 0 h 1836772"/>
              <a:gd name="connsiteX0-273" fmla="*/ 1112520 w 2895600"/>
              <a:gd name="connsiteY0-274" fmla="*/ 0 h 1836772"/>
              <a:gd name="connsiteX1-275" fmla="*/ 1776897 w 2895600"/>
              <a:gd name="connsiteY1-276" fmla="*/ 523460 h 1836772"/>
              <a:gd name="connsiteX2-277" fmla="*/ 1981200 w 2895600"/>
              <a:gd name="connsiteY2-278" fmla="*/ 443446 h 1836772"/>
              <a:gd name="connsiteX3-279" fmla="*/ 2283615 w 2895600"/>
              <a:gd name="connsiteY3-280" fmla="*/ 724590 h 1836772"/>
              <a:gd name="connsiteX4-281" fmla="*/ 2461260 w 2895600"/>
              <a:gd name="connsiteY4-282" fmla="*/ 685800 h 1836772"/>
              <a:gd name="connsiteX5-283" fmla="*/ 2895600 w 2895600"/>
              <a:gd name="connsiteY5-284" fmla="*/ 1120140 h 1836772"/>
              <a:gd name="connsiteX6-285" fmla="*/ 2698117 w 2895600"/>
              <a:gd name="connsiteY6-286" fmla="*/ 1478280 h 1836772"/>
              <a:gd name="connsiteX7-287" fmla="*/ 2274446 w 2895600"/>
              <a:gd name="connsiteY7-288" fmla="*/ 1443080 h 1836772"/>
              <a:gd name="connsiteX8-289" fmla="*/ 1965798 w 2895600"/>
              <a:gd name="connsiteY8-290" fmla="*/ 1663542 h 1836772"/>
              <a:gd name="connsiteX9-291" fmla="*/ 1326456 w 2895600"/>
              <a:gd name="connsiteY9-292" fmla="*/ 1832564 h 1836772"/>
              <a:gd name="connsiteX10-293" fmla="*/ 951668 w 2895600"/>
              <a:gd name="connsiteY10-294" fmla="*/ 1450427 h 1836772"/>
              <a:gd name="connsiteX11-295" fmla="*/ 738555 w 2895600"/>
              <a:gd name="connsiteY11-296" fmla="*/ 1450427 h 1836772"/>
              <a:gd name="connsiteX12-297" fmla="*/ 64333 w 2895600"/>
              <a:gd name="connsiteY12-298" fmla="*/ 1478280 h 1836772"/>
              <a:gd name="connsiteX13-299" fmla="*/ 0 w 2895600"/>
              <a:gd name="connsiteY13-300" fmla="*/ 1257300 h 1836772"/>
              <a:gd name="connsiteX14-301" fmla="*/ 419100 w 2895600"/>
              <a:gd name="connsiteY14-302" fmla="*/ 838200 h 1836772"/>
              <a:gd name="connsiteX15-303" fmla="*/ 445895 w 2895600"/>
              <a:gd name="connsiteY15-304" fmla="*/ 840901 h 1836772"/>
              <a:gd name="connsiteX16-305" fmla="*/ 426720 w 2895600"/>
              <a:gd name="connsiteY16-306" fmla="*/ 685800 h 1836772"/>
              <a:gd name="connsiteX17-307" fmla="*/ 1112520 w 2895600"/>
              <a:gd name="connsiteY17-308" fmla="*/ 0 h 1836772"/>
              <a:gd name="connsiteX0-309" fmla="*/ 1112520 w 2895600"/>
              <a:gd name="connsiteY0-310" fmla="*/ 0 h 2133864"/>
              <a:gd name="connsiteX1-311" fmla="*/ 1776897 w 2895600"/>
              <a:gd name="connsiteY1-312" fmla="*/ 523460 h 2133864"/>
              <a:gd name="connsiteX2-313" fmla="*/ 1981200 w 2895600"/>
              <a:gd name="connsiteY2-314" fmla="*/ 443446 h 2133864"/>
              <a:gd name="connsiteX3-315" fmla="*/ 2283615 w 2895600"/>
              <a:gd name="connsiteY3-316" fmla="*/ 724590 h 2133864"/>
              <a:gd name="connsiteX4-317" fmla="*/ 2461260 w 2895600"/>
              <a:gd name="connsiteY4-318" fmla="*/ 685800 h 2133864"/>
              <a:gd name="connsiteX5-319" fmla="*/ 2895600 w 2895600"/>
              <a:gd name="connsiteY5-320" fmla="*/ 1120140 h 2133864"/>
              <a:gd name="connsiteX6-321" fmla="*/ 2698117 w 2895600"/>
              <a:gd name="connsiteY6-322" fmla="*/ 1478280 h 2133864"/>
              <a:gd name="connsiteX7-323" fmla="*/ 2274446 w 2895600"/>
              <a:gd name="connsiteY7-324" fmla="*/ 1443080 h 2133864"/>
              <a:gd name="connsiteX8-325" fmla="*/ 1965798 w 2895600"/>
              <a:gd name="connsiteY8-326" fmla="*/ 1663542 h 2133864"/>
              <a:gd name="connsiteX9-327" fmla="*/ 1326456 w 2895600"/>
              <a:gd name="connsiteY9-328" fmla="*/ 1832564 h 2133864"/>
              <a:gd name="connsiteX10-329" fmla="*/ 885529 w 2895600"/>
              <a:gd name="connsiteY10-330" fmla="*/ 2133864 h 2133864"/>
              <a:gd name="connsiteX11-331" fmla="*/ 738555 w 2895600"/>
              <a:gd name="connsiteY11-332" fmla="*/ 1450427 h 2133864"/>
              <a:gd name="connsiteX12-333" fmla="*/ 64333 w 2895600"/>
              <a:gd name="connsiteY12-334" fmla="*/ 1478280 h 2133864"/>
              <a:gd name="connsiteX13-335" fmla="*/ 0 w 2895600"/>
              <a:gd name="connsiteY13-336" fmla="*/ 1257300 h 2133864"/>
              <a:gd name="connsiteX14-337" fmla="*/ 419100 w 2895600"/>
              <a:gd name="connsiteY14-338" fmla="*/ 838200 h 2133864"/>
              <a:gd name="connsiteX15-339" fmla="*/ 445895 w 2895600"/>
              <a:gd name="connsiteY15-340" fmla="*/ 840901 h 2133864"/>
              <a:gd name="connsiteX16-341" fmla="*/ 426720 w 2895600"/>
              <a:gd name="connsiteY16-342" fmla="*/ 685800 h 2133864"/>
              <a:gd name="connsiteX17-343" fmla="*/ 1112520 w 2895600"/>
              <a:gd name="connsiteY17-344" fmla="*/ 0 h 2133864"/>
              <a:gd name="connsiteX0-345" fmla="*/ 1112520 w 2895600"/>
              <a:gd name="connsiteY0-346" fmla="*/ 0 h 2133864"/>
              <a:gd name="connsiteX1-347" fmla="*/ 1776897 w 2895600"/>
              <a:gd name="connsiteY1-348" fmla="*/ 523460 h 2133864"/>
              <a:gd name="connsiteX2-349" fmla="*/ 1981200 w 2895600"/>
              <a:gd name="connsiteY2-350" fmla="*/ 443446 h 2133864"/>
              <a:gd name="connsiteX3-351" fmla="*/ 2283615 w 2895600"/>
              <a:gd name="connsiteY3-352" fmla="*/ 724590 h 2133864"/>
              <a:gd name="connsiteX4-353" fmla="*/ 2461260 w 2895600"/>
              <a:gd name="connsiteY4-354" fmla="*/ 685800 h 2133864"/>
              <a:gd name="connsiteX5-355" fmla="*/ 2895600 w 2895600"/>
              <a:gd name="connsiteY5-356" fmla="*/ 1120140 h 2133864"/>
              <a:gd name="connsiteX6-357" fmla="*/ 2698117 w 2895600"/>
              <a:gd name="connsiteY6-358" fmla="*/ 1478280 h 2133864"/>
              <a:gd name="connsiteX7-359" fmla="*/ 2274446 w 2895600"/>
              <a:gd name="connsiteY7-360" fmla="*/ 1443080 h 2133864"/>
              <a:gd name="connsiteX8-361" fmla="*/ 1965798 w 2895600"/>
              <a:gd name="connsiteY8-362" fmla="*/ 1663542 h 2133864"/>
              <a:gd name="connsiteX9-363" fmla="*/ 1326456 w 2895600"/>
              <a:gd name="connsiteY9-364" fmla="*/ 1832564 h 2133864"/>
              <a:gd name="connsiteX10-365" fmla="*/ 885529 w 2895600"/>
              <a:gd name="connsiteY10-366" fmla="*/ 2133864 h 2133864"/>
              <a:gd name="connsiteX11-367" fmla="*/ 473999 w 2895600"/>
              <a:gd name="connsiteY11-368" fmla="*/ 1729681 h 2133864"/>
              <a:gd name="connsiteX12-369" fmla="*/ 64333 w 2895600"/>
              <a:gd name="connsiteY12-370" fmla="*/ 1478280 h 2133864"/>
              <a:gd name="connsiteX13-371" fmla="*/ 0 w 2895600"/>
              <a:gd name="connsiteY13-372" fmla="*/ 1257300 h 2133864"/>
              <a:gd name="connsiteX14-373" fmla="*/ 419100 w 2895600"/>
              <a:gd name="connsiteY14-374" fmla="*/ 838200 h 2133864"/>
              <a:gd name="connsiteX15-375" fmla="*/ 445895 w 2895600"/>
              <a:gd name="connsiteY15-376" fmla="*/ 840901 h 2133864"/>
              <a:gd name="connsiteX16-377" fmla="*/ 426720 w 2895600"/>
              <a:gd name="connsiteY16-378" fmla="*/ 685800 h 2133864"/>
              <a:gd name="connsiteX17-379" fmla="*/ 1112520 w 2895600"/>
              <a:gd name="connsiteY17-380" fmla="*/ 0 h 2133864"/>
              <a:gd name="connsiteX0-381" fmla="*/ 1112520 w 2895600"/>
              <a:gd name="connsiteY0-382" fmla="*/ 0 h 1928098"/>
              <a:gd name="connsiteX1-383" fmla="*/ 1776897 w 2895600"/>
              <a:gd name="connsiteY1-384" fmla="*/ 523460 h 1928098"/>
              <a:gd name="connsiteX2-385" fmla="*/ 1981200 w 2895600"/>
              <a:gd name="connsiteY2-386" fmla="*/ 443446 h 1928098"/>
              <a:gd name="connsiteX3-387" fmla="*/ 2283615 w 2895600"/>
              <a:gd name="connsiteY3-388" fmla="*/ 724590 h 1928098"/>
              <a:gd name="connsiteX4-389" fmla="*/ 2461260 w 2895600"/>
              <a:gd name="connsiteY4-390" fmla="*/ 685800 h 1928098"/>
              <a:gd name="connsiteX5-391" fmla="*/ 2895600 w 2895600"/>
              <a:gd name="connsiteY5-392" fmla="*/ 1120140 h 1928098"/>
              <a:gd name="connsiteX6-393" fmla="*/ 2698117 w 2895600"/>
              <a:gd name="connsiteY6-394" fmla="*/ 1478280 h 1928098"/>
              <a:gd name="connsiteX7-395" fmla="*/ 2274446 w 2895600"/>
              <a:gd name="connsiteY7-396" fmla="*/ 1443080 h 1928098"/>
              <a:gd name="connsiteX8-397" fmla="*/ 1965798 w 2895600"/>
              <a:gd name="connsiteY8-398" fmla="*/ 1663542 h 1928098"/>
              <a:gd name="connsiteX9-399" fmla="*/ 1326456 w 2895600"/>
              <a:gd name="connsiteY9-400" fmla="*/ 1832564 h 1928098"/>
              <a:gd name="connsiteX10-401" fmla="*/ 878180 w 2895600"/>
              <a:gd name="connsiteY10-402" fmla="*/ 1928098 h 1928098"/>
              <a:gd name="connsiteX11-403" fmla="*/ 473999 w 2895600"/>
              <a:gd name="connsiteY11-404" fmla="*/ 1729681 h 1928098"/>
              <a:gd name="connsiteX12-405" fmla="*/ 64333 w 2895600"/>
              <a:gd name="connsiteY12-406" fmla="*/ 1478280 h 1928098"/>
              <a:gd name="connsiteX13-407" fmla="*/ 0 w 2895600"/>
              <a:gd name="connsiteY13-408" fmla="*/ 1257300 h 1928098"/>
              <a:gd name="connsiteX14-409" fmla="*/ 419100 w 2895600"/>
              <a:gd name="connsiteY14-410" fmla="*/ 838200 h 1928098"/>
              <a:gd name="connsiteX15-411" fmla="*/ 445895 w 2895600"/>
              <a:gd name="connsiteY15-412" fmla="*/ 840901 h 1928098"/>
              <a:gd name="connsiteX16-413" fmla="*/ 426720 w 2895600"/>
              <a:gd name="connsiteY16-414" fmla="*/ 685800 h 1928098"/>
              <a:gd name="connsiteX17-415" fmla="*/ 1112520 w 2895600"/>
              <a:gd name="connsiteY17-416" fmla="*/ 0 h 1928098"/>
              <a:gd name="connsiteX0-417" fmla="*/ 1112520 w 2895600"/>
              <a:gd name="connsiteY0-418" fmla="*/ 0 h 1932344"/>
              <a:gd name="connsiteX1-419" fmla="*/ 1776897 w 2895600"/>
              <a:gd name="connsiteY1-420" fmla="*/ 523460 h 1932344"/>
              <a:gd name="connsiteX2-421" fmla="*/ 1981200 w 2895600"/>
              <a:gd name="connsiteY2-422" fmla="*/ 443446 h 1932344"/>
              <a:gd name="connsiteX3-423" fmla="*/ 2283615 w 2895600"/>
              <a:gd name="connsiteY3-424" fmla="*/ 724590 h 1932344"/>
              <a:gd name="connsiteX4-425" fmla="*/ 2461260 w 2895600"/>
              <a:gd name="connsiteY4-426" fmla="*/ 685800 h 1932344"/>
              <a:gd name="connsiteX5-427" fmla="*/ 2895600 w 2895600"/>
              <a:gd name="connsiteY5-428" fmla="*/ 1120140 h 1932344"/>
              <a:gd name="connsiteX6-429" fmla="*/ 2698117 w 2895600"/>
              <a:gd name="connsiteY6-430" fmla="*/ 1478280 h 1932344"/>
              <a:gd name="connsiteX7-431" fmla="*/ 2274446 w 2895600"/>
              <a:gd name="connsiteY7-432" fmla="*/ 1443080 h 1932344"/>
              <a:gd name="connsiteX8-433" fmla="*/ 1965798 w 2895600"/>
              <a:gd name="connsiteY8-434" fmla="*/ 1663542 h 1932344"/>
              <a:gd name="connsiteX9-435" fmla="*/ 1326456 w 2895600"/>
              <a:gd name="connsiteY9-436" fmla="*/ 1832564 h 1932344"/>
              <a:gd name="connsiteX10-437" fmla="*/ 878180 w 2895600"/>
              <a:gd name="connsiteY10-438" fmla="*/ 1928098 h 1932344"/>
              <a:gd name="connsiteX11-439" fmla="*/ 473999 w 2895600"/>
              <a:gd name="connsiteY11-440" fmla="*/ 1729681 h 1932344"/>
              <a:gd name="connsiteX12-441" fmla="*/ 64333 w 2895600"/>
              <a:gd name="connsiteY12-442" fmla="*/ 1478280 h 1932344"/>
              <a:gd name="connsiteX13-443" fmla="*/ 0 w 2895600"/>
              <a:gd name="connsiteY13-444" fmla="*/ 1257300 h 1932344"/>
              <a:gd name="connsiteX14-445" fmla="*/ 419100 w 2895600"/>
              <a:gd name="connsiteY14-446" fmla="*/ 838200 h 1932344"/>
              <a:gd name="connsiteX15-447" fmla="*/ 445895 w 2895600"/>
              <a:gd name="connsiteY15-448" fmla="*/ 840901 h 1932344"/>
              <a:gd name="connsiteX16-449" fmla="*/ 426720 w 2895600"/>
              <a:gd name="connsiteY16-450" fmla="*/ 685800 h 1932344"/>
              <a:gd name="connsiteX17-451" fmla="*/ 1112520 w 2895600"/>
              <a:gd name="connsiteY17-452" fmla="*/ 0 h 1932344"/>
              <a:gd name="connsiteX0-453" fmla="*/ 1112520 w 2895600"/>
              <a:gd name="connsiteY0-454" fmla="*/ 0 h 1932344"/>
              <a:gd name="connsiteX1-455" fmla="*/ 1776897 w 2895600"/>
              <a:gd name="connsiteY1-456" fmla="*/ 523460 h 1932344"/>
              <a:gd name="connsiteX2-457" fmla="*/ 1981200 w 2895600"/>
              <a:gd name="connsiteY2-458" fmla="*/ 443446 h 1932344"/>
              <a:gd name="connsiteX3-459" fmla="*/ 2283615 w 2895600"/>
              <a:gd name="connsiteY3-460" fmla="*/ 724590 h 1932344"/>
              <a:gd name="connsiteX4-461" fmla="*/ 2461260 w 2895600"/>
              <a:gd name="connsiteY4-462" fmla="*/ 685800 h 1932344"/>
              <a:gd name="connsiteX5-463" fmla="*/ 2895600 w 2895600"/>
              <a:gd name="connsiteY5-464" fmla="*/ 1120140 h 1932344"/>
              <a:gd name="connsiteX6-465" fmla="*/ 2698117 w 2895600"/>
              <a:gd name="connsiteY6-466" fmla="*/ 1478280 h 1932344"/>
              <a:gd name="connsiteX7-467" fmla="*/ 2274446 w 2895600"/>
              <a:gd name="connsiteY7-468" fmla="*/ 1443080 h 1932344"/>
              <a:gd name="connsiteX8-469" fmla="*/ 1980496 w 2895600"/>
              <a:gd name="connsiteY8-470" fmla="*/ 1854611 h 1932344"/>
              <a:gd name="connsiteX9-471" fmla="*/ 1326456 w 2895600"/>
              <a:gd name="connsiteY9-472" fmla="*/ 1832564 h 1932344"/>
              <a:gd name="connsiteX10-473" fmla="*/ 878180 w 2895600"/>
              <a:gd name="connsiteY10-474" fmla="*/ 1928098 h 1932344"/>
              <a:gd name="connsiteX11-475" fmla="*/ 473999 w 2895600"/>
              <a:gd name="connsiteY11-476" fmla="*/ 1729681 h 1932344"/>
              <a:gd name="connsiteX12-477" fmla="*/ 64333 w 2895600"/>
              <a:gd name="connsiteY12-478" fmla="*/ 1478280 h 1932344"/>
              <a:gd name="connsiteX13-479" fmla="*/ 0 w 2895600"/>
              <a:gd name="connsiteY13-480" fmla="*/ 1257300 h 1932344"/>
              <a:gd name="connsiteX14-481" fmla="*/ 419100 w 2895600"/>
              <a:gd name="connsiteY14-482" fmla="*/ 838200 h 1932344"/>
              <a:gd name="connsiteX15-483" fmla="*/ 445895 w 2895600"/>
              <a:gd name="connsiteY15-484" fmla="*/ 840901 h 1932344"/>
              <a:gd name="connsiteX16-485" fmla="*/ 426720 w 2895600"/>
              <a:gd name="connsiteY16-486" fmla="*/ 685800 h 1932344"/>
              <a:gd name="connsiteX17-487" fmla="*/ 1112520 w 2895600"/>
              <a:gd name="connsiteY17-488" fmla="*/ 0 h 1932344"/>
              <a:gd name="connsiteX0-489" fmla="*/ 1112520 w 2895600"/>
              <a:gd name="connsiteY0-490" fmla="*/ 0 h 1928394"/>
              <a:gd name="connsiteX1-491" fmla="*/ 1776897 w 2895600"/>
              <a:gd name="connsiteY1-492" fmla="*/ 523460 h 1928394"/>
              <a:gd name="connsiteX2-493" fmla="*/ 1981200 w 2895600"/>
              <a:gd name="connsiteY2-494" fmla="*/ 443446 h 1928394"/>
              <a:gd name="connsiteX3-495" fmla="*/ 2283615 w 2895600"/>
              <a:gd name="connsiteY3-496" fmla="*/ 724590 h 1928394"/>
              <a:gd name="connsiteX4-497" fmla="*/ 2461260 w 2895600"/>
              <a:gd name="connsiteY4-498" fmla="*/ 685800 h 1928394"/>
              <a:gd name="connsiteX5-499" fmla="*/ 2895600 w 2895600"/>
              <a:gd name="connsiteY5-500" fmla="*/ 1120140 h 1928394"/>
              <a:gd name="connsiteX6-501" fmla="*/ 2698117 w 2895600"/>
              <a:gd name="connsiteY6-502" fmla="*/ 1478280 h 1928394"/>
              <a:gd name="connsiteX7-503" fmla="*/ 2274446 w 2895600"/>
              <a:gd name="connsiteY7-504" fmla="*/ 1443080 h 1928394"/>
              <a:gd name="connsiteX8-505" fmla="*/ 1980496 w 2895600"/>
              <a:gd name="connsiteY8-506" fmla="*/ 1854611 h 1928394"/>
              <a:gd name="connsiteX9-507" fmla="*/ 1458734 w 2895600"/>
              <a:gd name="connsiteY9-508" fmla="*/ 1685588 h 1928394"/>
              <a:gd name="connsiteX10-509" fmla="*/ 878180 w 2895600"/>
              <a:gd name="connsiteY10-510" fmla="*/ 1928098 h 1928394"/>
              <a:gd name="connsiteX11-511" fmla="*/ 473999 w 2895600"/>
              <a:gd name="connsiteY11-512" fmla="*/ 1729681 h 1928394"/>
              <a:gd name="connsiteX12-513" fmla="*/ 64333 w 2895600"/>
              <a:gd name="connsiteY12-514" fmla="*/ 1478280 h 1928394"/>
              <a:gd name="connsiteX13-515" fmla="*/ 0 w 2895600"/>
              <a:gd name="connsiteY13-516" fmla="*/ 1257300 h 1928394"/>
              <a:gd name="connsiteX14-517" fmla="*/ 419100 w 2895600"/>
              <a:gd name="connsiteY14-518" fmla="*/ 838200 h 1928394"/>
              <a:gd name="connsiteX15-519" fmla="*/ 445895 w 2895600"/>
              <a:gd name="connsiteY15-520" fmla="*/ 840901 h 1928394"/>
              <a:gd name="connsiteX16-521" fmla="*/ 426720 w 2895600"/>
              <a:gd name="connsiteY16-522" fmla="*/ 685800 h 1928394"/>
              <a:gd name="connsiteX17-523" fmla="*/ 1112520 w 2895600"/>
              <a:gd name="connsiteY17-524" fmla="*/ 0 h 1928394"/>
              <a:gd name="connsiteX0-525" fmla="*/ 1112520 w 2895600"/>
              <a:gd name="connsiteY0-526" fmla="*/ 0 h 2016464"/>
              <a:gd name="connsiteX1-527" fmla="*/ 1776897 w 2895600"/>
              <a:gd name="connsiteY1-528" fmla="*/ 523460 h 2016464"/>
              <a:gd name="connsiteX2-529" fmla="*/ 1981200 w 2895600"/>
              <a:gd name="connsiteY2-530" fmla="*/ 443446 h 2016464"/>
              <a:gd name="connsiteX3-531" fmla="*/ 2283615 w 2895600"/>
              <a:gd name="connsiteY3-532" fmla="*/ 724590 h 2016464"/>
              <a:gd name="connsiteX4-533" fmla="*/ 2461260 w 2895600"/>
              <a:gd name="connsiteY4-534" fmla="*/ 685800 h 2016464"/>
              <a:gd name="connsiteX5-535" fmla="*/ 2895600 w 2895600"/>
              <a:gd name="connsiteY5-536" fmla="*/ 1120140 h 2016464"/>
              <a:gd name="connsiteX6-537" fmla="*/ 2698117 w 2895600"/>
              <a:gd name="connsiteY6-538" fmla="*/ 1478280 h 2016464"/>
              <a:gd name="connsiteX7-539" fmla="*/ 2274446 w 2895600"/>
              <a:gd name="connsiteY7-540" fmla="*/ 1443080 h 2016464"/>
              <a:gd name="connsiteX8-541" fmla="*/ 1980496 w 2895600"/>
              <a:gd name="connsiteY8-542" fmla="*/ 1854611 h 2016464"/>
              <a:gd name="connsiteX9-543" fmla="*/ 1458734 w 2895600"/>
              <a:gd name="connsiteY9-544" fmla="*/ 1685588 h 2016464"/>
              <a:gd name="connsiteX10-545" fmla="*/ 878180 w 2895600"/>
              <a:gd name="connsiteY10-546" fmla="*/ 2016284 h 2016464"/>
              <a:gd name="connsiteX11-547" fmla="*/ 473999 w 2895600"/>
              <a:gd name="connsiteY11-548" fmla="*/ 1729681 h 2016464"/>
              <a:gd name="connsiteX12-549" fmla="*/ 64333 w 2895600"/>
              <a:gd name="connsiteY12-550" fmla="*/ 1478280 h 2016464"/>
              <a:gd name="connsiteX13-551" fmla="*/ 0 w 2895600"/>
              <a:gd name="connsiteY13-552" fmla="*/ 1257300 h 2016464"/>
              <a:gd name="connsiteX14-553" fmla="*/ 419100 w 2895600"/>
              <a:gd name="connsiteY14-554" fmla="*/ 838200 h 2016464"/>
              <a:gd name="connsiteX15-555" fmla="*/ 445895 w 2895600"/>
              <a:gd name="connsiteY15-556" fmla="*/ 840901 h 2016464"/>
              <a:gd name="connsiteX16-557" fmla="*/ 426720 w 2895600"/>
              <a:gd name="connsiteY16-558" fmla="*/ 685800 h 2016464"/>
              <a:gd name="connsiteX17-559" fmla="*/ 1112520 w 2895600"/>
              <a:gd name="connsiteY17-560" fmla="*/ 0 h 2016464"/>
              <a:gd name="connsiteX0-561" fmla="*/ 1112520 w 2895600"/>
              <a:gd name="connsiteY0-562" fmla="*/ 0 h 2016782"/>
              <a:gd name="connsiteX1-563" fmla="*/ 1776897 w 2895600"/>
              <a:gd name="connsiteY1-564" fmla="*/ 523460 h 2016782"/>
              <a:gd name="connsiteX2-565" fmla="*/ 1981200 w 2895600"/>
              <a:gd name="connsiteY2-566" fmla="*/ 443446 h 2016782"/>
              <a:gd name="connsiteX3-567" fmla="*/ 2283615 w 2895600"/>
              <a:gd name="connsiteY3-568" fmla="*/ 724590 h 2016782"/>
              <a:gd name="connsiteX4-569" fmla="*/ 2461260 w 2895600"/>
              <a:gd name="connsiteY4-570" fmla="*/ 685800 h 2016782"/>
              <a:gd name="connsiteX5-571" fmla="*/ 2895600 w 2895600"/>
              <a:gd name="connsiteY5-572" fmla="*/ 1120140 h 2016782"/>
              <a:gd name="connsiteX6-573" fmla="*/ 2698117 w 2895600"/>
              <a:gd name="connsiteY6-574" fmla="*/ 1478280 h 2016782"/>
              <a:gd name="connsiteX7-575" fmla="*/ 2274446 w 2895600"/>
              <a:gd name="connsiteY7-576" fmla="*/ 1443080 h 2016782"/>
              <a:gd name="connsiteX8-577" fmla="*/ 1980496 w 2895600"/>
              <a:gd name="connsiteY8-578" fmla="*/ 1854611 h 2016782"/>
              <a:gd name="connsiteX9-579" fmla="*/ 1458734 w 2895600"/>
              <a:gd name="connsiteY9-580" fmla="*/ 1685588 h 2016782"/>
              <a:gd name="connsiteX10-581" fmla="*/ 878180 w 2895600"/>
              <a:gd name="connsiteY10-582" fmla="*/ 2016284 h 2016782"/>
              <a:gd name="connsiteX11-583" fmla="*/ 620974 w 2895600"/>
              <a:gd name="connsiteY11-584" fmla="*/ 1604752 h 2016782"/>
              <a:gd name="connsiteX12-585" fmla="*/ 64333 w 2895600"/>
              <a:gd name="connsiteY12-586" fmla="*/ 1478280 h 2016782"/>
              <a:gd name="connsiteX13-587" fmla="*/ 0 w 2895600"/>
              <a:gd name="connsiteY13-588" fmla="*/ 1257300 h 2016782"/>
              <a:gd name="connsiteX14-589" fmla="*/ 419100 w 2895600"/>
              <a:gd name="connsiteY14-590" fmla="*/ 838200 h 2016782"/>
              <a:gd name="connsiteX15-591" fmla="*/ 445895 w 2895600"/>
              <a:gd name="connsiteY15-592" fmla="*/ 840901 h 2016782"/>
              <a:gd name="connsiteX16-593" fmla="*/ 426720 w 2895600"/>
              <a:gd name="connsiteY16-594" fmla="*/ 685800 h 2016782"/>
              <a:gd name="connsiteX17-595" fmla="*/ 1112520 w 2895600"/>
              <a:gd name="connsiteY17-596" fmla="*/ 0 h 20167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113" y="connsiteY14-114"/>
              </a:cxn>
              <a:cxn ang="0">
                <a:pos x="connsiteX15-205" y="connsiteY15-206"/>
              </a:cxn>
              <a:cxn ang="0">
                <a:pos x="connsiteX16-271" y="connsiteY16-272"/>
              </a:cxn>
              <a:cxn ang="0">
                <a:pos x="connsiteX17-307" y="connsiteY17-308"/>
              </a:cxn>
            </a:cxnLst>
            <a:rect l="l" t="t" r="r" b="b"/>
            <a:pathLst>
              <a:path w="2895600" h="2016782">
                <a:moveTo>
                  <a:pt x="1112520" y="0"/>
                </a:moveTo>
                <a:cubicBezTo>
                  <a:pt x="1435175" y="0"/>
                  <a:pt x="1705787" y="222820"/>
                  <a:pt x="1776897" y="523460"/>
                </a:cubicBezTo>
                <a:cubicBezTo>
                  <a:pt x="1830330" y="473455"/>
                  <a:pt x="1902261" y="443446"/>
                  <a:pt x="1981200" y="443446"/>
                </a:cubicBezTo>
                <a:cubicBezTo>
                  <a:pt x="2141537" y="443446"/>
                  <a:pt x="2272959" y="567249"/>
                  <a:pt x="2283615" y="724590"/>
                </a:cubicBezTo>
                <a:cubicBezTo>
                  <a:pt x="2337590" y="699394"/>
                  <a:pt x="2397838" y="685800"/>
                  <a:pt x="2461260" y="685800"/>
                </a:cubicBezTo>
                <a:cubicBezTo>
                  <a:pt x="2701139" y="685800"/>
                  <a:pt x="2895600" y="880261"/>
                  <a:pt x="2895600" y="1120140"/>
                </a:cubicBezTo>
                <a:cubicBezTo>
                  <a:pt x="2895600" y="1271517"/>
                  <a:pt x="2818161" y="1404807"/>
                  <a:pt x="2698117" y="1478280"/>
                </a:cubicBezTo>
                <a:cubicBezTo>
                  <a:pt x="2458910" y="1537585"/>
                  <a:pt x="2394049" y="1380358"/>
                  <a:pt x="2274446" y="1443080"/>
                </a:cubicBezTo>
                <a:cubicBezTo>
                  <a:pt x="2154843" y="1505802"/>
                  <a:pt x="2151967" y="1888906"/>
                  <a:pt x="1980496" y="1854611"/>
                </a:cubicBezTo>
                <a:cubicBezTo>
                  <a:pt x="1772281" y="1858285"/>
                  <a:pt x="1627756" y="1721107"/>
                  <a:pt x="1458734" y="1685588"/>
                </a:cubicBezTo>
                <a:cubicBezTo>
                  <a:pt x="1265216" y="1766425"/>
                  <a:pt x="1017807" y="2029757"/>
                  <a:pt x="878180" y="2016284"/>
                </a:cubicBezTo>
                <a:cubicBezTo>
                  <a:pt x="738553" y="2002811"/>
                  <a:pt x="756615" y="1679722"/>
                  <a:pt x="620974" y="1604752"/>
                </a:cubicBezTo>
                <a:cubicBezTo>
                  <a:pt x="473085" y="1609394"/>
                  <a:pt x="222944" y="1512917"/>
                  <a:pt x="64333" y="1478280"/>
                </a:cubicBezTo>
                <a:cubicBezTo>
                  <a:pt x="23189" y="1414624"/>
                  <a:pt x="0" y="1338670"/>
                  <a:pt x="0" y="1257300"/>
                </a:cubicBezTo>
                <a:cubicBezTo>
                  <a:pt x="0" y="1025837"/>
                  <a:pt x="187637" y="838200"/>
                  <a:pt x="419100" y="838200"/>
                </a:cubicBezTo>
                <a:lnTo>
                  <a:pt x="445895" y="840901"/>
                </a:lnTo>
                <a:cubicBezTo>
                  <a:pt x="432838" y="791300"/>
                  <a:pt x="426720" y="739265"/>
                  <a:pt x="426720" y="685800"/>
                </a:cubicBezTo>
                <a:cubicBezTo>
                  <a:pt x="426720" y="307043"/>
                  <a:pt x="733763" y="0"/>
                  <a:pt x="1112520" y="0"/>
                </a:cubicBezTo>
                <a:close/>
              </a:path>
            </a:pathLst>
          </a:custGeom>
          <a:solidFill>
            <a:schemeClr val="bg2"/>
          </a:solidFill>
          <a:ln w="57150">
            <a:noFill/>
          </a:ln>
        </p:spPr>
        <p:style>
          <a:lnRef idx="2">
            <a:schemeClr val="accent1">
              <a:shade val="50000"/>
            </a:schemeClr>
          </a:lnRef>
          <a:fillRef idx="1">
            <a:schemeClr val="accent1"/>
          </a:fillRef>
          <a:effectRef idx="0">
            <a:schemeClr val="accent1"/>
          </a:effectRef>
          <a:fontRef idx="minor">
            <a:schemeClr val="lt1"/>
          </a:fontRef>
        </p:style>
        <p:txBody>
          <a:bodyPr tIns="548562" bIns="91427" rtlCol="0" anchor="ctr"/>
          <a:lstStyle/>
          <a:p>
            <a:pPr algn="ctr"/>
            <a:endParaRPr lang="en-US" sz="1400" dirty="0">
              <a:solidFill>
                <a:srgbClr val="FFFFFF"/>
              </a:solidFill>
            </a:endParaRPr>
          </a:p>
        </p:txBody>
      </p:sp>
      <p:sp>
        <p:nvSpPr>
          <p:cNvPr id="12" name="Oval 15"/>
          <p:cNvSpPr/>
          <p:nvPr userDrawn="1"/>
        </p:nvSpPr>
        <p:spPr>
          <a:xfrm>
            <a:off x="8067051" y="4699001"/>
            <a:ext cx="4124950" cy="2159000"/>
          </a:xfrm>
          <a:custGeom>
            <a:avLst/>
            <a:gdLst/>
            <a:ahLst/>
            <a:cxnLst/>
            <a:rect l="l" t="t" r="r" b="b"/>
            <a:pathLst>
              <a:path w="2895600" h="1478280">
                <a:moveTo>
                  <a:pt x="1112520" y="0"/>
                </a:moveTo>
                <a:cubicBezTo>
                  <a:pt x="1435175" y="0"/>
                  <a:pt x="1705787" y="222820"/>
                  <a:pt x="1776897" y="523460"/>
                </a:cubicBezTo>
                <a:cubicBezTo>
                  <a:pt x="1830330" y="473455"/>
                  <a:pt x="1902261" y="443446"/>
                  <a:pt x="1981200" y="443446"/>
                </a:cubicBezTo>
                <a:cubicBezTo>
                  <a:pt x="2141537" y="443446"/>
                  <a:pt x="2272959" y="567249"/>
                  <a:pt x="2283615" y="724590"/>
                </a:cubicBezTo>
                <a:cubicBezTo>
                  <a:pt x="2337590" y="699394"/>
                  <a:pt x="2397838" y="685800"/>
                  <a:pt x="2461260" y="685800"/>
                </a:cubicBezTo>
                <a:cubicBezTo>
                  <a:pt x="2701139" y="685800"/>
                  <a:pt x="2895600" y="880261"/>
                  <a:pt x="2895600" y="1120140"/>
                </a:cubicBezTo>
                <a:cubicBezTo>
                  <a:pt x="2895600" y="1271517"/>
                  <a:pt x="2818161" y="1404807"/>
                  <a:pt x="2698117" y="1478280"/>
                </a:cubicBezTo>
                <a:lnTo>
                  <a:pt x="64333" y="1478280"/>
                </a:lnTo>
                <a:cubicBezTo>
                  <a:pt x="23189" y="1414624"/>
                  <a:pt x="0" y="1338670"/>
                  <a:pt x="0" y="1257300"/>
                </a:cubicBezTo>
                <a:cubicBezTo>
                  <a:pt x="0" y="1025837"/>
                  <a:pt x="187637" y="838200"/>
                  <a:pt x="419100" y="838200"/>
                </a:cubicBezTo>
                <a:lnTo>
                  <a:pt x="445895" y="840901"/>
                </a:lnTo>
                <a:cubicBezTo>
                  <a:pt x="432838" y="791300"/>
                  <a:pt x="426720" y="739265"/>
                  <a:pt x="426720" y="685800"/>
                </a:cubicBezTo>
                <a:cubicBezTo>
                  <a:pt x="426720" y="307043"/>
                  <a:pt x="733763" y="0"/>
                  <a:pt x="1112520" y="0"/>
                </a:cubicBezTo>
                <a:close/>
              </a:path>
            </a:pathLst>
          </a:custGeom>
          <a:solidFill>
            <a:schemeClr val="bg2"/>
          </a:solidFill>
          <a:ln w="57150">
            <a:noFill/>
          </a:ln>
        </p:spPr>
        <p:style>
          <a:lnRef idx="2">
            <a:schemeClr val="accent1">
              <a:shade val="50000"/>
            </a:schemeClr>
          </a:lnRef>
          <a:fillRef idx="1">
            <a:schemeClr val="accent1"/>
          </a:fillRef>
          <a:effectRef idx="0">
            <a:schemeClr val="accent1"/>
          </a:effectRef>
          <a:fontRef idx="minor">
            <a:schemeClr val="lt1"/>
          </a:fontRef>
        </p:style>
        <p:txBody>
          <a:bodyPr tIns="548562" bIns="91427" rtlCol="0" anchor="ctr"/>
          <a:lstStyle/>
          <a:p>
            <a:pPr algn="ctr"/>
            <a:endParaRPr lang="en-US" sz="1400" dirty="0">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zh-CN" altLang="zh-CN"/>
          </a:p>
        </p:txBody>
      </p:sp>
      <p:sp>
        <p:nvSpPr>
          <p:cNvPr id="6" name="Footer Placeholder 4"/>
          <p:cNvSpPr>
            <a:spLocks noGrp="1"/>
          </p:cNvSpPr>
          <p:nvPr>
            <p:ph type="ftr" sz="quarter" idx="11"/>
          </p:nvPr>
        </p:nvSpPr>
        <p:spPr/>
        <p:txBody>
          <a:bodyPr/>
          <a:lstStyle>
            <a:lvl1pPr>
              <a:defRPr/>
            </a:lvl1pPr>
          </a:lstStyle>
          <a:p>
            <a:pPr>
              <a:defRPr/>
            </a:pPr>
            <a:endParaRPr lang="zh-CN" altLang="zh-CN"/>
          </a:p>
        </p:txBody>
      </p:sp>
      <p:sp>
        <p:nvSpPr>
          <p:cNvPr id="7" name="Slide Number Placeholder 5"/>
          <p:cNvSpPr>
            <a:spLocks noGrp="1"/>
          </p:cNvSpPr>
          <p:nvPr>
            <p:ph type="sldNum" sz="quarter" idx="12"/>
          </p:nvPr>
        </p:nvSpPr>
        <p:spPr/>
        <p:txBody>
          <a:bodyPr/>
          <a:lstStyle>
            <a:lvl1pPr>
              <a:defRPr/>
            </a:lvl1pPr>
          </a:lstStyle>
          <a:p>
            <a:pPr>
              <a:defRPr/>
            </a:pPr>
            <a:fld id="{192EC532-050E-4A33-A28B-21717A782A77}" type="slidenum">
              <a:rPr lang="zh-CN" altLang="zh-CN"/>
              <a:t>‹#›</a:t>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zh-CN" altLang="zh-CN"/>
          </a:p>
        </p:txBody>
      </p:sp>
      <p:sp>
        <p:nvSpPr>
          <p:cNvPr id="8" name="Footer Placeholder 4"/>
          <p:cNvSpPr>
            <a:spLocks noGrp="1"/>
          </p:cNvSpPr>
          <p:nvPr>
            <p:ph type="ftr" sz="quarter" idx="11"/>
          </p:nvPr>
        </p:nvSpPr>
        <p:spPr/>
        <p:txBody>
          <a:bodyPr/>
          <a:lstStyle>
            <a:lvl1pPr>
              <a:defRPr/>
            </a:lvl1pPr>
          </a:lstStyle>
          <a:p>
            <a:pPr>
              <a:defRPr/>
            </a:pPr>
            <a:endParaRPr lang="zh-CN" altLang="zh-CN"/>
          </a:p>
        </p:txBody>
      </p:sp>
      <p:sp>
        <p:nvSpPr>
          <p:cNvPr id="9" name="Slide Number Placeholder 5"/>
          <p:cNvSpPr>
            <a:spLocks noGrp="1"/>
          </p:cNvSpPr>
          <p:nvPr>
            <p:ph type="sldNum" sz="quarter" idx="12"/>
          </p:nvPr>
        </p:nvSpPr>
        <p:spPr/>
        <p:txBody>
          <a:bodyPr/>
          <a:lstStyle>
            <a:lvl1pPr>
              <a:defRPr/>
            </a:lvl1pPr>
          </a:lstStyle>
          <a:p>
            <a:pPr>
              <a:defRPr/>
            </a:pPr>
            <a:fld id="{3504FB6E-327E-47FC-81CE-1B6A37B039A4}" type="slidenum">
              <a:rPr lang="zh-CN" altLang="zh-CN"/>
              <a:t>‹#›</a:t>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zh-CN" altLang="zh-CN"/>
          </a:p>
        </p:txBody>
      </p:sp>
      <p:sp>
        <p:nvSpPr>
          <p:cNvPr id="4" name="Footer Placeholder 4"/>
          <p:cNvSpPr>
            <a:spLocks noGrp="1"/>
          </p:cNvSpPr>
          <p:nvPr>
            <p:ph type="ftr" sz="quarter" idx="11"/>
          </p:nvPr>
        </p:nvSpPr>
        <p:spPr/>
        <p:txBody>
          <a:bodyPr/>
          <a:lstStyle>
            <a:lvl1pPr>
              <a:defRPr/>
            </a:lvl1pPr>
          </a:lstStyle>
          <a:p>
            <a:pPr>
              <a:defRPr/>
            </a:pPr>
            <a:endParaRPr lang="zh-CN" altLang="zh-CN"/>
          </a:p>
        </p:txBody>
      </p:sp>
      <p:sp>
        <p:nvSpPr>
          <p:cNvPr id="5" name="Slide Number Placeholder 5"/>
          <p:cNvSpPr>
            <a:spLocks noGrp="1"/>
          </p:cNvSpPr>
          <p:nvPr>
            <p:ph type="sldNum" sz="quarter" idx="12"/>
          </p:nvPr>
        </p:nvSpPr>
        <p:spPr/>
        <p:txBody>
          <a:bodyPr/>
          <a:lstStyle>
            <a:lvl1pPr>
              <a:defRPr/>
            </a:lvl1pPr>
          </a:lstStyle>
          <a:p>
            <a:pPr>
              <a:defRPr/>
            </a:pPr>
            <a:fld id="{179D5D2B-392F-42A8-A446-2D80C114FBC0}" type="slidenum">
              <a:rPr lang="zh-CN" altLang="zh-CN"/>
              <a:t>‹#›</a:t>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zh-CN" altLang="zh-CN"/>
          </a:p>
        </p:txBody>
      </p:sp>
      <p:sp>
        <p:nvSpPr>
          <p:cNvPr id="3" name="Footer Placeholder 4"/>
          <p:cNvSpPr>
            <a:spLocks noGrp="1"/>
          </p:cNvSpPr>
          <p:nvPr>
            <p:ph type="ftr" sz="quarter" idx="11"/>
          </p:nvPr>
        </p:nvSpPr>
        <p:spPr/>
        <p:txBody>
          <a:bodyPr/>
          <a:lstStyle>
            <a:lvl1pPr>
              <a:defRPr/>
            </a:lvl1pPr>
          </a:lstStyle>
          <a:p>
            <a:pPr>
              <a:defRPr/>
            </a:pPr>
            <a:endParaRPr lang="zh-CN" altLang="zh-CN"/>
          </a:p>
        </p:txBody>
      </p:sp>
      <p:sp>
        <p:nvSpPr>
          <p:cNvPr id="4" name="Slide Number Placeholder 5"/>
          <p:cNvSpPr>
            <a:spLocks noGrp="1"/>
          </p:cNvSpPr>
          <p:nvPr>
            <p:ph type="sldNum" sz="quarter" idx="12"/>
          </p:nvPr>
        </p:nvSpPr>
        <p:spPr/>
        <p:txBody>
          <a:bodyPr/>
          <a:lstStyle>
            <a:lvl1pPr>
              <a:defRPr/>
            </a:lvl1pPr>
          </a:lstStyle>
          <a:p>
            <a:pPr>
              <a:defRPr/>
            </a:pPr>
            <a:fld id="{A93C9212-0C7C-4A93-A109-DE8FC9F27E0E}" type="slidenum">
              <a:rPr lang="zh-CN" altLang="zh-CN"/>
              <a:t>‹#›</a:t>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zh-CN" altLang="zh-CN"/>
          </a:p>
        </p:txBody>
      </p:sp>
      <p:sp>
        <p:nvSpPr>
          <p:cNvPr id="6" name="Footer Placeholder 4"/>
          <p:cNvSpPr>
            <a:spLocks noGrp="1"/>
          </p:cNvSpPr>
          <p:nvPr>
            <p:ph type="ftr" sz="quarter" idx="11"/>
          </p:nvPr>
        </p:nvSpPr>
        <p:spPr/>
        <p:txBody>
          <a:bodyPr/>
          <a:lstStyle>
            <a:lvl1pPr>
              <a:defRPr/>
            </a:lvl1pPr>
          </a:lstStyle>
          <a:p>
            <a:pPr>
              <a:defRPr/>
            </a:pPr>
            <a:endParaRPr lang="zh-CN" altLang="zh-CN"/>
          </a:p>
        </p:txBody>
      </p:sp>
      <p:sp>
        <p:nvSpPr>
          <p:cNvPr id="7" name="Slide Number Placeholder 5"/>
          <p:cNvSpPr>
            <a:spLocks noGrp="1"/>
          </p:cNvSpPr>
          <p:nvPr>
            <p:ph type="sldNum" sz="quarter" idx="12"/>
          </p:nvPr>
        </p:nvSpPr>
        <p:spPr/>
        <p:txBody>
          <a:bodyPr/>
          <a:lstStyle>
            <a:lvl1pPr>
              <a:defRPr/>
            </a:lvl1pPr>
          </a:lstStyle>
          <a:p>
            <a:pPr>
              <a:defRPr/>
            </a:pPr>
            <a:fld id="{046BA6AF-A09D-45F8-A016-8F8C6C34EA8B}" type="slidenum">
              <a:rPr lang="zh-CN" altLang="zh-CN"/>
              <a:t>‹#›</a:t>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zh-CN" altLang="zh-CN"/>
          </a:p>
        </p:txBody>
      </p:sp>
      <p:sp>
        <p:nvSpPr>
          <p:cNvPr id="6" name="Footer Placeholder 4"/>
          <p:cNvSpPr>
            <a:spLocks noGrp="1"/>
          </p:cNvSpPr>
          <p:nvPr>
            <p:ph type="ftr" sz="quarter" idx="11"/>
          </p:nvPr>
        </p:nvSpPr>
        <p:spPr/>
        <p:txBody>
          <a:bodyPr/>
          <a:lstStyle>
            <a:lvl1pPr>
              <a:defRPr/>
            </a:lvl1pPr>
          </a:lstStyle>
          <a:p>
            <a:pPr>
              <a:defRPr/>
            </a:pPr>
            <a:endParaRPr lang="zh-CN" altLang="zh-CN"/>
          </a:p>
        </p:txBody>
      </p:sp>
      <p:sp>
        <p:nvSpPr>
          <p:cNvPr id="7" name="Slide Number Placeholder 5"/>
          <p:cNvSpPr>
            <a:spLocks noGrp="1"/>
          </p:cNvSpPr>
          <p:nvPr>
            <p:ph type="sldNum" sz="quarter" idx="12"/>
          </p:nvPr>
        </p:nvSpPr>
        <p:spPr/>
        <p:txBody>
          <a:bodyPr/>
          <a:lstStyle>
            <a:lvl1pPr>
              <a:defRPr/>
            </a:lvl1pPr>
          </a:lstStyle>
          <a:p>
            <a:pPr>
              <a:defRPr/>
            </a:pPr>
            <a:fld id="{87DD717B-590C-42CC-A9BA-ABB80DAFC902}" type="slidenum">
              <a:rPr lang="zh-CN" altLang="zh-CN"/>
              <a:t>‹#›</a:t>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pPr>
              <a:defRPr/>
            </a:pPr>
            <a:fld id="{9E388E38-31E5-4E32-920D-85CA0EE6CDEC}" type="slidenum">
              <a:rPr lang="zh-CN" altLang="zh-CN"/>
              <a:t>‹#›</a:t>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pPr>
              <a:defRPr/>
            </a:pPr>
            <a:fld id="{0C0FD89F-CBC1-4F5A-B5D7-D8ADB918AF9A}" type="slidenum">
              <a:rPr lang="zh-CN" altLang="zh-CN"/>
              <a:t>‹#›</a:t>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100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endParaRPr lang="zh-CN"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defRPr sz="1200">
                <a:solidFill>
                  <a:schemeClr val="tx1">
                    <a:tint val="75000"/>
                  </a:schemeClr>
                </a:solidFill>
              </a:defRPr>
            </a:lvl1pPr>
          </a:lstStyle>
          <a:p>
            <a:pPr>
              <a:defRPr/>
            </a:pPr>
            <a:fld id="{8CD0F70D-59E7-40B5-A1A2-CC96C214C48C}" type="slidenum">
              <a:rPr lang="zh-CN" altLang="zh-CN"/>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19.png"/><Relationship Id="rId12" Type="http://schemas.openxmlformats.org/officeDocument/2006/relationships/image" Target="../media/image23.png"/><Relationship Id="rId17" Type="http://schemas.openxmlformats.org/officeDocument/2006/relationships/image" Target="../media/image27.jpe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3.emf"/><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oleObject" Target="../embeddings/oleObject1.bin"/><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5.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44.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19" Type="http://schemas.openxmlformats.org/officeDocument/2006/relationships/image" Target="../media/image46.jpe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diagramLayout" Target="../diagrams/layout1.xml"/><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diagramData" Target="../diagrams/data1.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32.png"/><Relationship Id="rId5" Type="http://schemas.openxmlformats.org/officeDocument/2006/relationships/diagramColors" Target="../diagrams/colors1.xml"/><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diagramQuickStyle" Target="../diagrams/quickStyle1.xml"/><Relationship Id="rId9" Type="http://schemas.openxmlformats.org/officeDocument/2006/relationships/image" Target="../media/image30.png"/><Relationship Id="rId1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7.emf"/><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oleObject" Target="../embeddings/oleObject2.bin"/><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8.emf"/><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oleObject" Target="../embeddings/oleObject3.bin"/><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49.jpe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2.xml"/><Relationship Id="rId16" Type="http://schemas.openxmlformats.org/officeDocument/2006/relationships/image" Target="../media/image39.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50.jpeg"/><Relationship Id="rId9" Type="http://schemas.openxmlformats.org/officeDocument/2006/relationships/image" Target="../media/image32.png"/><Relationship Id="rId1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6.png"/><Relationship Id="rId3" Type="http://schemas.openxmlformats.org/officeDocument/2006/relationships/image" Target="../media/image28.png"/><Relationship Id="rId21" Type="http://schemas.openxmlformats.org/officeDocument/2006/relationships/image" Target="../media/image54.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3.xml"/><Relationship Id="rId16" Type="http://schemas.openxmlformats.org/officeDocument/2006/relationships/image" Target="../media/image41.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52.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55.jpe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19.png"/><Relationship Id="rId12" Type="http://schemas.openxmlformats.org/officeDocument/2006/relationships/image" Target="../media/image23.png"/><Relationship Id="rId17" Type="http://schemas.openxmlformats.org/officeDocument/2006/relationships/image" Target="../media/image27.jpe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67.jpe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6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5.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69.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6.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70.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7.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8.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49.jpe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9.xml"/><Relationship Id="rId16" Type="http://schemas.openxmlformats.org/officeDocument/2006/relationships/image" Target="../media/image39.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50.jpeg"/><Relationship Id="rId9" Type="http://schemas.openxmlformats.org/officeDocument/2006/relationships/image" Target="../media/image32.png"/><Relationship Id="rId14" Type="http://schemas.openxmlformats.org/officeDocument/2006/relationships/image" Target="../media/image37.png"/></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72.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6.png"/><Relationship Id="rId3" Type="http://schemas.openxmlformats.org/officeDocument/2006/relationships/image" Target="../media/image28.png"/><Relationship Id="rId21" Type="http://schemas.openxmlformats.org/officeDocument/2006/relationships/image" Target="../media/image73.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0.xml"/><Relationship Id="rId16" Type="http://schemas.openxmlformats.org/officeDocument/2006/relationships/image" Target="../media/image41.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52.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77.jpe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76.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7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79.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1.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80.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82.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81.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19" Type="http://schemas.openxmlformats.org/officeDocument/2006/relationships/image" Target="../media/image83.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7.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84.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85.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6.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2.xml"/><Relationship Id="rId16" Type="http://schemas.openxmlformats.org/officeDocument/2006/relationships/image" Target="../media/image41.png"/><Relationship Id="rId20"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52.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4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86.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4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diagramLayout" Target="../diagrams/layout2.xml"/><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diagramData" Target="../diagrams/data2.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7.xml"/><Relationship Id="rId6" Type="http://schemas.microsoft.com/office/2007/relationships/diagramDrawing" Target="../diagrams/drawing2.xml"/><Relationship Id="rId11" Type="http://schemas.openxmlformats.org/officeDocument/2006/relationships/image" Target="../media/image32.png"/><Relationship Id="rId5" Type="http://schemas.openxmlformats.org/officeDocument/2006/relationships/diagramColors" Target="../diagrams/colors2.xml"/><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diagramQuickStyle" Target="../diagrams/quickStyle2.xml"/><Relationship Id="rId9" Type="http://schemas.openxmlformats.org/officeDocument/2006/relationships/image" Target="../media/image30.png"/><Relationship Id="rId14" Type="http://schemas.openxmlformats.org/officeDocument/2006/relationships/image" Target="../media/image35.png"/></Relationships>
</file>

<file path=ppt/slides/_rels/slide4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4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3.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96.jpe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9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4.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5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99.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5.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5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6.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5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00.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7.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8.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9.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01.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0.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02.emf"/><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1.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103.emf"/><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2.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3.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6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6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7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oleObject" Target="../embeddings/oleObject5.bin"/><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5.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106.emf"/><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7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oleObject" Target="../embeddings/oleObject6.bin"/><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6.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107.emf"/><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7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oleObject" Target="../embeddings/oleObject7.bin"/><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7.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108.emf"/><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7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8.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8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8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29.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8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8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oleObject" Target="../embeddings/oleObject8.bin"/><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10.emf"/></Relationships>
</file>

<file path=ppt/slides/_rels/slide91.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oleObject" Target="../embeddings/oleObject10.bin"/><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oleObject" Target="../embeddings/oleObject11.bin"/><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oleObject" Target="../embeddings/oleObject12.bin"/><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31.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24.png"/><Relationship Id="rId4" Type="http://schemas.openxmlformats.org/officeDocument/2006/relationships/image" Target="../media/image123.png"/></Relationships>
</file>

<file path=ppt/slides/_rels/slide12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任意多边形 67"/>
          <p:cNvSpPr/>
          <p:nvPr/>
        </p:nvSpPr>
        <p:spPr>
          <a:xfrm>
            <a:off x="0" y="4659317"/>
            <a:ext cx="12192000" cy="1552201"/>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70" name="文本框 69"/>
          <p:cNvSpPr txBox="1"/>
          <p:nvPr/>
        </p:nvSpPr>
        <p:spPr>
          <a:xfrm>
            <a:off x="2510807" y="4683003"/>
            <a:ext cx="7333535" cy="1015663"/>
          </a:xfrm>
          <a:prstGeom prst="rect">
            <a:avLst/>
          </a:prstGeom>
          <a:noFill/>
        </p:spPr>
        <p:txBody>
          <a:bodyPr wrap="square" rtlCol="0">
            <a:spAutoFit/>
          </a:bodyPr>
          <a:lstStyle/>
          <a:p>
            <a:pPr algn="dist"/>
            <a:r>
              <a:rPr lang="zh-CN" altLang="en-US" sz="6000" dirty="0">
                <a:solidFill>
                  <a:schemeClr val="bg1"/>
                </a:solidFill>
                <a:latin typeface="方正粗宋简体" panose="03000509000000000000" pitchFamily="65" charset="-122"/>
                <a:ea typeface="方正粗宋简体" panose="03000509000000000000" pitchFamily="65" charset="-122"/>
              </a:rPr>
              <a:t>网络信息内容安全</a:t>
            </a:r>
          </a:p>
        </p:txBody>
      </p:sp>
      <p:grpSp>
        <p:nvGrpSpPr>
          <p:cNvPr id="18" name="组合 17"/>
          <p:cNvGrpSpPr/>
          <p:nvPr/>
        </p:nvGrpSpPr>
        <p:grpSpPr>
          <a:xfrm>
            <a:off x="1921216" y="192860"/>
            <a:ext cx="8579793" cy="3265984"/>
            <a:chOff x="1921216" y="192860"/>
            <a:chExt cx="8579793" cy="3265984"/>
          </a:xfrm>
        </p:grpSpPr>
        <p:grpSp>
          <p:nvGrpSpPr>
            <p:cNvPr id="7188" name="组合 7187"/>
            <p:cNvGrpSpPr/>
            <p:nvPr/>
          </p:nvGrpSpPr>
          <p:grpSpPr>
            <a:xfrm rot="20997101">
              <a:off x="4594305" y="192860"/>
              <a:ext cx="659781" cy="793569"/>
              <a:chOff x="9397113" y="1572484"/>
              <a:chExt cx="739439" cy="900000"/>
            </a:xfrm>
          </p:grpSpPr>
          <p:pic>
            <p:nvPicPr>
              <p:cNvPr id="7168" name="图片 7167"/>
              <p:cNvPicPr>
                <a:picLocks noChangeAspect="1"/>
              </p:cNvPicPr>
              <p:nvPr/>
            </p:nvPicPr>
            <p:blipFill rotWithShape="1">
              <a:blip r:embed="rId3">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25" name="椭圆 2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89" name="组合 7188"/>
            <p:cNvGrpSpPr/>
            <p:nvPr/>
          </p:nvGrpSpPr>
          <p:grpSpPr>
            <a:xfrm rot="2455872">
              <a:off x="9545795" y="1200076"/>
              <a:ext cx="659781" cy="793569"/>
              <a:chOff x="8752405" y="680495"/>
              <a:chExt cx="739439" cy="900000"/>
            </a:xfrm>
          </p:grpSpPr>
          <p:pic>
            <p:nvPicPr>
              <p:cNvPr id="29" name="图片 28"/>
              <p:cNvPicPr>
                <a:picLocks noChangeAspect="1"/>
              </p:cNvPicPr>
              <p:nvPr/>
            </p:nvPicPr>
            <p:blipFill rotWithShape="1">
              <a:blip r:embed="rId4">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26" name="椭圆 25"/>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0" name="组合 7189"/>
            <p:cNvGrpSpPr/>
            <p:nvPr/>
          </p:nvGrpSpPr>
          <p:grpSpPr>
            <a:xfrm rot="20539373">
              <a:off x="3895784" y="1063209"/>
              <a:ext cx="642436" cy="793569"/>
              <a:chOff x="7798300" y="2128176"/>
              <a:chExt cx="720000" cy="900000"/>
            </a:xfrm>
          </p:grpSpPr>
          <p:pic>
            <p:nvPicPr>
              <p:cNvPr id="7175" name="图片 7174"/>
              <p:cNvPicPr>
                <a:picLocks noChangeAspect="1"/>
              </p:cNvPicPr>
              <p:nvPr/>
            </p:nvPicPr>
            <p:blipFill rotWithShape="1">
              <a:blip r:embed="rId5">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4" name="椭圆 33"/>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1" name="组合 7190"/>
            <p:cNvGrpSpPr/>
            <p:nvPr/>
          </p:nvGrpSpPr>
          <p:grpSpPr>
            <a:xfrm rot="622440">
              <a:off x="6993372" y="431407"/>
              <a:ext cx="643355" cy="793569"/>
              <a:chOff x="5457544" y="2382484"/>
              <a:chExt cx="721030" cy="900000"/>
            </a:xfrm>
          </p:grpSpPr>
          <p:pic>
            <p:nvPicPr>
              <p:cNvPr id="7171" name="图片 717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7" name="椭圆 3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20351331">
              <a:off x="2777184" y="624184"/>
              <a:ext cx="642436" cy="793569"/>
              <a:chOff x="3277182" y="773323"/>
              <a:chExt cx="720000" cy="900000"/>
            </a:xfrm>
          </p:grpSpPr>
          <p:sp>
            <p:nvSpPr>
              <p:cNvPr id="45" name="椭圆 44"/>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7173" name="组合 7172"/>
            <p:cNvGrpSpPr/>
            <p:nvPr/>
          </p:nvGrpSpPr>
          <p:grpSpPr>
            <a:xfrm rot="1912890">
              <a:off x="8324851" y="1445561"/>
              <a:ext cx="648427" cy="793569"/>
              <a:chOff x="5384758" y="1250900"/>
              <a:chExt cx="726714" cy="900000"/>
            </a:xfrm>
          </p:grpSpPr>
          <p:sp>
            <p:nvSpPr>
              <p:cNvPr id="36" name="椭圆 3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7176" name="组合 7175"/>
            <p:cNvGrpSpPr/>
            <p:nvPr/>
          </p:nvGrpSpPr>
          <p:grpSpPr>
            <a:xfrm rot="1354213">
              <a:off x="7257146" y="1255327"/>
              <a:ext cx="642436" cy="793569"/>
              <a:chOff x="3639753" y="2488176"/>
              <a:chExt cx="720000" cy="900000"/>
            </a:xfrm>
          </p:grpSpPr>
          <p:sp>
            <p:nvSpPr>
              <p:cNvPr id="46" name="椭圆 45"/>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7172" name="组合 7171"/>
            <p:cNvGrpSpPr/>
            <p:nvPr/>
          </p:nvGrpSpPr>
          <p:grpSpPr>
            <a:xfrm rot="19874646">
              <a:off x="3299688" y="1751721"/>
              <a:ext cx="647730" cy="793569"/>
              <a:chOff x="4707387" y="271511"/>
              <a:chExt cx="725933" cy="900000"/>
            </a:xfrm>
          </p:grpSpPr>
          <p:sp>
            <p:nvSpPr>
              <p:cNvPr id="24" name="椭圆 23"/>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7174" name="组合 7173"/>
            <p:cNvGrpSpPr/>
            <p:nvPr/>
          </p:nvGrpSpPr>
          <p:grpSpPr>
            <a:xfrm rot="19414460">
              <a:off x="2170159" y="2542950"/>
              <a:ext cx="647456" cy="793569"/>
              <a:chOff x="4355614" y="1671769"/>
              <a:chExt cx="725626" cy="900000"/>
            </a:xfrm>
          </p:grpSpPr>
          <p:sp>
            <p:nvSpPr>
              <p:cNvPr id="41" name="椭圆 40"/>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图片 716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7182" name="组合 7181"/>
            <p:cNvGrpSpPr/>
            <p:nvPr/>
          </p:nvGrpSpPr>
          <p:grpSpPr>
            <a:xfrm rot="3261331">
              <a:off x="8917619" y="2218585"/>
              <a:ext cx="645495" cy="803045"/>
              <a:chOff x="6534782" y="2204846"/>
              <a:chExt cx="732066" cy="900000"/>
            </a:xfrm>
          </p:grpSpPr>
          <p:sp>
            <p:nvSpPr>
              <p:cNvPr id="35" name="椭圆 34"/>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7" name="图片 717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7184" name="组合 7183"/>
            <p:cNvGrpSpPr/>
            <p:nvPr/>
          </p:nvGrpSpPr>
          <p:grpSpPr>
            <a:xfrm rot="1881527">
              <a:off x="8519801" y="497692"/>
              <a:ext cx="646830" cy="793569"/>
              <a:chOff x="5993772" y="258109"/>
              <a:chExt cx="724925" cy="900000"/>
            </a:xfrm>
          </p:grpSpPr>
          <p:sp>
            <p:nvSpPr>
              <p:cNvPr id="33" name="椭圆 32"/>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9" name="图片 717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7186" name="组合 7185"/>
            <p:cNvGrpSpPr/>
            <p:nvPr/>
          </p:nvGrpSpPr>
          <p:grpSpPr>
            <a:xfrm rot="3066563">
              <a:off x="9781605" y="2529217"/>
              <a:ext cx="635764" cy="803045"/>
              <a:chOff x="8806213" y="2910111"/>
              <a:chExt cx="721030" cy="900000"/>
            </a:xfrm>
          </p:grpSpPr>
          <p:sp>
            <p:nvSpPr>
              <p:cNvPr id="2" name="椭圆 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0" name="图片 717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7183" name="组合 7182"/>
            <p:cNvGrpSpPr/>
            <p:nvPr/>
          </p:nvGrpSpPr>
          <p:grpSpPr>
            <a:xfrm rot="20849518">
              <a:off x="4617491" y="1468461"/>
              <a:ext cx="644890" cy="793569"/>
              <a:chOff x="7330781" y="818297"/>
              <a:chExt cx="722751" cy="900000"/>
            </a:xfrm>
          </p:grpSpPr>
          <p:sp>
            <p:nvSpPr>
              <p:cNvPr id="27" name="椭圆 2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1" name="图片 718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7185" name="组合 7184"/>
            <p:cNvGrpSpPr/>
            <p:nvPr/>
          </p:nvGrpSpPr>
          <p:grpSpPr>
            <a:xfrm rot="19756194">
              <a:off x="1921216" y="1486339"/>
              <a:ext cx="653202" cy="793569"/>
              <a:chOff x="2213446" y="1768419"/>
              <a:chExt cx="732066" cy="900000"/>
            </a:xfrm>
          </p:grpSpPr>
          <p:pic>
            <p:nvPicPr>
              <p:cNvPr id="7178" name="图片 717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66" name="椭圆 6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193" name="直接连接符 7192"/>
            <p:cNvCxnSpPr>
              <a:stCxn id="24"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66"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5"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34"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1"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7"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7"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6"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33"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6"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26"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35"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2" name="图片 7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619415" y="1218407"/>
            <a:ext cx="954000" cy="954000"/>
          </a:xfrm>
          <a:prstGeom prst="rect">
            <a:avLst/>
          </a:prstGeom>
        </p:spPr>
      </p:pic>
      <p:pic>
        <p:nvPicPr>
          <p:cNvPr id="74" name="Picture 5" descr="“大数据时代 安全”的图片搜索结果"/>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215611" y="3431136"/>
            <a:ext cx="1776150" cy="10551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2710197" y="5624090"/>
            <a:ext cx="7086167" cy="553085"/>
          </a:xfrm>
          <a:prstGeom prst="rect">
            <a:avLst/>
          </a:prstGeom>
          <a:noFill/>
        </p:spPr>
        <p:txBody>
          <a:bodyPr wrap="square" rtlCol="0">
            <a:spAutoFit/>
          </a:bodyPr>
          <a:lstStyle/>
          <a:p>
            <a:pPr algn="dist"/>
            <a:r>
              <a:rPr lang="zh-CN" altLang="en-US" sz="3000" dirty="0">
                <a:latin typeface="微软雅黑" panose="020B0503020204020204" pitchFamily="34" charset="-122"/>
                <a:ea typeface="微软雅黑" panose="020B0503020204020204" pitchFamily="34" charset="-122"/>
              </a:rPr>
              <a:t>网络信息内容安全概述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4"/>
          <p:cNvSpPr>
            <a:spLocks noChangeArrowheads="1"/>
          </p:cNvSpPr>
          <p:nvPr/>
        </p:nvSpPr>
        <p:spPr bwMode="auto">
          <a:xfrm>
            <a:off x="1494368" y="195699"/>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目录</a:t>
            </a:r>
          </a:p>
        </p:txBody>
      </p:sp>
      <p:sp>
        <p:nvSpPr>
          <p:cNvPr id="18435" name="直接连接符 13"/>
          <p:cNvSpPr>
            <a:spLocks noChangeShapeType="1"/>
          </p:cNvSpPr>
          <p:nvPr/>
        </p:nvSpPr>
        <p:spPr bwMode="auto">
          <a:xfrm>
            <a:off x="675218" y="845125"/>
            <a:ext cx="6193367"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5" name="Group 4"/>
          <p:cNvGrpSpPr/>
          <p:nvPr/>
        </p:nvGrpSpPr>
        <p:grpSpPr bwMode="auto">
          <a:xfrm>
            <a:off x="1269967" y="1524783"/>
            <a:ext cx="1016000" cy="665162"/>
            <a:chOff x="1110" y="2656"/>
            <a:chExt cx="1549" cy="1351"/>
          </a:xfrm>
          <a:gradFill flip="none" rotWithShape="1">
            <a:gsLst>
              <a:gs pos="0">
                <a:srgbClr val="336699">
                  <a:shade val="30000"/>
                  <a:satMod val="115000"/>
                </a:srgbClr>
              </a:gs>
              <a:gs pos="50000">
                <a:srgbClr val="336699">
                  <a:shade val="67500"/>
                  <a:satMod val="115000"/>
                </a:srgbClr>
              </a:gs>
              <a:gs pos="100000">
                <a:srgbClr val="336699">
                  <a:shade val="100000"/>
                  <a:satMod val="115000"/>
                </a:srgbClr>
              </a:gs>
            </a:gsLst>
            <a:lin ang="2700000" scaled="1"/>
            <a:tileRect/>
          </a:gradFill>
        </p:grpSpPr>
        <p:sp>
          <p:nvSpPr>
            <p:cNvPr id="38" name="AutoShape 5"/>
            <p:cNvSpPr>
              <a:spLocks noChangeArrowheads="1"/>
            </p:cNvSpPr>
            <p:nvPr/>
          </p:nvSpPr>
          <p:spPr bwMode="gray">
            <a:xfrm>
              <a:off x="1123" y="2679"/>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9" name="AutoShape 6"/>
            <p:cNvSpPr>
              <a:spLocks noChangeArrowheads="1"/>
            </p:cNvSpPr>
            <p:nvPr/>
          </p:nvSpPr>
          <p:spPr bwMode="gray">
            <a:xfrm>
              <a:off x="1110" y="2656"/>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0" name="AutoShape 7"/>
            <p:cNvSpPr>
              <a:spLocks noChangeArrowheads="1"/>
            </p:cNvSpPr>
            <p:nvPr/>
          </p:nvSpPr>
          <p:spPr bwMode="gray">
            <a:xfrm>
              <a:off x="1200" y="2736"/>
              <a:ext cx="1350" cy="1168"/>
            </a:xfrm>
            <a:prstGeom prst="hexagon">
              <a:avLst>
                <a:gd name="adj" fmla="val 2889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7" name="Line 8"/>
          <p:cNvSpPr>
            <a:spLocks noChangeShapeType="1"/>
          </p:cNvSpPr>
          <p:nvPr/>
        </p:nvSpPr>
        <p:spPr bwMode="auto">
          <a:xfrm>
            <a:off x="2082767" y="213460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2991274" y="1588503"/>
            <a:ext cx="3262432"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网络信息内容安全背景</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gray">
          <a:xfrm>
            <a:off x="1585540" y="1623428"/>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1</a:t>
            </a:r>
          </a:p>
        </p:txBody>
      </p:sp>
      <p:grpSp>
        <p:nvGrpSpPr>
          <p:cNvPr id="10" name="Group 11"/>
          <p:cNvGrpSpPr/>
          <p:nvPr/>
        </p:nvGrpSpPr>
        <p:grpSpPr bwMode="auto">
          <a:xfrm>
            <a:off x="1269967" y="2310601"/>
            <a:ext cx="1016000" cy="665162"/>
            <a:chOff x="3174" y="2656"/>
            <a:chExt cx="1549" cy="1351"/>
          </a:xfrm>
          <a:gradFill flip="none" rotWithShape="1">
            <a:gsLst>
              <a:gs pos="0">
                <a:srgbClr val="339966">
                  <a:shade val="30000"/>
                  <a:satMod val="115000"/>
                </a:srgbClr>
              </a:gs>
              <a:gs pos="50000">
                <a:srgbClr val="339966">
                  <a:shade val="67500"/>
                  <a:satMod val="115000"/>
                </a:srgbClr>
              </a:gs>
              <a:gs pos="100000">
                <a:srgbClr val="339966">
                  <a:shade val="100000"/>
                  <a:satMod val="115000"/>
                </a:srgbClr>
              </a:gs>
            </a:gsLst>
            <a:lin ang="2700000" scaled="1"/>
            <a:tileRect/>
          </a:gradFill>
        </p:grpSpPr>
        <p:sp>
          <p:nvSpPr>
            <p:cNvPr id="35" name="AutoShape 12"/>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6" name="AutoShape 13"/>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7" name="AutoShape 14"/>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1" name="Line 15"/>
          <p:cNvSpPr>
            <a:spLocks noChangeShapeType="1"/>
          </p:cNvSpPr>
          <p:nvPr/>
        </p:nvSpPr>
        <p:spPr bwMode="auto">
          <a:xfrm>
            <a:off x="2082767" y="2920416"/>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3" name="Text Box 17"/>
          <p:cNvSpPr txBox="1">
            <a:spLocks noChangeArrowheads="1"/>
          </p:cNvSpPr>
          <p:nvPr/>
        </p:nvSpPr>
        <p:spPr bwMode="gray">
          <a:xfrm>
            <a:off x="1585540" y="2409242"/>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2</a:t>
            </a:r>
          </a:p>
        </p:txBody>
      </p:sp>
      <p:grpSp>
        <p:nvGrpSpPr>
          <p:cNvPr id="14" name="Group 18"/>
          <p:cNvGrpSpPr/>
          <p:nvPr/>
        </p:nvGrpSpPr>
        <p:grpSpPr bwMode="auto">
          <a:xfrm>
            <a:off x="1269967" y="3096419"/>
            <a:ext cx="1016000" cy="665162"/>
            <a:chOff x="1110" y="2656"/>
            <a:chExt cx="1549" cy="1351"/>
          </a:xfrm>
          <a:gradFill flip="none" rotWithShape="1">
            <a:gsLst>
              <a:gs pos="0">
                <a:schemeClr val="bg2">
                  <a:lumMod val="60000"/>
                  <a:lumOff val="40000"/>
                  <a:shade val="30000"/>
                  <a:satMod val="115000"/>
                </a:schemeClr>
              </a:gs>
              <a:gs pos="50000">
                <a:schemeClr val="bg2">
                  <a:lumMod val="60000"/>
                  <a:lumOff val="40000"/>
                  <a:shade val="67500"/>
                  <a:satMod val="115000"/>
                </a:schemeClr>
              </a:gs>
              <a:gs pos="100000">
                <a:schemeClr val="bg2">
                  <a:lumMod val="60000"/>
                  <a:lumOff val="40000"/>
                  <a:shade val="100000"/>
                  <a:satMod val="115000"/>
                </a:schemeClr>
              </a:gs>
            </a:gsLst>
            <a:lin ang="2700000" scaled="1"/>
            <a:tileRect/>
          </a:gradFill>
        </p:grpSpPr>
        <p:sp>
          <p:nvSpPr>
            <p:cNvPr id="32" name="AutoShape 19"/>
            <p:cNvSpPr>
              <a:spLocks noChangeArrowheads="1"/>
            </p:cNvSpPr>
            <p:nvPr/>
          </p:nvSpPr>
          <p:spPr bwMode="gray">
            <a:xfrm>
              <a:off x="1123"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3" name="AutoShape 20"/>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4" name="AutoShape 21"/>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5" name="Line 22"/>
          <p:cNvSpPr>
            <a:spLocks noChangeShapeType="1"/>
          </p:cNvSpPr>
          <p:nvPr/>
        </p:nvSpPr>
        <p:spPr bwMode="auto">
          <a:xfrm>
            <a:off x="2082767" y="3706228"/>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Text Box 23"/>
          <p:cNvSpPr txBox="1">
            <a:spLocks noChangeArrowheads="1"/>
          </p:cNvSpPr>
          <p:nvPr/>
        </p:nvSpPr>
        <p:spPr bwMode="auto">
          <a:xfrm>
            <a:off x="3007867" y="2310602"/>
            <a:ext cx="3262432"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网络信息内容安全概念</a:t>
            </a:r>
          </a:p>
        </p:txBody>
      </p:sp>
      <p:sp>
        <p:nvSpPr>
          <p:cNvPr id="17" name="Text Box 24"/>
          <p:cNvSpPr txBox="1">
            <a:spLocks noChangeArrowheads="1"/>
          </p:cNvSpPr>
          <p:nvPr/>
        </p:nvSpPr>
        <p:spPr bwMode="gray">
          <a:xfrm>
            <a:off x="1585540" y="319505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3</a:t>
            </a:r>
          </a:p>
        </p:txBody>
      </p:sp>
      <p:grpSp>
        <p:nvGrpSpPr>
          <p:cNvPr id="18" name="Group 25"/>
          <p:cNvGrpSpPr/>
          <p:nvPr/>
        </p:nvGrpSpPr>
        <p:grpSpPr bwMode="auto">
          <a:xfrm>
            <a:off x="1269967" y="3882237"/>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29"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0"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1"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9" name="Line 29"/>
          <p:cNvSpPr>
            <a:spLocks noChangeShapeType="1"/>
          </p:cNvSpPr>
          <p:nvPr/>
        </p:nvSpPr>
        <p:spPr bwMode="auto">
          <a:xfrm>
            <a:off x="2082767" y="4492041"/>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0" name="Text Box 30"/>
          <p:cNvSpPr txBox="1">
            <a:spLocks noChangeArrowheads="1"/>
          </p:cNvSpPr>
          <p:nvPr/>
        </p:nvSpPr>
        <p:spPr bwMode="auto">
          <a:xfrm>
            <a:off x="2994013" y="3128224"/>
            <a:ext cx="2031325"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主流产品简介</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1" name="Text Box 31"/>
          <p:cNvSpPr txBox="1">
            <a:spLocks noChangeArrowheads="1"/>
          </p:cNvSpPr>
          <p:nvPr/>
        </p:nvSpPr>
        <p:spPr bwMode="gray">
          <a:xfrm>
            <a:off x="1585540" y="3980867"/>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4</a:t>
            </a:r>
          </a:p>
        </p:txBody>
      </p:sp>
      <p:grpSp>
        <p:nvGrpSpPr>
          <p:cNvPr id="22" name="Group 25"/>
          <p:cNvGrpSpPr/>
          <p:nvPr/>
        </p:nvGrpSpPr>
        <p:grpSpPr bwMode="auto">
          <a:xfrm>
            <a:off x="1282809" y="4668055"/>
            <a:ext cx="1016000" cy="665162"/>
            <a:chOff x="3174" y="2656"/>
            <a:chExt cx="1549" cy="1351"/>
          </a:xfrm>
          <a:solidFill>
            <a:srgbClr val="31B5D6"/>
          </a:solidFill>
        </p:grpSpPr>
        <p:sp>
          <p:nvSpPr>
            <p:cNvPr id="26"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7"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8"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23" name="Line 29"/>
          <p:cNvSpPr>
            <a:spLocks noChangeShapeType="1"/>
          </p:cNvSpPr>
          <p:nvPr/>
        </p:nvSpPr>
        <p:spPr bwMode="auto">
          <a:xfrm>
            <a:off x="2095467" y="527785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4" name="Text Box 30"/>
          <p:cNvSpPr txBox="1">
            <a:spLocks noChangeArrowheads="1"/>
          </p:cNvSpPr>
          <p:nvPr/>
        </p:nvSpPr>
        <p:spPr bwMode="auto">
          <a:xfrm>
            <a:off x="3006952" y="3893562"/>
            <a:ext cx="3262432" cy="46166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研究的意义及发展趋势</a:t>
            </a:r>
            <a:endParaRPr lang="en-US" altLang="zh-CN" dirty="0">
              <a:latin typeface="微软雅黑" panose="020B0503020204020204" pitchFamily="34" charset="-122"/>
              <a:ea typeface="微软雅黑" panose="020B0503020204020204" pitchFamily="34" charset="-122"/>
            </a:endParaRPr>
          </a:p>
        </p:txBody>
      </p:sp>
      <p:sp>
        <p:nvSpPr>
          <p:cNvPr id="25" name="Text Box 31"/>
          <p:cNvSpPr txBox="1">
            <a:spLocks noChangeArrowheads="1"/>
          </p:cNvSpPr>
          <p:nvPr/>
        </p:nvSpPr>
        <p:spPr bwMode="gray">
          <a:xfrm>
            <a:off x="1598240" y="4766679"/>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5</a:t>
            </a:r>
          </a:p>
        </p:txBody>
      </p:sp>
      <p:sp>
        <p:nvSpPr>
          <p:cNvPr id="42" name="Text Box 30"/>
          <p:cNvSpPr txBox="1">
            <a:spLocks noChangeArrowheads="1"/>
          </p:cNvSpPr>
          <p:nvPr/>
        </p:nvSpPr>
        <p:spPr bwMode="auto">
          <a:xfrm>
            <a:off x="3011672" y="4693087"/>
            <a:ext cx="2621280" cy="46037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本节小结及思考题</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340"/>
          <p:cNvSpPr txBox="1"/>
          <p:nvPr/>
        </p:nvSpPr>
        <p:spPr>
          <a:xfrm>
            <a:off x="1557524" y="4255728"/>
            <a:ext cx="8797777" cy="1556003"/>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342900" indent="-342900">
              <a:lnSpc>
                <a:spcPct val="150000"/>
              </a:lnSpc>
              <a:buFont typeface="Arial" panose="020B0604020202020204" pitchFamily="34" charset="0"/>
              <a:buChar char="•"/>
            </a:pPr>
            <a:r>
              <a:rPr lang="zh-CN" altLang="en-US" sz="2200" dirty="0"/>
              <a:t>社会信息化和网络化导致数据的爆炸式增长</a:t>
            </a:r>
            <a:endParaRPr lang="en-US" altLang="zh-CN" sz="2200" dirty="0"/>
          </a:p>
          <a:p>
            <a:pPr marL="342900" lvl="1" indent="-342900">
              <a:lnSpc>
                <a:spcPct val="150000"/>
              </a:lnSpc>
              <a:buFont typeface="Arial" panose="020B0604020202020204" pitchFamily="34" charset="0"/>
              <a:buChar char="•"/>
            </a:pPr>
            <a:r>
              <a:rPr lang="zh-CN" altLang="en-US" sz="2200" dirty="0">
                <a:solidFill>
                  <a:schemeClr val="tx1">
                    <a:lumMod val="65000"/>
                    <a:lumOff val="35000"/>
                  </a:schemeClr>
                </a:solidFill>
                <a:latin typeface="微软雅黑" panose="020B0503020204020204" pitchFamily="34" charset="-122"/>
                <a:ea typeface="微软雅黑" panose="020B0503020204020204" pitchFamily="34" charset="-122"/>
              </a:rPr>
              <a:t>云计算、物联网等新技术催生大数据</a:t>
            </a:r>
            <a:endParaRPr lang="en-US" altLang="zh-CN" sz="2200" dirty="0">
              <a:solidFill>
                <a:schemeClr val="tx1">
                  <a:lumMod val="65000"/>
                  <a:lumOff val="35000"/>
                </a:schemeClr>
              </a:solidFill>
              <a:latin typeface="微软雅黑" panose="020B0503020204020204" pitchFamily="34" charset="-122"/>
              <a:ea typeface="微软雅黑" panose="020B0503020204020204" pitchFamily="34" charset="-122"/>
            </a:endParaRPr>
          </a:p>
          <a:p>
            <a:pPr marL="342900" lvl="1" indent="-342900">
              <a:lnSpc>
                <a:spcPct val="150000"/>
              </a:lnSpc>
              <a:buFont typeface="Arial" panose="020B0604020202020204" pitchFamily="34" charset="0"/>
              <a:buChar char="•"/>
            </a:pPr>
            <a:r>
              <a:rPr lang="zh-CN" altLang="en-US" sz="2200" dirty="0">
                <a:solidFill>
                  <a:schemeClr val="tx1">
                    <a:lumMod val="65000"/>
                    <a:lumOff val="35000"/>
                  </a:schemeClr>
                </a:solidFill>
                <a:latin typeface="微软雅黑" panose="020B0503020204020204" pitchFamily="34" charset="-122"/>
                <a:ea typeface="微软雅黑" panose="020B0503020204020204" pitchFamily="34" charset="-122"/>
              </a:rPr>
              <a:t>数据仓库、数据分析、数据挖掘等技术</a:t>
            </a:r>
            <a:endParaRPr lang="en-CA" altLang="zh-CN" sz="2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468746D6-FD40-4C6D-AB52-678282162D78}"/>
              </a:ext>
            </a:extLst>
          </p:cNvPr>
          <p:cNvGrpSpPr/>
          <p:nvPr/>
        </p:nvGrpSpPr>
        <p:grpSpPr>
          <a:xfrm>
            <a:off x="4086094" y="5911016"/>
            <a:ext cx="6900561" cy="686634"/>
            <a:chOff x="1584485" y="5870063"/>
            <a:chExt cx="7226074" cy="782969"/>
          </a:xfrm>
        </p:grpSpPr>
        <p:sp>
          <p:nvSpPr>
            <p:cNvPr id="78" name="圆角矩形 77"/>
            <p:cNvSpPr/>
            <p:nvPr/>
          </p:nvSpPr>
          <p:spPr>
            <a:xfrm>
              <a:off x="1584485" y="5870063"/>
              <a:ext cx="7226074" cy="782969"/>
            </a:xfrm>
            <a:prstGeom prst="roundRect">
              <a:avLst>
                <a:gd name="adj" fmla="val 9394"/>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2024886" y="5941571"/>
              <a:ext cx="6021312" cy="596628"/>
            </a:xfrm>
            <a:prstGeom prst="rect">
              <a:avLst/>
            </a:prstGeom>
          </p:spPr>
          <p:txBody>
            <a:bodyPr wrap="square">
              <a:spAutoFit/>
            </a:bodyPr>
            <a:lstStyle/>
            <a:p>
              <a:r>
                <a:rPr lang="zh-CN" altLang="en-US"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大数据的核心是数据、技术和思维</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网络信息内容安全背景</a:t>
            </a:r>
          </a:p>
        </p:txBody>
      </p:sp>
      <p:sp>
        <p:nvSpPr>
          <p:cNvPr id="8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2" name="组合 1">
            <a:extLst>
              <a:ext uri="{FF2B5EF4-FFF2-40B4-BE49-F238E27FC236}">
                <a16:creationId xmlns:a16="http://schemas.microsoft.com/office/drawing/2014/main" id="{9E2ED493-BF00-4E37-9A2E-CAE3F5216E93}"/>
              </a:ext>
            </a:extLst>
          </p:cNvPr>
          <p:cNvGrpSpPr/>
          <p:nvPr/>
        </p:nvGrpSpPr>
        <p:grpSpPr>
          <a:xfrm>
            <a:off x="1871531" y="1454339"/>
            <a:ext cx="8346439" cy="2571020"/>
            <a:chOff x="1871531" y="1412777"/>
            <a:chExt cx="8346439" cy="2571020"/>
          </a:xfrm>
        </p:grpSpPr>
        <p:grpSp>
          <p:nvGrpSpPr>
            <p:cNvPr id="18" name="组合 17"/>
            <p:cNvGrpSpPr/>
            <p:nvPr/>
          </p:nvGrpSpPr>
          <p:grpSpPr>
            <a:xfrm>
              <a:off x="1871531" y="1412777"/>
              <a:ext cx="8346439" cy="2051015"/>
              <a:chOff x="1921216" y="192860"/>
              <a:chExt cx="8579793" cy="3265984"/>
            </a:xfrm>
          </p:grpSpPr>
          <p:grpSp>
            <p:nvGrpSpPr>
              <p:cNvPr id="19" name="组合 18"/>
              <p:cNvGrpSpPr/>
              <p:nvPr/>
            </p:nvGrpSpPr>
            <p:grpSpPr>
              <a:xfrm rot="20997101">
                <a:off x="4594305" y="192860"/>
                <a:ext cx="659781" cy="793569"/>
                <a:chOff x="9397113" y="1572484"/>
                <a:chExt cx="739439" cy="900000"/>
              </a:xfrm>
            </p:grpSpPr>
            <p:pic>
              <p:nvPicPr>
                <p:cNvPr id="74" name="图片 73"/>
                <p:cNvPicPr>
                  <a:picLocks noChangeAspect="1"/>
                </p:cNvPicPr>
                <p:nvPr/>
              </p:nvPicPr>
              <p:blipFill rotWithShape="1">
                <a:blip r:embed="rId2">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75" name="椭圆 7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rot="2455872">
                <a:off x="9545795" y="1200076"/>
                <a:ext cx="659781" cy="793569"/>
                <a:chOff x="8752405" y="680495"/>
                <a:chExt cx="739439" cy="900000"/>
              </a:xfrm>
            </p:grpSpPr>
            <p:pic>
              <p:nvPicPr>
                <p:cNvPr id="72" name="图片 71"/>
                <p:cNvPicPr>
                  <a:picLocks noChangeAspect="1"/>
                </p:cNvPicPr>
                <p:nvPr/>
              </p:nvPicPr>
              <p:blipFill rotWithShape="1">
                <a:blip r:embed="rId3">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73" name="椭圆 7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rot="20539373">
                <a:off x="3895784" y="1063209"/>
                <a:ext cx="642436" cy="793569"/>
                <a:chOff x="7798300" y="2128176"/>
                <a:chExt cx="720000" cy="900000"/>
              </a:xfrm>
            </p:grpSpPr>
            <p:pic>
              <p:nvPicPr>
                <p:cNvPr id="70" name="图片 69"/>
                <p:cNvPicPr>
                  <a:picLocks noChangeAspect="1"/>
                </p:cNvPicPr>
                <p:nvPr/>
              </p:nvPicPr>
              <p:blipFill rotWithShape="1">
                <a:blip r:embed="rId4">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71" name="椭圆 7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rot="622440">
                <a:off x="6993372" y="431407"/>
                <a:ext cx="643355" cy="793569"/>
                <a:chOff x="5457544" y="2382484"/>
                <a:chExt cx="721030" cy="900000"/>
              </a:xfrm>
            </p:grpSpPr>
            <p:pic>
              <p:nvPicPr>
                <p:cNvPr id="68" name="图片 6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69" name="椭圆 6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rot="20351331">
                <a:off x="2777184" y="624184"/>
                <a:ext cx="642436" cy="793569"/>
                <a:chOff x="3277182" y="773323"/>
                <a:chExt cx="720000" cy="900000"/>
              </a:xfrm>
            </p:grpSpPr>
            <p:sp>
              <p:nvSpPr>
                <p:cNvPr id="66" name="椭圆 65"/>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7" name="图片 6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4" name="组合 23"/>
              <p:cNvGrpSpPr/>
              <p:nvPr/>
            </p:nvGrpSpPr>
            <p:grpSpPr>
              <a:xfrm rot="1912890">
                <a:off x="8324851" y="1445561"/>
                <a:ext cx="648427" cy="793569"/>
                <a:chOff x="5384758" y="1250900"/>
                <a:chExt cx="726714" cy="900000"/>
              </a:xfrm>
            </p:grpSpPr>
            <p:sp>
              <p:nvSpPr>
                <p:cNvPr id="64" name="椭圆 63"/>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5" name="图片 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5" name="组合 24"/>
              <p:cNvGrpSpPr/>
              <p:nvPr/>
            </p:nvGrpSpPr>
            <p:grpSpPr>
              <a:xfrm rot="1354213">
                <a:off x="7257146" y="1255327"/>
                <a:ext cx="642436" cy="793569"/>
                <a:chOff x="3639753" y="2488176"/>
                <a:chExt cx="720000" cy="900000"/>
              </a:xfrm>
            </p:grpSpPr>
            <p:sp>
              <p:nvSpPr>
                <p:cNvPr id="62" name="椭圆 61"/>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图片 6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6" name="组合 25"/>
              <p:cNvGrpSpPr/>
              <p:nvPr/>
            </p:nvGrpSpPr>
            <p:grpSpPr>
              <a:xfrm rot="19874646">
                <a:off x="3299688" y="1751721"/>
                <a:ext cx="647730" cy="793569"/>
                <a:chOff x="4707387" y="271511"/>
                <a:chExt cx="725933" cy="900000"/>
              </a:xfrm>
            </p:grpSpPr>
            <p:sp>
              <p:nvSpPr>
                <p:cNvPr id="60" name="椭圆 59"/>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7" name="组合 26"/>
              <p:cNvGrpSpPr/>
              <p:nvPr/>
            </p:nvGrpSpPr>
            <p:grpSpPr>
              <a:xfrm rot="19414460">
                <a:off x="2170159" y="2542950"/>
                <a:ext cx="647456" cy="793569"/>
                <a:chOff x="4355614" y="1671769"/>
                <a:chExt cx="725626" cy="900000"/>
              </a:xfrm>
            </p:grpSpPr>
            <p:sp>
              <p:nvSpPr>
                <p:cNvPr id="58" name="椭圆 57"/>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 name="组合 27"/>
              <p:cNvGrpSpPr/>
              <p:nvPr/>
            </p:nvGrpSpPr>
            <p:grpSpPr>
              <a:xfrm rot="3261331">
                <a:off x="8917619" y="2218585"/>
                <a:ext cx="645495" cy="803045"/>
                <a:chOff x="6534782" y="2204846"/>
                <a:chExt cx="732066" cy="900000"/>
              </a:xfrm>
            </p:grpSpPr>
            <p:sp>
              <p:nvSpPr>
                <p:cNvPr id="56" name="椭圆 55"/>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9" name="组合 28"/>
              <p:cNvGrpSpPr/>
              <p:nvPr/>
            </p:nvGrpSpPr>
            <p:grpSpPr>
              <a:xfrm rot="1881527">
                <a:off x="8519801" y="497692"/>
                <a:ext cx="646830" cy="793569"/>
                <a:chOff x="5993772" y="258109"/>
                <a:chExt cx="724925" cy="900000"/>
              </a:xfrm>
            </p:grpSpPr>
            <p:sp>
              <p:nvSpPr>
                <p:cNvPr id="54" name="椭圆 53"/>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30" name="组合 29"/>
              <p:cNvGrpSpPr/>
              <p:nvPr/>
            </p:nvGrpSpPr>
            <p:grpSpPr>
              <a:xfrm rot="3066563">
                <a:off x="9781605" y="2529217"/>
                <a:ext cx="635764" cy="803045"/>
                <a:chOff x="8806213" y="2910111"/>
                <a:chExt cx="721030" cy="900000"/>
              </a:xfrm>
            </p:grpSpPr>
            <p:sp>
              <p:nvSpPr>
                <p:cNvPr id="52" name="椭圆 5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31" name="组合 30"/>
              <p:cNvGrpSpPr/>
              <p:nvPr/>
            </p:nvGrpSpPr>
            <p:grpSpPr>
              <a:xfrm rot="20849518">
                <a:off x="4617491" y="1468461"/>
                <a:ext cx="644890" cy="793569"/>
                <a:chOff x="7330781" y="818297"/>
                <a:chExt cx="722751" cy="900000"/>
              </a:xfrm>
            </p:grpSpPr>
            <p:sp>
              <p:nvSpPr>
                <p:cNvPr id="50" name="椭圆 49"/>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32" name="组合 31"/>
              <p:cNvGrpSpPr/>
              <p:nvPr/>
            </p:nvGrpSpPr>
            <p:grpSpPr>
              <a:xfrm rot="19756194">
                <a:off x="1921216" y="1486339"/>
                <a:ext cx="653202" cy="793569"/>
                <a:chOff x="2213446" y="1768419"/>
                <a:chExt cx="732066" cy="900000"/>
              </a:xfrm>
            </p:grpSpPr>
            <p:pic>
              <p:nvPicPr>
                <p:cNvPr id="48" name="图片 4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49" name="椭圆 48"/>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3" name="直接连接符 32"/>
              <p:cNvCxnSpPr>
                <a:stCxn id="60"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49"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66"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71"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7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58"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50"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69"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2"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54"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64"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73"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5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56"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6" name="图片 7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67905" y="2057165"/>
              <a:ext cx="928052" cy="696039"/>
            </a:xfrm>
            <a:prstGeom prst="rect">
              <a:avLst/>
            </a:prstGeom>
          </p:spPr>
        </p:pic>
        <p:pic>
          <p:nvPicPr>
            <p:cNvPr id="5122" name="Picture 2" descr="“大数据”的图片搜索结果"/>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447950" y="3221105"/>
              <a:ext cx="1016923" cy="762692"/>
            </a:xfrm>
            <a:prstGeom prst="ellipse">
              <a:avLst/>
            </a:prstGeom>
            <a:ln w="63500" cap="rnd">
              <a:solidFill>
                <a:srgbClr val="31B5D6"/>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756153" y="1379606"/>
            <a:ext cx="4967287" cy="4936332"/>
            <a:chOff x="5756151" y="1350620"/>
            <a:chExt cx="4967287" cy="4936332"/>
          </a:xfrm>
        </p:grpSpPr>
        <p:sp>
          <p:nvSpPr>
            <p:cNvPr id="6" name="Freeform 35"/>
            <p:cNvSpPr/>
            <p:nvPr/>
          </p:nvSpPr>
          <p:spPr bwMode="gray">
            <a:xfrm flipH="1">
              <a:off x="5765875" y="1350620"/>
              <a:ext cx="2376487" cy="2376488"/>
            </a:xfrm>
            <a:custGeom>
              <a:avLst/>
              <a:gdLst>
                <a:gd name="T0" fmla="*/ 2147483647 w 1016"/>
                <a:gd name="T1" fmla="*/ 0 h 1016"/>
                <a:gd name="T2" fmla="*/ 0 w 1016"/>
                <a:gd name="T3" fmla="*/ 2147483647 h 1016"/>
                <a:gd name="T4" fmla="*/ 0 w 1016"/>
                <a:gd name="T5" fmla="*/ 2147483647 h 1016"/>
                <a:gd name="T6" fmla="*/ 2147483647 w 1016"/>
                <a:gd name="T7" fmla="*/ 2147483647 h 1016"/>
                <a:gd name="T8" fmla="*/ 2147483647 w 1016"/>
                <a:gd name="T9" fmla="*/ 2147483647 h 1016"/>
                <a:gd name="T10" fmla="*/ 2147483647 w 1016"/>
                <a:gd name="T11" fmla="*/ 0 h 1016"/>
                <a:gd name="T12" fmla="*/ 0 60000 65536"/>
                <a:gd name="T13" fmla="*/ 0 60000 65536"/>
                <a:gd name="T14" fmla="*/ 0 60000 65536"/>
                <a:gd name="T15" fmla="*/ 0 60000 65536"/>
                <a:gd name="T16" fmla="*/ 0 60000 65536"/>
                <a:gd name="T17" fmla="*/ 0 60000 65536"/>
                <a:gd name="T18" fmla="*/ 0 w 1016"/>
                <a:gd name="T19" fmla="*/ 0 h 1016"/>
                <a:gd name="T20" fmla="*/ 1016 w 1016"/>
                <a:gd name="T21" fmla="*/ 1016 h 1016"/>
              </a:gdLst>
              <a:ahLst/>
              <a:cxnLst>
                <a:cxn ang="T12">
                  <a:pos x="T0" y="T1"/>
                </a:cxn>
                <a:cxn ang="T13">
                  <a:pos x="T2" y="T3"/>
                </a:cxn>
                <a:cxn ang="T14">
                  <a:pos x="T4" y="T5"/>
                </a:cxn>
                <a:cxn ang="T15">
                  <a:pos x="T6" y="T7"/>
                </a:cxn>
                <a:cxn ang="T16">
                  <a:pos x="T8" y="T9"/>
                </a:cxn>
                <a:cxn ang="T17">
                  <a:pos x="T10" y="T11"/>
                </a:cxn>
              </a:cxnLst>
              <a:rect l="T18" t="T19" r="T20" b="T21"/>
              <a:pathLst>
                <a:path w="1016" h="1016">
                  <a:moveTo>
                    <a:pt x="508" y="0"/>
                  </a:moveTo>
                  <a:cubicBezTo>
                    <a:pt x="227" y="0"/>
                    <a:pt x="0" y="227"/>
                    <a:pt x="0" y="508"/>
                  </a:cubicBezTo>
                  <a:cubicBezTo>
                    <a:pt x="0" y="1016"/>
                    <a:pt x="0" y="1016"/>
                    <a:pt x="0" y="1016"/>
                  </a:cubicBezTo>
                  <a:cubicBezTo>
                    <a:pt x="508" y="1016"/>
                    <a:pt x="508" y="1016"/>
                    <a:pt x="508" y="1016"/>
                  </a:cubicBezTo>
                  <a:cubicBezTo>
                    <a:pt x="789" y="1016"/>
                    <a:pt x="1016" y="789"/>
                    <a:pt x="1016" y="508"/>
                  </a:cubicBezTo>
                  <a:cubicBezTo>
                    <a:pt x="1016" y="227"/>
                    <a:pt x="789" y="0"/>
                    <a:pt x="508" y="0"/>
                  </a:cubicBezTo>
                  <a:close/>
                </a:path>
              </a:pathLst>
            </a:custGeom>
            <a:solidFill>
              <a:srgbClr val="31B5D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noProof="0" dirty="0">
                <a:solidFill>
                  <a:schemeClr val="lt1"/>
                </a:solidFill>
              </a:endParaRPr>
            </a:p>
          </p:txBody>
        </p:sp>
        <p:sp>
          <p:nvSpPr>
            <p:cNvPr id="7" name="Freeform 35"/>
            <p:cNvSpPr/>
            <p:nvPr/>
          </p:nvSpPr>
          <p:spPr bwMode="gray">
            <a:xfrm>
              <a:off x="8346950" y="1350621"/>
              <a:ext cx="2376488" cy="2376487"/>
            </a:xfrm>
            <a:custGeom>
              <a:avLst/>
              <a:gdLst>
                <a:gd name="T0" fmla="*/ 2147483647 w 1016"/>
                <a:gd name="T1" fmla="*/ 0 h 1016"/>
                <a:gd name="T2" fmla="*/ 0 w 1016"/>
                <a:gd name="T3" fmla="*/ 2147483647 h 1016"/>
                <a:gd name="T4" fmla="*/ 0 w 1016"/>
                <a:gd name="T5" fmla="*/ 2147483647 h 1016"/>
                <a:gd name="T6" fmla="*/ 2147483647 w 1016"/>
                <a:gd name="T7" fmla="*/ 2147483647 h 1016"/>
                <a:gd name="T8" fmla="*/ 2147483647 w 1016"/>
                <a:gd name="T9" fmla="*/ 2147483647 h 1016"/>
                <a:gd name="T10" fmla="*/ 2147483647 w 1016"/>
                <a:gd name="T11" fmla="*/ 0 h 1016"/>
                <a:gd name="T12" fmla="*/ 0 60000 65536"/>
                <a:gd name="T13" fmla="*/ 0 60000 65536"/>
                <a:gd name="T14" fmla="*/ 0 60000 65536"/>
                <a:gd name="T15" fmla="*/ 0 60000 65536"/>
                <a:gd name="T16" fmla="*/ 0 60000 65536"/>
                <a:gd name="T17" fmla="*/ 0 60000 65536"/>
                <a:gd name="T18" fmla="*/ 0 w 1016"/>
                <a:gd name="T19" fmla="*/ 0 h 1016"/>
                <a:gd name="T20" fmla="*/ 1016 w 1016"/>
                <a:gd name="T21" fmla="*/ 1016 h 1016"/>
              </a:gdLst>
              <a:ahLst/>
              <a:cxnLst>
                <a:cxn ang="T12">
                  <a:pos x="T0" y="T1"/>
                </a:cxn>
                <a:cxn ang="T13">
                  <a:pos x="T2" y="T3"/>
                </a:cxn>
                <a:cxn ang="T14">
                  <a:pos x="T4" y="T5"/>
                </a:cxn>
                <a:cxn ang="T15">
                  <a:pos x="T6" y="T7"/>
                </a:cxn>
                <a:cxn ang="T16">
                  <a:pos x="T8" y="T9"/>
                </a:cxn>
                <a:cxn ang="T17">
                  <a:pos x="T10" y="T11"/>
                </a:cxn>
              </a:cxnLst>
              <a:rect l="T18" t="T19" r="T20" b="T21"/>
              <a:pathLst>
                <a:path w="1016" h="1016">
                  <a:moveTo>
                    <a:pt x="508" y="0"/>
                  </a:moveTo>
                  <a:cubicBezTo>
                    <a:pt x="227" y="0"/>
                    <a:pt x="0" y="227"/>
                    <a:pt x="0" y="508"/>
                  </a:cubicBezTo>
                  <a:cubicBezTo>
                    <a:pt x="0" y="1016"/>
                    <a:pt x="0" y="1016"/>
                    <a:pt x="0" y="1016"/>
                  </a:cubicBezTo>
                  <a:cubicBezTo>
                    <a:pt x="508" y="1016"/>
                    <a:pt x="508" y="1016"/>
                    <a:pt x="508" y="1016"/>
                  </a:cubicBezTo>
                  <a:cubicBezTo>
                    <a:pt x="789" y="1016"/>
                    <a:pt x="1016" y="789"/>
                    <a:pt x="1016" y="508"/>
                  </a:cubicBezTo>
                  <a:cubicBezTo>
                    <a:pt x="1016" y="227"/>
                    <a:pt x="789" y="0"/>
                    <a:pt x="508" y="0"/>
                  </a:cubicBezTo>
                  <a:close/>
                </a:path>
              </a:pathLst>
            </a:custGeom>
            <a:solidFill>
              <a:srgbClr val="31B5D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noProof="0" dirty="0">
                <a:solidFill>
                  <a:schemeClr val="lt1"/>
                </a:solidFill>
              </a:endParaRPr>
            </a:p>
          </p:txBody>
        </p:sp>
        <p:sp>
          <p:nvSpPr>
            <p:cNvPr id="8" name="矩形 22"/>
            <p:cNvSpPr/>
            <p:nvPr/>
          </p:nvSpPr>
          <p:spPr>
            <a:xfrm>
              <a:off x="8342188" y="3899350"/>
              <a:ext cx="2376488" cy="2376487"/>
            </a:xfrm>
            <a:custGeom>
              <a:avLst/>
              <a:gdLst/>
              <a:ahLst/>
              <a:cxnLst/>
              <a:rect l="l" t="t" r="r" b="b"/>
              <a:pathLst>
                <a:path w="2376488" h="2376487">
                  <a:moveTo>
                    <a:pt x="0" y="0"/>
                  </a:moveTo>
                  <a:cubicBezTo>
                    <a:pt x="1188244" y="0"/>
                    <a:pt x="1188244" y="0"/>
                    <a:pt x="1188244" y="0"/>
                  </a:cubicBezTo>
                  <a:cubicBezTo>
                    <a:pt x="1845521" y="0"/>
                    <a:pt x="2376488" y="530967"/>
                    <a:pt x="2376488" y="1188243"/>
                  </a:cubicBezTo>
                  <a:cubicBezTo>
                    <a:pt x="2376488" y="1845520"/>
                    <a:pt x="1845521" y="2376487"/>
                    <a:pt x="1188244" y="2376487"/>
                  </a:cubicBezTo>
                  <a:cubicBezTo>
                    <a:pt x="530967" y="2376487"/>
                    <a:pt x="0" y="1845520"/>
                    <a:pt x="0" y="1188243"/>
                  </a:cubicBezTo>
                  <a:cubicBezTo>
                    <a:pt x="0" y="0"/>
                    <a:pt x="0" y="0"/>
                    <a:pt x="0" y="0"/>
                  </a:cubicBezTo>
                  <a:close/>
                </a:path>
              </a:pathLst>
            </a:custGeom>
            <a:solidFill>
              <a:srgbClr val="31B5D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noProof="0">
                <a:solidFill>
                  <a:schemeClr val="lt1"/>
                </a:solidFill>
              </a:endParaRPr>
            </a:p>
          </p:txBody>
        </p:sp>
        <p:sp>
          <p:nvSpPr>
            <p:cNvPr id="9" name="矩形 26"/>
            <p:cNvSpPr/>
            <p:nvPr/>
          </p:nvSpPr>
          <p:spPr>
            <a:xfrm>
              <a:off x="5756151" y="3910465"/>
              <a:ext cx="2376487" cy="2376487"/>
            </a:xfrm>
            <a:custGeom>
              <a:avLst/>
              <a:gdLst/>
              <a:ahLst/>
              <a:cxnLst/>
              <a:rect l="l" t="t" r="r" b="b"/>
              <a:pathLst>
                <a:path w="2376487" h="2376487">
                  <a:moveTo>
                    <a:pt x="1188244" y="0"/>
                  </a:moveTo>
                  <a:cubicBezTo>
                    <a:pt x="1188256" y="0"/>
                    <a:pt x="1192038" y="0"/>
                    <a:pt x="2376487" y="0"/>
                  </a:cubicBezTo>
                  <a:cubicBezTo>
                    <a:pt x="2376487" y="19"/>
                    <a:pt x="2376487" y="4713"/>
                    <a:pt x="2376487" y="1188244"/>
                  </a:cubicBezTo>
                  <a:cubicBezTo>
                    <a:pt x="2376487" y="1845520"/>
                    <a:pt x="1845520" y="2376487"/>
                    <a:pt x="1188244" y="2376487"/>
                  </a:cubicBezTo>
                  <a:cubicBezTo>
                    <a:pt x="530967" y="2376487"/>
                    <a:pt x="0" y="1845520"/>
                    <a:pt x="0" y="1188244"/>
                  </a:cubicBezTo>
                  <a:cubicBezTo>
                    <a:pt x="0" y="530967"/>
                    <a:pt x="530967" y="0"/>
                    <a:pt x="1188244" y="0"/>
                  </a:cubicBezTo>
                  <a:close/>
                </a:path>
              </a:pathLst>
            </a:custGeom>
            <a:solidFill>
              <a:srgbClr val="31B5D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noProof="0">
                <a:solidFill>
                  <a:schemeClr val="lt1"/>
                </a:solidFill>
              </a:endParaRPr>
            </a:p>
          </p:txBody>
        </p:sp>
        <p:sp>
          <p:nvSpPr>
            <p:cNvPr id="11" name="TextBox 1"/>
            <p:cNvSpPr txBox="1"/>
            <p:nvPr/>
          </p:nvSpPr>
          <p:spPr>
            <a:xfrm>
              <a:off x="7084829" y="3325460"/>
              <a:ext cx="877163" cy="369332"/>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大容量</a:t>
              </a:r>
            </a:p>
          </p:txBody>
        </p:sp>
        <p:sp>
          <p:nvSpPr>
            <p:cNvPr id="18" name="TextBox 50"/>
            <p:cNvSpPr txBox="1"/>
            <p:nvPr/>
          </p:nvSpPr>
          <p:spPr>
            <a:xfrm>
              <a:off x="8537852" y="3325460"/>
              <a:ext cx="877163" cy="369332"/>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高速度</a:t>
              </a:r>
            </a:p>
          </p:txBody>
        </p:sp>
        <p:sp>
          <p:nvSpPr>
            <p:cNvPr id="19" name="TextBox 51"/>
            <p:cNvSpPr txBox="1"/>
            <p:nvPr/>
          </p:nvSpPr>
          <p:spPr>
            <a:xfrm>
              <a:off x="8537852" y="3938701"/>
              <a:ext cx="877163" cy="369332"/>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真实性</a:t>
              </a:r>
            </a:p>
          </p:txBody>
        </p:sp>
        <p:sp>
          <p:nvSpPr>
            <p:cNvPr id="20" name="TextBox 52"/>
            <p:cNvSpPr txBox="1"/>
            <p:nvPr/>
          </p:nvSpPr>
          <p:spPr>
            <a:xfrm>
              <a:off x="7084829" y="3938701"/>
              <a:ext cx="877163" cy="369332"/>
            </a:xfrm>
            <a:prstGeom prst="rect">
              <a:avLst/>
            </a:prstGeom>
            <a:noFill/>
          </p:spPr>
          <p:txBody>
            <a:bodyPr wrap="non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多样性</a:t>
              </a:r>
            </a:p>
          </p:txBody>
        </p:sp>
        <p:sp>
          <p:nvSpPr>
            <p:cNvPr id="23" name="椭圆 22"/>
            <p:cNvSpPr/>
            <p:nvPr/>
          </p:nvSpPr>
          <p:spPr>
            <a:xfrm>
              <a:off x="6043594" y="1652978"/>
              <a:ext cx="1692000" cy="1692000"/>
            </a:xfrm>
            <a:prstGeom prst="ellipse">
              <a:avLst/>
            </a:prstGeom>
            <a:solidFill>
              <a:schemeClr val="bg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465744" y="2062842"/>
              <a:ext cx="135141" cy="135141"/>
            </a:xfrm>
            <a:prstGeom prst="ellipse">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6643884" y="2062842"/>
              <a:ext cx="135141" cy="135141"/>
            </a:xfrm>
            <a:prstGeom prst="ellipse">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6822024" y="2062842"/>
              <a:ext cx="135141" cy="135141"/>
            </a:xfrm>
            <a:prstGeom prst="ellipse">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000163" y="2062842"/>
              <a:ext cx="135141" cy="135141"/>
            </a:xfrm>
            <a:prstGeom prst="ellipse">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178303" y="2062842"/>
              <a:ext cx="135141" cy="135141"/>
            </a:xfrm>
            <a:prstGeom prst="ellipse">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6465744" y="2247125"/>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6643884" y="2247125"/>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6822024" y="2247125"/>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000163" y="2247125"/>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178303" y="2247125"/>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6465744" y="2431407"/>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6643884" y="2431407"/>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6822024" y="2431407"/>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7000163" y="2431407"/>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7178303" y="2431407"/>
              <a:ext cx="135141" cy="135141"/>
            </a:xfrm>
            <a:prstGeom prst="ellipse">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6465744" y="2615690"/>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6643884" y="2615690"/>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822024" y="2615690"/>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7000163" y="2615690"/>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7178303" y="2615690"/>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6465744" y="2799972"/>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6643884" y="2799972"/>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6822024" y="2799972"/>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7000163" y="2799972"/>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7178303" y="2799972"/>
              <a:ext cx="135141" cy="1351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659585" y="1653530"/>
              <a:ext cx="1692000" cy="1692000"/>
            </a:xfrm>
            <a:prstGeom prst="ellipse">
              <a:avLst/>
            </a:prstGeom>
            <a:solidFill>
              <a:schemeClr val="bg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9047746" y="2035063"/>
              <a:ext cx="354865" cy="142579"/>
              <a:chOff x="6410177" y="914400"/>
              <a:chExt cx="525195" cy="211015"/>
            </a:xfrm>
            <a:solidFill>
              <a:srgbClr val="F784A5"/>
            </a:solidFill>
          </p:grpSpPr>
          <p:sp>
            <p:nvSpPr>
              <p:cNvPr id="90" name="椭圆 89"/>
              <p:cNvSpPr/>
              <p:nvPr/>
            </p:nvSpPr>
            <p:spPr>
              <a:xfrm>
                <a:off x="6724357" y="914400"/>
                <a:ext cx="211015" cy="211015"/>
              </a:xfrm>
              <a:prstGeom prst="ellips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1" name="组合 90"/>
              <p:cNvGrpSpPr/>
              <p:nvPr/>
            </p:nvGrpSpPr>
            <p:grpSpPr>
              <a:xfrm flipV="1">
                <a:off x="6410177" y="935746"/>
                <a:ext cx="398586" cy="175601"/>
                <a:chOff x="4557932" y="1378634"/>
                <a:chExt cx="717453" cy="182880"/>
              </a:xfrm>
              <a:grpFill/>
            </p:grpSpPr>
            <p:cxnSp>
              <p:nvCxnSpPr>
                <p:cNvPr id="92" name="直接连接符 91"/>
                <p:cNvCxnSpPr/>
                <p:nvPr/>
              </p:nvCxnSpPr>
              <p:spPr>
                <a:xfrm>
                  <a:off x="4557932" y="1477108"/>
                  <a:ext cx="717453"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4726745" y="1378634"/>
                  <a:ext cx="548640"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4726745" y="1561514"/>
                  <a:ext cx="548640"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grpSp>
        </p:grpSp>
        <p:grpSp>
          <p:nvGrpSpPr>
            <p:cNvPr id="54" name="组合 53"/>
            <p:cNvGrpSpPr/>
            <p:nvPr/>
          </p:nvGrpSpPr>
          <p:grpSpPr>
            <a:xfrm>
              <a:off x="9608558" y="2035063"/>
              <a:ext cx="354865" cy="142579"/>
              <a:chOff x="6410177" y="914400"/>
              <a:chExt cx="525195" cy="211015"/>
            </a:xfrm>
            <a:solidFill>
              <a:srgbClr val="F784A5"/>
            </a:solidFill>
          </p:grpSpPr>
          <p:sp>
            <p:nvSpPr>
              <p:cNvPr id="85" name="椭圆 84"/>
              <p:cNvSpPr/>
              <p:nvPr/>
            </p:nvSpPr>
            <p:spPr>
              <a:xfrm>
                <a:off x="6724357" y="914400"/>
                <a:ext cx="211015" cy="211015"/>
              </a:xfrm>
              <a:prstGeom prst="ellips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6" name="组合 85"/>
              <p:cNvGrpSpPr/>
              <p:nvPr/>
            </p:nvGrpSpPr>
            <p:grpSpPr>
              <a:xfrm flipV="1">
                <a:off x="6410177" y="935746"/>
                <a:ext cx="398586" cy="175601"/>
                <a:chOff x="4557932" y="1378634"/>
                <a:chExt cx="717453" cy="182880"/>
              </a:xfrm>
              <a:grpFill/>
            </p:grpSpPr>
            <p:cxnSp>
              <p:nvCxnSpPr>
                <p:cNvPr id="87" name="直接连接符 86"/>
                <p:cNvCxnSpPr/>
                <p:nvPr/>
              </p:nvCxnSpPr>
              <p:spPr>
                <a:xfrm>
                  <a:off x="4557932" y="1477108"/>
                  <a:ext cx="717453"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4726745" y="1378634"/>
                  <a:ext cx="548640"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4726745" y="1561514"/>
                  <a:ext cx="548640" cy="0"/>
                </a:xfrm>
                <a:prstGeom prst="line">
                  <a:avLst/>
                </a:prstGeom>
                <a:grpFill/>
                <a:ln w="28575">
                  <a:solidFill>
                    <a:srgbClr val="F784A5"/>
                  </a:solidFill>
                </a:ln>
              </p:spPr>
              <p:style>
                <a:lnRef idx="1">
                  <a:schemeClr val="accent1"/>
                </a:lnRef>
                <a:fillRef idx="0">
                  <a:schemeClr val="accent1"/>
                </a:fillRef>
                <a:effectRef idx="0">
                  <a:schemeClr val="accent1"/>
                </a:effectRef>
                <a:fontRef idx="minor">
                  <a:schemeClr val="tx1"/>
                </a:fontRef>
              </p:style>
            </p:cxnSp>
          </p:grpSp>
        </p:grpSp>
        <p:grpSp>
          <p:nvGrpSpPr>
            <p:cNvPr id="55" name="组合 54"/>
            <p:cNvGrpSpPr/>
            <p:nvPr/>
          </p:nvGrpSpPr>
          <p:grpSpPr>
            <a:xfrm>
              <a:off x="9317062" y="2253685"/>
              <a:ext cx="354865" cy="142579"/>
              <a:chOff x="6410177" y="914400"/>
              <a:chExt cx="525195" cy="211015"/>
            </a:xfrm>
            <a:solidFill>
              <a:srgbClr val="31B5D6"/>
            </a:solidFill>
          </p:grpSpPr>
          <p:sp>
            <p:nvSpPr>
              <p:cNvPr id="80" name="椭圆 79"/>
              <p:cNvSpPr/>
              <p:nvPr/>
            </p:nvSpPr>
            <p:spPr>
              <a:xfrm>
                <a:off x="6724357" y="914400"/>
                <a:ext cx="211015" cy="211015"/>
              </a:xfrm>
              <a:prstGeom prst="ellips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1" name="组合 80"/>
              <p:cNvGrpSpPr/>
              <p:nvPr/>
            </p:nvGrpSpPr>
            <p:grpSpPr>
              <a:xfrm flipV="1">
                <a:off x="6410177" y="935746"/>
                <a:ext cx="398586" cy="175601"/>
                <a:chOff x="4557932" y="1378634"/>
                <a:chExt cx="717453" cy="182880"/>
              </a:xfrm>
              <a:grpFill/>
            </p:grpSpPr>
            <p:cxnSp>
              <p:nvCxnSpPr>
                <p:cNvPr id="82" name="直接连接符 81"/>
                <p:cNvCxnSpPr/>
                <p:nvPr/>
              </p:nvCxnSpPr>
              <p:spPr>
                <a:xfrm>
                  <a:off x="4557932" y="1477108"/>
                  <a:ext cx="717453"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726745" y="137863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726745" y="156151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grpSp>
        </p:grpSp>
        <p:grpSp>
          <p:nvGrpSpPr>
            <p:cNvPr id="56" name="组合 55"/>
            <p:cNvGrpSpPr/>
            <p:nvPr/>
          </p:nvGrpSpPr>
          <p:grpSpPr>
            <a:xfrm>
              <a:off x="9047746" y="2450648"/>
              <a:ext cx="354865" cy="142579"/>
              <a:chOff x="6410177" y="914400"/>
              <a:chExt cx="525195" cy="211015"/>
            </a:xfrm>
            <a:solidFill>
              <a:srgbClr val="31B5D6"/>
            </a:solidFill>
          </p:grpSpPr>
          <p:sp>
            <p:nvSpPr>
              <p:cNvPr id="75" name="椭圆 74"/>
              <p:cNvSpPr/>
              <p:nvPr/>
            </p:nvSpPr>
            <p:spPr>
              <a:xfrm>
                <a:off x="6724357" y="914400"/>
                <a:ext cx="211015" cy="211015"/>
              </a:xfrm>
              <a:prstGeom prst="ellips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6" name="组合 75"/>
              <p:cNvGrpSpPr/>
              <p:nvPr/>
            </p:nvGrpSpPr>
            <p:grpSpPr>
              <a:xfrm flipV="1">
                <a:off x="6410177" y="935746"/>
                <a:ext cx="398586" cy="175601"/>
                <a:chOff x="4557932" y="1378634"/>
                <a:chExt cx="717453" cy="182880"/>
              </a:xfrm>
              <a:grpFill/>
            </p:grpSpPr>
            <p:cxnSp>
              <p:nvCxnSpPr>
                <p:cNvPr id="77" name="直接连接符 76"/>
                <p:cNvCxnSpPr/>
                <p:nvPr/>
              </p:nvCxnSpPr>
              <p:spPr>
                <a:xfrm>
                  <a:off x="4557932" y="1477108"/>
                  <a:ext cx="717453"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726745" y="137863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726745" y="156151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grpSp>
        </p:grpSp>
        <p:grpSp>
          <p:nvGrpSpPr>
            <p:cNvPr id="57" name="组合 56"/>
            <p:cNvGrpSpPr/>
            <p:nvPr/>
          </p:nvGrpSpPr>
          <p:grpSpPr>
            <a:xfrm>
              <a:off x="9182405" y="2676669"/>
              <a:ext cx="354865" cy="142579"/>
              <a:chOff x="6410177" y="914400"/>
              <a:chExt cx="525195" cy="211015"/>
            </a:xfrm>
            <a:solidFill>
              <a:schemeClr val="tx1"/>
            </a:solidFill>
          </p:grpSpPr>
          <p:sp>
            <p:nvSpPr>
              <p:cNvPr id="70" name="椭圆 69"/>
              <p:cNvSpPr/>
              <p:nvPr/>
            </p:nvSpPr>
            <p:spPr>
              <a:xfrm>
                <a:off x="6724357" y="914400"/>
                <a:ext cx="211015" cy="211015"/>
              </a:xfrm>
              <a:prstGeom prst="ellips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1" name="组合 70"/>
              <p:cNvGrpSpPr/>
              <p:nvPr/>
            </p:nvGrpSpPr>
            <p:grpSpPr>
              <a:xfrm flipV="1">
                <a:off x="6410177" y="935746"/>
                <a:ext cx="398586" cy="175601"/>
                <a:chOff x="4557932" y="1378634"/>
                <a:chExt cx="717453" cy="182880"/>
              </a:xfrm>
              <a:grpFill/>
            </p:grpSpPr>
            <p:cxnSp>
              <p:nvCxnSpPr>
                <p:cNvPr id="72" name="直接连接符 71"/>
                <p:cNvCxnSpPr/>
                <p:nvPr/>
              </p:nvCxnSpPr>
              <p:spPr>
                <a:xfrm>
                  <a:off x="4557932" y="1477108"/>
                  <a:ext cx="717453"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726745" y="1378634"/>
                  <a:ext cx="548640"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726745" y="1561514"/>
                  <a:ext cx="548640"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8" name="组合 57"/>
            <p:cNvGrpSpPr/>
            <p:nvPr/>
          </p:nvGrpSpPr>
          <p:grpSpPr>
            <a:xfrm>
              <a:off x="9572121" y="2504875"/>
              <a:ext cx="354865" cy="142579"/>
              <a:chOff x="6410177" y="914400"/>
              <a:chExt cx="525195" cy="211015"/>
            </a:xfrm>
            <a:solidFill>
              <a:srgbClr val="31B5D6"/>
            </a:solidFill>
          </p:grpSpPr>
          <p:sp>
            <p:nvSpPr>
              <p:cNvPr id="65" name="椭圆 64"/>
              <p:cNvSpPr/>
              <p:nvPr/>
            </p:nvSpPr>
            <p:spPr>
              <a:xfrm>
                <a:off x="6724357" y="914400"/>
                <a:ext cx="211015" cy="211015"/>
              </a:xfrm>
              <a:prstGeom prst="ellips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6" name="组合 65"/>
              <p:cNvGrpSpPr/>
              <p:nvPr/>
            </p:nvGrpSpPr>
            <p:grpSpPr>
              <a:xfrm flipV="1">
                <a:off x="6410177" y="935746"/>
                <a:ext cx="398586" cy="175601"/>
                <a:chOff x="4557932" y="1378634"/>
                <a:chExt cx="717453" cy="182880"/>
              </a:xfrm>
              <a:grpFill/>
            </p:grpSpPr>
            <p:cxnSp>
              <p:nvCxnSpPr>
                <p:cNvPr id="67" name="直接连接符 66"/>
                <p:cNvCxnSpPr/>
                <p:nvPr/>
              </p:nvCxnSpPr>
              <p:spPr>
                <a:xfrm>
                  <a:off x="4557932" y="1477108"/>
                  <a:ext cx="717453"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4726745" y="137863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4726745" y="1561514"/>
                  <a:ext cx="548640" cy="0"/>
                </a:xfrm>
                <a:prstGeom prst="line">
                  <a:avLst/>
                </a:prstGeom>
                <a:grpFill/>
                <a:ln w="28575">
                  <a:solidFill>
                    <a:srgbClr val="31B5D6"/>
                  </a:solidFill>
                </a:ln>
              </p:spPr>
              <p:style>
                <a:lnRef idx="1">
                  <a:schemeClr val="accent1"/>
                </a:lnRef>
                <a:fillRef idx="0">
                  <a:schemeClr val="accent1"/>
                </a:fillRef>
                <a:effectRef idx="0">
                  <a:schemeClr val="accent1"/>
                </a:effectRef>
                <a:fontRef idx="minor">
                  <a:schemeClr val="tx1"/>
                </a:fontRef>
              </p:style>
            </p:cxnSp>
          </p:grpSp>
        </p:grpSp>
        <p:grpSp>
          <p:nvGrpSpPr>
            <p:cNvPr id="59" name="组合 58"/>
            <p:cNvGrpSpPr/>
            <p:nvPr/>
          </p:nvGrpSpPr>
          <p:grpSpPr>
            <a:xfrm>
              <a:off x="9523011" y="2829461"/>
              <a:ext cx="354865" cy="142579"/>
              <a:chOff x="6410177" y="914400"/>
              <a:chExt cx="525195" cy="211015"/>
            </a:xfrm>
            <a:solidFill>
              <a:schemeClr val="tx1"/>
            </a:solidFill>
          </p:grpSpPr>
          <p:sp>
            <p:nvSpPr>
              <p:cNvPr id="60" name="椭圆 59"/>
              <p:cNvSpPr/>
              <p:nvPr/>
            </p:nvSpPr>
            <p:spPr>
              <a:xfrm>
                <a:off x="6724357" y="914400"/>
                <a:ext cx="211015" cy="211015"/>
              </a:xfrm>
              <a:prstGeom prst="ellips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1" name="组合 60"/>
              <p:cNvGrpSpPr/>
              <p:nvPr/>
            </p:nvGrpSpPr>
            <p:grpSpPr>
              <a:xfrm flipV="1">
                <a:off x="6410177" y="935746"/>
                <a:ext cx="398586" cy="175601"/>
                <a:chOff x="4557932" y="1378634"/>
                <a:chExt cx="717453" cy="182880"/>
              </a:xfrm>
              <a:grpFill/>
            </p:grpSpPr>
            <p:cxnSp>
              <p:nvCxnSpPr>
                <p:cNvPr id="62" name="直接连接符 61"/>
                <p:cNvCxnSpPr/>
                <p:nvPr/>
              </p:nvCxnSpPr>
              <p:spPr>
                <a:xfrm>
                  <a:off x="4557932" y="1477108"/>
                  <a:ext cx="717453"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726745" y="1378634"/>
                  <a:ext cx="548640"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726745" y="1561514"/>
                  <a:ext cx="548640"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6" name="椭圆 95"/>
            <p:cNvSpPr/>
            <p:nvPr/>
          </p:nvSpPr>
          <p:spPr>
            <a:xfrm>
              <a:off x="6048228" y="4335882"/>
              <a:ext cx="1692000" cy="1692000"/>
            </a:xfrm>
            <a:prstGeom prst="ellipse">
              <a:avLst/>
            </a:prstGeom>
            <a:solidFill>
              <a:schemeClr val="bg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7038791" y="4903615"/>
              <a:ext cx="400867" cy="400867"/>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6897485" y="4678126"/>
              <a:ext cx="256554" cy="256554"/>
            </a:xfrm>
            <a:prstGeom prst="ellipse">
              <a:avLst/>
            </a:prstGeom>
            <a:solidFill>
              <a:srgbClr val="31B5D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a:off x="6768205" y="5089771"/>
              <a:ext cx="278601" cy="278601"/>
            </a:xfrm>
            <a:prstGeom prst="ellipse">
              <a:avLst/>
            </a:prstGeom>
            <a:solidFill>
              <a:srgbClr val="31B5D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6810297" y="4920649"/>
              <a:ext cx="152329" cy="152329"/>
            </a:xfrm>
            <a:prstGeom prst="ellipse">
              <a:avLst/>
            </a:prstGeom>
            <a:solidFill>
              <a:srgbClr val="F784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6501628" y="4996443"/>
              <a:ext cx="180391" cy="180391"/>
            </a:xfrm>
            <a:prstGeom prst="ellipse">
              <a:avLst/>
            </a:prstGeom>
            <a:solidFill>
              <a:srgbClr val="F784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6322741" y="5152153"/>
              <a:ext cx="152329" cy="152329"/>
            </a:xfrm>
            <a:prstGeom prst="ellipse">
              <a:avLst/>
            </a:prstGeom>
            <a:solidFill>
              <a:srgbClr val="F784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6510147" y="5215795"/>
              <a:ext cx="232502" cy="232502"/>
            </a:xfrm>
            <a:prstGeom prst="ellipse">
              <a:avLst/>
            </a:prstGeom>
            <a:solidFill>
              <a:srgbClr val="31B5D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7247242" y="5384670"/>
              <a:ext cx="278601" cy="278601"/>
            </a:xfrm>
            <a:prstGeom prst="ellipse">
              <a:avLst/>
            </a:prstGeom>
            <a:solidFill>
              <a:srgbClr val="31B5D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6644939" y="5449801"/>
              <a:ext cx="216468" cy="216468"/>
            </a:xfrm>
            <a:prstGeom prst="ellipse">
              <a:avLst/>
            </a:prstGeom>
            <a:solidFill>
              <a:srgbClr val="F784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6262613" y="5421247"/>
              <a:ext cx="278601" cy="27860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6593210" y="4786873"/>
              <a:ext cx="204676" cy="204676"/>
            </a:xfrm>
            <a:prstGeom prst="ellipse">
              <a:avLst/>
            </a:prstGeom>
            <a:solidFill>
              <a:srgbClr val="F784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6861407" y="5373134"/>
              <a:ext cx="313673" cy="31367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8687028" y="4335882"/>
              <a:ext cx="1692000" cy="1692000"/>
            </a:xfrm>
            <a:prstGeom prst="ellipse">
              <a:avLst/>
            </a:prstGeom>
            <a:solidFill>
              <a:schemeClr val="bg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等腰三角形 112"/>
            <p:cNvSpPr/>
            <p:nvPr/>
          </p:nvSpPr>
          <p:spPr>
            <a:xfrm>
              <a:off x="9110328" y="4624586"/>
              <a:ext cx="307590" cy="265164"/>
            </a:xfrm>
            <a:prstGeom prst="triangle">
              <a:avLst/>
            </a:prstGeom>
            <a:solidFill>
              <a:srgbClr val="F784A5"/>
            </a:solidFill>
            <a:ln>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9909871" y="5157150"/>
              <a:ext cx="296360" cy="296360"/>
            </a:xfrm>
            <a:prstGeom prst="rect">
              <a:avLst/>
            </a:prstGeom>
            <a:solidFill>
              <a:srgbClr val="31B5D6"/>
            </a:solidFill>
            <a:ln>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9273637" y="4998235"/>
              <a:ext cx="288561" cy="28856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a:off x="9613829" y="5608522"/>
              <a:ext cx="182807" cy="1413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平行四边形 116"/>
            <p:cNvSpPr/>
            <p:nvPr/>
          </p:nvSpPr>
          <p:spPr>
            <a:xfrm>
              <a:off x="8859825" y="4969976"/>
              <a:ext cx="405545" cy="335354"/>
            </a:xfrm>
            <a:prstGeom prst="parallelogram">
              <a:avLst/>
            </a:prstGeom>
            <a:solidFill>
              <a:srgbClr val="31B5D6"/>
            </a:solidFill>
            <a:ln>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9634733" y="4959357"/>
              <a:ext cx="155979" cy="1559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9536309" y="4664307"/>
              <a:ext cx="196849" cy="1968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正五边形 119"/>
            <p:cNvSpPr/>
            <p:nvPr/>
          </p:nvSpPr>
          <p:spPr>
            <a:xfrm>
              <a:off x="9478435" y="5200971"/>
              <a:ext cx="366551" cy="349096"/>
            </a:xfrm>
            <a:prstGeom prst="pentagon">
              <a:avLst/>
            </a:prstGeom>
            <a:solidFill>
              <a:srgbClr val="F784A5"/>
            </a:solidFill>
            <a:ln>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a:off x="9796636" y="4745616"/>
              <a:ext cx="367420" cy="28408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a:off x="9089927" y="5377447"/>
              <a:ext cx="367420" cy="28408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5" name="直接连接符 184"/>
          <p:cNvCxnSpPr/>
          <p:nvPr/>
        </p:nvCxnSpPr>
        <p:spPr>
          <a:xfrm>
            <a:off x="701489" y="346324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a:off x="701489" y="400330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701489" y="454336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701489" y="508342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89" name="矩形 188"/>
          <p:cNvSpPr/>
          <p:nvPr/>
        </p:nvSpPr>
        <p:spPr bwMode="auto">
          <a:xfrm>
            <a:off x="878545" y="365066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90" name="矩形 189"/>
          <p:cNvSpPr/>
          <p:nvPr/>
        </p:nvSpPr>
        <p:spPr bwMode="auto">
          <a:xfrm>
            <a:off x="878545" y="419072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91" name="矩形 190"/>
          <p:cNvSpPr/>
          <p:nvPr/>
        </p:nvSpPr>
        <p:spPr bwMode="auto">
          <a:xfrm>
            <a:off x="878545" y="473078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92" name="文本框 12"/>
          <p:cNvSpPr txBox="1"/>
          <p:nvPr/>
        </p:nvSpPr>
        <p:spPr>
          <a:xfrm>
            <a:off x="1238586" y="3541680"/>
            <a:ext cx="3277397" cy="406971"/>
          </a:xfrm>
          <a:prstGeom prst="rect">
            <a:avLst/>
          </a:prstGeom>
        </p:spPr>
        <p:txBody>
          <a:bodyPr wrap="square">
            <a:spAutoFit/>
          </a:bodyPr>
          <a:lstStyle>
            <a:defPPr>
              <a:defRPr lang="zh-CN"/>
            </a:defPPr>
            <a:lvl1pPr>
              <a:lnSpc>
                <a:spcPct val="125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表现形式多样化，内容丰富</a:t>
            </a:r>
          </a:p>
        </p:txBody>
      </p:sp>
      <p:sp>
        <p:nvSpPr>
          <p:cNvPr id="193" name="文本框 13"/>
          <p:cNvSpPr txBox="1"/>
          <p:nvPr/>
        </p:nvSpPr>
        <p:spPr>
          <a:xfrm>
            <a:off x="1238586" y="4081740"/>
            <a:ext cx="3277397" cy="406971"/>
          </a:xfrm>
          <a:prstGeom prst="rect">
            <a:avLst/>
          </a:prstGeom>
        </p:spPr>
        <p:txBody>
          <a:bodyPr wrap="square">
            <a:spAutoFit/>
          </a:bodyPr>
          <a:lstStyle>
            <a:defPPr>
              <a:defRPr lang="zh-CN"/>
            </a:defPPr>
            <a:lvl1pPr>
              <a:lnSpc>
                <a:spcPct val="125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数量巨大，增长迅速</a:t>
            </a:r>
          </a:p>
        </p:txBody>
      </p:sp>
      <p:sp>
        <p:nvSpPr>
          <p:cNvPr id="194" name="文本框 14"/>
          <p:cNvSpPr txBox="1"/>
          <p:nvPr/>
        </p:nvSpPr>
        <p:spPr>
          <a:xfrm>
            <a:off x="1235460" y="4621800"/>
            <a:ext cx="3626036" cy="406971"/>
          </a:xfrm>
          <a:prstGeom prst="rect">
            <a:avLst/>
          </a:prstGeom>
        </p:spPr>
        <p:txBody>
          <a:bodyPr wrap="square">
            <a:spAutoFit/>
          </a:bodyPr>
          <a:lstStyle>
            <a:defPPr>
              <a:defRPr lang="zh-CN"/>
            </a:defPPr>
            <a:lvl1pPr>
              <a:lnSpc>
                <a:spcPct val="125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传播速度快、范围广，具有交互性</a:t>
            </a:r>
          </a:p>
        </p:txBody>
      </p:sp>
      <p:sp>
        <p:nvSpPr>
          <p:cNvPr id="183" name="文本框 182"/>
          <p:cNvSpPr txBox="1"/>
          <p:nvPr/>
        </p:nvSpPr>
        <p:spPr>
          <a:xfrm>
            <a:off x="633792" y="1476073"/>
            <a:ext cx="3877985" cy="584775"/>
          </a:xfrm>
          <a:prstGeom prst="rect">
            <a:avLst/>
          </a:prstGeom>
          <a:noFill/>
        </p:spPr>
        <p:txBody>
          <a:bodyPr wrap="non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r>
              <a:rPr lang="zh-CN" altLang="en-US" dirty="0"/>
              <a:t>网络信息内容的特征</a:t>
            </a:r>
          </a:p>
        </p:txBody>
      </p:sp>
      <p:sp>
        <p:nvSpPr>
          <p:cNvPr id="199" name="矩形 198"/>
          <p:cNvSpPr/>
          <p:nvPr/>
        </p:nvSpPr>
        <p:spPr bwMode="auto">
          <a:xfrm>
            <a:off x="871289" y="312089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200" name="文本框 12"/>
          <p:cNvSpPr txBox="1"/>
          <p:nvPr/>
        </p:nvSpPr>
        <p:spPr>
          <a:xfrm>
            <a:off x="1222094" y="3016526"/>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存储数字化，传输网络化</a:t>
            </a:r>
          </a:p>
        </p:txBody>
      </p:sp>
      <p:sp>
        <p:nvSpPr>
          <p:cNvPr id="196"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网络信息内容安全背景</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cxnSp>
        <p:nvCxnSpPr>
          <p:cNvPr id="123" name="直接连接符 122"/>
          <p:cNvCxnSpPr/>
          <p:nvPr/>
        </p:nvCxnSpPr>
        <p:spPr>
          <a:xfrm>
            <a:off x="704615" y="507761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4615" y="561767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bwMode="auto">
          <a:xfrm>
            <a:off x="881671" y="526502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26" name="文本框 14"/>
          <p:cNvSpPr txBox="1"/>
          <p:nvPr/>
        </p:nvSpPr>
        <p:spPr>
          <a:xfrm>
            <a:off x="1238586" y="5156046"/>
            <a:ext cx="3626036" cy="406971"/>
          </a:xfrm>
          <a:prstGeom prst="rect">
            <a:avLst/>
          </a:prstGeom>
        </p:spPr>
        <p:txBody>
          <a:bodyPr wrap="square">
            <a:spAutoFit/>
          </a:bodyPr>
          <a:lstStyle>
            <a:defPPr>
              <a:defRPr lang="zh-CN"/>
            </a:defPPr>
            <a:lvl1pPr>
              <a:lnSpc>
                <a:spcPct val="125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结构复杂，分布广泛</a:t>
            </a:r>
          </a:p>
        </p:txBody>
      </p:sp>
      <p:cxnSp>
        <p:nvCxnSpPr>
          <p:cNvPr id="127" name="直接连接符 126"/>
          <p:cNvCxnSpPr/>
          <p:nvPr/>
        </p:nvCxnSpPr>
        <p:spPr>
          <a:xfrm>
            <a:off x="694233" y="560850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694233" y="614856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29" name="矩形 128"/>
          <p:cNvSpPr/>
          <p:nvPr/>
        </p:nvSpPr>
        <p:spPr bwMode="auto">
          <a:xfrm>
            <a:off x="871289" y="579592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30" name="文本框 14"/>
          <p:cNvSpPr txBox="1"/>
          <p:nvPr/>
        </p:nvSpPr>
        <p:spPr>
          <a:xfrm>
            <a:off x="1228204" y="5686941"/>
            <a:ext cx="3626036" cy="406971"/>
          </a:xfrm>
          <a:prstGeom prst="rect">
            <a:avLst/>
          </a:prstGeom>
        </p:spPr>
        <p:txBody>
          <a:bodyPr wrap="square">
            <a:spAutoFit/>
          </a:bodyPr>
          <a:lstStyle>
            <a:defPPr>
              <a:defRPr lang="zh-CN"/>
            </a:defPPr>
            <a:lvl1pPr>
              <a:lnSpc>
                <a:spcPct val="125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信息源复杂、无序，缺乏稳定性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903972" y="1649240"/>
            <a:ext cx="7160935"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网络信息内容安全目前大致可分为两类</a:t>
            </a:r>
          </a:p>
        </p:txBody>
      </p:sp>
      <p:cxnSp>
        <p:nvCxnSpPr>
          <p:cNvPr id="74" name="直接连接符 73"/>
          <p:cNvCxnSpPr>
            <a:cxnSpLocks/>
          </p:cNvCxnSpPr>
          <p:nvPr/>
        </p:nvCxnSpPr>
        <p:spPr>
          <a:xfrm>
            <a:off x="701487" y="2782113"/>
            <a:ext cx="522825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cxnSpLocks/>
          </p:cNvCxnSpPr>
          <p:nvPr/>
        </p:nvCxnSpPr>
        <p:spPr>
          <a:xfrm>
            <a:off x="701487" y="3677763"/>
            <a:ext cx="522825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952439" y="307574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933967" y="4220782"/>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377132" y="2851311"/>
            <a:ext cx="4344794"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基于内容的访问控制，包括网络协议恢复，基于数据包的流量监测等技术</a:t>
            </a:r>
          </a:p>
        </p:txBody>
      </p:sp>
      <p:sp>
        <p:nvSpPr>
          <p:cNvPr id="83" name="文本框 14"/>
          <p:cNvSpPr txBox="1"/>
          <p:nvPr/>
        </p:nvSpPr>
        <p:spPr>
          <a:xfrm>
            <a:off x="1384897" y="3743869"/>
            <a:ext cx="4337029"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基于信息传播的互联网安全管理问题，反映的是网络用户公开发布的信息所带来的对社会公共安全问题</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网络信息内容安全概念</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p:nvPr>
            <p:extLst>
              <p:ext uri="{D42A27DB-BD31-4B8C-83A1-F6EECF244321}">
                <p14:modId xmlns:p14="http://schemas.microsoft.com/office/powerpoint/2010/main" val="1740347141"/>
              </p:ext>
            </p:extLst>
          </p:nvPr>
        </p:nvGraphicFramePr>
        <p:xfrm>
          <a:off x="7887854" y="2059294"/>
          <a:ext cx="2516909" cy="3475596"/>
        </p:xfrm>
        <a:graphic>
          <a:graphicData uri="http://schemas.openxmlformats.org/presentationml/2006/ole">
            <mc:AlternateContent xmlns:mc="http://schemas.openxmlformats.org/markup-compatibility/2006">
              <mc:Choice xmlns:v="urn:schemas-microsoft-com:vml" Requires="v">
                <p:oleObj name="Visio" r:id="rId17" imgW="2705100" imgH="3695700" progId="Visio.Drawing.11">
                  <p:embed/>
                </p:oleObj>
              </mc:Choice>
              <mc:Fallback>
                <p:oleObj name="Visio" r:id="rId17" imgW="2705100" imgH="3695700" progId="Visio.Drawing.11">
                  <p:embed/>
                  <p:pic>
                    <p:nvPicPr>
                      <p:cNvPr id="0" name="Object 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87854" y="2059294"/>
                        <a:ext cx="2516909" cy="3475596"/>
                      </a:xfrm>
                      <a:prstGeom prst="rect">
                        <a:avLst/>
                      </a:prstGeom>
                      <a:noFill/>
                    </p:spPr>
                  </p:pic>
                </p:oleObj>
              </mc:Fallback>
            </mc:AlternateContent>
          </a:graphicData>
        </a:graphic>
      </p:graphicFrame>
      <p:sp>
        <p:nvSpPr>
          <p:cNvPr id="4" name="矩形 3"/>
          <p:cNvSpPr/>
          <p:nvPr/>
        </p:nvSpPr>
        <p:spPr>
          <a:xfrm>
            <a:off x="7998397" y="5555734"/>
            <a:ext cx="2295821" cy="369332"/>
          </a:xfrm>
          <a:prstGeom prst="rect">
            <a:avLst/>
          </a:prstGeom>
        </p:spPr>
        <p:txBody>
          <a:bodyPr wrap="none">
            <a:spAutoFit/>
          </a:bodyPr>
          <a:lstStyle/>
          <a:p>
            <a:r>
              <a:rPr lang="en-US" altLang="zh-CN" dirty="0"/>
              <a:t>     </a:t>
            </a:r>
            <a:r>
              <a:rPr lang="zh-CN" altLang="zh-CN" dirty="0"/>
              <a:t>信息安全层次结构</a:t>
            </a:r>
          </a:p>
        </p:txBody>
      </p:sp>
      <p:cxnSp>
        <p:nvCxnSpPr>
          <p:cNvPr id="162" name="直接连接符 161"/>
          <p:cNvCxnSpPr>
            <a:cxnSpLocks/>
          </p:cNvCxnSpPr>
          <p:nvPr/>
        </p:nvCxnSpPr>
        <p:spPr>
          <a:xfrm>
            <a:off x="683466" y="4894651"/>
            <a:ext cx="524627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060439" y="5315655"/>
            <a:ext cx="6029487" cy="100784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indent="612000">
              <a:lnSpc>
                <a:spcPct val="130000"/>
              </a:lnSpc>
            </a:pPr>
            <a:r>
              <a:rPr lang="zh-CN" altLang="zh-CN" sz="2400" dirty="0"/>
              <a:t>网络信息内容安全处在安全体系中最上层，更倾向于信息自身的安全</a:t>
            </a:r>
            <a:r>
              <a:rPr lang="zh-CN" altLang="en-US" sz="24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1125644" y="1649240"/>
            <a:ext cx="4698722"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网络信息内容安全的定义</a:t>
            </a:r>
          </a:p>
        </p:txBody>
      </p:sp>
      <p:cxnSp>
        <p:nvCxnSpPr>
          <p:cNvPr id="74" name="直接连接符 73"/>
          <p:cNvCxnSpPr>
            <a:cxnSpLocks/>
          </p:cNvCxnSpPr>
          <p:nvPr/>
        </p:nvCxnSpPr>
        <p:spPr>
          <a:xfrm>
            <a:off x="701487" y="2782113"/>
            <a:ext cx="532524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930794" y="377723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377131" y="3100687"/>
            <a:ext cx="4143905" cy="1857753"/>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30000"/>
              </a:lnSpc>
            </a:pPr>
            <a:r>
              <a:rPr lang="zh-CN" altLang="en-US" sz="1800" dirty="0"/>
              <a:t>基于信息传播的互联网安全管理问题，反映的是网络用户公开发布的信息所带来的社会公共安全问题，这里面所涉及的技术主要包括：主题信息监控，舆情监控，社交网络社团挖掘等。</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网络信息内容安全概念</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a:cxnSpLocks/>
          </p:cNvCxnSpPr>
          <p:nvPr/>
        </p:nvCxnSpPr>
        <p:spPr>
          <a:xfrm>
            <a:off x="683466" y="5483470"/>
            <a:ext cx="53432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9CC5F0C2-5BE7-4378-A777-6FC36EC95B4D}"/>
              </a:ext>
            </a:extLst>
          </p:cNvPr>
          <p:cNvPicPr>
            <a:picLocks noChangeAspect="1"/>
          </p:cNvPicPr>
          <p:nvPr/>
        </p:nvPicPr>
        <p:blipFill rotWithShape="1">
          <a:blip r:embed="rId17"/>
          <a:srcRect l="29365" t="15869" r="25381" b="6780"/>
          <a:stretch/>
        </p:blipFill>
        <p:spPr>
          <a:xfrm>
            <a:off x="7893375" y="1616437"/>
            <a:ext cx="3720983" cy="4240226"/>
          </a:xfrm>
          <a:prstGeom prst="rect">
            <a:avLst/>
          </a:prstGeom>
        </p:spPr>
      </p:pic>
      <p:pic>
        <p:nvPicPr>
          <p:cNvPr id="13" name="图片 12">
            <a:extLst>
              <a:ext uri="{FF2B5EF4-FFF2-40B4-BE49-F238E27FC236}">
                <a16:creationId xmlns:a16="http://schemas.microsoft.com/office/drawing/2014/main" id="{654E0F40-8699-402A-9D5A-B800EF787DF1}"/>
              </a:ext>
            </a:extLst>
          </p:cNvPr>
          <p:cNvPicPr>
            <a:picLocks noChangeAspect="1"/>
          </p:cNvPicPr>
          <p:nvPr/>
        </p:nvPicPr>
        <p:blipFill rotWithShape="1">
          <a:blip r:embed="rId18"/>
          <a:srcRect l="51566" t="46189" r="14714" b="15688"/>
          <a:stretch/>
        </p:blipFill>
        <p:spPr>
          <a:xfrm>
            <a:off x="6061630" y="2074605"/>
            <a:ext cx="3468827" cy="2614444"/>
          </a:xfrm>
          <a:prstGeom prst="rect">
            <a:avLst/>
          </a:prstGeom>
        </p:spPr>
      </p:pic>
      <p:pic>
        <p:nvPicPr>
          <p:cNvPr id="18436" name="Picture 4">
            <a:extLst>
              <a:ext uri="{FF2B5EF4-FFF2-40B4-BE49-F238E27FC236}">
                <a16:creationId xmlns:a16="http://schemas.microsoft.com/office/drawing/2014/main" id="{75B1B54C-FE50-4116-96F8-551C7F1D497A}"/>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b="8796"/>
          <a:stretch/>
        </p:blipFill>
        <p:spPr bwMode="auto">
          <a:xfrm>
            <a:off x="8940955" y="3024803"/>
            <a:ext cx="2389053" cy="3867273"/>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22E0996A-BCA6-4053-A34B-4AE30AAA98F0}"/>
              </a:ext>
            </a:extLst>
          </p:cNvPr>
          <p:cNvSpPr txBox="1"/>
          <p:nvPr/>
        </p:nvSpPr>
        <p:spPr>
          <a:xfrm>
            <a:off x="3592769" y="5514571"/>
            <a:ext cx="5181600" cy="73366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20000"/>
              </a:lnSpc>
            </a:pPr>
            <a:r>
              <a:rPr lang="zh-CN" altLang="en-US" b="0" i="0" dirty="0">
                <a:solidFill>
                  <a:srgbClr val="666666"/>
                </a:solidFill>
                <a:effectLst/>
                <a:latin typeface="Microsoft YaHei" panose="020B0503020204020204" pitchFamily="34" charset="-122"/>
                <a:ea typeface="Microsoft YaHei" panose="020B0503020204020204" pitchFamily="34" charset="-122"/>
              </a:rPr>
              <a:t>挖掘社交网络中的社团结构对于揭示网络潜在规律和把握网络宏观特征具有重要意义。</a:t>
            </a:r>
            <a:endParaRPr lang="zh-CN" altLang="en-US" dirty="0"/>
          </a:p>
        </p:txBody>
      </p:sp>
    </p:spTree>
    <p:extLst>
      <p:ext uri="{BB962C8B-B14F-4D97-AF65-F5344CB8AC3E}">
        <p14:creationId xmlns:p14="http://schemas.microsoft.com/office/powerpoint/2010/main" val="1661962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335"/>
          <p:cNvSpPr txBox="1"/>
          <p:nvPr/>
        </p:nvSpPr>
        <p:spPr>
          <a:xfrm>
            <a:off x="2493605" y="331131"/>
            <a:ext cx="7142115" cy="646331"/>
          </a:xfrm>
          <a:prstGeom prst="rect">
            <a:avLst/>
          </a:prstGeom>
          <a:noFill/>
        </p:spPr>
        <p:txBody>
          <a:bodyPr wrap="square" rtlCol="0">
            <a:spAutoFit/>
          </a:bodyPr>
          <a:lstStyle/>
          <a:p>
            <a:pPr algn="ctr"/>
            <a:r>
              <a:rPr lang="zh-CN" altLang="en-US" sz="3600" dirty="0">
                <a:solidFill>
                  <a:srgbClr val="31B5D6"/>
                </a:solidFill>
                <a:latin typeface="华康俪金黑W8(P)" panose="020B0800000000000000" pitchFamily="34" charset="-122"/>
                <a:ea typeface="华康俪金黑W8(P)" panose="020B0800000000000000" pitchFamily="34" charset="-122"/>
              </a:rPr>
              <a:t>网络信息内容安全特点</a:t>
            </a:r>
          </a:p>
        </p:txBody>
      </p:sp>
      <p:graphicFrame>
        <p:nvGraphicFramePr>
          <p:cNvPr id="6" name="内容占位符 4"/>
          <p:cNvGraphicFramePr>
            <a:graphicFrameLocks noGrp="1"/>
          </p:cNvGraphicFramePr>
          <p:nvPr>
            <p:ph sz="half" idx="4294967295"/>
            <p:extLst>
              <p:ext uri="{D42A27DB-BD31-4B8C-83A1-F6EECF244321}">
                <p14:modId xmlns:p14="http://schemas.microsoft.com/office/powerpoint/2010/main" val="3650388509"/>
              </p:ext>
            </p:extLst>
          </p:nvPr>
        </p:nvGraphicFramePr>
        <p:xfrm>
          <a:off x="669703" y="1464122"/>
          <a:ext cx="11090021" cy="42222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2707" name="Slide Number Placeholder 2"/>
          <p:cNvSpPr txBox="1">
            <a:spLocks noGrp="1"/>
          </p:cNvSpPr>
          <p:nvPr/>
        </p:nvSpPr>
        <p:spPr bwMode="auto">
          <a:xfrm>
            <a:off x="11154834" y="6524626"/>
            <a:ext cx="6053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457200">
              <a:defRPr>
                <a:solidFill>
                  <a:schemeClr val="tx1"/>
                </a:solidFill>
                <a:latin typeface="Arial" panose="020B0604020202020204" pitchFamily="34" charset="0"/>
                <a:ea typeface="宋体" panose="02010600030101010101" pitchFamily="2" charset="-122"/>
              </a:defRPr>
            </a:lvl1pPr>
            <a:lvl2pPr marL="742950" indent="-285750" algn="l" defTabSz="457200">
              <a:defRPr>
                <a:solidFill>
                  <a:schemeClr val="tx1"/>
                </a:solidFill>
                <a:latin typeface="Arial" panose="020B0604020202020204" pitchFamily="34" charset="0"/>
                <a:ea typeface="宋体" panose="02010600030101010101" pitchFamily="2" charset="-122"/>
              </a:defRPr>
            </a:lvl2pPr>
            <a:lvl3pPr marL="1143000" indent="-228600" algn="l" defTabSz="457200">
              <a:defRPr>
                <a:solidFill>
                  <a:schemeClr val="tx1"/>
                </a:solidFill>
                <a:latin typeface="Arial" panose="020B0604020202020204" pitchFamily="34" charset="0"/>
                <a:ea typeface="宋体" panose="02010600030101010101" pitchFamily="2" charset="-122"/>
              </a:defRPr>
            </a:lvl3pPr>
            <a:lvl4pPr marL="1600200" indent="-228600" algn="l" defTabSz="457200">
              <a:defRPr>
                <a:solidFill>
                  <a:schemeClr val="tx1"/>
                </a:solidFill>
                <a:latin typeface="Arial" panose="020B0604020202020204" pitchFamily="34" charset="0"/>
                <a:ea typeface="宋体" panose="02010600030101010101" pitchFamily="2" charset="-122"/>
              </a:defRPr>
            </a:lvl4pPr>
            <a:lvl5pPr marL="2057400" indent="-228600" algn="l" defTabSz="457200">
              <a:defRPr>
                <a:solidFill>
                  <a:schemeClr val="tx1"/>
                </a:solidFill>
                <a:latin typeface="Arial" panose="020B0604020202020204" pitchFamily="34" charset="0"/>
                <a:ea typeface="宋体" panose="02010600030101010101" pitchFamily="2" charset="-122"/>
              </a:defRPr>
            </a:lvl5pPr>
            <a:lvl6pPr marL="25146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A5E98FF5-FEAB-4E7F-8C43-192431B25E61}" type="slidenum">
              <a:rPr lang="en-US" altLang="zh-CN" sz="1200">
                <a:solidFill>
                  <a:schemeClr val="bg1"/>
                </a:solidFill>
                <a:latin typeface="Calibri" panose="020F0502020204030204" pitchFamily="34" charset="0"/>
              </a:rPr>
              <a:t>7</a:t>
            </a:fld>
            <a:endParaRPr lang="en-US" altLang="zh-CN" sz="1200">
              <a:solidFill>
                <a:schemeClr val="bg1"/>
              </a:solidFill>
              <a:latin typeface="Calibri" panose="020F0502020204030204" pitchFamily="34" charset="0"/>
            </a:endParaRPr>
          </a:p>
        </p:txBody>
      </p:sp>
      <p:sp>
        <p:nvSpPr>
          <p:cNvPr id="72711" name="文本框 11"/>
          <p:cNvSpPr txBox="1">
            <a:spLocks noChangeArrowheads="1"/>
          </p:cNvSpPr>
          <p:nvPr/>
        </p:nvSpPr>
        <p:spPr bwMode="auto">
          <a:xfrm>
            <a:off x="719667" y="5911561"/>
            <a:ext cx="11288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defTabSz="457200">
              <a:defRPr>
                <a:solidFill>
                  <a:schemeClr val="tx1"/>
                </a:solidFill>
                <a:latin typeface="Arial" panose="020B0604020202020204" pitchFamily="34" charset="0"/>
                <a:ea typeface="宋体" panose="02010600030101010101" pitchFamily="2" charset="-122"/>
              </a:defRPr>
            </a:lvl1pPr>
            <a:lvl2pPr marL="742950" indent="-285750" algn="l" defTabSz="457200">
              <a:defRPr>
                <a:solidFill>
                  <a:schemeClr val="tx1"/>
                </a:solidFill>
                <a:latin typeface="Arial" panose="020B0604020202020204" pitchFamily="34" charset="0"/>
                <a:ea typeface="宋体" panose="02010600030101010101" pitchFamily="2" charset="-122"/>
              </a:defRPr>
            </a:lvl2pPr>
            <a:lvl3pPr marL="1143000" indent="-228600" algn="l" defTabSz="457200">
              <a:defRPr>
                <a:solidFill>
                  <a:schemeClr val="tx1"/>
                </a:solidFill>
                <a:latin typeface="Arial" panose="020B0604020202020204" pitchFamily="34" charset="0"/>
                <a:ea typeface="宋体" panose="02010600030101010101" pitchFamily="2" charset="-122"/>
              </a:defRPr>
            </a:lvl3pPr>
            <a:lvl4pPr marL="1600200" indent="-228600" algn="l" defTabSz="457200">
              <a:defRPr>
                <a:solidFill>
                  <a:schemeClr val="tx1"/>
                </a:solidFill>
                <a:latin typeface="Arial" panose="020B0604020202020204" pitchFamily="34" charset="0"/>
                <a:ea typeface="宋体" panose="02010600030101010101" pitchFamily="2" charset="-122"/>
              </a:defRPr>
            </a:lvl4pPr>
            <a:lvl5pPr marL="2057400" indent="-228600" algn="l" defTabSz="457200">
              <a:defRPr>
                <a:solidFill>
                  <a:schemeClr val="tx1"/>
                </a:solidFill>
                <a:latin typeface="Arial" panose="020B0604020202020204" pitchFamily="34" charset="0"/>
                <a:ea typeface="宋体" panose="02010600030101010101" pitchFamily="2" charset="-122"/>
              </a:defRPr>
            </a:lvl5pPr>
            <a:lvl6pPr marL="25146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这些特点决定了其研究手段和方法和传统信息安全存在显著区别。</a:t>
            </a:r>
          </a:p>
        </p:txBody>
      </p:sp>
      <p:grpSp>
        <p:nvGrpSpPr>
          <p:cNvPr id="9" name="组合 8"/>
          <p:cNvGrpSpPr/>
          <p:nvPr/>
        </p:nvGrpSpPr>
        <p:grpSpPr>
          <a:xfrm>
            <a:off x="609116" y="261257"/>
            <a:ext cx="1214822" cy="760080"/>
            <a:chOff x="1922078" y="0"/>
            <a:chExt cx="8347844" cy="3447438"/>
          </a:xfrm>
        </p:grpSpPr>
        <p:grpSp>
          <p:nvGrpSpPr>
            <p:cNvPr id="10" name="组合 9"/>
            <p:cNvGrpSpPr/>
            <p:nvPr/>
          </p:nvGrpSpPr>
          <p:grpSpPr>
            <a:xfrm rot="20997101">
              <a:off x="5080902" y="0"/>
              <a:ext cx="659781" cy="793569"/>
              <a:chOff x="9397113" y="1572484"/>
              <a:chExt cx="739439" cy="900000"/>
            </a:xfrm>
          </p:grpSpPr>
          <p:pic>
            <p:nvPicPr>
              <p:cNvPr id="68" name="图片 67"/>
              <p:cNvPicPr>
                <a:picLocks noChangeAspect="1"/>
              </p:cNvPicPr>
              <p:nvPr/>
            </p:nvPicPr>
            <p:blipFill rotWithShape="1">
              <a:blip r:embed="rId7"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69" name="椭圆 68"/>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rot="2455872">
              <a:off x="9009447" y="1071465"/>
              <a:ext cx="659781" cy="793569"/>
              <a:chOff x="8752405" y="680495"/>
              <a:chExt cx="739439" cy="900000"/>
            </a:xfrm>
          </p:grpSpPr>
          <p:pic>
            <p:nvPicPr>
              <p:cNvPr id="66" name="图片 65"/>
              <p:cNvPicPr>
                <a:picLocks noChangeAspect="1"/>
              </p:cNvPicPr>
              <p:nvPr/>
            </p:nvPicPr>
            <p:blipFill rotWithShape="1">
              <a:blip r:embed="rId8"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67" name="椭圆 66"/>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rot="20539373">
              <a:off x="4239050" y="1051458"/>
              <a:ext cx="642436" cy="793569"/>
              <a:chOff x="7798300" y="2128176"/>
              <a:chExt cx="720000" cy="900000"/>
            </a:xfrm>
          </p:grpSpPr>
          <p:pic>
            <p:nvPicPr>
              <p:cNvPr id="64" name="图片 63"/>
              <p:cNvPicPr>
                <a:picLocks noChangeAspect="1"/>
              </p:cNvPicPr>
              <p:nvPr/>
            </p:nvPicPr>
            <p:blipFill rotWithShape="1">
              <a:blip r:embed="rId9"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65" name="椭圆 64"/>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rot="622440">
              <a:off x="6257266" y="1278812"/>
              <a:ext cx="643355" cy="793569"/>
              <a:chOff x="5457544" y="2382484"/>
              <a:chExt cx="721030" cy="900000"/>
            </a:xfrm>
          </p:grpSpPr>
          <p:pic>
            <p:nvPicPr>
              <p:cNvPr id="62" name="图片 6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63" name="椭圆 62"/>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713899">
              <a:off x="6982111" y="246490"/>
              <a:ext cx="642436" cy="811512"/>
              <a:chOff x="2594245" y="3143107"/>
              <a:chExt cx="720000" cy="920349"/>
            </a:xfrm>
          </p:grpSpPr>
          <p:pic>
            <p:nvPicPr>
              <p:cNvPr id="60" name="图片 59"/>
              <p:cNvPicPr>
                <a:picLocks noChangeAspect="1"/>
              </p:cNvPicPr>
              <p:nvPr/>
            </p:nvPicPr>
            <p:blipFill rotWithShape="1">
              <a:blip r:embed="rId11"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61" name="椭圆 60"/>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rot="20351331">
              <a:off x="2986611" y="357756"/>
              <a:ext cx="642436" cy="793569"/>
              <a:chOff x="3277182" y="773323"/>
              <a:chExt cx="720000" cy="900000"/>
            </a:xfrm>
          </p:grpSpPr>
          <p:sp>
            <p:nvSpPr>
              <p:cNvPr id="58" name="椭圆 57"/>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16" name="组合 15"/>
            <p:cNvGrpSpPr/>
            <p:nvPr/>
          </p:nvGrpSpPr>
          <p:grpSpPr>
            <a:xfrm rot="1912890">
              <a:off x="7930945" y="1382649"/>
              <a:ext cx="648427" cy="793569"/>
              <a:chOff x="5384758" y="1250900"/>
              <a:chExt cx="726714" cy="900000"/>
            </a:xfrm>
          </p:grpSpPr>
          <p:sp>
            <p:nvSpPr>
              <p:cNvPr id="56" name="椭圆 5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17" name="组合 16"/>
            <p:cNvGrpSpPr/>
            <p:nvPr/>
          </p:nvGrpSpPr>
          <p:grpSpPr>
            <a:xfrm rot="1354213">
              <a:off x="7092076" y="1228721"/>
              <a:ext cx="642436" cy="793569"/>
              <a:chOff x="3639753" y="2488176"/>
              <a:chExt cx="720000" cy="900000"/>
            </a:xfrm>
          </p:grpSpPr>
          <p:sp>
            <p:nvSpPr>
              <p:cNvPr id="54" name="椭圆 53"/>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18" name="组合 17"/>
            <p:cNvGrpSpPr/>
            <p:nvPr/>
          </p:nvGrpSpPr>
          <p:grpSpPr>
            <a:xfrm rot="19874646">
              <a:off x="3552291" y="1752953"/>
              <a:ext cx="647730" cy="793569"/>
              <a:chOff x="4707387" y="271511"/>
              <a:chExt cx="725933" cy="900000"/>
            </a:xfrm>
          </p:grpSpPr>
          <p:sp>
            <p:nvSpPr>
              <p:cNvPr id="52" name="椭圆 51"/>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19" name="组合 18"/>
            <p:cNvGrpSpPr/>
            <p:nvPr/>
          </p:nvGrpSpPr>
          <p:grpSpPr>
            <a:xfrm>
              <a:off x="5902457" y="519563"/>
              <a:ext cx="647456" cy="793569"/>
              <a:chOff x="4355614" y="1671769"/>
              <a:chExt cx="725626" cy="900000"/>
            </a:xfrm>
          </p:grpSpPr>
          <p:sp>
            <p:nvSpPr>
              <p:cNvPr id="50" name="椭圆 49"/>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0" name="组合 19"/>
            <p:cNvGrpSpPr/>
            <p:nvPr/>
          </p:nvGrpSpPr>
          <p:grpSpPr>
            <a:xfrm rot="3261331">
              <a:off x="8178834" y="2216888"/>
              <a:ext cx="645495" cy="803045"/>
              <a:chOff x="6534782" y="2204846"/>
              <a:chExt cx="732066" cy="900000"/>
            </a:xfrm>
          </p:grpSpPr>
          <p:sp>
            <p:nvSpPr>
              <p:cNvPr id="48" name="椭圆 47"/>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1" name="组合 20"/>
            <p:cNvGrpSpPr/>
            <p:nvPr/>
          </p:nvGrpSpPr>
          <p:grpSpPr>
            <a:xfrm rot="1881527">
              <a:off x="8180043" y="493339"/>
              <a:ext cx="646830" cy="793569"/>
              <a:chOff x="5993772" y="258109"/>
              <a:chExt cx="724925" cy="900000"/>
            </a:xfrm>
          </p:grpSpPr>
          <p:sp>
            <p:nvSpPr>
              <p:cNvPr id="46" name="椭圆 45"/>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2" name="组合 21"/>
            <p:cNvGrpSpPr/>
            <p:nvPr/>
          </p:nvGrpSpPr>
          <p:grpSpPr>
            <a:xfrm rot="3066563">
              <a:off x="9550518" y="2274810"/>
              <a:ext cx="635764" cy="803045"/>
              <a:chOff x="8806213" y="2910111"/>
              <a:chExt cx="721030" cy="900000"/>
            </a:xfrm>
          </p:grpSpPr>
          <p:sp>
            <p:nvSpPr>
              <p:cNvPr id="44" name="椭圆 43"/>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3" name="组合 22"/>
            <p:cNvGrpSpPr/>
            <p:nvPr/>
          </p:nvGrpSpPr>
          <p:grpSpPr>
            <a:xfrm rot="20849518">
              <a:off x="5023848" y="1251597"/>
              <a:ext cx="644890" cy="793569"/>
              <a:chOff x="7330781" y="818297"/>
              <a:chExt cx="722751" cy="900000"/>
            </a:xfrm>
          </p:grpSpPr>
          <p:sp>
            <p:nvSpPr>
              <p:cNvPr id="42" name="椭圆 41"/>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4" name="组合 23"/>
            <p:cNvGrpSpPr/>
            <p:nvPr/>
          </p:nvGrpSpPr>
          <p:grpSpPr>
            <a:xfrm rot="19756194">
              <a:off x="1922078" y="1474933"/>
              <a:ext cx="653202" cy="793569"/>
              <a:chOff x="2213446" y="1768419"/>
              <a:chExt cx="732066" cy="900000"/>
            </a:xfrm>
          </p:grpSpPr>
          <p:pic>
            <p:nvPicPr>
              <p:cNvPr id="40" name="图片 3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41" name="椭圆 40"/>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5" name="直接连接符 24"/>
            <p:cNvCxnSpPr>
              <a:stCxn id="52"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41"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58"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65"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69"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50"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42"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63"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61"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54"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6"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56"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67"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44"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48"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655309" y="1032131"/>
            <a:ext cx="10477147" cy="66943"/>
            <a:chOff x="655309" y="1032131"/>
            <a:chExt cx="10477147" cy="66943"/>
          </a:xfrm>
        </p:grpSpPr>
        <p:sp>
          <p:nvSpPr>
            <p:cNvPr id="71" name="矩形 70"/>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p:nvGrpSpPr>
        <p:grpSpPr>
          <a:xfrm>
            <a:off x="1461847" y="1459143"/>
            <a:ext cx="2412532" cy="1016401"/>
            <a:chOff x="772750" y="3203778"/>
            <a:chExt cx="2412532" cy="1016401"/>
          </a:xfrm>
        </p:grpSpPr>
        <p:sp>
          <p:nvSpPr>
            <p:cNvPr id="80" name="圆角矩形 79"/>
            <p:cNvSpPr/>
            <p:nvPr/>
          </p:nvSpPr>
          <p:spPr>
            <a:xfrm>
              <a:off x="772750" y="3203778"/>
              <a:ext cx="2412532" cy="1016401"/>
            </a:xfrm>
            <a:prstGeom prst="roundRect">
              <a:avLst/>
            </a:prstGeom>
          </p:spPr>
          <p:style>
            <a:lnRef idx="0">
              <a:schemeClr val="lt1">
                <a:hueOff val="0"/>
                <a:satOff val="0"/>
                <a:lumOff val="0"/>
                <a:alphaOff val="0"/>
              </a:schemeClr>
            </a:lnRef>
            <a:fillRef idx="3">
              <a:schemeClr val="accent1">
                <a:alpha val="90000"/>
                <a:hueOff val="0"/>
                <a:satOff val="0"/>
                <a:lumOff val="0"/>
                <a:alphaOff val="-39996"/>
              </a:schemeClr>
            </a:fillRef>
            <a:effectRef idx="2">
              <a:schemeClr val="accent1">
                <a:alpha val="90000"/>
                <a:hueOff val="0"/>
                <a:satOff val="0"/>
                <a:lumOff val="0"/>
                <a:alphaOff val="-39996"/>
              </a:schemeClr>
            </a:effectRef>
            <a:fontRef idx="minor">
              <a:schemeClr val="lt1"/>
            </a:fontRef>
          </p:style>
        </p:sp>
        <p:sp>
          <p:nvSpPr>
            <p:cNvPr id="81" name="圆角矩形 4"/>
            <p:cNvSpPr/>
            <p:nvPr/>
          </p:nvSpPr>
          <p:spPr>
            <a:xfrm>
              <a:off x="822367" y="3253395"/>
              <a:ext cx="2313298" cy="9171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zh-CN" altLang="en-US" sz="2800" dirty="0">
                  <a:latin typeface="微软雅黑" panose="020B0503020204020204" pitchFamily="34" charset="-122"/>
                  <a:ea typeface="华康俪金黑W8(P)"/>
                </a:rPr>
                <a:t>交  叉</a:t>
              </a:r>
              <a:endParaRPr lang="zh-CN" altLang="en-US" sz="2800" kern="1200" dirty="0">
                <a:latin typeface="微软雅黑" panose="020B0503020204020204" pitchFamily="34" charset="-122"/>
                <a:ea typeface="华康俪金黑W8(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974831"/>
            <a:ext cx="3877985" cy="1077218"/>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研究信息内容安全的</a:t>
            </a:r>
            <a:endParaRPr lang="en-US" altLang="zh-CN" dirty="0"/>
          </a:p>
          <a:p>
            <a:r>
              <a:rPr lang="zh-CN" altLang="en-US" dirty="0"/>
              <a:t>“三分类”过程</a:t>
            </a:r>
          </a:p>
        </p:txBody>
      </p:sp>
      <p:cxnSp>
        <p:nvCxnSpPr>
          <p:cNvPr id="74" name="直接连接符 73"/>
          <p:cNvCxnSpPr>
            <a:cxnSpLocks/>
          </p:cNvCxnSpPr>
          <p:nvPr/>
        </p:nvCxnSpPr>
        <p:spPr>
          <a:xfrm>
            <a:off x="701487" y="3329377"/>
            <a:ext cx="47294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cxnSpLocks/>
          </p:cNvCxnSpPr>
          <p:nvPr/>
        </p:nvCxnSpPr>
        <p:spPr>
          <a:xfrm>
            <a:off x="701487" y="4155753"/>
            <a:ext cx="47294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36672" y="361660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41547" y="467277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08749" y="3350086"/>
            <a:ext cx="386597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句法分析：判断“信息是否为可读语句”，又称为语句分类。</a:t>
            </a:r>
          </a:p>
        </p:txBody>
      </p:sp>
      <p:sp>
        <p:nvSpPr>
          <p:cNvPr id="83" name="文本框 14"/>
          <p:cNvSpPr txBox="1"/>
          <p:nvPr/>
        </p:nvSpPr>
        <p:spPr>
          <a:xfrm>
            <a:off x="1509588" y="4173374"/>
            <a:ext cx="386597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主题分类：判断“由可读语句表达的信息是否属于所关注的安全领域”，又称领域分类。</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网络信息内容研究方法</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a:cxnSpLocks/>
          </p:cNvCxnSpPr>
          <p:nvPr/>
        </p:nvCxnSpPr>
        <p:spPr>
          <a:xfrm>
            <a:off x="683466" y="5268737"/>
            <a:ext cx="474751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46922" y="5722352"/>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03868" y="5296314"/>
            <a:ext cx="386597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zh-CN" sz="1800" dirty="0"/>
              <a:t>倾向分类：判断“落入某领域的信息是否符合所定义的安全准则”</a:t>
            </a:r>
            <a:r>
              <a:rPr lang="zh-CN" altLang="en-US" sz="1800" dirty="0"/>
              <a:t>，又称安全分类。</a:t>
            </a:r>
          </a:p>
        </p:txBody>
      </p:sp>
      <p:cxnSp>
        <p:nvCxnSpPr>
          <p:cNvPr id="166" name="直接连接符 165"/>
          <p:cNvCxnSpPr>
            <a:cxnSpLocks/>
          </p:cNvCxnSpPr>
          <p:nvPr/>
        </p:nvCxnSpPr>
        <p:spPr>
          <a:xfrm>
            <a:off x="691601" y="6426322"/>
            <a:ext cx="473938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p:nvPr>
            <p:extLst>
              <p:ext uri="{D42A27DB-BD31-4B8C-83A1-F6EECF244321}">
                <p14:modId xmlns:p14="http://schemas.microsoft.com/office/powerpoint/2010/main" val="1851869762"/>
              </p:ext>
            </p:extLst>
          </p:nvPr>
        </p:nvGraphicFramePr>
        <p:xfrm>
          <a:off x="5881255" y="2563092"/>
          <a:ext cx="5777345" cy="2475997"/>
        </p:xfrm>
        <a:graphic>
          <a:graphicData uri="http://schemas.openxmlformats.org/presentationml/2006/ole">
            <mc:AlternateContent xmlns:mc="http://schemas.openxmlformats.org/markup-compatibility/2006">
              <mc:Choice xmlns:v="urn:schemas-microsoft-com:vml" Requires="v">
                <p:oleObj name="Visio" r:id="rId17" imgW="6375400" imgH="2578100" progId="Visio.Drawing.11">
                  <p:embed/>
                </p:oleObj>
              </mc:Choice>
              <mc:Fallback>
                <p:oleObj name="Visio" r:id="rId17" imgW="6375400" imgH="2578100" progId="Visio.Drawing.11">
                  <p:embed/>
                  <p:pic>
                    <p:nvPicPr>
                      <p:cNvPr id="0" name="Object 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81255" y="2563092"/>
                        <a:ext cx="5777345" cy="2475997"/>
                      </a:xfrm>
                      <a:prstGeom prst="rect">
                        <a:avLst/>
                      </a:prstGeom>
                      <a:noFill/>
                    </p:spPr>
                  </p:pic>
                </p:oleObj>
              </mc:Fallback>
            </mc:AlternateContent>
          </a:graphicData>
        </a:graphic>
      </p:graphicFrame>
      <p:sp>
        <p:nvSpPr>
          <p:cNvPr id="11" name="矩形 10"/>
          <p:cNvSpPr/>
          <p:nvPr/>
        </p:nvSpPr>
        <p:spPr>
          <a:xfrm>
            <a:off x="7198601" y="5177643"/>
            <a:ext cx="3185487" cy="369332"/>
          </a:xfrm>
          <a:prstGeom prst="rect">
            <a:avLst/>
          </a:prstGeom>
        </p:spPr>
        <p:txBody>
          <a:bodyPr wrap="none">
            <a:spAutoFit/>
          </a:bodyPr>
          <a:lstStyle/>
          <a:p>
            <a:r>
              <a:rPr lang="zh-CN" altLang="zh-CN" dirty="0"/>
              <a:t>信息内容安全“三分类”模型</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974822"/>
            <a:ext cx="3877985" cy="1077218"/>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研究信息内容安全的</a:t>
            </a:r>
            <a:endParaRPr lang="en-US" altLang="zh-CN" dirty="0"/>
          </a:p>
          <a:p>
            <a:r>
              <a:rPr lang="zh-CN" altLang="en-US" dirty="0"/>
              <a:t>“三分类”过程</a:t>
            </a:r>
          </a:p>
        </p:txBody>
      </p:sp>
      <p:cxnSp>
        <p:nvCxnSpPr>
          <p:cNvPr id="74" name="直接连接符 73"/>
          <p:cNvCxnSpPr>
            <a:cxnSpLocks/>
          </p:cNvCxnSpPr>
          <p:nvPr/>
        </p:nvCxnSpPr>
        <p:spPr>
          <a:xfrm>
            <a:off x="597582" y="3364001"/>
            <a:ext cx="459787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cxnSpLocks/>
          </p:cNvCxnSpPr>
          <p:nvPr/>
        </p:nvCxnSpPr>
        <p:spPr>
          <a:xfrm>
            <a:off x="597582" y="4204237"/>
            <a:ext cx="461172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797895" y="361272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795664" y="442368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216526" y="3412418"/>
            <a:ext cx="4098513"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网络信息内容安全旨在分析识别信息内容是否合法。</a:t>
            </a:r>
          </a:p>
        </p:txBody>
      </p:sp>
      <p:sp>
        <p:nvSpPr>
          <p:cNvPr id="83" name="文本框 14"/>
          <p:cNvSpPr txBox="1"/>
          <p:nvPr/>
        </p:nvSpPr>
        <p:spPr>
          <a:xfrm>
            <a:off x="1216527" y="4249560"/>
            <a:ext cx="4098513"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网络信息内容安全的重点是网络数据的获取、预处理与过滤以及分析与管控。</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学科专业规范区别</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3" name="直接连接符 162"/>
          <p:cNvCxnSpPr>
            <a:cxnSpLocks/>
          </p:cNvCxnSpPr>
          <p:nvPr/>
        </p:nvCxnSpPr>
        <p:spPr>
          <a:xfrm>
            <a:off x="579366" y="5050086"/>
            <a:ext cx="462994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795683" y="536695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216527" y="5088488"/>
            <a:ext cx="4098512"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zh-CN" sz="1800" dirty="0"/>
              <a:t>倾向分类：判断“落入某领域的信息是否符合所定义的安全准则”</a:t>
            </a:r>
            <a:r>
              <a:rPr lang="zh-CN" altLang="en-US" sz="1800" dirty="0"/>
              <a:t>。</a:t>
            </a:r>
          </a:p>
        </p:txBody>
      </p:sp>
      <p:cxnSp>
        <p:nvCxnSpPr>
          <p:cNvPr id="166" name="直接连接符 165"/>
          <p:cNvCxnSpPr>
            <a:cxnSpLocks/>
          </p:cNvCxnSpPr>
          <p:nvPr/>
        </p:nvCxnSpPr>
        <p:spPr>
          <a:xfrm>
            <a:off x="594623" y="5899839"/>
            <a:ext cx="461468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p:nvPr>
            <p:extLst>
              <p:ext uri="{D42A27DB-BD31-4B8C-83A1-F6EECF244321}">
                <p14:modId xmlns:p14="http://schemas.microsoft.com/office/powerpoint/2010/main" val="2595850307"/>
              </p:ext>
            </p:extLst>
          </p:nvPr>
        </p:nvGraphicFramePr>
        <p:xfrm>
          <a:off x="5615969" y="1863444"/>
          <a:ext cx="6001067" cy="4035381"/>
        </p:xfrm>
        <a:graphic>
          <a:graphicData uri="http://schemas.openxmlformats.org/presentationml/2006/ole">
            <mc:AlternateContent xmlns:mc="http://schemas.openxmlformats.org/markup-compatibility/2006">
              <mc:Choice xmlns:v="urn:schemas-microsoft-com:vml" Requires="v">
                <p:oleObj name="Visio" r:id="rId17" imgW="8166100" imgH="5168900" progId="Visio.Drawing.11">
                  <p:embed/>
                </p:oleObj>
              </mc:Choice>
              <mc:Fallback>
                <p:oleObj name="Visio" r:id="rId17" imgW="8166100" imgH="5168900" progId="Visio.Drawing.11">
                  <p:embed/>
                  <p:pic>
                    <p:nvPicPr>
                      <p:cNvPr id="0" name="Object 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15969" y="1863444"/>
                        <a:ext cx="6001067" cy="4035381"/>
                      </a:xfrm>
                      <a:prstGeom prst="rect">
                        <a:avLst/>
                      </a:prstGeom>
                      <a:noFill/>
                    </p:spPr>
                  </p:pic>
                </p:oleObj>
              </mc:Fallback>
            </mc:AlternateContent>
          </a:graphicData>
        </a:graphic>
      </p:graphicFrame>
      <p:sp>
        <p:nvSpPr>
          <p:cNvPr id="5" name="矩形 4"/>
          <p:cNvSpPr/>
          <p:nvPr/>
        </p:nvSpPr>
        <p:spPr>
          <a:xfrm>
            <a:off x="7302873" y="5958888"/>
            <a:ext cx="2954655" cy="369332"/>
          </a:xfrm>
          <a:prstGeom prst="rect">
            <a:avLst/>
          </a:prstGeom>
        </p:spPr>
        <p:txBody>
          <a:bodyPr wrap="none">
            <a:spAutoFit/>
          </a:bodyPr>
          <a:lstStyle/>
          <a:p>
            <a:r>
              <a:rPr lang="zh-CN" altLang="zh-CN" dirty="0"/>
              <a:t>信息安全基础知识领域结构</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Freeform 12"/>
          <p:cNvSpPr/>
          <p:nvPr/>
        </p:nvSpPr>
        <p:spPr bwMode="auto">
          <a:xfrm>
            <a:off x="3944178" y="2631319"/>
            <a:ext cx="583721" cy="583721"/>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2" name="Freeform 13"/>
          <p:cNvSpPr/>
          <p:nvPr/>
        </p:nvSpPr>
        <p:spPr bwMode="auto">
          <a:xfrm>
            <a:off x="7713511" y="2631319"/>
            <a:ext cx="583721" cy="583721"/>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95" name="Freeform 12"/>
          <p:cNvSpPr/>
          <p:nvPr/>
        </p:nvSpPr>
        <p:spPr bwMode="auto">
          <a:xfrm flipH="1" flipV="1">
            <a:off x="11377151" y="6069034"/>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6" name="TextBox 95"/>
          <p:cNvSpPr txBox="1"/>
          <p:nvPr/>
        </p:nvSpPr>
        <p:spPr>
          <a:xfrm>
            <a:off x="1235107" y="4088585"/>
            <a:ext cx="2200820"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提高网络用户及网站的使用效率</a:t>
            </a:r>
          </a:p>
        </p:txBody>
      </p:sp>
      <p:sp>
        <p:nvSpPr>
          <p:cNvPr id="97" name="TextBox 96"/>
          <p:cNvSpPr txBox="1"/>
          <p:nvPr/>
        </p:nvSpPr>
        <p:spPr>
          <a:xfrm>
            <a:off x="4902199" y="4088585"/>
            <a:ext cx="2387601" cy="1015663"/>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净化网络空间，</a:t>
            </a:r>
            <a:endParaRPr lang="en-US" altLang="zh-CN" sz="2000" dirty="0">
              <a:latin typeface="微软雅黑" panose="020B0503020204020204" pitchFamily="34" charset="-122"/>
              <a:ea typeface="微软雅黑" panose="020B0503020204020204" pitchFamily="34" charset="-122"/>
            </a:endParaRPr>
          </a:p>
          <a:p>
            <a:r>
              <a:rPr lang="zh-CN" altLang="zh-CN" sz="2000" dirty="0">
                <a:latin typeface="微软雅黑" panose="020B0503020204020204" pitchFamily="34" charset="-122"/>
                <a:ea typeface="微软雅黑" panose="020B0503020204020204" pitchFamily="34" charset="-122"/>
              </a:rPr>
              <a:t>营造健康文明的网络文化环境</a:t>
            </a:r>
            <a:endParaRPr lang="zh-CN" altLang="en-US" sz="2000" dirty="0">
              <a:latin typeface="微软雅黑" panose="020B0503020204020204" pitchFamily="34" charset="-122"/>
              <a:ea typeface="微软雅黑" panose="020B0503020204020204" pitchFamily="34" charset="-122"/>
            </a:endParaRPr>
          </a:p>
        </p:txBody>
      </p:sp>
      <p:sp>
        <p:nvSpPr>
          <p:cNvPr id="98" name="TextBox 97"/>
          <p:cNvSpPr txBox="1"/>
          <p:nvPr/>
        </p:nvSpPr>
        <p:spPr>
          <a:xfrm>
            <a:off x="8895966" y="4088585"/>
            <a:ext cx="2263874" cy="1323439"/>
          </a:xfrm>
          <a:prstGeom prst="rect">
            <a:avLst/>
          </a:prstGeom>
          <a:noFill/>
        </p:spPr>
        <p:txBody>
          <a:bodyPr wrap="square" rtlCol="0">
            <a:spAutoFit/>
          </a:bodyPr>
          <a:lstStyle/>
          <a:p>
            <a:r>
              <a:rPr lang="zh-CN" altLang="zh-CN" sz="2000" dirty="0">
                <a:latin typeface="微软雅黑" panose="020B0503020204020204" pitchFamily="34" charset="-122"/>
                <a:ea typeface="微软雅黑" panose="020B0503020204020204" pitchFamily="34" charset="-122"/>
              </a:rPr>
              <a:t>提高国家信息安全保障水平</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zh-CN" altLang="zh-CN" sz="2000" dirty="0">
                <a:latin typeface="微软雅黑" panose="020B0503020204020204" pitchFamily="34" charset="-122"/>
                <a:ea typeface="微软雅黑" panose="020B0503020204020204" pitchFamily="34" charset="-122"/>
              </a:rPr>
              <a:t>是保障国家安全的重要环节</a:t>
            </a:r>
            <a:endParaRPr lang="zh-CN" altLang="en-US" sz="2000" dirty="0">
              <a:latin typeface="微软雅黑" panose="020B0503020204020204" pitchFamily="34" charset="-122"/>
              <a:ea typeface="微软雅黑" panose="020B0503020204020204" pitchFamily="34" charset="-122"/>
            </a:endParaRPr>
          </a:p>
        </p:txBody>
      </p:sp>
      <p:pic>
        <p:nvPicPr>
          <p:cNvPr id="2052" name="Picture 4" descr="“大数据 服务器”的图片搜索结果"/>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05" t="7656" r="7718" b="20237"/>
          <a:stretch>
            <a:fillRect/>
          </a:stretch>
        </p:blipFill>
        <p:spPr bwMode="auto">
          <a:xfrm>
            <a:off x="1213452" y="2075126"/>
            <a:ext cx="2057529" cy="1772547"/>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54" name="Picture 6" descr="“黑客”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2441" y="2118978"/>
            <a:ext cx="1912974" cy="1684844"/>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2" name="AutoShape 8" descr="“服务器 成本”的图片搜索结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103" name="组合 102"/>
          <p:cNvGrpSpPr/>
          <p:nvPr/>
        </p:nvGrpSpPr>
        <p:grpSpPr>
          <a:xfrm>
            <a:off x="609116" y="261257"/>
            <a:ext cx="1214822" cy="760080"/>
            <a:chOff x="1922078" y="0"/>
            <a:chExt cx="8347844" cy="3447438"/>
          </a:xfrm>
        </p:grpSpPr>
        <p:grpSp>
          <p:nvGrpSpPr>
            <p:cNvPr id="104" name="组合 103"/>
            <p:cNvGrpSpPr/>
            <p:nvPr/>
          </p:nvGrpSpPr>
          <p:grpSpPr>
            <a:xfrm rot="20997101">
              <a:off x="5080902" y="0"/>
              <a:ext cx="659781" cy="793569"/>
              <a:chOff x="9397113" y="1572484"/>
              <a:chExt cx="739439" cy="900000"/>
            </a:xfrm>
          </p:grpSpPr>
          <p:pic>
            <p:nvPicPr>
              <p:cNvPr id="162" name="图片 161"/>
              <p:cNvPicPr>
                <a:picLocks noChangeAspect="1"/>
              </p:cNvPicPr>
              <p:nvPr/>
            </p:nvPicPr>
            <p:blipFill rotWithShape="1">
              <a:blip r:embed="rId5"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63" name="椭圆 162"/>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p:cNvGrpSpPr/>
            <p:nvPr/>
          </p:nvGrpSpPr>
          <p:grpSpPr>
            <a:xfrm rot="2455872">
              <a:off x="9009447" y="1071465"/>
              <a:ext cx="659781" cy="793569"/>
              <a:chOff x="8752405" y="680495"/>
              <a:chExt cx="739439" cy="900000"/>
            </a:xfrm>
          </p:grpSpPr>
          <p:pic>
            <p:nvPicPr>
              <p:cNvPr id="160" name="图片 159"/>
              <p:cNvPicPr>
                <a:picLocks noChangeAspect="1"/>
              </p:cNvPicPr>
              <p:nvPr/>
            </p:nvPicPr>
            <p:blipFill rotWithShape="1">
              <a:blip r:embed="rId6"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61" name="椭圆 160"/>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p:cNvGrpSpPr/>
            <p:nvPr/>
          </p:nvGrpSpPr>
          <p:grpSpPr>
            <a:xfrm rot="20539373">
              <a:off x="4239050" y="1051458"/>
              <a:ext cx="642436" cy="793569"/>
              <a:chOff x="7798300" y="2128176"/>
              <a:chExt cx="720000" cy="900000"/>
            </a:xfrm>
          </p:grpSpPr>
          <p:pic>
            <p:nvPicPr>
              <p:cNvPr id="158" name="图片 157"/>
              <p:cNvPicPr>
                <a:picLocks noChangeAspect="1"/>
              </p:cNvPicPr>
              <p:nvPr/>
            </p:nvPicPr>
            <p:blipFill rotWithShape="1">
              <a:blip r:embed="rId7"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59" name="椭圆 158"/>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 name="组合 106"/>
            <p:cNvGrpSpPr/>
            <p:nvPr/>
          </p:nvGrpSpPr>
          <p:grpSpPr>
            <a:xfrm rot="622440">
              <a:off x="6257266" y="1278812"/>
              <a:ext cx="643355" cy="793569"/>
              <a:chOff x="5457544" y="2382484"/>
              <a:chExt cx="721030" cy="900000"/>
            </a:xfrm>
          </p:grpSpPr>
          <p:pic>
            <p:nvPicPr>
              <p:cNvPr id="156" name="图片 1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57" name="椭圆 15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组合 107"/>
            <p:cNvGrpSpPr/>
            <p:nvPr/>
          </p:nvGrpSpPr>
          <p:grpSpPr>
            <a:xfrm rot="713899">
              <a:off x="6982111" y="246490"/>
              <a:ext cx="642436" cy="811512"/>
              <a:chOff x="2594245" y="3143107"/>
              <a:chExt cx="720000" cy="920349"/>
            </a:xfrm>
          </p:grpSpPr>
          <p:pic>
            <p:nvPicPr>
              <p:cNvPr id="154" name="图片 153"/>
              <p:cNvPicPr>
                <a:picLocks noChangeAspect="1"/>
              </p:cNvPicPr>
              <p:nvPr/>
            </p:nvPicPr>
            <p:blipFill rotWithShape="1">
              <a:blip r:embed="rId9"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55" name="椭圆 154"/>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rot="20351331">
              <a:off x="2986611" y="357756"/>
              <a:ext cx="642436" cy="793569"/>
              <a:chOff x="3277182" y="773323"/>
              <a:chExt cx="720000" cy="900000"/>
            </a:xfrm>
          </p:grpSpPr>
          <p:sp>
            <p:nvSpPr>
              <p:cNvPr id="152" name="椭圆 151"/>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3" name="图片 15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110" name="组合 109"/>
            <p:cNvGrpSpPr/>
            <p:nvPr/>
          </p:nvGrpSpPr>
          <p:grpSpPr>
            <a:xfrm rot="1912890">
              <a:off x="7930945" y="1382649"/>
              <a:ext cx="648427" cy="793569"/>
              <a:chOff x="5384758" y="1250900"/>
              <a:chExt cx="726714" cy="900000"/>
            </a:xfrm>
          </p:grpSpPr>
          <p:sp>
            <p:nvSpPr>
              <p:cNvPr id="150" name="椭圆 149"/>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1" name="图片 15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111" name="组合 110"/>
            <p:cNvGrpSpPr/>
            <p:nvPr/>
          </p:nvGrpSpPr>
          <p:grpSpPr>
            <a:xfrm rot="1354213">
              <a:off x="7092076" y="1228721"/>
              <a:ext cx="642436" cy="793569"/>
              <a:chOff x="3639753" y="2488176"/>
              <a:chExt cx="720000" cy="900000"/>
            </a:xfrm>
          </p:grpSpPr>
          <p:sp>
            <p:nvSpPr>
              <p:cNvPr id="148" name="椭圆 147"/>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9" name="图片 14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112" name="组合 111"/>
            <p:cNvGrpSpPr/>
            <p:nvPr/>
          </p:nvGrpSpPr>
          <p:grpSpPr>
            <a:xfrm rot="19874646">
              <a:off x="3552291" y="1752953"/>
              <a:ext cx="647730" cy="793569"/>
              <a:chOff x="4707387" y="271511"/>
              <a:chExt cx="725933" cy="900000"/>
            </a:xfrm>
          </p:grpSpPr>
          <p:sp>
            <p:nvSpPr>
              <p:cNvPr id="146" name="椭圆 145"/>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7" name="图片 14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113" name="组合 112"/>
            <p:cNvGrpSpPr/>
            <p:nvPr/>
          </p:nvGrpSpPr>
          <p:grpSpPr>
            <a:xfrm>
              <a:off x="5902457" y="519563"/>
              <a:ext cx="647456" cy="793569"/>
              <a:chOff x="4355614" y="1671769"/>
              <a:chExt cx="725626" cy="900000"/>
            </a:xfrm>
          </p:grpSpPr>
          <p:sp>
            <p:nvSpPr>
              <p:cNvPr id="144" name="椭圆 143"/>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5" name="图片 14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114" name="组合 113"/>
            <p:cNvGrpSpPr/>
            <p:nvPr/>
          </p:nvGrpSpPr>
          <p:grpSpPr>
            <a:xfrm rot="3261331">
              <a:off x="8178834" y="2216888"/>
              <a:ext cx="645495" cy="803045"/>
              <a:chOff x="6534782" y="2204846"/>
              <a:chExt cx="732066" cy="900000"/>
            </a:xfrm>
          </p:grpSpPr>
          <p:sp>
            <p:nvSpPr>
              <p:cNvPr id="142" name="椭圆 141"/>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3" name="图片 14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115" name="组合 114"/>
            <p:cNvGrpSpPr/>
            <p:nvPr/>
          </p:nvGrpSpPr>
          <p:grpSpPr>
            <a:xfrm rot="1881527">
              <a:off x="8180043" y="493339"/>
              <a:ext cx="646830" cy="793569"/>
              <a:chOff x="5993772" y="258109"/>
              <a:chExt cx="724925" cy="900000"/>
            </a:xfrm>
          </p:grpSpPr>
          <p:sp>
            <p:nvSpPr>
              <p:cNvPr id="140" name="椭圆 139"/>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1" name="图片 14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116" name="组合 115"/>
            <p:cNvGrpSpPr/>
            <p:nvPr/>
          </p:nvGrpSpPr>
          <p:grpSpPr>
            <a:xfrm rot="3066563">
              <a:off x="9550518" y="2274810"/>
              <a:ext cx="635764" cy="803045"/>
              <a:chOff x="8806213" y="2910111"/>
              <a:chExt cx="721030" cy="900000"/>
            </a:xfrm>
          </p:grpSpPr>
          <p:sp>
            <p:nvSpPr>
              <p:cNvPr id="138" name="椭圆 137"/>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9" name="图片 13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117" name="组合 116"/>
            <p:cNvGrpSpPr/>
            <p:nvPr/>
          </p:nvGrpSpPr>
          <p:grpSpPr>
            <a:xfrm rot="20849518">
              <a:off x="5023848" y="1251597"/>
              <a:ext cx="644890" cy="793569"/>
              <a:chOff x="7330781" y="818297"/>
              <a:chExt cx="722751" cy="900000"/>
            </a:xfrm>
          </p:grpSpPr>
          <p:sp>
            <p:nvSpPr>
              <p:cNvPr id="136" name="椭圆 135"/>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7" name="图片 13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18" name="组合 117"/>
            <p:cNvGrpSpPr/>
            <p:nvPr/>
          </p:nvGrpSpPr>
          <p:grpSpPr>
            <a:xfrm rot="19756194">
              <a:off x="1922078" y="1474933"/>
              <a:ext cx="653202" cy="793569"/>
              <a:chOff x="2213446" y="1768419"/>
              <a:chExt cx="732066" cy="900000"/>
            </a:xfrm>
          </p:grpSpPr>
          <p:pic>
            <p:nvPicPr>
              <p:cNvPr id="134" name="图片 13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35" name="椭圆 134"/>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9" name="直接连接符 118"/>
            <p:cNvCxnSpPr>
              <a:stCxn id="146"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35"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52"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59"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63"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44"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36"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57"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55"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48"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40"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50"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161"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38"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42"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4" name="矩形 163"/>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168"/>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文本框 335"/>
          <p:cNvSpPr txBox="1"/>
          <p:nvPr/>
        </p:nvSpPr>
        <p:spPr>
          <a:xfrm>
            <a:off x="2842192" y="331131"/>
            <a:ext cx="7530493" cy="646331"/>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网络信息内容安全研究的意义</a:t>
            </a:r>
          </a:p>
        </p:txBody>
      </p:sp>
      <p:grpSp>
        <p:nvGrpSpPr>
          <p:cNvPr id="172" name="组合 171"/>
          <p:cNvGrpSpPr/>
          <p:nvPr/>
        </p:nvGrpSpPr>
        <p:grpSpPr>
          <a:xfrm>
            <a:off x="655309" y="1032131"/>
            <a:ext cx="10477147" cy="66943"/>
            <a:chOff x="655309" y="1032131"/>
            <a:chExt cx="10477147" cy="66943"/>
          </a:xfrm>
        </p:grpSpPr>
        <p:sp>
          <p:nvSpPr>
            <p:cNvPr id="173" name="矩形 172"/>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8434" name="Picture 2" descr="“网络保障体系”的图片搜索结果"/>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921021" y="2152154"/>
            <a:ext cx="1965375" cy="1695519"/>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1000"/>
                                        <p:tgtEl>
                                          <p:spTgt spid="96"/>
                                        </p:tgtEl>
                                      </p:cBhvr>
                                    </p:animEffect>
                                    <p:anim calcmode="lin" valueType="num">
                                      <p:cBhvr>
                                        <p:cTn id="8" dur="1000" fill="hold"/>
                                        <p:tgtEl>
                                          <p:spTgt spid="96"/>
                                        </p:tgtEl>
                                        <p:attrNameLst>
                                          <p:attrName>ppt_x</p:attrName>
                                        </p:attrNameLst>
                                      </p:cBhvr>
                                      <p:tavLst>
                                        <p:tav tm="0">
                                          <p:val>
                                            <p:strVal val="#ppt_x"/>
                                          </p:val>
                                        </p:tav>
                                        <p:tav tm="100000">
                                          <p:val>
                                            <p:strVal val="#ppt_x"/>
                                          </p:val>
                                        </p:tav>
                                      </p:tavLst>
                                    </p:anim>
                                    <p:anim calcmode="lin" valueType="num">
                                      <p:cBhvr>
                                        <p:cTn id="9" dur="1000" fill="hold"/>
                                        <p:tgtEl>
                                          <p:spTgt spid="9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81"/>
                                        </p:tgtEl>
                                        <p:attrNameLst>
                                          <p:attrName>style.visibility</p:attrName>
                                        </p:attrNameLst>
                                      </p:cBhvr>
                                      <p:to>
                                        <p:strVal val="visible"/>
                                      </p:to>
                                    </p:set>
                                    <p:anim calcmode="lin" valueType="num">
                                      <p:cBhvr>
                                        <p:cTn id="13" dur="300" fill="hold"/>
                                        <p:tgtEl>
                                          <p:spTgt spid="81"/>
                                        </p:tgtEl>
                                        <p:attrNameLst>
                                          <p:attrName>ppt_w</p:attrName>
                                        </p:attrNameLst>
                                      </p:cBhvr>
                                      <p:tavLst>
                                        <p:tav tm="0">
                                          <p:val>
                                            <p:fltVal val="0"/>
                                          </p:val>
                                        </p:tav>
                                        <p:tav tm="100000">
                                          <p:val>
                                            <p:strVal val="#ppt_w"/>
                                          </p:val>
                                        </p:tav>
                                      </p:tavLst>
                                    </p:anim>
                                    <p:anim calcmode="lin" valueType="num">
                                      <p:cBhvr>
                                        <p:cTn id="14" dur="300" fill="hold"/>
                                        <p:tgtEl>
                                          <p:spTgt spid="81"/>
                                        </p:tgtEl>
                                        <p:attrNameLst>
                                          <p:attrName>ppt_h</p:attrName>
                                        </p:attrNameLst>
                                      </p:cBhvr>
                                      <p:tavLst>
                                        <p:tav tm="0">
                                          <p:val>
                                            <p:fltVal val="0"/>
                                          </p:val>
                                        </p:tav>
                                        <p:tav tm="100000">
                                          <p:val>
                                            <p:strVal val="#ppt_h"/>
                                          </p:val>
                                        </p:tav>
                                      </p:tavLst>
                                    </p:anim>
                                    <p:anim calcmode="lin" valueType="num">
                                      <p:cBhvr>
                                        <p:cTn id="15" dur="300" fill="hold"/>
                                        <p:tgtEl>
                                          <p:spTgt spid="81"/>
                                        </p:tgtEl>
                                        <p:attrNameLst>
                                          <p:attrName>style.rotation</p:attrName>
                                        </p:attrNameLst>
                                      </p:cBhvr>
                                      <p:tavLst>
                                        <p:tav tm="0">
                                          <p:val>
                                            <p:fltVal val="90"/>
                                          </p:val>
                                        </p:tav>
                                        <p:tav tm="100000">
                                          <p:val>
                                            <p:fltVal val="0"/>
                                          </p:val>
                                        </p:tav>
                                      </p:tavLst>
                                    </p:anim>
                                    <p:animEffect transition="in" filter="fade">
                                      <p:cBhvr>
                                        <p:cTn id="16" dur="300"/>
                                        <p:tgtEl>
                                          <p:spTgt spid="81"/>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97"/>
                                        </p:tgtEl>
                                        <p:attrNameLst>
                                          <p:attrName>style.visibility</p:attrName>
                                        </p:attrNameLst>
                                      </p:cBhvr>
                                      <p:to>
                                        <p:strVal val="visible"/>
                                      </p:to>
                                    </p:set>
                                    <p:animEffect transition="in" filter="fade">
                                      <p:cBhvr>
                                        <p:cTn id="19" dur="1000"/>
                                        <p:tgtEl>
                                          <p:spTgt spid="97"/>
                                        </p:tgtEl>
                                      </p:cBhvr>
                                    </p:animEffect>
                                    <p:anim calcmode="lin" valueType="num">
                                      <p:cBhvr>
                                        <p:cTn id="20" dur="1000" fill="hold"/>
                                        <p:tgtEl>
                                          <p:spTgt spid="97"/>
                                        </p:tgtEl>
                                        <p:attrNameLst>
                                          <p:attrName>ppt_x</p:attrName>
                                        </p:attrNameLst>
                                      </p:cBhvr>
                                      <p:tavLst>
                                        <p:tav tm="0">
                                          <p:val>
                                            <p:strVal val="#ppt_x"/>
                                          </p:val>
                                        </p:tav>
                                        <p:tav tm="100000">
                                          <p:val>
                                            <p:strVal val="#ppt_x"/>
                                          </p:val>
                                        </p:tav>
                                      </p:tavLst>
                                    </p:anim>
                                    <p:anim calcmode="lin" valueType="num">
                                      <p:cBhvr>
                                        <p:cTn id="21" dur="1000" fill="hold"/>
                                        <p:tgtEl>
                                          <p:spTgt spid="9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31" presetClass="entr" presetSubtype="0" fill="hold" grpId="0" nodeType="afterEffect">
                                  <p:stCondLst>
                                    <p:cond delay="0"/>
                                  </p:stCondLst>
                                  <p:childTnLst>
                                    <p:set>
                                      <p:cBhvr>
                                        <p:cTn id="24" dur="1" fill="hold">
                                          <p:stCondLst>
                                            <p:cond delay="0"/>
                                          </p:stCondLst>
                                        </p:cTn>
                                        <p:tgtEl>
                                          <p:spTgt spid="82"/>
                                        </p:tgtEl>
                                        <p:attrNameLst>
                                          <p:attrName>style.visibility</p:attrName>
                                        </p:attrNameLst>
                                      </p:cBhvr>
                                      <p:to>
                                        <p:strVal val="visible"/>
                                      </p:to>
                                    </p:set>
                                    <p:anim calcmode="lin" valueType="num">
                                      <p:cBhvr>
                                        <p:cTn id="25" dur="300" fill="hold"/>
                                        <p:tgtEl>
                                          <p:spTgt spid="82"/>
                                        </p:tgtEl>
                                        <p:attrNameLst>
                                          <p:attrName>ppt_w</p:attrName>
                                        </p:attrNameLst>
                                      </p:cBhvr>
                                      <p:tavLst>
                                        <p:tav tm="0">
                                          <p:val>
                                            <p:fltVal val="0"/>
                                          </p:val>
                                        </p:tav>
                                        <p:tav tm="100000">
                                          <p:val>
                                            <p:strVal val="#ppt_w"/>
                                          </p:val>
                                        </p:tav>
                                      </p:tavLst>
                                    </p:anim>
                                    <p:anim calcmode="lin" valueType="num">
                                      <p:cBhvr>
                                        <p:cTn id="26" dur="300" fill="hold"/>
                                        <p:tgtEl>
                                          <p:spTgt spid="82"/>
                                        </p:tgtEl>
                                        <p:attrNameLst>
                                          <p:attrName>ppt_h</p:attrName>
                                        </p:attrNameLst>
                                      </p:cBhvr>
                                      <p:tavLst>
                                        <p:tav tm="0">
                                          <p:val>
                                            <p:fltVal val="0"/>
                                          </p:val>
                                        </p:tav>
                                        <p:tav tm="100000">
                                          <p:val>
                                            <p:strVal val="#ppt_h"/>
                                          </p:val>
                                        </p:tav>
                                      </p:tavLst>
                                    </p:anim>
                                    <p:anim calcmode="lin" valueType="num">
                                      <p:cBhvr>
                                        <p:cTn id="27" dur="300" fill="hold"/>
                                        <p:tgtEl>
                                          <p:spTgt spid="82"/>
                                        </p:tgtEl>
                                        <p:attrNameLst>
                                          <p:attrName>style.rotation</p:attrName>
                                        </p:attrNameLst>
                                      </p:cBhvr>
                                      <p:tavLst>
                                        <p:tav tm="0">
                                          <p:val>
                                            <p:fltVal val="90"/>
                                          </p:val>
                                        </p:tav>
                                        <p:tav tm="100000">
                                          <p:val>
                                            <p:fltVal val="0"/>
                                          </p:val>
                                        </p:tav>
                                      </p:tavLst>
                                    </p:anim>
                                    <p:animEffect transition="in" filter="fade">
                                      <p:cBhvr>
                                        <p:cTn id="28" dur="300"/>
                                        <p:tgtEl>
                                          <p:spTgt spid="82"/>
                                        </p:tgtEl>
                                      </p:cBhvr>
                                    </p:animEffect>
                                  </p:childTnLst>
                                </p:cTn>
                              </p:par>
                              <p:par>
                                <p:cTn id="29" presetID="42" presetClass="entr" presetSubtype="0" fill="hold" grpId="0" nodeType="withEffect">
                                  <p:stCondLst>
                                    <p:cond delay="400"/>
                                  </p:stCondLst>
                                  <p:childTnLst>
                                    <p:set>
                                      <p:cBhvr>
                                        <p:cTn id="30" dur="1" fill="hold">
                                          <p:stCondLst>
                                            <p:cond delay="0"/>
                                          </p:stCondLst>
                                        </p:cTn>
                                        <p:tgtEl>
                                          <p:spTgt spid="98"/>
                                        </p:tgtEl>
                                        <p:attrNameLst>
                                          <p:attrName>style.visibility</p:attrName>
                                        </p:attrNameLst>
                                      </p:cBhvr>
                                      <p:to>
                                        <p:strVal val="visible"/>
                                      </p:to>
                                    </p:set>
                                    <p:animEffect transition="in" filter="fade">
                                      <p:cBhvr>
                                        <p:cTn id="31" dur="1000"/>
                                        <p:tgtEl>
                                          <p:spTgt spid="98"/>
                                        </p:tgtEl>
                                      </p:cBhvr>
                                    </p:animEffect>
                                    <p:anim calcmode="lin" valueType="num">
                                      <p:cBhvr>
                                        <p:cTn id="32" dur="1000" fill="hold"/>
                                        <p:tgtEl>
                                          <p:spTgt spid="98"/>
                                        </p:tgtEl>
                                        <p:attrNameLst>
                                          <p:attrName>ppt_x</p:attrName>
                                        </p:attrNameLst>
                                      </p:cBhvr>
                                      <p:tavLst>
                                        <p:tav tm="0">
                                          <p:val>
                                            <p:strVal val="#ppt_x"/>
                                          </p:val>
                                        </p:tav>
                                        <p:tav tm="100000">
                                          <p:val>
                                            <p:strVal val="#ppt_x"/>
                                          </p:val>
                                        </p:tav>
                                      </p:tavLst>
                                    </p:anim>
                                    <p:anim calcmode="lin" valueType="num">
                                      <p:cBhvr>
                                        <p:cTn id="33" dur="1000" fill="hold"/>
                                        <p:tgtEl>
                                          <p:spTgt spid="98"/>
                                        </p:tgtEl>
                                        <p:attrNameLst>
                                          <p:attrName>ppt_y</p:attrName>
                                        </p:attrNameLst>
                                      </p:cBhvr>
                                      <p:tavLst>
                                        <p:tav tm="0">
                                          <p:val>
                                            <p:strVal val="#ppt_y+.1"/>
                                          </p:val>
                                        </p:tav>
                                        <p:tav tm="100000">
                                          <p:val>
                                            <p:strVal val="#ppt_y"/>
                                          </p:val>
                                        </p:tav>
                                      </p:tavLst>
                                    </p:anim>
                                  </p:childTnLst>
                                </p:cTn>
                              </p:par>
                              <p:par>
                                <p:cTn id="34" presetID="1" presetClass="entr" presetSubtype="0" fill="hold" grpId="0" nodeType="withEffect">
                                  <p:stCondLst>
                                    <p:cond delay="0"/>
                                  </p:stCondLst>
                                  <p:childTnLst>
                                    <p:set>
                                      <p:cBhvr>
                                        <p:cTn id="35" dur="1" fill="hold">
                                          <p:stCondLst>
                                            <p:cond delay="0"/>
                                          </p:stCondLst>
                                        </p:cTn>
                                        <p:tgtEl>
                                          <p:spTgt spid="95"/>
                                        </p:tgtEl>
                                        <p:attrNameLst>
                                          <p:attrName>style.visibility</p:attrName>
                                        </p:attrNameLst>
                                      </p:cBhvr>
                                      <p:to>
                                        <p:strVal val="visible"/>
                                      </p:to>
                                    </p:set>
                                  </p:childTnLst>
                                </p:cTn>
                              </p:par>
                              <p:par>
                                <p:cTn id="36" presetID="35" presetClass="path" presetSubtype="0" accel="50000" decel="50000" fill="hold" grpId="1" nodeType="withEffect">
                                  <p:stCondLst>
                                    <p:cond delay="0"/>
                                  </p:stCondLst>
                                  <p:childTnLst>
                                    <p:animMotion origin="layout" path="M 7.85742E-7 -3.33333E-6 L -0.39495 -0.11018 " pathEditMode="relative" rAng="0" ptsTypes="AA">
                                      <p:cBhvr>
                                        <p:cTn id="37" dur="500" spd="-99900" fill="hold"/>
                                        <p:tgtEl>
                                          <p:spTgt spid="95"/>
                                        </p:tgtEl>
                                        <p:attrNameLst>
                                          <p:attrName>ppt_x</p:attrName>
                                          <p:attrName>ppt_y</p:attrName>
                                        </p:attrNameLst>
                                      </p:cBhvr>
                                      <p:rCtr x="-19748" y="-5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95" grpId="0" animBg="1"/>
      <p:bldP spid="95" grpId="1" animBg="1"/>
      <p:bldP spid="96" grpId="0"/>
      <p:bldP spid="97" grpId="0"/>
      <p:bldP spid="9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29979" y="375809"/>
            <a:ext cx="7571303"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网络信息内容安全的未来及发展趋势</a:t>
            </a:r>
          </a:p>
        </p:txBody>
      </p:sp>
      <p:sp>
        <p:nvSpPr>
          <p:cNvPr id="71" name="文本框 70"/>
          <p:cNvSpPr txBox="1"/>
          <p:nvPr/>
        </p:nvSpPr>
        <p:spPr>
          <a:xfrm>
            <a:off x="1125643" y="1836277"/>
            <a:ext cx="9514647" cy="58477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200" dirty="0"/>
              <a:t>网络信息内容安全在未来以下问题值得关注：</a:t>
            </a:r>
          </a:p>
        </p:txBody>
      </p:sp>
      <p:grpSp>
        <p:nvGrpSpPr>
          <p:cNvPr id="5" name="组合 4"/>
          <p:cNvGrpSpPr/>
          <p:nvPr/>
        </p:nvGrpSpPr>
        <p:grpSpPr>
          <a:xfrm>
            <a:off x="1347297" y="2793904"/>
            <a:ext cx="1693084" cy="1693084"/>
            <a:chOff x="1544814" y="1976160"/>
            <a:chExt cx="1693084" cy="1693084"/>
          </a:xfrm>
        </p:grpSpPr>
        <p:pic>
          <p:nvPicPr>
            <p:cNvPr id="11" name="图片 10"/>
            <p:cNvPicPr>
              <a:picLocks noChangeAspect="1"/>
            </p:cNvPicPr>
            <p:nvPr/>
          </p:nvPicPr>
          <p:blipFill>
            <a:blip r:embed="rId18"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1914356" y="2345702"/>
              <a:ext cx="954000" cy="954000"/>
            </a:xfrm>
            <a:prstGeom prst="rect">
              <a:avLst/>
            </a:prstGeom>
          </p:spPr>
        </p:pic>
        <p:sp>
          <p:nvSpPr>
            <p:cNvPr id="85" name="椭圆 84"/>
            <p:cNvSpPr/>
            <p:nvPr/>
          </p:nvSpPr>
          <p:spPr>
            <a:xfrm>
              <a:off x="1544814"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3940997" y="2793904"/>
            <a:ext cx="1693084" cy="1693084"/>
            <a:chOff x="4424306" y="1976160"/>
            <a:chExt cx="1693084" cy="1693084"/>
          </a:xfrm>
        </p:grpSpPr>
        <p:pic>
          <p:nvPicPr>
            <p:cNvPr id="10" name="图片 9"/>
            <p:cNvPicPr>
              <a:picLocks noChangeAspect="1"/>
            </p:cNvPicPr>
            <p:nvPr/>
          </p:nvPicPr>
          <p:blipFill>
            <a:blip r:embed="rId19" cstate="print">
              <a:duotone>
                <a:prstClr val="black"/>
                <a:srgbClr val="3DA2CB">
                  <a:tint val="45000"/>
                  <a:satMod val="400000"/>
                </a:srgbClr>
              </a:duotone>
              <a:extLst>
                <a:ext uri="{28A0092B-C50C-407E-A947-70E740481C1C}">
                  <a14:useLocalDpi xmlns:a14="http://schemas.microsoft.com/office/drawing/2010/main" val="0"/>
                </a:ext>
              </a:extLst>
            </a:blip>
            <a:stretch>
              <a:fillRect/>
            </a:stretch>
          </p:blipFill>
          <p:spPr>
            <a:xfrm>
              <a:off x="4793848" y="2345702"/>
              <a:ext cx="954000" cy="954000"/>
            </a:xfrm>
            <a:prstGeom prst="rect">
              <a:avLst/>
            </a:prstGeom>
            <a:noFill/>
            <a:ln w="9525">
              <a:solidFill>
                <a:schemeClr val="bg1"/>
              </a:solidFill>
              <a:prstDash val="dash"/>
            </a:ln>
          </p:spPr>
        </p:pic>
        <p:sp>
          <p:nvSpPr>
            <p:cNvPr id="103" name="椭圆 102"/>
            <p:cNvSpPr/>
            <p:nvPr/>
          </p:nvSpPr>
          <p:spPr>
            <a:xfrm>
              <a:off x="4424306"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6288383" y="2793904"/>
            <a:ext cx="2498156" cy="2260492"/>
            <a:chOff x="6627843" y="1997788"/>
            <a:chExt cx="2498156" cy="2260492"/>
          </a:xfrm>
        </p:grpSpPr>
        <p:grpSp>
          <p:nvGrpSpPr>
            <p:cNvPr id="6" name="组合 5"/>
            <p:cNvGrpSpPr/>
            <p:nvPr/>
          </p:nvGrpSpPr>
          <p:grpSpPr>
            <a:xfrm>
              <a:off x="7030379" y="1997788"/>
              <a:ext cx="1693084" cy="1693084"/>
              <a:chOff x="6544075" y="1997788"/>
              <a:chExt cx="1693084" cy="1693084"/>
            </a:xfrm>
          </p:grpSpPr>
          <p:pic>
            <p:nvPicPr>
              <p:cNvPr id="9" name="图片 8"/>
              <p:cNvPicPr>
                <a:picLocks noChangeAspect="1"/>
              </p:cNvPicPr>
              <p:nvPr/>
            </p:nvPicPr>
            <p:blipFill>
              <a:blip r:embed="rId20"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6913617" y="2367330"/>
                <a:ext cx="954000" cy="954000"/>
              </a:xfrm>
              <a:prstGeom prst="rect">
                <a:avLst/>
              </a:prstGeom>
            </p:spPr>
          </p:pic>
          <p:sp>
            <p:nvSpPr>
              <p:cNvPr id="107" name="椭圆 106"/>
              <p:cNvSpPr/>
              <p:nvPr/>
            </p:nvSpPr>
            <p:spPr>
              <a:xfrm>
                <a:off x="6544075" y="1997788"/>
                <a:ext cx="1693084" cy="1693084"/>
              </a:xfrm>
              <a:prstGeom prst="ellipse">
                <a:avLst/>
              </a:prstGeom>
              <a:noFill/>
              <a:ln w="9525">
                <a:solidFill>
                  <a:srgbClr val="31B5D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6" name="TextBox 7179"/>
            <p:cNvSpPr txBox="1"/>
            <p:nvPr/>
          </p:nvSpPr>
          <p:spPr>
            <a:xfrm>
              <a:off x="6627843" y="3888948"/>
              <a:ext cx="2498156" cy="369332"/>
            </a:xfrm>
            <a:prstGeom prst="rect">
              <a:avLst/>
            </a:prstGeom>
            <a:noFill/>
          </p:spPr>
          <p:txBody>
            <a:bodyPr wrap="square" rtlCol="0">
              <a:spAutoFit/>
            </a:bodyPr>
            <a:lstStyle/>
            <a:p>
              <a:pPr algn="ctr"/>
              <a:endParaRPr lang="en-US" altLang="zh-CN" b="1" dirty="0">
                <a:solidFill>
                  <a:schemeClr val="accent1"/>
                </a:solidFill>
              </a:endParaRPr>
            </a:p>
          </p:txBody>
        </p:sp>
      </p:grpSp>
      <p:grpSp>
        <p:nvGrpSpPr>
          <p:cNvPr id="7" name="组合 6"/>
          <p:cNvGrpSpPr/>
          <p:nvPr/>
        </p:nvGrpSpPr>
        <p:grpSpPr>
          <a:xfrm>
            <a:off x="9440115" y="2793904"/>
            <a:ext cx="1693084" cy="1693084"/>
            <a:chOff x="9266178" y="2345702"/>
            <a:chExt cx="1693084" cy="1693084"/>
          </a:xfrm>
        </p:grpSpPr>
        <p:pic>
          <p:nvPicPr>
            <p:cNvPr id="12" name="图片 11"/>
            <p:cNvPicPr>
              <a:picLocks noChangeAspect="1"/>
            </p:cNvPicPr>
            <p:nvPr/>
          </p:nvPicPr>
          <p:blipFill>
            <a:blip r:embed="rId21"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9635720" y="2715244"/>
              <a:ext cx="954000" cy="954000"/>
            </a:xfrm>
            <a:prstGeom prst="rect">
              <a:avLst/>
            </a:prstGeom>
          </p:spPr>
        </p:pic>
        <p:sp>
          <p:nvSpPr>
            <p:cNvPr id="108" name="椭圆 107"/>
            <p:cNvSpPr/>
            <p:nvPr/>
          </p:nvSpPr>
          <p:spPr>
            <a:xfrm>
              <a:off x="9266178" y="2345702"/>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276343" y="4834976"/>
            <a:ext cx="1910201"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网络信息内容可信性</a:t>
            </a:r>
            <a:endParaRPr lang="en-US" altLang="zh-CN" sz="2000" dirty="0">
              <a:latin typeface="微软雅黑" panose="020B0503020204020204" pitchFamily="34" charset="-122"/>
              <a:ea typeface="微软雅黑" panose="020B0503020204020204" pitchFamily="34" charset="-122"/>
            </a:endParaRPr>
          </a:p>
        </p:txBody>
      </p:sp>
      <p:sp>
        <p:nvSpPr>
          <p:cNvPr id="3" name="矩形 2"/>
          <p:cNvSpPr/>
          <p:nvPr/>
        </p:nvSpPr>
        <p:spPr>
          <a:xfrm>
            <a:off x="3738421" y="4917431"/>
            <a:ext cx="2320381" cy="400110"/>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数据水印技术</a:t>
            </a:r>
            <a:endParaRPr lang="en-US" altLang="zh-CN" sz="2000" dirty="0">
              <a:latin typeface="微软雅黑" panose="020B0503020204020204" pitchFamily="34" charset="-122"/>
              <a:ea typeface="微软雅黑" panose="020B0503020204020204" pitchFamily="34" charset="-122"/>
            </a:endParaRPr>
          </a:p>
        </p:txBody>
      </p:sp>
      <p:sp>
        <p:nvSpPr>
          <p:cNvPr id="16" name="矩形 15"/>
          <p:cNvSpPr/>
          <p:nvPr/>
        </p:nvSpPr>
        <p:spPr>
          <a:xfrm>
            <a:off x="6334197" y="4829702"/>
            <a:ext cx="2643554"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基于大数据的网络信息真实性分析</a:t>
            </a:r>
            <a:endParaRPr lang="en-US" altLang="zh-CN" sz="2000" dirty="0">
              <a:latin typeface="微软雅黑" panose="020B0503020204020204" pitchFamily="34" charset="-122"/>
              <a:ea typeface="微软雅黑" panose="020B0503020204020204" pitchFamily="34" charset="-122"/>
            </a:endParaRPr>
          </a:p>
        </p:txBody>
      </p:sp>
      <p:sp>
        <p:nvSpPr>
          <p:cNvPr id="17" name="矩形 16"/>
          <p:cNvSpPr/>
          <p:nvPr/>
        </p:nvSpPr>
        <p:spPr>
          <a:xfrm>
            <a:off x="9406829" y="4878286"/>
            <a:ext cx="2030098"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移动互联网信息内容安全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1125644" y="1607676"/>
            <a:ext cx="1415772"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思考题</a:t>
            </a:r>
          </a:p>
        </p:txBody>
      </p:sp>
      <p:cxnSp>
        <p:nvCxnSpPr>
          <p:cNvPr id="74" name="直接连接符 73"/>
          <p:cNvCxnSpPr>
            <a:cxnSpLocks/>
          </p:cNvCxnSpPr>
          <p:nvPr/>
        </p:nvCxnSpPr>
        <p:spPr>
          <a:xfrm>
            <a:off x="701487" y="2761330"/>
            <a:ext cx="461173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cxnSpLocks/>
          </p:cNvCxnSpPr>
          <p:nvPr/>
        </p:nvCxnSpPr>
        <p:spPr>
          <a:xfrm>
            <a:off x="701487" y="3428382"/>
            <a:ext cx="461173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cxnSpLocks/>
          </p:cNvCxnSpPr>
          <p:nvPr/>
        </p:nvCxnSpPr>
        <p:spPr>
          <a:xfrm>
            <a:off x="701487" y="4370218"/>
            <a:ext cx="461173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cxnSpLocks/>
          </p:cNvCxnSpPr>
          <p:nvPr/>
        </p:nvCxnSpPr>
        <p:spPr>
          <a:xfrm>
            <a:off x="701487" y="5221995"/>
            <a:ext cx="461173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42494" y="304804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41160" y="379539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bwMode="auto">
          <a:xfrm>
            <a:off x="1039088" y="465281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2895180"/>
            <a:ext cx="383910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你理解的网络信息内容安全是什么？</a:t>
            </a:r>
          </a:p>
        </p:txBody>
      </p:sp>
      <p:sp>
        <p:nvSpPr>
          <p:cNvPr id="82" name="文本框 13"/>
          <p:cNvSpPr txBox="1"/>
          <p:nvPr/>
        </p:nvSpPr>
        <p:spPr>
          <a:xfrm>
            <a:off x="1499886" y="4404535"/>
            <a:ext cx="3813332"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你认为有哪些方法，可以更好的保障网络信息内容的安全？</a:t>
            </a:r>
          </a:p>
        </p:txBody>
      </p:sp>
      <p:sp>
        <p:nvSpPr>
          <p:cNvPr id="83" name="文本框 14"/>
          <p:cNvSpPr txBox="1"/>
          <p:nvPr/>
        </p:nvSpPr>
        <p:spPr>
          <a:xfrm>
            <a:off x="1530368" y="3508349"/>
            <a:ext cx="383910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生活中遭遇过哪些网络诈骗或互联网诈骗？</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3416320"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本节小结及思考</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268" name="Picture 4" descr="“大数据 网络攻击”的图片搜索结果"/>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47411" y="2401111"/>
            <a:ext cx="3925274" cy="26142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任意多边形 67"/>
          <p:cNvSpPr/>
          <p:nvPr/>
        </p:nvSpPr>
        <p:spPr>
          <a:xfrm>
            <a:off x="0" y="4659317"/>
            <a:ext cx="12192000" cy="1552201"/>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70" name="文本框 69"/>
          <p:cNvSpPr txBox="1"/>
          <p:nvPr/>
        </p:nvSpPr>
        <p:spPr>
          <a:xfrm>
            <a:off x="2510807" y="4683003"/>
            <a:ext cx="7333535" cy="1015663"/>
          </a:xfrm>
          <a:prstGeom prst="rect">
            <a:avLst/>
          </a:prstGeom>
          <a:noFill/>
        </p:spPr>
        <p:txBody>
          <a:bodyPr wrap="square" rtlCol="0">
            <a:spAutoFit/>
          </a:bodyPr>
          <a:lstStyle/>
          <a:p>
            <a:pPr algn="dist"/>
            <a:r>
              <a:rPr lang="zh-CN" altLang="en-US" sz="6000" dirty="0">
                <a:solidFill>
                  <a:schemeClr val="bg1"/>
                </a:solidFill>
                <a:latin typeface="方正粗宋简体" panose="03000509000000000000" pitchFamily="65" charset="-122"/>
                <a:ea typeface="方正粗宋简体" panose="03000509000000000000" pitchFamily="65" charset="-122"/>
              </a:rPr>
              <a:t>网络信息内容安全</a:t>
            </a:r>
          </a:p>
        </p:txBody>
      </p:sp>
      <p:sp>
        <p:nvSpPr>
          <p:cNvPr id="71" name="文本框 70"/>
          <p:cNvSpPr txBox="1"/>
          <p:nvPr/>
        </p:nvSpPr>
        <p:spPr>
          <a:xfrm>
            <a:off x="2710197" y="5624090"/>
            <a:ext cx="7086167" cy="553085"/>
          </a:xfrm>
          <a:prstGeom prst="rect">
            <a:avLst/>
          </a:prstGeom>
          <a:noFill/>
        </p:spPr>
        <p:txBody>
          <a:bodyPr wrap="square" rtlCol="0">
            <a:spAutoFit/>
          </a:bodyPr>
          <a:lstStyle/>
          <a:p>
            <a:pPr algn="dist"/>
            <a:r>
              <a:rPr lang="zh-CN" altLang="en-US" sz="3000" dirty="0">
                <a:latin typeface="微软雅黑" panose="020B0503020204020204" pitchFamily="34" charset="-122"/>
                <a:ea typeface="微软雅黑" panose="020B0503020204020204" pitchFamily="34" charset="-122"/>
              </a:rPr>
              <a:t>网络信息的获取</a:t>
            </a:r>
          </a:p>
        </p:txBody>
      </p:sp>
      <p:grpSp>
        <p:nvGrpSpPr>
          <p:cNvPr id="18" name="组合 17"/>
          <p:cNvGrpSpPr/>
          <p:nvPr/>
        </p:nvGrpSpPr>
        <p:grpSpPr>
          <a:xfrm>
            <a:off x="1921216" y="192860"/>
            <a:ext cx="8579793" cy="3265984"/>
            <a:chOff x="1921216" y="192860"/>
            <a:chExt cx="8579793" cy="3265984"/>
          </a:xfrm>
        </p:grpSpPr>
        <p:grpSp>
          <p:nvGrpSpPr>
            <p:cNvPr id="7188" name="组合 7187"/>
            <p:cNvGrpSpPr/>
            <p:nvPr/>
          </p:nvGrpSpPr>
          <p:grpSpPr>
            <a:xfrm rot="20997101">
              <a:off x="4594305" y="192860"/>
              <a:ext cx="659781" cy="793569"/>
              <a:chOff x="9397113" y="1572484"/>
              <a:chExt cx="739439" cy="900000"/>
            </a:xfrm>
          </p:grpSpPr>
          <p:pic>
            <p:nvPicPr>
              <p:cNvPr id="7168" name="图片 7167"/>
              <p:cNvPicPr>
                <a:picLocks noChangeAspect="1"/>
              </p:cNvPicPr>
              <p:nvPr/>
            </p:nvPicPr>
            <p:blipFill rotWithShape="1">
              <a:blip r:embed="rId3">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25" name="椭圆 2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89" name="组合 7188"/>
            <p:cNvGrpSpPr/>
            <p:nvPr/>
          </p:nvGrpSpPr>
          <p:grpSpPr>
            <a:xfrm rot="2455872">
              <a:off x="9545795" y="1200076"/>
              <a:ext cx="659781" cy="793569"/>
              <a:chOff x="8752405" y="680495"/>
              <a:chExt cx="739439" cy="900000"/>
            </a:xfrm>
          </p:grpSpPr>
          <p:pic>
            <p:nvPicPr>
              <p:cNvPr id="29" name="图片 28"/>
              <p:cNvPicPr>
                <a:picLocks noChangeAspect="1"/>
              </p:cNvPicPr>
              <p:nvPr/>
            </p:nvPicPr>
            <p:blipFill rotWithShape="1">
              <a:blip r:embed="rId4">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26" name="椭圆 25"/>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0" name="组合 7189"/>
            <p:cNvGrpSpPr/>
            <p:nvPr/>
          </p:nvGrpSpPr>
          <p:grpSpPr>
            <a:xfrm rot="20539373">
              <a:off x="3895784" y="1063209"/>
              <a:ext cx="642436" cy="793569"/>
              <a:chOff x="7798300" y="2128176"/>
              <a:chExt cx="720000" cy="900000"/>
            </a:xfrm>
          </p:grpSpPr>
          <p:pic>
            <p:nvPicPr>
              <p:cNvPr id="7175" name="图片 7174"/>
              <p:cNvPicPr>
                <a:picLocks noChangeAspect="1"/>
              </p:cNvPicPr>
              <p:nvPr/>
            </p:nvPicPr>
            <p:blipFill rotWithShape="1">
              <a:blip r:embed="rId5">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4" name="椭圆 33"/>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1" name="组合 7190"/>
            <p:cNvGrpSpPr/>
            <p:nvPr/>
          </p:nvGrpSpPr>
          <p:grpSpPr>
            <a:xfrm rot="622440">
              <a:off x="6993372" y="431407"/>
              <a:ext cx="643355" cy="793569"/>
              <a:chOff x="5457544" y="2382484"/>
              <a:chExt cx="721030" cy="900000"/>
            </a:xfrm>
          </p:grpSpPr>
          <p:pic>
            <p:nvPicPr>
              <p:cNvPr id="7171" name="图片 717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7" name="椭圆 3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20351331">
              <a:off x="2777184" y="624184"/>
              <a:ext cx="642436" cy="793569"/>
              <a:chOff x="3277182" y="773323"/>
              <a:chExt cx="720000" cy="900000"/>
            </a:xfrm>
          </p:grpSpPr>
          <p:sp>
            <p:nvSpPr>
              <p:cNvPr id="45" name="椭圆 44"/>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7173" name="组合 7172"/>
            <p:cNvGrpSpPr/>
            <p:nvPr/>
          </p:nvGrpSpPr>
          <p:grpSpPr>
            <a:xfrm rot="1912890">
              <a:off x="8324851" y="1445561"/>
              <a:ext cx="648427" cy="793569"/>
              <a:chOff x="5384758" y="1250900"/>
              <a:chExt cx="726714" cy="900000"/>
            </a:xfrm>
          </p:grpSpPr>
          <p:sp>
            <p:nvSpPr>
              <p:cNvPr id="36" name="椭圆 3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7176" name="组合 7175"/>
            <p:cNvGrpSpPr/>
            <p:nvPr/>
          </p:nvGrpSpPr>
          <p:grpSpPr>
            <a:xfrm rot="1354213">
              <a:off x="7257146" y="1255327"/>
              <a:ext cx="642436" cy="793569"/>
              <a:chOff x="3639753" y="2488176"/>
              <a:chExt cx="720000" cy="900000"/>
            </a:xfrm>
          </p:grpSpPr>
          <p:sp>
            <p:nvSpPr>
              <p:cNvPr id="46" name="椭圆 45"/>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7172" name="组合 7171"/>
            <p:cNvGrpSpPr/>
            <p:nvPr/>
          </p:nvGrpSpPr>
          <p:grpSpPr>
            <a:xfrm rot="19874646">
              <a:off x="3299688" y="1751721"/>
              <a:ext cx="647730" cy="793569"/>
              <a:chOff x="4707387" y="271511"/>
              <a:chExt cx="725933" cy="900000"/>
            </a:xfrm>
          </p:grpSpPr>
          <p:sp>
            <p:nvSpPr>
              <p:cNvPr id="24" name="椭圆 23"/>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7174" name="组合 7173"/>
            <p:cNvGrpSpPr/>
            <p:nvPr/>
          </p:nvGrpSpPr>
          <p:grpSpPr>
            <a:xfrm rot="19414460">
              <a:off x="2170159" y="2542950"/>
              <a:ext cx="647456" cy="793569"/>
              <a:chOff x="4355614" y="1671769"/>
              <a:chExt cx="725626" cy="900000"/>
            </a:xfrm>
          </p:grpSpPr>
          <p:sp>
            <p:nvSpPr>
              <p:cNvPr id="41" name="椭圆 40"/>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图片 716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7182" name="组合 7181"/>
            <p:cNvGrpSpPr/>
            <p:nvPr/>
          </p:nvGrpSpPr>
          <p:grpSpPr>
            <a:xfrm rot="3261331">
              <a:off x="8917619" y="2218585"/>
              <a:ext cx="645495" cy="803045"/>
              <a:chOff x="6534782" y="2204846"/>
              <a:chExt cx="732066" cy="900000"/>
            </a:xfrm>
          </p:grpSpPr>
          <p:sp>
            <p:nvSpPr>
              <p:cNvPr id="35" name="椭圆 34"/>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7" name="图片 717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7184" name="组合 7183"/>
            <p:cNvGrpSpPr/>
            <p:nvPr/>
          </p:nvGrpSpPr>
          <p:grpSpPr>
            <a:xfrm rot="1881527">
              <a:off x="8519801" y="497692"/>
              <a:ext cx="646830" cy="793569"/>
              <a:chOff x="5993772" y="258109"/>
              <a:chExt cx="724925" cy="900000"/>
            </a:xfrm>
          </p:grpSpPr>
          <p:sp>
            <p:nvSpPr>
              <p:cNvPr id="33" name="椭圆 32"/>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9" name="图片 717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7186" name="组合 7185"/>
            <p:cNvGrpSpPr/>
            <p:nvPr/>
          </p:nvGrpSpPr>
          <p:grpSpPr>
            <a:xfrm rot="3066563">
              <a:off x="9781605" y="2529217"/>
              <a:ext cx="635764" cy="803045"/>
              <a:chOff x="8806213" y="2910111"/>
              <a:chExt cx="721030" cy="900000"/>
            </a:xfrm>
          </p:grpSpPr>
          <p:sp>
            <p:nvSpPr>
              <p:cNvPr id="2" name="椭圆 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0" name="图片 717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7183" name="组合 7182"/>
            <p:cNvGrpSpPr/>
            <p:nvPr/>
          </p:nvGrpSpPr>
          <p:grpSpPr>
            <a:xfrm rot="20849518">
              <a:off x="4617491" y="1468461"/>
              <a:ext cx="644890" cy="793569"/>
              <a:chOff x="7330781" y="818297"/>
              <a:chExt cx="722751" cy="900000"/>
            </a:xfrm>
          </p:grpSpPr>
          <p:sp>
            <p:nvSpPr>
              <p:cNvPr id="27" name="椭圆 2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1" name="图片 718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7185" name="组合 7184"/>
            <p:cNvGrpSpPr/>
            <p:nvPr/>
          </p:nvGrpSpPr>
          <p:grpSpPr>
            <a:xfrm rot="19756194">
              <a:off x="1921216" y="1486339"/>
              <a:ext cx="653202" cy="793569"/>
              <a:chOff x="2213446" y="1768419"/>
              <a:chExt cx="732066" cy="900000"/>
            </a:xfrm>
          </p:grpSpPr>
          <p:pic>
            <p:nvPicPr>
              <p:cNvPr id="7178" name="图片 717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66" name="椭圆 6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193" name="直接连接符 7192"/>
            <p:cNvCxnSpPr>
              <a:stCxn id="24"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66"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5"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34"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1"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7"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7"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6"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33"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6"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26"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35"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2" name="图片 7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619415" y="1218407"/>
            <a:ext cx="954000" cy="954000"/>
          </a:xfrm>
          <a:prstGeom prst="rect">
            <a:avLst/>
          </a:prstGeom>
        </p:spPr>
      </p:pic>
      <p:pic>
        <p:nvPicPr>
          <p:cNvPr id="74" name="Picture 5" descr="“大数据时代 安全”的图片搜索结果"/>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215611" y="3431136"/>
            <a:ext cx="1776150" cy="10551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4"/>
          <p:cNvSpPr>
            <a:spLocks noChangeArrowheads="1"/>
          </p:cNvSpPr>
          <p:nvPr/>
        </p:nvSpPr>
        <p:spPr bwMode="auto">
          <a:xfrm>
            <a:off x="1494368" y="195699"/>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目录</a:t>
            </a:r>
          </a:p>
        </p:txBody>
      </p:sp>
      <p:sp>
        <p:nvSpPr>
          <p:cNvPr id="18435" name="直接连接符 13"/>
          <p:cNvSpPr>
            <a:spLocks noChangeShapeType="1"/>
          </p:cNvSpPr>
          <p:nvPr/>
        </p:nvSpPr>
        <p:spPr bwMode="auto">
          <a:xfrm>
            <a:off x="675218" y="845125"/>
            <a:ext cx="6193367"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5" name="Group 4"/>
          <p:cNvGrpSpPr/>
          <p:nvPr/>
        </p:nvGrpSpPr>
        <p:grpSpPr bwMode="auto">
          <a:xfrm>
            <a:off x="1269967" y="1801869"/>
            <a:ext cx="1016000" cy="665162"/>
            <a:chOff x="1110" y="2656"/>
            <a:chExt cx="1549" cy="1351"/>
          </a:xfrm>
          <a:gradFill flip="none" rotWithShape="1">
            <a:gsLst>
              <a:gs pos="0">
                <a:srgbClr val="336699">
                  <a:shade val="30000"/>
                  <a:satMod val="115000"/>
                </a:srgbClr>
              </a:gs>
              <a:gs pos="50000">
                <a:srgbClr val="336699">
                  <a:shade val="67500"/>
                  <a:satMod val="115000"/>
                </a:srgbClr>
              </a:gs>
              <a:gs pos="100000">
                <a:srgbClr val="336699">
                  <a:shade val="100000"/>
                  <a:satMod val="115000"/>
                </a:srgbClr>
              </a:gs>
            </a:gsLst>
            <a:lin ang="2700000" scaled="1"/>
            <a:tileRect/>
          </a:gradFill>
        </p:grpSpPr>
        <p:sp>
          <p:nvSpPr>
            <p:cNvPr id="38" name="AutoShape 5"/>
            <p:cNvSpPr>
              <a:spLocks noChangeArrowheads="1"/>
            </p:cNvSpPr>
            <p:nvPr/>
          </p:nvSpPr>
          <p:spPr bwMode="gray">
            <a:xfrm>
              <a:off x="1123" y="2679"/>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9" name="AutoShape 6"/>
            <p:cNvSpPr>
              <a:spLocks noChangeArrowheads="1"/>
            </p:cNvSpPr>
            <p:nvPr/>
          </p:nvSpPr>
          <p:spPr bwMode="gray">
            <a:xfrm>
              <a:off x="1110" y="2656"/>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0" name="AutoShape 7"/>
            <p:cNvSpPr>
              <a:spLocks noChangeArrowheads="1"/>
            </p:cNvSpPr>
            <p:nvPr/>
          </p:nvSpPr>
          <p:spPr bwMode="gray">
            <a:xfrm>
              <a:off x="1200" y="2736"/>
              <a:ext cx="1350" cy="1168"/>
            </a:xfrm>
            <a:prstGeom prst="hexagon">
              <a:avLst>
                <a:gd name="adj" fmla="val 2889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7" name="Line 8"/>
          <p:cNvSpPr>
            <a:spLocks noChangeShapeType="1"/>
          </p:cNvSpPr>
          <p:nvPr/>
        </p:nvSpPr>
        <p:spPr bwMode="auto">
          <a:xfrm>
            <a:off x="2082767" y="2411689"/>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2991274" y="1803246"/>
            <a:ext cx="2339102"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互联网信息分类</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gray">
          <a:xfrm>
            <a:off x="1585540" y="190051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1</a:t>
            </a:r>
          </a:p>
        </p:txBody>
      </p:sp>
      <p:grpSp>
        <p:nvGrpSpPr>
          <p:cNvPr id="10" name="Group 11"/>
          <p:cNvGrpSpPr/>
          <p:nvPr/>
        </p:nvGrpSpPr>
        <p:grpSpPr bwMode="auto">
          <a:xfrm>
            <a:off x="1269967" y="2587687"/>
            <a:ext cx="1016000" cy="665162"/>
            <a:chOff x="3174" y="2656"/>
            <a:chExt cx="1549" cy="1351"/>
          </a:xfrm>
          <a:gradFill flip="none" rotWithShape="1">
            <a:gsLst>
              <a:gs pos="0">
                <a:srgbClr val="339966">
                  <a:shade val="30000"/>
                  <a:satMod val="115000"/>
                </a:srgbClr>
              </a:gs>
              <a:gs pos="50000">
                <a:srgbClr val="339966">
                  <a:shade val="67500"/>
                  <a:satMod val="115000"/>
                </a:srgbClr>
              </a:gs>
              <a:gs pos="100000">
                <a:srgbClr val="339966">
                  <a:shade val="100000"/>
                  <a:satMod val="115000"/>
                </a:srgbClr>
              </a:gs>
            </a:gsLst>
            <a:lin ang="2700000" scaled="1"/>
            <a:tileRect/>
          </a:gradFill>
        </p:grpSpPr>
        <p:sp>
          <p:nvSpPr>
            <p:cNvPr id="35" name="AutoShape 12"/>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6" name="AutoShape 13"/>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7" name="AutoShape 14"/>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1" name="Line 15"/>
          <p:cNvSpPr>
            <a:spLocks noChangeShapeType="1"/>
          </p:cNvSpPr>
          <p:nvPr/>
        </p:nvSpPr>
        <p:spPr bwMode="auto">
          <a:xfrm>
            <a:off x="2082767" y="3197502"/>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3" name="Text Box 17"/>
          <p:cNvSpPr txBox="1">
            <a:spLocks noChangeArrowheads="1"/>
          </p:cNvSpPr>
          <p:nvPr/>
        </p:nvSpPr>
        <p:spPr bwMode="gray">
          <a:xfrm>
            <a:off x="1585540" y="2686328"/>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2</a:t>
            </a:r>
          </a:p>
        </p:txBody>
      </p:sp>
      <p:grpSp>
        <p:nvGrpSpPr>
          <p:cNvPr id="14" name="Group 18"/>
          <p:cNvGrpSpPr/>
          <p:nvPr/>
        </p:nvGrpSpPr>
        <p:grpSpPr bwMode="auto">
          <a:xfrm>
            <a:off x="1269967" y="3373505"/>
            <a:ext cx="1016000" cy="665162"/>
            <a:chOff x="1110" y="2656"/>
            <a:chExt cx="1549" cy="1351"/>
          </a:xfrm>
          <a:gradFill flip="none" rotWithShape="1">
            <a:gsLst>
              <a:gs pos="0">
                <a:schemeClr val="bg2">
                  <a:lumMod val="60000"/>
                  <a:lumOff val="40000"/>
                  <a:shade val="30000"/>
                  <a:satMod val="115000"/>
                </a:schemeClr>
              </a:gs>
              <a:gs pos="50000">
                <a:schemeClr val="bg2">
                  <a:lumMod val="60000"/>
                  <a:lumOff val="40000"/>
                  <a:shade val="67500"/>
                  <a:satMod val="115000"/>
                </a:schemeClr>
              </a:gs>
              <a:gs pos="100000">
                <a:schemeClr val="bg2">
                  <a:lumMod val="60000"/>
                  <a:lumOff val="40000"/>
                  <a:shade val="100000"/>
                  <a:satMod val="115000"/>
                </a:schemeClr>
              </a:gs>
            </a:gsLst>
            <a:lin ang="2700000" scaled="1"/>
            <a:tileRect/>
          </a:gradFill>
        </p:grpSpPr>
        <p:sp>
          <p:nvSpPr>
            <p:cNvPr id="32" name="AutoShape 19"/>
            <p:cNvSpPr>
              <a:spLocks noChangeArrowheads="1"/>
            </p:cNvSpPr>
            <p:nvPr/>
          </p:nvSpPr>
          <p:spPr bwMode="gray">
            <a:xfrm>
              <a:off x="1123"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3" name="AutoShape 20"/>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4" name="AutoShape 21"/>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5" name="Line 22"/>
          <p:cNvSpPr>
            <a:spLocks noChangeShapeType="1"/>
          </p:cNvSpPr>
          <p:nvPr/>
        </p:nvSpPr>
        <p:spPr bwMode="auto">
          <a:xfrm>
            <a:off x="2082767" y="3983314"/>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Text Box 23"/>
          <p:cNvSpPr txBox="1">
            <a:spLocks noChangeArrowheads="1"/>
          </p:cNvSpPr>
          <p:nvPr/>
        </p:nvSpPr>
        <p:spPr bwMode="auto">
          <a:xfrm>
            <a:off x="3007867" y="2587688"/>
            <a:ext cx="2954655"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网络媒体信息的获取</a:t>
            </a:r>
          </a:p>
        </p:txBody>
      </p:sp>
      <p:sp>
        <p:nvSpPr>
          <p:cNvPr id="17" name="Text Box 24"/>
          <p:cNvSpPr txBox="1">
            <a:spLocks noChangeArrowheads="1"/>
          </p:cNvSpPr>
          <p:nvPr/>
        </p:nvSpPr>
        <p:spPr bwMode="gray">
          <a:xfrm>
            <a:off x="1585540" y="3472140"/>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3</a:t>
            </a:r>
          </a:p>
        </p:txBody>
      </p:sp>
      <p:grpSp>
        <p:nvGrpSpPr>
          <p:cNvPr id="18" name="Group 25"/>
          <p:cNvGrpSpPr/>
          <p:nvPr/>
        </p:nvGrpSpPr>
        <p:grpSpPr bwMode="auto">
          <a:xfrm>
            <a:off x="1269967" y="4159323"/>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29"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0"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1"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9" name="Line 29"/>
          <p:cNvSpPr>
            <a:spLocks noChangeShapeType="1"/>
          </p:cNvSpPr>
          <p:nvPr/>
        </p:nvSpPr>
        <p:spPr bwMode="auto">
          <a:xfrm>
            <a:off x="2082767" y="4769127"/>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0" name="Text Box 30"/>
          <p:cNvSpPr txBox="1">
            <a:spLocks noChangeArrowheads="1"/>
          </p:cNvSpPr>
          <p:nvPr/>
        </p:nvSpPr>
        <p:spPr bwMode="auto">
          <a:xfrm>
            <a:off x="3007867" y="3405310"/>
            <a:ext cx="2954655"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网络通信信息的获取</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1" name="Text Box 31"/>
          <p:cNvSpPr txBox="1">
            <a:spLocks noChangeArrowheads="1"/>
          </p:cNvSpPr>
          <p:nvPr/>
        </p:nvSpPr>
        <p:spPr bwMode="gray">
          <a:xfrm>
            <a:off x="1585540" y="4257953"/>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4</a:t>
            </a:r>
          </a:p>
        </p:txBody>
      </p:sp>
      <p:grpSp>
        <p:nvGrpSpPr>
          <p:cNvPr id="22" name="Group 25"/>
          <p:cNvGrpSpPr/>
          <p:nvPr/>
        </p:nvGrpSpPr>
        <p:grpSpPr bwMode="auto">
          <a:xfrm>
            <a:off x="1282809" y="4945141"/>
            <a:ext cx="1016000" cy="665162"/>
            <a:chOff x="3174" y="2656"/>
            <a:chExt cx="1549" cy="1351"/>
          </a:xfrm>
          <a:solidFill>
            <a:srgbClr val="31B5D6"/>
          </a:solidFill>
        </p:grpSpPr>
        <p:sp>
          <p:nvSpPr>
            <p:cNvPr id="26"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7"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8"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23" name="Line 29"/>
          <p:cNvSpPr>
            <a:spLocks noChangeShapeType="1"/>
          </p:cNvSpPr>
          <p:nvPr/>
        </p:nvSpPr>
        <p:spPr bwMode="auto">
          <a:xfrm>
            <a:off x="2095467" y="5554939"/>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4" name="Text Box 30"/>
          <p:cNvSpPr txBox="1">
            <a:spLocks noChangeArrowheads="1"/>
          </p:cNvSpPr>
          <p:nvPr/>
        </p:nvSpPr>
        <p:spPr bwMode="auto">
          <a:xfrm>
            <a:off x="3097003" y="4170648"/>
            <a:ext cx="1402080" cy="46037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本节小结</a:t>
            </a:r>
            <a:endParaRPr lang="en-US" altLang="zh-CN" dirty="0">
              <a:latin typeface="微软雅黑" panose="020B0503020204020204" pitchFamily="34" charset="-122"/>
              <a:ea typeface="微软雅黑" panose="020B0503020204020204" pitchFamily="34" charset="-122"/>
            </a:endParaRPr>
          </a:p>
        </p:txBody>
      </p:sp>
      <p:sp>
        <p:nvSpPr>
          <p:cNvPr id="25" name="Text Box 31"/>
          <p:cNvSpPr txBox="1">
            <a:spLocks noChangeArrowheads="1"/>
          </p:cNvSpPr>
          <p:nvPr/>
        </p:nvSpPr>
        <p:spPr bwMode="gray">
          <a:xfrm>
            <a:off x="1598240" y="5043765"/>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5</a:t>
            </a:r>
          </a:p>
        </p:txBody>
      </p:sp>
      <p:sp>
        <p:nvSpPr>
          <p:cNvPr id="42" name="Text Box 30"/>
          <p:cNvSpPr txBox="1">
            <a:spLocks noChangeArrowheads="1"/>
          </p:cNvSpPr>
          <p:nvPr/>
        </p:nvSpPr>
        <p:spPr bwMode="auto">
          <a:xfrm>
            <a:off x="3122504" y="4970173"/>
            <a:ext cx="1107996" cy="46166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思考题</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560" y="499204"/>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143000"/>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1. </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互联网信息分类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340"/>
          <p:cNvSpPr txBox="1"/>
          <p:nvPr/>
        </p:nvSpPr>
        <p:spPr>
          <a:xfrm>
            <a:off x="2187018" y="4112571"/>
            <a:ext cx="2985780" cy="973472"/>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400" dirty="0"/>
              <a:t>网络媒体形态</a:t>
            </a:r>
            <a:endParaRPr lang="en-US" altLang="zh-CN" sz="2400" dirty="0"/>
          </a:p>
          <a:p>
            <a:pPr marL="342900" indent="-342900">
              <a:buFont typeface="Arial" panose="020B0604020202020204" pitchFamily="34" charset="0"/>
              <a:buChar char="•"/>
            </a:pPr>
            <a:r>
              <a:rPr lang="zh-CN" altLang="en-US" sz="2400" dirty="0"/>
              <a:t>发布信息类型</a:t>
            </a:r>
            <a:endParaRPr lang="en-US" altLang="zh-CN" sz="2400" dirty="0"/>
          </a:p>
        </p:txBody>
      </p:sp>
      <p:grpSp>
        <p:nvGrpSpPr>
          <p:cNvPr id="3" name="组合 2">
            <a:extLst>
              <a:ext uri="{FF2B5EF4-FFF2-40B4-BE49-F238E27FC236}">
                <a16:creationId xmlns:a16="http://schemas.microsoft.com/office/drawing/2014/main" id="{EFC8CC67-455B-443E-A1D3-D783CBCF9518}"/>
              </a:ext>
            </a:extLst>
          </p:cNvPr>
          <p:cNvGrpSpPr/>
          <p:nvPr/>
        </p:nvGrpSpPr>
        <p:grpSpPr>
          <a:xfrm>
            <a:off x="1584485" y="5689954"/>
            <a:ext cx="8672242" cy="772082"/>
            <a:chOff x="1584484" y="5870063"/>
            <a:chExt cx="9267497" cy="850900"/>
          </a:xfrm>
        </p:grpSpPr>
        <p:sp>
          <p:nvSpPr>
            <p:cNvPr id="78" name="圆角矩形 77"/>
            <p:cNvSpPr/>
            <p:nvPr/>
          </p:nvSpPr>
          <p:spPr>
            <a:xfrm>
              <a:off x="1584484" y="5870063"/>
              <a:ext cx="9267497" cy="850900"/>
            </a:xfrm>
            <a:prstGeom prst="roundRect">
              <a:avLst>
                <a:gd name="adj" fmla="val 9394"/>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2228374" y="5976206"/>
              <a:ext cx="7706331" cy="576633"/>
            </a:xfrm>
            <a:prstGeom prst="rect">
              <a:avLst/>
            </a:prstGeom>
          </p:spPr>
          <p:txBody>
            <a:bodyPr wrap="square">
              <a:spAutoFit/>
            </a:bodyPr>
            <a:lstStyle/>
            <a:p>
              <a:r>
                <a:rPr lang="zh-CN" altLang="en-US"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网络媒体信息是指互联网公开发布的信息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网络媒体信息划分方法</a:t>
            </a:r>
          </a:p>
        </p:txBody>
      </p:sp>
      <p:sp>
        <p:nvSpPr>
          <p:cNvPr id="8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4" name="组合 3">
            <a:extLst>
              <a:ext uri="{FF2B5EF4-FFF2-40B4-BE49-F238E27FC236}">
                <a16:creationId xmlns:a16="http://schemas.microsoft.com/office/drawing/2014/main" id="{4F4F9DD5-C0C9-481B-A85F-FA0AC1B1EA2C}"/>
              </a:ext>
            </a:extLst>
          </p:cNvPr>
          <p:cNvGrpSpPr/>
          <p:nvPr/>
        </p:nvGrpSpPr>
        <p:grpSpPr>
          <a:xfrm>
            <a:off x="1871531" y="1253458"/>
            <a:ext cx="8346439" cy="2806544"/>
            <a:chOff x="1871531" y="1204969"/>
            <a:chExt cx="8346439" cy="2806544"/>
          </a:xfrm>
          <a:effectLst/>
        </p:grpSpPr>
        <p:grpSp>
          <p:nvGrpSpPr>
            <p:cNvPr id="18" name="组合 17"/>
            <p:cNvGrpSpPr/>
            <p:nvPr/>
          </p:nvGrpSpPr>
          <p:grpSpPr>
            <a:xfrm>
              <a:off x="1871531" y="1204969"/>
              <a:ext cx="8346439" cy="2051015"/>
              <a:chOff x="1921216" y="192860"/>
              <a:chExt cx="8579793" cy="3265984"/>
            </a:xfrm>
          </p:grpSpPr>
          <p:grpSp>
            <p:nvGrpSpPr>
              <p:cNvPr id="19" name="组合 18"/>
              <p:cNvGrpSpPr/>
              <p:nvPr/>
            </p:nvGrpSpPr>
            <p:grpSpPr>
              <a:xfrm rot="20997101">
                <a:off x="4594305" y="192860"/>
                <a:ext cx="659781" cy="793569"/>
                <a:chOff x="9397113" y="1572484"/>
                <a:chExt cx="739439" cy="900000"/>
              </a:xfrm>
            </p:grpSpPr>
            <p:pic>
              <p:nvPicPr>
                <p:cNvPr id="74" name="图片 73"/>
                <p:cNvPicPr>
                  <a:picLocks noChangeAspect="1"/>
                </p:cNvPicPr>
                <p:nvPr/>
              </p:nvPicPr>
              <p:blipFill rotWithShape="1">
                <a:blip r:embed="rId2">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75" name="椭圆 7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rot="2455872">
                <a:off x="9545795" y="1200076"/>
                <a:ext cx="659781" cy="793569"/>
                <a:chOff x="8752405" y="680495"/>
                <a:chExt cx="739439" cy="900000"/>
              </a:xfrm>
            </p:grpSpPr>
            <p:pic>
              <p:nvPicPr>
                <p:cNvPr id="72" name="图片 71"/>
                <p:cNvPicPr>
                  <a:picLocks noChangeAspect="1"/>
                </p:cNvPicPr>
                <p:nvPr/>
              </p:nvPicPr>
              <p:blipFill rotWithShape="1">
                <a:blip r:embed="rId3">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73" name="椭圆 7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rot="20539373">
                <a:off x="3895784" y="1063209"/>
                <a:ext cx="642436" cy="793569"/>
                <a:chOff x="7798300" y="2128176"/>
                <a:chExt cx="720000" cy="900000"/>
              </a:xfrm>
            </p:grpSpPr>
            <p:pic>
              <p:nvPicPr>
                <p:cNvPr id="70" name="图片 69"/>
                <p:cNvPicPr>
                  <a:picLocks noChangeAspect="1"/>
                </p:cNvPicPr>
                <p:nvPr/>
              </p:nvPicPr>
              <p:blipFill rotWithShape="1">
                <a:blip r:embed="rId4">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71" name="椭圆 7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rot="622440">
                <a:off x="6993372" y="431407"/>
                <a:ext cx="643355" cy="793569"/>
                <a:chOff x="5457544" y="2382484"/>
                <a:chExt cx="721030" cy="900000"/>
              </a:xfrm>
            </p:grpSpPr>
            <p:pic>
              <p:nvPicPr>
                <p:cNvPr id="68" name="图片 6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69" name="椭圆 6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rot="20351331">
                <a:off x="2777184" y="624184"/>
                <a:ext cx="642436" cy="793569"/>
                <a:chOff x="3277182" y="773323"/>
                <a:chExt cx="720000" cy="900000"/>
              </a:xfrm>
            </p:grpSpPr>
            <p:sp>
              <p:nvSpPr>
                <p:cNvPr id="66" name="椭圆 65"/>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7" name="图片 6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4" name="组合 23"/>
              <p:cNvGrpSpPr/>
              <p:nvPr/>
            </p:nvGrpSpPr>
            <p:grpSpPr>
              <a:xfrm rot="1912890">
                <a:off x="8324851" y="1445561"/>
                <a:ext cx="648427" cy="793569"/>
                <a:chOff x="5384758" y="1250900"/>
                <a:chExt cx="726714" cy="900000"/>
              </a:xfrm>
            </p:grpSpPr>
            <p:sp>
              <p:nvSpPr>
                <p:cNvPr id="64" name="椭圆 63"/>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5" name="图片 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5" name="组合 24"/>
              <p:cNvGrpSpPr/>
              <p:nvPr/>
            </p:nvGrpSpPr>
            <p:grpSpPr>
              <a:xfrm rot="1354213">
                <a:off x="7257146" y="1255327"/>
                <a:ext cx="642436" cy="793569"/>
                <a:chOff x="3639753" y="2488176"/>
                <a:chExt cx="720000" cy="900000"/>
              </a:xfrm>
            </p:grpSpPr>
            <p:sp>
              <p:nvSpPr>
                <p:cNvPr id="62" name="椭圆 61"/>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图片 6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6" name="组合 25"/>
              <p:cNvGrpSpPr/>
              <p:nvPr/>
            </p:nvGrpSpPr>
            <p:grpSpPr>
              <a:xfrm rot="19874646">
                <a:off x="3299688" y="1751721"/>
                <a:ext cx="647730" cy="793569"/>
                <a:chOff x="4707387" y="271511"/>
                <a:chExt cx="725933" cy="900000"/>
              </a:xfrm>
            </p:grpSpPr>
            <p:sp>
              <p:nvSpPr>
                <p:cNvPr id="60" name="椭圆 59"/>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7" name="组合 26"/>
              <p:cNvGrpSpPr/>
              <p:nvPr/>
            </p:nvGrpSpPr>
            <p:grpSpPr>
              <a:xfrm rot="19414460">
                <a:off x="2170159" y="2542950"/>
                <a:ext cx="647456" cy="793569"/>
                <a:chOff x="4355614" y="1671769"/>
                <a:chExt cx="725626" cy="900000"/>
              </a:xfrm>
            </p:grpSpPr>
            <p:sp>
              <p:nvSpPr>
                <p:cNvPr id="58" name="椭圆 57"/>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 name="组合 27"/>
              <p:cNvGrpSpPr/>
              <p:nvPr/>
            </p:nvGrpSpPr>
            <p:grpSpPr>
              <a:xfrm rot="3261331">
                <a:off x="8917619" y="2218585"/>
                <a:ext cx="645495" cy="803045"/>
                <a:chOff x="6534782" y="2204846"/>
                <a:chExt cx="732066" cy="900000"/>
              </a:xfrm>
            </p:grpSpPr>
            <p:sp>
              <p:nvSpPr>
                <p:cNvPr id="56" name="椭圆 55"/>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9" name="组合 28"/>
              <p:cNvGrpSpPr/>
              <p:nvPr/>
            </p:nvGrpSpPr>
            <p:grpSpPr>
              <a:xfrm rot="1881527">
                <a:off x="8519801" y="497692"/>
                <a:ext cx="646830" cy="793569"/>
                <a:chOff x="5993772" y="258109"/>
                <a:chExt cx="724925" cy="900000"/>
              </a:xfrm>
            </p:grpSpPr>
            <p:sp>
              <p:nvSpPr>
                <p:cNvPr id="54" name="椭圆 53"/>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30" name="组合 29"/>
              <p:cNvGrpSpPr/>
              <p:nvPr/>
            </p:nvGrpSpPr>
            <p:grpSpPr>
              <a:xfrm rot="3066563">
                <a:off x="9781605" y="2529217"/>
                <a:ext cx="635764" cy="803045"/>
                <a:chOff x="8806213" y="2910111"/>
                <a:chExt cx="721030" cy="900000"/>
              </a:xfrm>
            </p:grpSpPr>
            <p:sp>
              <p:nvSpPr>
                <p:cNvPr id="52" name="椭圆 5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31" name="组合 30"/>
              <p:cNvGrpSpPr/>
              <p:nvPr/>
            </p:nvGrpSpPr>
            <p:grpSpPr>
              <a:xfrm rot="20849518">
                <a:off x="4617491" y="1468461"/>
                <a:ext cx="644890" cy="793569"/>
                <a:chOff x="7330781" y="818297"/>
                <a:chExt cx="722751" cy="900000"/>
              </a:xfrm>
            </p:grpSpPr>
            <p:sp>
              <p:nvSpPr>
                <p:cNvPr id="50" name="椭圆 49"/>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32" name="组合 31"/>
              <p:cNvGrpSpPr/>
              <p:nvPr/>
            </p:nvGrpSpPr>
            <p:grpSpPr>
              <a:xfrm rot="19756194">
                <a:off x="1921216" y="1486339"/>
                <a:ext cx="653202" cy="793569"/>
                <a:chOff x="2213446" y="1768419"/>
                <a:chExt cx="732066" cy="900000"/>
              </a:xfrm>
            </p:grpSpPr>
            <p:pic>
              <p:nvPicPr>
                <p:cNvPr id="48" name="图片 4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49" name="椭圆 48"/>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3" name="直接连接符 32"/>
              <p:cNvCxnSpPr>
                <a:stCxn id="60"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49"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66"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71"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7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58"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50"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69"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2"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54"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64"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73"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5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56"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6" name="图片 7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67905" y="1828574"/>
              <a:ext cx="928052" cy="696039"/>
            </a:xfrm>
            <a:prstGeom prst="rect">
              <a:avLst/>
            </a:prstGeom>
          </p:spPr>
        </p:pic>
        <p:pic>
          <p:nvPicPr>
            <p:cNvPr id="5122" name="Picture 2" descr="“大数据”的图片搜索结果"/>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447950" y="3248821"/>
              <a:ext cx="1016923" cy="762692"/>
            </a:xfrm>
            <a:prstGeom prst="ellipse">
              <a:avLst/>
            </a:prstGeom>
            <a:ln w="63500" cap="rnd">
              <a:solidFill>
                <a:srgbClr val="31B5D6"/>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sp>
        <p:nvSpPr>
          <p:cNvPr id="2" name="矩形 1"/>
          <p:cNvSpPr/>
          <p:nvPr/>
        </p:nvSpPr>
        <p:spPr>
          <a:xfrm>
            <a:off x="7048718" y="4119498"/>
            <a:ext cx="3265992" cy="973472"/>
          </a:xfrm>
          <a:prstGeom prst="rect">
            <a:avLst/>
          </a:prstGeom>
        </p:spPr>
        <p:txBody>
          <a:bodyPr wrap="square">
            <a:spAutoFit/>
          </a:bodyPr>
          <a:lstStyle/>
          <a:p>
            <a:pPr marL="342900" indent="-342900">
              <a:lnSpc>
                <a:spcPct val="125000"/>
              </a:lnSpc>
              <a:buFont typeface="Arial" panose="020B0604020202020204"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媒体发布方式</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marL="342900" indent="-342900">
              <a:lnSpc>
                <a:spcPct val="125000"/>
              </a:lnSpc>
              <a:buFont typeface="Arial" panose="020B0604020202020204"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网页具体形态</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893618" y="4994054"/>
            <a:ext cx="10439400" cy="125367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传统网站媒体主要包含新闻网站，论坛（</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BBS</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）、博客（</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Blog</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）等形态；</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新型的交互式媒体涵盖搜索引擎、多媒体（视</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音频）点播、网上交友、网上招聘与电子商务（网络购物）等形态。</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596543" y="2412639"/>
            <a:ext cx="3817448" cy="1836068"/>
            <a:chOff x="285031" y="2166511"/>
            <a:chExt cx="3817448" cy="1836068"/>
          </a:xfrm>
        </p:grpSpPr>
        <p:grpSp>
          <p:nvGrpSpPr>
            <p:cNvPr id="8" name="组合 7"/>
            <p:cNvGrpSpPr/>
            <p:nvPr/>
          </p:nvGrpSpPr>
          <p:grpSpPr>
            <a:xfrm>
              <a:off x="3000669" y="2166511"/>
              <a:ext cx="1101810" cy="1281868"/>
              <a:chOff x="3048934" y="2166511"/>
              <a:chExt cx="1101810" cy="1281868"/>
            </a:xfrm>
          </p:grpSpPr>
          <p:sp>
            <p:nvSpPr>
              <p:cNvPr id="99" name="矩形 8"/>
              <p:cNvSpPr>
                <a:spLocks noChangeArrowheads="1"/>
              </p:cNvSpPr>
              <p:nvPr/>
            </p:nvSpPr>
            <p:spPr bwMode="auto">
              <a:xfrm>
                <a:off x="3181808" y="2166511"/>
                <a:ext cx="968936" cy="125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传统</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网站</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媒体</a:t>
                </a: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285031" y="3585221"/>
              <a:ext cx="369534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论坛（</a:t>
              </a:r>
              <a:r>
                <a:rPr lang="en-US" altLang="zh-CN" dirty="0">
                  <a:latin typeface="微软雅黑" panose="020B0503020204020204" pitchFamily="34" charset="-122"/>
                  <a:ea typeface="微软雅黑" panose="020B0503020204020204" pitchFamily="34" charset="-122"/>
                </a:rPr>
                <a:t>BBS</a:t>
              </a:r>
              <a:r>
                <a:rPr lang="zh-CN" altLang="en-US" dirty="0">
                  <a:latin typeface="微软雅黑" panose="020B0503020204020204" pitchFamily="34" charset="-122"/>
                  <a:ea typeface="微软雅黑" panose="020B0503020204020204" pitchFamily="34" charset="-122"/>
                </a:rPr>
                <a:t>），博客（</a:t>
              </a:r>
              <a:r>
                <a:rPr lang="en-US" altLang="zh-CN" dirty="0">
                  <a:latin typeface="微软雅黑" panose="020B0503020204020204" pitchFamily="34" charset="-122"/>
                  <a:ea typeface="微软雅黑" panose="020B0503020204020204" pitchFamily="34" charset="-122"/>
                </a:rPr>
                <a:t>Blog</a:t>
              </a:r>
              <a:r>
                <a:rPr lang="zh-CN" altLang="en-US"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470074" y="2199659"/>
            <a:ext cx="3886198" cy="2356092"/>
            <a:chOff x="3949288" y="3041859"/>
            <a:chExt cx="3594043" cy="2065161"/>
          </a:xfrm>
        </p:grpSpPr>
        <p:grpSp>
          <p:nvGrpSpPr>
            <p:cNvPr id="9" name="组合 8"/>
            <p:cNvGrpSpPr/>
            <p:nvPr/>
          </p:nvGrpSpPr>
          <p:grpSpPr>
            <a:xfrm>
              <a:off x="6486252" y="3041859"/>
              <a:ext cx="1057079" cy="1303052"/>
              <a:chOff x="6486252" y="3041859"/>
              <a:chExt cx="1057079" cy="1303052"/>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041859"/>
                <a:ext cx="968936"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新型</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网络</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媒体</a:t>
                </a:r>
              </a:p>
            </p:txBody>
          </p:sp>
        </p:grpSp>
        <p:sp>
          <p:nvSpPr>
            <p:cNvPr id="121" name="矩形 8"/>
            <p:cNvSpPr>
              <a:spLocks noChangeArrowheads="1"/>
            </p:cNvSpPr>
            <p:nvPr/>
          </p:nvSpPr>
          <p:spPr bwMode="auto">
            <a:xfrm>
              <a:off x="3949288" y="4425564"/>
              <a:ext cx="2625107" cy="68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多媒体（视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音频）点播</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网上交友</a:t>
              </a: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根据网络媒体形态分类</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543" y="1894666"/>
            <a:ext cx="2581275" cy="177165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379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515" y="1833693"/>
            <a:ext cx="2962709" cy="184647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913128" y="5024068"/>
            <a:ext cx="9889099" cy="85356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可细分为文本信息、图像信息、音频信息与视频信息 </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4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种类型，其中，网络文本信息始终是网络媒体信息中占比最大的信息类型。</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089455" y="2179285"/>
            <a:ext cx="4460728" cy="2080538"/>
            <a:chOff x="-358249" y="2188379"/>
            <a:chExt cx="4460728" cy="1827471"/>
          </a:xfrm>
        </p:grpSpPr>
        <p:grpSp>
          <p:nvGrpSpPr>
            <p:cNvPr id="8" name="组合 7"/>
            <p:cNvGrpSpPr/>
            <p:nvPr/>
          </p:nvGrpSpPr>
          <p:grpSpPr>
            <a:xfrm>
              <a:off x="3000669" y="2188379"/>
              <a:ext cx="1101810" cy="1260000"/>
              <a:chOff x="3048934" y="2188379"/>
              <a:chExt cx="1101810" cy="1260000"/>
            </a:xfrm>
          </p:grpSpPr>
          <p:sp>
            <p:nvSpPr>
              <p:cNvPr id="99" name="矩形 8"/>
              <p:cNvSpPr>
                <a:spLocks noChangeArrowheads="1"/>
              </p:cNvSpPr>
              <p:nvPr/>
            </p:nvSpPr>
            <p:spPr bwMode="auto">
              <a:xfrm>
                <a:off x="3181808" y="2378939"/>
                <a:ext cx="968936" cy="853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主流</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信息</a:t>
                </a: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358249" y="3617549"/>
              <a:ext cx="3695343" cy="39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文本信息、图像信息</a:t>
              </a:r>
              <a:endParaRPr lang="zh-CN" altLang="en-US"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373094" y="2264824"/>
            <a:ext cx="4140658" cy="2002635"/>
            <a:chOff x="3402673" y="3084911"/>
            <a:chExt cx="4140658" cy="1673222"/>
          </a:xfrm>
        </p:grpSpPr>
        <p:grpSp>
          <p:nvGrpSpPr>
            <p:cNvPr id="9" name="组合 8"/>
            <p:cNvGrpSpPr/>
            <p:nvPr/>
          </p:nvGrpSpPr>
          <p:grpSpPr>
            <a:xfrm>
              <a:off x="6486252" y="3084911"/>
              <a:ext cx="1057079" cy="1260000"/>
              <a:chOff x="6486252" y="3084911"/>
              <a:chExt cx="1057079" cy="1260000"/>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363404"/>
                <a:ext cx="968936"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日趋</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增多</a:t>
                </a:r>
              </a:p>
            </p:txBody>
          </p:sp>
        </p:grpSp>
        <p:sp>
          <p:nvSpPr>
            <p:cNvPr id="121" name="矩形 8"/>
            <p:cNvSpPr>
              <a:spLocks noChangeArrowheads="1"/>
            </p:cNvSpPr>
            <p:nvPr/>
          </p:nvSpPr>
          <p:spPr bwMode="auto">
            <a:xfrm>
              <a:off x="3402673" y="4409426"/>
              <a:ext cx="4047996" cy="348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音频信息与视频信息</a:t>
              </a: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按发布信息类型分类</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7451" y="1770771"/>
            <a:ext cx="3367920" cy="18656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48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1" y="1801090"/>
            <a:ext cx="3492469" cy="18656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016962" y="5003326"/>
            <a:ext cx="10094382" cy="85356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按照网络媒体所选择信息发布方式的不同，网络媒体信息还可以分成可直接匿名浏览的公开发布信息，以及需要实现身份认证才可以进一步点击阅读的网络媒体发布信息。</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263214" y="2277601"/>
            <a:ext cx="4851644" cy="2215553"/>
            <a:chOff x="-390043" y="2166511"/>
            <a:chExt cx="4492522" cy="1909027"/>
          </a:xfrm>
        </p:grpSpPr>
        <p:grpSp>
          <p:nvGrpSpPr>
            <p:cNvPr id="8" name="组合 7"/>
            <p:cNvGrpSpPr/>
            <p:nvPr/>
          </p:nvGrpSpPr>
          <p:grpSpPr>
            <a:xfrm>
              <a:off x="3000669" y="2166511"/>
              <a:ext cx="1101810" cy="1281868"/>
              <a:chOff x="3048934" y="2166511"/>
              <a:chExt cx="1101810" cy="1281868"/>
            </a:xfrm>
          </p:grpSpPr>
          <p:sp>
            <p:nvSpPr>
              <p:cNvPr id="99" name="矩形 8"/>
              <p:cNvSpPr>
                <a:spLocks noChangeArrowheads="1"/>
              </p:cNvSpPr>
              <p:nvPr/>
            </p:nvSpPr>
            <p:spPr bwMode="auto">
              <a:xfrm>
                <a:off x="3181808" y="2166511"/>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390043" y="3715922"/>
              <a:ext cx="3695343" cy="35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直接匿名浏览的公开发布信息</a:t>
              </a:r>
              <a:endParaRPr lang="zh-CN" altLang="en-US" sz="1600"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5814475" y="2360774"/>
            <a:ext cx="5296866" cy="2109631"/>
            <a:chOff x="2436615" y="3041859"/>
            <a:chExt cx="5106716" cy="1985348"/>
          </a:xfrm>
        </p:grpSpPr>
        <p:grpSp>
          <p:nvGrpSpPr>
            <p:cNvPr id="9" name="组合 8"/>
            <p:cNvGrpSpPr/>
            <p:nvPr/>
          </p:nvGrpSpPr>
          <p:grpSpPr>
            <a:xfrm>
              <a:off x="6486252" y="3041859"/>
              <a:ext cx="1057079" cy="1303052"/>
              <a:chOff x="6486252" y="3041859"/>
              <a:chExt cx="1057079" cy="1303052"/>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041859"/>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grpSp>
        <p:sp>
          <p:nvSpPr>
            <p:cNvPr id="121" name="矩形 8"/>
            <p:cNvSpPr>
              <a:spLocks noChangeArrowheads="1"/>
            </p:cNvSpPr>
            <p:nvPr/>
          </p:nvSpPr>
          <p:spPr bwMode="auto">
            <a:xfrm>
              <a:off x="2436615" y="4634437"/>
              <a:ext cx="4137776" cy="392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需要实现身份认证访问的网络媒体信息</a:t>
              </a: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按媒体发布方式分类</a:t>
            </a:r>
          </a:p>
        </p:txBody>
      </p:sp>
      <p:sp>
        <p:nvSpPr>
          <p:cNvPr id="22" name="直接连接符 13"/>
          <p:cNvSpPr>
            <a:spLocks noChangeShapeType="1"/>
          </p:cNvSpPr>
          <p:nvPr/>
        </p:nvSpPr>
        <p:spPr bwMode="auto">
          <a:xfrm>
            <a:off x="1016962" y="1013021"/>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763" y="1905002"/>
            <a:ext cx="3382002" cy="196041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5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6530" y="1905002"/>
            <a:ext cx="4044163" cy="196041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261801" y="5306052"/>
            <a:ext cx="9889099" cy="45345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按网页内容的具体构成形态，还可以对网络媒体信息中的静态网页与动态网页。</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202877" y="2396837"/>
            <a:ext cx="4100940" cy="2479963"/>
            <a:chOff x="745893" y="2166511"/>
            <a:chExt cx="3856040" cy="2231966"/>
          </a:xfrm>
        </p:grpSpPr>
        <p:grpSp>
          <p:nvGrpSpPr>
            <p:cNvPr id="8" name="组合 7"/>
            <p:cNvGrpSpPr/>
            <p:nvPr/>
          </p:nvGrpSpPr>
          <p:grpSpPr>
            <a:xfrm>
              <a:off x="3000669" y="2166511"/>
              <a:ext cx="1101810" cy="1292662"/>
              <a:chOff x="3048934" y="2166511"/>
              <a:chExt cx="1101810" cy="1292662"/>
            </a:xfrm>
          </p:grpSpPr>
          <p:sp>
            <p:nvSpPr>
              <p:cNvPr id="99" name="矩形 8"/>
              <p:cNvSpPr>
                <a:spLocks noChangeArrowheads="1"/>
              </p:cNvSpPr>
              <p:nvPr/>
            </p:nvSpPr>
            <p:spPr bwMode="auto">
              <a:xfrm>
                <a:off x="3181808" y="2166511"/>
                <a:ext cx="968936"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数据</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指数</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增长</a:t>
                </a: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745893" y="3949683"/>
              <a:ext cx="3856040" cy="448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静态网页</a:t>
              </a:r>
              <a:endParaRPr lang="zh-CN" altLang="en-US" sz="1600"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740214" y="2479964"/>
            <a:ext cx="3886222" cy="2320634"/>
            <a:chOff x="4064583" y="3041859"/>
            <a:chExt cx="3478748" cy="2313685"/>
          </a:xfrm>
        </p:grpSpPr>
        <p:grpSp>
          <p:nvGrpSpPr>
            <p:cNvPr id="9" name="组合 8"/>
            <p:cNvGrpSpPr/>
            <p:nvPr/>
          </p:nvGrpSpPr>
          <p:grpSpPr>
            <a:xfrm>
              <a:off x="6486252" y="3041859"/>
              <a:ext cx="1057079" cy="1303052"/>
              <a:chOff x="6486252" y="3041859"/>
              <a:chExt cx="1057079" cy="1303052"/>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041859"/>
                <a:ext cx="968936"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结构</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日趋</a:t>
                </a:r>
                <a:endParaRPr lang="en-US" altLang="zh-CN" sz="2000" b="1" dirty="0">
                  <a:latin typeface="微软雅黑" panose="020B0503020204020204" pitchFamily="34" charset="-122"/>
                  <a:ea typeface="微软雅黑" panose="020B0503020204020204" pitchFamily="34" charset="-122"/>
                </a:endParaRPr>
              </a:p>
              <a:p>
                <a:pPr>
                  <a:lnSpc>
                    <a:spcPct val="130000"/>
                  </a:lnSpc>
                </a:pPr>
                <a:r>
                  <a:rPr lang="zh-CN" altLang="en-US" sz="2000" b="1" dirty="0">
                    <a:latin typeface="微软雅黑" panose="020B0503020204020204" pitchFamily="34" charset="-122"/>
                    <a:ea typeface="微软雅黑" panose="020B0503020204020204" pitchFamily="34" charset="-122"/>
                  </a:rPr>
                  <a:t>复杂</a:t>
                </a:r>
              </a:p>
            </p:txBody>
          </p:sp>
        </p:grpSp>
        <p:sp>
          <p:nvSpPr>
            <p:cNvPr id="121" name="矩形 8"/>
            <p:cNvSpPr>
              <a:spLocks noChangeArrowheads="1"/>
            </p:cNvSpPr>
            <p:nvPr/>
          </p:nvSpPr>
          <p:spPr bwMode="auto">
            <a:xfrm>
              <a:off x="4064583" y="4843450"/>
              <a:ext cx="3379157" cy="512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动态网页</a:t>
              </a:r>
              <a:endParaRPr lang="zh-CN" altLang="en-US" sz="2000" dirty="0">
                <a:latin typeface="微软雅黑" panose="020B0503020204020204" pitchFamily="34" charset="-122"/>
                <a:ea typeface="微软雅黑" panose="020B0503020204020204" pitchFamily="34" charset="-122"/>
              </a:endParaRP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按网页具体形态分类</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2475" y="2197219"/>
            <a:ext cx="3337660" cy="1869089"/>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584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0003" y="2218006"/>
            <a:ext cx="3484929" cy="1785958"/>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983673" y="4534195"/>
            <a:ext cx="10217727" cy="165378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网络通信信息一般指互联网用户使用除网络浏览器以外的专用客户端软件，实现与特定点的通信或进行点对点通信时所交互的信息。</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常见的网络通信信息包括使用电子邮件客户端收发信件时通过网络传输的信息，以及使用即时聊天工具进行点对点交流时所传输的网络信息。</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010530" y="2025425"/>
            <a:ext cx="3822232" cy="2128856"/>
            <a:chOff x="699018" y="2166511"/>
            <a:chExt cx="3695343" cy="1924897"/>
          </a:xfrm>
        </p:grpSpPr>
        <p:grpSp>
          <p:nvGrpSpPr>
            <p:cNvPr id="8" name="组合 7"/>
            <p:cNvGrpSpPr/>
            <p:nvPr/>
          </p:nvGrpSpPr>
          <p:grpSpPr>
            <a:xfrm>
              <a:off x="3000669" y="2166511"/>
              <a:ext cx="1101810" cy="1281868"/>
              <a:chOff x="3048934" y="2166511"/>
              <a:chExt cx="1101810" cy="1281868"/>
            </a:xfrm>
          </p:grpSpPr>
          <p:sp>
            <p:nvSpPr>
              <p:cNvPr id="99" name="矩形 8"/>
              <p:cNvSpPr>
                <a:spLocks noChangeArrowheads="1"/>
              </p:cNvSpPr>
              <p:nvPr/>
            </p:nvSpPr>
            <p:spPr bwMode="auto">
              <a:xfrm>
                <a:off x="3181808" y="2166511"/>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699018" y="3714036"/>
              <a:ext cx="3695343"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dirty="0">
                  <a:latin typeface="微软雅黑" panose="020B0503020204020204" pitchFamily="34" charset="-122"/>
                  <a:ea typeface="微软雅黑" panose="020B0503020204020204" pitchFamily="34" charset="-122"/>
                </a:rPr>
                <a:t>IM </a:t>
              </a:r>
              <a:r>
                <a:rPr lang="zh-CN" altLang="en-US" dirty="0">
                  <a:latin typeface="微软雅黑" panose="020B0503020204020204" pitchFamily="34" charset="-122"/>
                  <a:ea typeface="微软雅黑" panose="020B0503020204020204" pitchFamily="34" charset="-122"/>
                </a:rPr>
                <a:t>通讯软件</a:t>
              </a:r>
            </a:p>
          </p:txBody>
        </p:sp>
      </p:grpSp>
      <p:grpSp>
        <p:nvGrpSpPr>
          <p:cNvPr id="12" name="组合 11"/>
          <p:cNvGrpSpPr/>
          <p:nvPr/>
        </p:nvGrpSpPr>
        <p:grpSpPr>
          <a:xfrm>
            <a:off x="6262255" y="2007005"/>
            <a:ext cx="4253345" cy="2191503"/>
            <a:chOff x="3715465" y="3041859"/>
            <a:chExt cx="3827866" cy="1934322"/>
          </a:xfrm>
        </p:grpSpPr>
        <p:grpSp>
          <p:nvGrpSpPr>
            <p:cNvPr id="9" name="组合 8"/>
            <p:cNvGrpSpPr/>
            <p:nvPr/>
          </p:nvGrpSpPr>
          <p:grpSpPr>
            <a:xfrm>
              <a:off x="6486252" y="3041859"/>
              <a:ext cx="1057079" cy="1303052"/>
              <a:chOff x="6486252" y="3041859"/>
              <a:chExt cx="1057079" cy="1303052"/>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041859"/>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grpSp>
        <p:sp>
          <p:nvSpPr>
            <p:cNvPr id="121" name="矩形 8"/>
            <p:cNvSpPr>
              <a:spLocks noChangeArrowheads="1"/>
            </p:cNvSpPr>
            <p:nvPr/>
          </p:nvSpPr>
          <p:spPr bwMode="auto">
            <a:xfrm>
              <a:off x="3715465" y="4607802"/>
              <a:ext cx="3823529"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dirty="0">
                  <a:latin typeface="微软雅黑" panose="020B0503020204020204" pitchFamily="34" charset="-122"/>
                  <a:ea typeface="微软雅黑" panose="020B0503020204020204" pitchFamily="34" charset="-122"/>
                </a:rPr>
                <a:t>电子邮件客户端收发邮件</a:t>
              </a: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网络通信信息分类</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3" name="AutoShape 2" descr="“微信”的图片搜索结果"/>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368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694" y="1672284"/>
            <a:ext cx="2985492" cy="193682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68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137" y="1686139"/>
            <a:ext cx="2985494" cy="1936826"/>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143000"/>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2. </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网络媒体信息获取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531471"/>
            <a:ext cx="3877985" cy="1077218"/>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理想的网络媒体信息</a:t>
            </a:r>
            <a:endParaRPr lang="en-US" altLang="zh-CN" dirty="0"/>
          </a:p>
          <a:p>
            <a:r>
              <a:rPr lang="zh-CN" altLang="en-US" dirty="0"/>
              <a:t>获取流程</a:t>
            </a:r>
          </a:p>
        </p:txBody>
      </p:sp>
      <p:cxnSp>
        <p:nvCxnSpPr>
          <p:cNvPr id="74" name="直接连接符 73"/>
          <p:cNvCxnSpPr>
            <a:cxnSpLocks/>
          </p:cNvCxnSpPr>
          <p:nvPr/>
        </p:nvCxnSpPr>
        <p:spPr>
          <a:xfrm>
            <a:off x="701487" y="2989931"/>
            <a:ext cx="3136222"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cxnSpLocks/>
          </p:cNvCxnSpPr>
          <p:nvPr/>
        </p:nvCxnSpPr>
        <p:spPr>
          <a:xfrm>
            <a:off x="701487" y="3637379"/>
            <a:ext cx="3136222"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97910" y="321429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100503" y="390980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3086837"/>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初始 </a:t>
            </a:r>
            <a:r>
              <a:rPr lang="en-US" altLang="zh-CN" sz="1800"/>
              <a:t>URL </a:t>
            </a:r>
            <a:r>
              <a:rPr lang="zh-CN" altLang="en-US" sz="1800"/>
              <a:t>集合</a:t>
            </a:r>
            <a:endParaRPr lang="zh-CN" altLang="en-US" sz="1800" dirty="0"/>
          </a:p>
        </p:txBody>
      </p:sp>
      <p:sp>
        <p:nvSpPr>
          <p:cNvPr id="83" name="文本框 14"/>
          <p:cNvSpPr txBox="1"/>
          <p:nvPr/>
        </p:nvSpPr>
        <p:spPr>
          <a:xfrm>
            <a:off x="1530369" y="3785439"/>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信息获取</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519527" y="331131"/>
            <a:ext cx="572464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网络媒体信息获取一般流程</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a:cxnSpLocks/>
          </p:cNvCxnSpPr>
          <p:nvPr/>
        </p:nvCxnSpPr>
        <p:spPr>
          <a:xfrm>
            <a:off x="683466" y="4297000"/>
            <a:ext cx="315424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97096" y="455443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38504" y="4487152"/>
            <a:ext cx="3348086" cy="438582"/>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信息解析</a:t>
            </a:r>
          </a:p>
        </p:txBody>
      </p:sp>
      <p:cxnSp>
        <p:nvCxnSpPr>
          <p:cNvPr id="166" name="直接连接符 165"/>
          <p:cNvCxnSpPr>
            <a:cxnSpLocks/>
          </p:cNvCxnSpPr>
          <p:nvPr/>
        </p:nvCxnSpPr>
        <p:spPr>
          <a:xfrm>
            <a:off x="691601" y="5027897"/>
            <a:ext cx="314610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90620" y="526532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558173" y="5177816"/>
            <a:ext cx="3348086" cy="438582"/>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信息判重</a:t>
            </a:r>
          </a:p>
        </p:txBody>
      </p:sp>
      <p:cxnSp>
        <p:nvCxnSpPr>
          <p:cNvPr id="170" name="直接连接符 169"/>
          <p:cNvCxnSpPr>
            <a:cxnSpLocks/>
          </p:cNvCxnSpPr>
          <p:nvPr/>
        </p:nvCxnSpPr>
        <p:spPr>
          <a:xfrm>
            <a:off x="648927" y="5718561"/>
            <a:ext cx="3188782"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71" name="图片 170"/>
          <p:cNvPicPr/>
          <p:nvPr/>
        </p:nvPicPr>
        <p:blipFill>
          <a:blip r:embed="rId17">
            <a:extLst>
              <a:ext uri="{28A0092B-C50C-407E-A947-70E740481C1C}">
                <a14:useLocalDpi xmlns:a14="http://schemas.microsoft.com/office/drawing/2010/main" val="0"/>
              </a:ext>
            </a:extLst>
          </a:blip>
          <a:stretch>
            <a:fillRect/>
          </a:stretch>
        </p:blipFill>
        <p:spPr>
          <a:xfrm>
            <a:off x="4163291" y="2989931"/>
            <a:ext cx="7654636" cy="1869282"/>
          </a:xfrm>
          <a:prstGeom prst="rect">
            <a:avLst/>
          </a:prstGeom>
        </p:spPr>
      </p:pic>
      <p:sp>
        <p:nvSpPr>
          <p:cNvPr id="5" name="矩形 4"/>
          <p:cNvSpPr/>
          <p:nvPr/>
        </p:nvSpPr>
        <p:spPr>
          <a:xfrm>
            <a:off x="6191978" y="5395987"/>
            <a:ext cx="4027282" cy="400110"/>
          </a:xfrm>
          <a:prstGeom prst="rect">
            <a:avLst/>
          </a:prstGeom>
        </p:spPr>
        <p:txBody>
          <a:bodyPr wrap="square">
            <a:spAutoFit/>
          </a:bodyPr>
          <a:lstStyle/>
          <a:p>
            <a:r>
              <a:rPr lang="zh-CN" altLang="zh-CN" sz="2000" dirty="0">
                <a:latin typeface="微软雅黑" panose="020B0503020204020204" pitchFamily="34" charset="-122"/>
                <a:ea typeface="微软雅黑" panose="020B0503020204020204" pitchFamily="34" charset="-122"/>
              </a:rPr>
              <a:t>网络媒体信息获取的一般流程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848737" y="1884278"/>
            <a:ext cx="3315331"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1. </a:t>
            </a:r>
            <a:r>
              <a:rPr lang="zh-CN" altLang="en-US" dirty="0"/>
              <a:t>初始 </a:t>
            </a:r>
            <a:r>
              <a:rPr lang="en-US" altLang="zh-CN" dirty="0"/>
              <a:t>URL </a:t>
            </a:r>
            <a:r>
              <a:rPr lang="zh-CN" altLang="en-US" dirty="0"/>
              <a:t>集合</a:t>
            </a:r>
          </a:p>
        </p:txBody>
      </p:sp>
      <p:cxnSp>
        <p:nvCxnSpPr>
          <p:cNvPr id="74" name="直接连接符 73"/>
          <p:cNvCxnSpPr/>
          <p:nvPr/>
        </p:nvCxnSpPr>
        <p:spPr>
          <a:xfrm>
            <a:off x="701487" y="310769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75514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97910" y="333205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79438" y="401989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3190747"/>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最初由搜索引擎研究人员提出</a:t>
            </a:r>
          </a:p>
        </p:txBody>
      </p:sp>
      <p:sp>
        <p:nvSpPr>
          <p:cNvPr id="83" name="文本框 14"/>
          <p:cNvSpPr txBox="1"/>
          <p:nvPr/>
        </p:nvSpPr>
        <p:spPr>
          <a:xfrm>
            <a:off x="1530369" y="3903203"/>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维护相当数量初始 </a:t>
            </a:r>
            <a:r>
              <a:rPr lang="en-US" altLang="zh-CN" sz="1800" dirty="0"/>
              <a:t>URL </a:t>
            </a:r>
            <a:r>
              <a:rPr lang="zh-CN" altLang="en-US" sz="1800" dirty="0"/>
              <a:t>集合</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5724644" cy="1261884"/>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网络媒体信息获取一般流程</a:t>
            </a:r>
          </a:p>
          <a:p>
            <a:endParaRPr lang="zh-CN" altLang="en-US" dirty="0"/>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41476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87573" y="4692422"/>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38504" y="4604916"/>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网页内嵌地址的递归操作</a:t>
            </a:r>
          </a:p>
        </p:txBody>
      </p:sp>
      <p:cxnSp>
        <p:nvCxnSpPr>
          <p:cNvPr id="166" name="直接连接符 165"/>
          <p:cNvCxnSpPr/>
          <p:nvPr/>
        </p:nvCxnSpPr>
        <p:spPr>
          <a:xfrm>
            <a:off x="691601" y="514566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44899" y="538308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495830" y="5295580"/>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形象地称为信息“种子”集合</a:t>
            </a:r>
          </a:p>
        </p:txBody>
      </p:sp>
      <p:cxnSp>
        <p:nvCxnSpPr>
          <p:cNvPr id="170" name="直接连接符 169"/>
          <p:cNvCxnSpPr/>
          <p:nvPr/>
        </p:nvCxnSpPr>
        <p:spPr>
          <a:xfrm>
            <a:off x="648927" y="583632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039272" y="5430068"/>
            <a:ext cx="5060273" cy="400110"/>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跟随网页内嵌链接逐级递归遍历互联网络</a:t>
            </a:r>
            <a:endParaRPr lang="zh-CN" altLang="zh-CN" sz="2000" dirty="0">
              <a:latin typeface="微软雅黑" panose="020B0503020204020204" pitchFamily="34" charset="-122"/>
              <a:ea typeface="微软雅黑" panose="020B0503020204020204" pitchFamily="34" charset="-122"/>
            </a:endParaRPr>
          </a:p>
        </p:txBody>
      </p:sp>
      <p:pic>
        <p:nvPicPr>
          <p:cNvPr id="163" name="图片 162"/>
          <p:cNvPicPr/>
          <p:nvPr/>
        </p:nvPicPr>
        <p:blipFill>
          <a:blip r:embed="rId18">
            <a:extLst>
              <a:ext uri="{28A0092B-C50C-407E-A947-70E740481C1C}">
                <a14:useLocalDpi xmlns:a14="http://schemas.microsoft.com/office/drawing/2010/main" val="0"/>
              </a:ext>
            </a:extLst>
          </a:blip>
          <a:stretch>
            <a:fillRect/>
          </a:stretch>
        </p:blipFill>
        <p:spPr>
          <a:xfrm>
            <a:off x="5971309" y="2171718"/>
            <a:ext cx="5060273" cy="295802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1023910" y="1843429"/>
            <a:ext cx="2165978"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2.</a:t>
            </a:r>
            <a:r>
              <a:rPr lang="zh-CN" altLang="en-US" dirty="0"/>
              <a:t>信息获取</a:t>
            </a:r>
          </a:p>
        </p:txBody>
      </p:sp>
      <p:cxnSp>
        <p:nvCxnSpPr>
          <p:cNvPr id="74" name="直接连接符 73"/>
          <p:cNvCxnSpPr/>
          <p:nvPr/>
        </p:nvCxnSpPr>
        <p:spPr>
          <a:xfrm>
            <a:off x="701487" y="309383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74128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97910" y="331820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79438" y="400603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3176890"/>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待获取内容协议解析</a:t>
            </a:r>
          </a:p>
        </p:txBody>
      </p:sp>
      <p:sp>
        <p:nvSpPr>
          <p:cNvPr id="83" name="文本框 14"/>
          <p:cNvSpPr txBox="1"/>
          <p:nvPr/>
        </p:nvSpPr>
        <p:spPr>
          <a:xfrm>
            <a:off x="1530369" y="3889346"/>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向信息发布网站请求所需内容</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5724644" cy="1261884"/>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网络媒体信息获取一般流程</a:t>
            </a:r>
          </a:p>
          <a:p>
            <a:endParaRPr lang="zh-CN" altLang="en-US" dirty="0"/>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40090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87573" y="467856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38504" y="4591059"/>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接收来自网站的响应信息</a:t>
            </a:r>
          </a:p>
        </p:txBody>
      </p:sp>
      <p:cxnSp>
        <p:nvCxnSpPr>
          <p:cNvPr id="166" name="直接连接符 165"/>
          <p:cNvCxnSpPr/>
          <p:nvPr/>
        </p:nvCxnSpPr>
        <p:spPr>
          <a:xfrm>
            <a:off x="691601" y="513180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44899" y="536922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495830" y="5281723"/>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传递给后续的信息解析模块</a:t>
            </a:r>
          </a:p>
        </p:txBody>
      </p:sp>
      <p:cxnSp>
        <p:nvCxnSpPr>
          <p:cNvPr id="170" name="直接连接符 169"/>
          <p:cNvCxnSpPr/>
          <p:nvPr/>
        </p:nvCxnSpPr>
        <p:spPr>
          <a:xfrm>
            <a:off x="648927" y="582246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7348086" y="5476862"/>
            <a:ext cx="2892587" cy="400110"/>
          </a:xfrm>
          <a:prstGeom prst="rect">
            <a:avLst/>
          </a:prstGeom>
        </p:spPr>
        <p:txBody>
          <a:bodyPr wrap="none">
            <a:spAutoFit/>
          </a:bodyPr>
          <a:lstStyle/>
          <a:p>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文本信息获取范例</a:t>
            </a:r>
            <a:endParaRPr lang="zh-CN" altLang="zh-CN" sz="2000" dirty="0">
              <a:latin typeface="微软雅黑" panose="020B0503020204020204" pitchFamily="34" charset="-122"/>
              <a:ea typeface="微软雅黑" panose="020B0503020204020204" pitchFamily="34" charset="-122"/>
            </a:endParaRPr>
          </a:p>
        </p:txBody>
      </p:sp>
      <p:pic>
        <p:nvPicPr>
          <p:cNvPr id="20482"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80288" y="2287136"/>
            <a:ext cx="6340196" cy="299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930228" y="1892485"/>
            <a:ext cx="3108543"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3. </a:t>
            </a:r>
            <a:r>
              <a:rPr lang="zh-CN" altLang="en-US" dirty="0"/>
              <a:t>信息内容解析</a:t>
            </a:r>
          </a:p>
        </p:txBody>
      </p:sp>
      <p:cxnSp>
        <p:nvCxnSpPr>
          <p:cNvPr id="74" name="直接连接符 73"/>
          <p:cNvCxnSpPr/>
          <p:nvPr/>
        </p:nvCxnSpPr>
        <p:spPr>
          <a:xfrm>
            <a:off x="701487" y="312155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76900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59328" y="336980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60142" y="403590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3204604"/>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提取发布信息的主体内容</a:t>
            </a:r>
          </a:p>
        </p:txBody>
      </p:sp>
      <p:sp>
        <p:nvSpPr>
          <p:cNvPr id="83" name="文本框 14"/>
          <p:cNvSpPr txBox="1"/>
          <p:nvPr/>
        </p:nvSpPr>
        <p:spPr>
          <a:xfrm>
            <a:off x="1530369" y="3903206"/>
            <a:ext cx="3429558"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维护与网络内容有关的关键字段</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5724644" cy="1261884"/>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网络媒体信息获取一般流程</a:t>
            </a:r>
          </a:p>
          <a:p>
            <a:endParaRPr lang="zh-CN" altLang="en-US" dirty="0"/>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42862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60142" y="473325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38504" y="4611846"/>
            <a:ext cx="3348086" cy="438582"/>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内容转交至信息判重模块</a:t>
            </a:r>
          </a:p>
        </p:txBody>
      </p:sp>
      <p:cxnSp>
        <p:nvCxnSpPr>
          <p:cNvPr id="166" name="直接连接符 165"/>
          <p:cNvCxnSpPr/>
          <p:nvPr/>
        </p:nvCxnSpPr>
        <p:spPr>
          <a:xfrm>
            <a:off x="691601" y="515951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63814" y="543494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495830" y="5309437"/>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关键字段存入信息库</a:t>
            </a:r>
          </a:p>
        </p:txBody>
      </p:sp>
      <p:cxnSp>
        <p:nvCxnSpPr>
          <p:cNvPr id="170" name="直接连接符 169"/>
          <p:cNvCxnSpPr/>
          <p:nvPr/>
        </p:nvCxnSpPr>
        <p:spPr>
          <a:xfrm>
            <a:off x="648927" y="585018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138985" y="5773700"/>
            <a:ext cx="1723549"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信息内容解析</a:t>
            </a:r>
          </a:p>
        </p:txBody>
      </p:sp>
      <p:pic>
        <p:nvPicPr>
          <p:cNvPr id="21506" name="Picture 2" descr="“网页内容解析”的图片搜索结果"/>
          <p:cNvPicPr>
            <a:picLocks noChangeAspect="1" noChangeArrowheads="1"/>
          </p:cNvPicPr>
          <p:nvPr/>
        </p:nvPicPr>
        <p:blipFill rotWithShape="1">
          <a:blip r:embed="rId18">
            <a:extLst>
              <a:ext uri="{28A0092B-C50C-407E-A947-70E740481C1C}">
                <a14:useLocalDpi xmlns:a14="http://schemas.microsoft.com/office/drawing/2010/main" val="0"/>
              </a:ext>
            </a:extLst>
          </a:blip>
          <a:srcRect l="7339" r="3887" b="5602"/>
          <a:stretch>
            <a:fillRect/>
          </a:stretch>
        </p:blipFill>
        <p:spPr bwMode="auto">
          <a:xfrm>
            <a:off x="5595250" y="1622332"/>
            <a:ext cx="6240177" cy="37324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1023910" y="1951745"/>
            <a:ext cx="2287806"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4. </a:t>
            </a:r>
            <a:r>
              <a:rPr lang="zh-CN" altLang="en-US" dirty="0"/>
              <a:t>信息判重</a:t>
            </a:r>
          </a:p>
        </p:txBody>
      </p:sp>
      <p:cxnSp>
        <p:nvCxnSpPr>
          <p:cNvPr id="74" name="直接连接符 73"/>
          <p:cNvCxnSpPr/>
          <p:nvPr/>
        </p:nvCxnSpPr>
        <p:spPr>
          <a:xfrm>
            <a:off x="701487" y="297607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62352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74995" y="321528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79438" y="388827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3079908"/>
            <a:ext cx="3838695"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判定是否已获取内嵌 </a:t>
            </a:r>
            <a:r>
              <a:rPr lang="en-US" altLang="zh-CN" sz="1800" dirty="0"/>
              <a:t>URL </a:t>
            </a:r>
            <a:r>
              <a:rPr lang="zh-CN" altLang="en-US" sz="1800" dirty="0"/>
              <a:t>信息内容</a:t>
            </a:r>
          </a:p>
        </p:txBody>
      </p:sp>
      <p:sp>
        <p:nvSpPr>
          <p:cNvPr id="83" name="文本框 14"/>
          <p:cNvSpPr txBox="1"/>
          <p:nvPr/>
        </p:nvSpPr>
        <p:spPr>
          <a:xfrm>
            <a:off x="1530369" y="3635391"/>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若是，注明信息失效时间及最近修改时间的 </a:t>
            </a:r>
            <a:r>
              <a:rPr lang="en-US" altLang="zh-CN" sz="1800" dirty="0"/>
              <a:t>URL</a:t>
            </a:r>
            <a:endParaRPr lang="zh-CN" altLang="en-US" sz="1800" dirty="0"/>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5724644" cy="1261884"/>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网络媒体信息获取一般流程</a:t>
            </a:r>
          </a:p>
          <a:p>
            <a:endParaRPr lang="zh-CN" altLang="en-US" dirty="0"/>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41475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87573" y="461621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38504" y="4514858"/>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否则重启完整的信息采集操作</a:t>
            </a:r>
          </a:p>
        </p:txBody>
      </p:sp>
      <p:cxnSp>
        <p:nvCxnSpPr>
          <p:cNvPr id="166" name="直接连接符 165"/>
          <p:cNvCxnSpPr/>
          <p:nvPr/>
        </p:nvCxnSpPr>
        <p:spPr>
          <a:xfrm>
            <a:off x="691601" y="505560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79438" y="538509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70" name="直接连接符 169"/>
          <p:cNvCxnSpPr/>
          <p:nvPr/>
        </p:nvCxnSpPr>
        <p:spPr>
          <a:xfrm>
            <a:off x="648927" y="582246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051148" y="5554166"/>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信息判重</a:t>
            </a:r>
          </a:p>
        </p:txBody>
      </p:sp>
      <p:sp>
        <p:nvSpPr>
          <p:cNvPr id="4" name="矩形 3"/>
          <p:cNvSpPr/>
          <p:nvPr/>
        </p:nvSpPr>
        <p:spPr>
          <a:xfrm>
            <a:off x="1530369" y="5107890"/>
            <a:ext cx="2954655" cy="646331"/>
          </a:xfrm>
          <a:prstGeom prst="rect">
            <a:avLst/>
          </a:prstGeom>
        </p:spPr>
        <p:txBody>
          <a:bodyPr wrap="none">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向对应的网络内容发布媒体</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发起信息查新获取操作</a:t>
            </a:r>
          </a:p>
        </p:txBody>
      </p:sp>
      <p:pic>
        <p:nvPicPr>
          <p:cNvPr id="23554"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75335" y="1734767"/>
            <a:ext cx="5792320" cy="373102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reeform 12"/>
          <p:cNvSpPr/>
          <p:nvPr/>
        </p:nvSpPr>
        <p:spPr bwMode="auto">
          <a:xfrm flipH="1" flipV="1">
            <a:off x="11513059" y="6156999"/>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6" name="TextBox 95"/>
          <p:cNvSpPr txBox="1"/>
          <p:nvPr/>
        </p:nvSpPr>
        <p:spPr>
          <a:xfrm>
            <a:off x="1350197" y="3388930"/>
            <a:ext cx="1914337"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全网信息获取</a:t>
            </a:r>
          </a:p>
        </p:txBody>
      </p:sp>
      <p:sp>
        <p:nvSpPr>
          <p:cNvPr id="97" name="TextBox 96"/>
          <p:cNvSpPr txBox="1"/>
          <p:nvPr/>
        </p:nvSpPr>
        <p:spPr>
          <a:xfrm>
            <a:off x="4858327" y="3388930"/>
            <a:ext cx="2127088"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定点信息获取</a:t>
            </a:r>
          </a:p>
        </p:txBody>
      </p:sp>
      <p:sp>
        <p:nvSpPr>
          <p:cNvPr id="98" name="TextBox 97"/>
          <p:cNvSpPr txBox="1"/>
          <p:nvPr/>
        </p:nvSpPr>
        <p:spPr>
          <a:xfrm>
            <a:off x="9004819" y="3235042"/>
            <a:ext cx="2127637"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基于主题的信息获取与元搜索</a:t>
            </a:r>
          </a:p>
        </p:txBody>
      </p:sp>
      <p:pic>
        <p:nvPicPr>
          <p:cNvPr id="2052" name="Picture 4" descr="“大数据 服务器”的图片搜索结果"/>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05" t="7656" r="7718" b="20237"/>
          <a:stretch>
            <a:fillRect/>
          </a:stretch>
        </p:blipFill>
        <p:spPr bwMode="auto">
          <a:xfrm>
            <a:off x="1207006" y="1367076"/>
            <a:ext cx="2057529" cy="1772547"/>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54" name="Picture 6" descr="“黑客”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2441" y="1454779"/>
            <a:ext cx="1912974" cy="1684844"/>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2" name="AutoShape 8" descr="“服务器 成本”的图片搜索结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103" name="组合 102"/>
          <p:cNvGrpSpPr/>
          <p:nvPr/>
        </p:nvGrpSpPr>
        <p:grpSpPr>
          <a:xfrm>
            <a:off x="609116" y="261257"/>
            <a:ext cx="1214822" cy="760080"/>
            <a:chOff x="1922078" y="0"/>
            <a:chExt cx="8347844" cy="3447438"/>
          </a:xfrm>
        </p:grpSpPr>
        <p:grpSp>
          <p:nvGrpSpPr>
            <p:cNvPr id="104" name="组合 103"/>
            <p:cNvGrpSpPr/>
            <p:nvPr/>
          </p:nvGrpSpPr>
          <p:grpSpPr>
            <a:xfrm rot="20997101">
              <a:off x="5080902" y="0"/>
              <a:ext cx="659781" cy="793569"/>
              <a:chOff x="9397113" y="1572484"/>
              <a:chExt cx="739439" cy="900000"/>
            </a:xfrm>
          </p:grpSpPr>
          <p:pic>
            <p:nvPicPr>
              <p:cNvPr id="162" name="图片 161"/>
              <p:cNvPicPr>
                <a:picLocks noChangeAspect="1"/>
              </p:cNvPicPr>
              <p:nvPr/>
            </p:nvPicPr>
            <p:blipFill rotWithShape="1">
              <a:blip r:embed="rId5"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63" name="椭圆 162"/>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p:cNvGrpSpPr/>
            <p:nvPr/>
          </p:nvGrpSpPr>
          <p:grpSpPr>
            <a:xfrm rot="2455872">
              <a:off x="9009447" y="1071465"/>
              <a:ext cx="659781" cy="793569"/>
              <a:chOff x="8752405" y="680495"/>
              <a:chExt cx="739439" cy="900000"/>
            </a:xfrm>
          </p:grpSpPr>
          <p:pic>
            <p:nvPicPr>
              <p:cNvPr id="160" name="图片 159"/>
              <p:cNvPicPr>
                <a:picLocks noChangeAspect="1"/>
              </p:cNvPicPr>
              <p:nvPr/>
            </p:nvPicPr>
            <p:blipFill rotWithShape="1">
              <a:blip r:embed="rId6"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61" name="椭圆 160"/>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p:cNvGrpSpPr/>
            <p:nvPr/>
          </p:nvGrpSpPr>
          <p:grpSpPr>
            <a:xfrm rot="20539373">
              <a:off x="4239050" y="1051458"/>
              <a:ext cx="642436" cy="793569"/>
              <a:chOff x="7798300" y="2128176"/>
              <a:chExt cx="720000" cy="900000"/>
            </a:xfrm>
          </p:grpSpPr>
          <p:pic>
            <p:nvPicPr>
              <p:cNvPr id="158" name="图片 157"/>
              <p:cNvPicPr>
                <a:picLocks noChangeAspect="1"/>
              </p:cNvPicPr>
              <p:nvPr/>
            </p:nvPicPr>
            <p:blipFill rotWithShape="1">
              <a:blip r:embed="rId7"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59" name="椭圆 158"/>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 name="组合 106"/>
            <p:cNvGrpSpPr/>
            <p:nvPr/>
          </p:nvGrpSpPr>
          <p:grpSpPr>
            <a:xfrm rot="622440">
              <a:off x="6257266" y="1278812"/>
              <a:ext cx="643355" cy="793569"/>
              <a:chOff x="5457544" y="2382484"/>
              <a:chExt cx="721030" cy="900000"/>
            </a:xfrm>
          </p:grpSpPr>
          <p:pic>
            <p:nvPicPr>
              <p:cNvPr id="156" name="图片 1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57" name="椭圆 15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组合 107"/>
            <p:cNvGrpSpPr/>
            <p:nvPr/>
          </p:nvGrpSpPr>
          <p:grpSpPr>
            <a:xfrm rot="713899">
              <a:off x="6982111" y="246490"/>
              <a:ext cx="642436" cy="811512"/>
              <a:chOff x="2594245" y="3143107"/>
              <a:chExt cx="720000" cy="920349"/>
            </a:xfrm>
          </p:grpSpPr>
          <p:pic>
            <p:nvPicPr>
              <p:cNvPr id="154" name="图片 153"/>
              <p:cNvPicPr>
                <a:picLocks noChangeAspect="1"/>
              </p:cNvPicPr>
              <p:nvPr/>
            </p:nvPicPr>
            <p:blipFill rotWithShape="1">
              <a:blip r:embed="rId9"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55" name="椭圆 154"/>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rot="20351331">
              <a:off x="2986611" y="357756"/>
              <a:ext cx="642436" cy="793569"/>
              <a:chOff x="3277182" y="773323"/>
              <a:chExt cx="720000" cy="900000"/>
            </a:xfrm>
          </p:grpSpPr>
          <p:sp>
            <p:nvSpPr>
              <p:cNvPr id="152" name="椭圆 151"/>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3" name="图片 15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110" name="组合 109"/>
            <p:cNvGrpSpPr/>
            <p:nvPr/>
          </p:nvGrpSpPr>
          <p:grpSpPr>
            <a:xfrm rot="1912890">
              <a:off x="7930945" y="1382649"/>
              <a:ext cx="648427" cy="793569"/>
              <a:chOff x="5384758" y="1250900"/>
              <a:chExt cx="726714" cy="900000"/>
            </a:xfrm>
          </p:grpSpPr>
          <p:sp>
            <p:nvSpPr>
              <p:cNvPr id="150" name="椭圆 149"/>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1" name="图片 15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111" name="组合 110"/>
            <p:cNvGrpSpPr/>
            <p:nvPr/>
          </p:nvGrpSpPr>
          <p:grpSpPr>
            <a:xfrm rot="1354213">
              <a:off x="7092076" y="1228721"/>
              <a:ext cx="642436" cy="793569"/>
              <a:chOff x="3639753" y="2488176"/>
              <a:chExt cx="720000" cy="900000"/>
            </a:xfrm>
          </p:grpSpPr>
          <p:sp>
            <p:nvSpPr>
              <p:cNvPr id="148" name="椭圆 147"/>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9" name="图片 14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112" name="组合 111"/>
            <p:cNvGrpSpPr/>
            <p:nvPr/>
          </p:nvGrpSpPr>
          <p:grpSpPr>
            <a:xfrm rot="19874646">
              <a:off x="3552291" y="1752953"/>
              <a:ext cx="647730" cy="793569"/>
              <a:chOff x="4707387" y="271511"/>
              <a:chExt cx="725933" cy="900000"/>
            </a:xfrm>
          </p:grpSpPr>
          <p:sp>
            <p:nvSpPr>
              <p:cNvPr id="146" name="椭圆 145"/>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7" name="图片 14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113" name="组合 112"/>
            <p:cNvGrpSpPr/>
            <p:nvPr/>
          </p:nvGrpSpPr>
          <p:grpSpPr>
            <a:xfrm>
              <a:off x="5902457" y="519563"/>
              <a:ext cx="647456" cy="793569"/>
              <a:chOff x="4355614" y="1671769"/>
              <a:chExt cx="725626" cy="900000"/>
            </a:xfrm>
          </p:grpSpPr>
          <p:sp>
            <p:nvSpPr>
              <p:cNvPr id="144" name="椭圆 143"/>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5" name="图片 14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114" name="组合 113"/>
            <p:cNvGrpSpPr/>
            <p:nvPr/>
          </p:nvGrpSpPr>
          <p:grpSpPr>
            <a:xfrm rot="3261331">
              <a:off x="8178834" y="2216888"/>
              <a:ext cx="645495" cy="803045"/>
              <a:chOff x="6534782" y="2204846"/>
              <a:chExt cx="732066" cy="900000"/>
            </a:xfrm>
          </p:grpSpPr>
          <p:sp>
            <p:nvSpPr>
              <p:cNvPr id="142" name="椭圆 141"/>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3" name="图片 14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115" name="组合 114"/>
            <p:cNvGrpSpPr/>
            <p:nvPr/>
          </p:nvGrpSpPr>
          <p:grpSpPr>
            <a:xfrm rot="1881527">
              <a:off x="8180043" y="493339"/>
              <a:ext cx="646830" cy="793569"/>
              <a:chOff x="5993772" y="258109"/>
              <a:chExt cx="724925" cy="900000"/>
            </a:xfrm>
          </p:grpSpPr>
          <p:sp>
            <p:nvSpPr>
              <p:cNvPr id="140" name="椭圆 139"/>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1" name="图片 14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116" name="组合 115"/>
            <p:cNvGrpSpPr/>
            <p:nvPr/>
          </p:nvGrpSpPr>
          <p:grpSpPr>
            <a:xfrm rot="3066563">
              <a:off x="9550518" y="2274810"/>
              <a:ext cx="635764" cy="803045"/>
              <a:chOff x="8806213" y="2910111"/>
              <a:chExt cx="721030" cy="900000"/>
            </a:xfrm>
          </p:grpSpPr>
          <p:sp>
            <p:nvSpPr>
              <p:cNvPr id="138" name="椭圆 137"/>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9" name="图片 13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117" name="组合 116"/>
            <p:cNvGrpSpPr/>
            <p:nvPr/>
          </p:nvGrpSpPr>
          <p:grpSpPr>
            <a:xfrm rot="20849518">
              <a:off x="5023848" y="1251597"/>
              <a:ext cx="644890" cy="793569"/>
              <a:chOff x="7330781" y="818297"/>
              <a:chExt cx="722751" cy="900000"/>
            </a:xfrm>
          </p:grpSpPr>
          <p:sp>
            <p:nvSpPr>
              <p:cNvPr id="136" name="椭圆 135"/>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7" name="图片 13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18" name="组合 117"/>
            <p:cNvGrpSpPr/>
            <p:nvPr/>
          </p:nvGrpSpPr>
          <p:grpSpPr>
            <a:xfrm rot="19756194">
              <a:off x="1922078" y="1474933"/>
              <a:ext cx="653202" cy="793569"/>
              <a:chOff x="2213446" y="1768419"/>
              <a:chExt cx="732066" cy="900000"/>
            </a:xfrm>
          </p:grpSpPr>
          <p:pic>
            <p:nvPicPr>
              <p:cNvPr id="134" name="图片 13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35" name="椭圆 134"/>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9" name="直接连接符 118"/>
            <p:cNvCxnSpPr>
              <a:stCxn id="146"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35"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52"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59"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63"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44"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36"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57"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55"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48"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40"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50"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161"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38"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42"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4" name="矩形 163"/>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168"/>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文本框 335"/>
          <p:cNvSpPr txBox="1"/>
          <p:nvPr/>
        </p:nvSpPr>
        <p:spPr>
          <a:xfrm>
            <a:off x="3519527" y="331131"/>
            <a:ext cx="526297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网络媒体信息获取的分类</a:t>
            </a:r>
          </a:p>
        </p:txBody>
      </p:sp>
      <p:grpSp>
        <p:nvGrpSpPr>
          <p:cNvPr id="172" name="组合 171"/>
          <p:cNvGrpSpPr/>
          <p:nvPr/>
        </p:nvGrpSpPr>
        <p:grpSpPr>
          <a:xfrm>
            <a:off x="655309" y="1032131"/>
            <a:ext cx="10477147" cy="66943"/>
            <a:chOff x="655309" y="1032131"/>
            <a:chExt cx="10477147" cy="66943"/>
          </a:xfrm>
        </p:grpSpPr>
        <p:sp>
          <p:nvSpPr>
            <p:cNvPr id="173" name="矩形 172"/>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8434" name="Picture 2" descr="“网络保障体系”的图片搜索结果"/>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988948" y="1398254"/>
            <a:ext cx="1965375" cy="1695519"/>
          </a:xfrm>
          <a:prstGeom prst="ellipse">
            <a:avLst/>
          </a:prstGeom>
          <a:ln w="63500" cap="rnd">
            <a:solidFill>
              <a:srgbClr val="31B5D6"/>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cxnSp>
        <p:nvCxnSpPr>
          <p:cNvPr id="89" name="直接箭头连接符 88"/>
          <p:cNvCxnSpPr/>
          <p:nvPr/>
        </p:nvCxnSpPr>
        <p:spPr>
          <a:xfrm flipH="1">
            <a:off x="1125644" y="3983648"/>
            <a:ext cx="2427907" cy="0"/>
          </a:xfrm>
          <a:prstGeom prst="straightConnector1">
            <a:avLst/>
          </a:prstGeom>
          <a:ln>
            <a:solidFill>
              <a:srgbClr val="F784A5"/>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90" name="文本框 88"/>
          <p:cNvSpPr txBox="1"/>
          <p:nvPr/>
        </p:nvSpPr>
        <p:spPr>
          <a:xfrm>
            <a:off x="1042668" y="4218544"/>
            <a:ext cx="2606111" cy="203132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全网信息获取工作范围涉及整个国际互联网内所有网络媒体发布信息</a:t>
            </a:r>
            <a:endParaRPr lang="en-US" altLang="zh-CN" sz="14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应用于搜索引擎</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400" dirty="0" err="1">
                <a:solidFill>
                  <a:schemeClr val="bg2">
                    <a:lumMod val="25000"/>
                  </a:schemeClr>
                </a:solidFill>
                <a:latin typeface="微软雅黑" panose="020B0503020204020204" pitchFamily="34" charset="-122"/>
                <a:ea typeface="微软雅黑" panose="020B0503020204020204" pitchFamily="34" charset="-122"/>
              </a:rPr>
              <a:t>SearchEngine</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，例如</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Google</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Baidu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或 </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Yahoo</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等，和大型内容服务提供商</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400" dirty="0" err="1">
                <a:solidFill>
                  <a:schemeClr val="bg2">
                    <a:lumMod val="25000"/>
                  </a:schemeClr>
                </a:solidFill>
                <a:latin typeface="微软雅黑" panose="020B0503020204020204" pitchFamily="34" charset="-122"/>
                <a:ea typeface="微软雅黑" panose="020B0503020204020204" pitchFamily="34" charset="-122"/>
              </a:rPr>
              <a:t>ContentServiceprovider</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的信息获取。</a:t>
            </a:r>
          </a:p>
        </p:txBody>
      </p:sp>
      <p:cxnSp>
        <p:nvCxnSpPr>
          <p:cNvPr id="91" name="直接箭头连接符 90"/>
          <p:cNvCxnSpPr/>
          <p:nvPr/>
        </p:nvCxnSpPr>
        <p:spPr>
          <a:xfrm flipH="1">
            <a:off x="4856462" y="3990115"/>
            <a:ext cx="2427907" cy="0"/>
          </a:xfrm>
          <a:prstGeom prst="straightConnector1">
            <a:avLst/>
          </a:prstGeom>
          <a:ln>
            <a:solidFill>
              <a:srgbClr val="F784A5"/>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92" name="文本框 88"/>
          <p:cNvSpPr txBox="1"/>
          <p:nvPr/>
        </p:nvSpPr>
        <p:spPr>
          <a:xfrm>
            <a:off x="4767359" y="4204524"/>
            <a:ext cx="2606111" cy="2462213"/>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定点信息获取的工作范围限制在服务于信息获取的初始</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URL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集合中每个 </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URL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所属的网络目录内</a:t>
            </a:r>
            <a:endParaRPr lang="en-US" altLang="zh-CN" sz="14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深入获取每个初始 </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URL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所属的网络目录及其下子目录中包含的网络发布内容，不再向初始 </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URL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所属网络目录的上级目录</a:t>
            </a:r>
            <a:endParaRPr lang="en-US" altLang="zh-CN" sz="14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乃至整个互联网扩散信息获取行为。</a:t>
            </a:r>
          </a:p>
        </p:txBody>
      </p:sp>
      <p:cxnSp>
        <p:nvCxnSpPr>
          <p:cNvPr id="93" name="直接箭头连接符 92"/>
          <p:cNvCxnSpPr/>
          <p:nvPr/>
        </p:nvCxnSpPr>
        <p:spPr>
          <a:xfrm flipH="1">
            <a:off x="9075920" y="3980002"/>
            <a:ext cx="2427907" cy="0"/>
          </a:xfrm>
          <a:prstGeom prst="straightConnector1">
            <a:avLst/>
          </a:prstGeom>
          <a:ln>
            <a:solidFill>
              <a:srgbClr val="F784A5"/>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94" name="文本框 88"/>
          <p:cNvSpPr txBox="1"/>
          <p:nvPr/>
        </p:nvSpPr>
        <p:spPr>
          <a:xfrm>
            <a:off x="8897716" y="4156530"/>
            <a:ext cx="2606111" cy="2246769"/>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元搜索属于特殊的基于主题的信息获取</a:t>
            </a:r>
            <a:endParaRPr lang="en-US" altLang="zh-CN" sz="14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将主题描述词传递给搜索引擎进行信息检索，并把搜索引擎针对主题描述词的信息检索结果作为基于主题信息获取的返回内容</a:t>
            </a:r>
            <a:endParaRPr lang="en-US" altLang="zh-CN" sz="14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原因是，每个搜索引擎在为输入词目构造信息检索 </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URL </a:t>
            </a:r>
            <a:r>
              <a:rPr lang="zh-CN" altLang="en-US" sz="1400" dirty="0">
                <a:solidFill>
                  <a:schemeClr val="bg2">
                    <a:lumMod val="25000"/>
                  </a:schemeClr>
                </a:solidFill>
                <a:latin typeface="微软雅黑" panose="020B0503020204020204" pitchFamily="34" charset="-122"/>
                <a:ea typeface="微软雅黑" panose="020B0503020204020204" pitchFamily="34" charset="-122"/>
              </a:rPr>
              <a:t>时是有规律可循的。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1000"/>
                                        <p:tgtEl>
                                          <p:spTgt spid="96"/>
                                        </p:tgtEl>
                                      </p:cBhvr>
                                    </p:animEffect>
                                    <p:anim calcmode="lin" valueType="num">
                                      <p:cBhvr>
                                        <p:cTn id="8" dur="1000" fill="hold"/>
                                        <p:tgtEl>
                                          <p:spTgt spid="96"/>
                                        </p:tgtEl>
                                        <p:attrNameLst>
                                          <p:attrName>ppt_x</p:attrName>
                                        </p:attrNameLst>
                                      </p:cBhvr>
                                      <p:tavLst>
                                        <p:tav tm="0">
                                          <p:val>
                                            <p:strVal val="#ppt_x"/>
                                          </p:val>
                                        </p:tav>
                                        <p:tav tm="100000">
                                          <p:val>
                                            <p:strVal val="#ppt_x"/>
                                          </p:val>
                                        </p:tav>
                                      </p:tavLst>
                                    </p:anim>
                                    <p:anim calcmode="lin" valueType="num">
                                      <p:cBhvr>
                                        <p:cTn id="9" dur="1000" fill="hold"/>
                                        <p:tgtEl>
                                          <p:spTgt spid="9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fade">
                                      <p:cBhvr>
                                        <p:cTn id="12" dur="1000"/>
                                        <p:tgtEl>
                                          <p:spTgt spid="97"/>
                                        </p:tgtEl>
                                      </p:cBhvr>
                                    </p:animEffect>
                                    <p:anim calcmode="lin" valueType="num">
                                      <p:cBhvr>
                                        <p:cTn id="13" dur="1000" fill="hold"/>
                                        <p:tgtEl>
                                          <p:spTgt spid="97"/>
                                        </p:tgtEl>
                                        <p:attrNameLst>
                                          <p:attrName>ppt_x</p:attrName>
                                        </p:attrNameLst>
                                      </p:cBhvr>
                                      <p:tavLst>
                                        <p:tav tm="0">
                                          <p:val>
                                            <p:strVal val="#ppt_x"/>
                                          </p:val>
                                        </p:tav>
                                        <p:tav tm="100000">
                                          <p:val>
                                            <p:strVal val="#ppt_x"/>
                                          </p:val>
                                        </p:tav>
                                      </p:tavLst>
                                    </p:anim>
                                    <p:anim calcmode="lin" valueType="num">
                                      <p:cBhvr>
                                        <p:cTn id="14" dur="1000" fill="hold"/>
                                        <p:tgtEl>
                                          <p:spTgt spid="9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400"/>
                                  </p:stCondLst>
                                  <p:childTnLst>
                                    <p:set>
                                      <p:cBhvr>
                                        <p:cTn id="16" dur="1" fill="hold">
                                          <p:stCondLst>
                                            <p:cond delay="0"/>
                                          </p:stCondLst>
                                        </p:cTn>
                                        <p:tgtEl>
                                          <p:spTgt spid="98"/>
                                        </p:tgtEl>
                                        <p:attrNameLst>
                                          <p:attrName>style.visibility</p:attrName>
                                        </p:attrNameLst>
                                      </p:cBhvr>
                                      <p:to>
                                        <p:strVal val="visible"/>
                                      </p:to>
                                    </p:set>
                                    <p:animEffect transition="in" filter="fade">
                                      <p:cBhvr>
                                        <p:cTn id="17" dur="1000"/>
                                        <p:tgtEl>
                                          <p:spTgt spid="98"/>
                                        </p:tgtEl>
                                      </p:cBhvr>
                                    </p:animEffect>
                                    <p:anim calcmode="lin" valueType="num">
                                      <p:cBhvr>
                                        <p:cTn id="18" dur="1000" fill="hold"/>
                                        <p:tgtEl>
                                          <p:spTgt spid="98"/>
                                        </p:tgtEl>
                                        <p:attrNameLst>
                                          <p:attrName>ppt_x</p:attrName>
                                        </p:attrNameLst>
                                      </p:cBhvr>
                                      <p:tavLst>
                                        <p:tav tm="0">
                                          <p:val>
                                            <p:strVal val="#ppt_x"/>
                                          </p:val>
                                        </p:tav>
                                        <p:tav tm="100000">
                                          <p:val>
                                            <p:strVal val="#ppt_x"/>
                                          </p:val>
                                        </p:tav>
                                      </p:tavLst>
                                    </p:anim>
                                    <p:anim calcmode="lin" valueType="num">
                                      <p:cBhvr>
                                        <p:cTn id="19" dur="1000" fill="hold"/>
                                        <p:tgtEl>
                                          <p:spTgt spid="98"/>
                                        </p:tgtEl>
                                        <p:attrNameLst>
                                          <p:attrName>ppt_y</p:attrName>
                                        </p:attrNameLst>
                                      </p:cBhvr>
                                      <p:tavLst>
                                        <p:tav tm="0">
                                          <p:val>
                                            <p:strVal val="#ppt_y+.1"/>
                                          </p:val>
                                        </p:tav>
                                        <p:tav tm="100000">
                                          <p:val>
                                            <p:strVal val="#ppt_y"/>
                                          </p:val>
                                        </p:tav>
                                      </p:tavLst>
                                    </p:anim>
                                  </p:childTnLst>
                                </p:cTn>
                              </p:par>
                              <p:par>
                                <p:cTn id="20" presetID="1" presetClass="entr" presetSubtype="0" fill="hold" grpId="0" nodeType="withEffect">
                                  <p:stCondLst>
                                    <p:cond delay="0"/>
                                  </p:stCondLst>
                                  <p:childTnLst>
                                    <p:set>
                                      <p:cBhvr>
                                        <p:cTn id="21" dur="1" fill="hold">
                                          <p:stCondLst>
                                            <p:cond delay="0"/>
                                          </p:stCondLst>
                                        </p:cTn>
                                        <p:tgtEl>
                                          <p:spTgt spid="95"/>
                                        </p:tgtEl>
                                        <p:attrNameLst>
                                          <p:attrName>style.visibility</p:attrName>
                                        </p:attrNameLst>
                                      </p:cBhvr>
                                      <p:to>
                                        <p:strVal val="visible"/>
                                      </p:to>
                                    </p:set>
                                  </p:childTnLst>
                                </p:cTn>
                              </p:par>
                              <p:par>
                                <p:cTn id="22" presetID="35" presetClass="path" presetSubtype="0" accel="50000" decel="50000" fill="hold" grpId="1" nodeType="withEffect">
                                  <p:stCondLst>
                                    <p:cond delay="0"/>
                                  </p:stCondLst>
                                  <p:childTnLst>
                                    <p:animMotion origin="layout" path="M 7.85742E-7 -3.33333E-6 L -0.39495 -0.11018 " pathEditMode="relative" rAng="0" ptsTypes="AA">
                                      <p:cBhvr>
                                        <p:cTn id="23" dur="500" spd="-99900" fill="hold"/>
                                        <p:tgtEl>
                                          <p:spTgt spid="95"/>
                                        </p:tgtEl>
                                        <p:attrNameLst>
                                          <p:attrName>ppt_x</p:attrName>
                                          <p:attrName>ppt_y</p:attrName>
                                        </p:attrNameLst>
                                      </p:cBhvr>
                                      <p:rCtr x="-19748" y="-5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bldLvl="0" animBg="1"/>
      <p:bldP spid="95" grpId="1" bldLvl="0" animBg="1"/>
      <p:bldP spid="96" grpId="0"/>
      <p:bldP spid="97" grpId="0"/>
      <p:bldP spid="9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91019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840693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9903666"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3216803" y="331131"/>
            <a:ext cx="7623959" cy="646331"/>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搜索引擎信息检索 </a:t>
            </a:r>
            <a:r>
              <a:rPr lang="en-US" altLang="zh-CN" sz="3600" dirty="0"/>
              <a:t>URL </a:t>
            </a:r>
            <a:r>
              <a:rPr lang="zh-CN" altLang="en-US" sz="3600" dirty="0"/>
              <a:t>构造范例</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9" name="Content Placeholder 4"/>
          <p:cNvSpPr txBox="1"/>
          <p:nvPr/>
        </p:nvSpPr>
        <p:spPr bwMode="auto">
          <a:xfrm>
            <a:off x="242454" y="1375303"/>
            <a:ext cx="5396346" cy="520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30000"/>
              </a:lnSpc>
              <a:spcBef>
                <a:spcPts val="6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元搜索引擎又称多搜索引擎，通过一个统一的用户界面帮助用户在多个搜索引擎中选择和利用合适的（甚至是同时利用若干个）搜索引擎来实现检索操作，是对分布于网络的多种检索工具的全局控制机制。（搜索引擎分类：全文搜索引擎、目录索引、元搜索引擎）。</a:t>
            </a:r>
            <a:endParaRPr lang="en-US" altLang="zh-CN" sz="1800" dirty="0">
              <a:latin typeface="微软雅黑" panose="020B0503020204020204" pitchFamily="34" charset="-122"/>
              <a:ea typeface="微软雅黑" panose="020B0503020204020204" pitchFamily="34" charset="-122"/>
            </a:endParaRPr>
          </a:p>
          <a:p>
            <a:pPr marL="285750" indent="-285750" algn="l">
              <a:lnSpc>
                <a:spcPct val="130000"/>
              </a:lnSpc>
              <a:spcBef>
                <a:spcPts val="6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元搜索技术正是通过在不同搜索引擎的网络交互过程中，根据每个搜索引擎的具体要求构造主题描述词信息检索 </a:t>
            </a:r>
            <a:r>
              <a:rPr lang="en-US" altLang="zh-CN" sz="1800" dirty="0">
                <a:latin typeface="微软雅黑" panose="020B0503020204020204" pitchFamily="34" charset="-122"/>
                <a:ea typeface="微软雅黑" panose="020B0503020204020204" pitchFamily="34" charset="-122"/>
              </a:rPr>
              <a:t>URL</a:t>
            </a:r>
            <a:r>
              <a:rPr lang="zh-CN" altLang="en-US" sz="1800" dirty="0">
                <a:latin typeface="微软雅黑" panose="020B0503020204020204" pitchFamily="34" charset="-122"/>
                <a:ea typeface="微软雅黑" panose="020B0503020204020204" pitchFamily="34" charset="-122"/>
              </a:rPr>
              <a:t>，向搜索引擎发起信息检索请求。</a:t>
            </a:r>
            <a:endParaRPr lang="en-US" altLang="zh-CN" sz="1800" dirty="0">
              <a:latin typeface="微软雅黑" panose="020B0503020204020204" pitchFamily="34" charset="-122"/>
              <a:ea typeface="微软雅黑" panose="020B0503020204020204" pitchFamily="34" charset="-122"/>
            </a:endParaRPr>
          </a:p>
          <a:p>
            <a:pPr marL="285750" indent="-285750" algn="l">
              <a:lnSpc>
                <a:spcPct val="130000"/>
              </a:lnSpc>
              <a:spcBef>
                <a:spcPts val="6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元搜索技术利用搜索引擎进行基于主题的信息获取操作，它把搜索引擎关于主题描述词的信息检索结果作为信息获取对象，从而实现面向特定主题的网络发布内容获取。</a:t>
            </a:r>
            <a:endParaRPr lang="en-US" sz="1800" dirty="0">
              <a:latin typeface="微软雅黑" panose="020B0503020204020204" pitchFamily="34" charset="-122"/>
              <a:ea typeface="微软雅黑" panose="020B0503020204020204" pitchFamily="34" charset="-122"/>
            </a:endParaRPr>
          </a:p>
        </p:txBody>
      </p:sp>
      <p:pic>
        <p:nvPicPr>
          <p:cNvPr id="81" name="图片 80"/>
          <p:cNvPicPr/>
          <p:nvPr/>
        </p:nvPicPr>
        <p:blipFill>
          <a:blip r:embed="rId17">
            <a:extLst>
              <a:ext uri="{28A0092B-C50C-407E-A947-70E740481C1C}">
                <a14:useLocalDpi xmlns:a14="http://schemas.microsoft.com/office/drawing/2010/main" val="0"/>
              </a:ext>
            </a:extLst>
          </a:blip>
          <a:stretch>
            <a:fillRect/>
          </a:stretch>
        </p:blipFill>
        <p:spPr>
          <a:xfrm>
            <a:off x="5805054" y="2646218"/>
            <a:ext cx="5950527" cy="2105891"/>
          </a:xfrm>
          <a:prstGeom prst="rect">
            <a:avLst/>
          </a:prstGeom>
        </p:spPr>
      </p:pic>
      <p:sp>
        <p:nvSpPr>
          <p:cNvPr id="2" name="矩形 1"/>
          <p:cNvSpPr/>
          <p:nvPr/>
        </p:nvSpPr>
        <p:spPr>
          <a:xfrm>
            <a:off x="6830291" y="5175609"/>
            <a:ext cx="4251883"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rPr>
              <a:t>搜索引擎信息检索 </a:t>
            </a:r>
            <a:r>
              <a:rPr lang="en-US" altLang="zh-CN" sz="2000" dirty="0">
                <a:latin typeface="微软雅黑" panose="020B0503020204020204" pitchFamily="34" charset="-122"/>
                <a:ea typeface="微软雅黑" panose="020B0503020204020204" pitchFamily="34" charset="-122"/>
              </a:rPr>
              <a:t>URL </a:t>
            </a:r>
            <a:r>
              <a:rPr lang="zh-CN" altLang="en-US" sz="2000" dirty="0">
                <a:latin typeface="微软雅黑" panose="020B0503020204020204" pitchFamily="34" charset="-122"/>
                <a:ea typeface="微软雅黑" panose="020B0503020204020204" pitchFamily="34" charset="-122"/>
              </a:rPr>
              <a:t>构造范例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29979" y="375809"/>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latin typeface="微软雅黑" panose="020B0503020204020204" pitchFamily="34" charset="-122"/>
                <a:ea typeface="微软雅黑" panose="020B0503020204020204" pitchFamily="34" charset="-122"/>
              </a:rPr>
              <a:t>网络媒体信息获取的难点分析</a:t>
            </a:r>
          </a:p>
        </p:txBody>
      </p:sp>
      <p:sp>
        <p:nvSpPr>
          <p:cNvPr id="71" name="文本框 70"/>
          <p:cNvSpPr txBox="1"/>
          <p:nvPr/>
        </p:nvSpPr>
        <p:spPr>
          <a:xfrm>
            <a:off x="1088797" y="1462204"/>
            <a:ext cx="9514647" cy="58477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200" dirty="0">
                <a:solidFill>
                  <a:srgbClr val="F784A5"/>
                </a:solidFill>
                <a:latin typeface="微软雅黑" panose="020B0503020204020204" pitchFamily="34" charset="-122"/>
                <a:ea typeface="微软雅黑" panose="020B0503020204020204" pitchFamily="34" charset="-122"/>
              </a:rPr>
              <a:t>网络媒体信息获取的难点主要包括以下方面：</a:t>
            </a:r>
          </a:p>
        </p:txBody>
      </p:sp>
      <p:grpSp>
        <p:nvGrpSpPr>
          <p:cNvPr id="5" name="组合 4"/>
          <p:cNvGrpSpPr/>
          <p:nvPr/>
        </p:nvGrpSpPr>
        <p:grpSpPr>
          <a:xfrm>
            <a:off x="1531836" y="2371340"/>
            <a:ext cx="1693084" cy="1693084"/>
            <a:chOff x="1544814" y="1976160"/>
            <a:chExt cx="1693084" cy="1693084"/>
          </a:xfrm>
        </p:grpSpPr>
        <p:pic>
          <p:nvPicPr>
            <p:cNvPr id="11" name="图片 10"/>
            <p:cNvPicPr>
              <a:picLocks noChangeAspect="1"/>
            </p:cNvPicPr>
            <p:nvPr/>
          </p:nvPicPr>
          <p:blipFill>
            <a:blip r:embed="rId18"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1914356" y="2345702"/>
              <a:ext cx="954000" cy="954000"/>
            </a:xfrm>
            <a:prstGeom prst="rect">
              <a:avLst/>
            </a:prstGeom>
          </p:spPr>
        </p:pic>
        <p:sp>
          <p:nvSpPr>
            <p:cNvPr id="85" name="椭圆 84"/>
            <p:cNvSpPr/>
            <p:nvPr/>
          </p:nvSpPr>
          <p:spPr>
            <a:xfrm>
              <a:off x="1544814"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4910695" y="2371340"/>
            <a:ext cx="1693084" cy="1693084"/>
            <a:chOff x="4424306" y="1976160"/>
            <a:chExt cx="1693084" cy="1693084"/>
          </a:xfrm>
        </p:grpSpPr>
        <p:pic>
          <p:nvPicPr>
            <p:cNvPr id="10" name="图片 9"/>
            <p:cNvPicPr>
              <a:picLocks noChangeAspect="1"/>
            </p:cNvPicPr>
            <p:nvPr/>
          </p:nvPicPr>
          <p:blipFill>
            <a:blip r:embed="rId19" cstate="print">
              <a:duotone>
                <a:prstClr val="black"/>
                <a:srgbClr val="3DA2CB">
                  <a:tint val="45000"/>
                  <a:satMod val="400000"/>
                </a:srgbClr>
              </a:duotone>
              <a:extLst>
                <a:ext uri="{28A0092B-C50C-407E-A947-70E740481C1C}">
                  <a14:useLocalDpi xmlns:a14="http://schemas.microsoft.com/office/drawing/2010/main" val="0"/>
                </a:ext>
              </a:extLst>
            </a:blip>
            <a:stretch>
              <a:fillRect/>
            </a:stretch>
          </p:blipFill>
          <p:spPr>
            <a:xfrm>
              <a:off x="4793848" y="2345702"/>
              <a:ext cx="954000" cy="954000"/>
            </a:xfrm>
            <a:prstGeom prst="rect">
              <a:avLst/>
            </a:prstGeom>
            <a:noFill/>
            <a:ln w="9525">
              <a:solidFill>
                <a:schemeClr val="bg1"/>
              </a:solidFill>
              <a:prstDash val="dash"/>
            </a:ln>
          </p:spPr>
        </p:pic>
        <p:sp>
          <p:nvSpPr>
            <p:cNvPr id="103" name="椭圆 102"/>
            <p:cNvSpPr/>
            <p:nvPr/>
          </p:nvSpPr>
          <p:spPr>
            <a:xfrm>
              <a:off x="4424306"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8138985" y="2375246"/>
            <a:ext cx="2498156" cy="2260492"/>
            <a:chOff x="6627843" y="1997788"/>
            <a:chExt cx="2498156" cy="2260492"/>
          </a:xfrm>
        </p:grpSpPr>
        <p:grpSp>
          <p:nvGrpSpPr>
            <p:cNvPr id="6" name="组合 5"/>
            <p:cNvGrpSpPr/>
            <p:nvPr/>
          </p:nvGrpSpPr>
          <p:grpSpPr>
            <a:xfrm>
              <a:off x="7030379" y="1997788"/>
              <a:ext cx="1693084" cy="1693084"/>
              <a:chOff x="6544075" y="1997788"/>
              <a:chExt cx="1693084" cy="1693084"/>
            </a:xfrm>
          </p:grpSpPr>
          <p:pic>
            <p:nvPicPr>
              <p:cNvPr id="9" name="图片 8"/>
              <p:cNvPicPr>
                <a:picLocks noChangeAspect="1"/>
              </p:cNvPicPr>
              <p:nvPr/>
            </p:nvPicPr>
            <p:blipFill>
              <a:blip r:embed="rId20"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6913617" y="2367330"/>
                <a:ext cx="954000" cy="954000"/>
              </a:xfrm>
              <a:prstGeom prst="rect">
                <a:avLst/>
              </a:prstGeom>
            </p:spPr>
          </p:pic>
          <p:sp>
            <p:nvSpPr>
              <p:cNvPr id="107" name="椭圆 106"/>
              <p:cNvSpPr/>
              <p:nvPr/>
            </p:nvSpPr>
            <p:spPr>
              <a:xfrm>
                <a:off x="6544075" y="1997788"/>
                <a:ext cx="1693084" cy="1693084"/>
              </a:xfrm>
              <a:prstGeom prst="ellipse">
                <a:avLst/>
              </a:prstGeom>
              <a:noFill/>
              <a:ln w="9525">
                <a:solidFill>
                  <a:srgbClr val="31B5D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6" name="TextBox 7179"/>
            <p:cNvSpPr txBox="1"/>
            <p:nvPr/>
          </p:nvSpPr>
          <p:spPr>
            <a:xfrm>
              <a:off x="6627843" y="3888948"/>
              <a:ext cx="2498156" cy="369332"/>
            </a:xfrm>
            <a:prstGeom prst="rect">
              <a:avLst/>
            </a:prstGeom>
            <a:noFill/>
          </p:spPr>
          <p:txBody>
            <a:bodyPr wrap="square" rtlCol="0">
              <a:spAutoFit/>
            </a:bodyPr>
            <a:lstStyle/>
            <a:p>
              <a:pPr algn="ctr"/>
              <a:endParaRPr lang="en-US" altLang="zh-CN" b="1" dirty="0">
                <a:solidFill>
                  <a:schemeClr val="accent1"/>
                </a:solidFill>
              </a:endParaRPr>
            </a:p>
          </p:txBody>
        </p:sp>
      </p:gr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164960" y="4635738"/>
            <a:ext cx="2426836" cy="1653786"/>
          </a:xfrm>
          <a:prstGeom prst="rect">
            <a:avLst/>
          </a:prstGeom>
        </p:spPr>
        <p:txBody>
          <a:bodyPr wrap="square">
            <a:spAutoFit/>
          </a:bodyPr>
          <a:lstStyle/>
          <a:p>
            <a:pPr>
              <a:lnSpc>
                <a:spcPct val="130000"/>
              </a:lnSpc>
            </a:pPr>
            <a:r>
              <a:rPr lang="zh-CN" altLang="en-US" sz="2000" dirty="0">
                <a:latin typeface="微软雅黑" panose="020B0503020204020204" pitchFamily="34" charset="-122"/>
                <a:ea typeface="微软雅黑" panose="020B0503020204020204" pitchFamily="34" charset="-122"/>
              </a:rPr>
              <a:t>面对异构媒体信息，难以在获取内容的全面性和时效性之间做出取舍</a:t>
            </a:r>
            <a:endParaRPr lang="en-US" altLang="zh-CN" dirty="0">
              <a:latin typeface="微软雅黑" panose="020B0503020204020204" pitchFamily="34" charset="-122"/>
              <a:ea typeface="微软雅黑" panose="020B0503020204020204" pitchFamily="34" charset="-122"/>
            </a:endParaRPr>
          </a:p>
        </p:txBody>
      </p:sp>
      <p:sp>
        <p:nvSpPr>
          <p:cNvPr id="3" name="矩形 2"/>
          <p:cNvSpPr/>
          <p:nvPr/>
        </p:nvSpPr>
        <p:spPr>
          <a:xfrm>
            <a:off x="4463173" y="4635738"/>
            <a:ext cx="2765893" cy="1653786"/>
          </a:xfrm>
          <a:prstGeom prst="rect">
            <a:avLst/>
          </a:prstGeom>
        </p:spPr>
        <p:txBody>
          <a:bodyPr wrap="square">
            <a:spAutoFit/>
          </a:bodyPr>
          <a:lstStyle/>
          <a:p>
            <a:pPr>
              <a:lnSpc>
                <a:spcPct val="130000"/>
              </a:lnSpc>
            </a:pPr>
            <a:r>
              <a:rPr lang="zh-CN" altLang="en-US" sz="2000" dirty="0">
                <a:latin typeface="微软雅黑" panose="020B0503020204020204" pitchFamily="34" charset="-122"/>
                <a:ea typeface="微软雅黑" panose="020B0503020204020204" pitchFamily="34" charset="-122"/>
              </a:rPr>
              <a:t>在确保信息获取的深入性与时效性的基础上，有效回避目标媒体对于信息获取行为的封禁</a:t>
            </a:r>
            <a:endParaRPr lang="en-US" altLang="zh-CN" dirty="0">
              <a:latin typeface="微软雅黑" panose="020B0503020204020204" pitchFamily="34" charset="-122"/>
              <a:ea typeface="微软雅黑" panose="020B0503020204020204" pitchFamily="34" charset="-122"/>
            </a:endParaRPr>
          </a:p>
        </p:txBody>
      </p:sp>
      <p:sp>
        <p:nvSpPr>
          <p:cNvPr id="16" name="矩形 15"/>
          <p:cNvSpPr/>
          <p:nvPr/>
        </p:nvSpPr>
        <p:spPr>
          <a:xfrm>
            <a:off x="7973443" y="4635738"/>
            <a:ext cx="2985502" cy="1653786"/>
          </a:xfrm>
          <a:prstGeom prst="rect">
            <a:avLst/>
          </a:prstGeom>
        </p:spPr>
        <p:txBody>
          <a:bodyPr wrap="square">
            <a:spAutoFit/>
          </a:bodyPr>
          <a:lstStyle/>
          <a:p>
            <a:pPr>
              <a:lnSpc>
                <a:spcPct val="130000"/>
              </a:lnSpc>
            </a:pPr>
            <a:r>
              <a:rPr lang="zh-CN" altLang="en-US" sz="2000" dirty="0">
                <a:latin typeface="微软雅黑" panose="020B0503020204020204" pitchFamily="34" charset="-122"/>
                <a:ea typeface="微软雅黑" panose="020B0503020204020204" pitchFamily="34" charset="-122"/>
              </a:rPr>
              <a:t>基于合适的主题相关度判断法则，对来自不同搜索引擎的信息检索结果实现基于主题的相关度排序</a:t>
            </a:r>
            <a:endParaRPr lang="en-US" altLang="zh-CN" dirty="0">
              <a:latin typeface="微软雅黑" panose="020B0503020204020204" pitchFamily="34" charset="-122"/>
              <a:ea typeface="微软雅黑" panose="020B0503020204020204" pitchFamily="34" charset="-122"/>
            </a:endParaRPr>
          </a:p>
        </p:txBody>
      </p:sp>
      <p:pic>
        <p:nvPicPr>
          <p:cNvPr id="24579" name="Picture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76684" y="2646679"/>
            <a:ext cx="1161106" cy="1142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199457" y="5097959"/>
            <a:ext cx="9517034" cy="96128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按网页具体形态分类，网络媒体信息又可分成静态网页与动态网页两类，不同方法获取方式不一样。</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856508" y="2286002"/>
            <a:ext cx="4627418" cy="2658350"/>
            <a:chOff x="344262" y="2166511"/>
            <a:chExt cx="3758217" cy="2479906"/>
          </a:xfrm>
        </p:grpSpPr>
        <p:grpSp>
          <p:nvGrpSpPr>
            <p:cNvPr id="8" name="组合 7"/>
            <p:cNvGrpSpPr/>
            <p:nvPr/>
          </p:nvGrpSpPr>
          <p:grpSpPr>
            <a:xfrm>
              <a:off x="3000669" y="2166511"/>
              <a:ext cx="1101810" cy="1281868"/>
              <a:chOff x="3048934" y="2166511"/>
              <a:chExt cx="1101810" cy="1281868"/>
            </a:xfrm>
          </p:grpSpPr>
          <p:sp>
            <p:nvSpPr>
              <p:cNvPr id="99" name="矩形 8"/>
              <p:cNvSpPr>
                <a:spLocks noChangeArrowheads="1"/>
              </p:cNvSpPr>
              <p:nvPr/>
            </p:nvSpPr>
            <p:spPr bwMode="auto">
              <a:xfrm>
                <a:off x="3181808" y="2166511"/>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344262" y="3585221"/>
              <a:ext cx="2137908" cy="106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30000"/>
                </a:lnSpc>
              </a:pPr>
              <a:r>
                <a:rPr lang="zh-CN" altLang="en-US" dirty="0">
                  <a:latin typeface="微软雅黑" panose="020B0503020204020204" pitchFamily="34" charset="-122"/>
                  <a:ea typeface="微软雅黑" panose="020B0503020204020204" pitchFamily="34" charset="-122"/>
                </a:rPr>
                <a:t>带身份认证动态媒体发布信息获取</a:t>
              </a:r>
            </a:p>
            <a:p>
              <a:pPr algn="ctr">
                <a:lnSpc>
                  <a:spcPct val="130000"/>
                </a:lnSpc>
              </a:pPr>
              <a:endParaRPr lang="zh-CN" altLang="en-US"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7024256" y="2272169"/>
            <a:ext cx="4334460" cy="2267093"/>
            <a:chOff x="3715923" y="3041859"/>
            <a:chExt cx="3827408" cy="2105875"/>
          </a:xfrm>
        </p:grpSpPr>
        <p:grpSp>
          <p:nvGrpSpPr>
            <p:cNvPr id="9" name="组合 8"/>
            <p:cNvGrpSpPr/>
            <p:nvPr/>
          </p:nvGrpSpPr>
          <p:grpSpPr>
            <a:xfrm>
              <a:off x="6486252" y="3041859"/>
              <a:ext cx="1057079" cy="1303052"/>
              <a:chOff x="6486252" y="3041859"/>
              <a:chExt cx="1057079" cy="1303052"/>
            </a:xfrm>
          </p:grpSpPr>
          <p:cxnSp>
            <p:nvCxnSpPr>
              <p:cNvPr id="114" name="直接连接符 113"/>
              <p:cNvCxnSpPr/>
              <p:nvPr/>
            </p:nvCxnSpPr>
            <p:spPr>
              <a:xfrm flipH="1">
                <a:off x="6486252" y="3084911"/>
                <a:ext cx="0" cy="1260000"/>
              </a:xfrm>
              <a:prstGeom prst="line">
                <a:avLst/>
              </a:prstGeom>
              <a:ln w="57150">
                <a:solidFill>
                  <a:srgbClr val="31B5D6"/>
                </a:solidFill>
              </a:ln>
            </p:spPr>
            <p:style>
              <a:lnRef idx="1">
                <a:schemeClr val="accent1"/>
              </a:lnRef>
              <a:fillRef idx="0">
                <a:schemeClr val="accent1"/>
              </a:fillRef>
              <a:effectRef idx="0">
                <a:schemeClr val="accent1"/>
              </a:effectRef>
              <a:fontRef idx="minor">
                <a:schemeClr val="tx1"/>
              </a:fontRef>
            </p:style>
          </p:cxnSp>
          <p:sp>
            <p:nvSpPr>
              <p:cNvPr id="118" name="矩形 8"/>
              <p:cNvSpPr>
                <a:spLocks noChangeArrowheads="1"/>
              </p:cNvSpPr>
              <p:nvPr/>
            </p:nvSpPr>
            <p:spPr bwMode="auto">
              <a:xfrm>
                <a:off x="6574395" y="3041859"/>
                <a:ext cx="968936" cy="45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endParaRPr lang="zh-CN" altLang="en-US" sz="2000" b="1" dirty="0">
                  <a:latin typeface="微软雅黑" panose="020B0503020204020204" pitchFamily="34" charset="-122"/>
                  <a:ea typeface="微软雅黑" panose="020B0503020204020204" pitchFamily="34" charset="-122"/>
                </a:endParaRPr>
              </a:p>
            </p:txBody>
          </p:sp>
        </p:grpSp>
        <p:sp>
          <p:nvSpPr>
            <p:cNvPr id="121" name="矩形 8"/>
            <p:cNvSpPr>
              <a:spLocks noChangeArrowheads="1"/>
            </p:cNvSpPr>
            <p:nvPr/>
          </p:nvSpPr>
          <p:spPr bwMode="auto">
            <a:xfrm>
              <a:off x="3715923" y="4425564"/>
              <a:ext cx="2263256" cy="72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30000"/>
                </a:lnSpc>
              </a:pPr>
              <a:r>
                <a:rPr lang="zh-CN" altLang="en-US" dirty="0">
                  <a:latin typeface="微软雅黑" panose="020B0503020204020204" pitchFamily="34" charset="-122"/>
                  <a:ea typeface="微软雅黑" panose="020B0503020204020204" pitchFamily="34" charset="-122"/>
                </a:rPr>
                <a:t>内嵌脚本语言片段的动态网页信息获取</a:t>
              </a:r>
            </a:p>
          </p:txBody>
        </p:sp>
      </p:grpSp>
      <p:pic>
        <p:nvPicPr>
          <p:cNvPr id="90" name="Picture 3"/>
          <p:cNvPicPr>
            <a:picLocks noChangeAspect="1" noChangeArrowheads="1"/>
          </p:cNvPicPr>
          <p:nvPr/>
        </p:nvPicPr>
        <p:blipFill>
          <a:blip r:embed="rId2" cstate="print">
            <a:duotone>
              <a:prstClr val="black"/>
              <a:srgbClr val="D9C3A5">
                <a:tint val="50000"/>
                <a:satMod val="180000"/>
              </a:srgbClr>
            </a:duotone>
          </a:blip>
          <a:srcRect/>
          <a:stretch>
            <a:fillRect/>
          </a:stretch>
        </p:blipFill>
        <p:spPr bwMode="auto">
          <a:xfrm>
            <a:off x="1227650" y="2112821"/>
            <a:ext cx="3666693" cy="151996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91" name="Picture 53" descr="C:\Users\zhengge\Desktop\big-data.jpg"/>
          <p:cNvPicPr>
            <a:picLocks noChangeAspect="1" noChangeArrowheads="1"/>
          </p:cNvPicPr>
          <p:nvPr/>
        </p:nvPicPr>
        <p:blipFill>
          <a:blip r:embed="rId3"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6583097" y="2064328"/>
            <a:ext cx="3355759" cy="1588608"/>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网页媒体信息获取方法</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55309" y="1626141"/>
            <a:ext cx="6354625"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1. </a:t>
            </a:r>
            <a:r>
              <a:rPr lang="zh-CN" altLang="en-US" dirty="0"/>
              <a:t>基于 </a:t>
            </a:r>
            <a:r>
              <a:rPr lang="en-US" altLang="zh-CN" dirty="0"/>
              <a:t>Cookie </a:t>
            </a:r>
            <a:r>
              <a:rPr lang="zh-CN" altLang="en-US" dirty="0"/>
              <a:t>机制实现身份认证</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710963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带身份认证动态媒体发布信息获取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7" name="图片 166"/>
          <p:cNvPicPr/>
          <p:nvPr/>
        </p:nvPicPr>
        <p:blipFill>
          <a:blip r:embed="rId17">
            <a:extLst>
              <a:ext uri="{28A0092B-C50C-407E-A947-70E740481C1C}">
                <a14:useLocalDpi xmlns:a14="http://schemas.microsoft.com/office/drawing/2010/main" val="0"/>
              </a:ext>
            </a:extLst>
          </a:blip>
          <a:stretch>
            <a:fillRect/>
          </a:stretch>
        </p:blipFill>
        <p:spPr>
          <a:xfrm>
            <a:off x="1246435" y="2653146"/>
            <a:ext cx="3934814" cy="2677694"/>
          </a:xfrm>
          <a:prstGeom prst="rect">
            <a:avLst/>
          </a:prstGeom>
        </p:spPr>
      </p:pic>
      <p:pic>
        <p:nvPicPr>
          <p:cNvPr id="168" name="图片 167" descr="C:\Users\Administrator\Desktop\1.jpg"/>
          <p:cNvPicPr/>
          <p:nvPr/>
        </p:nvPicPr>
        <p:blipFill>
          <a:blip r:embed="rId18">
            <a:extLst>
              <a:ext uri="{28A0092B-C50C-407E-A947-70E740481C1C}">
                <a14:useLocalDpi xmlns:a14="http://schemas.microsoft.com/office/drawing/2010/main" val="0"/>
              </a:ext>
            </a:extLst>
          </a:blip>
          <a:srcRect/>
          <a:stretch>
            <a:fillRect/>
          </a:stretch>
        </p:blipFill>
        <p:spPr>
          <a:xfrm>
            <a:off x="6442364" y="2501200"/>
            <a:ext cx="5008418" cy="2730656"/>
          </a:xfrm>
          <a:prstGeom prst="rect">
            <a:avLst/>
          </a:prstGeom>
          <a:noFill/>
          <a:ln>
            <a:noFill/>
          </a:ln>
        </p:spPr>
      </p:pic>
      <p:sp>
        <p:nvSpPr>
          <p:cNvPr id="3" name="矩形 2"/>
          <p:cNvSpPr/>
          <p:nvPr/>
        </p:nvSpPr>
        <p:spPr>
          <a:xfrm>
            <a:off x="6303819" y="5734910"/>
            <a:ext cx="5389428" cy="369332"/>
          </a:xfrm>
          <a:prstGeom prst="rect">
            <a:avLst/>
          </a:prstGeom>
        </p:spPr>
        <p:txBody>
          <a:bodyPr wrap="square">
            <a:spAutoFit/>
          </a:bodyPr>
          <a:lstStyle/>
          <a:p>
            <a:r>
              <a:rPr lang="zh-CN" altLang="zh-CN" dirty="0"/>
              <a:t>基于</a:t>
            </a:r>
            <a:r>
              <a:rPr lang="en-US" altLang="zh-CN" dirty="0"/>
              <a:t> Cookie </a:t>
            </a:r>
            <a:r>
              <a:rPr lang="zh-CN" altLang="zh-CN" dirty="0"/>
              <a:t>机制实现需身份认证才可访问信息请求</a:t>
            </a:r>
            <a:endParaRPr lang="zh-CN" altLang="en-US" dirty="0"/>
          </a:p>
        </p:txBody>
      </p:sp>
      <p:sp>
        <p:nvSpPr>
          <p:cNvPr id="4" name="矩形 3"/>
          <p:cNvSpPr/>
          <p:nvPr/>
        </p:nvSpPr>
        <p:spPr>
          <a:xfrm>
            <a:off x="1119757" y="5721243"/>
            <a:ext cx="4292771" cy="369332"/>
          </a:xfrm>
          <a:prstGeom prst="rect">
            <a:avLst/>
          </a:prstGeom>
        </p:spPr>
        <p:txBody>
          <a:bodyPr wrap="square">
            <a:spAutoFit/>
          </a:bodyPr>
          <a:lstStyle/>
          <a:p>
            <a:r>
              <a:rPr lang="zh-CN" altLang="zh-CN" dirty="0"/>
              <a:t>基于</a:t>
            </a:r>
            <a:r>
              <a:rPr lang="en-US" altLang="zh-CN" dirty="0"/>
              <a:t> Cookie </a:t>
            </a:r>
            <a:r>
              <a:rPr lang="zh-CN" altLang="zh-CN" dirty="0"/>
              <a:t>机制的</a:t>
            </a:r>
            <a:r>
              <a:rPr lang="en-US" altLang="zh-CN" dirty="0"/>
              <a:t> HTTP </a:t>
            </a:r>
            <a:r>
              <a:rPr lang="zh-CN" altLang="zh-CN" dirty="0"/>
              <a:t>信息交互过程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3466" y="1672831"/>
            <a:ext cx="6269665"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2.</a:t>
            </a:r>
            <a:r>
              <a:rPr lang="zh-CN" altLang="en-US" dirty="0"/>
              <a:t>基于网络交互重构实现信息获取</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710963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带身份认证动态媒体发布信息获取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7570843" y="5881443"/>
            <a:ext cx="3416320" cy="369332"/>
          </a:xfrm>
          <a:prstGeom prst="rect">
            <a:avLst/>
          </a:prstGeom>
        </p:spPr>
        <p:txBody>
          <a:bodyPr wrap="none">
            <a:spAutoFit/>
          </a:bodyPr>
          <a:lstStyle/>
          <a:p>
            <a:r>
              <a:rPr lang="zh-CN" altLang="en-US" dirty="0"/>
              <a:t>网络媒体信息获取身份认证模拟</a:t>
            </a:r>
          </a:p>
        </p:txBody>
      </p:sp>
      <p:pic>
        <p:nvPicPr>
          <p:cNvPr id="169" name="图片 168"/>
          <p:cNvPicPr/>
          <p:nvPr/>
        </p:nvPicPr>
        <p:blipFill>
          <a:blip r:embed="rId17">
            <a:extLst>
              <a:ext uri="{28A0092B-C50C-407E-A947-70E740481C1C}">
                <a14:useLocalDpi xmlns:a14="http://schemas.microsoft.com/office/drawing/2010/main" val="0"/>
              </a:ext>
            </a:extLst>
          </a:blip>
          <a:stretch>
            <a:fillRect/>
          </a:stretch>
        </p:blipFill>
        <p:spPr>
          <a:xfrm>
            <a:off x="7410023" y="1483868"/>
            <a:ext cx="3577140" cy="4342001"/>
          </a:xfrm>
          <a:prstGeom prst="rect">
            <a:avLst/>
          </a:prstGeom>
        </p:spPr>
      </p:pic>
      <p:cxnSp>
        <p:nvCxnSpPr>
          <p:cNvPr id="171" name="直接连接符 170"/>
          <p:cNvCxnSpPr/>
          <p:nvPr/>
        </p:nvCxnSpPr>
        <p:spPr>
          <a:xfrm>
            <a:off x="701487" y="293451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a:off x="701487" y="3940999"/>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73" name="矩形 172"/>
          <p:cNvSpPr/>
          <p:nvPr/>
        </p:nvSpPr>
        <p:spPr bwMode="auto">
          <a:xfrm>
            <a:off x="1075385" y="331508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4" name="矩形 173"/>
          <p:cNvSpPr/>
          <p:nvPr/>
        </p:nvSpPr>
        <p:spPr bwMode="auto">
          <a:xfrm>
            <a:off x="1079438" y="426927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5" name="文本框 12"/>
          <p:cNvSpPr txBox="1"/>
          <p:nvPr/>
        </p:nvSpPr>
        <p:spPr>
          <a:xfrm>
            <a:off x="1522603" y="3072985"/>
            <a:ext cx="3277397"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通过网络编程顺序模拟网络媒体信息请求过程</a:t>
            </a:r>
          </a:p>
        </p:txBody>
      </p:sp>
      <p:sp>
        <p:nvSpPr>
          <p:cNvPr id="176" name="文本框 14"/>
          <p:cNvSpPr txBox="1"/>
          <p:nvPr/>
        </p:nvSpPr>
        <p:spPr>
          <a:xfrm>
            <a:off x="1530369" y="3993252"/>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网络身份认证过程，都需要进行正确的网络交互过程模拟</a:t>
            </a:r>
          </a:p>
        </p:txBody>
      </p:sp>
      <p:cxnSp>
        <p:nvCxnSpPr>
          <p:cNvPr id="177" name="直接连接符 176"/>
          <p:cNvCxnSpPr/>
          <p:nvPr/>
        </p:nvCxnSpPr>
        <p:spPr>
          <a:xfrm>
            <a:off x="683466" y="484617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79" name="矩形 178"/>
          <p:cNvSpPr/>
          <p:nvPr/>
        </p:nvSpPr>
        <p:spPr bwMode="auto">
          <a:xfrm>
            <a:off x="1079438" y="533979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80" name="文本框 14"/>
          <p:cNvSpPr txBox="1"/>
          <p:nvPr/>
        </p:nvSpPr>
        <p:spPr>
          <a:xfrm>
            <a:off x="1538504" y="4866821"/>
            <a:ext cx="334808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媒体信息获取环节是通过响应信息返回码判断信息获取请求是否成功的</a:t>
            </a:r>
          </a:p>
        </p:txBody>
      </p:sp>
      <p:cxnSp>
        <p:nvCxnSpPr>
          <p:cNvPr id="181" name="直接连接符 180"/>
          <p:cNvCxnSpPr/>
          <p:nvPr/>
        </p:nvCxnSpPr>
        <p:spPr>
          <a:xfrm>
            <a:off x="691601" y="6066109"/>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动态网页信息获取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5602"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53145" y="1508471"/>
            <a:ext cx="6310747" cy="308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 name="文本框 145"/>
          <p:cNvSpPr txBox="1"/>
          <p:nvPr/>
        </p:nvSpPr>
        <p:spPr>
          <a:xfrm>
            <a:off x="1010574" y="4893678"/>
            <a:ext cx="10145438" cy="1730730"/>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动态网页主体内容及其内嵌 </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URL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信息完全封装于网页源文件中的脚本语言片段内，无法直接使用基于 </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HTML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标记匹配方法提取网页主体内容及其内嵌 </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URL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信息。</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nSpc>
                <a:spcPct val="130000"/>
              </a:lnSpc>
              <a:spcBef>
                <a:spcPts val="600"/>
              </a:spcBef>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可将脚本语言片段传递给浏览器的脚本解释组件实现动态脚本解析并获得脚本片段所对应的静态网页内容。</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247458"/>
            <a:ext cx="10078400"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1.</a:t>
            </a:r>
            <a:r>
              <a:rPr lang="zh-CN" altLang="en-US" dirty="0"/>
              <a:t>利用 </a:t>
            </a:r>
            <a:r>
              <a:rPr lang="en-US" altLang="zh-CN" dirty="0"/>
              <a:t>HTML DOM </a:t>
            </a:r>
            <a:r>
              <a:rPr lang="zh-CN" altLang="en-US" dirty="0"/>
              <a:t>树提取动态网页内的脚本语言片段</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动态网页信息获取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6626" name="Picture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66778" y="1929538"/>
            <a:ext cx="7940113" cy="3044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4191000" y="4742553"/>
            <a:ext cx="3672471" cy="369332"/>
          </a:xfrm>
          <a:prstGeom prst="rect">
            <a:avLst/>
          </a:prstGeom>
        </p:spPr>
        <p:txBody>
          <a:bodyPr wrap="square">
            <a:spAutoFit/>
          </a:bodyPr>
          <a:lstStyle/>
          <a:p>
            <a:pPr algn="ctr"/>
            <a:r>
              <a:rPr lang="en-US" altLang="zh-CN" dirty="0"/>
              <a:t>HTML </a:t>
            </a:r>
            <a:r>
              <a:rPr lang="zh-CN" altLang="zh-CN" dirty="0"/>
              <a:t>网页对应的</a:t>
            </a:r>
            <a:r>
              <a:rPr lang="en-US" altLang="zh-CN" dirty="0"/>
              <a:t> HTML DOM </a:t>
            </a:r>
            <a:r>
              <a:rPr lang="zh-CN" altLang="zh-CN" dirty="0"/>
              <a:t>树</a:t>
            </a:r>
          </a:p>
        </p:txBody>
      </p:sp>
      <p:sp>
        <p:nvSpPr>
          <p:cNvPr id="162" name="文本框 145"/>
          <p:cNvSpPr txBox="1"/>
          <p:nvPr/>
        </p:nvSpPr>
        <p:spPr>
          <a:xfrm>
            <a:off x="655309" y="5200395"/>
            <a:ext cx="10608435" cy="119564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sz="1900" dirty="0">
                <a:solidFill>
                  <a:schemeClr val="tx1">
                    <a:lumMod val="65000"/>
                    <a:lumOff val="35000"/>
                  </a:schemeClr>
                </a:solidFill>
                <a:latin typeface="微软雅黑" panose="020B0503020204020204" pitchFamily="34" charset="-122"/>
                <a:ea typeface="微软雅黑" panose="020B0503020204020204" pitchFamily="34" charset="-122"/>
              </a:rPr>
              <a:t>HTML </a:t>
            </a:r>
            <a:r>
              <a:rPr lang="zh-CN" altLang="en-US" sz="1900" dirty="0">
                <a:solidFill>
                  <a:schemeClr val="tx1">
                    <a:lumMod val="65000"/>
                    <a:lumOff val="35000"/>
                  </a:schemeClr>
                </a:solidFill>
                <a:latin typeface="微软雅黑" panose="020B0503020204020204" pitchFamily="34" charset="-122"/>
                <a:ea typeface="微软雅黑" panose="020B0503020204020204" pitchFamily="34" charset="-122"/>
              </a:rPr>
              <a:t>网页对应的 </a:t>
            </a:r>
            <a:r>
              <a:rPr lang="en-US" altLang="zh-CN" sz="1900" dirty="0">
                <a:solidFill>
                  <a:schemeClr val="tx1">
                    <a:lumMod val="65000"/>
                    <a:lumOff val="35000"/>
                  </a:schemeClr>
                </a:solidFill>
                <a:latin typeface="微软雅黑" panose="020B0503020204020204" pitchFamily="34" charset="-122"/>
                <a:ea typeface="微软雅黑" panose="020B0503020204020204" pitchFamily="34" charset="-122"/>
              </a:rPr>
              <a:t>HTML DOM </a:t>
            </a:r>
            <a:r>
              <a:rPr lang="zh-CN" altLang="en-US" sz="1900" dirty="0">
                <a:solidFill>
                  <a:schemeClr val="tx1">
                    <a:lumMod val="65000"/>
                    <a:lumOff val="35000"/>
                  </a:schemeClr>
                </a:solidFill>
                <a:latin typeface="微软雅黑" panose="020B0503020204020204" pitchFamily="34" charset="-122"/>
                <a:ea typeface="微软雅黑" panose="020B0503020204020204" pitchFamily="34" charset="-122"/>
              </a:rPr>
              <a:t>树存储于浏览器内存对象中，该对象实现了包含若干方法的标准程序接口。网页开发人员可以通过相应接口，对 </a:t>
            </a:r>
            <a:r>
              <a:rPr lang="en-US" altLang="zh-CN" sz="1900" dirty="0">
                <a:solidFill>
                  <a:schemeClr val="tx1">
                    <a:lumMod val="65000"/>
                    <a:lumOff val="35000"/>
                  </a:schemeClr>
                </a:solidFill>
                <a:latin typeface="微软雅黑" panose="020B0503020204020204" pitchFamily="34" charset="-122"/>
                <a:ea typeface="微软雅黑" panose="020B0503020204020204" pitchFamily="34" charset="-122"/>
              </a:rPr>
              <a:t>HTML DOM </a:t>
            </a:r>
            <a:r>
              <a:rPr lang="zh-CN" altLang="en-US" sz="1900" dirty="0">
                <a:solidFill>
                  <a:schemeClr val="tx1">
                    <a:lumMod val="65000"/>
                    <a:lumOff val="35000"/>
                  </a:schemeClr>
                </a:solidFill>
                <a:latin typeface="微软雅黑" panose="020B0503020204020204" pitchFamily="34" charset="-122"/>
                <a:ea typeface="微软雅黑" panose="020B0503020204020204" pitchFamily="34" charset="-122"/>
              </a:rPr>
              <a:t>树上的每个结点进行遍历、查询、修改或删除等操作，从而动态访问和实时更新 </a:t>
            </a:r>
            <a:r>
              <a:rPr lang="en-US" altLang="zh-CN" sz="1900" dirty="0">
                <a:solidFill>
                  <a:schemeClr val="tx1">
                    <a:lumMod val="65000"/>
                    <a:lumOff val="35000"/>
                  </a:schemeClr>
                </a:solidFill>
                <a:latin typeface="微软雅黑" panose="020B0503020204020204" pitchFamily="34" charset="-122"/>
                <a:ea typeface="微软雅黑" panose="020B0503020204020204" pitchFamily="34" charset="-122"/>
              </a:rPr>
              <a:t>HTML </a:t>
            </a:r>
            <a:r>
              <a:rPr lang="zh-CN" altLang="en-US" sz="1900" dirty="0">
                <a:solidFill>
                  <a:schemeClr val="tx1">
                    <a:lumMod val="65000"/>
                    <a:lumOff val="35000"/>
                  </a:schemeClr>
                </a:solidFill>
                <a:latin typeface="微软雅黑" panose="020B0503020204020204" pitchFamily="34" charset="-122"/>
                <a:ea typeface="微软雅黑" panose="020B0503020204020204" pitchFamily="34" charset="-122"/>
              </a:rPr>
              <a:t>网页的内容、结构与样式。</a:t>
            </a:r>
            <a:endParaRPr lang="en-US" altLang="zh-CN" sz="1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247458"/>
            <a:ext cx="9022598"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2.</a:t>
            </a:r>
            <a:r>
              <a:rPr lang="zh-CN" altLang="en-US" dirty="0"/>
              <a:t>基于 </a:t>
            </a:r>
            <a:r>
              <a:rPr lang="en-US" altLang="zh-CN" dirty="0"/>
              <a:t>Rhino </a:t>
            </a:r>
            <a:r>
              <a:rPr lang="zh-CN" altLang="en-US" dirty="0"/>
              <a:t>实现 </a:t>
            </a:r>
            <a:r>
              <a:rPr lang="en-US" altLang="zh-CN" dirty="0"/>
              <a:t>JavaScript </a:t>
            </a:r>
            <a:r>
              <a:rPr lang="zh-CN" altLang="en-US" dirty="0"/>
              <a:t>动态网页信息获取</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动态网页信息获取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2" name="图片 161"/>
          <p:cNvPicPr/>
          <p:nvPr/>
        </p:nvPicPr>
        <p:blipFill>
          <a:blip r:embed="rId17">
            <a:extLst>
              <a:ext uri="{28A0092B-C50C-407E-A947-70E740481C1C}">
                <a14:useLocalDpi xmlns:a14="http://schemas.microsoft.com/office/drawing/2010/main" val="0"/>
              </a:ext>
            </a:extLst>
          </a:blip>
          <a:stretch>
            <a:fillRect/>
          </a:stretch>
        </p:blipFill>
        <p:spPr>
          <a:xfrm>
            <a:off x="249377" y="2217859"/>
            <a:ext cx="4023360" cy="2616835"/>
          </a:xfrm>
          <a:prstGeom prst="rect">
            <a:avLst/>
          </a:prstGeom>
        </p:spPr>
      </p:pic>
      <p:sp>
        <p:nvSpPr>
          <p:cNvPr id="5" name="矩形 4"/>
          <p:cNvSpPr/>
          <p:nvPr/>
        </p:nvSpPr>
        <p:spPr>
          <a:xfrm>
            <a:off x="219914" y="5202176"/>
            <a:ext cx="4033476" cy="369332"/>
          </a:xfrm>
          <a:prstGeom prst="rect">
            <a:avLst/>
          </a:prstGeom>
        </p:spPr>
        <p:txBody>
          <a:bodyPr wrap="none">
            <a:spAutoFit/>
          </a:bodyPr>
          <a:lstStyle/>
          <a:p>
            <a:r>
              <a:rPr lang="zh-CN" altLang="zh-CN" dirty="0"/>
              <a:t>基于</a:t>
            </a:r>
            <a:r>
              <a:rPr lang="en-US" altLang="zh-CN" dirty="0"/>
              <a:t>Rhino</a:t>
            </a:r>
            <a:r>
              <a:rPr lang="zh-CN" altLang="zh-CN" dirty="0"/>
              <a:t>实现</a:t>
            </a:r>
            <a:r>
              <a:rPr lang="en-US" altLang="zh-CN" dirty="0"/>
              <a:t>J</a:t>
            </a:r>
            <a:r>
              <a:rPr lang="zh-CN" altLang="zh-CN" dirty="0"/>
              <a:t>动态网页发布信息获取</a:t>
            </a:r>
          </a:p>
        </p:txBody>
      </p:sp>
      <p:pic>
        <p:nvPicPr>
          <p:cNvPr id="163" name="图片 162"/>
          <p:cNvPicPr/>
          <p:nvPr/>
        </p:nvPicPr>
        <p:blipFill>
          <a:blip r:embed="rId18">
            <a:extLst>
              <a:ext uri="{28A0092B-C50C-407E-A947-70E740481C1C}">
                <a14:useLocalDpi xmlns:a14="http://schemas.microsoft.com/office/drawing/2010/main" val="0"/>
              </a:ext>
            </a:extLst>
          </a:blip>
          <a:stretch>
            <a:fillRect/>
          </a:stretch>
        </p:blipFill>
        <p:spPr>
          <a:xfrm>
            <a:off x="4668983" y="2626677"/>
            <a:ext cx="3373582" cy="1827559"/>
          </a:xfrm>
          <a:prstGeom prst="rect">
            <a:avLst/>
          </a:prstGeom>
        </p:spPr>
      </p:pic>
      <p:pic>
        <p:nvPicPr>
          <p:cNvPr id="164" name="图片 163"/>
          <p:cNvPicPr/>
          <p:nvPr/>
        </p:nvPicPr>
        <p:blipFill>
          <a:blip r:embed="rId19">
            <a:extLst>
              <a:ext uri="{28A0092B-C50C-407E-A947-70E740481C1C}">
                <a14:useLocalDpi xmlns:a14="http://schemas.microsoft.com/office/drawing/2010/main" val="0"/>
              </a:ext>
            </a:extLst>
          </a:blip>
          <a:stretch>
            <a:fillRect/>
          </a:stretch>
        </p:blipFill>
        <p:spPr>
          <a:xfrm>
            <a:off x="8750219" y="1963443"/>
            <a:ext cx="2822156" cy="3479229"/>
          </a:xfrm>
          <a:prstGeom prst="rect">
            <a:avLst/>
          </a:prstGeom>
        </p:spPr>
      </p:pic>
      <p:sp>
        <p:nvSpPr>
          <p:cNvPr id="6" name="矩形 5"/>
          <p:cNvSpPr/>
          <p:nvPr/>
        </p:nvSpPr>
        <p:spPr>
          <a:xfrm>
            <a:off x="4607217" y="5202176"/>
            <a:ext cx="3919663" cy="369332"/>
          </a:xfrm>
          <a:prstGeom prst="rect">
            <a:avLst/>
          </a:prstGeom>
        </p:spPr>
        <p:txBody>
          <a:bodyPr wrap="none">
            <a:spAutoFit/>
          </a:bodyPr>
          <a:lstStyle/>
          <a:p>
            <a:r>
              <a:rPr lang="zh-CN" altLang="zh-CN" dirty="0"/>
              <a:t>图</a:t>
            </a:r>
            <a:r>
              <a:rPr lang="en-US" altLang="zh-CN" dirty="0"/>
              <a:t>2-14</a:t>
            </a:r>
            <a:r>
              <a:rPr lang="zh-CN" altLang="zh-CN" dirty="0"/>
              <a:t>脚本解释引擎</a:t>
            </a:r>
            <a:r>
              <a:rPr lang="en-US" altLang="zh-CN" dirty="0"/>
              <a:t>Rhino</a:t>
            </a:r>
            <a:r>
              <a:rPr lang="zh-CN" altLang="zh-CN" dirty="0"/>
              <a:t>对象初始化</a:t>
            </a:r>
          </a:p>
        </p:txBody>
      </p:sp>
      <p:sp>
        <p:nvSpPr>
          <p:cNvPr id="7" name="矩形 6"/>
          <p:cNvSpPr/>
          <p:nvPr/>
        </p:nvSpPr>
        <p:spPr>
          <a:xfrm>
            <a:off x="9217601" y="5783253"/>
            <a:ext cx="2113079" cy="369332"/>
          </a:xfrm>
          <a:prstGeom prst="rect">
            <a:avLst/>
          </a:prstGeom>
        </p:spPr>
        <p:txBody>
          <a:bodyPr wrap="none">
            <a:spAutoFit/>
          </a:bodyPr>
          <a:lstStyle/>
          <a:p>
            <a:r>
              <a:rPr lang="en-US" altLang="zh-CN" dirty="0"/>
              <a:t>Rhino</a:t>
            </a:r>
            <a:r>
              <a:rPr lang="zh-CN" altLang="zh-CN" dirty="0"/>
              <a:t>中的执行过程</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247458"/>
            <a:ext cx="7622600"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3.</a:t>
            </a:r>
            <a:r>
              <a:rPr lang="zh-CN" altLang="en-US" dirty="0"/>
              <a:t> 基于浏览器模拟实现网络媒体信息获取</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动态网页信息获取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5" name="图片 164"/>
          <p:cNvPicPr/>
          <p:nvPr/>
        </p:nvPicPr>
        <p:blipFill>
          <a:blip r:embed="rId17">
            <a:extLst>
              <a:ext uri="{28A0092B-C50C-407E-A947-70E740481C1C}">
                <a14:useLocalDpi xmlns:a14="http://schemas.microsoft.com/office/drawing/2010/main" val="0"/>
              </a:ext>
            </a:extLst>
          </a:blip>
          <a:stretch>
            <a:fillRect/>
          </a:stretch>
        </p:blipFill>
        <p:spPr>
          <a:xfrm>
            <a:off x="3781250" y="2056429"/>
            <a:ext cx="5154931" cy="2695679"/>
          </a:xfrm>
          <a:prstGeom prst="rect">
            <a:avLst/>
          </a:prstGeom>
        </p:spPr>
      </p:pic>
      <p:sp>
        <p:nvSpPr>
          <p:cNvPr id="3" name="矩形 2"/>
          <p:cNvSpPr/>
          <p:nvPr/>
        </p:nvSpPr>
        <p:spPr>
          <a:xfrm>
            <a:off x="4196099" y="4801571"/>
            <a:ext cx="4108817" cy="369332"/>
          </a:xfrm>
          <a:prstGeom prst="rect">
            <a:avLst/>
          </a:prstGeom>
        </p:spPr>
        <p:txBody>
          <a:bodyPr wrap="none">
            <a:spAutoFit/>
          </a:bodyPr>
          <a:lstStyle/>
          <a:p>
            <a:r>
              <a:rPr lang="zh-CN" altLang="zh-CN" dirty="0"/>
              <a:t>基于浏览器模拟实现网络媒体信息获取</a:t>
            </a:r>
          </a:p>
        </p:txBody>
      </p:sp>
      <p:sp>
        <p:nvSpPr>
          <p:cNvPr id="166" name="文本框 145"/>
          <p:cNvSpPr txBox="1"/>
          <p:nvPr/>
        </p:nvSpPr>
        <p:spPr>
          <a:xfrm>
            <a:off x="682316" y="5221478"/>
            <a:ext cx="10616066" cy="1330621"/>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实现过程是利用典型的 </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JSSh</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客户端向内嵌 </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JSSh</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服务器的网络浏览器发送</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JavaScript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指令。</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nSpc>
                <a:spcPct val="130000"/>
              </a:lnSpc>
              <a:spcBef>
                <a:spcPts val="600"/>
              </a:spcBef>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指示网络浏览器开展网页表单自动填写、网页按钮</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链接被点击、网络身份认证交互、网页发布信息浏览，以及视</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音频信息点播等系列操作。</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682316" y="1247458"/>
            <a:ext cx="7622600"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en-US" altLang="zh-CN" dirty="0"/>
              <a:t>3.</a:t>
            </a:r>
            <a:r>
              <a:rPr lang="zh-CN" altLang="en-US" dirty="0"/>
              <a:t> 基于浏览器模拟实现网络媒体信息获取</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387798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动态网页信息获取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3" name="图片 162"/>
          <p:cNvPicPr/>
          <p:nvPr/>
        </p:nvPicPr>
        <p:blipFill>
          <a:blip r:embed="rId17">
            <a:extLst>
              <a:ext uri="{28A0092B-C50C-407E-A947-70E740481C1C}">
                <a14:useLocalDpi xmlns:a14="http://schemas.microsoft.com/office/drawing/2010/main" val="0"/>
              </a:ext>
            </a:extLst>
          </a:blip>
          <a:stretch>
            <a:fillRect/>
          </a:stretch>
        </p:blipFill>
        <p:spPr>
          <a:xfrm>
            <a:off x="6096000" y="1980617"/>
            <a:ext cx="4371109" cy="4274710"/>
          </a:xfrm>
          <a:prstGeom prst="rect">
            <a:avLst/>
          </a:prstGeom>
        </p:spPr>
      </p:pic>
      <p:cxnSp>
        <p:nvCxnSpPr>
          <p:cNvPr id="167" name="直接连接符 166"/>
          <p:cNvCxnSpPr/>
          <p:nvPr/>
        </p:nvCxnSpPr>
        <p:spPr>
          <a:xfrm>
            <a:off x="701487" y="261585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701487" y="318710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bwMode="auto">
          <a:xfrm>
            <a:off x="1097910" y="281250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0" name="矩形 169"/>
          <p:cNvSpPr/>
          <p:nvPr/>
        </p:nvSpPr>
        <p:spPr bwMode="auto">
          <a:xfrm>
            <a:off x="1096789" y="367467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1" name="文本框 12"/>
          <p:cNvSpPr txBox="1"/>
          <p:nvPr/>
        </p:nvSpPr>
        <p:spPr>
          <a:xfrm>
            <a:off x="1522603" y="2691974"/>
            <a:ext cx="3838695"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身份认证表单自动填写</a:t>
            </a:r>
          </a:p>
        </p:txBody>
      </p:sp>
      <p:sp>
        <p:nvSpPr>
          <p:cNvPr id="172" name="文本框 14"/>
          <p:cNvSpPr txBox="1"/>
          <p:nvPr/>
        </p:nvSpPr>
        <p:spPr>
          <a:xfrm>
            <a:off x="1530369" y="3226676"/>
            <a:ext cx="334808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向内嵌 </a:t>
            </a:r>
            <a:r>
              <a:rPr lang="en-US" altLang="zh-CN" sz="1800" dirty="0" err="1"/>
              <a:t>JSSh</a:t>
            </a:r>
            <a:r>
              <a:rPr lang="en-US" altLang="zh-CN" sz="1800" dirty="0"/>
              <a:t> </a:t>
            </a:r>
            <a:r>
              <a:rPr lang="zh-CN" altLang="en-US" sz="1800" dirty="0"/>
              <a:t>服务器发送指令，指示浏览器加载身份认证网站发布信息</a:t>
            </a:r>
          </a:p>
        </p:txBody>
      </p:sp>
      <p:sp>
        <p:nvSpPr>
          <p:cNvPr id="173" name="矩形 172"/>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6" name="直接连接符 175"/>
          <p:cNvCxnSpPr/>
          <p:nvPr/>
        </p:nvCxnSpPr>
        <p:spPr>
          <a:xfrm>
            <a:off x="683466" y="440783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77" name="矩形 176"/>
          <p:cNvSpPr/>
          <p:nvPr/>
        </p:nvSpPr>
        <p:spPr bwMode="auto">
          <a:xfrm>
            <a:off x="1087573" y="468549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8" name="文本框 14"/>
          <p:cNvSpPr txBox="1"/>
          <p:nvPr/>
        </p:nvSpPr>
        <p:spPr>
          <a:xfrm>
            <a:off x="1558238" y="4415106"/>
            <a:ext cx="3241762"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对网页内嵌 </a:t>
            </a:r>
            <a:r>
              <a:rPr lang="en-US" altLang="zh-CN" sz="1800" dirty="0"/>
              <a:t>URL </a:t>
            </a:r>
            <a:r>
              <a:rPr lang="zh-CN" altLang="en-US" sz="1800" dirty="0"/>
              <a:t>逐一进行点击浏览与内容导出</a:t>
            </a:r>
          </a:p>
        </p:txBody>
      </p:sp>
      <p:cxnSp>
        <p:nvCxnSpPr>
          <p:cNvPr id="179" name="直接连接符 178"/>
          <p:cNvCxnSpPr/>
          <p:nvPr/>
        </p:nvCxnSpPr>
        <p:spPr>
          <a:xfrm>
            <a:off x="691601" y="520107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8416730" cy="1143000"/>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3.</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网络通信信息的获取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29979" y="375809"/>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latin typeface="微软雅黑" panose="020B0503020204020204" pitchFamily="34" charset="-122"/>
                <a:ea typeface="微软雅黑" panose="020B0503020204020204" pitchFamily="34" charset="-122"/>
              </a:rPr>
              <a:t>网络通信信息获取的一般方法</a:t>
            </a:r>
          </a:p>
        </p:txBody>
      </p:sp>
      <p:sp>
        <p:nvSpPr>
          <p:cNvPr id="71" name="文本框 70"/>
          <p:cNvSpPr txBox="1"/>
          <p:nvPr/>
        </p:nvSpPr>
        <p:spPr>
          <a:xfrm>
            <a:off x="1896825" y="1249776"/>
            <a:ext cx="2325612" cy="58477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200" dirty="0">
                <a:solidFill>
                  <a:srgbClr val="F784A5"/>
                </a:solidFill>
                <a:latin typeface="微软雅黑" panose="020B0503020204020204" pitchFamily="34" charset="-122"/>
                <a:ea typeface="微软雅黑" panose="020B0503020204020204" pitchFamily="34" charset="-122"/>
              </a:rPr>
              <a:t>有线网络</a:t>
            </a:r>
          </a:p>
        </p:txBody>
      </p:sp>
      <p:grpSp>
        <p:nvGrpSpPr>
          <p:cNvPr id="5" name="组合 4"/>
          <p:cNvGrpSpPr/>
          <p:nvPr/>
        </p:nvGrpSpPr>
        <p:grpSpPr>
          <a:xfrm>
            <a:off x="2213089" y="2135815"/>
            <a:ext cx="1693084" cy="1693084"/>
            <a:chOff x="1544814" y="1976160"/>
            <a:chExt cx="1693084" cy="1693084"/>
          </a:xfrm>
        </p:grpSpPr>
        <p:pic>
          <p:nvPicPr>
            <p:cNvPr id="11" name="图片 10"/>
            <p:cNvPicPr>
              <a:picLocks noChangeAspect="1"/>
            </p:cNvPicPr>
            <p:nvPr/>
          </p:nvPicPr>
          <p:blipFill>
            <a:blip r:embed="rId18" cstate="print">
              <a:duotone>
                <a:prstClr val="black"/>
                <a:srgbClr val="31B5D6">
                  <a:tint val="45000"/>
                  <a:satMod val="400000"/>
                </a:srgbClr>
              </a:duotone>
              <a:extLst>
                <a:ext uri="{28A0092B-C50C-407E-A947-70E740481C1C}">
                  <a14:useLocalDpi xmlns:a14="http://schemas.microsoft.com/office/drawing/2010/main" val="0"/>
                </a:ext>
              </a:extLst>
            </a:blip>
            <a:stretch>
              <a:fillRect/>
            </a:stretch>
          </p:blipFill>
          <p:spPr>
            <a:xfrm>
              <a:off x="1914356" y="2345702"/>
              <a:ext cx="954000" cy="954000"/>
            </a:xfrm>
            <a:prstGeom prst="rect">
              <a:avLst/>
            </a:prstGeom>
          </p:spPr>
        </p:pic>
        <p:sp>
          <p:nvSpPr>
            <p:cNvPr id="85" name="椭圆 84"/>
            <p:cNvSpPr/>
            <p:nvPr/>
          </p:nvSpPr>
          <p:spPr>
            <a:xfrm>
              <a:off x="1544814"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7832753" y="2201289"/>
            <a:ext cx="1693084" cy="1693084"/>
            <a:chOff x="4424306" y="1976160"/>
            <a:chExt cx="1693084" cy="1693084"/>
          </a:xfrm>
        </p:grpSpPr>
        <p:pic>
          <p:nvPicPr>
            <p:cNvPr id="10" name="图片 9"/>
            <p:cNvPicPr>
              <a:picLocks noChangeAspect="1"/>
            </p:cNvPicPr>
            <p:nvPr/>
          </p:nvPicPr>
          <p:blipFill>
            <a:blip r:embed="rId19" cstate="print">
              <a:duotone>
                <a:prstClr val="black"/>
                <a:srgbClr val="3DA2CB">
                  <a:tint val="45000"/>
                  <a:satMod val="400000"/>
                </a:srgbClr>
              </a:duotone>
              <a:extLst>
                <a:ext uri="{28A0092B-C50C-407E-A947-70E740481C1C}">
                  <a14:useLocalDpi xmlns:a14="http://schemas.microsoft.com/office/drawing/2010/main" val="0"/>
                </a:ext>
              </a:extLst>
            </a:blip>
            <a:stretch>
              <a:fillRect/>
            </a:stretch>
          </p:blipFill>
          <p:spPr>
            <a:xfrm>
              <a:off x="4793848" y="2345702"/>
              <a:ext cx="954000" cy="954000"/>
            </a:xfrm>
            <a:prstGeom prst="rect">
              <a:avLst/>
            </a:prstGeom>
            <a:noFill/>
            <a:ln w="9525">
              <a:solidFill>
                <a:schemeClr val="bg1"/>
              </a:solidFill>
              <a:prstDash val="dash"/>
            </a:ln>
          </p:spPr>
        </p:pic>
        <p:sp>
          <p:nvSpPr>
            <p:cNvPr id="103" name="椭圆 102"/>
            <p:cNvSpPr/>
            <p:nvPr/>
          </p:nvSpPr>
          <p:spPr>
            <a:xfrm>
              <a:off x="4424306" y="1976160"/>
              <a:ext cx="1693084" cy="1693084"/>
            </a:xfrm>
            <a:prstGeom prst="ellipse">
              <a:avLst/>
            </a:prstGeom>
            <a:noFill/>
            <a:ln w="9525">
              <a:solidFill>
                <a:srgbClr val="3DA2C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4579" name="Picture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38985" y="2505357"/>
            <a:ext cx="1161106" cy="1142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5" name="直接连接符 94"/>
          <p:cNvCxnSpPr/>
          <p:nvPr/>
        </p:nvCxnSpPr>
        <p:spPr>
          <a:xfrm>
            <a:off x="598937" y="4237669"/>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598937" y="488511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7" name="矩形 96"/>
          <p:cNvSpPr/>
          <p:nvPr/>
        </p:nvSpPr>
        <p:spPr bwMode="auto">
          <a:xfrm>
            <a:off x="995360" y="446203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8" name="矩形 107"/>
          <p:cNvSpPr/>
          <p:nvPr/>
        </p:nvSpPr>
        <p:spPr bwMode="auto">
          <a:xfrm>
            <a:off x="995360" y="512233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9" name="文本框 12"/>
          <p:cNvSpPr txBox="1"/>
          <p:nvPr/>
        </p:nvSpPr>
        <p:spPr>
          <a:xfrm>
            <a:off x="1420053" y="4348429"/>
            <a:ext cx="3838695"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端口镜像复制模式</a:t>
            </a:r>
          </a:p>
        </p:txBody>
      </p:sp>
      <p:sp>
        <p:nvSpPr>
          <p:cNvPr id="110" name="文本框 14"/>
          <p:cNvSpPr txBox="1"/>
          <p:nvPr/>
        </p:nvSpPr>
        <p:spPr>
          <a:xfrm>
            <a:off x="1427819" y="5000890"/>
            <a:ext cx="3539036" cy="406971"/>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攻击交换机以得到所有的数据包</a:t>
            </a:r>
          </a:p>
        </p:txBody>
      </p:sp>
      <p:cxnSp>
        <p:nvCxnSpPr>
          <p:cNvPr id="111" name="直接连接符 110"/>
          <p:cNvCxnSpPr/>
          <p:nvPr/>
        </p:nvCxnSpPr>
        <p:spPr>
          <a:xfrm>
            <a:off x="580916" y="554473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2" name="矩形 111"/>
          <p:cNvSpPr/>
          <p:nvPr/>
        </p:nvSpPr>
        <p:spPr bwMode="auto">
          <a:xfrm>
            <a:off x="985023" y="582239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13" name="文本框 14"/>
          <p:cNvSpPr txBox="1"/>
          <p:nvPr/>
        </p:nvSpPr>
        <p:spPr>
          <a:xfrm>
            <a:off x="1455688" y="5565861"/>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攻击模式包括：</a:t>
            </a:r>
            <a:r>
              <a:rPr lang="en-US" altLang="zh-CN" sz="1800" dirty="0"/>
              <a:t>MAC Flooding </a:t>
            </a:r>
            <a:r>
              <a:rPr lang="zh-CN" altLang="en-US" sz="1800" dirty="0"/>
              <a:t>攻击和 </a:t>
            </a:r>
            <a:r>
              <a:rPr lang="en-US" altLang="zh-CN" sz="1800" dirty="0"/>
              <a:t>ARP </a:t>
            </a:r>
            <a:r>
              <a:rPr lang="zh-CN" altLang="en-US" sz="1800" dirty="0"/>
              <a:t>包欺骗</a:t>
            </a:r>
          </a:p>
        </p:txBody>
      </p:sp>
      <p:cxnSp>
        <p:nvCxnSpPr>
          <p:cNvPr id="114" name="直接连接符 113"/>
          <p:cNvCxnSpPr/>
          <p:nvPr/>
        </p:nvCxnSpPr>
        <p:spPr>
          <a:xfrm>
            <a:off x="589051" y="637261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5" name="文本框 70"/>
          <p:cNvSpPr txBox="1"/>
          <p:nvPr/>
        </p:nvSpPr>
        <p:spPr>
          <a:xfrm>
            <a:off x="7630177" y="1327597"/>
            <a:ext cx="2325612" cy="58477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200" dirty="0">
                <a:solidFill>
                  <a:srgbClr val="F784A5"/>
                </a:solidFill>
                <a:latin typeface="微软雅黑" panose="020B0503020204020204" pitchFamily="34" charset="-122"/>
                <a:ea typeface="微软雅黑" panose="020B0503020204020204" pitchFamily="34" charset="-122"/>
              </a:rPr>
              <a:t>无线网络</a:t>
            </a:r>
          </a:p>
        </p:txBody>
      </p:sp>
      <p:cxnSp>
        <p:nvCxnSpPr>
          <p:cNvPr id="117" name="直接连接符 116"/>
          <p:cNvCxnSpPr/>
          <p:nvPr/>
        </p:nvCxnSpPr>
        <p:spPr>
          <a:xfrm>
            <a:off x="6785373" y="433049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6785373" y="510955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9" name="矩形 118"/>
          <p:cNvSpPr/>
          <p:nvPr/>
        </p:nvSpPr>
        <p:spPr bwMode="auto">
          <a:xfrm>
            <a:off x="7163324" y="460436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20" name="矩形 119"/>
          <p:cNvSpPr/>
          <p:nvPr/>
        </p:nvSpPr>
        <p:spPr bwMode="auto">
          <a:xfrm>
            <a:off x="7163324" y="529117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21" name="文本框 12"/>
          <p:cNvSpPr txBox="1"/>
          <p:nvPr/>
        </p:nvSpPr>
        <p:spPr>
          <a:xfrm>
            <a:off x="7606489" y="4345295"/>
            <a:ext cx="3838695"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设置成混杂模式，缺点不能获得</a:t>
            </a:r>
            <a:r>
              <a:rPr lang="en-US" altLang="zh-CN" sz="1800" dirty="0"/>
              <a:t>802.11b </a:t>
            </a:r>
            <a:r>
              <a:rPr lang="zh-CN" altLang="zh-CN" sz="1800" dirty="0"/>
              <a:t>的帧头</a:t>
            </a:r>
            <a:endParaRPr lang="zh-CN" altLang="en-US" sz="1800" dirty="0"/>
          </a:p>
        </p:txBody>
      </p:sp>
      <p:sp>
        <p:nvSpPr>
          <p:cNvPr id="122" name="文本框 14"/>
          <p:cNvSpPr txBox="1"/>
          <p:nvPr/>
        </p:nvSpPr>
        <p:spPr>
          <a:xfrm>
            <a:off x="7606489" y="5163120"/>
            <a:ext cx="3348086" cy="406971"/>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zh-CN" dirty="0"/>
              <a:t>射频监听工作模式</a:t>
            </a:r>
            <a:endParaRPr lang="zh-CN" altLang="en-US" dirty="0"/>
          </a:p>
        </p:txBody>
      </p:sp>
      <p:cxnSp>
        <p:nvCxnSpPr>
          <p:cNvPr id="123" name="直接连接符 122"/>
          <p:cNvCxnSpPr/>
          <p:nvPr/>
        </p:nvCxnSpPr>
        <p:spPr>
          <a:xfrm>
            <a:off x="6767352" y="568604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24" name="矩形 123"/>
          <p:cNvSpPr/>
          <p:nvPr/>
        </p:nvSpPr>
        <p:spPr bwMode="auto">
          <a:xfrm>
            <a:off x="7163324" y="5986722"/>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25" name="文本框 14"/>
          <p:cNvSpPr txBox="1"/>
          <p:nvPr/>
        </p:nvSpPr>
        <p:spPr>
          <a:xfrm>
            <a:off x="7642124" y="5693317"/>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能捕获到其所在的基本服务集中的所有数据包</a:t>
            </a:r>
          </a:p>
        </p:txBody>
      </p:sp>
      <p:cxnSp>
        <p:nvCxnSpPr>
          <p:cNvPr id="126" name="直接连接符 125"/>
          <p:cNvCxnSpPr/>
          <p:nvPr/>
        </p:nvCxnSpPr>
        <p:spPr>
          <a:xfrm>
            <a:off x="6775487" y="6500069"/>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909447" y="1734680"/>
            <a:ext cx="1826141"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获取流程</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505008" y="340613"/>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网络通信信息获取流程</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7" name="直接连接符 166"/>
          <p:cNvCxnSpPr/>
          <p:nvPr/>
        </p:nvCxnSpPr>
        <p:spPr>
          <a:xfrm>
            <a:off x="701487" y="287909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701487" y="376899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bwMode="auto">
          <a:xfrm>
            <a:off x="1097910" y="322815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0" name="矩形 169"/>
          <p:cNvSpPr/>
          <p:nvPr/>
        </p:nvSpPr>
        <p:spPr bwMode="auto">
          <a:xfrm>
            <a:off x="1079438" y="417228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1" name="文本框 12"/>
          <p:cNvSpPr txBox="1"/>
          <p:nvPr/>
        </p:nvSpPr>
        <p:spPr>
          <a:xfrm>
            <a:off x="1493419" y="2959275"/>
            <a:ext cx="3348087"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包括信息镜像、数据重组、数据恢复、信息存储等技术环节</a:t>
            </a:r>
          </a:p>
        </p:txBody>
      </p:sp>
      <p:sp>
        <p:nvSpPr>
          <p:cNvPr id="172" name="文本框 14"/>
          <p:cNvSpPr txBox="1"/>
          <p:nvPr/>
        </p:nvSpPr>
        <p:spPr>
          <a:xfrm>
            <a:off x="1502661" y="3767007"/>
            <a:ext cx="334808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数据获取及交互主要通过三层交换机通信端口数据导出的方式</a:t>
            </a:r>
          </a:p>
        </p:txBody>
      </p:sp>
      <p:sp>
        <p:nvSpPr>
          <p:cNvPr id="173" name="矩形 172"/>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6" name="直接连接符 175"/>
          <p:cNvCxnSpPr/>
          <p:nvPr/>
        </p:nvCxnSpPr>
        <p:spPr>
          <a:xfrm>
            <a:off x="683466" y="486502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77" name="矩形 176"/>
          <p:cNvSpPr/>
          <p:nvPr/>
        </p:nvSpPr>
        <p:spPr bwMode="auto">
          <a:xfrm>
            <a:off x="1087573" y="514268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8" name="文本框 14"/>
          <p:cNvSpPr txBox="1"/>
          <p:nvPr/>
        </p:nvSpPr>
        <p:spPr>
          <a:xfrm>
            <a:off x="1488968" y="4872297"/>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避免获取个人隐私范畴的网络通信信息</a:t>
            </a:r>
          </a:p>
        </p:txBody>
      </p:sp>
      <p:cxnSp>
        <p:nvCxnSpPr>
          <p:cNvPr id="179" name="直接连接符 178"/>
          <p:cNvCxnSpPr/>
          <p:nvPr/>
        </p:nvCxnSpPr>
        <p:spPr>
          <a:xfrm>
            <a:off x="691601" y="567905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62" name="图片 161"/>
          <p:cNvPicPr/>
          <p:nvPr/>
        </p:nvPicPr>
        <p:blipFill>
          <a:blip r:embed="rId17">
            <a:extLst>
              <a:ext uri="{28A0092B-C50C-407E-A947-70E740481C1C}">
                <a14:useLocalDpi xmlns:a14="http://schemas.microsoft.com/office/drawing/2010/main" val="0"/>
              </a:ext>
            </a:extLst>
          </a:blip>
          <a:stretch>
            <a:fillRect/>
          </a:stretch>
        </p:blipFill>
        <p:spPr>
          <a:xfrm>
            <a:off x="5057969" y="2879091"/>
            <a:ext cx="6995485" cy="2429072"/>
          </a:xfrm>
          <a:prstGeom prst="rect">
            <a:avLst/>
          </a:prstGeom>
        </p:spPr>
      </p:pic>
      <p:sp>
        <p:nvSpPr>
          <p:cNvPr id="3" name="矩形 2"/>
          <p:cNvSpPr/>
          <p:nvPr/>
        </p:nvSpPr>
        <p:spPr>
          <a:xfrm>
            <a:off x="7509237" y="5641203"/>
            <a:ext cx="2743125" cy="369332"/>
          </a:xfrm>
          <a:prstGeom prst="rect">
            <a:avLst/>
          </a:prstGeom>
        </p:spPr>
        <p:txBody>
          <a:bodyPr wrap="square">
            <a:spAutoFit/>
          </a:bodyPr>
          <a:lstStyle/>
          <a:p>
            <a:r>
              <a:rPr lang="zh-CN" altLang="zh-CN" dirty="0"/>
              <a:t>网络通信信息获取流程</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2"/>
          <p:cNvSpPr txBox="1">
            <a:spLocks noGrp="1"/>
          </p:cNvSpPr>
          <p:nvPr/>
        </p:nvSpPr>
        <p:spPr bwMode="auto">
          <a:xfrm>
            <a:off x="11154834" y="6524626"/>
            <a:ext cx="6053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457200">
              <a:defRPr>
                <a:solidFill>
                  <a:schemeClr val="tx1"/>
                </a:solidFill>
                <a:latin typeface="Arial" panose="020B0604020202020204" pitchFamily="34" charset="0"/>
                <a:ea typeface="宋体" panose="02010600030101010101" pitchFamily="2" charset="-122"/>
              </a:defRPr>
            </a:lvl1pPr>
            <a:lvl2pPr marL="742950" indent="-285750" algn="l" defTabSz="457200">
              <a:defRPr>
                <a:solidFill>
                  <a:schemeClr val="tx1"/>
                </a:solidFill>
                <a:latin typeface="Arial" panose="020B0604020202020204" pitchFamily="34" charset="0"/>
                <a:ea typeface="宋体" panose="02010600030101010101" pitchFamily="2" charset="-122"/>
              </a:defRPr>
            </a:lvl2pPr>
            <a:lvl3pPr marL="1143000" indent="-228600" algn="l" defTabSz="457200">
              <a:defRPr>
                <a:solidFill>
                  <a:schemeClr val="tx1"/>
                </a:solidFill>
                <a:latin typeface="Arial" panose="020B0604020202020204" pitchFamily="34" charset="0"/>
                <a:ea typeface="宋体" panose="02010600030101010101" pitchFamily="2" charset="-122"/>
              </a:defRPr>
            </a:lvl3pPr>
            <a:lvl4pPr marL="1600200" indent="-228600" algn="l" defTabSz="457200">
              <a:defRPr>
                <a:solidFill>
                  <a:schemeClr val="tx1"/>
                </a:solidFill>
                <a:latin typeface="Arial" panose="020B0604020202020204" pitchFamily="34" charset="0"/>
                <a:ea typeface="宋体" panose="02010600030101010101" pitchFamily="2" charset="-122"/>
              </a:defRPr>
            </a:lvl4pPr>
            <a:lvl5pPr marL="2057400" indent="-228600" algn="l" defTabSz="457200">
              <a:defRPr>
                <a:solidFill>
                  <a:schemeClr val="tx1"/>
                </a:solidFill>
                <a:latin typeface="Arial" panose="020B0604020202020204" pitchFamily="34" charset="0"/>
                <a:ea typeface="宋体" panose="02010600030101010101" pitchFamily="2" charset="-122"/>
              </a:defRPr>
            </a:lvl5pPr>
            <a:lvl6pPr marL="25146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A5E98FF5-FEAB-4E7F-8C43-192431B25E61}" type="slidenum">
              <a:rPr lang="en-US" altLang="zh-CN" sz="1200">
                <a:solidFill>
                  <a:schemeClr val="bg1"/>
                </a:solidFill>
                <a:latin typeface="Calibri" panose="020F0502020204030204" pitchFamily="34" charset="0"/>
              </a:rPr>
              <a:t>42</a:t>
            </a:fld>
            <a:endParaRPr lang="en-US" altLang="zh-CN" sz="1200">
              <a:solidFill>
                <a:schemeClr val="bg1"/>
              </a:solidFill>
              <a:latin typeface="Calibri" panose="020F0502020204030204" pitchFamily="34" charset="0"/>
            </a:endParaRPr>
          </a:p>
        </p:txBody>
      </p:sp>
      <p:graphicFrame>
        <p:nvGraphicFramePr>
          <p:cNvPr id="6" name="内容占位符 4"/>
          <p:cNvGraphicFramePr>
            <a:graphicFrameLocks noGrp="1"/>
          </p:cNvGraphicFramePr>
          <p:nvPr>
            <p:ph sz="half" idx="4294967295"/>
            <p:extLst>
              <p:ext uri="{D42A27DB-BD31-4B8C-83A1-F6EECF244321}">
                <p14:modId xmlns:p14="http://schemas.microsoft.com/office/powerpoint/2010/main" val="2689936299"/>
              </p:ext>
            </p:extLst>
          </p:nvPr>
        </p:nvGraphicFramePr>
        <p:xfrm>
          <a:off x="680457" y="1414952"/>
          <a:ext cx="11090021" cy="42222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2711" name="文本框 11"/>
          <p:cNvSpPr txBox="1">
            <a:spLocks noChangeArrowheads="1"/>
          </p:cNvSpPr>
          <p:nvPr/>
        </p:nvSpPr>
        <p:spPr bwMode="auto">
          <a:xfrm>
            <a:off x="719667" y="5953123"/>
            <a:ext cx="112881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defTabSz="457200">
              <a:defRPr>
                <a:solidFill>
                  <a:schemeClr val="tx1"/>
                </a:solidFill>
                <a:latin typeface="Arial" panose="020B0604020202020204" pitchFamily="34" charset="0"/>
                <a:ea typeface="宋体" panose="02010600030101010101" pitchFamily="2" charset="-122"/>
              </a:defRPr>
            </a:lvl1pPr>
            <a:lvl2pPr marL="742950" indent="-285750" algn="l" defTabSz="457200">
              <a:defRPr>
                <a:solidFill>
                  <a:schemeClr val="tx1"/>
                </a:solidFill>
                <a:latin typeface="Arial" panose="020B0604020202020204" pitchFamily="34" charset="0"/>
                <a:ea typeface="宋体" panose="02010600030101010101" pitchFamily="2" charset="-122"/>
              </a:defRPr>
            </a:lvl2pPr>
            <a:lvl3pPr marL="1143000" indent="-228600" algn="l" defTabSz="457200">
              <a:defRPr>
                <a:solidFill>
                  <a:schemeClr val="tx1"/>
                </a:solidFill>
                <a:latin typeface="Arial" panose="020B0604020202020204" pitchFamily="34" charset="0"/>
                <a:ea typeface="宋体" panose="02010600030101010101" pitchFamily="2" charset="-122"/>
              </a:defRPr>
            </a:lvl3pPr>
            <a:lvl4pPr marL="1600200" indent="-228600" algn="l" defTabSz="457200">
              <a:defRPr>
                <a:solidFill>
                  <a:schemeClr val="tx1"/>
                </a:solidFill>
                <a:latin typeface="Arial" panose="020B0604020202020204" pitchFamily="34" charset="0"/>
                <a:ea typeface="宋体" panose="02010600030101010101" pitchFamily="2" charset="-122"/>
              </a:defRPr>
            </a:lvl4pPr>
            <a:lvl5pPr marL="2057400" indent="-228600" algn="l" defTabSz="457200">
              <a:defRPr>
                <a:solidFill>
                  <a:schemeClr val="tx1"/>
                </a:solidFill>
                <a:latin typeface="Arial" panose="020B0604020202020204" pitchFamily="34" charset="0"/>
                <a:ea typeface="宋体" panose="02010600030101010101" pitchFamily="2" charset="-122"/>
              </a:defRPr>
            </a:lvl5pPr>
            <a:lvl6pPr marL="25146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主要难点是互联网网络信息资源丰富但分散、缺乏一个有效的一体化管理</a:t>
            </a:r>
          </a:p>
        </p:txBody>
      </p:sp>
      <p:grpSp>
        <p:nvGrpSpPr>
          <p:cNvPr id="9" name="组合 8"/>
          <p:cNvGrpSpPr/>
          <p:nvPr/>
        </p:nvGrpSpPr>
        <p:grpSpPr>
          <a:xfrm>
            <a:off x="609116" y="261257"/>
            <a:ext cx="1214822" cy="760080"/>
            <a:chOff x="1922078" y="0"/>
            <a:chExt cx="8347844" cy="3447438"/>
          </a:xfrm>
        </p:grpSpPr>
        <p:grpSp>
          <p:nvGrpSpPr>
            <p:cNvPr id="10" name="组合 9"/>
            <p:cNvGrpSpPr/>
            <p:nvPr/>
          </p:nvGrpSpPr>
          <p:grpSpPr>
            <a:xfrm rot="20997101">
              <a:off x="5080902" y="0"/>
              <a:ext cx="659781" cy="793569"/>
              <a:chOff x="9397113" y="1572484"/>
              <a:chExt cx="739439" cy="900000"/>
            </a:xfrm>
          </p:grpSpPr>
          <p:pic>
            <p:nvPicPr>
              <p:cNvPr id="68" name="图片 67"/>
              <p:cNvPicPr>
                <a:picLocks noChangeAspect="1"/>
              </p:cNvPicPr>
              <p:nvPr/>
            </p:nvPicPr>
            <p:blipFill rotWithShape="1">
              <a:blip r:embed="rId7"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69" name="椭圆 68"/>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rot="2455872">
              <a:off x="9009447" y="1071465"/>
              <a:ext cx="659781" cy="793569"/>
              <a:chOff x="8752405" y="680495"/>
              <a:chExt cx="739439" cy="900000"/>
            </a:xfrm>
          </p:grpSpPr>
          <p:pic>
            <p:nvPicPr>
              <p:cNvPr id="66" name="图片 65"/>
              <p:cNvPicPr>
                <a:picLocks noChangeAspect="1"/>
              </p:cNvPicPr>
              <p:nvPr/>
            </p:nvPicPr>
            <p:blipFill rotWithShape="1">
              <a:blip r:embed="rId8"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67" name="椭圆 66"/>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rot="20539373">
              <a:off x="4239050" y="1051458"/>
              <a:ext cx="642436" cy="793569"/>
              <a:chOff x="7798300" y="2128176"/>
              <a:chExt cx="720000" cy="900000"/>
            </a:xfrm>
          </p:grpSpPr>
          <p:pic>
            <p:nvPicPr>
              <p:cNvPr id="64" name="图片 63"/>
              <p:cNvPicPr>
                <a:picLocks noChangeAspect="1"/>
              </p:cNvPicPr>
              <p:nvPr/>
            </p:nvPicPr>
            <p:blipFill rotWithShape="1">
              <a:blip r:embed="rId9"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65" name="椭圆 64"/>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rot="622440">
              <a:off x="6257266" y="1278812"/>
              <a:ext cx="643355" cy="793569"/>
              <a:chOff x="5457544" y="2382484"/>
              <a:chExt cx="721030" cy="900000"/>
            </a:xfrm>
          </p:grpSpPr>
          <p:pic>
            <p:nvPicPr>
              <p:cNvPr id="62" name="图片 6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63" name="椭圆 62"/>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713899">
              <a:off x="6982111" y="246490"/>
              <a:ext cx="642436" cy="811512"/>
              <a:chOff x="2594245" y="3143107"/>
              <a:chExt cx="720000" cy="920349"/>
            </a:xfrm>
          </p:grpSpPr>
          <p:pic>
            <p:nvPicPr>
              <p:cNvPr id="60" name="图片 59"/>
              <p:cNvPicPr>
                <a:picLocks noChangeAspect="1"/>
              </p:cNvPicPr>
              <p:nvPr/>
            </p:nvPicPr>
            <p:blipFill rotWithShape="1">
              <a:blip r:embed="rId11"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61" name="椭圆 60"/>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rot="20351331">
              <a:off x="2986611" y="357756"/>
              <a:ext cx="642436" cy="793569"/>
              <a:chOff x="3277182" y="773323"/>
              <a:chExt cx="720000" cy="900000"/>
            </a:xfrm>
          </p:grpSpPr>
          <p:sp>
            <p:nvSpPr>
              <p:cNvPr id="58" name="椭圆 57"/>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16" name="组合 15"/>
            <p:cNvGrpSpPr/>
            <p:nvPr/>
          </p:nvGrpSpPr>
          <p:grpSpPr>
            <a:xfrm rot="1912890">
              <a:off x="7930945" y="1382649"/>
              <a:ext cx="648427" cy="793569"/>
              <a:chOff x="5384758" y="1250900"/>
              <a:chExt cx="726714" cy="900000"/>
            </a:xfrm>
          </p:grpSpPr>
          <p:sp>
            <p:nvSpPr>
              <p:cNvPr id="56" name="椭圆 5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17" name="组合 16"/>
            <p:cNvGrpSpPr/>
            <p:nvPr/>
          </p:nvGrpSpPr>
          <p:grpSpPr>
            <a:xfrm rot="1354213">
              <a:off x="7092076" y="1228721"/>
              <a:ext cx="642436" cy="793569"/>
              <a:chOff x="3639753" y="2488176"/>
              <a:chExt cx="720000" cy="900000"/>
            </a:xfrm>
          </p:grpSpPr>
          <p:sp>
            <p:nvSpPr>
              <p:cNvPr id="54" name="椭圆 53"/>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18" name="组合 17"/>
            <p:cNvGrpSpPr/>
            <p:nvPr/>
          </p:nvGrpSpPr>
          <p:grpSpPr>
            <a:xfrm rot="19874646">
              <a:off x="3552291" y="1752953"/>
              <a:ext cx="647730" cy="793569"/>
              <a:chOff x="4707387" y="271511"/>
              <a:chExt cx="725933" cy="900000"/>
            </a:xfrm>
          </p:grpSpPr>
          <p:sp>
            <p:nvSpPr>
              <p:cNvPr id="52" name="椭圆 51"/>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19" name="组合 18"/>
            <p:cNvGrpSpPr/>
            <p:nvPr/>
          </p:nvGrpSpPr>
          <p:grpSpPr>
            <a:xfrm>
              <a:off x="5902457" y="519563"/>
              <a:ext cx="647456" cy="793569"/>
              <a:chOff x="4355614" y="1671769"/>
              <a:chExt cx="725626" cy="900000"/>
            </a:xfrm>
          </p:grpSpPr>
          <p:sp>
            <p:nvSpPr>
              <p:cNvPr id="50" name="椭圆 49"/>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0" name="组合 19"/>
            <p:cNvGrpSpPr/>
            <p:nvPr/>
          </p:nvGrpSpPr>
          <p:grpSpPr>
            <a:xfrm rot="3261331">
              <a:off x="8178834" y="2216888"/>
              <a:ext cx="645495" cy="803045"/>
              <a:chOff x="6534782" y="2204846"/>
              <a:chExt cx="732066" cy="900000"/>
            </a:xfrm>
          </p:grpSpPr>
          <p:sp>
            <p:nvSpPr>
              <p:cNvPr id="48" name="椭圆 47"/>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1" name="组合 20"/>
            <p:cNvGrpSpPr/>
            <p:nvPr/>
          </p:nvGrpSpPr>
          <p:grpSpPr>
            <a:xfrm rot="1881527">
              <a:off x="8180043" y="493339"/>
              <a:ext cx="646830" cy="793569"/>
              <a:chOff x="5993772" y="258109"/>
              <a:chExt cx="724925" cy="900000"/>
            </a:xfrm>
          </p:grpSpPr>
          <p:sp>
            <p:nvSpPr>
              <p:cNvPr id="46" name="椭圆 45"/>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2" name="组合 21"/>
            <p:cNvGrpSpPr/>
            <p:nvPr/>
          </p:nvGrpSpPr>
          <p:grpSpPr>
            <a:xfrm rot="3066563">
              <a:off x="9550518" y="2274810"/>
              <a:ext cx="635764" cy="803045"/>
              <a:chOff x="8806213" y="2910111"/>
              <a:chExt cx="721030" cy="900000"/>
            </a:xfrm>
          </p:grpSpPr>
          <p:sp>
            <p:nvSpPr>
              <p:cNvPr id="44" name="椭圆 43"/>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3" name="组合 22"/>
            <p:cNvGrpSpPr/>
            <p:nvPr/>
          </p:nvGrpSpPr>
          <p:grpSpPr>
            <a:xfrm rot="20849518">
              <a:off x="5023848" y="1251597"/>
              <a:ext cx="644890" cy="793569"/>
              <a:chOff x="7330781" y="818297"/>
              <a:chExt cx="722751" cy="900000"/>
            </a:xfrm>
          </p:grpSpPr>
          <p:sp>
            <p:nvSpPr>
              <p:cNvPr id="42" name="椭圆 41"/>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4" name="组合 23"/>
            <p:cNvGrpSpPr/>
            <p:nvPr/>
          </p:nvGrpSpPr>
          <p:grpSpPr>
            <a:xfrm rot="19756194">
              <a:off x="1922078" y="1474933"/>
              <a:ext cx="653202" cy="793569"/>
              <a:chOff x="2213446" y="1768419"/>
              <a:chExt cx="732066" cy="900000"/>
            </a:xfrm>
          </p:grpSpPr>
          <p:pic>
            <p:nvPicPr>
              <p:cNvPr id="40" name="图片 3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41" name="椭圆 40"/>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5" name="直接连接符 24"/>
            <p:cNvCxnSpPr>
              <a:stCxn id="52"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41"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58"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65"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69"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50"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42"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63"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61"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54"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6"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56"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67"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44"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48"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655309" y="1032131"/>
            <a:ext cx="10477147" cy="66943"/>
            <a:chOff x="655309" y="1032131"/>
            <a:chExt cx="10477147" cy="66943"/>
          </a:xfrm>
        </p:grpSpPr>
        <p:sp>
          <p:nvSpPr>
            <p:cNvPr id="71" name="矩形 70"/>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文本框 335"/>
          <p:cNvSpPr txBox="1"/>
          <p:nvPr/>
        </p:nvSpPr>
        <p:spPr>
          <a:xfrm>
            <a:off x="2493605" y="331131"/>
            <a:ext cx="6186309" cy="646331"/>
          </a:xfrm>
          <a:prstGeom prst="rect">
            <a:avLst/>
          </a:prstGeom>
          <a:noFill/>
        </p:spPr>
        <p:txBody>
          <a:bodyPr wrap="none" rtlCol="0">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rPr>
              <a:t>网络通信信息获取的难点分析</a:t>
            </a:r>
          </a:p>
        </p:txBody>
      </p:sp>
      <p:grpSp>
        <p:nvGrpSpPr>
          <p:cNvPr id="79" name="组合 78"/>
          <p:cNvGrpSpPr/>
          <p:nvPr/>
        </p:nvGrpSpPr>
        <p:grpSpPr>
          <a:xfrm>
            <a:off x="1414183" y="1431435"/>
            <a:ext cx="2564425" cy="1016401"/>
            <a:chOff x="725086" y="3203778"/>
            <a:chExt cx="2564425" cy="1016401"/>
          </a:xfrm>
        </p:grpSpPr>
        <p:sp>
          <p:nvSpPr>
            <p:cNvPr id="80" name="圆角矩形 79"/>
            <p:cNvSpPr/>
            <p:nvPr/>
          </p:nvSpPr>
          <p:spPr>
            <a:xfrm>
              <a:off x="772750" y="3203778"/>
              <a:ext cx="2412532" cy="1016401"/>
            </a:xfrm>
            <a:prstGeom prst="roundRect">
              <a:avLst/>
            </a:prstGeom>
          </p:spPr>
          <p:style>
            <a:lnRef idx="0">
              <a:schemeClr val="lt1">
                <a:hueOff val="0"/>
                <a:satOff val="0"/>
                <a:lumOff val="0"/>
                <a:alphaOff val="0"/>
              </a:schemeClr>
            </a:lnRef>
            <a:fillRef idx="3">
              <a:schemeClr val="accent1">
                <a:alpha val="90000"/>
                <a:hueOff val="0"/>
                <a:satOff val="0"/>
                <a:lumOff val="0"/>
                <a:alphaOff val="-39995"/>
              </a:schemeClr>
            </a:fillRef>
            <a:effectRef idx="2">
              <a:schemeClr val="accent1">
                <a:alpha val="90000"/>
                <a:hueOff val="0"/>
                <a:satOff val="0"/>
                <a:lumOff val="0"/>
                <a:alphaOff val="-39995"/>
              </a:schemeClr>
            </a:effectRef>
            <a:fontRef idx="minor">
              <a:schemeClr val="lt1"/>
            </a:fontRef>
          </p:style>
        </p:sp>
        <p:sp>
          <p:nvSpPr>
            <p:cNvPr id="81" name="圆角矩形 4"/>
            <p:cNvSpPr/>
            <p:nvPr/>
          </p:nvSpPr>
          <p:spPr>
            <a:xfrm>
              <a:off x="725086" y="3253395"/>
              <a:ext cx="2564425" cy="9171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zh-CN" altLang="en-US" sz="2800" dirty="0">
                  <a:latin typeface="微软雅黑" panose="020B0503020204020204" pitchFamily="34" charset="-122"/>
                  <a:ea typeface="华康俪金黑W8(P)"/>
                </a:rPr>
                <a:t>有用信息提取</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52044" y="332465"/>
            <a:ext cx="2492990"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本节思考题</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1403675" y="1921851"/>
            <a:ext cx="9053559" cy="3416320"/>
          </a:xfrm>
          <a:prstGeom prst="rect">
            <a:avLst/>
          </a:prstGeom>
        </p:spPr>
        <p:txBody>
          <a:bodyPr wrap="square">
            <a:spAutoFit/>
          </a:bodyPr>
          <a:lstStyle/>
          <a:p>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简述互联网信息分类？</a:t>
            </a:r>
            <a:endParaRPr lang="en-US" altLang="zh-CN" sz="2400" dirty="0">
              <a:latin typeface="微软雅黑" panose="020B0503020204020204" pitchFamily="34" charset="-122"/>
              <a:ea typeface="微软雅黑" panose="020B0503020204020204" pitchFamily="34" charset="-122"/>
            </a:endParaRPr>
          </a:p>
          <a:p>
            <a:pPr marL="514350" indent="-514350">
              <a:buAutoNum type="arabicPeriod"/>
            </a:pPr>
            <a:endParaRPr lang="zh-CN" altLang="zh-CN" sz="2400"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2. 简要描述网络媒体信息获取的一般流程？</a:t>
            </a:r>
            <a:endParaRPr lang="en-US" altLang="zh-CN" sz="2400" dirty="0">
              <a:latin typeface="微软雅黑" panose="020B0503020204020204" pitchFamily="34" charset="-122"/>
              <a:ea typeface="微软雅黑" panose="020B0503020204020204" pitchFamily="34" charset="-122"/>
            </a:endParaRPr>
          </a:p>
          <a:p>
            <a:endParaRPr lang="zh-CN" altLang="zh-CN" sz="2400"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3. 描述基于浏览器模拟技术进行网络媒体信息获取过程？</a:t>
            </a:r>
            <a:endParaRPr lang="en-US" altLang="zh-CN" sz="2400" dirty="0">
              <a:latin typeface="微软雅黑" panose="020B0503020204020204" pitchFamily="34" charset="-122"/>
              <a:ea typeface="微软雅黑" panose="020B0503020204020204" pitchFamily="34" charset="-122"/>
            </a:endParaRPr>
          </a:p>
          <a:p>
            <a:endParaRPr lang="zh-CN" altLang="zh-CN" sz="2400"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4. 简要说明网络通信信息获取方案？</a:t>
            </a:r>
            <a:endParaRPr lang="en-US" altLang="zh-CN" sz="2400" dirty="0">
              <a:latin typeface="微软雅黑" panose="020B0503020204020204" pitchFamily="34" charset="-122"/>
              <a:ea typeface="微软雅黑" panose="020B0503020204020204" pitchFamily="34" charset="-122"/>
            </a:endParaRPr>
          </a:p>
          <a:p>
            <a:endParaRPr lang="zh-CN" altLang="zh-CN" sz="2400"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5. 数据包捕获技术的核心是什么？</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任意多边形 67"/>
          <p:cNvSpPr/>
          <p:nvPr/>
        </p:nvSpPr>
        <p:spPr>
          <a:xfrm>
            <a:off x="0" y="4659317"/>
            <a:ext cx="12192000" cy="1552201"/>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70" name="文本框 69"/>
          <p:cNvSpPr txBox="1"/>
          <p:nvPr/>
        </p:nvSpPr>
        <p:spPr>
          <a:xfrm>
            <a:off x="2510807" y="4683003"/>
            <a:ext cx="7333535" cy="1015663"/>
          </a:xfrm>
          <a:prstGeom prst="rect">
            <a:avLst/>
          </a:prstGeom>
          <a:noFill/>
        </p:spPr>
        <p:txBody>
          <a:bodyPr wrap="square" rtlCol="0">
            <a:spAutoFit/>
          </a:bodyPr>
          <a:lstStyle/>
          <a:p>
            <a:pPr algn="dist"/>
            <a:r>
              <a:rPr lang="zh-CN" altLang="en-US" sz="6000" dirty="0">
                <a:solidFill>
                  <a:schemeClr val="bg1"/>
                </a:solidFill>
                <a:latin typeface="方正粗宋简体" panose="03000509000000000000" pitchFamily="65" charset="-122"/>
                <a:ea typeface="方正粗宋简体" panose="03000509000000000000" pitchFamily="65" charset="-122"/>
              </a:rPr>
              <a:t>网络信息内容安全</a:t>
            </a:r>
          </a:p>
        </p:txBody>
      </p:sp>
      <p:sp>
        <p:nvSpPr>
          <p:cNvPr id="71" name="文本框 70"/>
          <p:cNvSpPr txBox="1"/>
          <p:nvPr/>
        </p:nvSpPr>
        <p:spPr>
          <a:xfrm>
            <a:off x="2710197" y="5624090"/>
            <a:ext cx="7086167" cy="553085"/>
          </a:xfrm>
          <a:prstGeom prst="rect">
            <a:avLst/>
          </a:prstGeom>
          <a:noFill/>
        </p:spPr>
        <p:txBody>
          <a:bodyPr wrap="square" rtlCol="0">
            <a:spAutoFit/>
          </a:bodyPr>
          <a:lstStyle/>
          <a:p>
            <a:pPr algn="dist"/>
            <a:r>
              <a:rPr lang="zh-CN" altLang="en-US" sz="3000" dirty="0">
                <a:latin typeface="微软雅黑" panose="020B0503020204020204" pitchFamily="34" charset="-122"/>
                <a:ea typeface="微软雅黑" panose="020B0503020204020204" pitchFamily="34" charset="-122"/>
              </a:rPr>
              <a:t>网络信息内容预处理技术</a:t>
            </a:r>
          </a:p>
        </p:txBody>
      </p:sp>
      <p:grpSp>
        <p:nvGrpSpPr>
          <p:cNvPr id="18" name="组合 17"/>
          <p:cNvGrpSpPr/>
          <p:nvPr/>
        </p:nvGrpSpPr>
        <p:grpSpPr>
          <a:xfrm>
            <a:off x="1921216" y="192860"/>
            <a:ext cx="8579793" cy="3265984"/>
            <a:chOff x="1921216" y="192860"/>
            <a:chExt cx="8579793" cy="3265984"/>
          </a:xfrm>
        </p:grpSpPr>
        <p:grpSp>
          <p:nvGrpSpPr>
            <p:cNvPr id="7188" name="组合 7187"/>
            <p:cNvGrpSpPr/>
            <p:nvPr/>
          </p:nvGrpSpPr>
          <p:grpSpPr>
            <a:xfrm rot="20997101">
              <a:off x="4594305" y="192860"/>
              <a:ext cx="659781" cy="793569"/>
              <a:chOff x="9397113" y="1572484"/>
              <a:chExt cx="739439" cy="900000"/>
            </a:xfrm>
          </p:grpSpPr>
          <p:pic>
            <p:nvPicPr>
              <p:cNvPr id="7168" name="图片 7167"/>
              <p:cNvPicPr>
                <a:picLocks noChangeAspect="1"/>
              </p:cNvPicPr>
              <p:nvPr/>
            </p:nvPicPr>
            <p:blipFill rotWithShape="1">
              <a:blip r:embed="rId3">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25" name="椭圆 2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89" name="组合 7188"/>
            <p:cNvGrpSpPr/>
            <p:nvPr/>
          </p:nvGrpSpPr>
          <p:grpSpPr>
            <a:xfrm rot="2455872">
              <a:off x="9545795" y="1200076"/>
              <a:ext cx="659781" cy="793569"/>
              <a:chOff x="8752405" y="680495"/>
              <a:chExt cx="739439" cy="900000"/>
            </a:xfrm>
          </p:grpSpPr>
          <p:pic>
            <p:nvPicPr>
              <p:cNvPr id="29" name="图片 28"/>
              <p:cNvPicPr>
                <a:picLocks noChangeAspect="1"/>
              </p:cNvPicPr>
              <p:nvPr/>
            </p:nvPicPr>
            <p:blipFill rotWithShape="1">
              <a:blip r:embed="rId4">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26" name="椭圆 25"/>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0" name="组合 7189"/>
            <p:cNvGrpSpPr/>
            <p:nvPr/>
          </p:nvGrpSpPr>
          <p:grpSpPr>
            <a:xfrm rot="20539373">
              <a:off x="3895784" y="1063209"/>
              <a:ext cx="642436" cy="793569"/>
              <a:chOff x="7798300" y="2128176"/>
              <a:chExt cx="720000" cy="900000"/>
            </a:xfrm>
          </p:grpSpPr>
          <p:pic>
            <p:nvPicPr>
              <p:cNvPr id="7175" name="图片 7174"/>
              <p:cNvPicPr>
                <a:picLocks noChangeAspect="1"/>
              </p:cNvPicPr>
              <p:nvPr/>
            </p:nvPicPr>
            <p:blipFill rotWithShape="1">
              <a:blip r:embed="rId5">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4" name="椭圆 33"/>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1" name="组合 7190"/>
            <p:cNvGrpSpPr/>
            <p:nvPr/>
          </p:nvGrpSpPr>
          <p:grpSpPr>
            <a:xfrm rot="622440">
              <a:off x="6993372" y="431407"/>
              <a:ext cx="643355" cy="793569"/>
              <a:chOff x="5457544" y="2382484"/>
              <a:chExt cx="721030" cy="900000"/>
            </a:xfrm>
          </p:grpSpPr>
          <p:pic>
            <p:nvPicPr>
              <p:cNvPr id="7171" name="图片 717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7" name="椭圆 3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20351331">
              <a:off x="2777184" y="624184"/>
              <a:ext cx="642436" cy="793569"/>
              <a:chOff x="3277182" y="773323"/>
              <a:chExt cx="720000" cy="900000"/>
            </a:xfrm>
          </p:grpSpPr>
          <p:sp>
            <p:nvSpPr>
              <p:cNvPr id="45" name="椭圆 44"/>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7173" name="组合 7172"/>
            <p:cNvGrpSpPr/>
            <p:nvPr/>
          </p:nvGrpSpPr>
          <p:grpSpPr>
            <a:xfrm rot="1912890">
              <a:off x="8324851" y="1445561"/>
              <a:ext cx="648427" cy="793569"/>
              <a:chOff x="5384758" y="1250900"/>
              <a:chExt cx="726714" cy="900000"/>
            </a:xfrm>
          </p:grpSpPr>
          <p:sp>
            <p:nvSpPr>
              <p:cNvPr id="36" name="椭圆 3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7176" name="组合 7175"/>
            <p:cNvGrpSpPr/>
            <p:nvPr/>
          </p:nvGrpSpPr>
          <p:grpSpPr>
            <a:xfrm rot="1354213">
              <a:off x="7257146" y="1255327"/>
              <a:ext cx="642436" cy="793569"/>
              <a:chOff x="3639753" y="2488176"/>
              <a:chExt cx="720000" cy="900000"/>
            </a:xfrm>
          </p:grpSpPr>
          <p:sp>
            <p:nvSpPr>
              <p:cNvPr id="46" name="椭圆 45"/>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7172" name="组合 7171"/>
            <p:cNvGrpSpPr/>
            <p:nvPr/>
          </p:nvGrpSpPr>
          <p:grpSpPr>
            <a:xfrm rot="19874646">
              <a:off x="3299688" y="1751721"/>
              <a:ext cx="647730" cy="793569"/>
              <a:chOff x="4707387" y="271511"/>
              <a:chExt cx="725933" cy="900000"/>
            </a:xfrm>
          </p:grpSpPr>
          <p:sp>
            <p:nvSpPr>
              <p:cNvPr id="24" name="椭圆 23"/>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7174" name="组合 7173"/>
            <p:cNvGrpSpPr/>
            <p:nvPr/>
          </p:nvGrpSpPr>
          <p:grpSpPr>
            <a:xfrm rot="19414460">
              <a:off x="2170159" y="2542950"/>
              <a:ext cx="647456" cy="793569"/>
              <a:chOff x="4355614" y="1671769"/>
              <a:chExt cx="725626" cy="900000"/>
            </a:xfrm>
          </p:grpSpPr>
          <p:sp>
            <p:nvSpPr>
              <p:cNvPr id="41" name="椭圆 40"/>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图片 716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7182" name="组合 7181"/>
            <p:cNvGrpSpPr/>
            <p:nvPr/>
          </p:nvGrpSpPr>
          <p:grpSpPr>
            <a:xfrm rot="3261331">
              <a:off x="8917619" y="2218585"/>
              <a:ext cx="645495" cy="803045"/>
              <a:chOff x="6534782" y="2204846"/>
              <a:chExt cx="732066" cy="900000"/>
            </a:xfrm>
          </p:grpSpPr>
          <p:sp>
            <p:nvSpPr>
              <p:cNvPr id="35" name="椭圆 34"/>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7" name="图片 717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7184" name="组合 7183"/>
            <p:cNvGrpSpPr/>
            <p:nvPr/>
          </p:nvGrpSpPr>
          <p:grpSpPr>
            <a:xfrm rot="1881527">
              <a:off x="8519801" y="497692"/>
              <a:ext cx="646830" cy="793569"/>
              <a:chOff x="5993772" y="258109"/>
              <a:chExt cx="724925" cy="900000"/>
            </a:xfrm>
          </p:grpSpPr>
          <p:sp>
            <p:nvSpPr>
              <p:cNvPr id="33" name="椭圆 32"/>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9" name="图片 717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7186" name="组合 7185"/>
            <p:cNvGrpSpPr/>
            <p:nvPr/>
          </p:nvGrpSpPr>
          <p:grpSpPr>
            <a:xfrm rot="3066563">
              <a:off x="9781605" y="2529217"/>
              <a:ext cx="635764" cy="803045"/>
              <a:chOff x="8806213" y="2910111"/>
              <a:chExt cx="721030" cy="900000"/>
            </a:xfrm>
          </p:grpSpPr>
          <p:sp>
            <p:nvSpPr>
              <p:cNvPr id="2" name="椭圆 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0" name="图片 717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7183" name="组合 7182"/>
            <p:cNvGrpSpPr/>
            <p:nvPr/>
          </p:nvGrpSpPr>
          <p:grpSpPr>
            <a:xfrm rot="20849518">
              <a:off x="4617491" y="1468461"/>
              <a:ext cx="644890" cy="793569"/>
              <a:chOff x="7330781" y="818297"/>
              <a:chExt cx="722751" cy="900000"/>
            </a:xfrm>
          </p:grpSpPr>
          <p:sp>
            <p:nvSpPr>
              <p:cNvPr id="27" name="椭圆 2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1" name="图片 718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7185" name="组合 7184"/>
            <p:cNvGrpSpPr/>
            <p:nvPr/>
          </p:nvGrpSpPr>
          <p:grpSpPr>
            <a:xfrm rot="19756194">
              <a:off x="1921216" y="1486339"/>
              <a:ext cx="653202" cy="793569"/>
              <a:chOff x="2213446" y="1768419"/>
              <a:chExt cx="732066" cy="900000"/>
            </a:xfrm>
          </p:grpSpPr>
          <p:pic>
            <p:nvPicPr>
              <p:cNvPr id="7178" name="图片 717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66" name="椭圆 6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193" name="直接连接符 7192"/>
            <p:cNvCxnSpPr>
              <a:stCxn id="24"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66"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5"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34"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1"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7"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7"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6"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33"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6"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26"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35"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2" name="图片 7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619415" y="1218407"/>
            <a:ext cx="954000" cy="954000"/>
          </a:xfrm>
          <a:prstGeom prst="rect">
            <a:avLst/>
          </a:prstGeom>
        </p:spPr>
      </p:pic>
      <p:pic>
        <p:nvPicPr>
          <p:cNvPr id="74" name="Picture 5" descr="“大数据时代 安全”的图片搜索结果"/>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215611" y="3431136"/>
            <a:ext cx="1776150" cy="10551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4"/>
          <p:cNvSpPr>
            <a:spLocks noChangeArrowheads="1"/>
          </p:cNvSpPr>
          <p:nvPr/>
        </p:nvSpPr>
        <p:spPr bwMode="auto">
          <a:xfrm>
            <a:off x="1494368" y="195699"/>
            <a:ext cx="77699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40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目录</a:t>
            </a:r>
          </a:p>
        </p:txBody>
      </p:sp>
      <p:sp>
        <p:nvSpPr>
          <p:cNvPr id="18435" name="直接连接符 13"/>
          <p:cNvSpPr>
            <a:spLocks noChangeShapeType="1"/>
          </p:cNvSpPr>
          <p:nvPr/>
        </p:nvSpPr>
        <p:spPr bwMode="auto">
          <a:xfrm>
            <a:off x="675218" y="845125"/>
            <a:ext cx="6193367"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5" name="Group 4"/>
          <p:cNvGrpSpPr/>
          <p:nvPr/>
        </p:nvGrpSpPr>
        <p:grpSpPr bwMode="auto">
          <a:xfrm>
            <a:off x="1269967" y="1524783"/>
            <a:ext cx="1016000" cy="665162"/>
            <a:chOff x="1110" y="2656"/>
            <a:chExt cx="1549" cy="1351"/>
          </a:xfrm>
          <a:gradFill flip="none" rotWithShape="1">
            <a:gsLst>
              <a:gs pos="0">
                <a:srgbClr val="336699">
                  <a:shade val="30000"/>
                  <a:satMod val="115000"/>
                </a:srgbClr>
              </a:gs>
              <a:gs pos="50000">
                <a:srgbClr val="336699">
                  <a:shade val="67500"/>
                  <a:satMod val="115000"/>
                </a:srgbClr>
              </a:gs>
              <a:gs pos="100000">
                <a:srgbClr val="336699">
                  <a:shade val="100000"/>
                  <a:satMod val="115000"/>
                </a:srgbClr>
              </a:gs>
            </a:gsLst>
            <a:lin ang="2700000" scaled="1"/>
            <a:tileRect/>
          </a:gradFill>
        </p:grpSpPr>
        <p:sp>
          <p:nvSpPr>
            <p:cNvPr id="38" name="AutoShape 5"/>
            <p:cNvSpPr>
              <a:spLocks noChangeArrowheads="1"/>
            </p:cNvSpPr>
            <p:nvPr/>
          </p:nvSpPr>
          <p:spPr bwMode="gray">
            <a:xfrm>
              <a:off x="1123" y="2679"/>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9" name="AutoShape 6"/>
            <p:cNvSpPr>
              <a:spLocks noChangeArrowheads="1"/>
            </p:cNvSpPr>
            <p:nvPr/>
          </p:nvSpPr>
          <p:spPr bwMode="gray">
            <a:xfrm>
              <a:off x="1110" y="2656"/>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0" name="AutoShape 7"/>
            <p:cNvSpPr>
              <a:spLocks noChangeArrowheads="1"/>
            </p:cNvSpPr>
            <p:nvPr/>
          </p:nvSpPr>
          <p:spPr bwMode="gray">
            <a:xfrm>
              <a:off x="1200" y="2736"/>
              <a:ext cx="1350" cy="1168"/>
            </a:xfrm>
            <a:prstGeom prst="hexagon">
              <a:avLst>
                <a:gd name="adj" fmla="val 2889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7" name="Line 8"/>
          <p:cNvSpPr>
            <a:spLocks noChangeShapeType="1"/>
          </p:cNvSpPr>
          <p:nvPr/>
        </p:nvSpPr>
        <p:spPr bwMode="auto">
          <a:xfrm>
            <a:off x="2082767" y="213460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2991274" y="1588503"/>
            <a:ext cx="1723549"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预处理概述</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gray">
          <a:xfrm>
            <a:off x="1585540" y="1623428"/>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1</a:t>
            </a:r>
          </a:p>
        </p:txBody>
      </p:sp>
      <p:grpSp>
        <p:nvGrpSpPr>
          <p:cNvPr id="10" name="Group 11"/>
          <p:cNvGrpSpPr/>
          <p:nvPr/>
        </p:nvGrpSpPr>
        <p:grpSpPr bwMode="auto">
          <a:xfrm>
            <a:off x="1269967" y="2310601"/>
            <a:ext cx="1016000" cy="665162"/>
            <a:chOff x="3174" y="2656"/>
            <a:chExt cx="1549" cy="1351"/>
          </a:xfrm>
          <a:gradFill flip="none" rotWithShape="1">
            <a:gsLst>
              <a:gs pos="0">
                <a:srgbClr val="339966">
                  <a:shade val="30000"/>
                  <a:satMod val="115000"/>
                </a:srgbClr>
              </a:gs>
              <a:gs pos="50000">
                <a:srgbClr val="339966">
                  <a:shade val="67500"/>
                  <a:satMod val="115000"/>
                </a:srgbClr>
              </a:gs>
              <a:gs pos="100000">
                <a:srgbClr val="339966">
                  <a:shade val="100000"/>
                  <a:satMod val="115000"/>
                </a:srgbClr>
              </a:gs>
            </a:gsLst>
            <a:lin ang="2700000" scaled="1"/>
            <a:tileRect/>
          </a:gradFill>
        </p:grpSpPr>
        <p:sp>
          <p:nvSpPr>
            <p:cNvPr id="35" name="AutoShape 12"/>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6" name="AutoShape 13"/>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7" name="AutoShape 14"/>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1" name="Line 15"/>
          <p:cNvSpPr>
            <a:spLocks noChangeShapeType="1"/>
          </p:cNvSpPr>
          <p:nvPr/>
        </p:nvSpPr>
        <p:spPr bwMode="auto">
          <a:xfrm>
            <a:off x="2082767" y="2920416"/>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3" name="Text Box 17"/>
          <p:cNvSpPr txBox="1">
            <a:spLocks noChangeArrowheads="1"/>
          </p:cNvSpPr>
          <p:nvPr/>
        </p:nvSpPr>
        <p:spPr bwMode="gray">
          <a:xfrm>
            <a:off x="1585540" y="2409242"/>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2</a:t>
            </a:r>
          </a:p>
        </p:txBody>
      </p:sp>
      <p:grpSp>
        <p:nvGrpSpPr>
          <p:cNvPr id="14" name="Group 18"/>
          <p:cNvGrpSpPr/>
          <p:nvPr/>
        </p:nvGrpSpPr>
        <p:grpSpPr bwMode="auto">
          <a:xfrm>
            <a:off x="1269967" y="3096419"/>
            <a:ext cx="1016000" cy="665162"/>
            <a:chOff x="1110" y="2656"/>
            <a:chExt cx="1549" cy="1351"/>
          </a:xfrm>
          <a:gradFill flip="none" rotWithShape="1">
            <a:gsLst>
              <a:gs pos="0">
                <a:schemeClr val="bg2">
                  <a:lumMod val="60000"/>
                  <a:lumOff val="40000"/>
                  <a:shade val="30000"/>
                  <a:satMod val="115000"/>
                </a:schemeClr>
              </a:gs>
              <a:gs pos="50000">
                <a:schemeClr val="bg2">
                  <a:lumMod val="60000"/>
                  <a:lumOff val="40000"/>
                  <a:shade val="67500"/>
                  <a:satMod val="115000"/>
                </a:schemeClr>
              </a:gs>
              <a:gs pos="100000">
                <a:schemeClr val="bg2">
                  <a:lumMod val="60000"/>
                  <a:lumOff val="40000"/>
                  <a:shade val="100000"/>
                  <a:satMod val="115000"/>
                </a:schemeClr>
              </a:gs>
            </a:gsLst>
            <a:lin ang="2700000" scaled="1"/>
            <a:tileRect/>
          </a:gradFill>
        </p:grpSpPr>
        <p:sp>
          <p:nvSpPr>
            <p:cNvPr id="32" name="AutoShape 19"/>
            <p:cNvSpPr>
              <a:spLocks noChangeArrowheads="1"/>
            </p:cNvSpPr>
            <p:nvPr/>
          </p:nvSpPr>
          <p:spPr bwMode="gray">
            <a:xfrm>
              <a:off x="1123"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3" name="AutoShape 20"/>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4" name="AutoShape 21"/>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5" name="Line 22"/>
          <p:cNvSpPr>
            <a:spLocks noChangeShapeType="1"/>
          </p:cNvSpPr>
          <p:nvPr/>
        </p:nvSpPr>
        <p:spPr bwMode="auto">
          <a:xfrm>
            <a:off x="2082767" y="3706228"/>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Text Box 23"/>
          <p:cNvSpPr txBox="1">
            <a:spLocks noChangeArrowheads="1"/>
          </p:cNvSpPr>
          <p:nvPr/>
        </p:nvSpPr>
        <p:spPr bwMode="auto">
          <a:xfrm>
            <a:off x="3007867" y="2310602"/>
            <a:ext cx="2031325"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语义特征抽取</a:t>
            </a:r>
          </a:p>
        </p:txBody>
      </p:sp>
      <p:sp>
        <p:nvSpPr>
          <p:cNvPr id="17" name="Text Box 24"/>
          <p:cNvSpPr txBox="1">
            <a:spLocks noChangeArrowheads="1"/>
          </p:cNvSpPr>
          <p:nvPr/>
        </p:nvSpPr>
        <p:spPr bwMode="gray">
          <a:xfrm>
            <a:off x="1585540" y="319505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3</a:t>
            </a:r>
          </a:p>
        </p:txBody>
      </p:sp>
      <p:grpSp>
        <p:nvGrpSpPr>
          <p:cNvPr id="18" name="Group 25"/>
          <p:cNvGrpSpPr/>
          <p:nvPr/>
        </p:nvGrpSpPr>
        <p:grpSpPr bwMode="auto">
          <a:xfrm>
            <a:off x="1269967" y="3882237"/>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29"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0"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1"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9" name="Line 29"/>
          <p:cNvSpPr>
            <a:spLocks noChangeShapeType="1"/>
          </p:cNvSpPr>
          <p:nvPr/>
        </p:nvSpPr>
        <p:spPr bwMode="auto">
          <a:xfrm>
            <a:off x="2082767" y="4492041"/>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0" name="Text Box 30"/>
          <p:cNvSpPr txBox="1">
            <a:spLocks noChangeArrowheads="1"/>
          </p:cNvSpPr>
          <p:nvPr/>
        </p:nvSpPr>
        <p:spPr bwMode="auto">
          <a:xfrm>
            <a:off x="3007867" y="3128224"/>
            <a:ext cx="2031325"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特征子集选择</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1" name="Text Box 31"/>
          <p:cNvSpPr txBox="1">
            <a:spLocks noChangeArrowheads="1"/>
          </p:cNvSpPr>
          <p:nvPr/>
        </p:nvSpPr>
        <p:spPr bwMode="gray">
          <a:xfrm>
            <a:off x="1585540" y="3980867"/>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4</a:t>
            </a:r>
          </a:p>
        </p:txBody>
      </p:sp>
      <p:grpSp>
        <p:nvGrpSpPr>
          <p:cNvPr id="22" name="Group 25"/>
          <p:cNvGrpSpPr/>
          <p:nvPr/>
        </p:nvGrpSpPr>
        <p:grpSpPr bwMode="auto">
          <a:xfrm>
            <a:off x="1282809" y="4668055"/>
            <a:ext cx="1016000" cy="665162"/>
            <a:chOff x="3174" y="2656"/>
            <a:chExt cx="1549" cy="1351"/>
          </a:xfrm>
          <a:solidFill>
            <a:srgbClr val="31B5D6"/>
          </a:solidFill>
        </p:grpSpPr>
        <p:sp>
          <p:nvSpPr>
            <p:cNvPr id="26"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7"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8"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23" name="Line 29"/>
          <p:cNvSpPr>
            <a:spLocks noChangeShapeType="1"/>
          </p:cNvSpPr>
          <p:nvPr/>
        </p:nvSpPr>
        <p:spPr bwMode="auto">
          <a:xfrm>
            <a:off x="2095467" y="527785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4" name="Text Box 30"/>
          <p:cNvSpPr txBox="1">
            <a:spLocks noChangeArrowheads="1"/>
          </p:cNvSpPr>
          <p:nvPr/>
        </p:nvSpPr>
        <p:spPr bwMode="auto">
          <a:xfrm>
            <a:off x="3000025" y="3893562"/>
            <a:ext cx="2954655" cy="46166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特征重构及向量生成</a:t>
            </a:r>
            <a:endParaRPr lang="en-US" altLang="zh-CN" dirty="0">
              <a:latin typeface="微软雅黑" panose="020B0503020204020204" pitchFamily="34" charset="-122"/>
              <a:ea typeface="微软雅黑" panose="020B0503020204020204" pitchFamily="34" charset="-122"/>
            </a:endParaRPr>
          </a:p>
        </p:txBody>
      </p:sp>
      <p:sp>
        <p:nvSpPr>
          <p:cNvPr id="25" name="Text Box 31"/>
          <p:cNvSpPr txBox="1">
            <a:spLocks noChangeArrowheads="1"/>
          </p:cNvSpPr>
          <p:nvPr/>
        </p:nvSpPr>
        <p:spPr bwMode="gray">
          <a:xfrm>
            <a:off x="1598240" y="4766679"/>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5</a:t>
            </a:r>
          </a:p>
        </p:txBody>
      </p:sp>
      <p:sp>
        <p:nvSpPr>
          <p:cNvPr id="42" name="Text Box 30"/>
          <p:cNvSpPr txBox="1">
            <a:spLocks noChangeArrowheads="1"/>
          </p:cNvSpPr>
          <p:nvPr/>
        </p:nvSpPr>
        <p:spPr bwMode="auto">
          <a:xfrm>
            <a:off x="2997818" y="4693087"/>
            <a:ext cx="2031325" cy="46166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文本内容分析</a:t>
            </a:r>
            <a:endParaRPr lang="en-US" altLang="zh-CN" dirty="0">
              <a:latin typeface="微软雅黑" panose="020B0503020204020204" pitchFamily="34" charset="-122"/>
              <a:ea typeface="微软雅黑" panose="020B0503020204020204" pitchFamily="34" charset="-122"/>
            </a:endParaRPr>
          </a:p>
        </p:txBody>
      </p:sp>
      <p:grpSp>
        <p:nvGrpSpPr>
          <p:cNvPr id="44" name="Group 25"/>
          <p:cNvGrpSpPr/>
          <p:nvPr/>
        </p:nvGrpSpPr>
        <p:grpSpPr bwMode="auto">
          <a:xfrm>
            <a:off x="1269967" y="5452419"/>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45"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6"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7"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48" name="Line 29"/>
          <p:cNvSpPr>
            <a:spLocks noChangeShapeType="1"/>
          </p:cNvSpPr>
          <p:nvPr/>
        </p:nvSpPr>
        <p:spPr bwMode="auto">
          <a:xfrm>
            <a:off x="2082767" y="606222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49" name="Text Box 31"/>
          <p:cNvSpPr txBox="1">
            <a:spLocks noChangeArrowheads="1"/>
          </p:cNvSpPr>
          <p:nvPr/>
        </p:nvSpPr>
        <p:spPr bwMode="gray">
          <a:xfrm>
            <a:off x="1585540" y="5551049"/>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6</a:t>
            </a:r>
          </a:p>
        </p:txBody>
      </p:sp>
      <p:sp>
        <p:nvSpPr>
          <p:cNvPr id="50" name="Text Box 30"/>
          <p:cNvSpPr txBox="1">
            <a:spLocks noChangeArrowheads="1"/>
          </p:cNvSpPr>
          <p:nvPr/>
        </p:nvSpPr>
        <p:spPr bwMode="auto">
          <a:xfrm>
            <a:off x="3020806" y="5463744"/>
            <a:ext cx="1402080" cy="46037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本节小结</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143000"/>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1.</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预处理概述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340"/>
          <p:cNvSpPr txBox="1"/>
          <p:nvPr/>
        </p:nvSpPr>
        <p:spPr>
          <a:xfrm>
            <a:off x="1828800" y="4218785"/>
            <a:ext cx="4535055" cy="973472"/>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400" dirty="0"/>
              <a:t>分词，去停用词</a:t>
            </a:r>
            <a:endParaRPr lang="en-US" altLang="zh-CN" sz="2400" dirty="0"/>
          </a:p>
          <a:p>
            <a:pPr marL="342900" indent="-342900">
              <a:buFont typeface="Arial" panose="020B0604020202020204" pitchFamily="34" charset="0"/>
              <a:buChar char="•"/>
            </a:pPr>
            <a:r>
              <a:rPr lang="zh-CN" altLang="en-US" sz="2400" dirty="0"/>
              <a:t>特征子集选择与特征重构</a:t>
            </a:r>
            <a:endParaRPr lang="en-US" altLang="zh-CN" sz="2400" dirty="0"/>
          </a:p>
        </p:txBody>
      </p:sp>
      <p:sp>
        <p:nvSpPr>
          <p:cNvPr id="78" name="圆角矩形 77"/>
          <p:cNvSpPr/>
          <p:nvPr/>
        </p:nvSpPr>
        <p:spPr>
          <a:xfrm>
            <a:off x="1584484" y="5532745"/>
            <a:ext cx="9267497" cy="1064904"/>
          </a:xfrm>
          <a:prstGeom prst="roundRect">
            <a:avLst>
              <a:gd name="adj" fmla="val 9394"/>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1747795" y="5532745"/>
            <a:ext cx="8994096" cy="1005788"/>
          </a:xfrm>
          <a:prstGeom prst="rect">
            <a:avLst/>
          </a:prstGeom>
        </p:spPr>
        <p:txBody>
          <a:bodyPr wrap="square">
            <a:spAutoFit/>
          </a:bodyPr>
          <a:lstStyle/>
          <a:p>
            <a:pPr indent="612000">
              <a:lnSpc>
                <a:spcPct val="130000"/>
              </a:lnSpc>
              <a:spcBef>
                <a:spcPts val="600"/>
              </a:spcBef>
            </a:pPr>
            <a:r>
              <a:rPr lang="zh-CN" altLang="en-US" sz="2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如何去除和减弱文本信息噪声和变形的影响是文本信息处理软件所遇到的一个重要的问题。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网络信息内容预处理概述</a:t>
            </a:r>
          </a:p>
        </p:txBody>
      </p:sp>
      <p:sp>
        <p:nvSpPr>
          <p:cNvPr id="2" name="矩形 1"/>
          <p:cNvSpPr/>
          <p:nvPr/>
        </p:nvSpPr>
        <p:spPr>
          <a:xfrm>
            <a:off x="7263873" y="4218785"/>
            <a:ext cx="4089927" cy="973472"/>
          </a:xfrm>
          <a:prstGeom prst="rect">
            <a:avLst/>
          </a:prstGeom>
        </p:spPr>
        <p:txBody>
          <a:bodyPr wrap="square">
            <a:spAutoFit/>
          </a:bodyPr>
          <a:lstStyle/>
          <a:p>
            <a:pPr marL="342900" indent="-342900">
              <a:lnSpc>
                <a:spcPct val="125000"/>
              </a:lnSpc>
              <a:buFont typeface="Arial" panose="020B0604020202020204"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语义特征提取</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marL="342900" indent="-342900">
              <a:lnSpc>
                <a:spcPct val="125000"/>
              </a:lnSpc>
              <a:buFont typeface="Arial" panose="020B0604020202020204"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向量生成和文本内容分析</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58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9908" y="1050856"/>
            <a:ext cx="4619914" cy="3046929"/>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8" name="直接连接符 13">
            <a:extLst>
              <a:ext uri="{FF2B5EF4-FFF2-40B4-BE49-F238E27FC236}">
                <a16:creationId xmlns:a16="http://schemas.microsoft.com/office/drawing/2014/main" id="{982A0FD6-338D-4D1D-9115-D28D6AB890B1}"/>
              </a:ext>
            </a:extLst>
          </p:cNvPr>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051675" y="1119193"/>
            <a:ext cx="9889099" cy="85356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中文是以字为基本书写单位，单个字往往不足以表达一个意思，通常认为词是表达语义的最小元素。因此</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rPr>
              <a:t>须对中文字符串进行合理的切分</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21675" y="2603964"/>
            <a:ext cx="3672470" cy="3698626"/>
            <a:chOff x="316056" y="2188379"/>
            <a:chExt cx="3795073" cy="3698626"/>
          </a:xfrm>
        </p:grpSpPr>
        <p:grpSp>
          <p:nvGrpSpPr>
            <p:cNvPr id="8" name="组合 7"/>
            <p:cNvGrpSpPr/>
            <p:nvPr/>
          </p:nvGrpSpPr>
          <p:grpSpPr>
            <a:xfrm>
              <a:off x="3000669" y="2188379"/>
              <a:ext cx="1110460" cy="1260000"/>
              <a:chOff x="3048934" y="2188379"/>
              <a:chExt cx="1110460" cy="1260000"/>
            </a:xfrm>
          </p:grpSpPr>
          <p:sp>
            <p:nvSpPr>
              <p:cNvPr id="99" name="矩形 8"/>
              <p:cNvSpPr>
                <a:spLocks noChangeArrowheads="1"/>
              </p:cNvSpPr>
              <p:nvPr/>
            </p:nvSpPr>
            <p:spPr bwMode="auto">
              <a:xfrm>
                <a:off x="3181807" y="2325839"/>
                <a:ext cx="977587" cy="853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字符串匹配</a:t>
                </a:r>
              </a:p>
            </p:txBody>
          </p:sp>
          <p:cxnSp>
            <p:nvCxnSpPr>
              <p:cNvPr id="113" name="直接连接符 112"/>
              <p:cNvCxnSpPr/>
              <p:nvPr/>
            </p:nvCxnSpPr>
            <p:spPr>
              <a:xfrm flipH="1">
                <a:off x="3048934"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120" name="矩形 8"/>
            <p:cNvSpPr>
              <a:spLocks noChangeArrowheads="1"/>
            </p:cNvSpPr>
            <p:nvPr/>
          </p:nvSpPr>
          <p:spPr bwMode="auto">
            <a:xfrm>
              <a:off x="316056" y="3585221"/>
              <a:ext cx="3664321" cy="2301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优点是：分词过程是跟词典作比较，不需要大量的语料库、规则库，其算法简单、复杂性小、对算法作一定的预处理后分词速度较快；</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缺点是：不能消除歧义、识别未登录词，对词典的依赖性比较大，若词典足够大，其效果会更加明显。</a:t>
              </a:r>
              <a:endParaRPr lang="zh-CN" altLang="en-US" sz="1600" b="1" dirty="0">
                <a:latin typeface="微软雅黑" panose="020B0503020204020204" pitchFamily="34" charset="-122"/>
                <a:ea typeface="微软雅黑" panose="020B0503020204020204" pitchFamily="34" charset="-122"/>
              </a:endParaRPr>
            </a:p>
          </p:txBody>
        </p:sp>
      </p:gr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中文分词技术特点</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18" name="组合 17"/>
          <p:cNvGrpSpPr/>
          <p:nvPr/>
        </p:nvGrpSpPr>
        <p:grpSpPr>
          <a:xfrm>
            <a:off x="4155867" y="2551648"/>
            <a:ext cx="3716284" cy="4040582"/>
            <a:chOff x="674125" y="2166511"/>
            <a:chExt cx="3306251" cy="4040582"/>
          </a:xfrm>
        </p:grpSpPr>
        <p:grpSp>
          <p:nvGrpSpPr>
            <p:cNvPr id="19" name="组合 18"/>
            <p:cNvGrpSpPr/>
            <p:nvPr/>
          </p:nvGrpSpPr>
          <p:grpSpPr>
            <a:xfrm>
              <a:off x="2894743" y="2166511"/>
              <a:ext cx="1033490" cy="1281868"/>
              <a:chOff x="2943008" y="2166511"/>
              <a:chExt cx="1033490" cy="1281868"/>
            </a:xfrm>
          </p:grpSpPr>
          <p:sp>
            <p:nvSpPr>
              <p:cNvPr id="24" name="矩形 8"/>
              <p:cNvSpPr>
                <a:spLocks noChangeArrowheads="1"/>
              </p:cNvSpPr>
              <p:nvPr/>
            </p:nvSpPr>
            <p:spPr bwMode="auto">
              <a:xfrm>
                <a:off x="3007562" y="2166511"/>
                <a:ext cx="968936" cy="125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基于统计方法</a:t>
                </a:r>
              </a:p>
            </p:txBody>
          </p:sp>
          <p:cxnSp>
            <p:nvCxnSpPr>
              <p:cNvPr id="25" name="直接连接符 24"/>
              <p:cNvCxnSpPr/>
              <p:nvPr/>
            </p:nvCxnSpPr>
            <p:spPr>
              <a:xfrm flipH="1">
                <a:off x="2943008"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20" name="矩形 8"/>
            <p:cNvSpPr>
              <a:spLocks noChangeArrowheads="1"/>
            </p:cNvSpPr>
            <p:nvPr/>
          </p:nvSpPr>
          <p:spPr bwMode="auto">
            <a:xfrm>
              <a:off x="674125" y="3585221"/>
              <a:ext cx="3306251" cy="262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优点是：由于是基于统计规律的，对未登录词的识别表现出了一定的优越性，不需要预设词典；</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缺点是：需要一个足够大的语料库来统计训练，其正确性很大程度上依赖训练语料库的质量好坏，算法较为复杂，计算量大，周期长，但是都较为常见，处理速度一般。</a:t>
              </a:r>
              <a:endParaRPr lang="zh-CN" altLang="en-US" sz="1600" b="1" dirty="0">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8017559" y="2593433"/>
            <a:ext cx="3814226" cy="4135830"/>
            <a:chOff x="676367" y="2188379"/>
            <a:chExt cx="3306032" cy="4812020"/>
          </a:xfrm>
        </p:grpSpPr>
        <p:grpSp>
          <p:nvGrpSpPr>
            <p:cNvPr id="28" name="组合 27"/>
            <p:cNvGrpSpPr/>
            <p:nvPr/>
          </p:nvGrpSpPr>
          <p:grpSpPr>
            <a:xfrm>
              <a:off x="2928621" y="2188379"/>
              <a:ext cx="1053778" cy="1294152"/>
              <a:chOff x="2976886" y="2188379"/>
              <a:chExt cx="1053778" cy="1294152"/>
            </a:xfrm>
          </p:grpSpPr>
          <p:sp>
            <p:nvSpPr>
              <p:cNvPr id="30" name="矩形 8"/>
              <p:cNvSpPr>
                <a:spLocks noChangeArrowheads="1"/>
              </p:cNvSpPr>
              <p:nvPr/>
            </p:nvSpPr>
            <p:spPr bwMode="auto">
              <a:xfrm>
                <a:off x="3061728" y="2228854"/>
                <a:ext cx="968936" cy="125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2000" b="1" dirty="0">
                    <a:latin typeface="微软雅黑" panose="020B0503020204020204" pitchFamily="34" charset="-122"/>
                    <a:ea typeface="微软雅黑" panose="020B0503020204020204" pitchFamily="34" charset="-122"/>
                  </a:rPr>
                  <a:t>基于理解方法</a:t>
                </a:r>
              </a:p>
            </p:txBody>
          </p:sp>
          <p:cxnSp>
            <p:nvCxnSpPr>
              <p:cNvPr id="31" name="直接连接符 30"/>
              <p:cNvCxnSpPr/>
              <p:nvPr/>
            </p:nvCxnSpPr>
            <p:spPr>
              <a:xfrm flipH="1">
                <a:off x="2976886" y="2188379"/>
                <a:ext cx="0" cy="1260000"/>
              </a:xfrm>
              <a:prstGeom prst="line">
                <a:avLst/>
              </a:prstGeom>
              <a:ln w="57150">
                <a:solidFill>
                  <a:srgbClr val="F784A5"/>
                </a:solidFill>
              </a:ln>
            </p:spPr>
            <p:style>
              <a:lnRef idx="1">
                <a:schemeClr val="accent1"/>
              </a:lnRef>
              <a:fillRef idx="0">
                <a:schemeClr val="accent1"/>
              </a:fillRef>
              <a:effectRef idx="0">
                <a:schemeClr val="accent1"/>
              </a:effectRef>
              <a:fontRef idx="minor">
                <a:schemeClr val="tx1"/>
              </a:fontRef>
            </p:style>
          </p:cxnSp>
        </p:grpSp>
        <p:sp>
          <p:nvSpPr>
            <p:cNvPr id="29" name="矩形 8"/>
            <p:cNvSpPr>
              <a:spLocks noChangeArrowheads="1"/>
            </p:cNvSpPr>
            <p:nvPr/>
          </p:nvSpPr>
          <p:spPr bwMode="auto">
            <a:xfrm>
              <a:off x="676367" y="3738352"/>
              <a:ext cx="3304009" cy="326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优点是：由于能理解字符串含义，对未登录词具有很强的识别能力，能很好的解决歧义问题，不需要词典及大量语料库训练；</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缺点是：需要一个准确、完备的规则库，依赖性较强，效果好坏往往取决于规则库的完整性。算法比较复杂、实现技术难度较大，处理速度比较慢。</a:t>
              </a:r>
              <a:endParaRPr lang="zh-CN" altLang="en-US" sz="1600" b="1" dirty="0">
                <a:latin typeface="微软雅黑" panose="020B0503020204020204" pitchFamily="34" charset="-122"/>
                <a:ea typeface="微软雅黑" panose="020B0503020204020204" pitchFamily="34" charset="-122"/>
              </a:endParaRPr>
            </a:p>
          </p:txBody>
        </p:sp>
      </p:gr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90" y="2790115"/>
            <a:ext cx="1958326" cy="86576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7598" y="2573258"/>
            <a:ext cx="1728000" cy="1321412"/>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686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27775" y="2593433"/>
            <a:ext cx="1728000" cy="1256466"/>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601238" y="5659065"/>
            <a:ext cx="9889099" cy="85356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计算机对其处理不但是没有价值的工作，还会增加运算复杂度，通常文本的停用词处理中可采用基于词频的方法将其除去。</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去停用词</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5784" y="1133980"/>
            <a:ext cx="5509580" cy="4005456"/>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 name="文本框 1">
            <a:extLst>
              <a:ext uri="{FF2B5EF4-FFF2-40B4-BE49-F238E27FC236}">
                <a16:creationId xmlns:a16="http://schemas.microsoft.com/office/drawing/2014/main" id="{C2A4EF4F-F4AE-4908-A859-C04FA2F7F8E1}"/>
              </a:ext>
            </a:extLst>
          </p:cNvPr>
          <p:cNvSpPr txBox="1"/>
          <p:nvPr/>
        </p:nvSpPr>
        <p:spPr>
          <a:xfrm>
            <a:off x="519545" y="1364673"/>
            <a:ext cx="4481946" cy="456772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停用词</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是指在信息检索中，为节省存储空间和提高搜索效率，在处理自然语言数据（或文本）之前或之后会自动过滤掉某些字或词，这些字或词即被称为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Stop Words</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停用词）。这些停用词都是人工输入、非自动化生成的，生成后的停用词会形成一个停用词表。但是，并没有一个明确的停用词表能够适用于所有的工具。甚至有一些工具是明确地避免使用停用词来支持短语搜索的。</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998490" y="5426980"/>
            <a:ext cx="10316055" cy="85356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根据语义级别由低到高来分，文本语义特征可分为：亚词级别、词级别、多词级别、语义级别和语用级别。其中，应用最为广泛的是词级别。</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358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512" b="18848"/>
          <a:stretch>
            <a:fillRect/>
          </a:stretch>
        </p:blipFill>
        <p:spPr bwMode="auto">
          <a:xfrm>
            <a:off x="6261154" y="1711790"/>
            <a:ext cx="5109090" cy="285369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语义特征提取</a:t>
            </a:r>
          </a:p>
        </p:txBody>
      </p:sp>
      <p:sp>
        <p:nvSpPr>
          <p:cNvPr id="20" name="文本框 70"/>
          <p:cNvSpPr txBox="1"/>
          <p:nvPr/>
        </p:nvSpPr>
        <p:spPr>
          <a:xfrm>
            <a:off x="752548" y="1465957"/>
            <a:ext cx="5109091"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语义特征需具备如下特征：</a:t>
            </a:r>
          </a:p>
        </p:txBody>
      </p:sp>
      <p:cxnSp>
        <p:nvCxnSpPr>
          <p:cNvPr id="24" name="直接连接符 23"/>
          <p:cNvCxnSpPr/>
          <p:nvPr/>
        </p:nvCxnSpPr>
        <p:spPr>
          <a:xfrm>
            <a:off x="738431" y="232722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38431" y="296081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bwMode="auto">
          <a:xfrm>
            <a:off x="1116382" y="253551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bwMode="auto">
          <a:xfrm>
            <a:off x="1116382" y="3239422"/>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8" name="文本框 12"/>
          <p:cNvSpPr txBox="1"/>
          <p:nvPr/>
        </p:nvSpPr>
        <p:spPr>
          <a:xfrm>
            <a:off x="1526643" y="2429326"/>
            <a:ext cx="3277397" cy="438582"/>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特征项要能确实标识文本内容</a:t>
            </a:r>
            <a:endParaRPr lang="en-US" altLang="zh-CN" sz="1800" dirty="0"/>
          </a:p>
        </p:txBody>
      </p:sp>
      <p:sp>
        <p:nvSpPr>
          <p:cNvPr id="29" name="文本框 14"/>
          <p:cNvSpPr txBox="1"/>
          <p:nvPr/>
        </p:nvSpPr>
        <p:spPr>
          <a:xfrm>
            <a:off x="1532678" y="2973794"/>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具有将目标文本与其他文本相区分的能力</a:t>
            </a:r>
          </a:p>
        </p:txBody>
      </p:sp>
      <p:cxnSp>
        <p:nvCxnSpPr>
          <p:cNvPr id="30" name="直接连接符 29"/>
          <p:cNvCxnSpPr/>
          <p:nvPr/>
        </p:nvCxnSpPr>
        <p:spPr>
          <a:xfrm>
            <a:off x="720410" y="377976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auto">
          <a:xfrm>
            <a:off x="1116382" y="397432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2" name="文本框 14"/>
          <p:cNvSpPr txBox="1"/>
          <p:nvPr/>
        </p:nvSpPr>
        <p:spPr>
          <a:xfrm>
            <a:off x="1533886" y="3852153"/>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特征项的个数不能太多</a:t>
            </a:r>
          </a:p>
        </p:txBody>
      </p:sp>
      <p:cxnSp>
        <p:nvCxnSpPr>
          <p:cNvPr id="33" name="直接连接符 32"/>
          <p:cNvCxnSpPr/>
          <p:nvPr/>
        </p:nvCxnSpPr>
        <p:spPr>
          <a:xfrm>
            <a:off x="728545" y="439289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auto">
          <a:xfrm>
            <a:off x="1116382" y="462352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5" name="文本框 14"/>
          <p:cNvSpPr txBox="1"/>
          <p:nvPr/>
        </p:nvSpPr>
        <p:spPr>
          <a:xfrm>
            <a:off x="1532774" y="4515109"/>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特征项分离要比较容易实现</a:t>
            </a:r>
          </a:p>
        </p:txBody>
      </p:sp>
      <p:cxnSp>
        <p:nvCxnSpPr>
          <p:cNvPr id="36" name="直接连接符 35"/>
          <p:cNvCxnSpPr/>
          <p:nvPr/>
        </p:nvCxnSpPr>
        <p:spPr>
          <a:xfrm>
            <a:off x="685871" y="505585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语义特征提取</a:t>
            </a:r>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799" y="1345096"/>
            <a:ext cx="6096000" cy="38100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 name="矩形 1"/>
          <p:cNvSpPr/>
          <p:nvPr/>
        </p:nvSpPr>
        <p:spPr>
          <a:xfrm>
            <a:off x="1053548" y="5415528"/>
            <a:ext cx="9561443" cy="853567"/>
          </a:xfrm>
          <a:prstGeom prst="rect">
            <a:avLst/>
          </a:prstGeom>
        </p:spPr>
        <p:txBody>
          <a:bodyPr wrap="square">
            <a:spAutoFit/>
          </a:bodyPr>
          <a:lstStyle/>
          <a:p>
            <a:pPr indent="504000">
              <a:lnSpc>
                <a:spcPct val="130000"/>
              </a:lnSpc>
            </a:pPr>
            <a:r>
              <a:rPr lang="zh-CN" altLang="en-US" sz="2000" dirty="0">
                <a:latin typeface="微软雅黑" panose="020B0503020204020204" pitchFamily="34" charset="-122"/>
                <a:ea typeface="微软雅黑" panose="020B0503020204020204" pitchFamily="34" charset="-122"/>
              </a:rPr>
              <a:t>有一篇很长的文章，我要用计算机提取它的关键词（</a:t>
            </a:r>
            <a:r>
              <a:rPr lang="en-US" altLang="zh-CN" sz="2000" dirty="0">
                <a:latin typeface="微软雅黑" panose="020B0503020204020204" pitchFamily="34" charset="-122"/>
                <a:ea typeface="微软雅黑" panose="020B0503020204020204" pitchFamily="34" charset="-122"/>
              </a:rPr>
              <a:t>Automatic </a:t>
            </a:r>
            <a:r>
              <a:rPr lang="en-US" altLang="zh-CN" sz="2000" dirty="0" err="1">
                <a:latin typeface="微软雅黑" panose="020B0503020204020204" pitchFamily="34" charset="-122"/>
                <a:ea typeface="微软雅黑" panose="020B0503020204020204" pitchFamily="34" charset="-122"/>
              </a:rPr>
              <a:t>Keyphrase</a:t>
            </a:r>
            <a:r>
              <a:rPr lang="en-US" altLang="zh-CN" sz="2000" dirty="0">
                <a:latin typeface="微软雅黑" panose="020B0503020204020204" pitchFamily="34" charset="-122"/>
                <a:ea typeface="微软雅黑" panose="020B0503020204020204" pitchFamily="34" charset="-122"/>
              </a:rPr>
              <a:t> extraction</a:t>
            </a:r>
            <a:r>
              <a:rPr lang="zh-CN" altLang="en-US" sz="2000" dirty="0">
                <a:latin typeface="微软雅黑" panose="020B0503020204020204" pitchFamily="34" charset="-122"/>
                <a:ea typeface="微软雅黑" panose="020B0503020204020204" pitchFamily="34" charset="-122"/>
              </a:rPr>
              <a:t>），完全不加以人工干预，请问怎样才能正确做到？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语义特征提取</a:t>
            </a:r>
          </a:p>
        </p:txBody>
      </p:sp>
      <p:sp>
        <p:nvSpPr>
          <p:cNvPr id="2" name="矩形 1"/>
          <p:cNvSpPr/>
          <p:nvPr/>
        </p:nvSpPr>
        <p:spPr>
          <a:xfrm>
            <a:off x="332078" y="1390484"/>
            <a:ext cx="4983248" cy="3658246"/>
          </a:xfrm>
          <a:prstGeom prst="rect">
            <a:avLst/>
          </a:prstGeom>
        </p:spPr>
        <p:txBody>
          <a:bodyPr wrap="square">
            <a:spAutoFit/>
          </a:bodyPr>
          <a:lstStyle/>
          <a:p>
            <a:pPr marL="457200" indent="-457200">
              <a:lnSpc>
                <a:spcPct val="13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假定现在有一篇长文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中国的蜜蜂养殖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，我们准备用计算机提取它的关键词；</a:t>
            </a: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首先思路，如果某个词很重要，它应该在这篇文章中多次出现。于是，我们进行</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词频</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统计；</a:t>
            </a: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我们可能发现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中国</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蜜蜂</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养殖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这三个词的出现次数一样多。这是不是意味着，作为关键词，它们的重要性是一样的？</a:t>
            </a:r>
          </a:p>
        </p:txBody>
      </p:sp>
      <p:pic>
        <p:nvPicPr>
          <p:cNvPr id="45058" name="Picture 2" descr="http://image.beekka.com/blog/201303/bg20130315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9243" y="1189402"/>
            <a:ext cx="5671026" cy="389883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矩形 3"/>
          <p:cNvSpPr/>
          <p:nvPr/>
        </p:nvSpPr>
        <p:spPr>
          <a:xfrm>
            <a:off x="1200727" y="5501813"/>
            <a:ext cx="10227365" cy="853567"/>
          </a:xfrm>
          <a:prstGeom prst="rect">
            <a:avLst/>
          </a:prstGeom>
        </p:spPr>
        <p:txBody>
          <a:bodyPr wrap="square">
            <a:spAutoFit/>
          </a:bodyPr>
          <a:lstStyle/>
          <a:p>
            <a:pPr indent="504000">
              <a:lnSpc>
                <a:spcPct val="130000"/>
              </a:lnSpc>
            </a:pPr>
            <a:r>
              <a:rPr lang="zh-CN" altLang="en-US" sz="2000" dirty="0">
                <a:latin typeface="微软雅黑" panose="020B0503020204020204" pitchFamily="34" charset="-122"/>
                <a:ea typeface="微软雅黑" panose="020B0503020204020204" pitchFamily="34" charset="-122"/>
              </a:rPr>
              <a:t>如果某个词比较少见，但是它在这篇文章中多次出现，那么它很可能就反映了这篇文章的特性，正是我们所需要的关键词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animEffect transition="in" filter="fade">
                                      <p:cBhvr>
                                        <p:cTn id="11" dur="500"/>
                                        <p:tgtEl>
                                          <p:spTgt spid="2">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998489" y="5752427"/>
            <a:ext cx="10316055" cy="85356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词级别</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WordLevel</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以词作为基本语义特征。以单词作为基本语义特征在文本分类、信息检索系统中工作良好，是最常见的基本语义特征。</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词级别语义特征</a:t>
            </a:r>
          </a:p>
        </p:txBody>
      </p:sp>
      <p:sp>
        <p:nvSpPr>
          <p:cNvPr id="20" name="文本框 70"/>
          <p:cNvSpPr txBox="1"/>
          <p:nvPr/>
        </p:nvSpPr>
        <p:spPr>
          <a:xfrm>
            <a:off x="752548" y="1370971"/>
            <a:ext cx="4801314" cy="830997"/>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400" dirty="0">
                <a:latin typeface="微软雅黑" panose="020B0503020204020204" pitchFamily="34" charset="-122"/>
                <a:ea typeface="微软雅黑" panose="020B0503020204020204" pitchFamily="34" charset="-122"/>
              </a:rPr>
              <a:t>词特征可进行计算的因素有很多，</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最常用的有词频、词性：</a:t>
            </a:r>
          </a:p>
        </p:txBody>
      </p:sp>
      <p:cxnSp>
        <p:nvCxnSpPr>
          <p:cNvPr id="24" name="直接连接符 23"/>
          <p:cNvCxnSpPr/>
          <p:nvPr/>
        </p:nvCxnSpPr>
        <p:spPr>
          <a:xfrm>
            <a:off x="738431" y="242420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38431" y="303008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bwMode="auto">
          <a:xfrm>
            <a:off x="1134854" y="263471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bwMode="auto">
          <a:xfrm>
            <a:off x="1134854" y="325453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8" name="文本框 12"/>
          <p:cNvSpPr txBox="1"/>
          <p:nvPr/>
        </p:nvSpPr>
        <p:spPr>
          <a:xfrm>
            <a:off x="1568118" y="2532217"/>
            <a:ext cx="3277397"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词频</a:t>
            </a:r>
            <a:endParaRPr lang="en-US" altLang="zh-CN" sz="1800" dirty="0"/>
          </a:p>
        </p:txBody>
      </p:sp>
      <p:sp>
        <p:nvSpPr>
          <p:cNvPr id="29" name="文本框 14"/>
          <p:cNvSpPr txBox="1"/>
          <p:nvPr/>
        </p:nvSpPr>
        <p:spPr>
          <a:xfrm>
            <a:off x="1567313" y="3140043"/>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词性</a:t>
            </a:r>
          </a:p>
        </p:txBody>
      </p:sp>
      <p:cxnSp>
        <p:nvCxnSpPr>
          <p:cNvPr id="30" name="直接连接符 29"/>
          <p:cNvCxnSpPr/>
          <p:nvPr/>
        </p:nvCxnSpPr>
        <p:spPr>
          <a:xfrm>
            <a:off x="720410" y="365507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auto">
          <a:xfrm>
            <a:off x="1124517" y="387731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2" name="文本框 14"/>
          <p:cNvSpPr txBox="1"/>
          <p:nvPr/>
        </p:nvSpPr>
        <p:spPr>
          <a:xfrm>
            <a:off x="1567313" y="3762806"/>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文档、词语长度</a:t>
            </a:r>
          </a:p>
        </p:txBody>
      </p:sp>
      <p:cxnSp>
        <p:nvCxnSpPr>
          <p:cNvPr id="33" name="直接连接符 32"/>
          <p:cNvCxnSpPr/>
          <p:nvPr/>
        </p:nvCxnSpPr>
        <p:spPr>
          <a:xfrm>
            <a:off x="728545" y="428206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auto">
          <a:xfrm>
            <a:off x="1124517" y="449871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5" name="文本框 14"/>
          <p:cNvSpPr txBox="1"/>
          <p:nvPr/>
        </p:nvSpPr>
        <p:spPr>
          <a:xfrm>
            <a:off x="1560482" y="4383496"/>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词语直径</a:t>
            </a:r>
          </a:p>
        </p:txBody>
      </p:sp>
      <p:pic>
        <p:nvPicPr>
          <p:cNvPr id="21" name="图片 20"/>
          <p:cNvPicPr/>
          <p:nvPr/>
        </p:nvPicPr>
        <p:blipFill>
          <a:blip r:embed="rId2" cstate="print"/>
          <a:stretch>
            <a:fillRect/>
          </a:stretch>
        </p:blipFill>
        <p:spPr>
          <a:xfrm>
            <a:off x="6275343" y="1522917"/>
            <a:ext cx="4704384" cy="321919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2" name="矩形 1"/>
          <p:cNvSpPr/>
          <p:nvPr/>
        </p:nvSpPr>
        <p:spPr>
          <a:xfrm>
            <a:off x="8224488" y="4927509"/>
            <a:ext cx="1107996" cy="369332"/>
          </a:xfrm>
          <a:prstGeom prst="rect">
            <a:avLst/>
          </a:prstGeom>
        </p:spPr>
        <p:txBody>
          <a:bodyPr wrap="none">
            <a:spAutoFit/>
          </a:bodyPr>
          <a:lstStyle/>
          <a:p>
            <a:r>
              <a:rPr lang="zh-CN" altLang="zh-CN" dirty="0"/>
              <a:t>词袋模型</a:t>
            </a:r>
            <a:endParaRPr lang="zh-CN" altLang="en-US" dirty="0"/>
          </a:p>
        </p:txBody>
      </p:sp>
      <p:cxnSp>
        <p:nvCxnSpPr>
          <p:cNvPr id="37" name="直接连接符 36"/>
          <p:cNvCxnSpPr/>
          <p:nvPr/>
        </p:nvCxnSpPr>
        <p:spPr>
          <a:xfrm>
            <a:off x="728545" y="491475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bwMode="auto">
          <a:xfrm>
            <a:off x="1124517" y="514175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9" name="文本框 14"/>
          <p:cNvSpPr txBox="1"/>
          <p:nvPr/>
        </p:nvSpPr>
        <p:spPr>
          <a:xfrm>
            <a:off x="1546628" y="5002334"/>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首次出现位置</a:t>
            </a:r>
          </a:p>
        </p:txBody>
      </p:sp>
      <p:cxnSp>
        <p:nvCxnSpPr>
          <p:cNvPr id="40" name="直接连接符 39"/>
          <p:cNvCxnSpPr/>
          <p:nvPr/>
        </p:nvCxnSpPr>
        <p:spPr>
          <a:xfrm>
            <a:off x="685871" y="552229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1052538" y="1642353"/>
            <a:ext cx="3057247"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文档频率阈值法</a:t>
            </a:r>
          </a:p>
        </p:txBody>
      </p:sp>
      <p:cxnSp>
        <p:nvCxnSpPr>
          <p:cNvPr id="74" name="直接连接符 73"/>
          <p:cNvCxnSpPr/>
          <p:nvPr/>
        </p:nvCxnSpPr>
        <p:spPr>
          <a:xfrm>
            <a:off x="701487" y="285830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78285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42668" y="3226975"/>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44899" y="400024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492226" y="2917047"/>
            <a:ext cx="3277397"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用于去除训练样本集中出现频率较低的特征项</a:t>
            </a:r>
          </a:p>
        </p:txBody>
      </p:sp>
      <p:sp>
        <p:nvSpPr>
          <p:cNvPr id="83" name="文本框 14"/>
          <p:cNvSpPr txBox="1"/>
          <p:nvPr/>
        </p:nvSpPr>
        <p:spPr>
          <a:xfrm>
            <a:off x="1492226" y="3888786"/>
            <a:ext cx="3348086" cy="438582"/>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词频对标识文本类别的重要性</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923309" y="331131"/>
            <a:ext cx="6320862" cy="646331"/>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文档频率阈值法与齐夫定律</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46325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45464" y="468225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499871" y="4545432"/>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齐夫定律</a:t>
            </a:r>
          </a:p>
        </p:txBody>
      </p:sp>
      <p:cxnSp>
        <p:nvCxnSpPr>
          <p:cNvPr id="166" name="直接连接符 165"/>
          <p:cNvCxnSpPr/>
          <p:nvPr/>
        </p:nvCxnSpPr>
        <p:spPr>
          <a:xfrm>
            <a:off x="691601" y="511795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44899" y="541079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466379" y="5187214"/>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zh-CN" sz="1800" dirty="0"/>
              <a:t>单词出现的频率</a:t>
            </a:r>
            <a:r>
              <a:rPr lang="en-US" altLang="zh-CN" sz="1800" dirty="0"/>
              <a:t> rank(t) </a:t>
            </a:r>
            <a:r>
              <a:rPr lang="zh-CN" altLang="zh-CN" sz="1800" dirty="0"/>
              <a:t>与其序号</a:t>
            </a:r>
            <a:r>
              <a:rPr lang="en-US" altLang="zh-CN" sz="1800" dirty="0"/>
              <a:t> n(t) </a:t>
            </a:r>
            <a:r>
              <a:rPr lang="zh-CN" altLang="zh-CN" sz="1800" dirty="0"/>
              <a:t>存在近似反比关系</a:t>
            </a:r>
            <a:endParaRPr lang="zh-CN" altLang="en-US" sz="1800" dirty="0"/>
          </a:p>
        </p:txBody>
      </p:sp>
      <p:cxnSp>
        <p:nvCxnSpPr>
          <p:cNvPr id="170" name="直接连接符 169"/>
          <p:cNvCxnSpPr/>
          <p:nvPr/>
        </p:nvCxnSpPr>
        <p:spPr>
          <a:xfrm>
            <a:off x="648927" y="601643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63" name="图片 162"/>
          <p:cNvPicPr/>
          <p:nvPr/>
        </p:nvPicPr>
        <p:blipFill>
          <a:blip r:embed="rId17" cstate="print">
            <a:extLst>
              <a:ext uri="{28A0092B-C50C-407E-A947-70E740481C1C}">
                <a14:useLocalDpi xmlns:a14="http://schemas.microsoft.com/office/drawing/2010/main" val="0"/>
              </a:ext>
            </a:extLst>
          </a:blip>
          <a:stretch>
            <a:fillRect/>
          </a:stretch>
        </p:blipFill>
        <p:spPr>
          <a:xfrm>
            <a:off x="5971973" y="1898611"/>
            <a:ext cx="5388754" cy="3288592"/>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 name="矩形 2"/>
          <p:cNvSpPr/>
          <p:nvPr/>
        </p:nvSpPr>
        <p:spPr>
          <a:xfrm>
            <a:off x="6736936" y="5518808"/>
            <a:ext cx="4031873" cy="400110"/>
          </a:xfrm>
          <a:prstGeom prst="rect">
            <a:avLst/>
          </a:prstGeom>
        </p:spPr>
        <p:txBody>
          <a:bodyPr wrap="none">
            <a:spAutoFit/>
          </a:bodyPr>
          <a:lstStyle/>
          <a:p>
            <a:r>
              <a:rPr lang="zh-CN" altLang="zh-CN" sz="2000" dirty="0"/>
              <a:t>一个中文预料的齐夫定律现象验证</a:t>
            </a:r>
            <a:endParaRPr lang="zh-CN" alt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语义特征提取</a:t>
            </a:r>
          </a:p>
        </p:txBody>
      </p:sp>
      <p:sp>
        <p:nvSpPr>
          <p:cNvPr id="2" name="矩形 1"/>
          <p:cNvSpPr/>
          <p:nvPr/>
        </p:nvSpPr>
        <p:spPr>
          <a:xfrm>
            <a:off x="675217" y="5339332"/>
            <a:ext cx="10872547" cy="853567"/>
          </a:xfrm>
          <a:prstGeom prst="rect">
            <a:avLst/>
          </a:prstGeom>
        </p:spPr>
        <p:txBody>
          <a:bodyPr wrap="square">
            <a:spAutoFit/>
          </a:bodyPr>
          <a:lstStyle/>
          <a:p>
            <a:pPr indent="504000">
              <a:lnSpc>
                <a:spcPct val="13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蜜蜂</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 </a:t>
            </a:r>
            <a:r>
              <a:rPr lang="en-US" altLang="zh-CN" sz="2000" dirty="0">
                <a:latin typeface="微软雅黑" panose="020B0503020204020204" pitchFamily="34" charset="-122"/>
                <a:ea typeface="微软雅黑" panose="020B0503020204020204" pitchFamily="34" charset="-122"/>
              </a:rPr>
              <a:t>TF-IDF </a:t>
            </a:r>
            <a:r>
              <a:rPr lang="zh-CN" altLang="en-US" sz="2000" dirty="0">
                <a:latin typeface="微软雅黑" panose="020B0503020204020204" pitchFamily="34" charset="-122"/>
                <a:ea typeface="微软雅黑" panose="020B0503020204020204" pitchFamily="34" charset="-122"/>
              </a:rPr>
              <a:t>值最高，</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养殖</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其次，</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中国</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最低。（如果还计算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字的 </a:t>
            </a:r>
            <a:r>
              <a:rPr lang="en-US" altLang="zh-CN" sz="2000" dirty="0">
                <a:latin typeface="微软雅黑" panose="020B0503020204020204" pitchFamily="34" charset="-122"/>
                <a:ea typeface="微软雅黑" panose="020B0503020204020204" pitchFamily="34" charset="-122"/>
              </a:rPr>
              <a:t>TF-IDF</a:t>
            </a:r>
            <a:r>
              <a:rPr lang="zh-CN" altLang="en-US" sz="2000" dirty="0">
                <a:latin typeface="微软雅黑" panose="020B0503020204020204" pitchFamily="34" charset="-122"/>
                <a:ea typeface="微软雅黑" panose="020B0503020204020204" pitchFamily="34" charset="-122"/>
              </a:rPr>
              <a:t>，那将是一个极其接近 </a:t>
            </a:r>
            <a:r>
              <a:rPr lang="en-US" altLang="zh-CN" sz="2000" dirty="0">
                <a:latin typeface="微软雅黑" panose="020B0503020204020204" pitchFamily="34" charset="-122"/>
                <a:ea typeface="微软雅黑" panose="020B0503020204020204" pitchFamily="34" charset="-122"/>
              </a:rPr>
              <a:t>0 </a:t>
            </a:r>
            <a:r>
              <a:rPr lang="zh-CN" altLang="en-US" sz="2000" dirty="0">
                <a:latin typeface="微软雅黑" panose="020B0503020204020204" pitchFamily="34" charset="-122"/>
                <a:ea typeface="微软雅黑" panose="020B0503020204020204" pitchFamily="34" charset="-122"/>
              </a:rPr>
              <a:t>的值。）所以，如果只选择一个词，</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蜜蜂</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就是这篇文章的关键词。</a:t>
            </a:r>
          </a:p>
        </p:txBody>
      </p:sp>
      <p:pic>
        <p:nvPicPr>
          <p:cNvPr id="4608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75" y="2207264"/>
            <a:ext cx="6469310" cy="280205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矩形 2"/>
          <p:cNvSpPr/>
          <p:nvPr/>
        </p:nvSpPr>
        <p:spPr>
          <a:xfrm>
            <a:off x="1275090" y="1103957"/>
            <a:ext cx="8402309" cy="962956"/>
          </a:xfrm>
          <a:prstGeom prst="rect">
            <a:avLst/>
          </a:prstGeom>
        </p:spPr>
        <p:txBody>
          <a:bodyPr wrap="square">
            <a:spAutoFit/>
          </a:bodyPr>
          <a:lstStyle/>
          <a:p>
            <a:pPr indent="504000">
              <a:lnSpc>
                <a:spcPct val="150000"/>
              </a:lnSpc>
            </a:pPr>
            <a:r>
              <a:rPr lang="zh-CN" altLang="en-US" sz="2000" dirty="0"/>
              <a:t>假定该文长度为 </a:t>
            </a:r>
            <a:r>
              <a:rPr lang="en-US" altLang="zh-CN" sz="2000" dirty="0"/>
              <a:t>1000 </a:t>
            </a:r>
            <a:r>
              <a:rPr lang="zh-CN" altLang="en-US" sz="2000" dirty="0"/>
              <a:t>个词，</a:t>
            </a:r>
            <a:r>
              <a:rPr lang="en-US" altLang="zh-CN" sz="2000" dirty="0"/>
              <a:t>“</a:t>
            </a:r>
            <a:r>
              <a:rPr lang="zh-CN" altLang="en-US" sz="2000" dirty="0"/>
              <a:t>中国</a:t>
            </a:r>
            <a:r>
              <a:rPr lang="en-US" altLang="zh-CN" sz="2000" dirty="0"/>
              <a:t>”</a:t>
            </a:r>
            <a:r>
              <a:rPr lang="zh-CN" altLang="en-US" sz="2000" dirty="0"/>
              <a:t>、</a:t>
            </a:r>
            <a:r>
              <a:rPr lang="en-US" altLang="zh-CN" sz="2000" dirty="0"/>
              <a:t>“</a:t>
            </a:r>
            <a:r>
              <a:rPr lang="zh-CN" altLang="en-US" sz="2000" dirty="0"/>
              <a:t>蜜蜂</a:t>
            </a:r>
            <a:r>
              <a:rPr lang="en-US" altLang="zh-CN" sz="2000" dirty="0"/>
              <a:t>”</a:t>
            </a:r>
            <a:r>
              <a:rPr lang="zh-CN" altLang="en-US" sz="2000" dirty="0"/>
              <a:t>、</a:t>
            </a:r>
            <a:r>
              <a:rPr lang="en-US" altLang="zh-CN" sz="2000" dirty="0"/>
              <a:t>“</a:t>
            </a:r>
            <a:r>
              <a:rPr lang="zh-CN" altLang="en-US" sz="2000" dirty="0"/>
              <a:t>养殖</a:t>
            </a:r>
            <a:r>
              <a:rPr lang="en-US" altLang="zh-CN" sz="2000" dirty="0"/>
              <a:t>”</a:t>
            </a:r>
            <a:r>
              <a:rPr lang="zh-CN" altLang="en-US" sz="2000" dirty="0"/>
              <a:t>各出现 </a:t>
            </a:r>
            <a:r>
              <a:rPr lang="en-US" altLang="zh-CN" sz="2000" dirty="0"/>
              <a:t>20 </a:t>
            </a:r>
            <a:r>
              <a:rPr lang="zh-CN" altLang="en-US" sz="2000" dirty="0"/>
              <a:t>次，则这三个词的</a:t>
            </a:r>
            <a:r>
              <a:rPr lang="en-US" altLang="zh-CN" sz="2000" dirty="0"/>
              <a:t>“</a:t>
            </a:r>
            <a:r>
              <a:rPr lang="zh-CN" altLang="en-US" sz="2000" dirty="0"/>
              <a:t>词频</a:t>
            </a:r>
            <a:r>
              <a:rPr lang="en-US" altLang="zh-CN" sz="2000" dirty="0"/>
              <a:t>”</a:t>
            </a:r>
            <a:r>
              <a:rPr lang="zh-CN" altLang="en-US" sz="2000" dirty="0"/>
              <a:t>（</a:t>
            </a:r>
            <a:r>
              <a:rPr lang="en-US" altLang="zh-CN" sz="2000" dirty="0"/>
              <a:t>TF</a:t>
            </a:r>
            <a:r>
              <a:rPr lang="zh-CN" altLang="en-US" sz="2000" dirty="0"/>
              <a:t>）都为 </a:t>
            </a:r>
            <a:r>
              <a:rPr lang="en-US" altLang="zh-CN" sz="2000" dirty="0"/>
              <a:t>0.02</a:t>
            </a:r>
            <a:r>
              <a:rPr lang="zh-CN" altLang="en-US" sz="2000" dirty="0"/>
              <a:t>。假设中文网页有 </a:t>
            </a:r>
            <a:r>
              <a:rPr lang="en-US" altLang="zh-CN" sz="2000" dirty="0"/>
              <a:t>250 </a:t>
            </a:r>
            <a:r>
              <a:rPr lang="zh-CN" altLang="en-US" sz="2000" dirty="0"/>
              <a:t>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572434" y="1336772"/>
            <a:ext cx="10989184" cy="1048172"/>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lnSpc>
                <a:spcPct val="150000"/>
              </a:lnSpc>
            </a:pPr>
            <a:r>
              <a:rPr lang="zh-CN" altLang="en-US" sz="2200" dirty="0">
                <a:latin typeface="微软雅黑" panose="020B0503020204020204" pitchFamily="34" charset="-122"/>
                <a:ea typeface="微软雅黑" panose="020B0503020204020204" pitchFamily="34" charset="-122"/>
              </a:rPr>
              <a:t>特征重构以特征项集合为输入，利用对特征项的组合或转换生成新的特征集合作为输出</a:t>
            </a:r>
            <a:endParaRPr lang="en-US" altLang="zh-CN" sz="2200" dirty="0">
              <a:latin typeface="微软雅黑" panose="020B0503020204020204" pitchFamily="34" charset="-122"/>
              <a:ea typeface="微软雅黑" panose="020B0503020204020204" pitchFamily="34" charset="-122"/>
            </a:endParaRPr>
          </a:p>
          <a:p>
            <a:pPr>
              <a:lnSpc>
                <a:spcPct val="150000"/>
              </a:lnSpc>
            </a:pPr>
            <a:r>
              <a:rPr lang="zh-CN" altLang="en-US" sz="2200" dirty="0">
                <a:latin typeface="微软雅黑" panose="020B0503020204020204" pitchFamily="34" charset="-122"/>
                <a:ea typeface="微软雅黑" panose="020B0503020204020204" pitchFamily="34" charset="-122"/>
              </a:rPr>
              <a:t>一般有如下要求：</a:t>
            </a:r>
          </a:p>
        </p:txBody>
      </p:sp>
      <p:cxnSp>
        <p:nvCxnSpPr>
          <p:cNvPr id="74" name="直接连接符 73"/>
          <p:cNvCxnSpPr/>
          <p:nvPr/>
        </p:nvCxnSpPr>
        <p:spPr>
          <a:xfrm>
            <a:off x="701487" y="248423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29793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40101" y="278592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40101" y="348082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38766" y="2504950"/>
            <a:ext cx="3458601"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输出的特征数量要远远少于输入的数量</a:t>
            </a:r>
          </a:p>
        </p:txBody>
      </p:sp>
      <p:sp>
        <p:nvSpPr>
          <p:cNvPr id="83" name="文本框 14"/>
          <p:cNvSpPr txBox="1"/>
          <p:nvPr/>
        </p:nvSpPr>
        <p:spPr>
          <a:xfrm>
            <a:off x="1548374" y="3368048"/>
            <a:ext cx="3458601"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尽可能地保留原有类别区分能力</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203132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特征重构</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53711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40101" y="481477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54985" y="4556172"/>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基于语义的方法，如词干与知识库方法</a:t>
            </a:r>
          </a:p>
        </p:txBody>
      </p:sp>
      <p:cxnSp>
        <p:nvCxnSpPr>
          <p:cNvPr id="166" name="直接连接符 165"/>
          <p:cNvCxnSpPr/>
          <p:nvPr/>
        </p:nvCxnSpPr>
        <p:spPr>
          <a:xfrm>
            <a:off x="691601" y="535806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44899" y="567860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540580" y="5410011"/>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基于统计等数学方法，如潜在语义索引</a:t>
            </a:r>
          </a:p>
        </p:txBody>
      </p:sp>
      <p:cxnSp>
        <p:nvCxnSpPr>
          <p:cNvPr id="170" name="直接连接符 169"/>
          <p:cNvCxnSpPr/>
          <p:nvPr/>
        </p:nvCxnSpPr>
        <p:spPr>
          <a:xfrm>
            <a:off x="648927" y="6221899"/>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5846" name="Picture 6" descr="https://renaissance-era.com/uploads/1/image/public/201611/20161115195206_bohkp9eav8.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49072" y="3101478"/>
            <a:ext cx="6101745" cy="192686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矩形 3"/>
          <p:cNvSpPr/>
          <p:nvPr/>
        </p:nvSpPr>
        <p:spPr>
          <a:xfrm>
            <a:off x="8273656" y="5428825"/>
            <a:ext cx="1210588" cy="400110"/>
          </a:xfrm>
          <a:prstGeom prst="rect">
            <a:avLst/>
          </a:prstGeom>
        </p:spPr>
        <p:txBody>
          <a:bodyPr wrap="none">
            <a:spAutoFit/>
          </a:bodyPr>
          <a:lstStyle/>
          <a:p>
            <a:r>
              <a:rPr lang="zh-CN" altLang="en-US" sz="2000" dirty="0"/>
              <a:t>特征重构</a:t>
            </a:r>
          </a:p>
        </p:txBody>
      </p:sp>
      <p:cxnSp>
        <p:nvCxnSpPr>
          <p:cNvPr id="167" name="直接连接符 166"/>
          <p:cNvCxnSpPr/>
          <p:nvPr/>
        </p:nvCxnSpPr>
        <p:spPr>
          <a:xfrm>
            <a:off x="655310" y="385547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19418" y="4065896"/>
            <a:ext cx="1467068" cy="400110"/>
          </a:xfrm>
          <a:prstGeom prst="rect">
            <a:avLst/>
          </a:prstGeom>
        </p:spPr>
        <p:txBody>
          <a:bodyPr wrap="none">
            <a:spAutoFit/>
          </a:bodyPr>
          <a:lstStyle/>
          <a:p>
            <a:r>
              <a:rPr lang="zh-CN" altLang="en-US" sz="2000" dirty="0">
                <a:solidFill>
                  <a:srgbClr val="F784A5"/>
                </a:solidFill>
                <a:latin typeface="微软雅黑" panose="020B0503020204020204" pitchFamily="34" charset="-122"/>
                <a:ea typeface="微软雅黑" panose="020B0503020204020204" pitchFamily="34" charset="-122"/>
              </a:rPr>
              <a:t>常用方法：</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572433" y="1336772"/>
            <a:ext cx="10698239" cy="1048172"/>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lnSpc>
                <a:spcPct val="150000"/>
              </a:lnSpc>
            </a:pPr>
            <a:r>
              <a:rPr lang="zh-CN" altLang="en-US" sz="2200" dirty="0">
                <a:latin typeface="微软雅黑" panose="020B0503020204020204" pitchFamily="34" charset="-122"/>
                <a:ea typeface="微软雅黑" panose="020B0503020204020204" pitchFamily="34" charset="-122"/>
              </a:rPr>
              <a:t>由于英文存在词形变化情况，词干方法</a:t>
            </a:r>
            <a:r>
              <a:rPr lang="en-US" altLang="zh-CN" sz="2200" dirty="0">
                <a:latin typeface="微软雅黑" panose="020B0503020204020204" pitchFamily="34" charset="-122"/>
                <a:ea typeface="微软雅黑" panose="020B0503020204020204" pitchFamily="34" charset="-122"/>
              </a:rPr>
              <a:t>(stemming)</a:t>
            </a:r>
            <a:r>
              <a:rPr lang="zh-CN" altLang="en-US" sz="2200" dirty="0">
                <a:latin typeface="微软雅黑" panose="020B0503020204020204" pitchFamily="34" charset="-122"/>
                <a:ea typeface="微软雅黑" panose="020B0503020204020204" pitchFamily="34" charset="-122"/>
              </a:rPr>
              <a:t>在英文文本处理中应用较为广泛</a:t>
            </a:r>
            <a:endParaRPr lang="en-US" altLang="zh-CN" sz="2200" dirty="0"/>
          </a:p>
          <a:p>
            <a:pPr>
              <a:lnSpc>
                <a:spcPct val="150000"/>
              </a:lnSpc>
            </a:pPr>
            <a:r>
              <a:rPr lang="zh-CN" altLang="en-US" sz="2200" dirty="0"/>
              <a:t>目的</a:t>
            </a:r>
            <a:r>
              <a:rPr lang="zh-CN" altLang="en-US" sz="2200" dirty="0">
                <a:latin typeface="微软雅黑" panose="020B0503020204020204" pitchFamily="34" charset="-122"/>
                <a:ea typeface="微软雅黑" panose="020B0503020204020204" pitchFamily="34" charset="-122"/>
              </a:rPr>
              <a:t>：</a:t>
            </a:r>
          </a:p>
        </p:txBody>
      </p:sp>
      <p:cxnSp>
        <p:nvCxnSpPr>
          <p:cNvPr id="74" name="直接连接符 73"/>
          <p:cNvCxnSpPr/>
          <p:nvPr/>
        </p:nvCxnSpPr>
        <p:spPr>
          <a:xfrm>
            <a:off x="701487" y="247038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30486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42668" y="275074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44899" y="348092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51223" y="2490915"/>
            <a:ext cx="3337443"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将变化的形式与其原形式合并为单个特征项，</a:t>
            </a:r>
          </a:p>
        </p:txBody>
      </p:sp>
      <p:sp>
        <p:nvSpPr>
          <p:cNvPr id="83" name="文本框 14"/>
          <p:cNvSpPr txBox="1"/>
          <p:nvPr/>
        </p:nvSpPr>
        <p:spPr>
          <a:xfrm>
            <a:off x="1540580" y="3338218"/>
            <a:ext cx="3348086" cy="406971"/>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有效降低特征项维数</a:t>
            </a:r>
          </a:p>
        </p:txBody>
      </p:sp>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203132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特征重构</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683466" y="450247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044899" y="4814661"/>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5" name="文本框 14"/>
          <p:cNvSpPr txBox="1"/>
          <p:nvPr/>
        </p:nvSpPr>
        <p:spPr>
          <a:xfrm>
            <a:off x="1554985" y="4535391"/>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常用的解决方式是采用简保留词前面的主体部分 </a:t>
            </a:r>
            <a:r>
              <a:rPr lang="en-US" altLang="zh-CN" sz="1800" dirty="0"/>
              <a:t>(</a:t>
            </a:r>
            <a:r>
              <a:rPr lang="zh-CN" altLang="en-US" sz="1800" dirty="0"/>
              <a:t>去除后缀</a:t>
            </a:r>
            <a:r>
              <a:rPr lang="en-US" altLang="zh-CN" sz="1800" dirty="0"/>
              <a:t>) </a:t>
            </a:r>
            <a:endParaRPr lang="zh-CN" altLang="en-US" sz="1800" dirty="0"/>
          </a:p>
        </p:txBody>
      </p:sp>
      <p:cxnSp>
        <p:nvCxnSpPr>
          <p:cNvPr id="166" name="直接连接符 165"/>
          <p:cNvCxnSpPr/>
          <p:nvPr/>
        </p:nvCxnSpPr>
        <p:spPr>
          <a:xfrm>
            <a:off x="691601" y="534420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8" name="矩形 167"/>
          <p:cNvSpPr/>
          <p:nvPr/>
        </p:nvSpPr>
        <p:spPr bwMode="auto">
          <a:xfrm>
            <a:off x="1044899" y="563012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9" name="文本框 14"/>
          <p:cNvSpPr txBox="1"/>
          <p:nvPr/>
        </p:nvSpPr>
        <p:spPr>
          <a:xfrm>
            <a:off x="1540580" y="5354598"/>
            <a:ext cx="3348086"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采用 </a:t>
            </a:r>
            <a:r>
              <a:rPr lang="en-US" altLang="zh-CN" sz="1800" dirty="0"/>
              <a:t>n </a:t>
            </a:r>
            <a:r>
              <a:rPr lang="zh-CN" altLang="en-US" sz="1800" dirty="0"/>
              <a:t>元模型作为特征项时，应在构建 </a:t>
            </a:r>
            <a:r>
              <a:rPr lang="en-US" altLang="zh-CN" sz="1800" dirty="0"/>
              <a:t>n </a:t>
            </a:r>
            <a:r>
              <a:rPr lang="zh-CN" altLang="en-US" sz="1800" dirty="0"/>
              <a:t>元模型前进行处理</a:t>
            </a:r>
          </a:p>
        </p:txBody>
      </p:sp>
      <p:cxnSp>
        <p:nvCxnSpPr>
          <p:cNvPr id="170" name="直接连接符 169"/>
          <p:cNvCxnSpPr/>
          <p:nvPr/>
        </p:nvCxnSpPr>
        <p:spPr>
          <a:xfrm>
            <a:off x="648927" y="6187274"/>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655310" y="382084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19418" y="3989699"/>
            <a:ext cx="1467068" cy="400110"/>
          </a:xfrm>
          <a:prstGeom prst="rect">
            <a:avLst/>
          </a:prstGeom>
        </p:spPr>
        <p:txBody>
          <a:bodyPr wrap="none">
            <a:spAutoFit/>
          </a:bodyPr>
          <a:lstStyle/>
          <a:p>
            <a:r>
              <a:rPr lang="zh-CN" altLang="en-US" sz="2000" dirty="0">
                <a:solidFill>
                  <a:srgbClr val="F784A5"/>
                </a:solidFill>
                <a:latin typeface="微软雅黑" panose="020B0503020204020204" pitchFamily="34" charset="-122"/>
                <a:ea typeface="微软雅黑" panose="020B0503020204020204" pitchFamily="34" charset="-122"/>
              </a:rPr>
              <a:t>常用方法：</a:t>
            </a:r>
          </a:p>
        </p:txBody>
      </p:sp>
      <p:sp>
        <p:nvSpPr>
          <p:cNvPr id="3" name="文本框 2">
            <a:extLst>
              <a:ext uri="{FF2B5EF4-FFF2-40B4-BE49-F238E27FC236}">
                <a16:creationId xmlns:a16="http://schemas.microsoft.com/office/drawing/2014/main" id="{235C6F86-FC4D-4DD2-891B-39619D4C29CF}"/>
              </a:ext>
            </a:extLst>
          </p:cNvPr>
          <p:cNvSpPr txBox="1"/>
          <p:nvPr/>
        </p:nvSpPr>
        <p:spPr>
          <a:xfrm>
            <a:off x="5673436" y="2198991"/>
            <a:ext cx="6019800" cy="419570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词干提取</a:t>
            </a:r>
            <a:endParaRPr lang="en-US" altLang="zh-CN" sz="2800" b="1" dirty="0">
              <a:latin typeface="微软雅黑" panose="020B0503020204020204" pitchFamily="34" charset="-122"/>
              <a:ea typeface="微软雅黑" panose="020B0503020204020204" pitchFamily="34" charset="-122"/>
            </a:endParaRPr>
          </a:p>
          <a:p>
            <a:pPr indent="504000">
              <a:lnSpc>
                <a:spcPct val="150000"/>
              </a:lnSpc>
            </a:pPr>
            <a:r>
              <a:rPr lang="zh-CN" altLang="en-US" sz="1900" dirty="0">
                <a:latin typeface="微软雅黑" panose="020B0503020204020204" pitchFamily="34" charset="-122"/>
                <a:ea typeface="微软雅黑" panose="020B0503020204020204" pitchFamily="34" charset="-122"/>
              </a:rPr>
              <a:t>在词法学和信息检索里，词干提取是去除词缀得到词根的过程（得到单词最一般的写法）。对于一个词的形态词根，词干并不需要完全相同；相关的词映射到同一个词干一般能得到满意的结果，即使该词干不是词的有效根。从 </a:t>
            </a:r>
            <a:r>
              <a:rPr lang="en-US" altLang="zh-CN" sz="1900" dirty="0">
                <a:latin typeface="微软雅黑" panose="020B0503020204020204" pitchFamily="34" charset="-122"/>
                <a:ea typeface="微软雅黑" panose="020B0503020204020204" pitchFamily="34" charset="-122"/>
              </a:rPr>
              <a:t>1968 </a:t>
            </a:r>
            <a:r>
              <a:rPr lang="zh-CN" altLang="en-US" sz="1900" dirty="0">
                <a:latin typeface="微软雅黑" panose="020B0503020204020204" pitchFamily="34" charset="-122"/>
                <a:ea typeface="微软雅黑" panose="020B0503020204020204" pitchFamily="34" charset="-122"/>
              </a:rPr>
              <a:t>年开始在计算机科学领域出现了词干提取的相应算法。很多搜索引擎在处理词汇时，对同义词采用相同的词干作为查询拓展，该过程叫做归并。词干提取项目一般涉及到词干提取算法或词干提取器。</a:t>
            </a:r>
          </a:p>
        </p:txBody>
      </p:sp>
      <p:pic>
        <p:nvPicPr>
          <p:cNvPr id="5" name="图片 4">
            <a:extLst>
              <a:ext uri="{FF2B5EF4-FFF2-40B4-BE49-F238E27FC236}">
                <a16:creationId xmlns:a16="http://schemas.microsoft.com/office/drawing/2014/main" id="{852E9318-7442-4B32-9E98-C367016DC6E4}"/>
              </a:ext>
            </a:extLst>
          </p:cNvPr>
          <p:cNvPicPr>
            <a:picLocks noChangeAspect="1"/>
          </p:cNvPicPr>
          <p:nvPr/>
        </p:nvPicPr>
        <p:blipFill rotWithShape="1">
          <a:blip r:embed="rId18"/>
          <a:srcRect l="5821" t="18409" r="33704" b="32065"/>
          <a:stretch/>
        </p:blipFill>
        <p:spPr>
          <a:xfrm>
            <a:off x="4903071" y="2717071"/>
            <a:ext cx="6221178" cy="33965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295465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潜在语义索引</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1107251" y="3123294"/>
            <a:ext cx="10446326" cy="1631216"/>
          </a:xfrm>
          <a:prstGeom prst="rect">
            <a:avLst/>
          </a:prstGeom>
        </p:spPr>
        <p:txBody>
          <a:bodyPr wrap="square">
            <a:spAutoFit/>
          </a:bodyPr>
          <a:lstStyle/>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LSI </a:t>
            </a:r>
            <a:r>
              <a:rPr lang="zh-CN" altLang="en-US" sz="2000" dirty="0">
                <a:latin typeface="微软雅黑" panose="020B0503020204020204" pitchFamily="34" charset="-122"/>
                <a:ea typeface="微软雅黑" panose="020B0503020204020204" pitchFamily="34" charset="-122"/>
              </a:rPr>
              <a:t>模型有着良好的降维性能，对特征项之间的潜在关系有着优秀的表达能力。</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转换结果不直观、矩阵分解运算量大、动态更新需重新运算。</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奇异值分解的并行算法有助于实现更大规模的矩阵奇异值分解。</a:t>
            </a:r>
            <a:endParaRPr lang="zh-CN" altLang="zh-CN" sz="2000" dirty="0">
              <a:latin typeface="微软雅黑" panose="020B0503020204020204" pitchFamily="34" charset="-122"/>
              <a:ea typeface="微软雅黑" panose="020B0503020204020204" pitchFamily="34" charset="-122"/>
            </a:endParaRPr>
          </a:p>
        </p:txBody>
      </p:sp>
      <p:sp>
        <p:nvSpPr>
          <p:cNvPr id="163" name="文本框 70"/>
          <p:cNvSpPr txBox="1"/>
          <p:nvPr/>
        </p:nvSpPr>
        <p:spPr>
          <a:xfrm>
            <a:off x="921600" y="1336772"/>
            <a:ext cx="9552436" cy="1048172"/>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indent="558000">
              <a:lnSpc>
                <a:spcPct val="150000"/>
              </a:lnSpc>
            </a:pPr>
            <a:r>
              <a:rPr lang="en-US" altLang="zh-CN" sz="2200" dirty="0">
                <a:latin typeface="微软雅黑" panose="020B0503020204020204" pitchFamily="34" charset="-122"/>
                <a:ea typeface="微软雅黑" panose="020B0503020204020204" pitchFamily="34" charset="-122"/>
              </a:rPr>
              <a:t>LSI </a:t>
            </a:r>
            <a:r>
              <a:rPr lang="zh-CN" altLang="en-US" sz="2200" dirty="0">
                <a:latin typeface="微软雅黑" panose="020B0503020204020204" pitchFamily="34" charset="-122"/>
                <a:ea typeface="微软雅黑" panose="020B0503020204020204" pitchFamily="34" charset="-122"/>
              </a:rPr>
              <a:t>模型则以大规模的语料为基础，通过使用线性代数中对矩阵进行奇异值分解的方法，实现了一种词与词之间潜在语义的表示方式</a:t>
            </a:r>
            <a:endParaRPr lang="en-US" altLang="zh-CN"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58314"/>
            <a:ext cx="203132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向量生成</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646889" y="2421339"/>
            <a:ext cx="10446326" cy="3563668"/>
          </a:xfrm>
          <a:prstGeom prst="rect">
            <a:avLst/>
          </a:prstGeom>
        </p:spPr>
        <p:txBody>
          <a:bodyPr wrap="square">
            <a:spAutoFit/>
          </a:bodyPr>
          <a:lstStyle/>
          <a:p>
            <a:pPr marL="342900" indent="-342900">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r>
              <a:rPr lang="zh-CN" altLang="zh-CN" sz="2000" dirty="0"/>
              <a:t>局部系数</a:t>
            </a:r>
            <a:r>
              <a:rPr lang="en-US" altLang="zh-CN" sz="2000" dirty="0"/>
              <a:t> (Local Component) </a:t>
            </a:r>
            <a:r>
              <a:rPr lang="zh-CN" altLang="zh-CN" sz="2000" dirty="0"/>
              <a:t>，表示特征</a:t>
            </a:r>
            <a:r>
              <a:rPr lang="en-US" altLang="zh-CN" sz="2000" dirty="0"/>
              <a:t> t </a:t>
            </a:r>
            <a:r>
              <a:rPr lang="zh-CN" altLang="zh-CN" sz="2000" dirty="0"/>
              <a:t>对当前样本</a:t>
            </a:r>
            <a:r>
              <a:rPr lang="en-US" altLang="zh-CN" sz="2000" dirty="0"/>
              <a:t> d </a:t>
            </a:r>
            <a:r>
              <a:rPr lang="zh-CN" altLang="zh-CN" sz="2000" dirty="0"/>
              <a:t>的直接影响</a:t>
            </a:r>
            <a:r>
              <a:rPr lang="zh-CN" altLang="en-US" sz="2000" dirty="0"/>
              <a:t>，</a:t>
            </a:r>
            <a:r>
              <a:rPr lang="zh-CN" altLang="zh-CN" sz="2000" dirty="0"/>
              <a:t>一般认为在样本</a:t>
            </a:r>
            <a:r>
              <a:rPr lang="en-US" altLang="zh-CN" sz="2000" dirty="0"/>
              <a:t> d </a:t>
            </a:r>
            <a:r>
              <a:rPr lang="zh-CN" altLang="zh-CN" sz="2000" dirty="0"/>
              <a:t>中一个特征</a:t>
            </a:r>
            <a:r>
              <a:rPr lang="en-US" altLang="zh-CN" sz="2000" dirty="0"/>
              <a:t> t </a:t>
            </a:r>
            <a:r>
              <a:rPr lang="zh-CN" altLang="zh-CN" sz="2000" dirty="0"/>
              <a:t>出现的次数越多，则</a:t>
            </a:r>
            <a:r>
              <a:rPr lang="en-US" altLang="zh-CN" sz="2000" dirty="0"/>
              <a:t> t </a:t>
            </a:r>
            <a:r>
              <a:rPr lang="zh-CN" altLang="zh-CN" sz="2000" dirty="0"/>
              <a:t>对</a:t>
            </a:r>
            <a:r>
              <a:rPr lang="en-US" altLang="zh-CN" sz="2000" dirty="0"/>
              <a:t> d </a:t>
            </a:r>
            <a:r>
              <a:rPr lang="zh-CN" altLang="zh-CN" sz="2000" dirty="0"/>
              <a:t>的影响越大</a:t>
            </a:r>
            <a:endParaRPr lang="en-US" altLang="zh-CN" sz="2000" dirty="0"/>
          </a:p>
          <a:p>
            <a:pPr marL="342900" indent="-342900">
              <a:lnSpc>
                <a:spcPct val="130000"/>
              </a:lnSpc>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r>
              <a:rPr lang="zh-CN" altLang="zh-CN" sz="2000" dirty="0"/>
              <a:t>全局系数</a:t>
            </a:r>
            <a:r>
              <a:rPr lang="en-US" altLang="zh-CN" sz="2000" dirty="0"/>
              <a:t> (Global Component) </a:t>
            </a:r>
            <a:r>
              <a:rPr lang="zh-CN" altLang="zh-CN" sz="2000" dirty="0"/>
              <a:t>考虑特征</a:t>
            </a:r>
            <a:r>
              <a:rPr lang="en-US" altLang="zh-CN" sz="2000" dirty="0"/>
              <a:t> t </a:t>
            </a:r>
            <a:r>
              <a:rPr lang="zh-CN" altLang="zh-CN" sz="2000" dirty="0"/>
              <a:t>在整个训练样本中的重要性，包含特征</a:t>
            </a:r>
            <a:r>
              <a:rPr lang="en-US" altLang="zh-CN" sz="2000" dirty="0"/>
              <a:t>t</a:t>
            </a:r>
            <a:r>
              <a:rPr lang="zh-CN" altLang="zh-CN" sz="2000" dirty="0"/>
              <a:t>的文档数较少时，特征</a:t>
            </a:r>
            <a:r>
              <a:rPr lang="en-US" altLang="zh-CN" sz="2000" dirty="0"/>
              <a:t> t </a:t>
            </a:r>
            <a:r>
              <a:rPr lang="zh-CN" altLang="zh-CN" sz="2000" dirty="0"/>
              <a:t>比较有分类区分能力，应给予较大权重。</a:t>
            </a:r>
            <a:endParaRPr lang="en-US" altLang="zh-CN" sz="2000" dirty="0"/>
          </a:p>
          <a:p>
            <a:pPr marL="342900" indent="-342900">
              <a:lnSpc>
                <a:spcPct val="130000"/>
              </a:lnSpc>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pPr>
            <a:r>
              <a:rPr lang="zh-CN" altLang="zh-CN" sz="2000" dirty="0"/>
              <a:t>规范化系数</a:t>
            </a:r>
            <a:r>
              <a:rPr lang="en-US" altLang="zh-CN" sz="2000" dirty="0"/>
              <a:t> (</a:t>
            </a:r>
            <a:r>
              <a:rPr lang="en-US" altLang="zh-CN" sz="2000" dirty="0" err="1"/>
              <a:t>NormalizationComponent</a:t>
            </a:r>
            <a:r>
              <a:rPr lang="en-US" altLang="zh-CN" sz="2000" dirty="0"/>
              <a:t>) </a:t>
            </a:r>
            <a:r>
              <a:rPr lang="zh-CN" altLang="zh-CN" sz="2000" dirty="0"/>
              <a:t>用于调节权重的取值范围，一种常见的方式是将所有的权重向量的取值范围映射到</a:t>
            </a:r>
            <a:r>
              <a:rPr lang="en-US" altLang="zh-CN" sz="2000" dirty="0"/>
              <a:t> [0,1] </a:t>
            </a:r>
            <a:r>
              <a:rPr lang="zh-CN" altLang="zh-CN" sz="2000" dirty="0"/>
              <a:t>区间。</a:t>
            </a:r>
            <a:endParaRPr lang="zh-CN" altLang="zh-CN" sz="2000" dirty="0">
              <a:latin typeface="微软雅黑" panose="020B0503020204020204" pitchFamily="34" charset="-122"/>
              <a:ea typeface="微软雅黑" panose="020B0503020204020204" pitchFamily="34" charset="-122"/>
            </a:endParaRPr>
          </a:p>
        </p:txBody>
      </p:sp>
      <p:sp>
        <p:nvSpPr>
          <p:cNvPr id="163" name="文本框 70"/>
          <p:cNvSpPr txBox="1"/>
          <p:nvPr/>
        </p:nvSpPr>
        <p:spPr>
          <a:xfrm>
            <a:off x="930227" y="1339524"/>
            <a:ext cx="9543807" cy="1048172"/>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lnSpc>
                <a:spcPct val="150000"/>
              </a:lnSpc>
            </a:pPr>
            <a:r>
              <a:rPr lang="zh-CN" altLang="en-US" sz="2200" dirty="0">
                <a:latin typeface="微软雅黑" panose="020B0503020204020204" pitchFamily="34" charset="-122"/>
                <a:ea typeface="微软雅黑" panose="020B0503020204020204" pitchFamily="34" charset="-122"/>
              </a:rPr>
              <a:t>向量生成主要解决如何对表示文本的特征项集合赋予合适的权重。</a:t>
            </a:r>
            <a:endParaRPr lang="en-US" altLang="zh-CN" sz="2200" dirty="0">
              <a:latin typeface="微软雅黑" panose="020B0503020204020204" pitchFamily="34" charset="-122"/>
              <a:ea typeface="微软雅黑" panose="020B0503020204020204" pitchFamily="34" charset="-122"/>
            </a:endParaRPr>
          </a:p>
          <a:p>
            <a:pPr>
              <a:lnSpc>
                <a:spcPct val="150000"/>
              </a:lnSpc>
            </a:pPr>
            <a:r>
              <a:rPr lang="zh-CN" altLang="en-US" sz="2200" dirty="0">
                <a:latin typeface="微软雅黑" panose="020B0503020204020204" pitchFamily="34" charset="-122"/>
                <a:ea typeface="微软雅黑" panose="020B0503020204020204" pitchFamily="34" charset="-122"/>
              </a:rPr>
              <a:t>一个样本中某特征项的权重由局部系数、全局系数和正规化系数 </a:t>
            </a:r>
            <a:r>
              <a:rPr lang="en-US" altLang="zh-CN" sz="2200" dirty="0">
                <a:latin typeface="微软雅黑" panose="020B0503020204020204" pitchFamily="34" charset="-122"/>
                <a:ea typeface="微软雅黑" panose="020B0503020204020204" pitchFamily="34" charset="-122"/>
              </a:rPr>
              <a:t>3 </a:t>
            </a:r>
            <a:r>
              <a:rPr lang="zh-CN" altLang="en-US" sz="2200" dirty="0">
                <a:latin typeface="微软雅黑" panose="020B0503020204020204" pitchFamily="34" charset="-122"/>
                <a:ea typeface="微软雅黑" panose="020B0503020204020204" pitchFamily="34" charset="-122"/>
              </a:rPr>
              <a:t>部分组成</a:t>
            </a:r>
          </a:p>
        </p:txBody>
      </p:sp>
      <p:pic>
        <p:nvPicPr>
          <p:cNvPr id="36866"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46274" y="5682708"/>
            <a:ext cx="2549236" cy="818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295465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文本语法分析</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525374" y="1314119"/>
            <a:ext cx="10607082" cy="430887"/>
          </a:xfrm>
          <a:prstGeom prst="rect">
            <a:avLst/>
          </a:prstGeom>
        </p:spPr>
        <p:txBody>
          <a:bodyPr wrap="square">
            <a:spAutoFit/>
          </a:bodyPr>
          <a:lstStyle/>
          <a:p>
            <a:r>
              <a:rPr lang="zh-CN" altLang="en-US" sz="2200" dirty="0">
                <a:solidFill>
                  <a:srgbClr val="F784A5"/>
                </a:solidFill>
                <a:latin typeface="微软雅黑" panose="020B0503020204020204" pitchFamily="34" charset="-122"/>
                <a:ea typeface="微软雅黑" panose="020B0503020204020204" pitchFamily="34" charset="-122"/>
                <a:cs typeface="华康俪金黑W8(P)"/>
              </a:rPr>
              <a:t>如何减少文本特征的维数，避免维度诅咒是一个至关重要问题，主要包含三个方面</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a:cxnSpLocks/>
          </p:cNvCxnSpPr>
          <p:nvPr/>
        </p:nvCxnSpPr>
        <p:spPr>
          <a:xfrm>
            <a:off x="971550" y="3205877"/>
            <a:ext cx="9793432"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cxnSpLocks/>
          </p:cNvCxnSpPr>
          <p:nvPr/>
        </p:nvCxnSpPr>
        <p:spPr>
          <a:xfrm>
            <a:off x="911225" y="4700731"/>
            <a:ext cx="9853757" cy="197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106130" y="3948710"/>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6" name="文本框 14"/>
          <p:cNvSpPr txBox="1">
            <a:spLocks noChangeArrowheads="1"/>
          </p:cNvSpPr>
          <p:nvPr/>
        </p:nvSpPr>
        <p:spPr bwMode="auto">
          <a:xfrm>
            <a:off x="1577975" y="3390033"/>
            <a:ext cx="8951480" cy="1261499"/>
          </a:xfrm>
          <a:prstGeom prst="rect">
            <a:avLst/>
          </a:prstGeom>
          <a:noFill/>
          <a:ln w="9525">
            <a:noFill/>
            <a:miter lim="800000"/>
          </a:ln>
        </p:spPr>
        <p:txBody>
          <a:bodyPr wrap="square">
            <a:spAutoFit/>
          </a:bodyPr>
          <a:lstStyle/>
          <a:p>
            <a:pPr>
              <a:lnSpc>
                <a:spcPct val="140000"/>
              </a:lnSpc>
              <a:defRPr/>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文本语义分析</a:t>
            </a:r>
            <a:endParaRPr lang="en-US" altLang="zh-CN" sz="2000" dirty="0">
              <a:latin typeface="微软雅黑" panose="020B0503020204020204" pitchFamily="34" charset="-122"/>
              <a:ea typeface="微软雅黑" panose="020B0503020204020204" pitchFamily="34" charset="-122"/>
            </a:endParaRPr>
          </a:p>
          <a:p>
            <a:pPr indent="457200">
              <a:lnSpc>
                <a:spcPct val="140000"/>
              </a:lnSpc>
              <a:defRPr/>
            </a:pPr>
            <a:r>
              <a:rPr lang="zh-CN" altLang="en-US" dirty="0">
                <a:latin typeface="微软雅黑" panose="020B0503020204020204" pitchFamily="34" charset="-122"/>
                <a:ea typeface="微软雅黑" panose="020B0503020204020204" pitchFamily="34" charset="-122"/>
              </a:rPr>
              <a:t>将句子转化为某种可以表达句子意义的形式化表示，即将人类能够理解的自然语言转化为计算机能够理解的形式语言，做到人与机器相互沟通。</a:t>
            </a:r>
            <a:endParaRPr lang="zh-CN" altLang="en-US" dirty="0"/>
          </a:p>
        </p:txBody>
      </p:sp>
      <p:sp>
        <p:nvSpPr>
          <p:cNvPr id="167" name="矩形 166"/>
          <p:cNvSpPr/>
          <p:nvPr/>
        </p:nvSpPr>
        <p:spPr bwMode="auto">
          <a:xfrm>
            <a:off x="1106130" y="2503644"/>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8" name="文本框 12"/>
          <p:cNvSpPr txBox="1">
            <a:spLocks noChangeArrowheads="1"/>
          </p:cNvSpPr>
          <p:nvPr/>
        </p:nvSpPr>
        <p:spPr bwMode="auto">
          <a:xfrm>
            <a:off x="1582738" y="1923623"/>
            <a:ext cx="9182244" cy="1256819"/>
          </a:xfrm>
          <a:prstGeom prst="rect">
            <a:avLst/>
          </a:prstGeom>
          <a:noFill/>
          <a:ln w="9525">
            <a:noFill/>
            <a:miter lim="800000"/>
          </a:ln>
        </p:spPr>
        <p:txBody>
          <a:bodyPr wrap="square">
            <a:spAutoFit/>
          </a:bodyPr>
          <a:lstStyle/>
          <a:p>
            <a:pPr>
              <a:lnSpc>
                <a:spcPct val="140000"/>
              </a:lnSpc>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词义</a:t>
            </a:r>
            <a:endParaRPr lang="en-US" altLang="zh-CN" sz="2000" dirty="0">
              <a:latin typeface="微软雅黑" panose="020B0503020204020204" pitchFamily="34" charset="-122"/>
              <a:ea typeface="微软雅黑" panose="020B0503020204020204" pitchFamily="34" charset="-122"/>
            </a:endParaRPr>
          </a:p>
          <a:p>
            <a:pPr indent="457200">
              <a:lnSpc>
                <a:spcPct val="140000"/>
              </a:lnSpc>
            </a:pPr>
            <a:r>
              <a:rPr lang="zh-CN" altLang="en-US" dirty="0">
                <a:latin typeface="微软雅黑" panose="020B0503020204020204" pitchFamily="34" charset="-122"/>
                <a:ea typeface="微软雅黑" panose="020B0503020204020204" pitchFamily="34" charset="-122"/>
              </a:rPr>
              <a:t>指通过语言模型或语法模型来处理文本的过程，包括隐马尔科夫（</a:t>
            </a:r>
            <a:r>
              <a:rPr lang="en-US" altLang="zh-CN" dirty="0">
                <a:latin typeface="微软雅黑" panose="020B0503020204020204" pitchFamily="34" charset="-122"/>
                <a:ea typeface="微软雅黑" panose="020B0503020204020204" pitchFamily="34" charset="-122"/>
              </a:rPr>
              <a:t>Hidden Markov Model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HMM</a:t>
            </a:r>
            <a:r>
              <a:rPr lang="zh-CN" altLang="en-US" dirty="0">
                <a:latin typeface="微软雅黑" panose="020B0503020204020204" pitchFamily="34" charset="-122"/>
                <a:ea typeface="微软雅黑" panose="020B0503020204020204" pitchFamily="34" charset="-122"/>
              </a:rPr>
              <a:t>）词性标注、最大熵（</a:t>
            </a:r>
            <a:r>
              <a:rPr lang="en-US" altLang="zh-CN" dirty="0">
                <a:latin typeface="微软雅黑" panose="020B0503020204020204" pitchFamily="34" charset="-122"/>
                <a:ea typeface="微软雅黑" panose="020B0503020204020204" pitchFamily="34" charset="-122"/>
              </a:rPr>
              <a:t>Maximum Entropy</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ME</a:t>
            </a:r>
            <a:r>
              <a:rPr lang="zh-CN" altLang="en-US" dirty="0">
                <a:latin typeface="微软雅黑" panose="020B0503020204020204" pitchFamily="34" charset="-122"/>
                <a:ea typeface="微软雅黑" panose="020B0503020204020204" pitchFamily="34" charset="-122"/>
              </a:rPr>
              <a:t>）等</a:t>
            </a:r>
          </a:p>
        </p:txBody>
      </p:sp>
      <p:sp>
        <p:nvSpPr>
          <p:cNvPr id="169" name="矩形 189"/>
          <p:cNvSpPr/>
          <p:nvPr/>
        </p:nvSpPr>
        <p:spPr bwMode="auto">
          <a:xfrm>
            <a:off x="1106130" y="5367518"/>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70" name="文本框 14"/>
          <p:cNvSpPr txBox="1">
            <a:spLocks noChangeArrowheads="1"/>
          </p:cNvSpPr>
          <p:nvPr/>
        </p:nvSpPr>
        <p:spPr bwMode="auto">
          <a:xfrm>
            <a:off x="1576387" y="4836389"/>
            <a:ext cx="8890722" cy="1256819"/>
          </a:xfrm>
          <a:prstGeom prst="rect">
            <a:avLst/>
          </a:prstGeom>
          <a:noFill/>
          <a:ln w="9525">
            <a:noFill/>
            <a:miter lim="800000"/>
          </a:ln>
        </p:spPr>
        <p:txBody>
          <a:bodyPr wrap="square">
            <a:spAutoFit/>
          </a:bodyPr>
          <a:lstStyle/>
          <a:p>
            <a:pPr>
              <a:lnSpc>
                <a:spcPct val="140000"/>
              </a:lnSpc>
              <a:defRPr/>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文本语用分析</a:t>
            </a:r>
            <a:endParaRPr lang="en-US" altLang="zh-CN" sz="2000" dirty="0">
              <a:latin typeface="微软雅黑" panose="020B0503020204020204" pitchFamily="34" charset="-122"/>
              <a:ea typeface="微软雅黑" panose="020B0503020204020204" pitchFamily="34" charset="-122"/>
            </a:endParaRPr>
          </a:p>
          <a:p>
            <a:pPr indent="457200">
              <a:lnSpc>
                <a:spcPct val="140000"/>
              </a:lnSpc>
              <a:defRPr/>
            </a:pPr>
            <a:r>
              <a:rPr lang="zh-CN" altLang="en-US" dirty="0">
                <a:latin typeface="微软雅黑" panose="020B0503020204020204" pitchFamily="34" charset="-122"/>
                <a:ea typeface="微软雅黑" panose="020B0503020204020204" pitchFamily="34" charset="-122"/>
              </a:rPr>
              <a:t>利用语用学进行文本分析，针对句子群（又称话题，</a:t>
            </a:r>
            <a:r>
              <a:rPr lang="en-US" altLang="zh-CN" dirty="0">
                <a:latin typeface="微软雅黑" panose="020B0503020204020204" pitchFamily="34" charset="-122"/>
                <a:ea typeface="微软雅黑" panose="020B0503020204020204" pitchFamily="34" charset="-122"/>
              </a:rPr>
              <a:t>Topic</a:t>
            </a:r>
            <a:r>
              <a:rPr lang="zh-CN" altLang="en-US" dirty="0">
                <a:latin typeface="微软雅黑" panose="020B0503020204020204" pitchFamily="34" charset="-122"/>
                <a:ea typeface="微软雅黑" panose="020B0503020204020204" pitchFamily="34" charset="-122"/>
              </a:rPr>
              <a:t>）开展高端分析，获取对文本内涵的掌握。</a:t>
            </a:r>
          </a:p>
        </p:txBody>
      </p:sp>
      <p:cxnSp>
        <p:nvCxnSpPr>
          <p:cNvPr id="171" name="直接连接符 186"/>
          <p:cNvCxnSpPr>
            <a:cxnSpLocks/>
          </p:cNvCxnSpPr>
          <p:nvPr/>
        </p:nvCxnSpPr>
        <p:spPr>
          <a:xfrm>
            <a:off x="822325" y="6121400"/>
            <a:ext cx="9853757" cy="197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295465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文本语法分析</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810755" y="1335147"/>
            <a:ext cx="9903001" cy="430887"/>
          </a:xfrm>
          <a:prstGeom prst="rect">
            <a:avLst/>
          </a:prstGeom>
        </p:spPr>
        <p:txBody>
          <a:bodyPr wrap="square">
            <a:spAutoFit/>
          </a:bodyPr>
          <a:lstStyle/>
          <a:p>
            <a:r>
              <a:rPr lang="zh-CN" altLang="en-US" sz="2200" dirty="0">
                <a:solidFill>
                  <a:srgbClr val="F784A5"/>
                </a:solidFill>
                <a:latin typeface="微软雅黑" panose="020B0503020204020204" pitchFamily="34" charset="-122"/>
                <a:ea typeface="微软雅黑" panose="020B0503020204020204" pitchFamily="34" charset="-122"/>
                <a:cs typeface="华康俪金黑W8(P)"/>
              </a:rPr>
              <a:t>语义分析方法包括词义消歧、信息抽取和感情倾向性分析内容</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a:cxnSpLocks/>
          </p:cNvCxnSpPr>
          <p:nvPr/>
        </p:nvCxnSpPr>
        <p:spPr>
          <a:xfrm>
            <a:off x="881499" y="3344426"/>
            <a:ext cx="977264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cxnSpLocks/>
          </p:cNvCxnSpPr>
          <p:nvPr/>
        </p:nvCxnSpPr>
        <p:spPr>
          <a:xfrm>
            <a:off x="841955" y="4825421"/>
            <a:ext cx="9871801" cy="1982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117295" y="4054568"/>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6" name="文本框 14"/>
          <p:cNvSpPr txBox="1">
            <a:spLocks noChangeArrowheads="1"/>
          </p:cNvSpPr>
          <p:nvPr/>
        </p:nvSpPr>
        <p:spPr bwMode="auto">
          <a:xfrm>
            <a:off x="1577975" y="3528579"/>
            <a:ext cx="8625898" cy="1256819"/>
          </a:xfrm>
          <a:prstGeom prst="rect">
            <a:avLst/>
          </a:prstGeom>
          <a:noFill/>
          <a:ln w="9525">
            <a:noFill/>
            <a:miter lim="800000"/>
          </a:ln>
        </p:spPr>
        <p:txBody>
          <a:bodyPr wrap="square">
            <a:spAutoFit/>
          </a:bodyPr>
          <a:lstStyle>
            <a:defPPr>
              <a:defRPr lang="zh-CN"/>
            </a:defPPr>
            <a:lvl1pPr>
              <a:lnSpc>
                <a:spcPct val="140000"/>
              </a:lnSpc>
              <a:defRPr sz="2000">
                <a:latin typeface="微软雅黑" panose="020B0503020204020204" pitchFamily="34" charset="-122"/>
                <a:ea typeface="微软雅黑" panose="020B0503020204020204" pitchFamily="34" charset="-122"/>
              </a:defRPr>
            </a:lvl1pPr>
          </a:lstStyle>
          <a:p>
            <a:r>
              <a:rPr lang="en-US" altLang="zh-CN" dirty="0"/>
              <a:t>2.</a:t>
            </a:r>
            <a:r>
              <a:rPr lang="zh-CN" altLang="en-US" dirty="0"/>
              <a:t> 信息抽取</a:t>
            </a:r>
            <a:endParaRPr lang="en-US" altLang="zh-CN" dirty="0"/>
          </a:p>
          <a:p>
            <a:pPr indent="457200"/>
            <a:r>
              <a:rPr lang="zh-CN" altLang="en-US" sz="1800" dirty="0"/>
              <a:t>其研究内容包括实体识别、术语自动识别和关系抽取。命名实体识别包括中国姓名、中国地名、组织机构、英译名的自动辨识。</a:t>
            </a:r>
          </a:p>
        </p:txBody>
      </p:sp>
      <p:sp>
        <p:nvSpPr>
          <p:cNvPr id="167" name="矩形 166"/>
          <p:cNvSpPr/>
          <p:nvPr/>
        </p:nvSpPr>
        <p:spPr bwMode="auto">
          <a:xfrm>
            <a:off x="1108577" y="2612253"/>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8" name="文本框 12"/>
          <p:cNvSpPr txBox="1">
            <a:spLocks noChangeArrowheads="1"/>
          </p:cNvSpPr>
          <p:nvPr/>
        </p:nvSpPr>
        <p:spPr bwMode="auto">
          <a:xfrm>
            <a:off x="1582737" y="2062163"/>
            <a:ext cx="8691561" cy="1256819"/>
          </a:xfrm>
          <a:prstGeom prst="rect">
            <a:avLst/>
          </a:prstGeom>
          <a:noFill/>
          <a:ln w="9525">
            <a:noFill/>
            <a:miter lim="800000"/>
          </a:ln>
        </p:spPr>
        <p:txBody>
          <a:bodyPr wrap="square">
            <a:spAutoFit/>
          </a:bodyPr>
          <a:lstStyle>
            <a:defPPr>
              <a:defRPr lang="zh-CN"/>
            </a:defPPr>
            <a:lvl1pPr>
              <a:lnSpc>
                <a:spcPct val="140000"/>
              </a:lnSpc>
              <a:defRPr sz="2000">
                <a:latin typeface="微软雅黑" panose="020B0503020204020204" pitchFamily="34" charset="-122"/>
                <a:ea typeface="微软雅黑" panose="020B0503020204020204" pitchFamily="34" charset="-122"/>
              </a:defRPr>
            </a:lvl1pPr>
          </a:lstStyle>
          <a:p>
            <a:r>
              <a:rPr lang="en-US" altLang="zh-CN" dirty="0"/>
              <a:t>1.</a:t>
            </a:r>
            <a:r>
              <a:rPr lang="zh-CN" altLang="en-US" dirty="0"/>
              <a:t>词义消歧</a:t>
            </a:r>
            <a:endParaRPr lang="en-US" altLang="zh-CN" dirty="0"/>
          </a:p>
          <a:p>
            <a:pPr indent="457200"/>
            <a:r>
              <a:rPr lang="zh-CN" altLang="en-US" sz="1800" dirty="0"/>
              <a:t>对多义词根据上下文给出它所对应的语义编码，该编码可以是词典释义文本中该词所对应的某个义项号，也可以是义类词典中相应的义类编码</a:t>
            </a:r>
          </a:p>
        </p:txBody>
      </p:sp>
      <p:sp>
        <p:nvSpPr>
          <p:cNvPr id="169" name="矩形 189"/>
          <p:cNvSpPr/>
          <p:nvPr/>
        </p:nvSpPr>
        <p:spPr bwMode="auto">
          <a:xfrm>
            <a:off x="1112138" y="5603759"/>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70" name="文本框 14"/>
          <p:cNvSpPr txBox="1">
            <a:spLocks noChangeArrowheads="1"/>
          </p:cNvSpPr>
          <p:nvPr/>
        </p:nvSpPr>
        <p:spPr bwMode="auto">
          <a:xfrm>
            <a:off x="1577974" y="5027686"/>
            <a:ext cx="8696325" cy="1256819"/>
          </a:xfrm>
          <a:prstGeom prst="rect">
            <a:avLst/>
          </a:prstGeom>
          <a:noFill/>
          <a:ln w="9525">
            <a:noFill/>
            <a:miter lim="800000"/>
          </a:ln>
        </p:spPr>
        <p:txBody>
          <a:bodyPr wrap="square">
            <a:spAutoFit/>
          </a:bodyPr>
          <a:lstStyle>
            <a:defPPr>
              <a:defRPr lang="zh-CN"/>
            </a:defPPr>
            <a:lvl1pPr>
              <a:lnSpc>
                <a:spcPct val="140000"/>
              </a:lnSpc>
              <a:defRPr sz="2000">
                <a:latin typeface="微软雅黑" panose="020B0503020204020204" pitchFamily="34" charset="-122"/>
                <a:ea typeface="微软雅黑" panose="020B0503020204020204" pitchFamily="34" charset="-122"/>
              </a:defRPr>
            </a:lvl1pPr>
          </a:lstStyle>
          <a:p>
            <a:r>
              <a:rPr lang="en-US" altLang="zh-CN" dirty="0"/>
              <a:t>3.</a:t>
            </a:r>
            <a:r>
              <a:rPr lang="zh-CN" altLang="en-US" dirty="0"/>
              <a:t> 情感倾向性分析</a:t>
            </a:r>
            <a:endParaRPr lang="en-US" altLang="zh-CN" dirty="0"/>
          </a:p>
          <a:p>
            <a:pPr indent="457200"/>
            <a:r>
              <a:rPr lang="zh-CN" altLang="en-US" sz="1800" dirty="0"/>
              <a:t>对一篇文章进行情感色彩判断。具体来说，就是对说话人的态度（或称观点、情感）进行分析，即对文本中的主观性信息进行分析。</a:t>
            </a:r>
          </a:p>
        </p:txBody>
      </p:sp>
      <p:cxnSp>
        <p:nvCxnSpPr>
          <p:cNvPr id="171" name="直接连接符 186"/>
          <p:cNvCxnSpPr>
            <a:cxnSpLocks/>
          </p:cNvCxnSpPr>
          <p:nvPr/>
        </p:nvCxnSpPr>
        <p:spPr>
          <a:xfrm>
            <a:off x="822325" y="6273794"/>
            <a:ext cx="9891431" cy="1986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295465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文本语法分析</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810755" y="1335147"/>
            <a:ext cx="9903001" cy="430887"/>
          </a:xfrm>
          <a:prstGeom prst="rect">
            <a:avLst/>
          </a:prstGeom>
        </p:spPr>
        <p:txBody>
          <a:bodyPr wrap="square">
            <a:spAutoFit/>
          </a:bodyPr>
          <a:lstStyle/>
          <a:p>
            <a:r>
              <a:rPr lang="zh-CN" altLang="en-US" sz="2200" dirty="0">
                <a:solidFill>
                  <a:srgbClr val="F784A5"/>
                </a:solidFill>
                <a:latin typeface="微软雅黑" panose="020B0503020204020204" pitchFamily="34" charset="-122"/>
                <a:ea typeface="微软雅黑" panose="020B0503020204020204" pitchFamily="34" charset="-122"/>
                <a:cs typeface="华康俪金黑W8(P)"/>
              </a:rPr>
              <a:t>基于词条语法属性的词义消歧的基本思路是</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6082"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81462" y="2034596"/>
            <a:ext cx="7160938" cy="445290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5001690"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文本语法分析</a:t>
            </a:r>
            <a:r>
              <a:rPr lang="en-US" altLang="zh-CN" sz="3600" dirty="0"/>
              <a:t>-</a:t>
            </a:r>
            <a:r>
              <a:rPr lang="zh-CN" altLang="en-US" sz="3600" dirty="0"/>
              <a:t>信息抽取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72" name="图片 171"/>
          <p:cNvPicPr/>
          <p:nvPr/>
        </p:nvPicPr>
        <p:blipFill>
          <a:blip r:embed="rId18">
            <a:extLst>
              <a:ext uri="{28A0092B-C50C-407E-A947-70E740481C1C}">
                <a14:useLocalDpi xmlns:a14="http://schemas.microsoft.com/office/drawing/2010/main" val="0"/>
              </a:ext>
            </a:extLst>
          </a:blip>
          <a:srcRect/>
          <a:stretch>
            <a:fillRect/>
          </a:stretch>
        </p:blipFill>
        <p:spPr bwMode="auto">
          <a:xfrm>
            <a:off x="3075710" y="1311010"/>
            <a:ext cx="5569528" cy="3226354"/>
          </a:xfrm>
          <a:prstGeom prst="rect">
            <a:avLst/>
          </a:prstGeom>
          <a:noFill/>
        </p:spPr>
      </p:pic>
      <p:sp>
        <p:nvSpPr>
          <p:cNvPr id="13" name="矩形 12"/>
          <p:cNvSpPr/>
          <p:nvPr/>
        </p:nvSpPr>
        <p:spPr>
          <a:xfrm>
            <a:off x="1235107" y="4825552"/>
            <a:ext cx="9668419" cy="1422954"/>
          </a:xfrm>
          <a:prstGeom prst="rect">
            <a:avLst/>
          </a:prstGeom>
        </p:spPr>
        <p:txBody>
          <a:bodyPr wrap="square">
            <a:spAutoFit/>
          </a:bodyPr>
          <a:lstStyle/>
          <a:p>
            <a:pPr indent="504000">
              <a:lnSpc>
                <a:spcPct val="150000"/>
              </a:lnSpc>
            </a:pPr>
            <a:r>
              <a:rPr lang="zh-CN" altLang="zh-CN" sz="2000" dirty="0">
                <a:latin typeface="微软雅黑" panose="020B0503020204020204" pitchFamily="34" charset="-122"/>
                <a:ea typeface="微软雅黑" panose="020B0503020204020204" pitchFamily="34" charset="-122"/>
              </a:rPr>
              <a:t>其中，信息抽取引擎的输入是一组文本，引擎通过使用一个统计模块、一个规则模块或者两个的混合进行信息抽取。</a:t>
            </a:r>
            <a:r>
              <a:rPr lang="en-US" altLang="zh-CN" sz="2000" dirty="0">
                <a:latin typeface="微软雅黑" panose="020B0503020204020204" pitchFamily="34" charset="-122"/>
                <a:ea typeface="微软雅黑" panose="020B0503020204020204" pitchFamily="34" charset="-122"/>
              </a:rPr>
              <a:t>IE </a:t>
            </a:r>
            <a:r>
              <a:rPr lang="zh-CN" altLang="zh-CN" sz="2000" dirty="0">
                <a:latin typeface="微软雅黑" panose="020B0503020204020204" pitchFamily="34" charset="-122"/>
                <a:ea typeface="微软雅黑" panose="020B0503020204020204" pitchFamily="34" charset="-122"/>
              </a:rPr>
              <a:t>引擎的输出是一组从文本中抽取的标注过的框架，即填好了的一张表</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p:txBody>
      </p:sp>
      <p:sp>
        <p:nvSpPr>
          <p:cNvPr id="14" name="矩形 13"/>
          <p:cNvSpPr/>
          <p:nvPr/>
        </p:nvSpPr>
        <p:spPr>
          <a:xfrm>
            <a:off x="4762803" y="4381705"/>
            <a:ext cx="2262158" cy="369332"/>
          </a:xfrm>
          <a:prstGeom prst="rect">
            <a:avLst/>
          </a:prstGeom>
        </p:spPr>
        <p:txBody>
          <a:bodyPr wrap="none">
            <a:spAutoFit/>
          </a:bodyPr>
          <a:lstStyle/>
          <a:p>
            <a:r>
              <a:rPr lang="zh-CN" altLang="zh-CN" dirty="0"/>
              <a:t>信息抽取过程示意图</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3552576"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en-US" altLang="zh-CN" sz="3600" dirty="0"/>
              <a:t> </a:t>
            </a:r>
            <a:r>
              <a:rPr lang="zh-CN" altLang="en-US" sz="3600" dirty="0"/>
              <a:t>情感倾向性分析</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805419" y="1106556"/>
            <a:ext cx="9903001" cy="1048172"/>
          </a:xfrm>
          <a:prstGeom prst="rect">
            <a:avLst/>
          </a:prstGeom>
        </p:spPr>
        <p:txBody>
          <a:bodyPr wrap="square">
            <a:spAutoFit/>
          </a:bodyPr>
          <a:lstStyle/>
          <a:p>
            <a:pPr>
              <a:lnSpc>
                <a:spcPct val="150000"/>
              </a:lnSpc>
            </a:pPr>
            <a:r>
              <a:rPr lang="zh-CN" altLang="en-US" sz="2200" dirty="0">
                <a:solidFill>
                  <a:srgbClr val="F784A5"/>
                </a:solidFill>
                <a:latin typeface="微软雅黑" panose="020B0503020204020204" pitchFamily="34" charset="-122"/>
                <a:ea typeface="微软雅黑" panose="020B0503020204020204" pitchFamily="34" charset="-122"/>
                <a:cs typeface="华康俪金黑W8(P)"/>
              </a:rPr>
              <a:t>网络舆情倾向性分析模块分解为</a:t>
            </a:r>
            <a:endParaRPr lang="en-US" altLang="zh-CN" sz="2200" dirty="0">
              <a:solidFill>
                <a:srgbClr val="F784A5"/>
              </a:solidFill>
              <a:latin typeface="微软雅黑" panose="020B0503020204020204" pitchFamily="34" charset="-122"/>
              <a:ea typeface="微软雅黑" panose="020B0503020204020204" pitchFamily="34" charset="-122"/>
              <a:cs typeface="华康俪金黑W8(P)"/>
            </a:endParaRPr>
          </a:p>
          <a:p>
            <a:pPr>
              <a:lnSpc>
                <a:spcPct val="150000"/>
              </a:lnSpc>
            </a:pPr>
            <a:r>
              <a:rPr lang="zh-CN" altLang="en-US" sz="2200" dirty="0">
                <a:solidFill>
                  <a:srgbClr val="F784A5"/>
                </a:solidFill>
                <a:latin typeface="微软雅黑" panose="020B0503020204020204" pitchFamily="34" charset="-122"/>
                <a:ea typeface="微软雅黑" panose="020B0503020204020204" pitchFamily="34" charset="-122"/>
                <a:cs typeface="华康俪金黑W8(P)"/>
              </a:rPr>
              <a:t>词语情感倾向性分析、句子情感倾向性分析和篇章情感倾向性研究三个子模块</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62" name="直接连接符 161"/>
          <p:cNvCxnSpPr/>
          <p:nvPr/>
        </p:nvCxnSpPr>
        <p:spPr>
          <a:xfrm>
            <a:off x="539757" y="3476058"/>
            <a:ext cx="8748713" cy="7938"/>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a:off x="541785" y="4804644"/>
            <a:ext cx="8696325" cy="1746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783805" y="4091866"/>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6" name="文本框 14"/>
          <p:cNvSpPr txBox="1">
            <a:spLocks noChangeArrowheads="1"/>
          </p:cNvSpPr>
          <p:nvPr/>
        </p:nvSpPr>
        <p:spPr bwMode="auto">
          <a:xfrm>
            <a:off x="1291659" y="3639421"/>
            <a:ext cx="7797800" cy="1061444"/>
          </a:xfrm>
          <a:prstGeom prst="rect">
            <a:avLst/>
          </a:prstGeom>
          <a:noFill/>
          <a:ln w="9525">
            <a:noFill/>
            <a:miter lim="800000"/>
          </a:ln>
        </p:spPr>
        <p:txBody>
          <a:bodyPr>
            <a:spAutoFit/>
          </a:bodyPr>
          <a:lstStyle>
            <a:defPPr>
              <a:defRPr lang="zh-CN"/>
            </a:defPPr>
            <a:lvl1pPr>
              <a:lnSpc>
                <a:spcPct val="130000"/>
              </a:lnSpc>
              <a:defRPr>
                <a:latin typeface="微软雅黑" panose="020B0503020204020204" pitchFamily="34" charset="-122"/>
                <a:ea typeface="微软雅黑" panose="020B0503020204020204" pitchFamily="34" charset="-122"/>
              </a:defRPr>
            </a:lvl1pPr>
          </a:lstStyle>
          <a:p>
            <a:r>
              <a:rPr lang="en-US" altLang="zh-CN" dirty="0"/>
              <a:t>2.</a:t>
            </a:r>
            <a:r>
              <a:rPr lang="zh-CN" altLang="en-US" dirty="0"/>
              <a:t>句子情感倾向性分析子模块</a:t>
            </a:r>
            <a:endParaRPr lang="en-US" altLang="zh-CN" dirty="0"/>
          </a:p>
          <a:p>
            <a:pPr indent="410400"/>
            <a:r>
              <a:rPr lang="zh-CN" altLang="en-US" sz="1600" dirty="0"/>
              <a:t>其任务是对句子中的各种主观性信息进行分析和提取，包括对句子情感倾向性的判断，以及从中提取出与情感倾向性论述相关联的各个要素。</a:t>
            </a:r>
          </a:p>
        </p:txBody>
      </p:sp>
      <p:sp>
        <p:nvSpPr>
          <p:cNvPr id="167" name="矩形 166"/>
          <p:cNvSpPr/>
          <p:nvPr/>
        </p:nvSpPr>
        <p:spPr bwMode="auto">
          <a:xfrm>
            <a:off x="779114" y="2770741"/>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68" name="文本框 12"/>
          <p:cNvSpPr txBox="1">
            <a:spLocks noChangeArrowheads="1"/>
          </p:cNvSpPr>
          <p:nvPr/>
        </p:nvSpPr>
        <p:spPr bwMode="auto">
          <a:xfrm>
            <a:off x="1296422" y="2311545"/>
            <a:ext cx="8013700" cy="1061444"/>
          </a:xfrm>
          <a:prstGeom prst="rect">
            <a:avLst/>
          </a:prstGeom>
          <a:noFill/>
          <a:ln w="9525">
            <a:noFill/>
            <a:miter lim="800000"/>
          </a:ln>
        </p:spPr>
        <p:txBody>
          <a:bodyPr>
            <a:spAutoFit/>
          </a:bodyPr>
          <a:lstStyle/>
          <a:p>
            <a:pPr>
              <a:lnSpc>
                <a:spcPct val="13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词语情感倾向性分析子模块</a:t>
            </a:r>
            <a:endParaRPr lang="en-US" altLang="zh-CN" dirty="0">
              <a:latin typeface="微软雅黑" panose="020B0503020204020204" pitchFamily="34" charset="-122"/>
              <a:ea typeface="微软雅黑" panose="020B0503020204020204" pitchFamily="34" charset="-122"/>
            </a:endParaRPr>
          </a:p>
          <a:p>
            <a:pPr indent="410400">
              <a:lnSpc>
                <a:spcPct val="130000"/>
              </a:lnSpc>
            </a:pPr>
            <a:r>
              <a:rPr lang="zh-CN" altLang="en-US" sz="1600" dirty="0">
                <a:latin typeface="微软雅黑" panose="020B0503020204020204" pitchFamily="34" charset="-122"/>
                <a:ea typeface="微软雅黑" panose="020B0503020204020204" pitchFamily="34" charset="-122"/>
              </a:rPr>
              <a:t>词语情感倾向性研究是倾向性研究工作的前提。具有情感倾向的词语以名词、动词、形容词和副词为主，也包括人名、机构名、产品名、事件名等命名实体</a:t>
            </a:r>
          </a:p>
        </p:txBody>
      </p:sp>
      <p:sp>
        <p:nvSpPr>
          <p:cNvPr id="169" name="矩形 189"/>
          <p:cNvSpPr/>
          <p:nvPr/>
        </p:nvSpPr>
        <p:spPr bwMode="auto">
          <a:xfrm>
            <a:off x="783805" y="5571253"/>
            <a:ext cx="215900" cy="215900"/>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70" name="文本框 14"/>
          <p:cNvSpPr txBox="1">
            <a:spLocks noChangeArrowheads="1"/>
          </p:cNvSpPr>
          <p:nvPr/>
        </p:nvSpPr>
        <p:spPr bwMode="auto">
          <a:xfrm>
            <a:off x="1290072" y="4933377"/>
            <a:ext cx="7797800" cy="1381532"/>
          </a:xfrm>
          <a:prstGeom prst="rect">
            <a:avLst/>
          </a:prstGeom>
          <a:noFill/>
          <a:ln w="9525">
            <a:noFill/>
            <a:miter lim="800000"/>
          </a:ln>
        </p:spPr>
        <p:txBody>
          <a:bodyPr>
            <a:spAutoFit/>
          </a:bodyPr>
          <a:lstStyle>
            <a:defPPr>
              <a:defRPr lang="zh-CN"/>
            </a:defPPr>
            <a:lvl1pPr>
              <a:lnSpc>
                <a:spcPct val="130000"/>
              </a:lnSpc>
              <a:defRPr>
                <a:latin typeface="微软雅黑" panose="020B0503020204020204" pitchFamily="34" charset="-122"/>
                <a:ea typeface="微软雅黑" panose="020B0503020204020204" pitchFamily="34" charset="-122"/>
              </a:defRPr>
            </a:lvl1pPr>
          </a:lstStyle>
          <a:p>
            <a:r>
              <a:rPr lang="en-US" altLang="zh-CN" dirty="0"/>
              <a:t>3.</a:t>
            </a:r>
            <a:r>
              <a:rPr lang="zh-CN" altLang="en-US" dirty="0"/>
              <a:t>篇章情感倾向性研究子模块</a:t>
            </a:r>
            <a:endParaRPr lang="en-US" altLang="zh-CN" dirty="0"/>
          </a:p>
          <a:p>
            <a:pPr indent="410400"/>
            <a:r>
              <a:rPr lang="zh-CN" altLang="en-US" sz="1600" dirty="0"/>
              <a:t>设定一定的阈值，并对含有情感的句子值综合相加，得出篇章的情感色彩，完成文本倾向性分析。根据得出的网页文本情感值与设定的阀值相比较的结果，将网页分为四级：恶性网页、消极网页、中性网页和积极网页。</a:t>
            </a:r>
          </a:p>
        </p:txBody>
      </p:sp>
      <p:cxnSp>
        <p:nvCxnSpPr>
          <p:cNvPr id="171" name="直接连接符 186"/>
          <p:cNvCxnSpPr/>
          <p:nvPr/>
        </p:nvCxnSpPr>
        <p:spPr>
          <a:xfrm>
            <a:off x="536009" y="6426198"/>
            <a:ext cx="8696325" cy="1746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72" name="图片 171"/>
          <p:cNvPicPr/>
          <p:nvPr/>
        </p:nvPicPr>
        <p:blipFill>
          <a:blip r:embed="rId18">
            <a:extLst>
              <a:ext uri="{28A0092B-C50C-407E-A947-70E740481C1C}">
                <a14:useLocalDpi xmlns:a14="http://schemas.microsoft.com/office/drawing/2010/main" val="0"/>
              </a:ext>
            </a:extLst>
          </a:blip>
          <a:srcRect/>
          <a:stretch>
            <a:fillRect/>
          </a:stretch>
        </p:blipFill>
        <p:spPr bwMode="auto">
          <a:xfrm>
            <a:off x="9745633" y="2071019"/>
            <a:ext cx="1781349" cy="4337716"/>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91200" y="348959"/>
            <a:ext cx="5001690"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文本语法分析</a:t>
            </a:r>
            <a:r>
              <a:rPr lang="en-US" altLang="zh-CN" sz="3600" dirty="0"/>
              <a:t>-</a:t>
            </a:r>
            <a:r>
              <a:rPr lang="zh-CN" altLang="en-US" sz="3600" dirty="0"/>
              <a:t>信息抽取</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686823" y="1443754"/>
            <a:ext cx="9953467" cy="4830040"/>
          </a:xfrm>
          <a:prstGeom prst="rect">
            <a:avLst/>
          </a:prstGeom>
        </p:spPr>
        <p:txBody>
          <a:bodyPr wrap="square">
            <a:spAutoFit/>
          </a:bodyPr>
          <a:lstStyle/>
          <a:p>
            <a:pPr indent="558000">
              <a:lnSpc>
                <a:spcPct val="130000"/>
              </a:lnSpc>
            </a:pPr>
            <a:r>
              <a:rPr lang="zh-CN" altLang="zh-CN" sz="2400" dirty="0">
                <a:latin typeface="微软雅黑" panose="020B0503020204020204" pitchFamily="34" charset="-122"/>
                <a:ea typeface="微软雅黑" panose="020B0503020204020204" pitchFamily="34" charset="-122"/>
              </a:rPr>
              <a:t>语用学是一门研究如何用语言来达成一定目的的学科，即，利用语用学进行文本分析，针对句子群（又称话题，</a:t>
            </a:r>
            <a:r>
              <a:rPr lang="en-US" altLang="zh-CN" sz="2400" dirty="0">
                <a:latin typeface="微软雅黑" panose="020B0503020204020204" pitchFamily="34" charset="-122"/>
                <a:ea typeface="微软雅黑" panose="020B0503020204020204" pitchFamily="34" charset="-122"/>
              </a:rPr>
              <a:t>Topic</a:t>
            </a:r>
            <a:r>
              <a:rPr lang="zh-CN" altLang="zh-CN" sz="2400" dirty="0">
                <a:latin typeface="微软雅黑" panose="020B0503020204020204" pitchFamily="34" charset="-122"/>
                <a:ea typeface="微软雅黑" panose="020B0503020204020204" pitchFamily="34" charset="-122"/>
              </a:rPr>
              <a:t>）开展高端分析，获取对文本内涵的掌握。</a:t>
            </a:r>
            <a:endParaRPr lang="en-US" altLang="zh-CN" sz="2400" dirty="0">
              <a:latin typeface="微软雅黑" panose="020B0503020204020204" pitchFamily="34" charset="-122"/>
              <a:ea typeface="微软雅黑" panose="020B0503020204020204" pitchFamily="34" charset="-122"/>
            </a:endParaRPr>
          </a:p>
          <a:p>
            <a:endParaRPr lang="en-US" altLang="zh-CN" sz="1200" b="1" dirty="0">
              <a:latin typeface="微软雅黑" panose="020B0503020204020204" pitchFamily="34" charset="-122"/>
              <a:ea typeface="微软雅黑" panose="020B0503020204020204" pitchFamily="34" charset="-122"/>
            </a:endParaRPr>
          </a:p>
          <a:p>
            <a:pPr indent="558000">
              <a:lnSpc>
                <a:spcPct val="150000"/>
              </a:lnSpc>
            </a:pPr>
            <a:r>
              <a:rPr lang="zh-CN" altLang="zh-CN" sz="2200" b="1" dirty="0">
                <a:latin typeface="微软雅黑" panose="020B0503020204020204" pitchFamily="34" charset="-122"/>
                <a:ea typeface="微软雅黑" panose="020B0503020204020204" pitchFamily="34" charset="-122"/>
              </a:rPr>
              <a:t>话题</a:t>
            </a:r>
            <a:r>
              <a:rPr lang="zh-CN" altLang="zh-CN" sz="2200" dirty="0">
                <a:latin typeface="微软雅黑" panose="020B0503020204020204" pitchFamily="34" charset="-122"/>
                <a:ea typeface="微软雅黑" panose="020B0503020204020204" pitchFamily="34" charset="-122"/>
              </a:rPr>
              <a:t>是有因果关系的一些句子，它们必须连贯（</a:t>
            </a:r>
            <a:r>
              <a:rPr lang="en-US" altLang="zh-CN" sz="2200" dirty="0">
                <a:latin typeface="微软雅黑" panose="020B0503020204020204" pitchFamily="34" charset="-122"/>
                <a:ea typeface="微软雅黑" panose="020B0503020204020204" pitchFamily="34" charset="-122"/>
              </a:rPr>
              <a:t>coherence</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如例句</a:t>
            </a:r>
            <a:r>
              <a:rPr lang="en-US" altLang="zh-CN" sz="2200" dirty="0">
                <a:latin typeface="微软雅黑" panose="020B0503020204020204" pitchFamily="34" charset="-122"/>
                <a:ea typeface="微软雅黑" panose="020B0503020204020204" pitchFamily="34" charset="-122"/>
              </a:rPr>
              <a:t>1</a:t>
            </a:r>
            <a:r>
              <a:rPr lang="zh-CN" altLang="zh-CN" sz="2200" dirty="0">
                <a:latin typeface="微软雅黑" panose="020B0503020204020204" pitchFamily="34" charset="-122"/>
                <a:ea typeface="微软雅黑" panose="020B0503020204020204" pitchFamily="34" charset="-122"/>
              </a:rPr>
              <a:t>；</a:t>
            </a:r>
            <a:endParaRPr lang="en-US" altLang="zh-CN" sz="1050" dirty="0">
              <a:latin typeface="微软雅黑" panose="020B0503020204020204" pitchFamily="34" charset="-122"/>
              <a:ea typeface="微软雅黑" panose="020B0503020204020204" pitchFamily="34" charset="-122"/>
            </a:endParaRPr>
          </a:p>
          <a:p>
            <a:pPr indent="504000">
              <a:lnSpc>
                <a:spcPct val="150000"/>
              </a:lnSpc>
            </a:pPr>
            <a:r>
              <a:rPr lang="zh-CN" altLang="zh-CN" sz="2200" dirty="0">
                <a:latin typeface="微软雅黑" panose="020B0503020204020204" pitchFamily="34" charset="-122"/>
                <a:ea typeface="微软雅黑" panose="020B0503020204020204" pitchFamily="34" charset="-122"/>
              </a:rPr>
              <a:t>把可独立理解并且是良构的几个句子放到一起的结果，并不能保证获取的是话题，如例句</a:t>
            </a:r>
            <a:r>
              <a:rPr lang="en-US" altLang="zh-CN" sz="2200" dirty="0">
                <a:latin typeface="微软雅黑" panose="020B0503020204020204" pitchFamily="34" charset="-122"/>
                <a:ea typeface="微软雅黑" panose="020B0503020204020204" pitchFamily="34" charset="-122"/>
              </a:rPr>
              <a:t>2</a:t>
            </a:r>
            <a:r>
              <a:rPr lang="zh-CN" altLang="zh-CN" sz="2200" dirty="0">
                <a:latin typeface="微软雅黑" panose="020B0503020204020204" pitchFamily="34" charset="-122"/>
                <a:ea typeface="微软雅黑" panose="020B0503020204020204" pitchFamily="34" charset="-122"/>
              </a:rPr>
              <a:t>。</a:t>
            </a:r>
          </a:p>
          <a:p>
            <a:pPr indent="504000">
              <a:lnSpc>
                <a:spcPct val="130000"/>
              </a:lnSpc>
            </a:pPr>
            <a:r>
              <a:rPr lang="zh-CN" altLang="zh-CN" dirty="0">
                <a:latin typeface="微软雅黑" panose="020B0503020204020204" pitchFamily="34" charset="-122"/>
                <a:ea typeface="微软雅黑" panose="020B0503020204020204" pitchFamily="34" charset="-122"/>
              </a:rPr>
              <a:t>例句</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张玉把车钥匙弄丢了，她喝醉了。</a:t>
            </a:r>
          </a:p>
          <a:p>
            <a:pPr indent="504000">
              <a:lnSpc>
                <a:spcPct val="130000"/>
              </a:lnSpc>
            </a:pPr>
            <a:r>
              <a:rPr lang="zh-CN" altLang="zh-CN" dirty="0">
                <a:latin typeface="微软雅黑" panose="020B0503020204020204" pitchFamily="34" charset="-122"/>
                <a:ea typeface="微软雅黑" panose="020B0503020204020204" pitchFamily="34" charset="-122"/>
              </a:rPr>
              <a:t>例句</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张玉把车钥匙弄丢了，她喜欢吃菠菜。</a:t>
            </a:r>
          </a:p>
          <a:p>
            <a:pPr indent="504000">
              <a:lnSpc>
                <a:spcPct val="150000"/>
              </a:lnSpc>
            </a:pPr>
            <a:r>
              <a:rPr lang="zh-CN" altLang="zh-CN" sz="2000" dirty="0">
                <a:latin typeface="微软雅黑" panose="020B0503020204020204" pitchFamily="34" charset="-122"/>
                <a:ea typeface="微软雅黑" panose="020B0503020204020204" pitchFamily="34" charset="-122"/>
              </a:rPr>
              <a:t>为完成文本因果关系提取出现了话题检测与</a:t>
            </a:r>
            <a:r>
              <a:rPr lang="zh-CN" altLang="en-US" sz="2000" dirty="0">
                <a:latin typeface="微软雅黑" panose="020B0503020204020204" pitchFamily="34" charset="-122"/>
                <a:ea typeface="微软雅黑" panose="020B0503020204020204" pitchFamily="34" charset="-122"/>
              </a:rPr>
              <a:t>跟踪</a:t>
            </a:r>
            <a:r>
              <a:rPr lang="zh-CN" altLang="zh-CN" sz="2000" dirty="0">
                <a:latin typeface="微软雅黑" panose="020B0503020204020204" pitchFamily="34" charset="-122"/>
                <a:ea typeface="微软雅黑" panose="020B0503020204020204" pitchFamily="34" charset="-122"/>
              </a:rPr>
              <a:t>方法；为了完成互联网上不同文本信息内容自动分类提出了文本分类器</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也称为信息内容过滤</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52044" y="332465"/>
            <a:ext cx="2722880" cy="706755"/>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dirty="0"/>
              <a:t>本节思考题</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1069063" y="1995745"/>
            <a:ext cx="9053559" cy="3416320"/>
          </a:xfrm>
          <a:prstGeom prst="rect">
            <a:avLst/>
          </a:prstGeom>
        </p:spPr>
        <p:txBody>
          <a:bodyPr wrap="square">
            <a:spAutoFit/>
          </a:bodyPr>
          <a:lstStyle/>
          <a:p>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简述文本信息的语义特征？</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如何进行文本特征提取？</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词语情感倾向性分析有哪些方法？</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如何衡量特征抽取过程与选择过程所造成的信息损失？</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5. </a:t>
            </a:r>
            <a:r>
              <a:rPr lang="zh-CN" altLang="en-US" sz="2400" dirty="0">
                <a:latin typeface="微软雅黑" panose="020B0503020204020204" pitchFamily="34" charset="-122"/>
                <a:ea typeface="微软雅黑" panose="020B0503020204020204" pitchFamily="34" charset="-122"/>
              </a:rPr>
              <a:t>为什么要进行特征重构，常用的方法有哪些？</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任意多边形 67"/>
          <p:cNvSpPr/>
          <p:nvPr/>
        </p:nvSpPr>
        <p:spPr>
          <a:xfrm>
            <a:off x="0" y="4395157"/>
            <a:ext cx="12192000" cy="1552201"/>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70" name="文本框 69"/>
          <p:cNvSpPr txBox="1"/>
          <p:nvPr/>
        </p:nvSpPr>
        <p:spPr>
          <a:xfrm>
            <a:off x="2429527" y="4395348"/>
            <a:ext cx="7333535" cy="1024255"/>
          </a:xfrm>
          <a:prstGeom prst="rect">
            <a:avLst/>
          </a:prstGeom>
          <a:noFill/>
        </p:spPr>
        <p:txBody>
          <a:bodyPr wrap="square" rtlCol="0">
            <a:spAutoFit/>
          </a:bodyPr>
          <a:lstStyle/>
          <a:p>
            <a:pPr algn="dist"/>
            <a:r>
              <a:rPr lang="zh-CN" altLang="en-US" sz="6000" dirty="0">
                <a:solidFill>
                  <a:schemeClr val="bg1"/>
                </a:solidFill>
                <a:latin typeface="方正粗宋简体" panose="03000509000000000000" pitchFamily="65" charset="-122"/>
                <a:ea typeface="方正粗宋简体" panose="03000509000000000000" pitchFamily="65" charset="-122"/>
              </a:rPr>
              <a:t>网络信息内容安全</a:t>
            </a:r>
          </a:p>
        </p:txBody>
      </p:sp>
      <p:sp>
        <p:nvSpPr>
          <p:cNvPr id="71" name="文本框 70"/>
          <p:cNvSpPr txBox="1"/>
          <p:nvPr/>
        </p:nvSpPr>
        <p:spPr>
          <a:xfrm>
            <a:off x="2553376" y="5366280"/>
            <a:ext cx="7086167" cy="553085"/>
          </a:xfrm>
          <a:prstGeom prst="rect">
            <a:avLst/>
          </a:prstGeom>
          <a:noFill/>
        </p:spPr>
        <p:txBody>
          <a:bodyPr wrap="square" rtlCol="0">
            <a:spAutoFit/>
          </a:bodyPr>
          <a:lstStyle/>
          <a:p>
            <a:pPr algn="dist"/>
            <a:r>
              <a:rPr lang="zh-CN" altLang="en-US" sz="3000" dirty="0">
                <a:latin typeface="微软雅黑" panose="020B0503020204020204" pitchFamily="34" charset="-122"/>
                <a:ea typeface="微软雅黑" panose="020B0503020204020204" pitchFamily="34" charset="-122"/>
              </a:rPr>
              <a:t>网络信息内容过滤</a:t>
            </a:r>
          </a:p>
        </p:txBody>
      </p:sp>
      <p:pic>
        <p:nvPicPr>
          <p:cNvPr id="3" name="图片 2"/>
          <p:cNvPicPr>
            <a:picLocks noChangeAspect="1"/>
          </p:cNvPicPr>
          <p:nvPr/>
        </p:nvPicPr>
        <p:blipFill>
          <a:blip r:embed="rId3"/>
          <a:stretch>
            <a:fillRect/>
          </a:stretch>
        </p:blipFill>
        <p:spPr>
          <a:xfrm>
            <a:off x="3100070" y="204470"/>
            <a:ext cx="6155055" cy="37655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4"/>
          <p:cNvSpPr>
            <a:spLocks noChangeArrowheads="1"/>
          </p:cNvSpPr>
          <p:nvPr/>
        </p:nvSpPr>
        <p:spPr bwMode="auto">
          <a:xfrm>
            <a:off x="1494368" y="195699"/>
            <a:ext cx="77699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40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目录</a:t>
            </a:r>
          </a:p>
        </p:txBody>
      </p:sp>
      <p:sp>
        <p:nvSpPr>
          <p:cNvPr id="18435" name="直接连接符 13"/>
          <p:cNvSpPr>
            <a:spLocks noChangeShapeType="1"/>
          </p:cNvSpPr>
          <p:nvPr/>
        </p:nvSpPr>
        <p:spPr bwMode="auto">
          <a:xfrm>
            <a:off x="675218" y="845125"/>
            <a:ext cx="6193367"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5" name="Group 4"/>
          <p:cNvGrpSpPr/>
          <p:nvPr/>
        </p:nvGrpSpPr>
        <p:grpSpPr bwMode="auto">
          <a:xfrm>
            <a:off x="1269967" y="1524783"/>
            <a:ext cx="1016000" cy="665162"/>
            <a:chOff x="1110" y="2656"/>
            <a:chExt cx="1549" cy="1351"/>
          </a:xfrm>
          <a:gradFill flip="none" rotWithShape="1">
            <a:gsLst>
              <a:gs pos="0">
                <a:srgbClr val="336699">
                  <a:shade val="30000"/>
                  <a:satMod val="115000"/>
                </a:srgbClr>
              </a:gs>
              <a:gs pos="50000">
                <a:srgbClr val="336699">
                  <a:shade val="67500"/>
                  <a:satMod val="115000"/>
                </a:srgbClr>
              </a:gs>
              <a:gs pos="100000">
                <a:srgbClr val="336699">
                  <a:shade val="100000"/>
                  <a:satMod val="115000"/>
                </a:srgbClr>
              </a:gs>
            </a:gsLst>
            <a:lin ang="2700000" scaled="1"/>
            <a:tileRect/>
          </a:gradFill>
        </p:grpSpPr>
        <p:sp>
          <p:nvSpPr>
            <p:cNvPr id="38" name="AutoShape 5"/>
            <p:cNvSpPr>
              <a:spLocks noChangeArrowheads="1"/>
            </p:cNvSpPr>
            <p:nvPr/>
          </p:nvSpPr>
          <p:spPr bwMode="gray">
            <a:xfrm>
              <a:off x="1123" y="2679"/>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9" name="AutoShape 6"/>
            <p:cNvSpPr>
              <a:spLocks noChangeArrowheads="1"/>
            </p:cNvSpPr>
            <p:nvPr/>
          </p:nvSpPr>
          <p:spPr bwMode="gray">
            <a:xfrm>
              <a:off x="1110" y="2656"/>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0" name="AutoShape 7"/>
            <p:cNvSpPr>
              <a:spLocks noChangeArrowheads="1"/>
            </p:cNvSpPr>
            <p:nvPr/>
          </p:nvSpPr>
          <p:spPr bwMode="gray">
            <a:xfrm>
              <a:off x="1200" y="2736"/>
              <a:ext cx="1350" cy="1168"/>
            </a:xfrm>
            <a:prstGeom prst="hexagon">
              <a:avLst>
                <a:gd name="adj" fmla="val 2889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7" name="Line 8"/>
          <p:cNvSpPr>
            <a:spLocks noChangeShapeType="1"/>
          </p:cNvSpPr>
          <p:nvPr/>
        </p:nvSpPr>
        <p:spPr bwMode="auto">
          <a:xfrm>
            <a:off x="2082767" y="213460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2991274" y="1588503"/>
            <a:ext cx="3230880" cy="848995"/>
          </a:xfrm>
          <a:prstGeom prst="rect">
            <a:avLst/>
          </a:prstGeom>
          <a:noFill/>
          <a:ln w="9525" algn="ctr">
            <a:noFill/>
            <a:miter lim="800000"/>
          </a:ln>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网络信息内容过滤概述</a:t>
            </a:r>
          </a:p>
          <a:p>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gray">
          <a:xfrm>
            <a:off x="1585540" y="1623428"/>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1</a:t>
            </a:r>
          </a:p>
        </p:txBody>
      </p:sp>
      <p:grpSp>
        <p:nvGrpSpPr>
          <p:cNvPr id="10" name="Group 11"/>
          <p:cNvGrpSpPr/>
          <p:nvPr/>
        </p:nvGrpSpPr>
        <p:grpSpPr bwMode="auto">
          <a:xfrm>
            <a:off x="1269967" y="2271231"/>
            <a:ext cx="1016000" cy="665162"/>
            <a:chOff x="3174" y="2656"/>
            <a:chExt cx="1549" cy="1351"/>
          </a:xfrm>
          <a:gradFill flip="none" rotWithShape="1">
            <a:gsLst>
              <a:gs pos="0">
                <a:srgbClr val="339966">
                  <a:shade val="30000"/>
                  <a:satMod val="115000"/>
                </a:srgbClr>
              </a:gs>
              <a:gs pos="50000">
                <a:srgbClr val="339966">
                  <a:shade val="67500"/>
                  <a:satMod val="115000"/>
                </a:srgbClr>
              </a:gs>
              <a:gs pos="100000">
                <a:srgbClr val="339966">
                  <a:shade val="100000"/>
                  <a:satMod val="115000"/>
                </a:srgbClr>
              </a:gs>
            </a:gsLst>
            <a:lin ang="2700000" scaled="1"/>
            <a:tileRect/>
          </a:gradFill>
        </p:grpSpPr>
        <p:sp>
          <p:nvSpPr>
            <p:cNvPr id="35" name="AutoShape 12"/>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6" name="AutoShape 13"/>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7" name="AutoShape 14"/>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1" name="Line 15"/>
          <p:cNvSpPr>
            <a:spLocks noChangeShapeType="1"/>
          </p:cNvSpPr>
          <p:nvPr/>
        </p:nvSpPr>
        <p:spPr bwMode="auto">
          <a:xfrm>
            <a:off x="2082767" y="2920416"/>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3" name="Text Box 17"/>
          <p:cNvSpPr txBox="1">
            <a:spLocks noChangeArrowheads="1"/>
          </p:cNvSpPr>
          <p:nvPr/>
        </p:nvSpPr>
        <p:spPr bwMode="gray">
          <a:xfrm>
            <a:off x="1585540" y="2409242"/>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2</a:t>
            </a:r>
          </a:p>
        </p:txBody>
      </p:sp>
      <p:grpSp>
        <p:nvGrpSpPr>
          <p:cNvPr id="14" name="Group 18"/>
          <p:cNvGrpSpPr/>
          <p:nvPr/>
        </p:nvGrpSpPr>
        <p:grpSpPr bwMode="auto">
          <a:xfrm>
            <a:off x="1266157" y="2996724"/>
            <a:ext cx="1016000" cy="665162"/>
            <a:chOff x="1110" y="2656"/>
            <a:chExt cx="1549" cy="1351"/>
          </a:xfrm>
          <a:solidFill>
            <a:schemeClr val="accent1">
              <a:alpha val="83000"/>
            </a:schemeClr>
          </a:solidFill>
        </p:grpSpPr>
        <p:sp>
          <p:nvSpPr>
            <p:cNvPr id="32" name="AutoShape 19"/>
            <p:cNvSpPr>
              <a:spLocks noChangeArrowheads="1"/>
            </p:cNvSpPr>
            <p:nvPr/>
          </p:nvSpPr>
          <p:spPr bwMode="gray">
            <a:xfrm>
              <a:off x="1123"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3" name="AutoShape 20"/>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4" name="AutoShape 21"/>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5" name="Line 22"/>
          <p:cNvSpPr>
            <a:spLocks noChangeShapeType="1"/>
          </p:cNvSpPr>
          <p:nvPr/>
        </p:nvSpPr>
        <p:spPr bwMode="auto">
          <a:xfrm>
            <a:off x="2082767" y="3661778"/>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Text Box 23"/>
          <p:cNvSpPr txBox="1">
            <a:spLocks noChangeArrowheads="1"/>
          </p:cNvSpPr>
          <p:nvPr/>
        </p:nvSpPr>
        <p:spPr bwMode="auto">
          <a:xfrm>
            <a:off x="3007867" y="2310602"/>
            <a:ext cx="4145280" cy="48323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网络信息内容过滤技术的分类</a:t>
            </a:r>
          </a:p>
        </p:txBody>
      </p:sp>
      <p:sp>
        <p:nvSpPr>
          <p:cNvPr id="17" name="Text Box 24"/>
          <p:cNvSpPr txBox="1">
            <a:spLocks noChangeArrowheads="1"/>
          </p:cNvSpPr>
          <p:nvPr/>
        </p:nvSpPr>
        <p:spPr bwMode="gray">
          <a:xfrm>
            <a:off x="1585540" y="309218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3</a:t>
            </a:r>
          </a:p>
        </p:txBody>
      </p:sp>
      <p:grpSp>
        <p:nvGrpSpPr>
          <p:cNvPr id="18" name="Group 25"/>
          <p:cNvGrpSpPr/>
          <p:nvPr/>
        </p:nvGrpSpPr>
        <p:grpSpPr bwMode="auto">
          <a:xfrm>
            <a:off x="1276317" y="3762222"/>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29"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0"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1"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9" name="Line 29"/>
          <p:cNvSpPr>
            <a:spLocks noChangeShapeType="1"/>
          </p:cNvSpPr>
          <p:nvPr/>
        </p:nvSpPr>
        <p:spPr bwMode="auto">
          <a:xfrm>
            <a:off x="2082767" y="4427906"/>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0" name="Text Box 30"/>
          <p:cNvSpPr txBox="1">
            <a:spLocks noChangeArrowheads="1"/>
          </p:cNvSpPr>
          <p:nvPr/>
        </p:nvSpPr>
        <p:spPr bwMode="auto">
          <a:xfrm>
            <a:off x="3007867" y="3082504"/>
            <a:ext cx="4145280" cy="48323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网络信息内容过滤的一般步骤</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1" name="Text Box 31"/>
          <p:cNvSpPr txBox="1">
            <a:spLocks noChangeArrowheads="1"/>
          </p:cNvSpPr>
          <p:nvPr/>
        </p:nvSpPr>
        <p:spPr bwMode="gray">
          <a:xfrm>
            <a:off x="1585540" y="3858947"/>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4</a:t>
            </a:r>
          </a:p>
        </p:txBody>
      </p:sp>
      <p:grpSp>
        <p:nvGrpSpPr>
          <p:cNvPr id="22" name="Group 25"/>
          <p:cNvGrpSpPr/>
          <p:nvPr/>
        </p:nvGrpSpPr>
        <p:grpSpPr bwMode="auto">
          <a:xfrm>
            <a:off x="1280795" y="4509770"/>
            <a:ext cx="1016000" cy="665633"/>
            <a:chOff x="3174" y="2656"/>
            <a:chExt cx="1549" cy="1351"/>
          </a:xfrm>
          <a:solidFill>
            <a:srgbClr val="31B5D6"/>
          </a:solidFill>
        </p:grpSpPr>
        <p:sp>
          <p:nvSpPr>
            <p:cNvPr id="26"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7"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8"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23" name="Line 29"/>
          <p:cNvSpPr>
            <a:spLocks noChangeShapeType="1"/>
          </p:cNvSpPr>
          <p:nvPr/>
        </p:nvSpPr>
        <p:spPr bwMode="auto">
          <a:xfrm>
            <a:off x="2082767" y="517498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4" name="Text Box 30"/>
          <p:cNvSpPr txBox="1">
            <a:spLocks noChangeArrowheads="1"/>
          </p:cNvSpPr>
          <p:nvPr/>
        </p:nvSpPr>
        <p:spPr bwMode="auto">
          <a:xfrm>
            <a:off x="3008103" y="3801487"/>
            <a:ext cx="3230880" cy="48323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网络信息内容过滤模型</a:t>
            </a:r>
            <a:endParaRPr lang="en-US" altLang="zh-CN" dirty="0">
              <a:latin typeface="微软雅黑" panose="020B0503020204020204" pitchFamily="34" charset="-122"/>
              <a:ea typeface="微软雅黑" panose="020B0503020204020204" pitchFamily="34" charset="-122"/>
            </a:endParaRPr>
          </a:p>
        </p:txBody>
      </p:sp>
      <p:sp>
        <p:nvSpPr>
          <p:cNvPr id="25" name="Text Box 31"/>
          <p:cNvSpPr txBox="1">
            <a:spLocks noChangeArrowheads="1"/>
          </p:cNvSpPr>
          <p:nvPr/>
        </p:nvSpPr>
        <p:spPr bwMode="gray">
          <a:xfrm>
            <a:off x="1598240" y="454887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5</a:t>
            </a:r>
          </a:p>
        </p:txBody>
      </p:sp>
      <p:sp>
        <p:nvSpPr>
          <p:cNvPr id="42" name="Text Box 30"/>
          <p:cNvSpPr txBox="1">
            <a:spLocks noChangeArrowheads="1"/>
          </p:cNvSpPr>
          <p:nvPr/>
        </p:nvSpPr>
        <p:spPr bwMode="auto">
          <a:xfrm>
            <a:off x="3008204" y="4564988"/>
            <a:ext cx="4145280" cy="48323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网络信息内容过滤的主要方法</a:t>
            </a:r>
            <a:endParaRPr lang="en-US" altLang="zh-CN" dirty="0">
              <a:latin typeface="微软雅黑" panose="020B0503020204020204" pitchFamily="34" charset="-122"/>
              <a:ea typeface="微软雅黑" panose="020B0503020204020204" pitchFamily="34" charset="-122"/>
            </a:endParaRPr>
          </a:p>
        </p:txBody>
      </p:sp>
      <p:sp>
        <p:nvSpPr>
          <p:cNvPr id="3" name="Text Box 31"/>
          <p:cNvSpPr txBox="1">
            <a:spLocks noChangeArrowheads="1"/>
          </p:cNvSpPr>
          <p:nvPr/>
        </p:nvSpPr>
        <p:spPr bwMode="gray">
          <a:xfrm>
            <a:off x="1585540" y="569441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5</a:t>
            </a:r>
          </a:p>
        </p:txBody>
      </p:sp>
      <p:grpSp>
        <p:nvGrpSpPr>
          <p:cNvPr id="6" name="Group 25"/>
          <p:cNvGrpSpPr/>
          <p:nvPr/>
        </p:nvGrpSpPr>
        <p:grpSpPr bwMode="auto">
          <a:xfrm>
            <a:off x="1290224" y="5238597"/>
            <a:ext cx="1017968" cy="1475567"/>
            <a:chOff x="3171" y="2656"/>
            <a:chExt cx="1552" cy="2997"/>
          </a:xfrm>
          <a:solidFill>
            <a:schemeClr val="accent6">
              <a:lumMod val="75000"/>
            </a:schemeClr>
          </a:solidFill>
        </p:grpSpPr>
        <p:sp>
          <p:nvSpPr>
            <p:cNvPr id="12"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3"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4"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8" name="AutoShape 26"/>
            <p:cNvSpPr>
              <a:spLocks noChangeArrowheads="1"/>
            </p:cNvSpPr>
            <p:nvPr/>
          </p:nvSpPr>
          <p:spPr bwMode="gray">
            <a:xfrm>
              <a:off x="3171" y="4325"/>
              <a:ext cx="1536" cy="1328"/>
            </a:xfrm>
            <a:prstGeom prst="hexagon">
              <a:avLst>
                <a:gd name="adj" fmla="val 28916"/>
                <a:gd name="vf" fmla="val 115470"/>
              </a:avLst>
            </a:prstGeom>
            <a:solidFill>
              <a:srgbClr val="0070C0"/>
            </a:solid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52" name="AutoShape 28"/>
            <p:cNvSpPr>
              <a:spLocks noChangeArrowheads="1"/>
            </p:cNvSpPr>
            <p:nvPr/>
          </p:nvSpPr>
          <p:spPr bwMode="gray">
            <a:xfrm>
              <a:off x="3264" y="4406"/>
              <a:ext cx="1350" cy="1168"/>
            </a:xfrm>
            <a:prstGeom prst="hexagon">
              <a:avLst>
                <a:gd name="adj" fmla="val 28896"/>
                <a:gd name="vf" fmla="val 115470"/>
              </a:avLst>
            </a:prstGeom>
            <a:solidFill>
              <a:srgbClr val="0070C0"/>
            </a:solid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45" name="Text Box 31"/>
          <p:cNvSpPr txBox="1">
            <a:spLocks noChangeArrowheads="1"/>
          </p:cNvSpPr>
          <p:nvPr/>
        </p:nvSpPr>
        <p:spPr bwMode="gray">
          <a:xfrm>
            <a:off x="1585881" y="5323574"/>
            <a:ext cx="36131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6</a:t>
            </a:r>
          </a:p>
        </p:txBody>
      </p:sp>
      <p:sp>
        <p:nvSpPr>
          <p:cNvPr id="46" name="Line 29"/>
          <p:cNvSpPr>
            <a:spLocks noChangeShapeType="1"/>
          </p:cNvSpPr>
          <p:nvPr/>
        </p:nvSpPr>
        <p:spPr bwMode="auto">
          <a:xfrm>
            <a:off x="2082767" y="592555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47" name="Text Box 30"/>
          <p:cNvSpPr txBox="1">
            <a:spLocks noChangeArrowheads="1"/>
          </p:cNvSpPr>
          <p:nvPr/>
        </p:nvSpPr>
        <p:spPr bwMode="auto">
          <a:xfrm>
            <a:off x="3008204" y="5323642"/>
            <a:ext cx="3840480" cy="48323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网络信息内容过滤典型系统</a:t>
            </a:r>
            <a:endParaRPr lang="en-US" altLang="zh-CN" dirty="0">
              <a:latin typeface="微软雅黑" panose="020B0503020204020204" pitchFamily="34" charset="-122"/>
              <a:ea typeface="微软雅黑" panose="020B0503020204020204" pitchFamily="34" charset="-122"/>
            </a:endParaRPr>
          </a:p>
        </p:txBody>
      </p:sp>
      <p:sp>
        <p:nvSpPr>
          <p:cNvPr id="49" name="Text Box 31"/>
          <p:cNvSpPr txBox="1">
            <a:spLocks noChangeArrowheads="1"/>
          </p:cNvSpPr>
          <p:nvPr/>
        </p:nvSpPr>
        <p:spPr bwMode="gray">
          <a:xfrm>
            <a:off x="1586516" y="6145899"/>
            <a:ext cx="36131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a:solidFill>
                  <a:srgbClr val="F8F8F8"/>
                </a:solidFill>
                <a:latin typeface="微软雅黑" panose="020B0503020204020204" pitchFamily="34" charset="-122"/>
                <a:ea typeface="微软雅黑" panose="020B0503020204020204" pitchFamily="34" charset="-122"/>
              </a:rPr>
              <a:t>7</a:t>
            </a:r>
          </a:p>
        </p:txBody>
      </p:sp>
      <p:sp>
        <p:nvSpPr>
          <p:cNvPr id="50" name="Line 29"/>
          <p:cNvSpPr>
            <a:spLocks noChangeShapeType="1"/>
          </p:cNvSpPr>
          <p:nvPr/>
        </p:nvSpPr>
        <p:spPr bwMode="auto">
          <a:xfrm>
            <a:off x="2082767" y="6713588"/>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51" name="Text Box 30"/>
          <p:cNvSpPr txBox="1">
            <a:spLocks noChangeArrowheads="1"/>
          </p:cNvSpPr>
          <p:nvPr/>
        </p:nvSpPr>
        <p:spPr bwMode="auto">
          <a:xfrm>
            <a:off x="3008204" y="6060242"/>
            <a:ext cx="2621280" cy="46037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本节小结与思考题</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995170" y="2590800"/>
            <a:ext cx="9359900" cy="1677035"/>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4.1</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网络信息内容过滤概述</a:t>
            </a:r>
          </a:p>
          <a:p>
            <a:endPar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340"/>
          <p:cNvSpPr txBox="1"/>
          <p:nvPr/>
        </p:nvSpPr>
        <p:spPr>
          <a:xfrm>
            <a:off x="1260765" y="3366263"/>
            <a:ext cx="9836726" cy="2409249"/>
          </a:xfrm>
          <a:prstGeom prst="rect">
            <a:avLst/>
          </a:prstGeom>
        </p:spPr>
        <p:txBody>
          <a:bodyPr wrap="square">
            <a:spAutoFit/>
          </a:bodyPr>
          <a:lstStyle>
            <a:defPPr>
              <a:defRPr lang="zh-CN"/>
            </a:defPPr>
            <a:lvl1pPr>
              <a:lnSpc>
                <a:spcPct val="125000"/>
              </a:lnSpc>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000" dirty="0"/>
              <a:t>相比于信息检索技术，网络信息过滤技术是一种更系统化的方法，用来从动态的信息流中抽取出符合个性化需求的信息。</a:t>
            </a:r>
          </a:p>
          <a:p>
            <a:pPr marL="342900" indent="-342900">
              <a:buFont typeface="Arial" panose="020B0604020202020204" pitchFamily="34" charset="0"/>
              <a:buChar char="•"/>
            </a:pPr>
            <a:endParaRPr lang="en-US" altLang="zh-CN" sz="1000" dirty="0"/>
          </a:p>
          <a:p>
            <a:pPr marL="342900" lvl="1" indent="-342900">
              <a:lnSpc>
                <a:spcPct val="125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相比于传统的信息检索模式，信息过滤技术具有较高的可扩展性，能适应大规模用户群和海量信息。</a:t>
            </a:r>
          </a:p>
          <a:p>
            <a:pPr marL="342900" lvl="1" indent="-342900">
              <a:lnSpc>
                <a:spcPct val="125000"/>
              </a:lnSpc>
              <a:buFont typeface="Arial" panose="020B0604020202020204" pitchFamily="34" charset="0"/>
              <a:buChar char="•"/>
            </a:pPr>
            <a:endPar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342900" lvl="1" indent="-342900">
              <a:lnSpc>
                <a:spcPct val="125000"/>
              </a:lnSpc>
              <a:buFont typeface="Arial" panose="020B0604020202020204" pitchFamily="34" charset="0"/>
              <a:buChar cha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可以为用户提供及时、个性化的信息服务，具有一定的智能和较高的自动化程度。</a:t>
            </a:r>
            <a:endParaRPr lang="en-US" altLang="zh-CN" sz="2000" dirty="0"/>
          </a:p>
        </p:txBody>
      </p:sp>
      <p:sp>
        <p:nvSpPr>
          <p:cNvPr id="78" name="圆角矩形 77"/>
          <p:cNvSpPr/>
          <p:nvPr/>
        </p:nvSpPr>
        <p:spPr>
          <a:xfrm>
            <a:off x="983673" y="1314444"/>
            <a:ext cx="10474035" cy="1754726"/>
          </a:xfrm>
          <a:prstGeom prst="roundRect">
            <a:avLst>
              <a:gd name="adj" fmla="val 9394"/>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1330037" y="1342159"/>
            <a:ext cx="9878290" cy="1689052"/>
          </a:xfrm>
          <a:prstGeom prst="rect">
            <a:avLst/>
          </a:prstGeom>
        </p:spPr>
        <p:txBody>
          <a:bodyPr wrap="square">
            <a:spAutoFit/>
          </a:bodyPr>
          <a:lstStyle/>
          <a:p>
            <a:pPr>
              <a:lnSpc>
                <a:spcPct val="150000"/>
              </a:lnSpc>
            </a:pPr>
            <a:r>
              <a:rPr lang="zh-CN" altLang="en-US" sz="2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定义：</a:t>
            </a:r>
            <a:endParaRPr lang="en-US" altLang="zh-CN" sz="2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indent="612000">
              <a:lnSpc>
                <a:spcPct val="150000"/>
              </a:lnSpc>
            </a:pPr>
            <a:r>
              <a:rPr lang="zh-CN" altLang="en-US" sz="2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根据用户的信息需求，运用一定的标准和工具，从大量的动态网络信息流中选取相关的信息或剔除不相关信息的过程。</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网络信息内容过滤概述</a:t>
            </a:r>
            <a:r>
              <a:rPr lang="en-US" altLang="zh-CN"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a:t>
            </a:r>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定义</a:t>
            </a:r>
          </a:p>
        </p:txBody>
      </p:sp>
      <p:sp>
        <p:nvSpPr>
          <p:cNvPr id="8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180981" y="4715959"/>
            <a:ext cx="3521710" cy="417830"/>
          </a:xfrm>
          <a:prstGeom prst="rect">
            <a:avLst/>
          </a:prstGeom>
          <a:noFill/>
        </p:spPr>
        <p:txBody>
          <a:bodyPr wrap="square" rtlCol="0">
            <a:spAutoFit/>
          </a:bodyPr>
          <a:lstStyle/>
          <a:p>
            <a:pPr indent="0">
              <a:buFont typeface="Arial" panose="020B0604020202020204" pitchFamily="34" charset="0"/>
              <a:buNone/>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网络信息内容过滤基本原理</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网络信息内容过滤概述</a:t>
            </a:r>
            <a:r>
              <a:rPr lang="en-US" altLang="zh-CN"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a:t>
            </a:r>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原理</a:t>
            </a:r>
          </a:p>
        </p:txBody>
      </p:sp>
      <p:sp>
        <p:nvSpPr>
          <p:cNvPr id="2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aphicFrame>
        <p:nvGraphicFramePr>
          <p:cNvPr id="2" name="对象 -2147482450"/>
          <p:cNvGraphicFramePr/>
          <p:nvPr>
            <p:extLst>
              <p:ext uri="{D42A27DB-BD31-4B8C-83A1-F6EECF244321}">
                <p14:modId xmlns:p14="http://schemas.microsoft.com/office/powerpoint/2010/main" val="2190649073"/>
              </p:ext>
            </p:extLst>
          </p:nvPr>
        </p:nvGraphicFramePr>
        <p:xfrm>
          <a:off x="472313" y="2168583"/>
          <a:ext cx="4702362" cy="2331346"/>
        </p:xfrm>
        <a:graphic>
          <a:graphicData uri="http://schemas.openxmlformats.org/presentationml/2006/ole">
            <mc:AlternateContent xmlns:mc="http://schemas.openxmlformats.org/markup-compatibility/2006">
              <mc:Choice xmlns:v="urn:schemas-microsoft-com:vml" Requires="v">
                <p:oleObj r:id="rId2" imgW="6070600" imgH="2641600" progId="Visio.Drawing.11">
                  <p:embed/>
                </p:oleObj>
              </mc:Choice>
              <mc:Fallback>
                <p:oleObj r:id="rId2" imgW="6070600" imgH="2641600" progId="Visio.Drawing.11">
                  <p:embed/>
                  <p:pic>
                    <p:nvPicPr>
                      <p:cNvPr id="0" name="图片 3075"/>
                      <p:cNvPicPr/>
                      <p:nvPr/>
                    </p:nvPicPr>
                    <p:blipFill>
                      <a:blip r:embed="rId3"/>
                      <a:stretch>
                        <a:fillRect/>
                      </a:stretch>
                    </p:blipFill>
                    <p:spPr>
                      <a:xfrm>
                        <a:off x="472313" y="2168583"/>
                        <a:ext cx="4702362" cy="2331346"/>
                      </a:xfrm>
                      <a:prstGeom prst="rect">
                        <a:avLst/>
                      </a:prstGeom>
                      <a:noFill/>
                      <a:ln w="38100">
                        <a:noFill/>
                        <a:miter/>
                      </a:ln>
                    </p:spPr>
                  </p:pic>
                </p:oleObj>
              </mc:Fallback>
            </mc:AlternateContent>
          </a:graphicData>
        </a:graphic>
      </p:graphicFrame>
      <p:sp>
        <p:nvSpPr>
          <p:cNvPr id="199" name="矩形 198"/>
          <p:cNvSpPr/>
          <p:nvPr/>
        </p:nvSpPr>
        <p:spPr bwMode="auto">
          <a:xfrm>
            <a:off x="5853281" y="2272523"/>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567055" y="1303020"/>
            <a:ext cx="4763885" cy="461665"/>
          </a:xfrm>
          <a:prstGeom prst="rect">
            <a:avLst/>
          </a:prstGeom>
          <a:noFill/>
        </p:spPr>
        <p:txBody>
          <a:bodyPr wrap="square" rtlCol="0">
            <a:spAutoFit/>
          </a:bodyPr>
          <a:lstStyle/>
          <a:p>
            <a:pPr indent="0">
              <a:buFont typeface="Arial" panose="020B0604020202020204" pitchFamily="34" charset="0"/>
              <a:buNone/>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网络信息内容过滤系统常见特点</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矩形 3"/>
          <p:cNvSpPr/>
          <p:nvPr/>
        </p:nvSpPr>
        <p:spPr bwMode="auto">
          <a:xfrm>
            <a:off x="5851376" y="3000062"/>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bwMode="auto">
          <a:xfrm>
            <a:off x="5851376" y="3531791"/>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bwMode="auto">
          <a:xfrm>
            <a:off x="5851376" y="4250553"/>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bwMode="auto">
          <a:xfrm>
            <a:off x="5851376" y="5195434"/>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bwMode="auto">
          <a:xfrm>
            <a:off x="5853281" y="6117912"/>
            <a:ext cx="216000" cy="2160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200" name="文本框 12"/>
          <p:cNvSpPr txBox="1"/>
          <p:nvPr/>
        </p:nvSpPr>
        <p:spPr>
          <a:xfrm>
            <a:off x="6386945" y="1942465"/>
            <a:ext cx="5332742" cy="8534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信息过滤系统是为无结构化和半结构化的数据而设计的信息系统</a:t>
            </a:r>
          </a:p>
        </p:txBody>
      </p:sp>
      <p:sp>
        <p:nvSpPr>
          <p:cNvPr id="13" name="文本框 12"/>
          <p:cNvSpPr txBox="1"/>
          <p:nvPr/>
        </p:nvSpPr>
        <p:spPr>
          <a:xfrm>
            <a:off x="6386945" y="2844394"/>
            <a:ext cx="5532005" cy="441916"/>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信息过滤系统主要用来处理大量的动态的信息</a:t>
            </a:r>
          </a:p>
        </p:txBody>
      </p:sp>
      <p:sp>
        <p:nvSpPr>
          <p:cNvPr id="14" name="文本框 13"/>
          <p:cNvSpPr txBox="1"/>
          <p:nvPr/>
        </p:nvSpPr>
        <p:spPr>
          <a:xfrm>
            <a:off x="6386309" y="3383974"/>
            <a:ext cx="5532006" cy="441916"/>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信息过滤系统包含大量的数据</a:t>
            </a:r>
          </a:p>
        </p:txBody>
      </p:sp>
      <p:sp>
        <p:nvSpPr>
          <p:cNvPr id="15" name="文本框 14"/>
          <p:cNvSpPr txBox="1"/>
          <p:nvPr/>
        </p:nvSpPr>
        <p:spPr>
          <a:xfrm>
            <a:off x="6386309" y="3957263"/>
            <a:ext cx="5333378" cy="8534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典型的信息过滤系统应用包含输入的数据流或是远程数据源的在线广播(比如新闻组、Email)</a:t>
            </a:r>
          </a:p>
        </p:txBody>
      </p:sp>
      <p:sp>
        <p:nvSpPr>
          <p:cNvPr id="17" name="文本框 16"/>
          <p:cNvSpPr txBox="1"/>
          <p:nvPr/>
        </p:nvSpPr>
        <p:spPr>
          <a:xfrm>
            <a:off x="6386309" y="4881361"/>
            <a:ext cx="5332742" cy="8534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过滤是基于对个体或群组的信息偏好的描述，也称为用户取向</a:t>
            </a:r>
          </a:p>
        </p:txBody>
      </p:sp>
      <p:sp>
        <p:nvSpPr>
          <p:cNvPr id="18" name="文本框 17"/>
          <p:cNvSpPr txBox="1"/>
          <p:nvPr/>
        </p:nvSpPr>
        <p:spPr>
          <a:xfrm>
            <a:off x="6386308" y="5797148"/>
            <a:ext cx="5332742" cy="826637"/>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过滤是从动态的数据流中收集或去掉某些文本信息</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文本框 182"/>
          <p:cNvSpPr txBox="1"/>
          <p:nvPr/>
        </p:nvSpPr>
        <p:spPr>
          <a:xfrm>
            <a:off x="1792747" y="5891549"/>
            <a:ext cx="7879080" cy="461665"/>
          </a:xfrm>
          <a:prstGeom prst="rect">
            <a:avLst/>
          </a:prstGeom>
          <a:noFill/>
        </p:spPr>
        <p:txBody>
          <a:bodyPr wrap="non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latin typeface="微软雅黑" panose="020B0503020204020204" pitchFamily="34" charset="-122"/>
                <a:ea typeface="微软雅黑" panose="020B0503020204020204" pitchFamily="34" charset="-122"/>
              </a:rPr>
              <a:t>网络信息内容过滤具有重要的现实意义和巨大的应用价值</a:t>
            </a:r>
          </a:p>
        </p:txBody>
      </p:sp>
      <p:sp>
        <p:nvSpPr>
          <p:cNvPr id="196"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网络信息内容过滤概述</a:t>
            </a:r>
            <a:r>
              <a:rPr lang="en-US" altLang="zh-CN"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a:t>
            </a:r>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意义</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3" name="Freeform 48"/>
          <p:cNvSpPr/>
          <p:nvPr/>
        </p:nvSpPr>
        <p:spPr bwMode="gray">
          <a:xfrm flipH="1">
            <a:off x="2024380" y="1513205"/>
            <a:ext cx="3515360" cy="1981835"/>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chemeClr val="bg1">
              <a:lumMod val="75000"/>
            </a:schemeClr>
          </a:solidFill>
          <a:ln w="28575" cmpd="sng">
            <a:solidFill>
              <a:srgbClr val="F8F8F8"/>
            </a:solidFill>
            <a:round/>
          </a:ln>
          <a:effectLst>
            <a:outerShdw dist="107763" dir="2700000" algn="ctr" rotWithShape="0">
              <a:srgbClr val="1C1C1C">
                <a:alpha val="50000"/>
              </a:srgbClr>
            </a:outerShdw>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4" name="Freeform 49"/>
          <p:cNvSpPr/>
          <p:nvPr/>
        </p:nvSpPr>
        <p:spPr bwMode="gray">
          <a:xfrm>
            <a:off x="5635625" y="1513205"/>
            <a:ext cx="3629025" cy="1981835"/>
          </a:xfrm>
          <a:custGeom>
            <a:avLst/>
            <a:gdLst>
              <a:gd name="T0" fmla="*/ 2147483647 w 1299"/>
              <a:gd name="T1" fmla="*/ 2147483647 h 1008"/>
              <a:gd name="T2" fmla="*/ 2147483647 w 1299"/>
              <a:gd name="T3" fmla="*/ 2147483647 h 1008"/>
              <a:gd name="T4" fmla="*/ 2147483647 w 1299"/>
              <a:gd name="T5" fmla="*/ 2147483647 h 1008"/>
              <a:gd name="T6" fmla="*/ 2147483647 w 1299"/>
              <a:gd name="T7" fmla="*/ 0 h 1008"/>
              <a:gd name="T8" fmla="*/ 2147483647 w 1299"/>
              <a:gd name="T9" fmla="*/ 0 h 1008"/>
              <a:gd name="T10" fmla="*/ 0 w 1299"/>
              <a:gd name="T11" fmla="*/ 2147483647 h 1008"/>
              <a:gd name="T12" fmla="*/ 2147483647 w 1299"/>
              <a:gd name="T13" fmla="*/ 2147483647 h 10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3DA2CB"/>
          </a:solidFill>
          <a:ln w="28575" cmpd="sng">
            <a:solidFill>
              <a:srgbClr val="F8F8F8"/>
            </a:solidFill>
            <a:round/>
          </a:ln>
          <a:effectLst>
            <a:outerShdw dist="107763" dir="2700000" algn="ctr" rotWithShape="0">
              <a:srgbClr val="1C1C1C">
                <a:alpha val="50000"/>
              </a:srgbClr>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Freeform 50"/>
          <p:cNvSpPr/>
          <p:nvPr/>
        </p:nvSpPr>
        <p:spPr bwMode="gray">
          <a:xfrm>
            <a:off x="2024380" y="3596005"/>
            <a:ext cx="3516630" cy="1791335"/>
          </a:xfrm>
          <a:custGeom>
            <a:avLst/>
            <a:gdLst>
              <a:gd name="T0" fmla="*/ 2147483647 w 1299"/>
              <a:gd name="T1" fmla="*/ 2147483647 h 1008"/>
              <a:gd name="T2" fmla="*/ 2147483647 w 1299"/>
              <a:gd name="T3" fmla="*/ 2147483647 h 1008"/>
              <a:gd name="T4" fmla="*/ 2147483647 w 1299"/>
              <a:gd name="T5" fmla="*/ 2147483647 h 1008"/>
              <a:gd name="T6" fmla="*/ 2147483647 w 1299"/>
              <a:gd name="T7" fmla="*/ 0 h 1008"/>
              <a:gd name="T8" fmla="*/ 2147483647 w 1299"/>
              <a:gd name="T9" fmla="*/ 0 h 1008"/>
              <a:gd name="T10" fmla="*/ 0 w 1299"/>
              <a:gd name="T11" fmla="*/ 2147483647 h 1008"/>
              <a:gd name="T12" fmla="*/ 2147483647 w 1299"/>
              <a:gd name="T13" fmla="*/ 2147483647 h 10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3DA2CB"/>
          </a:solidFill>
          <a:ln w="28575" cmpd="sng">
            <a:solidFill>
              <a:srgbClr val="31B5D6"/>
            </a:solidFill>
            <a:round/>
          </a:ln>
          <a:effectLst>
            <a:outerShdw dist="107763" dir="2700000" algn="ctr" rotWithShape="0">
              <a:srgbClr val="1C1C1C">
                <a:alpha val="50000"/>
              </a:srgbClr>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Freeform 51"/>
          <p:cNvSpPr/>
          <p:nvPr/>
        </p:nvSpPr>
        <p:spPr bwMode="gray">
          <a:xfrm flipH="1">
            <a:off x="5635625" y="3596005"/>
            <a:ext cx="3629025" cy="1791335"/>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chemeClr val="bg1">
              <a:lumMod val="75000"/>
            </a:schemeClr>
          </a:solidFill>
          <a:ln w="28575" cmpd="sng">
            <a:solidFill>
              <a:srgbClr val="F8F8F8"/>
            </a:solidFill>
            <a:round/>
          </a:ln>
          <a:effectLst>
            <a:outerShdw dist="107763" dir="2700000" algn="ctr" rotWithShape="0">
              <a:srgbClr val="1C1C1C">
                <a:alpha val="50000"/>
              </a:srgbClr>
            </a:outerShdw>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12" name="Rectangle 59"/>
          <p:cNvSpPr>
            <a:spLocks noChangeArrowheads="1"/>
          </p:cNvSpPr>
          <p:nvPr/>
        </p:nvSpPr>
        <p:spPr bwMode="auto">
          <a:xfrm>
            <a:off x="2476930" y="2023741"/>
            <a:ext cx="2611120" cy="9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504000" eaLnBrk="1" hangingPunct="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改善Internet信息查询技术的需要</a:t>
            </a:r>
          </a:p>
        </p:txBody>
      </p:sp>
      <p:sp>
        <p:nvSpPr>
          <p:cNvPr id="13" name="Rectangle 60"/>
          <p:cNvSpPr>
            <a:spLocks noChangeArrowheads="1"/>
          </p:cNvSpPr>
          <p:nvPr/>
        </p:nvSpPr>
        <p:spPr bwMode="auto">
          <a:xfrm>
            <a:off x="6153070" y="2304013"/>
            <a:ext cx="26111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2"/>
                </a:solidFill>
                <a:latin typeface="微软雅黑" panose="020B0503020204020204" pitchFamily="34" charset="-122"/>
                <a:ea typeface="微软雅黑" panose="020B0503020204020204" pitchFamily="34" charset="-122"/>
              </a:rPr>
              <a:t>个性化服务的基础</a:t>
            </a:r>
          </a:p>
        </p:txBody>
      </p:sp>
      <p:sp>
        <p:nvSpPr>
          <p:cNvPr id="14" name="Rectangle 61"/>
          <p:cNvSpPr>
            <a:spLocks noChangeArrowheads="1"/>
          </p:cNvSpPr>
          <p:nvPr/>
        </p:nvSpPr>
        <p:spPr bwMode="auto">
          <a:xfrm>
            <a:off x="2629543" y="3972341"/>
            <a:ext cx="2458720" cy="9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504000" eaLnBrk="1" hangingPunct="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维护我国信息安全的迫切需要</a:t>
            </a:r>
          </a:p>
        </p:txBody>
      </p:sp>
      <p:sp>
        <p:nvSpPr>
          <p:cNvPr id="15" name="Rectangle 62"/>
          <p:cNvSpPr>
            <a:spLocks noChangeArrowheads="1"/>
          </p:cNvSpPr>
          <p:nvPr/>
        </p:nvSpPr>
        <p:spPr bwMode="auto">
          <a:xfrm>
            <a:off x="5927725" y="3780196"/>
            <a:ext cx="3061970"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504000" eaLnBrk="1" hangingPunct="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信息中介（信息服务供应商）开展网络增值服务的手段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12" grpId="0" bldLvl="0" animBg="1"/>
      <p:bldP spid="13" grpId="0" bldLvl="0" animBg="1"/>
      <p:bldP spid="14" grpId="0" bldLvl="0" animBg="1"/>
      <p:bldP spid="15"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050474" y="2188788"/>
            <a:ext cx="8179376" cy="2118360"/>
          </a:xfrm>
          <a:prstGeom prst="rect">
            <a:avLst/>
          </a:prstGeom>
          <a:noFill/>
          <a:ln w="9525">
            <a:noFill/>
            <a:miter lim="800000"/>
          </a:ln>
        </p:spPr>
        <p:txBody>
          <a:bodyPr/>
          <a:lstStyle/>
          <a:p>
            <a:r>
              <a:rPr lang="en-US" altLang="zh-CN"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4.2 </a:t>
            </a:r>
            <a:r>
              <a:rPr lang="zh-CN" altLang="en-US"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网络信息内容过滤技术的分类</a:t>
            </a:r>
            <a:endParaRPr lang="en-US" altLang="zh-CN"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 name="组合 276"/>
          <p:cNvGrpSpPr/>
          <p:nvPr/>
        </p:nvGrpSpPr>
        <p:grpSpPr>
          <a:xfrm>
            <a:off x="609116" y="261257"/>
            <a:ext cx="1214822" cy="760080"/>
            <a:chOff x="1922078" y="0"/>
            <a:chExt cx="8347844" cy="3447438"/>
          </a:xfrm>
        </p:grpSpPr>
        <p:grpSp>
          <p:nvGrpSpPr>
            <p:cNvPr id="278" name="组合 277"/>
            <p:cNvGrpSpPr/>
            <p:nvPr/>
          </p:nvGrpSpPr>
          <p:grpSpPr>
            <a:xfrm rot="20997101">
              <a:off x="5080902" y="0"/>
              <a:ext cx="659781" cy="793569"/>
              <a:chOff x="9397113" y="1572484"/>
              <a:chExt cx="739439" cy="900000"/>
            </a:xfrm>
          </p:grpSpPr>
          <p:pic>
            <p:nvPicPr>
              <p:cNvPr id="336" name="图片 335"/>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7" name="椭圆 336"/>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2455872">
              <a:off x="9009447" y="1071465"/>
              <a:ext cx="659781" cy="793569"/>
              <a:chOff x="8752405" y="680495"/>
              <a:chExt cx="739439" cy="900000"/>
            </a:xfrm>
          </p:grpSpPr>
          <p:pic>
            <p:nvPicPr>
              <p:cNvPr id="334" name="图片 333"/>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5" name="椭圆 334"/>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539373">
              <a:off x="4239050" y="1051458"/>
              <a:ext cx="642436" cy="793569"/>
              <a:chOff x="7798300" y="2128176"/>
              <a:chExt cx="720000" cy="900000"/>
            </a:xfrm>
          </p:grpSpPr>
          <p:pic>
            <p:nvPicPr>
              <p:cNvPr id="332" name="图片 331"/>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3" name="椭圆 332"/>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1" name="组合 280"/>
            <p:cNvGrpSpPr/>
            <p:nvPr/>
          </p:nvGrpSpPr>
          <p:grpSpPr>
            <a:xfrm rot="622440">
              <a:off x="6257266" y="1278812"/>
              <a:ext cx="643355" cy="793569"/>
              <a:chOff x="5457544" y="2382484"/>
              <a:chExt cx="721030" cy="900000"/>
            </a:xfrm>
          </p:grpSpPr>
          <p:pic>
            <p:nvPicPr>
              <p:cNvPr id="330" name="图片 3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31" name="椭圆 330"/>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2" name="组合 281"/>
            <p:cNvGrpSpPr/>
            <p:nvPr/>
          </p:nvGrpSpPr>
          <p:grpSpPr>
            <a:xfrm rot="713899">
              <a:off x="6982111" y="246490"/>
              <a:ext cx="642436" cy="811512"/>
              <a:chOff x="2594245" y="3143107"/>
              <a:chExt cx="720000" cy="920349"/>
            </a:xfrm>
          </p:grpSpPr>
          <p:pic>
            <p:nvPicPr>
              <p:cNvPr id="328" name="图片 327"/>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9" name="椭圆 328"/>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3" name="组合 282"/>
            <p:cNvGrpSpPr/>
            <p:nvPr/>
          </p:nvGrpSpPr>
          <p:grpSpPr>
            <a:xfrm rot="20351331">
              <a:off x="2986611" y="357756"/>
              <a:ext cx="642436" cy="793569"/>
              <a:chOff x="3277182" y="773323"/>
              <a:chExt cx="720000" cy="900000"/>
            </a:xfrm>
          </p:grpSpPr>
          <p:sp>
            <p:nvSpPr>
              <p:cNvPr id="326" name="椭圆 325"/>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7" name="图片 3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4" name="组合 283"/>
            <p:cNvGrpSpPr/>
            <p:nvPr/>
          </p:nvGrpSpPr>
          <p:grpSpPr>
            <a:xfrm rot="1912890">
              <a:off x="7930945" y="1382649"/>
              <a:ext cx="648427" cy="793569"/>
              <a:chOff x="5384758" y="1250900"/>
              <a:chExt cx="726714" cy="900000"/>
            </a:xfrm>
          </p:grpSpPr>
          <p:sp>
            <p:nvSpPr>
              <p:cNvPr id="324" name="椭圆 323"/>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5" name="图片 32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5" name="组合 284"/>
            <p:cNvGrpSpPr/>
            <p:nvPr/>
          </p:nvGrpSpPr>
          <p:grpSpPr>
            <a:xfrm rot="1354213">
              <a:off x="7092076" y="1228721"/>
              <a:ext cx="642436" cy="793569"/>
              <a:chOff x="3639753" y="2488176"/>
              <a:chExt cx="720000" cy="900000"/>
            </a:xfrm>
          </p:grpSpPr>
          <p:sp>
            <p:nvSpPr>
              <p:cNvPr id="322" name="椭圆 321"/>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3" name="图片 3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6" name="组合 285"/>
            <p:cNvGrpSpPr/>
            <p:nvPr/>
          </p:nvGrpSpPr>
          <p:grpSpPr>
            <a:xfrm rot="19874646">
              <a:off x="3552291" y="1752953"/>
              <a:ext cx="647730" cy="793569"/>
              <a:chOff x="4707387" y="271511"/>
              <a:chExt cx="725933" cy="900000"/>
            </a:xfrm>
          </p:grpSpPr>
          <p:sp>
            <p:nvSpPr>
              <p:cNvPr id="320" name="椭圆 319"/>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1" name="图片 32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7" name="组合 286"/>
            <p:cNvGrpSpPr/>
            <p:nvPr/>
          </p:nvGrpSpPr>
          <p:grpSpPr>
            <a:xfrm>
              <a:off x="5902457" y="519563"/>
              <a:ext cx="647456" cy="793569"/>
              <a:chOff x="4355614" y="1671769"/>
              <a:chExt cx="725626" cy="900000"/>
            </a:xfrm>
          </p:grpSpPr>
          <p:sp>
            <p:nvSpPr>
              <p:cNvPr id="318" name="椭圆 317"/>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9" name="图片 3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8" name="组合 287"/>
            <p:cNvGrpSpPr/>
            <p:nvPr/>
          </p:nvGrpSpPr>
          <p:grpSpPr>
            <a:xfrm rot="3261331">
              <a:off x="8178834" y="2216888"/>
              <a:ext cx="645495" cy="803045"/>
              <a:chOff x="6534782" y="2204846"/>
              <a:chExt cx="732066" cy="900000"/>
            </a:xfrm>
          </p:grpSpPr>
          <p:sp>
            <p:nvSpPr>
              <p:cNvPr id="316" name="椭圆 315"/>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7" name="图片 3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9" name="组合 288"/>
            <p:cNvGrpSpPr/>
            <p:nvPr/>
          </p:nvGrpSpPr>
          <p:grpSpPr>
            <a:xfrm rot="1881527">
              <a:off x="8180043" y="493339"/>
              <a:ext cx="646830" cy="793569"/>
              <a:chOff x="5993772" y="258109"/>
              <a:chExt cx="724925" cy="900000"/>
            </a:xfrm>
          </p:grpSpPr>
          <p:sp>
            <p:nvSpPr>
              <p:cNvPr id="314" name="椭圆 313"/>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5" name="图片 31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90" name="组合 289"/>
            <p:cNvGrpSpPr/>
            <p:nvPr/>
          </p:nvGrpSpPr>
          <p:grpSpPr>
            <a:xfrm rot="3066563">
              <a:off x="9550518" y="2274810"/>
              <a:ext cx="635764" cy="803045"/>
              <a:chOff x="8806213" y="2910111"/>
              <a:chExt cx="721030" cy="900000"/>
            </a:xfrm>
          </p:grpSpPr>
          <p:sp>
            <p:nvSpPr>
              <p:cNvPr id="312" name="椭圆 31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3" name="图片 31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91" name="组合 290"/>
            <p:cNvGrpSpPr/>
            <p:nvPr/>
          </p:nvGrpSpPr>
          <p:grpSpPr>
            <a:xfrm rot="20849518">
              <a:off x="5023848" y="1251597"/>
              <a:ext cx="644890" cy="793569"/>
              <a:chOff x="7330781" y="818297"/>
              <a:chExt cx="722751" cy="900000"/>
            </a:xfrm>
          </p:grpSpPr>
          <p:sp>
            <p:nvSpPr>
              <p:cNvPr id="310" name="椭圆 309"/>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1" name="图片 31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92" name="组合 291"/>
            <p:cNvGrpSpPr/>
            <p:nvPr/>
          </p:nvGrpSpPr>
          <p:grpSpPr>
            <a:xfrm rot="19756194">
              <a:off x="1922078" y="1474933"/>
              <a:ext cx="653202" cy="793569"/>
              <a:chOff x="2213446" y="1768419"/>
              <a:chExt cx="732066" cy="900000"/>
            </a:xfrm>
          </p:grpSpPr>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9" name="椭圆 308"/>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3" name="直接连接符 292"/>
            <p:cNvCxnSpPr>
              <a:stCxn id="320"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09"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26"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33"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37"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18"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0"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31"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9"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22"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14"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24"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5" name="直接连接符 304"/>
            <p:cNvCxnSpPr>
              <a:stCxn id="335"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6" name="直接连接符 305"/>
            <p:cNvCxnSpPr>
              <a:stCxn id="312"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316"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55309" y="1032131"/>
            <a:ext cx="10477147" cy="66943"/>
            <a:chOff x="655309" y="1032131"/>
            <a:chExt cx="10477147" cy="66943"/>
          </a:xfrm>
        </p:grpSpPr>
        <p:sp>
          <p:nvSpPr>
            <p:cNvPr id="338" name="矩形 337"/>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矩形 338"/>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矩形 340"/>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2" name="矩形 341"/>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矩形 342"/>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4" name="矩形 343"/>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5" name="文本框 344"/>
          <p:cNvSpPr txBox="1"/>
          <p:nvPr/>
        </p:nvSpPr>
        <p:spPr>
          <a:xfrm>
            <a:off x="2493605" y="331131"/>
            <a:ext cx="6186309" cy="646331"/>
          </a:xfrm>
          <a:prstGeom prst="rect">
            <a:avLst/>
          </a:prstGeom>
          <a:noFill/>
        </p:spPr>
        <p:txBody>
          <a:bodyPr wrap="none" rtlCol="0">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rPr>
              <a:t>网络信息内容过滤技术的分类</a:t>
            </a:r>
          </a:p>
        </p:txBody>
      </p:sp>
      <p:grpSp>
        <p:nvGrpSpPr>
          <p:cNvPr id="8" name="组合 7"/>
          <p:cNvGrpSpPr/>
          <p:nvPr/>
        </p:nvGrpSpPr>
        <p:grpSpPr>
          <a:xfrm>
            <a:off x="1287427" y="1698830"/>
            <a:ext cx="0" cy="1274033"/>
            <a:chOff x="1246610" y="1440872"/>
            <a:chExt cx="0" cy="955525"/>
          </a:xfrm>
        </p:grpSpPr>
        <p:cxnSp>
          <p:nvCxnSpPr>
            <p:cNvPr id="10" name="直接连接符 9"/>
            <p:cNvCxnSpPr/>
            <p:nvPr/>
          </p:nvCxnSpPr>
          <p:spPr>
            <a:xfrm flipV="1">
              <a:off x="1246610" y="1907384"/>
              <a:ext cx="0" cy="489013"/>
            </a:xfrm>
            <a:prstGeom prst="line">
              <a:avLst/>
            </a:prstGeom>
            <a:ln w="12700">
              <a:solidFill>
                <a:srgbClr val="5B8F9F"/>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1246610" y="1440872"/>
              <a:ext cx="0" cy="489013"/>
            </a:xfrm>
            <a:prstGeom prst="line">
              <a:avLst/>
            </a:prstGeom>
            <a:ln w="44450">
              <a:solidFill>
                <a:srgbClr val="5B8F9F"/>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5942264" y="1712800"/>
            <a:ext cx="0" cy="1274033"/>
            <a:chOff x="4375887" y="1440872"/>
            <a:chExt cx="0" cy="955525"/>
          </a:xfrm>
        </p:grpSpPr>
        <p:cxnSp>
          <p:nvCxnSpPr>
            <p:cNvPr id="13" name="直接连接符 12"/>
            <p:cNvCxnSpPr/>
            <p:nvPr/>
          </p:nvCxnSpPr>
          <p:spPr>
            <a:xfrm flipV="1">
              <a:off x="4375887" y="1907384"/>
              <a:ext cx="0" cy="489013"/>
            </a:xfrm>
            <a:prstGeom prst="line">
              <a:avLst/>
            </a:prstGeom>
            <a:ln w="12700">
              <a:solidFill>
                <a:srgbClr val="5B8F9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4375887" y="1440872"/>
              <a:ext cx="0" cy="489013"/>
            </a:xfrm>
            <a:prstGeom prst="line">
              <a:avLst/>
            </a:prstGeom>
            <a:ln w="44450">
              <a:solidFill>
                <a:srgbClr val="5B8F9F"/>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3648534" y="4216867"/>
            <a:ext cx="0" cy="1276035"/>
            <a:chOff x="2806749" y="3318922"/>
            <a:chExt cx="0" cy="957026"/>
          </a:xfrm>
        </p:grpSpPr>
        <p:cxnSp>
          <p:nvCxnSpPr>
            <p:cNvPr id="16" name="直接连接符 15"/>
            <p:cNvCxnSpPr/>
            <p:nvPr/>
          </p:nvCxnSpPr>
          <p:spPr>
            <a:xfrm>
              <a:off x="2806749" y="3318922"/>
              <a:ext cx="0" cy="490513"/>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06749" y="3786935"/>
              <a:ext cx="0" cy="489013"/>
            </a:xfrm>
            <a:prstGeom prst="line">
              <a:avLst/>
            </a:prstGeom>
            <a:ln w="4445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8235805" y="4216867"/>
            <a:ext cx="0" cy="1276035"/>
            <a:chOff x="5942025" y="3318922"/>
            <a:chExt cx="0" cy="957026"/>
          </a:xfrm>
        </p:grpSpPr>
        <p:cxnSp>
          <p:nvCxnSpPr>
            <p:cNvPr id="19" name="直接连接符 18"/>
            <p:cNvCxnSpPr/>
            <p:nvPr/>
          </p:nvCxnSpPr>
          <p:spPr>
            <a:xfrm>
              <a:off x="5942025" y="3318922"/>
              <a:ext cx="0" cy="490513"/>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42025" y="3786935"/>
              <a:ext cx="0" cy="489013"/>
            </a:xfrm>
            <a:prstGeom prst="line">
              <a:avLst/>
            </a:prstGeom>
            <a:ln w="444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1348079" y="1584213"/>
            <a:ext cx="2638233" cy="950788"/>
          </a:xfrm>
          <a:prstGeom prst="rect">
            <a:avLst/>
          </a:prstGeom>
        </p:spPr>
        <p:txBody>
          <a:bodyPr lIns="115205" tIns="57602" rIns="115205" bIns="57602"/>
          <a:lstStyle/>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基于内容的过滤</a:t>
            </a:r>
          </a:p>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协作过滤</a:t>
            </a:r>
          </a:p>
        </p:txBody>
      </p:sp>
      <p:sp>
        <p:nvSpPr>
          <p:cNvPr id="22" name="矩形 21"/>
          <p:cNvSpPr/>
          <p:nvPr/>
        </p:nvSpPr>
        <p:spPr>
          <a:xfrm>
            <a:off x="6025727" y="1583994"/>
            <a:ext cx="2729653" cy="1089660"/>
          </a:xfrm>
          <a:prstGeom prst="rect">
            <a:avLst/>
          </a:prstGeom>
        </p:spPr>
        <p:txBody>
          <a:bodyPr lIns="115205" tIns="57602" rIns="115205" bIns="57602"/>
          <a:lstStyle/>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上游过滤</a:t>
            </a:r>
          </a:p>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下游过滤</a:t>
            </a:r>
          </a:p>
        </p:txBody>
      </p:sp>
      <p:sp>
        <p:nvSpPr>
          <p:cNvPr id="23" name="矩形 22"/>
          <p:cNvSpPr/>
          <p:nvPr/>
        </p:nvSpPr>
        <p:spPr>
          <a:xfrm>
            <a:off x="8235950" y="4627927"/>
            <a:ext cx="2638425" cy="1300903"/>
          </a:xfrm>
          <a:prstGeom prst="rect">
            <a:avLst/>
          </a:prstGeom>
        </p:spPr>
        <p:txBody>
          <a:bodyPr lIns="115205" tIns="57602" rIns="115205" bIns="57602" anchor="b"/>
          <a:lstStyle/>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专门过滤软件</a:t>
            </a:r>
          </a:p>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网络应用程序</a:t>
            </a:r>
          </a:p>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其他过滤工具</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4" name="矩形 23"/>
          <p:cNvSpPr/>
          <p:nvPr/>
        </p:nvSpPr>
        <p:spPr>
          <a:xfrm>
            <a:off x="1281430" y="2973070"/>
            <a:ext cx="2260600" cy="1473200"/>
          </a:xfrm>
          <a:prstGeom prst="rect">
            <a:avLst/>
          </a:prstGeom>
          <a:solidFill>
            <a:srgbClr val="5B8F9F"/>
          </a:solidFill>
          <a:ln>
            <a:noFill/>
          </a:ln>
        </p:spPr>
        <p:style>
          <a:lnRef idx="2">
            <a:schemeClr val="accent1">
              <a:shade val="50000"/>
            </a:schemeClr>
          </a:lnRef>
          <a:fillRef idx="1">
            <a:schemeClr val="accent1"/>
          </a:fillRef>
          <a:effectRef idx="0">
            <a:schemeClr val="accent1"/>
          </a:effectRef>
          <a:fontRef idx="minor">
            <a:schemeClr val="lt1"/>
          </a:fontRef>
        </p:style>
        <p:txBody>
          <a:bodyPr lIns="115205" tIns="57602" rIns="115205" bIns="57602" anchor="ctr"/>
          <a:lstStyle/>
          <a:p>
            <a:pPr algn="ctr">
              <a:defRPr/>
            </a:pPr>
            <a:r>
              <a:rPr lang="zh-CN" altLang="en-US" sz="2400" dirty="0">
                <a:solidFill>
                  <a:srgbClr val="FFFF00"/>
                </a:solidFill>
                <a:latin typeface="微软雅黑" panose="020B0503020204020204" pitchFamily="34" charset="-122"/>
                <a:ea typeface="微软雅黑" panose="020B0503020204020204" pitchFamily="34" charset="-122"/>
              </a:rPr>
              <a:t>根据过滤方法分类</a:t>
            </a:r>
          </a:p>
        </p:txBody>
      </p:sp>
      <p:sp>
        <p:nvSpPr>
          <p:cNvPr id="25" name="矩形 24"/>
          <p:cNvSpPr/>
          <p:nvPr/>
        </p:nvSpPr>
        <p:spPr>
          <a:xfrm>
            <a:off x="3648710" y="2973070"/>
            <a:ext cx="2171065" cy="1473200"/>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lIns="115205" tIns="57602" rIns="115205" bIns="57602" anchor="ctr"/>
          <a:lstStyle/>
          <a:p>
            <a:pPr algn="ctr">
              <a:defRPr/>
            </a:pPr>
            <a:r>
              <a:rPr lang="zh-CN" altLang="en-US" sz="2400" dirty="0">
                <a:solidFill>
                  <a:schemeClr val="tx2"/>
                </a:solidFill>
                <a:latin typeface="微软雅黑" panose="020B0503020204020204" pitchFamily="34" charset="-122"/>
                <a:ea typeface="微软雅黑" panose="020B0503020204020204" pitchFamily="34" charset="-122"/>
              </a:rPr>
              <a:t>根据操作的主动性分类</a:t>
            </a:r>
          </a:p>
        </p:txBody>
      </p:sp>
      <p:sp>
        <p:nvSpPr>
          <p:cNvPr id="26" name="矩形 25"/>
          <p:cNvSpPr/>
          <p:nvPr/>
        </p:nvSpPr>
        <p:spPr>
          <a:xfrm>
            <a:off x="5942330" y="2973070"/>
            <a:ext cx="2155825" cy="1473835"/>
          </a:xfrm>
          <a:prstGeom prst="rect">
            <a:avLst/>
          </a:prstGeom>
          <a:solidFill>
            <a:srgbClr val="5B8F9F"/>
          </a:solidFill>
          <a:ln>
            <a:noFill/>
          </a:ln>
        </p:spPr>
        <p:style>
          <a:lnRef idx="2">
            <a:schemeClr val="accent1">
              <a:shade val="50000"/>
            </a:schemeClr>
          </a:lnRef>
          <a:fillRef idx="1">
            <a:schemeClr val="accent1"/>
          </a:fillRef>
          <a:effectRef idx="0">
            <a:schemeClr val="accent1"/>
          </a:effectRef>
          <a:fontRef idx="minor">
            <a:schemeClr val="lt1"/>
          </a:fontRef>
        </p:style>
        <p:txBody>
          <a:bodyPr lIns="115205" tIns="57602" rIns="115205" bIns="57602" anchor="ctr"/>
          <a:lstStyle/>
          <a:p>
            <a:pPr algn="ctr">
              <a:defRPr/>
            </a:pPr>
            <a:r>
              <a:rPr lang="zh-CN" altLang="en-US" sz="2400" dirty="0">
                <a:solidFill>
                  <a:srgbClr val="FFFF00"/>
                </a:solidFill>
                <a:latin typeface="微软雅黑" panose="020B0503020204020204" pitchFamily="34" charset="-122"/>
                <a:ea typeface="微软雅黑" panose="020B0503020204020204" pitchFamily="34" charset="-122"/>
              </a:rPr>
              <a:t>根据过滤位置分类</a:t>
            </a:r>
          </a:p>
        </p:txBody>
      </p:sp>
      <p:sp>
        <p:nvSpPr>
          <p:cNvPr id="27" name="矩形 26"/>
          <p:cNvSpPr/>
          <p:nvPr/>
        </p:nvSpPr>
        <p:spPr>
          <a:xfrm>
            <a:off x="8235950" y="2973070"/>
            <a:ext cx="2140585" cy="1473200"/>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lIns="115205" tIns="57602" rIns="115205" bIns="57602" anchor="ctr"/>
          <a:lstStyle/>
          <a:p>
            <a:pPr algn="ctr">
              <a:defRPr/>
            </a:pPr>
            <a:r>
              <a:rPr lang="zh-CN" altLang="en-US" sz="2400" dirty="0">
                <a:solidFill>
                  <a:schemeClr val="tx2"/>
                </a:solidFill>
                <a:latin typeface="微软雅黑" panose="020B0503020204020204" pitchFamily="34" charset="-122"/>
                <a:ea typeface="微软雅黑" panose="020B0503020204020204" pitchFamily="34" charset="-122"/>
              </a:rPr>
              <a:t>根据过滤的不同应用分类</a:t>
            </a:r>
          </a:p>
        </p:txBody>
      </p:sp>
      <p:sp>
        <p:nvSpPr>
          <p:cNvPr id="30" name="矩形 29"/>
          <p:cNvSpPr/>
          <p:nvPr/>
        </p:nvSpPr>
        <p:spPr>
          <a:xfrm>
            <a:off x="3648684" y="4750495"/>
            <a:ext cx="2638233" cy="1090029"/>
          </a:xfrm>
          <a:prstGeom prst="rect">
            <a:avLst/>
          </a:prstGeom>
        </p:spPr>
        <p:txBody>
          <a:bodyPr lIns="115205" tIns="57602" rIns="115205" bIns="57602"/>
          <a:lstStyle/>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主动过滤</a:t>
            </a:r>
          </a:p>
          <a:p>
            <a:pPr>
              <a:lnSpc>
                <a:spcPct val="120000"/>
              </a:lnSpc>
              <a:defRPr/>
            </a:pPr>
            <a:r>
              <a:rPr lang="zh-CN" altLang="en-US" sz="2000" dirty="0">
                <a:solidFill>
                  <a:schemeClr val="accent1"/>
                </a:solidFill>
                <a:latin typeface="微软雅黑" panose="020B0503020204020204" pitchFamily="34" charset="-122"/>
                <a:ea typeface="微软雅黑" panose="020B0503020204020204" pitchFamily="34" charset="-122"/>
              </a:rPr>
              <a:t>被动过滤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childTnLst>
                          </p:cTn>
                        </p:par>
                        <p:par>
                          <p:cTn id="17" fill="hold">
                            <p:stCondLst>
                              <p:cond delay="1500"/>
                            </p:stCondLst>
                            <p:childTnLst>
                              <p:par>
                                <p:cTn id="18" presetID="2" presetClass="entr" presetSubtype="1"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ppt_x"/>
                                          </p:val>
                                        </p:tav>
                                        <p:tav tm="100000">
                                          <p:val>
                                            <p:strVal val="#ppt_x"/>
                                          </p:val>
                                        </p:tav>
                                      </p:tavLst>
                                    </p:anim>
                                    <p:anim calcmode="lin" valueType="num">
                                      <p:cBhvr additive="base">
                                        <p:cTn id="21" dur="500" fill="hold"/>
                                        <p:tgtEl>
                                          <p:spTgt spid="25"/>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1"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up)">
                                      <p:cBhvr>
                                        <p:cTn id="25" dur="500"/>
                                        <p:tgtEl>
                                          <p:spTgt spid="15"/>
                                        </p:tgtEl>
                                      </p:cBhvr>
                                    </p:animEffect>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22" presetClass="entr" presetSubtype="4"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500"/>
                                        <p:tgtEl>
                                          <p:spTgt spid="22"/>
                                        </p:tgtEl>
                                      </p:cBhvr>
                                    </p:animEffect>
                                  </p:childTnLst>
                                </p:cTn>
                              </p:par>
                            </p:childTnLst>
                          </p:cTn>
                        </p:par>
                        <p:par>
                          <p:cTn id="39" fill="hold">
                            <p:stCondLst>
                              <p:cond delay="4000"/>
                            </p:stCondLst>
                            <p:childTnLst>
                              <p:par>
                                <p:cTn id="40" presetID="2" presetClass="entr" presetSubtype="1" fill="hold" grpId="0" nodeType="after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ppt_x"/>
                                          </p:val>
                                        </p:tav>
                                        <p:tav tm="100000">
                                          <p:val>
                                            <p:strVal val="#ppt_x"/>
                                          </p:val>
                                        </p:tav>
                                      </p:tavLst>
                                    </p:anim>
                                    <p:anim calcmode="lin" valueType="num">
                                      <p:cBhvr additive="base">
                                        <p:cTn id="43" dur="500" fill="hold"/>
                                        <p:tgtEl>
                                          <p:spTgt spid="27"/>
                                        </p:tgtEl>
                                        <p:attrNameLst>
                                          <p:attrName>ppt_y</p:attrName>
                                        </p:attrNameLst>
                                      </p:cBhvr>
                                      <p:tavLst>
                                        <p:tav tm="0">
                                          <p:val>
                                            <p:strVal val="0-#ppt_h/2"/>
                                          </p:val>
                                        </p:tav>
                                        <p:tav tm="100000">
                                          <p:val>
                                            <p:strVal val="#ppt_y"/>
                                          </p:val>
                                        </p:tav>
                                      </p:tavLst>
                                    </p:anim>
                                  </p:childTnLst>
                                </p:cTn>
                              </p:par>
                            </p:childTnLst>
                          </p:cTn>
                        </p:par>
                        <p:par>
                          <p:cTn id="44" fill="hold">
                            <p:stCondLst>
                              <p:cond delay="4500"/>
                            </p:stCondLst>
                            <p:childTnLst>
                              <p:par>
                                <p:cTn id="45" presetID="22" presetClass="entr" presetSubtype="1"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left)">
                                      <p:cBhvr>
                                        <p:cTn id="5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bldLvl="0" animBg="1"/>
      <p:bldP spid="25" grpId="0" bldLvl="0" animBg="1"/>
      <p:bldP spid="26" grpId="0" bldLvl="0" animBg="1"/>
      <p:bldP spid="27" grpId="0" bldLvl="0" animBg="1"/>
      <p:bldP spid="3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911927" y="2004060"/>
            <a:ext cx="8317923" cy="2118360"/>
          </a:xfrm>
          <a:prstGeom prst="rect">
            <a:avLst/>
          </a:prstGeom>
          <a:noFill/>
          <a:ln w="9525">
            <a:noFill/>
            <a:miter lim="800000"/>
          </a:ln>
        </p:spPr>
        <p:txBody>
          <a:bodyPr/>
          <a:lstStyle/>
          <a:p>
            <a:r>
              <a:rPr lang="en-US" altLang="zh-CN"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4.3 </a:t>
            </a:r>
            <a:r>
              <a:rPr lang="zh-CN" altLang="en-US"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网络信息内容过滤的一般流程</a:t>
            </a:r>
            <a:endParaRPr lang="en-US" altLang="zh-CN" sz="4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51737" y="331131"/>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网络信息内容过滤的一般流程</a:t>
            </a:r>
          </a:p>
        </p:txBody>
      </p:sp>
      <p:sp>
        <p:nvSpPr>
          <p:cNvPr id="71" name="文本框 70"/>
          <p:cNvSpPr txBox="1"/>
          <p:nvPr/>
        </p:nvSpPr>
        <p:spPr>
          <a:xfrm>
            <a:off x="7054850" y="1854603"/>
            <a:ext cx="5018405"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用户通过网络产生信息，用户需求模板将信息以计算机可识别的形式揭示出来</a:t>
            </a:r>
          </a:p>
        </p:txBody>
      </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 name="对象 -2147482449"/>
          <p:cNvGraphicFramePr/>
          <p:nvPr>
            <p:extLst>
              <p:ext uri="{D42A27DB-BD31-4B8C-83A1-F6EECF244321}">
                <p14:modId xmlns:p14="http://schemas.microsoft.com/office/powerpoint/2010/main" val="1220352758"/>
              </p:ext>
            </p:extLst>
          </p:nvPr>
        </p:nvGraphicFramePr>
        <p:xfrm>
          <a:off x="1235108" y="1349699"/>
          <a:ext cx="4908550" cy="4531035"/>
        </p:xfrm>
        <a:graphic>
          <a:graphicData uri="http://schemas.openxmlformats.org/presentationml/2006/ole">
            <mc:AlternateContent xmlns:mc="http://schemas.openxmlformats.org/markup-compatibility/2006">
              <mc:Choice xmlns:v="urn:schemas-microsoft-com:vml" Requires="v">
                <p:oleObj r:id="rId18" imgW="5765800" imgH="6375400" progId="Visio.Drawing.11">
                  <p:embed/>
                </p:oleObj>
              </mc:Choice>
              <mc:Fallback>
                <p:oleObj r:id="rId18" imgW="5765800" imgH="6375400" progId="Visio.Drawing.11">
                  <p:embed/>
                  <p:pic>
                    <p:nvPicPr>
                      <p:cNvPr id="0" name="图片 3075"/>
                      <p:cNvPicPr/>
                      <p:nvPr/>
                    </p:nvPicPr>
                    <p:blipFill>
                      <a:blip r:embed="rId19"/>
                      <a:stretch>
                        <a:fillRect/>
                      </a:stretch>
                    </p:blipFill>
                    <p:spPr>
                      <a:xfrm>
                        <a:off x="1235108" y="1349699"/>
                        <a:ext cx="4908550" cy="4531035"/>
                      </a:xfrm>
                      <a:prstGeom prst="rect">
                        <a:avLst/>
                      </a:prstGeom>
                      <a:noFill/>
                      <a:ln w="38100">
                        <a:noFill/>
                        <a:miter/>
                      </a:ln>
                    </p:spPr>
                  </p:pic>
                </p:oleObj>
              </mc:Fallback>
            </mc:AlternateContent>
          </a:graphicData>
        </a:graphic>
      </p:graphicFrame>
      <p:sp>
        <p:nvSpPr>
          <p:cNvPr id="8" name="文本框 7"/>
          <p:cNvSpPr txBox="1"/>
          <p:nvPr/>
        </p:nvSpPr>
        <p:spPr>
          <a:xfrm>
            <a:off x="1960245" y="6155055"/>
            <a:ext cx="3540760" cy="400110"/>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000" dirty="0">
                <a:solidFill>
                  <a:schemeClr val="tx1"/>
                </a:solidFill>
                <a:latin typeface="微软雅黑" panose="020B0503020204020204" pitchFamily="34" charset="-122"/>
                <a:ea typeface="微软雅黑" panose="020B0503020204020204" pitchFamily="34" charset="-122"/>
              </a:rPr>
              <a:t>网络信息内容过滤一般流程</a:t>
            </a:r>
          </a:p>
        </p:txBody>
      </p:sp>
      <p:sp>
        <p:nvSpPr>
          <p:cNvPr id="78" name="矩形 77"/>
          <p:cNvSpPr/>
          <p:nvPr/>
        </p:nvSpPr>
        <p:spPr bwMode="auto">
          <a:xfrm>
            <a:off x="6642095" y="214224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7054850" y="2962965"/>
            <a:ext cx="5018405"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对动态的网络信息集不作预处理，只是当信息流经过系统时才运用一定的算法把信息揭示出来</a:t>
            </a:r>
          </a:p>
        </p:txBody>
      </p:sp>
      <p:sp>
        <p:nvSpPr>
          <p:cNvPr id="15" name="文本框 14"/>
          <p:cNvSpPr txBox="1"/>
          <p:nvPr/>
        </p:nvSpPr>
        <p:spPr>
          <a:xfrm>
            <a:off x="7054850" y="4031151"/>
            <a:ext cx="5018405"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通过反馈机制作用于用户和用户需求模板，使用户逐渐清晰自己的信息需求</a:t>
            </a:r>
          </a:p>
        </p:txBody>
      </p:sp>
      <p:sp>
        <p:nvSpPr>
          <p:cNvPr id="18" name="文本框 17"/>
          <p:cNvSpPr txBox="1"/>
          <p:nvPr/>
        </p:nvSpPr>
        <p:spPr>
          <a:xfrm>
            <a:off x="7054850" y="5079939"/>
            <a:ext cx="5018405"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反馈模块主要用于处理用户的反馈信息并依据反馈信息进一步精化用户模型，并保存</a:t>
            </a:r>
          </a:p>
        </p:txBody>
      </p:sp>
      <p:sp>
        <p:nvSpPr>
          <p:cNvPr id="19" name="矩形 18"/>
          <p:cNvSpPr/>
          <p:nvPr/>
        </p:nvSpPr>
        <p:spPr bwMode="auto">
          <a:xfrm>
            <a:off x="6642095" y="324241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bwMode="auto">
          <a:xfrm>
            <a:off x="6642095" y="430504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1" name="矩形 20"/>
          <p:cNvSpPr/>
          <p:nvPr/>
        </p:nvSpPr>
        <p:spPr bwMode="auto">
          <a:xfrm>
            <a:off x="6642095" y="5367688"/>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74" name="直接连接符 73"/>
          <p:cNvCxnSpPr/>
          <p:nvPr/>
        </p:nvCxnSpPr>
        <p:spPr>
          <a:xfrm flipV="1">
            <a:off x="7054850" y="2833943"/>
            <a:ext cx="4908550" cy="63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7109460" y="3907265"/>
            <a:ext cx="4908550" cy="63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7054850" y="4976837"/>
            <a:ext cx="4908550" cy="63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7054850" y="5991567"/>
            <a:ext cx="4908550" cy="63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51737" y="331131"/>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网络文本信息过滤模型</a:t>
            </a:r>
          </a:p>
        </p:txBody>
      </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3789219" y="6260058"/>
            <a:ext cx="3036108" cy="400110"/>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000" dirty="0">
                <a:solidFill>
                  <a:schemeClr val="tx1"/>
                </a:solidFill>
                <a:latin typeface="微软雅黑" panose="020B0503020204020204" pitchFamily="34" charset="-122"/>
                <a:ea typeface="微软雅黑" panose="020B0503020204020204" pitchFamily="34" charset="-122"/>
              </a:rPr>
              <a:t>网络文本信息过滤模型</a:t>
            </a:r>
          </a:p>
        </p:txBody>
      </p:sp>
      <p:graphicFrame>
        <p:nvGraphicFramePr>
          <p:cNvPr id="2" name="对象 -2147482448"/>
          <p:cNvGraphicFramePr/>
          <p:nvPr/>
        </p:nvGraphicFramePr>
        <p:xfrm>
          <a:off x="5400675" y="1254125"/>
          <a:ext cx="5731510" cy="5418455"/>
        </p:xfrm>
        <a:graphic>
          <a:graphicData uri="http://schemas.openxmlformats.org/presentationml/2006/ole">
            <mc:AlternateContent xmlns:mc="http://schemas.openxmlformats.org/markup-compatibility/2006">
              <mc:Choice xmlns:v="urn:schemas-microsoft-com:vml" Requires="v">
                <p:oleObj r:id="rId18" imgW="6553200" imgH="6997700" progId="Visio.Drawing.11">
                  <p:embed/>
                </p:oleObj>
              </mc:Choice>
              <mc:Fallback>
                <p:oleObj r:id="rId18" imgW="6553200" imgH="6997700" progId="Visio.Drawing.11">
                  <p:embed/>
                  <p:pic>
                    <p:nvPicPr>
                      <p:cNvPr id="0" name="图片 2"/>
                      <p:cNvPicPr/>
                      <p:nvPr/>
                    </p:nvPicPr>
                    <p:blipFill>
                      <a:blip r:embed="rId19"/>
                      <a:stretch>
                        <a:fillRect/>
                      </a:stretch>
                    </p:blipFill>
                    <p:spPr>
                      <a:xfrm>
                        <a:off x="5400675" y="1254125"/>
                        <a:ext cx="5731510" cy="5418455"/>
                      </a:xfrm>
                      <a:prstGeom prst="rect">
                        <a:avLst/>
                      </a:prstGeom>
                      <a:noFill/>
                      <a:ln w="38100">
                        <a:noFill/>
                        <a:miter/>
                      </a:ln>
                    </p:spPr>
                  </p:pic>
                </p:oleObj>
              </mc:Fallback>
            </mc:AlternateContent>
          </a:graphicData>
        </a:graphic>
      </p:graphicFrame>
      <p:sp>
        <p:nvSpPr>
          <p:cNvPr id="6" name="文本框 5"/>
          <p:cNvSpPr txBox="1"/>
          <p:nvPr/>
        </p:nvSpPr>
        <p:spPr>
          <a:xfrm>
            <a:off x="763246" y="1530900"/>
            <a:ext cx="3967480" cy="48323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400" dirty="0">
                <a:solidFill>
                  <a:srgbClr val="F784A5"/>
                </a:solidFill>
                <a:latin typeface="微软雅黑" panose="020B0503020204020204" pitchFamily="34" charset="-122"/>
                <a:ea typeface="微软雅黑" panose="020B0503020204020204" pitchFamily="34" charset="-122"/>
              </a:rPr>
              <a:t>模型中各部分主要技术</a:t>
            </a:r>
          </a:p>
        </p:txBody>
      </p:sp>
      <p:sp>
        <p:nvSpPr>
          <p:cNvPr id="7" name="十字星 6"/>
          <p:cNvSpPr/>
          <p:nvPr/>
        </p:nvSpPr>
        <p:spPr>
          <a:xfrm>
            <a:off x="360680" y="2396026"/>
            <a:ext cx="326390" cy="335280"/>
          </a:xfrm>
          <a:prstGeom prst="star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十字星 8"/>
          <p:cNvSpPr/>
          <p:nvPr/>
        </p:nvSpPr>
        <p:spPr>
          <a:xfrm>
            <a:off x="360680" y="3330630"/>
            <a:ext cx="326390" cy="335280"/>
          </a:xfrm>
          <a:prstGeom prst="star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十字星 9"/>
          <p:cNvSpPr/>
          <p:nvPr/>
        </p:nvSpPr>
        <p:spPr>
          <a:xfrm>
            <a:off x="360680" y="4265811"/>
            <a:ext cx="326390" cy="335280"/>
          </a:xfrm>
          <a:prstGeom prst="star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十字星 10"/>
          <p:cNvSpPr/>
          <p:nvPr/>
        </p:nvSpPr>
        <p:spPr>
          <a:xfrm>
            <a:off x="360680" y="5163588"/>
            <a:ext cx="326390" cy="335280"/>
          </a:xfrm>
          <a:prstGeom prst="star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891871" y="2178685"/>
            <a:ext cx="3818674"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文本表示：布尔模型、向量空间模型、概率模型</a:t>
            </a:r>
          </a:p>
        </p:txBody>
      </p:sp>
      <p:sp>
        <p:nvSpPr>
          <p:cNvPr id="14" name="文本框 13"/>
          <p:cNvSpPr txBox="1"/>
          <p:nvPr/>
        </p:nvSpPr>
        <p:spPr>
          <a:xfrm>
            <a:off x="891871" y="3099435"/>
            <a:ext cx="3867165"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用户模板建立：向量空间模型、预定义关键字、层次概念集、分类目录</a:t>
            </a:r>
          </a:p>
        </p:txBody>
      </p:sp>
      <p:sp>
        <p:nvSpPr>
          <p:cNvPr id="16" name="文本框 15"/>
          <p:cNvSpPr txBox="1"/>
          <p:nvPr/>
        </p:nvSpPr>
        <p:spPr>
          <a:xfrm>
            <a:off x="891871" y="4048470"/>
            <a:ext cx="3958893" cy="777457"/>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用户模板与文本的匹配：布尔模型、向量空间模型、概率模型</a:t>
            </a:r>
          </a:p>
        </p:txBody>
      </p:sp>
      <p:sp>
        <p:nvSpPr>
          <p:cNvPr id="17" name="文本框 16"/>
          <p:cNvSpPr txBox="1"/>
          <p:nvPr/>
        </p:nvSpPr>
        <p:spPr>
          <a:xfrm>
            <a:off x="891872" y="5135880"/>
            <a:ext cx="4019550" cy="384810"/>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1800" dirty="0">
                <a:solidFill>
                  <a:schemeClr val="tx1"/>
                </a:solidFill>
                <a:latin typeface="微软雅黑" panose="020B0503020204020204" pitchFamily="34" charset="-122"/>
                <a:ea typeface="微软雅黑" panose="020B0503020204020204" pitchFamily="34" charset="-122"/>
              </a:rPr>
              <a:t>用户反馈：机器学习方法</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组合 265"/>
          <p:cNvGrpSpPr/>
          <p:nvPr/>
        </p:nvGrpSpPr>
        <p:grpSpPr>
          <a:xfrm>
            <a:off x="609116" y="261257"/>
            <a:ext cx="1214822" cy="760080"/>
            <a:chOff x="1922078" y="0"/>
            <a:chExt cx="8347844" cy="3447438"/>
          </a:xfrm>
        </p:grpSpPr>
        <p:grpSp>
          <p:nvGrpSpPr>
            <p:cNvPr id="275" name="组合 274"/>
            <p:cNvGrpSpPr/>
            <p:nvPr/>
          </p:nvGrpSpPr>
          <p:grpSpPr>
            <a:xfrm rot="20997101">
              <a:off x="5080902" y="0"/>
              <a:ext cx="659781" cy="793569"/>
              <a:chOff x="9397113" y="1572484"/>
              <a:chExt cx="739439" cy="900000"/>
            </a:xfrm>
          </p:grpSpPr>
          <p:pic>
            <p:nvPicPr>
              <p:cNvPr id="333" name="图片 332"/>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334" name="椭圆 333"/>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6" name="组合 275"/>
            <p:cNvGrpSpPr/>
            <p:nvPr/>
          </p:nvGrpSpPr>
          <p:grpSpPr>
            <a:xfrm rot="2455872">
              <a:off x="9009447" y="1071465"/>
              <a:ext cx="659781" cy="793569"/>
              <a:chOff x="8752405" y="680495"/>
              <a:chExt cx="739439" cy="900000"/>
            </a:xfrm>
          </p:grpSpPr>
          <p:pic>
            <p:nvPicPr>
              <p:cNvPr id="331" name="图片 330"/>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332" name="椭圆 331"/>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7" name="组合 276"/>
            <p:cNvGrpSpPr/>
            <p:nvPr/>
          </p:nvGrpSpPr>
          <p:grpSpPr>
            <a:xfrm rot="20539373">
              <a:off x="4239050" y="1051458"/>
              <a:ext cx="642436" cy="793569"/>
              <a:chOff x="7798300" y="2128176"/>
              <a:chExt cx="720000" cy="900000"/>
            </a:xfrm>
          </p:grpSpPr>
          <p:pic>
            <p:nvPicPr>
              <p:cNvPr id="329" name="图片 328"/>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30" name="椭圆 329"/>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8" name="组合 277"/>
            <p:cNvGrpSpPr/>
            <p:nvPr/>
          </p:nvGrpSpPr>
          <p:grpSpPr>
            <a:xfrm rot="622440">
              <a:off x="6257266" y="1278812"/>
              <a:ext cx="643355" cy="793569"/>
              <a:chOff x="5457544" y="2382484"/>
              <a:chExt cx="721030" cy="900000"/>
            </a:xfrm>
          </p:grpSpPr>
          <p:pic>
            <p:nvPicPr>
              <p:cNvPr id="327" name="图片 3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28" name="椭圆 327"/>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9" name="组合 278"/>
            <p:cNvGrpSpPr/>
            <p:nvPr/>
          </p:nvGrpSpPr>
          <p:grpSpPr>
            <a:xfrm rot="713899">
              <a:off x="6982111" y="246490"/>
              <a:ext cx="642436" cy="811512"/>
              <a:chOff x="2594245" y="3143107"/>
              <a:chExt cx="720000" cy="920349"/>
            </a:xfrm>
          </p:grpSpPr>
          <p:pic>
            <p:nvPicPr>
              <p:cNvPr id="325" name="图片 324"/>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326" name="椭圆 325"/>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0" name="组合 279"/>
            <p:cNvGrpSpPr/>
            <p:nvPr/>
          </p:nvGrpSpPr>
          <p:grpSpPr>
            <a:xfrm rot="20351331">
              <a:off x="2986611" y="357756"/>
              <a:ext cx="642436" cy="793569"/>
              <a:chOff x="3277182" y="773323"/>
              <a:chExt cx="720000" cy="900000"/>
            </a:xfrm>
          </p:grpSpPr>
          <p:sp>
            <p:nvSpPr>
              <p:cNvPr id="323" name="椭圆 322"/>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4" name="图片 3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281" name="组合 280"/>
            <p:cNvGrpSpPr/>
            <p:nvPr/>
          </p:nvGrpSpPr>
          <p:grpSpPr>
            <a:xfrm rot="1912890">
              <a:off x="7930945" y="1382649"/>
              <a:ext cx="648427" cy="793569"/>
              <a:chOff x="5384758" y="1250900"/>
              <a:chExt cx="726714" cy="900000"/>
            </a:xfrm>
          </p:grpSpPr>
          <p:sp>
            <p:nvSpPr>
              <p:cNvPr id="321" name="椭圆 320"/>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2" name="图片 3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282" name="组合 281"/>
            <p:cNvGrpSpPr/>
            <p:nvPr/>
          </p:nvGrpSpPr>
          <p:grpSpPr>
            <a:xfrm rot="1354213">
              <a:off x="7092076" y="1228721"/>
              <a:ext cx="642436" cy="793569"/>
              <a:chOff x="3639753" y="2488176"/>
              <a:chExt cx="720000" cy="900000"/>
            </a:xfrm>
          </p:grpSpPr>
          <p:sp>
            <p:nvSpPr>
              <p:cNvPr id="319" name="椭圆 318"/>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283" name="组合 282"/>
            <p:cNvGrpSpPr/>
            <p:nvPr/>
          </p:nvGrpSpPr>
          <p:grpSpPr>
            <a:xfrm rot="19874646">
              <a:off x="3552291" y="1752953"/>
              <a:ext cx="647730" cy="793569"/>
              <a:chOff x="4707387" y="271511"/>
              <a:chExt cx="725933" cy="900000"/>
            </a:xfrm>
          </p:grpSpPr>
          <p:sp>
            <p:nvSpPr>
              <p:cNvPr id="317" name="椭圆 316"/>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8" name="图片 3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284" name="组合 283"/>
            <p:cNvGrpSpPr/>
            <p:nvPr/>
          </p:nvGrpSpPr>
          <p:grpSpPr>
            <a:xfrm>
              <a:off x="5902457" y="519563"/>
              <a:ext cx="647456" cy="793569"/>
              <a:chOff x="4355614" y="1671769"/>
              <a:chExt cx="725626" cy="900000"/>
            </a:xfrm>
          </p:grpSpPr>
          <p:sp>
            <p:nvSpPr>
              <p:cNvPr id="315" name="椭圆 314"/>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6" name="图片 3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285" name="组合 284"/>
            <p:cNvGrpSpPr/>
            <p:nvPr/>
          </p:nvGrpSpPr>
          <p:grpSpPr>
            <a:xfrm rot="3261331">
              <a:off x="8178834" y="2216888"/>
              <a:ext cx="645495" cy="803045"/>
              <a:chOff x="6534782" y="2204846"/>
              <a:chExt cx="732066" cy="900000"/>
            </a:xfrm>
          </p:grpSpPr>
          <p:sp>
            <p:nvSpPr>
              <p:cNvPr id="313" name="椭圆 312"/>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4" name="图片 3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286" name="组合 285"/>
            <p:cNvGrpSpPr/>
            <p:nvPr/>
          </p:nvGrpSpPr>
          <p:grpSpPr>
            <a:xfrm rot="1881527">
              <a:off x="8180043" y="493339"/>
              <a:ext cx="646830" cy="793569"/>
              <a:chOff x="5993772" y="258109"/>
              <a:chExt cx="724925" cy="900000"/>
            </a:xfrm>
          </p:grpSpPr>
          <p:sp>
            <p:nvSpPr>
              <p:cNvPr id="311" name="椭圆 310"/>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2" name="图片 3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287" name="组合 286"/>
            <p:cNvGrpSpPr/>
            <p:nvPr/>
          </p:nvGrpSpPr>
          <p:grpSpPr>
            <a:xfrm rot="3066563">
              <a:off x="9550518" y="2274810"/>
              <a:ext cx="635764" cy="803045"/>
              <a:chOff x="8806213" y="2910111"/>
              <a:chExt cx="721030" cy="900000"/>
            </a:xfrm>
          </p:grpSpPr>
          <p:sp>
            <p:nvSpPr>
              <p:cNvPr id="309" name="椭圆 308"/>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0" name="图片 30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288" name="组合 287"/>
            <p:cNvGrpSpPr/>
            <p:nvPr/>
          </p:nvGrpSpPr>
          <p:grpSpPr>
            <a:xfrm rot="20849518">
              <a:off x="5023848" y="1251597"/>
              <a:ext cx="644890" cy="793569"/>
              <a:chOff x="7330781" y="818297"/>
              <a:chExt cx="722751" cy="900000"/>
            </a:xfrm>
          </p:grpSpPr>
          <p:sp>
            <p:nvSpPr>
              <p:cNvPr id="307" name="椭圆 30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8" name="图片 3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289" name="组合 288"/>
            <p:cNvGrpSpPr/>
            <p:nvPr/>
          </p:nvGrpSpPr>
          <p:grpSpPr>
            <a:xfrm rot="19756194">
              <a:off x="1922078" y="1474933"/>
              <a:ext cx="653202" cy="793569"/>
              <a:chOff x="2213446" y="1768419"/>
              <a:chExt cx="732066" cy="900000"/>
            </a:xfrm>
          </p:grpSpPr>
          <p:pic>
            <p:nvPicPr>
              <p:cNvPr id="305" name="图片 30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306" name="椭圆 30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0" name="直接连接符 289"/>
            <p:cNvCxnSpPr>
              <a:stCxn id="317"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直接连接符 290"/>
            <p:cNvCxnSpPr>
              <a:stCxn id="306"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直接连接符 291"/>
            <p:cNvCxnSpPr>
              <a:stCxn id="323"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连接符 292"/>
            <p:cNvCxnSpPr>
              <a:stCxn id="330"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34"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5" name="直接连接符 294"/>
            <p:cNvCxnSpPr>
              <a:stCxn id="315"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6" name="直接连接符 295"/>
            <p:cNvCxnSpPr>
              <a:stCxn id="307"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 name="直接连接符 296"/>
            <p:cNvCxnSpPr>
              <a:stCxn id="328"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8" name="直接连接符 297"/>
            <p:cNvCxnSpPr>
              <a:stCxn id="326"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9"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0" name="直接连接符 299"/>
            <p:cNvCxnSpPr>
              <a:stCxn id="311"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321"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直接连接符 301"/>
            <p:cNvCxnSpPr>
              <a:stCxn id="332"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直接连接符 302"/>
            <p:cNvCxnSpPr>
              <a:stCxn id="309"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直接连接符 303"/>
            <p:cNvCxnSpPr>
              <a:stCxn id="313"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8" name="矩形 267"/>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矩形 273"/>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文本框 335"/>
          <p:cNvSpPr txBox="1"/>
          <p:nvPr/>
        </p:nvSpPr>
        <p:spPr>
          <a:xfrm>
            <a:off x="2151737" y="331131"/>
            <a:ext cx="2031325"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3600" dirty="0"/>
              <a:t>实例分析</a:t>
            </a:r>
          </a:p>
        </p:txBody>
      </p:sp>
      <p:grpSp>
        <p:nvGrpSpPr>
          <p:cNvPr id="98" name="组合 97"/>
          <p:cNvGrpSpPr/>
          <p:nvPr/>
        </p:nvGrpSpPr>
        <p:grpSpPr>
          <a:xfrm>
            <a:off x="655309" y="1032131"/>
            <a:ext cx="10477147" cy="66943"/>
            <a:chOff x="655309" y="1032131"/>
            <a:chExt cx="10477147" cy="66943"/>
          </a:xfrm>
        </p:grpSpPr>
        <p:sp>
          <p:nvSpPr>
            <p:cNvPr id="99" name="矩形 98"/>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1010285" y="5741670"/>
            <a:ext cx="4545388" cy="400110"/>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000" dirty="0">
                <a:solidFill>
                  <a:schemeClr val="tx1"/>
                </a:solidFill>
                <a:latin typeface="微软雅黑" panose="020B0503020204020204" pitchFamily="34" charset="-122"/>
                <a:ea typeface="微软雅黑" panose="020B0503020204020204" pitchFamily="34" charset="-122"/>
              </a:rPr>
              <a:t>Websense Enteprise 过滤系统示意图</a:t>
            </a:r>
          </a:p>
        </p:txBody>
      </p:sp>
      <p:graphicFrame>
        <p:nvGraphicFramePr>
          <p:cNvPr id="2" name="对象 -2147482447"/>
          <p:cNvGraphicFramePr/>
          <p:nvPr>
            <p:extLst>
              <p:ext uri="{D42A27DB-BD31-4B8C-83A1-F6EECF244321}">
                <p14:modId xmlns:p14="http://schemas.microsoft.com/office/powerpoint/2010/main" val="4178352059"/>
              </p:ext>
            </p:extLst>
          </p:nvPr>
        </p:nvGraphicFramePr>
        <p:xfrm>
          <a:off x="538480" y="1216024"/>
          <a:ext cx="5441950" cy="4609845"/>
        </p:xfrm>
        <a:graphic>
          <a:graphicData uri="http://schemas.openxmlformats.org/presentationml/2006/ole">
            <mc:AlternateContent xmlns:mc="http://schemas.openxmlformats.org/markup-compatibility/2006">
              <mc:Choice xmlns:v="urn:schemas-microsoft-com:vml" Requires="v">
                <p:oleObj r:id="rId18" imgW="6972300" imgH="6896100" progId="Visio.Drawing.11">
                  <p:embed/>
                </p:oleObj>
              </mc:Choice>
              <mc:Fallback>
                <p:oleObj r:id="rId18" imgW="6972300" imgH="6896100" progId="Visio.Drawing.11">
                  <p:embed/>
                  <p:pic>
                    <p:nvPicPr>
                      <p:cNvPr id="0" name="图片 3075"/>
                      <p:cNvPicPr/>
                      <p:nvPr/>
                    </p:nvPicPr>
                    <p:blipFill>
                      <a:blip r:embed="rId19"/>
                      <a:stretch>
                        <a:fillRect/>
                      </a:stretch>
                    </p:blipFill>
                    <p:spPr>
                      <a:xfrm>
                        <a:off x="538480" y="1216024"/>
                        <a:ext cx="5441950" cy="4609845"/>
                      </a:xfrm>
                      <a:prstGeom prst="rect">
                        <a:avLst/>
                      </a:prstGeom>
                      <a:noFill/>
                      <a:ln w="38100">
                        <a:noFill/>
                        <a:miter/>
                      </a:ln>
                    </p:spPr>
                  </p:pic>
                </p:oleObj>
              </mc:Fallback>
            </mc:AlternateContent>
          </a:graphicData>
        </a:graphic>
      </p:graphicFrame>
      <p:sp>
        <p:nvSpPr>
          <p:cNvPr id="4" name="Freeform 7"/>
          <p:cNvSpPr>
            <a:spLocks noChangeArrowheads="1"/>
          </p:cNvSpPr>
          <p:nvPr/>
        </p:nvSpPr>
        <p:spPr bwMode="auto">
          <a:xfrm>
            <a:off x="6365240" y="1753553"/>
            <a:ext cx="831850" cy="374650"/>
          </a:xfrm>
          <a:custGeom>
            <a:avLst/>
            <a:gdLst>
              <a:gd name="T0" fmla="*/ 816862 w 222"/>
              <a:gd name="T1" fmla="*/ 176086 h 100"/>
              <a:gd name="T2" fmla="*/ 629508 w 222"/>
              <a:gd name="T3" fmla="*/ 78677 h 100"/>
              <a:gd name="T4" fmla="*/ 607026 w 222"/>
              <a:gd name="T5" fmla="*/ 93663 h 100"/>
              <a:gd name="T6" fmla="*/ 607026 w 222"/>
              <a:gd name="T7" fmla="*/ 127381 h 100"/>
              <a:gd name="T8" fmla="*/ 498361 w 222"/>
              <a:gd name="T9" fmla="*/ 127381 h 100"/>
              <a:gd name="T10" fmla="*/ 472131 w 222"/>
              <a:gd name="T11" fmla="*/ 0 h 100"/>
              <a:gd name="T12" fmla="*/ 0 w 222"/>
              <a:gd name="T13" fmla="*/ 164846 h 100"/>
              <a:gd name="T14" fmla="*/ 453396 w 222"/>
              <a:gd name="T15" fmla="*/ 374650 h 100"/>
              <a:gd name="T16" fmla="*/ 490866 w 222"/>
              <a:gd name="T17" fmla="*/ 239776 h 100"/>
              <a:gd name="T18" fmla="*/ 603279 w 222"/>
              <a:gd name="T19" fmla="*/ 243523 h 100"/>
              <a:gd name="T20" fmla="*/ 603279 w 222"/>
              <a:gd name="T21" fmla="*/ 277241 h 100"/>
              <a:gd name="T22" fmla="*/ 625761 w 222"/>
              <a:gd name="T23" fmla="*/ 292227 h 100"/>
              <a:gd name="T24" fmla="*/ 816862 w 222"/>
              <a:gd name="T25" fmla="*/ 202311 h 100"/>
              <a:gd name="T26" fmla="*/ 816862 w 222"/>
              <a:gd name="T27" fmla="*/ 176086 h 1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2"/>
              <a:gd name="T43" fmla="*/ 0 h 100"/>
              <a:gd name="T44" fmla="*/ 222 w 222"/>
              <a:gd name="T45" fmla="*/ 100 h 1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2" h="100">
                <a:moveTo>
                  <a:pt x="218" y="47"/>
                </a:moveTo>
                <a:cubicBezTo>
                  <a:pt x="168" y="21"/>
                  <a:pt x="168" y="21"/>
                  <a:pt x="168" y="21"/>
                </a:cubicBezTo>
                <a:cubicBezTo>
                  <a:pt x="165" y="20"/>
                  <a:pt x="162" y="21"/>
                  <a:pt x="162" y="25"/>
                </a:cubicBezTo>
                <a:cubicBezTo>
                  <a:pt x="162" y="34"/>
                  <a:pt x="162" y="34"/>
                  <a:pt x="162" y="34"/>
                </a:cubicBezTo>
                <a:cubicBezTo>
                  <a:pt x="133" y="34"/>
                  <a:pt x="133" y="34"/>
                  <a:pt x="133" y="34"/>
                </a:cubicBezTo>
                <a:cubicBezTo>
                  <a:pt x="132" y="22"/>
                  <a:pt x="129" y="11"/>
                  <a:pt x="126" y="0"/>
                </a:cubicBezTo>
                <a:cubicBezTo>
                  <a:pt x="0" y="44"/>
                  <a:pt x="0" y="44"/>
                  <a:pt x="0" y="44"/>
                </a:cubicBezTo>
                <a:cubicBezTo>
                  <a:pt x="121" y="100"/>
                  <a:pt x="121" y="100"/>
                  <a:pt x="121" y="100"/>
                </a:cubicBezTo>
                <a:cubicBezTo>
                  <a:pt x="126" y="89"/>
                  <a:pt x="129" y="77"/>
                  <a:pt x="131" y="64"/>
                </a:cubicBezTo>
                <a:cubicBezTo>
                  <a:pt x="161" y="65"/>
                  <a:pt x="161" y="65"/>
                  <a:pt x="161" y="65"/>
                </a:cubicBezTo>
                <a:cubicBezTo>
                  <a:pt x="161" y="74"/>
                  <a:pt x="161" y="74"/>
                  <a:pt x="161" y="74"/>
                </a:cubicBezTo>
                <a:cubicBezTo>
                  <a:pt x="161" y="78"/>
                  <a:pt x="163" y="80"/>
                  <a:pt x="167" y="78"/>
                </a:cubicBezTo>
                <a:cubicBezTo>
                  <a:pt x="218" y="54"/>
                  <a:pt x="218" y="54"/>
                  <a:pt x="218" y="54"/>
                </a:cubicBezTo>
                <a:cubicBezTo>
                  <a:pt x="222" y="52"/>
                  <a:pt x="222" y="49"/>
                  <a:pt x="218" y="47"/>
                </a:cubicBezTo>
                <a:close/>
              </a:path>
            </a:pathLst>
          </a:custGeom>
          <a:solidFill>
            <a:srgbClr val="0070C0"/>
          </a:solidFill>
          <a:ln>
            <a:noFill/>
          </a:ln>
        </p:spPr>
        <p:txBody>
          <a:bodyPr/>
          <a:lstStyle/>
          <a:p>
            <a:endParaRPr lang="zh-CN" altLang="en-US">
              <a:solidFill>
                <a:schemeClr val="accent1"/>
              </a:solidFill>
            </a:endParaRPr>
          </a:p>
        </p:txBody>
      </p:sp>
      <p:sp>
        <p:nvSpPr>
          <p:cNvPr id="5" name="Freeform 7"/>
          <p:cNvSpPr>
            <a:spLocks noChangeArrowheads="1"/>
          </p:cNvSpPr>
          <p:nvPr/>
        </p:nvSpPr>
        <p:spPr bwMode="auto">
          <a:xfrm>
            <a:off x="6365240" y="4395608"/>
            <a:ext cx="831850" cy="374650"/>
          </a:xfrm>
          <a:custGeom>
            <a:avLst/>
            <a:gdLst>
              <a:gd name="T0" fmla="*/ 816862 w 222"/>
              <a:gd name="T1" fmla="*/ 176086 h 100"/>
              <a:gd name="T2" fmla="*/ 629508 w 222"/>
              <a:gd name="T3" fmla="*/ 78677 h 100"/>
              <a:gd name="T4" fmla="*/ 607026 w 222"/>
              <a:gd name="T5" fmla="*/ 93663 h 100"/>
              <a:gd name="T6" fmla="*/ 607026 w 222"/>
              <a:gd name="T7" fmla="*/ 127381 h 100"/>
              <a:gd name="T8" fmla="*/ 498361 w 222"/>
              <a:gd name="T9" fmla="*/ 127381 h 100"/>
              <a:gd name="T10" fmla="*/ 472131 w 222"/>
              <a:gd name="T11" fmla="*/ 0 h 100"/>
              <a:gd name="T12" fmla="*/ 0 w 222"/>
              <a:gd name="T13" fmla="*/ 164846 h 100"/>
              <a:gd name="T14" fmla="*/ 453396 w 222"/>
              <a:gd name="T15" fmla="*/ 374650 h 100"/>
              <a:gd name="T16" fmla="*/ 490866 w 222"/>
              <a:gd name="T17" fmla="*/ 239776 h 100"/>
              <a:gd name="T18" fmla="*/ 603279 w 222"/>
              <a:gd name="T19" fmla="*/ 243523 h 100"/>
              <a:gd name="T20" fmla="*/ 603279 w 222"/>
              <a:gd name="T21" fmla="*/ 277241 h 100"/>
              <a:gd name="T22" fmla="*/ 625761 w 222"/>
              <a:gd name="T23" fmla="*/ 292227 h 100"/>
              <a:gd name="T24" fmla="*/ 816862 w 222"/>
              <a:gd name="T25" fmla="*/ 202311 h 100"/>
              <a:gd name="T26" fmla="*/ 816862 w 222"/>
              <a:gd name="T27" fmla="*/ 176086 h 1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2"/>
              <a:gd name="T43" fmla="*/ 0 h 100"/>
              <a:gd name="T44" fmla="*/ 222 w 222"/>
              <a:gd name="T45" fmla="*/ 100 h 1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2" h="100">
                <a:moveTo>
                  <a:pt x="218" y="47"/>
                </a:moveTo>
                <a:cubicBezTo>
                  <a:pt x="168" y="21"/>
                  <a:pt x="168" y="21"/>
                  <a:pt x="168" y="21"/>
                </a:cubicBezTo>
                <a:cubicBezTo>
                  <a:pt x="165" y="20"/>
                  <a:pt x="162" y="21"/>
                  <a:pt x="162" y="25"/>
                </a:cubicBezTo>
                <a:cubicBezTo>
                  <a:pt x="162" y="34"/>
                  <a:pt x="162" y="34"/>
                  <a:pt x="162" y="34"/>
                </a:cubicBezTo>
                <a:cubicBezTo>
                  <a:pt x="133" y="34"/>
                  <a:pt x="133" y="34"/>
                  <a:pt x="133" y="34"/>
                </a:cubicBezTo>
                <a:cubicBezTo>
                  <a:pt x="132" y="22"/>
                  <a:pt x="129" y="11"/>
                  <a:pt x="126" y="0"/>
                </a:cubicBezTo>
                <a:cubicBezTo>
                  <a:pt x="0" y="44"/>
                  <a:pt x="0" y="44"/>
                  <a:pt x="0" y="44"/>
                </a:cubicBezTo>
                <a:cubicBezTo>
                  <a:pt x="121" y="100"/>
                  <a:pt x="121" y="100"/>
                  <a:pt x="121" y="100"/>
                </a:cubicBezTo>
                <a:cubicBezTo>
                  <a:pt x="126" y="89"/>
                  <a:pt x="129" y="77"/>
                  <a:pt x="131" y="64"/>
                </a:cubicBezTo>
                <a:cubicBezTo>
                  <a:pt x="161" y="65"/>
                  <a:pt x="161" y="65"/>
                  <a:pt x="161" y="65"/>
                </a:cubicBezTo>
                <a:cubicBezTo>
                  <a:pt x="161" y="74"/>
                  <a:pt x="161" y="74"/>
                  <a:pt x="161" y="74"/>
                </a:cubicBezTo>
                <a:cubicBezTo>
                  <a:pt x="161" y="78"/>
                  <a:pt x="163" y="80"/>
                  <a:pt x="167" y="78"/>
                </a:cubicBezTo>
                <a:cubicBezTo>
                  <a:pt x="218" y="54"/>
                  <a:pt x="218" y="54"/>
                  <a:pt x="218" y="54"/>
                </a:cubicBezTo>
                <a:cubicBezTo>
                  <a:pt x="222" y="52"/>
                  <a:pt x="222" y="49"/>
                  <a:pt x="218" y="47"/>
                </a:cubicBezTo>
                <a:close/>
              </a:path>
            </a:pathLst>
          </a:custGeom>
          <a:solidFill>
            <a:srgbClr val="0070C0"/>
          </a:solidFill>
          <a:ln>
            <a:noFill/>
          </a:ln>
        </p:spPr>
        <p:txBody>
          <a:bodyPr/>
          <a:lstStyle/>
          <a:p>
            <a:endParaRPr lang="zh-CN" altLang="en-US">
              <a:solidFill>
                <a:schemeClr val="accent1"/>
              </a:solidFill>
            </a:endParaRPr>
          </a:p>
        </p:txBody>
      </p:sp>
      <p:sp>
        <p:nvSpPr>
          <p:cNvPr id="13" name="文本框 12"/>
          <p:cNvSpPr txBox="1"/>
          <p:nvPr/>
        </p:nvSpPr>
        <p:spPr>
          <a:xfrm>
            <a:off x="7289165" y="1699260"/>
            <a:ext cx="4043045" cy="46166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400" dirty="0">
                <a:solidFill>
                  <a:schemeClr val="tx1"/>
                </a:solidFill>
                <a:latin typeface="微软雅黑" panose="020B0503020204020204" pitchFamily="34" charset="-122"/>
                <a:ea typeface="微软雅黑" panose="020B0503020204020204" pitchFamily="34" charset="-122"/>
              </a:rPr>
              <a:t>Websense 主数据库</a:t>
            </a:r>
          </a:p>
        </p:txBody>
      </p:sp>
      <p:sp>
        <p:nvSpPr>
          <p:cNvPr id="15" name="文本框 14"/>
          <p:cNvSpPr txBox="1"/>
          <p:nvPr/>
        </p:nvSpPr>
        <p:spPr>
          <a:xfrm>
            <a:off x="7132955" y="2277574"/>
            <a:ext cx="4689475" cy="1857753"/>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将收集的网页分级，分级结果保存在Websense 的分级数据库中，Enterprise 应用程序每天都会自动从分级数据库中下载最新的内容，更新主数据库的记录，专门工具定期回访网页，对网页重新分级。</a:t>
            </a:r>
          </a:p>
        </p:txBody>
      </p:sp>
      <p:sp>
        <p:nvSpPr>
          <p:cNvPr id="18" name="文本框 17"/>
          <p:cNvSpPr txBox="1"/>
          <p:nvPr/>
        </p:nvSpPr>
        <p:spPr>
          <a:xfrm>
            <a:off x="7197090" y="4341315"/>
            <a:ext cx="4561205" cy="461665"/>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r>
              <a:rPr lang="zh-CN" altLang="en-US" sz="2400" dirty="0">
                <a:solidFill>
                  <a:schemeClr val="tx1"/>
                </a:solidFill>
                <a:latin typeface="微软雅黑" panose="020B0503020204020204" pitchFamily="34" charset="-122"/>
                <a:ea typeface="微软雅黑" panose="020B0503020204020204" pitchFamily="34" charset="-122"/>
              </a:rPr>
              <a:t>Websense Enterprise 应用程序</a:t>
            </a:r>
          </a:p>
        </p:txBody>
      </p:sp>
      <p:sp>
        <p:nvSpPr>
          <p:cNvPr id="19" name="文本框 18"/>
          <p:cNvSpPr txBox="1"/>
          <p:nvPr/>
        </p:nvSpPr>
        <p:spPr>
          <a:xfrm>
            <a:off x="7132955" y="4862830"/>
            <a:ext cx="4689475" cy="1497654"/>
          </a:xfrm>
          <a:prstGeom prst="rect">
            <a:avLst/>
          </a:prstGeom>
          <a:noFill/>
        </p:spPr>
        <p:txBody>
          <a:bodyPr wrap="squar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nSpc>
                <a:spcPct val="130000"/>
              </a:lnSpc>
            </a:pPr>
            <a:r>
              <a:rPr lang="zh-CN" altLang="en-US" sz="1800" dirty="0">
                <a:solidFill>
                  <a:schemeClr val="tx1"/>
                </a:solidFill>
                <a:latin typeface="微软雅黑" panose="020B0503020204020204" pitchFamily="34" charset="-122"/>
                <a:ea typeface="微软雅黑" panose="020B0503020204020204" pitchFamily="34" charset="-122"/>
              </a:rPr>
              <a:t>为每一类目分别设置：</a:t>
            </a:r>
          </a:p>
          <a:p>
            <a:pPr indent="-252000">
              <a:lnSpc>
                <a:spcPct val="130000"/>
              </a:lnSpc>
              <a:buFont typeface="Arial" panose="020B0604020202020204" pitchFamily="34" charset="0"/>
              <a:buChar char="•"/>
            </a:pPr>
            <a:r>
              <a:rPr lang="zh-CN" altLang="en-US" sz="1800" dirty="0">
                <a:solidFill>
                  <a:schemeClr val="tx1"/>
                </a:solidFill>
                <a:latin typeface="微软雅黑" panose="020B0503020204020204" pitchFamily="34" charset="-122"/>
                <a:ea typeface="微软雅黑" panose="020B0503020204020204" pitchFamily="34" charset="-122"/>
              </a:rPr>
              <a:t>时基限额</a:t>
            </a:r>
          </a:p>
          <a:p>
            <a:pPr indent="-252000">
              <a:lnSpc>
                <a:spcPct val="130000"/>
              </a:lnSpc>
              <a:buFont typeface="Arial" panose="020B0604020202020204" pitchFamily="34" charset="0"/>
              <a:buChar char="•"/>
            </a:pPr>
            <a:r>
              <a:rPr lang="zh-CN" altLang="en-US" sz="1800" dirty="0">
                <a:solidFill>
                  <a:schemeClr val="tx1"/>
                </a:solidFill>
                <a:latin typeface="微软雅黑" panose="020B0503020204020204" pitchFamily="34" charset="-122"/>
                <a:ea typeface="微软雅黑" panose="020B0503020204020204" pitchFamily="34" charset="-122"/>
              </a:rPr>
              <a:t>继续，延迟</a:t>
            </a:r>
          </a:p>
          <a:p>
            <a:pPr indent="-252000">
              <a:lnSpc>
                <a:spcPct val="130000"/>
              </a:lnSpc>
              <a:buFont typeface="Arial" panose="020B0604020202020204" pitchFamily="34" charset="0"/>
              <a:buChar char="•"/>
            </a:pPr>
            <a:r>
              <a:rPr lang="zh-CN" altLang="en-US" sz="1800" dirty="0">
                <a:solidFill>
                  <a:schemeClr val="tx1"/>
                </a:solidFill>
                <a:latin typeface="微软雅黑" panose="020B0503020204020204" pitchFamily="34" charset="-122"/>
                <a:ea typeface="微软雅黑" panose="020B0503020204020204" pitchFamily="34" charset="-122"/>
              </a:rPr>
              <a:t>设定时段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4964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492885" y="2583180"/>
            <a:ext cx="9283065" cy="1310640"/>
          </a:xfrm>
          <a:prstGeom prst="rect">
            <a:avLst/>
          </a:prstGeom>
          <a:noFill/>
          <a:ln w="9525">
            <a:noFill/>
            <a:miter lim="800000"/>
          </a:ln>
        </p:spPr>
        <p:txBody>
          <a:bodyPr/>
          <a:lstStyle/>
          <a:p>
            <a:r>
              <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4.4</a:t>
            </a:r>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网络信息内容过滤模型</a:t>
            </a:r>
            <a:endPar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reeform 12"/>
          <p:cNvSpPr/>
          <p:nvPr/>
        </p:nvSpPr>
        <p:spPr bwMode="auto">
          <a:xfrm flipH="1" flipV="1">
            <a:off x="10511242" y="6006689"/>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 name="AutoShape 8" descr="“服务器 成本”的图片搜索结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103" name="组合 102"/>
          <p:cNvGrpSpPr/>
          <p:nvPr/>
        </p:nvGrpSpPr>
        <p:grpSpPr>
          <a:xfrm>
            <a:off x="609116" y="261257"/>
            <a:ext cx="1214822" cy="760080"/>
            <a:chOff x="1922078" y="0"/>
            <a:chExt cx="8347844" cy="3447438"/>
          </a:xfrm>
        </p:grpSpPr>
        <p:grpSp>
          <p:nvGrpSpPr>
            <p:cNvPr id="104" name="组合 103"/>
            <p:cNvGrpSpPr/>
            <p:nvPr/>
          </p:nvGrpSpPr>
          <p:grpSpPr>
            <a:xfrm rot="20997101">
              <a:off x="5080902" y="0"/>
              <a:ext cx="659781" cy="793569"/>
              <a:chOff x="9397113" y="1572484"/>
              <a:chExt cx="739439" cy="900000"/>
            </a:xfrm>
          </p:grpSpPr>
          <p:pic>
            <p:nvPicPr>
              <p:cNvPr id="162" name="图片 161"/>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63" name="椭圆 162"/>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p:cNvGrpSpPr/>
            <p:nvPr/>
          </p:nvGrpSpPr>
          <p:grpSpPr>
            <a:xfrm rot="2455872">
              <a:off x="9009447" y="1071465"/>
              <a:ext cx="659781" cy="793569"/>
              <a:chOff x="8752405" y="680495"/>
              <a:chExt cx="739439" cy="900000"/>
            </a:xfrm>
          </p:grpSpPr>
          <p:pic>
            <p:nvPicPr>
              <p:cNvPr id="160" name="图片 159"/>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61" name="椭圆 160"/>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p:cNvGrpSpPr/>
            <p:nvPr/>
          </p:nvGrpSpPr>
          <p:grpSpPr>
            <a:xfrm rot="20539373">
              <a:off x="4239050" y="1051458"/>
              <a:ext cx="642436" cy="793569"/>
              <a:chOff x="7798300" y="2128176"/>
              <a:chExt cx="720000" cy="900000"/>
            </a:xfrm>
          </p:grpSpPr>
          <p:pic>
            <p:nvPicPr>
              <p:cNvPr id="158" name="图片 157"/>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59" name="椭圆 158"/>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 name="组合 106"/>
            <p:cNvGrpSpPr/>
            <p:nvPr/>
          </p:nvGrpSpPr>
          <p:grpSpPr>
            <a:xfrm rot="622440">
              <a:off x="6257266" y="1278812"/>
              <a:ext cx="643355" cy="793569"/>
              <a:chOff x="5457544" y="2382484"/>
              <a:chExt cx="721030" cy="900000"/>
            </a:xfrm>
          </p:grpSpPr>
          <p:pic>
            <p:nvPicPr>
              <p:cNvPr id="156" name="图片 15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57" name="椭圆 15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组合 107"/>
            <p:cNvGrpSpPr/>
            <p:nvPr/>
          </p:nvGrpSpPr>
          <p:grpSpPr>
            <a:xfrm rot="713899">
              <a:off x="6982111" y="246490"/>
              <a:ext cx="642436" cy="811512"/>
              <a:chOff x="2594245" y="3143107"/>
              <a:chExt cx="720000" cy="920349"/>
            </a:xfrm>
          </p:grpSpPr>
          <p:pic>
            <p:nvPicPr>
              <p:cNvPr id="154" name="图片 153"/>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55" name="椭圆 154"/>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rot="20351331">
              <a:off x="2986611" y="357756"/>
              <a:ext cx="642436" cy="793569"/>
              <a:chOff x="3277182" y="773323"/>
              <a:chExt cx="720000" cy="900000"/>
            </a:xfrm>
          </p:grpSpPr>
          <p:sp>
            <p:nvSpPr>
              <p:cNvPr id="152" name="椭圆 151"/>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3" name="图片 15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110" name="组合 109"/>
            <p:cNvGrpSpPr/>
            <p:nvPr/>
          </p:nvGrpSpPr>
          <p:grpSpPr>
            <a:xfrm rot="1912890">
              <a:off x="7930945" y="1382649"/>
              <a:ext cx="648427" cy="793569"/>
              <a:chOff x="5384758" y="1250900"/>
              <a:chExt cx="726714" cy="900000"/>
            </a:xfrm>
          </p:grpSpPr>
          <p:sp>
            <p:nvSpPr>
              <p:cNvPr id="150" name="椭圆 149"/>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1" name="图片 15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111" name="组合 110"/>
            <p:cNvGrpSpPr/>
            <p:nvPr/>
          </p:nvGrpSpPr>
          <p:grpSpPr>
            <a:xfrm rot="1354213">
              <a:off x="7092076" y="1228721"/>
              <a:ext cx="642436" cy="793569"/>
              <a:chOff x="3639753" y="2488176"/>
              <a:chExt cx="720000" cy="900000"/>
            </a:xfrm>
          </p:grpSpPr>
          <p:sp>
            <p:nvSpPr>
              <p:cNvPr id="148" name="椭圆 147"/>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9" name="图片 14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112" name="组合 111"/>
            <p:cNvGrpSpPr/>
            <p:nvPr/>
          </p:nvGrpSpPr>
          <p:grpSpPr>
            <a:xfrm rot="19874646">
              <a:off x="3552291" y="1752953"/>
              <a:ext cx="647730" cy="793569"/>
              <a:chOff x="4707387" y="271511"/>
              <a:chExt cx="725933" cy="900000"/>
            </a:xfrm>
          </p:grpSpPr>
          <p:sp>
            <p:nvSpPr>
              <p:cNvPr id="146" name="椭圆 145"/>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7" name="图片 14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113" name="组合 112"/>
            <p:cNvGrpSpPr/>
            <p:nvPr/>
          </p:nvGrpSpPr>
          <p:grpSpPr>
            <a:xfrm>
              <a:off x="5902457" y="519563"/>
              <a:ext cx="647456" cy="793569"/>
              <a:chOff x="4355614" y="1671769"/>
              <a:chExt cx="725626" cy="900000"/>
            </a:xfrm>
          </p:grpSpPr>
          <p:sp>
            <p:nvSpPr>
              <p:cNvPr id="144" name="椭圆 143"/>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5" name="图片 14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114" name="组合 113"/>
            <p:cNvGrpSpPr/>
            <p:nvPr/>
          </p:nvGrpSpPr>
          <p:grpSpPr>
            <a:xfrm rot="3261331">
              <a:off x="8178834" y="2216888"/>
              <a:ext cx="645495" cy="803045"/>
              <a:chOff x="6534782" y="2204846"/>
              <a:chExt cx="732066" cy="900000"/>
            </a:xfrm>
          </p:grpSpPr>
          <p:sp>
            <p:nvSpPr>
              <p:cNvPr id="142" name="椭圆 141"/>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3" name="图片 14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115" name="组合 114"/>
            <p:cNvGrpSpPr/>
            <p:nvPr/>
          </p:nvGrpSpPr>
          <p:grpSpPr>
            <a:xfrm rot="1881527">
              <a:off x="8180043" y="493339"/>
              <a:ext cx="646830" cy="793569"/>
              <a:chOff x="5993772" y="258109"/>
              <a:chExt cx="724925" cy="900000"/>
            </a:xfrm>
          </p:grpSpPr>
          <p:sp>
            <p:nvSpPr>
              <p:cNvPr id="140" name="椭圆 139"/>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1" name="图片 14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116" name="组合 115"/>
            <p:cNvGrpSpPr/>
            <p:nvPr/>
          </p:nvGrpSpPr>
          <p:grpSpPr>
            <a:xfrm rot="3066563">
              <a:off x="9550518" y="2274810"/>
              <a:ext cx="635764" cy="803045"/>
              <a:chOff x="8806213" y="2910111"/>
              <a:chExt cx="721030" cy="900000"/>
            </a:xfrm>
          </p:grpSpPr>
          <p:sp>
            <p:nvSpPr>
              <p:cNvPr id="138" name="椭圆 137"/>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9" name="图片 13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117" name="组合 116"/>
            <p:cNvGrpSpPr/>
            <p:nvPr/>
          </p:nvGrpSpPr>
          <p:grpSpPr>
            <a:xfrm rot="20849518">
              <a:off x="5023848" y="1251597"/>
              <a:ext cx="644890" cy="793569"/>
              <a:chOff x="7330781" y="818297"/>
              <a:chExt cx="722751" cy="900000"/>
            </a:xfrm>
          </p:grpSpPr>
          <p:sp>
            <p:nvSpPr>
              <p:cNvPr id="136" name="椭圆 135"/>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7" name="图片 13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18" name="组合 117"/>
            <p:cNvGrpSpPr/>
            <p:nvPr/>
          </p:nvGrpSpPr>
          <p:grpSpPr>
            <a:xfrm rot="19756194">
              <a:off x="1922078" y="1474933"/>
              <a:ext cx="653202" cy="793569"/>
              <a:chOff x="2213446" y="1768419"/>
              <a:chExt cx="732066" cy="900000"/>
            </a:xfrm>
          </p:grpSpPr>
          <p:pic>
            <p:nvPicPr>
              <p:cNvPr id="134" name="图片 13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35" name="椭圆 134"/>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9" name="直接连接符 118"/>
            <p:cNvCxnSpPr>
              <a:stCxn id="146"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35"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52"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59"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63"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44"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36"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57"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55"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48"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40"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50"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161"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38"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42"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4" name="矩形 163"/>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168"/>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文本框 335"/>
          <p:cNvSpPr txBox="1"/>
          <p:nvPr/>
        </p:nvSpPr>
        <p:spPr>
          <a:xfrm>
            <a:off x="2151737" y="269536"/>
            <a:ext cx="4801314"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3600" dirty="0"/>
              <a:t>网络信息内容过滤模型</a:t>
            </a:r>
          </a:p>
        </p:txBody>
      </p:sp>
      <p:grpSp>
        <p:nvGrpSpPr>
          <p:cNvPr id="172" name="组合 171"/>
          <p:cNvGrpSpPr/>
          <p:nvPr/>
        </p:nvGrpSpPr>
        <p:grpSpPr>
          <a:xfrm>
            <a:off x="655309" y="1032131"/>
            <a:ext cx="10477147" cy="66943"/>
            <a:chOff x="655309" y="1032131"/>
            <a:chExt cx="10477147" cy="66943"/>
          </a:xfrm>
        </p:grpSpPr>
        <p:sp>
          <p:nvSpPr>
            <p:cNvPr id="173" name="矩形 172"/>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Text Placeholder 9"/>
          <p:cNvSpPr txBox="1"/>
          <p:nvPr/>
        </p:nvSpPr>
        <p:spPr>
          <a:xfrm>
            <a:off x="5205730" y="1537970"/>
            <a:ext cx="1863725" cy="53594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zh-CN" altLang="en-US" sz="2800" dirty="0">
                <a:solidFill>
                  <a:srgbClr val="00B0F0"/>
                </a:solidFill>
                <a:latin typeface="微软雅黑" panose="020B0503020204020204" pitchFamily="34" charset="-122"/>
                <a:ea typeface="微软雅黑" panose="020B0503020204020204" pitchFamily="34" charset="-122"/>
              </a:rPr>
              <a:t>布尔模型</a:t>
            </a:r>
          </a:p>
        </p:txBody>
      </p:sp>
      <p:sp>
        <p:nvSpPr>
          <p:cNvPr id="8" name="平行四边形 7"/>
          <p:cNvSpPr/>
          <p:nvPr/>
        </p:nvSpPr>
        <p:spPr>
          <a:xfrm rot="20362696" flipV="1">
            <a:off x="5191125" y="2779395"/>
            <a:ext cx="2489835" cy="1258570"/>
          </a:xfrm>
          <a:prstGeom prst="parallelogram">
            <a:avLst>
              <a:gd name="adj" fmla="val 68951"/>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平行四边形 8"/>
          <p:cNvSpPr/>
          <p:nvPr/>
        </p:nvSpPr>
        <p:spPr>
          <a:xfrm rot="5400000">
            <a:off x="4528185" y="3867785"/>
            <a:ext cx="2205355" cy="1268095"/>
          </a:xfrm>
          <a:prstGeom prst="parallelogram">
            <a:avLst>
              <a:gd name="adj" fmla="val 6895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平行四边形 9"/>
          <p:cNvSpPr/>
          <p:nvPr/>
        </p:nvSpPr>
        <p:spPr>
          <a:xfrm rot="5400000" flipH="1">
            <a:off x="6216650" y="3873500"/>
            <a:ext cx="1950720" cy="1539240"/>
          </a:xfrm>
          <a:prstGeom prst="parallelogram">
            <a:avLst>
              <a:gd name="adj" fmla="val 383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1" name="直接连接符 10"/>
          <p:cNvCxnSpPr/>
          <p:nvPr/>
        </p:nvCxnSpPr>
        <p:spPr>
          <a:xfrm flipV="1">
            <a:off x="6264990" y="2570242"/>
            <a:ext cx="0" cy="84177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069138" y="5132229"/>
            <a:ext cx="840581" cy="47267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803855" y="4854734"/>
            <a:ext cx="703659" cy="39528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bwMode="auto">
          <a:xfrm>
            <a:off x="5970270" y="2073593"/>
            <a:ext cx="589360" cy="58936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椭圆 14"/>
          <p:cNvSpPr/>
          <p:nvPr/>
        </p:nvSpPr>
        <p:spPr bwMode="auto">
          <a:xfrm>
            <a:off x="4310619" y="5178108"/>
            <a:ext cx="589359" cy="58816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椭圆 15"/>
          <p:cNvSpPr/>
          <p:nvPr/>
        </p:nvSpPr>
        <p:spPr bwMode="auto">
          <a:xfrm>
            <a:off x="7823439" y="5362496"/>
            <a:ext cx="589359" cy="58935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TextBox 35"/>
          <p:cNvSpPr txBox="1">
            <a:spLocks noChangeArrowheads="1"/>
          </p:cNvSpPr>
          <p:nvPr/>
        </p:nvSpPr>
        <p:spPr bwMode="auto">
          <a:xfrm>
            <a:off x="1855709" y="1337787"/>
            <a:ext cx="2715815" cy="120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spcBef>
                <a:spcPct val="0"/>
              </a:spcBef>
            </a:pPr>
            <a:r>
              <a:rPr lang="zh-CN" altLang="en-US" dirty="0">
                <a:solidFill>
                  <a:srgbClr val="00B0F0"/>
                </a:solidFill>
                <a:latin typeface="微软雅黑" panose="020B0503020204020204" pitchFamily="34" charset="-122"/>
                <a:ea typeface="微软雅黑" panose="020B0503020204020204" pitchFamily="34" charset="-122"/>
              </a:rPr>
              <a:t>优点</a:t>
            </a:r>
          </a:p>
          <a:p>
            <a:pPr algn="r">
              <a:spcBef>
                <a:spcPct val="0"/>
              </a:spcBef>
            </a:pPr>
            <a:r>
              <a:rPr lang="zh-CN" altLang="en-US" dirty="0">
                <a:solidFill>
                  <a:srgbClr val="00B0F0"/>
                </a:solidFill>
                <a:latin typeface="微软雅黑" panose="020B0503020204020204" pitchFamily="34" charset="-122"/>
                <a:ea typeface="微软雅黑" panose="020B0503020204020204" pitchFamily="34" charset="-122"/>
              </a:rPr>
              <a:t>实现简单</a:t>
            </a:r>
          </a:p>
          <a:p>
            <a:pPr algn="r">
              <a:spcBef>
                <a:spcPct val="0"/>
              </a:spcBef>
            </a:pPr>
            <a:r>
              <a:rPr lang="zh-CN" altLang="en-US" dirty="0">
                <a:solidFill>
                  <a:srgbClr val="00B0F0"/>
                </a:solidFill>
                <a:latin typeface="微软雅黑" panose="020B0503020204020204" pitchFamily="34" charset="-122"/>
                <a:ea typeface="微软雅黑" panose="020B0503020204020204" pitchFamily="34" charset="-122"/>
              </a:rPr>
              <a:t>检索速度快</a:t>
            </a:r>
          </a:p>
          <a:p>
            <a:pPr algn="r">
              <a:spcBef>
                <a:spcPct val="0"/>
              </a:spcBef>
            </a:pPr>
            <a:r>
              <a:rPr lang="zh-CN" altLang="en-US" dirty="0">
                <a:solidFill>
                  <a:srgbClr val="00B0F0"/>
                </a:solidFill>
                <a:latin typeface="微软雅黑" panose="020B0503020204020204" pitchFamily="34" charset="-122"/>
                <a:ea typeface="微软雅黑" panose="020B0503020204020204" pitchFamily="34" charset="-122"/>
              </a:rPr>
              <a:t>易于理解</a:t>
            </a:r>
          </a:p>
        </p:txBody>
      </p:sp>
      <p:sp>
        <p:nvSpPr>
          <p:cNvPr id="19" name="文本框 18"/>
          <p:cNvSpPr txBox="1">
            <a:spLocks noChangeArrowheads="1"/>
          </p:cNvSpPr>
          <p:nvPr/>
        </p:nvSpPr>
        <p:spPr bwMode="auto">
          <a:xfrm>
            <a:off x="7792720" y="6006465"/>
            <a:ext cx="29343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800" dirty="0">
                <a:solidFill>
                  <a:srgbClr val="0070C0"/>
                </a:solidFill>
                <a:latin typeface="微软雅黑" panose="020B0503020204020204" pitchFamily="34" charset="-122"/>
                <a:ea typeface="微软雅黑" panose="020B0503020204020204" pitchFamily="34" charset="-122"/>
              </a:rPr>
              <a:t>神经网络模型</a:t>
            </a:r>
          </a:p>
        </p:txBody>
      </p:sp>
      <p:sp>
        <p:nvSpPr>
          <p:cNvPr id="20" name="TextBox 35"/>
          <p:cNvSpPr txBox="1">
            <a:spLocks noChangeArrowheads="1"/>
          </p:cNvSpPr>
          <p:nvPr/>
        </p:nvSpPr>
        <p:spPr bwMode="auto">
          <a:xfrm>
            <a:off x="8662670" y="3921125"/>
            <a:ext cx="3231515" cy="175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0"/>
              </a:spcBef>
            </a:pPr>
            <a:r>
              <a:rPr lang="zh-CN" altLang="en-US" dirty="0">
                <a:solidFill>
                  <a:schemeClr val="accent1"/>
                </a:solidFill>
                <a:latin typeface="微软雅黑" panose="020B0503020204020204" pitchFamily="34" charset="-122"/>
                <a:ea typeface="微软雅黑" panose="020B0503020204020204" pitchFamily="34" charset="-122"/>
                <a:sym typeface="方正兰亭黑_GBK" panose="02000000000000000000" pitchFamily="2" charset="-122"/>
              </a:rPr>
              <a:t>模拟人脑对信息的处理方式，在其内部存储可行模式的整个集合，这些模式可被外部暗示唤起，即使“外部”提供的资料不足，也可以在其内部进行构造。</a:t>
            </a:r>
          </a:p>
        </p:txBody>
      </p:sp>
      <p:sp>
        <p:nvSpPr>
          <p:cNvPr id="21" name="文本框 20"/>
          <p:cNvSpPr txBox="1">
            <a:spLocks noChangeArrowheads="1"/>
          </p:cNvSpPr>
          <p:nvPr/>
        </p:nvSpPr>
        <p:spPr bwMode="auto">
          <a:xfrm>
            <a:off x="2809875" y="5951855"/>
            <a:ext cx="23355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800" dirty="0">
                <a:solidFill>
                  <a:srgbClr val="92D050"/>
                </a:solidFill>
                <a:latin typeface="微软雅黑" panose="020B0503020204020204" pitchFamily="34" charset="-122"/>
                <a:ea typeface="微软雅黑" panose="020B0503020204020204" pitchFamily="34" charset="-122"/>
              </a:rPr>
              <a:t>向量空间模型</a:t>
            </a:r>
          </a:p>
        </p:txBody>
      </p:sp>
      <p:sp>
        <p:nvSpPr>
          <p:cNvPr id="22" name="TextBox 35"/>
          <p:cNvSpPr txBox="1">
            <a:spLocks noChangeArrowheads="1"/>
          </p:cNvSpPr>
          <p:nvPr/>
        </p:nvSpPr>
        <p:spPr bwMode="auto">
          <a:xfrm>
            <a:off x="189230" y="4264660"/>
            <a:ext cx="4154805" cy="120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spcBef>
                <a:spcPct val="0"/>
              </a:spcBef>
            </a:pPr>
            <a:r>
              <a:rPr lang="zh-CN" altLang="en-US" dirty="0">
                <a:solidFill>
                  <a:srgbClr val="92D050"/>
                </a:solidFill>
                <a:latin typeface="微软雅黑" panose="020B0503020204020204" pitchFamily="34" charset="-122"/>
                <a:ea typeface="微软雅黑" panose="020B0503020204020204" pitchFamily="34" charset="-122"/>
                <a:sym typeface="方正兰亭黑_GBK" panose="02000000000000000000" pitchFamily="2" charset="-122"/>
              </a:rPr>
              <a:t>给出原始信息的向量表示</a:t>
            </a:r>
          </a:p>
          <a:p>
            <a:pPr algn="r">
              <a:spcBef>
                <a:spcPct val="0"/>
              </a:spcBef>
            </a:pPr>
            <a:r>
              <a:rPr lang="zh-CN" altLang="en-US" dirty="0">
                <a:solidFill>
                  <a:srgbClr val="92D050"/>
                </a:solidFill>
                <a:latin typeface="微软雅黑" panose="020B0503020204020204" pitchFamily="34" charset="-122"/>
                <a:ea typeface="微软雅黑" panose="020B0503020204020204" pitchFamily="34" charset="-122"/>
                <a:sym typeface="方正兰亭黑_GBK" panose="02000000000000000000" pitchFamily="2" charset="-122"/>
              </a:rPr>
              <a:t>给出用户模板的向量表示</a:t>
            </a:r>
          </a:p>
          <a:p>
            <a:pPr algn="r">
              <a:spcBef>
                <a:spcPct val="0"/>
              </a:spcBef>
            </a:pPr>
            <a:r>
              <a:rPr lang="zh-CN" altLang="en-US" dirty="0">
                <a:solidFill>
                  <a:srgbClr val="92D050"/>
                </a:solidFill>
                <a:latin typeface="微软雅黑" panose="020B0503020204020204" pitchFamily="34" charset="-122"/>
                <a:ea typeface="微软雅黑" panose="020B0503020204020204" pitchFamily="34" charset="-122"/>
                <a:sym typeface="方正兰亭黑_GBK" panose="02000000000000000000" pitchFamily="2" charset="-122"/>
              </a:rPr>
              <a:t>计算原始信息和用户模板之间的相似度</a:t>
            </a:r>
          </a:p>
          <a:p>
            <a:pPr algn="r">
              <a:spcBef>
                <a:spcPct val="0"/>
              </a:spcBef>
            </a:pPr>
            <a:r>
              <a:rPr lang="zh-CN" altLang="en-US" dirty="0">
                <a:solidFill>
                  <a:srgbClr val="92D050"/>
                </a:solidFill>
                <a:latin typeface="微软雅黑" panose="020B0503020204020204" pitchFamily="34" charset="-122"/>
                <a:ea typeface="微软雅黑" panose="020B0503020204020204" pitchFamily="34" charset="-122"/>
                <a:sym typeface="方正兰亭黑_GBK" panose="02000000000000000000" pitchFamily="2" charset="-122"/>
              </a:rPr>
              <a:t>将条件信息提供给用户，获得反馈</a:t>
            </a:r>
          </a:p>
        </p:txBody>
      </p:sp>
      <p:sp>
        <p:nvSpPr>
          <p:cNvPr id="23" name="文本框 22"/>
          <p:cNvSpPr txBox="1">
            <a:spLocks noChangeArrowheads="1"/>
          </p:cNvSpPr>
          <p:nvPr/>
        </p:nvSpPr>
        <p:spPr bwMode="auto">
          <a:xfrm>
            <a:off x="6003858" y="2183582"/>
            <a:ext cx="5219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accent2"/>
                </a:solidFill>
                <a:latin typeface="微软雅黑" panose="020B0503020204020204" pitchFamily="34" charset="-122"/>
                <a:ea typeface="微软雅黑" panose="020B0503020204020204" pitchFamily="34" charset="-122"/>
              </a:rPr>
              <a:t>01</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24" name="文本框 23"/>
          <p:cNvSpPr txBox="1">
            <a:spLocks noChangeArrowheads="1"/>
          </p:cNvSpPr>
          <p:nvPr/>
        </p:nvSpPr>
        <p:spPr bwMode="auto">
          <a:xfrm>
            <a:off x="7856590" y="5472509"/>
            <a:ext cx="5219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accent2"/>
                </a:solidFill>
                <a:latin typeface="微软雅黑" panose="020B0503020204020204" pitchFamily="34" charset="-122"/>
                <a:ea typeface="微软雅黑" panose="020B0503020204020204" pitchFamily="34" charset="-122"/>
              </a:rPr>
              <a:t>02</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25" name="文本框 24"/>
          <p:cNvSpPr txBox="1">
            <a:spLocks noChangeArrowheads="1"/>
          </p:cNvSpPr>
          <p:nvPr/>
        </p:nvSpPr>
        <p:spPr bwMode="auto">
          <a:xfrm>
            <a:off x="4344245" y="5287526"/>
            <a:ext cx="5219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accent2"/>
                </a:solidFill>
                <a:latin typeface="微软雅黑" panose="020B0503020204020204" pitchFamily="34" charset="-122"/>
                <a:ea typeface="微软雅黑" panose="020B0503020204020204" pitchFamily="34" charset="-122"/>
              </a:rPr>
              <a:t>03</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 name="TextBox 35"/>
          <p:cNvSpPr txBox="1">
            <a:spLocks noChangeArrowheads="1"/>
          </p:cNvSpPr>
          <p:nvPr/>
        </p:nvSpPr>
        <p:spPr bwMode="auto">
          <a:xfrm>
            <a:off x="7856855" y="1337945"/>
            <a:ext cx="4290060" cy="120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0"/>
              </a:spcBef>
            </a:pPr>
            <a:r>
              <a:rPr lang="zh-CN" altLang="en-US" dirty="0">
                <a:solidFill>
                  <a:srgbClr val="00B0F0"/>
                </a:solidFill>
                <a:latin typeface="微软雅黑" panose="020B0503020204020204" pitchFamily="34" charset="-122"/>
                <a:ea typeface="微软雅黑" panose="020B0503020204020204" pitchFamily="34" charset="-122"/>
              </a:rPr>
              <a:t>不足</a:t>
            </a:r>
          </a:p>
          <a:p>
            <a:pPr>
              <a:spcBef>
                <a:spcPct val="0"/>
              </a:spcBef>
            </a:pPr>
            <a:r>
              <a:rPr lang="zh-CN" altLang="en-US" dirty="0">
                <a:solidFill>
                  <a:srgbClr val="00B0F0"/>
                </a:solidFill>
                <a:latin typeface="微软雅黑" panose="020B0503020204020204" pitchFamily="34" charset="-122"/>
                <a:ea typeface="微软雅黑" panose="020B0503020204020204" pitchFamily="34" charset="-122"/>
              </a:rPr>
              <a:t>原始信息表示不精确</a:t>
            </a:r>
          </a:p>
          <a:p>
            <a:pPr>
              <a:spcBef>
                <a:spcPct val="0"/>
              </a:spcBef>
            </a:pPr>
            <a:r>
              <a:rPr lang="zh-CN" altLang="en-US" dirty="0">
                <a:solidFill>
                  <a:srgbClr val="00B0F0"/>
                </a:solidFill>
                <a:latin typeface="微软雅黑" panose="020B0503020204020204" pitchFamily="34" charset="-122"/>
                <a:ea typeface="微软雅黑" panose="020B0503020204020204" pitchFamily="34" charset="-122"/>
              </a:rPr>
              <a:t>匹配规则过于严格，容易造成漏检</a:t>
            </a:r>
          </a:p>
          <a:p>
            <a:pPr>
              <a:spcBef>
                <a:spcPct val="0"/>
              </a:spcBef>
            </a:pPr>
            <a:r>
              <a:rPr lang="zh-CN" altLang="en-US" dirty="0">
                <a:solidFill>
                  <a:srgbClr val="00B0F0"/>
                </a:solidFill>
                <a:latin typeface="微软雅黑" panose="020B0503020204020204" pitchFamily="34" charset="-122"/>
                <a:ea typeface="微软雅黑" panose="020B0503020204020204" pitchFamily="34" charset="-122"/>
              </a:rPr>
              <a:t>二值性导致系统无法准确提供信息</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4" name="左箭头 3"/>
          <p:cNvSpPr/>
          <p:nvPr/>
        </p:nvSpPr>
        <p:spPr>
          <a:xfrm>
            <a:off x="4803140" y="1639570"/>
            <a:ext cx="521335" cy="3124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右箭头 4"/>
          <p:cNvSpPr/>
          <p:nvPr/>
        </p:nvSpPr>
        <p:spPr>
          <a:xfrm>
            <a:off x="7153910" y="1638935"/>
            <a:ext cx="473075" cy="2927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5"/>
                                        </p:tgtEl>
                                        <p:attrNameLst>
                                          <p:attrName>style.visibility</p:attrName>
                                        </p:attrNameLst>
                                      </p:cBhvr>
                                      <p:to>
                                        <p:strVal val="visible"/>
                                      </p:to>
                                    </p:set>
                                  </p:childTnLst>
                                </p:cTn>
                              </p:par>
                              <p:par>
                                <p:cTn id="7" presetID="35" presetClass="path" presetSubtype="0" accel="50000" decel="50000" fill="hold" grpId="1" nodeType="withEffect">
                                  <p:stCondLst>
                                    <p:cond delay="0"/>
                                  </p:stCondLst>
                                  <p:childTnLst>
                                    <p:animMotion origin="layout" path="M 7.85742E-7 -3.33333E-6 L -0.39495 -0.11018 " pathEditMode="relative" rAng="0" ptsTypes="AA">
                                      <p:cBhvr>
                                        <p:cTn id="8" dur="500" spd="-99900" fill="hold"/>
                                        <p:tgtEl>
                                          <p:spTgt spid="95"/>
                                        </p:tgtEl>
                                        <p:attrNameLst>
                                          <p:attrName>ppt_x</p:attrName>
                                          <p:attrName>ppt_y</p:attrName>
                                        </p:attrNameLst>
                                      </p:cBhvr>
                                      <p:rCtr x="-19748" y="-5509"/>
                                    </p:animMotion>
                                  </p:childTnLst>
                                </p:cTn>
                              </p:par>
                            </p:childTnLst>
                          </p:cTn>
                        </p:par>
                        <p:par>
                          <p:cTn id="9" fill="hold">
                            <p:stCondLst>
                              <p:cond delay="0"/>
                            </p:stCondLst>
                            <p:childTnLst>
                              <p:par>
                                <p:cTn id="10" presetID="2" presetClass="entr" presetSubtype="1"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12"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22" presetClass="entr" presetSubtype="4"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par>
                          <p:cTn id="28" fill="hold">
                            <p:stCondLst>
                              <p:cond delay="2000"/>
                            </p:stCondLst>
                            <p:childTnLst>
                              <p:par>
                                <p:cTn id="29" presetID="22" presetClass="entr" presetSubtype="2"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500"/>
                                        <p:tgtEl>
                                          <p:spTgt spid="13"/>
                                        </p:tgtEl>
                                      </p:cBhvr>
                                    </p:animEffect>
                                  </p:childTnLst>
                                </p:cTn>
                              </p:par>
                            </p:childTnLst>
                          </p:cTn>
                        </p:par>
                        <p:par>
                          <p:cTn id="32" fill="hold">
                            <p:stCondLst>
                              <p:cond delay="2500"/>
                            </p:stCondLst>
                            <p:childTnLst>
                              <p:par>
                                <p:cTn id="33" presetID="22" presetClass="entr" presetSubtype="8"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fltVal val="0"/>
                                          </p:val>
                                        </p:tav>
                                        <p:tav tm="100000">
                                          <p:val>
                                            <p:strVal val="#ppt_h"/>
                                          </p:val>
                                        </p:tav>
                                      </p:tavLst>
                                    </p:anim>
                                    <p:animEffect transition="in" filter="fade">
                                      <p:cBhvr>
                                        <p:cTn id="41" dur="500"/>
                                        <p:tgtEl>
                                          <p:spTgt spid="23"/>
                                        </p:tgtEl>
                                      </p:cBhvr>
                                    </p:animEffect>
                                  </p:childTnLst>
                                </p:cTn>
                              </p:par>
                            </p:childTnLst>
                          </p:cTn>
                        </p:par>
                        <p:par>
                          <p:cTn id="42" fill="hold">
                            <p:stCondLst>
                              <p:cond delay="3500"/>
                            </p:stCondLst>
                            <p:childTnLst>
                              <p:par>
                                <p:cTn id="43" presetID="53" presetClass="entr" presetSubtype="16"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500" fill="hold"/>
                                        <p:tgtEl>
                                          <p:spTgt spid="24"/>
                                        </p:tgtEl>
                                        <p:attrNameLst>
                                          <p:attrName>ppt_w</p:attrName>
                                        </p:attrNameLst>
                                      </p:cBhvr>
                                      <p:tavLst>
                                        <p:tav tm="0">
                                          <p:val>
                                            <p:fltVal val="0"/>
                                          </p:val>
                                        </p:tav>
                                        <p:tav tm="100000">
                                          <p:val>
                                            <p:strVal val="#ppt_w"/>
                                          </p:val>
                                        </p:tav>
                                      </p:tavLst>
                                    </p:anim>
                                    <p:anim calcmode="lin" valueType="num">
                                      <p:cBhvr>
                                        <p:cTn id="46" dur="500" fill="hold"/>
                                        <p:tgtEl>
                                          <p:spTgt spid="24"/>
                                        </p:tgtEl>
                                        <p:attrNameLst>
                                          <p:attrName>ppt_h</p:attrName>
                                        </p:attrNameLst>
                                      </p:cBhvr>
                                      <p:tavLst>
                                        <p:tav tm="0">
                                          <p:val>
                                            <p:fltVal val="0"/>
                                          </p:val>
                                        </p:tav>
                                        <p:tav tm="100000">
                                          <p:val>
                                            <p:strVal val="#ppt_h"/>
                                          </p:val>
                                        </p:tav>
                                      </p:tavLst>
                                    </p:anim>
                                    <p:animEffect transition="in" filter="fade">
                                      <p:cBhvr>
                                        <p:cTn id="47" dur="500"/>
                                        <p:tgtEl>
                                          <p:spTgt spid="24"/>
                                        </p:tgtEl>
                                      </p:cBhvr>
                                    </p:animEffect>
                                  </p:childTnLst>
                                </p:cTn>
                              </p:par>
                            </p:childTnLst>
                          </p:cTn>
                        </p:par>
                        <p:par>
                          <p:cTn id="48" fill="hold">
                            <p:stCondLst>
                              <p:cond delay="4000"/>
                            </p:stCondLst>
                            <p:childTnLst>
                              <p:par>
                                <p:cTn id="49" presetID="53" presetClass="entr" presetSubtype="16"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childTnLst>
                          </p:cTn>
                        </p:par>
                        <p:par>
                          <p:cTn id="54" fill="hold">
                            <p:stCondLst>
                              <p:cond delay="4500"/>
                            </p:stCondLst>
                            <p:childTnLst>
                              <p:par>
                                <p:cTn id="55" presetID="53" presetClass="entr" presetSubtype="16"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childTnLst>
                          </p:cTn>
                        </p:par>
                        <p:par>
                          <p:cTn id="60" fill="hold">
                            <p:stCondLst>
                              <p:cond delay="5000"/>
                            </p:stCondLst>
                            <p:childTnLst>
                              <p:par>
                                <p:cTn id="61" presetID="53" presetClass="entr" presetSubtype="16"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childTnLst>
                          </p:cTn>
                        </p:par>
                        <p:par>
                          <p:cTn id="66" fill="hold">
                            <p:stCondLst>
                              <p:cond delay="5500"/>
                            </p:stCondLst>
                            <p:childTnLst>
                              <p:par>
                                <p:cTn id="67" presetID="53" presetClass="entr" presetSubtype="16" fill="hold" grpId="0" nodeType="after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p:cTn id="69" dur="500" fill="hold"/>
                                        <p:tgtEl>
                                          <p:spTgt spid="15"/>
                                        </p:tgtEl>
                                        <p:attrNameLst>
                                          <p:attrName>ppt_w</p:attrName>
                                        </p:attrNameLst>
                                      </p:cBhvr>
                                      <p:tavLst>
                                        <p:tav tm="0">
                                          <p:val>
                                            <p:fltVal val="0"/>
                                          </p:val>
                                        </p:tav>
                                        <p:tav tm="100000">
                                          <p:val>
                                            <p:strVal val="#ppt_w"/>
                                          </p:val>
                                        </p:tav>
                                      </p:tavLst>
                                    </p:anim>
                                    <p:anim calcmode="lin" valueType="num">
                                      <p:cBhvr>
                                        <p:cTn id="70" dur="500" fill="hold"/>
                                        <p:tgtEl>
                                          <p:spTgt spid="15"/>
                                        </p:tgtEl>
                                        <p:attrNameLst>
                                          <p:attrName>ppt_h</p:attrName>
                                        </p:attrNameLst>
                                      </p:cBhvr>
                                      <p:tavLst>
                                        <p:tav tm="0">
                                          <p:val>
                                            <p:fltVal val="0"/>
                                          </p:val>
                                        </p:tav>
                                        <p:tav tm="100000">
                                          <p:val>
                                            <p:strVal val="#ppt_h"/>
                                          </p:val>
                                        </p:tav>
                                      </p:tavLst>
                                    </p:anim>
                                    <p:animEffect transition="in" filter="fade">
                                      <p:cBhvr>
                                        <p:cTn id="71" dur="500"/>
                                        <p:tgtEl>
                                          <p:spTgt spid="15"/>
                                        </p:tgtEl>
                                      </p:cBhvr>
                                    </p:animEffect>
                                  </p:childTnLst>
                                </p:cTn>
                              </p:par>
                            </p:childTnLst>
                          </p:cTn>
                        </p:par>
                        <p:par>
                          <p:cTn id="72" fill="hold">
                            <p:stCondLst>
                              <p:cond delay="6000"/>
                            </p:stCondLst>
                            <p:childTnLst>
                              <p:par>
                                <p:cTn id="73" presetID="22" presetClass="entr" presetSubtype="8"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wipe(left)">
                                      <p:cBhvr>
                                        <p:cTn id="75" dur="500"/>
                                        <p:tgtEl>
                                          <p:spTgt spid="21"/>
                                        </p:tgtEl>
                                      </p:cBhvr>
                                    </p:animEffect>
                                  </p:childTnLst>
                                </p:cTn>
                              </p:par>
                            </p:childTnLst>
                          </p:cTn>
                        </p:par>
                        <p:par>
                          <p:cTn id="76" fill="hold">
                            <p:stCondLst>
                              <p:cond delay="6500"/>
                            </p:stCondLst>
                            <p:childTnLst>
                              <p:par>
                                <p:cTn id="77" presetID="22" presetClass="entr" presetSubtype="8"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left)">
                                      <p:cBhvr>
                                        <p:cTn id="79" dur="500"/>
                                        <p:tgtEl>
                                          <p:spTgt spid="19"/>
                                        </p:tgtEl>
                                      </p:cBhvr>
                                    </p:animEffect>
                                  </p:childTnLst>
                                </p:cTn>
                              </p:par>
                            </p:childTnLst>
                          </p:cTn>
                        </p:par>
                        <p:par>
                          <p:cTn id="80" fill="hold">
                            <p:stCondLst>
                              <p:cond delay="7000"/>
                            </p:stCondLst>
                            <p:childTnLst>
                              <p:par>
                                <p:cTn id="81" presetID="2" presetClass="entr" presetSubtype="2" fill="hold" grpId="0" nodeType="after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ppt_x</p:attrName>
                                        </p:attrNameLst>
                                      </p:cBhvr>
                                      <p:tavLst>
                                        <p:tav tm="0">
                                          <p:val>
                                            <p:strVal val="1+#ppt_w/2"/>
                                          </p:val>
                                        </p:tav>
                                        <p:tav tm="100000">
                                          <p:val>
                                            <p:strVal val="#ppt_x"/>
                                          </p:val>
                                        </p:tav>
                                      </p:tavLst>
                                    </p:anim>
                                    <p:anim calcmode="lin" valueType="num">
                                      <p:cBhvr additive="base">
                                        <p:cTn id="84" dur="500" fill="hold"/>
                                        <p:tgtEl>
                                          <p:spTgt spid="18"/>
                                        </p:tgtEl>
                                        <p:attrNameLst>
                                          <p:attrName>ppt_y</p:attrName>
                                        </p:attrNameLst>
                                      </p:cBhvr>
                                      <p:tavLst>
                                        <p:tav tm="0">
                                          <p:val>
                                            <p:strVal val="#ppt_y"/>
                                          </p:val>
                                        </p:tav>
                                        <p:tav tm="100000">
                                          <p:val>
                                            <p:strVal val="#ppt_y"/>
                                          </p:val>
                                        </p:tav>
                                      </p:tavLst>
                                    </p:anim>
                                  </p:childTnLst>
                                </p:cTn>
                              </p:par>
                            </p:childTnLst>
                          </p:cTn>
                        </p:par>
                        <p:par>
                          <p:cTn id="85" fill="hold">
                            <p:stCondLst>
                              <p:cond delay="7500"/>
                            </p:stCondLst>
                            <p:childTnLst>
                              <p:par>
                                <p:cTn id="86" presetID="2" presetClass="entr" presetSubtype="8"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fill="hold"/>
                                        <p:tgtEl>
                                          <p:spTgt spid="22"/>
                                        </p:tgtEl>
                                        <p:attrNameLst>
                                          <p:attrName>ppt_x</p:attrName>
                                        </p:attrNameLst>
                                      </p:cBhvr>
                                      <p:tavLst>
                                        <p:tav tm="0">
                                          <p:val>
                                            <p:strVal val="0-#ppt_w/2"/>
                                          </p:val>
                                        </p:tav>
                                        <p:tav tm="100000">
                                          <p:val>
                                            <p:strVal val="#ppt_x"/>
                                          </p:val>
                                        </p:tav>
                                      </p:tavLst>
                                    </p:anim>
                                    <p:anim calcmode="lin" valueType="num">
                                      <p:cBhvr additive="base">
                                        <p:cTn id="89" dur="500" fill="hold"/>
                                        <p:tgtEl>
                                          <p:spTgt spid="22"/>
                                        </p:tgtEl>
                                        <p:attrNameLst>
                                          <p:attrName>ppt_y</p:attrName>
                                        </p:attrNameLst>
                                      </p:cBhvr>
                                      <p:tavLst>
                                        <p:tav tm="0">
                                          <p:val>
                                            <p:strVal val="#ppt_y"/>
                                          </p:val>
                                        </p:tav>
                                        <p:tav tm="100000">
                                          <p:val>
                                            <p:strVal val="#ppt_y"/>
                                          </p:val>
                                        </p:tav>
                                      </p:tavLst>
                                    </p:anim>
                                  </p:childTnLst>
                                </p:cTn>
                              </p:par>
                            </p:childTnLst>
                          </p:cTn>
                        </p:par>
                        <p:par>
                          <p:cTn id="90" fill="hold">
                            <p:stCondLst>
                              <p:cond delay="8000"/>
                            </p:stCondLst>
                            <p:childTnLst>
                              <p:par>
                                <p:cTn id="91" presetID="2" presetClass="entr" presetSubtype="2"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500" fill="hold"/>
                                        <p:tgtEl>
                                          <p:spTgt spid="20"/>
                                        </p:tgtEl>
                                        <p:attrNameLst>
                                          <p:attrName>ppt_x</p:attrName>
                                        </p:attrNameLst>
                                      </p:cBhvr>
                                      <p:tavLst>
                                        <p:tav tm="0">
                                          <p:val>
                                            <p:strVal val="1+#ppt_w/2"/>
                                          </p:val>
                                        </p:tav>
                                        <p:tav tm="100000">
                                          <p:val>
                                            <p:strVal val="#ppt_x"/>
                                          </p:val>
                                        </p:tav>
                                      </p:tavLst>
                                    </p:anim>
                                    <p:anim calcmode="lin" valueType="num">
                                      <p:cBhvr additive="base">
                                        <p:cTn id="94" dur="500" fill="hold"/>
                                        <p:tgtEl>
                                          <p:spTgt spid="20"/>
                                        </p:tgtEl>
                                        <p:attrNameLst>
                                          <p:attrName>ppt_y</p:attrName>
                                        </p:attrNameLst>
                                      </p:cBhvr>
                                      <p:tavLst>
                                        <p:tav tm="0">
                                          <p:val>
                                            <p:strVal val="#ppt_y"/>
                                          </p:val>
                                        </p:tav>
                                        <p:tav tm="100000">
                                          <p:val>
                                            <p:strVal val="#ppt_y"/>
                                          </p:val>
                                        </p:tav>
                                      </p:tavLst>
                                    </p:anim>
                                  </p:childTnLst>
                                </p:cTn>
                              </p:par>
                            </p:childTnLst>
                          </p:cTn>
                        </p:par>
                        <p:par>
                          <p:cTn id="95" fill="hold">
                            <p:stCondLst>
                              <p:cond delay="8500"/>
                            </p:stCondLst>
                            <p:childTnLst>
                              <p:par>
                                <p:cTn id="96" presetID="2" presetClass="entr" presetSubtype="2" fill="hold" grpId="0" nodeType="afterEffect">
                                  <p:stCondLst>
                                    <p:cond delay="0"/>
                                  </p:stCondLst>
                                  <p:childTnLst>
                                    <p:set>
                                      <p:cBhvr>
                                        <p:cTn id="97" dur="1" fill="hold">
                                          <p:stCondLst>
                                            <p:cond delay="0"/>
                                          </p:stCondLst>
                                        </p:cTn>
                                        <p:tgtEl>
                                          <p:spTgt spid="3"/>
                                        </p:tgtEl>
                                        <p:attrNameLst>
                                          <p:attrName>style.visibility</p:attrName>
                                        </p:attrNameLst>
                                      </p:cBhvr>
                                      <p:to>
                                        <p:strVal val="visible"/>
                                      </p:to>
                                    </p:set>
                                    <p:anim calcmode="lin" valueType="num">
                                      <p:cBhvr additive="base">
                                        <p:cTn id="98" dur="500" fill="hold"/>
                                        <p:tgtEl>
                                          <p:spTgt spid="3"/>
                                        </p:tgtEl>
                                        <p:attrNameLst>
                                          <p:attrName>ppt_x</p:attrName>
                                        </p:attrNameLst>
                                      </p:cBhvr>
                                      <p:tavLst>
                                        <p:tav tm="0">
                                          <p:val>
                                            <p:strVal val="1+#ppt_w/2"/>
                                          </p:val>
                                        </p:tav>
                                        <p:tav tm="100000">
                                          <p:val>
                                            <p:strVal val="#ppt_x"/>
                                          </p:val>
                                        </p:tav>
                                      </p:tavLst>
                                    </p:anim>
                                    <p:anim calcmode="lin" valueType="num">
                                      <p:cBhvr additive="base">
                                        <p:cTn id="9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bldLvl="0" animBg="1"/>
      <p:bldP spid="95" grpId="1" bldLvl="0" animBg="1"/>
      <p:bldP spid="8" grpId="0" bldLvl="0" animBg="1"/>
      <p:bldP spid="9" grpId="0" bldLvl="0" animBg="1"/>
      <p:bldP spid="10" grpId="0" bldLvl="0" animBg="1"/>
      <p:bldP spid="14" grpId="0" bldLvl="0" animBg="1"/>
      <p:bldP spid="15" grpId="0" bldLvl="0" animBg="1"/>
      <p:bldP spid="16" grpId="0" bldLvl="0" animBg="1"/>
      <p:bldP spid="18" grpId="0"/>
      <p:bldP spid="19" grpId="0"/>
      <p:bldP spid="20" grpId="0"/>
      <p:bldP spid="21" grpId="0"/>
      <p:bldP spid="22" grpId="0"/>
      <p:bldP spid="23" grpId="0"/>
      <p:bldP spid="24" grpId="0"/>
      <p:bldP spid="25" grpId="0"/>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4964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492728" y="2049780"/>
            <a:ext cx="9283065" cy="1310640"/>
          </a:xfrm>
          <a:prstGeom prst="rect">
            <a:avLst/>
          </a:prstGeom>
          <a:noFill/>
          <a:ln w="9525">
            <a:noFill/>
            <a:miter lim="800000"/>
          </a:ln>
        </p:spPr>
        <p:txBody>
          <a:bodyPr/>
          <a:lstStyle/>
          <a:p>
            <a:r>
              <a:rPr lang="en-US" altLang="zh-CN" sz="4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4.5</a:t>
            </a:r>
            <a:r>
              <a:rPr lang="zh-CN" altLang="en-US" sz="4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网络信息内容过滤的主要方法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51737" y="312081"/>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3600" dirty="0"/>
              <a:t>网络信息内容过滤的主要方法</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Oval 22"/>
          <p:cNvSpPr>
            <a:spLocks noChangeArrowheads="1"/>
          </p:cNvSpPr>
          <p:nvPr/>
        </p:nvSpPr>
        <p:spPr bwMode="auto">
          <a:xfrm>
            <a:off x="7308138" y="2383892"/>
            <a:ext cx="1024952" cy="1024292"/>
          </a:xfrm>
          <a:prstGeom prst="ellipse">
            <a:avLst/>
          </a:prstGeom>
          <a:solidFill>
            <a:srgbClr val="0070C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F784A5"/>
                </a:solidFill>
                <a:latin typeface="微软雅黑" panose="020B0503020204020204" pitchFamily="34" charset="-122"/>
                <a:ea typeface="微软雅黑" panose="020B0503020204020204" pitchFamily="34" charset="-122"/>
              </a:rPr>
              <a:t>过滤方法</a:t>
            </a:r>
          </a:p>
        </p:txBody>
      </p:sp>
      <p:sp>
        <p:nvSpPr>
          <p:cNvPr id="9" name="Line 23"/>
          <p:cNvSpPr>
            <a:spLocks noChangeShapeType="1"/>
          </p:cNvSpPr>
          <p:nvPr/>
        </p:nvSpPr>
        <p:spPr bwMode="auto">
          <a:xfrm flipH="1">
            <a:off x="4851852" y="2895429"/>
            <a:ext cx="2488036" cy="0"/>
          </a:xfrm>
          <a:prstGeom prst="line">
            <a:avLst/>
          </a:prstGeom>
          <a:noFill/>
          <a:ln w="5" cap="flat">
            <a:solidFill>
              <a:srgbClr val="0070C0"/>
            </a:solidFill>
            <a:prstDash val="dash"/>
            <a:miter lim="800000"/>
            <a:headEnd type="none" w="med" len="med"/>
            <a:tailEnd type="arrow" w="med" len="med"/>
          </a:ln>
          <a:extLst>
            <a:ext uri="{909E8E84-426E-40DD-AFC4-6F175D3DCCD1}">
              <a14:hiddenFill xmlns:a14="http://schemas.microsoft.com/office/drawing/2010/main">
                <a:noFill/>
              </a14:hiddenFill>
            </a:ext>
          </a:extLst>
        </p:spPr>
        <p:txBody>
          <a:bodyPr vert="horz" wrap="square" lIns="75493" tIns="37746" rIns="75493" bIns="37746"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 name="Freeform 27"/>
          <p:cNvSpPr/>
          <p:nvPr/>
        </p:nvSpPr>
        <p:spPr bwMode="auto">
          <a:xfrm>
            <a:off x="6642178" y="2977722"/>
            <a:ext cx="1370938" cy="1164321"/>
          </a:xfrm>
          <a:custGeom>
            <a:avLst/>
            <a:gdLst>
              <a:gd name="T0" fmla="*/ 172 w 223"/>
              <a:gd name="T1" fmla="*/ 172 h 190"/>
              <a:gd name="T2" fmla="*/ 50 w 223"/>
              <a:gd name="T3" fmla="*/ 122 h 190"/>
              <a:gd name="T4" fmla="*/ 0 w 223"/>
              <a:gd name="T5" fmla="*/ 0 h 190"/>
              <a:gd name="T6" fmla="*/ 22 w 223"/>
              <a:gd name="T7" fmla="*/ 0 h 190"/>
              <a:gd name="T8" fmla="*/ 66 w 223"/>
              <a:gd name="T9" fmla="*/ 106 h 190"/>
              <a:gd name="T10" fmla="*/ 172 w 223"/>
              <a:gd name="T11" fmla="*/ 150 h 190"/>
              <a:gd name="T12" fmla="*/ 172 w 223"/>
              <a:gd name="T13" fmla="*/ 132 h 190"/>
              <a:gd name="T14" fmla="*/ 223 w 223"/>
              <a:gd name="T15" fmla="*/ 163 h 190"/>
              <a:gd name="T16" fmla="*/ 172 w 223"/>
              <a:gd name="T17" fmla="*/ 190 h 190"/>
              <a:gd name="T18" fmla="*/ 172 w 223"/>
              <a:gd name="T19" fmla="*/ 17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 h="190">
                <a:moveTo>
                  <a:pt x="172" y="172"/>
                </a:moveTo>
                <a:cubicBezTo>
                  <a:pt x="124" y="172"/>
                  <a:pt x="81" y="153"/>
                  <a:pt x="50" y="122"/>
                </a:cubicBezTo>
                <a:cubicBezTo>
                  <a:pt x="19" y="91"/>
                  <a:pt x="0" y="48"/>
                  <a:pt x="0" y="0"/>
                </a:cubicBezTo>
                <a:cubicBezTo>
                  <a:pt x="22" y="0"/>
                  <a:pt x="22" y="0"/>
                  <a:pt x="22" y="0"/>
                </a:cubicBezTo>
                <a:cubicBezTo>
                  <a:pt x="22" y="41"/>
                  <a:pt x="39" y="79"/>
                  <a:pt x="66" y="106"/>
                </a:cubicBezTo>
                <a:cubicBezTo>
                  <a:pt x="93" y="133"/>
                  <a:pt x="131" y="150"/>
                  <a:pt x="172" y="150"/>
                </a:cubicBezTo>
                <a:cubicBezTo>
                  <a:pt x="172" y="132"/>
                  <a:pt x="172" y="132"/>
                  <a:pt x="172" y="132"/>
                </a:cubicBezTo>
                <a:cubicBezTo>
                  <a:pt x="223" y="163"/>
                  <a:pt x="223" y="163"/>
                  <a:pt x="223" y="163"/>
                </a:cubicBezTo>
                <a:cubicBezTo>
                  <a:pt x="172" y="190"/>
                  <a:pt x="172" y="190"/>
                  <a:pt x="172" y="190"/>
                </a:cubicBezTo>
                <a:lnTo>
                  <a:pt x="172" y="172"/>
                </a:lnTo>
                <a:close/>
              </a:path>
            </a:pathLst>
          </a:custGeom>
          <a:solidFill>
            <a:schemeClr val="tx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2" name="Freeform 29"/>
          <p:cNvSpPr/>
          <p:nvPr/>
        </p:nvSpPr>
        <p:spPr bwMode="auto">
          <a:xfrm>
            <a:off x="5273528" y="2977331"/>
            <a:ext cx="2739275" cy="2530907"/>
          </a:xfrm>
          <a:custGeom>
            <a:avLst/>
            <a:gdLst>
              <a:gd name="T0" fmla="*/ 395 w 446"/>
              <a:gd name="T1" fmla="*/ 395 h 413"/>
              <a:gd name="T2" fmla="*/ 116 w 446"/>
              <a:gd name="T3" fmla="*/ 279 h 413"/>
              <a:gd name="T4" fmla="*/ 0 w 446"/>
              <a:gd name="T5" fmla="*/ 0 h 413"/>
              <a:gd name="T6" fmla="*/ 23 w 446"/>
              <a:gd name="T7" fmla="*/ 0 h 413"/>
              <a:gd name="T8" fmla="*/ 132 w 446"/>
              <a:gd name="T9" fmla="*/ 263 h 413"/>
              <a:gd name="T10" fmla="*/ 395 w 446"/>
              <a:gd name="T11" fmla="*/ 373 h 413"/>
              <a:gd name="T12" fmla="*/ 395 w 446"/>
              <a:gd name="T13" fmla="*/ 355 h 413"/>
              <a:gd name="T14" fmla="*/ 446 w 446"/>
              <a:gd name="T15" fmla="*/ 385 h 413"/>
              <a:gd name="T16" fmla="*/ 395 w 446"/>
              <a:gd name="T17" fmla="*/ 413 h 413"/>
              <a:gd name="T18" fmla="*/ 395 w 446"/>
              <a:gd name="T19" fmla="*/ 395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6" h="413">
                <a:moveTo>
                  <a:pt x="395" y="395"/>
                </a:moveTo>
                <a:cubicBezTo>
                  <a:pt x="286" y="395"/>
                  <a:pt x="187" y="351"/>
                  <a:pt x="116" y="279"/>
                </a:cubicBezTo>
                <a:cubicBezTo>
                  <a:pt x="44" y="208"/>
                  <a:pt x="0" y="109"/>
                  <a:pt x="0" y="0"/>
                </a:cubicBezTo>
                <a:cubicBezTo>
                  <a:pt x="23" y="0"/>
                  <a:pt x="23" y="0"/>
                  <a:pt x="23" y="0"/>
                </a:cubicBezTo>
                <a:cubicBezTo>
                  <a:pt x="23" y="103"/>
                  <a:pt x="64" y="196"/>
                  <a:pt x="132" y="263"/>
                </a:cubicBezTo>
                <a:cubicBezTo>
                  <a:pt x="199" y="331"/>
                  <a:pt x="292" y="372"/>
                  <a:pt x="395" y="373"/>
                </a:cubicBezTo>
                <a:cubicBezTo>
                  <a:pt x="395" y="355"/>
                  <a:pt x="395" y="355"/>
                  <a:pt x="395" y="355"/>
                </a:cubicBezTo>
                <a:cubicBezTo>
                  <a:pt x="446" y="385"/>
                  <a:pt x="446" y="385"/>
                  <a:pt x="446" y="385"/>
                </a:cubicBezTo>
                <a:cubicBezTo>
                  <a:pt x="395" y="413"/>
                  <a:pt x="395" y="413"/>
                  <a:pt x="395" y="413"/>
                </a:cubicBezTo>
                <a:lnTo>
                  <a:pt x="395" y="395"/>
                </a:lnTo>
                <a:close/>
              </a:path>
            </a:pathLst>
          </a:custGeom>
          <a:solidFill>
            <a:schemeClr val="accent1">
              <a:lumMod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6" name="Freeform 24"/>
          <p:cNvSpPr>
            <a:spLocks noEditPoints="1"/>
          </p:cNvSpPr>
          <p:nvPr/>
        </p:nvSpPr>
        <p:spPr bwMode="auto">
          <a:xfrm>
            <a:off x="6556333" y="2757306"/>
            <a:ext cx="288756" cy="287839"/>
          </a:xfrm>
          <a:custGeom>
            <a:avLst/>
            <a:gdLst>
              <a:gd name="T0" fmla="*/ 23 w 47"/>
              <a:gd name="T1" fmla="*/ 0 h 47"/>
              <a:gd name="T2" fmla="*/ 47 w 47"/>
              <a:gd name="T3" fmla="*/ 24 h 47"/>
              <a:gd name="T4" fmla="*/ 23 w 47"/>
              <a:gd name="T5" fmla="*/ 47 h 47"/>
              <a:gd name="T6" fmla="*/ 0 w 47"/>
              <a:gd name="T7" fmla="*/ 24 h 47"/>
              <a:gd name="T8" fmla="*/ 23 w 47"/>
              <a:gd name="T9" fmla="*/ 0 h 47"/>
              <a:gd name="T10" fmla="*/ 23 w 47"/>
              <a:gd name="T11" fmla="*/ 15 h 47"/>
              <a:gd name="T12" fmla="*/ 15 w 47"/>
              <a:gd name="T13" fmla="*/ 24 h 47"/>
              <a:gd name="T14" fmla="*/ 23 w 47"/>
              <a:gd name="T15" fmla="*/ 32 h 47"/>
              <a:gd name="T16" fmla="*/ 32 w 47"/>
              <a:gd name="T17" fmla="*/ 24 h 47"/>
              <a:gd name="T18" fmla="*/ 23 w 47"/>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3" y="0"/>
                </a:moveTo>
                <a:cubicBezTo>
                  <a:pt x="36" y="0"/>
                  <a:pt x="47" y="11"/>
                  <a:pt x="47" y="24"/>
                </a:cubicBezTo>
                <a:cubicBezTo>
                  <a:pt x="47" y="37"/>
                  <a:pt x="36" y="47"/>
                  <a:pt x="23" y="47"/>
                </a:cubicBezTo>
                <a:cubicBezTo>
                  <a:pt x="10" y="47"/>
                  <a:pt x="0" y="37"/>
                  <a:pt x="0" y="24"/>
                </a:cubicBezTo>
                <a:cubicBezTo>
                  <a:pt x="0" y="11"/>
                  <a:pt x="10" y="0"/>
                  <a:pt x="23" y="0"/>
                </a:cubicBezTo>
                <a:close/>
                <a:moveTo>
                  <a:pt x="23" y="15"/>
                </a:moveTo>
                <a:cubicBezTo>
                  <a:pt x="19" y="15"/>
                  <a:pt x="15" y="19"/>
                  <a:pt x="15" y="24"/>
                </a:cubicBezTo>
                <a:cubicBezTo>
                  <a:pt x="15" y="28"/>
                  <a:pt x="19" y="32"/>
                  <a:pt x="23" y="32"/>
                </a:cubicBezTo>
                <a:cubicBezTo>
                  <a:pt x="28" y="32"/>
                  <a:pt x="32" y="28"/>
                  <a:pt x="32" y="24"/>
                </a:cubicBezTo>
                <a:cubicBezTo>
                  <a:pt x="32" y="19"/>
                  <a:pt x="28" y="15"/>
                  <a:pt x="23" y="15"/>
                </a:cubicBezTo>
                <a:close/>
              </a:path>
            </a:pathLst>
          </a:custGeom>
          <a:solidFill>
            <a:schemeClr val="tx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8" name="Freeform 26"/>
          <p:cNvSpPr>
            <a:spLocks noEditPoints="1"/>
          </p:cNvSpPr>
          <p:nvPr/>
        </p:nvSpPr>
        <p:spPr bwMode="auto">
          <a:xfrm>
            <a:off x="5145246" y="2757306"/>
            <a:ext cx="293958" cy="287839"/>
          </a:xfrm>
          <a:custGeom>
            <a:avLst/>
            <a:gdLst>
              <a:gd name="T0" fmla="*/ 24 w 48"/>
              <a:gd name="T1" fmla="*/ 0 h 47"/>
              <a:gd name="T2" fmla="*/ 48 w 48"/>
              <a:gd name="T3" fmla="*/ 24 h 47"/>
              <a:gd name="T4" fmla="*/ 24 w 48"/>
              <a:gd name="T5" fmla="*/ 47 h 47"/>
              <a:gd name="T6" fmla="*/ 0 w 48"/>
              <a:gd name="T7" fmla="*/ 24 h 47"/>
              <a:gd name="T8" fmla="*/ 24 w 48"/>
              <a:gd name="T9" fmla="*/ 0 h 47"/>
              <a:gd name="T10" fmla="*/ 24 w 48"/>
              <a:gd name="T11" fmla="*/ 15 h 47"/>
              <a:gd name="T12" fmla="*/ 15 w 48"/>
              <a:gd name="T13" fmla="*/ 24 h 47"/>
              <a:gd name="T14" fmla="*/ 24 w 48"/>
              <a:gd name="T15" fmla="*/ 32 h 47"/>
              <a:gd name="T16" fmla="*/ 32 w 48"/>
              <a:gd name="T17" fmla="*/ 24 h 47"/>
              <a:gd name="T18" fmla="*/ 24 w 48"/>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0"/>
                </a:moveTo>
                <a:cubicBezTo>
                  <a:pt x="37" y="0"/>
                  <a:pt x="48" y="11"/>
                  <a:pt x="48" y="24"/>
                </a:cubicBezTo>
                <a:cubicBezTo>
                  <a:pt x="48" y="37"/>
                  <a:pt x="37" y="47"/>
                  <a:pt x="24" y="47"/>
                </a:cubicBezTo>
                <a:cubicBezTo>
                  <a:pt x="11" y="47"/>
                  <a:pt x="0" y="37"/>
                  <a:pt x="0" y="24"/>
                </a:cubicBezTo>
                <a:cubicBezTo>
                  <a:pt x="0" y="11"/>
                  <a:pt x="11" y="0"/>
                  <a:pt x="24" y="0"/>
                </a:cubicBezTo>
                <a:close/>
                <a:moveTo>
                  <a:pt x="24" y="15"/>
                </a:moveTo>
                <a:cubicBezTo>
                  <a:pt x="19" y="15"/>
                  <a:pt x="15" y="19"/>
                  <a:pt x="15" y="24"/>
                </a:cubicBezTo>
                <a:cubicBezTo>
                  <a:pt x="15" y="28"/>
                  <a:pt x="19" y="32"/>
                  <a:pt x="24" y="32"/>
                </a:cubicBezTo>
                <a:cubicBezTo>
                  <a:pt x="29" y="32"/>
                  <a:pt x="32" y="28"/>
                  <a:pt x="32" y="24"/>
                </a:cubicBezTo>
                <a:cubicBezTo>
                  <a:pt x="32" y="19"/>
                  <a:pt x="29" y="15"/>
                  <a:pt x="24" y="15"/>
                </a:cubicBezTo>
                <a:close/>
              </a:path>
            </a:pathLst>
          </a:custGeom>
          <a:solidFill>
            <a:srgbClr val="1F4E79"/>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TextBox 35"/>
          <p:cNvSpPr txBox="1">
            <a:spLocks noChangeArrowheads="1"/>
          </p:cNvSpPr>
          <p:nvPr/>
        </p:nvSpPr>
        <p:spPr bwMode="auto">
          <a:xfrm>
            <a:off x="686824" y="1906905"/>
            <a:ext cx="3753286" cy="405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30000"/>
              </a:lnSpc>
              <a:spcBef>
                <a:spcPct val="0"/>
              </a:spcBef>
              <a:buFont typeface="Wingdings" panose="05000000000000000000" charset="0"/>
              <a:buChar char="Ø"/>
            </a:pPr>
            <a:r>
              <a:rPr lang="zh-CN" altLang="en-US" sz="2000" dirty="0">
                <a:solidFill>
                  <a:schemeClr val="tx1"/>
                </a:solidFill>
                <a:latin typeface="微软雅黑" panose="020B0503020204020204" pitchFamily="34" charset="-122"/>
                <a:ea typeface="微软雅黑" panose="020B0503020204020204" pitchFamily="34" charset="-122"/>
              </a:rPr>
              <a:t>分类是一个有指导的学习过程，也是网络信息内容过滤中的一个重要技术方法</a:t>
            </a:r>
          </a:p>
          <a:p>
            <a:pPr indent="0">
              <a:lnSpc>
                <a:spcPct val="130000"/>
              </a:lnSpc>
              <a:spcBef>
                <a:spcPct val="0"/>
              </a:spcBef>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marL="285750" indent="-285750">
              <a:lnSpc>
                <a:spcPct val="130000"/>
              </a:lnSpc>
              <a:spcBef>
                <a:spcPct val="0"/>
              </a:spcBef>
              <a:buFont typeface="Wingdings" panose="05000000000000000000" charset="0"/>
              <a:buChar char="Ø"/>
            </a:pPr>
            <a:r>
              <a:rPr lang="zh-CN" altLang="en-US" sz="2000" dirty="0">
                <a:solidFill>
                  <a:schemeClr val="tx1"/>
                </a:solidFill>
                <a:latin typeface="微软雅黑" panose="020B0503020204020204" pitchFamily="34" charset="-122"/>
                <a:ea typeface="微软雅黑" panose="020B0503020204020204" pitchFamily="34" charset="-122"/>
              </a:rPr>
              <a:t>基于内容的文本过滤在不考虑学习和自适应能力时是一个分类过程</a:t>
            </a:r>
          </a:p>
          <a:p>
            <a:pPr indent="0">
              <a:lnSpc>
                <a:spcPct val="130000"/>
              </a:lnSpc>
              <a:spcBef>
                <a:spcPct val="0"/>
              </a:spcBef>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marL="285750" indent="-285750">
              <a:lnSpc>
                <a:spcPct val="130000"/>
              </a:lnSpc>
              <a:spcBef>
                <a:spcPct val="0"/>
              </a:spcBef>
              <a:buFont typeface="Wingdings" panose="05000000000000000000" charset="0"/>
              <a:buChar char="Ø"/>
            </a:pPr>
            <a:r>
              <a:rPr lang="zh-CN" altLang="en-US" sz="2000" dirty="0">
                <a:solidFill>
                  <a:schemeClr val="tx1"/>
                </a:solidFill>
                <a:latin typeface="微软雅黑" panose="020B0503020204020204" pitchFamily="34" charset="-122"/>
                <a:ea typeface="微软雅黑" panose="020B0503020204020204" pitchFamily="34" charset="-122"/>
              </a:rPr>
              <a:t>过滤算法的选择是影响文本过滤效果好坏的重要因素</a:t>
            </a:r>
          </a:p>
        </p:txBody>
      </p:sp>
      <p:sp>
        <p:nvSpPr>
          <p:cNvPr id="4" name="文本框 3"/>
          <p:cNvSpPr txBox="1"/>
          <p:nvPr/>
        </p:nvSpPr>
        <p:spPr>
          <a:xfrm>
            <a:off x="8424545" y="3684905"/>
            <a:ext cx="1819275" cy="548640"/>
          </a:xfrm>
          <a:prstGeom prst="rect">
            <a:avLst/>
          </a:prstGeom>
          <a:noFill/>
          <a:ln w="9525">
            <a:noFill/>
          </a:ln>
        </p:spPr>
        <p:txBody>
          <a:bodyPr wrap="square">
            <a:spAutoFit/>
          </a:bodyPr>
          <a:lstStyle/>
          <a:p>
            <a:pPr marL="0" indent="0" algn="l"/>
            <a:r>
              <a:rPr lang="zh-CN" altLang="en-US" sz="2800" dirty="0">
                <a:solidFill>
                  <a:srgbClr val="44546A"/>
                </a:solidFill>
                <a:latin typeface="微软雅黑" panose="020B0503020204020204" pitchFamily="34" charset="-122"/>
                <a:ea typeface="微软雅黑" panose="020B0503020204020204" pitchFamily="34" charset="-122"/>
              </a:rPr>
              <a:t>统计方法</a:t>
            </a:r>
          </a:p>
        </p:txBody>
      </p:sp>
      <p:sp>
        <p:nvSpPr>
          <p:cNvPr id="5" name="文本框 4"/>
          <p:cNvSpPr txBox="1"/>
          <p:nvPr/>
        </p:nvSpPr>
        <p:spPr>
          <a:xfrm>
            <a:off x="8424545" y="5101590"/>
            <a:ext cx="1819275" cy="548640"/>
          </a:xfrm>
          <a:prstGeom prst="rect">
            <a:avLst/>
          </a:prstGeom>
          <a:noFill/>
          <a:ln w="9525">
            <a:noFill/>
          </a:ln>
        </p:spPr>
        <p:txBody>
          <a:bodyPr wrap="square">
            <a:spAutoFit/>
          </a:bodyPr>
          <a:lstStyle/>
          <a:p>
            <a:pPr marL="0" indent="0" algn="l"/>
            <a:r>
              <a:rPr lang="zh-CN" altLang="en-US" sz="2800" dirty="0">
                <a:solidFill>
                  <a:srgbClr val="1F4E79"/>
                </a:solidFill>
                <a:latin typeface="微软雅黑" panose="020B0503020204020204" pitchFamily="34" charset="-122"/>
                <a:ea typeface="微软雅黑" panose="020B0503020204020204" pitchFamily="34" charset="-122"/>
              </a:rPr>
              <a:t>逻辑方法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right)">
                                      <p:cBhvr>
                                        <p:cTn id="13" dur="500"/>
                                        <p:tgtEl>
                                          <p:spTgt spid="9"/>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fltVal val="0"/>
                                          </p:val>
                                        </p:tav>
                                        <p:tav tm="100000">
                                          <p:val>
                                            <p:strVal val="#ppt_w"/>
                                          </p:val>
                                        </p:tav>
                                      </p:tavLst>
                                    </p:anim>
                                    <p:anim calcmode="lin" valueType="num">
                                      <p:cBhvr>
                                        <p:cTn id="24" dur="500" fill="hold"/>
                                        <p:tgtEl>
                                          <p:spTgt spid="18"/>
                                        </p:tgtEl>
                                        <p:attrNameLst>
                                          <p:attrName>ppt_h</p:attrName>
                                        </p:attrNameLst>
                                      </p:cBhvr>
                                      <p:tavLst>
                                        <p:tav tm="0">
                                          <p:val>
                                            <p:fltVal val="0"/>
                                          </p:val>
                                        </p:tav>
                                        <p:tav tm="100000">
                                          <p:val>
                                            <p:strVal val="#ppt_h"/>
                                          </p:val>
                                        </p:tav>
                                      </p:tavLst>
                                    </p:anim>
                                    <p:animEffect transition="in" filter="fade">
                                      <p:cBhvr>
                                        <p:cTn id="25" dur="500"/>
                                        <p:tgtEl>
                                          <p:spTgt spid="18"/>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500"/>
                                        <p:tgtEl>
                                          <p:spTgt spid="10"/>
                                        </p:tgtEl>
                                      </p:cBhvr>
                                    </p:animEffec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500"/>
                                        <p:tgtEl>
                                          <p:spTgt spid="12"/>
                                        </p:tgtEl>
                                      </p:cBhvr>
                                    </p:animEffect>
                                  </p:childTnLst>
                                </p:cTn>
                              </p:par>
                            </p:childTnLst>
                          </p:cTn>
                        </p:par>
                        <p:par>
                          <p:cTn id="34" fill="hold">
                            <p:stCondLst>
                              <p:cond delay="3000"/>
                            </p:stCondLst>
                            <p:childTnLst>
                              <p:par>
                                <p:cTn id="35" presetID="2" presetClass="entr" presetSubtype="2"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1+#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2" grpId="0" bldLvl="0" animBg="1"/>
      <p:bldP spid="16" grpId="0" bldLvl="0" animBg="1"/>
      <p:bldP spid="18" grpId="0" bldLvl="0" animBg="1"/>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3"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4"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5"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7"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51737" y="312081"/>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3600" dirty="0"/>
              <a:t>网络信息内容过滤的主要方法</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Group 101"/>
          <p:cNvGrpSpPr/>
          <p:nvPr/>
        </p:nvGrpSpPr>
        <p:grpSpPr>
          <a:xfrm>
            <a:off x="4489358" y="5893606"/>
            <a:ext cx="390525" cy="365760"/>
            <a:chOff x="8698531" y="3979675"/>
            <a:chExt cx="828966" cy="736049"/>
          </a:xfrm>
          <a:solidFill>
            <a:schemeClr val="tx2"/>
          </a:solidFill>
        </p:grpSpPr>
        <p:sp>
          <p:nvSpPr>
            <p:cNvPr id="38"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39" name="Group 103"/>
            <p:cNvGrpSpPr/>
            <p:nvPr/>
          </p:nvGrpSpPr>
          <p:grpSpPr>
            <a:xfrm>
              <a:off x="8698531" y="3979675"/>
              <a:ext cx="828966" cy="736049"/>
              <a:chOff x="5625794" y="1599766"/>
              <a:chExt cx="4594902" cy="4080930"/>
            </a:xfrm>
            <a:grpFill/>
          </p:grpSpPr>
          <p:grpSp>
            <p:nvGrpSpPr>
              <p:cNvPr id="40" name="Group 104"/>
              <p:cNvGrpSpPr/>
              <p:nvPr/>
            </p:nvGrpSpPr>
            <p:grpSpPr>
              <a:xfrm>
                <a:off x="6191250" y="1599766"/>
                <a:ext cx="3473485" cy="1069614"/>
                <a:chOff x="6191250" y="1599766"/>
                <a:chExt cx="3473485" cy="1069614"/>
              </a:xfrm>
              <a:grpFill/>
            </p:grpSpPr>
            <p:sp>
              <p:nvSpPr>
                <p:cNvPr id="46"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47"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41" name="Group 105"/>
              <p:cNvGrpSpPr/>
              <p:nvPr/>
            </p:nvGrpSpPr>
            <p:grpSpPr>
              <a:xfrm flipV="1">
                <a:off x="6191250" y="4611080"/>
                <a:ext cx="3473483" cy="1069616"/>
                <a:chOff x="6191250" y="1599764"/>
                <a:chExt cx="3473483" cy="1069616"/>
              </a:xfrm>
              <a:grpFill/>
            </p:grpSpPr>
            <p:sp>
              <p:nvSpPr>
                <p:cNvPr id="44"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45"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42"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43"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sp>
        <p:nvSpPr>
          <p:cNvPr id="48" name="Right Brace 112"/>
          <p:cNvSpPr/>
          <p:nvPr/>
        </p:nvSpPr>
        <p:spPr>
          <a:xfrm rot="10800000">
            <a:off x="3851274" y="1565909"/>
            <a:ext cx="427355" cy="4620895"/>
          </a:xfrm>
          <a:prstGeom prst="rightBrace">
            <a:avLst>
              <a:gd name="adj1" fmla="val 47292"/>
              <a:gd name="adj2" fmla="val 50110"/>
            </a:avLst>
          </a:prstGeom>
          <a:ln w="127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txBody>
          <a:bodyPr lIns="69896" tIns="34949" rIns="69896" bIns="34949" rtlCol="0" anchor="ctr"/>
          <a:lstStyle/>
          <a:p>
            <a:pPr algn="ctr" defTabSz="699135"/>
            <a:endParaRPr lang="en-US" sz="1350">
              <a:solidFill>
                <a:schemeClr val="accent1"/>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795E8D12-12BD-4C61-B67D-DF338D2BAB81}"/>
              </a:ext>
            </a:extLst>
          </p:cNvPr>
          <p:cNvGrpSpPr/>
          <p:nvPr/>
        </p:nvGrpSpPr>
        <p:grpSpPr>
          <a:xfrm>
            <a:off x="978207" y="2817780"/>
            <a:ext cx="2524225" cy="2241286"/>
            <a:chOff x="827031" y="2318882"/>
            <a:chExt cx="2524225" cy="2241286"/>
          </a:xfrm>
        </p:grpSpPr>
        <p:grpSp>
          <p:nvGrpSpPr>
            <p:cNvPr id="14" name="Group 57"/>
            <p:cNvGrpSpPr/>
            <p:nvPr/>
          </p:nvGrpSpPr>
          <p:grpSpPr>
            <a:xfrm>
              <a:off x="827031" y="2318882"/>
              <a:ext cx="2524225" cy="2241286"/>
              <a:chOff x="5625793" y="1599766"/>
              <a:chExt cx="4594903" cy="4080928"/>
            </a:xfrm>
            <a:solidFill>
              <a:srgbClr val="DC4415"/>
            </a:solidFill>
          </p:grpSpPr>
          <p:grpSp>
            <p:nvGrpSpPr>
              <p:cNvPr id="15" name="Group 58"/>
              <p:cNvGrpSpPr/>
              <p:nvPr/>
            </p:nvGrpSpPr>
            <p:grpSpPr>
              <a:xfrm>
                <a:off x="6191250" y="1599766"/>
                <a:ext cx="3473482" cy="1069614"/>
                <a:chOff x="6191250" y="1599766"/>
                <a:chExt cx="3473482" cy="1069614"/>
              </a:xfrm>
              <a:grpFill/>
            </p:grpSpPr>
            <p:sp>
              <p:nvSpPr>
                <p:cNvPr id="21" name="Freeform 64"/>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rgbClr val="9DC3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22" name="Freeform 65"/>
                <p:cNvSpPr/>
                <p:nvPr/>
              </p:nvSpPr>
              <p:spPr bwMode="auto">
                <a:xfrm flipH="1">
                  <a:off x="8043101"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3" name="Group 59"/>
              <p:cNvGrpSpPr/>
              <p:nvPr/>
            </p:nvGrpSpPr>
            <p:grpSpPr>
              <a:xfrm flipV="1">
                <a:off x="6191251" y="4611080"/>
                <a:ext cx="3473482" cy="1069614"/>
                <a:chOff x="6191251" y="1599766"/>
                <a:chExt cx="3473482" cy="1069614"/>
              </a:xfrm>
              <a:grpFill/>
            </p:grpSpPr>
            <p:sp>
              <p:nvSpPr>
                <p:cNvPr id="19" name="Freeform 62"/>
                <p:cNvSpPr/>
                <p:nvPr/>
              </p:nvSpPr>
              <p:spPr bwMode="auto">
                <a:xfrm>
                  <a:off x="6191251"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20" name="Freeform 63"/>
                <p:cNvSpPr/>
                <p:nvPr/>
              </p:nvSpPr>
              <p:spPr bwMode="auto">
                <a:xfrm flipH="1">
                  <a:off x="8043102"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17" name="Freeform 60"/>
              <p:cNvSpPr/>
              <p:nvPr/>
            </p:nvSpPr>
            <p:spPr bwMode="auto">
              <a:xfrm rot="17954294">
                <a:off x="5349784"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 name="Freeform 61"/>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solidFill>
                <a:srgbClr val="9DC3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2400"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61" name="Rectangle 56"/>
            <p:cNvSpPr/>
            <p:nvPr/>
          </p:nvSpPr>
          <p:spPr>
            <a:xfrm>
              <a:off x="1456435" y="3039256"/>
              <a:ext cx="1238250" cy="824841"/>
            </a:xfrm>
            <a:prstGeom prst="rect">
              <a:avLst/>
            </a:prstGeom>
            <a:noFill/>
            <a:ln>
              <a:noFill/>
            </a:ln>
          </p:spPr>
          <p:txBody>
            <a:bodyPr wrap="square">
              <a:spAutoFit/>
            </a:bodyPr>
            <a:lstStyle/>
            <a:p>
              <a:pPr algn="ctr" defTabSz="698500" fontAlgn="base">
                <a:lnSpc>
                  <a:spcPct val="85000"/>
                </a:lnSpc>
                <a:spcBef>
                  <a:spcPct val="0"/>
                </a:spcBef>
                <a:spcAft>
                  <a:spcPct val="0"/>
                </a:spcAft>
              </a:pPr>
              <a:r>
                <a:rPr lang="zh-CN" altLang="en-US" sz="2800" dirty="0">
                  <a:solidFill>
                    <a:srgbClr val="44546A"/>
                  </a:solidFill>
                  <a:latin typeface="微软雅黑" panose="020B0503020204020204" pitchFamily="34" charset="-122"/>
                  <a:ea typeface="微软雅黑" panose="020B0503020204020204" pitchFamily="34" charset="-122"/>
                  <a:sym typeface="+mn-ea"/>
                </a:rPr>
                <a:t>统计方法</a:t>
              </a:r>
              <a:endParaRPr lang="en-US" altLang="zh-CN" sz="2800" b="1"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7" name="Group 101"/>
          <p:cNvGrpSpPr/>
          <p:nvPr/>
        </p:nvGrpSpPr>
        <p:grpSpPr>
          <a:xfrm>
            <a:off x="4501515" y="1565910"/>
            <a:ext cx="390525" cy="365760"/>
            <a:chOff x="8698531" y="3979675"/>
            <a:chExt cx="828966" cy="736049"/>
          </a:xfrm>
          <a:solidFill>
            <a:schemeClr val="tx2"/>
          </a:solidFill>
        </p:grpSpPr>
        <p:sp>
          <p:nvSpPr>
            <p:cNvPr id="11"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13" name="Group 103"/>
            <p:cNvGrpSpPr/>
            <p:nvPr/>
          </p:nvGrpSpPr>
          <p:grpSpPr>
            <a:xfrm>
              <a:off x="8698531" y="3979675"/>
              <a:ext cx="828966" cy="736049"/>
              <a:chOff x="5625794" y="1599766"/>
              <a:chExt cx="4594902" cy="4080930"/>
            </a:xfrm>
            <a:grpFill/>
          </p:grpSpPr>
          <p:grpSp>
            <p:nvGrpSpPr>
              <p:cNvPr id="23" name="Group 104"/>
              <p:cNvGrpSpPr/>
              <p:nvPr/>
            </p:nvGrpSpPr>
            <p:grpSpPr>
              <a:xfrm>
                <a:off x="6191250" y="1599766"/>
                <a:ext cx="3473485" cy="1069614"/>
                <a:chOff x="6191250" y="1599766"/>
                <a:chExt cx="3473485" cy="1069614"/>
              </a:xfrm>
              <a:grpFill/>
            </p:grpSpPr>
            <p:sp>
              <p:nvSpPr>
                <p:cNvPr id="24"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25"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63" name="Group 105"/>
              <p:cNvGrpSpPr/>
              <p:nvPr/>
            </p:nvGrpSpPr>
            <p:grpSpPr>
              <a:xfrm flipV="1">
                <a:off x="6191250" y="4611080"/>
                <a:ext cx="3473483" cy="1069616"/>
                <a:chOff x="6191250" y="1599764"/>
                <a:chExt cx="3473483" cy="1069616"/>
              </a:xfrm>
              <a:grpFill/>
            </p:grpSpPr>
            <p:sp>
              <p:nvSpPr>
                <p:cNvPr id="64"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5"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66"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7"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grpSp>
        <p:nvGrpSpPr>
          <p:cNvPr id="68" name="Group 101"/>
          <p:cNvGrpSpPr/>
          <p:nvPr/>
        </p:nvGrpSpPr>
        <p:grpSpPr>
          <a:xfrm>
            <a:off x="4515485" y="2319020"/>
            <a:ext cx="390525" cy="365760"/>
            <a:chOff x="8698531" y="3979675"/>
            <a:chExt cx="828966" cy="736049"/>
          </a:xfrm>
          <a:solidFill>
            <a:schemeClr val="tx2"/>
          </a:solidFill>
        </p:grpSpPr>
        <p:sp>
          <p:nvSpPr>
            <p:cNvPr id="69"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70" name="Group 103"/>
            <p:cNvGrpSpPr/>
            <p:nvPr/>
          </p:nvGrpSpPr>
          <p:grpSpPr>
            <a:xfrm>
              <a:off x="8698531" y="3979675"/>
              <a:ext cx="828966" cy="736049"/>
              <a:chOff x="5625794" y="1599766"/>
              <a:chExt cx="4594902" cy="4080930"/>
            </a:xfrm>
            <a:grpFill/>
          </p:grpSpPr>
          <p:grpSp>
            <p:nvGrpSpPr>
              <p:cNvPr id="71" name="Group 104"/>
              <p:cNvGrpSpPr/>
              <p:nvPr/>
            </p:nvGrpSpPr>
            <p:grpSpPr>
              <a:xfrm>
                <a:off x="6191250" y="1599766"/>
                <a:ext cx="3473485" cy="1069614"/>
                <a:chOff x="6191250" y="1599766"/>
                <a:chExt cx="3473485" cy="1069614"/>
              </a:xfrm>
              <a:grpFill/>
            </p:grpSpPr>
            <p:sp>
              <p:nvSpPr>
                <p:cNvPr id="72"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73"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74" name="Group 105"/>
              <p:cNvGrpSpPr/>
              <p:nvPr/>
            </p:nvGrpSpPr>
            <p:grpSpPr>
              <a:xfrm flipV="1">
                <a:off x="6191250" y="4611080"/>
                <a:ext cx="3473483" cy="1069616"/>
                <a:chOff x="6191250" y="1599764"/>
                <a:chExt cx="3473483" cy="1069616"/>
              </a:xfrm>
              <a:grpFill/>
            </p:grpSpPr>
            <p:sp>
              <p:nvSpPr>
                <p:cNvPr id="75"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76"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77"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78"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grpSp>
        <p:nvGrpSpPr>
          <p:cNvPr id="79" name="Group 101"/>
          <p:cNvGrpSpPr/>
          <p:nvPr/>
        </p:nvGrpSpPr>
        <p:grpSpPr>
          <a:xfrm>
            <a:off x="4529455" y="3046095"/>
            <a:ext cx="390525" cy="365760"/>
            <a:chOff x="8698531" y="3979675"/>
            <a:chExt cx="828966" cy="736049"/>
          </a:xfrm>
          <a:solidFill>
            <a:schemeClr val="tx2"/>
          </a:solidFill>
        </p:grpSpPr>
        <p:sp>
          <p:nvSpPr>
            <p:cNvPr id="80"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81" name="Group 103"/>
            <p:cNvGrpSpPr/>
            <p:nvPr/>
          </p:nvGrpSpPr>
          <p:grpSpPr>
            <a:xfrm>
              <a:off x="8698531" y="3979675"/>
              <a:ext cx="828966" cy="736049"/>
              <a:chOff x="5625794" y="1599766"/>
              <a:chExt cx="4594902" cy="4080930"/>
            </a:xfrm>
            <a:grpFill/>
          </p:grpSpPr>
          <p:grpSp>
            <p:nvGrpSpPr>
              <p:cNvPr id="82" name="Group 104"/>
              <p:cNvGrpSpPr/>
              <p:nvPr/>
            </p:nvGrpSpPr>
            <p:grpSpPr>
              <a:xfrm>
                <a:off x="6191250" y="1599766"/>
                <a:ext cx="3473485" cy="1069614"/>
                <a:chOff x="6191250" y="1599766"/>
                <a:chExt cx="3473485" cy="1069614"/>
              </a:xfrm>
              <a:grpFill/>
            </p:grpSpPr>
            <p:sp>
              <p:nvSpPr>
                <p:cNvPr id="83"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84"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162" name="Group 105"/>
              <p:cNvGrpSpPr/>
              <p:nvPr/>
            </p:nvGrpSpPr>
            <p:grpSpPr>
              <a:xfrm flipV="1">
                <a:off x="6191250" y="4611080"/>
                <a:ext cx="3473483" cy="1069616"/>
                <a:chOff x="6191250" y="1599764"/>
                <a:chExt cx="3473483" cy="1069616"/>
              </a:xfrm>
              <a:grpFill/>
            </p:grpSpPr>
            <p:sp>
              <p:nvSpPr>
                <p:cNvPr id="163"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64"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165"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66"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grpSp>
        <p:nvGrpSpPr>
          <p:cNvPr id="167" name="Group 101"/>
          <p:cNvGrpSpPr/>
          <p:nvPr/>
        </p:nvGrpSpPr>
        <p:grpSpPr>
          <a:xfrm>
            <a:off x="4515485" y="3776345"/>
            <a:ext cx="390525" cy="365760"/>
            <a:chOff x="8698531" y="3979675"/>
            <a:chExt cx="828966" cy="736049"/>
          </a:xfrm>
          <a:solidFill>
            <a:schemeClr val="tx2"/>
          </a:solidFill>
        </p:grpSpPr>
        <p:sp>
          <p:nvSpPr>
            <p:cNvPr id="168"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169" name="Group 103"/>
            <p:cNvGrpSpPr/>
            <p:nvPr/>
          </p:nvGrpSpPr>
          <p:grpSpPr>
            <a:xfrm>
              <a:off x="8698531" y="3979675"/>
              <a:ext cx="828966" cy="736049"/>
              <a:chOff x="5625794" y="1599766"/>
              <a:chExt cx="4594902" cy="4080930"/>
            </a:xfrm>
            <a:grpFill/>
          </p:grpSpPr>
          <p:grpSp>
            <p:nvGrpSpPr>
              <p:cNvPr id="170" name="Group 104"/>
              <p:cNvGrpSpPr/>
              <p:nvPr/>
            </p:nvGrpSpPr>
            <p:grpSpPr>
              <a:xfrm>
                <a:off x="6191250" y="1599766"/>
                <a:ext cx="3473485" cy="1069614"/>
                <a:chOff x="6191250" y="1599766"/>
                <a:chExt cx="3473485" cy="1069614"/>
              </a:xfrm>
              <a:grpFill/>
            </p:grpSpPr>
            <p:sp>
              <p:nvSpPr>
                <p:cNvPr id="171"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72"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173" name="Group 105"/>
              <p:cNvGrpSpPr/>
              <p:nvPr/>
            </p:nvGrpSpPr>
            <p:grpSpPr>
              <a:xfrm flipV="1">
                <a:off x="6191250" y="4611080"/>
                <a:ext cx="3473483" cy="1069616"/>
                <a:chOff x="6191250" y="1599764"/>
                <a:chExt cx="3473483" cy="1069616"/>
              </a:xfrm>
              <a:grpFill/>
            </p:grpSpPr>
            <p:sp>
              <p:nvSpPr>
                <p:cNvPr id="174"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75"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176"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77"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grpSp>
        <p:nvGrpSpPr>
          <p:cNvPr id="178" name="Group 101"/>
          <p:cNvGrpSpPr/>
          <p:nvPr/>
        </p:nvGrpSpPr>
        <p:grpSpPr>
          <a:xfrm>
            <a:off x="4485780" y="4469647"/>
            <a:ext cx="390525" cy="365760"/>
            <a:chOff x="8698531" y="3979675"/>
            <a:chExt cx="828966" cy="736049"/>
          </a:xfrm>
          <a:solidFill>
            <a:schemeClr val="tx2"/>
          </a:solidFill>
        </p:grpSpPr>
        <p:sp>
          <p:nvSpPr>
            <p:cNvPr id="179"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180" name="Group 103"/>
            <p:cNvGrpSpPr/>
            <p:nvPr/>
          </p:nvGrpSpPr>
          <p:grpSpPr>
            <a:xfrm>
              <a:off x="8698531" y="3979675"/>
              <a:ext cx="828966" cy="736049"/>
              <a:chOff x="5625794" y="1599766"/>
              <a:chExt cx="4594902" cy="4080930"/>
            </a:xfrm>
            <a:grpFill/>
          </p:grpSpPr>
          <p:grpSp>
            <p:nvGrpSpPr>
              <p:cNvPr id="181" name="Group 104"/>
              <p:cNvGrpSpPr/>
              <p:nvPr/>
            </p:nvGrpSpPr>
            <p:grpSpPr>
              <a:xfrm>
                <a:off x="6191250" y="1599766"/>
                <a:ext cx="3473485" cy="1069614"/>
                <a:chOff x="6191250" y="1599766"/>
                <a:chExt cx="3473485" cy="1069614"/>
              </a:xfrm>
              <a:grpFill/>
            </p:grpSpPr>
            <p:sp>
              <p:nvSpPr>
                <p:cNvPr id="182"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83"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184" name="Group 105"/>
              <p:cNvGrpSpPr/>
              <p:nvPr/>
            </p:nvGrpSpPr>
            <p:grpSpPr>
              <a:xfrm flipV="1">
                <a:off x="6191250" y="4611080"/>
                <a:ext cx="3473483" cy="1069616"/>
                <a:chOff x="6191250" y="1599764"/>
                <a:chExt cx="3473483" cy="1069616"/>
              </a:xfrm>
              <a:grpFill/>
            </p:grpSpPr>
            <p:sp>
              <p:nvSpPr>
                <p:cNvPr id="185"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86"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187"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88"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grpSp>
        <p:nvGrpSpPr>
          <p:cNvPr id="189" name="Group 101"/>
          <p:cNvGrpSpPr/>
          <p:nvPr/>
        </p:nvGrpSpPr>
        <p:grpSpPr>
          <a:xfrm>
            <a:off x="4468234" y="5185420"/>
            <a:ext cx="390525" cy="365760"/>
            <a:chOff x="8698531" y="3979675"/>
            <a:chExt cx="828966" cy="736049"/>
          </a:xfrm>
          <a:solidFill>
            <a:schemeClr val="tx2"/>
          </a:solidFill>
        </p:grpSpPr>
        <p:sp>
          <p:nvSpPr>
            <p:cNvPr id="190" name="Freeform 100"/>
            <p:cNvSpPr>
              <a:spLocks noEditPoints="1"/>
            </p:cNvSpPr>
            <p:nvPr/>
          </p:nvSpPr>
          <p:spPr bwMode="black">
            <a:xfrm>
              <a:off x="8957393" y="4225167"/>
              <a:ext cx="371203" cy="245065"/>
            </a:xfrm>
            <a:custGeom>
              <a:avLst/>
              <a:gdLst>
                <a:gd name="T0" fmla="*/ 103 w 103"/>
                <a:gd name="T1" fmla="*/ 33 h 68"/>
                <a:gd name="T2" fmla="*/ 56 w 103"/>
                <a:gd name="T3" fmla="*/ 68 h 68"/>
                <a:gd name="T4" fmla="*/ 56 w 103"/>
                <a:gd name="T5" fmla="*/ 0 h 68"/>
                <a:gd name="T6" fmla="*/ 103 w 103"/>
                <a:gd name="T7" fmla="*/ 33 h 68"/>
                <a:gd name="T8" fmla="*/ 0 w 103"/>
                <a:gd name="T9" fmla="*/ 0 h 68"/>
                <a:gd name="T10" fmla="*/ 0 w 103"/>
                <a:gd name="T11" fmla="*/ 68 h 68"/>
                <a:gd name="T12" fmla="*/ 47 w 103"/>
                <a:gd name="T13" fmla="*/ 33 h 68"/>
                <a:gd name="T14" fmla="*/ 0 w 103"/>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8">
                  <a:moveTo>
                    <a:pt x="103" y="33"/>
                  </a:moveTo>
                  <a:lnTo>
                    <a:pt x="56" y="68"/>
                  </a:lnTo>
                  <a:lnTo>
                    <a:pt x="56" y="0"/>
                  </a:lnTo>
                  <a:lnTo>
                    <a:pt x="103" y="33"/>
                  </a:lnTo>
                  <a:close/>
                  <a:moveTo>
                    <a:pt x="0" y="0"/>
                  </a:moveTo>
                  <a:lnTo>
                    <a:pt x="0" y="68"/>
                  </a:lnTo>
                  <a:lnTo>
                    <a:pt x="47" y="33"/>
                  </a:lnTo>
                  <a:lnTo>
                    <a:pt x="0"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191" name="Group 103"/>
            <p:cNvGrpSpPr/>
            <p:nvPr/>
          </p:nvGrpSpPr>
          <p:grpSpPr>
            <a:xfrm>
              <a:off x="8698531" y="3979675"/>
              <a:ext cx="828966" cy="736049"/>
              <a:chOff x="5625794" y="1599766"/>
              <a:chExt cx="4594902" cy="4080930"/>
            </a:xfrm>
            <a:grpFill/>
          </p:grpSpPr>
          <p:grpSp>
            <p:nvGrpSpPr>
              <p:cNvPr id="192" name="Group 104"/>
              <p:cNvGrpSpPr/>
              <p:nvPr/>
            </p:nvGrpSpPr>
            <p:grpSpPr>
              <a:xfrm>
                <a:off x="6191250" y="1599766"/>
                <a:ext cx="3473485" cy="1069614"/>
                <a:chOff x="6191250" y="1599766"/>
                <a:chExt cx="3473485" cy="1069614"/>
              </a:xfrm>
              <a:grpFill/>
            </p:grpSpPr>
            <p:sp>
              <p:nvSpPr>
                <p:cNvPr id="193" name="Freeform 110"/>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94" name="Freeform 111"/>
                <p:cNvSpPr/>
                <p:nvPr/>
              </p:nvSpPr>
              <p:spPr bwMode="auto">
                <a:xfrm flipH="1">
                  <a:off x="8043104"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195" name="Group 105"/>
              <p:cNvGrpSpPr/>
              <p:nvPr/>
            </p:nvGrpSpPr>
            <p:grpSpPr>
              <a:xfrm flipV="1">
                <a:off x="6191250" y="4611080"/>
                <a:ext cx="3473483" cy="1069616"/>
                <a:chOff x="6191250" y="1599764"/>
                <a:chExt cx="3473483" cy="1069616"/>
              </a:xfrm>
              <a:grpFill/>
            </p:grpSpPr>
            <p:sp>
              <p:nvSpPr>
                <p:cNvPr id="196" name="Freeform 108"/>
                <p:cNvSpPr/>
                <p:nvPr/>
              </p:nvSpPr>
              <p:spPr bwMode="auto">
                <a:xfrm>
                  <a:off x="6191250" y="1599766"/>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97" name="Freeform 109"/>
                <p:cNvSpPr/>
                <p:nvPr/>
              </p:nvSpPr>
              <p:spPr bwMode="auto">
                <a:xfrm flipH="1">
                  <a:off x="8043102" y="1599764"/>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sp>
            <p:nvSpPr>
              <p:cNvPr id="198" name="Freeform 106"/>
              <p:cNvSpPr/>
              <p:nvPr/>
            </p:nvSpPr>
            <p:spPr bwMode="auto">
              <a:xfrm rot="17954294">
                <a:off x="5349785"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99" name="Freeform 107"/>
              <p:cNvSpPr/>
              <p:nvPr/>
            </p:nvSpPr>
            <p:spPr bwMode="auto">
              <a:xfrm rot="3645706" flipH="1">
                <a:off x="8875073" y="3127550"/>
                <a:ext cx="1621631" cy="1069614"/>
              </a:xfrm>
              <a:custGeom>
                <a:avLst/>
                <a:gdLst>
                  <a:gd name="connsiteX0" fmla="*/ 668844 w 4158105"/>
                  <a:gd name="connsiteY0" fmla="*/ 1079241 h 4110786"/>
                  <a:gd name="connsiteX1" fmla="*/ 671967 w 4158105"/>
                  <a:gd name="connsiteY1" fmla="*/ 1081087 h 4110786"/>
                  <a:gd name="connsiteX2" fmla="*/ 576717 w 4158105"/>
                  <a:gd name="connsiteY2" fmla="*/ 1235869 h 4110786"/>
                  <a:gd name="connsiteX3" fmla="*/ 574232 w 4158105"/>
                  <a:gd name="connsiteY3" fmla="*/ 1234330 h 4110786"/>
                  <a:gd name="connsiteX4" fmla="*/ 668844 w 4158105"/>
                  <a:gd name="connsiteY4" fmla="*/ 1079241 h 4110786"/>
                  <a:gd name="connsiteX5" fmla="*/ 398124 w 4158105"/>
                  <a:gd name="connsiteY5" fmla="*/ 919162 h 4110786"/>
                  <a:gd name="connsiteX6" fmla="*/ 399753 w 4158105"/>
                  <a:gd name="connsiteY6" fmla="*/ 920125 h 4110786"/>
                  <a:gd name="connsiteX7" fmla="*/ 308772 w 4158105"/>
                  <a:gd name="connsiteY7" fmla="*/ 1069886 h 4110786"/>
                  <a:gd name="connsiteX8" fmla="*/ 307636 w 4158105"/>
                  <a:gd name="connsiteY8" fmla="*/ 1069182 h 4110786"/>
                  <a:gd name="connsiteX9" fmla="*/ 398124 w 4158105"/>
                  <a:gd name="connsiteY9" fmla="*/ 919162 h 4110786"/>
                  <a:gd name="connsiteX10" fmla="*/ 2106264 w 4158105"/>
                  <a:gd name="connsiteY10" fmla="*/ 319178 h 4110786"/>
                  <a:gd name="connsiteX11" fmla="*/ 2198792 w 4158105"/>
                  <a:gd name="connsiteY11" fmla="*/ 323850 h 4110786"/>
                  <a:gd name="connsiteX12" fmla="*/ 2019755 w 4158105"/>
                  <a:gd name="connsiteY12" fmla="*/ 323850 h 4110786"/>
                  <a:gd name="connsiteX13" fmla="*/ 2019755 w 4158105"/>
                  <a:gd name="connsiteY13" fmla="*/ 323546 h 4110786"/>
                  <a:gd name="connsiteX14" fmla="*/ 2106264 w 4158105"/>
                  <a:gd name="connsiteY14" fmla="*/ 319178 h 4110786"/>
                  <a:gd name="connsiteX15" fmla="*/ 2224351 w 4158105"/>
                  <a:gd name="connsiteY15" fmla="*/ 13068 h 4110786"/>
                  <a:gd name="connsiteX16" fmla="*/ 4158105 w 4158105"/>
                  <a:gd name="connsiteY16" fmla="*/ 2058946 h 4110786"/>
                  <a:gd name="connsiteX17" fmla="*/ 2106265 w 4158105"/>
                  <a:gd name="connsiteY17" fmla="*/ 4110786 h 4110786"/>
                  <a:gd name="connsiteX18" fmla="*/ 54424 w 4158105"/>
                  <a:gd name="connsiteY18" fmla="*/ 2058946 h 4110786"/>
                  <a:gd name="connsiteX19" fmla="*/ 574232 w 4158105"/>
                  <a:gd name="connsiteY19" fmla="*/ 1234330 h 4110786"/>
                  <a:gd name="connsiteX20" fmla="*/ 366497 w 4158105"/>
                  <a:gd name="connsiteY20" fmla="*/ 2058945 h 4110786"/>
                  <a:gd name="connsiteX21" fmla="*/ 2106264 w 4158105"/>
                  <a:gd name="connsiteY21" fmla="*/ 3798712 h 4110786"/>
                  <a:gd name="connsiteX22" fmla="*/ 3846030 w 4158105"/>
                  <a:gd name="connsiteY22" fmla="*/ 2058945 h 4110786"/>
                  <a:gd name="connsiteX23" fmla="*/ 2198792 w 4158105"/>
                  <a:gd name="connsiteY23" fmla="*/ 323850 h 4110786"/>
                  <a:gd name="connsiteX24" fmla="*/ 2219780 w 4158105"/>
                  <a:gd name="connsiteY24" fmla="*/ 323850 h 4110786"/>
                  <a:gd name="connsiteX25" fmla="*/ 2224351 w 4158105"/>
                  <a:gd name="connsiteY25" fmla="*/ 13068 h 4110786"/>
                  <a:gd name="connsiteX26" fmla="*/ 2019755 w 4158105"/>
                  <a:gd name="connsiteY26" fmla="*/ 11473 h 4110786"/>
                  <a:gd name="connsiteX27" fmla="*/ 2019755 w 4158105"/>
                  <a:gd name="connsiteY27" fmla="*/ 323546 h 4110786"/>
                  <a:gd name="connsiteX28" fmla="*/ 668844 w 4158105"/>
                  <a:gd name="connsiteY28" fmla="*/ 1079241 h 4110786"/>
                  <a:gd name="connsiteX29" fmla="*/ 399753 w 4158105"/>
                  <a:gd name="connsiteY29" fmla="*/ 920125 h 4110786"/>
                  <a:gd name="connsiteX30" fmla="*/ 2019755 w 4158105"/>
                  <a:gd name="connsiteY30" fmla="*/ 11473 h 4110786"/>
                  <a:gd name="connsiteX31" fmla="*/ 2224543 w 4158105"/>
                  <a:gd name="connsiteY31" fmla="*/ 0 h 4110786"/>
                  <a:gd name="connsiteX32" fmla="*/ 2224351 w 4158105"/>
                  <a:gd name="connsiteY32" fmla="*/ 13068 h 4110786"/>
                  <a:gd name="connsiteX33" fmla="*/ 2106265 w 4158105"/>
                  <a:gd name="connsiteY33" fmla="*/ 7105 h 4110786"/>
                  <a:gd name="connsiteX34" fmla="*/ 2019755 w 4158105"/>
                  <a:gd name="connsiteY34" fmla="*/ 11473 h 4110786"/>
                  <a:gd name="connsiteX35" fmla="*/ 2019755 w 4158105"/>
                  <a:gd name="connsiteY35" fmla="*/ 2381 h 4110786"/>
                  <a:gd name="connsiteX36" fmla="*/ 2224543 w 4158105"/>
                  <a:gd name="connsiteY36" fmla="*/ 0 h 4110786"/>
                  <a:gd name="connsiteX0-1" fmla="*/ 668844 w 4158105"/>
                  <a:gd name="connsiteY0-2" fmla="*/ 1079241 h 4110786"/>
                  <a:gd name="connsiteX1-3" fmla="*/ 671967 w 4158105"/>
                  <a:gd name="connsiteY1-4" fmla="*/ 1081087 h 4110786"/>
                  <a:gd name="connsiteX2-5" fmla="*/ 576717 w 4158105"/>
                  <a:gd name="connsiteY2-6" fmla="*/ 1235869 h 4110786"/>
                  <a:gd name="connsiteX3-7" fmla="*/ 574232 w 4158105"/>
                  <a:gd name="connsiteY3-8" fmla="*/ 1234330 h 4110786"/>
                  <a:gd name="connsiteX4-9" fmla="*/ 668844 w 4158105"/>
                  <a:gd name="connsiteY4-10" fmla="*/ 1079241 h 4110786"/>
                  <a:gd name="connsiteX5-11" fmla="*/ 398124 w 4158105"/>
                  <a:gd name="connsiteY5-12" fmla="*/ 919162 h 4110786"/>
                  <a:gd name="connsiteX6-13" fmla="*/ 399753 w 4158105"/>
                  <a:gd name="connsiteY6-14" fmla="*/ 920125 h 4110786"/>
                  <a:gd name="connsiteX7-15" fmla="*/ 308772 w 4158105"/>
                  <a:gd name="connsiteY7-16" fmla="*/ 1069886 h 4110786"/>
                  <a:gd name="connsiteX8-17" fmla="*/ 398124 w 4158105"/>
                  <a:gd name="connsiteY8-18" fmla="*/ 919162 h 4110786"/>
                  <a:gd name="connsiteX9-19" fmla="*/ 2106264 w 4158105"/>
                  <a:gd name="connsiteY9-20" fmla="*/ 319178 h 4110786"/>
                  <a:gd name="connsiteX10-21" fmla="*/ 2198792 w 4158105"/>
                  <a:gd name="connsiteY10-22" fmla="*/ 323850 h 4110786"/>
                  <a:gd name="connsiteX11-23" fmla="*/ 2019755 w 4158105"/>
                  <a:gd name="connsiteY11-24" fmla="*/ 323850 h 4110786"/>
                  <a:gd name="connsiteX12-25" fmla="*/ 2019755 w 4158105"/>
                  <a:gd name="connsiteY12-26" fmla="*/ 323546 h 4110786"/>
                  <a:gd name="connsiteX13-27" fmla="*/ 2106264 w 4158105"/>
                  <a:gd name="connsiteY13-28" fmla="*/ 319178 h 4110786"/>
                  <a:gd name="connsiteX14-29" fmla="*/ 2224351 w 4158105"/>
                  <a:gd name="connsiteY14-30" fmla="*/ 13068 h 4110786"/>
                  <a:gd name="connsiteX15-31" fmla="*/ 4158105 w 4158105"/>
                  <a:gd name="connsiteY15-32" fmla="*/ 2058946 h 4110786"/>
                  <a:gd name="connsiteX16-33" fmla="*/ 2106265 w 4158105"/>
                  <a:gd name="connsiteY16-34" fmla="*/ 4110786 h 4110786"/>
                  <a:gd name="connsiteX17-35" fmla="*/ 54424 w 4158105"/>
                  <a:gd name="connsiteY17-36" fmla="*/ 2058946 h 4110786"/>
                  <a:gd name="connsiteX18-37" fmla="*/ 574232 w 4158105"/>
                  <a:gd name="connsiteY18-38" fmla="*/ 1234330 h 4110786"/>
                  <a:gd name="connsiteX19-39" fmla="*/ 366497 w 4158105"/>
                  <a:gd name="connsiteY19-40" fmla="*/ 2058945 h 4110786"/>
                  <a:gd name="connsiteX20-41" fmla="*/ 2106264 w 4158105"/>
                  <a:gd name="connsiteY20-42" fmla="*/ 3798712 h 4110786"/>
                  <a:gd name="connsiteX21-43" fmla="*/ 3846030 w 4158105"/>
                  <a:gd name="connsiteY21-44" fmla="*/ 2058945 h 4110786"/>
                  <a:gd name="connsiteX22-45" fmla="*/ 2198792 w 4158105"/>
                  <a:gd name="connsiteY22-46" fmla="*/ 323850 h 4110786"/>
                  <a:gd name="connsiteX23-47" fmla="*/ 2219780 w 4158105"/>
                  <a:gd name="connsiteY23-48" fmla="*/ 323850 h 4110786"/>
                  <a:gd name="connsiteX24-49" fmla="*/ 2224351 w 4158105"/>
                  <a:gd name="connsiteY24-50" fmla="*/ 13068 h 4110786"/>
                  <a:gd name="connsiteX25-51" fmla="*/ 2019755 w 4158105"/>
                  <a:gd name="connsiteY25-52" fmla="*/ 11473 h 4110786"/>
                  <a:gd name="connsiteX26-53" fmla="*/ 2019755 w 4158105"/>
                  <a:gd name="connsiteY26-54" fmla="*/ 323546 h 4110786"/>
                  <a:gd name="connsiteX27-55" fmla="*/ 668844 w 4158105"/>
                  <a:gd name="connsiteY27-56" fmla="*/ 1079241 h 4110786"/>
                  <a:gd name="connsiteX28-57" fmla="*/ 399753 w 4158105"/>
                  <a:gd name="connsiteY28-58" fmla="*/ 920125 h 4110786"/>
                  <a:gd name="connsiteX29-59" fmla="*/ 2019755 w 4158105"/>
                  <a:gd name="connsiteY29-60" fmla="*/ 11473 h 4110786"/>
                  <a:gd name="connsiteX30-61" fmla="*/ 2224543 w 4158105"/>
                  <a:gd name="connsiteY30-62" fmla="*/ 0 h 4110786"/>
                  <a:gd name="connsiteX31-63" fmla="*/ 2224351 w 4158105"/>
                  <a:gd name="connsiteY31-64" fmla="*/ 13068 h 4110786"/>
                  <a:gd name="connsiteX32-65" fmla="*/ 2106265 w 4158105"/>
                  <a:gd name="connsiteY32-66" fmla="*/ 7105 h 4110786"/>
                  <a:gd name="connsiteX33-67" fmla="*/ 2019755 w 4158105"/>
                  <a:gd name="connsiteY33-68" fmla="*/ 11473 h 4110786"/>
                  <a:gd name="connsiteX34-69" fmla="*/ 2019755 w 4158105"/>
                  <a:gd name="connsiteY34-70" fmla="*/ 2381 h 4110786"/>
                  <a:gd name="connsiteX35-71" fmla="*/ 2224543 w 4158105"/>
                  <a:gd name="connsiteY35-72" fmla="*/ 0 h 4110786"/>
                  <a:gd name="connsiteX0-73" fmla="*/ 668844 w 4158105"/>
                  <a:gd name="connsiteY0-74" fmla="*/ 1079241 h 4110786"/>
                  <a:gd name="connsiteX1-75" fmla="*/ 671967 w 4158105"/>
                  <a:gd name="connsiteY1-76" fmla="*/ 1081087 h 4110786"/>
                  <a:gd name="connsiteX2-77" fmla="*/ 576717 w 4158105"/>
                  <a:gd name="connsiteY2-78" fmla="*/ 1235869 h 4110786"/>
                  <a:gd name="connsiteX3-79" fmla="*/ 574232 w 4158105"/>
                  <a:gd name="connsiteY3-80" fmla="*/ 1234330 h 4110786"/>
                  <a:gd name="connsiteX4-81" fmla="*/ 668844 w 4158105"/>
                  <a:gd name="connsiteY4-82" fmla="*/ 1079241 h 4110786"/>
                  <a:gd name="connsiteX5-83" fmla="*/ 398124 w 4158105"/>
                  <a:gd name="connsiteY5-84" fmla="*/ 919162 h 4110786"/>
                  <a:gd name="connsiteX6-85" fmla="*/ 399753 w 4158105"/>
                  <a:gd name="connsiteY6-86" fmla="*/ 920125 h 4110786"/>
                  <a:gd name="connsiteX7-87" fmla="*/ 398124 w 4158105"/>
                  <a:gd name="connsiteY7-88" fmla="*/ 919162 h 4110786"/>
                  <a:gd name="connsiteX8-89" fmla="*/ 2106264 w 4158105"/>
                  <a:gd name="connsiteY8-90" fmla="*/ 319178 h 4110786"/>
                  <a:gd name="connsiteX9-91" fmla="*/ 2198792 w 4158105"/>
                  <a:gd name="connsiteY9-92" fmla="*/ 323850 h 4110786"/>
                  <a:gd name="connsiteX10-93" fmla="*/ 2019755 w 4158105"/>
                  <a:gd name="connsiteY10-94" fmla="*/ 323850 h 4110786"/>
                  <a:gd name="connsiteX11-95" fmla="*/ 2019755 w 4158105"/>
                  <a:gd name="connsiteY11-96" fmla="*/ 323546 h 4110786"/>
                  <a:gd name="connsiteX12-97" fmla="*/ 2106264 w 4158105"/>
                  <a:gd name="connsiteY12-98" fmla="*/ 319178 h 4110786"/>
                  <a:gd name="connsiteX13-99" fmla="*/ 2224351 w 4158105"/>
                  <a:gd name="connsiteY13-100" fmla="*/ 13068 h 4110786"/>
                  <a:gd name="connsiteX14-101" fmla="*/ 4158105 w 4158105"/>
                  <a:gd name="connsiteY14-102" fmla="*/ 2058946 h 4110786"/>
                  <a:gd name="connsiteX15-103" fmla="*/ 2106265 w 4158105"/>
                  <a:gd name="connsiteY15-104" fmla="*/ 4110786 h 4110786"/>
                  <a:gd name="connsiteX16-105" fmla="*/ 54424 w 4158105"/>
                  <a:gd name="connsiteY16-106" fmla="*/ 2058946 h 4110786"/>
                  <a:gd name="connsiteX17-107" fmla="*/ 574232 w 4158105"/>
                  <a:gd name="connsiteY17-108" fmla="*/ 1234330 h 4110786"/>
                  <a:gd name="connsiteX18-109" fmla="*/ 366497 w 4158105"/>
                  <a:gd name="connsiteY18-110" fmla="*/ 2058945 h 4110786"/>
                  <a:gd name="connsiteX19-111" fmla="*/ 2106264 w 4158105"/>
                  <a:gd name="connsiteY19-112" fmla="*/ 3798712 h 4110786"/>
                  <a:gd name="connsiteX20-113" fmla="*/ 3846030 w 4158105"/>
                  <a:gd name="connsiteY20-114" fmla="*/ 2058945 h 4110786"/>
                  <a:gd name="connsiteX21-115" fmla="*/ 2198792 w 4158105"/>
                  <a:gd name="connsiteY21-116" fmla="*/ 323850 h 4110786"/>
                  <a:gd name="connsiteX22-117" fmla="*/ 2219780 w 4158105"/>
                  <a:gd name="connsiteY22-118" fmla="*/ 323850 h 4110786"/>
                  <a:gd name="connsiteX23-119" fmla="*/ 2224351 w 4158105"/>
                  <a:gd name="connsiteY23-120" fmla="*/ 13068 h 4110786"/>
                  <a:gd name="connsiteX24-121" fmla="*/ 2019755 w 4158105"/>
                  <a:gd name="connsiteY24-122" fmla="*/ 11473 h 4110786"/>
                  <a:gd name="connsiteX25-123" fmla="*/ 2019755 w 4158105"/>
                  <a:gd name="connsiteY25-124" fmla="*/ 323546 h 4110786"/>
                  <a:gd name="connsiteX26-125" fmla="*/ 668844 w 4158105"/>
                  <a:gd name="connsiteY26-126" fmla="*/ 1079241 h 4110786"/>
                  <a:gd name="connsiteX27-127" fmla="*/ 399753 w 4158105"/>
                  <a:gd name="connsiteY27-128" fmla="*/ 920125 h 4110786"/>
                  <a:gd name="connsiteX28-129" fmla="*/ 2019755 w 4158105"/>
                  <a:gd name="connsiteY28-130" fmla="*/ 11473 h 4110786"/>
                  <a:gd name="connsiteX29-131" fmla="*/ 2224543 w 4158105"/>
                  <a:gd name="connsiteY29-132" fmla="*/ 0 h 4110786"/>
                  <a:gd name="connsiteX30-133" fmla="*/ 2224351 w 4158105"/>
                  <a:gd name="connsiteY30-134" fmla="*/ 13068 h 4110786"/>
                  <a:gd name="connsiteX31-135" fmla="*/ 2106265 w 4158105"/>
                  <a:gd name="connsiteY31-136" fmla="*/ 7105 h 4110786"/>
                  <a:gd name="connsiteX32-137" fmla="*/ 2019755 w 4158105"/>
                  <a:gd name="connsiteY32-138" fmla="*/ 11473 h 4110786"/>
                  <a:gd name="connsiteX33-139" fmla="*/ 2019755 w 4158105"/>
                  <a:gd name="connsiteY33-140" fmla="*/ 2381 h 4110786"/>
                  <a:gd name="connsiteX34-141" fmla="*/ 2224543 w 4158105"/>
                  <a:gd name="connsiteY34-142" fmla="*/ 0 h 4110786"/>
                  <a:gd name="connsiteX0-143" fmla="*/ 739525 w 4228786"/>
                  <a:gd name="connsiteY0-144" fmla="*/ 1079241 h 4110786"/>
                  <a:gd name="connsiteX1-145" fmla="*/ 742648 w 4228786"/>
                  <a:gd name="connsiteY1-146" fmla="*/ 1081087 h 4110786"/>
                  <a:gd name="connsiteX2-147" fmla="*/ 647398 w 4228786"/>
                  <a:gd name="connsiteY2-148" fmla="*/ 1235869 h 4110786"/>
                  <a:gd name="connsiteX3-149" fmla="*/ 644913 w 4228786"/>
                  <a:gd name="connsiteY3-150" fmla="*/ 1234330 h 4110786"/>
                  <a:gd name="connsiteX4-151" fmla="*/ 739525 w 4228786"/>
                  <a:gd name="connsiteY4-152" fmla="*/ 1079241 h 4110786"/>
                  <a:gd name="connsiteX5-153" fmla="*/ 468805 w 4228786"/>
                  <a:gd name="connsiteY5-154" fmla="*/ 919162 h 4110786"/>
                  <a:gd name="connsiteX6-155" fmla="*/ 470434 w 4228786"/>
                  <a:gd name="connsiteY6-156" fmla="*/ 920125 h 4110786"/>
                  <a:gd name="connsiteX7-157" fmla="*/ 468805 w 4228786"/>
                  <a:gd name="connsiteY7-158" fmla="*/ 919162 h 4110786"/>
                  <a:gd name="connsiteX8-159" fmla="*/ 2176945 w 4228786"/>
                  <a:gd name="connsiteY8-160" fmla="*/ 319178 h 4110786"/>
                  <a:gd name="connsiteX9-161" fmla="*/ 2269473 w 4228786"/>
                  <a:gd name="connsiteY9-162" fmla="*/ 323850 h 4110786"/>
                  <a:gd name="connsiteX10-163" fmla="*/ 2090436 w 4228786"/>
                  <a:gd name="connsiteY10-164" fmla="*/ 323850 h 4110786"/>
                  <a:gd name="connsiteX11-165" fmla="*/ 2090436 w 4228786"/>
                  <a:gd name="connsiteY11-166" fmla="*/ 323546 h 4110786"/>
                  <a:gd name="connsiteX12-167" fmla="*/ 2176945 w 4228786"/>
                  <a:gd name="connsiteY12-168" fmla="*/ 319178 h 4110786"/>
                  <a:gd name="connsiteX13-169" fmla="*/ 2295032 w 4228786"/>
                  <a:gd name="connsiteY13-170" fmla="*/ 13068 h 4110786"/>
                  <a:gd name="connsiteX14-171" fmla="*/ 4228786 w 4228786"/>
                  <a:gd name="connsiteY14-172" fmla="*/ 2058946 h 4110786"/>
                  <a:gd name="connsiteX15-173" fmla="*/ 2176946 w 4228786"/>
                  <a:gd name="connsiteY15-174" fmla="*/ 4110786 h 4110786"/>
                  <a:gd name="connsiteX16-175" fmla="*/ 125105 w 4228786"/>
                  <a:gd name="connsiteY16-176" fmla="*/ 2058946 h 4110786"/>
                  <a:gd name="connsiteX17-177" fmla="*/ 437178 w 4228786"/>
                  <a:gd name="connsiteY17-178" fmla="*/ 2058945 h 4110786"/>
                  <a:gd name="connsiteX18-179" fmla="*/ 2176945 w 4228786"/>
                  <a:gd name="connsiteY18-180" fmla="*/ 3798712 h 4110786"/>
                  <a:gd name="connsiteX19-181" fmla="*/ 3916711 w 4228786"/>
                  <a:gd name="connsiteY19-182" fmla="*/ 2058945 h 4110786"/>
                  <a:gd name="connsiteX20-183" fmla="*/ 2269473 w 4228786"/>
                  <a:gd name="connsiteY20-184" fmla="*/ 323850 h 4110786"/>
                  <a:gd name="connsiteX21-185" fmla="*/ 2290461 w 4228786"/>
                  <a:gd name="connsiteY21-186" fmla="*/ 323850 h 4110786"/>
                  <a:gd name="connsiteX22-187" fmla="*/ 2295032 w 4228786"/>
                  <a:gd name="connsiteY22-188" fmla="*/ 13068 h 4110786"/>
                  <a:gd name="connsiteX23-189" fmla="*/ 2090436 w 4228786"/>
                  <a:gd name="connsiteY23-190" fmla="*/ 11473 h 4110786"/>
                  <a:gd name="connsiteX24-191" fmla="*/ 2090436 w 4228786"/>
                  <a:gd name="connsiteY24-192" fmla="*/ 323546 h 4110786"/>
                  <a:gd name="connsiteX25-193" fmla="*/ 739525 w 4228786"/>
                  <a:gd name="connsiteY25-194" fmla="*/ 1079241 h 4110786"/>
                  <a:gd name="connsiteX26-195" fmla="*/ 470434 w 4228786"/>
                  <a:gd name="connsiteY26-196" fmla="*/ 920125 h 4110786"/>
                  <a:gd name="connsiteX27-197" fmla="*/ 2090436 w 4228786"/>
                  <a:gd name="connsiteY27-198" fmla="*/ 11473 h 4110786"/>
                  <a:gd name="connsiteX28-199" fmla="*/ 2295224 w 4228786"/>
                  <a:gd name="connsiteY28-200" fmla="*/ 0 h 4110786"/>
                  <a:gd name="connsiteX29-201" fmla="*/ 2295032 w 4228786"/>
                  <a:gd name="connsiteY29-202" fmla="*/ 13068 h 4110786"/>
                  <a:gd name="connsiteX30-203" fmla="*/ 2176946 w 4228786"/>
                  <a:gd name="connsiteY30-204" fmla="*/ 7105 h 4110786"/>
                  <a:gd name="connsiteX31-205" fmla="*/ 2090436 w 4228786"/>
                  <a:gd name="connsiteY31-206" fmla="*/ 11473 h 4110786"/>
                  <a:gd name="connsiteX32-207" fmla="*/ 2090436 w 4228786"/>
                  <a:gd name="connsiteY32-208" fmla="*/ 2381 h 4110786"/>
                  <a:gd name="connsiteX33-209" fmla="*/ 2295224 w 4228786"/>
                  <a:gd name="connsiteY33-210" fmla="*/ 0 h 4110786"/>
                  <a:gd name="connsiteX0-211" fmla="*/ 739525 w 4228786"/>
                  <a:gd name="connsiteY0-212" fmla="*/ 1079241 h 4110786"/>
                  <a:gd name="connsiteX1-213" fmla="*/ 742648 w 4228786"/>
                  <a:gd name="connsiteY1-214" fmla="*/ 1081087 h 4110786"/>
                  <a:gd name="connsiteX2-215" fmla="*/ 647398 w 4228786"/>
                  <a:gd name="connsiteY2-216" fmla="*/ 1235869 h 4110786"/>
                  <a:gd name="connsiteX3-217" fmla="*/ 739525 w 4228786"/>
                  <a:gd name="connsiteY3-218" fmla="*/ 1079241 h 4110786"/>
                  <a:gd name="connsiteX4-219" fmla="*/ 468805 w 4228786"/>
                  <a:gd name="connsiteY4-220" fmla="*/ 919162 h 4110786"/>
                  <a:gd name="connsiteX5-221" fmla="*/ 470434 w 4228786"/>
                  <a:gd name="connsiteY5-222" fmla="*/ 920125 h 4110786"/>
                  <a:gd name="connsiteX6-223" fmla="*/ 468805 w 4228786"/>
                  <a:gd name="connsiteY6-224" fmla="*/ 919162 h 4110786"/>
                  <a:gd name="connsiteX7-225" fmla="*/ 2176945 w 4228786"/>
                  <a:gd name="connsiteY7-226" fmla="*/ 319178 h 4110786"/>
                  <a:gd name="connsiteX8-227" fmla="*/ 2269473 w 4228786"/>
                  <a:gd name="connsiteY8-228" fmla="*/ 323850 h 4110786"/>
                  <a:gd name="connsiteX9-229" fmla="*/ 2090436 w 4228786"/>
                  <a:gd name="connsiteY9-230" fmla="*/ 323850 h 4110786"/>
                  <a:gd name="connsiteX10-231" fmla="*/ 2090436 w 4228786"/>
                  <a:gd name="connsiteY10-232" fmla="*/ 323546 h 4110786"/>
                  <a:gd name="connsiteX11-233" fmla="*/ 2176945 w 4228786"/>
                  <a:gd name="connsiteY11-234" fmla="*/ 319178 h 4110786"/>
                  <a:gd name="connsiteX12-235" fmla="*/ 2295032 w 4228786"/>
                  <a:gd name="connsiteY12-236" fmla="*/ 13068 h 4110786"/>
                  <a:gd name="connsiteX13-237" fmla="*/ 4228786 w 4228786"/>
                  <a:gd name="connsiteY13-238" fmla="*/ 2058946 h 4110786"/>
                  <a:gd name="connsiteX14-239" fmla="*/ 2176946 w 4228786"/>
                  <a:gd name="connsiteY14-240" fmla="*/ 4110786 h 4110786"/>
                  <a:gd name="connsiteX15-241" fmla="*/ 125105 w 4228786"/>
                  <a:gd name="connsiteY15-242" fmla="*/ 2058946 h 4110786"/>
                  <a:gd name="connsiteX16-243" fmla="*/ 437178 w 4228786"/>
                  <a:gd name="connsiteY16-244" fmla="*/ 2058945 h 4110786"/>
                  <a:gd name="connsiteX17-245" fmla="*/ 2176945 w 4228786"/>
                  <a:gd name="connsiteY17-246" fmla="*/ 3798712 h 4110786"/>
                  <a:gd name="connsiteX18-247" fmla="*/ 3916711 w 4228786"/>
                  <a:gd name="connsiteY18-248" fmla="*/ 2058945 h 4110786"/>
                  <a:gd name="connsiteX19-249" fmla="*/ 2269473 w 4228786"/>
                  <a:gd name="connsiteY19-250" fmla="*/ 323850 h 4110786"/>
                  <a:gd name="connsiteX20-251" fmla="*/ 2290461 w 4228786"/>
                  <a:gd name="connsiteY20-252" fmla="*/ 323850 h 4110786"/>
                  <a:gd name="connsiteX21-253" fmla="*/ 2295032 w 4228786"/>
                  <a:gd name="connsiteY21-254" fmla="*/ 13068 h 4110786"/>
                  <a:gd name="connsiteX22-255" fmla="*/ 2090436 w 4228786"/>
                  <a:gd name="connsiteY22-256" fmla="*/ 11473 h 4110786"/>
                  <a:gd name="connsiteX23-257" fmla="*/ 2090436 w 4228786"/>
                  <a:gd name="connsiteY23-258" fmla="*/ 323546 h 4110786"/>
                  <a:gd name="connsiteX24-259" fmla="*/ 739525 w 4228786"/>
                  <a:gd name="connsiteY24-260" fmla="*/ 1079241 h 4110786"/>
                  <a:gd name="connsiteX25-261" fmla="*/ 470434 w 4228786"/>
                  <a:gd name="connsiteY25-262" fmla="*/ 920125 h 4110786"/>
                  <a:gd name="connsiteX26-263" fmla="*/ 2090436 w 4228786"/>
                  <a:gd name="connsiteY26-264" fmla="*/ 11473 h 4110786"/>
                  <a:gd name="connsiteX27-265" fmla="*/ 2295224 w 4228786"/>
                  <a:gd name="connsiteY27-266" fmla="*/ 0 h 4110786"/>
                  <a:gd name="connsiteX28-267" fmla="*/ 2295032 w 4228786"/>
                  <a:gd name="connsiteY28-268" fmla="*/ 13068 h 4110786"/>
                  <a:gd name="connsiteX29-269" fmla="*/ 2176946 w 4228786"/>
                  <a:gd name="connsiteY29-270" fmla="*/ 7105 h 4110786"/>
                  <a:gd name="connsiteX30-271" fmla="*/ 2090436 w 4228786"/>
                  <a:gd name="connsiteY30-272" fmla="*/ 11473 h 4110786"/>
                  <a:gd name="connsiteX31-273" fmla="*/ 2090436 w 4228786"/>
                  <a:gd name="connsiteY31-274" fmla="*/ 2381 h 4110786"/>
                  <a:gd name="connsiteX32-275" fmla="*/ 2295224 w 4228786"/>
                  <a:gd name="connsiteY32-276" fmla="*/ 0 h 4110786"/>
                  <a:gd name="connsiteX0-277" fmla="*/ 739525 w 4228786"/>
                  <a:gd name="connsiteY0-278" fmla="*/ 1079241 h 4110786"/>
                  <a:gd name="connsiteX1-279" fmla="*/ 742648 w 4228786"/>
                  <a:gd name="connsiteY1-280" fmla="*/ 1081087 h 4110786"/>
                  <a:gd name="connsiteX2-281" fmla="*/ 739525 w 4228786"/>
                  <a:gd name="connsiteY2-282" fmla="*/ 1079241 h 4110786"/>
                  <a:gd name="connsiteX3-283" fmla="*/ 468805 w 4228786"/>
                  <a:gd name="connsiteY3-284" fmla="*/ 919162 h 4110786"/>
                  <a:gd name="connsiteX4-285" fmla="*/ 470434 w 4228786"/>
                  <a:gd name="connsiteY4-286" fmla="*/ 920125 h 4110786"/>
                  <a:gd name="connsiteX5-287" fmla="*/ 468805 w 4228786"/>
                  <a:gd name="connsiteY5-288" fmla="*/ 919162 h 4110786"/>
                  <a:gd name="connsiteX6-289" fmla="*/ 2176945 w 4228786"/>
                  <a:gd name="connsiteY6-290" fmla="*/ 319178 h 4110786"/>
                  <a:gd name="connsiteX7-291" fmla="*/ 2269473 w 4228786"/>
                  <a:gd name="connsiteY7-292" fmla="*/ 323850 h 4110786"/>
                  <a:gd name="connsiteX8-293" fmla="*/ 2090436 w 4228786"/>
                  <a:gd name="connsiteY8-294" fmla="*/ 323850 h 4110786"/>
                  <a:gd name="connsiteX9-295" fmla="*/ 2090436 w 4228786"/>
                  <a:gd name="connsiteY9-296" fmla="*/ 323546 h 4110786"/>
                  <a:gd name="connsiteX10-297" fmla="*/ 2176945 w 4228786"/>
                  <a:gd name="connsiteY10-298" fmla="*/ 319178 h 4110786"/>
                  <a:gd name="connsiteX11-299" fmla="*/ 2295032 w 4228786"/>
                  <a:gd name="connsiteY11-300" fmla="*/ 13068 h 4110786"/>
                  <a:gd name="connsiteX12-301" fmla="*/ 4228786 w 4228786"/>
                  <a:gd name="connsiteY12-302" fmla="*/ 2058946 h 4110786"/>
                  <a:gd name="connsiteX13-303" fmla="*/ 2176946 w 4228786"/>
                  <a:gd name="connsiteY13-304" fmla="*/ 4110786 h 4110786"/>
                  <a:gd name="connsiteX14-305" fmla="*/ 125105 w 4228786"/>
                  <a:gd name="connsiteY14-306" fmla="*/ 2058946 h 4110786"/>
                  <a:gd name="connsiteX15-307" fmla="*/ 437178 w 4228786"/>
                  <a:gd name="connsiteY15-308" fmla="*/ 2058945 h 4110786"/>
                  <a:gd name="connsiteX16-309" fmla="*/ 2176945 w 4228786"/>
                  <a:gd name="connsiteY16-310" fmla="*/ 3798712 h 4110786"/>
                  <a:gd name="connsiteX17-311" fmla="*/ 3916711 w 4228786"/>
                  <a:gd name="connsiteY17-312" fmla="*/ 2058945 h 4110786"/>
                  <a:gd name="connsiteX18-313" fmla="*/ 2269473 w 4228786"/>
                  <a:gd name="connsiteY18-314" fmla="*/ 323850 h 4110786"/>
                  <a:gd name="connsiteX19-315" fmla="*/ 2290461 w 4228786"/>
                  <a:gd name="connsiteY19-316" fmla="*/ 323850 h 4110786"/>
                  <a:gd name="connsiteX20-317" fmla="*/ 2295032 w 4228786"/>
                  <a:gd name="connsiteY20-318" fmla="*/ 13068 h 4110786"/>
                  <a:gd name="connsiteX21-319" fmla="*/ 2090436 w 4228786"/>
                  <a:gd name="connsiteY21-320" fmla="*/ 11473 h 4110786"/>
                  <a:gd name="connsiteX22-321" fmla="*/ 2090436 w 4228786"/>
                  <a:gd name="connsiteY22-322" fmla="*/ 323546 h 4110786"/>
                  <a:gd name="connsiteX23-323" fmla="*/ 739525 w 4228786"/>
                  <a:gd name="connsiteY23-324" fmla="*/ 1079241 h 4110786"/>
                  <a:gd name="connsiteX24-325" fmla="*/ 470434 w 4228786"/>
                  <a:gd name="connsiteY24-326" fmla="*/ 920125 h 4110786"/>
                  <a:gd name="connsiteX25-327" fmla="*/ 2090436 w 4228786"/>
                  <a:gd name="connsiteY25-328" fmla="*/ 11473 h 4110786"/>
                  <a:gd name="connsiteX26-329" fmla="*/ 2295224 w 4228786"/>
                  <a:gd name="connsiteY26-330" fmla="*/ 0 h 4110786"/>
                  <a:gd name="connsiteX27-331" fmla="*/ 2295032 w 4228786"/>
                  <a:gd name="connsiteY27-332" fmla="*/ 13068 h 4110786"/>
                  <a:gd name="connsiteX28-333" fmla="*/ 2176946 w 4228786"/>
                  <a:gd name="connsiteY28-334" fmla="*/ 7105 h 4110786"/>
                  <a:gd name="connsiteX29-335" fmla="*/ 2090436 w 4228786"/>
                  <a:gd name="connsiteY29-336" fmla="*/ 11473 h 4110786"/>
                  <a:gd name="connsiteX30-337" fmla="*/ 2090436 w 4228786"/>
                  <a:gd name="connsiteY30-338" fmla="*/ 2381 h 4110786"/>
                  <a:gd name="connsiteX31-339" fmla="*/ 2295224 w 4228786"/>
                  <a:gd name="connsiteY31-340" fmla="*/ 0 h 4110786"/>
                  <a:gd name="connsiteX0-341" fmla="*/ 739525 w 4228786"/>
                  <a:gd name="connsiteY0-342" fmla="*/ 1079241 h 4110786"/>
                  <a:gd name="connsiteX1-343" fmla="*/ 742648 w 4228786"/>
                  <a:gd name="connsiteY1-344" fmla="*/ 1081087 h 4110786"/>
                  <a:gd name="connsiteX2-345" fmla="*/ 739525 w 4228786"/>
                  <a:gd name="connsiteY2-346" fmla="*/ 1079241 h 4110786"/>
                  <a:gd name="connsiteX3-347" fmla="*/ 468805 w 4228786"/>
                  <a:gd name="connsiteY3-348" fmla="*/ 919162 h 4110786"/>
                  <a:gd name="connsiteX4-349" fmla="*/ 470434 w 4228786"/>
                  <a:gd name="connsiteY4-350" fmla="*/ 920125 h 4110786"/>
                  <a:gd name="connsiteX5-351" fmla="*/ 468805 w 4228786"/>
                  <a:gd name="connsiteY5-352" fmla="*/ 919162 h 4110786"/>
                  <a:gd name="connsiteX6-353" fmla="*/ 2176945 w 4228786"/>
                  <a:gd name="connsiteY6-354" fmla="*/ 319178 h 4110786"/>
                  <a:gd name="connsiteX7-355" fmla="*/ 2269473 w 4228786"/>
                  <a:gd name="connsiteY7-356" fmla="*/ 323850 h 4110786"/>
                  <a:gd name="connsiteX8-357" fmla="*/ 2090436 w 4228786"/>
                  <a:gd name="connsiteY8-358" fmla="*/ 323850 h 4110786"/>
                  <a:gd name="connsiteX9-359" fmla="*/ 2090436 w 4228786"/>
                  <a:gd name="connsiteY9-360" fmla="*/ 323546 h 4110786"/>
                  <a:gd name="connsiteX10-361" fmla="*/ 2176945 w 4228786"/>
                  <a:gd name="connsiteY10-362" fmla="*/ 319178 h 4110786"/>
                  <a:gd name="connsiteX11-363" fmla="*/ 2295032 w 4228786"/>
                  <a:gd name="connsiteY11-364" fmla="*/ 13068 h 4110786"/>
                  <a:gd name="connsiteX12-365" fmla="*/ 4228786 w 4228786"/>
                  <a:gd name="connsiteY12-366" fmla="*/ 2058946 h 4110786"/>
                  <a:gd name="connsiteX13-367" fmla="*/ 2176946 w 4228786"/>
                  <a:gd name="connsiteY13-368" fmla="*/ 4110786 h 4110786"/>
                  <a:gd name="connsiteX14-369" fmla="*/ 125105 w 4228786"/>
                  <a:gd name="connsiteY14-370" fmla="*/ 2058946 h 4110786"/>
                  <a:gd name="connsiteX15-371" fmla="*/ 437178 w 4228786"/>
                  <a:gd name="connsiteY15-372" fmla="*/ 2058945 h 4110786"/>
                  <a:gd name="connsiteX16-373" fmla="*/ 2176945 w 4228786"/>
                  <a:gd name="connsiteY16-374" fmla="*/ 3798712 h 4110786"/>
                  <a:gd name="connsiteX17-375" fmla="*/ 3916711 w 4228786"/>
                  <a:gd name="connsiteY17-376" fmla="*/ 2058945 h 4110786"/>
                  <a:gd name="connsiteX18-377" fmla="*/ 2269473 w 4228786"/>
                  <a:gd name="connsiteY18-378" fmla="*/ 323850 h 4110786"/>
                  <a:gd name="connsiteX19-379" fmla="*/ 2290461 w 4228786"/>
                  <a:gd name="connsiteY19-380" fmla="*/ 323850 h 4110786"/>
                  <a:gd name="connsiteX20-381" fmla="*/ 2295032 w 4228786"/>
                  <a:gd name="connsiteY20-382" fmla="*/ 13068 h 4110786"/>
                  <a:gd name="connsiteX21-383" fmla="*/ 2090436 w 4228786"/>
                  <a:gd name="connsiteY21-384" fmla="*/ 11473 h 4110786"/>
                  <a:gd name="connsiteX22-385" fmla="*/ 2090436 w 4228786"/>
                  <a:gd name="connsiteY22-386" fmla="*/ 323546 h 4110786"/>
                  <a:gd name="connsiteX23-387" fmla="*/ 739525 w 4228786"/>
                  <a:gd name="connsiteY23-388" fmla="*/ 1079241 h 4110786"/>
                  <a:gd name="connsiteX24-389" fmla="*/ 470434 w 4228786"/>
                  <a:gd name="connsiteY24-390" fmla="*/ 920125 h 4110786"/>
                  <a:gd name="connsiteX25-391" fmla="*/ 2090436 w 4228786"/>
                  <a:gd name="connsiteY25-392" fmla="*/ 11473 h 4110786"/>
                  <a:gd name="connsiteX26-393" fmla="*/ 2295224 w 4228786"/>
                  <a:gd name="connsiteY26-394" fmla="*/ 0 h 4110786"/>
                  <a:gd name="connsiteX27-395" fmla="*/ 2176946 w 4228786"/>
                  <a:gd name="connsiteY27-396" fmla="*/ 7105 h 4110786"/>
                  <a:gd name="connsiteX28-397" fmla="*/ 2090436 w 4228786"/>
                  <a:gd name="connsiteY28-398" fmla="*/ 11473 h 4110786"/>
                  <a:gd name="connsiteX29-399" fmla="*/ 2090436 w 4228786"/>
                  <a:gd name="connsiteY29-400" fmla="*/ 2381 h 4110786"/>
                  <a:gd name="connsiteX30-401" fmla="*/ 2295224 w 4228786"/>
                  <a:gd name="connsiteY30-402" fmla="*/ 0 h 4110786"/>
                  <a:gd name="connsiteX0-403" fmla="*/ 739525 w 4228949"/>
                  <a:gd name="connsiteY0-404" fmla="*/ 1079241 h 4110786"/>
                  <a:gd name="connsiteX1-405" fmla="*/ 742648 w 4228949"/>
                  <a:gd name="connsiteY1-406" fmla="*/ 1081087 h 4110786"/>
                  <a:gd name="connsiteX2-407" fmla="*/ 739525 w 4228949"/>
                  <a:gd name="connsiteY2-408" fmla="*/ 1079241 h 4110786"/>
                  <a:gd name="connsiteX3-409" fmla="*/ 468805 w 4228949"/>
                  <a:gd name="connsiteY3-410" fmla="*/ 919162 h 4110786"/>
                  <a:gd name="connsiteX4-411" fmla="*/ 470434 w 4228949"/>
                  <a:gd name="connsiteY4-412" fmla="*/ 920125 h 4110786"/>
                  <a:gd name="connsiteX5-413" fmla="*/ 468805 w 4228949"/>
                  <a:gd name="connsiteY5-414" fmla="*/ 919162 h 4110786"/>
                  <a:gd name="connsiteX6-415" fmla="*/ 2176945 w 4228949"/>
                  <a:gd name="connsiteY6-416" fmla="*/ 319178 h 4110786"/>
                  <a:gd name="connsiteX7-417" fmla="*/ 2269473 w 4228949"/>
                  <a:gd name="connsiteY7-418" fmla="*/ 323850 h 4110786"/>
                  <a:gd name="connsiteX8-419" fmla="*/ 2090436 w 4228949"/>
                  <a:gd name="connsiteY8-420" fmla="*/ 323850 h 4110786"/>
                  <a:gd name="connsiteX9-421" fmla="*/ 2090436 w 4228949"/>
                  <a:gd name="connsiteY9-422" fmla="*/ 323546 h 4110786"/>
                  <a:gd name="connsiteX10-423" fmla="*/ 2176945 w 4228949"/>
                  <a:gd name="connsiteY10-424" fmla="*/ 319178 h 4110786"/>
                  <a:gd name="connsiteX11-425" fmla="*/ 2290461 w 4228949"/>
                  <a:gd name="connsiteY11-426" fmla="*/ 323850 h 4110786"/>
                  <a:gd name="connsiteX12-427" fmla="*/ 4228786 w 4228949"/>
                  <a:gd name="connsiteY12-428" fmla="*/ 2058946 h 4110786"/>
                  <a:gd name="connsiteX13-429" fmla="*/ 2176946 w 4228949"/>
                  <a:gd name="connsiteY13-430" fmla="*/ 4110786 h 4110786"/>
                  <a:gd name="connsiteX14-431" fmla="*/ 125105 w 4228949"/>
                  <a:gd name="connsiteY14-432" fmla="*/ 2058946 h 4110786"/>
                  <a:gd name="connsiteX15-433" fmla="*/ 437178 w 4228949"/>
                  <a:gd name="connsiteY15-434" fmla="*/ 2058945 h 4110786"/>
                  <a:gd name="connsiteX16-435" fmla="*/ 2176945 w 4228949"/>
                  <a:gd name="connsiteY16-436" fmla="*/ 3798712 h 4110786"/>
                  <a:gd name="connsiteX17-437" fmla="*/ 3916711 w 4228949"/>
                  <a:gd name="connsiteY17-438" fmla="*/ 2058945 h 4110786"/>
                  <a:gd name="connsiteX18-439" fmla="*/ 2269473 w 4228949"/>
                  <a:gd name="connsiteY18-440" fmla="*/ 323850 h 4110786"/>
                  <a:gd name="connsiteX19-441" fmla="*/ 2290461 w 4228949"/>
                  <a:gd name="connsiteY19-442" fmla="*/ 323850 h 4110786"/>
                  <a:gd name="connsiteX20-443" fmla="*/ 2090436 w 4228949"/>
                  <a:gd name="connsiteY20-444" fmla="*/ 11473 h 4110786"/>
                  <a:gd name="connsiteX21-445" fmla="*/ 2090436 w 4228949"/>
                  <a:gd name="connsiteY21-446" fmla="*/ 323546 h 4110786"/>
                  <a:gd name="connsiteX22-447" fmla="*/ 739525 w 4228949"/>
                  <a:gd name="connsiteY22-448" fmla="*/ 1079241 h 4110786"/>
                  <a:gd name="connsiteX23-449" fmla="*/ 470434 w 4228949"/>
                  <a:gd name="connsiteY23-450" fmla="*/ 920125 h 4110786"/>
                  <a:gd name="connsiteX24-451" fmla="*/ 2090436 w 4228949"/>
                  <a:gd name="connsiteY24-452" fmla="*/ 11473 h 4110786"/>
                  <a:gd name="connsiteX25-453" fmla="*/ 2295224 w 4228949"/>
                  <a:gd name="connsiteY25-454" fmla="*/ 0 h 4110786"/>
                  <a:gd name="connsiteX26-455" fmla="*/ 2176946 w 4228949"/>
                  <a:gd name="connsiteY26-456" fmla="*/ 7105 h 4110786"/>
                  <a:gd name="connsiteX27-457" fmla="*/ 2090436 w 4228949"/>
                  <a:gd name="connsiteY27-458" fmla="*/ 11473 h 4110786"/>
                  <a:gd name="connsiteX28-459" fmla="*/ 2090436 w 4228949"/>
                  <a:gd name="connsiteY28-460" fmla="*/ 2381 h 4110786"/>
                  <a:gd name="connsiteX29-461" fmla="*/ 2295224 w 4228949"/>
                  <a:gd name="connsiteY29-462" fmla="*/ 0 h 4110786"/>
                  <a:gd name="connsiteX0-463" fmla="*/ 739525 w 4228949"/>
                  <a:gd name="connsiteY0-464" fmla="*/ 1076860 h 4108405"/>
                  <a:gd name="connsiteX1-465" fmla="*/ 742648 w 4228949"/>
                  <a:gd name="connsiteY1-466" fmla="*/ 1078706 h 4108405"/>
                  <a:gd name="connsiteX2-467" fmla="*/ 739525 w 4228949"/>
                  <a:gd name="connsiteY2-468" fmla="*/ 1076860 h 4108405"/>
                  <a:gd name="connsiteX3-469" fmla="*/ 468805 w 4228949"/>
                  <a:gd name="connsiteY3-470" fmla="*/ 916781 h 4108405"/>
                  <a:gd name="connsiteX4-471" fmla="*/ 470434 w 4228949"/>
                  <a:gd name="connsiteY4-472" fmla="*/ 917744 h 4108405"/>
                  <a:gd name="connsiteX5-473" fmla="*/ 468805 w 4228949"/>
                  <a:gd name="connsiteY5-474" fmla="*/ 916781 h 4108405"/>
                  <a:gd name="connsiteX6-475" fmla="*/ 2176945 w 4228949"/>
                  <a:gd name="connsiteY6-476" fmla="*/ 316797 h 4108405"/>
                  <a:gd name="connsiteX7-477" fmla="*/ 2269473 w 4228949"/>
                  <a:gd name="connsiteY7-478" fmla="*/ 321469 h 4108405"/>
                  <a:gd name="connsiteX8-479" fmla="*/ 2090436 w 4228949"/>
                  <a:gd name="connsiteY8-480" fmla="*/ 321469 h 4108405"/>
                  <a:gd name="connsiteX9-481" fmla="*/ 2090436 w 4228949"/>
                  <a:gd name="connsiteY9-482" fmla="*/ 321165 h 4108405"/>
                  <a:gd name="connsiteX10-483" fmla="*/ 2176945 w 4228949"/>
                  <a:gd name="connsiteY10-484" fmla="*/ 316797 h 4108405"/>
                  <a:gd name="connsiteX11-485" fmla="*/ 2290461 w 4228949"/>
                  <a:gd name="connsiteY11-486" fmla="*/ 321469 h 4108405"/>
                  <a:gd name="connsiteX12-487" fmla="*/ 4228786 w 4228949"/>
                  <a:gd name="connsiteY12-488" fmla="*/ 2056565 h 4108405"/>
                  <a:gd name="connsiteX13-489" fmla="*/ 2176946 w 4228949"/>
                  <a:gd name="connsiteY13-490" fmla="*/ 4108405 h 4108405"/>
                  <a:gd name="connsiteX14-491" fmla="*/ 125105 w 4228949"/>
                  <a:gd name="connsiteY14-492" fmla="*/ 2056565 h 4108405"/>
                  <a:gd name="connsiteX15-493" fmla="*/ 437178 w 4228949"/>
                  <a:gd name="connsiteY15-494" fmla="*/ 2056564 h 4108405"/>
                  <a:gd name="connsiteX16-495" fmla="*/ 2176945 w 4228949"/>
                  <a:gd name="connsiteY16-496" fmla="*/ 3796331 h 4108405"/>
                  <a:gd name="connsiteX17-497" fmla="*/ 3916711 w 4228949"/>
                  <a:gd name="connsiteY17-498" fmla="*/ 2056564 h 4108405"/>
                  <a:gd name="connsiteX18-499" fmla="*/ 2269473 w 4228949"/>
                  <a:gd name="connsiteY18-500" fmla="*/ 321469 h 4108405"/>
                  <a:gd name="connsiteX19-501" fmla="*/ 2290461 w 4228949"/>
                  <a:gd name="connsiteY19-502" fmla="*/ 321469 h 4108405"/>
                  <a:gd name="connsiteX20-503" fmla="*/ 2090436 w 4228949"/>
                  <a:gd name="connsiteY20-504" fmla="*/ 9092 h 4108405"/>
                  <a:gd name="connsiteX21-505" fmla="*/ 2090436 w 4228949"/>
                  <a:gd name="connsiteY21-506" fmla="*/ 321165 h 4108405"/>
                  <a:gd name="connsiteX22-507" fmla="*/ 739525 w 4228949"/>
                  <a:gd name="connsiteY22-508" fmla="*/ 1076860 h 4108405"/>
                  <a:gd name="connsiteX23-509" fmla="*/ 470434 w 4228949"/>
                  <a:gd name="connsiteY23-510" fmla="*/ 917744 h 4108405"/>
                  <a:gd name="connsiteX24-511" fmla="*/ 2090436 w 4228949"/>
                  <a:gd name="connsiteY24-512" fmla="*/ 9092 h 4108405"/>
                  <a:gd name="connsiteX25-513" fmla="*/ 2090436 w 4228949"/>
                  <a:gd name="connsiteY25-514" fmla="*/ 0 h 4108405"/>
                  <a:gd name="connsiteX26-515" fmla="*/ 2176946 w 4228949"/>
                  <a:gd name="connsiteY26-516" fmla="*/ 4724 h 4108405"/>
                  <a:gd name="connsiteX27-517" fmla="*/ 2090436 w 4228949"/>
                  <a:gd name="connsiteY27-518" fmla="*/ 9092 h 4108405"/>
                  <a:gd name="connsiteX28-519" fmla="*/ 2090436 w 4228949"/>
                  <a:gd name="connsiteY28-520" fmla="*/ 0 h 4108405"/>
                  <a:gd name="connsiteX0-521" fmla="*/ 739525 w 4228949"/>
                  <a:gd name="connsiteY0-522" fmla="*/ 1076860 h 4108405"/>
                  <a:gd name="connsiteX1-523" fmla="*/ 742648 w 4228949"/>
                  <a:gd name="connsiteY1-524" fmla="*/ 1078706 h 4108405"/>
                  <a:gd name="connsiteX2-525" fmla="*/ 739525 w 4228949"/>
                  <a:gd name="connsiteY2-526" fmla="*/ 1076860 h 4108405"/>
                  <a:gd name="connsiteX3-527" fmla="*/ 468805 w 4228949"/>
                  <a:gd name="connsiteY3-528" fmla="*/ 916781 h 4108405"/>
                  <a:gd name="connsiteX4-529" fmla="*/ 470434 w 4228949"/>
                  <a:gd name="connsiteY4-530" fmla="*/ 917744 h 4108405"/>
                  <a:gd name="connsiteX5-531" fmla="*/ 468805 w 4228949"/>
                  <a:gd name="connsiteY5-532" fmla="*/ 916781 h 4108405"/>
                  <a:gd name="connsiteX6-533" fmla="*/ 2176945 w 4228949"/>
                  <a:gd name="connsiteY6-534" fmla="*/ 316797 h 4108405"/>
                  <a:gd name="connsiteX7-535" fmla="*/ 2269473 w 4228949"/>
                  <a:gd name="connsiteY7-536" fmla="*/ 321469 h 4108405"/>
                  <a:gd name="connsiteX8-537" fmla="*/ 2090436 w 4228949"/>
                  <a:gd name="connsiteY8-538" fmla="*/ 321469 h 4108405"/>
                  <a:gd name="connsiteX9-539" fmla="*/ 2090436 w 4228949"/>
                  <a:gd name="connsiteY9-540" fmla="*/ 321165 h 4108405"/>
                  <a:gd name="connsiteX10-541" fmla="*/ 2176945 w 4228949"/>
                  <a:gd name="connsiteY10-542" fmla="*/ 316797 h 4108405"/>
                  <a:gd name="connsiteX11-543" fmla="*/ 2290461 w 4228949"/>
                  <a:gd name="connsiteY11-544" fmla="*/ 321469 h 4108405"/>
                  <a:gd name="connsiteX12-545" fmla="*/ 4228786 w 4228949"/>
                  <a:gd name="connsiteY12-546" fmla="*/ 2056565 h 4108405"/>
                  <a:gd name="connsiteX13-547" fmla="*/ 2176946 w 4228949"/>
                  <a:gd name="connsiteY13-548" fmla="*/ 4108405 h 4108405"/>
                  <a:gd name="connsiteX14-549" fmla="*/ 125105 w 4228949"/>
                  <a:gd name="connsiteY14-550" fmla="*/ 2056565 h 4108405"/>
                  <a:gd name="connsiteX15-551" fmla="*/ 437178 w 4228949"/>
                  <a:gd name="connsiteY15-552" fmla="*/ 2056564 h 4108405"/>
                  <a:gd name="connsiteX16-553" fmla="*/ 2176945 w 4228949"/>
                  <a:gd name="connsiteY16-554" fmla="*/ 3796331 h 4108405"/>
                  <a:gd name="connsiteX17-555" fmla="*/ 3916711 w 4228949"/>
                  <a:gd name="connsiteY17-556" fmla="*/ 2056564 h 4108405"/>
                  <a:gd name="connsiteX18-557" fmla="*/ 2269473 w 4228949"/>
                  <a:gd name="connsiteY18-558" fmla="*/ 321469 h 4108405"/>
                  <a:gd name="connsiteX19-559" fmla="*/ 2290461 w 4228949"/>
                  <a:gd name="connsiteY19-560" fmla="*/ 321469 h 4108405"/>
                  <a:gd name="connsiteX20-561" fmla="*/ 2090436 w 4228949"/>
                  <a:gd name="connsiteY20-562" fmla="*/ 9092 h 4108405"/>
                  <a:gd name="connsiteX21-563" fmla="*/ 2090436 w 4228949"/>
                  <a:gd name="connsiteY21-564" fmla="*/ 321165 h 4108405"/>
                  <a:gd name="connsiteX22-565" fmla="*/ 739525 w 4228949"/>
                  <a:gd name="connsiteY22-566" fmla="*/ 1076860 h 4108405"/>
                  <a:gd name="connsiteX23-567" fmla="*/ 470434 w 4228949"/>
                  <a:gd name="connsiteY23-568" fmla="*/ 917744 h 4108405"/>
                  <a:gd name="connsiteX24-569" fmla="*/ 2090436 w 4228949"/>
                  <a:gd name="connsiteY24-570" fmla="*/ 9092 h 4108405"/>
                  <a:gd name="connsiteX25-571" fmla="*/ 2090436 w 4228949"/>
                  <a:gd name="connsiteY25-572" fmla="*/ 0 h 4108405"/>
                  <a:gd name="connsiteX26-573" fmla="*/ 2090436 w 4228949"/>
                  <a:gd name="connsiteY26-574" fmla="*/ 9092 h 4108405"/>
                  <a:gd name="connsiteX27-575" fmla="*/ 2090436 w 4228949"/>
                  <a:gd name="connsiteY27-576" fmla="*/ 0 h 4108405"/>
                  <a:gd name="connsiteX0-577" fmla="*/ 739525 w 4228925"/>
                  <a:gd name="connsiteY0-578" fmla="*/ 1076860 h 4108405"/>
                  <a:gd name="connsiteX1-579" fmla="*/ 742648 w 4228925"/>
                  <a:gd name="connsiteY1-580" fmla="*/ 1078706 h 4108405"/>
                  <a:gd name="connsiteX2-581" fmla="*/ 739525 w 4228925"/>
                  <a:gd name="connsiteY2-582" fmla="*/ 1076860 h 4108405"/>
                  <a:gd name="connsiteX3-583" fmla="*/ 468805 w 4228925"/>
                  <a:gd name="connsiteY3-584" fmla="*/ 916781 h 4108405"/>
                  <a:gd name="connsiteX4-585" fmla="*/ 470434 w 4228925"/>
                  <a:gd name="connsiteY4-586" fmla="*/ 917744 h 4108405"/>
                  <a:gd name="connsiteX5-587" fmla="*/ 468805 w 4228925"/>
                  <a:gd name="connsiteY5-588" fmla="*/ 916781 h 4108405"/>
                  <a:gd name="connsiteX6-589" fmla="*/ 2176945 w 4228925"/>
                  <a:gd name="connsiteY6-590" fmla="*/ 316797 h 4108405"/>
                  <a:gd name="connsiteX7-591" fmla="*/ 2269473 w 4228925"/>
                  <a:gd name="connsiteY7-592" fmla="*/ 321469 h 4108405"/>
                  <a:gd name="connsiteX8-593" fmla="*/ 2090436 w 4228925"/>
                  <a:gd name="connsiteY8-594" fmla="*/ 321469 h 4108405"/>
                  <a:gd name="connsiteX9-595" fmla="*/ 2090436 w 4228925"/>
                  <a:gd name="connsiteY9-596" fmla="*/ 321165 h 4108405"/>
                  <a:gd name="connsiteX10-597" fmla="*/ 2176945 w 4228925"/>
                  <a:gd name="connsiteY10-598" fmla="*/ 316797 h 4108405"/>
                  <a:gd name="connsiteX11-599" fmla="*/ 2290461 w 4228925"/>
                  <a:gd name="connsiteY11-600" fmla="*/ 321469 h 4108405"/>
                  <a:gd name="connsiteX12-601" fmla="*/ 4228786 w 4228925"/>
                  <a:gd name="connsiteY12-602" fmla="*/ 2056565 h 4108405"/>
                  <a:gd name="connsiteX13-603" fmla="*/ 2176946 w 4228925"/>
                  <a:gd name="connsiteY13-604" fmla="*/ 4108405 h 4108405"/>
                  <a:gd name="connsiteX14-605" fmla="*/ 125105 w 4228925"/>
                  <a:gd name="connsiteY14-606" fmla="*/ 2056565 h 4108405"/>
                  <a:gd name="connsiteX15-607" fmla="*/ 437178 w 4228925"/>
                  <a:gd name="connsiteY15-608" fmla="*/ 2056564 h 4108405"/>
                  <a:gd name="connsiteX16-609" fmla="*/ 2176945 w 4228925"/>
                  <a:gd name="connsiteY16-610" fmla="*/ 3796331 h 4108405"/>
                  <a:gd name="connsiteX17-611" fmla="*/ 3916711 w 4228925"/>
                  <a:gd name="connsiteY17-612" fmla="*/ 2056564 h 4108405"/>
                  <a:gd name="connsiteX18-613" fmla="*/ 2290461 w 4228925"/>
                  <a:gd name="connsiteY18-614" fmla="*/ 321469 h 4108405"/>
                  <a:gd name="connsiteX19-615" fmla="*/ 2090436 w 4228925"/>
                  <a:gd name="connsiteY19-616" fmla="*/ 9092 h 4108405"/>
                  <a:gd name="connsiteX20-617" fmla="*/ 2090436 w 4228925"/>
                  <a:gd name="connsiteY20-618" fmla="*/ 321165 h 4108405"/>
                  <a:gd name="connsiteX21-619" fmla="*/ 739525 w 4228925"/>
                  <a:gd name="connsiteY21-620" fmla="*/ 1076860 h 4108405"/>
                  <a:gd name="connsiteX22-621" fmla="*/ 470434 w 4228925"/>
                  <a:gd name="connsiteY22-622" fmla="*/ 917744 h 4108405"/>
                  <a:gd name="connsiteX23-623" fmla="*/ 2090436 w 4228925"/>
                  <a:gd name="connsiteY23-624" fmla="*/ 9092 h 4108405"/>
                  <a:gd name="connsiteX24-625" fmla="*/ 2090436 w 4228925"/>
                  <a:gd name="connsiteY24-626" fmla="*/ 0 h 4108405"/>
                  <a:gd name="connsiteX25-627" fmla="*/ 2090436 w 4228925"/>
                  <a:gd name="connsiteY25-628" fmla="*/ 9092 h 4108405"/>
                  <a:gd name="connsiteX26-629" fmla="*/ 2090436 w 4228925"/>
                  <a:gd name="connsiteY26-630" fmla="*/ 0 h 4108405"/>
                  <a:gd name="connsiteX0-631" fmla="*/ 739525 w 4228925"/>
                  <a:gd name="connsiteY0-632" fmla="*/ 1076860 h 4108405"/>
                  <a:gd name="connsiteX1-633" fmla="*/ 742648 w 4228925"/>
                  <a:gd name="connsiteY1-634" fmla="*/ 1078706 h 4108405"/>
                  <a:gd name="connsiteX2-635" fmla="*/ 739525 w 4228925"/>
                  <a:gd name="connsiteY2-636" fmla="*/ 1076860 h 4108405"/>
                  <a:gd name="connsiteX3-637" fmla="*/ 468805 w 4228925"/>
                  <a:gd name="connsiteY3-638" fmla="*/ 916781 h 4108405"/>
                  <a:gd name="connsiteX4-639" fmla="*/ 470434 w 4228925"/>
                  <a:gd name="connsiteY4-640" fmla="*/ 917744 h 4108405"/>
                  <a:gd name="connsiteX5-641" fmla="*/ 468805 w 4228925"/>
                  <a:gd name="connsiteY5-642" fmla="*/ 916781 h 4108405"/>
                  <a:gd name="connsiteX6-643" fmla="*/ 2176945 w 4228925"/>
                  <a:gd name="connsiteY6-644" fmla="*/ 316797 h 4108405"/>
                  <a:gd name="connsiteX7-645" fmla="*/ 2090436 w 4228925"/>
                  <a:gd name="connsiteY7-646" fmla="*/ 321469 h 4108405"/>
                  <a:gd name="connsiteX8-647" fmla="*/ 2090436 w 4228925"/>
                  <a:gd name="connsiteY8-648" fmla="*/ 321165 h 4108405"/>
                  <a:gd name="connsiteX9-649" fmla="*/ 2176945 w 4228925"/>
                  <a:gd name="connsiteY9-650" fmla="*/ 316797 h 4108405"/>
                  <a:gd name="connsiteX10-651" fmla="*/ 2290461 w 4228925"/>
                  <a:gd name="connsiteY10-652" fmla="*/ 321469 h 4108405"/>
                  <a:gd name="connsiteX11-653" fmla="*/ 4228786 w 4228925"/>
                  <a:gd name="connsiteY11-654" fmla="*/ 2056565 h 4108405"/>
                  <a:gd name="connsiteX12-655" fmla="*/ 2176946 w 4228925"/>
                  <a:gd name="connsiteY12-656" fmla="*/ 4108405 h 4108405"/>
                  <a:gd name="connsiteX13-657" fmla="*/ 125105 w 4228925"/>
                  <a:gd name="connsiteY13-658" fmla="*/ 2056565 h 4108405"/>
                  <a:gd name="connsiteX14-659" fmla="*/ 437178 w 4228925"/>
                  <a:gd name="connsiteY14-660" fmla="*/ 2056564 h 4108405"/>
                  <a:gd name="connsiteX15-661" fmla="*/ 2176945 w 4228925"/>
                  <a:gd name="connsiteY15-662" fmla="*/ 3796331 h 4108405"/>
                  <a:gd name="connsiteX16-663" fmla="*/ 3916711 w 4228925"/>
                  <a:gd name="connsiteY16-664" fmla="*/ 2056564 h 4108405"/>
                  <a:gd name="connsiteX17-665" fmla="*/ 2290461 w 4228925"/>
                  <a:gd name="connsiteY17-666" fmla="*/ 321469 h 4108405"/>
                  <a:gd name="connsiteX18-667" fmla="*/ 2090436 w 4228925"/>
                  <a:gd name="connsiteY18-668" fmla="*/ 9092 h 4108405"/>
                  <a:gd name="connsiteX19-669" fmla="*/ 2090436 w 4228925"/>
                  <a:gd name="connsiteY19-670" fmla="*/ 321165 h 4108405"/>
                  <a:gd name="connsiteX20-671" fmla="*/ 739525 w 4228925"/>
                  <a:gd name="connsiteY20-672" fmla="*/ 1076860 h 4108405"/>
                  <a:gd name="connsiteX21-673" fmla="*/ 470434 w 4228925"/>
                  <a:gd name="connsiteY21-674" fmla="*/ 917744 h 4108405"/>
                  <a:gd name="connsiteX22-675" fmla="*/ 2090436 w 4228925"/>
                  <a:gd name="connsiteY22-676" fmla="*/ 9092 h 4108405"/>
                  <a:gd name="connsiteX23-677" fmla="*/ 2090436 w 4228925"/>
                  <a:gd name="connsiteY23-678" fmla="*/ 0 h 4108405"/>
                  <a:gd name="connsiteX24-679" fmla="*/ 2090436 w 4228925"/>
                  <a:gd name="connsiteY24-680" fmla="*/ 9092 h 4108405"/>
                  <a:gd name="connsiteX25-681" fmla="*/ 2090436 w 4228925"/>
                  <a:gd name="connsiteY25-682" fmla="*/ 0 h 4108405"/>
                  <a:gd name="connsiteX0-683" fmla="*/ 739525 w 4228925"/>
                  <a:gd name="connsiteY0-684" fmla="*/ 1076860 h 4108405"/>
                  <a:gd name="connsiteX1-685" fmla="*/ 742648 w 4228925"/>
                  <a:gd name="connsiteY1-686" fmla="*/ 1078706 h 4108405"/>
                  <a:gd name="connsiteX2-687" fmla="*/ 739525 w 4228925"/>
                  <a:gd name="connsiteY2-688" fmla="*/ 1076860 h 4108405"/>
                  <a:gd name="connsiteX3-689" fmla="*/ 468805 w 4228925"/>
                  <a:gd name="connsiteY3-690" fmla="*/ 916781 h 4108405"/>
                  <a:gd name="connsiteX4-691" fmla="*/ 470434 w 4228925"/>
                  <a:gd name="connsiteY4-692" fmla="*/ 917744 h 4108405"/>
                  <a:gd name="connsiteX5-693" fmla="*/ 468805 w 4228925"/>
                  <a:gd name="connsiteY5-694" fmla="*/ 916781 h 4108405"/>
                  <a:gd name="connsiteX6-695" fmla="*/ 2090436 w 4228925"/>
                  <a:gd name="connsiteY6-696" fmla="*/ 321165 h 4108405"/>
                  <a:gd name="connsiteX7-697" fmla="*/ 2090436 w 4228925"/>
                  <a:gd name="connsiteY7-698" fmla="*/ 321469 h 4108405"/>
                  <a:gd name="connsiteX8-699" fmla="*/ 2090436 w 4228925"/>
                  <a:gd name="connsiteY8-700" fmla="*/ 321165 h 4108405"/>
                  <a:gd name="connsiteX9-701" fmla="*/ 2290461 w 4228925"/>
                  <a:gd name="connsiteY9-702" fmla="*/ 321469 h 4108405"/>
                  <a:gd name="connsiteX10-703" fmla="*/ 4228786 w 4228925"/>
                  <a:gd name="connsiteY10-704" fmla="*/ 2056565 h 4108405"/>
                  <a:gd name="connsiteX11-705" fmla="*/ 2176946 w 4228925"/>
                  <a:gd name="connsiteY11-706" fmla="*/ 4108405 h 4108405"/>
                  <a:gd name="connsiteX12-707" fmla="*/ 125105 w 4228925"/>
                  <a:gd name="connsiteY12-708" fmla="*/ 2056565 h 4108405"/>
                  <a:gd name="connsiteX13-709" fmla="*/ 437178 w 4228925"/>
                  <a:gd name="connsiteY13-710" fmla="*/ 2056564 h 4108405"/>
                  <a:gd name="connsiteX14-711" fmla="*/ 2176945 w 4228925"/>
                  <a:gd name="connsiteY14-712" fmla="*/ 3796331 h 4108405"/>
                  <a:gd name="connsiteX15-713" fmla="*/ 3916711 w 4228925"/>
                  <a:gd name="connsiteY15-714" fmla="*/ 2056564 h 4108405"/>
                  <a:gd name="connsiteX16-715" fmla="*/ 2290461 w 4228925"/>
                  <a:gd name="connsiteY16-716" fmla="*/ 321469 h 4108405"/>
                  <a:gd name="connsiteX17-717" fmla="*/ 2090436 w 4228925"/>
                  <a:gd name="connsiteY17-718" fmla="*/ 9092 h 4108405"/>
                  <a:gd name="connsiteX18-719" fmla="*/ 2090436 w 4228925"/>
                  <a:gd name="connsiteY18-720" fmla="*/ 321165 h 4108405"/>
                  <a:gd name="connsiteX19-721" fmla="*/ 739525 w 4228925"/>
                  <a:gd name="connsiteY19-722" fmla="*/ 1076860 h 4108405"/>
                  <a:gd name="connsiteX20-723" fmla="*/ 470434 w 4228925"/>
                  <a:gd name="connsiteY20-724" fmla="*/ 917744 h 4108405"/>
                  <a:gd name="connsiteX21-725" fmla="*/ 2090436 w 4228925"/>
                  <a:gd name="connsiteY21-726" fmla="*/ 9092 h 4108405"/>
                  <a:gd name="connsiteX22-727" fmla="*/ 2090436 w 4228925"/>
                  <a:gd name="connsiteY22-728" fmla="*/ 0 h 4108405"/>
                  <a:gd name="connsiteX23-729" fmla="*/ 2090436 w 4228925"/>
                  <a:gd name="connsiteY23-730" fmla="*/ 9092 h 4108405"/>
                  <a:gd name="connsiteX24-731" fmla="*/ 2090436 w 4228925"/>
                  <a:gd name="connsiteY24-732" fmla="*/ 0 h 4108405"/>
                  <a:gd name="connsiteX0-733" fmla="*/ 739525 w 4228925"/>
                  <a:gd name="connsiteY0-734" fmla="*/ 1067768 h 4099313"/>
                  <a:gd name="connsiteX1-735" fmla="*/ 742648 w 4228925"/>
                  <a:gd name="connsiteY1-736" fmla="*/ 1069614 h 4099313"/>
                  <a:gd name="connsiteX2-737" fmla="*/ 739525 w 4228925"/>
                  <a:gd name="connsiteY2-738" fmla="*/ 1067768 h 4099313"/>
                  <a:gd name="connsiteX3-739" fmla="*/ 468805 w 4228925"/>
                  <a:gd name="connsiteY3-740" fmla="*/ 907689 h 4099313"/>
                  <a:gd name="connsiteX4-741" fmla="*/ 470434 w 4228925"/>
                  <a:gd name="connsiteY4-742" fmla="*/ 908652 h 4099313"/>
                  <a:gd name="connsiteX5-743" fmla="*/ 468805 w 4228925"/>
                  <a:gd name="connsiteY5-744" fmla="*/ 907689 h 4099313"/>
                  <a:gd name="connsiteX6-745" fmla="*/ 2090436 w 4228925"/>
                  <a:gd name="connsiteY6-746" fmla="*/ 312073 h 4099313"/>
                  <a:gd name="connsiteX7-747" fmla="*/ 2090436 w 4228925"/>
                  <a:gd name="connsiteY7-748" fmla="*/ 312377 h 4099313"/>
                  <a:gd name="connsiteX8-749" fmla="*/ 2090436 w 4228925"/>
                  <a:gd name="connsiteY8-750" fmla="*/ 312073 h 4099313"/>
                  <a:gd name="connsiteX9-751" fmla="*/ 2290461 w 4228925"/>
                  <a:gd name="connsiteY9-752" fmla="*/ 312377 h 4099313"/>
                  <a:gd name="connsiteX10-753" fmla="*/ 4228786 w 4228925"/>
                  <a:gd name="connsiteY10-754" fmla="*/ 2047473 h 4099313"/>
                  <a:gd name="connsiteX11-755" fmla="*/ 2176946 w 4228925"/>
                  <a:gd name="connsiteY11-756" fmla="*/ 4099313 h 4099313"/>
                  <a:gd name="connsiteX12-757" fmla="*/ 125105 w 4228925"/>
                  <a:gd name="connsiteY12-758" fmla="*/ 2047473 h 4099313"/>
                  <a:gd name="connsiteX13-759" fmla="*/ 437178 w 4228925"/>
                  <a:gd name="connsiteY13-760" fmla="*/ 2047472 h 4099313"/>
                  <a:gd name="connsiteX14-761" fmla="*/ 2176945 w 4228925"/>
                  <a:gd name="connsiteY14-762" fmla="*/ 3787239 h 4099313"/>
                  <a:gd name="connsiteX15-763" fmla="*/ 3916711 w 4228925"/>
                  <a:gd name="connsiteY15-764" fmla="*/ 2047472 h 4099313"/>
                  <a:gd name="connsiteX16-765" fmla="*/ 2290461 w 4228925"/>
                  <a:gd name="connsiteY16-766" fmla="*/ 312377 h 4099313"/>
                  <a:gd name="connsiteX17-767" fmla="*/ 2090436 w 4228925"/>
                  <a:gd name="connsiteY17-768" fmla="*/ 0 h 4099313"/>
                  <a:gd name="connsiteX18-769" fmla="*/ 2090436 w 4228925"/>
                  <a:gd name="connsiteY18-770" fmla="*/ 312073 h 4099313"/>
                  <a:gd name="connsiteX19-771" fmla="*/ 739525 w 4228925"/>
                  <a:gd name="connsiteY19-772" fmla="*/ 1067768 h 4099313"/>
                  <a:gd name="connsiteX20-773" fmla="*/ 470434 w 4228925"/>
                  <a:gd name="connsiteY20-774" fmla="*/ 908652 h 4099313"/>
                  <a:gd name="connsiteX21-775" fmla="*/ 2090436 w 4228925"/>
                  <a:gd name="connsiteY21-776" fmla="*/ 0 h 4099313"/>
                  <a:gd name="connsiteX0-777" fmla="*/ 739525 w 4353891"/>
                  <a:gd name="connsiteY0-778" fmla="*/ 1067768 h 4099313"/>
                  <a:gd name="connsiteX1-779" fmla="*/ 742648 w 4353891"/>
                  <a:gd name="connsiteY1-780" fmla="*/ 1069614 h 4099313"/>
                  <a:gd name="connsiteX2-781" fmla="*/ 739525 w 4353891"/>
                  <a:gd name="connsiteY2-782" fmla="*/ 1067768 h 4099313"/>
                  <a:gd name="connsiteX3-783" fmla="*/ 468805 w 4353891"/>
                  <a:gd name="connsiteY3-784" fmla="*/ 907689 h 4099313"/>
                  <a:gd name="connsiteX4-785" fmla="*/ 470434 w 4353891"/>
                  <a:gd name="connsiteY4-786" fmla="*/ 908652 h 4099313"/>
                  <a:gd name="connsiteX5-787" fmla="*/ 468805 w 4353891"/>
                  <a:gd name="connsiteY5-788" fmla="*/ 907689 h 4099313"/>
                  <a:gd name="connsiteX6-789" fmla="*/ 2090436 w 4353891"/>
                  <a:gd name="connsiteY6-790" fmla="*/ 312073 h 4099313"/>
                  <a:gd name="connsiteX7-791" fmla="*/ 2090436 w 4353891"/>
                  <a:gd name="connsiteY7-792" fmla="*/ 312377 h 4099313"/>
                  <a:gd name="connsiteX8-793" fmla="*/ 2090436 w 4353891"/>
                  <a:gd name="connsiteY8-794" fmla="*/ 312073 h 4099313"/>
                  <a:gd name="connsiteX9-795" fmla="*/ 3916711 w 4353891"/>
                  <a:gd name="connsiteY9-796" fmla="*/ 2047472 h 4099313"/>
                  <a:gd name="connsiteX10-797" fmla="*/ 4228786 w 4353891"/>
                  <a:gd name="connsiteY10-798" fmla="*/ 2047473 h 4099313"/>
                  <a:gd name="connsiteX11-799" fmla="*/ 2176946 w 4353891"/>
                  <a:gd name="connsiteY11-800" fmla="*/ 4099313 h 4099313"/>
                  <a:gd name="connsiteX12-801" fmla="*/ 125105 w 4353891"/>
                  <a:gd name="connsiteY12-802" fmla="*/ 2047473 h 4099313"/>
                  <a:gd name="connsiteX13-803" fmla="*/ 437178 w 4353891"/>
                  <a:gd name="connsiteY13-804" fmla="*/ 2047472 h 4099313"/>
                  <a:gd name="connsiteX14-805" fmla="*/ 2176945 w 4353891"/>
                  <a:gd name="connsiteY14-806" fmla="*/ 3787239 h 4099313"/>
                  <a:gd name="connsiteX15-807" fmla="*/ 3916711 w 4353891"/>
                  <a:gd name="connsiteY15-808" fmla="*/ 2047472 h 4099313"/>
                  <a:gd name="connsiteX16-809" fmla="*/ 2090436 w 4353891"/>
                  <a:gd name="connsiteY16-810" fmla="*/ 0 h 4099313"/>
                  <a:gd name="connsiteX17-811" fmla="*/ 2090436 w 4353891"/>
                  <a:gd name="connsiteY17-812" fmla="*/ 312073 h 4099313"/>
                  <a:gd name="connsiteX18-813" fmla="*/ 739525 w 4353891"/>
                  <a:gd name="connsiteY18-814" fmla="*/ 1067768 h 4099313"/>
                  <a:gd name="connsiteX19-815" fmla="*/ 470434 w 4353891"/>
                  <a:gd name="connsiteY19-816" fmla="*/ 908652 h 4099313"/>
                  <a:gd name="connsiteX20-817" fmla="*/ 2090436 w 4353891"/>
                  <a:gd name="connsiteY20-818" fmla="*/ 0 h 4099313"/>
                  <a:gd name="connsiteX0-819" fmla="*/ 614420 w 4228786"/>
                  <a:gd name="connsiteY0-820" fmla="*/ 1067768 h 4099313"/>
                  <a:gd name="connsiteX1-821" fmla="*/ 617543 w 4228786"/>
                  <a:gd name="connsiteY1-822" fmla="*/ 1069614 h 4099313"/>
                  <a:gd name="connsiteX2-823" fmla="*/ 614420 w 4228786"/>
                  <a:gd name="connsiteY2-824" fmla="*/ 1067768 h 4099313"/>
                  <a:gd name="connsiteX3-825" fmla="*/ 343700 w 4228786"/>
                  <a:gd name="connsiteY3-826" fmla="*/ 907689 h 4099313"/>
                  <a:gd name="connsiteX4-827" fmla="*/ 345329 w 4228786"/>
                  <a:gd name="connsiteY4-828" fmla="*/ 908652 h 4099313"/>
                  <a:gd name="connsiteX5-829" fmla="*/ 343700 w 4228786"/>
                  <a:gd name="connsiteY5-830" fmla="*/ 907689 h 4099313"/>
                  <a:gd name="connsiteX6-831" fmla="*/ 1965331 w 4228786"/>
                  <a:gd name="connsiteY6-832" fmla="*/ 312073 h 4099313"/>
                  <a:gd name="connsiteX7-833" fmla="*/ 1965331 w 4228786"/>
                  <a:gd name="connsiteY7-834" fmla="*/ 312377 h 4099313"/>
                  <a:gd name="connsiteX8-835" fmla="*/ 1965331 w 4228786"/>
                  <a:gd name="connsiteY8-836" fmla="*/ 312073 h 4099313"/>
                  <a:gd name="connsiteX9-837" fmla="*/ 3791606 w 4228786"/>
                  <a:gd name="connsiteY9-838" fmla="*/ 2047472 h 4099313"/>
                  <a:gd name="connsiteX10-839" fmla="*/ 4103681 w 4228786"/>
                  <a:gd name="connsiteY10-840" fmla="*/ 2047473 h 4099313"/>
                  <a:gd name="connsiteX11-841" fmla="*/ 2051841 w 4228786"/>
                  <a:gd name="connsiteY11-842" fmla="*/ 4099313 h 4099313"/>
                  <a:gd name="connsiteX12-843" fmla="*/ 0 w 4228786"/>
                  <a:gd name="connsiteY12-844" fmla="*/ 2047473 h 4099313"/>
                  <a:gd name="connsiteX13-845" fmla="*/ 2051840 w 4228786"/>
                  <a:gd name="connsiteY13-846" fmla="*/ 3787239 h 4099313"/>
                  <a:gd name="connsiteX14-847" fmla="*/ 3791606 w 4228786"/>
                  <a:gd name="connsiteY14-848" fmla="*/ 2047472 h 4099313"/>
                  <a:gd name="connsiteX15-849" fmla="*/ 1965331 w 4228786"/>
                  <a:gd name="connsiteY15-850" fmla="*/ 0 h 4099313"/>
                  <a:gd name="connsiteX16-851" fmla="*/ 1965331 w 4228786"/>
                  <a:gd name="connsiteY16-852" fmla="*/ 312073 h 4099313"/>
                  <a:gd name="connsiteX17-853" fmla="*/ 614420 w 4228786"/>
                  <a:gd name="connsiteY17-854" fmla="*/ 1067768 h 4099313"/>
                  <a:gd name="connsiteX18-855" fmla="*/ 345329 w 4228786"/>
                  <a:gd name="connsiteY18-856" fmla="*/ 908652 h 4099313"/>
                  <a:gd name="connsiteX19-857" fmla="*/ 1965331 w 4228786"/>
                  <a:gd name="connsiteY19-858" fmla="*/ 0 h 4099313"/>
                  <a:gd name="connsiteX0-859" fmla="*/ 270720 w 3885086"/>
                  <a:gd name="connsiteY0-860" fmla="*/ 1067768 h 4224418"/>
                  <a:gd name="connsiteX1-861" fmla="*/ 273843 w 3885086"/>
                  <a:gd name="connsiteY1-862" fmla="*/ 1069614 h 4224418"/>
                  <a:gd name="connsiteX2-863" fmla="*/ 270720 w 3885086"/>
                  <a:gd name="connsiteY2-864" fmla="*/ 1067768 h 4224418"/>
                  <a:gd name="connsiteX3-865" fmla="*/ 0 w 3885086"/>
                  <a:gd name="connsiteY3-866" fmla="*/ 907689 h 4224418"/>
                  <a:gd name="connsiteX4-867" fmla="*/ 1629 w 3885086"/>
                  <a:gd name="connsiteY4-868" fmla="*/ 908652 h 4224418"/>
                  <a:gd name="connsiteX5-869" fmla="*/ 0 w 3885086"/>
                  <a:gd name="connsiteY5-870" fmla="*/ 907689 h 4224418"/>
                  <a:gd name="connsiteX6-871" fmla="*/ 1621631 w 3885086"/>
                  <a:gd name="connsiteY6-872" fmla="*/ 312073 h 4224418"/>
                  <a:gd name="connsiteX7-873" fmla="*/ 1621631 w 3885086"/>
                  <a:gd name="connsiteY7-874" fmla="*/ 312377 h 4224418"/>
                  <a:gd name="connsiteX8-875" fmla="*/ 1621631 w 3885086"/>
                  <a:gd name="connsiteY8-876" fmla="*/ 312073 h 4224418"/>
                  <a:gd name="connsiteX9-877" fmla="*/ 3447906 w 3885086"/>
                  <a:gd name="connsiteY9-878" fmla="*/ 2047472 h 4224418"/>
                  <a:gd name="connsiteX10-879" fmla="*/ 3759981 w 3885086"/>
                  <a:gd name="connsiteY10-880" fmla="*/ 2047473 h 4224418"/>
                  <a:gd name="connsiteX11-881" fmla="*/ 1708141 w 3885086"/>
                  <a:gd name="connsiteY11-882" fmla="*/ 4099313 h 4224418"/>
                  <a:gd name="connsiteX12-883" fmla="*/ 1708140 w 3885086"/>
                  <a:gd name="connsiteY12-884" fmla="*/ 3787239 h 4224418"/>
                  <a:gd name="connsiteX13-885" fmla="*/ 3447906 w 3885086"/>
                  <a:gd name="connsiteY13-886" fmla="*/ 2047472 h 4224418"/>
                  <a:gd name="connsiteX14-887" fmla="*/ 1621631 w 3885086"/>
                  <a:gd name="connsiteY14-888" fmla="*/ 0 h 4224418"/>
                  <a:gd name="connsiteX15-889" fmla="*/ 1621631 w 3885086"/>
                  <a:gd name="connsiteY15-890" fmla="*/ 312073 h 4224418"/>
                  <a:gd name="connsiteX16-891" fmla="*/ 270720 w 3885086"/>
                  <a:gd name="connsiteY16-892" fmla="*/ 1067768 h 4224418"/>
                  <a:gd name="connsiteX17-893" fmla="*/ 1629 w 3885086"/>
                  <a:gd name="connsiteY17-894" fmla="*/ 908652 h 4224418"/>
                  <a:gd name="connsiteX18-895" fmla="*/ 1621631 w 3885086"/>
                  <a:gd name="connsiteY18-896" fmla="*/ 0 h 4224418"/>
                  <a:gd name="connsiteX0-897" fmla="*/ 270720 w 3885086"/>
                  <a:gd name="connsiteY0-898" fmla="*/ 1067768 h 4099313"/>
                  <a:gd name="connsiteX1-899" fmla="*/ 273843 w 3885086"/>
                  <a:gd name="connsiteY1-900" fmla="*/ 1069614 h 4099313"/>
                  <a:gd name="connsiteX2-901" fmla="*/ 270720 w 3885086"/>
                  <a:gd name="connsiteY2-902" fmla="*/ 1067768 h 4099313"/>
                  <a:gd name="connsiteX3-903" fmla="*/ 0 w 3885086"/>
                  <a:gd name="connsiteY3-904" fmla="*/ 907689 h 4099313"/>
                  <a:gd name="connsiteX4-905" fmla="*/ 1629 w 3885086"/>
                  <a:gd name="connsiteY4-906" fmla="*/ 908652 h 4099313"/>
                  <a:gd name="connsiteX5-907" fmla="*/ 0 w 3885086"/>
                  <a:gd name="connsiteY5-908" fmla="*/ 907689 h 4099313"/>
                  <a:gd name="connsiteX6-909" fmla="*/ 1621631 w 3885086"/>
                  <a:gd name="connsiteY6-910" fmla="*/ 312073 h 4099313"/>
                  <a:gd name="connsiteX7-911" fmla="*/ 1621631 w 3885086"/>
                  <a:gd name="connsiteY7-912" fmla="*/ 312377 h 4099313"/>
                  <a:gd name="connsiteX8-913" fmla="*/ 1621631 w 3885086"/>
                  <a:gd name="connsiteY8-914" fmla="*/ 312073 h 4099313"/>
                  <a:gd name="connsiteX9-915" fmla="*/ 3447906 w 3885086"/>
                  <a:gd name="connsiteY9-916" fmla="*/ 2047472 h 4099313"/>
                  <a:gd name="connsiteX10-917" fmla="*/ 3759981 w 3885086"/>
                  <a:gd name="connsiteY10-918" fmla="*/ 2047473 h 4099313"/>
                  <a:gd name="connsiteX11-919" fmla="*/ 1708141 w 3885086"/>
                  <a:gd name="connsiteY11-920" fmla="*/ 4099313 h 4099313"/>
                  <a:gd name="connsiteX12-921" fmla="*/ 3447906 w 3885086"/>
                  <a:gd name="connsiteY12-922" fmla="*/ 2047472 h 4099313"/>
                  <a:gd name="connsiteX13-923" fmla="*/ 1621631 w 3885086"/>
                  <a:gd name="connsiteY13-924" fmla="*/ 0 h 4099313"/>
                  <a:gd name="connsiteX14-925" fmla="*/ 1621631 w 3885086"/>
                  <a:gd name="connsiteY14-926" fmla="*/ 312073 h 4099313"/>
                  <a:gd name="connsiteX15-927" fmla="*/ 270720 w 3885086"/>
                  <a:gd name="connsiteY15-928" fmla="*/ 1067768 h 4099313"/>
                  <a:gd name="connsiteX16-929" fmla="*/ 1629 w 3885086"/>
                  <a:gd name="connsiteY16-930" fmla="*/ 908652 h 4099313"/>
                  <a:gd name="connsiteX17-931" fmla="*/ 1621631 w 3885086"/>
                  <a:gd name="connsiteY17-932" fmla="*/ 0 h 4099313"/>
                  <a:gd name="connsiteX0-933" fmla="*/ 270720 w 3760643"/>
                  <a:gd name="connsiteY0-934" fmla="*/ 1067768 h 2047473"/>
                  <a:gd name="connsiteX1-935" fmla="*/ 273843 w 3760643"/>
                  <a:gd name="connsiteY1-936" fmla="*/ 1069614 h 2047473"/>
                  <a:gd name="connsiteX2-937" fmla="*/ 270720 w 3760643"/>
                  <a:gd name="connsiteY2-938" fmla="*/ 1067768 h 2047473"/>
                  <a:gd name="connsiteX3-939" fmla="*/ 0 w 3760643"/>
                  <a:gd name="connsiteY3-940" fmla="*/ 907689 h 2047473"/>
                  <a:gd name="connsiteX4-941" fmla="*/ 1629 w 3760643"/>
                  <a:gd name="connsiteY4-942" fmla="*/ 908652 h 2047473"/>
                  <a:gd name="connsiteX5-943" fmla="*/ 0 w 3760643"/>
                  <a:gd name="connsiteY5-944" fmla="*/ 907689 h 2047473"/>
                  <a:gd name="connsiteX6-945" fmla="*/ 1621631 w 3760643"/>
                  <a:gd name="connsiteY6-946" fmla="*/ 312073 h 2047473"/>
                  <a:gd name="connsiteX7-947" fmla="*/ 1621631 w 3760643"/>
                  <a:gd name="connsiteY7-948" fmla="*/ 312377 h 2047473"/>
                  <a:gd name="connsiteX8-949" fmla="*/ 1621631 w 3760643"/>
                  <a:gd name="connsiteY8-950" fmla="*/ 312073 h 2047473"/>
                  <a:gd name="connsiteX9-951" fmla="*/ 3447906 w 3760643"/>
                  <a:gd name="connsiteY9-952" fmla="*/ 2047472 h 2047473"/>
                  <a:gd name="connsiteX10-953" fmla="*/ 3759981 w 3760643"/>
                  <a:gd name="connsiteY10-954" fmla="*/ 2047473 h 2047473"/>
                  <a:gd name="connsiteX11-955" fmla="*/ 3447906 w 3760643"/>
                  <a:gd name="connsiteY11-956" fmla="*/ 2047472 h 2047473"/>
                  <a:gd name="connsiteX12-957" fmla="*/ 1621631 w 3760643"/>
                  <a:gd name="connsiteY12-958" fmla="*/ 0 h 2047473"/>
                  <a:gd name="connsiteX13-959" fmla="*/ 1621631 w 3760643"/>
                  <a:gd name="connsiteY13-960" fmla="*/ 312073 h 2047473"/>
                  <a:gd name="connsiteX14-961" fmla="*/ 270720 w 3760643"/>
                  <a:gd name="connsiteY14-962" fmla="*/ 1067768 h 2047473"/>
                  <a:gd name="connsiteX15-963" fmla="*/ 1629 w 3760643"/>
                  <a:gd name="connsiteY15-964" fmla="*/ 908652 h 2047473"/>
                  <a:gd name="connsiteX16-965" fmla="*/ 1621631 w 3760643"/>
                  <a:gd name="connsiteY16-966" fmla="*/ 0 h 2047473"/>
                  <a:gd name="connsiteX0-967" fmla="*/ 270720 w 1621631"/>
                  <a:gd name="connsiteY0-968" fmla="*/ 1067768 h 1069614"/>
                  <a:gd name="connsiteX1-969" fmla="*/ 273843 w 1621631"/>
                  <a:gd name="connsiteY1-970" fmla="*/ 1069614 h 1069614"/>
                  <a:gd name="connsiteX2-971" fmla="*/ 270720 w 1621631"/>
                  <a:gd name="connsiteY2-972" fmla="*/ 1067768 h 1069614"/>
                  <a:gd name="connsiteX3-973" fmla="*/ 0 w 1621631"/>
                  <a:gd name="connsiteY3-974" fmla="*/ 907689 h 1069614"/>
                  <a:gd name="connsiteX4-975" fmla="*/ 1629 w 1621631"/>
                  <a:gd name="connsiteY4-976" fmla="*/ 908652 h 1069614"/>
                  <a:gd name="connsiteX5-977" fmla="*/ 0 w 1621631"/>
                  <a:gd name="connsiteY5-978" fmla="*/ 907689 h 1069614"/>
                  <a:gd name="connsiteX6-979" fmla="*/ 1621631 w 1621631"/>
                  <a:gd name="connsiteY6-980" fmla="*/ 312073 h 1069614"/>
                  <a:gd name="connsiteX7-981" fmla="*/ 1621631 w 1621631"/>
                  <a:gd name="connsiteY7-982" fmla="*/ 312377 h 1069614"/>
                  <a:gd name="connsiteX8-983" fmla="*/ 1621631 w 1621631"/>
                  <a:gd name="connsiteY8-984" fmla="*/ 312073 h 1069614"/>
                  <a:gd name="connsiteX9-985" fmla="*/ 1621631 w 1621631"/>
                  <a:gd name="connsiteY9-986" fmla="*/ 0 h 1069614"/>
                  <a:gd name="connsiteX10-987" fmla="*/ 1621631 w 1621631"/>
                  <a:gd name="connsiteY10-988" fmla="*/ 312073 h 1069614"/>
                  <a:gd name="connsiteX11-989" fmla="*/ 270720 w 1621631"/>
                  <a:gd name="connsiteY11-990" fmla="*/ 1067768 h 1069614"/>
                  <a:gd name="connsiteX12-991" fmla="*/ 1629 w 1621631"/>
                  <a:gd name="connsiteY12-992" fmla="*/ 908652 h 1069614"/>
                  <a:gd name="connsiteX13-993" fmla="*/ 1621631 w 1621631"/>
                  <a:gd name="connsiteY13-994" fmla="*/ 0 h 1069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621631" h="1069614">
                    <a:moveTo>
                      <a:pt x="270720" y="1067768"/>
                    </a:moveTo>
                    <a:lnTo>
                      <a:pt x="273843" y="1069614"/>
                    </a:lnTo>
                    <a:lnTo>
                      <a:pt x="270720" y="1067768"/>
                    </a:lnTo>
                    <a:close/>
                    <a:moveTo>
                      <a:pt x="0" y="907689"/>
                    </a:moveTo>
                    <a:lnTo>
                      <a:pt x="1629" y="908652"/>
                    </a:lnTo>
                    <a:lnTo>
                      <a:pt x="0" y="907689"/>
                    </a:lnTo>
                    <a:close/>
                    <a:moveTo>
                      <a:pt x="1621631" y="312073"/>
                    </a:moveTo>
                    <a:lnTo>
                      <a:pt x="1621631" y="312377"/>
                    </a:lnTo>
                    <a:lnTo>
                      <a:pt x="1621631" y="312073"/>
                    </a:lnTo>
                    <a:close/>
                    <a:moveTo>
                      <a:pt x="1621631" y="0"/>
                    </a:moveTo>
                    <a:lnTo>
                      <a:pt x="1621631" y="312073"/>
                    </a:lnTo>
                    <a:cubicBezTo>
                      <a:pt x="1059988" y="337356"/>
                      <a:pt x="568425" y="631117"/>
                      <a:pt x="270720" y="1067768"/>
                    </a:cubicBezTo>
                    <a:lnTo>
                      <a:pt x="1629" y="908652"/>
                    </a:lnTo>
                    <a:cubicBezTo>
                      <a:pt x="354259" y="380480"/>
                      <a:pt x="945677" y="25494"/>
                      <a:pt x="162163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9935" tIns="34967" rIns="34967" bIns="69935" numCol="1" spcCol="0" rtlCol="0" fromWordArt="0" anchor="b" anchorCtr="0" forceAA="0" compatLnSpc="1">
                <a:noAutofit/>
              </a:bodyPr>
              <a:lstStyle/>
              <a:p>
                <a:pPr algn="ctr" defTabSz="698500" fontAlgn="base">
                  <a:spcBef>
                    <a:spcPct val="0"/>
                  </a:spcBef>
                  <a:spcAft>
                    <a:spcPct val="0"/>
                  </a:spcAft>
                </a:pPr>
                <a:endParaRPr lang="en-US" sz="1350" b="1" spc="-38" dirty="0">
                  <a:solidFill>
                    <a:schemeClr val="accent1"/>
                  </a:solidFill>
                  <a:latin typeface="微软雅黑" panose="020B0503020204020204" pitchFamily="34" charset="-122"/>
                  <a:ea typeface="微软雅黑" panose="020B0503020204020204" pitchFamily="34" charset="-122"/>
                  <a:cs typeface="Segoe UI" panose="020B0502040204020203" pitchFamily="34" charset="0"/>
                </a:endParaRPr>
              </a:p>
            </p:txBody>
          </p:sp>
        </p:grpSp>
      </p:grpSp>
      <p:sp>
        <p:nvSpPr>
          <p:cNvPr id="200" name="文本框 199"/>
          <p:cNvSpPr txBox="1"/>
          <p:nvPr/>
        </p:nvSpPr>
        <p:spPr>
          <a:xfrm>
            <a:off x="4942376" y="1495251"/>
            <a:ext cx="2321560"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向量中心法</a:t>
            </a:r>
          </a:p>
        </p:txBody>
      </p:sp>
      <p:sp>
        <p:nvSpPr>
          <p:cNvPr id="201" name="文本框 200"/>
          <p:cNvSpPr txBox="1"/>
          <p:nvPr/>
        </p:nvSpPr>
        <p:spPr>
          <a:xfrm>
            <a:off x="4935101" y="2250266"/>
            <a:ext cx="2486025"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相关反馈法</a:t>
            </a:r>
          </a:p>
        </p:txBody>
      </p:sp>
      <p:sp>
        <p:nvSpPr>
          <p:cNvPr id="202" name="文本框 201"/>
          <p:cNvSpPr txBox="1"/>
          <p:nvPr/>
        </p:nvSpPr>
        <p:spPr>
          <a:xfrm>
            <a:off x="4942376" y="2975436"/>
            <a:ext cx="1819275" cy="461665"/>
          </a:xfrm>
          <a:prstGeom prst="rect">
            <a:avLst/>
          </a:prstGeom>
          <a:noFill/>
          <a:ln w="9525">
            <a:noFill/>
          </a:ln>
        </p:spPr>
        <p:txBody>
          <a:bodyPr wrap="square">
            <a:spAutoFit/>
          </a:bodyPr>
          <a:lstStyle/>
          <a:p>
            <a:pPr marL="0" indent="0" algn="l"/>
            <a:r>
              <a:rPr lang="en-US" altLang="zh-CN" sz="2400">
                <a:solidFill>
                  <a:srgbClr val="44546A"/>
                </a:solidFill>
                <a:latin typeface="微软雅黑" panose="020B0503020204020204" pitchFamily="34" charset="-122"/>
                <a:ea typeface="微软雅黑" panose="020B0503020204020204" pitchFamily="34" charset="-122"/>
              </a:rPr>
              <a:t>K</a:t>
            </a:r>
            <a:r>
              <a:rPr lang="zh-CN" altLang="en-US" sz="2400">
                <a:solidFill>
                  <a:srgbClr val="44546A"/>
                </a:solidFill>
                <a:latin typeface="微软雅黑" panose="020B0503020204020204" pitchFamily="34" charset="-122"/>
                <a:ea typeface="微软雅黑" panose="020B0503020204020204" pitchFamily="34" charset="-122"/>
              </a:rPr>
              <a:t>近邻法</a:t>
            </a:r>
          </a:p>
        </p:txBody>
      </p:sp>
      <p:sp>
        <p:nvSpPr>
          <p:cNvPr id="203" name="文本框 202"/>
          <p:cNvSpPr txBox="1"/>
          <p:nvPr/>
        </p:nvSpPr>
        <p:spPr>
          <a:xfrm>
            <a:off x="4942376" y="3707591"/>
            <a:ext cx="1819275"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贝叶斯法</a:t>
            </a:r>
          </a:p>
        </p:txBody>
      </p:sp>
      <p:sp>
        <p:nvSpPr>
          <p:cNvPr id="204" name="文本框 203"/>
          <p:cNvSpPr txBox="1"/>
          <p:nvPr/>
        </p:nvSpPr>
        <p:spPr>
          <a:xfrm>
            <a:off x="4942376" y="4407477"/>
            <a:ext cx="2444115"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多元回归模型</a:t>
            </a:r>
          </a:p>
        </p:txBody>
      </p:sp>
      <p:sp>
        <p:nvSpPr>
          <p:cNvPr id="205" name="文本框 204"/>
          <p:cNvSpPr txBox="1"/>
          <p:nvPr/>
        </p:nvSpPr>
        <p:spPr>
          <a:xfrm>
            <a:off x="4928406" y="5118561"/>
            <a:ext cx="2108200"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支持向量机</a:t>
            </a:r>
          </a:p>
        </p:txBody>
      </p:sp>
      <p:sp>
        <p:nvSpPr>
          <p:cNvPr id="206" name="文本框 205"/>
          <p:cNvSpPr txBox="1"/>
          <p:nvPr/>
        </p:nvSpPr>
        <p:spPr>
          <a:xfrm>
            <a:off x="4942376" y="5858971"/>
            <a:ext cx="1819275" cy="461665"/>
          </a:xfrm>
          <a:prstGeom prst="rect">
            <a:avLst/>
          </a:prstGeom>
          <a:noFill/>
          <a:ln w="9525">
            <a:noFill/>
          </a:ln>
        </p:spPr>
        <p:txBody>
          <a:bodyPr wrap="square">
            <a:spAutoFit/>
          </a:bodyPr>
          <a:lstStyle/>
          <a:p>
            <a:pPr marL="0" indent="0" algn="l"/>
            <a:r>
              <a:rPr lang="zh-CN" altLang="en-US" sz="2400" dirty="0">
                <a:solidFill>
                  <a:srgbClr val="44546A"/>
                </a:solidFill>
                <a:latin typeface="微软雅黑" panose="020B0503020204020204" pitchFamily="34" charset="-122"/>
                <a:ea typeface="微软雅黑" panose="020B0503020204020204" pitchFamily="34" charset="-122"/>
              </a:rPr>
              <a:t>概率模型</a:t>
            </a:r>
          </a:p>
        </p:txBody>
      </p:sp>
      <p:sp>
        <p:nvSpPr>
          <p:cNvPr id="207" name="右箭头 206"/>
          <p:cNvSpPr/>
          <p:nvPr/>
        </p:nvSpPr>
        <p:spPr>
          <a:xfrm>
            <a:off x="7139250" y="1634087"/>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右箭头 207"/>
          <p:cNvSpPr/>
          <p:nvPr/>
        </p:nvSpPr>
        <p:spPr>
          <a:xfrm>
            <a:off x="7139250" y="2387197"/>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右箭头 208"/>
          <p:cNvSpPr/>
          <p:nvPr/>
        </p:nvSpPr>
        <p:spPr>
          <a:xfrm>
            <a:off x="7139250" y="3154912"/>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右箭头 209"/>
          <p:cNvSpPr/>
          <p:nvPr/>
        </p:nvSpPr>
        <p:spPr>
          <a:xfrm>
            <a:off x="7139250" y="3844522"/>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右箭头 210"/>
          <p:cNvSpPr/>
          <p:nvPr/>
        </p:nvSpPr>
        <p:spPr>
          <a:xfrm>
            <a:off x="7139250" y="4560167"/>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右箭头 211"/>
          <p:cNvSpPr/>
          <p:nvPr/>
        </p:nvSpPr>
        <p:spPr>
          <a:xfrm>
            <a:off x="7139250" y="5286375"/>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右箭头 212"/>
          <p:cNvSpPr/>
          <p:nvPr/>
        </p:nvSpPr>
        <p:spPr>
          <a:xfrm>
            <a:off x="7139250" y="6009237"/>
            <a:ext cx="1028700" cy="146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a:off x="8285480" y="1484459"/>
            <a:ext cx="3418205" cy="4178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简单实用，应用广泛</a:t>
            </a:r>
          </a:p>
        </p:txBody>
      </p:sp>
      <p:sp>
        <p:nvSpPr>
          <p:cNvPr id="215" name="文本框 214"/>
          <p:cNvSpPr txBox="1"/>
          <p:nvPr/>
        </p:nvSpPr>
        <p:spPr>
          <a:xfrm>
            <a:off x="8285480" y="2262795"/>
            <a:ext cx="3874770" cy="4178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实现较易，受训练集合影响较大</a:t>
            </a:r>
          </a:p>
        </p:txBody>
      </p:sp>
      <p:sp>
        <p:nvSpPr>
          <p:cNvPr id="216" name="文本框 215"/>
          <p:cNvSpPr txBox="1"/>
          <p:nvPr/>
        </p:nvSpPr>
        <p:spPr>
          <a:xfrm>
            <a:off x="8285480" y="3020060"/>
            <a:ext cx="3418205" cy="40011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原理简单，需要确定 </a:t>
            </a:r>
            <a:r>
              <a:rPr lang="en-US" altLang="zh-CN" sz="2000" dirty="0">
                <a:solidFill>
                  <a:srgbClr val="44546A"/>
                </a:solidFill>
                <a:latin typeface="微软雅黑" panose="020B0503020204020204" pitchFamily="34" charset="-122"/>
                <a:ea typeface="微软雅黑" panose="020B0503020204020204" pitchFamily="34" charset="-122"/>
              </a:rPr>
              <a:t>k </a:t>
            </a:r>
            <a:r>
              <a:rPr lang="zh-CN" altLang="en-US" sz="2000" dirty="0">
                <a:solidFill>
                  <a:srgbClr val="44546A"/>
                </a:solidFill>
                <a:latin typeface="微软雅黑" panose="020B0503020204020204" pitchFamily="34" charset="-122"/>
                <a:ea typeface="微软雅黑" panose="020B0503020204020204" pitchFamily="34" charset="-122"/>
              </a:rPr>
              <a:t>值</a:t>
            </a:r>
          </a:p>
        </p:txBody>
      </p:sp>
      <p:sp>
        <p:nvSpPr>
          <p:cNvPr id="217" name="文本框 216"/>
          <p:cNvSpPr txBox="1"/>
          <p:nvPr/>
        </p:nvSpPr>
        <p:spPr>
          <a:xfrm>
            <a:off x="8285480" y="3752215"/>
            <a:ext cx="3418205" cy="4178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机器学习中应用广泛</a:t>
            </a:r>
          </a:p>
        </p:txBody>
      </p:sp>
      <p:sp>
        <p:nvSpPr>
          <p:cNvPr id="218" name="文本框 217"/>
          <p:cNvSpPr txBox="1"/>
          <p:nvPr/>
        </p:nvSpPr>
        <p:spPr>
          <a:xfrm>
            <a:off x="8285480" y="4467860"/>
            <a:ext cx="3418205" cy="4178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运用线性最小平方匹配算法</a:t>
            </a:r>
          </a:p>
        </p:txBody>
      </p:sp>
      <p:sp>
        <p:nvSpPr>
          <p:cNvPr id="219" name="文本框 218"/>
          <p:cNvSpPr txBox="1"/>
          <p:nvPr/>
        </p:nvSpPr>
        <p:spPr>
          <a:xfrm>
            <a:off x="8285480" y="5031340"/>
            <a:ext cx="3418205" cy="7226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文本分类领域比较成功，训练过程效率不高</a:t>
            </a:r>
          </a:p>
        </p:txBody>
      </p:sp>
      <p:sp>
        <p:nvSpPr>
          <p:cNvPr id="220" name="文本框 219"/>
          <p:cNvSpPr txBox="1"/>
          <p:nvPr/>
        </p:nvSpPr>
        <p:spPr>
          <a:xfrm>
            <a:off x="8285480" y="5901055"/>
            <a:ext cx="3418205" cy="417830"/>
          </a:xfrm>
          <a:prstGeom prst="rect">
            <a:avLst/>
          </a:prstGeom>
          <a:noFill/>
          <a:ln w="9525">
            <a:noFill/>
          </a:ln>
        </p:spPr>
        <p:txBody>
          <a:bodyPr wrap="square">
            <a:spAutoFit/>
          </a:bodyPr>
          <a:lstStyle/>
          <a:p>
            <a:pPr marL="0" indent="0" algn="l"/>
            <a:r>
              <a:rPr lang="zh-CN" altLang="en-US" sz="2000" dirty="0">
                <a:solidFill>
                  <a:srgbClr val="44546A"/>
                </a:solidFill>
                <a:latin typeface="微软雅黑" panose="020B0503020204020204" pitchFamily="34" charset="-122"/>
                <a:ea typeface="微软雅黑" panose="020B0503020204020204" pitchFamily="34" charset="-122"/>
              </a:rPr>
              <a:t>特征加权时融入概率因素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750"/>
                                        <p:tgtEl>
                                          <p:spTgt spid="37"/>
                                        </p:tgtEl>
                                      </p:cBhvr>
                                    </p:animEffect>
                                  </p:childTnLst>
                                </p:cTn>
                              </p:par>
                            </p:childTnLst>
                          </p:cTn>
                        </p:par>
                        <p:par>
                          <p:cTn id="12" fill="hold">
                            <p:stCondLst>
                              <p:cond delay="1250"/>
                            </p:stCondLst>
                            <p:childTnLst>
                              <p:par>
                                <p:cTn id="13" presetID="63" presetClass="path" presetSubtype="0" decel="100000" fill="hold" nodeType="afterEffect">
                                  <p:stCondLst>
                                    <p:cond delay="0"/>
                                  </p:stCondLst>
                                  <p:childTnLst>
                                    <p:animMotion origin="layout" path="M -0.02412 -2.38765E-6 L -2.15216E-6 -2.38765E-6 " pathEditMode="relative" rAng="0" ptsTypes="AA">
                                      <p:cBhvr>
                                        <p:cTn id="14" dur="500" fill="hold"/>
                                        <p:tgtEl>
                                          <p:spTgt spid="37"/>
                                        </p:tgtEl>
                                        <p:attrNameLst>
                                          <p:attrName>ppt_x</p:attrName>
                                          <p:attrName>ppt_y</p:attrName>
                                        </p:attrNameLst>
                                      </p:cBhvr>
                                      <p:rCtr x="1200" y="0"/>
                                    </p:animMotion>
                                  </p:childTnLst>
                                </p:cTn>
                              </p:par>
                            </p:childTnLst>
                          </p:cTn>
                        </p:par>
                        <p:par>
                          <p:cTn id="15" fill="hold">
                            <p:stCondLst>
                              <p:cond delay="1750"/>
                            </p:stCondLst>
                            <p:childTnLst>
                              <p:par>
                                <p:cTn id="16" presetID="6" presetClass="emph" presetSubtype="0" accel="100000" autoRev="1" fill="hold" nodeType="afterEffect">
                                  <p:stCondLst>
                                    <p:cond delay="0"/>
                                  </p:stCondLst>
                                  <p:childTnLst>
                                    <p:animScale>
                                      <p:cBhvr>
                                        <p:cTn id="17" dur="500" fill="hold"/>
                                        <p:tgtEl>
                                          <p:spTgt spid="37"/>
                                        </p:tgtEl>
                                      </p:cBhvr>
                                      <p:by x="92000" y="92000"/>
                                    </p:animScale>
                                  </p:childTnLst>
                                </p:cTn>
                              </p:par>
                            </p:childTnLst>
                          </p:cTn>
                        </p:par>
                        <p:par>
                          <p:cTn id="18" fill="hold">
                            <p:stCondLst>
                              <p:cond delay="275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50"/>
                                        <p:tgtEl>
                                          <p:spTgt spid="7"/>
                                        </p:tgtEl>
                                      </p:cBhvr>
                                    </p:animEffect>
                                  </p:childTnLst>
                                </p:cTn>
                              </p:par>
                            </p:childTnLst>
                          </p:cTn>
                        </p:par>
                        <p:par>
                          <p:cTn id="22" fill="hold">
                            <p:stCondLst>
                              <p:cond delay="3500"/>
                            </p:stCondLst>
                            <p:childTnLst>
                              <p:par>
                                <p:cTn id="23" presetID="63" presetClass="path" presetSubtype="0" decel="100000" fill="hold" nodeType="afterEffect">
                                  <p:stCondLst>
                                    <p:cond delay="0"/>
                                  </p:stCondLst>
                                  <p:childTnLst>
                                    <p:animMotion origin="layout" path="M -0.02412 -2.38765E-6 L -2.15216E-6 -2.38765E-6 " pathEditMode="relative" rAng="0" ptsTypes="AA">
                                      <p:cBhvr>
                                        <p:cTn id="24" dur="500" fill="hold"/>
                                        <p:tgtEl>
                                          <p:spTgt spid="7"/>
                                        </p:tgtEl>
                                        <p:attrNameLst>
                                          <p:attrName>ppt_x</p:attrName>
                                          <p:attrName>ppt_y</p:attrName>
                                        </p:attrNameLst>
                                      </p:cBhvr>
                                      <p:rCtr x="1200" y="0"/>
                                    </p:animMotion>
                                  </p:childTnLst>
                                </p:cTn>
                              </p:par>
                            </p:childTnLst>
                          </p:cTn>
                        </p:par>
                        <p:par>
                          <p:cTn id="25" fill="hold">
                            <p:stCondLst>
                              <p:cond delay="4000"/>
                            </p:stCondLst>
                            <p:childTnLst>
                              <p:par>
                                <p:cTn id="26" presetID="6" presetClass="emph" presetSubtype="0" accel="100000" autoRev="1" fill="hold" nodeType="afterEffect">
                                  <p:stCondLst>
                                    <p:cond delay="0"/>
                                  </p:stCondLst>
                                  <p:childTnLst>
                                    <p:animScale>
                                      <p:cBhvr>
                                        <p:cTn id="27" dur="500" fill="hold"/>
                                        <p:tgtEl>
                                          <p:spTgt spid="7"/>
                                        </p:tgtEl>
                                      </p:cBhvr>
                                      <p:by x="92000" y="92000"/>
                                    </p:animScale>
                                  </p:childTnLst>
                                </p:cTn>
                              </p:par>
                            </p:childTnLst>
                          </p:cTn>
                        </p:par>
                        <p:par>
                          <p:cTn id="28" fill="hold">
                            <p:stCondLst>
                              <p:cond delay="5000"/>
                            </p:stCondLst>
                            <p:childTnLst>
                              <p:par>
                                <p:cTn id="29" presetID="10" presetClass="entr" presetSubtype="0" fill="hold" nodeType="after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fade">
                                      <p:cBhvr>
                                        <p:cTn id="31" dur="750"/>
                                        <p:tgtEl>
                                          <p:spTgt spid="68"/>
                                        </p:tgtEl>
                                      </p:cBhvr>
                                    </p:animEffect>
                                  </p:childTnLst>
                                </p:cTn>
                              </p:par>
                            </p:childTnLst>
                          </p:cTn>
                        </p:par>
                        <p:par>
                          <p:cTn id="32" fill="hold">
                            <p:stCondLst>
                              <p:cond delay="5750"/>
                            </p:stCondLst>
                            <p:childTnLst>
                              <p:par>
                                <p:cTn id="33" presetID="63" presetClass="path" presetSubtype="0" decel="100000" fill="hold" nodeType="afterEffect">
                                  <p:stCondLst>
                                    <p:cond delay="0"/>
                                  </p:stCondLst>
                                  <p:childTnLst>
                                    <p:animMotion origin="layout" path="M -0.02412 -2.38765E-6 L -2.15216E-6 -2.38765E-6 " pathEditMode="relative" rAng="0" ptsTypes="AA">
                                      <p:cBhvr>
                                        <p:cTn id="34" dur="500" fill="hold"/>
                                        <p:tgtEl>
                                          <p:spTgt spid="68"/>
                                        </p:tgtEl>
                                        <p:attrNameLst>
                                          <p:attrName>ppt_x</p:attrName>
                                          <p:attrName>ppt_y</p:attrName>
                                        </p:attrNameLst>
                                      </p:cBhvr>
                                      <p:rCtr x="1200" y="0"/>
                                    </p:animMotion>
                                  </p:childTnLst>
                                </p:cTn>
                              </p:par>
                            </p:childTnLst>
                          </p:cTn>
                        </p:par>
                        <p:par>
                          <p:cTn id="35" fill="hold">
                            <p:stCondLst>
                              <p:cond delay="6250"/>
                            </p:stCondLst>
                            <p:childTnLst>
                              <p:par>
                                <p:cTn id="36" presetID="6" presetClass="emph" presetSubtype="0" accel="100000" autoRev="1" fill="hold" nodeType="afterEffect">
                                  <p:stCondLst>
                                    <p:cond delay="0"/>
                                  </p:stCondLst>
                                  <p:childTnLst>
                                    <p:animScale>
                                      <p:cBhvr>
                                        <p:cTn id="37" dur="500" fill="hold"/>
                                        <p:tgtEl>
                                          <p:spTgt spid="68"/>
                                        </p:tgtEl>
                                      </p:cBhvr>
                                      <p:by x="92000" y="92000"/>
                                    </p:animScale>
                                  </p:childTnLst>
                                </p:cTn>
                              </p:par>
                            </p:childTnLst>
                          </p:cTn>
                        </p:par>
                        <p:par>
                          <p:cTn id="38" fill="hold">
                            <p:stCondLst>
                              <p:cond delay="7250"/>
                            </p:stCondLst>
                            <p:childTnLst>
                              <p:par>
                                <p:cTn id="39" presetID="10" presetClass="entr" presetSubtype="0" fill="hold" nodeType="after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fade">
                                      <p:cBhvr>
                                        <p:cTn id="41" dur="750"/>
                                        <p:tgtEl>
                                          <p:spTgt spid="79"/>
                                        </p:tgtEl>
                                      </p:cBhvr>
                                    </p:animEffect>
                                  </p:childTnLst>
                                </p:cTn>
                              </p:par>
                            </p:childTnLst>
                          </p:cTn>
                        </p:par>
                        <p:par>
                          <p:cTn id="42" fill="hold">
                            <p:stCondLst>
                              <p:cond delay="8000"/>
                            </p:stCondLst>
                            <p:childTnLst>
                              <p:par>
                                <p:cTn id="43" presetID="63" presetClass="path" presetSubtype="0" decel="100000" fill="hold" nodeType="afterEffect">
                                  <p:stCondLst>
                                    <p:cond delay="0"/>
                                  </p:stCondLst>
                                  <p:childTnLst>
                                    <p:animMotion origin="layout" path="M -0.02412 -2.38765E-6 L -2.15216E-6 -2.38765E-6 " pathEditMode="relative" rAng="0" ptsTypes="AA">
                                      <p:cBhvr>
                                        <p:cTn id="44" dur="500" fill="hold"/>
                                        <p:tgtEl>
                                          <p:spTgt spid="79"/>
                                        </p:tgtEl>
                                        <p:attrNameLst>
                                          <p:attrName>ppt_x</p:attrName>
                                          <p:attrName>ppt_y</p:attrName>
                                        </p:attrNameLst>
                                      </p:cBhvr>
                                      <p:rCtr x="1200" y="0"/>
                                    </p:animMotion>
                                  </p:childTnLst>
                                </p:cTn>
                              </p:par>
                            </p:childTnLst>
                          </p:cTn>
                        </p:par>
                        <p:par>
                          <p:cTn id="45" fill="hold">
                            <p:stCondLst>
                              <p:cond delay="8500"/>
                            </p:stCondLst>
                            <p:childTnLst>
                              <p:par>
                                <p:cTn id="46" presetID="6" presetClass="emph" presetSubtype="0" accel="100000" autoRev="1" fill="hold" nodeType="afterEffect">
                                  <p:stCondLst>
                                    <p:cond delay="0"/>
                                  </p:stCondLst>
                                  <p:childTnLst>
                                    <p:animScale>
                                      <p:cBhvr>
                                        <p:cTn id="47" dur="500" fill="hold"/>
                                        <p:tgtEl>
                                          <p:spTgt spid="79"/>
                                        </p:tgtEl>
                                      </p:cBhvr>
                                      <p:by x="92000" y="92000"/>
                                    </p:animScale>
                                  </p:childTnLst>
                                </p:cTn>
                              </p:par>
                            </p:childTnLst>
                          </p:cTn>
                        </p:par>
                        <p:par>
                          <p:cTn id="48" fill="hold">
                            <p:stCondLst>
                              <p:cond delay="9500"/>
                            </p:stCondLst>
                            <p:childTnLst>
                              <p:par>
                                <p:cTn id="49" presetID="10" presetClass="entr" presetSubtype="0" fill="hold" nodeType="afterEffect">
                                  <p:stCondLst>
                                    <p:cond delay="0"/>
                                  </p:stCondLst>
                                  <p:childTnLst>
                                    <p:set>
                                      <p:cBhvr>
                                        <p:cTn id="50" dur="1" fill="hold">
                                          <p:stCondLst>
                                            <p:cond delay="0"/>
                                          </p:stCondLst>
                                        </p:cTn>
                                        <p:tgtEl>
                                          <p:spTgt spid="167"/>
                                        </p:tgtEl>
                                        <p:attrNameLst>
                                          <p:attrName>style.visibility</p:attrName>
                                        </p:attrNameLst>
                                      </p:cBhvr>
                                      <p:to>
                                        <p:strVal val="visible"/>
                                      </p:to>
                                    </p:set>
                                    <p:animEffect transition="in" filter="fade">
                                      <p:cBhvr>
                                        <p:cTn id="51" dur="750"/>
                                        <p:tgtEl>
                                          <p:spTgt spid="167"/>
                                        </p:tgtEl>
                                      </p:cBhvr>
                                    </p:animEffect>
                                  </p:childTnLst>
                                </p:cTn>
                              </p:par>
                            </p:childTnLst>
                          </p:cTn>
                        </p:par>
                        <p:par>
                          <p:cTn id="52" fill="hold">
                            <p:stCondLst>
                              <p:cond delay="10250"/>
                            </p:stCondLst>
                            <p:childTnLst>
                              <p:par>
                                <p:cTn id="53" presetID="63" presetClass="path" presetSubtype="0" decel="100000" fill="hold" nodeType="afterEffect">
                                  <p:stCondLst>
                                    <p:cond delay="0"/>
                                  </p:stCondLst>
                                  <p:childTnLst>
                                    <p:animMotion origin="layout" path="M -0.02412 -2.38765E-6 L -2.15216E-6 -2.38765E-6 " pathEditMode="relative" rAng="0" ptsTypes="AA">
                                      <p:cBhvr>
                                        <p:cTn id="54" dur="500" fill="hold"/>
                                        <p:tgtEl>
                                          <p:spTgt spid="167"/>
                                        </p:tgtEl>
                                        <p:attrNameLst>
                                          <p:attrName>ppt_x</p:attrName>
                                          <p:attrName>ppt_y</p:attrName>
                                        </p:attrNameLst>
                                      </p:cBhvr>
                                      <p:rCtr x="1200" y="0"/>
                                    </p:animMotion>
                                  </p:childTnLst>
                                </p:cTn>
                              </p:par>
                            </p:childTnLst>
                          </p:cTn>
                        </p:par>
                        <p:par>
                          <p:cTn id="55" fill="hold">
                            <p:stCondLst>
                              <p:cond delay="10750"/>
                            </p:stCondLst>
                            <p:childTnLst>
                              <p:par>
                                <p:cTn id="56" presetID="6" presetClass="emph" presetSubtype="0" accel="100000" autoRev="1" fill="hold" nodeType="afterEffect">
                                  <p:stCondLst>
                                    <p:cond delay="0"/>
                                  </p:stCondLst>
                                  <p:childTnLst>
                                    <p:animScale>
                                      <p:cBhvr>
                                        <p:cTn id="57" dur="500" fill="hold"/>
                                        <p:tgtEl>
                                          <p:spTgt spid="167"/>
                                        </p:tgtEl>
                                      </p:cBhvr>
                                      <p:by x="92000" y="92000"/>
                                    </p:animScale>
                                  </p:childTnLst>
                                </p:cTn>
                              </p:par>
                            </p:childTnLst>
                          </p:cTn>
                        </p:par>
                        <p:par>
                          <p:cTn id="58" fill="hold">
                            <p:stCondLst>
                              <p:cond delay="11750"/>
                            </p:stCondLst>
                            <p:childTnLst>
                              <p:par>
                                <p:cTn id="59" presetID="10" presetClass="entr" presetSubtype="0" fill="hold" nodeType="afterEffect">
                                  <p:stCondLst>
                                    <p:cond delay="0"/>
                                  </p:stCondLst>
                                  <p:childTnLst>
                                    <p:set>
                                      <p:cBhvr>
                                        <p:cTn id="60" dur="1" fill="hold">
                                          <p:stCondLst>
                                            <p:cond delay="0"/>
                                          </p:stCondLst>
                                        </p:cTn>
                                        <p:tgtEl>
                                          <p:spTgt spid="178"/>
                                        </p:tgtEl>
                                        <p:attrNameLst>
                                          <p:attrName>style.visibility</p:attrName>
                                        </p:attrNameLst>
                                      </p:cBhvr>
                                      <p:to>
                                        <p:strVal val="visible"/>
                                      </p:to>
                                    </p:set>
                                    <p:animEffect transition="in" filter="fade">
                                      <p:cBhvr>
                                        <p:cTn id="61" dur="750"/>
                                        <p:tgtEl>
                                          <p:spTgt spid="178"/>
                                        </p:tgtEl>
                                      </p:cBhvr>
                                    </p:animEffect>
                                  </p:childTnLst>
                                </p:cTn>
                              </p:par>
                            </p:childTnLst>
                          </p:cTn>
                        </p:par>
                        <p:par>
                          <p:cTn id="62" fill="hold">
                            <p:stCondLst>
                              <p:cond delay="12500"/>
                            </p:stCondLst>
                            <p:childTnLst>
                              <p:par>
                                <p:cTn id="63" presetID="63" presetClass="path" presetSubtype="0" decel="100000" fill="hold" nodeType="afterEffect">
                                  <p:stCondLst>
                                    <p:cond delay="0"/>
                                  </p:stCondLst>
                                  <p:childTnLst>
                                    <p:animMotion origin="layout" path="M -0.02412 -2.38765E-6 L -2.15216E-6 -2.38765E-6 " pathEditMode="relative" rAng="0" ptsTypes="AA">
                                      <p:cBhvr>
                                        <p:cTn id="64" dur="500" fill="hold"/>
                                        <p:tgtEl>
                                          <p:spTgt spid="178"/>
                                        </p:tgtEl>
                                        <p:attrNameLst>
                                          <p:attrName>ppt_x</p:attrName>
                                          <p:attrName>ppt_y</p:attrName>
                                        </p:attrNameLst>
                                      </p:cBhvr>
                                      <p:rCtr x="1200" y="0"/>
                                    </p:animMotion>
                                  </p:childTnLst>
                                </p:cTn>
                              </p:par>
                            </p:childTnLst>
                          </p:cTn>
                        </p:par>
                        <p:par>
                          <p:cTn id="65" fill="hold">
                            <p:stCondLst>
                              <p:cond delay="13000"/>
                            </p:stCondLst>
                            <p:childTnLst>
                              <p:par>
                                <p:cTn id="66" presetID="6" presetClass="emph" presetSubtype="0" accel="100000" autoRev="1" fill="hold" nodeType="afterEffect">
                                  <p:stCondLst>
                                    <p:cond delay="0"/>
                                  </p:stCondLst>
                                  <p:childTnLst>
                                    <p:animScale>
                                      <p:cBhvr>
                                        <p:cTn id="67" dur="500" fill="hold"/>
                                        <p:tgtEl>
                                          <p:spTgt spid="178"/>
                                        </p:tgtEl>
                                      </p:cBhvr>
                                      <p:by x="92000" y="92000"/>
                                    </p:animScale>
                                  </p:childTnLst>
                                </p:cTn>
                              </p:par>
                            </p:childTnLst>
                          </p:cTn>
                        </p:par>
                        <p:par>
                          <p:cTn id="68" fill="hold">
                            <p:stCondLst>
                              <p:cond delay="14000"/>
                            </p:stCondLst>
                            <p:childTnLst>
                              <p:par>
                                <p:cTn id="69" presetID="10" presetClass="entr" presetSubtype="0" fill="hold" nodeType="afterEffect">
                                  <p:stCondLst>
                                    <p:cond delay="0"/>
                                  </p:stCondLst>
                                  <p:childTnLst>
                                    <p:set>
                                      <p:cBhvr>
                                        <p:cTn id="70" dur="1" fill="hold">
                                          <p:stCondLst>
                                            <p:cond delay="0"/>
                                          </p:stCondLst>
                                        </p:cTn>
                                        <p:tgtEl>
                                          <p:spTgt spid="189"/>
                                        </p:tgtEl>
                                        <p:attrNameLst>
                                          <p:attrName>style.visibility</p:attrName>
                                        </p:attrNameLst>
                                      </p:cBhvr>
                                      <p:to>
                                        <p:strVal val="visible"/>
                                      </p:to>
                                    </p:set>
                                    <p:animEffect transition="in" filter="fade">
                                      <p:cBhvr>
                                        <p:cTn id="71" dur="750"/>
                                        <p:tgtEl>
                                          <p:spTgt spid="189"/>
                                        </p:tgtEl>
                                      </p:cBhvr>
                                    </p:animEffect>
                                  </p:childTnLst>
                                </p:cTn>
                              </p:par>
                            </p:childTnLst>
                          </p:cTn>
                        </p:par>
                        <p:par>
                          <p:cTn id="72" fill="hold">
                            <p:stCondLst>
                              <p:cond delay="14750"/>
                            </p:stCondLst>
                            <p:childTnLst>
                              <p:par>
                                <p:cTn id="73" presetID="63" presetClass="path" presetSubtype="0" decel="100000" fill="hold" nodeType="afterEffect">
                                  <p:stCondLst>
                                    <p:cond delay="0"/>
                                  </p:stCondLst>
                                  <p:childTnLst>
                                    <p:animMotion origin="layout" path="M -0.02412 -2.38765E-6 L -2.15216E-6 -2.38765E-6 " pathEditMode="relative" rAng="0" ptsTypes="AA">
                                      <p:cBhvr>
                                        <p:cTn id="74" dur="500" fill="hold"/>
                                        <p:tgtEl>
                                          <p:spTgt spid="189"/>
                                        </p:tgtEl>
                                        <p:attrNameLst>
                                          <p:attrName>ppt_x</p:attrName>
                                          <p:attrName>ppt_y</p:attrName>
                                        </p:attrNameLst>
                                      </p:cBhvr>
                                      <p:rCtr x="1200" y="0"/>
                                    </p:animMotion>
                                  </p:childTnLst>
                                </p:cTn>
                              </p:par>
                            </p:childTnLst>
                          </p:cTn>
                        </p:par>
                        <p:par>
                          <p:cTn id="75" fill="hold">
                            <p:stCondLst>
                              <p:cond delay="15250"/>
                            </p:stCondLst>
                            <p:childTnLst>
                              <p:par>
                                <p:cTn id="76" presetID="6" presetClass="emph" presetSubtype="0" accel="100000" autoRev="1" fill="hold" nodeType="afterEffect">
                                  <p:stCondLst>
                                    <p:cond delay="0"/>
                                  </p:stCondLst>
                                  <p:childTnLst>
                                    <p:animScale>
                                      <p:cBhvr>
                                        <p:cTn id="77" dur="500" fill="hold"/>
                                        <p:tgtEl>
                                          <p:spTgt spid="189"/>
                                        </p:tgtEl>
                                      </p:cBhvr>
                                      <p:by x="92000" y="9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609116" y="261257"/>
            <a:ext cx="1214822" cy="760080"/>
            <a:chOff x="1922078" y="0"/>
            <a:chExt cx="8347844" cy="3447438"/>
          </a:xfrm>
        </p:grpSpPr>
        <p:grpSp>
          <p:nvGrpSpPr>
            <p:cNvPr id="86" name="组合 85"/>
            <p:cNvGrpSpPr/>
            <p:nvPr/>
          </p:nvGrpSpPr>
          <p:grpSpPr>
            <a:xfrm rot="20997101">
              <a:off x="5080902" y="0"/>
              <a:ext cx="659781" cy="793569"/>
              <a:chOff x="9397113" y="1572484"/>
              <a:chExt cx="739439" cy="900000"/>
            </a:xfrm>
          </p:grpSpPr>
          <p:pic>
            <p:nvPicPr>
              <p:cNvPr id="144" name="图片 143"/>
              <p:cNvPicPr>
                <a:picLocks noChangeAspect="1"/>
              </p:cNvPicPr>
              <p:nvPr/>
            </p:nvPicPr>
            <p:blipFill rotWithShape="1">
              <a:blip r:embed="rId2" cstate="print">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145" name="椭圆 14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rot="2455872">
              <a:off x="9009447" y="1071465"/>
              <a:ext cx="659781" cy="793569"/>
              <a:chOff x="8752405" y="680495"/>
              <a:chExt cx="739439" cy="900000"/>
            </a:xfrm>
          </p:grpSpPr>
          <p:pic>
            <p:nvPicPr>
              <p:cNvPr id="142" name="图片 141"/>
              <p:cNvPicPr>
                <a:picLocks noChangeAspect="1"/>
              </p:cNvPicPr>
              <p:nvPr/>
            </p:nvPicPr>
            <p:blipFill rotWithShape="1">
              <a:blip r:embed="rId3" cstate="print">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143" name="椭圆 142"/>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rot="20539373">
              <a:off x="4239050" y="1051458"/>
              <a:ext cx="642436" cy="793569"/>
              <a:chOff x="7798300" y="2128176"/>
              <a:chExt cx="720000" cy="900000"/>
            </a:xfrm>
          </p:grpSpPr>
          <p:pic>
            <p:nvPicPr>
              <p:cNvPr id="140" name="图片 139"/>
              <p:cNvPicPr>
                <a:picLocks noChangeAspect="1"/>
              </p:cNvPicPr>
              <p:nvPr/>
            </p:nvPicPr>
            <p:blipFill rotWithShape="1">
              <a:blip r:embed="rId4" cstate="print">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141" name="椭圆 140"/>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rot="622440">
              <a:off x="6257266" y="1278812"/>
              <a:ext cx="643355" cy="793569"/>
              <a:chOff x="5457544" y="2382484"/>
              <a:chExt cx="721030" cy="900000"/>
            </a:xfrm>
          </p:grpSpPr>
          <p:pic>
            <p:nvPicPr>
              <p:cNvPr id="138" name="图片 1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139" name="椭圆 138"/>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rot="713899">
              <a:off x="6982111" y="246490"/>
              <a:ext cx="642436" cy="811512"/>
              <a:chOff x="2594245" y="3143107"/>
              <a:chExt cx="720000" cy="920349"/>
            </a:xfrm>
          </p:grpSpPr>
          <p:pic>
            <p:nvPicPr>
              <p:cNvPr id="136" name="图片 135"/>
              <p:cNvPicPr>
                <a:picLocks noChangeAspect="1"/>
              </p:cNvPicPr>
              <p:nvPr/>
            </p:nvPicPr>
            <p:blipFill rotWithShape="1">
              <a:blip r:embed="rId6" cstate="print">
                <a:extLst>
                  <a:ext uri="{28A0092B-C50C-407E-A947-70E740481C1C}">
                    <a14:useLocalDpi xmlns:a14="http://schemas.microsoft.com/office/drawing/2010/main" val="0"/>
                  </a:ext>
                </a:extLst>
              </a:blip>
              <a:srcRect l="17103" r="18740" b="27941"/>
              <a:stretch>
                <a:fillRect/>
              </a:stretch>
            </p:blipFill>
            <p:spPr>
              <a:xfrm>
                <a:off x="2624542" y="3143107"/>
                <a:ext cx="641048" cy="720000"/>
              </a:xfrm>
              <a:prstGeom prst="rect">
                <a:avLst/>
              </a:prstGeom>
            </p:spPr>
          </p:pic>
          <p:sp>
            <p:nvSpPr>
              <p:cNvPr id="137" name="椭圆 136"/>
              <p:cNvSpPr/>
              <p:nvPr/>
            </p:nvSpPr>
            <p:spPr>
              <a:xfrm>
                <a:off x="2594245" y="316345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rot="20351331">
              <a:off x="2986611" y="357756"/>
              <a:ext cx="642436" cy="793569"/>
              <a:chOff x="3277182" y="773323"/>
              <a:chExt cx="720000" cy="900000"/>
            </a:xfrm>
          </p:grpSpPr>
          <p:sp>
            <p:nvSpPr>
              <p:cNvPr id="134" name="椭圆 133"/>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92" name="组合 91"/>
            <p:cNvGrpSpPr/>
            <p:nvPr/>
          </p:nvGrpSpPr>
          <p:grpSpPr>
            <a:xfrm rot="1912890">
              <a:off x="7930945" y="1382649"/>
              <a:ext cx="648427" cy="793569"/>
              <a:chOff x="5384758" y="1250900"/>
              <a:chExt cx="726714" cy="900000"/>
            </a:xfrm>
          </p:grpSpPr>
          <p:sp>
            <p:nvSpPr>
              <p:cNvPr id="132" name="椭圆 131"/>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93" name="组合 92"/>
            <p:cNvGrpSpPr/>
            <p:nvPr/>
          </p:nvGrpSpPr>
          <p:grpSpPr>
            <a:xfrm rot="1354213">
              <a:off x="7092076" y="1228721"/>
              <a:ext cx="642436" cy="793569"/>
              <a:chOff x="3639753" y="2488176"/>
              <a:chExt cx="720000" cy="900000"/>
            </a:xfrm>
          </p:grpSpPr>
          <p:sp>
            <p:nvSpPr>
              <p:cNvPr id="130" name="椭圆 129"/>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 name="图片 1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94" name="组合 93"/>
            <p:cNvGrpSpPr/>
            <p:nvPr/>
          </p:nvGrpSpPr>
          <p:grpSpPr>
            <a:xfrm rot="19874646">
              <a:off x="3552291" y="1752953"/>
              <a:ext cx="647730" cy="793569"/>
              <a:chOff x="4707387" y="271511"/>
              <a:chExt cx="725933" cy="900000"/>
            </a:xfrm>
          </p:grpSpPr>
          <p:sp>
            <p:nvSpPr>
              <p:cNvPr id="128" name="椭圆 127"/>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9" name="图片 1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95" name="组合 94"/>
            <p:cNvGrpSpPr/>
            <p:nvPr/>
          </p:nvGrpSpPr>
          <p:grpSpPr>
            <a:xfrm>
              <a:off x="5902457" y="519563"/>
              <a:ext cx="647456" cy="793569"/>
              <a:chOff x="4355614" y="1671769"/>
              <a:chExt cx="725626" cy="900000"/>
            </a:xfrm>
          </p:grpSpPr>
          <p:sp>
            <p:nvSpPr>
              <p:cNvPr id="126" name="椭圆 125"/>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7" name="图片 1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96" name="组合 95"/>
            <p:cNvGrpSpPr/>
            <p:nvPr/>
          </p:nvGrpSpPr>
          <p:grpSpPr>
            <a:xfrm rot="3261331">
              <a:off x="8178834" y="2216888"/>
              <a:ext cx="645495" cy="803045"/>
              <a:chOff x="6534782" y="2204846"/>
              <a:chExt cx="732066" cy="900000"/>
            </a:xfrm>
          </p:grpSpPr>
          <p:sp>
            <p:nvSpPr>
              <p:cNvPr id="124" name="椭圆 123"/>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5" name="图片 1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97" name="组合 96"/>
            <p:cNvGrpSpPr/>
            <p:nvPr/>
          </p:nvGrpSpPr>
          <p:grpSpPr>
            <a:xfrm rot="1881527">
              <a:off x="8180043" y="493339"/>
              <a:ext cx="646830" cy="793569"/>
              <a:chOff x="5993772" y="258109"/>
              <a:chExt cx="724925" cy="900000"/>
            </a:xfrm>
          </p:grpSpPr>
          <p:sp>
            <p:nvSpPr>
              <p:cNvPr id="122" name="椭圆 121"/>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2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98" name="组合 97"/>
            <p:cNvGrpSpPr/>
            <p:nvPr/>
          </p:nvGrpSpPr>
          <p:grpSpPr>
            <a:xfrm rot="3066563">
              <a:off x="9550518" y="2274810"/>
              <a:ext cx="635764" cy="803045"/>
              <a:chOff x="8806213" y="2910111"/>
              <a:chExt cx="721030" cy="900000"/>
            </a:xfrm>
          </p:grpSpPr>
          <p:sp>
            <p:nvSpPr>
              <p:cNvPr id="120" name="椭圆 119"/>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1" name="图片 12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99" name="组合 98"/>
            <p:cNvGrpSpPr/>
            <p:nvPr/>
          </p:nvGrpSpPr>
          <p:grpSpPr>
            <a:xfrm rot="20849518">
              <a:off x="5023848" y="1251597"/>
              <a:ext cx="644890" cy="793569"/>
              <a:chOff x="7330781" y="818297"/>
              <a:chExt cx="722751" cy="900000"/>
            </a:xfrm>
          </p:grpSpPr>
          <p:sp>
            <p:nvSpPr>
              <p:cNvPr id="118" name="椭圆 117"/>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图片 11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100" name="组合 99"/>
            <p:cNvGrpSpPr/>
            <p:nvPr/>
          </p:nvGrpSpPr>
          <p:grpSpPr>
            <a:xfrm rot="19756194">
              <a:off x="1922078" y="1474933"/>
              <a:ext cx="653202" cy="793569"/>
              <a:chOff x="2213446" y="1768419"/>
              <a:chExt cx="732066" cy="900000"/>
            </a:xfrm>
          </p:grpSpPr>
          <p:pic>
            <p:nvPicPr>
              <p:cNvPr id="116" name="图片 11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117" name="椭圆 116"/>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 name="直接连接符 100"/>
            <p:cNvCxnSpPr>
              <a:stCxn id="128" idx="4"/>
            </p:cNvCxnSpPr>
            <p:nvPr/>
          </p:nvCxnSpPr>
          <p:spPr>
            <a:xfrm>
              <a:off x="4069361" y="2496316"/>
              <a:ext cx="2026640" cy="951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17" idx="4"/>
            </p:cNvCxnSpPr>
            <p:nvPr/>
          </p:nvCxnSpPr>
          <p:spPr>
            <a:xfrm>
              <a:off x="2456061" y="2210036"/>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34" idx="4"/>
            </p:cNvCxnSpPr>
            <p:nvPr/>
          </p:nvCxnSpPr>
          <p:spPr>
            <a:xfrm>
              <a:off x="3448802" y="1125437"/>
              <a:ext cx="2647199" cy="23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41" idx="4"/>
            </p:cNvCxnSpPr>
            <p:nvPr/>
          </p:nvCxnSpPr>
          <p:spPr>
            <a:xfrm>
              <a:off x="4680753" y="1826292"/>
              <a:ext cx="1415248" cy="16211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45" idx="4"/>
            </p:cNvCxnSpPr>
            <p:nvPr/>
          </p:nvCxnSpPr>
          <p:spPr>
            <a:xfrm>
              <a:off x="5471483" y="788996"/>
              <a:ext cx="624518" cy="2658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26" idx="4"/>
            </p:cNvCxnSpPr>
            <p:nvPr/>
          </p:nvCxnSpPr>
          <p:spPr>
            <a:xfrm flipH="1">
              <a:off x="6096001" y="1313132"/>
              <a:ext cx="127674" cy="2134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18" idx="4"/>
            </p:cNvCxnSpPr>
            <p:nvPr/>
          </p:nvCxnSpPr>
          <p:spPr>
            <a:xfrm>
              <a:off x="5431029" y="2036014"/>
              <a:ext cx="664972" cy="1411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39" idx="4"/>
            </p:cNvCxnSpPr>
            <p:nvPr/>
          </p:nvCxnSpPr>
          <p:spPr>
            <a:xfrm flipH="1">
              <a:off x="6096001" y="2065812"/>
              <a:ext cx="411041" cy="138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137" idx="4"/>
            </p:cNvCxnSpPr>
            <p:nvPr/>
          </p:nvCxnSpPr>
          <p:spPr>
            <a:xfrm flipH="1">
              <a:off x="6096001" y="1049284"/>
              <a:ext cx="1123671" cy="2398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30" idx="4"/>
            </p:cNvCxnSpPr>
            <p:nvPr/>
          </p:nvCxnSpPr>
          <p:spPr>
            <a:xfrm flipH="1">
              <a:off x="6096001" y="1991900"/>
              <a:ext cx="1165001" cy="1455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22" idx="4"/>
            </p:cNvCxnSpPr>
            <p:nvPr/>
          </p:nvCxnSpPr>
          <p:spPr>
            <a:xfrm flipH="1">
              <a:off x="6096001" y="1227805"/>
              <a:ext cx="2199096" cy="221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32" idx="4"/>
            </p:cNvCxnSpPr>
            <p:nvPr/>
          </p:nvCxnSpPr>
          <p:spPr>
            <a:xfrm flipH="1">
              <a:off x="6096001" y="2114778"/>
              <a:ext cx="1947047" cy="1332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43" idx="4"/>
            </p:cNvCxnSpPr>
            <p:nvPr/>
          </p:nvCxnSpPr>
          <p:spPr>
            <a:xfrm flipH="1">
              <a:off x="6096001" y="1762337"/>
              <a:ext cx="2976830" cy="1685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0" idx="4"/>
            </p:cNvCxnSpPr>
            <p:nvPr/>
          </p:nvCxnSpPr>
          <p:spPr>
            <a:xfrm flipH="1">
              <a:off x="6096001" y="2928776"/>
              <a:ext cx="3460161" cy="51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4"/>
            </p:cNvCxnSpPr>
            <p:nvPr/>
          </p:nvCxnSpPr>
          <p:spPr>
            <a:xfrm flipH="1">
              <a:off x="6096001" y="2848076"/>
              <a:ext cx="2076184" cy="5993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6" name="矩形 145"/>
          <p:cNvSpPr/>
          <p:nvPr/>
        </p:nvSpPr>
        <p:spPr>
          <a:xfrm flipV="1">
            <a:off x="655309"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flipV="1">
            <a:off x="2152044"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flipV="1">
            <a:off x="364878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flipV="1">
            <a:off x="514551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flipV="1">
            <a:off x="6642250"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flipV="1">
            <a:off x="8138985"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flipV="1">
            <a:off x="9635721"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335"/>
          <p:cNvSpPr txBox="1"/>
          <p:nvPr/>
        </p:nvSpPr>
        <p:spPr>
          <a:xfrm>
            <a:off x="2151737" y="312081"/>
            <a:ext cx="6186309" cy="646331"/>
          </a:xfrm>
          <a:prstGeom prst="rect">
            <a:avLst/>
          </a:prstGeom>
          <a:noFill/>
        </p:spPr>
        <p:txBody>
          <a:bodyPr wrap="none" rtlCol="0">
            <a:spAutoFit/>
          </a:bodyPr>
          <a:lstStyle>
            <a:defPPr>
              <a:defRPr lang="zh-CN"/>
            </a:defPPr>
            <a:lvl1pPr>
              <a:defRPr sz="40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3600" dirty="0"/>
              <a:t>网络信息内容过滤的主要方法</a:t>
            </a:r>
          </a:p>
        </p:txBody>
      </p:sp>
      <p:grpSp>
        <p:nvGrpSpPr>
          <p:cNvPr id="154" name="组合 153"/>
          <p:cNvGrpSpPr/>
          <p:nvPr/>
        </p:nvGrpSpPr>
        <p:grpSpPr>
          <a:xfrm>
            <a:off x="655309" y="1032131"/>
            <a:ext cx="10477147" cy="66943"/>
            <a:chOff x="655309" y="1032131"/>
            <a:chExt cx="10477147" cy="66943"/>
          </a:xfrm>
        </p:grpSpPr>
        <p:sp>
          <p:nvSpPr>
            <p:cNvPr id="155" name="矩形 154"/>
            <p:cNvSpPr/>
            <p:nvPr/>
          </p:nvSpPr>
          <p:spPr>
            <a:xfrm flipV="1">
              <a:off x="655309"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flipV="1">
              <a:off x="2152044"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flipV="1">
              <a:off x="364878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flipV="1">
              <a:off x="5145515"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flipV="1">
              <a:off x="6642250" y="1032131"/>
              <a:ext cx="1496735" cy="66943"/>
            </a:xfrm>
            <a:prstGeom prst="rect">
              <a:avLst/>
            </a:pr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flipV="1">
              <a:off x="8138985" y="1032131"/>
              <a:ext cx="1496735" cy="66943"/>
            </a:xfrm>
            <a:prstGeom prst="rect">
              <a:avLst/>
            </a:prstGeom>
            <a:solidFill>
              <a:srgbClr val="F78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flipV="1">
              <a:off x="9635721" y="1032131"/>
              <a:ext cx="1496735" cy="66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5"/>
          <p:cNvSpPr>
            <a:spLocks noChangeArrowheads="1"/>
          </p:cNvSpPr>
          <p:nvPr/>
        </p:nvSpPr>
        <p:spPr bwMode="auto">
          <a:xfrm>
            <a:off x="2250440" y="3111500"/>
            <a:ext cx="944245" cy="97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eaLnBrk="1" hangingPunct="1"/>
            <a:r>
              <a:rPr lang="zh-CN" altLang="en-US" sz="2800" b="1" dirty="0">
                <a:solidFill>
                  <a:srgbClr val="1F4E79"/>
                </a:solidFill>
                <a:latin typeface="微软雅黑" panose="020B0503020204020204" pitchFamily="34" charset="-122"/>
                <a:ea typeface="微软雅黑" panose="020B0503020204020204" pitchFamily="34" charset="-122"/>
                <a:sym typeface="宋体" panose="02010600030101010101" pitchFamily="2" charset="-122"/>
              </a:rPr>
              <a:t>逻辑方法</a:t>
            </a:r>
          </a:p>
        </p:txBody>
      </p:sp>
      <p:grpSp>
        <p:nvGrpSpPr>
          <p:cNvPr id="2" name="组合 1"/>
          <p:cNvGrpSpPr/>
          <p:nvPr/>
        </p:nvGrpSpPr>
        <p:grpSpPr bwMode="auto">
          <a:xfrm>
            <a:off x="6280111" y="1518760"/>
            <a:ext cx="5885815" cy="4869815"/>
            <a:chOff x="6950675" y="2202609"/>
            <a:chExt cx="7850453" cy="6481985"/>
          </a:xfrm>
        </p:grpSpPr>
        <p:sp>
          <p:nvSpPr>
            <p:cNvPr id="12" name="TextBox 138"/>
            <p:cNvSpPr txBox="1">
              <a:spLocks noChangeArrowheads="1"/>
            </p:cNvSpPr>
            <p:nvPr/>
          </p:nvSpPr>
          <p:spPr bwMode="auto">
            <a:xfrm>
              <a:off x="7232712" y="2202609"/>
              <a:ext cx="3546213" cy="65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pPr>
              <a:r>
                <a:rPr lang="zh-CN" altLang="en-US" sz="2400" dirty="0">
                  <a:solidFill>
                    <a:srgbClr val="00B0F0"/>
                  </a:solidFill>
                  <a:latin typeface="微软雅黑" panose="020B0503020204020204" pitchFamily="34" charset="-122"/>
                  <a:ea typeface="微软雅黑" panose="020B0503020204020204" pitchFamily="34" charset="-122"/>
                  <a:cs typeface="华文黑体" charset="-122"/>
                </a:rPr>
                <a:t>ID3 决策树算法</a:t>
              </a:r>
            </a:p>
          </p:txBody>
        </p:sp>
        <p:sp>
          <p:nvSpPr>
            <p:cNvPr id="4" name="矩形 22"/>
            <p:cNvSpPr>
              <a:spLocks noChangeArrowheads="1"/>
            </p:cNvSpPr>
            <p:nvPr/>
          </p:nvSpPr>
          <p:spPr bwMode="auto">
            <a:xfrm>
              <a:off x="7073484" y="2473276"/>
              <a:ext cx="360058" cy="23079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1425">
                <a:solidFill>
                  <a:schemeClr val="accent1"/>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5" name="TextBox 138"/>
            <p:cNvSpPr txBox="1">
              <a:spLocks noChangeArrowheads="1"/>
            </p:cNvSpPr>
            <p:nvPr/>
          </p:nvSpPr>
          <p:spPr bwMode="auto">
            <a:xfrm>
              <a:off x="6950675" y="4606413"/>
              <a:ext cx="3546213" cy="65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pPr>
              <a:r>
                <a:rPr lang="zh-CN" altLang="en-US" sz="2400" dirty="0">
                  <a:solidFill>
                    <a:srgbClr val="00B0F0"/>
                  </a:solidFill>
                  <a:latin typeface="微软雅黑" panose="020B0503020204020204" pitchFamily="34" charset="-122"/>
                  <a:ea typeface="微软雅黑" panose="020B0503020204020204" pitchFamily="34" charset="-122"/>
                  <a:cs typeface="华文黑体" charset="-122"/>
                </a:rPr>
                <a:t>AQ11 算法</a:t>
              </a:r>
            </a:p>
          </p:txBody>
        </p:sp>
        <p:sp>
          <p:nvSpPr>
            <p:cNvPr id="36" name="TextBox 138"/>
            <p:cNvSpPr txBox="1">
              <a:spLocks noChangeArrowheads="1"/>
            </p:cNvSpPr>
            <p:nvPr/>
          </p:nvSpPr>
          <p:spPr bwMode="auto">
            <a:xfrm>
              <a:off x="7557944" y="6995848"/>
              <a:ext cx="6716376" cy="65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pPr>
              <a:r>
                <a:rPr lang="zh-CN" altLang="en-US" sz="2400" dirty="0">
                  <a:solidFill>
                    <a:srgbClr val="00B0F0"/>
                  </a:solidFill>
                  <a:latin typeface="微软雅黑" panose="020B0503020204020204" pitchFamily="34" charset="-122"/>
                  <a:ea typeface="微软雅黑" panose="020B0503020204020204" pitchFamily="34" charset="-122"/>
                  <a:cs typeface="华文黑体" charset="-122"/>
                </a:rPr>
                <a:t>基于 Rough 集理论的逻辑学习算法</a:t>
              </a:r>
            </a:p>
          </p:txBody>
        </p:sp>
        <p:sp>
          <p:nvSpPr>
            <p:cNvPr id="49" name="TextBox 138"/>
            <p:cNvSpPr txBox="1">
              <a:spLocks noChangeArrowheads="1"/>
            </p:cNvSpPr>
            <p:nvPr/>
          </p:nvSpPr>
          <p:spPr bwMode="auto">
            <a:xfrm>
              <a:off x="7433441" y="3058816"/>
              <a:ext cx="7367687" cy="1321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l" fontAlgn="auto">
                <a:lnSpc>
                  <a:spcPct val="100000"/>
                </a:lnSpc>
              </a:pPr>
              <a:r>
                <a:rPr lang="zh-CN" altLang="en-US" sz="1600" dirty="0">
                  <a:latin typeface="微软雅黑" panose="020B0503020204020204" pitchFamily="34" charset="-122"/>
                  <a:ea typeface="微软雅黑" panose="020B0503020204020204" pitchFamily="34" charset="-122"/>
                  <a:cs typeface="华文黑体" charset="-122"/>
                </a:rPr>
                <a:t>使用一棵过滤决策树表示学习结果；</a:t>
              </a:r>
            </a:p>
            <a:p>
              <a:pPr algn="l" fontAlgn="auto">
                <a:lnSpc>
                  <a:spcPct val="100000"/>
                </a:lnSpc>
              </a:pPr>
              <a:r>
                <a:rPr lang="zh-CN" altLang="en-US" sz="1600" dirty="0">
                  <a:latin typeface="微软雅黑" panose="020B0503020204020204" pitchFamily="34" charset="-122"/>
                  <a:ea typeface="微软雅黑" panose="020B0503020204020204" pitchFamily="34" charset="-122"/>
                  <a:cs typeface="华文黑体" charset="-122"/>
                </a:rPr>
                <a:t>决策树的每个节点都是样本的某个属性，采用信息熵作为节点的选择依据；</a:t>
              </a:r>
            </a:p>
            <a:p>
              <a:pPr algn="l" fontAlgn="auto">
                <a:lnSpc>
                  <a:spcPct val="100000"/>
                </a:lnSpc>
              </a:pPr>
              <a:r>
                <a:rPr lang="zh-CN" altLang="en-US" sz="1600" dirty="0">
                  <a:latin typeface="微软雅黑" panose="020B0503020204020204" pitchFamily="34" charset="-122"/>
                  <a:ea typeface="微软雅黑" panose="020B0503020204020204" pitchFamily="34" charset="-122"/>
                  <a:cs typeface="华文黑体" charset="-122"/>
                </a:rPr>
                <a:t>采用了有效的增量学习策略</a:t>
              </a:r>
            </a:p>
          </p:txBody>
        </p:sp>
        <p:sp>
          <p:nvSpPr>
            <p:cNvPr id="50" name="TextBox 138"/>
            <p:cNvSpPr txBox="1">
              <a:spLocks noChangeArrowheads="1"/>
            </p:cNvSpPr>
            <p:nvPr/>
          </p:nvSpPr>
          <p:spPr bwMode="auto">
            <a:xfrm>
              <a:off x="7232712" y="5620675"/>
              <a:ext cx="7367687" cy="34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l" fontAlgn="auto">
                <a:lnSpc>
                  <a:spcPct val="100000"/>
                </a:lnSpc>
              </a:pPr>
              <a:r>
                <a:rPr lang="zh-CN" altLang="en-US" sz="1600" dirty="0">
                  <a:latin typeface="微软雅黑" panose="020B0503020204020204" pitchFamily="34" charset="-122"/>
                  <a:ea typeface="微软雅黑" panose="020B0503020204020204" pitchFamily="34" charset="-122"/>
                  <a:cs typeface="华文黑体" charset="-122"/>
                </a:rPr>
                <a:t>使用了逻辑语言来描述学习结果</a:t>
              </a:r>
            </a:p>
          </p:txBody>
        </p:sp>
        <p:sp>
          <p:nvSpPr>
            <p:cNvPr id="51" name="TextBox 138"/>
            <p:cNvSpPr txBox="1">
              <a:spLocks noChangeArrowheads="1"/>
            </p:cNvSpPr>
            <p:nvPr/>
          </p:nvSpPr>
          <p:spPr bwMode="auto">
            <a:xfrm>
              <a:off x="7232712" y="8012645"/>
              <a:ext cx="7367687" cy="671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0" rIns="68573" bIns="0">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l" fontAlgn="auto">
                <a:lnSpc>
                  <a:spcPct val="100000"/>
                </a:lnSpc>
              </a:pPr>
              <a:r>
                <a:rPr lang="zh-CN" altLang="en-US" sz="1600" dirty="0">
                  <a:latin typeface="微软雅黑" panose="020B0503020204020204" pitchFamily="34" charset="-122"/>
                  <a:ea typeface="微软雅黑" panose="020B0503020204020204" pitchFamily="34" charset="-122"/>
                  <a:cs typeface="华文黑体" charset="-122"/>
                </a:rPr>
                <a:t>数据约简可以保持相关主题一致的约束下大大简化样本数据，最终使用很少的几条逻辑规则就能描述过滤规则</a:t>
              </a:r>
            </a:p>
          </p:txBody>
        </p:sp>
      </p:grpSp>
      <p:sp>
        <p:nvSpPr>
          <p:cNvPr id="8" name="矩形 22"/>
          <p:cNvSpPr>
            <a:spLocks noChangeArrowheads="1"/>
          </p:cNvSpPr>
          <p:nvPr/>
        </p:nvSpPr>
        <p:spPr bwMode="auto">
          <a:xfrm>
            <a:off x="6372225" y="3517900"/>
            <a:ext cx="269875" cy="17272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1425">
              <a:solidFill>
                <a:schemeClr val="accent1"/>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6" name="矩形 22"/>
          <p:cNvSpPr>
            <a:spLocks noChangeArrowheads="1"/>
          </p:cNvSpPr>
          <p:nvPr/>
        </p:nvSpPr>
        <p:spPr bwMode="auto">
          <a:xfrm>
            <a:off x="6491605" y="5307965"/>
            <a:ext cx="269875" cy="172720"/>
          </a:xfrm>
          <a:prstGeom prst="rect">
            <a:avLst/>
          </a:prstGeom>
          <a:solidFill>
            <a:srgbClr val="00B0F0">
              <a:alpha val="73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2495"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1425">
              <a:solidFill>
                <a:schemeClr val="accent1"/>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27" name="组合 26"/>
          <p:cNvGrpSpPr/>
          <p:nvPr/>
        </p:nvGrpSpPr>
        <p:grpSpPr bwMode="auto">
          <a:xfrm>
            <a:off x="1819633" y="2738200"/>
            <a:ext cx="1804988" cy="1803797"/>
            <a:chOff x="1642796" y="2615022"/>
            <a:chExt cx="2407382" cy="2405286"/>
          </a:xfrm>
          <a:solidFill>
            <a:schemeClr val="accent5">
              <a:lumMod val="60000"/>
              <a:lumOff val="40000"/>
            </a:schemeClr>
          </a:solidFill>
        </p:grpSpPr>
        <p:sp>
          <p:nvSpPr>
            <p:cNvPr id="28" name="空心弧 3"/>
            <p:cNvSpPr/>
            <p:nvPr/>
          </p:nvSpPr>
          <p:spPr bwMode="auto">
            <a:xfrm rot="-6297671">
              <a:off x="1643844" y="2613974"/>
              <a:ext cx="2405286" cy="2407382"/>
            </a:xfrm>
            <a:custGeom>
              <a:avLst/>
              <a:gdLst>
                <a:gd name="T0" fmla="*/ 294313 w 21600"/>
                <a:gd name="T1" fmla="*/ 859859 h 21600"/>
                <a:gd name="T2" fmla="*/ 1202532 w 21600"/>
                <a:gd name="T3" fmla="*/ 231822 h 21600"/>
                <a:gd name="T4" fmla="*/ 2110861 w 21600"/>
                <a:gd name="T5" fmla="*/ 859859 h 21600"/>
                <a:gd name="T6" fmla="*/ 2327448 w 21600"/>
                <a:gd name="T7" fmla="*/ 777830 h 21600"/>
                <a:gd name="T8" fmla="*/ 1202643 w 21600"/>
                <a:gd name="T9" fmla="*/ 0 h 21600"/>
                <a:gd name="T10" fmla="*/ 77726 w 21600"/>
                <a:gd name="T11" fmla="*/ 777830 h 21600"/>
                <a:gd name="T12" fmla="*/ 294313 w 21600"/>
                <a:gd name="T13" fmla="*/ 859859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3969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643" y="7715"/>
                  </a:moveTo>
                  <a:cubicBezTo>
                    <a:pt x="3926" y="4323"/>
                    <a:pt x="7173" y="2080"/>
                    <a:pt x="10799" y="2080"/>
                  </a:cubicBezTo>
                  <a:cubicBezTo>
                    <a:pt x="14426" y="2079"/>
                    <a:pt x="17673" y="4323"/>
                    <a:pt x="18956" y="7715"/>
                  </a:cubicBezTo>
                  <a:lnTo>
                    <a:pt x="20901" y="6979"/>
                  </a:lnTo>
                  <a:cubicBezTo>
                    <a:pt x="19313" y="2779"/>
                    <a:pt x="15290" y="0"/>
                    <a:pt x="10800" y="0"/>
                  </a:cubicBezTo>
                  <a:cubicBezTo>
                    <a:pt x="6309" y="-1"/>
                    <a:pt x="2286" y="2779"/>
                    <a:pt x="698" y="6979"/>
                  </a:cubicBezTo>
                  <a:lnTo>
                    <a:pt x="2643" y="77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070">
                <a:solidFill>
                  <a:schemeClr val="accent1"/>
                </a:solidFill>
                <a:latin typeface="微软雅黑" panose="020B0503020204020204" pitchFamily="34" charset="-122"/>
                <a:ea typeface="微软雅黑" panose="020B0503020204020204" pitchFamily="34" charset="-122"/>
              </a:endParaRPr>
            </a:p>
          </p:txBody>
        </p:sp>
        <p:sp>
          <p:nvSpPr>
            <p:cNvPr id="29" name="空心弧 3"/>
            <p:cNvSpPr/>
            <p:nvPr/>
          </p:nvSpPr>
          <p:spPr bwMode="auto">
            <a:xfrm rot="7872149">
              <a:off x="1643844" y="2613974"/>
              <a:ext cx="2405286" cy="2407382"/>
            </a:xfrm>
            <a:custGeom>
              <a:avLst/>
              <a:gdLst>
                <a:gd name="T0" fmla="*/ 294313 w 21600"/>
                <a:gd name="T1" fmla="*/ 859859 h 21600"/>
                <a:gd name="T2" fmla="*/ 1202532 w 21600"/>
                <a:gd name="T3" fmla="*/ 231822 h 21600"/>
                <a:gd name="T4" fmla="*/ 2110861 w 21600"/>
                <a:gd name="T5" fmla="*/ 859859 h 21600"/>
                <a:gd name="T6" fmla="*/ 2327448 w 21600"/>
                <a:gd name="T7" fmla="*/ 777830 h 21600"/>
                <a:gd name="T8" fmla="*/ 1202643 w 21600"/>
                <a:gd name="T9" fmla="*/ 0 h 21600"/>
                <a:gd name="T10" fmla="*/ 77726 w 21600"/>
                <a:gd name="T11" fmla="*/ 777830 h 21600"/>
                <a:gd name="T12" fmla="*/ 294313 w 21600"/>
                <a:gd name="T13" fmla="*/ 859859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3969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643" y="7715"/>
                  </a:moveTo>
                  <a:cubicBezTo>
                    <a:pt x="3926" y="4323"/>
                    <a:pt x="7173" y="2080"/>
                    <a:pt x="10799" y="2080"/>
                  </a:cubicBezTo>
                  <a:cubicBezTo>
                    <a:pt x="14426" y="2079"/>
                    <a:pt x="17673" y="4323"/>
                    <a:pt x="18956" y="7715"/>
                  </a:cubicBezTo>
                  <a:lnTo>
                    <a:pt x="20901" y="6979"/>
                  </a:lnTo>
                  <a:cubicBezTo>
                    <a:pt x="19313" y="2779"/>
                    <a:pt x="15290" y="0"/>
                    <a:pt x="10800" y="0"/>
                  </a:cubicBezTo>
                  <a:cubicBezTo>
                    <a:pt x="6309" y="-1"/>
                    <a:pt x="2286" y="2779"/>
                    <a:pt x="698" y="6979"/>
                  </a:cubicBezTo>
                  <a:lnTo>
                    <a:pt x="2643" y="77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070">
                <a:solidFill>
                  <a:schemeClr val="accent1"/>
                </a:solidFill>
                <a:latin typeface="微软雅黑" panose="020B0503020204020204" pitchFamily="34" charset="-122"/>
                <a:ea typeface="微软雅黑" panose="020B0503020204020204" pitchFamily="34" charset="-122"/>
              </a:endParaRPr>
            </a:p>
          </p:txBody>
        </p:sp>
      </p:grpSp>
      <p:grpSp>
        <p:nvGrpSpPr>
          <p:cNvPr id="30" name="组合 29"/>
          <p:cNvGrpSpPr/>
          <p:nvPr/>
        </p:nvGrpSpPr>
        <p:grpSpPr bwMode="auto">
          <a:xfrm>
            <a:off x="3642360" y="1971675"/>
            <a:ext cx="2599056" cy="3337560"/>
            <a:chOff x="3767879" y="1656458"/>
            <a:chExt cx="3464805" cy="4449392"/>
          </a:xfrm>
        </p:grpSpPr>
        <p:cxnSp>
          <p:nvCxnSpPr>
            <p:cNvPr id="31" name="直接连接符 30"/>
            <p:cNvCxnSpPr/>
            <p:nvPr/>
          </p:nvCxnSpPr>
          <p:spPr>
            <a:xfrm flipH="1">
              <a:off x="3971044" y="1656458"/>
              <a:ext cx="3119424" cy="1343452"/>
            </a:xfrm>
            <a:prstGeom prst="line">
              <a:avLst/>
            </a:prstGeom>
            <a:ln>
              <a:solidFill>
                <a:srgbClr val="8650AE"/>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flipV="1">
              <a:off x="3930411" y="4726843"/>
              <a:ext cx="3302273" cy="1379007"/>
            </a:xfrm>
            <a:prstGeom prst="line">
              <a:avLst/>
            </a:prstGeom>
            <a:ln>
              <a:solidFill>
                <a:srgbClr val="8650AE"/>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3767879" y="3832901"/>
              <a:ext cx="3392850"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34" name="空心弧 4"/>
          <p:cNvSpPr/>
          <p:nvPr/>
        </p:nvSpPr>
        <p:spPr bwMode="auto">
          <a:xfrm rot="16200000">
            <a:off x="1455540" y="2373789"/>
            <a:ext cx="2532460" cy="2532460"/>
          </a:xfrm>
          <a:custGeom>
            <a:avLst/>
            <a:gdLst>
              <a:gd name="T0" fmla="*/ 954518 w 21600"/>
              <a:gd name="T1" fmla="*/ 2897635 h 21600"/>
              <a:gd name="T2" fmla="*/ 273724 w 21600"/>
              <a:gd name="T3" fmla="*/ 1688307 h 21600"/>
              <a:gd name="T4" fmla="*/ 1688306 w 21600"/>
              <a:gd name="T5" fmla="*/ 273725 h 21600"/>
              <a:gd name="T6" fmla="*/ 3102888 w 21600"/>
              <a:gd name="T7" fmla="*/ 1688307 h 21600"/>
              <a:gd name="T8" fmla="*/ 2421937 w 21600"/>
              <a:gd name="T9" fmla="*/ 2897635 h 21600"/>
              <a:gd name="T10" fmla="*/ 2563880 w 21600"/>
              <a:gd name="T11" fmla="*/ 3131653 h 21600"/>
              <a:gd name="T12" fmla="*/ 3376612 w 21600"/>
              <a:gd name="T13" fmla="*/ 1688307 h 21600"/>
              <a:gd name="T14" fmla="*/ 1688306 w 21600"/>
              <a:gd name="T15" fmla="*/ 0 h 21600"/>
              <a:gd name="T16" fmla="*/ 0 w 21600"/>
              <a:gd name="T17" fmla="*/ 1688307 h 21600"/>
              <a:gd name="T18" fmla="*/ 812575 w 21600"/>
              <a:gd name="T19" fmla="*/ 3131653 h 21600"/>
              <a:gd name="T20" fmla="*/ 954518 w 21600"/>
              <a:gd name="T21" fmla="*/ 2897635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600"/>
              <a:gd name="T34" fmla="*/ 0 h 21600"/>
              <a:gd name="T35" fmla="*/ 21600 w 21600"/>
              <a:gd name="T36" fmla="*/ 18772 h 216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600" h="21600">
                <a:moveTo>
                  <a:pt x="6106" y="18536"/>
                </a:moveTo>
                <a:cubicBezTo>
                  <a:pt x="3402" y="16896"/>
                  <a:pt x="1751" y="13962"/>
                  <a:pt x="1751" y="10800"/>
                </a:cubicBezTo>
                <a:cubicBezTo>
                  <a:pt x="1751" y="5802"/>
                  <a:pt x="5802" y="1751"/>
                  <a:pt x="10800" y="1751"/>
                </a:cubicBezTo>
                <a:cubicBezTo>
                  <a:pt x="15797" y="1751"/>
                  <a:pt x="19849" y="5802"/>
                  <a:pt x="19849" y="10800"/>
                </a:cubicBezTo>
                <a:cubicBezTo>
                  <a:pt x="19849" y="13962"/>
                  <a:pt x="18197" y="16896"/>
                  <a:pt x="15493" y="18536"/>
                </a:cubicBezTo>
                <a:lnTo>
                  <a:pt x="16401" y="20033"/>
                </a:lnTo>
                <a:cubicBezTo>
                  <a:pt x="19628" y="18075"/>
                  <a:pt x="21600" y="14574"/>
                  <a:pt x="21600" y="10800"/>
                </a:cubicBezTo>
                <a:cubicBezTo>
                  <a:pt x="21600" y="4835"/>
                  <a:pt x="16764" y="0"/>
                  <a:pt x="10800" y="0"/>
                </a:cubicBezTo>
                <a:cubicBezTo>
                  <a:pt x="4835" y="0"/>
                  <a:pt x="0" y="4835"/>
                  <a:pt x="0" y="10800"/>
                </a:cubicBezTo>
                <a:cubicBezTo>
                  <a:pt x="-1" y="14574"/>
                  <a:pt x="1971" y="18075"/>
                  <a:pt x="5198" y="20033"/>
                </a:cubicBezTo>
                <a:lnTo>
                  <a:pt x="6106" y="18536"/>
                </a:lnTo>
                <a:close/>
              </a:path>
            </a:pathLst>
          </a:custGeom>
          <a:solidFill>
            <a:srgbClr val="7030A0">
              <a:alpha val="84000"/>
            </a:srgbClr>
          </a:solidFill>
          <a:ln>
            <a:noFill/>
          </a:ln>
        </p:spPr>
        <p:txBody>
          <a:bodyPr anchor="ctr"/>
          <a:lstStyle/>
          <a:p>
            <a:endParaRPr lang="zh-CN" altLang="en-US" sz="107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p:tgtEl>
                                          <p:spTgt spid="2"/>
                                        </p:tgtEl>
                                        <p:attrNameLst>
                                          <p:attrName>ppt_y</p:attrName>
                                        </p:attrNameLst>
                                      </p:cBhvr>
                                      <p:tavLst>
                                        <p:tav tm="0">
                                          <p:val>
                                            <p:strVal val="#ppt_y+#ppt_h*1.125000"/>
                                          </p:val>
                                        </p:tav>
                                        <p:tav tm="100000">
                                          <p:val>
                                            <p:strVal val="#ppt_y"/>
                                          </p:val>
                                        </p:tav>
                                      </p:tavLst>
                                    </p:anim>
                                    <p:animEffect transition="in" filter="wipe(up)">
                                      <p:cBhvr>
                                        <p:cTn id="20" dur="500"/>
                                        <p:tgtEl>
                                          <p:spTgt spid="2"/>
                                        </p:tgtEl>
                                      </p:cBhvr>
                                    </p:animEffect>
                                  </p:childTnLst>
                                </p:cTn>
                              </p:par>
                            </p:childTnLst>
                          </p:cTn>
                        </p:par>
                        <p:par>
                          <p:cTn id="21" fill="hold">
                            <p:stCondLst>
                              <p:cond delay="2000"/>
                            </p:stCondLst>
                            <p:childTnLst>
                              <p:par>
                                <p:cTn id="22" presetID="22" presetClass="entr" presetSubtype="2"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right)">
                                      <p:cBhvr>
                                        <p:cTn id="2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4"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515" y="24964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760738" y="2308399"/>
            <a:ext cx="9283065" cy="2590165"/>
          </a:xfrm>
          <a:prstGeom prst="rect">
            <a:avLst/>
          </a:prstGeom>
          <a:noFill/>
          <a:ln w="9525">
            <a:noFill/>
            <a:miter lim="800000"/>
          </a:ln>
        </p:spPr>
        <p:txBody>
          <a:bodyPr/>
          <a:lstStyle/>
          <a:p>
            <a:r>
              <a:rPr lang="en-US" altLang="zh-CN" sz="4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4.6 </a:t>
            </a:r>
            <a:r>
              <a:rPr lang="zh-CN" altLang="en-US" sz="4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网络信息内容过滤典型系统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文本框 182"/>
          <p:cNvSpPr txBox="1"/>
          <p:nvPr/>
        </p:nvSpPr>
        <p:spPr>
          <a:xfrm>
            <a:off x="463550" y="2026285"/>
            <a:ext cx="3543300" cy="7226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Agent 必须支持一个易懂、</a:t>
            </a:r>
          </a:p>
          <a:p>
            <a:pPr algn="l"/>
            <a:r>
              <a:rPr lang="zh-CN" altLang="en-US" sz="2000" dirty="0">
                <a:solidFill>
                  <a:schemeClr val="tx2"/>
                </a:solidFill>
                <a:latin typeface="微软雅黑" panose="020B0503020204020204" pitchFamily="34" charset="-122"/>
                <a:ea typeface="微软雅黑" panose="020B0503020204020204" pitchFamily="34" charset="-122"/>
              </a:rPr>
              <a:t>相容的界面</a:t>
            </a:r>
          </a:p>
        </p:txBody>
      </p:sp>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基于多 Agents 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40" name="Freeform 5"/>
          <p:cNvSpPr>
            <a:spLocks noChangeArrowheads="1"/>
          </p:cNvSpPr>
          <p:nvPr/>
        </p:nvSpPr>
        <p:spPr bwMode="auto">
          <a:xfrm>
            <a:off x="6022975" y="2938145"/>
            <a:ext cx="509588" cy="646113"/>
          </a:xfrm>
          <a:custGeom>
            <a:avLst/>
            <a:gdLst>
              <a:gd name="T0" fmla="*/ 427155 w 136"/>
              <a:gd name="T1" fmla="*/ 236658 h 172"/>
              <a:gd name="T2" fmla="*/ 453383 w 136"/>
              <a:gd name="T3" fmla="*/ 229145 h 172"/>
              <a:gd name="T4" fmla="*/ 505841 w 136"/>
              <a:gd name="T5" fmla="*/ 22539 h 172"/>
              <a:gd name="T6" fmla="*/ 487106 w 136"/>
              <a:gd name="T7" fmla="*/ 7513 h 172"/>
              <a:gd name="T8" fmla="*/ 296011 w 136"/>
              <a:gd name="T9" fmla="*/ 86399 h 172"/>
              <a:gd name="T10" fmla="*/ 288517 w 136"/>
              <a:gd name="T11" fmla="*/ 116451 h 172"/>
              <a:gd name="T12" fmla="*/ 314746 w 136"/>
              <a:gd name="T13" fmla="*/ 138989 h 172"/>
              <a:gd name="T14" fmla="*/ 251047 w 136"/>
              <a:gd name="T15" fmla="*/ 210362 h 172"/>
              <a:gd name="T16" fmla="*/ 0 w 136"/>
              <a:gd name="T17" fmla="*/ 142746 h 172"/>
              <a:gd name="T18" fmla="*/ 0 w 136"/>
              <a:gd name="T19" fmla="*/ 646113 h 172"/>
              <a:gd name="T20" fmla="*/ 472118 w 136"/>
              <a:gd name="T21" fmla="*/ 480828 h 172"/>
              <a:gd name="T22" fmla="*/ 344721 w 136"/>
              <a:gd name="T23" fmla="*/ 281735 h 172"/>
              <a:gd name="T24" fmla="*/ 400926 w 136"/>
              <a:gd name="T25" fmla="*/ 214119 h 172"/>
              <a:gd name="T26" fmla="*/ 427155 w 136"/>
              <a:gd name="T27" fmla="*/ 236658 h 1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72"/>
              <a:gd name="T44" fmla="*/ 136 w 136"/>
              <a:gd name="T45" fmla="*/ 172 h 17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72">
                <a:moveTo>
                  <a:pt x="114" y="63"/>
                </a:moveTo>
                <a:cubicBezTo>
                  <a:pt x="117" y="66"/>
                  <a:pt x="120" y="65"/>
                  <a:pt x="121" y="61"/>
                </a:cubicBezTo>
                <a:cubicBezTo>
                  <a:pt x="135" y="6"/>
                  <a:pt x="135" y="6"/>
                  <a:pt x="135" y="6"/>
                </a:cubicBezTo>
                <a:cubicBezTo>
                  <a:pt x="136" y="2"/>
                  <a:pt x="134" y="0"/>
                  <a:pt x="130" y="2"/>
                </a:cubicBezTo>
                <a:cubicBezTo>
                  <a:pt x="79" y="23"/>
                  <a:pt x="79" y="23"/>
                  <a:pt x="79" y="23"/>
                </a:cubicBezTo>
                <a:cubicBezTo>
                  <a:pt x="75" y="25"/>
                  <a:pt x="74" y="28"/>
                  <a:pt x="77" y="31"/>
                </a:cubicBezTo>
                <a:cubicBezTo>
                  <a:pt x="84" y="37"/>
                  <a:pt x="84" y="37"/>
                  <a:pt x="84" y="37"/>
                </a:cubicBezTo>
                <a:cubicBezTo>
                  <a:pt x="67" y="56"/>
                  <a:pt x="67" y="56"/>
                  <a:pt x="67" y="56"/>
                </a:cubicBezTo>
                <a:cubicBezTo>
                  <a:pt x="47" y="45"/>
                  <a:pt x="25" y="38"/>
                  <a:pt x="0" y="38"/>
                </a:cubicBezTo>
                <a:cubicBezTo>
                  <a:pt x="0" y="172"/>
                  <a:pt x="0" y="172"/>
                  <a:pt x="0" y="172"/>
                </a:cubicBezTo>
                <a:cubicBezTo>
                  <a:pt x="126" y="128"/>
                  <a:pt x="126" y="128"/>
                  <a:pt x="126" y="128"/>
                </a:cubicBezTo>
                <a:cubicBezTo>
                  <a:pt x="119" y="107"/>
                  <a:pt x="107" y="89"/>
                  <a:pt x="92" y="75"/>
                </a:cubicBezTo>
                <a:cubicBezTo>
                  <a:pt x="107" y="57"/>
                  <a:pt x="107" y="57"/>
                  <a:pt x="107" y="57"/>
                </a:cubicBezTo>
                <a:lnTo>
                  <a:pt x="114" y="63"/>
                </a:lnTo>
                <a:close/>
              </a:path>
            </a:pathLst>
          </a:custGeom>
          <a:solidFill>
            <a:srgbClr val="00B0F0"/>
          </a:solidFill>
          <a:ln>
            <a:noFill/>
          </a:ln>
        </p:spPr>
        <p:txBody>
          <a:bodyPr/>
          <a:lstStyle/>
          <a:p>
            <a:endParaRPr lang="zh-CN" altLang="en-US">
              <a:solidFill>
                <a:schemeClr val="accent1"/>
              </a:solidFill>
            </a:endParaRPr>
          </a:p>
        </p:txBody>
      </p:sp>
      <p:sp>
        <p:nvSpPr>
          <p:cNvPr id="41" name="Freeform 6"/>
          <p:cNvSpPr>
            <a:spLocks noChangeArrowheads="1"/>
          </p:cNvSpPr>
          <p:nvPr/>
        </p:nvSpPr>
        <p:spPr bwMode="auto">
          <a:xfrm>
            <a:off x="5230813" y="3096895"/>
            <a:ext cx="739775" cy="771525"/>
          </a:xfrm>
          <a:custGeom>
            <a:avLst/>
            <a:gdLst>
              <a:gd name="T0" fmla="*/ 739775 w 197"/>
              <a:gd name="T1" fmla="*/ 0 h 206"/>
              <a:gd name="T2" fmla="*/ 322947 w 197"/>
              <a:gd name="T3" fmla="*/ 220971 h 206"/>
              <a:gd name="T4" fmla="*/ 225312 w 197"/>
              <a:gd name="T5" fmla="*/ 157301 h 206"/>
              <a:gd name="T6" fmla="*/ 240333 w 197"/>
              <a:gd name="T7" fmla="*/ 127339 h 206"/>
              <a:gd name="T8" fmla="*/ 229067 w 197"/>
              <a:gd name="T9" fmla="*/ 101122 h 206"/>
              <a:gd name="T10" fmla="*/ 18776 w 197"/>
              <a:gd name="T11" fmla="*/ 82396 h 206"/>
              <a:gd name="T12" fmla="*/ 7510 w 197"/>
              <a:gd name="T13" fmla="*/ 101122 h 206"/>
              <a:gd name="T14" fmla="*/ 116411 w 197"/>
              <a:gd name="T15" fmla="*/ 284640 h 206"/>
              <a:gd name="T16" fmla="*/ 146453 w 197"/>
              <a:gd name="T17" fmla="*/ 284640 h 206"/>
              <a:gd name="T18" fmla="*/ 161474 w 197"/>
              <a:gd name="T19" fmla="*/ 254678 h 206"/>
              <a:gd name="T20" fmla="*/ 270375 w 197"/>
              <a:gd name="T21" fmla="*/ 322093 h 206"/>
              <a:gd name="T22" fmla="*/ 236578 w 197"/>
              <a:gd name="T23" fmla="*/ 501866 h 206"/>
              <a:gd name="T24" fmla="*/ 319192 w 197"/>
              <a:gd name="T25" fmla="*/ 771525 h 206"/>
              <a:gd name="T26" fmla="*/ 315437 w 197"/>
              <a:gd name="T27" fmla="*/ 764034 h 206"/>
              <a:gd name="T28" fmla="*/ 739775 w 197"/>
              <a:gd name="T29" fmla="*/ 501866 h 206"/>
              <a:gd name="T30" fmla="*/ 739775 w 197"/>
              <a:gd name="T31" fmla="*/ 0 h 2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206"/>
              <a:gd name="T50" fmla="*/ 197 w 197"/>
              <a:gd name="T51" fmla="*/ 206 h 2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206">
                <a:moveTo>
                  <a:pt x="197" y="0"/>
                </a:moveTo>
                <a:cubicBezTo>
                  <a:pt x="151" y="0"/>
                  <a:pt x="110" y="23"/>
                  <a:pt x="86" y="59"/>
                </a:cubicBezTo>
                <a:cubicBezTo>
                  <a:pt x="60" y="42"/>
                  <a:pt x="60" y="42"/>
                  <a:pt x="60" y="42"/>
                </a:cubicBezTo>
                <a:cubicBezTo>
                  <a:pt x="64" y="34"/>
                  <a:pt x="64" y="34"/>
                  <a:pt x="64" y="34"/>
                </a:cubicBezTo>
                <a:cubicBezTo>
                  <a:pt x="66" y="31"/>
                  <a:pt x="65" y="28"/>
                  <a:pt x="61" y="27"/>
                </a:cubicBezTo>
                <a:cubicBezTo>
                  <a:pt x="5" y="22"/>
                  <a:pt x="5" y="22"/>
                  <a:pt x="5" y="22"/>
                </a:cubicBezTo>
                <a:cubicBezTo>
                  <a:pt x="1" y="22"/>
                  <a:pt x="0" y="24"/>
                  <a:pt x="2" y="27"/>
                </a:cubicBezTo>
                <a:cubicBezTo>
                  <a:pt x="31" y="76"/>
                  <a:pt x="31" y="76"/>
                  <a:pt x="31" y="76"/>
                </a:cubicBezTo>
                <a:cubicBezTo>
                  <a:pt x="33" y="79"/>
                  <a:pt x="37" y="79"/>
                  <a:pt x="39" y="76"/>
                </a:cubicBezTo>
                <a:cubicBezTo>
                  <a:pt x="43" y="68"/>
                  <a:pt x="43" y="68"/>
                  <a:pt x="43" y="68"/>
                </a:cubicBezTo>
                <a:cubicBezTo>
                  <a:pt x="72" y="86"/>
                  <a:pt x="72" y="86"/>
                  <a:pt x="72" y="86"/>
                </a:cubicBezTo>
                <a:cubicBezTo>
                  <a:pt x="67" y="101"/>
                  <a:pt x="63" y="117"/>
                  <a:pt x="63" y="134"/>
                </a:cubicBezTo>
                <a:cubicBezTo>
                  <a:pt x="63" y="160"/>
                  <a:pt x="71" y="185"/>
                  <a:pt x="85" y="206"/>
                </a:cubicBezTo>
                <a:cubicBezTo>
                  <a:pt x="84" y="204"/>
                  <a:pt x="84" y="204"/>
                  <a:pt x="84" y="204"/>
                </a:cubicBezTo>
                <a:cubicBezTo>
                  <a:pt x="197" y="134"/>
                  <a:pt x="197" y="134"/>
                  <a:pt x="197" y="134"/>
                </a:cubicBezTo>
                <a:lnTo>
                  <a:pt x="197" y="0"/>
                </a:lnTo>
                <a:close/>
              </a:path>
            </a:pathLst>
          </a:custGeom>
          <a:solidFill>
            <a:srgbClr val="92D050"/>
          </a:solidFill>
          <a:ln>
            <a:noFill/>
          </a:ln>
        </p:spPr>
        <p:txBody>
          <a:bodyPr/>
          <a:lstStyle/>
          <a:p>
            <a:endParaRPr lang="zh-CN" altLang="en-US">
              <a:solidFill>
                <a:schemeClr val="accent1"/>
              </a:solidFill>
            </a:endParaRPr>
          </a:p>
        </p:txBody>
      </p:sp>
      <p:sp>
        <p:nvSpPr>
          <p:cNvPr id="42" name="Freeform 7"/>
          <p:cNvSpPr>
            <a:spLocks noChangeArrowheads="1"/>
          </p:cNvSpPr>
          <p:nvPr/>
        </p:nvSpPr>
        <p:spPr bwMode="auto">
          <a:xfrm>
            <a:off x="6045200" y="3460433"/>
            <a:ext cx="831850" cy="374650"/>
          </a:xfrm>
          <a:custGeom>
            <a:avLst/>
            <a:gdLst>
              <a:gd name="T0" fmla="*/ 816862 w 222"/>
              <a:gd name="T1" fmla="*/ 176086 h 100"/>
              <a:gd name="T2" fmla="*/ 629508 w 222"/>
              <a:gd name="T3" fmla="*/ 78677 h 100"/>
              <a:gd name="T4" fmla="*/ 607026 w 222"/>
              <a:gd name="T5" fmla="*/ 93663 h 100"/>
              <a:gd name="T6" fmla="*/ 607026 w 222"/>
              <a:gd name="T7" fmla="*/ 127381 h 100"/>
              <a:gd name="T8" fmla="*/ 498361 w 222"/>
              <a:gd name="T9" fmla="*/ 127381 h 100"/>
              <a:gd name="T10" fmla="*/ 472131 w 222"/>
              <a:gd name="T11" fmla="*/ 0 h 100"/>
              <a:gd name="T12" fmla="*/ 0 w 222"/>
              <a:gd name="T13" fmla="*/ 164846 h 100"/>
              <a:gd name="T14" fmla="*/ 453396 w 222"/>
              <a:gd name="T15" fmla="*/ 374650 h 100"/>
              <a:gd name="T16" fmla="*/ 490866 w 222"/>
              <a:gd name="T17" fmla="*/ 239776 h 100"/>
              <a:gd name="T18" fmla="*/ 603279 w 222"/>
              <a:gd name="T19" fmla="*/ 243523 h 100"/>
              <a:gd name="T20" fmla="*/ 603279 w 222"/>
              <a:gd name="T21" fmla="*/ 277241 h 100"/>
              <a:gd name="T22" fmla="*/ 625761 w 222"/>
              <a:gd name="T23" fmla="*/ 292227 h 100"/>
              <a:gd name="T24" fmla="*/ 816862 w 222"/>
              <a:gd name="T25" fmla="*/ 202311 h 100"/>
              <a:gd name="T26" fmla="*/ 816862 w 222"/>
              <a:gd name="T27" fmla="*/ 176086 h 1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2"/>
              <a:gd name="T43" fmla="*/ 0 h 100"/>
              <a:gd name="T44" fmla="*/ 222 w 222"/>
              <a:gd name="T45" fmla="*/ 100 h 1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2" h="100">
                <a:moveTo>
                  <a:pt x="218" y="47"/>
                </a:moveTo>
                <a:cubicBezTo>
                  <a:pt x="168" y="21"/>
                  <a:pt x="168" y="21"/>
                  <a:pt x="168" y="21"/>
                </a:cubicBezTo>
                <a:cubicBezTo>
                  <a:pt x="165" y="20"/>
                  <a:pt x="162" y="21"/>
                  <a:pt x="162" y="25"/>
                </a:cubicBezTo>
                <a:cubicBezTo>
                  <a:pt x="162" y="34"/>
                  <a:pt x="162" y="34"/>
                  <a:pt x="162" y="34"/>
                </a:cubicBezTo>
                <a:cubicBezTo>
                  <a:pt x="133" y="34"/>
                  <a:pt x="133" y="34"/>
                  <a:pt x="133" y="34"/>
                </a:cubicBezTo>
                <a:cubicBezTo>
                  <a:pt x="132" y="22"/>
                  <a:pt x="129" y="11"/>
                  <a:pt x="126" y="0"/>
                </a:cubicBezTo>
                <a:cubicBezTo>
                  <a:pt x="0" y="44"/>
                  <a:pt x="0" y="44"/>
                  <a:pt x="0" y="44"/>
                </a:cubicBezTo>
                <a:cubicBezTo>
                  <a:pt x="121" y="100"/>
                  <a:pt x="121" y="100"/>
                  <a:pt x="121" y="100"/>
                </a:cubicBezTo>
                <a:cubicBezTo>
                  <a:pt x="126" y="89"/>
                  <a:pt x="129" y="77"/>
                  <a:pt x="131" y="64"/>
                </a:cubicBezTo>
                <a:cubicBezTo>
                  <a:pt x="161" y="65"/>
                  <a:pt x="161" y="65"/>
                  <a:pt x="161" y="65"/>
                </a:cubicBezTo>
                <a:cubicBezTo>
                  <a:pt x="161" y="74"/>
                  <a:pt x="161" y="74"/>
                  <a:pt x="161" y="74"/>
                </a:cubicBezTo>
                <a:cubicBezTo>
                  <a:pt x="161" y="78"/>
                  <a:pt x="163" y="80"/>
                  <a:pt x="167" y="78"/>
                </a:cubicBezTo>
                <a:cubicBezTo>
                  <a:pt x="218" y="54"/>
                  <a:pt x="218" y="54"/>
                  <a:pt x="218" y="54"/>
                </a:cubicBezTo>
                <a:cubicBezTo>
                  <a:pt x="222" y="52"/>
                  <a:pt x="222" y="49"/>
                  <a:pt x="218" y="47"/>
                </a:cubicBezTo>
                <a:close/>
              </a:path>
            </a:pathLst>
          </a:custGeom>
          <a:solidFill>
            <a:srgbClr val="00B050"/>
          </a:solidFill>
          <a:ln>
            <a:noFill/>
          </a:ln>
        </p:spPr>
        <p:txBody>
          <a:bodyPr/>
          <a:lstStyle/>
          <a:p>
            <a:endParaRPr lang="zh-CN" altLang="en-US">
              <a:solidFill>
                <a:schemeClr val="accent1"/>
              </a:solidFill>
            </a:endParaRPr>
          </a:p>
        </p:txBody>
      </p:sp>
      <p:sp>
        <p:nvSpPr>
          <p:cNvPr id="43" name="Freeform 8"/>
          <p:cNvSpPr>
            <a:spLocks noChangeArrowheads="1"/>
          </p:cNvSpPr>
          <p:nvPr/>
        </p:nvSpPr>
        <p:spPr bwMode="auto">
          <a:xfrm>
            <a:off x="6030913" y="3650933"/>
            <a:ext cx="452437" cy="709612"/>
          </a:xfrm>
          <a:custGeom>
            <a:avLst/>
            <a:gdLst>
              <a:gd name="T0" fmla="*/ 426263 w 121"/>
              <a:gd name="T1" fmla="*/ 480584 h 189"/>
              <a:gd name="T2" fmla="*/ 400089 w 121"/>
              <a:gd name="T3" fmla="*/ 469320 h 189"/>
              <a:gd name="T4" fmla="*/ 373915 w 121"/>
              <a:gd name="T5" fmla="*/ 488093 h 189"/>
              <a:gd name="T6" fmla="*/ 310349 w 121"/>
              <a:gd name="T7" fmla="*/ 390474 h 189"/>
              <a:gd name="T8" fmla="*/ 452437 w 121"/>
              <a:gd name="T9" fmla="*/ 206501 h 189"/>
              <a:gd name="T10" fmla="*/ 0 w 121"/>
              <a:gd name="T11" fmla="*/ 0 h 189"/>
              <a:gd name="T12" fmla="*/ 0 w 121"/>
              <a:gd name="T13" fmla="*/ 499357 h 189"/>
              <a:gd name="T14" fmla="*/ 213131 w 121"/>
              <a:gd name="T15" fmla="*/ 450547 h 189"/>
              <a:gd name="T16" fmla="*/ 276697 w 121"/>
              <a:gd name="T17" fmla="*/ 548166 h 189"/>
              <a:gd name="T18" fmla="*/ 246784 w 121"/>
              <a:gd name="T19" fmla="*/ 566939 h 189"/>
              <a:gd name="T20" fmla="*/ 250523 w 121"/>
              <a:gd name="T21" fmla="*/ 596975 h 189"/>
              <a:gd name="T22" fmla="*/ 433741 w 121"/>
              <a:gd name="T23" fmla="*/ 702103 h 189"/>
              <a:gd name="T24" fmla="*/ 452437 w 121"/>
              <a:gd name="T25" fmla="*/ 690839 h 189"/>
              <a:gd name="T26" fmla="*/ 426263 w 121"/>
              <a:gd name="T27" fmla="*/ 480584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1"/>
              <a:gd name="T43" fmla="*/ 0 h 189"/>
              <a:gd name="T44" fmla="*/ 121 w 12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1" h="189">
                <a:moveTo>
                  <a:pt x="114" y="128"/>
                </a:moveTo>
                <a:cubicBezTo>
                  <a:pt x="114" y="124"/>
                  <a:pt x="111" y="123"/>
                  <a:pt x="107" y="125"/>
                </a:cubicBezTo>
                <a:cubicBezTo>
                  <a:pt x="100" y="130"/>
                  <a:pt x="100" y="130"/>
                  <a:pt x="100" y="130"/>
                </a:cubicBezTo>
                <a:cubicBezTo>
                  <a:pt x="83" y="104"/>
                  <a:pt x="83" y="104"/>
                  <a:pt x="83" y="104"/>
                </a:cubicBezTo>
                <a:cubicBezTo>
                  <a:pt x="99" y="91"/>
                  <a:pt x="112" y="74"/>
                  <a:pt x="121" y="55"/>
                </a:cubicBezTo>
                <a:cubicBezTo>
                  <a:pt x="0" y="0"/>
                  <a:pt x="0" y="0"/>
                  <a:pt x="0" y="0"/>
                </a:cubicBezTo>
                <a:cubicBezTo>
                  <a:pt x="0" y="133"/>
                  <a:pt x="0" y="133"/>
                  <a:pt x="0" y="133"/>
                </a:cubicBezTo>
                <a:cubicBezTo>
                  <a:pt x="20" y="133"/>
                  <a:pt x="40" y="128"/>
                  <a:pt x="57" y="120"/>
                </a:cubicBezTo>
                <a:cubicBezTo>
                  <a:pt x="74" y="146"/>
                  <a:pt x="74" y="146"/>
                  <a:pt x="74" y="146"/>
                </a:cubicBezTo>
                <a:cubicBezTo>
                  <a:pt x="66" y="151"/>
                  <a:pt x="66" y="151"/>
                  <a:pt x="66" y="151"/>
                </a:cubicBezTo>
                <a:cubicBezTo>
                  <a:pt x="63" y="154"/>
                  <a:pt x="63" y="157"/>
                  <a:pt x="67" y="159"/>
                </a:cubicBezTo>
                <a:cubicBezTo>
                  <a:pt x="116" y="187"/>
                  <a:pt x="116" y="187"/>
                  <a:pt x="116" y="187"/>
                </a:cubicBezTo>
                <a:cubicBezTo>
                  <a:pt x="119" y="189"/>
                  <a:pt x="121" y="188"/>
                  <a:pt x="121" y="184"/>
                </a:cubicBezTo>
                <a:lnTo>
                  <a:pt x="114" y="128"/>
                </a:lnTo>
                <a:close/>
              </a:path>
            </a:pathLst>
          </a:custGeom>
          <a:solidFill>
            <a:srgbClr val="0070C0"/>
          </a:solidFill>
          <a:ln>
            <a:noFill/>
          </a:ln>
        </p:spPr>
        <p:txBody>
          <a:bodyPr/>
          <a:lstStyle/>
          <a:p>
            <a:endParaRPr lang="zh-CN" altLang="en-US">
              <a:solidFill>
                <a:schemeClr val="accent1"/>
              </a:solidFill>
            </a:endParaRPr>
          </a:p>
        </p:txBody>
      </p:sp>
      <p:sp>
        <p:nvSpPr>
          <p:cNvPr id="44" name="Freeform 9"/>
          <p:cNvSpPr>
            <a:spLocks noChangeArrowheads="1"/>
          </p:cNvSpPr>
          <p:nvPr/>
        </p:nvSpPr>
        <p:spPr bwMode="auto">
          <a:xfrm>
            <a:off x="5554663" y="3650933"/>
            <a:ext cx="427037" cy="709612"/>
          </a:xfrm>
          <a:custGeom>
            <a:avLst/>
            <a:gdLst>
              <a:gd name="T0" fmla="*/ 427037 w 114"/>
              <a:gd name="T1" fmla="*/ 499357 h 189"/>
              <a:gd name="T2" fmla="*/ 427037 w 114"/>
              <a:gd name="T3" fmla="*/ 0 h 189"/>
              <a:gd name="T4" fmla="*/ 0 w 114"/>
              <a:gd name="T5" fmla="*/ 262819 h 189"/>
              <a:gd name="T6" fmla="*/ 138600 w 114"/>
              <a:gd name="T7" fmla="*/ 409247 h 189"/>
              <a:gd name="T8" fmla="*/ 86157 w 114"/>
              <a:gd name="T9" fmla="*/ 488093 h 189"/>
              <a:gd name="T10" fmla="*/ 59935 w 114"/>
              <a:gd name="T11" fmla="*/ 469320 h 189"/>
              <a:gd name="T12" fmla="*/ 33713 w 114"/>
              <a:gd name="T13" fmla="*/ 480584 h 189"/>
              <a:gd name="T14" fmla="*/ 7492 w 114"/>
              <a:gd name="T15" fmla="*/ 690839 h 189"/>
              <a:gd name="T16" fmla="*/ 29968 w 114"/>
              <a:gd name="T17" fmla="*/ 702103 h 189"/>
              <a:gd name="T18" fmla="*/ 209773 w 114"/>
              <a:gd name="T19" fmla="*/ 596975 h 189"/>
              <a:gd name="T20" fmla="*/ 213519 w 114"/>
              <a:gd name="T21" fmla="*/ 566939 h 189"/>
              <a:gd name="T22" fmla="*/ 183551 w 114"/>
              <a:gd name="T23" fmla="*/ 548166 h 189"/>
              <a:gd name="T24" fmla="*/ 239740 w 114"/>
              <a:gd name="T25" fmla="*/ 461811 h 189"/>
              <a:gd name="T26" fmla="*/ 427037 w 114"/>
              <a:gd name="T27" fmla="*/ 499357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4"/>
              <a:gd name="T43" fmla="*/ 0 h 189"/>
              <a:gd name="T44" fmla="*/ 114 w 114"/>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4" h="189">
                <a:moveTo>
                  <a:pt x="114" y="133"/>
                </a:moveTo>
                <a:cubicBezTo>
                  <a:pt x="114" y="0"/>
                  <a:pt x="114" y="0"/>
                  <a:pt x="114" y="0"/>
                </a:cubicBezTo>
                <a:cubicBezTo>
                  <a:pt x="0" y="70"/>
                  <a:pt x="0" y="70"/>
                  <a:pt x="0" y="70"/>
                </a:cubicBezTo>
                <a:cubicBezTo>
                  <a:pt x="10" y="85"/>
                  <a:pt x="22" y="98"/>
                  <a:pt x="37" y="109"/>
                </a:cubicBezTo>
                <a:cubicBezTo>
                  <a:pt x="23" y="130"/>
                  <a:pt x="23" y="130"/>
                  <a:pt x="23" y="130"/>
                </a:cubicBezTo>
                <a:cubicBezTo>
                  <a:pt x="16" y="125"/>
                  <a:pt x="16" y="125"/>
                  <a:pt x="16" y="125"/>
                </a:cubicBezTo>
                <a:cubicBezTo>
                  <a:pt x="12" y="123"/>
                  <a:pt x="9" y="124"/>
                  <a:pt x="9" y="128"/>
                </a:cubicBezTo>
                <a:cubicBezTo>
                  <a:pt x="2" y="184"/>
                  <a:pt x="2" y="184"/>
                  <a:pt x="2" y="184"/>
                </a:cubicBezTo>
                <a:cubicBezTo>
                  <a:pt x="2" y="188"/>
                  <a:pt x="4" y="189"/>
                  <a:pt x="8" y="187"/>
                </a:cubicBezTo>
                <a:cubicBezTo>
                  <a:pt x="56" y="159"/>
                  <a:pt x="56" y="159"/>
                  <a:pt x="56" y="159"/>
                </a:cubicBezTo>
                <a:cubicBezTo>
                  <a:pt x="60" y="157"/>
                  <a:pt x="60" y="154"/>
                  <a:pt x="57" y="151"/>
                </a:cubicBezTo>
                <a:cubicBezTo>
                  <a:pt x="49" y="146"/>
                  <a:pt x="49" y="146"/>
                  <a:pt x="49" y="146"/>
                </a:cubicBezTo>
                <a:cubicBezTo>
                  <a:pt x="64" y="123"/>
                  <a:pt x="64" y="123"/>
                  <a:pt x="64" y="123"/>
                </a:cubicBezTo>
                <a:cubicBezTo>
                  <a:pt x="79" y="130"/>
                  <a:pt x="96" y="133"/>
                  <a:pt x="114" y="133"/>
                </a:cubicBezTo>
                <a:close/>
              </a:path>
            </a:pathLst>
          </a:custGeom>
          <a:solidFill>
            <a:schemeClr val="accent6">
              <a:lumMod val="75000"/>
            </a:schemeClr>
          </a:solidFill>
          <a:ln>
            <a:noFill/>
          </a:ln>
        </p:spPr>
        <p:txBody>
          <a:bodyPr/>
          <a:lstStyle/>
          <a:p>
            <a:endParaRPr lang="zh-CN" altLang="en-US">
              <a:solidFill>
                <a:schemeClr val="accent1"/>
              </a:solidFill>
            </a:endParaRPr>
          </a:p>
        </p:txBody>
      </p:sp>
      <p:grpSp>
        <p:nvGrpSpPr>
          <p:cNvPr id="45" name="组合 44"/>
          <p:cNvGrpSpPr/>
          <p:nvPr/>
        </p:nvGrpSpPr>
        <p:grpSpPr>
          <a:xfrm>
            <a:off x="3907155" y="2147251"/>
            <a:ext cx="1271270" cy="1358584"/>
            <a:chOff x="904875" y="1522413"/>
            <a:chExt cx="996950" cy="1101725"/>
          </a:xfrm>
        </p:grpSpPr>
        <p:sp>
          <p:nvSpPr>
            <p:cNvPr id="46" name="Freeform 11"/>
            <p:cNvSpPr>
              <a:spLocks noEditPoints="1" noChangeArrowheads="1"/>
            </p:cNvSpPr>
            <p:nvPr/>
          </p:nvSpPr>
          <p:spPr bwMode="auto">
            <a:xfrm>
              <a:off x="946150" y="1668463"/>
              <a:ext cx="955675" cy="955675"/>
            </a:xfrm>
            <a:custGeom>
              <a:avLst/>
              <a:gdLst>
                <a:gd name="T0" fmla="*/ 475964 w 255"/>
                <a:gd name="T1" fmla="*/ 0 h 255"/>
                <a:gd name="T2" fmla="*/ 0 w 255"/>
                <a:gd name="T3" fmla="*/ 475964 h 255"/>
                <a:gd name="T4" fmla="*/ 475964 w 255"/>
                <a:gd name="T5" fmla="*/ 955675 h 255"/>
                <a:gd name="T6" fmla="*/ 955675 w 255"/>
                <a:gd name="T7" fmla="*/ 475964 h 255"/>
                <a:gd name="T8" fmla="*/ 475964 w 255"/>
                <a:gd name="T9" fmla="*/ 0 h 255"/>
                <a:gd name="T10" fmla="*/ 475964 w 255"/>
                <a:gd name="T11" fmla="*/ 906954 h 255"/>
                <a:gd name="T12" fmla="*/ 48721 w 255"/>
                <a:gd name="T13" fmla="*/ 475964 h 255"/>
                <a:gd name="T14" fmla="*/ 475964 w 255"/>
                <a:gd name="T15" fmla="*/ 48721 h 255"/>
                <a:gd name="T16" fmla="*/ 906954 w 255"/>
                <a:gd name="T17" fmla="*/ 475964 h 255"/>
                <a:gd name="T18" fmla="*/ 475964 w 255"/>
                <a:gd name="T19" fmla="*/ 906954 h 2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5"/>
                <a:gd name="T31" fmla="*/ 0 h 255"/>
                <a:gd name="T32" fmla="*/ 255 w 255"/>
                <a:gd name="T33" fmla="*/ 255 h 2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5" h="255">
                  <a:moveTo>
                    <a:pt x="127" y="0"/>
                  </a:moveTo>
                  <a:cubicBezTo>
                    <a:pt x="57" y="0"/>
                    <a:pt x="0" y="57"/>
                    <a:pt x="0" y="127"/>
                  </a:cubicBezTo>
                  <a:cubicBezTo>
                    <a:pt x="0" y="198"/>
                    <a:pt x="57" y="255"/>
                    <a:pt x="127" y="255"/>
                  </a:cubicBezTo>
                  <a:cubicBezTo>
                    <a:pt x="198" y="255"/>
                    <a:pt x="255" y="198"/>
                    <a:pt x="255" y="127"/>
                  </a:cubicBezTo>
                  <a:cubicBezTo>
                    <a:pt x="255" y="57"/>
                    <a:pt x="198" y="0"/>
                    <a:pt x="127" y="0"/>
                  </a:cubicBezTo>
                  <a:close/>
                  <a:moveTo>
                    <a:pt x="127" y="242"/>
                  </a:moveTo>
                  <a:cubicBezTo>
                    <a:pt x="64" y="242"/>
                    <a:pt x="13" y="191"/>
                    <a:pt x="13" y="127"/>
                  </a:cubicBezTo>
                  <a:cubicBezTo>
                    <a:pt x="13" y="64"/>
                    <a:pt x="64" y="13"/>
                    <a:pt x="127" y="13"/>
                  </a:cubicBezTo>
                  <a:cubicBezTo>
                    <a:pt x="191" y="13"/>
                    <a:pt x="242" y="64"/>
                    <a:pt x="242" y="127"/>
                  </a:cubicBezTo>
                  <a:cubicBezTo>
                    <a:pt x="242" y="191"/>
                    <a:pt x="191" y="242"/>
                    <a:pt x="127" y="242"/>
                  </a:cubicBezTo>
                  <a:close/>
                </a:path>
              </a:pathLst>
            </a:custGeom>
            <a:solidFill>
              <a:srgbClr val="92D0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47" name="Freeform 1789"/>
            <p:cNvSpPr>
              <a:spLocks noChangeArrowheads="1"/>
            </p:cNvSpPr>
            <p:nvPr/>
          </p:nvSpPr>
          <p:spPr bwMode="auto">
            <a:xfrm>
              <a:off x="904875" y="1522413"/>
              <a:ext cx="404813" cy="390525"/>
            </a:xfrm>
            <a:custGeom>
              <a:avLst/>
              <a:gdLst>
                <a:gd name="T0" fmla="*/ 119945 w 108"/>
                <a:gd name="T1" fmla="*/ 390525 h 104"/>
                <a:gd name="T2" fmla="*/ 194910 w 108"/>
                <a:gd name="T3" fmla="*/ 300404 h 104"/>
                <a:gd name="T4" fmla="*/ 404813 w 108"/>
                <a:gd name="T5" fmla="*/ 172732 h 104"/>
                <a:gd name="T6" fmla="*/ 202407 w 108"/>
                <a:gd name="T7" fmla="*/ 0 h 104"/>
                <a:gd name="T8" fmla="*/ 0 w 108"/>
                <a:gd name="T9" fmla="*/ 202773 h 104"/>
                <a:gd name="T10" fmla="*/ 119945 w 108"/>
                <a:gd name="T11" fmla="*/ 390525 h 104"/>
                <a:gd name="T12" fmla="*/ 0 60000 65536"/>
                <a:gd name="T13" fmla="*/ 0 60000 65536"/>
                <a:gd name="T14" fmla="*/ 0 60000 65536"/>
                <a:gd name="T15" fmla="*/ 0 60000 65536"/>
                <a:gd name="T16" fmla="*/ 0 60000 65536"/>
                <a:gd name="T17" fmla="*/ 0 60000 65536"/>
                <a:gd name="T18" fmla="*/ 0 w 108"/>
                <a:gd name="T19" fmla="*/ 0 h 104"/>
                <a:gd name="T20" fmla="*/ 108 w 108"/>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8" h="104">
                  <a:moveTo>
                    <a:pt x="32" y="104"/>
                  </a:moveTo>
                  <a:cubicBezTo>
                    <a:pt x="38" y="96"/>
                    <a:pt x="44" y="87"/>
                    <a:pt x="52" y="80"/>
                  </a:cubicBezTo>
                  <a:cubicBezTo>
                    <a:pt x="67" y="64"/>
                    <a:pt x="87" y="53"/>
                    <a:pt x="108" y="46"/>
                  </a:cubicBezTo>
                  <a:cubicBezTo>
                    <a:pt x="104" y="20"/>
                    <a:pt x="81" y="0"/>
                    <a:pt x="54" y="0"/>
                  </a:cubicBezTo>
                  <a:cubicBezTo>
                    <a:pt x="24" y="0"/>
                    <a:pt x="0" y="24"/>
                    <a:pt x="0" y="54"/>
                  </a:cubicBezTo>
                  <a:cubicBezTo>
                    <a:pt x="0" y="77"/>
                    <a:pt x="13" y="96"/>
                    <a:pt x="32" y="104"/>
                  </a:cubicBezTo>
                  <a:close/>
                </a:path>
              </a:pathLst>
            </a:custGeom>
            <a:solidFill>
              <a:srgbClr val="92D0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49" name="矩形 1"/>
            <p:cNvSpPr>
              <a:spLocks noChangeArrowheads="1"/>
            </p:cNvSpPr>
            <p:nvPr/>
          </p:nvSpPr>
          <p:spPr bwMode="auto">
            <a:xfrm>
              <a:off x="1000443" y="1797050"/>
              <a:ext cx="846137" cy="7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spcBef>
                  <a:spcPct val="0"/>
                </a:spcBef>
              </a:pPr>
              <a:r>
                <a:rPr lang="zh-CN" altLang="en-US" sz="2800" dirty="0">
                  <a:solidFill>
                    <a:srgbClr val="92D050"/>
                  </a:solidFill>
                  <a:latin typeface="微软雅黑" panose="020B0503020204020204" pitchFamily="34" charset="-122"/>
                  <a:ea typeface="微软雅黑" panose="020B0503020204020204" pitchFamily="34" charset="-122"/>
                </a:rPr>
                <a:t>综合性</a:t>
              </a:r>
            </a:p>
          </p:txBody>
        </p:sp>
      </p:grpSp>
      <p:grpSp>
        <p:nvGrpSpPr>
          <p:cNvPr id="50" name="组合 49"/>
          <p:cNvGrpSpPr/>
          <p:nvPr/>
        </p:nvGrpSpPr>
        <p:grpSpPr>
          <a:xfrm>
            <a:off x="6277610" y="1713230"/>
            <a:ext cx="1284605" cy="1330960"/>
            <a:chOff x="3128963" y="919747"/>
            <a:chExt cx="1106553" cy="1224966"/>
          </a:xfrm>
          <a:solidFill>
            <a:srgbClr val="00B0F0"/>
          </a:solidFill>
        </p:grpSpPr>
        <p:sp>
          <p:nvSpPr>
            <p:cNvPr id="51" name="Freeform 12"/>
            <p:cNvSpPr>
              <a:spLocks noEditPoints="1" noChangeArrowheads="1"/>
            </p:cNvSpPr>
            <p:nvPr/>
          </p:nvSpPr>
          <p:spPr bwMode="auto">
            <a:xfrm>
              <a:off x="3128963" y="1042988"/>
              <a:ext cx="1106487" cy="1101725"/>
            </a:xfrm>
            <a:custGeom>
              <a:avLst/>
              <a:gdLst>
                <a:gd name="T0" fmla="*/ 555119 w 295"/>
                <a:gd name="T1" fmla="*/ 0 h 294"/>
                <a:gd name="T2" fmla="*/ 0 w 295"/>
                <a:gd name="T3" fmla="*/ 550863 h 294"/>
                <a:gd name="T4" fmla="*/ 555119 w 295"/>
                <a:gd name="T5" fmla="*/ 1101725 h 294"/>
                <a:gd name="T6" fmla="*/ 1106487 w 295"/>
                <a:gd name="T7" fmla="*/ 550863 h 294"/>
                <a:gd name="T8" fmla="*/ 555119 w 295"/>
                <a:gd name="T9" fmla="*/ 0 h 294"/>
                <a:gd name="T10" fmla="*/ 555119 w 295"/>
                <a:gd name="T11" fmla="*/ 1049262 h 294"/>
                <a:gd name="T12" fmla="*/ 56262 w 295"/>
                <a:gd name="T13" fmla="*/ 550863 h 294"/>
                <a:gd name="T14" fmla="*/ 555119 w 295"/>
                <a:gd name="T15" fmla="*/ 52463 h 294"/>
                <a:gd name="T16" fmla="*/ 1050225 w 295"/>
                <a:gd name="T17" fmla="*/ 550863 h 294"/>
                <a:gd name="T18" fmla="*/ 555119 w 295"/>
                <a:gd name="T19" fmla="*/ 1049262 h 2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5"/>
                <a:gd name="T31" fmla="*/ 0 h 294"/>
                <a:gd name="T32" fmla="*/ 295 w 295"/>
                <a:gd name="T33" fmla="*/ 294 h 2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5" h="294">
                  <a:moveTo>
                    <a:pt x="148" y="0"/>
                  </a:moveTo>
                  <a:cubicBezTo>
                    <a:pt x="66" y="0"/>
                    <a:pt x="0" y="66"/>
                    <a:pt x="0" y="147"/>
                  </a:cubicBezTo>
                  <a:cubicBezTo>
                    <a:pt x="0" y="228"/>
                    <a:pt x="66" y="294"/>
                    <a:pt x="148" y="294"/>
                  </a:cubicBezTo>
                  <a:cubicBezTo>
                    <a:pt x="229" y="294"/>
                    <a:pt x="295" y="228"/>
                    <a:pt x="295" y="147"/>
                  </a:cubicBezTo>
                  <a:cubicBezTo>
                    <a:pt x="295" y="66"/>
                    <a:pt x="229" y="0"/>
                    <a:pt x="148" y="0"/>
                  </a:cubicBezTo>
                  <a:close/>
                  <a:moveTo>
                    <a:pt x="148" y="280"/>
                  </a:moveTo>
                  <a:cubicBezTo>
                    <a:pt x="74" y="280"/>
                    <a:pt x="15" y="220"/>
                    <a:pt x="15" y="147"/>
                  </a:cubicBezTo>
                  <a:cubicBezTo>
                    <a:pt x="15" y="74"/>
                    <a:pt x="74" y="14"/>
                    <a:pt x="148" y="14"/>
                  </a:cubicBezTo>
                  <a:cubicBezTo>
                    <a:pt x="221" y="14"/>
                    <a:pt x="280" y="74"/>
                    <a:pt x="280" y="147"/>
                  </a:cubicBezTo>
                  <a:cubicBezTo>
                    <a:pt x="280" y="220"/>
                    <a:pt x="221" y="280"/>
                    <a:pt x="148" y="280"/>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52" name="Freeform 1791"/>
            <p:cNvSpPr>
              <a:spLocks noChangeArrowheads="1"/>
            </p:cNvSpPr>
            <p:nvPr/>
          </p:nvSpPr>
          <p:spPr bwMode="auto">
            <a:xfrm>
              <a:off x="3830703" y="919747"/>
              <a:ext cx="404813" cy="388937"/>
            </a:xfrm>
            <a:custGeom>
              <a:avLst/>
              <a:gdLst>
                <a:gd name="T0" fmla="*/ 281120 w 108"/>
                <a:gd name="T1" fmla="*/ 388937 h 104"/>
                <a:gd name="T2" fmla="*/ 209903 w 108"/>
                <a:gd name="T3" fmla="*/ 299182 h 104"/>
                <a:gd name="T4" fmla="*/ 0 w 108"/>
                <a:gd name="T5" fmla="*/ 172030 h 104"/>
                <a:gd name="T6" fmla="*/ 202407 w 108"/>
                <a:gd name="T7" fmla="*/ 0 h 104"/>
                <a:gd name="T8" fmla="*/ 404813 w 108"/>
                <a:gd name="T9" fmla="*/ 201948 h 104"/>
                <a:gd name="T10" fmla="*/ 281120 w 108"/>
                <a:gd name="T11" fmla="*/ 388937 h 104"/>
                <a:gd name="T12" fmla="*/ 0 60000 65536"/>
                <a:gd name="T13" fmla="*/ 0 60000 65536"/>
                <a:gd name="T14" fmla="*/ 0 60000 65536"/>
                <a:gd name="T15" fmla="*/ 0 60000 65536"/>
                <a:gd name="T16" fmla="*/ 0 60000 65536"/>
                <a:gd name="T17" fmla="*/ 0 60000 65536"/>
                <a:gd name="T18" fmla="*/ 0 w 108"/>
                <a:gd name="T19" fmla="*/ 0 h 104"/>
                <a:gd name="T20" fmla="*/ 108 w 108"/>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8" h="104">
                  <a:moveTo>
                    <a:pt x="75" y="104"/>
                  </a:moveTo>
                  <a:cubicBezTo>
                    <a:pt x="70" y="95"/>
                    <a:pt x="63" y="87"/>
                    <a:pt x="56" y="80"/>
                  </a:cubicBezTo>
                  <a:cubicBezTo>
                    <a:pt x="40" y="64"/>
                    <a:pt x="21" y="52"/>
                    <a:pt x="0" y="46"/>
                  </a:cubicBezTo>
                  <a:cubicBezTo>
                    <a:pt x="4" y="20"/>
                    <a:pt x="26" y="0"/>
                    <a:pt x="54" y="0"/>
                  </a:cubicBezTo>
                  <a:cubicBezTo>
                    <a:pt x="84" y="0"/>
                    <a:pt x="108" y="24"/>
                    <a:pt x="108" y="54"/>
                  </a:cubicBezTo>
                  <a:cubicBezTo>
                    <a:pt x="108" y="76"/>
                    <a:pt x="94" y="95"/>
                    <a:pt x="75" y="104"/>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54" name="矩形 1"/>
            <p:cNvSpPr>
              <a:spLocks noChangeArrowheads="1"/>
            </p:cNvSpPr>
            <p:nvPr/>
          </p:nvSpPr>
          <p:spPr bwMode="auto">
            <a:xfrm>
              <a:off x="3259138" y="1238568"/>
              <a:ext cx="846137" cy="781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spcBef>
                  <a:spcPct val="0"/>
                </a:spcBef>
              </a:pPr>
              <a:r>
                <a:rPr lang="zh-CN" altLang="en-US" sz="2400" dirty="0">
                  <a:solidFill>
                    <a:srgbClr val="00B0F0"/>
                  </a:solidFill>
                  <a:latin typeface="微软雅黑" panose="020B0503020204020204" pitchFamily="34" charset="-122"/>
                  <a:ea typeface="微软雅黑" panose="020B0503020204020204" pitchFamily="34" charset="-122"/>
                </a:rPr>
                <a:t>表达性</a:t>
              </a:r>
            </a:p>
          </p:txBody>
        </p:sp>
      </p:grpSp>
      <p:grpSp>
        <p:nvGrpSpPr>
          <p:cNvPr id="55" name="组合 54"/>
          <p:cNvGrpSpPr/>
          <p:nvPr/>
        </p:nvGrpSpPr>
        <p:grpSpPr>
          <a:xfrm>
            <a:off x="7035800" y="3126238"/>
            <a:ext cx="1200723" cy="934598"/>
            <a:chOff x="3759200" y="2419350"/>
            <a:chExt cx="933818" cy="757247"/>
          </a:xfrm>
        </p:grpSpPr>
        <p:sp>
          <p:nvSpPr>
            <p:cNvPr id="56" name="Freeform 13"/>
            <p:cNvSpPr>
              <a:spLocks noEditPoints="1" noChangeArrowheads="1"/>
            </p:cNvSpPr>
            <p:nvPr/>
          </p:nvSpPr>
          <p:spPr bwMode="auto">
            <a:xfrm>
              <a:off x="3759200" y="2419350"/>
              <a:ext cx="757238" cy="757238"/>
            </a:xfrm>
            <a:custGeom>
              <a:avLst/>
              <a:gdLst>
                <a:gd name="T0" fmla="*/ 378619 w 202"/>
                <a:gd name="T1" fmla="*/ 0 h 202"/>
                <a:gd name="T2" fmla="*/ 0 w 202"/>
                <a:gd name="T3" fmla="*/ 378619 h 202"/>
                <a:gd name="T4" fmla="*/ 378619 w 202"/>
                <a:gd name="T5" fmla="*/ 757238 h 202"/>
                <a:gd name="T6" fmla="*/ 757238 w 202"/>
                <a:gd name="T7" fmla="*/ 378619 h 202"/>
                <a:gd name="T8" fmla="*/ 378619 w 202"/>
                <a:gd name="T9" fmla="*/ 0 h 202"/>
                <a:gd name="T10" fmla="*/ 378619 w 202"/>
                <a:gd name="T11" fmla="*/ 719751 h 202"/>
                <a:gd name="T12" fmla="*/ 37487 w 202"/>
                <a:gd name="T13" fmla="*/ 378619 h 202"/>
                <a:gd name="T14" fmla="*/ 378619 w 202"/>
                <a:gd name="T15" fmla="*/ 37487 h 202"/>
                <a:gd name="T16" fmla="*/ 719751 w 202"/>
                <a:gd name="T17" fmla="*/ 378619 h 202"/>
                <a:gd name="T18" fmla="*/ 378619 w 202"/>
                <a:gd name="T19" fmla="*/ 71975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2"/>
                <a:gd name="T31" fmla="*/ 0 h 202"/>
                <a:gd name="T32" fmla="*/ 202 w 202"/>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2" h="202">
                  <a:moveTo>
                    <a:pt x="101" y="0"/>
                  </a:moveTo>
                  <a:cubicBezTo>
                    <a:pt x="46" y="0"/>
                    <a:pt x="0" y="45"/>
                    <a:pt x="0" y="101"/>
                  </a:cubicBezTo>
                  <a:cubicBezTo>
                    <a:pt x="0" y="157"/>
                    <a:pt x="46" y="202"/>
                    <a:pt x="101" y="202"/>
                  </a:cubicBezTo>
                  <a:cubicBezTo>
                    <a:pt x="157" y="202"/>
                    <a:pt x="202" y="157"/>
                    <a:pt x="202" y="101"/>
                  </a:cubicBezTo>
                  <a:cubicBezTo>
                    <a:pt x="202" y="45"/>
                    <a:pt x="157" y="0"/>
                    <a:pt x="101" y="0"/>
                  </a:cubicBezTo>
                  <a:close/>
                  <a:moveTo>
                    <a:pt x="101" y="192"/>
                  </a:moveTo>
                  <a:cubicBezTo>
                    <a:pt x="51" y="192"/>
                    <a:pt x="10" y="151"/>
                    <a:pt x="10" y="101"/>
                  </a:cubicBezTo>
                  <a:cubicBezTo>
                    <a:pt x="10" y="51"/>
                    <a:pt x="51" y="10"/>
                    <a:pt x="101" y="10"/>
                  </a:cubicBezTo>
                  <a:cubicBezTo>
                    <a:pt x="151" y="10"/>
                    <a:pt x="192" y="51"/>
                    <a:pt x="192" y="101"/>
                  </a:cubicBezTo>
                  <a:cubicBezTo>
                    <a:pt x="192" y="151"/>
                    <a:pt x="151" y="192"/>
                    <a:pt x="101" y="192"/>
                  </a:cubicBezTo>
                  <a:close/>
                </a:path>
              </a:pathLst>
            </a:custGeom>
            <a:solidFill>
              <a:srgbClr val="00B0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57" name="Freeform 1792"/>
            <p:cNvSpPr>
              <a:spLocks noChangeArrowheads="1"/>
            </p:cNvSpPr>
            <p:nvPr/>
          </p:nvSpPr>
          <p:spPr bwMode="auto">
            <a:xfrm rot="3360000">
              <a:off x="4386940" y="2658918"/>
              <a:ext cx="324163" cy="287993"/>
            </a:xfrm>
            <a:custGeom>
              <a:avLst/>
              <a:gdLst>
                <a:gd name="T0" fmla="*/ 217430 w 83"/>
                <a:gd name="T1" fmla="*/ 300037 h 80"/>
                <a:gd name="T2" fmla="*/ 161198 w 83"/>
                <a:gd name="T3" fmla="*/ 232529 h 80"/>
                <a:gd name="T4" fmla="*/ 0 w 83"/>
                <a:gd name="T5" fmla="*/ 131266 h 80"/>
                <a:gd name="T6" fmla="*/ 157449 w 83"/>
                <a:gd name="T7" fmla="*/ 0 h 80"/>
                <a:gd name="T8" fmla="*/ 311150 w 83"/>
                <a:gd name="T9" fmla="*/ 157519 h 80"/>
                <a:gd name="T10" fmla="*/ 217430 w 83"/>
                <a:gd name="T11" fmla="*/ 300037 h 80"/>
                <a:gd name="T12" fmla="*/ 0 60000 65536"/>
                <a:gd name="T13" fmla="*/ 0 60000 65536"/>
                <a:gd name="T14" fmla="*/ 0 60000 65536"/>
                <a:gd name="T15" fmla="*/ 0 60000 65536"/>
                <a:gd name="T16" fmla="*/ 0 60000 65536"/>
                <a:gd name="T17" fmla="*/ 0 60000 65536"/>
                <a:gd name="T18" fmla="*/ 0 w 83"/>
                <a:gd name="T19" fmla="*/ 0 h 80"/>
                <a:gd name="T20" fmla="*/ 83 w 83"/>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3" h="80">
                  <a:moveTo>
                    <a:pt x="58" y="80"/>
                  </a:moveTo>
                  <a:cubicBezTo>
                    <a:pt x="54" y="73"/>
                    <a:pt x="49" y="67"/>
                    <a:pt x="43" y="62"/>
                  </a:cubicBezTo>
                  <a:cubicBezTo>
                    <a:pt x="31" y="49"/>
                    <a:pt x="16" y="40"/>
                    <a:pt x="0" y="35"/>
                  </a:cubicBezTo>
                  <a:cubicBezTo>
                    <a:pt x="3" y="15"/>
                    <a:pt x="21" y="0"/>
                    <a:pt x="42" y="0"/>
                  </a:cubicBezTo>
                  <a:cubicBezTo>
                    <a:pt x="65" y="0"/>
                    <a:pt x="83" y="18"/>
                    <a:pt x="83" y="42"/>
                  </a:cubicBezTo>
                  <a:cubicBezTo>
                    <a:pt x="83" y="59"/>
                    <a:pt x="73" y="74"/>
                    <a:pt x="58" y="80"/>
                  </a:cubicBezTo>
                  <a:close/>
                </a:path>
              </a:pathLst>
            </a:custGeom>
            <a:solidFill>
              <a:srgbClr val="00B0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59" name="矩形 1"/>
            <p:cNvSpPr>
              <a:spLocks noChangeArrowheads="1"/>
            </p:cNvSpPr>
            <p:nvPr/>
          </p:nvSpPr>
          <p:spPr bwMode="auto">
            <a:xfrm>
              <a:off x="3772288" y="2540159"/>
              <a:ext cx="730250" cy="63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spcBef>
                  <a:spcPct val="0"/>
                </a:spcBef>
              </a:pPr>
              <a:r>
                <a:rPr lang="zh-CN" altLang="en-US" sz="2200" dirty="0">
                  <a:solidFill>
                    <a:srgbClr val="2EBE70"/>
                  </a:solidFill>
                  <a:latin typeface="微软雅黑" panose="020B0503020204020204" pitchFamily="34" charset="-122"/>
                  <a:ea typeface="微软雅黑" panose="020B0503020204020204" pitchFamily="34" charset="-122"/>
                </a:rPr>
                <a:t>意图性</a:t>
              </a:r>
            </a:p>
          </p:txBody>
        </p:sp>
      </p:grpSp>
      <p:grpSp>
        <p:nvGrpSpPr>
          <p:cNvPr id="60" name="组合 59"/>
          <p:cNvGrpSpPr/>
          <p:nvPr/>
        </p:nvGrpSpPr>
        <p:grpSpPr>
          <a:xfrm>
            <a:off x="6276975" y="4270058"/>
            <a:ext cx="1196182" cy="1209199"/>
            <a:chOff x="3000375" y="3386138"/>
            <a:chExt cx="1196182" cy="1209199"/>
          </a:xfrm>
        </p:grpSpPr>
        <p:sp>
          <p:nvSpPr>
            <p:cNvPr id="61" name="Freeform 14"/>
            <p:cNvSpPr>
              <a:spLocks noEditPoints="1" noChangeArrowheads="1"/>
            </p:cNvSpPr>
            <p:nvPr/>
          </p:nvSpPr>
          <p:spPr bwMode="auto">
            <a:xfrm>
              <a:off x="3000375" y="3386138"/>
              <a:ext cx="1122363" cy="1117600"/>
            </a:xfrm>
            <a:custGeom>
              <a:avLst/>
              <a:gdLst>
                <a:gd name="T0" fmla="*/ 559305 w 299"/>
                <a:gd name="T1" fmla="*/ 0 h 298"/>
                <a:gd name="T2" fmla="*/ 0 w 299"/>
                <a:gd name="T3" fmla="*/ 558800 h 298"/>
                <a:gd name="T4" fmla="*/ 559305 w 299"/>
                <a:gd name="T5" fmla="*/ 1117600 h 298"/>
                <a:gd name="T6" fmla="*/ 1122363 w 299"/>
                <a:gd name="T7" fmla="*/ 558800 h 298"/>
                <a:gd name="T8" fmla="*/ 559305 w 299"/>
                <a:gd name="T9" fmla="*/ 0 h 298"/>
                <a:gd name="T10" fmla="*/ 559305 w 299"/>
                <a:gd name="T11" fmla="*/ 1065095 h 298"/>
                <a:gd name="T12" fmla="*/ 56306 w 299"/>
                <a:gd name="T13" fmla="*/ 558800 h 298"/>
                <a:gd name="T14" fmla="*/ 559305 w 299"/>
                <a:gd name="T15" fmla="*/ 56255 h 298"/>
                <a:gd name="T16" fmla="*/ 1066057 w 299"/>
                <a:gd name="T17" fmla="*/ 558800 h 298"/>
                <a:gd name="T18" fmla="*/ 559305 w 299"/>
                <a:gd name="T19" fmla="*/ 1065095 h 2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9"/>
                <a:gd name="T31" fmla="*/ 0 h 298"/>
                <a:gd name="T32" fmla="*/ 299 w 299"/>
                <a:gd name="T33" fmla="*/ 298 h 2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9" h="298">
                  <a:moveTo>
                    <a:pt x="149" y="0"/>
                  </a:moveTo>
                  <a:cubicBezTo>
                    <a:pt x="67" y="0"/>
                    <a:pt x="0" y="67"/>
                    <a:pt x="0" y="149"/>
                  </a:cubicBezTo>
                  <a:cubicBezTo>
                    <a:pt x="0" y="232"/>
                    <a:pt x="67" y="298"/>
                    <a:pt x="149" y="298"/>
                  </a:cubicBezTo>
                  <a:cubicBezTo>
                    <a:pt x="232" y="298"/>
                    <a:pt x="299" y="232"/>
                    <a:pt x="299" y="149"/>
                  </a:cubicBezTo>
                  <a:cubicBezTo>
                    <a:pt x="299" y="67"/>
                    <a:pt x="232" y="0"/>
                    <a:pt x="149" y="0"/>
                  </a:cubicBezTo>
                  <a:close/>
                  <a:moveTo>
                    <a:pt x="149" y="284"/>
                  </a:moveTo>
                  <a:cubicBezTo>
                    <a:pt x="75" y="284"/>
                    <a:pt x="15" y="223"/>
                    <a:pt x="15" y="149"/>
                  </a:cubicBezTo>
                  <a:cubicBezTo>
                    <a:pt x="15" y="75"/>
                    <a:pt x="75" y="15"/>
                    <a:pt x="149" y="15"/>
                  </a:cubicBezTo>
                  <a:cubicBezTo>
                    <a:pt x="223" y="15"/>
                    <a:pt x="284" y="75"/>
                    <a:pt x="284" y="149"/>
                  </a:cubicBezTo>
                  <a:cubicBezTo>
                    <a:pt x="284" y="223"/>
                    <a:pt x="223" y="284"/>
                    <a:pt x="149" y="284"/>
                  </a:cubicBezTo>
                  <a:close/>
                </a:path>
              </a:pathLst>
            </a:custGeom>
            <a:solidFill>
              <a:srgbClr val="0070C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62" name="Freeform 1790"/>
            <p:cNvSpPr>
              <a:spLocks noChangeArrowheads="1"/>
            </p:cNvSpPr>
            <p:nvPr/>
          </p:nvSpPr>
          <p:spPr bwMode="auto">
            <a:xfrm rot="5880000">
              <a:off x="3797300" y="4196080"/>
              <a:ext cx="404813" cy="393700"/>
            </a:xfrm>
            <a:custGeom>
              <a:avLst/>
              <a:gdLst>
                <a:gd name="T0" fmla="*/ 281120 w 108"/>
                <a:gd name="T1" fmla="*/ 393700 h 105"/>
                <a:gd name="T2" fmla="*/ 206155 w 108"/>
                <a:gd name="T3" fmla="*/ 303711 h 105"/>
                <a:gd name="T4" fmla="*/ 0 w 108"/>
                <a:gd name="T5" fmla="*/ 172478 h 105"/>
                <a:gd name="T6" fmla="*/ 198658 w 108"/>
                <a:gd name="T7" fmla="*/ 0 h 105"/>
                <a:gd name="T8" fmla="*/ 404813 w 108"/>
                <a:gd name="T9" fmla="*/ 206224 h 105"/>
                <a:gd name="T10" fmla="*/ 281120 w 108"/>
                <a:gd name="T11" fmla="*/ 393700 h 105"/>
                <a:gd name="T12" fmla="*/ 0 60000 65536"/>
                <a:gd name="T13" fmla="*/ 0 60000 65536"/>
                <a:gd name="T14" fmla="*/ 0 60000 65536"/>
                <a:gd name="T15" fmla="*/ 0 60000 65536"/>
                <a:gd name="T16" fmla="*/ 0 60000 65536"/>
                <a:gd name="T17" fmla="*/ 0 60000 65536"/>
                <a:gd name="T18" fmla="*/ 0 w 108"/>
                <a:gd name="T19" fmla="*/ 0 h 105"/>
                <a:gd name="T20" fmla="*/ 108 w 108"/>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108" h="105">
                  <a:moveTo>
                    <a:pt x="75" y="105"/>
                  </a:moveTo>
                  <a:cubicBezTo>
                    <a:pt x="69" y="96"/>
                    <a:pt x="63" y="88"/>
                    <a:pt x="55" y="81"/>
                  </a:cubicBezTo>
                  <a:cubicBezTo>
                    <a:pt x="40" y="65"/>
                    <a:pt x="20" y="53"/>
                    <a:pt x="0" y="46"/>
                  </a:cubicBezTo>
                  <a:cubicBezTo>
                    <a:pt x="4" y="20"/>
                    <a:pt x="26" y="0"/>
                    <a:pt x="53" y="0"/>
                  </a:cubicBezTo>
                  <a:cubicBezTo>
                    <a:pt x="83" y="0"/>
                    <a:pt x="108" y="25"/>
                    <a:pt x="108" y="55"/>
                  </a:cubicBezTo>
                  <a:cubicBezTo>
                    <a:pt x="108" y="77"/>
                    <a:pt x="94" y="96"/>
                    <a:pt x="75" y="105"/>
                  </a:cubicBezTo>
                  <a:close/>
                </a:path>
              </a:pathLst>
            </a:custGeom>
            <a:solidFill>
              <a:srgbClr val="0070C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64" name="矩形 1"/>
            <p:cNvSpPr>
              <a:spLocks noChangeArrowheads="1"/>
            </p:cNvSpPr>
            <p:nvPr/>
          </p:nvSpPr>
          <p:spPr bwMode="auto">
            <a:xfrm>
              <a:off x="3151823" y="3644583"/>
              <a:ext cx="809625" cy="722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spcBef>
                  <a:spcPct val="0"/>
                </a:spcBef>
              </a:pPr>
              <a:r>
                <a:rPr lang="zh-CN" altLang="en-US" sz="2000" dirty="0">
                  <a:solidFill>
                    <a:srgbClr val="0070C0"/>
                  </a:solidFill>
                  <a:latin typeface="微软雅黑" panose="020B0503020204020204" pitchFamily="34" charset="-122"/>
                  <a:ea typeface="微软雅黑" panose="020B0503020204020204" pitchFamily="34" charset="-122"/>
                </a:rPr>
                <a:t>合作性</a:t>
              </a:r>
            </a:p>
          </p:txBody>
        </p:sp>
      </p:grpSp>
      <p:grpSp>
        <p:nvGrpSpPr>
          <p:cNvPr id="65" name="组合 64"/>
          <p:cNvGrpSpPr/>
          <p:nvPr/>
        </p:nvGrpSpPr>
        <p:grpSpPr>
          <a:xfrm>
            <a:off x="3883661" y="4350918"/>
            <a:ext cx="2161539" cy="1520927"/>
            <a:chOff x="1175356" y="3430588"/>
            <a:chExt cx="1554401" cy="1139825"/>
          </a:xfrm>
        </p:grpSpPr>
        <p:sp>
          <p:nvSpPr>
            <p:cNvPr id="66" name="Freeform 10"/>
            <p:cNvSpPr>
              <a:spLocks noEditPoints="1" noChangeArrowheads="1"/>
            </p:cNvSpPr>
            <p:nvPr/>
          </p:nvSpPr>
          <p:spPr bwMode="auto">
            <a:xfrm>
              <a:off x="1389063" y="3430588"/>
              <a:ext cx="1139825" cy="1139825"/>
            </a:xfrm>
            <a:custGeom>
              <a:avLst/>
              <a:gdLst>
                <a:gd name="T0" fmla="*/ 569913 w 304"/>
                <a:gd name="T1" fmla="*/ 0 h 304"/>
                <a:gd name="T2" fmla="*/ 0 w 304"/>
                <a:gd name="T3" fmla="*/ 569913 h 304"/>
                <a:gd name="T4" fmla="*/ 569913 w 304"/>
                <a:gd name="T5" fmla="*/ 1139825 h 304"/>
                <a:gd name="T6" fmla="*/ 1139825 w 304"/>
                <a:gd name="T7" fmla="*/ 569913 h 304"/>
                <a:gd name="T8" fmla="*/ 569913 w 304"/>
                <a:gd name="T9" fmla="*/ 0 h 304"/>
                <a:gd name="T10" fmla="*/ 569913 w 304"/>
                <a:gd name="T11" fmla="*/ 1083584 h 304"/>
                <a:gd name="T12" fmla="*/ 56241 w 304"/>
                <a:gd name="T13" fmla="*/ 569913 h 304"/>
                <a:gd name="T14" fmla="*/ 569913 w 304"/>
                <a:gd name="T15" fmla="*/ 56241 h 304"/>
                <a:gd name="T16" fmla="*/ 1083584 w 304"/>
                <a:gd name="T17" fmla="*/ 569913 h 304"/>
                <a:gd name="T18" fmla="*/ 569913 w 304"/>
                <a:gd name="T19" fmla="*/ 1083584 h 3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4"/>
                <a:gd name="T31" fmla="*/ 0 h 304"/>
                <a:gd name="T32" fmla="*/ 304 w 304"/>
                <a:gd name="T33" fmla="*/ 304 h 3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4" h="304">
                  <a:moveTo>
                    <a:pt x="152" y="0"/>
                  </a:moveTo>
                  <a:cubicBezTo>
                    <a:pt x="68" y="0"/>
                    <a:pt x="0" y="68"/>
                    <a:pt x="0" y="152"/>
                  </a:cubicBezTo>
                  <a:cubicBezTo>
                    <a:pt x="0" y="236"/>
                    <a:pt x="68" y="304"/>
                    <a:pt x="152" y="304"/>
                  </a:cubicBezTo>
                  <a:cubicBezTo>
                    <a:pt x="236" y="304"/>
                    <a:pt x="304" y="236"/>
                    <a:pt x="304" y="152"/>
                  </a:cubicBezTo>
                  <a:cubicBezTo>
                    <a:pt x="304" y="68"/>
                    <a:pt x="236" y="0"/>
                    <a:pt x="152" y="0"/>
                  </a:cubicBezTo>
                  <a:close/>
                  <a:moveTo>
                    <a:pt x="152" y="289"/>
                  </a:moveTo>
                  <a:cubicBezTo>
                    <a:pt x="76" y="289"/>
                    <a:pt x="15" y="228"/>
                    <a:pt x="15" y="152"/>
                  </a:cubicBezTo>
                  <a:cubicBezTo>
                    <a:pt x="15" y="76"/>
                    <a:pt x="76" y="15"/>
                    <a:pt x="152" y="15"/>
                  </a:cubicBezTo>
                  <a:cubicBezTo>
                    <a:pt x="228" y="15"/>
                    <a:pt x="289" y="76"/>
                    <a:pt x="289" y="152"/>
                  </a:cubicBezTo>
                  <a:cubicBezTo>
                    <a:pt x="289" y="228"/>
                    <a:pt x="228" y="289"/>
                    <a:pt x="152" y="289"/>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67" name="Freeform 1788"/>
            <p:cNvSpPr>
              <a:spLocks noChangeArrowheads="1"/>
            </p:cNvSpPr>
            <p:nvPr/>
          </p:nvSpPr>
          <p:spPr bwMode="auto">
            <a:xfrm rot="19320000">
              <a:off x="1175356" y="3651952"/>
              <a:ext cx="404812" cy="393700"/>
            </a:xfrm>
            <a:custGeom>
              <a:avLst/>
              <a:gdLst>
                <a:gd name="T0" fmla="*/ 123693 w 108"/>
                <a:gd name="T1" fmla="*/ 393700 h 105"/>
                <a:gd name="T2" fmla="*/ 194909 w 108"/>
                <a:gd name="T3" fmla="*/ 303711 h 105"/>
                <a:gd name="T4" fmla="*/ 404812 w 108"/>
                <a:gd name="T5" fmla="*/ 172478 h 105"/>
                <a:gd name="T6" fmla="*/ 202406 w 108"/>
                <a:gd name="T7" fmla="*/ 0 h 105"/>
                <a:gd name="T8" fmla="*/ 0 w 108"/>
                <a:gd name="T9" fmla="*/ 206224 h 105"/>
                <a:gd name="T10" fmla="*/ 123693 w 108"/>
                <a:gd name="T11" fmla="*/ 393700 h 105"/>
                <a:gd name="T12" fmla="*/ 0 60000 65536"/>
                <a:gd name="T13" fmla="*/ 0 60000 65536"/>
                <a:gd name="T14" fmla="*/ 0 60000 65536"/>
                <a:gd name="T15" fmla="*/ 0 60000 65536"/>
                <a:gd name="T16" fmla="*/ 0 60000 65536"/>
                <a:gd name="T17" fmla="*/ 0 60000 65536"/>
                <a:gd name="T18" fmla="*/ 0 w 108"/>
                <a:gd name="T19" fmla="*/ 0 h 105"/>
                <a:gd name="T20" fmla="*/ 108 w 108"/>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108" h="105">
                  <a:moveTo>
                    <a:pt x="33" y="105"/>
                  </a:moveTo>
                  <a:cubicBezTo>
                    <a:pt x="38" y="96"/>
                    <a:pt x="44" y="88"/>
                    <a:pt x="52" y="81"/>
                  </a:cubicBezTo>
                  <a:cubicBezTo>
                    <a:pt x="68" y="65"/>
                    <a:pt x="87" y="53"/>
                    <a:pt x="108" y="46"/>
                  </a:cubicBezTo>
                  <a:cubicBezTo>
                    <a:pt x="104" y="20"/>
                    <a:pt x="81" y="0"/>
                    <a:pt x="54" y="0"/>
                  </a:cubicBezTo>
                  <a:cubicBezTo>
                    <a:pt x="24" y="0"/>
                    <a:pt x="0" y="25"/>
                    <a:pt x="0" y="55"/>
                  </a:cubicBezTo>
                  <a:cubicBezTo>
                    <a:pt x="0" y="77"/>
                    <a:pt x="13" y="96"/>
                    <a:pt x="33" y="105"/>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solidFill>
                  <a:schemeClr val="accent1"/>
                </a:solidFill>
              </a:endParaRPr>
            </a:p>
          </p:txBody>
        </p:sp>
        <p:sp>
          <p:nvSpPr>
            <p:cNvPr id="69" name="矩形 1"/>
            <p:cNvSpPr>
              <a:spLocks noChangeArrowheads="1"/>
            </p:cNvSpPr>
            <p:nvPr/>
          </p:nvSpPr>
          <p:spPr bwMode="auto">
            <a:xfrm>
              <a:off x="1495317" y="3794575"/>
              <a:ext cx="1234440" cy="41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spcBef>
                  <a:spcPct val="0"/>
                </a:spcBef>
              </a:pPr>
              <a:r>
                <a:rPr lang="zh-CN" altLang="en-US" sz="2800" dirty="0">
                  <a:solidFill>
                    <a:srgbClr val="548235"/>
                  </a:solidFill>
                  <a:latin typeface="微软雅黑" panose="020B0503020204020204" pitchFamily="34" charset="-122"/>
                  <a:ea typeface="微软雅黑" panose="020B0503020204020204" pitchFamily="34" charset="-122"/>
                </a:rPr>
                <a:t>用户化</a:t>
              </a:r>
            </a:p>
          </p:txBody>
        </p:sp>
      </p:grpSp>
      <p:sp>
        <p:nvSpPr>
          <p:cNvPr id="70" name="文本框 69"/>
          <p:cNvSpPr txBox="1"/>
          <p:nvPr/>
        </p:nvSpPr>
        <p:spPr>
          <a:xfrm>
            <a:off x="7637780" y="1337310"/>
            <a:ext cx="2906395" cy="7226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Agent 必须接受和理解不同形式的查询</a:t>
            </a:r>
          </a:p>
        </p:txBody>
      </p:sp>
      <p:sp>
        <p:nvSpPr>
          <p:cNvPr id="71" name="文本框 70"/>
          <p:cNvSpPr txBox="1"/>
          <p:nvPr/>
        </p:nvSpPr>
        <p:spPr>
          <a:xfrm>
            <a:off x="8432165" y="3096895"/>
            <a:ext cx="2906395" cy="10274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Agent 必须知道“什么时候”和“如何完成”一个目标任务</a:t>
            </a:r>
          </a:p>
        </p:txBody>
      </p:sp>
      <p:sp>
        <p:nvSpPr>
          <p:cNvPr id="72" name="文本框 71"/>
          <p:cNvSpPr txBox="1"/>
          <p:nvPr/>
        </p:nvSpPr>
        <p:spPr>
          <a:xfrm>
            <a:off x="7142480" y="5713095"/>
            <a:ext cx="3896995" cy="40011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Agent 必须同用户进行合作</a:t>
            </a:r>
          </a:p>
        </p:txBody>
      </p:sp>
      <p:sp>
        <p:nvSpPr>
          <p:cNvPr id="73" name="文本框 72"/>
          <p:cNvSpPr txBox="1"/>
          <p:nvPr/>
        </p:nvSpPr>
        <p:spPr>
          <a:xfrm>
            <a:off x="463550" y="4528820"/>
            <a:ext cx="3565525" cy="40011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Agent 能够适应不同的用户</a:t>
            </a:r>
          </a:p>
        </p:txBody>
      </p:sp>
      <p:sp>
        <p:nvSpPr>
          <p:cNvPr id="74" name="文本框 73"/>
          <p:cNvSpPr txBox="1"/>
          <p:nvPr/>
        </p:nvSpPr>
        <p:spPr>
          <a:xfrm>
            <a:off x="1347470" y="1050925"/>
            <a:ext cx="3565525"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智能 Agents 技术特点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p:cTn id="13" dur="500" fill="hold"/>
                                        <p:tgtEl>
                                          <p:spTgt spid="41"/>
                                        </p:tgtEl>
                                        <p:attrNameLst>
                                          <p:attrName>ppt_w</p:attrName>
                                        </p:attrNameLst>
                                      </p:cBhvr>
                                      <p:tavLst>
                                        <p:tav tm="0">
                                          <p:val>
                                            <p:fltVal val="0"/>
                                          </p:val>
                                        </p:tav>
                                        <p:tav tm="100000">
                                          <p:val>
                                            <p:strVal val="#ppt_w"/>
                                          </p:val>
                                        </p:tav>
                                      </p:tavLst>
                                    </p:anim>
                                    <p:anim calcmode="lin" valueType="num">
                                      <p:cBhvr>
                                        <p:cTn id="14" dur="500" fill="hold"/>
                                        <p:tgtEl>
                                          <p:spTgt spid="41"/>
                                        </p:tgtEl>
                                        <p:attrNameLst>
                                          <p:attrName>ppt_h</p:attrName>
                                        </p:attrNameLst>
                                      </p:cBhvr>
                                      <p:tavLst>
                                        <p:tav tm="0">
                                          <p:val>
                                            <p:fltVal val="0"/>
                                          </p:val>
                                        </p:tav>
                                        <p:tav tm="100000">
                                          <p:val>
                                            <p:strVal val="#ppt_h"/>
                                          </p:val>
                                        </p:tav>
                                      </p:tavLst>
                                    </p:anim>
                                    <p:animEffect transition="in" filter="fade">
                                      <p:cBhvr>
                                        <p:cTn id="15" dur="500"/>
                                        <p:tgtEl>
                                          <p:spTgt spid="4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p:cTn id="19" dur="500" fill="hold"/>
                                        <p:tgtEl>
                                          <p:spTgt spid="42"/>
                                        </p:tgtEl>
                                        <p:attrNameLst>
                                          <p:attrName>ppt_w</p:attrName>
                                        </p:attrNameLst>
                                      </p:cBhvr>
                                      <p:tavLst>
                                        <p:tav tm="0">
                                          <p:val>
                                            <p:fltVal val="0"/>
                                          </p:val>
                                        </p:tav>
                                        <p:tav tm="100000">
                                          <p:val>
                                            <p:strVal val="#ppt_w"/>
                                          </p:val>
                                        </p:tav>
                                      </p:tavLst>
                                    </p:anim>
                                    <p:anim calcmode="lin" valueType="num">
                                      <p:cBhvr>
                                        <p:cTn id="20" dur="500" fill="hold"/>
                                        <p:tgtEl>
                                          <p:spTgt spid="42"/>
                                        </p:tgtEl>
                                        <p:attrNameLst>
                                          <p:attrName>ppt_h</p:attrName>
                                        </p:attrNameLst>
                                      </p:cBhvr>
                                      <p:tavLst>
                                        <p:tav tm="0">
                                          <p:val>
                                            <p:fltVal val="0"/>
                                          </p:val>
                                        </p:tav>
                                        <p:tav tm="100000">
                                          <p:val>
                                            <p:strVal val="#ppt_h"/>
                                          </p:val>
                                        </p:tav>
                                      </p:tavLst>
                                    </p:anim>
                                    <p:animEffect transition="in" filter="fade">
                                      <p:cBhvr>
                                        <p:cTn id="21" dur="500"/>
                                        <p:tgtEl>
                                          <p:spTgt spid="4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p:cTn id="25" dur="500" fill="hold"/>
                                        <p:tgtEl>
                                          <p:spTgt spid="43"/>
                                        </p:tgtEl>
                                        <p:attrNameLst>
                                          <p:attrName>ppt_w</p:attrName>
                                        </p:attrNameLst>
                                      </p:cBhvr>
                                      <p:tavLst>
                                        <p:tav tm="0">
                                          <p:val>
                                            <p:fltVal val="0"/>
                                          </p:val>
                                        </p:tav>
                                        <p:tav tm="100000">
                                          <p:val>
                                            <p:strVal val="#ppt_w"/>
                                          </p:val>
                                        </p:tav>
                                      </p:tavLst>
                                    </p:anim>
                                    <p:anim calcmode="lin" valueType="num">
                                      <p:cBhvr>
                                        <p:cTn id="26" dur="500" fill="hold"/>
                                        <p:tgtEl>
                                          <p:spTgt spid="43"/>
                                        </p:tgtEl>
                                        <p:attrNameLst>
                                          <p:attrName>ppt_h</p:attrName>
                                        </p:attrNameLst>
                                      </p:cBhvr>
                                      <p:tavLst>
                                        <p:tav tm="0">
                                          <p:val>
                                            <p:fltVal val="0"/>
                                          </p:val>
                                        </p:tav>
                                        <p:tav tm="100000">
                                          <p:val>
                                            <p:strVal val="#ppt_h"/>
                                          </p:val>
                                        </p:tav>
                                      </p:tavLst>
                                    </p:anim>
                                    <p:animEffect transition="in" filter="fade">
                                      <p:cBhvr>
                                        <p:cTn id="27" dur="500"/>
                                        <p:tgtEl>
                                          <p:spTgt spid="43"/>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p:cTn id="31" dur="500" fill="hold"/>
                                        <p:tgtEl>
                                          <p:spTgt spid="44"/>
                                        </p:tgtEl>
                                        <p:attrNameLst>
                                          <p:attrName>ppt_w</p:attrName>
                                        </p:attrNameLst>
                                      </p:cBhvr>
                                      <p:tavLst>
                                        <p:tav tm="0">
                                          <p:val>
                                            <p:fltVal val="0"/>
                                          </p:val>
                                        </p:tav>
                                        <p:tav tm="100000">
                                          <p:val>
                                            <p:strVal val="#ppt_w"/>
                                          </p:val>
                                        </p:tav>
                                      </p:tavLst>
                                    </p:anim>
                                    <p:anim calcmode="lin" valueType="num">
                                      <p:cBhvr>
                                        <p:cTn id="32" dur="500" fill="hold"/>
                                        <p:tgtEl>
                                          <p:spTgt spid="44"/>
                                        </p:tgtEl>
                                        <p:attrNameLst>
                                          <p:attrName>ppt_h</p:attrName>
                                        </p:attrNameLst>
                                      </p:cBhvr>
                                      <p:tavLst>
                                        <p:tav tm="0">
                                          <p:val>
                                            <p:fltVal val="0"/>
                                          </p:val>
                                        </p:tav>
                                        <p:tav tm="100000">
                                          <p:val>
                                            <p:strVal val="#ppt_h"/>
                                          </p:val>
                                        </p:tav>
                                      </p:tavLst>
                                    </p:anim>
                                    <p:animEffect transition="in" filter="fade">
                                      <p:cBhvr>
                                        <p:cTn id="33" dur="500"/>
                                        <p:tgtEl>
                                          <p:spTgt spid="44"/>
                                        </p:tgtEl>
                                      </p:cBhvr>
                                    </p:animEffect>
                                  </p:childTnLst>
                                </p:cTn>
                              </p:par>
                            </p:childTnLst>
                          </p:cTn>
                        </p:par>
                        <p:par>
                          <p:cTn id="34" fill="hold">
                            <p:stCondLst>
                              <p:cond delay="2500"/>
                            </p:stCondLst>
                            <p:childTnLst>
                              <p:par>
                                <p:cTn id="35" presetID="10" presetClass="entr" presetSubtype="0"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childTnLst>
                          </p:cTn>
                        </p:par>
                        <p:par>
                          <p:cTn id="38" fill="hold">
                            <p:stCondLst>
                              <p:cond delay="3000"/>
                            </p:stCondLst>
                            <p:childTnLst>
                              <p:par>
                                <p:cTn id="39" presetID="10" presetClass="entr" presetSubtype="0" fill="hold"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childTnLst>
                          </p:cTn>
                        </p:par>
                        <p:par>
                          <p:cTn id="42" fill="hold">
                            <p:stCondLst>
                              <p:cond delay="3500"/>
                            </p:stCondLst>
                            <p:childTnLst>
                              <p:par>
                                <p:cTn id="43" presetID="10" presetClass="entr" presetSubtype="0" fill="hold" nodeType="after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fade">
                                      <p:cBhvr>
                                        <p:cTn id="45" dur="500"/>
                                        <p:tgtEl>
                                          <p:spTgt spid="55"/>
                                        </p:tgtEl>
                                      </p:cBhvr>
                                    </p:animEffect>
                                  </p:childTnLst>
                                </p:cTn>
                              </p:par>
                            </p:childTnLst>
                          </p:cTn>
                        </p:par>
                        <p:par>
                          <p:cTn id="46" fill="hold">
                            <p:stCondLst>
                              <p:cond delay="4000"/>
                            </p:stCondLst>
                            <p:childTnLst>
                              <p:par>
                                <p:cTn id="47" presetID="10" presetClass="entr" presetSubtype="0" fill="hold" nodeType="after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fade">
                                      <p:cBhvr>
                                        <p:cTn id="49" dur="500"/>
                                        <p:tgtEl>
                                          <p:spTgt spid="60"/>
                                        </p:tgtEl>
                                      </p:cBhvr>
                                    </p:animEffect>
                                  </p:childTnLst>
                                </p:cTn>
                              </p:par>
                            </p:childTnLst>
                          </p:cTn>
                        </p:par>
                        <p:par>
                          <p:cTn id="50" fill="hold">
                            <p:stCondLst>
                              <p:cond delay="4500"/>
                            </p:stCondLst>
                            <p:childTnLst>
                              <p:par>
                                <p:cTn id="51" presetID="10" presetClass="entr" presetSubtype="0" fill="hold" nodeType="after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1" grpId="0" bldLvl="0" animBg="1"/>
      <p:bldP spid="42" grpId="0" bldLvl="0" animBg="1"/>
      <p:bldP spid="43" grpId="0" bldLvl="0" animBg="1"/>
      <p:bldP spid="44"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文本框 182"/>
          <p:cNvSpPr txBox="1"/>
          <p:nvPr/>
        </p:nvSpPr>
        <p:spPr>
          <a:xfrm>
            <a:off x="3234055" y="1760855"/>
            <a:ext cx="5798185" cy="4178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核心是知识库的建立，建立过程一般需要三个表</a:t>
            </a:r>
          </a:p>
        </p:txBody>
      </p:sp>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基于多 Agents 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多 Agents 智能过滤系统中知识库的建立</a:t>
            </a:r>
          </a:p>
        </p:txBody>
      </p:sp>
      <p:grpSp>
        <p:nvGrpSpPr>
          <p:cNvPr id="8" name="组合 7"/>
          <p:cNvGrpSpPr/>
          <p:nvPr/>
        </p:nvGrpSpPr>
        <p:grpSpPr>
          <a:xfrm rot="10800000">
            <a:off x="304164" y="2178685"/>
            <a:ext cx="10778490" cy="4208260"/>
            <a:chOff x="-242379" y="803187"/>
            <a:chExt cx="10400906" cy="3952176"/>
          </a:xfrm>
        </p:grpSpPr>
        <p:sp>
          <p:nvSpPr>
            <p:cNvPr id="9" name="Freeform 138"/>
            <p:cNvSpPr/>
            <p:nvPr/>
          </p:nvSpPr>
          <p:spPr bwMode="auto">
            <a:xfrm>
              <a:off x="4419041" y="803187"/>
              <a:ext cx="229490" cy="883605"/>
            </a:xfrm>
            <a:custGeom>
              <a:avLst/>
              <a:gdLst>
                <a:gd name="T0" fmla="*/ 161 w 161"/>
                <a:gd name="T1" fmla="*/ 438 h 619"/>
                <a:gd name="T2" fmla="*/ 161 w 161"/>
                <a:gd name="T3" fmla="*/ 51 h 619"/>
                <a:gd name="T4" fmla="*/ 110 w 161"/>
                <a:gd name="T5" fmla="*/ 0 h 619"/>
                <a:gd name="T6" fmla="*/ 51 w 161"/>
                <a:gd name="T7" fmla="*/ 0 h 619"/>
                <a:gd name="T8" fmla="*/ 0 w 161"/>
                <a:gd name="T9" fmla="*/ 51 h 619"/>
                <a:gd name="T10" fmla="*/ 0 w 161"/>
                <a:gd name="T11" fmla="*/ 619 h 619"/>
                <a:gd name="T12" fmla="*/ 161 w 161"/>
                <a:gd name="T13" fmla="*/ 438 h 619"/>
              </a:gdLst>
              <a:ahLst/>
              <a:cxnLst>
                <a:cxn ang="0">
                  <a:pos x="T0" y="T1"/>
                </a:cxn>
                <a:cxn ang="0">
                  <a:pos x="T2" y="T3"/>
                </a:cxn>
                <a:cxn ang="0">
                  <a:pos x="T4" y="T5"/>
                </a:cxn>
                <a:cxn ang="0">
                  <a:pos x="T6" y="T7"/>
                </a:cxn>
                <a:cxn ang="0">
                  <a:pos x="T8" y="T9"/>
                </a:cxn>
                <a:cxn ang="0">
                  <a:pos x="T10" y="T11"/>
                </a:cxn>
                <a:cxn ang="0">
                  <a:pos x="T12" y="T13"/>
                </a:cxn>
              </a:cxnLst>
              <a:rect l="0" t="0" r="r" b="b"/>
              <a:pathLst>
                <a:path w="161" h="619">
                  <a:moveTo>
                    <a:pt x="161" y="438"/>
                  </a:moveTo>
                  <a:cubicBezTo>
                    <a:pt x="161" y="51"/>
                    <a:pt x="161" y="51"/>
                    <a:pt x="161" y="51"/>
                  </a:cubicBezTo>
                  <a:cubicBezTo>
                    <a:pt x="161" y="23"/>
                    <a:pt x="138" y="0"/>
                    <a:pt x="110" y="0"/>
                  </a:cubicBezTo>
                  <a:cubicBezTo>
                    <a:pt x="51" y="0"/>
                    <a:pt x="51" y="0"/>
                    <a:pt x="51" y="0"/>
                  </a:cubicBezTo>
                  <a:cubicBezTo>
                    <a:pt x="23" y="0"/>
                    <a:pt x="0" y="23"/>
                    <a:pt x="0" y="51"/>
                  </a:cubicBezTo>
                  <a:cubicBezTo>
                    <a:pt x="0" y="619"/>
                    <a:pt x="0" y="619"/>
                    <a:pt x="0" y="619"/>
                  </a:cubicBezTo>
                  <a:cubicBezTo>
                    <a:pt x="9" y="561"/>
                    <a:pt x="53" y="461"/>
                    <a:pt x="161" y="438"/>
                  </a:cubicBezTo>
                  <a:close/>
                </a:path>
              </a:pathLst>
            </a:custGeom>
            <a:solidFill>
              <a:schemeClr val="bg1"/>
            </a:solidFill>
            <a:ln>
              <a:noFill/>
            </a:ln>
          </p:spPr>
          <p:txBody>
            <a:bodyPr/>
            <a:lstStyle/>
            <a:p>
              <a:endParaRPr lang="zh-CN" altLang="en-US" sz="1600">
                <a:solidFill>
                  <a:srgbClr val="080808"/>
                </a:solidFill>
              </a:endParaRPr>
            </a:p>
          </p:txBody>
        </p:sp>
        <p:sp>
          <p:nvSpPr>
            <p:cNvPr id="10" name="Freeform 140"/>
            <p:cNvSpPr/>
            <p:nvPr/>
          </p:nvSpPr>
          <p:spPr bwMode="auto">
            <a:xfrm>
              <a:off x="4419041" y="3514468"/>
              <a:ext cx="1500618" cy="1240895"/>
            </a:xfrm>
            <a:custGeom>
              <a:avLst/>
              <a:gdLst>
                <a:gd name="T0" fmla="*/ 1004 w 1051"/>
                <a:gd name="T1" fmla="*/ 0 h 869"/>
                <a:gd name="T2" fmla="*/ 218 w 1051"/>
                <a:gd name="T3" fmla="*/ 0 h 869"/>
                <a:gd name="T4" fmla="*/ 161 w 1051"/>
                <a:gd name="T5" fmla="*/ 5 h 869"/>
                <a:gd name="T6" fmla="*/ 0 w 1051"/>
                <a:gd name="T7" fmla="*/ 186 h 869"/>
                <a:gd name="T8" fmla="*/ 0 w 1051"/>
                <a:gd name="T9" fmla="*/ 201 h 869"/>
                <a:gd name="T10" fmla="*/ 0 w 1051"/>
                <a:gd name="T11" fmla="*/ 818 h 869"/>
                <a:gd name="T12" fmla="*/ 51 w 1051"/>
                <a:gd name="T13" fmla="*/ 869 h 869"/>
                <a:gd name="T14" fmla="*/ 110 w 1051"/>
                <a:gd name="T15" fmla="*/ 869 h 869"/>
                <a:gd name="T16" fmla="*/ 161 w 1051"/>
                <a:gd name="T17" fmla="*/ 818 h 869"/>
                <a:gd name="T18" fmla="*/ 161 w 1051"/>
                <a:gd name="T19" fmla="*/ 101 h 869"/>
                <a:gd name="T20" fmla="*/ 214 w 1051"/>
                <a:gd name="T21" fmla="*/ 92 h 869"/>
                <a:gd name="T22" fmla="*/ 1005 w 1051"/>
                <a:gd name="T23" fmla="*/ 92 h 869"/>
                <a:gd name="T24" fmla="*/ 1051 w 1051"/>
                <a:gd name="T25" fmla="*/ 46 h 869"/>
                <a:gd name="T26" fmla="*/ 1004 w 1051"/>
                <a:gd name="T27" fmla="*/ 0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869">
                  <a:moveTo>
                    <a:pt x="1004" y="0"/>
                  </a:moveTo>
                  <a:cubicBezTo>
                    <a:pt x="998" y="1"/>
                    <a:pt x="364" y="6"/>
                    <a:pt x="218" y="0"/>
                  </a:cubicBezTo>
                  <a:cubicBezTo>
                    <a:pt x="197" y="0"/>
                    <a:pt x="178" y="2"/>
                    <a:pt x="161" y="5"/>
                  </a:cubicBezTo>
                  <a:cubicBezTo>
                    <a:pt x="53" y="28"/>
                    <a:pt x="9" y="127"/>
                    <a:pt x="0" y="186"/>
                  </a:cubicBezTo>
                  <a:cubicBezTo>
                    <a:pt x="0" y="201"/>
                    <a:pt x="0" y="201"/>
                    <a:pt x="0" y="201"/>
                  </a:cubicBezTo>
                  <a:cubicBezTo>
                    <a:pt x="0" y="818"/>
                    <a:pt x="0" y="818"/>
                    <a:pt x="0" y="818"/>
                  </a:cubicBezTo>
                  <a:cubicBezTo>
                    <a:pt x="0" y="846"/>
                    <a:pt x="23" y="869"/>
                    <a:pt x="51" y="869"/>
                  </a:cubicBezTo>
                  <a:cubicBezTo>
                    <a:pt x="110" y="869"/>
                    <a:pt x="110" y="869"/>
                    <a:pt x="110" y="869"/>
                  </a:cubicBezTo>
                  <a:cubicBezTo>
                    <a:pt x="138" y="869"/>
                    <a:pt x="161" y="846"/>
                    <a:pt x="161" y="818"/>
                  </a:cubicBezTo>
                  <a:cubicBezTo>
                    <a:pt x="161" y="101"/>
                    <a:pt x="161" y="101"/>
                    <a:pt x="161" y="101"/>
                  </a:cubicBezTo>
                  <a:cubicBezTo>
                    <a:pt x="176" y="95"/>
                    <a:pt x="193" y="92"/>
                    <a:pt x="214" y="92"/>
                  </a:cubicBezTo>
                  <a:cubicBezTo>
                    <a:pt x="363" y="98"/>
                    <a:pt x="979" y="93"/>
                    <a:pt x="1005" y="92"/>
                  </a:cubicBezTo>
                  <a:cubicBezTo>
                    <a:pt x="1030" y="92"/>
                    <a:pt x="1051" y="71"/>
                    <a:pt x="1051" y="46"/>
                  </a:cubicBezTo>
                  <a:cubicBezTo>
                    <a:pt x="1050" y="21"/>
                    <a:pt x="1030" y="1"/>
                    <a:pt x="1004" y="0"/>
                  </a:cubicBezTo>
                  <a:close/>
                </a:path>
              </a:pathLst>
            </a:custGeom>
            <a:solidFill>
              <a:srgbClr val="0070C0"/>
            </a:solidFill>
            <a:ln>
              <a:noFill/>
            </a:ln>
          </p:spPr>
          <p:txBody>
            <a:bodyPr/>
            <a:lstStyle/>
            <a:p>
              <a:endParaRPr lang="zh-CN" altLang="en-US" sz="1600">
                <a:solidFill>
                  <a:srgbClr val="080808"/>
                </a:solidFill>
              </a:endParaRPr>
            </a:p>
          </p:txBody>
        </p:sp>
        <p:sp>
          <p:nvSpPr>
            <p:cNvPr id="11" name="Freeform 141"/>
            <p:cNvSpPr/>
            <p:nvPr/>
          </p:nvSpPr>
          <p:spPr bwMode="auto">
            <a:xfrm>
              <a:off x="4502867" y="2839739"/>
              <a:ext cx="1374" cy="20613"/>
            </a:xfrm>
            <a:custGeom>
              <a:avLst/>
              <a:gdLst>
                <a:gd name="T0" fmla="*/ 1 w 1"/>
                <a:gd name="T1" fmla="*/ 2 h 15"/>
                <a:gd name="T2" fmla="*/ 0 w 1"/>
                <a:gd name="T3" fmla="*/ 0 h 15"/>
                <a:gd name="T4" fmla="*/ 0 w 1"/>
                <a:gd name="T5" fmla="*/ 15 h 15"/>
                <a:gd name="T6" fmla="*/ 1 w 1"/>
                <a:gd name="T7" fmla="*/ 2 h 15"/>
              </a:gdLst>
              <a:ahLst/>
              <a:cxnLst>
                <a:cxn ang="0">
                  <a:pos x="T0" y="T1"/>
                </a:cxn>
                <a:cxn ang="0">
                  <a:pos x="T2" y="T3"/>
                </a:cxn>
                <a:cxn ang="0">
                  <a:pos x="T4" y="T5"/>
                </a:cxn>
                <a:cxn ang="0">
                  <a:pos x="T6" y="T7"/>
                </a:cxn>
              </a:cxnLst>
              <a:rect l="0" t="0" r="r" b="b"/>
              <a:pathLst>
                <a:path w="1" h="15">
                  <a:moveTo>
                    <a:pt x="1" y="2"/>
                  </a:moveTo>
                  <a:cubicBezTo>
                    <a:pt x="0" y="1"/>
                    <a:pt x="0" y="0"/>
                    <a:pt x="0" y="0"/>
                  </a:cubicBezTo>
                  <a:cubicBezTo>
                    <a:pt x="0" y="15"/>
                    <a:pt x="0" y="15"/>
                    <a:pt x="0" y="15"/>
                  </a:cubicBezTo>
                  <a:cubicBezTo>
                    <a:pt x="1" y="11"/>
                    <a:pt x="1" y="6"/>
                    <a:pt x="1" y="2"/>
                  </a:cubicBezTo>
                  <a:close/>
                </a:path>
              </a:pathLst>
            </a:custGeom>
            <a:solidFill>
              <a:srgbClr val="FFD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80808"/>
                </a:solidFill>
              </a:endParaRPr>
            </a:p>
          </p:txBody>
        </p:sp>
        <p:sp>
          <p:nvSpPr>
            <p:cNvPr id="12" name="Freeform 142"/>
            <p:cNvSpPr/>
            <p:nvPr/>
          </p:nvSpPr>
          <p:spPr bwMode="auto">
            <a:xfrm>
              <a:off x="3149288" y="2529172"/>
              <a:ext cx="1499243" cy="1250515"/>
            </a:xfrm>
            <a:custGeom>
              <a:avLst/>
              <a:gdLst>
                <a:gd name="T0" fmla="*/ 889 w 1050"/>
                <a:gd name="T1" fmla="*/ 6 h 876"/>
                <a:gd name="T2" fmla="*/ 833 w 1050"/>
                <a:gd name="T3" fmla="*/ 1 h 876"/>
                <a:gd name="T4" fmla="*/ 46 w 1050"/>
                <a:gd name="T5" fmla="*/ 1 h 876"/>
                <a:gd name="T6" fmla="*/ 0 w 1050"/>
                <a:gd name="T7" fmla="*/ 47 h 876"/>
                <a:gd name="T8" fmla="*/ 46 w 1050"/>
                <a:gd name="T9" fmla="*/ 93 h 876"/>
                <a:gd name="T10" fmla="*/ 836 w 1050"/>
                <a:gd name="T11" fmla="*/ 93 h 876"/>
                <a:gd name="T12" fmla="*/ 889 w 1050"/>
                <a:gd name="T13" fmla="*/ 102 h 876"/>
                <a:gd name="T14" fmla="*/ 889 w 1050"/>
                <a:gd name="T15" fmla="*/ 876 h 876"/>
                <a:gd name="T16" fmla="*/ 1050 w 1050"/>
                <a:gd name="T17" fmla="*/ 695 h 876"/>
                <a:gd name="T18" fmla="*/ 1050 w 1050"/>
                <a:gd name="T19" fmla="*/ 202 h 876"/>
                <a:gd name="T20" fmla="*/ 1050 w 1050"/>
                <a:gd name="T21" fmla="*/ 186 h 876"/>
                <a:gd name="T22" fmla="*/ 889 w 1050"/>
                <a:gd name="T23" fmla="*/ 6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0" h="876">
                  <a:moveTo>
                    <a:pt x="889" y="6"/>
                  </a:moveTo>
                  <a:cubicBezTo>
                    <a:pt x="872" y="2"/>
                    <a:pt x="853" y="0"/>
                    <a:pt x="833" y="1"/>
                  </a:cubicBezTo>
                  <a:cubicBezTo>
                    <a:pt x="687" y="6"/>
                    <a:pt x="53" y="1"/>
                    <a:pt x="46" y="1"/>
                  </a:cubicBezTo>
                  <a:cubicBezTo>
                    <a:pt x="21" y="1"/>
                    <a:pt x="0" y="21"/>
                    <a:pt x="0" y="47"/>
                  </a:cubicBezTo>
                  <a:cubicBezTo>
                    <a:pt x="0" y="72"/>
                    <a:pt x="20" y="93"/>
                    <a:pt x="46" y="93"/>
                  </a:cubicBezTo>
                  <a:cubicBezTo>
                    <a:pt x="72" y="93"/>
                    <a:pt x="688" y="98"/>
                    <a:pt x="836" y="93"/>
                  </a:cubicBezTo>
                  <a:cubicBezTo>
                    <a:pt x="857" y="92"/>
                    <a:pt x="875" y="96"/>
                    <a:pt x="889" y="102"/>
                  </a:cubicBezTo>
                  <a:cubicBezTo>
                    <a:pt x="889" y="876"/>
                    <a:pt x="889" y="876"/>
                    <a:pt x="889" y="876"/>
                  </a:cubicBezTo>
                  <a:cubicBezTo>
                    <a:pt x="898" y="817"/>
                    <a:pt x="942" y="718"/>
                    <a:pt x="1050" y="695"/>
                  </a:cubicBezTo>
                  <a:cubicBezTo>
                    <a:pt x="1050" y="202"/>
                    <a:pt x="1050" y="202"/>
                    <a:pt x="1050" y="202"/>
                  </a:cubicBezTo>
                  <a:cubicBezTo>
                    <a:pt x="1050" y="186"/>
                    <a:pt x="1050" y="186"/>
                    <a:pt x="1050" y="186"/>
                  </a:cubicBezTo>
                  <a:cubicBezTo>
                    <a:pt x="1041" y="128"/>
                    <a:pt x="997" y="29"/>
                    <a:pt x="889" y="6"/>
                  </a:cubicBezTo>
                  <a:close/>
                </a:path>
              </a:pathLst>
            </a:custGeom>
            <a:solidFill>
              <a:srgbClr val="0070C0"/>
            </a:solidFill>
            <a:ln>
              <a:noFill/>
            </a:ln>
          </p:spPr>
          <p:txBody>
            <a:bodyPr/>
            <a:lstStyle/>
            <a:p>
              <a:endParaRPr lang="zh-CN" altLang="en-US" sz="1600">
                <a:solidFill>
                  <a:srgbClr val="080808"/>
                </a:solidFill>
              </a:endParaRPr>
            </a:p>
          </p:txBody>
        </p:sp>
        <p:sp>
          <p:nvSpPr>
            <p:cNvPr id="13" name="Freeform 143"/>
            <p:cNvSpPr/>
            <p:nvPr/>
          </p:nvSpPr>
          <p:spPr bwMode="auto">
            <a:xfrm>
              <a:off x="4419041" y="1420199"/>
              <a:ext cx="1500618" cy="1374192"/>
            </a:xfrm>
            <a:custGeom>
              <a:avLst/>
              <a:gdLst>
                <a:gd name="T0" fmla="*/ 1004 w 1051"/>
                <a:gd name="T1" fmla="*/ 1 h 963"/>
                <a:gd name="T2" fmla="*/ 218 w 1051"/>
                <a:gd name="T3" fmla="*/ 1 h 963"/>
                <a:gd name="T4" fmla="*/ 161 w 1051"/>
                <a:gd name="T5" fmla="*/ 6 h 963"/>
                <a:gd name="T6" fmla="*/ 0 w 1051"/>
                <a:gd name="T7" fmla="*/ 187 h 963"/>
                <a:gd name="T8" fmla="*/ 0 w 1051"/>
                <a:gd name="T9" fmla="*/ 201 h 963"/>
                <a:gd name="T10" fmla="*/ 0 w 1051"/>
                <a:gd name="T11" fmla="*/ 783 h 963"/>
                <a:gd name="T12" fmla="*/ 161 w 1051"/>
                <a:gd name="T13" fmla="*/ 963 h 963"/>
                <a:gd name="T14" fmla="*/ 161 w 1051"/>
                <a:gd name="T15" fmla="*/ 102 h 963"/>
                <a:gd name="T16" fmla="*/ 214 w 1051"/>
                <a:gd name="T17" fmla="*/ 93 h 963"/>
                <a:gd name="T18" fmla="*/ 1005 w 1051"/>
                <a:gd name="T19" fmla="*/ 93 h 963"/>
                <a:gd name="T20" fmla="*/ 1051 w 1051"/>
                <a:gd name="T21" fmla="*/ 46 h 963"/>
                <a:gd name="T22" fmla="*/ 1004 w 1051"/>
                <a:gd name="T23" fmla="*/ 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1" h="963">
                  <a:moveTo>
                    <a:pt x="1004" y="1"/>
                  </a:moveTo>
                  <a:cubicBezTo>
                    <a:pt x="998" y="1"/>
                    <a:pt x="364" y="6"/>
                    <a:pt x="218" y="1"/>
                  </a:cubicBezTo>
                  <a:cubicBezTo>
                    <a:pt x="197" y="0"/>
                    <a:pt x="178" y="2"/>
                    <a:pt x="161" y="6"/>
                  </a:cubicBezTo>
                  <a:cubicBezTo>
                    <a:pt x="53" y="29"/>
                    <a:pt x="9" y="129"/>
                    <a:pt x="0" y="187"/>
                  </a:cubicBezTo>
                  <a:cubicBezTo>
                    <a:pt x="0" y="201"/>
                    <a:pt x="0" y="201"/>
                    <a:pt x="0" y="201"/>
                  </a:cubicBezTo>
                  <a:cubicBezTo>
                    <a:pt x="0" y="783"/>
                    <a:pt x="0" y="783"/>
                    <a:pt x="0" y="783"/>
                  </a:cubicBezTo>
                  <a:cubicBezTo>
                    <a:pt x="108" y="806"/>
                    <a:pt x="152" y="905"/>
                    <a:pt x="161" y="963"/>
                  </a:cubicBezTo>
                  <a:cubicBezTo>
                    <a:pt x="161" y="102"/>
                    <a:pt x="161" y="102"/>
                    <a:pt x="161" y="102"/>
                  </a:cubicBezTo>
                  <a:cubicBezTo>
                    <a:pt x="176" y="96"/>
                    <a:pt x="193" y="92"/>
                    <a:pt x="214" y="93"/>
                  </a:cubicBezTo>
                  <a:cubicBezTo>
                    <a:pt x="363" y="98"/>
                    <a:pt x="979" y="93"/>
                    <a:pt x="1005" y="93"/>
                  </a:cubicBezTo>
                  <a:cubicBezTo>
                    <a:pt x="1031" y="93"/>
                    <a:pt x="1051" y="72"/>
                    <a:pt x="1051" y="46"/>
                  </a:cubicBezTo>
                  <a:cubicBezTo>
                    <a:pt x="1051" y="21"/>
                    <a:pt x="1030" y="1"/>
                    <a:pt x="1004" y="1"/>
                  </a:cubicBezTo>
                  <a:close/>
                </a:path>
              </a:pathLst>
            </a:custGeom>
            <a:solidFill>
              <a:srgbClr val="0070C0"/>
            </a:solidFill>
            <a:ln>
              <a:noFill/>
            </a:ln>
          </p:spPr>
          <p:txBody>
            <a:bodyPr/>
            <a:lstStyle/>
            <a:p>
              <a:endParaRPr lang="zh-CN" altLang="en-US" sz="1600">
                <a:solidFill>
                  <a:srgbClr val="080808"/>
                </a:solidFill>
              </a:endParaRPr>
            </a:p>
          </p:txBody>
        </p:sp>
        <p:sp>
          <p:nvSpPr>
            <p:cNvPr id="18" name="TextBox 101"/>
            <p:cNvSpPr txBox="1"/>
            <p:nvPr/>
          </p:nvSpPr>
          <p:spPr bwMode="auto">
            <a:xfrm rot="10800000">
              <a:off x="6345350" y="3368385"/>
              <a:ext cx="2159349" cy="621899"/>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accent1">
                      <a:lumMod val="75000"/>
                    </a:schemeClr>
                  </a:solidFill>
                </a:rPr>
                <a:t>主题词、相关词和过滤词表</a:t>
              </a:r>
            </a:p>
          </p:txBody>
        </p:sp>
        <p:sp>
          <p:nvSpPr>
            <p:cNvPr id="20" name="椭圆 19"/>
            <p:cNvSpPr/>
            <p:nvPr/>
          </p:nvSpPr>
          <p:spPr>
            <a:xfrm>
              <a:off x="5590452" y="3300820"/>
              <a:ext cx="536130" cy="536130"/>
            </a:xfrm>
            <a:prstGeom prst="ellipse">
              <a:avLst/>
            </a:prstGeom>
            <a:solidFill>
              <a:srgbClr val="0070C0"/>
            </a:solidFill>
            <a:ln>
              <a:solidFill>
                <a:schemeClr val="tx2"/>
              </a:solidFill>
            </a:ln>
          </p:spPr>
          <p:txBody>
            <a:bodyPr/>
            <a:lstStyle/>
            <a:p>
              <a:endParaRPr lang="zh-CN" altLang="en-US" sz="1600">
                <a:solidFill>
                  <a:srgbClr val="080808"/>
                </a:solidFill>
              </a:endParaRPr>
            </a:p>
          </p:txBody>
        </p:sp>
        <p:sp>
          <p:nvSpPr>
            <p:cNvPr id="21" name="椭圆 20"/>
            <p:cNvSpPr/>
            <p:nvPr/>
          </p:nvSpPr>
          <p:spPr>
            <a:xfrm>
              <a:off x="5590452" y="1230720"/>
              <a:ext cx="536130" cy="536130"/>
            </a:xfrm>
            <a:prstGeom prst="ellipse">
              <a:avLst/>
            </a:prstGeom>
            <a:solidFill>
              <a:srgbClr val="0070C0"/>
            </a:solidFill>
            <a:ln>
              <a:noFill/>
            </a:ln>
          </p:spPr>
          <p:txBody>
            <a:bodyPr/>
            <a:lstStyle/>
            <a:p>
              <a:endParaRPr lang="zh-CN" altLang="en-US" sz="1600">
                <a:solidFill>
                  <a:srgbClr val="080808"/>
                </a:solidFill>
              </a:endParaRPr>
            </a:p>
          </p:txBody>
        </p:sp>
        <p:sp>
          <p:nvSpPr>
            <p:cNvPr id="22" name="椭圆 21"/>
            <p:cNvSpPr/>
            <p:nvPr/>
          </p:nvSpPr>
          <p:spPr>
            <a:xfrm>
              <a:off x="2881223" y="2324222"/>
              <a:ext cx="536130" cy="536130"/>
            </a:xfrm>
            <a:prstGeom prst="ellipse">
              <a:avLst/>
            </a:prstGeom>
            <a:solidFill>
              <a:srgbClr val="0070C0"/>
            </a:solidFill>
            <a:ln>
              <a:noFill/>
            </a:ln>
          </p:spPr>
          <p:txBody>
            <a:bodyPr/>
            <a:lstStyle/>
            <a:p>
              <a:endParaRPr lang="zh-CN" altLang="en-US" sz="1600">
                <a:solidFill>
                  <a:srgbClr val="080808"/>
                </a:solidFill>
              </a:endParaRPr>
            </a:p>
          </p:txBody>
        </p:sp>
        <p:sp>
          <p:nvSpPr>
            <p:cNvPr id="26" name="TextBox 109"/>
            <p:cNvSpPr txBox="1"/>
            <p:nvPr/>
          </p:nvSpPr>
          <p:spPr bwMode="auto">
            <a:xfrm>
              <a:off x="3305969" y="892281"/>
              <a:ext cx="1159292" cy="303299"/>
            </a:xfrm>
            <a:prstGeom prst="rect">
              <a:avLst/>
            </a:prstGeom>
            <a:noFill/>
          </p:spPr>
          <p:txBody>
            <a:bodyPr wrap="square">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dirty="0">
                  <a:solidFill>
                    <a:schemeClr val="bg1"/>
                  </a:solidFill>
                </a:rPr>
                <a:t>添加标题</a:t>
              </a:r>
            </a:p>
          </p:txBody>
        </p:sp>
        <p:sp>
          <p:nvSpPr>
            <p:cNvPr id="3" name="TextBox 101"/>
            <p:cNvSpPr txBox="1"/>
            <p:nvPr/>
          </p:nvSpPr>
          <p:spPr bwMode="auto">
            <a:xfrm rot="10800000">
              <a:off x="228217" y="3008798"/>
              <a:ext cx="2527002" cy="359587"/>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accent1">
                      <a:lumMod val="75000"/>
                    </a:schemeClr>
                  </a:solidFill>
                </a:rPr>
                <a:t>用户个性化文件表</a:t>
              </a:r>
            </a:p>
          </p:txBody>
        </p:sp>
        <p:sp>
          <p:nvSpPr>
            <p:cNvPr id="4" name="TextBox 101"/>
            <p:cNvSpPr txBox="1"/>
            <p:nvPr/>
          </p:nvSpPr>
          <p:spPr bwMode="auto">
            <a:xfrm rot="10800000">
              <a:off x="6243021" y="1229991"/>
              <a:ext cx="2261679" cy="621899"/>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accent1">
                      <a:lumMod val="75000"/>
                    </a:schemeClr>
                  </a:solidFill>
                </a:rPr>
                <a:t>检索结果数据表（WWW资源表）</a:t>
              </a:r>
            </a:p>
          </p:txBody>
        </p:sp>
        <p:sp>
          <p:nvSpPr>
            <p:cNvPr id="5" name="TextBox 101"/>
            <p:cNvSpPr txBox="1"/>
            <p:nvPr/>
          </p:nvSpPr>
          <p:spPr bwMode="auto">
            <a:xfrm rot="10800000">
              <a:off x="5507103" y="2565052"/>
              <a:ext cx="2997598" cy="803332"/>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algn="l"/>
              <a:r>
                <a:rPr lang="zh-CN" altLang="en-US" sz="1800" dirty="0">
                  <a:solidFill>
                    <a:schemeClr val="tx2"/>
                  </a:solidFill>
                </a:rPr>
                <a:t>采用关联词典优点：</a:t>
              </a:r>
            </a:p>
            <a:p>
              <a:pPr algn="l"/>
              <a:r>
                <a:rPr lang="zh-CN" altLang="en-US" sz="1800" dirty="0">
                  <a:solidFill>
                    <a:schemeClr val="tx2"/>
                  </a:solidFill>
                </a:rPr>
                <a:t>用户界面友好</a:t>
              </a:r>
            </a:p>
            <a:p>
              <a:pPr algn="l"/>
              <a:r>
                <a:rPr lang="zh-CN" altLang="en-US" sz="1800" dirty="0">
                  <a:solidFill>
                    <a:schemeClr val="tx2"/>
                  </a:solidFill>
                </a:rPr>
                <a:t>满足个性化查询</a:t>
              </a:r>
            </a:p>
          </p:txBody>
        </p:sp>
        <p:sp>
          <p:nvSpPr>
            <p:cNvPr id="6" name="TextBox 101"/>
            <p:cNvSpPr txBox="1"/>
            <p:nvPr/>
          </p:nvSpPr>
          <p:spPr bwMode="auto">
            <a:xfrm rot="10800000">
              <a:off x="-242379" y="1563893"/>
              <a:ext cx="2997598" cy="1275495"/>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algn="l"/>
              <a:r>
                <a:rPr lang="zh-CN" altLang="en-US" sz="1800" dirty="0">
                  <a:solidFill>
                    <a:schemeClr val="tx2"/>
                  </a:solidFill>
                </a:rPr>
                <a:t>包含两个内容：</a:t>
              </a:r>
            </a:p>
            <a:p>
              <a:pPr algn="l"/>
              <a:r>
                <a:rPr lang="zh-CN" altLang="en-US" sz="1800" dirty="0">
                  <a:solidFill>
                    <a:schemeClr val="tx2"/>
                  </a:solidFill>
                </a:rPr>
                <a:t>一是保存了各个用户感兴趣的主题信息；二是保存了用户经常性的网络行为特征</a:t>
              </a:r>
            </a:p>
          </p:txBody>
        </p:sp>
        <p:sp>
          <p:nvSpPr>
            <p:cNvPr id="7" name="TextBox 101"/>
            <p:cNvSpPr txBox="1"/>
            <p:nvPr/>
          </p:nvSpPr>
          <p:spPr bwMode="auto">
            <a:xfrm rot="10800000">
              <a:off x="8425043" y="1257315"/>
              <a:ext cx="1733484" cy="567251"/>
            </a:xfrm>
            <a:prstGeom prst="rect">
              <a:avLst/>
            </a:prstGeom>
            <a:noFill/>
          </p:spPr>
          <p:txBody>
            <a:bodyPr wrap="square">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algn="l"/>
              <a:r>
                <a:rPr lang="zh-CN" altLang="en-US" sz="1800" dirty="0">
                  <a:solidFill>
                    <a:schemeClr val="tx2"/>
                  </a:solidFill>
                </a:rPr>
                <a:t>从WWW上获取站点信息</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6" presetClass="emph" presetSubtype="0" fill="hold" nodeType="afterEffect">
                                  <p:stCondLst>
                                    <p:cond delay="0"/>
                                  </p:stCondLst>
                                  <p:childTnLst>
                                    <p:animEffect transition="out" filter="fade">
                                      <p:cBhvr>
                                        <p:cTn id="12" dur="500" tmFilter="0, 0; .2, .5; .8, .5; 1, 0"/>
                                        <p:tgtEl>
                                          <p:spTgt spid="8"/>
                                        </p:tgtEl>
                                      </p:cBhvr>
                                    </p:animEffect>
                                    <p:animScale>
                                      <p:cBhvr>
                                        <p:cTn id="13"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文本框 182"/>
          <p:cNvSpPr txBox="1"/>
          <p:nvPr/>
        </p:nvSpPr>
        <p:spPr>
          <a:xfrm>
            <a:off x="7913370" y="1467377"/>
            <a:ext cx="4001770" cy="509864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indent="450000" algn="l">
              <a:lnSpc>
                <a:spcPct val="130000"/>
              </a:lnSpc>
            </a:pPr>
            <a:r>
              <a:rPr lang="zh-CN" altLang="en-US" sz="1800" dirty="0">
                <a:solidFill>
                  <a:srgbClr val="00B0F0"/>
                </a:solidFill>
                <a:latin typeface="微软雅黑" panose="020B0503020204020204" pitchFamily="34" charset="-122"/>
                <a:ea typeface="微软雅黑" panose="020B0503020204020204" pitchFamily="34" charset="-122"/>
              </a:rPr>
              <a:t>用户界面 Agent </a:t>
            </a:r>
            <a:r>
              <a:rPr lang="zh-CN" altLang="en-US" sz="1800" dirty="0">
                <a:solidFill>
                  <a:schemeClr val="tx1"/>
                </a:solidFill>
                <a:latin typeface="微软雅黑" panose="020B0503020204020204" pitchFamily="34" charset="-122"/>
                <a:ea typeface="微软雅黑" panose="020B0503020204020204" pitchFamily="34" charset="-122"/>
              </a:rPr>
              <a:t>是用户和过滤系统的中介；</a:t>
            </a:r>
            <a:r>
              <a:rPr lang="zh-CN" altLang="en-US" sz="1800" dirty="0">
                <a:solidFill>
                  <a:srgbClr val="00B0F0"/>
                </a:solidFill>
                <a:latin typeface="微软雅黑" panose="020B0503020204020204" pitchFamily="34" charset="-122"/>
                <a:ea typeface="微软雅黑" panose="020B0503020204020204" pitchFamily="34" charset="-122"/>
              </a:rPr>
              <a:t>过滤查找 Agent </a:t>
            </a:r>
            <a:r>
              <a:rPr lang="zh-CN" altLang="en-US" sz="1800" dirty="0">
                <a:solidFill>
                  <a:schemeClr val="tx1"/>
                </a:solidFill>
                <a:latin typeface="微软雅黑" panose="020B0503020204020204" pitchFamily="34" charset="-122"/>
                <a:ea typeface="微软雅黑" panose="020B0503020204020204" pitchFamily="34" charset="-122"/>
              </a:rPr>
              <a:t>接受用户的特征请求，对 WWW 资源库进行查找和过滤；</a:t>
            </a:r>
            <a:r>
              <a:rPr lang="zh-CN" altLang="en-US" sz="1800" dirty="0">
                <a:solidFill>
                  <a:srgbClr val="00B0F0"/>
                </a:solidFill>
                <a:latin typeface="微软雅黑" panose="020B0503020204020204" pitchFamily="34" charset="-122"/>
                <a:ea typeface="微软雅黑" panose="020B0503020204020204" pitchFamily="34" charset="-122"/>
              </a:rPr>
              <a:t>兴趣学习 Agent </a:t>
            </a:r>
            <a:r>
              <a:rPr lang="zh-CN" altLang="en-US" sz="1800" dirty="0">
                <a:solidFill>
                  <a:schemeClr val="tx1"/>
                </a:solidFill>
                <a:latin typeface="微软雅黑" panose="020B0503020204020204" pitchFamily="34" charset="-122"/>
                <a:ea typeface="微软雅黑" panose="020B0503020204020204" pitchFamily="34" charset="-122"/>
              </a:rPr>
              <a:t>接受来自用户界面的反馈信息，对个性化文件库的信息进行修改；</a:t>
            </a:r>
            <a:r>
              <a:rPr lang="zh-CN" altLang="en-US" sz="1800" dirty="0">
                <a:solidFill>
                  <a:srgbClr val="00B0F0"/>
                </a:solidFill>
                <a:latin typeface="微软雅黑" panose="020B0503020204020204" pitchFamily="34" charset="-122"/>
                <a:ea typeface="微软雅黑" panose="020B0503020204020204" pitchFamily="34" charset="-122"/>
              </a:rPr>
              <a:t>搜索更新 Agent</a:t>
            </a:r>
            <a:r>
              <a:rPr lang="zh-CN" altLang="en-US" sz="1800" dirty="0">
                <a:solidFill>
                  <a:schemeClr val="tx1"/>
                </a:solidFill>
                <a:latin typeface="微软雅黑" panose="020B0503020204020204" pitchFamily="34" charset="-122"/>
                <a:ea typeface="微软雅黑" panose="020B0503020204020204" pitchFamily="34" charset="-122"/>
              </a:rPr>
              <a:t>和</a:t>
            </a:r>
            <a:r>
              <a:rPr lang="zh-CN" altLang="en-US" sz="1800" dirty="0">
                <a:solidFill>
                  <a:srgbClr val="00B0F0"/>
                </a:solidFill>
                <a:latin typeface="微软雅黑" panose="020B0503020204020204" pitchFamily="34" charset="-122"/>
                <a:ea typeface="微软雅黑" panose="020B0503020204020204" pitchFamily="34" charset="-122"/>
              </a:rPr>
              <a:t>站点操作 Agent </a:t>
            </a:r>
            <a:r>
              <a:rPr lang="zh-CN" altLang="en-US" sz="1800" dirty="0">
                <a:solidFill>
                  <a:schemeClr val="tx1"/>
                </a:solidFill>
                <a:latin typeface="微软雅黑" panose="020B0503020204020204" pitchFamily="34" charset="-122"/>
                <a:ea typeface="微软雅黑" panose="020B0503020204020204" pitchFamily="34" charset="-122"/>
              </a:rPr>
              <a:t>是面向网络操作的，搜索更新 Agent 按一定周期自动从web 上获取信息补充到 WWW 资源库中，站点操作 Agent 直接面向资源系统或者站点获取信息，并将结果返回到用户界面 Agent；</a:t>
            </a:r>
            <a:r>
              <a:rPr lang="zh-CN" altLang="en-US" sz="1800" dirty="0">
                <a:solidFill>
                  <a:srgbClr val="00B0F0"/>
                </a:solidFill>
                <a:latin typeface="微软雅黑" panose="020B0503020204020204" pitchFamily="34" charset="-122"/>
                <a:ea typeface="微软雅黑" panose="020B0503020204020204" pitchFamily="34" charset="-122"/>
              </a:rPr>
              <a:t>系统总控Agent </a:t>
            </a:r>
            <a:r>
              <a:rPr lang="zh-CN" altLang="en-US" sz="1800" dirty="0">
                <a:solidFill>
                  <a:schemeClr val="tx1"/>
                </a:solidFill>
                <a:latin typeface="微软雅黑" panose="020B0503020204020204" pitchFamily="34" charset="-122"/>
                <a:ea typeface="微软雅黑" panose="020B0503020204020204" pitchFamily="34" charset="-122"/>
              </a:rPr>
              <a:t>负责多 Agents 之间的通信与协作。</a:t>
            </a:r>
          </a:p>
        </p:txBody>
      </p:sp>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基于多 Agents 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多 Agents 智能过滤系统的总体框图</a:t>
            </a:r>
          </a:p>
        </p:txBody>
      </p:sp>
      <p:graphicFrame>
        <p:nvGraphicFramePr>
          <p:cNvPr id="2" name="对象 -2147482406"/>
          <p:cNvGraphicFramePr/>
          <p:nvPr/>
        </p:nvGraphicFramePr>
        <p:xfrm>
          <a:off x="674370" y="1709420"/>
          <a:ext cx="6997065" cy="4810125"/>
        </p:xfrm>
        <a:graphic>
          <a:graphicData uri="http://schemas.openxmlformats.org/presentationml/2006/ole">
            <mc:AlternateContent xmlns:mc="http://schemas.openxmlformats.org/markup-compatibility/2006">
              <mc:Choice xmlns:v="urn:schemas-microsoft-com:vml" Requires="v">
                <p:oleObj r:id="rId2" imgW="7874000" imgH="5905500" progId="Visio.Drawing.11">
                  <p:embed/>
                </p:oleObj>
              </mc:Choice>
              <mc:Fallback>
                <p:oleObj r:id="rId2" imgW="7874000" imgH="5905500" progId="Visio.Drawing.11">
                  <p:embed/>
                  <p:pic>
                    <p:nvPicPr>
                      <p:cNvPr id="0" name="图片 3075"/>
                      <p:cNvPicPr/>
                      <p:nvPr/>
                    </p:nvPicPr>
                    <p:blipFill>
                      <a:blip r:embed="rId3"/>
                      <a:stretch>
                        <a:fillRect/>
                      </a:stretch>
                    </p:blipFill>
                    <p:spPr>
                      <a:xfrm>
                        <a:off x="674370" y="1709420"/>
                        <a:ext cx="6997065" cy="4810125"/>
                      </a:xfrm>
                      <a:prstGeom prst="rect">
                        <a:avLst/>
                      </a:prstGeom>
                      <a:noFill/>
                      <a:ln w="38100">
                        <a:noFill/>
                        <a:miter/>
                      </a:ln>
                    </p:spPr>
                  </p:pic>
                </p:oleObj>
              </mc:Fallback>
            </mc:AlternateContent>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2162416" y="1885541"/>
            <a:ext cx="9510610" cy="720940"/>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92"/>
            </a:schemeClr>
          </a:fillRef>
          <a:effectRef idx="2">
            <a:schemeClr val="accent1">
              <a:alpha val="90000"/>
              <a:hueOff val="0"/>
              <a:satOff val="0"/>
              <a:lumOff val="0"/>
              <a:alphaOff val="-39992"/>
            </a:schemeClr>
          </a:effectRef>
          <a:fontRef idx="minor">
            <a:schemeClr val="lt1"/>
          </a:fontRef>
        </p:style>
      </p:sp>
      <p:sp>
        <p:nvSpPr>
          <p:cNvPr id="28" name="文本框 27"/>
          <p:cNvSpPr txBox="1"/>
          <p:nvPr/>
        </p:nvSpPr>
        <p:spPr>
          <a:xfrm>
            <a:off x="2162416" y="1890512"/>
            <a:ext cx="9593166" cy="701346"/>
          </a:xfrm>
          <a:prstGeom prst="rect">
            <a:avLst/>
          </a:prstGeom>
          <a:noFill/>
        </p:spPr>
        <p:txBody>
          <a:bodyPr wrap="square" rtlCol="0">
            <a:spAutoFit/>
          </a:bodyPr>
          <a:lstStyle/>
          <a:p>
            <a:pPr>
              <a:lnSpc>
                <a:spcPct val="130000"/>
              </a:lnSpc>
            </a:pPr>
            <a:r>
              <a:rPr lang="zh-CN" altLang="en-US" sz="1600" dirty="0">
                <a:latin typeface="微软雅黑" panose="020B0503020204020204" pitchFamily="34" charset="-122"/>
                <a:ea typeface="微软雅黑" panose="020B0503020204020204" pitchFamily="34" charset="-122"/>
              </a:rPr>
              <a:t>实现信息导引，帮助用户确定自己需要的信息所在的领域，细化和规范查询要求；提供用户相关信息反馈窗口，记录用户对查找结果的满意程度；为用户提供注册登录界面，以便存储用户的个性化信息</a:t>
            </a:r>
          </a:p>
        </p:txBody>
      </p:sp>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基于多 Agents 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多 Agents 智能过滤系统的总体框图</a:t>
            </a:r>
          </a:p>
        </p:txBody>
      </p:sp>
      <p:sp>
        <p:nvSpPr>
          <p:cNvPr id="80" name="圆角矩形 79"/>
          <p:cNvSpPr/>
          <p:nvPr/>
        </p:nvSpPr>
        <p:spPr>
          <a:xfrm>
            <a:off x="505119" y="1882276"/>
            <a:ext cx="1650365" cy="716308"/>
          </a:xfrm>
          <a:prstGeom prst="roundRect">
            <a:avLst/>
          </a:prstGeom>
        </p:spPr>
        <p:style>
          <a:lnRef idx="0">
            <a:schemeClr val="lt1">
              <a:hueOff val="0"/>
              <a:satOff val="0"/>
              <a:lumOff val="0"/>
              <a:alphaOff val="0"/>
            </a:schemeClr>
          </a:lnRef>
          <a:fillRef idx="3">
            <a:schemeClr val="accent1">
              <a:alpha val="90000"/>
              <a:hueOff val="0"/>
              <a:satOff val="0"/>
              <a:lumOff val="0"/>
              <a:alphaOff val="-39993"/>
            </a:schemeClr>
          </a:fillRef>
          <a:effectRef idx="2">
            <a:schemeClr val="accent1">
              <a:alpha val="90000"/>
              <a:hueOff val="0"/>
              <a:satOff val="0"/>
              <a:lumOff val="0"/>
              <a:alphaOff val="-39993"/>
            </a:schemeClr>
          </a:effectRef>
          <a:fontRef idx="minor">
            <a:schemeClr val="lt1"/>
          </a:fontRef>
        </p:style>
      </p:sp>
      <p:sp>
        <p:nvSpPr>
          <p:cNvPr id="3" name="圆角矩形 2"/>
          <p:cNvSpPr/>
          <p:nvPr/>
        </p:nvSpPr>
        <p:spPr>
          <a:xfrm>
            <a:off x="505119" y="2619375"/>
            <a:ext cx="1650365" cy="610524"/>
          </a:xfrm>
          <a:prstGeom prst="roundRect">
            <a:avLst/>
          </a:prstGeom>
        </p:spPr>
        <p:style>
          <a:lnRef idx="0">
            <a:schemeClr val="lt1">
              <a:hueOff val="0"/>
              <a:satOff val="0"/>
              <a:lumOff val="0"/>
              <a:alphaOff val="0"/>
            </a:schemeClr>
          </a:lnRef>
          <a:fillRef idx="3">
            <a:schemeClr val="accent1">
              <a:alpha val="90000"/>
              <a:hueOff val="0"/>
              <a:satOff val="0"/>
              <a:lumOff val="0"/>
              <a:alphaOff val="-39992"/>
            </a:schemeClr>
          </a:fillRef>
          <a:effectRef idx="2">
            <a:schemeClr val="accent1">
              <a:alpha val="90000"/>
              <a:hueOff val="0"/>
              <a:satOff val="0"/>
              <a:lumOff val="0"/>
              <a:alphaOff val="-39992"/>
            </a:schemeClr>
          </a:effectRef>
          <a:fontRef idx="minor">
            <a:schemeClr val="lt1"/>
          </a:fontRef>
        </p:style>
      </p:sp>
      <p:sp>
        <p:nvSpPr>
          <p:cNvPr id="4" name="圆角矩形 3"/>
          <p:cNvSpPr/>
          <p:nvPr/>
        </p:nvSpPr>
        <p:spPr>
          <a:xfrm>
            <a:off x="505119" y="3239015"/>
            <a:ext cx="1650365" cy="721359"/>
          </a:xfrm>
          <a:prstGeom prst="roundRect">
            <a:avLst/>
          </a:prstGeom>
        </p:spPr>
        <p:style>
          <a:lnRef idx="0">
            <a:schemeClr val="lt1">
              <a:hueOff val="0"/>
              <a:satOff val="0"/>
              <a:lumOff val="0"/>
              <a:alphaOff val="0"/>
            </a:schemeClr>
          </a:lnRef>
          <a:fillRef idx="3">
            <a:schemeClr val="accent1">
              <a:alpha val="90000"/>
              <a:hueOff val="0"/>
              <a:satOff val="0"/>
              <a:lumOff val="0"/>
              <a:alphaOff val="-39991"/>
            </a:schemeClr>
          </a:fillRef>
          <a:effectRef idx="2">
            <a:schemeClr val="accent1">
              <a:alpha val="90000"/>
              <a:hueOff val="0"/>
              <a:satOff val="0"/>
              <a:lumOff val="0"/>
              <a:alphaOff val="-39991"/>
            </a:schemeClr>
          </a:effectRef>
          <a:fontRef idx="minor">
            <a:schemeClr val="lt1"/>
          </a:fontRef>
        </p:style>
      </p:sp>
      <p:sp>
        <p:nvSpPr>
          <p:cNvPr id="5" name="圆角矩形 4"/>
          <p:cNvSpPr/>
          <p:nvPr/>
        </p:nvSpPr>
        <p:spPr>
          <a:xfrm>
            <a:off x="505119" y="3976417"/>
            <a:ext cx="1650365" cy="712119"/>
          </a:xfrm>
          <a:prstGeom prst="roundRect">
            <a:avLst/>
          </a:prstGeom>
        </p:spPr>
        <p:style>
          <a:lnRef idx="0">
            <a:schemeClr val="lt1">
              <a:hueOff val="0"/>
              <a:satOff val="0"/>
              <a:lumOff val="0"/>
              <a:alphaOff val="0"/>
            </a:schemeClr>
          </a:lnRef>
          <a:fillRef idx="3">
            <a:schemeClr val="accent1">
              <a:alpha val="90000"/>
              <a:hueOff val="0"/>
              <a:satOff val="0"/>
              <a:lumOff val="0"/>
              <a:alphaOff val="-39990"/>
            </a:schemeClr>
          </a:fillRef>
          <a:effectRef idx="2">
            <a:schemeClr val="accent1">
              <a:alpha val="90000"/>
              <a:hueOff val="0"/>
              <a:satOff val="0"/>
              <a:lumOff val="0"/>
              <a:alphaOff val="-39990"/>
            </a:schemeClr>
          </a:effectRef>
          <a:fontRef idx="minor">
            <a:schemeClr val="lt1"/>
          </a:fontRef>
        </p:style>
      </p:sp>
      <p:sp>
        <p:nvSpPr>
          <p:cNvPr id="7" name="圆角矩形 6"/>
          <p:cNvSpPr/>
          <p:nvPr/>
        </p:nvSpPr>
        <p:spPr>
          <a:xfrm>
            <a:off x="505119" y="4699961"/>
            <a:ext cx="1650365" cy="728699"/>
          </a:xfrm>
          <a:prstGeom prst="roundRect">
            <a:avLst/>
          </a:prstGeom>
        </p:spPr>
        <p:style>
          <a:lnRef idx="0">
            <a:schemeClr val="lt1">
              <a:hueOff val="0"/>
              <a:satOff val="0"/>
              <a:lumOff val="0"/>
              <a:alphaOff val="0"/>
            </a:schemeClr>
          </a:lnRef>
          <a:fillRef idx="3">
            <a:schemeClr val="accent1">
              <a:alpha val="90000"/>
              <a:hueOff val="0"/>
              <a:satOff val="0"/>
              <a:lumOff val="0"/>
              <a:alphaOff val="-39989"/>
            </a:schemeClr>
          </a:fillRef>
          <a:effectRef idx="2">
            <a:schemeClr val="accent1">
              <a:alpha val="90000"/>
              <a:hueOff val="0"/>
              <a:satOff val="0"/>
              <a:lumOff val="0"/>
              <a:alphaOff val="-39989"/>
            </a:schemeClr>
          </a:effectRef>
          <a:fontRef idx="minor">
            <a:schemeClr val="lt1"/>
          </a:fontRef>
        </p:style>
      </p:sp>
      <p:sp>
        <p:nvSpPr>
          <p:cNvPr id="9" name="圆角矩形 8"/>
          <p:cNvSpPr/>
          <p:nvPr/>
        </p:nvSpPr>
        <p:spPr>
          <a:xfrm>
            <a:off x="505119" y="5437371"/>
            <a:ext cx="1650365" cy="529590"/>
          </a:xfrm>
          <a:prstGeom prst="roundRect">
            <a:avLst/>
          </a:prstGeom>
        </p:spPr>
        <p:style>
          <a:lnRef idx="0">
            <a:schemeClr val="lt1">
              <a:hueOff val="0"/>
              <a:satOff val="0"/>
              <a:lumOff val="0"/>
              <a:alphaOff val="0"/>
            </a:schemeClr>
          </a:lnRef>
          <a:fillRef idx="3">
            <a:schemeClr val="accent1">
              <a:alpha val="90000"/>
              <a:hueOff val="0"/>
              <a:satOff val="0"/>
              <a:lumOff val="0"/>
              <a:alphaOff val="-39987"/>
            </a:schemeClr>
          </a:fillRef>
          <a:effectRef idx="2">
            <a:schemeClr val="accent1">
              <a:alpha val="90000"/>
              <a:hueOff val="0"/>
              <a:satOff val="0"/>
              <a:lumOff val="0"/>
              <a:alphaOff val="-39987"/>
            </a:schemeClr>
          </a:effectRef>
          <a:fontRef idx="minor">
            <a:schemeClr val="lt1"/>
          </a:fontRef>
        </p:style>
      </p:sp>
      <p:sp>
        <p:nvSpPr>
          <p:cNvPr id="10" name="圆角矩形 9"/>
          <p:cNvSpPr/>
          <p:nvPr/>
        </p:nvSpPr>
        <p:spPr>
          <a:xfrm>
            <a:off x="505119" y="5973890"/>
            <a:ext cx="1651000" cy="529590"/>
          </a:xfrm>
          <a:prstGeom prst="roundRect">
            <a:avLst/>
          </a:prstGeom>
        </p:spPr>
        <p:style>
          <a:lnRef idx="0">
            <a:schemeClr val="lt1">
              <a:hueOff val="0"/>
              <a:satOff val="0"/>
              <a:lumOff val="0"/>
              <a:alphaOff val="0"/>
            </a:schemeClr>
          </a:lnRef>
          <a:fillRef idx="3">
            <a:schemeClr val="accent1">
              <a:alpha val="90000"/>
              <a:hueOff val="0"/>
              <a:satOff val="0"/>
              <a:lumOff val="0"/>
              <a:alphaOff val="-39986"/>
            </a:schemeClr>
          </a:fillRef>
          <a:effectRef idx="2">
            <a:schemeClr val="accent1">
              <a:alpha val="90000"/>
              <a:hueOff val="0"/>
              <a:satOff val="0"/>
              <a:lumOff val="0"/>
              <a:alphaOff val="-39986"/>
            </a:schemeClr>
          </a:effectRef>
          <a:fontRef idx="minor">
            <a:schemeClr val="lt1"/>
          </a:fontRef>
        </p:style>
      </p:sp>
      <p:sp>
        <p:nvSpPr>
          <p:cNvPr id="12" name="圆角矩形 11"/>
          <p:cNvSpPr/>
          <p:nvPr/>
        </p:nvSpPr>
        <p:spPr>
          <a:xfrm>
            <a:off x="2148562" y="2626302"/>
            <a:ext cx="9524464" cy="603597"/>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91"/>
            </a:schemeClr>
          </a:fillRef>
          <a:effectRef idx="2">
            <a:schemeClr val="accent1">
              <a:alpha val="90000"/>
              <a:hueOff val="0"/>
              <a:satOff val="0"/>
              <a:lumOff val="0"/>
              <a:alphaOff val="-39991"/>
            </a:schemeClr>
          </a:effectRef>
          <a:fontRef idx="minor">
            <a:schemeClr val="lt1"/>
          </a:fontRef>
        </p:style>
      </p:sp>
      <p:sp>
        <p:nvSpPr>
          <p:cNvPr id="13" name="圆角矩形 12"/>
          <p:cNvSpPr/>
          <p:nvPr/>
        </p:nvSpPr>
        <p:spPr>
          <a:xfrm>
            <a:off x="2148561" y="3239016"/>
            <a:ext cx="9538319" cy="714836"/>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90"/>
            </a:schemeClr>
          </a:fillRef>
          <a:effectRef idx="2">
            <a:schemeClr val="accent1">
              <a:alpha val="90000"/>
              <a:hueOff val="0"/>
              <a:satOff val="0"/>
              <a:lumOff val="0"/>
              <a:alphaOff val="-39990"/>
            </a:schemeClr>
          </a:effectRef>
          <a:fontRef idx="minor">
            <a:schemeClr val="lt1"/>
          </a:fontRef>
        </p:style>
        <p:txBody>
          <a:bodyP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站点操作 Agent 是直接与信息源进行连接获取信息的代理，可以在现有网络通信协议 TCP/</a:t>
            </a:r>
            <a:r>
              <a:rPr lang="en-US" altLang="zh-CN" sz="1600" dirty="0">
                <a:solidFill>
                  <a:schemeClr val="tx1"/>
                </a:solidFill>
                <a:latin typeface="微软雅黑" panose="020B0503020204020204" pitchFamily="34" charset="-122"/>
                <a:ea typeface="微软雅黑" panose="020B0503020204020204" pitchFamily="34" charset="-122"/>
              </a:rPr>
              <a:t>I</a:t>
            </a:r>
            <a:r>
              <a:rPr lang="zh-CN" altLang="en-US" sz="1600" dirty="0">
                <a:solidFill>
                  <a:schemeClr val="tx1"/>
                </a:solidFill>
                <a:latin typeface="微软雅黑" panose="020B0503020204020204" pitchFamily="34" charset="-122"/>
                <a:ea typeface="微软雅黑" panose="020B0503020204020204" pitchFamily="34" charset="-122"/>
              </a:rPr>
              <a:t>P 基础上实现</a:t>
            </a:r>
          </a:p>
        </p:txBody>
      </p:sp>
      <p:sp>
        <p:nvSpPr>
          <p:cNvPr id="14" name="圆角矩形 13"/>
          <p:cNvSpPr/>
          <p:nvPr/>
        </p:nvSpPr>
        <p:spPr>
          <a:xfrm>
            <a:off x="2148562" y="3969490"/>
            <a:ext cx="9524464" cy="712229"/>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89"/>
            </a:schemeClr>
          </a:fillRef>
          <a:effectRef idx="2">
            <a:schemeClr val="accent1">
              <a:alpha val="90000"/>
              <a:hueOff val="0"/>
              <a:satOff val="0"/>
              <a:lumOff val="0"/>
              <a:alphaOff val="-39989"/>
            </a:schemeClr>
          </a:effectRef>
          <a:fontRef idx="minor">
            <a:schemeClr val="lt1"/>
          </a:fontRef>
        </p:style>
        <p:txBody>
          <a:bodyP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兴趣学习 Agent 与用户界面 Agent 以及个性化文件库相连，接受并存储用户界面 Agent 的反馈评价信息表</a:t>
            </a:r>
          </a:p>
        </p:txBody>
      </p:sp>
      <p:sp>
        <p:nvSpPr>
          <p:cNvPr id="15" name="圆角矩形 14"/>
          <p:cNvSpPr/>
          <p:nvPr/>
        </p:nvSpPr>
        <p:spPr>
          <a:xfrm>
            <a:off x="2148562" y="4693034"/>
            <a:ext cx="9538318" cy="728699"/>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88"/>
            </a:schemeClr>
          </a:fillRef>
          <a:effectRef idx="2">
            <a:schemeClr val="accent1">
              <a:alpha val="90000"/>
              <a:hueOff val="0"/>
              <a:satOff val="0"/>
              <a:lumOff val="0"/>
              <a:alphaOff val="-39988"/>
            </a:schemeClr>
          </a:effectRef>
          <a:fontRef idx="minor">
            <a:schemeClr val="lt1"/>
          </a:fontRef>
        </p:style>
        <p:txBody>
          <a:bodyP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将用户的查找请求转换为若干个底层搜索引擎处理格式；向各个搜索引擎发送查询请求，并统一其返回检索结果；不需要建立庞大的索引数据库，也不需要使用复杂的检索机制，便于维护</a:t>
            </a:r>
          </a:p>
        </p:txBody>
      </p:sp>
      <p:sp>
        <p:nvSpPr>
          <p:cNvPr id="18" name="圆角矩形 17"/>
          <p:cNvSpPr/>
          <p:nvPr/>
        </p:nvSpPr>
        <p:spPr>
          <a:xfrm>
            <a:off x="2148562" y="5437371"/>
            <a:ext cx="9538318" cy="529590"/>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86"/>
            </a:schemeClr>
          </a:fillRef>
          <a:effectRef idx="2">
            <a:schemeClr val="accent1">
              <a:alpha val="90000"/>
              <a:hueOff val="0"/>
              <a:satOff val="0"/>
              <a:lumOff val="0"/>
              <a:alphaOff val="-39986"/>
            </a:schemeClr>
          </a:effectRef>
          <a:fontRef idx="minor">
            <a:schemeClr val="lt1"/>
          </a:fontRef>
        </p:style>
        <p:txBody>
          <a:bodyP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该模块分为系统初始化和系统设置两个子模块</a:t>
            </a:r>
          </a:p>
        </p:txBody>
      </p:sp>
      <p:sp>
        <p:nvSpPr>
          <p:cNvPr id="19" name="圆角矩形 18"/>
          <p:cNvSpPr/>
          <p:nvPr/>
        </p:nvSpPr>
        <p:spPr>
          <a:xfrm>
            <a:off x="2148562" y="5973891"/>
            <a:ext cx="9524464" cy="529590"/>
          </a:xfrm>
          <a:prstGeom prst="roundRect">
            <a:avLst/>
          </a:prstGeom>
          <a:solidFill>
            <a:schemeClr val="accent5">
              <a:lumMod val="20000"/>
              <a:lumOff val="80000"/>
            </a:schemeClr>
          </a:solidFill>
        </p:spPr>
        <p:style>
          <a:lnRef idx="0">
            <a:schemeClr val="lt1">
              <a:hueOff val="0"/>
              <a:satOff val="0"/>
              <a:lumOff val="0"/>
              <a:alphaOff val="0"/>
            </a:schemeClr>
          </a:lnRef>
          <a:fillRef idx="3">
            <a:schemeClr val="accent1">
              <a:alpha val="90000"/>
              <a:hueOff val="0"/>
              <a:satOff val="0"/>
              <a:lumOff val="0"/>
              <a:alphaOff val="-39985"/>
            </a:schemeClr>
          </a:fillRef>
          <a:effectRef idx="2">
            <a:schemeClr val="accent1">
              <a:alpha val="90000"/>
              <a:hueOff val="0"/>
              <a:satOff val="0"/>
              <a:lumOff val="0"/>
              <a:alphaOff val="-39985"/>
            </a:schemeClr>
          </a:effectRef>
          <a:fontRef idx="minor">
            <a:schemeClr val="lt1"/>
          </a:fontRef>
        </p:style>
        <p:txBody>
          <a:bodyP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对用户长期没有访问的网站信息和主题兴趣，采用一定策略减少其权值</a:t>
            </a:r>
          </a:p>
        </p:txBody>
      </p:sp>
      <p:sp>
        <p:nvSpPr>
          <p:cNvPr id="20" name="文本框 19"/>
          <p:cNvSpPr txBox="1"/>
          <p:nvPr/>
        </p:nvSpPr>
        <p:spPr>
          <a:xfrm>
            <a:off x="518973" y="2081072"/>
            <a:ext cx="1712073"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用户界面 Agent</a:t>
            </a:r>
          </a:p>
        </p:txBody>
      </p:sp>
      <p:sp>
        <p:nvSpPr>
          <p:cNvPr id="21" name="文本框 20"/>
          <p:cNvSpPr txBox="1"/>
          <p:nvPr/>
        </p:nvSpPr>
        <p:spPr>
          <a:xfrm>
            <a:off x="518974" y="6062156"/>
            <a:ext cx="168910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知识库管理模块</a:t>
            </a:r>
          </a:p>
        </p:txBody>
      </p:sp>
      <p:sp>
        <p:nvSpPr>
          <p:cNvPr id="22" name="文本框 21"/>
          <p:cNvSpPr txBox="1"/>
          <p:nvPr/>
        </p:nvSpPr>
        <p:spPr>
          <a:xfrm>
            <a:off x="518974" y="5504852"/>
            <a:ext cx="172593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系统管理模块</a:t>
            </a:r>
          </a:p>
        </p:txBody>
      </p:sp>
      <p:sp>
        <p:nvSpPr>
          <p:cNvPr id="24" name="文本框 23"/>
          <p:cNvSpPr txBox="1"/>
          <p:nvPr/>
        </p:nvSpPr>
        <p:spPr>
          <a:xfrm>
            <a:off x="518973" y="4906627"/>
            <a:ext cx="1702319"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搜索更新 Agent</a:t>
            </a:r>
          </a:p>
        </p:txBody>
      </p:sp>
      <p:sp>
        <p:nvSpPr>
          <p:cNvPr id="25" name="文本框 24"/>
          <p:cNvSpPr txBox="1"/>
          <p:nvPr/>
        </p:nvSpPr>
        <p:spPr>
          <a:xfrm>
            <a:off x="518974" y="4162296"/>
            <a:ext cx="172593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兴趣学习 Agent</a:t>
            </a:r>
          </a:p>
        </p:txBody>
      </p:sp>
      <p:sp>
        <p:nvSpPr>
          <p:cNvPr id="26" name="文本框 25"/>
          <p:cNvSpPr txBox="1"/>
          <p:nvPr/>
        </p:nvSpPr>
        <p:spPr>
          <a:xfrm>
            <a:off x="518974" y="3432572"/>
            <a:ext cx="1701684"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站点操作 Agent</a:t>
            </a:r>
          </a:p>
        </p:txBody>
      </p:sp>
      <p:sp>
        <p:nvSpPr>
          <p:cNvPr id="27" name="文本框 26"/>
          <p:cNvSpPr txBox="1"/>
          <p:nvPr/>
        </p:nvSpPr>
        <p:spPr>
          <a:xfrm>
            <a:off x="518974" y="2729056"/>
            <a:ext cx="172593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过滤查找 Agent</a:t>
            </a:r>
          </a:p>
        </p:txBody>
      </p:sp>
      <p:sp>
        <p:nvSpPr>
          <p:cNvPr id="29" name="文本框 28"/>
          <p:cNvSpPr txBox="1"/>
          <p:nvPr/>
        </p:nvSpPr>
        <p:spPr>
          <a:xfrm>
            <a:off x="2148562" y="2703488"/>
            <a:ext cx="9593166" cy="381258"/>
          </a:xfrm>
          <a:prstGeom prst="rect">
            <a:avLst/>
          </a:prstGeom>
          <a:noFill/>
        </p:spPr>
        <p:txBody>
          <a:bodyPr wrap="square" rtlCol="0">
            <a:spAutoFit/>
          </a:bodyPr>
          <a:lstStyle/>
          <a:p>
            <a:pPr>
              <a:lnSpc>
                <a:spcPct val="130000"/>
              </a:lnSpc>
            </a:pPr>
            <a:r>
              <a:rPr lang="zh-CN" altLang="en-US" sz="1600" dirty="0">
                <a:latin typeface="微软雅黑" panose="020B0503020204020204" pitchFamily="34" charset="-122"/>
                <a:ea typeface="微软雅黑" panose="020B0503020204020204" pitchFamily="34" charset="-122"/>
              </a:rPr>
              <a:t>过滤查找功能是根据用户界面 Agent 的请求实现对 WWW 资源库的查找，并将查找结果反馈给用户界面</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基于文本匹配的过滤系统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3473912"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总体设计</a:t>
            </a:r>
          </a:p>
        </p:txBody>
      </p:sp>
      <p:graphicFrame>
        <p:nvGraphicFramePr>
          <p:cNvPr id="2" name="对象 -2147482405"/>
          <p:cNvGraphicFramePr/>
          <p:nvPr/>
        </p:nvGraphicFramePr>
        <p:xfrm>
          <a:off x="304165" y="1969770"/>
          <a:ext cx="7325995" cy="4123055"/>
        </p:xfrm>
        <a:graphic>
          <a:graphicData uri="http://schemas.openxmlformats.org/presentationml/2006/ole">
            <mc:AlternateContent xmlns:mc="http://schemas.openxmlformats.org/markup-compatibility/2006">
              <mc:Choice xmlns:v="urn:schemas-microsoft-com:vml" Requires="v">
                <p:oleObj r:id="rId3" imgW="8483600" imgH="5600700" progId="Visio.Drawing.11">
                  <p:embed/>
                </p:oleObj>
              </mc:Choice>
              <mc:Fallback>
                <p:oleObj r:id="rId3" imgW="8483600" imgH="5600700" progId="Visio.Drawing.11">
                  <p:embed/>
                  <p:pic>
                    <p:nvPicPr>
                      <p:cNvPr id="0" name="图片 2"/>
                      <p:cNvPicPr/>
                      <p:nvPr/>
                    </p:nvPicPr>
                    <p:blipFill>
                      <a:blip r:embed="rId4"/>
                      <a:stretch>
                        <a:fillRect/>
                      </a:stretch>
                    </p:blipFill>
                    <p:spPr>
                      <a:xfrm>
                        <a:off x="304165" y="1969770"/>
                        <a:ext cx="7325995" cy="4123055"/>
                      </a:xfrm>
                      <a:prstGeom prst="rect">
                        <a:avLst/>
                      </a:prstGeom>
                      <a:noFill/>
                      <a:ln w="38100">
                        <a:noFill/>
                        <a:miter/>
                      </a:ln>
                    </p:spPr>
                  </p:pic>
                </p:oleObj>
              </mc:Fallback>
            </mc:AlternateContent>
          </a:graphicData>
        </a:graphic>
      </p:graphicFrame>
      <p:sp>
        <p:nvSpPr>
          <p:cNvPr id="4" name="文本框 3"/>
          <p:cNvSpPr txBox="1"/>
          <p:nvPr/>
        </p:nvSpPr>
        <p:spPr>
          <a:xfrm>
            <a:off x="7913370" y="2251426"/>
            <a:ext cx="4001770" cy="364744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indent="504000"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系统采用后台程序和监控端相结合的结构。监控端负责网页信息的截获，并将其反馈给后台程序，接收后台程序的命令对网页重定向不做处理。后台程序负责网页信息的检测和判定并将判定结果发送给监控端，同时，维护数据库更新并提供相关管理界面。</a:t>
            </a:r>
          </a:p>
        </p:txBody>
      </p:sp>
      <p:sp>
        <p:nvSpPr>
          <p:cNvPr id="5" name="文本框 4"/>
          <p:cNvSpPr txBox="1"/>
          <p:nvPr/>
        </p:nvSpPr>
        <p:spPr>
          <a:xfrm>
            <a:off x="2305050" y="6202048"/>
            <a:ext cx="4001770" cy="4178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en-US" altLang="zh-CN" sz="2000" dirty="0">
                <a:solidFill>
                  <a:schemeClr val="tx2"/>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系统工作原理</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文本框 182"/>
          <p:cNvSpPr txBox="1"/>
          <p:nvPr/>
        </p:nvSpPr>
        <p:spPr>
          <a:xfrm>
            <a:off x="1070610" y="2205990"/>
            <a:ext cx="4001770" cy="938847"/>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fontAlgn="auto">
              <a:lnSpc>
                <a:spcPts val="3500"/>
              </a:lnSpc>
            </a:pPr>
            <a:r>
              <a:rPr sz="2000" dirty="0" err="1">
                <a:solidFill>
                  <a:schemeClr val="tx2"/>
                </a:solidFill>
                <a:latin typeface="微软雅黑" panose="020B0503020204020204" pitchFamily="34" charset="-122"/>
                <a:ea typeface="微软雅黑" panose="020B0503020204020204" pitchFamily="34" charset="-122"/>
              </a:rPr>
              <a:t>系统的过滤方法采用</a:t>
            </a:r>
            <a:r>
              <a:rPr lang="en-US" sz="2000" dirty="0">
                <a:solidFill>
                  <a:schemeClr val="tx2"/>
                </a:solidFill>
                <a:latin typeface="微软雅黑" panose="020B0503020204020204" pitchFamily="34" charset="-122"/>
                <a:ea typeface="微软雅黑" panose="020B0503020204020204" pitchFamily="34" charset="-122"/>
              </a:rPr>
              <a:t> </a:t>
            </a:r>
            <a:r>
              <a:rPr sz="2000" dirty="0">
                <a:solidFill>
                  <a:schemeClr val="tx2"/>
                </a:solidFill>
                <a:latin typeface="微软雅黑" panose="020B0503020204020204" pitchFamily="34" charset="-122"/>
                <a:ea typeface="微软雅黑" panose="020B0503020204020204" pitchFamily="34" charset="-122"/>
              </a:rPr>
              <a:t>URL/IP 过滤和内容过滤相结合的方法</a:t>
            </a:r>
          </a:p>
        </p:txBody>
      </p:sp>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基于文本匹配的过滤系统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总体设计</a:t>
            </a:r>
          </a:p>
        </p:txBody>
      </p:sp>
      <p:graphicFrame>
        <p:nvGraphicFramePr>
          <p:cNvPr id="2" name="对象 -2147482404"/>
          <p:cNvGraphicFramePr/>
          <p:nvPr>
            <p:extLst>
              <p:ext uri="{D42A27DB-BD31-4B8C-83A1-F6EECF244321}">
                <p14:modId xmlns:p14="http://schemas.microsoft.com/office/powerpoint/2010/main" val="354565096"/>
              </p:ext>
            </p:extLst>
          </p:nvPr>
        </p:nvGraphicFramePr>
        <p:xfrm>
          <a:off x="6456220" y="927100"/>
          <a:ext cx="4565072" cy="5930899"/>
        </p:xfrm>
        <a:graphic>
          <a:graphicData uri="http://schemas.openxmlformats.org/presentationml/2006/ole">
            <mc:AlternateContent xmlns:mc="http://schemas.openxmlformats.org/markup-compatibility/2006">
              <mc:Choice xmlns:v="urn:schemas-microsoft-com:vml" Requires="v">
                <p:oleObj r:id="rId2" imgW="6413500" imgH="12395200" progId="Visio.Drawing.11">
                  <p:embed/>
                </p:oleObj>
              </mc:Choice>
              <mc:Fallback>
                <p:oleObj r:id="rId2" imgW="6413500" imgH="12395200" progId="Visio.Drawing.11">
                  <p:embed/>
                  <p:pic>
                    <p:nvPicPr>
                      <p:cNvPr id="0" name="图片 2"/>
                      <p:cNvPicPr/>
                      <p:nvPr/>
                    </p:nvPicPr>
                    <p:blipFill>
                      <a:blip r:embed="rId3"/>
                      <a:stretch>
                        <a:fillRect/>
                      </a:stretch>
                    </p:blipFill>
                    <p:spPr>
                      <a:xfrm>
                        <a:off x="6456220" y="927100"/>
                        <a:ext cx="4565072" cy="5930899"/>
                      </a:xfrm>
                      <a:prstGeom prst="rect">
                        <a:avLst/>
                      </a:prstGeom>
                      <a:noFill/>
                      <a:ln w="38100">
                        <a:noFill/>
                        <a:miter/>
                      </a:ln>
                    </p:spPr>
                  </p:pic>
                </p:oleObj>
              </mc:Fallback>
            </mc:AlternateContent>
          </a:graphicData>
        </a:graphic>
      </p:graphicFrame>
      <p:sp>
        <p:nvSpPr>
          <p:cNvPr id="4" name="文本框 3"/>
          <p:cNvSpPr txBox="1"/>
          <p:nvPr/>
        </p:nvSpPr>
        <p:spPr>
          <a:xfrm>
            <a:off x="8888730" y="6361430"/>
            <a:ext cx="2355850" cy="4178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en-US" altLang="zh-CN" sz="2000" dirty="0">
                <a:solidFill>
                  <a:schemeClr val="tx2"/>
                </a:solidFill>
                <a:latin typeface="微软雅黑" panose="020B0503020204020204" pitchFamily="34" charset="-122"/>
                <a:ea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rPr>
              <a:t>网页判定流程</a:t>
            </a:r>
          </a:p>
        </p:txBody>
      </p:sp>
      <p:sp>
        <p:nvSpPr>
          <p:cNvPr id="5" name="菱形 4"/>
          <p:cNvSpPr/>
          <p:nvPr/>
        </p:nvSpPr>
        <p:spPr>
          <a:xfrm>
            <a:off x="441960" y="2505075"/>
            <a:ext cx="396875" cy="38163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70610" y="3912870"/>
            <a:ext cx="4001770" cy="142494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fontAlgn="auto">
              <a:lnSpc>
                <a:spcPts val="3500"/>
              </a:lnSpc>
            </a:pPr>
            <a:r>
              <a:rPr sz="2000" dirty="0">
                <a:solidFill>
                  <a:schemeClr val="tx2"/>
                </a:solidFill>
                <a:latin typeface="微软雅黑" panose="020B0503020204020204" pitchFamily="34" charset="-122"/>
                <a:ea typeface="微软雅黑" panose="020B0503020204020204" pitchFamily="34" charset="-122"/>
              </a:rPr>
              <a:t>网页文本过滤模块采用字符串匹配过滤和文本分类过滤两种过滤模式相结合的策略</a:t>
            </a:r>
          </a:p>
        </p:txBody>
      </p:sp>
      <p:sp>
        <p:nvSpPr>
          <p:cNvPr id="7" name="菱形 6"/>
          <p:cNvSpPr/>
          <p:nvPr/>
        </p:nvSpPr>
        <p:spPr>
          <a:xfrm>
            <a:off x="441960" y="4434205"/>
            <a:ext cx="396875" cy="38163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基于文本匹配的过滤系统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模块设计</a:t>
            </a:r>
            <a:r>
              <a:rPr lang="en-US" altLang="zh-CN" sz="2400" dirty="0">
                <a:solidFill>
                  <a:schemeClr val="accent1">
                    <a:lumMod val="75000"/>
                  </a:schemeClr>
                </a:solidFill>
                <a:latin typeface="微软雅黑" panose="020B0503020204020204" pitchFamily="34" charset="-122"/>
                <a:ea typeface="微软雅黑" panose="020B0503020204020204" pitchFamily="34" charset="-122"/>
              </a:rPr>
              <a:t>---</a:t>
            </a:r>
            <a:r>
              <a:rPr lang="en-US" altLang="zh-CN" sz="2400" dirty="0" err="1">
                <a:solidFill>
                  <a:schemeClr val="accent1">
                    <a:lumMod val="75000"/>
                  </a:schemeClr>
                </a:solidFill>
                <a:latin typeface="微软雅黑" panose="020B0503020204020204" pitchFamily="34" charset="-122"/>
                <a:ea typeface="微软雅黑" panose="020B0503020204020204" pitchFamily="34" charset="-122"/>
              </a:rPr>
              <a:t>基于</a:t>
            </a:r>
            <a:r>
              <a:rPr lang="en-US" altLang="zh-CN" sz="2400" dirty="0">
                <a:solidFill>
                  <a:schemeClr val="accent1">
                    <a:lumMod val="75000"/>
                  </a:schemeClr>
                </a:solidFill>
                <a:latin typeface="微软雅黑" panose="020B0503020204020204" pitchFamily="34" charset="-122"/>
                <a:ea typeface="微软雅黑" panose="020B0503020204020204" pitchFamily="34" charset="-122"/>
              </a:rPr>
              <a:t> IP/URL 的过滤模块</a:t>
            </a:r>
          </a:p>
        </p:txBody>
      </p:sp>
      <p:sp>
        <p:nvSpPr>
          <p:cNvPr id="4" name="文本框 3"/>
          <p:cNvSpPr txBox="1"/>
          <p:nvPr/>
        </p:nvSpPr>
        <p:spPr>
          <a:xfrm>
            <a:off x="5993130" y="1544955"/>
            <a:ext cx="5754370" cy="498094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indent="504000"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基于 IP/URL 的过滤模块是三个过滤模块中的最上层，网页信息要首先经过该模块的处理</a:t>
            </a:r>
          </a:p>
          <a:p>
            <a:pPr algn="l" fontAlgn="auto">
              <a:lnSpc>
                <a:spcPts val="3500"/>
              </a:lnSpc>
            </a:pPr>
            <a:endParaRPr lang="zh-CN" altLang="en-US" sz="2000" dirty="0">
              <a:solidFill>
                <a:schemeClr val="tx2"/>
              </a:solidFill>
              <a:latin typeface="微软雅黑" panose="020B0503020204020204" pitchFamily="34" charset="-122"/>
              <a:ea typeface="微软雅黑" panose="020B0503020204020204" pitchFamily="34" charset="-122"/>
            </a:endParaRPr>
          </a:p>
          <a:p>
            <a:pPr algn="l" fontAlgn="auto">
              <a:lnSpc>
                <a:spcPts val="3500"/>
              </a:lnSpc>
            </a:pPr>
            <a:r>
              <a:rPr lang="zh-CN" altLang="en-US" sz="2000" b="1" dirty="0">
                <a:solidFill>
                  <a:schemeClr val="tx2"/>
                </a:solidFill>
                <a:latin typeface="微软雅黑" panose="020B0503020204020204" pitchFamily="34" charset="-122"/>
                <a:ea typeface="微软雅黑" panose="020B0503020204020204" pitchFamily="34" charset="-122"/>
              </a:rPr>
              <a:t>两个查询操作：</a:t>
            </a:r>
          </a:p>
          <a:p>
            <a:pPr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      </a:t>
            </a:r>
            <a:r>
              <a:rPr lang="zh-CN" altLang="en-US" sz="1800" dirty="0">
                <a:solidFill>
                  <a:schemeClr val="tx2"/>
                </a:solidFill>
                <a:latin typeface="微软雅黑" panose="020B0503020204020204" pitchFamily="34" charset="-122"/>
                <a:ea typeface="微软雅黑" panose="020B0503020204020204" pitchFamily="34" charset="-122"/>
              </a:rPr>
              <a:t>待检测网页 URL 的查询。</a:t>
            </a:r>
          </a:p>
          <a:p>
            <a:pPr algn="l" fontAlgn="auto">
              <a:lnSpc>
                <a:spcPts val="3500"/>
              </a:lnSpc>
            </a:pPr>
            <a:r>
              <a:rPr lang="zh-CN" altLang="en-US" sz="1800" dirty="0">
                <a:solidFill>
                  <a:schemeClr val="tx2"/>
                </a:solidFill>
                <a:latin typeface="微软雅黑" panose="020B0503020204020204" pitchFamily="34" charset="-122"/>
                <a:ea typeface="微软雅黑" panose="020B0503020204020204" pitchFamily="34" charset="-122"/>
              </a:rPr>
              <a:t>       用户自定义黑名单库的查询操作。</a:t>
            </a:r>
          </a:p>
          <a:p>
            <a:pPr algn="l" fontAlgn="auto">
              <a:lnSpc>
                <a:spcPts val="3500"/>
              </a:lnSpc>
            </a:pPr>
            <a:r>
              <a:rPr lang="zh-CN" altLang="en-US" sz="2000" b="1" dirty="0">
                <a:solidFill>
                  <a:schemeClr val="tx2"/>
                </a:solidFill>
                <a:latin typeface="微软雅黑" panose="020B0503020204020204" pitchFamily="34" charset="-122"/>
                <a:ea typeface="微软雅黑" panose="020B0503020204020204" pitchFamily="34" charset="-122"/>
              </a:rPr>
              <a:t>黑名单库接受三个更新操作：</a:t>
            </a:r>
          </a:p>
          <a:p>
            <a:pPr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      </a:t>
            </a:r>
            <a:r>
              <a:rPr lang="zh-CN" altLang="en-US" sz="1800" dirty="0">
                <a:solidFill>
                  <a:schemeClr val="tx2"/>
                </a:solidFill>
                <a:latin typeface="微软雅黑" panose="020B0503020204020204" pitchFamily="34" charset="-122"/>
                <a:ea typeface="微软雅黑" panose="020B0503020204020204" pitchFamily="34" charset="-122"/>
              </a:rPr>
              <a:t>接收基于字符串模式匹配的过滤模块反馈信息</a:t>
            </a:r>
          </a:p>
          <a:p>
            <a:pPr algn="l" fontAlgn="auto">
              <a:lnSpc>
                <a:spcPts val="3500"/>
              </a:lnSpc>
            </a:pPr>
            <a:r>
              <a:rPr lang="zh-CN" altLang="en-US" sz="1800" dirty="0">
                <a:solidFill>
                  <a:schemeClr val="tx2"/>
                </a:solidFill>
                <a:latin typeface="微软雅黑" panose="020B0503020204020204" pitchFamily="34" charset="-122"/>
                <a:ea typeface="微软雅黑" panose="020B0503020204020204" pitchFamily="34" charset="-122"/>
              </a:rPr>
              <a:t>       接收基于文本分类技术的过滤模块反馈信息</a:t>
            </a:r>
          </a:p>
          <a:p>
            <a:pPr algn="l" fontAlgn="auto">
              <a:lnSpc>
                <a:spcPts val="3500"/>
              </a:lnSpc>
            </a:pPr>
            <a:r>
              <a:rPr lang="zh-CN" altLang="en-US" sz="1800" dirty="0">
                <a:solidFill>
                  <a:schemeClr val="tx2"/>
                </a:solidFill>
                <a:latin typeface="微软雅黑" panose="020B0503020204020204" pitchFamily="34" charset="-122"/>
                <a:ea typeface="微软雅黑" panose="020B0503020204020204" pitchFamily="34" charset="-122"/>
              </a:rPr>
              <a:t>       接收用户自定义操作，对黑名单库进行的添加和删除操作</a:t>
            </a:r>
          </a:p>
        </p:txBody>
      </p:sp>
      <p:sp>
        <p:nvSpPr>
          <p:cNvPr id="5" name="文本框 4"/>
          <p:cNvSpPr txBox="1"/>
          <p:nvPr/>
        </p:nvSpPr>
        <p:spPr>
          <a:xfrm>
            <a:off x="1066800" y="6080125"/>
            <a:ext cx="4135755" cy="40011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en-US" altLang="zh-CN" sz="2000" dirty="0">
                <a:solidFill>
                  <a:schemeClr val="tx2"/>
                </a:solidFill>
                <a:latin typeface="微软雅黑" panose="020B0503020204020204" pitchFamily="34" charset="-122"/>
                <a:ea typeface="微软雅黑" panose="020B0503020204020204" pitchFamily="34" charset="-122"/>
              </a:rPr>
              <a:t>      </a:t>
            </a:r>
            <a:r>
              <a:rPr sz="1800" dirty="0" err="1">
                <a:solidFill>
                  <a:schemeClr val="tx1"/>
                </a:solidFill>
                <a:latin typeface="微软雅黑" panose="020B0503020204020204" pitchFamily="34" charset="-122"/>
                <a:ea typeface="微软雅黑" panose="020B0503020204020204" pitchFamily="34" charset="-122"/>
              </a:rPr>
              <a:t>基于</a:t>
            </a:r>
            <a:r>
              <a:rPr lang="en-US" sz="1800" dirty="0">
                <a:solidFill>
                  <a:schemeClr val="tx1"/>
                </a:solidFill>
                <a:latin typeface="微软雅黑" panose="020B0503020204020204" pitchFamily="34" charset="-122"/>
                <a:ea typeface="微软雅黑" panose="020B0503020204020204" pitchFamily="34" charset="-122"/>
              </a:rPr>
              <a:t> </a:t>
            </a:r>
            <a:r>
              <a:rPr sz="1800" dirty="0">
                <a:solidFill>
                  <a:schemeClr val="tx1"/>
                </a:solidFill>
                <a:latin typeface="微软雅黑" panose="020B0503020204020204" pitchFamily="34" charset="-122"/>
                <a:ea typeface="微软雅黑" panose="020B0503020204020204" pitchFamily="34" charset="-122"/>
              </a:rPr>
              <a:t>IP/URL</a:t>
            </a:r>
            <a:r>
              <a:rPr lang="en-US" sz="1800" dirty="0">
                <a:solidFill>
                  <a:schemeClr val="tx1"/>
                </a:solidFill>
                <a:latin typeface="微软雅黑" panose="020B0503020204020204" pitchFamily="34" charset="-122"/>
                <a:ea typeface="微软雅黑" panose="020B0503020204020204" pitchFamily="34" charset="-122"/>
              </a:rPr>
              <a:t> </a:t>
            </a:r>
            <a:r>
              <a:rPr sz="1800" dirty="0" err="1">
                <a:solidFill>
                  <a:schemeClr val="tx1"/>
                </a:solidFill>
                <a:latin typeface="微软雅黑" panose="020B0503020204020204" pitchFamily="34" charset="-122"/>
                <a:ea typeface="微软雅黑" panose="020B0503020204020204" pitchFamily="34" charset="-122"/>
              </a:rPr>
              <a:t>的过滤模块流程图</a:t>
            </a:r>
            <a:endParaRPr sz="1800" dirty="0">
              <a:solidFill>
                <a:schemeClr val="tx1"/>
              </a:solidFill>
              <a:latin typeface="微软雅黑" panose="020B0503020204020204" pitchFamily="34" charset="-122"/>
              <a:ea typeface="微软雅黑" panose="020B0503020204020204" pitchFamily="34" charset="-122"/>
            </a:endParaRPr>
          </a:p>
        </p:txBody>
      </p:sp>
      <p:graphicFrame>
        <p:nvGraphicFramePr>
          <p:cNvPr id="2" name="对象 -2147482403"/>
          <p:cNvGraphicFramePr/>
          <p:nvPr/>
        </p:nvGraphicFramePr>
        <p:xfrm>
          <a:off x="1200785" y="1599565"/>
          <a:ext cx="4135755" cy="4123055"/>
        </p:xfrm>
        <a:graphic>
          <a:graphicData uri="http://schemas.openxmlformats.org/presentationml/2006/ole">
            <mc:AlternateContent xmlns:mc="http://schemas.openxmlformats.org/markup-compatibility/2006">
              <mc:Choice xmlns:v="urn:schemas-microsoft-com:vml" Requires="v">
                <p:oleObj r:id="rId2" imgW="3911600" imgH="5295900" progId="Visio.Drawing.11">
                  <p:embed/>
                </p:oleObj>
              </mc:Choice>
              <mc:Fallback>
                <p:oleObj r:id="rId2" imgW="3911600" imgH="5295900" progId="Visio.Drawing.11">
                  <p:embed/>
                  <p:pic>
                    <p:nvPicPr>
                      <p:cNvPr id="0" name="图片 3075"/>
                      <p:cNvPicPr/>
                      <p:nvPr/>
                    </p:nvPicPr>
                    <p:blipFill>
                      <a:blip r:embed="rId3"/>
                      <a:stretch>
                        <a:fillRect/>
                      </a:stretch>
                    </p:blipFill>
                    <p:spPr>
                      <a:xfrm>
                        <a:off x="1200785" y="1599565"/>
                        <a:ext cx="4135755" cy="4123055"/>
                      </a:xfrm>
                      <a:prstGeom prst="rect">
                        <a:avLst/>
                      </a:prstGeom>
                      <a:noFill/>
                      <a:ln w="38100">
                        <a:noFill/>
                        <a:miter/>
                      </a:ln>
                    </p:spPr>
                  </p:pic>
                </p:oleObj>
              </mc:Fallback>
            </mc:AlternateContent>
          </a:graphicData>
        </a:graphic>
      </p:graphicFrame>
      <p:sp>
        <p:nvSpPr>
          <p:cNvPr id="78" name="矩形 77"/>
          <p:cNvSpPr/>
          <p:nvPr/>
        </p:nvSpPr>
        <p:spPr bwMode="auto">
          <a:xfrm>
            <a:off x="6097265" y="351793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bwMode="auto">
          <a:xfrm>
            <a:off x="6097265" y="396094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bwMode="auto">
          <a:xfrm>
            <a:off x="6097265" y="486575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bwMode="auto">
          <a:xfrm>
            <a:off x="6097265" y="529247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bwMode="auto">
          <a:xfrm>
            <a:off x="6097265" y="5722369"/>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基于文本匹配的过滤系统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模块设计</a:t>
            </a:r>
            <a:r>
              <a:rPr lang="en-US" altLang="zh-CN" sz="2400" dirty="0">
                <a:solidFill>
                  <a:schemeClr val="accent1">
                    <a:lumMod val="75000"/>
                  </a:schemeClr>
                </a:solidFill>
                <a:latin typeface="微软雅黑" panose="020B0503020204020204" pitchFamily="34" charset="-122"/>
                <a:ea typeface="微软雅黑" panose="020B0503020204020204" pitchFamily="34" charset="-122"/>
              </a:rPr>
              <a:t>---基于字符串模式匹配的过滤模块</a:t>
            </a:r>
          </a:p>
        </p:txBody>
      </p:sp>
      <p:sp>
        <p:nvSpPr>
          <p:cNvPr id="4" name="文本框 3"/>
          <p:cNvSpPr txBox="1"/>
          <p:nvPr/>
        </p:nvSpPr>
        <p:spPr>
          <a:xfrm>
            <a:off x="5871210" y="2885440"/>
            <a:ext cx="5754370" cy="275844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indent="504000"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基于字符串匹配的过滤模块采用 AC-BMH 作为其核心算法</a:t>
            </a:r>
          </a:p>
          <a:p>
            <a:pPr algn="l" fontAlgn="auto">
              <a:lnSpc>
                <a:spcPts val="3500"/>
              </a:lnSpc>
            </a:pPr>
            <a:endParaRPr lang="zh-CN" altLang="en-US" sz="2000" dirty="0">
              <a:solidFill>
                <a:schemeClr val="tx2"/>
              </a:solidFill>
              <a:latin typeface="微软雅黑" panose="020B0503020204020204" pitchFamily="34" charset="-122"/>
              <a:ea typeface="微软雅黑" panose="020B0503020204020204" pitchFamily="34" charset="-122"/>
            </a:endParaRPr>
          </a:p>
          <a:p>
            <a:pPr algn="l" fontAlgn="auto">
              <a:lnSpc>
                <a:spcPts val="3500"/>
              </a:lnSpc>
            </a:pPr>
            <a:r>
              <a:rPr lang="zh-CN" altLang="en-US" sz="2000" dirty="0">
                <a:solidFill>
                  <a:schemeClr val="tx2"/>
                </a:solidFill>
                <a:latin typeface="微软雅黑" panose="020B0503020204020204" pitchFamily="34" charset="-122"/>
                <a:ea typeface="微软雅黑" panose="020B0503020204020204" pitchFamily="34" charset="-122"/>
              </a:rPr>
              <a:t>基于字符串匹配的文本过滤的特点：</a:t>
            </a:r>
          </a:p>
          <a:p>
            <a:pPr algn="l" fontAlgn="auto">
              <a:lnSpc>
                <a:spcPts val="3500"/>
              </a:lnSpc>
            </a:pPr>
            <a:r>
              <a:rPr lang="en-US" altLang="zh-CN" sz="1800" dirty="0">
                <a:solidFill>
                  <a:schemeClr val="tx2"/>
                </a:solidFill>
                <a:latin typeface="微软雅黑" panose="020B0503020204020204" pitchFamily="34" charset="-122"/>
                <a:ea typeface="微软雅黑" panose="020B0503020204020204" pitchFamily="34" charset="-122"/>
              </a:rPr>
              <a:t>1.  </a:t>
            </a:r>
            <a:r>
              <a:rPr lang="zh-CN" altLang="en-US" sz="1800" dirty="0">
                <a:solidFill>
                  <a:schemeClr val="tx2"/>
                </a:solidFill>
                <a:latin typeface="微软雅黑" panose="020B0503020204020204" pitchFamily="34" charset="-122"/>
                <a:ea typeface="微软雅黑" panose="020B0503020204020204" pitchFamily="34" charset="-122"/>
              </a:rPr>
              <a:t>主要针对中文文本过滤</a:t>
            </a:r>
          </a:p>
          <a:p>
            <a:pPr algn="l" fontAlgn="auto">
              <a:lnSpc>
                <a:spcPts val="3500"/>
              </a:lnSpc>
            </a:pPr>
            <a:r>
              <a:rPr lang="en-US" altLang="zh-CN" sz="1800" dirty="0">
                <a:solidFill>
                  <a:schemeClr val="tx2"/>
                </a:solidFill>
                <a:latin typeface="微软雅黑" panose="020B0503020204020204" pitchFamily="34" charset="-122"/>
                <a:ea typeface="微软雅黑" panose="020B0503020204020204" pitchFamily="34" charset="-122"/>
              </a:rPr>
              <a:t>2.  </a:t>
            </a:r>
            <a:r>
              <a:rPr lang="zh-CN" altLang="en-US" sz="1800" dirty="0">
                <a:solidFill>
                  <a:schemeClr val="tx2"/>
                </a:solidFill>
                <a:latin typeface="微软雅黑" panose="020B0503020204020204" pitchFamily="34" charset="-122"/>
                <a:ea typeface="微软雅黑" panose="020B0503020204020204" pitchFamily="34" charset="-122"/>
              </a:rPr>
              <a:t>敏感词库中的词语一般较短</a:t>
            </a:r>
          </a:p>
        </p:txBody>
      </p:sp>
      <p:sp>
        <p:nvSpPr>
          <p:cNvPr id="5" name="文本框 4"/>
          <p:cNvSpPr txBox="1"/>
          <p:nvPr/>
        </p:nvSpPr>
        <p:spPr>
          <a:xfrm>
            <a:off x="1200785" y="6080125"/>
            <a:ext cx="4001770" cy="4178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en-US" altLang="zh-CN" sz="2000" dirty="0">
                <a:solidFill>
                  <a:schemeClr val="tx2"/>
                </a:solidFill>
                <a:latin typeface="微软雅黑" panose="020B0503020204020204" pitchFamily="34" charset="-122"/>
                <a:ea typeface="微软雅黑" panose="020B0503020204020204" pitchFamily="34" charset="-122"/>
              </a:rPr>
              <a:t>      </a:t>
            </a:r>
            <a:r>
              <a:rPr sz="1800" dirty="0">
                <a:solidFill>
                  <a:schemeClr val="tx1"/>
                </a:solidFill>
                <a:latin typeface="微软雅黑" panose="020B0503020204020204" pitchFamily="34" charset="-122"/>
                <a:ea typeface="微软雅黑" panose="020B0503020204020204" pitchFamily="34" charset="-122"/>
              </a:rPr>
              <a:t>字符串匹配过滤算法流程图</a:t>
            </a:r>
          </a:p>
        </p:txBody>
      </p:sp>
      <p:graphicFrame>
        <p:nvGraphicFramePr>
          <p:cNvPr id="2" name="对象 -2147482402"/>
          <p:cNvGraphicFramePr/>
          <p:nvPr/>
        </p:nvGraphicFramePr>
        <p:xfrm>
          <a:off x="675640" y="1599565"/>
          <a:ext cx="4667250" cy="4288155"/>
        </p:xfrm>
        <a:graphic>
          <a:graphicData uri="http://schemas.openxmlformats.org/presentationml/2006/ole">
            <mc:AlternateContent xmlns:mc="http://schemas.openxmlformats.org/markup-compatibility/2006">
              <mc:Choice xmlns:v="urn:schemas-microsoft-com:vml" Requires="v">
                <p:oleObj r:id="rId2" imgW="7658100" imgH="7429500" progId="Visio.Drawing.11">
                  <p:embed/>
                </p:oleObj>
              </mc:Choice>
              <mc:Fallback>
                <p:oleObj r:id="rId2" imgW="7658100" imgH="7429500" progId="Visio.Drawing.11">
                  <p:embed/>
                  <p:pic>
                    <p:nvPicPr>
                      <p:cNvPr id="0" name="图片 2"/>
                      <p:cNvPicPr/>
                      <p:nvPr/>
                    </p:nvPicPr>
                    <p:blipFill>
                      <a:blip r:embed="rId3"/>
                      <a:stretch>
                        <a:fillRect/>
                      </a:stretch>
                    </p:blipFill>
                    <p:spPr>
                      <a:xfrm>
                        <a:off x="675640" y="1599565"/>
                        <a:ext cx="4667250" cy="4288155"/>
                      </a:xfrm>
                      <a:prstGeom prst="rect">
                        <a:avLst/>
                      </a:prstGeom>
                      <a:noFill/>
                      <a:ln w="38100">
                        <a:noFill/>
                        <a:miter/>
                      </a:ln>
                    </p:spPr>
                  </p:pic>
                </p:oleObj>
              </mc:Fallback>
            </mc:AlternateContent>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基于文本匹配的过滤系统</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4" name="文本框 73"/>
          <p:cNvSpPr txBox="1"/>
          <p:nvPr/>
        </p:nvSpPr>
        <p:spPr>
          <a:xfrm>
            <a:off x="1347470" y="1050925"/>
            <a:ext cx="7641590" cy="461665"/>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模块设计</a:t>
            </a:r>
            <a:r>
              <a:rPr lang="en-US" altLang="zh-CN" sz="2400" dirty="0">
                <a:solidFill>
                  <a:schemeClr val="accent1">
                    <a:lumMod val="75000"/>
                  </a:schemeClr>
                </a:solidFill>
                <a:latin typeface="微软雅黑" panose="020B0503020204020204" pitchFamily="34" charset="-122"/>
                <a:ea typeface="微软雅黑" panose="020B0503020204020204" pitchFamily="34" charset="-122"/>
              </a:rPr>
              <a:t>---基于文本分类技术的过滤模块</a:t>
            </a:r>
          </a:p>
        </p:txBody>
      </p:sp>
      <p:sp>
        <p:nvSpPr>
          <p:cNvPr id="4" name="文本框 3"/>
          <p:cNvSpPr txBox="1"/>
          <p:nvPr/>
        </p:nvSpPr>
        <p:spPr>
          <a:xfrm>
            <a:off x="1757680" y="2038930"/>
            <a:ext cx="2088728" cy="1497654"/>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indent="457200" algn="l" fontAlgn="auto">
              <a:lnSpc>
                <a:spcPct val="130000"/>
              </a:lnSpc>
            </a:pPr>
            <a:r>
              <a:rPr lang="zh-CN" altLang="en-US" sz="1800" dirty="0">
                <a:solidFill>
                  <a:schemeClr val="tx2"/>
                </a:solidFill>
                <a:latin typeface="微软雅黑" panose="020B0503020204020204" pitchFamily="34" charset="-122"/>
                <a:ea typeface="微软雅黑" panose="020B0503020204020204" pitchFamily="34" charset="-122"/>
              </a:rPr>
              <a:t>当之前过滤策略都将网页判定为正常网页时才进行该模块的处理</a:t>
            </a:r>
          </a:p>
        </p:txBody>
      </p:sp>
      <p:sp>
        <p:nvSpPr>
          <p:cNvPr id="5" name="文本框 4"/>
          <p:cNvSpPr txBox="1"/>
          <p:nvPr/>
        </p:nvSpPr>
        <p:spPr>
          <a:xfrm>
            <a:off x="1347470" y="4678045"/>
            <a:ext cx="2499995" cy="6591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sz="1800" dirty="0" err="1">
                <a:solidFill>
                  <a:schemeClr val="tx1"/>
                </a:solidFill>
                <a:latin typeface="微软雅黑" panose="020B0503020204020204" pitchFamily="34" charset="-122"/>
                <a:ea typeface="微软雅黑" panose="020B0503020204020204" pitchFamily="34" charset="-122"/>
              </a:rPr>
              <a:t>中文网页过滤的处理对象是单个的Web页面</a:t>
            </a:r>
            <a:endParaRPr sz="1800" dirty="0">
              <a:solidFill>
                <a:schemeClr val="tx1"/>
              </a:solidFill>
              <a:latin typeface="微软雅黑" panose="020B0503020204020204" pitchFamily="34" charset="-122"/>
              <a:ea typeface="微软雅黑" panose="020B0503020204020204" pitchFamily="34" charset="-122"/>
            </a:endParaRPr>
          </a:p>
        </p:txBody>
      </p:sp>
      <p:sp>
        <p:nvSpPr>
          <p:cNvPr id="9" name="AutoShape 4"/>
          <p:cNvSpPr>
            <a:spLocks noChangeArrowheads="1"/>
          </p:cNvSpPr>
          <p:nvPr>
            <p:custDataLst>
              <p:tags r:id="rId1"/>
            </p:custDataLst>
          </p:nvPr>
        </p:nvSpPr>
        <p:spPr bwMode="white">
          <a:xfrm>
            <a:off x="4851187" y="2018999"/>
            <a:ext cx="2181209" cy="1510068"/>
          </a:xfrm>
          <a:prstGeom prst="roundRect">
            <a:avLst>
              <a:gd name="adj" fmla="val 7012"/>
            </a:avLst>
          </a:prstGeom>
          <a:noFill/>
          <a:ln w="38100" cap="flat" cmpd="sng" algn="ctr">
            <a:solidFill>
              <a:srgbClr val="767171"/>
            </a:solidFill>
            <a:prstDash val="solid"/>
          </a:ln>
          <a:effectLst/>
        </p:spPr>
        <p:txBody>
          <a:bodyPr anchor="ctr"/>
          <a:lstStyle/>
          <a:p>
            <a:pPr marL="0" lvl="2" algn="ctr" defTabSz="0" eaLnBrk="0" fontAlgn="ctr" hangingPunct="0">
              <a:buClr>
                <a:srgbClr val="FF0000"/>
              </a:buClr>
              <a:buSzPct val="70000"/>
              <a:buFont typeface="Wingdings" panose="05000000000000000000" pitchFamily="2" charset="2"/>
              <a:buChar char="n"/>
              <a:tabLst>
                <a:tab pos="136525" algn="l"/>
              </a:tabLst>
              <a:defRPr/>
            </a:pPr>
            <a:endParaRPr lang="zh-CN" altLang="en-US" sz="1400" b="1" kern="0" dirty="0">
              <a:solidFill>
                <a:srgbClr val="FFFFFF"/>
              </a:solidFill>
              <a:latin typeface="微软雅黑" panose="020B0503020204020204" pitchFamily="34" charset="-122"/>
              <a:ea typeface="微软雅黑" panose="020B0503020204020204" pitchFamily="34" charset="-122"/>
            </a:endParaRPr>
          </a:p>
        </p:txBody>
      </p:sp>
      <p:sp>
        <p:nvSpPr>
          <p:cNvPr id="6" name="AutoShape 4"/>
          <p:cNvSpPr>
            <a:spLocks noChangeArrowheads="1"/>
          </p:cNvSpPr>
          <p:nvPr>
            <p:custDataLst>
              <p:tags r:id="rId2"/>
            </p:custDataLst>
          </p:nvPr>
        </p:nvSpPr>
        <p:spPr bwMode="white">
          <a:xfrm>
            <a:off x="1666027" y="2018999"/>
            <a:ext cx="2181209" cy="1510068"/>
          </a:xfrm>
          <a:prstGeom prst="roundRect">
            <a:avLst>
              <a:gd name="adj" fmla="val 7012"/>
            </a:avLst>
          </a:prstGeom>
          <a:noFill/>
          <a:ln w="38100" cap="flat" cmpd="sng" algn="ctr">
            <a:solidFill>
              <a:schemeClr val="bg2">
                <a:lumMod val="50000"/>
              </a:schemeClr>
            </a:solidFill>
            <a:prstDash val="solid"/>
          </a:ln>
          <a:effectLst/>
        </p:spPr>
        <p:txBody>
          <a:bodyPr anchor="ctr"/>
          <a:lstStyle/>
          <a:p>
            <a:pPr marL="0" lvl="2" algn="ctr" defTabSz="0" eaLnBrk="0" fontAlgn="ctr" hangingPunct="0">
              <a:buClr>
                <a:srgbClr val="FF0000"/>
              </a:buClr>
              <a:buSzPct val="70000"/>
              <a:buFont typeface="Wingdings" panose="05000000000000000000" pitchFamily="2" charset="2"/>
              <a:buChar char="n"/>
              <a:tabLst>
                <a:tab pos="136525" algn="l"/>
              </a:tabLst>
              <a:defRPr/>
            </a:pPr>
            <a:endParaRPr lang="zh-CN" altLang="en-US" sz="1400" b="1" kern="0" dirty="0">
              <a:solidFill>
                <a:srgbClr val="FFFFFF"/>
              </a:solidFill>
              <a:latin typeface="微软雅黑" panose="020B0503020204020204" pitchFamily="34" charset="-122"/>
              <a:ea typeface="微软雅黑" panose="020B0503020204020204" pitchFamily="34" charset="-122"/>
            </a:endParaRPr>
          </a:p>
        </p:txBody>
      </p:sp>
      <p:sp>
        <p:nvSpPr>
          <p:cNvPr id="7" name="AutoShape 4"/>
          <p:cNvSpPr>
            <a:spLocks noChangeArrowheads="1"/>
          </p:cNvSpPr>
          <p:nvPr>
            <p:custDataLst>
              <p:tags r:id="rId3"/>
            </p:custDataLst>
          </p:nvPr>
        </p:nvSpPr>
        <p:spPr bwMode="white">
          <a:xfrm>
            <a:off x="8036982" y="2018364"/>
            <a:ext cx="2181209" cy="1510068"/>
          </a:xfrm>
          <a:prstGeom prst="roundRect">
            <a:avLst>
              <a:gd name="adj" fmla="val 7012"/>
            </a:avLst>
          </a:prstGeom>
          <a:noFill/>
          <a:ln w="38100" cap="flat" cmpd="sng" algn="ctr">
            <a:solidFill>
              <a:srgbClr val="767171"/>
            </a:solidFill>
            <a:prstDash val="solid"/>
          </a:ln>
          <a:effectLst/>
        </p:spPr>
        <p:txBody>
          <a:bodyPr anchor="ctr"/>
          <a:lstStyle/>
          <a:p>
            <a:pPr marL="0" lvl="2" algn="ctr" defTabSz="0" eaLnBrk="0" fontAlgn="ctr" hangingPunct="0">
              <a:buClr>
                <a:srgbClr val="FF0000"/>
              </a:buClr>
              <a:buSzPct val="70000"/>
              <a:buFont typeface="Wingdings" panose="05000000000000000000" pitchFamily="2" charset="2"/>
              <a:buChar char="n"/>
              <a:tabLst>
                <a:tab pos="136525" algn="l"/>
              </a:tabLst>
              <a:defRPr/>
            </a:pPr>
            <a:endParaRPr lang="zh-CN" altLang="en-US" sz="1400" b="1" kern="0" dirty="0">
              <a:solidFill>
                <a:srgbClr val="FFFFF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914497" y="2032003"/>
            <a:ext cx="2088728" cy="1497654"/>
          </a:xfrm>
          <a:prstGeom prst="rect">
            <a:avLst/>
          </a:prstGeom>
          <a:noFill/>
        </p:spPr>
        <p:txBody>
          <a:bodyPr wrap="square" rtlCol="0">
            <a:spAutoFit/>
          </a:bodyPr>
          <a:lstStyle>
            <a:defPPr>
              <a:defRPr lang="zh-CN"/>
            </a:defPPr>
            <a:lvl1pPr indent="457200" fontAlgn="auto">
              <a:lnSpc>
                <a:spcPct val="130000"/>
              </a:lnSpc>
              <a:defRPr>
                <a:solidFill>
                  <a:schemeClr val="tx2"/>
                </a:solidFill>
                <a:latin typeface="微软雅黑" panose="020B0503020204020204" pitchFamily="34" charset="-122"/>
                <a:ea typeface="微软雅黑" panose="020B0503020204020204" pitchFamily="34" charset="-122"/>
              </a:defRPr>
            </a:lvl1pPr>
          </a:lstStyle>
          <a:p>
            <a:r>
              <a:rPr lang="zh-CN" altLang="en-US" dirty="0"/>
              <a:t>基于文本分类的过滤模块选取支持向量机算法作为模块核心算法</a:t>
            </a:r>
          </a:p>
        </p:txBody>
      </p:sp>
      <p:sp>
        <p:nvSpPr>
          <p:cNvPr id="11" name="文本框 10"/>
          <p:cNvSpPr txBox="1"/>
          <p:nvPr/>
        </p:nvSpPr>
        <p:spPr>
          <a:xfrm>
            <a:off x="8094000" y="2149127"/>
            <a:ext cx="2088728" cy="1137556"/>
          </a:xfrm>
          <a:prstGeom prst="rect">
            <a:avLst/>
          </a:prstGeom>
          <a:noFill/>
        </p:spPr>
        <p:txBody>
          <a:bodyPr wrap="square" rtlCol="0">
            <a:spAutoFit/>
          </a:bodyPr>
          <a:lstStyle>
            <a:defPPr>
              <a:defRPr lang="zh-CN"/>
            </a:defPPr>
            <a:lvl1pPr indent="457200" fontAlgn="auto">
              <a:lnSpc>
                <a:spcPct val="130000"/>
              </a:lnSpc>
              <a:defRPr>
                <a:solidFill>
                  <a:schemeClr val="tx2"/>
                </a:solidFill>
                <a:latin typeface="微软雅黑" panose="020B0503020204020204" pitchFamily="34" charset="-122"/>
                <a:ea typeface="微软雅黑" panose="020B0503020204020204" pitchFamily="34" charset="-122"/>
              </a:defRPr>
            </a:lvl1pPr>
          </a:lstStyle>
          <a:p>
            <a:r>
              <a:rPr lang="zh-CN" altLang="en-US" dirty="0"/>
              <a:t>支持向量机文本分类算法分为训练过程和识别过程</a:t>
            </a:r>
          </a:p>
        </p:txBody>
      </p:sp>
      <p:sp>
        <p:nvSpPr>
          <p:cNvPr id="48" name="Right Brace 112"/>
          <p:cNvSpPr/>
          <p:nvPr/>
        </p:nvSpPr>
        <p:spPr>
          <a:xfrm rot="16200000">
            <a:off x="5727700" y="697230"/>
            <a:ext cx="427355" cy="7165340"/>
          </a:xfrm>
          <a:prstGeom prst="rightBrace">
            <a:avLst>
              <a:gd name="adj1" fmla="val 47292"/>
              <a:gd name="adj2" fmla="val 50110"/>
            </a:avLst>
          </a:prstGeom>
          <a:ln w="12700">
            <a:solidFill>
              <a:srgbClr val="767171"/>
            </a:solidFill>
            <a:headEnd type="none"/>
            <a:tailEnd type="none"/>
          </a:ln>
        </p:spPr>
        <p:style>
          <a:lnRef idx="1">
            <a:schemeClr val="accent1"/>
          </a:lnRef>
          <a:fillRef idx="0">
            <a:schemeClr val="accent1"/>
          </a:fillRef>
          <a:effectRef idx="0">
            <a:schemeClr val="accent1"/>
          </a:effectRef>
          <a:fontRef idx="minor">
            <a:schemeClr val="tx1"/>
          </a:fontRef>
        </p:style>
        <p:txBody>
          <a:bodyPr lIns="69896" tIns="34949" rIns="69896" bIns="34949" rtlCol="0" anchor="ctr"/>
          <a:lstStyle/>
          <a:p>
            <a:pPr algn="ctr" defTabSz="699135"/>
            <a:endParaRPr lang="en-US" sz="1350">
              <a:solidFill>
                <a:schemeClr val="accent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942205" y="4678045"/>
            <a:ext cx="2204085" cy="120777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sz="1800" dirty="0">
                <a:solidFill>
                  <a:schemeClr val="tx1"/>
                </a:solidFill>
                <a:latin typeface="微软雅黑" panose="020B0503020204020204" pitchFamily="34" charset="-122"/>
                <a:ea typeface="微软雅黑" panose="020B0503020204020204" pitchFamily="34" charset="-122"/>
              </a:rPr>
              <a:t>训练样本库只包含支持向量的样本，训练出来的分类模型占用空间少</a:t>
            </a:r>
          </a:p>
        </p:txBody>
      </p:sp>
      <p:sp>
        <p:nvSpPr>
          <p:cNvPr id="13" name="文本框 12"/>
          <p:cNvSpPr txBox="1"/>
          <p:nvPr/>
        </p:nvSpPr>
        <p:spPr>
          <a:xfrm>
            <a:off x="8416925" y="4678045"/>
            <a:ext cx="2432050" cy="93345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sz="1800" dirty="0">
                <a:solidFill>
                  <a:schemeClr val="tx1"/>
                </a:solidFill>
                <a:latin typeface="微软雅黑" panose="020B0503020204020204" pitchFamily="34" charset="-122"/>
                <a:ea typeface="微软雅黑" panose="020B0503020204020204" pitchFamily="34" charset="-122"/>
              </a:rPr>
              <a:t>支持向量机是一种原生的两类分类算法，很适合网页过滤</a:t>
            </a:r>
          </a:p>
        </p:txBody>
      </p:sp>
      <p:sp>
        <p:nvSpPr>
          <p:cNvPr id="14" name="文本框 13"/>
          <p:cNvSpPr txBox="1"/>
          <p:nvPr/>
        </p:nvSpPr>
        <p:spPr>
          <a:xfrm>
            <a:off x="5327650" y="3818890"/>
            <a:ext cx="1228725" cy="417830"/>
          </a:xfrm>
          <a:prstGeom prst="rect">
            <a:avLst/>
          </a:prstGeom>
          <a:noFill/>
        </p:spPr>
        <p:txBody>
          <a:bodyPr wrap="squar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pPr algn="l"/>
            <a:r>
              <a:rPr lang="zh-CN" altLang="en-US" sz="2000" dirty="0">
                <a:solidFill>
                  <a:schemeClr val="tx2"/>
                </a:solidFill>
                <a:latin typeface="微软雅黑" panose="020B0503020204020204" pitchFamily="34" charset="-122"/>
                <a:ea typeface="微软雅黑" panose="020B0503020204020204" pitchFamily="34" charset="-122"/>
              </a:rPr>
              <a:t>原       因</a:t>
            </a:r>
          </a:p>
        </p:txBody>
      </p:sp>
      <p:sp>
        <p:nvSpPr>
          <p:cNvPr id="15" name="矩形 14"/>
          <p:cNvSpPr/>
          <p:nvPr/>
        </p:nvSpPr>
        <p:spPr>
          <a:xfrm>
            <a:off x="3847465" y="2494915"/>
            <a:ext cx="1003300" cy="558165"/>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032625" y="2495550"/>
            <a:ext cx="1003300" cy="558165"/>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Top)">
                                      <p:cBhvr>
                                        <p:cTn id="11" dur="500"/>
                                        <p:tgtEl>
                                          <p:spTgt spid="6"/>
                                        </p:tgtEl>
                                      </p:cBhvr>
                                    </p:animEffect>
                                  </p:childTnLst>
                                </p:cTn>
                              </p:par>
                            </p:childTnLst>
                          </p:cTn>
                        </p:par>
                        <p:par>
                          <p:cTn id="12" fill="hold">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lide(fromTop)">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left)">
                                      <p:cBhvr>
                                        <p:cTn id="1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6" grpId="0" bldLvl="0" animBg="1"/>
      <p:bldP spid="7" grpId="0" bldLvl="0" animBg="1"/>
      <p:bldP spid="48"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4964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1492885" y="2856865"/>
            <a:ext cx="9283065" cy="1783080"/>
          </a:xfrm>
          <a:prstGeom prst="rect">
            <a:avLst/>
          </a:prstGeom>
          <a:noFill/>
          <a:ln w="9525">
            <a:noFill/>
            <a:miter lim="800000"/>
          </a:ln>
        </p:spPr>
        <p:txBody>
          <a:bodyPr/>
          <a:lstStyle/>
          <a:p>
            <a:r>
              <a:rPr lang="en-US" altLang="zh-CN" sz="5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4.7</a:t>
            </a:r>
            <a:r>
              <a:rPr lang="zh-CN" altLang="en-US" sz="54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本章小结与思考题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本章小结与思考</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1" name="文本框 70"/>
          <p:cNvSpPr txBox="1"/>
          <p:nvPr/>
        </p:nvSpPr>
        <p:spPr>
          <a:xfrm>
            <a:off x="1125644" y="1247458"/>
            <a:ext cx="1415772"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思考题</a:t>
            </a:r>
          </a:p>
        </p:txBody>
      </p:sp>
      <p:cxnSp>
        <p:nvCxnSpPr>
          <p:cNvPr id="2" name="直接连接符 1"/>
          <p:cNvCxnSpPr/>
          <p:nvPr/>
        </p:nvCxnSpPr>
        <p:spPr>
          <a:xfrm>
            <a:off x="701487" y="240111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01487" y="311665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701487" y="379525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701487" y="455698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bwMode="auto">
          <a:xfrm>
            <a:off x="1097910" y="262547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9" name="矩形 78"/>
          <p:cNvSpPr/>
          <p:nvPr/>
        </p:nvSpPr>
        <p:spPr bwMode="auto">
          <a:xfrm>
            <a:off x="1079438" y="331331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bwMode="auto">
          <a:xfrm>
            <a:off x="1079438" y="4027124"/>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12"/>
          <p:cNvSpPr txBox="1"/>
          <p:nvPr/>
        </p:nvSpPr>
        <p:spPr>
          <a:xfrm>
            <a:off x="1522603" y="2491434"/>
            <a:ext cx="3277397" cy="6248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a:t>网页内容过滤有哪些应用？目前主要有哪些方法？</a:t>
            </a:r>
          </a:p>
        </p:txBody>
      </p:sp>
      <p:sp>
        <p:nvSpPr>
          <p:cNvPr id="82" name="文本框 13"/>
          <p:cNvSpPr txBox="1"/>
          <p:nvPr/>
        </p:nvSpPr>
        <p:spPr>
          <a:xfrm>
            <a:off x="1451626" y="3956116"/>
            <a:ext cx="3552403" cy="3581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a:t>简要描述网络信息内容过滤的主要方法。</a:t>
            </a:r>
          </a:p>
        </p:txBody>
      </p:sp>
      <p:sp>
        <p:nvSpPr>
          <p:cNvPr id="83" name="文本框 14"/>
          <p:cNvSpPr txBox="1"/>
          <p:nvPr/>
        </p:nvSpPr>
        <p:spPr>
          <a:xfrm>
            <a:off x="1451629" y="3249960"/>
            <a:ext cx="3348086" cy="35814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a:t>简单描述字符串匹配过滤算法。</a:t>
            </a:r>
          </a:p>
        </p:txBody>
      </p:sp>
      <p:pic>
        <p:nvPicPr>
          <p:cNvPr id="8" name="图片 7"/>
          <p:cNvPicPr>
            <a:picLocks noChangeAspect="1"/>
          </p:cNvPicPr>
          <p:nvPr/>
        </p:nvPicPr>
        <p:blipFill>
          <a:blip r:embed="rId2"/>
          <a:stretch>
            <a:fillRect/>
          </a:stretch>
        </p:blipFill>
        <p:spPr>
          <a:xfrm>
            <a:off x="6557010" y="2152650"/>
            <a:ext cx="3561080" cy="25527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文本框 4"/>
          <p:cNvSpPr>
            <a:spLocks noChangeArrowheads="1"/>
          </p:cNvSpPr>
          <p:nvPr/>
        </p:nvSpPr>
        <p:spPr bwMode="auto">
          <a:xfrm>
            <a:off x="1494155" y="260350"/>
            <a:ext cx="10420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本章练习</a:t>
            </a:r>
            <a:r>
              <a:rPr lang="en-US" altLang="zh-CN"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a:t>
            </a:r>
            <a:r>
              <a:rPr lang="zh-CN" altLang="en-US" sz="3600" dirty="0">
                <a:solidFill>
                  <a:srgbClr val="31B5D6"/>
                </a:solidFill>
                <a:latin typeface="华康俪金黑W8(P)" panose="020B0800000000000000" pitchFamily="34" charset="-122"/>
                <a:ea typeface="华康俪金黑W8(P)" panose="020B0800000000000000" pitchFamily="34" charset="-122"/>
                <a:sym typeface="Calibri" panose="020F0502020204030204" pitchFamily="34" charset="0"/>
              </a:rPr>
              <a:t>垃圾邮件过滤器</a:t>
            </a:r>
          </a:p>
        </p:txBody>
      </p:sp>
      <p:sp>
        <p:nvSpPr>
          <p:cNvPr id="19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71" name="文本框 70"/>
          <p:cNvSpPr txBox="1"/>
          <p:nvPr/>
        </p:nvSpPr>
        <p:spPr>
          <a:xfrm>
            <a:off x="460375" y="1322130"/>
            <a:ext cx="7571303"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dirty="0"/>
              <a:t>使用</a:t>
            </a:r>
            <a:r>
              <a:rPr lang="en-US" altLang="zh-CN" dirty="0"/>
              <a:t>“</a:t>
            </a:r>
            <a:r>
              <a:rPr lang="zh-CN" altLang="en-US" dirty="0"/>
              <a:t>贝叶斯推断</a:t>
            </a:r>
            <a:r>
              <a:rPr lang="en-US" altLang="zh-CN" dirty="0"/>
              <a:t>”</a:t>
            </a:r>
            <a:r>
              <a:rPr lang="zh-CN" altLang="en-US" dirty="0"/>
              <a:t>过滤垃圾邮件步骤：</a:t>
            </a:r>
          </a:p>
        </p:txBody>
      </p:sp>
      <p:sp>
        <p:nvSpPr>
          <p:cNvPr id="3" name="AutoShape 4" descr="https://timgsa.baidu.com/timg?image&amp;quality=80&amp;size=b9999_10000&amp;sec=1490787924994&amp;di=b0b7c5c52273eff18ec0fc1b90c63acd&amp;imgtype=0&amp;src=http%3A%2F%2Fwww.mahaixiang.cn%2Fuploads%2Fallimg%2F1311%2F1-13110113343D09.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229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7597" y="1050856"/>
            <a:ext cx="1172585" cy="76205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0" name="TextBox 35"/>
          <p:cNvSpPr txBox="1">
            <a:spLocks noChangeArrowheads="1"/>
          </p:cNvSpPr>
          <p:nvPr/>
        </p:nvSpPr>
        <p:spPr bwMode="auto">
          <a:xfrm>
            <a:off x="675217" y="2396551"/>
            <a:ext cx="963416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a:spcBef>
                <a:spcPct val="0"/>
              </a:spcBef>
              <a:buFont typeface="+mj-lt"/>
              <a:buAutoNum type="arabicPeriod"/>
            </a:pPr>
            <a:r>
              <a:rPr lang="zh-CN" altLang="en-US" sz="2000" dirty="0">
                <a:latin typeface="微软雅黑" panose="020B0503020204020204" pitchFamily="34" charset="-122"/>
                <a:ea typeface="微软雅黑" panose="020B0503020204020204" pitchFamily="34" charset="-122"/>
              </a:rPr>
              <a:t>收集数据，已准备好两类邮件数据，正常邮件和垃圾邮件各 </a:t>
            </a:r>
            <a:r>
              <a:rPr lang="en-US" altLang="zh-CN" sz="2000" dirty="0">
                <a:latin typeface="微软雅黑" panose="020B0503020204020204" pitchFamily="34" charset="-122"/>
                <a:ea typeface="微软雅黑" panose="020B0503020204020204" pitchFamily="34" charset="-122"/>
              </a:rPr>
              <a:t>25 </a:t>
            </a:r>
            <a:r>
              <a:rPr lang="zh-CN" altLang="en-US" sz="2000" dirty="0">
                <a:latin typeface="微软雅黑" panose="020B0503020204020204" pitchFamily="34" charset="-122"/>
                <a:ea typeface="微软雅黑" panose="020B0503020204020204" pitchFamily="34" charset="-122"/>
              </a:rPr>
              <a:t>份；</a:t>
            </a:r>
            <a:endParaRPr lang="en-US" altLang="zh-CN" sz="2000" dirty="0">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endParaRPr lang="en-US" altLang="zh-CN" sz="2000" dirty="0">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r>
              <a:rPr lang="zh-CN" altLang="en-US" sz="2000" dirty="0">
                <a:latin typeface="微软雅黑" panose="020B0503020204020204" pitchFamily="34" charset="-122"/>
                <a:ea typeface="微软雅黑" panose="020B0503020204020204" pitchFamily="34" charset="-122"/>
              </a:rPr>
              <a:t>分析数据：切分文本。利用正则表达式对文件进行解析 </a:t>
            </a:r>
            <a:r>
              <a:rPr lang="en-US" altLang="zh-CN" sz="2000" dirty="0">
                <a:latin typeface="微软雅黑" panose="020B0503020204020204" pitchFamily="34" charset="-122"/>
                <a:ea typeface="微软雅黑" panose="020B0503020204020204" pitchFamily="34" charset="-122"/>
              </a:rPr>
              <a:t>token </a:t>
            </a:r>
            <a:r>
              <a:rPr lang="zh-CN" altLang="en-US" sz="2000" dirty="0">
                <a:latin typeface="微软雅黑" panose="020B0503020204020204" pitchFamily="34" charset="-122"/>
                <a:ea typeface="微软雅黑" panose="020B0503020204020204" pitchFamily="34" charset="-122"/>
              </a:rPr>
              <a:t>序列。并对数据进行相关处理；</a:t>
            </a:r>
            <a:endParaRPr lang="en-US" altLang="zh-CN" sz="2000" dirty="0">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endParaRPr lang="en-US" altLang="zh-CN" sz="2000" dirty="0">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r>
              <a:rPr lang="zh-CN" altLang="en-US" sz="2000" dirty="0">
                <a:solidFill>
                  <a:schemeClr val="tx1"/>
                </a:solidFill>
                <a:latin typeface="微软雅黑" panose="020B0503020204020204" pitchFamily="34" charset="-122"/>
                <a:ea typeface="微软雅黑" panose="020B0503020204020204" pitchFamily="34" charset="-122"/>
              </a:rPr>
              <a:t>训练算法：利用朴素贝叶斯设计垃圾分类器</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endParaRPr lang="en-US" altLang="zh-CN" sz="2000" dirty="0">
              <a:solidFill>
                <a:schemeClr val="tx1"/>
              </a:solidFill>
              <a:latin typeface="微软雅黑" panose="020B0503020204020204" pitchFamily="34" charset="-122"/>
              <a:ea typeface="微软雅黑" panose="020B0503020204020204" pitchFamily="34" charset="-122"/>
            </a:endParaRPr>
          </a:p>
          <a:p>
            <a:pPr marL="457200" indent="-457200">
              <a:spcBef>
                <a:spcPct val="0"/>
              </a:spcBef>
              <a:buFont typeface="+mj-lt"/>
              <a:buAutoNum type="arabicPeriod"/>
            </a:pPr>
            <a:r>
              <a:rPr lang="zh-CN" altLang="en-US" sz="2000" dirty="0">
                <a:latin typeface="微软雅黑" panose="020B0503020204020204" pitchFamily="34" charset="-122"/>
                <a:ea typeface="微软雅黑" panose="020B0503020204020204" pitchFamily="34" charset="-122"/>
              </a:rPr>
              <a:t>测试算法：使用测试集来测试分类过滤效果。</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任意多边形 67"/>
          <p:cNvSpPr/>
          <p:nvPr/>
        </p:nvSpPr>
        <p:spPr>
          <a:xfrm>
            <a:off x="0" y="4659317"/>
            <a:ext cx="12192000" cy="1552201"/>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70" name="文本框 69"/>
          <p:cNvSpPr txBox="1"/>
          <p:nvPr/>
        </p:nvSpPr>
        <p:spPr>
          <a:xfrm>
            <a:off x="2510807" y="4683003"/>
            <a:ext cx="7333535" cy="1015663"/>
          </a:xfrm>
          <a:prstGeom prst="rect">
            <a:avLst/>
          </a:prstGeom>
          <a:noFill/>
        </p:spPr>
        <p:txBody>
          <a:bodyPr wrap="square" rtlCol="0">
            <a:spAutoFit/>
          </a:bodyPr>
          <a:lstStyle/>
          <a:p>
            <a:pPr algn="dist"/>
            <a:r>
              <a:rPr lang="zh-CN" altLang="en-US" sz="6000" dirty="0">
                <a:solidFill>
                  <a:schemeClr val="bg1"/>
                </a:solidFill>
                <a:latin typeface="方正粗宋简体" panose="03000509000000000000" pitchFamily="65" charset="-122"/>
                <a:ea typeface="方正粗宋简体" panose="03000509000000000000" pitchFamily="65" charset="-122"/>
              </a:rPr>
              <a:t>网络信息内容安全</a:t>
            </a:r>
          </a:p>
        </p:txBody>
      </p:sp>
      <p:sp>
        <p:nvSpPr>
          <p:cNvPr id="71" name="文本框 70"/>
          <p:cNvSpPr txBox="1"/>
          <p:nvPr/>
        </p:nvSpPr>
        <p:spPr>
          <a:xfrm>
            <a:off x="2710197" y="5624090"/>
            <a:ext cx="7086167" cy="553085"/>
          </a:xfrm>
          <a:prstGeom prst="rect">
            <a:avLst/>
          </a:prstGeom>
          <a:noFill/>
        </p:spPr>
        <p:txBody>
          <a:bodyPr wrap="square" rtlCol="0">
            <a:spAutoFit/>
          </a:bodyPr>
          <a:lstStyle/>
          <a:p>
            <a:pPr algn="dist"/>
            <a:r>
              <a:rPr lang="zh-CN" altLang="en-US" sz="3000" dirty="0">
                <a:latin typeface="微软雅黑" panose="020B0503020204020204" pitchFamily="34" charset="-122"/>
                <a:ea typeface="微软雅黑" panose="020B0503020204020204" pitchFamily="34" charset="-122"/>
              </a:rPr>
              <a:t>网络舆情分析</a:t>
            </a:r>
          </a:p>
        </p:txBody>
      </p:sp>
      <p:grpSp>
        <p:nvGrpSpPr>
          <p:cNvPr id="18" name="组合 17"/>
          <p:cNvGrpSpPr/>
          <p:nvPr/>
        </p:nvGrpSpPr>
        <p:grpSpPr>
          <a:xfrm>
            <a:off x="1921216" y="192860"/>
            <a:ext cx="8579793" cy="3265984"/>
            <a:chOff x="1921216" y="192860"/>
            <a:chExt cx="8579793" cy="3265984"/>
          </a:xfrm>
        </p:grpSpPr>
        <p:grpSp>
          <p:nvGrpSpPr>
            <p:cNvPr id="7188" name="组合 7187"/>
            <p:cNvGrpSpPr/>
            <p:nvPr/>
          </p:nvGrpSpPr>
          <p:grpSpPr>
            <a:xfrm rot="20997101">
              <a:off x="4594305" y="192860"/>
              <a:ext cx="659781" cy="793569"/>
              <a:chOff x="9397113" y="1572484"/>
              <a:chExt cx="739439" cy="900000"/>
            </a:xfrm>
          </p:grpSpPr>
          <p:pic>
            <p:nvPicPr>
              <p:cNvPr id="7168" name="图片 7167"/>
              <p:cNvPicPr>
                <a:picLocks noChangeAspect="1"/>
              </p:cNvPicPr>
              <p:nvPr/>
            </p:nvPicPr>
            <p:blipFill rotWithShape="1">
              <a:blip r:embed="rId3">
                <a:extLst>
                  <a:ext uri="{28A0092B-C50C-407E-A947-70E740481C1C}">
                    <a14:useLocalDpi xmlns:a14="http://schemas.microsoft.com/office/drawing/2010/main" val="0"/>
                  </a:ext>
                </a:extLst>
              </a:blip>
              <a:srcRect l="7621" t="-1409" r="6212" b="16890"/>
              <a:stretch>
                <a:fillRect/>
              </a:stretch>
            </p:blipFill>
            <p:spPr>
              <a:xfrm>
                <a:off x="9402521" y="1678027"/>
                <a:ext cx="734031" cy="720000"/>
              </a:xfrm>
              <a:prstGeom prst="rect">
                <a:avLst/>
              </a:prstGeom>
            </p:spPr>
          </p:pic>
          <p:sp>
            <p:nvSpPr>
              <p:cNvPr id="25" name="椭圆 24"/>
              <p:cNvSpPr/>
              <p:nvPr/>
            </p:nvSpPr>
            <p:spPr>
              <a:xfrm>
                <a:off x="9397113" y="157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89" name="组合 7188"/>
            <p:cNvGrpSpPr/>
            <p:nvPr/>
          </p:nvGrpSpPr>
          <p:grpSpPr>
            <a:xfrm rot="2455872">
              <a:off x="9545795" y="1200076"/>
              <a:ext cx="659781" cy="793569"/>
              <a:chOff x="8752405" y="680495"/>
              <a:chExt cx="739439" cy="900000"/>
            </a:xfrm>
          </p:grpSpPr>
          <p:pic>
            <p:nvPicPr>
              <p:cNvPr id="29" name="图片 28"/>
              <p:cNvPicPr>
                <a:picLocks noChangeAspect="1"/>
              </p:cNvPicPr>
              <p:nvPr/>
            </p:nvPicPr>
            <p:blipFill rotWithShape="1">
              <a:blip r:embed="rId4">
                <a:extLst>
                  <a:ext uri="{28A0092B-C50C-407E-A947-70E740481C1C}">
                    <a14:useLocalDpi xmlns:a14="http://schemas.microsoft.com/office/drawing/2010/main" val="0"/>
                  </a:ext>
                </a:extLst>
              </a:blip>
              <a:srcRect l="16849" r="13873" b="27651"/>
              <a:stretch>
                <a:fillRect/>
              </a:stretch>
            </p:blipFill>
            <p:spPr>
              <a:xfrm>
                <a:off x="8771844" y="740799"/>
                <a:ext cx="720000" cy="751928"/>
              </a:xfrm>
              <a:prstGeom prst="rect">
                <a:avLst/>
              </a:prstGeom>
            </p:spPr>
          </p:pic>
          <p:sp>
            <p:nvSpPr>
              <p:cNvPr id="26" name="椭圆 25"/>
              <p:cNvSpPr/>
              <p:nvPr/>
            </p:nvSpPr>
            <p:spPr>
              <a:xfrm>
                <a:off x="8752405" y="680495"/>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0" name="组合 7189"/>
            <p:cNvGrpSpPr/>
            <p:nvPr/>
          </p:nvGrpSpPr>
          <p:grpSpPr>
            <a:xfrm rot="20539373">
              <a:off x="3895784" y="1063209"/>
              <a:ext cx="642436" cy="793569"/>
              <a:chOff x="7798300" y="2128176"/>
              <a:chExt cx="720000" cy="900000"/>
            </a:xfrm>
          </p:grpSpPr>
          <p:pic>
            <p:nvPicPr>
              <p:cNvPr id="7175" name="图片 7174"/>
              <p:cNvPicPr>
                <a:picLocks noChangeAspect="1"/>
              </p:cNvPicPr>
              <p:nvPr/>
            </p:nvPicPr>
            <p:blipFill rotWithShape="1">
              <a:blip r:embed="rId5">
                <a:extLst>
                  <a:ext uri="{28A0092B-C50C-407E-A947-70E740481C1C}">
                    <a14:useLocalDpi xmlns:a14="http://schemas.microsoft.com/office/drawing/2010/main" val="0"/>
                  </a:ext>
                </a:extLst>
              </a:blip>
              <a:srcRect l="17059" t="11812" r="20535" b="18535"/>
              <a:stretch>
                <a:fillRect/>
              </a:stretch>
            </p:blipFill>
            <p:spPr>
              <a:xfrm>
                <a:off x="7835765" y="2190111"/>
                <a:ext cx="645071" cy="720000"/>
              </a:xfrm>
              <a:prstGeom prst="rect">
                <a:avLst/>
              </a:prstGeom>
            </p:spPr>
          </p:pic>
          <p:sp>
            <p:nvSpPr>
              <p:cNvPr id="34" name="椭圆 33"/>
              <p:cNvSpPr/>
              <p:nvPr/>
            </p:nvSpPr>
            <p:spPr>
              <a:xfrm>
                <a:off x="7798300" y="2128176"/>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91" name="组合 7190"/>
            <p:cNvGrpSpPr/>
            <p:nvPr/>
          </p:nvGrpSpPr>
          <p:grpSpPr>
            <a:xfrm rot="622440">
              <a:off x="6993372" y="431407"/>
              <a:ext cx="643355" cy="793569"/>
              <a:chOff x="5457544" y="2382484"/>
              <a:chExt cx="721030" cy="900000"/>
            </a:xfrm>
          </p:grpSpPr>
          <p:pic>
            <p:nvPicPr>
              <p:cNvPr id="7171" name="图片 717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8574" y="2472484"/>
                <a:ext cx="720000" cy="720000"/>
              </a:xfrm>
              <a:prstGeom prst="rect">
                <a:avLst/>
              </a:prstGeom>
            </p:spPr>
          </p:pic>
          <p:sp>
            <p:nvSpPr>
              <p:cNvPr id="37" name="椭圆 36"/>
              <p:cNvSpPr/>
              <p:nvPr/>
            </p:nvSpPr>
            <p:spPr>
              <a:xfrm>
                <a:off x="5457544" y="2382484"/>
                <a:ext cx="720000" cy="90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rot="20351331">
              <a:off x="2777184" y="624184"/>
              <a:ext cx="642436" cy="793569"/>
              <a:chOff x="3277182" y="773323"/>
              <a:chExt cx="720000" cy="900000"/>
            </a:xfrm>
          </p:grpSpPr>
          <p:sp>
            <p:nvSpPr>
              <p:cNvPr id="45" name="椭圆 44"/>
              <p:cNvSpPr/>
              <p:nvPr/>
            </p:nvSpPr>
            <p:spPr>
              <a:xfrm>
                <a:off x="3277182" y="773323"/>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7182" y="883868"/>
                <a:ext cx="720000" cy="720000"/>
              </a:xfrm>
              <a:prstGeom prst="rect">
                <a:avLst/>
              </a:prstGeom>
            </p:spPr>
          </p:pic>
        </p:grpSp>
        <p:grpSp>
          <p:nvGrpSpPr>
            <p:cNvPr id="7173" name="组合 7172"/>
            <p:cNvGrpSpPr/>
            <p:nvPr/>
          </p:nvGrpSpPr>
          <p:grpSpPr>
            <a:xfrm rot="1912890">
              <a:off x="8324851" y="1445561"/>
              <a:ext cx="648427" cy="793569"/>
              <a:chOff x="5384758" y="1250900"/>
              <a:chExt cx="726714" cy="900000"/>
            </a:xfrm>
          </p:grpSpPr>
          <p:sp>
            <p:nvSpPr>
              <p:cNvPr id="36" name="椭圆 35"/>
              <p:cNvSpPr/>
              <p:nvPr/>
            </p:nvSpPr>
            <p:spPr>
              <a:xfrm>
                <a:off x="5384758" y="1250900"/>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91472" y="1268881"/>
                <a:ext cx="720000" cy="720000"/>
              </a:xfrm>
              <a:prstGeom prst="rect">
                <a:avLst/>
              </a:prstGeom>
              <a:ln>
                <a:noFill/>
              </a:ln>
            </p:spPr>
          </p:pic>
        </p:grpSp>
        <p:grpSp>
          <p:nvGrpSpPr>
            <p:cNvPr id="7176" name="组合 7175"/>
            <p:cNvGrpSpPr/>
            <p:nvPr/>
          </p:nvGrpSpPr>
          <p:grpSpPr>
            <a:xfrm rot="1354213">
              <a:off x="7257146" y="1255327"/>
              <a:ext cx="642436" cy="793569"/>
              <a:chOff x="3639753" y="2488176"/>
              <a:chExt cx="720000" cy="900000"/>
            </a:xfrm>
          </p:grpSpPr>
          <p:sp>
            <p:nvSpPr>
              <p:cNvPr id="46" name="椭圆 45"/>
              <p:cNvSpPr/>
              <p:nvPr/>
            </p:nvSpPr>
            <p:spPr>
              <a:xfrm>
                <a:off x="3639753" y="2488176"/>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05576" y="2565261"/>
                <a:ext cx="547109" cy="720000"/>
              </a:xfrm>
              <a:prstGeom prst="rect">
                <a:avLst/>
              </a:prstGeom>
            </p:spPr>
          </p:pic>
        </p:grpSp>
        <p:grpSp>
          <p:nvGrpSpPr>
            <p:cNvPr id="7172" name="组合 7171"/>
            <p:cNvGrpSpPr/>
            <p:nvPr/>
          </p:nvGrpSpPr>
          <p:grpSpPr>
            <a:xfrm rot="19874646">
              <a:off x="3299688" y="1751721"/>
              <a:ext cx="647730" cy="793569"/>
              <a:chOff x="4707387" y="271511"/>
              <a:chExt cx="725933" cy="900000"/>
            </a:xfrm>
          </p:grpSpPr>
          <p:sp>
            <p:nvSpPr>
              <p:cNvPr id="24" name="椭圆 23"/>
              <p:cNvSpPr/>
              <p:nvPr/>
            </p:nvSpPr>
            <p:spPr>
              <a:xfrm>
                <a:off x="4713320" y="271511"/>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07387" y="347898"/>
                <a:ext cx="720000" cy="720000"/>
              </a:xfrm>
              <a:prstGeom prst="rect">
                <a:avLst/>
              </a:prstGeom>
            </p:spPr>
          </p:pic>
        </p:grpSp>
        <p:grpSp>
          <p:nvGrpSpPr>
            <p:cNvPr id="7174" name="组合 7173"/>
            <p:cNvGrpSpPr/>
            <p:nvPr/>
          </p:nvGrpSpPr>
          <p:grpSpPr>
            <a:xfrm rot="19414460">
              <a:off x="2170159" y="2542950"/>
              <a:ext cx="647456" cy="793569"/>
              <a:chOff x="4355614" y="1671769"/>
              <a:chExt cx="725626" cy="900000"/>
            </a:xfrm>
          </p:grpSpPr>
          <p:sp>
            <p:nvSpPr>
              <p:cNvPr id="41" name="椭圆 40"/>
              <p:cNvSpPr/>
              <p:nvPr/>
            </p:nvSpPr>
            <p:spPr>
              <a:xfrm>
                <a:off x="4355614" y="1671769"/>
                <a:ext cx="720000" cy="900000"/>
              </a:xfrm>
              <a:prstGeom prst="ellipse">
                <a:avLst/>
              </a:prstGeom>
              <a:noFill/>
              <a:ln w="28575">
                <a:solidFill>
                  <a:srgbClr val="F784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图片 716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61240" y="1732379"/>
                <a:ext cx="720000" cy="720000"/>
              </a:xfrm>
              <a:prstGeom prst="rect">
                <a:avLst/>
              </a:prstGeom>
            </p:spPr>
          </p:pic>
        </p:grpSp>
        <p:grpSp>
          <p:nvGrpSpPr>
            <p:cNvPr id="7182" name="组合 7181"/>
            <p:cNvGrpSpPr/>
            <p:nvPr/>
          </p:nvGrpSpPr>
          <p:grpSpPr>
            <a:xfrm rot="3261331">
              <a:off x="8917619" y="2218585"/>
              <a:ext cx="645495" cy="803045"/>
              <a:chOff x="6534782" y="2204846"/>
              <a:chExt cx="732066" cy="900000"/>
            </a:xfrm>
          </p:grpSpPr>
          <p:sp>
            <p:nvSpPr>
              <p:cNvPr id="35" name="椭圆 34"/>
              <p:cNvSpPr/>
              <p:nvPr/>
            </p:nvSpPr>
            <p:spPr>
              <a:xfrm>
                <a:off x="6534782" y="2204846"/>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7" name="图片 717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6848" y="2294846"/>
                <a:ext cx="720000" cy="720000"/>
              </a:xfrm>
              <a:prstGeom prst="rect">
                <a:avLst/>
              </a:prstGeom>
            </p:spPr>
          </p:pic>
        </p:grpSp>
        <p:grpSp>
          <p:nvGrpSpPr>
            <p:cNvPr id="7184" name="组合 7183"/>
            <p:cNvGrpSpPr/>
            <p:nvPr/>
          </p:nvGrpSpPr>
          <p:grpSpPr>
            <a:xfrm rot="1881527">
              <a:off x="8519801" y="497692"/>
              <a:ext cx="646830" cy="793569"/>
              <a:chOff x="5993772" y="258109"/>
              <a:chExt cx="724925" cy="900000"/>
            </a:xfrm>
          </p:grpSpPr>
          <p:sp>
            <p:nvSpPr>
              <p:cNvPr id="33" name="椭圆 32"/>
              <p:cNvSpPr/>
              <p:nvPr/>
            </p:nvSpPr>
            <p:spPr>
              <a:xfrm>
                <a:off x="5993772" y="25810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9" name="图片 717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98697" y="334099"/>
                <a:ext cx="720000" cy="720000"/>
              </a:xfrm>
              <a:prstGeom prst="rect">
                <a:avLst/>
              </a:prstGeom>
            </p:spPr>
          </p:pic>
        </p:grpSp>
        <p:grpSp>
          <p:nvGrpSpPr>
            <p:cNvPr id="7186" name="组合 7185"/>
            <p:cNvGrpSpPr/>
            <p:nvPr/>
          </p:nvGrpSpPr>
          <p:grpSpPr>
            <a:xfrm rot="3066563">
              <a:off x="9781605" y="2529217"/>
              <a:ext cx="635764" cy="803045"/>
              <a:chOff x="8806213" y="2910111"/>
              <a:chExt cx="721030" cy="900000"/>
            </a:xfrm>
          </p:grpSpPr>
          <p:sp>
            <p:nvSpPr>
              <p:cNvPr id="2" name="椭圆 1"/>
              <p:cNvSpPr/>
              <p:nvPr/>
            </p:nvSpPr>
            <p:spPr>
              <a:xfrm>
                <a:off x="8807243" y="2910111"/>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0" name="图片 717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806213" y="3000111"/>
                <a:ext cx="720000" cy="720000"/>
              </a:xfrm>
              <a:prstGeom prst="rect">
                <a:avLst/>
              </a:prstGeom>
            </p:spPr>
          </p:pic>
        </p:grpSp>
        <p:grpSp>
          <p:nvGrpSpPr>
            <p:cNvPr id="7183" name="组合 7182"/>
            <p:cNvGrpSpPr/>
            <p:nvPr/>
          </p:nvGrpSpPr>
          <p:grpSpPr>
            <a:xfrm rot="20849518">
              <a:off x="4617491" y="1468461"/>
              <a:ext cx="644890" cy="793569"/>
              <a:chOff x="7330781" y="818297"/>
              <a:chExt cx="722751" cy="900000"/>
            </a:xfrm>
          </p:grpSpPr>
          <p:sp>
            <p:nvSpPr>
              <p:cNvPr id="27" name="椭圆 26"/>
              <p:cNvSpPr/>
              <p:nvPr/>
            </p:nvSpPr>
            <p:spPr>
              <a:xfrm>
                <a:off x="7330781" y="818297"/>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81" name="图片 718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333532" y="908881"/>
                <a:ext cx="720000" cy="720000"/>
              </a:xfrm>
              <a:prstGeom prst="rect">
                <a:avLst/>
              </a:prstGeom>
            </p:spPr>
          </p:pic>
        </p:grpSp>
        <p:grpSp>
          <p:nvGrpSpPr>
            <p:cNvPr id="7185" name="组合 7184"/>
            <p:cNvGrpSpPr/>
            <p:nvPr/>
          </p:nvGrpSpPr>
          <p:grpSpPr>
            <a:xfrm rot="19756194">
              <a:off x="1921216" y="1486339"/>
              <a:ext cx="653202" cy="793569"/>
              <a:chOff x="2213446" y="1768419"/>
              <a:chExt cx="732066" cy="900000"/>
            </a:xfrm>
          </p:grpSpPr>
          <p:pic>
            <p:nvPicPr>
              <p:cNvPr id="7178" name="图片 717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13446" y="1851769"/>
                <a:ext cx="720000" cy="720000"/>
              </a:xfrm>
              <a:prstGeom prst="rect">
                <a:avLst/>
              </a:prstGeom>
            </p:spPr>
          </p:pic>
          <p:sp>
            <p:nvSpPr>
              <p:cNvPr id="66" name="椭圆 65"/>
              <p:cNvSpPr/>
              <p:nvPr/>
            </p:nvSpPr>
            <p:spPr>
              <a:xfrm>
                <a:off x="2225512" y="1768419"/>
                <a:ext cx="720000" cy="900000"/>
              </a:xfrm>
              <a:prstGeom prst="ellipse">
                <a:avLst/>
              </a:prstGeom>
              <a:noFill/>
              <a:ln w="28575">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193" name="直接连接符 7192"/>
            <p:cNvCxnSpPr>
              <a:stCxn id="24" idx="4"/>
            </p:cNvCxnSpPr>
            <p:nvPr/>
          </p:nvCxnSpPr>
          <p:spPr>
            <a:xfrm>
              <a:off x="3816758" y="2495084"/>
              <a:ext cx="2279243" cy="952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66" idx="4"/>
            </p:cNvCxnSpPr>
            <p:nvPr/>
          </p:nvCxnSpPr>
          <p:spPr>
            <a:xfrm>
              <a:off x="2455199" y="2221442"/>
              <a:ext cx="3639940" cy="1237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5" idx="4"/>
            </p:cNvCxnSpPr>
            <p:nvPr/>
          </p:nvCxnSpPr>
          <p:spPr>
            <a:xfrm>
              <a:off x="3239375" y="1391865"/>
              <a:ext cx="2856626" cy="2055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34" idx="4"/>
            </p:cNvCxnSpPr>
            <p:nvPr/>
          </p:nvCxnSpPr>
          <p:spPr>
            <a:xfrm>
              <a:off x="4337487" y="1838043"/>
              <a:ext cx="1758514" cy="1609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5" idx="4"/>
            </p:cNvCxnSpPr>
            <p:nvPr/>
          </p:nvCxnSpPr>
          <p:spPr>
            <a:xfrm>
              <a:off x="4984886" y="981856"/>
              <a:ext cx="1111115" cy="2465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1" idx="4"/>
            </p:cNvCxnSpPr>
            <p:nvPr/>
          </p:nvCxnSpPr>
          <p:spPr>
            <a:xfrm>
              <a:off x="2727469" y="3260488"/>
              <a:ext cx="3368532" cy="18695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7" idx="4"/>
            </p:cNvCxnSpPr>
            <p:nvPr/>
          </p:nvCxnSpPr>
          <p:spPr>
            <a:xfrm>
              <a:off x="5024672" y="2252878"/>
              <a:ext cx="1071329" cy="1194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7" idx="4"/>
            </p:cNvCxnSpPr>
            <p:nvPr/>
          </p:nvCxnSpPr>
          <p:spPr>
            <a:xfrm flipH="1">
              <a:off x="6096001" y="1218407"/>
              <a:ext cx="1147147" cy="2229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6" idx="4"/>
            </p:cNvCxnSpPr>
            <p:nvPr/>
          </p:nvCxnSpPr>
          <p:spPr>
            <a:xfrm flipH="1">
              <a:off x="6096001" y="2018506"/>
              <a:ext cx="1330071" cy="1428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33" idx="4"/>
            </p:cNvCxnSpPr>
            <p:nvPr/>
          </p:nvCxnSpPr>
          <p:spPr>
            <a:xfrm flipH="1">
              <a:off x="6096001" y="1232158"/>
              <a:ext cx="2538854" cy="2215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6" idx="4"/>
            </p:cNvCxnSpPr>
            <p:nvPr/>
          </p:nvCxnSpPr>
          <p:spPr>
            <a:xfrm flipH="1">
              <a:off x="6096001" y="2177690"/>
              <a:ext cx="2340953" cy="1269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26" idx="4"/>
            </p:cNvCxnSpPr>
            <p:nvPr/>
          </p:nvCxnSpPr>
          <p:spPr>
            <a:xfrm flipH="1">
              <a:off x="6096001" y="1890948"/>
              <a:ext cx="3513178" cy="155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2" idx="4"/>
            </p:cNvCxnSpPr>
            <p:nvPr/>
          </p:nvCxnSpPr>
          <p:spPr>
            <a:xfrm flipH="1">
              <a:off x="6096001" y="3183183"/>
              <a:ext cx="3691248" cy="264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35" idx="4"/>
            </p:cNvCxnSpPr>
            <p:nvPr/>
          </p:nvCxnSpPr>
          <p:spPr>
            <a:xfrm flipH="1">
              <a:off x="6096001" y="2849773"/>
              <a:ext cx="2814969" cy="59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096001" y="2024541"/>
              <a:ext cx="414" cy="1422897"/>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2" name="图片 7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619415" y="1218407"/>
            <a:ext cx="954000" cy="954000"/>
          </a:xfrm>
          <a:prstGeom prst="rect">
            <a:avLst/>
          </a:prstGeom>
        </p:spPr>
      </p:pic>
      <p:pic>
        <p:nvPicPr>
          <p:cNvPr id="74" name="Picture 5" descr="“大数据时代 安全”的图片搜索结果"/>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215611" y="3431136"/>
            <a:ext cx="1776150" cy="10551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4"/>
          <p:cNvSpPr>
            <a:spLocks noChangeArrowheads="1"/>
          </p:cNvSpPr>
          <p:nvPr/>
        </p:nvSpPr>
        <p:spPr bwMode="auto">
          <a:xfrm>
            <a:off x="1494368" y="195699"/>
            <a:ext cx="77699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40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目录</a:t>
            </a:r>
          </a:p>
        </p:txBody>
      </p:sp>
      <p:sp>
        <p:nvSpPr>
          <p:cNvPr id="18435" name="直接连接符 13"/>
          <p:cNvSpPr>
            <a:spLocks noChangeShapeType="1"/>
          </p:cNvSpPr>
          <p:nvPr/>
        </p:nvSpPr>
        <p:spPr bwMode="auto">
          <a:xfrm>
            <a:off x="675218" y="845125"/>
            <a:ext cx="6193367"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grpSp>
        <p:nvGrpSpPr>
          <p:cNvPr id="5" name="Group 4"/>
          <p:cNvGrpSpPr/>
          <p:nvPr/>
        </p:nvGrpSpPr>
        <p:grpSpPr bwMode="auto">
          <a:xfrm>
            <a:off x="1269967" y="1524783"/>
            <a:ext cx="1016000" cy="665162"/>
            <a:chOff x="1110" y="2656"/>
            <a:chExt cx="1549" cy="1351"/>
          </a:xfrm>
          <a:gradFill flip="none" rotWithShape="1">
            <a:gsLst>
              <a:gs pos="0">
                <a:srgbClr val="336699">
                  <a:shade val="30000"/>
                  <a:satMod val="115000"/>
                </a:srgbClr>
              </a:gs>
              <a:gs pos="50000">
                <a:srgbClr val="336699">
                  <a:shade val="67500"/>
                  <a:satMod val="115000"/>
                </a:srgbClr>
              </a:gs>
              <a:gs pos="100000">
                <a:srgbClr val="336699">
                  <a:shade val="100000"/>
                  <a:satMod val="115000"/>
                </a:srgbClr>
              </a:gs>
            </a:gsLst>
            <a:lin ang="2700000" scaled="1"/>
            <a:tileRect/>
          </a:gradFill>
        </p:grpSpPr>
        <p:sp>
          <p:nvSpPr>
            <p:cNvPr id="38" name="AutoShape 5"/>
            <p:cNvSpPr>
              <a:spLocks noChangeArrowheads="1"/>
            </p:cNvSpPr>
            <p:nvPr/>
          </p:nvSpPr>
          <p:spPr bwMode="gray">
            <a:xfrm>
              <a:off x="1123" y="2679"/>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9" name="AutoShape 6"/>
            <p:cNvSpPr>
              <a:spLocks noChangeArrowheads="1"/>
            </p:cNvSpPr>
            <p:nvPr/>
          </p:nvSpPr>
          <p:spPr bwMode="gray">
            <a:xfrm>
              <a:off x="1110" y="2656"/>
              <a:ext cx="1536" cy="1328"/>
            </a:xfrm>
            <a:prstGeom prst="hexagon">
              <a:avLst>
                <a:gd name="adj" fmla="val 2891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40" name="AutoShape 7"/>
            <p:cNvSpPr>
              <a:spLocks noChangeArrowheads="1"/>
            </p:cNvSpPr>
            <p:nvPr/>
          </p:nvSpPr>
          <p:spPr bwMode="gray">
            <a:xfrm>
              <a:off x="1200" y="2736"/>
              <a:ext cx="1350" cy="1168"/>
            </a:xfrm>
            <a:prstGeom prst="hexagon">
              <a:avLst>
                <a:gd name="adj" fmla="val 28896"/>
                <a:gd name="vf" fmla="val 115470"/>
              </a:avLst>
            </a:prstGeom>
            <a:grpFill/>
            <a:ln w="9525">
              <a:solidFill>
                <a:srgbClr val="3DA2CB"/>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7" name="Line 8"/>
          <p:cNvSpPr>
            <a:spLocks noChangeShapeType="1"/>
          </p:cNvSpPr>
          <p:nvPr/>
        </p:nvSpPr>
        <p:spPr bwMode="auto">
          <a:xfrm>
            <a:off x="2082767" y="213460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2991274" y="1588503"/>
            <a:ext cx="2646878"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网络舆情分析概述</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gray">
          <a:xfrm>
            <a:off x="1585540" y="1623428"/>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1</a:t>
            </a:r>
          </a:p>
        </p:txBody>
      </p:sp>
      <p:grpSp>
        <p:nvGrpSpPr>
          <p:cNvPr id="10" name="Group 11"/>
          <p:cNvGrpSpPr/>
          <p:nvPr/>
        </p:nvGrpSpPr>
        <p:grpSpPr bwMode="auto">
          <a:xfrm>
            <a:off x="1269967" y="2310601"/>
            <a:ext cx="1016000" cy="665162"/>
            <a:chOff x="3174" y="2656"/>
            <a:chExt cx="1549" cy="1351"/>
          </a:xfrm>
          <a:gradFill flip="none" rotWithShape="1">
            <a:gsLst>
              <a:gs pos="0">
                <a:srgbClr val="339966">
                  <a:shade val="30000"/>
                  <a:satMod val="115000"/>
                </a:srgbClr>
              </a:gs>
              <a:gs pos="50000">
                <a:srgbClr val="339966">
                  <a:shade val="67500"/>
                  <a:satMod val="115000"/>
                </a:srgbClr>
              </a:gs>
              <a:gs pos="100000">
                <a:srgbClr val="339966">
                  <a:shade val="100000"/>
                  <a:satMod val="115000"/>
                </a:srgbClr>
              </a:gs>
            </a:gsLst>
            <a:lin ang="2700000" scaled="1"/>
            <a:tileRect/>
          </a:gradFill>
        </p:grpSpPr>
        <p:sp>
          <p:nvSpPr>
            <p:cNvPr id="35" name="AutoShape 12"/>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6" name="AutoShape 13"/>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7" name="AutoShape 14"/>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1" name="Line 15"/>
          <p:cNvSpPr>
            <a:spLocks noChangeShapeType="1"/>
          </p:cNvSpPr>
          <p:nvPr/>
        </p:nvSpPr>
        <p:spPr bwMode="auto">
          <a:xfrm>
            <a:off x="2082767" y="2920416"/>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3" name="Text Box 17"/>
          <p:cNvSpPr txBox="1">
            <a:spLocks noChangeArrowheads="1"/>
          </p:cNvSpPr>
          <p:nvPr/>
        </p:nvSpPr>
        <p:spPr bwMode="gray">
          <a:xfrm>
            <a:off x="1585540" y="2409242"/>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2</a:t>
            </a:r>
          </a:p>
        </p:txBody>
      </p:sp>
      <p:grpSp>
        <p:nvGrpSpPr>
          <p:cNvPr id="14" name="Group 18"/>
          <p:cNvGrpSpPr/>
          <p:nvPr/>
        </p:nvGrpSpPr>
        <p:grpSpPr bwMode="auto">
          <a:xfrm>
            <a:off x="1269967" y="3096419"/>
            <a:ext cx="1016000" cy="665162"/>
            <a:chOff x="1110" y="2656"/>
            <a:chExt cx="1549" cy="1351"/>
          </a:xfrm>
          <a:gradFill flip="none" rotWithShape="1">
            <a:gsLst>
              <a:gs pos="0">
                <a:schemeClr val="bg2">
                  <a:lumMod val="60000"/>
                  <a:lumOff val="40000"/>
                  <a:shade val="30000"/>
                  <a:satMod val="115000"/>
                </a:schemeClr>
              </a:gs>
              <a:gs pos="50000">
                <a:schemeClr val="bg2">
                  <a:lumMod val="60000"/>
                  <a:lumOff val="40000"/>
                  <a:shade val="67500"/>
                  <a:satMod val="115000"/>
                </a:schemeClr>
              </a:gs>
              <a:gs pos="100000">
                <a:schemeClr val="bg2">
                  <a:lumMod val="60000"/>
                  <a:lumOff val="40000"/>
                  <a:shade val="100000"/>
                  <a:satMod val="115000"/>
                </a:schemeClr>
              </a:gs>
            </a:gsLst>
            <a:lin ang="2700000" scaled="1"/>
            <a:tileRect/>
          </a:gradFill>
        </p:grpSpPr>
        <p:sp>
          <p:nvSpPr>
            <p:cNvPr id="32" name="AutoShape 19"/>
            <p:cNvSpPr>
              <a:spLocks noChangeArrowheads="1"/>
            </p:cNvSpPr>
            <p:nvPr/>
          </p:nvSpPr>
          <p:spPr bwMode="gray">
            <a:xfrm>
              <a:off x="1123"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3" name="AutoShape 20"/>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4" name="AutoShape 21"/>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5" name="Line 22"/>
          <p:cNvSpPr>
            <a:spLocks noChangeShapeType="1"/>
          </p:cNvSpPr>
          <p:nvPr/>
        </p:nvSpPr>
        <p:spPr bwMode="auto">
          <a:xfrm>
            <a:off x="2082767" y="3706228"/>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Text Box 23"/>
          <p:cNvSpPr txBox="1">
            <a:spLocks noChangeArrowheads="1"/>
          </p:cNvSpPr>
          <p:nvPr/>
        </p:nvSpPr>
        <p:spPr bwMode="auto">
          <a:xfrm>
            <a:off x="3007867" y="2310602"/>
            <a:ext cx="3262432"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网络舆情分析关键技术</a:t>
            </a:r>
          </a:p>
        </p:txBody>
      </p:sp>
      <p:sp>
        <p:nvSpPr>
          <p:cNvPr id="17" name="Text Box 24"/>
          <p:cNvSpPr txBox="1">
            <a:spLocks noChangeArrowheads="1"/>
          </p:cNvSpPr>
          <p:nvPr/>
        </p:nvSpPr>
        <p:spPr bwMode="gray">
          <a:xfrm>
            <a:off x="1585540" y="3195054"/>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3</a:t>
            </a:r>
          </a:p>
        </p:txBody>
      </p:sp>
      <p:grpSp>
        <p:nvGrpSpPr>
          <p:cNvPr id="18" name="Group 25"/>
          <p:cNvGrpSpPr/>
          <p:nvPr/>
        </p:nvGrpSpPr>
        <p:grpSpPr bwMode="auto">
          <a:xfrm>
            <a:off x="1269967" y="3882237"/>
            <a:ext cx="1016000" cy="665162"/>
            <a:chOff x="3174" y="2656"/>
            <a:chExt cx="1549" cy="1351"/>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2700000" scaled="1"/>
            <a:tileRect/>
          </a:gradFill>
        </p:grpSpPr>
        <p:sp>
          <p:nvSpPr>
            <p:cNvPr id="29"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0"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31"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19" name="Line 29"/>
          <p:cNvSpPr>
            <a:spLocks noChangeShapeType="1"/>
          </p:cNvSpPr>
          <p:nvPr/>
        </p:nvSpPr>
        <p:spPr bwMode="auto">
          <a:xfrm>
            <a:off x="2082767" y="4492041"/>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0" name="Text Box 30"/>
          <p:cNvSpPr txBox="1">
            <a:spLocks noChangeArrowheads="1"/>
          </p:cNvSpPr>
          <p:nvPr/>
        </p:nvSpPr>
        <p:spPr bwMode="auto">
          <a:xfrm>
            <a:off x="3007867" y="3128224"/>
            <a:ext cx="2646878"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舆情分析系统框架</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1" name="Text Box 31"/>
          <p:cNvSpPr txBox="1">
            <a:spLocks noChangeArrowheads="1"/>
          </p:cNvSpPr>
          <p:nvPr/>
        </p:nvSpPr>
        <p:spPr bwMode="gray">
          <a:xfrm>
            <a:off x="1585540" y="3980867"/>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4</a:t>
            </a:r>
          </a:p>
        </p:txBody>
      </p:sp>
      <p:grpSp>
        <p:nvGrpSpPr>
          <p:cNvPr id="22" name="Group 25"/>
          <p:cNvGrpSpPr/>
          <p:nvPr/>
        </p:nvGrpSpPr>
        <p:grpSpPr bwMode="auto">
          <a:xfrm>
            <a:off x="1282809" y="4668055"/>
            <a:ext cx="1016000" cy="665162"/>
            <a:chOff x="3174" y="2656"/>
            <a:chExt cx="1549" cy="1351"/>
          </a:xfrm>
          <a:solidFill>
            <a:srgbClr val="31B5D6"/>
          </a:solidFill>
        </p:grpSpPr>
        <p:sp>
          <p:nvSpPr>
            <p:cNvPr id="26" name="AutoShape 26"/>
            <p:cNvSpPr>
              <a:spLocks noChangeArrowheads="1"/>
            </p:cNvSpPr>
            <p:nvPr/>
          </p:nvSpPr>
          <p:spPr bwMode="gray">
            <a:xfrm>
              <a:off x="3187" y="2679"/>
              <a:ext cx="1536" cy="1328"/>
            </a:xfrm>
            <a:prstGeom prst="hexagon">
              <a:avLst>
                <a:gd name="adj" fmla="val 28916"/>
                <a:gd name="vf" fmla="val 115470"/>
              </a:avLst>
            </a:prstGeom>
            <a:grpFill/>
            <a:ln w="9525">
              <a:no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7" name="AutoShape 27"/>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sp>
          <p:nvSpPr>
            <p:cNvPr id="28" name="AutoShape 28"/>
            <p:cNvSpPr>
              <a:spLocks noChangeArrowheads="1"/>
            </p:cNvSpPr>
            <p:nvPr/>
          </p:nvSpPr>
          <p:spPr bwMode="gray">
            <a:xfrm>
              <a:off x="3264" y="2736"/>
              <a:ext cx="1350" cy="1168"/>
            </a:xfrm>
            <a:prstGeom prst="hexagon">
              <a:avLst>
                <a:gd name="adj" fmla="val 28896"/>
                <a:gd name="vf" fmla="val 115470"/>
              </a:avLst>
            </a:prstGeom>
            <a:grpFill/>
            <a:ln w="9525">
              <a:solidFill>
                <a:schemeClr val="tx1"/>
              </a:solidFill>
              <a:miter lim="800000"/>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a:latin typeface="微软雅黑" panose="020B0503020204020204" pitchFamily="34" charset="-122"/>
                <a:ea typeface="微软雅黑" panose="020B0503020204020204" pitchFamily="34" charset="-122"/>
              </a:endParaRPr>
            </a:p>
          </p:txBody>
        </p:sp>
      </p:grpSp>
      <p:sp>
        <p:nvSpPr>
          <p:cNvPr id="23" name="Line 29"/>
          <p:cNvSpPr>
            <a:spLocks noChangeShapeType="1"/>
          </p:cNvSpPr>
          <p:nvPr/>
        </p:nvSpPr>
        <p:spPr bwMode="auto">
          <a:xfrm>
            <a:off x="2095467" y="5277853"/>
            <a:ext cx="6400800"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5" name="Text Box 31"/>
          <p:cNvSpPr txBox="1">
            <a:spLocks noChangeArrowheads="1"/>
          </p:cNvSpPr>
          <p:nvPr/>
        </p:nvSpPr>
        <p:spPr bwMode="gray">
          <a:xfrm>
            <a:off x="1598240" y="4766679"/>
            <a:ext cx="365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2400" dirty="0">
                <a:solidFill>
                  <a:srgbClr val="F8F8F8"/>
                </a:solidFill>
                <a:latin typeface="微软雅黑" panose="020B0503020204020204" pitchFamily="34" charset="-122"/>
                <a:ea typeface="微软雅黑" panose="020B0503020204020204" pitchFamily="34" charset="-122"/>
              </a:rPr>
              <a:t>5</a:t>
            </a:r>
          </a:p>
        </p:txBody>
      </p:sp>
      <p:sp>
        <p:nvSpPr>
          <p:cNvPr id="43" name="Text Box 30"/>
          <p:cNvSpPr txBox="1">
            <a:spLocks noChangeArrowheads="1"/>
          </p:cNvSpPr>
          <p:nvPr/>
        </p:nvSpPr>
        <p:spPr bwMode="auto">
          <a:xfrm>
            <a:off x="3044446" y="4739645"/>
            <a:ext cx="2954655" cy="461665"/>
          </a:xfrm>
          <a:prstGeom prst="rect">
            <a:avLst/>
          </a:prstGeom>
          <a:noFill/>
          <a:ln w="9525" algn="ctr">
            <a:noFill/>
            <a:miter lim="800000"/>
          </a:ln>
        </p:spPr>
        <p:txBody>
          <a:bodyPr wrap="none">
            <a:spAutoFit/>
          </a:bodyPr>
          <a:lstStyle>
            <a:defPPr>
              <a:defRPr lang="zh-CN"/>
            </a:defPPr>
            <a:lvl1pPr>
              <a:defRPr sz="2400">
                <a:effectLst>
                  <a:outerShdw blurRad="38100" dist="38100" dir="2700000" algn="tl">
                    <a:srgbClr val="C0C0C0"/>
                  </a:outerShdw>
                </a:effectLst>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r>
              <a:rPr lang="zh-CN" altLang="en-US" dirty="0">
                <a:latin typeface="微软雅黑" panose="020B0503020204020204" pitchFamily="34" charset="-122"/>
                <a:ea typeface="微软雅黑" panose="020B0503020204020204" pitchFamily="34" charset="-122"/>
              </a:rPr>
              <a:t>典型应用及发展趋势</a:t>
            </a:r>
            <a:endParaRPr lang="en-US" altLang="zh-CN" dirty="0">
              <a:latin typeface="微软雅黑" panose="020B0503020204020204" pitchFamily="34" charset="-122"/>
              <a:ea typeface="微软雅黑" panose="020B0503020204020204" pitchFamily="34" charset="-122"/>
            </a:endParaRPr>
          </a:p>
        </p:txBody>
      </p:sp>
      <p:sp>
        <p:nvSpPr>
          <p:cNvPr id="44" name="Text Box 30"/>
          <p:cNvSpPr txBox="1">
            <a:spLocks noChangeArrowheads="1"/>
          </p:cNvSpPr>
          <p:nvPr/>
        </p:nvSpPr>
        <p:spPr bwMode="auto">
          <a:xfrm>
            <a:off x="3049905" y="3927010"/>
            <a:ext cx="2646878" cy="461665"/>
          </a:xfrm>
          <a:prstGeom prst="rect">
            <a:avLst/>
          </a:prstGeom>
          <a:noFill/>
          <a:ln w="9525" algn="ctr">
            <a:noFill/>
            <a:miter lim="800000"/>
          </a:ln>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zh-CN" altLang="en-US" sz="2400" dirty="0">
                <a:effectLst>
                  <a:outerShdw blurRad="38100" dist="38100" dir="2700000" algn="tl">
                    <a:srgbClr val="C0C0C0"/>
                  </a:outerShdw>
                </a:effectLst>
                <a:latin typeface="微软雅黑" panose="020B0503020204020204" pitchFamily="34" charset="-122"/>
                <a:ea typeface="微软雅黑" panose="020B0503020204020204" pitchFamily="34" charset="-122"/>
              </a:rPr>
              <a:t>舆情分析常用方法</a:t>
            </a:r>
            <a:endParaRPr lang="en-US" altLang="zh-CN" sz="2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143000"/>
          </a:xfrm>
          <a:prstGeom prst="rect">
            <a:avLst/>
          </a:prstGeom>
          <a:noFill/>
          <a:ln w="9525">
            <a:noFill/>
            <a:miter lim="800000"/>
          </a:ln>
        </p:spPr>
        <p:txBody>
          <a:bodyPr/>
          <a:lstStyle/>
          <a:p>
            <a:r>
              <a:rPr lang="zh-CN" altLang="en-US"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网络舆情分析概述</a:t>
            </a:r>
            <a:endPar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网络舆情分析概述</a:t>
            </a:r>
          </a:p>
        </p:txBody>
      </p:sp>
      <p:sp>
        <p:nvSpPr>
          <p:cNvPr id="8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82" name="图片 8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2361" y="3775586"/>
            <a:ext cx="4062119" cy="2539375"/>
          </a:xfrm>
          <a:prstGeom prst="rect">
            <a:avLst/>
          </a:prstGeom>
        </p:spPr>
      </p:pic>
      <p:sp>
        <p:nvSpPr>
          <p:cNvPr id="9" name="Rectangle 24"/>
          <p:cNvSpPr>
            <a:spLocks noChangeArrowheads="1"/>
          </p:cNvSpPr>
          <p:nvPr/>
        </p:nvSpPr>
        <p:spPr bwMode="auto">
          <a:xfrm>
            <a:off x="1451647" y="2155825"/>
            <a:ext cx="10887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ea typeface="微软雅黑" panose="020B0503020204020204" pitchFamily="34" charset="-122"/>
              </a:rPr>
              <a:t>    竞选？</a:t>
            </a:r>
          </a:p>
        </p:txBody>
      </p:sp>
      <p:sp>
        <p:nvSpPr>
          <p:cNvPr id="12" name="椭圆形标注 11"/>
          <p:cNvSpPr/>
          <p:nvPr/>
        </p:nvSpPr>
        <p:spPr>
          <a:xfrm>
            <a:off x="4006701" y="2202882"/>
            <a:ext cx="1952139" cy="1241358"/>
          </a:xfrm>
          <a:prstGeom prst="wedgeEllipseCallout">
            <a:avLst/>
          </a:prstGeom>
          <a:solidFill>
            <a:schemeClr val="accent1">
              <a:lumMod val="60000"/>
              <a:lumOff val="40000"/>
              <a:alpha val="7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形标注 12"/>
          <p:cNvSpPr/>
          <p:nvPr/>
        </p:nvSpPr>
        <p:spPr>
          <a:xfrm flipH="1">
            <a:off x="716280" y="1828800"/>
            <a:ext cx="2255520" cy="1584960"/>
          </a:xfrm>
          <a:prstGeom prst="wedgeEllipse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1097280" y="1859280"/>
            <a:ext cx="1584960" cy="1478280"/>
          </a:xfrm>
          <a:prstGeom prst="rect">
            <a:avLst/>
          </a:prstGeom>
          <a:noFill/>
          <a:ln>
            <a:noFill/>
          </a:ln>
        </p:spPr>
        <p:txBody>
          <a:bodyPr wrap="square" rtlCol="0">
            <a:spAutoFit/>
          </a:bodyPr>
          <a:lstStyle/>
          <a:p>
            <a:pPr>
              <a:lnSpc>
                <a:spcPct val="125000"/>
              </a:lnSpc>
            </a:pPr>
            <a:r>
              <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人大选举</a:t>
            </a: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a:p>
            <a:pPr>
              <a:lnSpc>
                <a:spcPct val="125000"/>
              </a:lnSpc>
            </a:pPr>
            <a:r>
              <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总统换届</a:t>
            </a: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a:p>
            <a:pPr>
              <a:lnSpc>
                <a:spcPct val="125000"/>
              </a:lnSpc>
            </a:pP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a:p>
            <a:pPr>
              <a:lnSpc>
                <a:spcPct val="125000"/>
              </a:lnSpc>
            </a:pPr>
            <a:r>
              <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萨德部署</a:t>
            </a: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endPar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16" name="TextBox 15"/>
          <p:cNvSpPr txBox="1"/>
          <p:nvPr/>
        </p:nvSpPr>
        <p:spPr>
          <a:xfrm>
            <a:off x="4328160" y="2240280"/>
            <a:ext cx="1813560" cy="1131079"/>
          </a:xfrm>
          <a:prstGeom prst="rect">
            <a:avLst/>
          </a:prstGeom>
          <a:noFill/>
          <a:ln>
            <a:noFill/>
          </a:ln>
        </p:spPr>
        <p:txBody>
          <a:bodyPr wrap="square" rtlCol="0">
            <a:spAutoFit/>
          </a:bodyPr>
          <a:lstStyle/>
          <a:p>
            <a:pPr>
              <a:lnSpc>
                <a:spcPct val="125000"/>
              </a:lnSpc>
            </a:pPr>
            <a:r>
              <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两会召开</a:t>
            </a: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a:p>
            <a:pPr>
              <a:lnSpc>
                <a:spcPct val="125000"/>
              </a:lnSpc>
            </a:pP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a:p>
            <a:pPr>
              <a:lnSpc>
                <a:spcPct val="125000"/>
              </a:lnSpc>
            </a:pPr>
            <a:r>
              <a:rPr lang="zh-CN" altLang="en-US"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经贸合作</a:t>
            </a:r>
            <a:r>
              <a:rPr lang="en-US" altLang="zh-CN" b="1" dirty="0">
                <a:solidFill>
                  <a:schemeClr val="tx2"/>
                </a:solidFill>
                <a:latin typeface="微软雅黑" panose="020B0503020204020204" pitchFamily="34" charset="-122"/>
                <a:ea typeface="微软雅黑" panose="020B0503020204020204" pitchFamily="34" charset="-122"/>
                <a:sym typeface="Calibri" panose="020F0502020204030204" pitchFamily="34" charset="0"/>
              </a:rPr>
              <a:t>…</a:t>
            </a:r>
          </a:p>
        </p:txBody>
      </p:sp>
      <p:sp>
        <p:nvSpPr>
          <p:cNvPr id="17" name="直接连接符 2"/>
          <p:cNvSpPr>
            <a:spLocks noChangeShapeType="1"/>
          </p:cNvSpPr>
          <p:nvPr/>
        </p:nvSpPr>
        <p:spPr bwMode="auto">
          <a:xfrm flipV="1">
            <a:off x="6463179" y="1497504"/>
            <a:ext cx="45719" cy="4796616"/>
          </a:xfrm>
          <a:prstGeom prst="line">
            <a:avLst/>
          </a:prstGeom>
          <a:noFill/>
          <a:ln w="22225" cap="flat" cmpd="sng">
            <a:solidFill>
              <a:srgbClr val="DC9F0B"/>
            </a:solidFill>
            <a:prstDash val="dash"/>
            <a:round/>
            <a:headEnd type="oval" w="med" len="med"/>
            <a:tailEnd type="oval"/>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 name="矩形 17"/>
          <p:cNvSpPr/>
          <p:nvPr/>
        </p:nvSpPr>
        <p:spPr>
          <a:xfrm>
            <a:off x="7010400" y="2539753"/>
            <a:ext cx="4369903" cy="3160008"/>
          </a:xfrm>
          <a:prstGeom prst="rect">
            <a:avLst/>
          </a:prstGeom>
          <a:solidFill>
            <a:schemeClr val="bg1">
              <a:lumMod val="95000"/>
              <a:alpha val="82000"/>
            </a:schemeClr>
          </a:solidFill>
          <a:ln w="3175">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indent="457200">
              <a:lnSpc>
                <a:spcPct val="150000"/>
              </a:lnSpc>
            </a:pPr>
            <a:r>
              <a:rPr lang="zh-CN" altLang="en-US" dirty="0">
                <a:solidFill>
                  <a:schemeClr val="bg2">
                    <a:lumMod val="25000"/>
                  </a:schemeClr>
                </a:solidFill>
                <a:latin typeface="微软雅黑" panose="020B0503020204020204" pitchFamily="34" charset="-122"/>
                <a:ea typeface="微软雅黑" panose="020B0503020204020204" pitchFamily="34" charset="-122"/>
              </a:rPr>
              <a:t>舆情指在一定的社会空间内，围绕中介性社会事项的发生、发展和变化，作为主体的民众对作为客体的国家管理者产生和持有的社会政治态度。如果把中间的一些定语省略掉，</a:t>
            </a:r>
            <a:r>
              <a:rPr lang="zh-CN" altLang="en-US" b="1" dirty="0">
                <a:solidFill>
                  <a:srgbClr val="F05425"/>
                </a:solidFill>
              </a:rPr>
              <a:t>舆情就是民众的社会政治态度</a:t>
            </a:r>
            <a:r>
              <a:rPr lang="zh-CN" altLang="en-US" dirty="0">
                <a:solidFill>
                  <a:schemeClr val="bg2">
                    <a:lumMod val="25000"/>
                  </a:schemeClr>
                </a:solidFill>
                <a:latin typeface="微软雅黑" panose="020B0503020204020204" pitchFamily="34" charset="-122"/>
                <a:ea typeface="微软雅黑" panose="020B0503020204020204" pitchFamily="34" charset="-122"/>
              </a:rPr>
              <a:t>。</a:t>
            </a:r>
            <a:endParaRPr lang="en-US" b="1" dirty="0">
              <a:solidFill>
                <a:srgbClr val="F05425"/>
              </a:solidFill>
            </a:endParaRPr>
          </a:p>
        </p:txBody>
      </p:sp>
      <p:sp>
        <p:nvSpPr>
          <p:cNvPr id="20" name="TextBox 19"/>
          <p:cNvSpPr txBox="1"/>
          <p:nvPr/>
        </p:nvSpPr>
        <p:spPr>
          <a:xfrm>
            <a:off x="6888480" y="1508761"/>
            <a:ext cx="3002280" cy="646331"/>
          </a:xfrm>
          <a:prstGeom prst="rect">
            <a:avLst/>
          </a:prstGeom>
          <a:noFill/>
        </p:spPr>
        <p:txBody>
          <a:bodyPr wrap="square" rtlCol="0">
            <a:spAutoFit/>
          </a:bodyPr>
          <a:lstStyle/>
          <a:p>
            <a:r>
              <a:rPr lang="zh-CN" altLang="en-US" sz="3600" b="1" dirty="0">
                <a:solidFill>
                  <a:srgbClr val="FC6F18"/>
                </a:solidFill>
                <a:latin typeface="微软雅黑" panose="020B0503020204020204" pitchFamily="34" charset="-122"/>
                <a:ea typeface="微软雅黑" panose="020B0503020204020204" pitchFamily="34" charset="-122"/>
                <a:cs typeface="+mj-cs"/>
              </a:rPr>
              <a:t>网络舆情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47"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1000"/>
                                        <p:tgtEl>
                                          <p:spTgt spid="18"/>
                                        </p:tgtEl>
                                      </p:cBhvr>
                                    </p:animEffect>
                                    <p:anim calcmode="lin" valueType="num">
                                      <p:cBhvr>
                                        <p:cTn id="11" dur="1000" fill="hold"/>
                                        <p:tgtEl>
                                          <p:spTgt spid="18"/>
                                        </p:tgtEl>
                                        <p:attrNameLst>
                                          <p:attrName>ppt_x</p:attrName>
                                        </p:attrNameLst>
                                      </p:cBhvr>
                                      <p:tavLst>
                                        <p:tav tm="0">
                                          <p:val>
                                            <p:strVal val="#ppt_x"/>
                                          </p:val>
                                        </p:tav>
                                        <p:tav tm="100000">
                                          <p:val>
                                            <p:strVal val="#ppt_x"/>
                                          </p:val>
                                        </p:tav>
                                      </p:tavLst>
                                    </p:anim>
                                    <p:anim calcmode="lin" valueType="num">
                                      <p:cBhvr>
                                        <p:cTn id="1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bldLvl="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44"/>
          <p:cNvSpPr>
            <a:spLocks noEditPoints="1"/>
          </p:cNvSpPr>
          <p:nvPr/>
        </p:nvSpPr>
        <p:spPr bwMode="auto">
          <a:xfrm>
            <a:off x="4800413" y="2684264"/>
            <a:ext cx="75147" cy="71624"/>
          </a:xfrm>
          <a:custGeom>
            <a:avLst/>
            <a:gdLst>
              <a:gd name="T0" fmla="*/ 0 w 40"/>
              <a:gd name="T1" fmla="*/ 38 h 38"/>
              <a:gd name="T2" fmla="*/ 0 w 40"/>
              <a:gd name="T3" fmla="*/ 38 h 38"/>
              <a:gd name="T4" fmla="*/ 0 w 40"/>
              <a:gd name="T5" fmla="*/ 38 h 38"/>
              <a:gd name="T6" fmla="*/ 0 w 40"/>
              <a:gd name="T7" fmla="*/ 38 h 38"/>
              <a:gd name="T8" fmla="*/ 0 w 40"/>
              <a:gd name="T9" fmla="*/ 38 h 38"/>
              <a:gd name="T10" fmla="*/ 0 w 40"/>
              <a:gd name="T11" fmla="*/ 38 h 38"/>
              <a:gd name="T12" fmla="*/ 0 w 40"/>
              <a:gd name="T13" fmla="*/ 38 h 38"/>
              <a:gd name="T14" fmla="*/ 40 w 40"/>
              <a:gd name="T15" fmla="*/ 0 h 38"/>
              <a:gd name="T16" fmla="*/ 40 w 40"/>
              <a:gd name="T17" fmla="*/ 0 h 38"/>
              <a:gd name="T18" fmla="*/ 40 w 40"/>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38">
                <a:moveTo>
                  <a:pt x="0" y="38"/>
                </a:moveTo>
                <a:cubicBezTo>
                  <a:pt x="0" y="38"/>
                  <a:pt x="0" y="38"/>
                  <a:pt x="0" y="38"/>
                </a:cubicBezTo>
                <a:cubicBezTo>
                  <a:pt x="0" y="38"/>
                  <a:pt x="0" y="38"/>
                  <a:pt x="0" y="38"/>
                </a:cubicBezTo>
                <a:cubicBezTo>
                  <a:pt x="0" y="38"/>
                  <a:pt x="0" y="38"/>
                  <a:pt x="0" y="38"/>
                </a:cubicBezTo>
                <a:moveTo>
                  <a:pt x="0" y="38"/>
                </a:moveTo>
                <a:cubicBezTo>
                  <a:pt x="0" y="38"/>
                  <a:pt x="0" y="38"/>
                  <a:pt x="0" y="38"/>
                </a:cubicBezTo>
                <a:cubicBezTo>
                  <a:pt x="0" y="38"/>
                  <a:pt x="0" y="38"/>
                  <a:pt x="0" y="38"/>
                </a:cubicBezTo>
                <a:moveTo>
                  <a:pt x="40" y="0"/>
                </a:moveTo>
                <a:cubicBezTo>
                  <a:pt x="40" y="0"/>
                  <a:pt x="40" y="0"/>
                  <a:pt x="40" y="0"/>
                </a:cubicBezTo>
                <a:cubicBezTo>
                  <a:pt x="40" y="0"/>
                  <a:pt x="40" y="0"/>
                  <a:pt x="40" y="0"/>
                </a:cubicBezTo>
              </a:path>
            </a:pathLst>
          </a:custGeom>
          <a:solidFill>
            <a:srgbClr val="D9D9D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24" name="Freeform 49"/>
          <p:cNvSpPr/>
          <p:nvPr/>
        </p:nvSpPr>
        <p:spPr bwMode="auto">
          <a:xfrm>
            <a:off x="3539535" y="2030098"/>
            <a:ext cx="375735" cy="327594"/>
          </a:xfrm>
          <a:custGeom>
            <a:avLst/>
            <a:gdLst>
              <a:gd name="T0" fmla="*/ 147 w 199"/>
              <a:gd name="T1" fmla="*/ 0 h 174"/>
              <a:gd name="T2" fmla="*/ 72 w 199"/>
              <a:gd name="T3" fmla="*/ 80 h 174"/>
              <a:gd name="T4" fmla="*/ 36 w 199"/>
              <a:gd name="T5" fmla="*/ 43 h 174"/>
              <a:gd name="T6" fmla="*/ 16 w 199"/>
              <a:gd name="T7" fmla="*/ 64 h 174"/>
              <a:gd name="T8" fmla="*/ 30 w 199"/>
              <a:gd name="T9" fmla="*/ 79 h 174"/>
              <a:gd name="T10" fmla="*/ 25 w 199"/>
              <a:gd name="T11" fmla="*/ 84 h 174"/>
              <a:gd name="T12" fmla="*/ 47 w 199"/>
              <a:gd name="T13" fmla="*/ 107 h 174"/>
              <a:gd name="T14" fmla="*/ 43 w 199"/>
              <a:gd name="T15" fmla="*/ 110 h 174"/>
              <a:gd name="T16" fmla="*/ 0 w 199"/>
              <a:gd name="T17" fmla="*/ 107 h 174"/>
              <a:gd name="T18" fmla="*/ 67 w 199"/>
              <a:gd name="T19" fmla="*/ 174 h 174"/>
              <a:gd name="T20" fmla="*/ 159 w 199"/>
              <a:gd name="T21" fmla="*/ 174 h 174"/>
              <a:gd name="T22" fmla="*/ 199 w 199"/>
              <a:gd name="T23" fmla="*/ 134 h 174"/>
              <a:gd name="T24" fmla="*/ 199 w 199"/>
              <a:gd name="T25" fmla="*/ 51 h 174"/>
              <a:gd name="T26" fmla="*/ 147 w 199"/>
              <a:gd name="T27"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9" h="174">
                <a:moveTo>
                  <a:pt x="147" y="0"/>
                </a:moveTo>
                <a:cubicBezTo>
                  <a:pt x="72" y="80"/>
                  <a:pt x="72" y="80"/>
                  <a:pt x="72" y="80"/>
                </a:cubicBezTo>
                <a:cubicBezTo>
                  <a:pt x="36" y="43"/>
                  <a:pt x="36" y="43"/>
                  <a:pt x="36" y="43"/>
                </a:cubicBezTo>
                <a:cubicBezTo>
                  <a:pt x="16" y="64"/>
                  <a:pt x="16" y="64"/>
                  <a:pt x="16" y="64"/>
                </a:cubicBezTo>
                <a:cubicBezTo>
                  <a:pt x="30" y="79"/>
                  <a:pt x="30" y="79"/>
                  <a:pt x="30" y="79"/>
                </a:cubicBezTo>
                <a:cubicBezTo>
                  <a:pt x="25" y="84"/>
                  <a:pt x="25" y="84"/>
                  <a:pt x="25" y="84"/>
                </a:cubicBezTo>
                <a:cubicBezTo>
                  <a:pt x="47" y="107"/>
                  <a:pt x="47" y="107"/>
                  <a:pt x="47" y="107"/>
                </a:cubicBezTo>
                <a:cubicBezTo>
                  <a:pt x="43" y="110"/>
                  <a:pt x="43" y="110"/>
                  <a:pt x="43" y="110"/>
                </a:cubicBezTo>
                <a:cubicBezTo>
                  <a:pt x="0" y="107"/>
                  <a:pt x="0" y="107"/>
                  <a:pt x="0" y="107"/>
                </a:cubicBezTo>
                <a:cubicBezTo>
                  <a:pt x="67" y="174"/>
                  <a:pt x="67" y="174"/>
                  <a:pt x="67" y="174"/>
                </a:cubicBezTo>
                <a:cubicBezTo>
                  <a:pt x="159" y="174"/>
                  <a:pt x="159" y="174"/>
                  <a:pt x="159" y="174"/>
                </a:cubicBezTo>
                <a:cubicBezTo>
                  <a:pt x="181" y="174"/>
                  <a:pt x="199" y="156"/>
                  <a:pt x="199" y="134"/>
                </a:cubicBezTo>
                <a:cubicBezTo>
                  <a:pt x="199" y="51"/>
                  <a:pt x="199" y="51"/>
                  <a:pt x="199" y="51"/>
                </a:cubicBezTo>
                <a:cubicBezTo>
                  <a:pt x="147" y="0"/>
                  <a:pt x="147" y="0"/>
                  <a:pt x="147" y="0"/>
                </a:cubicBezTo>
              </a:path>
            </a:pathLst>
          </a:custGeom>
          <a:solidFill>
            <a:srgbClr val="17A4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25" name="Freeform 50"/>
          <p:cNvSpPr/>
          <p:nvPr/>
        </p:nvSpPr>
        <p:spPr bwMode="auto">
          <a:xfrm>
            <a:off x="3539535" y="2024227"/>
            <a:ext cx="286498" cy="233660"/>
          </a:xfrm>
          <a:custGeom>
            <a:avLst/>
            <a:gdLst>
              <a:gd name="T0" fmla="*/ 152 w 152"/>
              <a:gd name="T1" fmla="*/ 15 h 124"/>
              <a:gd name="T2" fmla="*/ 134 w 152"/>
              <a:gd name="T3" fmla="*/ 20 h 124"/>
              <a:gd name="T4" fmla="*/ 147 w 152"/>
              <a:gd name="T5" fmla="*/ 3 h 124"/>
              <a:gd name="T6" fmla="*/ 128 w 152"/>
              <a:gd name="T7" fmla="*/ 10 h 124"/>
              <a:gd name="T8" fmla="*/ 105 w 152"/>
              <a:gd name="T9" fmla="*/ 0 h 124"/>
              <a:gd name="T10" fmla="*/ 74 w 152"/>
              <a:gd name="T11" fmla="*/ 31 h 124"/>
              <a:gd name="T12" fmla="*/ 75 w 152"/>
              <a:gd name="T13" fmla="*/ 39 h 124"/>
              <a:gd name="T14" fmla="*/ 10 w 152"/>
              <a:gd name="T15" fmla="*/ 6 h 124"/>
              <a:gd name="T16" fmla="*/ 6 w 152"/>
              <a:gd name="T17" fmla="*/ 22 h 124"/>
              <a:gd name="T18" fmla="*/ 20 w 152"/>
              <a:gd name="T19" fmla="*/ 48 h 124"/>
              <a:gd name="T20" fmla="*/ 6 w 152"/>
              <a:gd name="T21" fmla="*/ 44 h 124"/>
              <a:gd name="T22" fmla="*/ 6 w 152"/>
              <a:gd name="T23" fmla="*/ 44 h 124"/>
              <a:gd name="T24" fmla="*/ 31 w 152"/>
              <a:gd name="T25" fmla="*/ 75 h 124"/>
              <a:gd name="T26" fmla="*/ 23 w 152"/>
              <a:gd name="T27" fmla="*/ 76 h 124"/>
              <a:gd name="T28" fmla="*/ 17 w 152"/>
              <a:gd name="T29" fmla="*/ 75 h 124"/>
              <a:gd name="T30" fmla="*/ 46 w 152"/>
              <a:gd name="T31" fmla="*/ 97 h 124"/>
              <a:gd name="T32" fmla="*/ 7 w 152"/>
              <a:gd name="T33" fmla="*/ 110 h 124"/>
              <a:gd name="T34" fmla="*/ 0 w 152"/>
              <a:gd name="T35" fmla="*/ 110 h 124"/>
              <a:gd name="T36" fmla="*/ 48 w 152"/>
              <a:gd name="T37" fmla="*/ 124 h 124"/>
              <a:gd name="T38" fmla="*/ 136 w 152"/>
              <a:gd name="T39" fmla="*/ 35 h 124"/>
              <a:gd name="T40" fmla="*/ 136 w 152"/>
              <a:gd name="T41" fmla="*/ 31 h 124"/>
              <a:gd name="T42" fmla="*/ 152 w 152"/>
              <a:gd name="T43" fmla="*/ 1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2" h="124">
                <a:moveTo>
                  <a:pt x="152" y="15"/>
                </a:moveTo>
                <a:cubicBezTo>
                  <a:pt x="146" y="17"/>
                  <a:pt x="140" y="19"/>
                  <a:pt x="134" y="20"/>
                </a:cubicBezTo>
                <a:cubicBezTo>
                  <a:pt x="140" y="16"/>
                  <a:pt x="145" y="10"/>
                  <a:pt x="147" y="3"/>
                </a:cubicBezTo>
                <a:cubicBezTo>
                  <a:pt x="141" y="6"/>
                  <a:pt x="135" y="9"/>
                  <a:pt x="128" y="10"/>
                </a:cubicBezTo>
                <a:cubicBezTo>
                  <a:pt x="122" y="4"/>
                  <a:pt x="114" y="0"/>
                  <a:pt x="105" y="0"/>
                </a:cubicBezTo>
                <a:cubicBezTo>
                  <a:pt x="88" y="0"/>
                  <a:pt x="74" y="14"/>
                  <a:pt x="74" y="31"/>
                </a:cubicBezTo>
                <a:cubicBezTo>
                  <a:pt x="74" y="34"/>
                  <a:pt x="74" y="36"/>
                  <a:pt x="75" y="39"/>
                </a:cubicBezTo>
                <a:cubicBezTo>
                  <a:pt x="49" y="37"/>
                  <a:pt x="26" y="25"/>
                  <a:pt x="10" y="6"/>
                </a:cubicBezTo>
                <a:cubicBezTo>
                  <a:pt x="8" y="11"/>
                  <a:pt x="6" y="16"/>
                  <a:pt x="6" y="22"/>
                </a:cubicBezTo>
                <a:cubicBezTo>
                  <a:pt x="6" y="32"/>
                  <a:pt x="12" y="42"/>
                  <a:pt x="20" y="48"/>
                </a:cubicBezTo>
                <a:cubicBezTo>
                  <a:pt x="15" y="47"/>
                  <a:pt x="10" y="46"/>
                  <a:pt x="6" y="44"/>
                </a:cubicBezTo>
                <a:cubicBezTo>
                  <a:pt x="6" y="44"/>
                  <a:pt x="6" y="44"/>
                  <a:pt x="6" y="44"/>
                </a:cubicBezTo>
                <a:cubicBezTo>
                  <a:pt x="6" y="59"/>
                  <a:pt x="17" y="72"/>
                  <a:pt x="31" y="75"/>
                </a:cubicBezTo>
                <a:cubicBezTo>
                  <a:pt x="28" y="75"/>
                  <a:pt x="26" y="76"/>
                  <a:pt x="23" y="76"/>
                </a:cubicBezTo>
                <a:cubicBezTo>
                  <a:pt x="21" y="76"/>
                  <a:pt x="19" y="76"/>
                  <a:pt x="17" y="75"/>
                </a:cubicBezTo>
                <a:cubicBezTo>
                  <a:pt x="21" y="88"/>
                  <a:pt x="32" y="97"/>
                  <a:pt x="46" y="97"/>
                </a:cubicBezTo>
                <a:cubicBezTo>
                  <a:pt x="35" y="105"/>
                  <a:pt x="22" y="110"/>
                  <a:pt x="7" y="110"/>
                </a:cubicBezTo>
                <a:cubicBezTo>
                  <a:pt x="5" y="110"/>
                  <a:pt x="2" y="110"/>
                  <a:pt x="0" y="110"/>
                </a:cubicBezTo>
                <a:cubicBezTo>
                  <a:pt x="14" y="118"/>
                  <a:pt x="30" y="124"/>
                  <a:pt x="48" y="124"/>
                </a:cubicBezTo>
                <a:cubicBezTo>
                  <a:pt x="105" y="124"/>
                  <a:pt x="136" y="76"/>
                  <a:pt x="136" y="35"/>
                </a:cubicBezTo>
                <a:cubicBezTo>
                  <a:pt x="136" y="34"/>
                  <a:pt x="136" y="32"/>
                  <a:pt x="136" y="31"/>
                </a:cubicBezTo>
                <a:cubicBezTo>
                  <a:pt x="142" y="27"/>
                  <a:pt x="147" y="21"/>
                  <a:pt x="152" y="15"/>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27" name="Freeform 52"/>
          <p:cNvSpPr>
            <a:spLocks noEditPoints="1"/>
          </p:cNvSpPr>
          <p:nvPr/>
        </p:nvSpPr>
        <p:spPr bwMode="auto">
          <a:xfrm>
            <a:off x="2775422" y="2328196"/>
            <a:ext cx="4697" cy="0"/>
          </a:xfrm>
          <a:custGeom>
            <a:avLst/>
            <a:gdLst>
              <a:gd name="T0" fmla="*/ 1 w 2"/>
              <a:gd name="T1" fmla="*/ 0 w 2"/>
              <a:gd name="T2" fmla="*/ 1 w 2"/>
              <a:gd name="T3" fmla="*/ 1 w 2"/>
              <a:gd name="T4" fmla="*/ 1 w 2"/>
              <a:gd name="T5" fmla="*/ 1 w 2"/>
              <a:gd name="T6" fmla="*/ 1 w 2"/>
              <a:gd name="T7" fmla="*/ 1 w 2"/>
              <a:gd name="T8" fmla="*/ 1 w 2"/>
              <a:gd name="T9" fmla="*/ 2 w 2"/>
              <a:gd name="T10" fmla="*/ 2 w 2"/>
              <a:gd name="T11" fmla="*/ 2 w 2"/>
              <a:gd name="T12" fmla="*/ 2 w 2"/>
              <a:gd name="T13" fmla="*/ 2 w 2"/>
              <a:gd name="T14" fmla="*/ 2 w 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Lst>
            <a:rect l="0" t="0" r="r" b="b"/>
            <a:pathLst>
              <a:path w="2">
                <a:moveTo>
                  <a:pt x="1" y="0"/>
                </a:moveTo>
                <a:cubicBezTo>
                  <a:pt x="0" y="0"/>
                  <a:pt x="0" y="0"/>
                  <a:pt x="0" y="0"/>
                </a:cubicBezTo>
                <a:cubicBezTo>
                  <a:pt x="0" y="0"/>
                  <a:pt x="0"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path>
            </a:pathLst>
          </a:custGeom>
          <a:solidFill>
            <a:srgbClr val="D9D9D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4" name="Freeform 43"/>
          <p:cNvSpPr/>
          <p:nvPr/>
        </p:nvSpPr>
        <p:spPr bwMode="auto">
          <a:xfrm>
            <a:off x="4545376" y="2425703"/>
            <a:ext cx="482585" cy="482585"/>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cubicBezTo>
                  <a:pt x="256" y="216"/>
                  <a:pt x="256" y="216"/>
                  <a:pt x="256" y="216"/>
                </a:cubicBezTo>
              </a:path>
            </a:pathLst>
          </a:custGeom>
          <a:solidFill>
            <a:srgbClr val="DA483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5" name="Freeform 44"/>
          <p:cNvSpPr>
            <a:spLocks noEditPoints="1"/>
          </p:cNvSpPr>
          <p:nvPr/>
        </p:nvSpPr>
        <p:spPr bwMode="auto">
          <a:xfrm>
            <a:off x="4952813" y="2836664"/>
            <a:ext cx="75147" cy="71624"/>
          </a:xfrm>
          <a:custGeom>
            <a:avLst/>
            <a:gdLst>
              <a:gd name="T0" fmla="*/ 0 w 40"/>
              <a:gd name="T1" fmla="*/ 38 h 38"/>
              <a:gd name="T2" fmla="*/ 0 w 40"/>
              <a:gd name="T3" fmla="*/ 38 h 38"/>
              <a:gd name="T4" fmla="*/ 0 w 40"/>
              <a:gd name="T5" fmla="*/ 38 h 38"/>
              <a:gd name="T6" fmla="*/ 0 w 40"/>
              <a:gd name="T7" fmla="*/ 38 h 38"/>
              <a:gd name="T8" fmla="*/ 0 w 40"/>
              <a:gd name="T9" fmla="*/ 38 h 38"/>
              <a:gd name="T10" fmla="*/ 0 w 40"/>
              <a:gd name="T11" fmla="*/ 38 h 38"/>
              <a:gd name="T12" fmla="*/ 0 w 40"/>
              <a:gd name="T13" fmla="*/ 38 h 38"/>
              <a:gd name="T14" fmla="*/ 40 w 40"/>
              <a:gd name="T15" fmla="*/ 0 h 38"/>
              <a:gd name="T16" fmla="*/ 40 w 40"/>
              <a:gd name="T17" fmla="*/ 0 h 38"/>
              <a:gd name="T18" fmla="*/ 40 w 40"/>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38">
                <a:moveTo>
                  <a:pt x="0" y="38"/>
                </a:moveTo>
                <a:cubicBezTo>
                  <a:pt x="0" y="38"/>
                  <a:pt x="0" y="38"/>
                  <a:pt x="0" y="38"/>
                </a:cubicBezTo>
                <a:cubicBezTo>
                  <a:pt x="0" y="38"/>
                  <a:pt x="0" y="38"/>
                  <a:pt x="0" y="38"/>
                </a:cubicBezTo>
                <a:cubicBezTo>
                  <a:pt x="0" y="38"/>
                  <a:pt x="0" y="38"/>
                  <a:pt x="0" y="38"/>
                </a:cubicBezTo>
                <a:moveTo>
                  <a:pt x="0" y="38"/>
                </a:moveTo>
                <a:cubicBezTo>
                  <a:pt x="0" y="38"/>
                  <a:pt x="0" y="38"/>
                  <a:pt x="0" y="38"/>
                </a:cubicBezTo>
                <a:cubicBezTo>
                  <a:pt x="0" y="38"/>
                  <a:pt x="0" y="38"/>
                  <a:pt x="0" y="38"/>
                </a:cubicBezTo>
                <a:moveTo>
                  <a:pt x="40" y="0"/>
                </a:moveTo>
                <a:cubicBezTo>
                  <a:pt x="40" y="0"/>
                  <a:pt x="40" y="0"/>
                  <a:pt x="40" y="0"/>
                </a:cubicBezTo>
                <a:cubicBezTo>
                  <a:pt x="40" y="0"/>
                  <a:pt x="40" y="0"/>
                  <a:pt x="40" y="0"/>
                </a:cubicBezTo>
              </a:path>
            </a:pathLst>
          </a:custGeom>
          <a:solidFill>
            <a:srgbClr val="D9D9D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6" name="Freeform 45"/>
          <p:cNvSpPr/>
          <p:nvPr/>
        </p:nvSpPr>
        <p:spPr bwMode="auto">
          <a:xfrm>
            <a:off x="4675709" y="2541946"/>
            <a:ext cx="352252" cy="366342"/>
          </a:xfrm>
          <a:custGeom>
            <a:avLst/>
            <a:gdLst>
              <a:gd name="T0" fmla="*/ 87 w 187"/>
              <a:gd name="T1" fmla="*/ 0 h 194"/>
              <a:gd name="T2" fmla="*/ 30 w 187"/>
              <a:gd name="T3" fmla="*/ 3 h 194"/>
              <a:gd name="T4" fmla="*/ 10 w 187"/>
              <a:gd name="T5" fmla="*/ 33 h 194"/>
              <a:gd name="T6" fmla="*/ 10 w 187"/>
              <a:gd name="T7" fmla="*/ 55 h 194"/>
              <a:gd name="T8" fmla="*/ 42 w 187"/>
              <a:gd name="T9" fmla="*/ 88 h 194"/>
              <a:gd name="T10" fmla="*/ 9 w 187"/>
              <a:gd name="T11" fmla="*/ 100 h 194"/>
              <a:gd name="T12" fmla="*/ 0 w 187"/>
              <a:gd name="T13" fmla="*/ 136 h 194"/>
              <a:gd name="T14" fmla="*/ 58 w 187"/>
              <a:gd name="T15" fmla="*/ 194 h 194"/>
              <a:gd name="T16" fmla="*/ 147 w 187"/>
              <a:gd name="T17" fmla="*/ 194 h 194"/>
              <a:gd name="T18" fmla="*/ 147 w 187"/>
              <a:gd name="T19" fmla="*/ 194 h 194"/>
              <a:gd name="T20" fmla="*/ 147 w 187"/>
              <a:gd name="T21" fmla="*/ 194 h 194"/>
              <a:gd name="T22" fmla="*/ 147 w 187"/>
              <a:gd name="T23" fmla="*/ 194 h 194"/>
              <a:gd name="T24" fmla="*/ 187 w 187"/>
              <a:gd name="T25" fmla="*/ 156 h 194"/>
              <a:gd name="T26" fmla="*/ 187 w 187"/>
              <a:gd name="T27" fmla="*/ 156 h 194"/>
              <a:gd name="T28" fmla="*/ 187 w 187"/>
              <a:gd name="T29" fmla="*/ 154 h 194"/>
              <a:gd name="T30" fmla="*/ 187 w 187"/>
              <a:gd name="T31" fmla="*/ 65 h 194"/>
              <a:gd name="T32" fmla="*/ 124 w 187"/>
              <a:gd name="T33" fmla="*/ 2 h 194"/>
              <a:gd name="T34" fmla="*/ 114 w 187"/>
              <a:gd name="T35" fmla="*/ 12 h 194"/>
              <a:gd name="T36" fmla="*/ 125 w 187"/>
              <a:gd name="T37" fmla="*/ 23 h 194"/>
              <a:gd name="T38" fmla="*/ 117 w 187"/>
              <a:gd name="T39" fmla="*/ 30 h 194"/>
              <a:gd name="T40" fmla="*/ 87 w 187"/>
              <a:gd name="T41"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7" h="194">
                <a:moveTo>
                  <a:pt x="87" y="0"/>
                </a:moveTo>
                <a:cubicBezTo>
                  <a:pt x="30" y="3"/>
                  <a:pt x="30" y="3"/>
                  <a:pt x="30" y="3"/>
                </a:cubicBezTo>
                <a:cubicBezTo>
                  <a:pt x="10" y="33"/>
                  <a:pt x="10" y="33"/>
                  <a:pt x="10" y="33"/>
                </a:cubicBezTo>
                <a:cubicBezTo>
                  <a:pt x="10" y="55"/>
                  <a:pt x="10" y="55"/>
                  <a:pt x="10" y="55"/>
                </a:cubicBezTo>
                <a:cubicBezTo>
                  <a:pt x="42" y="88"/>
                  <a:pt x="42" y="88"/>
                  <a:pt x="42" y="88"/>
                </a:cubicBezTo>
                <a:cubicBezTo>
                  <a:pt x="9" y="100"/>
                  <a:pt x="9" y="100"/>
                  <a:pt x="9" y="100"/>
                </a:cubicBezTo>
                <a:cubicBezTo>
                  <a:pt x="0" y="136"/>
                  <a:pt x="0" y="136"/>
                  <a:pt x="0" y="136"/>
                </a:cubicBezTo>
                <a:cubicBezTo>
                  <a:pt x="58" y="194"/>
                  <a:pt x="58" y="194"/>
                  <a:pt x="58" y="194"/>
                </a:cubicBezTo>
                <a:cubicBezTo>
                  <a:pt x="147" y="194"/>
                  <a:pt x="147" y="194"/>
                  <a:pt x="147" y="194"/>
                </a:cubicBezTo>
                <a:cubicBezTo>
                  <a:pt x="147" y="194"/>
                  <a:pt x="147" y="194"/>
                  <a:pt x="147" y="194"/>
                </a:cubicBezTo>
                <a:cubicBezTo>
                  <a:pt x="147" y="194"/>
                  <a:pt x="147" y="194"/>
                  <a:pt x="147" y="194"/>
                </a:cubicBezTo>
                <a:cubicBezTo>
                  <a:pt x="147" y="194"/>
                  <a:pt x="147" y="194"/>
                  <a:pt x="147" y="194"/>
                </a:cubicBezTo>
                <a:cubicBezTo>
                  <a:pt x="169" y="194"/>
                  <a:pt x="186" y="177"/>
                  <a:pt x="187" y="156"/>
                </a:cubicBezTo>
                <a:cubicBezTo>
                  <a:pt x="187" y="156"/>
                  <a:pt x="187" y="156"/>
                  <a:pt x="187" y="156"/>
                </a:cubicBezTo>
                <a:cubicBezTo>
                  <a:pt x="187" y="155"/>
                  <a:pt x="187" y="155"/>
                  <a:pt x="187" y="154"/>
                </a:cubicBezTo>
                <a:cubicBezTo>
                  <a:pt x="187" y="65"/>
                  <a:pt x="187" y="65"/>
                  <a:pt x="187" y="65"/>
                </a:cubicBezTo>
                <a:cubicBezTo>
                  <a:pt x="124" y="2"/>
                  <a:pt x="124" y="2"/>
                  <a:pt x="124" y="2"/>
                </a:cubicBezTo>
                <a:cubicBezTo>
                  <a:pt x="114" y="12"/>
                  <a:pt x="114" y="12"/>
                  <a:pt x="114" y="12"/>
                </a:cubicBezTo>
                <a:cubicBezTo>
                  <a:pt x="125" y="23"/>
                  <a:pt x="125" y="23"/>
                  <a:pt x="125" y="23"/>
                </a:cubicBezTo>
                <a:cubicBezTo>
                  <a:pt x="117" y="30"/>
                  <a:pt x="117" y="30"/>
                  <a:pt x="117" y="30"/>
                </a:cubicBezTo>
                <a:cubicBezTo>
                  <a:pt x="87" y="0"/>
                  <a:pt x="87" y="0"/>
                  <a:pt x="87" y="0"/>
                </a:cubicBezTo>
              </a:path>
            </a:pathLst>
          </a:custGeom>
          <a:solidFill>
            <a:srgbClr val="BA3D2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7" name="Freeform 46"/>
          <p:cNvSpPr/>
          <p:nvPr/>
        </p:nvSpPr>
        <p:spPr bwMode="auto">
          <a:xfrm>
            <a:off x="4853009" y="2546643"/>
            <a:ext cx="93934" cy="93934"/>
          </a:xfrm>
          <a:custGeom>
            <a:avLst/>
            <a:gdLst>
              <a:gd name="T0" fmla="*/ 48 w 80"/>
              <a:gd name="T1" fmla="*/ 32 h 80"/>
              <a:gd name="T2" fmla="*/ 48 w 80"/>
              <a:gd name="T3" fmla="*/ 0 h 80"/>
              <a:gd name="T4" fmla="*/ 32 w 80"/>
              <a:gd name="T5" fmla="*/ 0 h 80"/>
              <a:gd name="T6" fmla="*/ 32 w 80"/>
              <a:gd name="T7" fmla="*/ 32 h 80"/>
              <a:gd name="T8" fmla="*/ 0 w 80"/>
              <a:gd name="T9" fmla="*/ 32 h 80"/>
              <a:gd name="T10" fmla="*/ 0 w 80"/>
              <a:gd name="T11" fmla="*/ 48 h 80"/>
              <a:gd name="T12" fmla="*/ 32 w 80"/>
              <a:gd name="T13" fmla="*/ 48 h 80"/>
              <a:gd name="T14" fmla="*/ 32 w 80"/>
              <a:gd name="T15" fmla="*/ 80 h 80"/>
              <a:gd name="T16" fmla="*/ 48 w 80"/>
              <a:gd name="T17" fmla="*/ 80 h 80"/>
              <a:gd name="T18" fmla="*/ 48 w 80"/>
              <a:gd name="T19" fmla="*/ 48 h 80"/>
              <a:gd name="T20" fmla="*/ 80 w 80"/>
              <a:gd name="T21" fmla="*/ 48 h 80"/>
              <a:gd name="T22" fmla="*/ 80 w 80"/>
              <a:gd name="T23" fmla="*/ 32 h 80"/>
              <a:gd name="T24" fmla="*/ 48 w 80"/>
              <a:gd name="T25" fmla="*/ 3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80">
                <a:moveTo>
                  <a:pt x="48" y="32"/>
                </a:moveTo>
                <a:lnTo>
                  <a:pt x="48" y="0"/>
                </a:lnTo>
                <a:lnTo>
                  <a:pt x="32" y="0"/>
                </a:lnTo>
                <a:lnTo>
                  <a:pt x="32" y="32"/>
                </a:lnTo>
                <a:lnTo>
                  <a:pt x="0" y="32"/>
                </a:lnTo>
                <a:lnTo>
                  <a:pt x="0" y="48"/>
                </a:lnTo>
                <a:lnTo>
                  <a:pt x="32" y="48"/>
                </a:lnTo>
                <a:lnTo>
                  <a:pt x="32" y="80"/>
                </a:lnTo>
                <a:lnTo>
                  <a:pt x="48" y="80"/>
                </a:lnTo>
                <a:lnTo>
                  <a:pt x="48" y="48"/>
                </a:lnTo>
                <a:lnTo>
                  <a:pt x="80" y="48"/>
                </a:lnTo>
                <a:lnTo>
                  <a:pt x="80" y="32"/>
                </a:lnTo>
                <a:lnTo>
                  <a:pt x="48" y="32"/>
                </a:ln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8" name="Freeform 47"/>
          <p:cNvSpPr>
            <a:spLocks noEditPoints="1"/>
          </p:cNvSpPr>
          <p:nvPr/>
        </p:nvSpPr>
        <p:spPr bwMode="auto">
          <a:xfrm>
            <a:off x="4662793" y="2541946"/>
            <a:ext cx="177300" cy="279453"/>
          </a:xfrm>
          <a:custGeom>
            <a:avLst/>
            <a:gdLst>
              <a:gd name="T0" fmla="*/ 76 w 94"/>
              <a:gd name="T1" fmla="*/ 84 h 148"/>
              <a:gd name="T2" fmla="*/ 72 w 94"/>
              <a:gd name="T3" fmla="*/ 58 h 148"/>
              <a:gd name="T4" fmla="*/ 85 w 94"/>
              <a:gd name="T5" fmla="*/ 35 h 148"/>
              <a:gd name="T6" fmla="*/ 72 w 94"/>
              <a:gd name="T7" fmla="*/ 10 h 148"/>
              <a:gd name="T8" fmla="*/ 84 w 94"/>
              <a:gd name="T9" fmla="*/ 10 h 148"/>
              <a:gd name="T10" fmla="*/ 94 w 94"/>
              <a:gd name="T11" fmla="*/ 0 h 148"/>
              <a:gd name="T12" fmla="*/ 50 w 94"/>
              <a:gd name="T13" fmla="*/ 0 h 148"/>
              <a:gd name="T14" fmla="*/ 9 w 94"/>
              <a:gd name="T15" fmla="*/ 34 h 148"/>
              <a:gd name="T16" fmla="*/ 47 w 94"/>
              <a:gd name="T17" fmla="*/ 67 h 148"/>
              <a:gd name="T18" fmla="*/ 51 w 94"/>
              <a:gd name="T19" fmla="*/ 87 h 148"/>
              <a:gd name="T20" fmla="*/ 0 w 94"/>
              <a:gd name="T21" fmla="*/ 119 h 148"/>
              <a:gd name="T22" fmla="*/ 46 w 94"/>
              <a:gd name="T23" fmla="*/ 148 h 148"/>
              <a:gd name="T24" fmla="*/ 94 w 94"/>
              <a:gd name="T25" fmla="*/ 115 h 148"/>
              <a:gd name="T26" fmla="*/ 76 w 94"/>
              <a:gd name="T27" fmla="*/ 84 h 148"/>
              <a:gd name="T28" fmla="*/ 26 w 94"/>
              <a:gd name="T29" fmla="*/ 34 h 148"/>
              <a:gd name="T30" fmla="*/ 43 w 94"/>
              <a:gd name="T31" fmla="*/ 7 h 148"/>
              <a:gd name="T32" fmla="*/ 67 w 94"/>
              <a:gd name="T33" fmla="*/ 35 h 148"/>
              <a:gd name="T34" fmla="*/ 51 w 94"/>
              <a:gd name="T35" fmla="*/ 60 h 148"/>
              <a:gd name="T36" fmla="*/ 26 w 94"/>
              <a:gd name="T37" fmla="*/ 34 h 148"/>
              <a:gd name="T38" fmla="*/ 46 w 94"/>
              <a:gd name="T39" fmla="*/ 140 h 148"/>
              <a:gd name="T40" fmla="*/ 16 w 94"/>
              <a:gd name="T41" fmla="*/ 116 h 148"/>
              <a:gd name="T42" fmla="*/ 48 w 94"/>
              <a:gd name="T43" fmla="*/ 92 h 148"/>
              <a:gd name="T44" fmla="*/ 79 w 94"/>
              <a:gd name="T45" fmla="*/ 117 h 148"/>
              <a:gd name="T46" fmla="*/ 46 w 94"/>
              <a:gd name="T4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4" h="148">
                <a:moveTo>
                  <a:pt x="76" y="84"/>
                </a:moveTo>
                <a:cubicBezTo>
                  <a:pt x="62" y="74"/>
                  <a:pt x="58" y="68"/>
                  <a:pt x="72" y="58"/>
                </a:cubicBezTo>
                <a:cubicBezTo>
                  <a:pt x="79" y="52"/>
                  <a:pt x="85" y="44"/>
                  <a:pt x="85" y="35"/>
                </a:cubicBezTo>
                <a:cubicBezTo>
                  <a:pt x="85" y="24"/>
                  <a:pt x="81" y="15"/>
                  <a:pt x="72" y="10"/>
                </a:cubicBezTo>
                <a:cubicBezTo>
                  <a:pt x="84" y="10"/>
                  <a:pt x="84" y="10"/>
                  <a:pt x="84" y="10"/>
                </a:cubicBezTo>
                <a:cubicBezTo>
                  <a:pt x="94" y="0"/>
                  <a:pt x="94" y="0"/>
                  <a:pt x="94" y="0"/>
                </a:cubicBezTo>
                <a:cubicBezTo>
                  <a:pt x="94" y="0"/>
                  <a:pt x="57" y="0"/>
                  <a:pt x="50" y="0"/>
                </a:cubicBezTo>
                <a:cubicBezTo>
                  <a:pt x="23" y="0"/>
                  <a:pt x="9" y="16"/>
                  <a:pt x="9" y="34"/>
                </a:cubicBezTo>
                <a:cubicBezTo>
                  <a:pt x="9" y="52"/>
                  <a:pt x="22" y="67"/>
                  <a:pt x="47" y="67"/>
                </a:cubicBezTo>
                <a:cubicBezTo>
                  <a:pt x="43" y="74"/>
                  <a:pt x="44" y="82"/>
                  <a:pt x="51" y="87"/>
                </a:cubicBezTo>
                <a:cubicBezTo>
                  <a:pt x="9" y="87"/>
                  <a:pt x="0" y="105"/>
                  <a:pt x="0" y="119"/>
                </a:cubicBezTo>
                <a:cubicBezTo>
                  <a:pt x="0" y="137"/>
                  <a:pt x="21" y="148"/>
                  <a:pt x="46" y="148"/>
                </a:cubicBezTo>
                <a:cubicBezTo>
                  <a:pt x="81" y="148"/>
                  <a:pt x="94" y="130"/>
                  <a:pt x="94" y="115"/>
                </a:cubicBezTo>
                <a:cubicBezTo>
                  <a:pt x="94" y="103"/>
                  <a:pt x="90" y="95"/>
                  <a:pt x="76" y="84"/>
                </a:cubicBezTo>
                <a:close/>
                <a:moveTo>
                  <a:pt x="26" y="34"/>
                </a:moveTo>
                <a:cubicBezTo>
                  <a:pt x="24" y="18"/>
                  <a:pt x="32" y="7"/>
                  <a:pt x="43" y="7"/>
                </a:cubicBezTo>
                <a:cubicBezTo>
                  <a:pt x="55" y="7"/>
                  <a:pt x="65" y="20"/>
                  <a:pt x="67" y="35"/>
                </a:cubicBezTo>
                <a:cubicBezTo>
                  <a:pt x="69" y="51"/>
                  <a:pt x="63" y="61"/>
                  <a:pt x="51" y="60"/>
                </a:cubicBezTo>
                <a:cubicBezTo>
                  <a:pt x="39" y="60"/>
                  <a:pt x="28" y="49"/>
                  <a:pt x="26" y="34"/>
                </a:cubicBezTo>
                <a:close/>
                <a:moveTo>
                  <a:pt x="46" y="140"/>
                </a:moveTo>
                <a:cubicBezTo>
                  <a:pt x="29" y="140"/>
                  <a:pt x="16" y="129"/>
                  <a:pt x="16" y="116"/>
                </a:cubicBezTo>
                <a:cubicBezTo>
                  <a:pt x="16" y="103"/>
                  <a:pt x="31" y="92"/>
                  <a:pt x="48" y="92"/>
                </a:cubicBezTo>
                <a:cubicBezTo>
                  <a:pt x="68" y="92"/>
                  <a:pt x="79" y="104"/>
                  <a:pt x="79" y="117"/>
                </a:cubicBezTo>
                <a:cubicBezTo>
                  <a:pt x="79" y="130"/>
                  <a:pt x="69" y="140"/>
                  <a:pt x="46" y="140"/>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49" name="Freeform 48"/>
          <p:cNvSpPr/>
          <p:nvPr/>
        </p:nvSpPr>
        <p:spPr bwMode="auto">
          <a:xfrm>
            <a:off x="3585085" y="2027507"/>
            <a:ext cx="482585" cy="482585"/>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cubicBezTo>
                  <a:pt x="256" y="216"/>
                  <a:pt x="256" y="216"/>
                  <a:pt x="256" y="216"/>
                </a:cubicBezTo>
              </a:path>
            </a:pathLst>
          </a:custGeom>
          <a:solidFill>
            <a:srgbClr val="1AB7E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0" name="Freeform 49"/>
          <p:cNvSpPr/>
          <p:nvPr/>
        </p:nvSpPr>
        <p:spPr bwMode="auto">
          <a:xfrm>
            <a:off x="3691935" y="2182498"/>
            <a:ext cx="375735" cy="327594"/>
          </a:xfrm>
          <a:custGeom>
            <a:avLst/>
            <a:gdLst>
              <a:gd name="T0" fmla="*/ 147 w 199"/>
              <a:gd name="T1" fmla="*/ 0 h 174"/>
              <a:gd name="T2" fmla="*/ 72 w 199"/>
              <a:gd name="T3" fmla="*/ 80 h 174"/>
              <a:gd name="T4" fmla="*/ 36 w 199"/>
              <a:gd name="T5" fmla="*/ 43 h 174"/>
              <a:gd name="T6" fmla="*/ 16 w 199"/>
              <a:gd name="T7" fmla="*/ 64 h 174"/>
              <a:gd name="T8" fmla="*/ 30 w 199"/>
              <a:gd name="T9" fmla="*/ 79 h 174"/>
              <a:gd name="T10" fmla="*/ 25 w 199"/>
              <a:gd name="T11" fmla="*/ 84 h 174"/>
              <a:gd name="T12" fmla="*/ 47 w 199"/>
              <a:gd name="T13" fmla="*/ 107 h 174"/>
              <a:gd name="T14" fmla="*/ 43 w 199"/>
              <a:gd name="T15" fmla="*/ 110 h 174"/>
              <a:gd name="T16" fmla="*/ 0 w 199"/>
              <a:gd name="T17" fmla="*/ 107 h 174"/>
              <a:gd name="T18" fmla="*/ 67 w 199"/>
              <a:gd name="T19" fmla="*/ 174 h 174"/>
              <a:gd name="T20" fmla="*/ 159 w 199"/>
              <a:gd name="T21" fmla="*/ 174 h 174"/>
              <a:gd name="T22" fmla="*/ 199 w 199"/>
              <a:gd name="T23" fmla="*/ 134 h 174"/>
              <a:gd name="T24" fmla="*/ 199 w 199"/>
              <a:gd name="T25" fmla="*/ 51 h 174"/>
              <a:gd name="T26" fmla="*/ 147 w 199"/>
              <a:gd name="T27"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9" h="174">
                <a:moveTo>
                  <a:pt x="147" y="0"/>
                </a:moveTo>
                <a:cubicBezTo>
                  <a:pt x="72" y="80"/>
                  <a:pt x="72" y="80"/>
                  <a:pt x="72" y="80"/>
                </a:cubicBezTo>
                <a:cubicBezTo>
                  <a:pt x="36" y="43"/>
                  <a:pt x="36" y="43"/>
                  <a:pt x="36" y="43"/>
                </a:cubicBezTo>
                <a:cubicBezTo>
                  <a:pt x="16" y="64"/>
                  <a:pt x="16" y="64"/>
                  <a:pt x="16" y="64"/>
                </a:cubicBezTo>
                <a:cubicBezTo>
                  <a:pt x="30" y="79"/>
                  <a:pt x="30" y="79"/>
                  <a:pt x="30" y="79"/>
                </a:cubicBezTo>
                <a:cubicBezTo>
                  <a:pt x="25" y="84"/>
                  <a:pt x="25" y="84"/>
                  <a:pt x="25" y="84"/>
                </a:cubicBezTo>
                <a:cubicBezTo>
                  <a:pt x="47" y="107"/>
                  <a:pt x="47" y="107"/>
                  <a:pt x="47" y="107"/>
                </a:cubicBezTo>
                <a:cubicBezTo>
                  <a:pt x="43" y="110"/>
                  <a:pt x="43" y="110"/>
                  <a:pt x="43" y="110"/>
                </a:cubicBezTo>
                <a:cubicBezTo>
                  <a:pt x="0" y="107"/>
                  <a:pt x="0" y="107"/>
                  <a:pt x="0" y="107"/>
                </a:cubicBezTo>
                <a:cubicBezTo>
                  <a:pt x="67" y="174"/>
                  <a:pt x="67" y="174"/>
                  <a:pt x="67" y="174"/>
                </a:cubicBezTo>
                <a:cubicBezTo>
                  <a:pt x="159" y="174"/>
                  <a:pt x="159" y="174"/>
                  <a:pt x="159" y="174"/>
                </a:cubicBezTo>
                <a:cubicBezTo>
                  <a:pt x="181" y="174"/>
                  <a:pt x="199" y="156"/>
                  <a:pt x="199" y="134"/>
                </a:cubicBezTo>
                <a:cubicBezTo>
                  <a:pt x="199" y="51"/>
                  <a:pt x="199" y="51"/>
                  <a:pt x="199" y="51"/>
                </a:cubicBezTo>
                <a:cubicBezTo>
                  <a:pt x="147" y="0"/>
                  <a:pt x="147" y="0"/>
                  <a:pt x="147" y="0"/>
                </a:cubicBezTo>
              </a:path>
            </a:pathLst>
          </a:custGeom>
          <a:solidFill>
            <a:srgbClr val="17A4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1" name="Freeform 50"/>
          <p:cNvSpPr/>
          <p:nvPr/>
        </p:nvSpPr>
        <p:spPr bwMode="auto">
          <a:xfrm>
            <a:off x="3691935" y="2176627"/>
            <a:ext cx="286498" cy="233660"/>
          </a:xfrm>
          <a:custGeom>
            <a:avLst/>
            <a:gdLst>
              <a:gd name="T0" fmla="*/ 152 w 152"/>
              <a:gd name="T1" fmla="*/ 15 h 124"/>
              <a:gd name="T2" fmla="*/ 134 w 152"/>
              <a:gd name="T3" fmla="*/ 20 h 124"/>
              <a:gd name="T4" fmla="*/ 147 w 152"/>
              <a:gd name="T5" fmla="*/ 3 h 124"/>
              <a:gd name="T6" fmla="*/ 128 w 152"/>
              <a:gd name="T7" fmla="*/ 10 h 124"/>
              <a:gd name="T8" fmla="*/ 105 w 152"/>
              <a:gd name="T9" fmla="*/ 0 h 124"/>
              <a:gd name="T10" fmla="*/ 74 w 152"/>
              <a:gd name="T11" fmla="*/ 31 h 124"/>
              <a:gd name="T12" fmla="*/ 75 w 152"/>
              <a:gd name="T13" fmla="*/ 39 h 124"/>
              <a:gd name="T14" fmla="*/ 10 w 152"/>
              <a:gd name="T15" fmla="*/ 6 h 124"/>
              <a:gd name="T16" fmla="*/ 6 w 152"/>
              <a:gd name="T17" fmla="*/ 22 h 124"/>
              <a:gd name="T18" fmla="*/ 20 w 152"/>
              <a:gd name="T19" fmla="*/ 48 h 124"/>
              <a:gd name="T20" fmla="*/ 6 w 152"/>
              <a:gd name="T21" fmla="*/ 44 h 124"/>
              <a:gd name="T22" fmla="*/ 6 w 152"/>
              <a:gd name="T23" fmla="*/ 44 h 124"/>
              <a:gd name="T24" fmla="*/ 31 w 152"/>
              <a:gd name="T25" fmla="*/ 75 h 124"/>
              <a:gd name="T26" fmla="*/ 23 w 152"/>
              <a:gd name="T27" fmla="*/ 76 h 124"/>
              <a:gd name="T28" fmla="*/ 17 w 152"/>
              <a:gd name="T29" fmla="*/ 75 h 124"/>
              <a:gd name="T30" fmla="*/ 46 w 152"/>
              <a:gd name="T31" fmla="*/ 97 h 124"/>
              <a:gd name="T32" fmla="*/ 7 w 152"/>
              <a:gd name="T33" fmla="*/ 110 h 124"/>
              <a:gd name="T34" fmla="*/ 0 w 152"/>
              <a:gd name="T35" fmla="*/ 110 h 124"/>
              <a:gd name="T36" fmla="*/ 48 w 152"/>
              <a:gd name="T37" fmla="*/ 124 h 124"/>
              <a:gd name="T38" fmla="*/ 136 w 152"/>
              <a:gd name="T39" fmla="*/ 35 h 124"/>
              <a:gd name="T40" fmla="*/ 136 w 152"/>
              <a:gd name="T41" fmla="*/ 31 h 124"/>
              <a:gd name="T42" fmla="*/ 152 w 152"/>
              <a:gd name="T43" fmla="*/ 1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2" h="124">
                <a:moveTo>
                  <a:pt x="152" y="15"/>
                </a:moveTo>
                <a:cubicBezTo>
                  <a:pt x="146" y="17"/>
                  <a:pt x="140" y="19"/>
                  <a:pt x="134" y="20"/>
                </a:cubicBezTo>
                <a:cubicBezTo>
                  <a:pt x="140" y="16"/>
                  <a:pt x="145" y="10"/>
                  <a:pt x="147" y="3"/>
                </a:cubicBezTo>
                <a:cubicBezTo>
                  <a:pt x="141" y="6"/>
                  <a:pt x="135" y="9"/>
                  <a:pt x="128" y="10"/>
                </a:cubicBezTo>
                <a:cubicBezTo>
                  <a:pt x="122" y="4"/>
                  <a:pt x="114" y="0"/>
                  <a:pt x="105" y="0"/>
                </a:cubicBezTo>
                <a:cubicBezTo>
                  <a:pt x="88" y="0"/>
                  <a:pt x="74" y="14"/>
                  <a:pt x="74" y="31"/>
                </a:cubicBezTo>
                <a:cubicBezTo>
                  <a:pt x="74" y="34"/>
                  <a:pt x="74" y="36"/>
                  <a:pt x="75" y="39"/>
                </a:cubicBezTo>
                <a:cubicBezTo>
                  <a:pt x="49" y="37"/>
                  <a:pt x="26" y="25"/>
                  <a:pt x="10" y="6"/>
                </a:cubicBezTo>
                <a:cubicBezTo>
                  <a:pt x="8" y="11"/>
                  <a:pt x="6" y="16"/>
                  <a:pt x="6" y="22"/>
                </a:cubicBezTo>
                <a:cubicBezTo>
                  <a:pt x="6" y="32"/>
                  <a:pt x="12" y="42"/>
                  <a:pt x="20" y="48"/>
                </a:cubicBezTo>
                <a:cubicBezTo>
                  <a:pt x="15" y="47"/>
                  <a:pt x="10" y="46"/>
                  <a:pt x="6" y="44"/>
                </a:cubicBezTo>
                <a:cubicBezTo>
                  <a:pt x="6" y="44"/>
                  <a:pt x="6" y="44"/>
                  <a:pt x="6" y="44"/>
                </a:cubicBezTo>
                <a:cubicBezTo>
                  <a:pt x="6" y="59"/>
                  <a:pt x="17" y="72"/>
                  <a:pt x="31" y="75"/>
                </a:cubicBezTo>
                <a:cubicBezTo>
                  <a:pt x="28" y="75"/>
                  <a:pt x="26" y="76"/>
                  <a:pt x="23" y="76"/>
                </a:cubicBezTo>
                <a:cubicBezTo>
                  <a:pt x="21" y="76"/>
                  <a:pt x="19" y="76"/>
                  <a:pt x="17" y="75"/>
                </a:cubicBezTo>
                <a:cubicBezTo>
                  <a:pt x="21" y="88"/>
                  <a:pt x="32" y="97"/>
                  <a:pt x="46" y="97"/>
                </a:cubicBezTo>
                <a:cubicBezTo>
                  <a:pt x="35" y="105"/>
                  <a:pt x="22" y="110"/>
                  <a:pt x="7" y="110"/>
                </a:cubicBezTo>
                <a:cubicBezTo>
                  <a:pt x="5" y="110"/>
                  <a:pt x="2" y="110"/>
                  <a:pt x="0" y="110"/>
                </a:cubicBezTo>
                <a:cubicBezTo>
                  <a:pt x="14" y="118"/>
                  <a:pt x="30" y="124"/>
                  <a:pt x="48" y="124"/>
                </a:cubicBezTo>
                <a:cubicBezTo>
                  <a:pt x="105" y="124"/>
                  <a:pt x="136" y="76"/>
                  <a:pt x="136" y="35"/>
                </a:cubicBezTo>
                <a:cubicBezTo>
                  <a:pt x="136" y="34"/>
                  <a:pt x="136" y="32"/>
                  <a:pt x="136" y="31"/>
                </a:cubicBezTo>
                <a:cubicBezTo>
                  <a:pt x="142" y="27"/>
                  <a:pt x="147" y="21"/>
                  <a:pt x="152" y="15"/>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2" name="Freeform 51"/>
          <p:cNvSpPr/>
          <p:nvPr/>
        </p:nvSpPr>
        <p:spPr bwMode="auto">
          <a:xfrm>
            <a:off x="2521559" y="1998011"/>
            <a:ext cx="482585" cy="482585"/>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cubicBezTo>
                  <a:pt x="256" y="216"/>
                  <a:pt x="256" y="216"/>
                  <a:pt x="256" y="216"/>
                </a:cubicBezTo>
              </a:path>
            </a:pathLst>
          </a:custGeom>
          <a:solidFill>
            <a:srgbClr val="3B57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3" name="Freeform 52"/>
          <p:cNvSpPr>
            <a:spLocks noEditPoints="1"/>
          </p:cNvSpPr>
          <p:nvPr/>
        </p:nvSpPr>
        <p:spPr bwMode="auto">
          <a:xfrm>
            <a:off x="2927822" y="2480596"/>
            <a:ext cx="4697" cy="0"/>
          </a:xfrm>
          <a:custGeom>
            <a:avLst/>
            <a:gdLst>
              <a:gd name="T0" fmla="*/ 1 w 2"/>
              <a:gd name="T1" fmla="*/ 0 w 2"/>
              <a:gd name="T2" fmla="*/ 1 w 2"/>
              <a:gd name="T3" fmla="*/ 1 w 2"/>
              <a:gd name="T4" fmla="*/ 1 w 2"/>
              <a:gd name="T5" fmla="*/ 1 w 2"/>
              <a:gd name="T6" fmla="*/ 1 w 2"/>
              <a:gd name="T7" fmla="*/ 1 w 2"/>
              <a:gd name="T8" fmla="*/ 1 w 2"/>
              <a:gd name="T9" fmla="*/ 2 w 2"/>
              <a:gd name="T10" fmla="*/ 2 w 2"/>
              <a:gd name="T11" fmla="*/ 2 w 2"/>
              <a:gd name="T12" fmla="*/ 2 w 2"/>
              <a:gd name="T13" fmla="*/ 2 w 2"/>
              <a:gd name="T14" fmla="*/ 2 w 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Lst>
            <a:rect l="0" t="0" r="r" b="b"/>
            <a:pathLst>
              <a:path w="2">
                <a:moveTo>
                  <a:pt x="1" y="0"/>
                </a:moveTo>
                <a:cubicBezTo>
                  <a:pt x="0" y="0"/>
                  <a:pt x="0" y="0"/>
                  <a:pt x="0" y="0"/>
                </a:cubicBezTo>
                <a:cubicBezTo>
                  <a:pt x="0" y="0"/>
                  <a:pt x="0"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path>
            </a:pathLst>
          </a:custGeom>
          <a:solidFill>
            <a:srgbClr val="D9D9D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4" name="Freeform 53"/>
          <p:cNvSpPr/>
          <p:nvPr/>
        </p:nvSpPr>
        <p:spPr bwMode="auto">
          <a:xfrm>
            <a:off x="2694162" y="2107209"/>
            <a:ext cx="309981" cy="373387"/>
          </a:xfrm>
          <a:custGeom>
            <a:avLst/>
            <a:gdLst>
              <a:gd name="T0" fmla="*/ 73 w 164"/>
              <a:gd name="T1" fmla="*/ 0 h 198"/>
              <a:gd name="T2" fmla="*/ 0 w 164"/>
              <a:gd name="T3" fmla="*/ 86 h 198"/>
              <a:gd name="T4" fmla="*/ 41 w 164"/>
              <a:gd name="T5" fmla="*/ 127 h 198"/>
              <a:gd name="T6" fmla="*/ 17 w 164"/>
              <a:gd name="T7" fmla="*/ 151 h 198"/>
              <a:gd name="T8" fmla="*/ 63 w 164"/>
              <a:gd name="T9" fmla="*/ 198 h 198"/>
              <a:gd name="T10" fmla="*/ 124 w 164"/>
              <a:gd name="T11" fmla="*/ 198 h 198"/>
              <a:gd name="T12" fmla="*/ 124 w 164"/>
              <a:gd name="T13" fmla="*/ 198 h 198"/>
              <a:gd name="T14" fmla="*/ 125 w 164"/>
              <a:gd name="T15" fmla="*/ 198 h 198"/>
              <a:gd name="T16" fmla="*/ 125 w 164"/>
              <a:gd name="T17" fmla="*/ 198 h 198"/>
              <a:gd name="T18" fmla="*/ 125 w 164"/>
              <a:gd name="T19" fmla="*/ 198 h 198"/>
              <a:gd name="T20" fmla="*/ 125 w 164"/>
              <a:gd name="T21" fmla="*/ 198 h 198"/>
              <a:gd name="T22" fmla="*/ 125 w 164"/>
              <a:gd name="T23" fmla="*/ 198 h 198"/>
              <a:gd name="T24" fmla="*/ 126 w 164"/>
              <a:gd name="T25" fmla="*/ 198 h 198"/>
              <a:gd name="T26" fmla="*/ 126 w 164"/>
              <a:gd name="T27" fmla="*/ 198 h 198"/>
              <a:gd name="T28" fmla="*/ 126 w 164"/>
              <a:gd name="T29" fmla="*/ 198 h 198"/>
              <a:gd name="T30" fmla="*/ 126 w 164"/>
              <a:gd name="T31" fmla="*/ 198 h 198"/>
              <a:gd name="T32" fmla="*/ 164 w 164"/>
              <a:gd name="T33" fmla="*/ 158 h 198"/>
              <a:gd name="T34" fmla="*/ 164 w 164"/>
              <a:gd name="T35" fmla="*/ 91 h 198"/>
              <a:gd name="T36" fmla="*/ 73 w 164"/>
              <a:gd name="T37"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4" h="198">
                <a:moveTo>
                  <a:pt x="73" y="0"/>
                </a:moveTo>
                <a:cubicBezTo>
                  <a:pt x="0" y="86"/>
                  <a:pt x="0" y="86"/>
                  <a:pt x="0" y="86"/>
                </a:cubicBezTo>
                <a:cubicBezTo>
                  <a:pt x="41" y="127"/>
                  <a:pt x="41" y="127"/>
                  <a:pt x="41" y="127"/>
                </a:cubicBezTo>
                <a:cubicBezTo>
                  <a:pt x="17" y="151"/>
                  <a:pt x="17" y="151"/>
                  <a:pt x="17" y="151"/>
                </a:cubicBezTo>
                <a:cubicBezTo>
                  <a:pt x="63" y="198"/>
                  <a:pt x="63" y="198"/>
                  <a:pt x="63" y="198"/>
                </a:cubicBezTo>
                <a:cubicBezTo>
                  <a:pt x="124" y="198"/>
                  <a:pt x="124" y="198"/>
                  <a:pt x="124" y="198"/>
                </a:cubicBezTo>
                <a:cubicBezTo>
                  <a:pt x="124" y="198"/>
                  <a:pt x="124" y="198"/>
                  <a:pt x="124" y="198"/>
                </a:cubicBezTo>
                <a:cubicBezTo>
                  <a:pt x="124" y="198"/>
                  <a:pt x="124" y="198"/>
                  <a:pt x="125" y="198"/>
                </a:cubicBezTo>
                <a:cubicBezTo>
                  <a:pt x="125" y="198"/>
                  <a:pt x="125" y="198"/>
                  <a:pt x="125" y="198"/>
                </a:cubicBezTo>
                <a:cubicBezTo>
                  <a:pt x="125" y="198"/>
                  <a:pt x="125" y="198"/>
                  <a:pt x="125" y="198"/>
                </a:cubicBezTo>
                <a:cubicBezTo>
                  <a:pt x="125" y="198"/>
                  <a:pt x="125" y="198"/>
                  <a:pt x="125" y="198"/>
                </a:cubicBezTo>
                <a:cubicBezTo>
                  <a:pt x="125" y="198"/>
                  <a:pt x="125" y="198"/>
                  <a:pt x="125" y="198"/>
                </a:cubicBezTo>
                <a:cubicBezTo>
                  <a:pt x="125" y="198"/>
                  <a:pt x="126" y="198"/>
                  <a:pt x="126" y="198"/>
                </a:cubicBezTo>
                <a:cubicBezTo>
                  <a:pt x="126" y="198"/>
                  <a:pt x="126" y="198"/>
                  <a:pt x="126" y="198"/>
                </a:cubicBezTo>
                <a:cubicBezTo>
                  <a:pt x="126" y="198"/>
                  <a:pt x="126" y="198"/>
                  <a:pt x="126" y="198"/>
                </a:cubicBezTo>
                <a:cubicBezTo>
                  <a:pt x="126" y="198"/>
                  <a:pt x="126" y="198"/>
                  <a:pt x="126" y="198"/>
                </a:cubicBezTo>
                <a:cubicBezTo>
                  <a:pt x="147" y="197"/>
                  <a:pt x="164" y="179"/>
                  <a:pt x="164" y="158"/>
                </a:cubicBezTo>
                <a:cubicBezTo>
                  <a:pt x="164" y="91"/>
                  <a:pt x="164" y="91"/>
                  <a:pt x="164" y="91"/>
                </a:cubicBezTo>
                <a:cubicBezTo>
                  <a:pt x="73" y="0"/>
                  <a:pt x="73" y="0"/>
                  <a:pt x="73" y="0"/>
                </a:cubicBezTo>
              </a:path>
            </a:pathLst>
          </a:custGeom>
          <a:solidFill>
            <a:srgbClr val="324A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5" name="Freeform 54"/>
          <p:cNvSpPr/>
          <p:nvPr/>
        </p:nvSpPr>
        <p:spPr bwMode="auto">
          <a:xfrm>
            <a:off x="2692988" y="2107209"/>
            <a:ext cx="139726" cy="285324"/>
          </a:xfrm>
          <a:custGeom>
            <a:avLst/>
            <a:gdLst>
              <a:gd name="T0" fmla="*/ 48 w 74"/>
              <a:gd name="T1" fmla="*/ 59 h 151"/>
              <a:gd name="T2" fmla="*/ 48 w 74"/>
              <a:gd name="T3" fmla="*/ 34 h 151"/>
              <a:gd name="T4" fmla="*/ 48 w 74"/>
              <a:gd name="T5" fmla="*/ 34 h 151"/>
              <a:gd name="T6" fmla="*/ 48 w 74"/>
              <a:gd name="T7" fmla="*/ 33 h 151"/>
              <a:gd name="T8" fmla="*/ 54 w 74"/>
              <a:gd name="T9" fmla="*/ 27 h 151"/>
              <a:gd name="T10" fmla="*/ 74 w 74"/>
              <a:gd name="T11" fmla="*/ 27 h 151"/>
              <a:gd name="T12" fmla="*/ 74 w 74"/>
              <a:gd name="T13" fmla="*/ 17 h 151"/>
              <a:gd name="T14" fmla="*/ 74 w 74"/>
              <a:gd name="T15" fmla="*/ 13 h 151"/>
              <a:gd name="T16" fmla="*/ 74 w 74"/>
              <a:gd name="T17" fmla="*/ 0 h 151"/>
              <a:gd name="T18" fmla="*/ 44 w 74"/>
              <a:gd name="T19" fmla="*/ 0 h 151"/>
              <a:gd name="T20" fmla="*/ 44 w 74"/>
              <a:gd name="T21" fmla="*/ 0 h 151"/>
              <a:gd name="T22" fmla="*/ 18 w 74"/>
              <a:gd name="T23" fmla="*/ 29 h 151"/>
              <a:gd name="T24" fmla="*/ 18 w 74"/>
              <a:gd name="T25" fmla="*/ 59 h 151"/>
              <a:gd name="T26" fmla="*/ 0 w 74"/>
              <a:gd name="T27" fmla="*/ 59 h 151"/>
              <a:gd name="T28" fmla="*/ 0 w 74"/>
              <a:gd name="T29" fmla="*/ 86 h 151"/>
              <a:gd name="T30" fmla="*/ 18 w 74"/>
              <a:gd name="T31" fmla="*/ 86 h 151"/>
              <a:gd name="T32" fmla="*/ 18 w 74"/>
              <a:gd name="T33" fmla="*/ 151 h 151"/>
              <a:gd name="T34" fmla="*/ 48 w 74"/>
              <a:gd name="T35" fmla="*/ 151 h 151"/>
              <a:gd name="T36" fmla="*/ 48 w 74"/>
              <a:gd name="T37" fmla="*/ 83 h 151"/>
              <a:gd name="T38" fmla="*/ 68 w 74"/>
              <a:gd name="T39" fmla="*/ 83 h 151"/>
              <a:gd name="T40" fmla="*/ 71 w 74"/>
              <a:gd name="T41" fmla="*/ 59 h 151"/>
              <a:gd name="T42" fmla="*/ 48 w 74"/>
              <a:gd name="T43" fmla="*/ 5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4" h="151">
                <a:moveTo>
                  <a:pt x="48" y="59"/>
                </a:moveTo>
                <a:cubicBezTo>
                  <a:pt x="48" y="34"/>
                  <a:pt x="48" y="34"/>
                  <a:pt x="48" y="34"/>
                </a:cubicBezTo>
                <a:cubicBezTo>
                  <a:pt x="48" y="34"/>
                  <a:pt x="48" y="34"/>
                  <a:pt x="48" y="34"/>
                </a:cubicBezTo>
                <a:cubicBezTo>
                  <a:pt x="48" y="33"/>
                  <a:pt x="48" y="33"/>
                  <a:pt x="48" y="33"/>
                </a:cubicBezTo>
                <a:cubicBezTo>
                  <a:pt x="48" y="30"/>
                  <a:pt x="51" y="27"/>
                  <a:pt x="54" y="27"/>
                </a:cubicBezTo>
                <a:cubicBezTo>
                  <a:pt x="74" y="27"/>
                  <a:pt x="74" y="27"/>
                  <a:pt x="74" y="27"/>
                </a:cubicBezTo>
                <a:cubicBezTo>
                  <a:pt x="74" y="17"/>
                  <a:pt x="74" y="17"/>
                  <a:pt x="74" y="17"/>
                </a:cubicBezTo>
                <a:cubicBezTo>
                  <a:pt x="74" y="13"/>
                  <a:pt x="74" y="13"/>
                  <a:pt x="74" y="13"/>
                </a:cubicBezTo>
                <a:cubicBezTo>
                  <a:pt x="74" y="0"/>
                  <a:pt x="74" y="0"/>
                  <a:pt x="74" y="0"/>
                </a:cubicBezTo>
                <a:cubicBezTo>
                  <a:pt x="44" y="0"/>
                  <a:pt x="44" y="0"/>
                  <a:pt x="44" y="0"/>
                </a:cubicBezTo>
                <a:cubicBezTo>
                  <a:pt x="44" y="0"/>
                  <a:pt x="44" y="0"/>
                  <a:pt x="44" y="0"/>
                </a:cubicBezTo>
                <a:cubicBezTo>
                  <a:pt x="29" y="1"/>
                  <a:pt x="18" y="13"/>
                  <a:pt x="18" y="29"/>
                </a:cubicBezTo>
                <a:cubicBezTo>
                  <a:pt x="18" y="59"/>
                  <a:pt x="18" y="59"/>
                  <a:pt x="18" y="59"/>
                </a:cubicBezTo>
                <a:cubicBezTo>
                  <a:pt x="0" y="59"/>
                  <a:pt x="0" y="59"/>
                  <a:pt x="0" y="59"/>
                </a:cubicBezTo>
                <a:cubicBezTo>
                  <a:pt x="0" y="86"/>
                  <a:pt x="0" y="86"/>
                  <a:pt x="0" y="86"/>
                </a:cubicBezTo>
                <a:cubicBezTo>
                  <a:pt x="18" y="86"/>
                  <a:pt x="18" y="86"/>
                  <a:pt x="18" y="86"/>
                </a:cubicBezTo>
                <a:cubicBezTo>
                  <a:pt x="18" y="151"/>
                  <a:pt x="18" y="151"/>
                  <a:pt x="18" y="151"/>
                </a:cubicBezTo>
                <a:cubicBezTo>
                  <a:pt x="48" y="151"/>
                  <a:pt x="48" y="151"/>
                  <a:pt x="48" y="151"/>
                </a:cubicBezTo>
                <a:cubicBezTo>
                  <a:pt x="48" y="83"/>
                  <a:pt x="48" y="83"/>
                  <a:pt x="48" y="83"/>
                </a:cubicBezTo>
                <a:cubicBezTo>
                  <a:pt x="68" y="83"/>
                  <a:pt x="68" y="83"/>
                  <a:pt x="68" y="83"/>
                </a:cubicBezTo>
                <a:cubicBezTo>
                  <a:pt x="71" y="59"/>
                  <a:pt x="71" y="59"/>
                  <a:pt x="71" y="59"/>
                </a:cubicBezTo>
                <a:lnTo>
                  <a:pt x="48" y="59"/>
                </a:ln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59" name="Freeform 37"/>
          <p:cNvSpPr/>
          <p:nvPr/>
        </p:nvSpPr>
        <p:spPr bwMode="auto">
          <a:xfrm>
            <a:off x="5974851" y="1648053"/>
            <a:ext cx="56360" cy="110372"/>
          </a:xfrm>
          <a:custGeom>
            <a:avLst/>
            <a:gdLst>
              <a:gd name="T0" fmla="*/ 18 w 48"/>
              <a:gd name="T1" fmla="*/ 94 h 94"/>
              <a:gd name="T2" fmla="*/ 32 w 48"/>
              <a:gd name="T3" fmla="*/ 94 h 94"/>
              <a:gd name="T4" fmla="*/ 32 w 48"/>
              <a:gd name="T5" fmla="*/ 57 h 94"/>
              <a:gd name="T6" fmla="*/ 48 w 48"/>
              <a:gd name="T7" fmla="*/ 0 h 94"/>
              <a:gd name="T8" fmla="*/ 34 w 48"/>
              <a:gd name="T9" fmla="*/ 0 h 94"/>
              <a:gd name="T10" fmla="*/ 24 w 48"/>
              <a:gd name="T11" fmla="*/ 37 h 94"/>
              <a:gd name="T12" fmla="*/ 15 w 48"/>
              <a:gd name="T13" fmla="*/ 0 h 94"/>
              <a:gd name="T14" fmla="*/ 0 w 48"/>
              <a:gd name="T15" fmla="*/ 0 h 94"/>
              <a:gd name="T16" fmla="*/ 18 w 48"/>
              <a:gd name="T17" fmla="*/ 57 h 94"/>
              <a:gd name="T18" fmla="*/ 18 w 48"/>
              <a:gd name="T19"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94">
                <a:moveTo>
                  <a:pt x="18" y="94"/>
                </a:moveTo>
                <a:lnTo>
                  <a:pt x="32" y="94"/>
                </a:lnTo>
                <a:lnTo>
                  <a:pt x="32" y="57"/>
                </a:lnTo>
                <a:lnTo>
                  <a:pt x="48" y="0"/>
                </a:lnTo>
                <a:lnTo>
                  <a:pt x="34" y="0"/>
                </a:lnTo>
                <a:lnTo>
                  <a:pt x="24" y="37"/>
                </a:lnTo>
                <a:lnTo>
                  <a:pt x="15" y="0"/>
                </a:lnTo>
                <a:lnTo>
                  <a:pt x="0" y="0"/>
                </a:lnTo>
                <a:lnTo>
                  <a:pt x="18" y="57"/>
                </a:lnTo>
                <a:lnTo>
                  <a:pt x="18" y="94"/>
                </a:ln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60" name="Freeform 38"/>
          <p:cNvSpPr/>
          <p:nvPr/>
        </p:nvSpPr>
        <p:spPr bwMode="auto">
          <a:xfrm>
            <a:off x="6086397" y="1676233"/>
            <a:ext cx="43444" cy="83366"/>
          </a:xfrm>
          <a:custGeom>
            <a:avLst/>
            <a:gdLst>
              <a:gd name="T0" fmla="*/ 6 w 23"/>
              <a:gd name="T1" fmla="*/ 44 h 44"/>
              <a:gd name="T2" fmla="*/ 15 w 23"/>
              <a:gd name="T3" fmla="*/ 38 h 44"/>
              <a:gd name="T4" fmla="*/ 15 w 23"/>
              <a:gd name="T5" fmla="*/ 43 h 44"/>
              <a:gd name="T6" fmla="*/ 23 w 23"/>
              <a:gd name="T7" fmla="*/ 43 h 44"/>
              <a:gd name="T8" fmla="*/ 23 w 23"/>
              <a:gd name="T9" fmla="*/ 0 h 44"/>
              <a:gd name="T10" fmla="*/ 15 w 23"/>
              <a:gd name="T11" fmla="*/ 0 h 44"/>
              <a:gd name="T12" fmla="*/ 15 w 23"/>
              <a:gd name="T13" fmla="*/ 33 h 44"/>
              <a:gd name="T14" fmla="*/ 10 w 23"/>
              <a:gd name="T15" fmla="*/ 36 h 44"/>
              <a:gd name="T16" fmla="*/ 8 w 23"/>
              <a:gd name="T17" fmla="*/ 33 h 44"/>
              <a:gd name="T18" fmla="*/ 8 w 23"/>
              <a:gd name="T19" fmla="*/ 0 h 44"/>
              <a:gd name="T20" fmla="*/ 0 w 23"/>
              <a:gd name="T21" fmla="*/ 0 h 44"/>
              <a:gd name="T22" fmla="*/ 0 w 23"/>
              <a:gd name="T23" fmla="*/ 36 h 44"/>
              <a:gd name="T24" fmla="*/ 6 w 23"/>
              <a:gd name="T25"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44">
                <a:moveTo>
                  <a:pt x="6" y="44"/>
                </a:moveTo>
                <a:cubicBezTo>
                  <a:pt x="8" y="44"/>
                  <a:pt x="11" y="42"/>
                  <a:pt x="15" y="38"/>
                </a:cubicBezTo>
                <a:cubicBezTo>
                  <a:pt x="15" y="43"/>
                  <a:pt x="15" y="43"/>
                  <a:pt x="15" y="43"/>
                </a:cubicBezTo>
                <a:cubicBezTo>
                  <a:pt x="23" y="43"/>
                  <a:pt x="23" y="43"/>
                  <a:pt x="23" y="43"/>
                </a:cubicBezTo>
                <a:cubicBezTo>
                  <a:pt x="23" y="0"/>
                  <a:pt x="23" y="0"/>
                  <a:pt x="23" y="0"/>
                </a:cubicBezTo>
                <a:cubicBezTo>
                  <a:pt x="15" y="0"/>
                  <a:pt x="15" y="0"/>
                  <a:pt x="15" y="0"/>
                </a:cubicBezTo>
                <a:cubicBezTo>
                  <a:pt x="15" y="33"/>
                  <a:pt x="15" y="33"/>
                  <a:pt x="15" y="33"/>
                </a:cubicBezTo>
                <a:cubicBezTo>
                  <a:pt x="14" y="34"/>
                  <a:pt x="12" y="36"/>
                  <a:pt x="10" y="36"/>
                </a:cubicBezTo>
                <a:cubicBezTo>
                  <a:pt x="8" y="36"/>
                  <a:pt x="8" y="35"/>
                  <a:pt x="8" y="33"/>
                </a:cubicBezTo>
                <a:cubicBezTo>
                  <a:pt x="8" y="0"/>
                  <a:pt x="8" y="0"/>
                  <a:pt x="8" y="0"/>
                </a:cubicBezTo>
                <a:cubicBezTo>
                  <a:pt x="0" y="0"/>
                  <a:pt x="0" y="0"/>
                  <a:pt x="0" y="0"/>
                </a:cubicBezTo>
                <a:cubicBezTo>
                  <a:pt x="0" y="36"/>
                  <a:pt x="0" y="36"/>
                  <a:pt x="0" y="36"/>
                </a:cubicBezTo>
                <a:cubicBezTo>
                  <a:pt x="0" y="40"/>
                  <a:pt x="1" y="44"/>
                  <a:pt x="6" y="44"/>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61" name="Freeform 39"/>
          <p:cNvSpPr>
            <a:spLocks noEditPoints="1"/>
          </p:cNvSpPr>
          <p:nvPr/>
        </p:nvSpPr>
        <p:spPr bwMode="auto">
          <a:xfrm>
            <a:off x="6031211" y="1676233"/>
            <a:ext cx="43444" cy="83366"/>
          </a:xfrm>
          <a:custGeom>
            <a:avLst/>
            <a:gdLst>
              <a:gd name="T0" fmla="*/ 0 w 23"/>
              <a:gd name="T1" fmla="*/ 32 h 44"/>
              <a:gd name="T2" fmla="*/ 11 w 23"/>
              <a:gd name="T3" fmla="*/ 44 h 44"/>
              <a:gd name="T4" fmla="*/ 23 w 23"/>
              <a:gd name="T5" fmla="*/ 32 h 44"/>
              <a:gd name="T6" fmla="*/ 23 w 23"/>
              <a:gd name="T7" fmla="*/ 12 h 44"/>
              <a:gd name="T8" fmla="*/ 11 w 23"/>
              <a:gd name="T9" fmla="*/ 0 h 44"/>
              <a:gd name="T10" fmla="*/ 0 w 23"/>
              <a:gd name="T11" fmla="*/ 12 h 44"/>
              <a:gd name="T12" fmla="*/ 0 w 23"/>
              <a:gd name="T13" fmla="*/ 32 h 44"/>
              <a:gd name="T14" fmla="*/ 8 w 23"/>
              <a:gd name="T15" fmla="*/ 12 h 44"/>
              <a:gd name="T16" fmla="*/ 11 w 23"/>
              <a:gd name="T17" fmla="*/ 8 h 44"/>
              <a:gd name="T18" fmla="*/ 14 w 23"/>
              <a:gd name="T19" fmla="*/ 12 h 44"/>
              <a:gd name="T20" fmla="*/ 14 w 23"/>
              <a:gd name="T21" fmla="*/ 32 h 44"/>
              <a:gd name="T22" fmla="*/ 11 w 23"/>
              <a:gd name="T23" fmla="*/ 36 h 44"/>
              <a:gd name="T24" fmla="*/ 8 w 23"/>
              <a:gd name="T25" fmla="*/ 32 h 44"/>
              <a:gd name="T26" fmla="*/ 8 w 23"/>
              <a:gd name="T27" fmla="*/ 1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44">
                <a:moveTo>
                  <a:pt x="0" y="32"/>
                </a:moveTo>
                <a:cubicBezTo>
                  <a:pt x="0" y="40"/>
                  <a:pt x="4" y="44"/>
                  <a:pt x="11" y="44"/>
                </a:cubicBezTo>
                <a:cubicBezTo>
                  <a:pt x="18" y="44"/>
                  <a:pt x="23" y="40"/>
                  <a:pt x="23" y="32"/>
                </a:cubicBezTo>
                <a:cubicBezTo>
                  <a:pt x="23" y="12"/>
                  <a:pt x="23" y="12"/>
                  <a:pt x="23" y="12"/>
                </a:cubicBezTo>
                <a:cubicBezTo>
                  <a:pt x="23" y="5"/>
                  <a:pt x="18" y="0"/>
                  <a:pt x="11" y="0"/>
                </a:cubicBezTo>
                <a:cubicBezTo>
                  <a:pt x="4" y="0"/>
                  <a:pt x="0" y="5"/>
                  <a:pt x="0" y="12"/>
                </a:cubicBezTo>
                <a:lnTo>
                  <a:pt x="0" y="32"/>
                </a:lnTo>
                <a:close/>
                <a:moveTo>
                  <a:pt x="8" y="12"/>
                </a:moveTo>
                <a:cubicBezTo>
                  <a:pt x="8" y="10"/>
                  <a:pt x="9" y="8"/>
                  <a:pt x="11" y="8"/>
                </a:cubicBezTo>
                <a:cubicBezTo>
                  <a:pt x="13" y="8"/>
                  <a:pt x="14" y="10"/>
                  <a:pt x="14" y="12"/>
                </a:cubicBezTo>
                <a:cubicBezTo>
                  <a:pt x="14" y="32"/>
                  <a:pt x="14" y="32"/>
                  <a:pt x="14" y="32"/>
                </a:cubicBezTo>
                <a:cubicBezTo>
                  <a:pt x="14" y="34"/>
                  <a:pt x="13" y="36"/>
                  <a:pt x="11" y="36"/>
                </a:cubicBezTo>
                <a:cubicBezTo>
                  <a:pt x="9" y="36"/>
                  <a:pt x="8" y="34"/>
                  <a:pt x="8" y="32"/>
                </a:cubicBezTo>
                <a:lnTo>
                  <a:pt x="8" y="12"/>
                </a:ln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68" name="Oval 420"/>
          <p:cNvSpPr>
            <a:spLocks noChangeArrowheads="1"/>
          </p:cNvSpPr>
          <p:nvPr/>
        </p:nvSpPr>
        <p:spPr bwMode="auto">
          <a:xfrm>
            <a:off x="730771" y="2692417"/>
            <a:ext cx="482247" cy="483420"/>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9" name="Freeform 421"/>
          <p:cNvSpPr/>
          <p:nvPr/>
        </p:nvSpPr>
        <p:spPr bwMode="auto">
          <a:xfrm>
            <a:off x="858666" y="2862553"/>
            <a:ext cx="350832" cy="313285"/>
          </a:xfrm>
          <a:custGeom>
            <a:avLst/>
            <a:gdLst>
              <a:gd name="T0" fmla="*/ 57 w 186"/>
              <a:gd name="T1" fmla="*/ 166 h 166"/>
              <a:gd name="T2" fmla="*/ 60 w 186"/>
              <a:gd name="T3" fmla="*/ 166 h 166"/>
              <a:gd name="T4" fmla="*/ 186 w 186"/>
              <a:gd name="T5" fmla="*/ 61 h 166"/>
              <a:gd name="T6" fmla="*/ 125 w 186"/>
              <a:gd name="T7" fmla="*/ 0 h 166"/>
              <a:gd name="T8" fmla="*/ 0 w 186"/>
              <a:gd name="T9" fmla="*/ 108 h 166"/>
              <a:gd name="T10" fmla="*/ 57 w 186"/>
              <a:gd name="T11" fmla="*/ 166 h 166"/>
            </a:gdLst>
            <a:ahLst/>
            <a:cxnLst>
              <a:cxn ang="0">
                <a:pos x="T0" y="T1"/>
              </a:cxn>
              <a:cxn ang="0">
                <a:pos x="T2" y="T3"/>
              </a:cxn>
              <a:cxn ang="0">
                <a:pos x="T4" y="T5"/>
              </a:cxn>
              <a:cxn ang="0">
                <a:pos x="T6" y="T7"/>
              </a:cxn>
              <a:cxn ang="0">
                <a:pos x="T8" y="T9"/>
              </a:cxn>
              <a:cxn ang="0">
                <a:pos x="T10" y="T11"/>
              </a:cxn>
            </a:cxnLst>
            <a:rect l="0" t="0" r="r" b="b"/>
            <a:pathLst>
              <a:path w="186" h="166">
                <a:moveTo>
                  <a:pt x="57" y="166"/>
                </a:moveTo>
                <a:cubicBezTo>
                  <a:pt x="58" y="166"/>
                  <a:pt x="59" y="166"/>
                  <a:pt x="60" y="166"/>
                </a:cubicBezTo>
                <a:cubicBezTo>
                  <a:pt x="123" y="166"/>
                  <a:pt x="175" y="121"/>
                  <a:pt x="186" y="61"/>
                </a:cubicBezTo>
                <a:cubicBezTo>
                  <a:pt x="125" y="0"/>
                  <a:pt x="125" y="0"/>
                  <a:pt x="125" y="0"/>
                </a:cubicBezTo>
                <a:cubicBezTo>
                  <a:pt x="0" y="108"/>
                  <a:pt x="0" y="108"/>
                  <a:pt x="0" y="108"/>
                </a:cubicBezTo>
                <a:lnTo>
                  <a:pt x="57" y="166"/>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0" name="Freeform 422"/>
          <p:cNvSpPr/>
          <p:nvPr/>
        </p:nvSpPr>
        <p:spPr bwMode="auto">
          <a:xfrm>
            <a:off x="837546" y="2819139"/>
            <a:ext cx="287471" cy="247577"/>
          </a:xfrm>
          <a:custGeom>
            <a:avLst/>
            <a:gdLst>
              <a:gd name="T0" fmla="*/ 76 w 152"/>
              <a:gd name="T1" fmla="*/ 0 h 131"/>
              <a:gd name="T2" fmla="*/ 0 w 152"/>
              <a:gd name="T3" fmla="*/ 58 h 131"/>
              <a:gd name="T4" fmla="*/ 16 w 152"/>
              <a:gd name="T5" fmla="*/ 95 h 131"/>
              <a:gd name="T6" fmla="*/ 11 w 152"/>
              <a:gd name="T7" fmla="*/ 131 h 131"/>
              <a:gd name="T8" fmla="*/ 55 w 152"/>
              <a:gd name="T9" fmla="*/ 114 h 131"/>
              <a:gd name="T10" fmla="*/ 76 w 152"/>
              <a:gd name="T11" fmla="*/ 116 h 131"/>
              <a:gd name="T12" fmla="*/ 152 w 152"/>
              <a:gd name="T13" fmla="*/ 58 h 131"/>
              <a:gd name="T14" fmla="*/ 76 w 152"/>
              <a:gd name="T15" fmla="*/ 0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 h="131">
                <a:moveTo>
                  <a:pt x="76" y="0"/>
                </a:moveTo>
                <a:cubicBezTo>
                  <a:pt x="34" y="0"/>
                  <a:pt x="0" y="26"/>
                  <a:pt x="0" y="58"/>
                </a:cubicBezTo>
                <a:cubicBezTo>
                  <a:pt x="0" y="72"/>
                  <a:pt x="6" y="85"/>
                  <a:pt x="16" y="95"/>
                </a:cubicBezTo>
                <a:cubicBezTo>
                  <a:pt x="11" y="131"/>
                  <a:pt x="11" y="131"/>
                  <a:pt x="11" y="131"/>
                </a:cubicBezTo>
                <a:cubicBezTo>
                  <a:pt x="55" y="114"/>
                  <a:pt x="55" y="114"/>
                  <a:pt x="55" y="114"/>
                </a:cubicBezTo>
                <a:cubicBezTo>
                  <a:pt x="62" y="116"/>
                  <a:pt x="69" y="116"/>
                  <a:pt x="76" y="116"/>
                </a:cubicBezTo>
                <a:cubicBezTo>
                  <a:pt x="118" y="116"/>
                  <a:pt x="152" y="90"/>
                  <a:pt x="152" y="58"/>
                </a:cubicBezTo>
                <a:cubicBezTo>
                  <a:pt x="152" y="26"/>
                  <a:pt x="118" y="0"/>
                  <a:pt x="76" y="0"/>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1" name="Oval 361"/>
          <p:cNvSpPr>
            <a:spLocks noChangeArrowheads="1"/>
          </p:cNvSpPr>
          <p:nvPr/>
        </p:nvSpPr>
        <p:spPr bwMode="auto">
          <a:xfrm>
            <a:off x="1497689" y="2179684"/>
            <a:ext cx="482247" cy="483420"/>
          </a:xfrm>
          <a:prstGeom prst="ellipse">
            <a:avLst/>
          </a:prstGeom>
          <a:solidFill>
            <a:srgbClr val="A491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2" name="Freeform 362"/>
          <p:cNvSpPr/>
          <p:nvPr/>
        </p:nvSpPr>
        <p:spPr bwMode="auto">
          <a:xfrm>
            <a:off x="1613851" y="2350993"/>
            <a:ext cx="353179" cy="309765"/>
          </a:xfrm>
          <a:custGeom>
            <a:avLst/>
            <a:gdLst>
              <a:gd name="T0" fmla="*/ 80 w 187"/>
              <a:gd name="T1" fmla="*/ 164 h 164"/>
              <a:gd name="T2" fmla="*/ 187 w 187"/>
              <a:gd name="T3" fmla="*/ 78 h 164"/>
              <a:gd name="T4" fmla="*/ 109 w 187"/>
              <a:gd name="T5" fmla="*/ 0 h 164"/>
              <a:gd name="T6" fmla="*/ 0 w 187"/>
              <a:gd name="T7" fmla="*/ 85 h 164"/>
              <a:gd name="T8" fmla="*/ 80 w 187"/>
              <a:gd name="T9" fmla="*/ 164 h 164"/>
            </a:gdLst>
            <a:ahLst/>
            <a:cxnLst>
              <a:cxn ang="0">
                <a:pos x="T0" y="T1"/>
              </a:cxn>
              <a:cxn ang="0">
                <a:pos x="T2" y="T3"/>
              </a:cxn>
              <a:cxn ang="0">
                <a:pos x="T4" y="T5"/>
              </a:cxn>
              <a:cxn ang="0">
                <a:pos x="T6" y="T7"/>
              </a:cxn>
              <a:cxn ang="0">
                <a:pos x="T8" y="T9"/>
              </a:cxn>
            </a:cxnLst>
            <a:rect l="0" t="0" r="r" b="b"/>
            <a:pathLst>
              <a:path w="187" h="164">
                <a:moveTo>
                  <a:pt x="80" y="164"/>
                </a:moveTo>
                <a:cubicBezTo>
                  <a:pt x="130" y="159"/>
                  <a:pt x="172" y="124"/>
                  <a:pt x="187" y="78"/>
                </a:cubicBezTo>
                <a:cubicBezTo>
                  <a:pt x="109" y="0"/>
                  <a:pt x="109" y="0"/>
                  <a:pt x="109" y="0"/>
                </a:cubicBezTo>
                <a:cubicBezTo>
                  <a:pt x="0" y="85"/>
                  <a:pt x="0" y="85"/>
                  <a:pt x="0" y="85"/>
                </a:cubicBezTo>
                <a:lnTo>
                  <a:pt x="80" y="164"/>
                </a:lnTo>
                <a:close/>
              </a:path>
            </a:pathLst>
          </a:custGeom>
          <a:solidFill>
            <a:srgbClr val="8D79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3" name="Freeform 363"/>
          <p:cNvSpPr/>
          <p:nvPr/>
        </p:nvSpPr>
        <p:spPr bwMode="auto">
          <a:xfrm>
            <a:off x="1595077" y="2327526"/>
            <a:ext cx="287471" cy="207683"/>
          </a:xfrm>
          <a:custGeom>
            <a:avLst/>
            <a:gdLst>
              <a:gd name="T0" fmla="*/ 110 w 152"/>
              <a:gd name="T1" fmla="*/ 110 h 110"/>
              <a:gd name="T2" fmla="*/ 37 w 152"/>
              <a:gd name="T3" fmla="*/ 110 h 110"/>
              <a:gd name="T4" fmla="*/ 11 w 152"/>
              <a:gd name="T5" fmla="*/ 99 h 110"/>
              <a:gd name="T6" fmla="*/ 0 w 152"/>
              <a:gd name="T7" fmla="*/ 72 h 110"/>
              <a:gd name="T8" fmla="*/ 16 w 152"/>
              <a:gd name="T9" fmla="*/ 41 h 110"/>
              <a:gd name="T10" fmla="*/ 16 w 152"/>
              <a:gd name="T11" fmla="*/ 40 h 110"/>
              <a:gd name="T12" fmla="*/ 44 w 152"/>
              <a:gd name="T13" fmla="*/ 12 h 110"/>
              <a:gd name="T14" fmla="*/ 55 w 152"/>
              <a:gd name="T15" fmla="*/ 14 h 110"/>
              <a:gd name="T16" fmla="*/ 87 w 152"/>
              <a:gd name="T17" fmla="*/ 0 h 110"/>
              <a:gd name="T18" fmla="*/ 115 w 152"/>
              <a:gd name="T19" fmla="*/ 9 h 110"/>
              <a:gd name="T20" fmla="*/ 130 w 152"/>
              <a:gd name="T21" fmla="*/ 29 h 110"/>
              <a:gd name="T22" fmla="*/ 152 w 152"/>
              <a:gd name="T23" fmla="*/ 67 h 110"/>
              <a:gd name="T24" fmla="*/ 140 w 152"/>
              <a:gd name="T25" fmla="*/ 97 h 110"/>
              <a:gd name="T26" fmla="*/ 110 w 152"/>
              <a:gd name="T27"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10">
                <a:moveTo>
                  <a:pt x="110" y="110"/>
                </a:moveTo>
                <a:cubicBezTo>
                  <a:pt x="37" y="110"/>
                  <a:pt x="37" y="110"/>
                  <a:pt x="37" y="110"/>
                </a:cubicBezTo>
                <a:cubicBezTo>
                  <a:pt x="27" y="110"/>
                  <a:pt x="18" y="106"/>
                  <a:pt x="11" y="99"/>
                </a:cubicBezTo>
                <a:cubicBezTo>
                  <a:pt x="4" y="92"/>
                  <a:pt x="0" y="82"/>
                  <a:pt x="0" y="72"/>
                </a:cubicBezTo>
                <a:cubicBezTo>
                  <a:pt x="0" y="60"/>
                  <a:pt x="6" y="48"/>
                  <a:pt x="16" y="41"/>
                </a:cubicBezTo>
                <a:cubicBezTo>
                  <a:pt x="16" y="41"/>
                  <a:pt x="16" y="40"/>
                  <a:pt x="16" y="40"/>
                </a:cubicBezTo>
                <a:cubicBezTo>
                  <a:pt x="16" y="24"/>
                  <a:pt x="29" y="12"/>
                  <a:pt x="44" y="12"/>
                </a:cubicBezTo>
                <a:cubicBezTo>
                  <a:pt x="48" y="12"/>
                  <a:pt x="52" y="12"/>
                  <a:pt x="55" y="14"/>
                </a:cubicBezTo>
                <a:cubicBezTo>
                  <a:pt x="63" y="5"/>
                  <a:pt x="75" y="0"/>
                  <a:pt x="87" y="0"/>
                </a:cubicBezTo>
                <a:cubicBezTo>
                  <a:pt x="97" y="0"/>
                  <a:pt x="107" y="3"/>
                  <a:pt x="115" y="9"/>
                </a:cubicBezTo>
                <a:cubicBezTo>
                  <a:pt x="122" y="14"/>
                  <a:pt x="127" y="21"/>
                  <a:pt x="130" y="29"/>
                </a:cubicBezTo>
                <a:cubicBezTo>
                  <a:pt x="143" y="37"/>
                  <a:pt x="152" y="51"/>
                  <a:pt x="152" y="67"/>
                </a:cubicBezTo>
                <a:cubicBezTo>
                  <a:pt x="152" y="78"/>
                  <a:pt x="147" y="89"/>
                  <a:pt x="140" y="97"/>
                </a:cubicBezTo>
                <a:cubicBezTo>
                  <a:pt x="132" y="105"/>
                  <a:pt x="121" y="110"/>
                  <a:pt x="110" y="110"/>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6" name="Freeform 11"/>
          <p:cNvSpPr/>
          <p:nvPr/>
        </p:nvSpPr>
        <p:spPr bwMode="auto">
          <a:xfrm>
            <a:off x="1751141" y="3801982"/>
            <a:ext cx="2725134" cy="1703546"/>
          </a:xfrm>
          <a:custGeom>
            <a:avLst/>
            <a:gdLst>
              <a:gd name="T0" fmla="*/ 637 w 1862"/>
              <a:gd name="T1" fmla="*/ 318 h 1164"/>
              <a:gd name="T2" fmla="*/ 635 w 1862"/>
              <a:gd name="T3" fmla="*/ 326 h 1164"/>
              <a:gd name="T4" fmla="*/ 630 w 1862"/>
              <a:gd name="T5" fmla="*/ 335 h 1164"/>
              <a:gd name="T6" fmla="*/ 622 w 1862"/>
              <a:gd name="T7" fmla="*/ 342 h 1164"/>
              <a:gd name="T8" fmla="*/ 612 w 1862"/>
              <a:gd name="T9" fmla="*/ 349 h 1164"/>
              <a:gd name="T10" fmla="*/ 582 w 1862"/>
              <a:gd name="T11" fmla="*/ 363 h 1164"/>
              <a:gd name="T12" fmla="*/ 543 w 1862"/>
              <a:gd name="T13" fmla="*/ 374 h 1164"/>
              <a:gd name="T14" fmla="*/ 497 w 1862"/>
              <a:gd name="T15" fmla="*/ 385 h 1164"/>
              <a:gd name="T16" fmla="*/ 443 w 1862"/>
              <a:gd name="T17" fmla="*/ 391 h 1164"/>
              <a:gd name="T18" fmla="*/ 382 w 1862"/>
              <a:gd name="T19" fmla="*/ 396 h 1164"/>
              <a:gd name="T20" fmla="*/ 318 w 1862"/>
              <a:gd name="T21" fmla="*/ 398 h 1164"/>
              <a:gd name="T22" fmla="*/ 286 w 1862"/>
              <a:gd name="T23" fmla="*/ 398 h 1164"/>
              <a:gd name="T24" fmla="*/ 223 w 1862"/>
              <a:gd name="T25" fmla="*/ 394 h 1164"/>
              <a:gd name="T26" fmla="*/ 167 w 1862"/>
              <a:gd name="T27" fmla="*/ 388 h 1164"/>
              <a:gd name="T28" fmla="*/ 116 w 1862"/>
              <a:gd name="T29" fmla="*/ 380 h 1164"/>
              <a:gd name="T30" fmla="*/ 73 w 1862"/>
              <a:gd name="T31" fmla="*/ 369 h 1164"/>
              <a:gd name="T32" fmla="*/ 39 w 1862"/>
              <a:gd name="T33" fmla="*/ 357 h 1164"/>
              <a:gd name="T34" fmla="*/ 19 w 1862"/>
              <a:gd name="T35" fmla="*/ 346 h 1164"/>
              <a:gd name="T36" fmla="*/ 11 w 1862"/>
              <a:gd name="T37" fmla="*/ 338 h 1164"/>
              <a:gd name="T38" fmla="*/ 4 w 1862"/>
              <a:gd name="T39" fmla="*/ 331 h 1164"/>
              <a:gd name="T40" fmla="*/ 1 w 1862"/>
              <a:gd name="T41" fmla="*/ 322 h 1164"/>
              <a:gd name="T42" fmla="*/ 0 w 1862"/>
              <a:gd name="T43" fmla="*/ 318 h 1164"/>
              <a:gd name="T44" fmla="*/ 1 w 1862"/>
              <a:gd name="T45" fmla="*/ 286 h 1164"/>
              <a:gd name="T46" fmla="*/ 6 w 1862"/>
              <a:gd name="T47" fmla="*/ 254 h 1164"/>
              <a:gd name="T48" fmla="*/ 15 w 1862"/>
              <a:gd name="T49" fmla="*/ 224 h 1164"/>
              <a:gd name="T50" fmla="*/ 25 w 1862"/>
              <a:gd name="T51" fmla="*/ 194 h 1164"/>
              <a:gd name="T52" fmla="*/ 39 w 1862"/>
              <a:gd name="T53" fmla="*/ 166 h 1164"/>
              <a:gd name="T54" fmla="*/ 54 w 1862"/>
              <a:gd name="T55" fmla="*/ 140 h 1164"/>
              <a:gd name="T56" fmla="*/ 73 w 1862"/>
              <a:gd name="T57" fmla="*/ 116 h 1164"/>
              <a:gd name="T58" fmla="*/ 93 w 1862"/>
              <a:gd name="T59" fmla="*/ 93 h 1164"/>
              <a:gd name="T60" fmla="*/ 116 w 1862"/>
              <a:gd name="T61" fmla="*/ 73 h 1164"/>
              <a:gd name="T62" fmla="*/ 140 w 1862"/>
              <a:gd name="T63" fmla="*/ 54 h 1164"/>
              <a:gd name="T64" fmla="*/ 167 w 1862"/>
              <a:gd name="T65" fmla="*/ 39 h 1164"/>
              <a:gd name="T66" fmla="*/ 194 w 1862"/>
              <a:gd name="T67" fmla="*/ 25 h 1164"/>
              <a:gd name="T68" fmla="*/ 223 w 1862"/>
              <a:gd name="T69" fmla="*/ 15 h 1164"/>
              <a:gd name="T70" fmla="*/ 254 w 1862"/>
              <a:gd name="T71" fmla="*/ 6 h 1164"/>
              <a:gd name="T72" fmla="*/ 286 w 1862"/>
              <a:gd name="T73" fmla="*/ 1 h 1164"/>
              <a:gd name="T74" fmla="*/ 318 w 1862"/>
              <a:gd name="T75" fmla="*/ 0 h 1164"/>
              <a:gd name="T76" fmla="*/ 335 w 1862"/>
              <a:gd name="T77" fmla="*/ 0 h 1164"/>
              <a:gd name="T78" fmla="*/ 367 w 1862"/>
              <a:gd name="T79" fmla="*/ 4 h 1164"/>
              <a:gd name="T80" fmla="*/ 398 w 1862"/>
              <a:gd name="T81" fmla="*/ 9 h 1164"/>
              <a:gd name="T82" fmla="*/ 428 w 1862"/>
              <a:gd name="T83" fmla="*/ 19 h 1164"/>
              <a:gd name="T84" fmla="*/ 456 w 1862"/>
              <a:gd name="T85" fmla="*/ 32 h 1164"/>
              <a:gd name="T86" fmla="*/ 484 w 1862"/>
              <a:gd name="T87" fmla="*/ 46 h 1164"/>
              <a:gd name="T88" fmla="*/ 509 w 1862"/>
              <a:gd name="T89" fmla="*/ 63 h 1164"/>
              <a:gd name="T90" fmla="*/ 532 w 1862"/>
              <a:gd name="T91" fmla="*/ 83 h 1164"/>
              <a:gd name="T92" fmla="*/ 554 w 1862"/>
              <a:gd name="T93" fmla="*/ 104 h 1164"/>
              <a:gd name="T94" fmla="*/ 573 w 1862"/>
              <a:gd name="T95" fmla="*/ 128 h 1164"/>
              <a:gd name="T96" fmla="*/ 590 w 1862"/>
              <a:gd name="T97" fmla="*/ 153 h 1164"/>
              <a:gd name="T98" fmla="*/ 605 w 1862"/>
              <a:gd name="T99" fmla="*/ 180 h 1164"/>
              <a:gd name="T100" fmla="*/ 618 w 1862"/>
              <a:gd name="T101" fmla="*/ 209 h 1164"/>
              <a:gd name="T102" fmla="*/ 626 w 1862"/>
              <a:gd name="T103" fmla="*/ 239 h 1164"/>
              <a:gd name="T104" fmla="*/ 633 w 1862"/>
              <a:gd name="T105" fmla="*/ 270 h 1164"/>
              <a:gd name="T106" fmla="*/ 636 w 1862"/>
              <a:gd name="T107" fmla="*/ 302 h 1164"/>
              <a:gd name="T108" fmla="*/ 637 w 1862"/>
              <a:gd name="T109" fmla="*/ 318 h 116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62"/>
              <a:gd name="T166" fmla="*/ 0 h 1164"/>
              <a:gd name="T167" fmla="*/ 1862 w 1862"/>
              <a:gd name="T168" fmla="*/ 1164 h 116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62" h="1164">
                <a:moveTo>
                  <a:pt x="1862" y="930"/>
                </a:moveTo>
                <a:lnTo>
                  <a:pt x="1862" y="930"/>
                </a:lnTo>
                <a:lnTo>
                  <a:pt x="1860" y="942"/>
                </a:lnTo>
                <a:lnTo>
                  <a:pt x="1856" y="954"/>
                </a:lnTo>
                <a:lnTo>
                  <a:pt x="1850" y="966"/>
                </a:lnTo>
                <a:lnTo>
                  <a:pt x="1842" y="978"/>
                </a:lnTo>
                <a:lnTo>
                  <a:pt x="1832" y="988"/>
                </a:lnTo>
                <a:lnTo>
                  <a:pt x="1820" y="1000"/>
                </a:lnTo>
                <a:lnTo>
                  <a:pt x="1806" y="1010"/>
                </a:lnTo>
                <a:lnTo>
                  <a:pt x="1788" y="1020"/>
                </a:lnTo>
                <a:lnTo>
                  <a:pt x="1750" y="1042"/>
                </a:lnTo>
                <a:lnTo>
                  <a:pt x="1702" y="1060"/>
                </a:lnTo>
                <a:lnTo>
                  <a:pt x="1650" y="1078"/>
                </a:lnTo>
                <a:lnTo>
                  <a:pt x="1588" y="1094"/>
                </a:lnTo>
                <a:lnTo>
                  <a:pt x="1522" y="1110"/>
                </a:lnTo>
                <a:lnTo>
                  <a:pt x="1452" y="1124"/>
                </a:lnTo>
                <a:lnTo>
                  <a:pt x="1374" y="1134"/>
                </a:lnTo>
                <a:lnTo>
                  <a:pt x="1294" y="1144"/>
                </a:lnTo>
                <a:lnTo>
                  <a:pt x="1208" y="1152"/>
                </a:lnTo>
                <a:lnTo>
                  <a:pt x="1118" y="1158"/>
                </a:lnTo>
                <a:lnTo>
                  <a:pt x="1026" y="1162"/>
                </a:lnTo>
                <a:lnTo>
                  <a:pt x="930" y="1164"/>
                </a:lnTo>
                <a:lnTo>
                  <a:pt x="836" y="1162"/>
                </a:lnTo>
                <a:lnTo>
                  <a:pt x="744" y="1158"/>
                </a:lnTo>
                <a:lnTo>
                  <a:pt x="654" y="1152"/>
                </a:lnTo>
                <a:lnTo>
                  <a:pt x="568" y="1144"/>
                </a:lnTo>
                <a:lnTo>
                  <a:pt x="488" y="1134"/>
                </a:lnTo>
                <a:lnTo>
                  <a:pt x="410" y="1124"/>
                </a:lnTo>
                <a:lnTo>
                  <a:pt x="338" y="1110"/>
                </a:lnTo>
                <a:lnTo>
                  <a:pt x="272" y="1094"/>
                </a:lnTo>
                <a:lnTo>
                  <a:pt x="212" y="1078"/>
                </a:lnTo>
                <a:lnTo>
                  <a:pt x="158" y="1060"/>
                </a:lnTo>
                <a:lnTo>
                  <a:pt x="112" y="1042"/>
                </a:lnTo>
                <a:lnTo>
                  <a:pt x="74" y="1020"/>
                </a:lnTo>
                <a:lnTo>
                  <a:pt x="56" y="1010"/>
                </a:lnTo>
                <a:lnTo>
                  <a:pt x="42" y="1000"/>
                </a:lnTo>
                <a:lnTo>
                  <a:pt x="30" y="988"/>
                </a:lnTo>
                <a:lnTo>
                  <a:pt x="18" y="978"/>
                </a:lnTo>
                <a:lnTo>
                  <a:pt x="10" y="966"/>
                </a:lnTo>
                <a:lnTo>
                  <a:pt x="4" y="954"/>
                </a:lnTo>
                <a:lnTo>
                  <a:pt x="2" y="942"/>
                </a:lnTo>
                <a:lnTo>
                  <a:pt x="0" y="930"/>
                </a:lnTo>
                <a:lnTo>
                  <a:pt x="2" y="882"/>
                </a:lnTo>
                <a:lnTo>
                  <a:pt x="4" y="836"/>
                </a:lnTo>
                <a:lnTo>
                  <a:pt x="10" y="788"/>
                </a:lnTo>
                <a:lnTo>
                  <a:pt x="18" y="742"/>
                </a:lnTo>
                <a:lnTo>
                  <a:pt x="30" y="698"/>
                </a:lnTo>
                <a:lnTo>
                  <a:pt x="42" y="654"/>
                </a:lnTo>
                <a:lnTo>
                  <a:pt x="56" y="610"/>
                </a:lnTo>
                <a:lnTo>
                  <a:pt x="74" y="568"/>
                </a:lnTo>
                <a:lnTo>
                  <a:pt x="92" y="526"/>
                </a:lnTo>
                <a:lnTo>
                  <a:pt x="112" y="486"/>
                </a:lnTo>
                <a:lnTo>
                  <a:pt x="134" y="448"/>
                </a:lnTo>
                <a:lnTo>
                  <a:pt x="158" y="410"/>
                </a:lnTo>
                <a:lnTo>
                  <a:pt x="184" y="374"/>
                </a:lnTo>
                <a:lnTo>
                  <a:pt x="212" y="338"/>
                </a:lnTo>
                <a:lnTo>
                  <a:pt x="242" y="304"/>
                </a:lnTo>
                <a:lnTo>
                  <a:pt x="272" y="272"/>
                </a:lnTo>
                <a:lnTo>
                  <a:pt x="304" y="242"/>
                </a:lnTo>
                <a:lnTo>
                  <a:pt x="338" y="212"/>
                </a:lnTo>
                <a:lnTo>
                  <a:pt x="374" y="184"/>
                </a:lnTo>
                <a:lnTo>
                  <a:pt x="410" y="158"/>
                </a:lnTo>
                <a:lnTo>
                  <a:pt x="448" y="134"/>
                </a:lnTo>
                <a:lnTo>
                  <a:pt x="488" y="112"/>
                </a:lnTo>
                <a:lnTo>
                  <a:pt x="528" y="92"/>
                </a:lnTo>
                <a:lnTo>
                  <a:pt x="568" y="72"/>
                </a:lnTo>
                <a:lnTo>
                  <a:pt x="610" y="56"/>
                </a:lnTo>
                <a:lnTo>
                  <a:pt x="654" y="42"/>
                </a:lnTo>
                <a:lnTo>
                  <a:pt x="698" y="28"/>
                </a:lnTo>
                <a:lnTo>
                  <a:pt x="744" y="18"/>
                </a:lnTo>
                <a:lnTo>
                  <a:pt x="790" y="10"/>
                </a:lnTo>
                <a:lnTo>
                  <a:pt x="836" y="4"/>
                </a:lnTo>
                <a:lnTo>
                  <a:pt x="882" y="0"/>
                </a:lnTo>
                <a:lnTo>
                  <a:pt x="930" y="0"/>
                </a:lnTo>
                <a:lnTo>
                  <a:pt x="978" y="0"/>
                </a:lnTo>
                <a:lnTo>
                  <a:pt x="1026" y="4"/>
                </a:lnTo>
                <a:lnTo>
                  <a:pt x="1072" y="10"/>
                </a:lnTo>
                <a:lnTo>
                  <a:pt x="1118" y="18"/>
                </a:lnTo>
                <a:lnTo>
                  <a:pt x="1164" y="28"/>
                </a:lnTo>
                <a:lnTo>
                  <a:pt x="1208" y="42"/>
                </a:lnTo>
                <a:lnTo>
                  <a:pt x="1250" y="56"/>
                </a:lnTo>
                <a:lnTo>
                  <a:pt x="1294" y="72"/>
                </a:lnTo>
                <a:lnTo>
                  <a:pt x="1334" y="92"/>
                </a:lnTo>
                <a:lnTo>
                  <a:pt x="1374" y="112"/>
                </a:lnTo>
                <a:lnTo>
                  <a:pt x="1414" y="134"/>
                </a:lnTo>
                <a:lnTo>
                  <a:pt x="1452" y="158"/>
                </a:lnTo>
                <a:lnTo>
                  <a:pt x="1488" y="184"/>
                </a:lnTo>
                <a:lnTo>
                  <a:pt x="1522" y="212"/>
                </a:lnTo>
                <a:lnTo>
                  <a:pt x="1556" y="242"/>
                </a:lnTo>
                <a:lnTo>
                  <a:pt x="1588" y="272"/>
                </a:lnTo>
                <a:lnTo>
                  <a:pt x="1620" y="304"/>
                </a:lnTo>
                <a:lnTo>
                  <a:pt x="1650" y="338"/>
                </a:lnTo>
                <a:lnTo>
                  <a:pt x="1676" y="374"/>
                </a:lnTo>
                <a:lnTo>
                  <a:pt x="1702" y="410"/>
                </a:lnTo>
                <a:lnTo>
                  <a:pt x="1726" y="448"/>
                </a:lnTo>
                <a:lnTo>
                  <a:pt x="1750" y="486"/>
                </a:lnTo>
                <a:lnTo>
                  <a:pt x="1770" y="526"/>
                </a:lnTo>
                <a:lnTo>
                  <a:pt x="1788" y="568"/>
                </a:lnTo>
                <a:lnTo>
                  <a:pt x="1806" y="610"/>
                </a:lnTo>
                <a:lnTo>
                  <a:pt x="1820" y="654"/>
                </a:lnTo>
                <a:lnTo>
                  <a:pt x="1832" y="698"/>
                </a:lnTo>
                <a:lnTo>
                  <a:pt x="1842" y="742"/>
                </a:lnTo>
                <a:lnTo>
                  <a:pt x="1850" y="788"/>
                </a:lnTo>
                <a:lnTo>
                  <a:pt x="1856" y="836"/>
                </a:lnTo>
                <a:lnTo>
                  <a:pt x="1860" y="882"/>
                </a:lnTo>
                <a:lnTo>
                  <a:pt x="1862" y="930"/>
                </a:lnTo>
                <a:close/>
              </a:path>
            </a:pathLst>
          </a:custGeom>
          <a:gradFill rotWithShape="1">
            <a:gsLst>
              <a:gs pos="0">
                <a:srgbClr val="EAEAEA"/>
              </a:gs>
              <a:gs pos="100000">
                <a:srgbClr val="B2B2B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7" name="Text Box 13"/>
          <p:cNvSpPr txBox="1">
            <a:spLocks noChangeArrowheads="1"/>
          </p:cNvSpPr>
          <p:nvPr/>
        </p:nvSpPr>
        <p:spPr bwMode="auto">
          <a:xfrm>
            <a:off x="2000375" y="4516076"/>
            <a:ext cx="2232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lvl="0" algn="ctr" eaLnBrk="1" latinLnBrk="1" hangingPunct="1">
              <a:lnSpc>
                <a:spcPct val="120000"/>
              </a:lnSpc>
              <a:defRPr/>
            </a:pPr>
            <a:r>
              <a:rPr kumimoji="1" lang="zh-CN" altLang="en-US" kern="0" dirty="0">
                <a:solidFill>
                  <a:srgbClr val="5F5F5F"/>
                </a:solidFill>
                <a:latin typeface="微软雅黑" panose="020B0503020204020204" pitchFamily="34" charset="-122"/>
              </a:rPr>
              <a:t>网络舆情存在空间</a:t>
            </a:r>
          </a:p>
        </p:txBody>
      </p:sp>
      <p:sp>
        <p:nvSpPr>
          <p:cNvPr id="98" name="Freeform 23"/>
          <p:cNvSpPr/>
          <p:nvPr/>
        </p:nvSpPr>
        <p:spPr bwMode="auto">
          <a:xfrm>
            <a:off x="5269728" y="3217128"/>
            <a:ext cx="482585" cy="482585"/>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7" y="256"/>
                  <a:pt x="0" y="238"/>
                  <a:pt x="0" y="216"/>
                </a:cubicBezTo>
                <a:cubicBezTo>
                  <a:pt x="0" y="40"/>
                  <a:pt x="0" y="40"/>
                  <a:pt x="0" y="40"/>
                </a:cubicBezTo>
                <a:cubicBezTo>
                  <a:pt x="0" y="18"/>
                  <a:pt x="17" y="0"/>
                  <a:pt x="40" y="0"/>
                </a:cubicBezTo>
                <a:cubicBezTo>
                  <a:pt x="216" y="0"/>
                  <a:pt x="216" y="0"/>
                  <a:pt x="216" y="0"/>
                </a:cubicBezTo>
                <a:cubicBezTo>
                  <a:pt x="238" y="0"/>
                  <a:pt x="256" y="18"/>
                  <a:pt x="256" y="40"/>
                </a:cubicBezTo>
                <a:cubicBezTo>
                  <a:pt x="256" y="216"/>
                  <a:pt x="256" y="216"/>
                  <a:pt x="256" y="216"/>
                </a:cubicBezTo>
              </a:path>
            </a:pathLst>
          </a:custGeom>
          <a:solidFill>
            <a:srgbClr val="E04C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99" name="Freeform 24"/>
          <p:cNvSpPr/>
          <p:nvPr/>
        </p:nvSpPr>
        <p:spPr bwMode="auto">
          <a:xfrm>
            <a:off x="5384797" y="3339242"/>
            <a:ext cx="367516" cy="360471"/>
          </a:xfrm>
          <a:custGeom>
            <a:avLst/>
            <a:gdLst>
              <a:gd name="T0" fmla="*/ 41 w 195"/>
              <a:gd name="T1" fmla="*/ 0 h 191"/>
              <a:gd name="T2" fmla="*/ 0 w 195"/>
              <a:gd name="T3" fmla="*/ 55 h 191"/>
              <a:gd name="T4" fmla="*/ 13 w 195"/>
              <a:gd name="T5" fmla="*/ 115 h 191"/>
              <a:gd name="T6" fmla="*/ 89 w 195"/>
              <a:gd name="T7" fmla="*/ 191 h 191"/>
              <a:gd name="T8" fmla="*/ 155 w 195"/>
              <a:gd name="T9" fmla="*/ 191 h 191"/>
              <a:gd name="T10" fmla="*/ 195 w 195"/>
              <a:gd name="T11" fmla="*/ 151 h 191"/>
              <a:gd name="T12" fmla="*/ 195 w 195"/>
              <a:gd name="T13" fmla="*/ 82 h 191"/>
              <a:gd name="T14" fmla="*/ 120 w 195"/>
              <a:gd name="T15" fmla="*/ 8 h 191"/>
              <a:gd name="T16" fmla="*/ 41 w 195"/>
              <a:gd name="T17"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191">
                <a:moveTo>
                  <a:pt x="41" y="0"/>
                </a:moveTo>
                <a:cubicBezTo>
                  <a:pt x="0" y="55"/>
                  <a:pt x="0" y="55"/>
                  <a:pt x="0" y="55"/>
                </a:cubicBezTo>
                <a:cubicBezTo>
                  <a:pt x="13" y="115"/>
                  <a:pt x="13" y="115"/>
                  <a:pt x="13" y="115"/>
                </a:cubicBezTo>
                <a:cubicBezTo>
                  <a:pt x="89" y="191"/>
                  <a:pt x="89" y="191"/>
                  <a:pt x="89" y="191"/>
                </a:cubicBezTo>
                <a:cubicBezTo>
                  <a:pt x="155" y="191"/>
                  <a:pt x="155" y="191"/>
                  <a:pt x="155" y="191"/>
                </a:cubicBezTo>
                <a:cubicBezTo>
                  <a:pt x="177" y="191"/>
                  <a:pt x="195" y="173"/>
                  <a:pt x="195" y="151"/>
                </a:cubicBezTo>
                <a:cubicBezTo>
                  <a:pt x="195" y="82"/>
                  <a:pt x="195" y="82"/>
                  <a:pt x="195" y="82"/>
                </a:cubicBezTo>
                <a:cubicBezTo>
                  <a:pt x="120" y="8"/>
                  <a:pt x="120" y="8"/>
                  <a:pt x="120" y="8"/>
                </a:cubicBezTo>
                <a:cubicBezTo>
                  <a:pt x="41" y="0"/>
                  <a:pt x="41" y="0"/>
                  <a:pt x="41" y="0"/>
                </a:cubicBezTo>
              </a:path>
            </a:pathLst>
          </a:custGeom>
          <a:solidFill>
            <a:srgbClr val="C9447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100" name="Freeform 25"/>
          <p:cNvSpPr>
            <a:spLocks noEditPoints="1"/>
          </p:cNvSpPr>
          <p:nvPr/>
        </p:nvSpPr>
        <p:spPr bwMode="auto">
          <a:xfrm>
            <a:off x="5369533" y="3314585"/>
            <a:ext cx="286498" cy="287672"/>
          </a:xfrm>
          <a:custGeom>
            <a:avLst/>
            <a:gdLst>
              <a:gd name="T0" fmla="*/ 76 w 152"/>
              <a:gd name="T1" fmla="*/ 0 h 152"/>
              <a:gd name="T2" fmla="*/ 0 w 152"/>
              <a:gd name="T3" fmla="*/ 76 h 152"/>
              <a:gd name="T4" fmla="*/ 76 w 152"/>
              <a:gd name="T5" fmla="*/ 152 h 152"/>
              <a:gd name="T6" fmla="*/ 152 w 152"/>
              <a:gd name="T7" fmla="*/ 76 h 152"/>
              <a:gd name="T8" fmla="*/ 76 w 152"/>
              <a:gd name="T9" fmla="*/ 0 h 152"/>
              <a:gd name="T10" fmla="*/ 130 w 152"/>
              <a:gd name="T11" fmla="*/ 53 h 152"/>
              <a:gd name="T12" fmla="*/ 134 w 152"/>
              <a:gd name="T13" fmla="*/ 70 h 152"/>
              <a:gd name="T14" fmla="*/ 128 w 152"/>
              <a:gd name="T15" fmla="*/ 70 h 152"/>
              <a:gd name="T16" fmla="*/ 97 w 152"/>
              <a:gd name="T17" fmla="*/ 73 h 152"/>
              <a:gd name="T18" fmla="*/ 92 w 152"/>
              <a:gd name="T19" fmla="*/ 62 h 152"/>
              <a:gd name="T20" fmla="*/ 123 w 152"/>
              <a:gd name="T21" fmla="*/ 41 h 152"/>
              <a:gd name="T22" fmla="*/ 130 w 152"/>
              <a:gd name="T23" fmla="*/ 53 h 152"/>
              <a:gd name="T24" fmla="*/ 27 w 152"/>
              <a:gd name="T25" fmla="*/ 109 h 152"/>
              <a:gd name="T26" fmla="*/ 22 w 152"/>
              <a:gd name="T27" fmla="*/ 99 h 152"/>
              <a:gd name="T28" fmla="*/ 17 w 152"/>
              <a:gd name="T29" fmla="*/ 76 h 152"/>
              <a:gd name="T30" fmla="*/ 30 w 152"/>
              <a:gd name="T31" fmla="*/ 77 h 152"/>
              <a:gd name="T32" fmla="*/ 76 w 152"/>
              <a:gd name="T33" fmla="*/ 69 h 152"/>
              <a:gd name="T34" fmla="*/ 81 w 152"/>
              <a:gd name="T35" fmla="*/ 78 h 152"/>
              <a:gd name="T36" fmla="*/ 80 w 152"/>
              <a:gd name="T37" fmla="*/ 78 h 152"/>
              <a:gd name="T38" fmla="*/ 27 w 152"/>
              <a:gd name="T39" fmla="*/ 109 h 152"/>
              <a:gd name="T40" fmla="*/ 99 w 152"/>
              <a:gd name="T41" fmla="*/ 22 h 152"/>
              <a:gd name="T42" fmla="*/ 111 w 152"/>
              <a:gd name="T43" fmla="*/ 29 h 152"/>
              <a:gd name="T44" fmla="*/ 84 w 152"/>
              <a:gd name="T45" fmla="*/ 47 h 152"/>
              <a:gd name="T46" fmla="*/ 83 w 152"/>
              <a:gd name="T47" fmla="*/ 47 h 152"/>
              <a:gd name="T48" fmla="*/ 63 w 152"/>
              <a:gd name="T49" fmla="*/ 19 h 152"/>
              <a:gd name="T50" fmla="*/ 76 w 152"/>
              <a:gd name="T51" fmla="*/ 17 h 152"/>
              <a:gd name="T52" fmla="*/ 99 w 152"/>
              <a:gd name="T53" fmla="*/ 22 h 152"/>
              <a:gd name="T54" fmla="*/ 35 w 152"/>
              <a:gd name="T55" fmla="*/ 35 h 152"/>
              <a:gd name="T56" fmla="*/ 46 w 152"/>
              <a:gd name="T57" fmla="*/ 25 h 152"/>
              <a:gd name="T58" fmla="*/ 67 w 152"/>
              <a:gd name="T59" fmla="*/ 53 h 152"/>
              <a:gd name="T60" fmla="*/ 56 w 152"/>
              <a:gd name="T61" fmla="*/ 57 h 152"/>
              <a:gd name="T62" fmla="*/ 30 w 152"/>
              <a:gd name="T63" fmla="*/ 60 h 152"/>
              <a:gd name="T64" fmla="*/ 20 w 152"/>
              <a:gd name="T65" fmla="*/ 59 h 152"/>
              <a:gd name="T66" fmla="*/ 22 w 152"/>
              <a:gd name="T67" fmla="*/ 53 h 152"/>
              <a:gd name="T68" fmla="*/ 35 w 152"/>
              <a:gd name="T69" fmla="*/ 35 h 152"/>
              <a:gd name="T70" fmla="*/ 53 w 152"/>
              <a:gd name="T71" fmla="*/ 130 h 152"/>
              <a:gd name="T72" fmla="*/ 39 w 152"/>
              <a:gd name="T73" fmla="*/ 122 h 152"/>
              <a:gd name="T74" fmla="*/ 55 w 152"/>
              <a:gd name="T75" fmla="*/ 109 h 152"/>
              <a:gd name="T76" fmla="*/ 86 w 152"/>
              <a:gd name="T77" fmla="*/ 94 h 152"/>
              <a:gd name="T78" fmla="*/ 88 w 152"/>
              <a:gd name="T79" fmla="*/ 93 h 152"/>
              <a:gd name="T80" fmla="*/ 96 w 152"/>
              <a:gd name="T81" fmla="*/ 120 h 152"/>
              <a:gd name="T82" fmla="*/ 97 w 152"/>
              <a:gd name="T83" fmla="*/ 131 h 152"/>
              <a:gd name="T84" fmla="*/ 76 w 152"/>
              <a:gd name="T85" fmla="*/ 135 h 152"/>
              <a:gd name="T86" fmla="*/ 53 w 152"/>
              <a:gd name="T87" fmla="*/ 130 h 152"/>
              <a:gd name="T88" fmla="*/ 117 w 152"/>
              <a:gd name="T89" fmla="*/ 117 h 152"/>
              <a:gd name="T90" fmla="*/ 113 w 152"/>
              <a:gd name="T91" fmla="*/ 121 h 152"/>
              <a:gd name="T92" fmla="*/ 104 w 152"/>
              <a:gd name="T93" fmla="*/ 89 h 152"/>
              <a:gd name="T94" fmla="*/ 128 w 152"/>
              <a:gd name="T95" fmla="*/ 87 h 152"/>
              <a:gd name="T96" fmla="*/ 134 w 152"/>
              <a:gd name="T97" fmla="*/ 87 h 152"/>
              <a:gd name="T98" fmla="*/ 130 w 152"/>
              <a:gd name="T99" fmla="*/ 99 h 152"/>
              <a:gd name="T100" fmla="*/ 117 w 152"/>
              <a:gd name="T101" fmla="*/ 11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2" h="152">
                <a:moveTo>
                  <a:pt x="76" y="0"/>
                </a:moveTo>
                <a:cubicBezTo>
                  <a:pt x="34" y="0"/>
                  <a:pt x="0" y="34"/>
                  <a:pt x="0" y="76"/>
                </a:cubicBezTo>
                <a:cubicBezTo>
                  <a:pt x="0" y="118"/>
                  <a:pt x="34" y="152"/>
                  <a:pt x="76" y="152"/>
                </a:cubicBezTo>
                <a:cubicBezTo>
                  <a:pt x="118" y="152"/>
                  <a:pt x="152" y="118"/>
                  <a:pt x="152" y="76"/>
                </a:cubicBezTo>
                <a:cubicBezTo>
                  <a:pt x="152" y="34"/>
                  <a:pt x="118" y="0"/>
                  <a:pt x="76" y="0"/>
                </a:cubicBezTo>
                <a:close/>
                <a:moveTo>
                  <a:pt x="130" y="53"/>
                </a:moveTo>
                <a:cubicBezTo>
                  <a:pt x="132" y="58"/>
                  <a:pt x="134" y="64"/>
                  <a:pt x="134" y="70"/>
                </a:cubicBezTo>
                <a:cubicBezTo>
                  <a:pt x="132" y="70"/>
                  <a:pt x="130" y="70"/>
                  <a:pt x="128" y="70"/>
                </a:cubicBezTo>
                <a:cubicBezTo>
                  <a:pt x="118" y="70"/>
                  <a:pt x="108" y="71"/>
                  <a:pt x="97" y="73"/>
                </a:cubicBezTo>
                <a:cubicBezTo>
                  <a:pt x="96" y="69"/>
                  <a:pt x="94" y="65"/>
                  <a:pt x="92" y="62"/>
                </a:cubicBezTo>
                <a:cubicBezTo>
                  <a:pt x="104" y="56"/>
                  <a:pt x="114" y="49"/>
                  <a:pt x="123" y="41"/>
                </a:cubicBezTo>
                <a:cubicBezTo>
                  <a:pt x="126" y="45"/>
                  <a:pt x="128" y="49"/>
                  <a:pt x="130" y="53"/>
                </a:cubicBezTo>
                <a:close/>
                <a:moveTo>
                  <a:pt x="27" y="109"/>
                </a:moveTo>
                <a:cubicBezTo>
                  <a:pt x="25" y="106"/>
                  <a:pt x="23" y="102"/>
                  <a:pt x="22" y="99"/>
                </a:cubicBezTo>
                <a:cubicBezTo>
                  <a:pt x="19" y="92"/>
                  <a:pt x="17" y="84"/>
                  <a:pt x="17" y="76"/>
                </a:cubicBezTo>
                <a:cubicBezTo>
                  <a:pt x="22" y="77"/>
                  <a:pt x="26" y="77"/>
                  <a:pt x="30" y="77"/>
                </a:cubicBezTo>
                <a:cubicBezTo>
                  <a:pt x="45" y="77"/>
                  <a:pt x="60" y="74"/>
                  <a:pt x="76" y="69"/>
                </a:cubicBezTo>
                <a:cubicBezTo>
                  <a:pt x="78" y="72"/>
                  <a:pt x="79" y="75"/>
                  <a:pt x="81" y="78"/>
                </a:cubicBezTo>
                <a:cubicBezTo>
                  <a:pt x="80" y="78"/>
                  <a:pt x="80" y="78"/>
                  <a:pt x="80" y="78"/>
                </a:cubicBezTo>
                <a:cubicBezTo>
                  <a:pt x="59" y="85"/>
                  <a:pt x="40" y="96"/>
                  <a:pt x="27" y="109"/>
                </a:cubicBezTo>
                <a:close/>
                <a:moveTo>
                  <a:pt x="99" y="22"/>
                </a:moveTo>
                <a:cubicBezTo>
                  <a:pt x="103" y="24"/>
                  <a:pt x="107" y="26"/>
                  <a:pt x="111" y="29"/>
                </a:cubicBezTo>
                <a:cubicBezTo>
                  <a:pt x="103" y="36"/>
                  <a:pt x="94" y="42"/>
                  <a:pt x="84" y="47"/>
                </a:cubicBezTo>
                <a:cubicBezTo>
                  <a:pt x="83" y="47"/>
                  <a:pt x="83" y="47"/>
                  <a:pt x="83" y="47"/>
                </a:cubicBezTo>
                <a:cubicBezTo>
                  <a:pt x="77" y="36"/>
                  <a:pt x="70" y="27"/>
                  <a:pt x="63" y="19"/>
                </a:cubicBezTo>
                <a:cubicBezTo>
                  <a:pt x="67" y="18"/>
                  <a:pt x="72" y="17"/>
                  <a:pt x="76" y="17"/>
                </a:cubicBezTo>
                <a:cubicBezTo>
                  <a:pt x="84" y="17"/>
                  <a:pt x="92" y="19"/>
                  <a:pt x="99" y="22"/>
                </a:cubicBezTo>
                <a:close/>
                <a:moveTo>
                  <a:pt x="35" y="35"/>
                </a:moveTo>
                <a:cubicBezTo>
                  <a:pt x="38" y="31"/>
                  <a:pt x="42" y="28"/>
                  <a:pt x="46" y="25"/>
                </a:cubicBezTo>
                <a:cubicBezTo>
                  <a:pt x="53" y="33"/>
                  <a:pt x="61" y="43"/>
                  <a:pt x="67" y="53"/>
                </a:cubicBezTo>
                <a:cubicBezTo>
                  <a:pt x="63" y="55"/>
                  <a:pt x="60" y="56"/>
                  <a:pt x="56" y="57"/>
                </a:cubicBezTo>
                <a:cubicBezTo>
                  <a:pt x="47" y="59"/>
                  <a:pt x="39" y="60"/>
                  <a:pt x="30" y="60"/>
                </a:cubicBezTo>
                <a:cubicBezTo>
                  <a:pt x="27" y="60"/>
                  <a:pt x="23" y="60"/>
                  <a:pt x="20" y="59"/>
                </a:cubicBezTo>
                <a:cubicBezTo>
                  <a:pt x="20" y="57"/>
                  <a:pt x="21" y="55"/>
                  <a:pt x="22" y="53"/>
                </a:cubicBezTo>
                <a:cubicBezTo>
                  <a:pt x="25" y="46"/>
                  <a:pt x="29" y="40"/>
                  <a:pt x="35" y="35"/>
                </a:cubicBezTo>
                <a:close/>
                <a:moveTo>
                  <a:pt x="53" y="130"/>
                </a:moveTo>
                <a:cubicBezTo>
                  <a:pt x="48" y="128"/>
                  <a:pt x="43" y="125"/>
                  <a:pt x="39" y="122"/>
                </a:cubicBezTo>
                <a:cubicBezTo>
                  <a:pt x="44" y="117"/>
                  <a:pt x="49" y="113"/>
                  <a:pt x="55" y="109"/>
                </a:cubicBezTo>
                <a:cubicBezTo>
                  <a:pt x="64" y="103"/>
                  <a:pt x="75" y="98"/>
                  <a:pt x="86" y="94"/>
                </a:cubicBezTo>
                <a:cubicBezTo>
                  <a:pt x="86" y="94"/>
                  <a:pt x="87" y="94"/>
                  <a:pt x="88" y="93"/>
                </a:cubicBezTo>
                <a:cubicBezTo>
                  <a:pt x="91" y="103"/>
                  <a:pt x="94" y="112"/>
                  <a:pt x="96" y="120"/>
                </a:cubicBezTo>
                <a:cubicBezTo>
                  <a:pt x="97" y="124"/>
                  <a:pt x="97" y="127"/>
                  <a:pt x="97" y="131"/>
                </a:cubicBezTo>
                <a:cubicBezTo>
                  <a:pt x="91" y="133"/>
                  <a:pt x="83" y="135"/>
                  <a:pt x="76" y="135"/>
                </a:cubicBezTo>
                <a:cubicBezTo>
                  <a:pt x="68" y="135"/>
                  <a:pt x="60" y="133"/>
                  <a:pt x="53" y="130"/>
                </a:cubicBezTo>
                <a:close/>
                <a:moveTo>
                  <a:pt x="117" y="117"/>
                </a:moveTo>
                <a:cubicBezTo>
                  <a:pt x="116" y="119"/>
                  <a:pt x="115" y="120"/>
                  <a:pt x="113" y="121"/>
                </a:cubicBezTo>
                <a:cubicBezTo>
                  <a:pt x="112" y="111"/>
                  <a:pt x="109" y="101"/>
                  <a:pt x="104" y="89"/>
                </a:cubicBezTo>
                <a:cubicBezTo>
                  <a:pt x="112" y="88"/>
                  <a:pt x="120" y="87"/>
                  <a:pt x="128" y="87"/>
                </a:cubicBezTo>
                <a:cubicBezTo>
                  <a:pt x="130" y="87"/>
                  <a:pt x="132" y="87"/>
                  <a:pt x="134" y="87"/>
                </a:cubicBezTo>
                <a:cubicBezTo>
                  <a:pt x="133" y="91"/>
                  <a:pt x="132" y="95"/>
                  <a:pt x="130" y="99"/>
                </a:cubicBezTo>
                <a:cubicBezTo>
                  <a:pt x="127" y="106"/>
                  <a:pt x="123" y="112"/>
                  <a:pt x="117" y="117"/>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等线"/>
              <a:cs typeface="+mn-cs"/>
            </a:endParaRPr>
          </a:p>
        </p:txBody>
      </p:sp>
      <p:sp>
        <p:nvSpPr>
          <p:cNvPr id="101" name="Freeform 95"/>
          <p:cNvSpPr/>
          <p:nvPr/>
        </p:nvSpPr>
        <p:spPr bwMode="auto">
          <a:xfrm>
            <a:off x="318340" y="3424618"/>
            <a:ext cx="461346" cy="461346"/>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6"/>
          <p:cNvSpPr/>
          <p:nvPr/>
        </p:nvSpPr>
        <p:spPr bwMode="auto">
          <a:xfrm>
            <a:off x="412253" y="3518530"/>
            <a:ext cx="367433" cy="367433"/>
          </a:xfrm>
          <a:custGeom>
            <a:avLst/>
            <a:gdLst>
              <a:gd name="T0" fmla="*/ 204 w 204"/>
              <a:gd name="T1" fmla="*/ 164 h 204"/>
              <a:gd name="T2" fmla="*/ 204 w 204"/>
              <a:gd name="T3" fmla="*/ 66 h 204"/>
              <a:gd name="T4" fmla="*/ 152 w 204"/>
              <a:gd name="T5" fmla="*/ 14 h 204"/>
              <a:gd name="T6" fmla="*/ 142 w 204"/>
              <a:gd name="T7" fmla="*/ 22 h 204"/>
              <a:gd name="T8" fmla="*/ 121 w 204"/>
              <a:gd name="T9" fmla="*/ 0 h 204"/>
              <a:gd name="T10" fmla="*/ 108 w 204"/>
              <a:gd name="T11" fmla="*/ 13 h 204"/>
              <a:gd name="T12" fmla="*/ 129 w 204"/>
              <a:gd name="T13" fmla="*/ 34 h 204"/>
              <a:gd name="T14" fmla="*/ 105 w 204"/>
              <a:gd name="T15" fmla="*/ 56 h 204"/>
              <a:gd name="T16" fmla="*/ 49 w 204"/>
              <a:gd name="T17" fmla="*/ 0 h 204"/>
              <a:gd name="T18" fmla="*/ 36 w 204"/>
              <a:gd name="T19" fmla="*/ 13 h 204"/>
              <a:gd name="T20" fmla="*/ 92 w 204"/>
              <a:gd name="T21" fmla="*/ 68 h 204"/>
              <a:gd name="T22" fmla="*/ 0 w 204"/>
              <a:gd name="T23" fmla="*/ 152 h 204"/>
              <a:gd name="T24" fmla="*/ 52 w 204"/>
              <a:gd name="T25" fmla="*/ 204 h 204"/>
              <a:gd name="T26" fmla="*/ 164 w 204"/>
              <a:gd name="T27" fmla="*/ 204 h 204"/>
              <a:gd name="T28" fmla="*/ 204 w 204"/>
              <a:gd name="T29"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4" h="204">
                <a:moveTo>
                  <a:pt x="204" y="164"/>
                </a:moveTo>
                <a:cubicBezTo>
                  <a:pt x="204" y="66"/>
                  <a:pt x="204" y="66"/>
                  <a:pt x="204" y="66"/>
                </a:cubicBezTo>
                <a:cubicBezTo>
                  <a:pt x="152" y="14"/>
                  <a:pt x="152" y="14"/>
                  <a:pt x="152" y="14"/>
                </a:cubicBezTo>
                <a:cubicBezTo>
                  <a:pt x="142" y="22"/>
                  <a:pt x="142" y="22"/>
                  <a:pt x="142" y="22"/>
                </a:cubicBezTo>
                <a:cubicBezTo>
                  <a:pt x="121" y="0"/>
                  <a:pt x="121" y="0"/>
                  <a:pt x="121" y="0"/>
                </a:cubicBezTo>
                <a:cubicBezTo>
                  <a:pt x="108" y="13"/>
                  <a:pt x="108" y="13"/>
                  <a:pt x="108" y="13"/>
                </a:cubicBezTo>
                <a:cubicBezTo>
                  <a:pt x="129" y="34"/>
                  <a:pt x="129" y="34"/>
                  <a:pt x="129" y="34"/>
                </a:cubicBezTo>
                <a:cubicBezTo>
                  <a:pt x="105" y="56"/>
                  <a:pt x="105" y="56"/>
                  <a:pt x="105" y="56"/>
                </a:cubicBezTo>
                <a:cubicBezTo>
                  <a:pt x="49" y="0"/>
                  <a:pt x="49" y="0"/>
                  <a:pt x="49" y="0"/>
                </a:cubicBezTo>
                <a:cubicBezTo>
                  <a:pt x="36" y="13"/>
                  <a:pt x="36" y="13"/>
                  <a:pt x="36" y="13"/>
                </a:cubicBezTo>
                <a:cubicBezTo>
                  <a:pt x="92" y="68"/>
                  <a:pt x="92" y="68"/>
                  <a:pt x="92" y="68"/>
                </a:cubicBezTo>
                <a:cubicBezTo>
                  <a:pt x="0" y="152"/>
                  <a:pt x="0" y="152"/>
                  <a:pt x="0" y="152"/>
                </a:cubicBezTo>
                <a:cubicBezTo>
                  <a:pt x="52" y="204"/>
                  <a:pt x="52" y="204"/>
                  <a:pt x="52" y="204"/>
                </a:cubicBezTo>
                <a:cubicBezTo>
                  <a:pt x="164" y="204"/>
                  <a:pt x="164" y="204"/>
                  <a:pt x="164" y="204"/>
                </a:cubicBezTo>
                <a:cubicBezTo>
                  <a:pt x="186" y="204"/>
                  <a:pt x="204" y="186"/>
                  <a:pt x="204" y="164"/>
                </a:cubicBez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97"/>
          <p:cNvSpPr>
            <a:spLocks noChangeArrowheads="1"/>
          </p:cNvSpPr>
          <p:nvPr/>
        </p:nvSpPr>
        <p:spPr bwMode="auto">
          <a:xfrm>
            <a:off x="412253" y="3543182"/>
            <a:ext cx="273521" cy="248868"/>
          </a:xfrm>
          <a:prstGeom prst="rect">
            <a:avLst/>
          </a:prstGeom>
          <a:solidFill>
            <a:srgbClr val="E6E8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Rectangle 98"/>
          <p:cNvSpPr>
            <a:spLocks noChangeArrowheads="1"/>
          </p:cNvSpPr>
          <p:nvPr/>
        </p:nvSpPr>
        <p:spPr bwMode="auto">
          <a:xfrm>
            <a:off x="597730" y="3518530"/>
            <a:ext cx="31696" cy="42261"/>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5" name="Rectangle 99"/>
          <p:cNvSpPr>
            <a:spLocks noChangeArrowheads="1"/>
          </p:cNvSpPr>
          <p:nvPr/>
        </p:nvSpPr>
        <p:spPr bwMode="auto">
          <a:xfrm>
            <a:off x="469774" y="3518530"/>
            <a:ext cx="30522" cy="42261"/>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6" name="Rectangle 100"/>
          <p:cNvSpPr>
            <a:spLocks noChangeArrowheads="1"/>
          </p:cNvSpPr>
          <p:nvPr/>
        </p:nvSpPr>
        <p:spPr bwMode="auto">
          <a:xfrm>
            <a:off x="442774" y="3604225"/>
            <a:ext cx="212478" cy="157304"/>
          </a:xfrm>
          <a:prstGeom prst="rect">
            <a:avLst/>
          </a:prstGeom>
          <a:solidFill>
            <a:srgbClr val="F5F7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cxnSp>
        <p:nvCxnSpPr>
          <p:cNvPr id="108" name="直接连接符 107"/>
          <p:cNvCxnSpPr>
            <a:stCxn id="102" idx="0"/>
          </p:cNvCxnSpPr>
          <p:nvPr/>
        </p:nvCxnSpPr>
        <p:spPr>
          <a:xfrm>
            <a:off x="779686" y="3813917"/>
            <a:ext cx="1049114" cy="654844"/>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rot="16200000" flipH="1">
            <a:off x="1129221" y="3135002"/>
            <a:ext cx="959644" cy="911462"/>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rot="16200000" flipH="1">
            <a:off x="1623293" y="2876905"/>
            <a:ext cx="1092379" cy="616494"/>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rot="16200000" flipH="1">
            <a:off x="2331215" y="2965394"/>
            <a:ext cx="1062883" cy="115050"/>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rot="5400000">
            <a:off x="3098131" y="2932961"/>
            <a:ext cx="1195618" cy="342150"/>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rot="5400000">
            <a:off x="3931415" y="2999329"/>
            <a:ext cx="959644" cy="828847"/>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rot="10800000" flipV="1">
            <a:off x="4336027" y="3700845"/>
            <a:ext cx="1197557" cy="590935"/>
          </a:xfrm>
          <a:prstGeom prst="line">
            <a:avLst/>
          </a:prstGeom>
          <a:ln w="9525">
            <a:solidFill>
              <a:schemeClr val="accent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22" name="图示 121"/>
          <p:cNvGraphicFramePr/>
          <p:nvPr/>
        </p:nvGraphicFramePr>
        <p:xfrm>
          <a:off x="5497863" y="4055806"/>
          <a:ext cx="1979569" cy="1297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2" name="文本框 70"/>
          <p:cNvSpPr txBox="1"/>
          <p:nvPr/>
        </p:nvSpPr>
        <p:spPr>
          <a:xfrm>
            <a:off x="8030326" y="3269547"/>
            <a:ext cx="1696298"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buFont typeface="Wingdings" panose="05000000000000000000" pitchFamily="2" charset="2"/>
              <a:buChar char="n"/>
            </a:pPr>
            <a:r>
              <a:rPr lang="zh-CN" altLang="en-US" dirty="0">
                <a:solidFill>
                  <a:schemeClr val="bg2">
                    <a:lumMod val="50000"/>
                  </a:schemeClr>
                </a:solidFill>
              </a:rPr>
              <a:t>    </a:t>
            </a:r>
            <a:r>
              <a:rPr lang="zh-CN" altLang="en-US" sz="2800" dirty="0">
                <a:solidFill>
                  <a:schemeClr val="bg2">
                    <a:lumMod val="50000"/>
                  </a:schemeClr>
                </a:solidFill>
              </a:rPr>
              <a:t>文本</a:t>
            </a:r>
            <a:endParaRPr lang="zh-CN" altLang="en-US" dirty="0">
              <a:solidFill>
                <a:schemeClr val="bg2">
                  <a:lumMod val="50000"/>
                </a:schemeClr>
              </a:solidFill>
            </a:endParaRPr>
          </a:p>
        </p:txBody>
      </p:sp>
      <p:cxnSp>
        <p:nvCxnSpPr>
          <p:cNvPr id="134" name="直接连接符 133"/>
          <p:cNvCxnSpPr/>
          <p:nvPr/>
        </p:nvCxnSpPr>
        <p:spPr>
          <a:xfrm>
            <a:off x="7949384" y="3954128"/>
            <a:ext cx="3111910" cy="1588"/>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35" name="文本框 70"/>
          <p:cNvSpPr txBox="1"/>
          <p:nvPr/>
        </p:nvSpPr>
        <p:spPr>
          <a:xfrm>
            <a:off x="8049991" y="4365844"/>
            <a:ext cx="1696298"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buFont typeface="Wingdings" panose="05000000000000000000" pitchFamily="2" charset="2"/>
              <a:buChar char="n"/>
            </a:pPr>
            <a:r>
              <a:rPr lang="zh-CN" altLang="en-US" dirty="0">
                <a:solidFill>
                  <a:schemeClr val="bg2">
                    <a:lumMod val="50000"/>
                  </a:schemeClr>
                </a:solidFill>
              </a:rPr>
              <a:t>    </a:t>
            </a:r>
            <a:r>
              <a:rPr lang="zh-CN" altLang="en-US" sz="2800" dirty="0">
                <a:solidFill>
                  <a:schemeClr val="bg2">
                    <a:lumMod val="50000"/>
                  </a:schemeClr>
                </a:solidFill>
              </a:rPr>
              <a:t>图像</a:t>
            </a:r>
            <a:endParaRPr lang="zh-CN" altLang="en-US" dirty="0">
              <a:solidFill>
                <a:schemeClr val="bg2">
                  <a:lumMod val="50000"/>
                </a:schemeClr>
              </a:solidFill>
            </a:endParaRPr>
          </a:p>
        </p:txBody>
      </p:sp>
      <p:cxnSp>
        <p:nvCxnSpPr>
          <p:cNvPr id="136" name="直接连接符 135"/>
          <p:cNvCxnSpPr/>
          <p:nvPr/>
        </p:nvCxnSpPr>
        <p:spPr>
          <a:xfrm>
            <a:off x="7969049" y="5050425"/>
            <a:ext cx="3111910" cy="1588"/>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37" name="文本框 70"/>
          <p:cNvSpPr txBox="1"/>
          <p:nvPr/>
        </p:nvSpPr>
        <p:spPr>
          <a:xfrm>
            <a:off x="8049991" y="5412978"/>
            <a:ext cx="3132589" cy="58477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a:buFont typeface="Wingdings" panose="05000000000000000000" pitchFamily="2" charset="2"/>
              <a:buChar char="n"/>
            </a:pPr>
            <a:r>
              <a:rPr lang="zh-CN" altLang="en-US" dirty="0">
                <a:solidFill>
                  <a:schemeClr val="bg2">
                    <a:lumMod val="50000"/>
                  </a:schemeClr>
                </a:solidFill>
              </a:rPr>
              <a:t>    </a:t>
            </a:r>
            <a:r>
              <a:rPr lang="zh-CN" altLang="en-US" sz="2800" dirty="0">
                <a:solidFill>
                  <a:schemeClr val="bg2">
                    <a:lumMod val="50000"/>
                  </a:schemeClr>
                </a:solidFill>
              </a:rPr>
              <a:t>音频、视频等</a:t>
            </a:r>
            <a:endParaRPr lang="zh-CN" altLang="en-US" dirty="0">
              <a:solidFill>
                <a:schemeClr val="bg2">
                  <a:lumMod val="50000"/>
                </a:schemeClr>
              </a:solidFill>
            </a:endParaRPr>
          </a:p>
        </p:txBody>
      </p:sp>
      <p:cxnSp>
        <p:nvCxnSpPr>
          <p:cNvPr id="138" name="直接连接符 137"/>
          <p:cNvCxnSpPr/>
          <p:nvPr/>
        </p:nvCxnSpPr>
        <p:spPr>
          <a:xfrm>
            <a:off x="7969049" y="6097559"/>
            <a:ext cx="3111910" cy="1588"/>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1444153" y="1273644"/>
            <a:ext cx="3490454" cy="461665"/>
          </a:xfrm>
          <a:prstGeom prst="rect">
            <a:avLst/>
          </a:prstGeom>
        </p:spPr>
        <p:txBody>
          <a:bodyPr wrap="square">
            <a:spAutoFit/>
          </a:bodyPr>
          <a:lstStyle/>
          <a:p>
            <a:r>
              <a:rPr lang="zh-CN" altLang="en-US" sz="2400" dirty="0">
                <a:solidFill>
                  <a:srgbClr val="F784A5"/>
                </a:solidFill>
                <a:latin typeface="微软雅黑" panose="020B0503020204020204" pitchFamily="34" charset="-122"/>
                <a:ea typeface="微软雅黑" panose="020B0503020204020204" pitchFamily="34" charset="-122"/>
                <a:sym typeface="Calibri" panose="020F0502020204030204" pitchFamily="34" charset="0"/>
              </a:rPr>
              <a:t>网络舆情主要表现形态</a:t>
            </a:r>
          </a:p>
        </p:txBody>
      </p:sp>
      <p:sp>
        <p:nvSpPr>
          <p:cNvPr id="63"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网络舆情分析概述</a:t>
            </a:r>
          </a:p>
        </p:txBody>
      </p:sp>
      <p:sp>
        <p:nvSpPr>
          <p:cNvPr id="64"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63" name="图示 162"/>
          <p:cNvGraphicFramePr/>
          <p:nvPr/>
        </p:nvGraphicFramePr>
        <p:xfrm>
          <a:off x="2535197" y="1866260"/>
          <a:ext cx="6286544" cy="39290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4" name="TextBox 1"/>
          <p:cNvSpPr txBox="1">
            <a:spLocks noChangeArrowheads="1"/>
          </p:cNvSpPr>
          <p:nvPr/>
        </p:nvSpPr>
        <p:spPr bwMode="auto">
          <a:xfrm rot="-505836">
            <a:off x="6053572" y="1635135"/>
            <a:ext cx="36502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直接性：通过网络直接发表意见，传播迅速</a:t>
            </a:r>
          </a:p>
        </p:txBody>
      </p:sp>
      <p:sp>
        <p:nvSpPr>
          <p:cNvPr id="165" name="TextBox 4"/>
          <p:cNvSpPr txBox="1">
            <a:spLocks noChangeArrowheads="1"/>
          </p:cNvSpPr>
          <p:nvPr/>
        </p:nvSpPr>
        <p:spPr bwMode="auto">
          <a:xfrm rot="-607575">
            <a:off x="7607377" y="2758154"/>
            <a:ext cx="32702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buFont typeface="Wingdings" panose="05000000000000000000" pitchFamily="2" charset="2"/>
              <a:buChar char="l"/>
              <a:defRPr sz="1600">
                <a:latin typeface="微软雅黑" panose="020B0503020204020204" pitchFamily="34" charset="-122"/>
                <a:ea typeface="微软雅黑" panose="020B0503020204020204" pitchFamily="34"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随意性和多元化：网民可匿名发表观点，健康观点和灰色言论并存</a:t>
            </a:r>
          </a:p>
        </p:txBody>
      </p:sp>
      <p:sp>
        <p:nvSpPr>
          <p:cNvPr id="166" name="TextBox 5"/>
          <p:cNvSpPr txBox="1">
            <a:spLocks noChangeArrowheads="1"/>
          </p:cNvSpPr>
          <p:nvPr/>
        </p:nvSpPr>
        <p:spPr bwMode="auto">
          <a:xfrm>
            <a:off x="7132426" y="5267312"/>
            <a:ext cx="2953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突发性：网络快速传播的特性使关注焦点迅速成长为舆论热点</a:t>
            </a:r>
          </a:p>
        </p:txBody>
      </p:sp>
      <p:sp>
        <p:nvSpPr>
          <p:cNvPr id="167" name="TextBox 7"/>
          <p:cNvSpPr txBox="1">
            <a:spLocks noChangeArrowheads="1"/>
          </p:cNvSpPr>
          <p:nvPr/>
        </p:nvSpPr>
        <p:spPr bwMode="auto">
          <a:xfrm rot="383696">
            <a:off x="1799063" y="5516828"/>
            <a:ext cx="27435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隐蔽性：虚拟网络空间中网民可以隐身发言</a:t>
            </a:r>
          </a:p>
        </p:txBody>
      </p:sp>
      <p:sp>
        <p:nvSpPr>
          <p:cNvPr id="170" name="TextBox 10"/>
          <p:cNvSpPr txBox="1">
            <a:spLocks noChangeArrowheads="1"/>
          </p:cNvSpPr>
          <p:nvPr/>
        </p:nvSpPr>
        <p:spPr bwMode="auto">
          <a:xfrm rot="21066444">
            <a:off x="1202192" y="3145771"/>
            <a:ext cx="23764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偏差性：网络舆情不等同于全民立场</a:t>
            </a:r>
          </a:p>
        </p:txBody>
      </p:sp>
      <p:sp>
        <p:nvSpPr>
          <p:cNvPr id="12" name="矩形 11"/>
          <p:cNvSpPr/>
          <p:nvPr/>
        </p:nvSpPr>
        <p:spPr>
          <a:xfrm>
            <a:off x="1386148" y="1399769"/>
            <a:ext cx="2954655" cy="461665"/>
          </a:xfrm>
          <a:prstGeom prst="rect">
            <a:avLst/>
          </a:prstGeom>
        </p:spPr>
        <p:txBody>
          <a:bodyPr wrap="none">
            <a:spAutoFit/>
          </a:bodyPr>
          <a:lstStyle/>
          <a:p>
            <a:r>
              <a:rPr lang="zh-CN" altLang="en-US" sz="2400" dirty="0">
                <a:solidFill>
                  <a:srgbClr val="F784A5"/>
                </a:solidFill>
                <a:latin typeface="微软雅黑" panose="020B0503020204020204" pitchFamily="34" charset="-122"/>
                <a:ea typeface="微软雅黑" panose="020B0503020204020204" pitchFamily="34" charset="-122"/>
                <a:sym typeface="Calibri" panose="020F0502020204030204" pitchFamily="34" charset="0"/>
              </a:rPr>
              <a:t>网络舆情分析的特点</a:t>
            </a:r>
          </a:p>
        </p:txBody>
      </p:sp>
      <p:sp>
        <p:nvSpPr>
          <p:cNvPr id="16"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网络舆情分析概述</a:t>
            </a:r>
          </a:p>
        </p:txBody>
      </p:sp>
      <p:sp>
        <p:nvSpPr>
          <p:cNvPr id="1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文本框 70"/>
          <p:cNvSpPr txBox="1"/>
          <p:nvPr/>
        </p:nvSpPr>
        <p:spPr>
          <a:xfrm>
            <a:off x="1169889" y="1616168"/>
            <a:ext cx="4124782" cy="523220"/>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800" dirty="0">
                <a:latin typeface="微软雅黑" panose="020B0503020204020204" pitchFamily="34" charset="-122"/>
                <a:ea typeface="微软雅黑" panose="020B0503020204020204" pitchFamily="34" charset="-122"/>
              </a:rPr>
              <a:t>人工舆情监控存在问题</a:t>
            </a:r>
          </a:p>
        </p:txBody>
      </p:sp>
      <p:sp>
        <p:nvSpPr>
          <p:cNvPr id="126" name="圆角矩形 125"/>
          <p:cNvSpPr/>
          <p:nvPr/>
        </p:nvSpPr>
        <p:spPr>
          <a:xfrm>
            <a:off x="1555070" y="2495169"/>
            <a:ext cx="3222328" cy="2946985"/>
          </a:xfrm>
          <a:prstGeom prst="roundRect">
            <a:avLst>
              <a:gd name="adj" fmla="val 4785"/>
            </a:avLst>
          </a:prstGeom>
          <a:solidFill>
            <a:schemeClr val="bg2"/>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28" name="圆角矩形 127"/>
          <p:cNvSpPr/>
          <p:nvPr/>
        </p:nvSpPr>
        <p:spPr>
          <a:xfrm>
            <a:off x="6932640" y="2655667"/>
            <a:ext cx="3222328" cy="2565261"/>
          </a:xfrm>
          <a:prstGeom prst="roundRect">
            <a:avLst>
              <a:gd name="adj" fmla="val 4785"/>
            </a:avLst>
          </a:prstGeom>
          <a:solidFill>
            <a:schemeClr val="accent6">
              <a:lumMod val="20000"/>
              <a:lumOff val="8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cxnSp>
        <p:nvCxnSpPr>
          <p:cNvPr id="133" name="直接连接符 132"/>
          <p:cNvCxnSpPr/>
          <p:nvPr/>
        </p:nvCxnSpPr>
        <p:spPr>
          <a:xfrm>
            <a:off x="1799303" y="3185652"/>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4" name="矩形 133"/>
          <p:cNvSpPr/>
          <p:nvPr/>
        </p:nvSpPr>
        <p:spPr>
          <a:xfrm>
            <a:off x="1858297" y="2713699"/>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舆情收集不全面</a:t>
            </a:r>
          </a:p>
        </p:txBody>
      </p:sp>
      <p:cxnSp>
        <p:nvCxnSpPr>
          <p:cNvPr id="135" name="直接连接符 134"/>
          <p:cNvCxnSpPr/>
          <p:nvPr/>
        </p:nvCxnSpPr>
        <p:spPr>
          <a:xfrm>
            <a:off x="1804220" y="3810001"/>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6" name="矩形 135"/>
          <p:cNvSpPr/>
          <p:nvPr/>
        </p:nvSpPr>
        <p:spPr>
          <a:xfrm>
            <a:off x="1863214" y="3338048"/>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舆情发现不及时</a:t>
            </a:r>
          </a:p>
        </p:txBody>
      </p:sp>
      <p:cxnSp>
        <p:nvCxnSpPr>
          <p:cNvPr id="137" name="直接连接符 136"/>
          <p:cNvCxnSpPr/>
          <p:nvPr/>
        </p:nvCxnSpPr>
        <p:spPr>
          <a:xfrm>
            <a:off x="1789471" y="4355690"/>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8" name="矩形 137"/>
          <p:cNvSpPr/>
          <p:nvPr/>
        </p:nvSpPr>
        <p:spPr>
          <a:xfrm>
            <a:off x="1848465" y="3883737"/>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舆情分析不准确</a:t>
            </a:r>
          </a:p>
        </p:txBody>
      </p:sp>
      <p:cxnSp>
        <p:nvCxnSpPr>
          <p:cNvPr id="139" name="直接连接符 138"/>
          <p:cNvCxnSpPr/>
          <p:nvPr/>
        </p:nvCxnSpPr>
        <p:spPr>
          <a:xfrm>
            <a:off x="1789471" y="4975123"/>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0" name="矩形 139"/>
          <p:cNvSpPr/>
          <p:nvPr/>
        </p:nvSpPr>
        <p:spPr>
          <a:xfrm>
            <a:off x="1848465" y="4503170"/>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舆情利用不便利</a:t>
            </a:r>
          </a:p>
        </p:txBody>
      </p:sp>
      <p:sp>
        <p:nvSpPr>
          <p:cNvPr id="143" name="文本框 70"/>
          <p:cNvSpPr txBox="1"/>
          <p:nvPr/>
        </p:nvSpPr>
        <p:spPr>
          <a:xfrm>
            <a:off x="6498973" y="1635832"/>
            <a:ext cx="4636060" cy="523220"/>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800" dirty="0">
                <a:latin typeface="微软雅黑" panose="020B0503020204020204" pitchFamily="34" charset="-122"/>
                <a:ea typeface="微软雅黑" panose="020B0503020204020204" pitchFamily="34" charset="-122"/>
              </a:rPr>
              <a:t>网络舆情分析应具备功能</a:t>
            </a:r>
          </a:p>
        </p:txBody>
      </p:sp>
      <p:cxnSp>
        <p:nvCxnSpPr>
          <p:cNvPr id="144" name="直接连接符 143"/>
          <p:cNvCxnSpPr/>
          <p:nvPr/>
        </p:nvCxnSpPr>
        <p:spPr>
          <a:xfrm>
            <a:off x="7221794" y="3357716"/>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5" name="矩形 144"/>
          <p:cNvSpPr/>
          <p:nvPr/>
        </p:nvSpPr>
        <p:spPr>
          <a:xfrm>
            <a:off x="7280788" y="2885763"/>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舆情分析引擎</a:t>
            </a:r>
          </a:p>
        </p:txBody>
      </p:sp>
      <p:cxnSp>
        <p:nvCxnSpPr>
          <p:cNvPr id="146" name="直接连接符 145"/>
          <p:cNvCxnSpPr/>
          <p:nvPr/>
        </p:nvCxnSpPr>
        <p:spPr>
          <a:xfrm>
            <a:off x="7251291" y="4021394"/>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7" name="矩形 146"/>
          <p:cNvSpPr/>
          <p:nvPr/>
        </p:nvSpPr>
        <p:spPr>
          <a:xfrm>
            <a:off x="7310285" y="3549441"/>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自动信息采集</a:t>
            </a:r>
          </a:p>
        </p:txBody>
      </p:sp>
      <p:cxnSp>
        <p:nvCxnSpPr>
          <p:cNvPr id="148" name="直接连接符 147"/>
          <p:cNvCxnSpPr/>
          <p:nvPr/>
        </p:nvCxnSpPr>
        <p:spPr>
          <a:xfrm>
            <a:off x="7251291" y="4714568"/>
            <a:ext cx="2551471" cy="1588"/>
          </a:xfrm>
          <a:prstGeom prst="line">
            <a:avLst/>
          </a:prstGeom>
          <a:ln>
            <a:solidFill>
              <a:schemeClr val="accent1">
                <a:lumMod val="75000"/>
              </a:schemeClr>
            </a:solidFill>
            <a:prstDash val="lg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9" name="矩形 148"/>
          <p:cNvSpPr/>
          <p:nvPr/>
        </p:nvSpPr>
        <p:spPr>
          <a:xfrm>
            <a:off x="7310285" y="4242615"/>
            <a:ext cx="2477729" cy="412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n"/>
            </a:pPr>
            <a:r>
              <a:rPr lang="zh-CN" altLang="en-US" dirty="0">
                <a:solidFill>
                  <a:schemeClr val="tx1"/>
                </a:solidFill>
                <a:latin typeface="微软雅黑" panose="020B0503020204020204" pitchFamily="34" charset="-122"/>
                <a:ea typeface="微软雅黑" panose="020B0503020204020204" pitchFamily="34" charset="-122"/>
              </a:rPr>
              <a:t>    信息抽取</a:t>
            </a:r>
          </a:p>
        </p:txBody>
      </p:sp>
      <p:sp>
        <p:nvSpPr>
          <p:cNvPr id="9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网络舆情分析概述</a:t>
            </a:r>
          </a:p>
        </p:txBody>
      </p:sp>
      <p:sp>
        <p:nvSpPr>
          <p:cNvPr id="9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28874" y="1995768"/>
            <a:ext cx="7334251" cy="1668760"/>
          </a:xfrm>
          <a:prstGeom prst="rect">
            <a:avLst/>
          </a:prstGeom>
          <a:noFill/>
          <a:ln w="9525">
            <a:noFill/>
            <a:miter lim="800000"/>
          </a:ln>
        </p:spPr>
        <p:txBody>
          <a:bodyPr/>
          <a:lstStyle/>
          <a:p>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r>
              <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关键技术</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2"/>
          <p:cNvSpPr txBox="1">
            <a:spLocks noGrp="1"/>
          </p:cNvSpPr>
          <p:nvPr/>
        </p:nvSpPr>
        <p:spPr bwMode="auto">
          <a:xfrm>
            <a:off x="11154834" y="6524626"/>
            <a:ext cx="6053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457200">
              <a:defRPr>
                <a:solidFill>
                  <a:schemeClr val="tx1"/>
                </a:solidFill>
                <a:latin typeface="Arial" panose="020B0604020202020204" pitchFamily="34" charset="0"/>
                <a:ea typeface="宋体" panose="02010600030101010101" pitchFamily="2" charset="-122"/>
              </a:defRPr>
            </a:lvl1pPr>
            <a:lvl2pPr marL="742950" indent="-285750" algn="l" defTabSz="457200">
              <a:defRPr>
                <a:solidFill>
                  <a:schemeClr val="tx1"/>
                </a:solidFill>
                <a:latin typeface="Arial" panose="020B0604020202020204" pitchFamily="34" charset="0"/>
                <a:ea typeface="宋体" panose="02010600030101010101" pitchFamily="2" charset="-122"/>
              </a:defRPr>
            </a:lvl2pPr>
            <a:lvl3pPr marL="1143000" indent="-228600" algn="l" defTabSz="457200">
              <a:defRPr>
                <a:solidFill>
                  <a:schemeClr val="tx1"/>
                </a:solidFill>
                <a:latin typeface="Arial" panose="020B0604020202020204" pitchFamily="34" charset="0"/>
                <a:ea typeface="宋体" panose="02010600030101010101" pitchFamily="2" charset="-122"/>
              </a:defRPr>
            </a:lvl3pPr>
            <a:lvl4pPr marL="1600200" indent="-228600" algn="l" defTabSz="457200">
              <a:defRPr>
                <a:solidFill>
                  <a:schemeClr val="tx1"/>
                </a:solidFill>
                <a:latin typeface="Arial" panose="020B0604020202020204" pitchFamily="34" charset="0"/>
                <a:ea typeface="宋体" panose="02010600030101010101" pitchFamily="2" charset="-122"/>
              </a:defRPr>
            </a:lvl4pPr>
            <a:lvl5pPr marL="2057400" indent="-228600" algn="l" defTabSz="457200">
              <a:defRPr>
                <a:solidFill>
                  <a:schemeClr val="tx1"/>
                </a:solidFill>
                <a:latin typeface="Arial" panose="020B0604020202020204" pitchFamily="34" charset="0"/>
                <a:ea typeface="宋体" panose="02010600030101010101" pitchFamily="2" charset="-122"/>
              </a:defRPr>
            </a:lvl5pPr>
            <a:lvl6pPr marL="25146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A5E98FF5-FEAB-4E7F-8C43-192431B25E61}" type="slidenum">
              <a:rPr lang="en-US" altLang="zh-CN" sz="1200">
                <a:solidFill>
                  <a:schemeClr val="bg1"/>
                </a:solidFill>
                <a:latin typeface="Calibri" panose="020F0502020204030204" pitchFamily="34" charset="0"/>
              </a:rPr>
              <a:t>106</a:t>
            </a:fld>
            <a:endParaRPr lang="en-US" altLang="zh-CN" sz="1200" dirty="0">
              <a:solidFill>
                <a:schemeClr val="bg1"/>
              </a:solidFill>
              <a:latin typeface="Calibri" panose="020F0502020204030204" pitchFamily="34" charset="0"/>
            </a:endParaRPr>
          </a:p>
        </p:txBody>
      </p:sp>
      <p:sp>
        <p:nvSpPr>
          <p:cNvPr id="137" name="矩形 1"/>
          <p:cNvSpPr/>
          <p:nvPr/>
        </p:nvSpPr>
        <p:spPr>
          <a:xfrm>
            <a:off x="868748" y="4142252"/>
            <a:ext cx="2199954" cy="461665"/>
          </a:xfrm>
          <a:prstGeom prst="rect">
            <a:avLst/>
          </a:prstGeom>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信息采集技术</a:t>
            </a:r>
            <a:endParaRPr lang="en-US" altLang="zh-CN" sz="2400" b="1" dirty="0">
              <a:latin typeface="微软雅黑" panose="020B0503020204020204" pitchFamily="34" charset="-122"/>
              <a:ea typeface="微软雅黑" panose="020B0503020204020204" pitchFamily="34" charset="-122"/>
            </a:endParaRPr>
          </a:p>
        </p:txBody>
      </p:sp>
      <p:sp>
        <p:nvSpPr>
          <p:cNvPr id="138" name="矩形 2"/>
          <p:cNvSpPr/>
          <p:nvPr/>
        </p:nvSpPr>
        <p:spPr>
          <a:xfrm>
            <a:off x="2951395" y="4114541"/>
            <a:ext cx="2320381" cy="461665"/>
          </a:xfrm>
          <a:prstGeom prst="rect">
            <a:avLst/>
          </a:prstGeom>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热点发现</a:t>
            </a:r>
            <a:endParaRPr lang="en-US" altLang="zh-CN" sz="2400" b="1" dirty="0">
              <a:latin typeface="微软雅黑" panose="020B0503020204020204" pitchFamily="34" charset="-122"/>
              <a:ea typeface="微软雅黑" panose="020B0503020204020204" pitchFamily="34" charset="-122"/>
            </a:endParaRPr>
          </a:p>
        </p:txBody>
      </p:sp>
      <p:sp>
        <p:nvSpPr>
          <p:cNvPr id="139" name="矩形 138"/>
          <p:cNvSpPr/>
          <p:nvPr/>
        </p:nvSpPr>
        <p:spPr>
          <a:xfrm>
            <a:off x="5002912" y="4097871"/>
            <a:ext cx="2410691" cy="461665"/>
          </a:xfrm>
          <a:prstGeom prst="rect">
            <a:avLst/>
          </a:prstGeom>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热点评估</a:t>
            </a:r>
            <a:endParaRPr lang="en-US" altLang="zh-CN" sz="2400" b="1" dirty="0">
              <a:latin typeface="微软雅黑" panose="020B0503020204020204" pitchFamily="34" charset="-122"/>
              <a:ea typeface="微软雅黑" panose="020B0503020204020204" pitchFamily="34" charset="-122"/>
            </a:endParaRPr>
          </a:p>
        </p:txBody>
      </p:sp>
      <p:grpSp>
        <p:nvGrpSpPr>
          <p:cNvPr id="152" name="组合 151"/>
          <p:cNvGrpSpPr/>
          <p:nvPr/>
        </p:nvGrpSpPr>
        <p:grpSpPr>
          <a:xfrm>
            <a:off x="5550316" y="2345968"/>
            <a:ext cx="1233946" cy="1223141"/>
            <a:chOff x="6184494" y="3614330"/>
            <a:chExt cx="478980" cy="478981"/>
          </a:xfrm>
        </p:grpSpPr>
        <p:sp>
          <p:nvSpPr>
            <p:cNvPr id="145" name="Freeform 166"/>
            <p:cNvSpPr/>
            <p:nvPr/>
          </p:nvSpPr>
          <p:spPr bwMode="auto">
            <a:xfrm>
              <a:off x="6184494" y="3614330"/>
              <a:ext cx="478980" cy="478980"/>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A491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6" name="Freeform 167"/>
            <p:cNvSpPr/>
            <p:nvPr/>
          </p:nvSpPr>
          <p:spPr bwMode="auto">
            <a:xfrm>
              <a:off x="6281233" y="3745283"/>
              <a:ext cx="382241" cy="348028"/>
            </a:xfrm>
            <a:custGeom>
              <a:avLst/>
              <a:gdLst>
                <a:gd name="T0" fmla="*/ 134 w 204"/>
                <a:gd name="T1" fmla="*/ 45 h 186"/>
                <a:gd name="T2" fmla="*/ 129 w 204"/>
                <a:gd name="T3" fmla="*/ 47 h 186"/>
                <a:gd name="T4" fmla="*/ 105 w 204"/>
                <a:gd name="T5" fmla="*/ 23 h 186"/>
                <a:gd name="T6" fmla="*/ 88 w 204"/>
                <a:gd name="T7" fmla="*/ 41 h 186"/>
                <a:gd name="T8" fmla="*/ 107 w 204"/>
                <a:gd name="T9" fmla="*/ 60 h 186"/>
                <a:gd name="T10" fmla="*/ 92 w 204"/>
                <a:gd name="T11" fmla="*/ 68 h 186"/>
                <a:gd name="T12" fmla="*/ 70 w 204"/>
                <a:gd name="T13" fmla="*/ 47 h 186"/>
                <a:gd name="T14" fmla="*/ 53 w 204"/>
                <a:gd name="T15" fmla="*/ 64 h 186"/>
                <a:gd name="T16" fmla="*/ 70 w 204"/>
                <a:gd name="T17" fmla="*/ 81 h 186"/>
                <a:gd name="T18" fmla="*/ 55 w 204"/>
                <a:gd name="T19" fmla="*/ 89 h 186"/>
                <a:gd name="T20" fmla="*/ 35 w 204"/>
                <a:gd name="T21" fmla="*/ 70 h 186"/>
                <a:gd name="T22" fmla="*/ 12 w 204"/>
                <a:gd name="T23" fmla="*/ 93 h 186"/>
                <a:gd name="T24" fmla="*/ 25 w 204"/>
                <a:gd name="T25" fmla="*/ 106 h 186"/>
                <a:gd name="T26" fmla="*/ 0 w 204"/>
                <a:gd name="T27" fmla="*/ 116 h 186"/>
                <a:gd name="T28" fmla="*/ 70 w 204"/>
                <a:gd name="T29" fmla="*/ 186 h 186"/>
                <a:gd name="T30" fmla="*/ 164 w 204"/>
                <a:gd name="T31" fmla="*/ 186 h 186"/>
                <a:gd name="T32" fmla="*/ 204 w 204"/>
                <a:gd name="T33" fmla="*/ 146 h 186"/>
                <a:gd name="T34" fmla="*/ 204 w 204"/>
                <a:gd name="T35" fmla="*/ 64 h 186"/>
                <a:gd name="T36" fmla="*/ 140 w 204"/>
                <a:gd name="T37" fmla="*/ 0 h 186"/>
                <a:gd name="T38" fmla="*/ 134 w 204"/>
                <a:gd name="T39" fmla="*/ 4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186">
                  <a:moveTo>
                    <a:pt x="134" y="45"/>
                  </a:moveTo>
                  <a:cubicBezTo>
                    <a:pt x="129" y="47"/>
                    <a:pt x="129" y="47"/>
                    <a:pt x="129" y="47"/>
                  </a:cubicBezTo>
                  <a:cubicBezTo>
                    <a:pt x="105" y="23"/>
                    <a:pt x="105" y="23"/>
                    <a:pt x="105" y="23"/>
                  </a:cubicBezTo>
                  <a:cubicBezTo>
                    <a:pt x="88" y="41"/>
                    <a:pt x="88" y="41"/>
                    <a:pt x="88" y="41"/>
                  </a:cubicBezTo>
                  <a:cubicBezTo>
                    <a:pt x="107" y="60"/>
                    <a:pt x="107" y="60"/>
                    <a:pt x="107" y="60"/>
                  </a:cubicBezTo>
                  <a:cubicBezTo>
                    <a:pt x="92" y="68"/>
                    <a:pt x="92" y="68"/>
                    <a:pt x="92" y="68"/>
                  </a:cubicBezTo>
                  <a:cubicBezTo>
                    <a:pt x="70" y="47"/>
                    <a:pt x="70" y="47"/>
                    <a:pt x="70" y="47"/>
                  </a:cubicBezTo>
                  <a:cubicBezTo>
                    <a:pt x="53" y="64"/>
                    <a:pt x="53" y="64"/>
                    <a:pt x="53" y="64"/>
                  </a:cubicBezTo>
                  <a:cubicBezTo>
                    <a:pt x="70" y="81"/>
                    <a:pt x="70" y="81"/>
                    <a:pt x="70" y="81"/>
                  </a:cubicBezTo>
                  <a:cubicBezTo>
                    <a:pt x="55" y="89"/>
                    <a:pt x="55" y="89"/>
                    <a:pt x="55" y="89"/>
                  </a:cubicBezTo>
                  <a:cubicBezTo>
                    <a:pt x="35" y="70"/>
                    <a:pt x="35" y="70"/>
                    <a:pt x="35" y="70"/>
                  </a:cubicBezTo>
                  <a:cubicBezTo>
                    <a:pt x="12" y="93"/>
                    <a:pt x="12" y="93"/>
                    <a:pt x="12" y="93"/>
                  </a:cubicBezTo>
                  <a:cubicBezTo>
                    <a:pt x="25" y="106"/>
                    <a:pt x="25" y="106"/>
                    <a:pt x="25" y="106"/>
                  </a:cubicBezTo>
                  <a:cubicBezTo>
                    <a:pt x="0" y="116"/>
                    <a:pt x="0" y="116"/>
                    <a:pt x="0" y="116"/>
                  </a:cubicBezTo>
                  <a:cubicBezTo>
                    <a:pt x="70" y="186"/>
                    <a:pt x="70" y="186"/>
                    <a:pt x="70" y="186"/>
                  </a:cubicBezTo>
                  <a:cubicBezTo>
                    <a:pt x="164" y="186"/>
                    <a:pt x="164" y="186"/>
                    <a:pt x="164" y="186"/>
                  </a:cubicBezTo>
                  <a:cubicBezTo>
                    <a:pt x="186" y="186"/>
                    <a:pt x="204" y="168"/>
                    <a:pt x="204" y="146"/>
                  </a:cubicBezTo>
                  <a:cubicBezTo>
                    <a:pt x="204" y="64"/>
                    <a:pt x="204" y="64"/>
                    <a:pt x="204" y="64"/>
                  </a:cubicBezTo>
                  <a:cubicBezTo>
                    <a:pt x="140" y="0"/>
                    <a:pt x="140" y="0"/>
                    <a:pt x="140" y="0"/>
                  </a:cubicBezTo>
                  <a:lnTo>
                    <a:pt x="134" y="45"/>
                  </a:lnTo>
                  <a:close/>
                </a:path>
              </a:pathLst>
            </a:custGeom>
            <a:solidFill>
              <a:srgbClr val="8D79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7" name="Rectangle 168"/>
            <p:cNvSpPr>
              <a:spLocks noChangeArrowheads="1"/>
            </p:cNvSpPr>
            <p:nvPr/>
          </p:nvSpPr>
          <p:spPr bwMode="auto">
            <a:xfrm>
              <a:off x="6303649" y="3876235"/>
              <a:ext cx="43651" cy="42471"/>
            </a:xfrm>
            <a:prstGeom prst="rect">
              <a:avLst/>
            </a:prstGeom>
            <a:solidFill>
              <a:srgbClr val="AFD3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8" name="Rectangle 169"/>
            <p:cNvSpPr>
              <a:spLocks noChangeArrowheads="1"/>
            </p:cNvSpPr>
            <p:nvPr/>
          </p:nvSpPr>
          <p:spPr bwMode="auto">
            <a:xfrm>
              <a:off x="6369715" y="3832585"/>
              <a:ext cx="42471" cy="86122"/>
            </a:xfrm>
            <a:prstGeom prst="rect">
              <a:avLst/>
            </a:prstGeom>
            <a:solidFill>
              <a:srgbClr val="AFD3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9" name="Rectangle 170"/>
            <p:cNvSpPr>
              <a:spLocks noChangeArrowheads="1"/>
            </p:cNvSpPr>
            <p:nvPr/>
          </p:nvSpPr>
          <p:spPr bwMode="auto">
            <a:xfrm>
              <a:off x="6434602" y="3787754"/>
              <a:ext cx="43651" cy="130953"/>
            </a:xfrm>
            <a:prstGeom prst="rect">
              <a:avLst/>
            </a:prstGeom>
            <a:solidFill>
              <a:srgbClr val="AFD3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0" name="Rectangle 171"/>
            <p:cNvSpPr>
              <a:spLocks noChangeArrowheads="1"/>
            </p:cNvSpPr>
            <p:nvPr/>
          </p:nvSpPr>
          <p:spPr bwMode="auto">
            <a:xfrm>
              <a:off x="6500668" y="3745283"/>
              <a:ext cx="42471" cy="173424"/>
            </a:xfrm>
            <a:prstGeom prst="rect">
              <a:avLst/>
            </a:prstGeom>
            <a:solidFill>
              <a:srgbClr val="AFD3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1" name="Rectangle 172"/>
            <p:cNvSpPr>
              <a:spLocks noChangeArrowheads="1"/>
            </p:cNvSpPr>
            <p:nvPr/>
          </p:nvSpPr>
          <p:spPr bwMode="auto">
            <a:xfrm>
              <a:off x="6281233" y="3939942"/>
              <a:ext cx="284321" cy="22416"/>
            </a:xfrm>
            <a:prstGeom prst="rect">
              <a:avLst/>
            </a:prstGeom>
            <a:solidFill>
              <a:srgbClr val="F5F7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53" name="矩形 152"/>
          <p:cNvSpPr/>
          <p:nvPr/>
        </p:nvSpPr>
        <p:spPr>
          <a:xfrm>
            <a:off x="7018966" y="4117535"/>
            <a:ext cx="2410691" cy="461665"/>
          </a:xfrm>
          <a:prstGeom prst="rect">
            <a:avLst/>
          </a:prstGeom>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主题跟踪</a:t>
            </a:r>
            <a:endParaRPr lang="en-US" altLang="zh-CN" sz="2400" b="1" dirty="0">
              <a:latin typeface="微软雅黑" panose="020B0503020204020204" pitchFamily="34" charset="-122"/>
              <a:ea typeface="微软雅黑" panose="020B0503020204020204" pitchFamily="34" charset="-122"/>
            </a:endParaRPr>
          </a:p>
        </p:txBody>
      </p:sp>
      <p:sp>
        <p:nvSpPr>
          <p:cNvPr id="154" name="矩形 153"/>
          <p:cNvSpPr/>
          <p:nvPr/>
        </p:nvSpPr>
        <p:spPr>
          <a:xfrm>
            <a:off x="8893798" y="4117535"/>
            <a:ext cx="2410691" cy="461665"/>
          </a:xfrm>
          <a:prstGeom prst="rect">
            <a:avLst/>
          </a:prstGeom>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分析处理</a:t>
            </a:r>
            <a:endParaRPr lang="en-US" altLang="zh-CN" sz="2400" b="1" dirty="0">
              <a:latin typeface="微软雅黑" panose="020B0503020204020204" pitchFamily="34" charset="-122"/>
              <a:ea typeface="微软雅黑" panose="020B0503020204020204" pitchFamily="34" charset="-122"/>
            </a:endParaRPr>
          </a:p>
        </p:txBody>
      </p:sp>
      <p:grpSp>
        <p:nvGrpSpPr>
          <p:cNvPr id="159" name="组合 158"/>
          <p:cNvGrpSpPr/>
          <p:nvPr/>
        </p:nvGrpSpPr>
        <p:grpSpPr>
          <a:xfrm>
            <a:off x="1376829" y="2321813"/>
            <a:ext cx="1218889" cy="1232545"/>
            <a:chOff x="2556699" y="2277571"/>
            <a:chExt cx="461346" cy="461346"/>
          </a:xfrm>
        </p:grpSpPr>
        <p:sp>
          <p:nvSpPr>
            <p:cNvPr id="155" name="Freeform 348"/>
            <p:cNvSpPr/>
            <p:nvPr/>
          </p:nvSpPr>
          <p:spPr bwMode="auto">
            <a:xfrm>
              <a:off x="2556699" y="2277571"/>
              <a:ext cx="461346" cy="461346"/>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AFD36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349"/>
            <p:cNvSpPr/>
            <p:nvPr/>
          </p:nvSpPr>
          <p:spPr bwMode="auto">
            <a:xfrm>
              <a:off x="2668220" y="2441918"/>
              <a:ext cx="349824" cy="296999"/>
            </a:xfrm>
            <a:custGeom>
              <a:avLst/>
              <a:gdLst>
                <a:gd name="T0" fmla="*/ 0 w 194"/>
                <a:gd name="T1" fmla="*/ 85 h 165"/>
                <a:gd name="T2" fmla="*/ 80 w 194"/>
                <a:gd name="T3" fmla="*/ 165 h 165"/>
                <a:gd name="T4" fmla="*/ 154 w 194"/>
                <a:gd name="T5" fmla="*/ 165 h 165"/>
                <a:gd name="T6" fmla="*/ 194 w 194"/>
                <a:gd name="T7" fmla="*/ 126 h 165"/>
                <a:gd name="T8" fmla="*/ 194 w 194"/>
                <a:gd name="T9" fmla="*/ 85 h 165"/>
                <a:gd name="T10" fmla="*/ 109 w 194"/>
                <a:gd name="T11" fmla="*/ 0 h 165"/>
                <a:gd name="T12" fmla="*/ 0 w 194"/>
                <a:gd name="T13" fmla="*/ 85 h 165"/>
              </a:gdLst>
              <a:ahLst/>
              <a:cxnLst>
                <a:cxn ang="0">
                  <a:pos x="T0" y="T1"/>
                </a:cxn>
                <a:cxn ang="0">
                  <a:pos x="T2" y="T3"/>
                </a:cxn>
                <a:cxn ang="0">
                  <a:pos x="T4" y="T5"/>
                </a:cxn>
                <a:cxn ang="0">
                  <a:pos x="T6" y="T7"/>
                </a:cxn>
                <a:cxn ang="0">
                  <a:pos x="T8" y="T9"/>
                </a:cxn>
                <a:cxn ang="0">
                  <a:pos x="T10" y="T11"/>
                </a:cxn>
                <a:cxn ang="0">
                  <a:pos x="T12" y="T13"/>
                </a:cxn>
              </a:cxnLst>
              <a:rect l="0" t="0" r="r" b="b"/>
              <a:pathLst>
                <a:path w="194" h="165">
                  <a:moveTo>
                    <a:pt x="0" y="85"/>
                  </a:moveTo>
                  <a:cubicBezTo>
                    <a:pt x="80" y="165"/>
                    <a:pt x="80" y="165"/>
                    <a:pt x="80" y="165"/>
                  </a:cubicBezTo>
                  <a:cubicBezTo>
                    <a:pt x="154" y="165"/>
                    <a:pt x="154" y="165"/>
                    <a:pt x="154" y="165"/>
                  </a:cubicBezTo>
                  <a:cubicBezTo>
                    <a:pt x="176" y="165"/>
                    <a:pt x="194" y="147"/>
                    <a:pt x="194" y="126"/>
                  </a:cubicBezTo>
                  <a:cubicBezTo>
                    <a:pt x="194" y="85"/>
                    <a:pt x="194" y="85"/>
                    <a:pt x="194" y="85"/>
                  </a:cubicBezTo>
                  <a:cubicBezTo>
                    <a:pt x="109" y="0"/>
                    <a:pt x="109" y="0"/>
                    <a:pt x="109" y="0"/>
                  </a:cubicBezTo>
                  <a:lnTo>
                    <a:pt x="0" y="85"/>
                  </a:lnTo>
                  <a:close/>
                </a:path>
              </a:pathLst>
            </a:custGeom>
            <a:solidFill>
              <a:srgbClr val="9CC05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350"/>
            <p:cNvSpPr/>
            <p:nvPr/>
          </p:nvSpPr>
          <p:spPr bwMode="auto">
            <a:xfrm>
              <a:off x="2650612" y="2418440"/>
              <a:ext cx="273521" cy="198391"/>
            </a:xfrm>
            <a:custGeom>
              <a:avLst/>
              <a:gdLst>
                <a:gd name="T0" fmla="*/ 110 w 152"/>
                <a:gd name="T1" fmla="*/ 110 h 110"/>
                <a:gd name="T2" fmla="*/ 37 w 152"/>
                <a:gd name="T3" fmla="*/ 110 h 110"/>
                <a:gd name="T4" fmla="*/ 11 w 152"/>
                <a:gd name="T5" fmla="*/ 99 h 110"/>
                <a:gd name="T6" fmla="*/ 0 w 152"/>
                <a:gd name="T7" fmla="*/ 72 h 110"/>
                <a:gd name="T8" fmla="*/ 16 w 152"/>
                <a:gd name="T9" fmla="*/ 41 h 110"/>
                <a:gd name="T10" fmla="*/ 16 w 152"/>
                <a:gd name="T11" fmla="*/ 40 h 110"/>
                <a:gd name="T12" fmla="*/ 44 w 152"/>
                <a:gd name="T13" fmla="*/ 12 h 110"/>
                <a:gd name="T14" fmla="*/ 55 w 152"/>
                <a:gd name="T15" fmla="*/ 14 h 110"/>
                <a:gd name="T16" fmla="*/ 87 w 152"/>
                <a:gd name="T17" fmla="*/ 0 h 110"/>
                <a:gd name="T18" fmla="*/ 115 w 152"/>
                <a:gd name="T19" fmla="*/ 9 h 110"/>
                <a:gd name="T20" fmla="*/ 130 w 152"/>
                <a:gd name="T21" fmla="*/ 29 h 110"/>
                <a:gd name="T22" fmla="*/ 152 w 152"/>
                <a:gd name="T23" fmla="*/ 67 h 110"/>
                <a:gd name="T24" fmla="*/ 140 w 152"/>
                <a:gd name="T25" fmla="*/ 97 h 110"/>
                <a:gd name="T26" fmla="*/ 110 w 152"/>
                <a:gd name="T27"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10">
                  <a:moveTo>
                    <a:pt x="110" y="110"/>
                  </a:moveTo>
                  <a:cubicBezTo>
                    <a:pt x="37" y="110"/>
                    <a:pt x="37" y="110"/>
                    <a:pt x="37" y="110"/>
                  </a:cubicBezTo>
                  <a:cubicBezTo>
                    <a:pt x="27" y="110"/>
                    <a:pt x="18" y="106"/>
                    <a:pt x="11" y="99"/>
                  </a:cubicBezTo>
                  <a:cubicBezTo>
                    <a:pt x="4" y="92"/>
                    <a:pt x="0" y="82"/>
                    <a:pt x="0" y="72"/>
                  </a:cubicBezTo>
                  <a:cubicBezTo>
                    <a:pt x="0" y="60"/>
                    <a:pt x="6" y="48"/>
                    <a:pt x="16" y="41"/>
                  </a:cubicBezTo>
                  <a:cubicBezTo>
                    <a:pt x="16" y="41"/>
                    <a:pt x="16" y="40"/>
                    <a:pt x="16" y="40"/>
                  </a:cubicBezTo>
                  <a:cubicBezTo>
                    <a:pt x="16" y="24"/>
                    <a:pt x="29" y="12"/>
                    <a:pt x="44" y="12"/>
                  </a:cubicBezTo>
                  <a:cubicBezTo>
                    <a:pt x="48" y="12"/>
                    <a:pt x="52" y="12"/>
                    <a:pt x="55" y="14"/>
                  </a:cubicBezTo>
                  <a:cubicBezTo>
                    <a:pt x="63" y="5"/>
                    <a:pt x="75" y="0"/>
                    <a:pt x="87" y="0"/>
                  </a:cubicBezTo>
                  <a:cubicBezTo>
                    <a:pt x="97" y="0"/>
                    <a:pt x="107" y="3"/>
                    <a:pt x="115" y="9"/>
                  </a:cubicBezTo>
                  <a:cubicBezTo>
                    <a:pt x="122" y="14"/>
                    <a:pt x="127" y="21"/>
                    <a:pt x="130" y="29"/>
                  </a:cubicBezTo>
                  <a:cubicBezTo>
                    <a:pt x="143" y="37"/>
                    <a:pt x="152" y="51"/>
                    <a:pt x="152" y="67"/>
                  </a:cubicBezTo>
                  <a:cubicBezTo>
                    <a:pt x="152" y="78"/>
                    <a:pt x="147" y="89"/>
                    <a:pt x="140" y="97"/>
                  </a:cubicBezTo>
                  <a:cubicBezTo>
                    <a:pt x="132" y="105"/>
                    <a:pt x="121" y="110"/>
                    <a:pt x="110" y="110"/>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351"/>
            <p:cNvSpPr/>
            <p:nvPr/>
          </p:nvSpPr>
          <p:spPr bwMode="auto">
            <a:xfrm>
              <a:off x="2735133" y="2475962"/>
              <a:ext cx="104478" cy="115043"/>
            </a:xfrm>
            <a:custGeom>
              <a:avLst/>
              <a:gdLst>
                <a:gd name="T0" fmla="*/ 63 w 89"/>
                <a:gd name="T1" fmla="*/ 45 h 98"/>
                <a:gd name="T2" fmla="*/ 63 w 89"/>
                <a:gd name="T3" fmla="*/ 0 h 98"/>
                <a:gd name="T4" fmla="*/ 26 w 89"/>
                <a:gd name="T5" fmla="*/ 0 h 98"/>
                <a:gd name="T6" fmla="*/ 26 w 89"/>
                <a:gd name="T7" fmla="*/ 45 h 98"/>
                <a:gd name="T8" fmla="*/ 0 w 89"/>
                <a:gd name="T9" fmla="*/ 45 h 98"/>
                <a:gd name="T10" fmla="*/ 45 w 89"/>
                <a:gd name="T11" fmla="*/ 98 h 98"/>
                <a:gd name="T12" fmla="*/ 89 w 89"/>
                <a:gd name="T13" fmla="*/ 45 h 98"/>
                <a:gd name="T14" fmla="*/ 63 w 89"/>
                <a:gd name="T15" fmla="*/ 45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98">
                  <a:moveTo>
                    <a:pt x="63" y="45"/>
                  </a:moveTo>
                  <a:lnTo>
                    <a:pt x="63" y="0"/>
                  </a:lnTo>
                  <a:lnTo>
                    <a:pt x="26" y="0"/>
                  </a:lnTo>
                  <a:lnTo>
                    <a:pt x="26" y="45"/>
                  </a:lnTo>
                  <a:lnTo>
                    <a:pt x="0" y="45"/>
                  </a:lnTo>
                  <a:lnTo>
                    <a:pt x="45" y="98"/>
                  </a:lnTo>
                  <a:lnTo>
                    <a:pt x="89" y="45"/>
                  </a:lnTo>
                  <a:lnTo>
                    <a:pt x="63" y="45"/>
                  </a:lnTo>
                  <a:close/>
                </a:path>
              </a:pathLst>
            </a:custGeom>
            <a:solidFill>
              <a:srgbClr val="AFD36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4" name="组合 163"/>
          <p:cNvGrpSpPr/>
          <p:nvPr/>
        </p:nvGrpSpPr>
        <p:grpSpPr>
          <a:xfrm>
            <a:off x="3459156" y="2321932"/>
            <a:ext cx="1245584" cy="1202932"/>
            <a:chOff x="1718842" y="4607933"/>
            <a:chExt cx="476755" cy="475581"/>
          </a:xfrm>
        </p:grpSpPr>
        <p:sp>
          <p:nvSpPr>
            <p:cNvPr id="160" name="Freeform 98"/>
            <p:cNvSpPr/>
            <p:nvPr/>
          </p:nvSpPr>
          <p:spPr bwMode="auto">
            <a:xfrm>
              <a:off x="1718842" y="4607933"/>
              <a:ext cx="476755" cy="475581"/>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A491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1" name="Freeform 99"/>
            <p:cNvSpPr/>
            <p:nvPr/>
          </p:nvSpPr>
          <p:spPr bwMode="auto">
            <a:xfrm>
              <a:off x="1842140" y="4748846"/>
              <a:ext cx="353457" cy="334668"/>
            </a:xfrm>
            <a:custGeom>
              <a:avLst/>
              <a:gdLst>
                <a:gd name="T0" fmla="*/ 0 w 190"/>
                <a:gd name="T1" fmla="*/ 125 h 180"/>
                <a:gd name="T2" fmla="*/ 56 w 190"/>
                <a:gd name="T3" fmla="*/ 180 h 180"/>
                <a:gd name="T4" fmla="*/ 150 w 190"/>
                <a:gd name="T5" fmla="*/ 180 h 180"/>
                <a:gd name="T6" fmla="*/ 190 w 190"/>
                <a:gd name="T7" fmla="*/ 140 h 180"/>
                <a:gd name="T8" fmla="*/ 190 w 190"/>
                <a:gd name="T9" fmla="*/ 64 h 180"/>
                <a:gd name="T10" fmla="*/ 126 w 190"/>
                <a:gd name="T11" fmla="*/ 0 h 180"/>
                <a:gd name="T12" fmla="*/ 0 w 190"/>
                <a:gd name="T13" fmla="*/ 125 h 180"/>
              </a:gdLst>
              <a:ahLst/>
              <a:cxnLst>
                <a:cxn ang="0">
                  <a:pos x="T0" y="T1"/>
                </a:cxn>
                <a:cxn ang="0">
                  <a:pos x="T2" y="T3"/>
                </a:cxn>
                <a:cxn ang="0">
                  <a:pos x="T4" y="T5"/>
                </a:cxn>
                <a:cxn ang="0">
                  <a:pos x="T6" y="T7"/>
                </a:cxn>
                <a:cxn ang="0">
                  <a:pos x="T8" y="T9"/>
                </a:cxn>
                <a:cxn ang="0">
                  <a:pos x="T10" y="T11"/>
                </a:cxn>
                <a:cxn ang="0">
                  <a:pos x="T12" y="T13"/>
                </a:cxn>
              </a:cxnLst>
              <a:rect l="0" t="0" r="r" b="b"/>
              <a:pathLst>
                <a:path w="190" h="180">
                  <a:moveTo>
                    <a:pt x="0" y="125"/>
                  </a:moveTo>
                  <a:cubicBezTo>
                    <a:pt x="56" y="180"/>
                    <a:pt x="56" y="180"/>
                    <a:pt x="56" y="180"/>
                  </a:cubicBezTo>
                  <a:cubicBezTo>
                    <a:pt x="150" y="180"/>
                    <a:pt x="150" y="180"/>
                    <a:pt x="150" y="180"/>
                  </a:cubicBezTo>
                  <a:cubicBezTo>
                    <a:pt x="172" y="180"/>
                    <a:pt x="190" y="162"/>
                    <a:pt x="190" y="140"/>
                  </a:cubicBezTo>
                  <a:cubicBezTo>
                    <a:pt x="190" y="64"/>
                    <a:pt x="190" y="64"/>
                    <a:pt x="190" y="64"/>
                  </a:cubicBezTo>
                  <a:cubicBezTo>
                    <a:pt x="126" y="0"/>
                    <a:pt x="126" y="0"/>
                    <a:pt x="126" y="0"/>
                  </a:cubicBezTo>
                  <a:lnTo>
                    <a:pt x="0" y="125"/>
                  </a:lnTo>
                  <a:close/>
                </a:path>
              </a:pathLst>
            </a:custGeom>
            <a:solidFill>
              <a:srgbClr val="8D79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2" name="Freeform 100"/>
            <p:cNvSpPr/>
            <p:nvPr/>
          </p:nvSpPr>
          <p:spPr bwMode="auto">
            <a:xfrm>
              <a:off x="1824526" y="4713617"/>
              <a:ext cx="283000" cy="283000"/>
            </a:xfrm>
            <a:custGeom>
              <a:avLst/>
              <a:gdLst>
                <a:gd name="T0" fmla="*/ 17 w 152"/>
                <a:gd name="T1" fmla="*/ 152 h 152"/>
                <a:gd name="T2" fmla="*/ 58 w 152"/>
                <a:gd name="T3" fmla="*/ 111 h 152"/>
                <a:gd name="T4" fmla="*/ 91 w 152"/>
                <a:gd name="T5" fmla="*/ 122 h 152"/>
                <a:gd name="T6" fmla="*/ 152 w 152"/>
                <a:gd name="T7" fmla="*/ 61 h 152"/>
                <a:gd name="T8" fmla="*/ 91 w 152"/>
                <a:gd name="T9" fmla="*/ 0 h 152"/>
                <a:gd name="T10" fmla="*/ 31 w 152"/>
                <a:gd name="T11" fmla="*/ 61 h 152"/>
                <a:gd name="T12" fmla="*/ 41 w 152"/>
                <a:gd name="T13" fmla="*/ 94 h 152"/>
                <a:gd name="T14" fmla="*/ 0 w 152"/>
                <a:gd name="T15" fmla="*/ 135 h 152"/>
                <a:gd name="T16" fmla="*/ 17 w 152"/>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152">
                  <a:moveTo>
                    <a:pt x="17" y="152"/>
                  </a:moveTo>
                  <a:cubicBezTo>
                    <a:pt x="58" y="111"/>
                    <a:pt x="58" y="111"/>
                    <a:pt x="58" y="111"/>
                  </a:cubicBezTo>
                  <a:cubicBezTo>
                    <a:pt x="67" y="118"/>
                    <a:pt x="79" y="122"/>
                    <a:pt x="91" y="122"/>
                  </a:cubicBezTo>
                  <a:cubicBezTo>
                    <a:pt x="125" y="122"/>
                    <a:pt x="152" y="94"/>
                    <a:pt x="152" y="61"/>
                  </a:cubicBezTo>
                  <a:cubicBezTo>
                    <a:pt x="152" y="27"/>
                    <a:pt x="125" y="0"/>
                    <a:pt x="91" y="0"/>
                  </a:cubicBezTo>
                  <a:cubicBezTo>
                    <a:pt x="58" y="0"/>
                    <a:pt x="31" y="27"/>
                    <a:pt x="31" y="61"/>
                  </a:cubicBezTo>
                  <a:cubicBezTo>
                    <a:pt x="31" y="73"/>
                    <a:pt x="34" y="85"/>
                    <a:pt x="41" y="94"/>
                  </a:cubicBezTo>
                  <a:cubicBezTo>
                    <a:pt x="0" y="135"/>
                    <a:pt x="0" y="135"/>
                    <a:pt x="0" y="135"/>
                  </a:cubicBezTo>
                  <a:lnTo>
                    <a:pt x="17" y="152"/>
                  </a:lnTo>
                  <a:close/>
                </a:path>
              </a:pathLst>
            </a:custGeom>
            <a:solidFill>
              <a:srgbClr val="505A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3" name="Oval 101"/>
            <p:cNvSpPr>
              <a:spLocks noChangeArrowheads="1"/>
            </p:cNvSpPr>
            <p:nvPr/>
          </p:nvSpPr>
          <p:spPr bwMode="auto">
            <a:xfrm>
              <a:off x="1913771" y="4745323"/>
              <a:ext cx="162050" cy="162050"/>
            </a:xfrm>
            <a:prstGeom prst="ellipse">
              <a:avLst/>
            </a:pr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74" name="组合 173"/>
          <p:cNvGrpSpPr/>
          <p:nvPr/>
        </p:nvGrpSpPr>
        <p:grpSpPr>
          <a:xfrm>
            <a:off x="7578632" y="2373250"/>
            <a:ext cx="1240904" cy="1240106"/>
            <a:chOff x="5440115" y="5352422"/>
            <a:chExt cx="476755" cy="475581"/>
          </a:xfrm>
        </p:grpSpPr>
        <p:sp>
          <p:nvSpPr>
            <p:cNvPr id="170" name="Freeform 24"/>
            <p:cNvSpPr/>
            <p:nvPr/>
          </p:nvSpPr>
          <p:spPr bwMode="auto">
            <a:xfrm>
              <a:off x="5440115" y="5352422"/>
              <a:ext cx="476755" cy="475581"/>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81CE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1" name="Freeform 25"/>
            <p:cNvSpPr/>
            <p:nvPr/>
          </p:nvSpPr>
          <p:spPr bwMode="auto">
            <a:xfrm>
              <a:off x="5544625" y="5506252"/>
              <a:ext cx="372245" cy="321751"/>
            </a:xfrm>
            <a:custGeom>
              <a:avLst/>
              <a:gdLst>
                <a:gd name="T0" fmla="*/ 108 w 200"/>
                <a:gd name="T1" fmla="*/ 36 h 173"/>
                <a:gd name="T2" fmla="*/ 71 w 200"/>
                <a:gd name="T3" fmla="*/ 0 h 173"/>
                <a:gd name="T4" fmla="*/ 38 w 200"/>
                <a:gd name="T5" fmla="*/ 33 h 173"/>
                <a:gd name="T6" fmla="*/ 65 w 200"/>
                <a:gd name="T7" fmla="*/ 59 h 173"/>
                <a:gd name="T8" fmla="*/ 0 w 200"/>
                <a:gd name="T9" fmla="*/ 95 h 173"/>
                <a:gd name="T10" fmla="*/ 77 w 200"/>
                <a:gd name="T11" fmla="*/ 173 h 173"/>
                <a:gd name="T12" fmla="*/ 160 w 200"/>
                <a:gd name="T13" fmla="*/ 173 h 173"/>
                <a:gd name="T14" fmla="*/ 200 w 200"/>
                <a:gd name="T15" fmla="*/ 133 h 173"/>
                <a:gd name="T16" fmla="*/ 200 w 200"/>
                <a:gd name="T17" fmla="*/ 98 h 173"/>
                <a:gd name="T18" fmla="*/ 127 w 200"/>
                <a:gd name="T19" fmla="*/ 26 h 173"/>
                <a:gd name="T20" fmla="*/ 108 w 200"/>
                <a:gd name="T21" fmla="*/ 3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0" h="173">
                  <a:moveTo>
                    <a:pt x="108" y="36"/>
                  </a:moveTo>
                  <a:cubicBezTo>
                    <a:pt x="71" y="0"/>
                    <a:pt x="71" y="0"/>
                    <a:pt x="71" y="0"/>
                  </a:cubicBezTo>
                  <a:cubicBezTo>
                    <a:pt x="38" y="33"/>
                    <a:pt x="38" y="33"/>
                    <a:pt x="38" y="33"/>
                  </a:cubicBezTo>
                  <a:cubicBezTo>
                    <a:pt x="65" y="59"/>
                    <a:pt x="65" y="59"/>
                    <a:pt x="65" y="59"/>
                  </a:cubicBezTo>
                  <a:cubicBezTo>
                    <a:pt x="0" y="95"/>
                    <a:pt x="0" y="95"/>
                    <a:pt x="0" y="95"/>
                  </a:cubicBezTo>
                  <a:cubicBezTo>
                    <a:pt x="77" y="173"/>
                    <a:pt x="77" y="173"/>
                    <a:pt x="77" y="173"/>
                  </a:cubicBezTo>
                  <a:cubicBezTo>
                    <a:pt x="160" y="173"/>
                    <a:pt x="160" y="173"/>
                    <a:pt x="160" y="173"/>
                  </a:cubicBezTo>
                  <a:cubicBezTo>
                    <a:pt x="182" y="173"/>
                    <a:pt x="200" y="155"/>
                    <a:pt x="200" y="133"/>
                  </a:cubicBezTo>
                  <a:cubicBezTo>
                    <a:pt x="200" y="98"/>
                    <a:pt x="200" y="98"/>
                    <a:pt x="200" y="98"/>
                  </a:cubicBezTo>
                  <a:cubicBezTo>
                    <a:pt x="127" y="26"/>
                    <a:pt x="127" y="26"/>
                    <a:pt x="127" y="26"/>
                  </a:cubicBezTo>
                  <a:lnTo>
                    <a:pt x="108" y="36"/>
                  </a:lnTo>
                  <a:close/>
                </a:path>
              </a:pathLst>
            </a:custGeom>
            <a:solidFill>
              <a:srgbClr val="72BB9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2" name="Freeform 26"/>
            <p:cNvSpPr/>
            <p:nvPr/>
          </p:nvSpPr>
          <p:spPr bwMode="auto">
            <a:xfrm>
              <a:off x="5684364" y="5541481"/>
              <a:ext cx="140913" cy="142087"/>
            </a:xfrm>
            <a:custGeom>
              <a:avLst/>
              <a:gdLst>
                <a:gd name="T0" fmla="*/ 70 w 76"/>
                <a:gd name="T1" fmla="*/ 60 h 76"/>
                <a:gd name="T2" fmla="*/ 50 w 76"/>
                <a:gd name="T3" fmla="*/ 50 h 76"/>
                <a:gd name="T4" fmla="*/ 51 w 76"/>
                <a:gd name="T5" fmla="*/ 43 h 76"/>
                <a:gd name="T6" fmla="*/ 53 w 76"/>
                <a:gd name="T7" fmla="*/ 41 h 76"/>
                <a:gd name="T8" fmla="*/ 53 w 76"/>
                <a:gd name="T9" fmla="*/ 41 h 76"/>
                <a:gd name="T10" fmla="*/ 58 w 76"/>
                <a:gd name="T11" fmla="*/ 22 h 76"/>
                <a:gd name="T12" fmla="*/ 38 w 76"/>
                <a:gd name="T13" fmla="*/ 1 h 76"/>
                <a:gd name="T14" fmla="*/ 38 w 76"/>
                <a:gd name="T15" fmla="*/ 1 h 76"/>
                <a:gd name="T16" fmla="*/ 38 w 76"/>
                <a:gd name="T17" fmla="*/ 1 h 76"/>
                <a:gd name="T18" fmla="*/ 38 w 76"/>
                <a:gd name="T19" fmla="*/ 0 h 76"/>
                <a:gd name="T20" fmla="*/ 38 w 76"/>
                <a:gd name="T21" fmla="*/ 0 h 76"/>
                <a:gd name="T22" fmla="*/ 19 w 76"/>
                <a:gd name="T23" fmla="*/ 22 h 76"/>
                <a:gd name="T24" fmla="*/ 24 w 76"/>
                <a:gd name="T25" fmla="*/ 41 h 76"/>
                <a:gd name="T26" fmla="*/ 24 w 76"/>
                <a:gd name="T27" fmla="*/ 41 h 76"/>
                <a:gd name="T28" fmla="*/ 24 w 76"/>
                <a:gd name="T29" fmla="*/ 41 h 76"/>
                <a:gd name="T30" fmla="*/ 26 w 76"/>
                <a:gd name="T31" fmla="*/ 43 h 76"/>
                <a:gd name="T32" fmla="*/ 27 w 76"/>
                <a:gd name="T33" fmla="*/ 50 h 76"/>
                <a:gd name="T34" fmla="*/ 6 w 76"/>
                <a:gd name="T35" fmla="*/ 60 h 76"/>
                <a:gd name="T36" fmla="*/ 0 w 76"/>
                <a:gd name="T37" fmla="*/ 68 h 76"/>
                <a:gd name="T38" fmla="*/ 0 w 76"/>
                <a:gd name="T39" fmla="*/ 76 h 76"/>
                <a:gd name="T40" fmla="*/ 76 w 76"/>
                <a:gd name="T41" fmla="*/ 76 h 76"/>
                <a:gd name="T42" fmla="*/ 76 w 76"/>
                <a:gd name="T43" fmla="*/ 68 h 76"/>
                <a:gd name="T44" fmla="*/ 70 w 76"/>
                <a:gd name="T45" fmla="*/ 6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 h="76">
                  <a:moveTo>
                    <a:pt x="70" y="60"/>
                  </a:moveTo>
                  <a:cubicBezTo>
                    <a:pt x="70" y="60"/>
                    <a:pt x="52" y="55"/>
                    <a:pt x="50" y="50"/>
                  </a:cubicBezTo>
                  <a:cubicBezTo>
                    <a:pt x="49" y="48"/>
                    <a:pt x="50" y="45"/>
                    <a:pt x="51" y="43"/>
                  </a:cubicBezTo>
                  <a:cubicBezTo>
                    <a:pt x="52" y="42"/>
                    <a:pt x="52" y="42"/>
                    <a:pt x="53" y="41"/>
                  </a:cubicBezTo>
                  <a:cubicBezTo>
                    <a:pt x="53" y="41"/>
                    <a:pt x="53" y="41"/>
                    <a:pt x="53" y="41"/>
                  </a:cubicBezTo>
                  <a:cubicBezTo>
                    <a:pt x="56" y="36"/>
                    <a:pt x="58" y="30"/>
                    <a:pt x="58" y="22"/>
                  </a:cubicBezTo>
                  <a:cubicBezTo>
                    <a:pt x="58" y="10"/>
                    <a:pt x="49" y="1"/>
                    <a:pt x="38" y="1"/>
                  </a:cubicBezTo>
                  <a:cubicBezTo>
                    <a:pt x="38" y="1"/>
                    <a:pt x="38" y="1"/>
                    <a:pt x="38" y="1"/>
                  </a:cubicBezTo>
                  <a:cubicBezTo>
                    <a:pt x="38" y="1"/>
                    <a:pt x="38" y="0"/>
                    <a:pt x="38" y="1"/>
                  </a:cubicBezTo>
                  <a:cubicBezTo>
                    <a:pt x="38" y="1"/>
                    <a:pt x="38" y="0"/>
                    <a:pt x="38" y="0"/>
                  </a:cubicBezTo>
                  <a:cubicBezTo>
                    <a:pt x="38" y="0"/>
                    <a:pt x="38" y="0"/>
                    <a:pt x="38" y="0"/>
                  </a:cubicBezTo>
                  <a:cubicBezTo>
                    <a:pt x="28" y="1"/>
                    <a:pt x="18" y="10"/>
                    <a:pt x="19" y="22"/>
                  </a:cubicBezTo>
                  <a:cubicBezTo>
                    <a:pt x="19" y="30"/>
                    <a:pt x="21" y="36"/>
                    <a:pt x="24" y="41"/>
                  </a:cubicBezTo>
                  <a:cubicBezTo>
                    <a:pt x="24" y="41"/>
                    <a:pt x="24" y="41"/>
                    <a:pt x="24" y="41"/>
                  </a:cubicBezTo>
                  <a:cubicBezTo>
                    <a:pt x="24" y="41"/>
                    <a:pt x="24" y="41"/>
                    <a:pt x="24" y="41"/>
                  </a:cubicBezTo>
                  <a:cubicBezTo>
                    <a:pt x="25" y="42"/>
                    <a:pt x="25" y="42"/>
                    <a:pt x="26" y="43"/>
                  </a:cubicBezTo>
                  <a:cubicBezTo>
                    <a:pt x="27" y="45"/>
                    <a:pt x="28" y="48"/>
                    <a:pt x="27" y="50"/>
                  </a:cubicBezTo>
                  <a:cubicBezTo>
                    <a:pt x="25" y="55"/>
                    <a:pt x="6" y="60"/>
                    <a:pt x="6" y="60"/>
                  </a:cubicBezTo>
                  <a:cubicBezTo>
                    <a:pt x="3" y="61"/>
                    <a:pt x="0" y="65"/>
                    <a:pt x="0" y="68"/>
                  </a:cubicBezTo>
                  <a:cubicBezTo>
                    <a:pt x="0" y="76"/>
                    <a:pt x="0" y="76"/>
                    <a:pt x="0" y="76"/>
                  </a:cubicBezTo>
                  <a:cubicBezTo>
                    <a:pt x="76" y="76"/>
                    <a:pt x="76" y="76"/>
                    <a:pt x="76" y="76"/>
                  </a:cubicBezTo>
                  <a:cubicBezTo>
                    <a:pt x="76" y="68"/>
                    <a:pt x="76" y="68"/>
                    <a:pt x="76" y="68"/>
                  </a:cubicBezTo>
                  <a:cubicBezTo>
                    <a:pt x="76" y="65"/>
                    <a:pt x="74" y="61"/>
                    <a:pt x="70" y="60"/>
                  </a:cubicBezTo>
                  <a:close/>
                </a:path>
              </a:pathLst>
            </a:custGeom>
            <a:solidFill>
              <a:srgbClr val="CCD0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3" name="Freeform 27"/>
            <p:cNvSpPr/>
            <p:nvPr/>
          </p:nvSpPr>
          <p:spPr bwMode="auto">
            <a:xfrm>
              <a:off x="5544625" y="5489813"/>
              <a:ext cx="193756" cy="193756"/>
            </a:xfrm>
            <a:custGeom>
              <a:avLst/>
              <a:gdLst>
                <a:gd name="T0" fmla="*/ 96 w 104"/>
                <a:gd name="T1" fmla="*/ 82 h 104"/>
                <a:gd name="T2" fmla="*/ 68 w 104"/>
                <a:gd name="T3" fmla="*/ 69 h 104"/>
                <a:gd name="T4" fmla="*/ 69 w 104"/>
                <a:gd name="T5" fmla="*/ 59 h 104"/>
                <a:gd name="T6" fmla="*/ 71 w 104"/>
                <a:gd name="T7" fmla="*/ 56 h 104"/>
                <a:gd name="T8" fmla="*/ 71 w 104"/>
                <a:gd name="T9" fmla="*/ 56 h 104"/>
                <a:gd name="T10" fmla="*/ 79 w 104"/>
                <a:gd name="T11" fmla="*/ 29 h 104"/>
                <a:gd name="T12" fmla="*/ 52 w 104"/>
                <a:gd name="T13" fmla="*/ 0 h 104"/>
                <a:gd name="T14" fmla="*/ 52 w 104"/>
                <a:gd name="T15" fmla="*/ 0 h 104"/>
                <a:gd name="T16" fmla="*/ 52 w 104"/>
                <a:gd name="T17" fmla="*/ 0 h 104"/>
                <a:gd name="T18" fmla="*/ 52 w 104"/>
                <a:gd name="T19" fmla="*/ 0 h 104"/>
                <a:gd name="T20" fmla="*/ 52 w 104"/>
                <a:gd name="T21" fmla="*/ 0 h 104"/>
                <a:gd name="T22" fmla="*/ 25 w 104"/>
                <a:gd name="T23" fmla="*/ 29 h 104"/>
                <a:gd name="T24" fmla="*/ 33 w 104"/>
                <a:gd name="T25" fmla="*/ 56 h 104"/>
                <a:gd name="T26" fmla="*/ 33 w 104"/>
                <a:gd name="T27" fmla="*/ 56 h 104"/>
                <a:gd name="T28" fmla="*/ 33 w 104"/>
                <a:gd name="T29" fmla="*/ 56 h 104"/>
                <a:gd name="T30" fmla="*/ 35 w 104"/>
                <a:gd name="T31" fmla="*/ 59 h 104"/>
                <a:gd name="T32" fmla="*/ 36 w 104"/>
                <a:gd name="T33" fmla="*/ 69 h 104"/>
                <a:gd name="T34" fmla="*/ 8 w 104"/>
                <a:gd name="T35" fmla="*/ 82 h 104"/>
                <a:gd name="T36" fmla="*/ 0 w 104"/>
                <a:gd name="T37" fmla="*/ 93 h 104"/>
                <a:gd name="T38" fmla="*/ 0 w 104"/>
                <a:gd name="T39" fmla="*/ 104 h 104"/>
                <a:gd name="T40" fmla="*/ 104 w 104"/>
                <a:gd name="T41" fmla="*/ 104 h 104"/>
                <a:gd name="T42" fmla="*/ 104 w 104"/>
                <a:gd name="T43" fmla="*/ 93 h 104"/>
                <a:gd name="T44" fmla="*/ 96 w 104"/>
                <a:gd name="T4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 h="104">
                  <a:moveTo>
                    <a:pt x="96" y="82"/>
                  </a:moveTo>
                  <a:cubicBezTo>
                    <a:pt x="96" y="82"/>
                    <a:pt x="71" y="76"/>
                    <a:pt x="68" y="69"/>
                  </a:cubicBezTo>
                  <a:cubicBezTo>
                    <a:pt x="66" y="66"/>
                    <a:pt x="68" y="61"/>
                    <a:pt x="69" y="59"/>
                  </a:cubicBezTo>
                  <a:cubicBezTo>
                    <a:pt x="70" y="58"/>
                    <a:pt x="71" y="57"/>
                    <a:pt x="71" y="56"/>
                  </a:cubicBezTo>
                  <a:cubicBezTo>
                    <a:pt x="71" y="56"/>
                    <a:pt x="71" y="56"/>
                    <a:pt x="71" y="56"/>
                  </a:cubicBezTo>
                  <a:cubicBezTo>
                    <a:pt x="75" y="49"/>
                    <a:pt x="79" y="40"/>
                    <a:pt x="79" y="29"/>
                  </a:cubicBezTo>
                  <a:cubicBezTo>
                    <a:pt x="79" y="13"/>
                    <a:pt x="67" y="0"/>
                    <a:pt x="52" y="0"/>
                  </a:cubicBezTo>
                  <a:cubicBezTo>
                    <a:pt x="52" y="0"/>
                    <a:pt x="52" y="0"/>
                    <a:pt x="52" y="0"/>
                  </a:cubicBezTo>
                  <a:cubicBezTo>
                    <a:pt x="52" y="0"/>
                    <a:pt x="52" y="0"/>
                    <a:pt x="52" y="0"/>
                  </a:cubicBezTo>
                  <a:cubicBezTo>
                    <a:pt x="52" y="0"/>
                    <a:pt x="52" y="0"/>
                    <a:pt x="52" y="0"/>
                  </a:cubicBezTo>
                  <a:cubicBezTo>
                    <a:pt x="52" y="0"/>
                    <a:pt x="52" y="0"/>
                    <a:pt x="52" y="0"/>
                  </a:cubicBezTo>
                  <a:cubicBezTo>
                    <a:pt x="37" y="0"/>
                    <a:pt x="24" y="13"/>
                    <a:pt x="25" y="29"/>
                  </a:cubicBezTo>
                  <a:cubicBezTo>
                    <a:pt x="25" y="40"/>
                    <a:pt x="28" y="49"/>
                    <a:pt x="33" y="56"/>
                  </a:cubicBezTo>
                  <a:cubicBezTo>
                    <a:pt x="33" y="56"/>
                    <a:pt x="33" y="56"/>
                    <a:pt x="33" y="56"/>
                  </a:cubicBezTo>
                  <a:cubicBezTo>
                    <a:pt x="33" y="56"/>
                    <a:pt x="33" y="56"/>
                    <a:pt x="33" y="56"/>
                  </a:cubicBezTo>
                  <a:cubicBezTo>
                    <a:pt x="33" y="57"/>
                    <a:pt x="34" y="58"/>
                    <a:pt x="35" y="59"/>
                  </a:cubicBezTo>
                  <a:cubicBezTo>
                    <a:pt x="36" y="61"/>
                    <a:pt x="38" y="66"/>
                    <a:pt x="36" y="69"/>
                  </a:cubicBezTo>
                  <a:cubicBezTo>
                    <a:pt x="33" y="76"/>
                    <a:pt x="8" y="82"/>
                    <a:pt x="8" y="82"/>
                  </a:cubicBezTo>
                  <a:cubicBezTo>
                    <a:pt x="3" y="84"/>
                    <a:pt x="0" y="88"/>
                    <a:pt x="0" y="93"/>
                  </a:cubicBezTo>
                  <a:cubicBezTo>
                    <a:pt x="0" y="104"/>
                    <a:pt x="0" y="104"/>
                    <a:pt x="0" y="104"/>
                  </a:cubicBezTo>
                  <a:cubicBezTo>
                    <a:pt x="104" y="104"/>
                    <a:pt x="104" y="104"/>
                    <a:pt x="104" y="104"/>
                  </a:cubicBezTo>
                  <a:cubicBezTo>
                    <a:pt x="104" y="93"/>
                    <a:pt x="104" y="93"/>
                    <a:pt x="104" y="93"/>
                  </a:cubicBezTo>
                  <a:cubicBezTo>
                    <a:pt x="104" y="88"/>
                    <a:pt x="101" y="84"/>
                    <a:pt x="96" y="82"/>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75" name="组合 174"/>
          <p:cNvGrpSpPr/>
          <p:nvPr/>
        </p:nvGrpSpPr>
        <p:grpSpPr>
          <a:xfrm>
            <a:off x="9483212" y="2448417"/>
            <a:ext cx="1194619" cy="1164938"/>
            <a:chOff x="10952164" y="3598863"/>
            <a:chExt cx="598488" cy="600075"/>
          </a:xfrm>
        </p:grpSpPr>
        <p:sp>
          <p:nvSpPr>
            <p:cNvPr id="176" name="Freeform 162"/>
            <p:cNvSpPr/>
            <p:nvPr/>
          </p:nvSpPr>
          <p:spPr bwMode="auto">
            <a:xfrm>
              <a:off x="10952164" y="3598863"/>
              <a:ext cx="598488" cy="600075"/>
            </a:xfrm>
            <a:custGeom>
              <a:avLst/>
              <a:gdLst>
                <a:gd name="T0" fmla="*/ 256 w 256"/>
                <a:gd name="T1" fmla="*/ 216 h 256"/>
                <a:gd name="T2" fmla="*/ 216 w 256"/>
                <a:gd name="T3" fmla="*/ 256 h 256"/>
                <a:gd name="T4" fmla="*/ 40 w 256"/>
                <a:gd name="T5" fmla="*/ 256 h 256"/>
                <a:gd name="T6" fmla="*/ 0 w 256"/>
                <a:gd name="T7" fmla="*/ 216 h 256"/>
                <a:gd name="T8" fmla="*/ 0 w 256"/>
                <a:gd name="T9" fmla="*/ 40 h 256"/>
                <a:gd name="T10" fmla="*/ 40 w 256"/>
                <a:gd name="T11" fmla="*/ 0 h 256"/>
                <a:gd name="T12" fmla="*/ 216 w 256"/>
                <a:gd name="T13" fmla="*/ 0 h 256"/>
                <a:gd name="T14" fmla="*/ 256 w 256"/>
                <a:gd name="T15" fmla="*/ 40 h 256"/>
                <a:gd name="T16" fmla="*/ 256 w 256"/>
                <a:gd name="T17"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216"/>
                  </a:moveTo>
                  <a:cubicBezTo>
                    <a:pt x="256" y="238"/>
                    <a:pt x="238" y="256"/>
                    <a:pt x="216" y="256"/>
                  </a:cubicBezTo>
                  <a:cubicBezTo>
                    <a:pt x="40" y="256"/>
                    <a:pt x="40" y="256"/>
                    <a:pt x="40" y="256"/>
                  </a:cubicBezTo>
                  <a:cubicBezTo>
                    <a:pt x="18" y="256"/>
                    <a:pt x="0" y="238"/>
                    <a:pt x="0" y="216"/>
                  </a:cubicBezTo>
                  <a:cubicBezTo>
                    <a:pt x="0" y="40"/>
                    <a:pt x="0" y="40"/>
                    <a:pt x="0" y="40"/>
                  </a:cubicBezTo>
                  <a:cubicBezTo>
                    <a:pt x="0" y="18"/>
                    <a:pt x="18" y="0"/>
                    <a:pt x="40" y="0"/>
                  </a:cubicBezTo>
                  <a:cubicBezTo>
                    <a:pt x="216" y="0"/>
                    <a:pt x="216" y="0"/>
                    <a:pt x="216" y="0"/>
                  </a:cubicBezTo>
                  <a:cubicBezTo>
                    <a:pt x="238" y="0"/>
                    <a:pt x="256" y="18"/>
                    <a:pt x="256" y="40"/>
                  </a:cubicBezTo>
                  <a:lnTo>
                    <a:pt x="256" y="216"/>
                  </a:lnTo>
                  <a:close/>
                </a:path>
              </a:pathLst>
            </a:custGeom>
            <a:solidFill>
              <a:srgbClr val="7DC0E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7" name="Freeform 163"/>
            <p:cNvSpPr/>
            <p:nvPr/>
          </p:nvSpPr>
          <p:spPr bwMode="auto">
            <a:xfrm>
              <a:off x="11082339" y="3744913"/>
              <a:ext cx="468313" cy="454025"/>
            </a:xfrm>
            <a:custGeom>
              <a:avLst/>
              <a:gdLst>
                <a:gd name="T0" fmla="*/ 200 w 200"/>
                <a:gd name="T1" fmla="*/ 58 h 194"/>
                <a:gd name="T2" fmla="*/ 142 w 200"/>
                <a:gd name="T3" fmla="*/ 0 h 194"/>
                <a:gd name="T4" fmla="*/ 96 w 200"/>
                <a:gd name="T5" fmla="*/ 46 h 194"/>
                <a:gd name="T6" fmla="*/ 56 w 200"/>
                <a:gd name="T7" fmla="*/ 5 h 194"/>
                <a:gd name="T8" fmla="*/ 49 w 200"/>
                <a:gd name="T9" fmla="*/ 12 h 194"/>
                <a:gd name="T10" fmla="*/ 41 w 200"/>
                <a:gd name="T11" fmla="*/ 40 h 194"/>
                <a:gd name="T12" fmla="*/ 15 w 200"/>
                <a:gd name="T13" fmla="*/ 46 h 194"/>
                <a:gd name="T14" fmla="*/ 6 w 200"/>
                <a:gd name="T15" fmla="*/ 55 h 194"/>
                <a:gd name="T16" fmla="*/ 47 w 200"/>
                <a:gd name="T17" fmla="*/ 95 h 194"/>
                <a:gd name="T18" fmla="*/ 0 w 200"/>
                <a:gd name="T19" fmla="*/ 141 h 194"/>
                <a:gd name="T20" fmla="*/ 53 w 200"/>
                <a:gd name="T21" fmla="*/ 194 h 194"/>
                <a:gd name="T22" fmla="*/ 160 w 200"/>
                <a:gd name="T23" fmla="*/ 194 h 194"/>
                <a:gd name="T24" fmla="*/ 200 w 200"/>
                <a:gd name="T25" fmla="*/ 154 h 194"/>
                <a:gd name="T26" fmla="*/ 200 w 200"/>
                <a:gd name="T27" fmla="*/ 5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0" h="194">
                  <a:moveTo>
                    <a:pt x="200" y="58"/>
                  </a:moveTo>
                  <a:cubicBezTo>
                    <a:pt x="142" y="0"/>
                    <a:pt x="142" y="0"/>
                    <a:pt x="142" y="0"/>
                  </a:cubicBezTo>
                  <a:cubicBezTo>
                    <a:pt x="96" y="46"/>
                    <a:pt x="96" y="46"/>
                    <a:pt x="96" y="46"/>
                  </a:cubicBezTo>
                  <a:cubicBezTo>
                    <a:pt x="56" y="5"/>
                    <a:pt x="56" y="5"/>
                    <a:pt x="56" y="5"/>
                  </a:cubicBezTo>
                  <a:cubicBezTo>
                    <a:pt x="49" y="12"/>
                    <a:pt x="49" y="12"/>
                    <a:pt x="49" y="12"/>
                  </a:cubicBezTo>
                  <a:cubicBezTo>
                    <a:pt x="41" y="40"/>
                    <a:pt x="41" y="40"/>
                    <a:pt x="41" y="40"/>
                  </a:cubicBezTo>
                  <a:cubicBezTo>
                    <a:pt x="15" y="46"/>
                    <a:pt x="15" y="46"/>
                    <a:pt x="15" y="46"/>
                  </a:cubicBezTo>
                  <a:cubicBezTo>
                    <a:pt x="6" y="55"/>
                    <a:pt x="6" y="55"/>
                    <a:pt x="6" y="55"/>
                  </a:cubicBezTo>
                  <a:cubicBezTo>
                    <a:pt x="47" y="95"/>
                    <a:pt x="47" y="95"/>
                    <a:pt x="47" y="95"/>
                  </a:cubicBezTo>
                  <a:cubicBezTo>
                    <a:pt x="0" y="141"/>
                    <a:pt x="0" y="141"/>
                    <a:pt x="0" y="141"/>
                  </a:cubicBezTo>
                  <a:cubicBezTo>
                    <a:pt x="53" y="194"/>
                    <a:pt x="53" y="194"/>
                    <a:pt x="53" y="194"/>
                  </a:cubicBezTo>
                  <a:cubicBezTo>
                    <a:pt x="160" y="194"/>
                    <a:pt x="160" y="194"/>
                    <a:pt x="160" y="194"/>
                  </a:cubicBezTo>
                  <a:cubicBezTo>
                    <a:pt x="182" y="194"/>
                    <a:pt x="200" y="176"/>
                    <a:pt x="200" y="154"/>
                  </a:cubicBezTo>
                  <a:lnTo>
                    <a:pt x="200" y="58"/>
                  </a:lnTo>
                  <a:close/>
                </a:path>
              </a:pathLst>
            </a:custGeom>
            <a:solidFill>
              <a:srgbClr val="6DADD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8" name="Freeform 164"/>
            <p:cNvSpPr/>
            <p:nvPr/>
          </p:nvSpPr>
          <p:spPr bwMode="auto">
            <a:xfrm>
              <a:off x="11220451" y="3735388"/>
              <a:ext cx="209550" cy="206375"/>
            </a:xfrm>
            <a:custGeom>
              <a:avLst/>
              <a:gdLst>
                <a:gd name="T0" fmla="*/ 89 w 89"/>
                <a:gd name="T1" fmla="*/ 17 h 88"/>
                <a:gd name="T2" fmla="*/ 71 w 89"/>
                <a:gd name="T3" fmla="*/ 0 h 88"/>
                <a:gd name="T4" fmla="*/ 59 w 89"/>
                <a:gd name="T5" fmla="*/ 5 h 88"/>
                <a:gd name="T6" fmla="*/ 0 w 89"/>
                <a:gd name="T7" fmla="*/ 63 h 88"/>
                <a:gd name="T8" fmla="*/ 25 w 89"/>
                <a:gd name="T9" fmla="*/ 88 h 88"/>
                <a:gd name="T10" fmla="*/ 84 w 89"/>
                <a:gd name="T11" fmla="*/ 30 h 88"/>
                <a:gd name="T12" fmla="*/ 84 w 89"/>
                <a:gd name="T13" fmla="*/ 30 h 88"/>
                <a:gd name="T14" fmla="*/ 89 w 89"/>
                <a:gd name="T15" fmla="*/ 1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88">
                  <a:moveTo>
                    <a:pt x="89" y="17"/>
                  </a:moveTo>
                  <a:cubicBezTo>
                    <a:pt x="89" y="8"/>
                    <a:pt x="81" y="0"/>
                    <a:pt x="71" y="0"/>
                  </a:cubicBezTo>
                  <a:cubicBezTo>
                    <a:pt x="67" y="0"/>
                    <a:pt x="62" y="2"/>
                    <a:pt x="59" y="5"/>
                  </a:cubicBezTo>
                  <a:cubicBezTo>
                    <a:pt x="0" y="63"/>
                    <a:pt x="0" y="63"/>
                    <a:pt x="0" y="63"/>
                  </a:cubicBezTo>
                  <a:cubicBezTo>
                    <a:pt x="25" y="88"/>
                    <a:pt x="25" y="88"/>
                    <a:pt x="25" y="88"/>
                  </a:cubicBezTo>
                  <a:cubicBezTo>
                    <a:pt x="84" y="30"/>
                    <a:pt x="84" y="30"/>
                    <a:pt x="84" y="30"/>
                  </a:cubicBezTo>
                  <a:cubicBezTo>
                    <a:pt x="84" y="30"/>
                    <a:pt x="84" y="30"/>
                    <a:pt x="84" y="30"/>
                  </a:cubicBezTo>
                  <a:cubicBezTo>
                    <a:pt x="87" y="27"/>
                    <a:pt x="89" y="22"/>
                    <a:pt x="89" y="17"/>
                  </a:cubicBezTo>
                  <a:close/>
                </a:path>
              </a:pathLst>
            </a:cu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9" name="Freeform 165"/>
            <p:cNvSpPr/>
            <p:nvPr/>
          </p:nvSpPr>
          <p:spPr bwMode="auto">
            <a:xfrm>
              <a:off x="11072814" y="3902076"/>
              <a:ext cx="185738" cy="182563"/>
            </a:xfrm>
            <a:custGeom>
              <a:avLst/>
              <a:gdLst>
                <a:gd name="T0" fmla="*/ 33 w 117"/>
                <a:gd name="T1" fmla="*/ 70 h 115"/>
                <a:gd name="T2" fmla="*/ 20 w 117"/>
                <a:gd name="T3" fmla="*/ 72 h 115"/>
                <a:gd name="T4" fmla="*/ 0 w 117"/>
                <a:gd name="T5" fmla="*/ 103 h 115"/>
                <a:gd name="T6" fmla="*/ 12 w 117"/>
                <a:gd name="T7" fmla="*/ 115 h 115"/>
                <a:gd name="T8" fmla="*/ 12 w 117"/>
                <a:gd name="T9" fmla="*/ 115 h 115"/>
                <a:gd name="T10" fmla="*/ 14 w 117"/>
                <a:gd name="T11" fmla="*/ 115 h 115"/>
                <a:gd name="T12" fmla="*/ 43 w 117"/>
                <a:gd name="T13" fmla="*/ 96 h 115"/>
                <a:gd name="T14" fmla="*/ 45 w 117"/>
                <a:gd name="T15" fmla="*/ 82 h 115"/>
                <a:gd name="T16" fmla="*/ 117 w 117"/>
                <a:gd name="T17" fmla="*/ 11 h 115"/>
                <a:gd name="T18" fmla="*/ 105 w 117"/>
                <a:gd name="T19" fmla="*/ 0 h 115"/>
                <a:gd name="T20" fmla="*/ 33 w 117"/>
                <a:gd name="T21" fmla="*/ 7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7" h="115">
                  <a:moveTo>
                    <a:pt x="33" y="70"/>
                  </a:moveTo>
                  <a:lnTo>
                    <a:pt x="20" y="72"/>
                  </a:lnTo>
                  <a:lnTo>
                    <a:pt x="0" y="103"/>
                  </a:lnTo>
                  <a:lnTo>
                    <a:pt x="12" y="115"/>
                  </a:lnTo>
                  <a:lnTo>
                    <a:pt x="12" y="115"/>
                  </a:lnTo>
                  <a:lnTo>
                    <a:pt x="14" y="115"/>
                  </a:lnTo>
                  <a:lnTo>
                    <a:pt x="43" y="96"/>
                  </a:lnTo>
                  <a:lnTo>
                    <a:pt x="45" y="82"/>
                  </a:lnTo>
                  <a:lnTo>
                    <a:pt x="117" y="11"/>
                  </a:lnTo>
                  <a:lnTo>
                    <a:pt x="105" y="0"/>
                  </a:lnTo>
                  <a:lnTo>
                    <a:pt x="33" y="70"/>
                  </a:lnTo>
                  <a:close/>
                </a:path>
              </a:pathLst>
            </a:custGeom>
            <a:solidFill>
              <a:srgbClr val="505A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0" name="Freeform 166"/>
            <p:cNvSpPr/>
            <p:nvPr/>
          </p:nvSpPr>
          <p:spPr bwMode="auto">
            <a:xfrm>
              <a:off x="11263314" y="3775076"/>
              <a:ext cx="103188" cy="103188"/>
            </a:xfrm>
            <a:custGeom>
              <a:avLst/>
              <a:gdLst>
                <a:gd name="T0" fmla="*/ 7 w 65"/>
                <a:gd name="T1" fmla="*/ 65 h 65"/>
                <a:gd name="T2" fmla="*/ 0 w 65"/>
                <a:gd name="T3" fmla="*/ 59 h 65"/>
                <a:gd name="T4" fmla="*/ 59 w 65"/>
                <a:gd name="T5" fmla="*/ 0 h 65"/>
                <a:gd name="T6" fmla="*/ 65 w 65"/>
                <a:gd name="T7" fmla="*/ 7 h 65"/>
                <a:gd name="T8" fmla="*/ 7 w 65"/>
                <a:gd name="T9" fmla="*/ 65 h 65"/>
              </a:gdLst>
              <a:ahLst/>
              <a:cxnLst>
                <a:cxn ang="0">
                  <a:pos x="T0" y="T1"/>
                </a:cxn>
                <a:cxn ang="0">
                  <a:pos x="T2" y="T3"/>
                </a:cxn>
                <a:cxn ang="0">
                  <a:pos x="T4" y="T5"/>
                </a:cxn>
                <a:cxn ang="0">
                  <a:pos x="T6" y="T7"/>
                </a:cxn>
                <a:cxn ang="0">
                  <a:pos x="T8" y="T9"/>
                </a:cxn>
              </a:cxnLst>
              <a:rect l="0" t="0" r="r" b="b"/>
              <a:pathLst>
                <a:path w="65" h="65">
                  <a:moveTo>
                    <a:pt x="7" y="65"/>
                  </a:moveTo>
                  <a:lnTo>
                    <a:pt x="0" y="59"/>
                  </a:lnTo>
                  <a:lnTo>
                    <a:pt x="59" y="0"/>
                  </a:lnTo>
                  <a:lnTo>
                    <a:pt x="65" y="7"/>
                  </a:lnTo>
                  <a:lnTo>
                    <a:pt x="7" y="65"/>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1" name="Freeform 167"/>
            <p:cNvSpPr/>
            <p:nvPr/>
          </p:nvSpPr>
          <p:spPr bwMode="auto">
            <a:xfrm>
              <a:off x="11283951" y="3798888"/>
              <a:ext cx="103188" cy="103188"/>
            </a:xfrm>
            <a:custGeom>
              <a:avLst/>
              <a:gdLst>
                <a:gd name="T0" fmla="*/ 8 w 65"/>
                <a:gd name="T1" fmla="*/ 65 h 65"/>
                <a:gd name="T2" fmla="*/ 0 w 65"/>
                <a:gd name="T3" fmla="*/ 57 h 65"/>
                <a:gd name="T4" fmla="*/ 59 w 65"/>
                <a:gd name="T5" fmla="*/ 0 h 65"/>
                <a:gd name="T6" fmla="*/ 65 w 65"/>
                <a:gd name="T7" fmla="*/ 5 h 65"/>
                <a:gd name="T8" fmla="*/ 8 w 65"/>
                <a:gd name="T9" fmla="*/ 65 h 65"/>
              </a:gdLst>
              <a:ahLst/>
              <a:cxnLst>
                <a:cxn ang="0">
                  <a:pos x="T0" y="T1"/>
                </a:cxn>
                <a:cxn ang="0">
                  <a:pos x="T2" y="T3"/>
                </a:cxn>
                <a:cxn ang="0">
                  <a:pos x="T4" y="T5"/>
                </a:cxn>
                <a:cxn ang="0">
                  <a:pos x="T6" y="T7"/>
                </a:cxn>
                <a:cxn ang="0">
                  <a:pos x="T8" y="T9"/>
                </a:cxn>
              </a:cxnLst>
              <a:rect l="0" t="0" r="r" b="b"/>
              <a:pathLst>
                <a:path w="65" h="65">
                  <a:moveTo>
                    <a:pt x="8" y="65"/>
                  </a:moveTo>
                  <a:lnTo>
                    <a:pt x="0" y="57"/>
                  </a:lnTo>
                  <a:lnTo>
                    <a:pt x="59" y="0"/>
                  </a:lnTo>
                  <a:lnTo>
                    <a:pt x="65" y="5"/>
                  </a:lnTo>
                  <a:lnTo>
                    <a:pt x="8" y="65"/>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2" name="Freeform 168"/>
            <p:cNvSpPr/>
            <p:nvPr/>
          </p:nvSpPr>
          <p:spPr bwMode="auto">
            <a:xfrm>
              <a:off x="11072814" y="3732213"/>
              <a:ext cx="357188" cy="357188"/>
            </a:xfrm>
            <a:custGeom>
              <a:avLst/>
              <a:gdLst>
                <a:gd name="T0" fmla="*/ 0 w 152"/>
                <a:gd name="T1" fmla="*/ 35 h 152"/>
                <a:gd name="T2" fmla="*/ 35 w 152"/>
                <a:gd name="T3" fmla="*/ 70 h 152"/>
                <a:gd name="T4" fmla="*/ 47 w 152"/>
                <a:gd name="T5" fmla="*/ 68 h 152"/>
                <a:gd name="T6" fmla="*/ 127 w 152"/>
                <a:gd name="T7" fmla="*/ 147 h 152"/>
                <a:gd name="T8" fmla="*/ 127 w 152"/>
                <a:gd name="T9" fmla="*/ 147 h 152"/>
                <a:gd name="T10" fmla="*/ 137 w 152"/>
                <a:gd name="T11" fmla="*/ 152 h 152"/>
                <a:gd name="T12" fmla="*/ 152 w 152"/>
                <a:gd name="T13" fmla="*/ 137 h 152"/>
                <a:gd name="T14" fmla="*/ 148 w 152"/>
                <a:gd name="T15" fmla="*/ 127 h 152"/>
                <a:gd name="T16" fmla="*/ 68 w 152"/>
                <a:gd name="T17" fmla="*/ 47 h 152"/>
                <a:gd name="T18" fmla="*/ 70 w 152"/>
                <a:gd name="T19" fmla="*/ 35 h 152"/>
                <a:gd name="T20" fmla="*/ 35 w 152"/>
                <a:gd name="T21" fmla="*/ 0 h 152"/>
                <a:gd name="T22" fmla="*/ 26 w 152"/>
                <a:gd name="T23" fmla="*/ 1 h 152"/>
                <a:gd name="T24" fmla="*/ 46 w 152"/>
                <a:gd name="T25" fmla="*/ 22 h 152"/>
                <a:gd name="T26" fmla="*/ 46 w 152"/>
                <a:gd name="T27" fmla="*/ 22 h 152"/>
                <a:gd name="T28" fmla="*/ 40 w 152"/>
                <a:gd name="T29" fmla="*/ 40 h 152"/>
                <a:gd name="T30" fmla="*/ 22 w 152"/>
                <a:gd name="T31" fmla="*/ 47 h 152"/>
                <a:gd name="T32" fmla="*/ 1 w 152"/>
                <a:gd name="T33" fmla="*/ 26 h 152"/>
                <a:gd name="T34" fmla="*/ 0 w 152"/>
                <a:gd name="T35" fmla="*/ 3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152">
                  <a:moveTo>
                    <a:pt x="0" y="35"/>
                  </a:moveTo>
                  <a:cubicBezTo>
                    <a:pt x="0" y="54"/>
                    <a:pt x="16" y="70"/>
                    <a:pt x="35" y="70"/>
                  </a:cubicBezTo>
                  <a:cubicBezTo>
                    <a:pt x="39" y="70"/>
                    <a:pt x="43" y="69"/>
                    <a:pt x="47" y="68"/>
                  </a:cubicBezTo>
                  <a:cubicBezTo>
                    <a:pt x="127" y="147"/>
                    <a:pt x="127" y="147"/>
                    <a:pt x="127" y="147"/>
                  </a:cubicBezTo>
                  <a:cubicBezTo>
                    <a:pt x="127" y="147"/>
                    <a:pt x="127" y="147"/>
                    <a:pt x="127" y="147"/>
                  </a:cubicBezTo>
                  <a:cubicBezTo>
                    <a:pt x="129" y="150"/>
                    <a:pt x="133" y="152"/>
                    <a:pt x="137" y="152"/>
                  </a:cubicBezTo>
                  <a:cubicBezTo>
                    <a:pt x="145" y="152"/>
                    <a:pt x="152" y="145"/>
                    <a:pt x="152" y="137"/>
                  </a:cubicBezTo>
                  <a:cubicBezTo>
                    <a:pt x="152" y="133"/>
                    <a:pt x="150" y="129"/>
                    <a:pt x="148" y="127"/>
                  </a:cubicBezTo>
                  <a:cubicBezTo>
                    <a:pt x="68" y="47"/>
                    <a:pt x="68" y="47"/>
                    <a:pt x="68" y="47"/>
                  </a:cubicBezTo>
                  <a:cubicBezTo>
                    <a:pt x="69" y="43"/>
                    <a:pt x="70" y="39"/>
                    <a:pt x="70" y="35"/>
                  </a:cubicBezTo>
                  <a:cubicBezTo>
                    <a:pt x="70" y="16"/>
                    <a:pt x="54" y="0"/>
                    <a:pt x="35" y="0"/>
                  </a:cubicBezTo>
                  <a:cubicBezTo>
                    <a:pt x="32" y="0"/>
                    <a:pt x="29" y="0"/>
                    <a:pt x="26" y="1"/>
                  </a:cubicBezTo>
                  <a:cubicBezTo>
                    <a:pt x="46" y="22"/>
                    <a:pt x="46" y="22"/>
                    <a:pt x="46" y="22"/>
                  </a:cubicBezTo>
                  <a:cubicBezTo>
                    <a:pt x="46" y="22"/>
                    <a:pt x="46" y="22"/>
                    <a:pt x="46" y="22"/>
                  </a:cubicBezTo>
                  <a:cubicBezTo>
                    <a:pt x="50" y="25"/>
                    <a:pt x="47" y="34"/>
                    <a:pt x="40" y="40"/>
                  </a:cubicBezTo>
                  <a:cubicBezTo>
                    <a:pt x="33" y="47"/>
                    <a:pt x="25" y="50"/>
                    <a:pt x="22" y="47"/>
                  </a:cubicBezTo>
                  <a:cubicBezTo>
                    <a:pt x="1" y="26"/>
                    <a:pt x="1" y="26"/>
                    <a:pt x="1" y="26"/>
                  </a:cubicBezTo>
                  <a:cubicBezTo>
                    <a:pt x="1" y="29"/>
                    <a:pt x="0" y="32"/>
                    <a:pt x="0" y="35"/>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3" name="Oval 169"/>
            <p:cNvSpPr>
              <a:spLocks noChangeArrowheads="1"/>
            </p:cNvSpPr>
            <p:nvPr/>
          </p:nvSpPr>
          <p:spPr bwMode="auto">
            <a:xfrm>
              <a:off x="11380789" y="4040188"/>
              <a:ext cx="26988" cy="26988"/>
            </a:xfrm>
            <a:prstGeom prst="ellipse">
              <a:avLst/>
            </a:prstGeom>
            <a:solidFill>
              <a:srgbClr val="CCD0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1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网络舆情分析关键技术</a:t>
            </a:r>
          </a:p>
        </p:txBody>
      </p:sp>
      <p:sp>
        <p:nvSpPr>
          <p:cNvPr id="11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p:cNvGrpSpPr/>
          <p:nvPr/>
        </p:nvGrpSpPr>
        <p:grpSpPr>
          <a:xfrm>
            <a:off x="2835313" y="1871803"/>
            <a:ext cx="7189968" cy="3835822"/>
            <a:chOff x="1258888" y="1628775"/>
            <a:chExt cx="7189968" cy="3835822"/>
          </a:xfrm>
        </p:grpSpPr>
        <p:sp>
          <p:nvSpPr>
            <p:cNvPr id="75" name="AutoShape 4152"/>
            <p:cNvSpPr>
              <a:spLocks noChangeArrowheads="1"/>
            </p:cNvSpPr>
            <p:nvPr/>
          </p:nvSpPr>
          <p:spPr bwMode="auto">
            <a:xfrm rot="5400000">
              <a:off x="1798553" y="2703597"/>
              <a:ext cx="3776831" cy="16271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229 w 21600"/>
                <a:gd name="T13" fmla="*/ 3229 h 21600"/>
                <a:gd name="T14" fmla="*/ 18371 w 21600"/>
                <a:gd name="T15" fmla="*/ 18371 h 21600"/>
              </a:gdLst>
              <a:ahLst/>
              <a:cxnLst>
                <a:cxn ang="T8">
                  <a:pos x="T0" y="T1"/>
                </a:cxn>
                <a:cxn ang="T9">
                  <a:pos x="T2" y="T3"/>
                </a:cxn>
                <a:cxn ang="T10">
                  <a:pos x="T4" y="T5"/>
                </a:cxn>
                <a:cxn ang="T11">
                  <a:pos x="T6" y="T7"/>
                </a:cxn>
              </a:cxnLst>
              <a:rect l="T12" t="T13" r="T14" b="T15"/>
              <a:pathLst>
                <a:path w="21600" h="21600">
                  <a:moveTo>
                    <a:pt x="0" y="0"/>
                  </a:moveTo>
                  <a:lnTo>
                    <a:pt x="2857" y="21600"/>
                  </a:lnTo>
                  <a:lnTo>
                    <a:pt x="18743" y="21600"/>
                  </a:lnTo>
                  <a:lnTo>
                    <a:pt x="21600" y="0"/>
                  </a:lnTo>
                  <a:lnTo>
                    <a:pt x="0" y="0"/>
                  </a:lnTo>
                  <a:close/>
                </a:path>
              </a:pathLst>
            </a:cu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200"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76" name="Freeform 4219"/>
            <p:cNvSpPr/>
            <p:nvPr/>
          </p:nvSpPr>
          <p:spPr bwMode="auto">
            <a:xfrm>
              <a:off x="2873375" y="3013075"/>
              <a:ext cx="1557338" cy="768350"/>
            </a:xfrm>
            <a:custGeom>
              <a:avLst/>
              <a:gdLst>
                <a:gd name="T0" fmla="*/ 2147483647 w 1376"/>
                <a:gd name="T1" fmla="*/ 2147483647 h 680"/>
                <a:gd name="T2" fmla="*/ 2147483647 w 1376"/>
                <a:gd name="T3" fmla="*/ 0 h 680"/>
                <a:gd name="T4" fmla="*/ 2147483647 w 1376"/>
                <a:gd name="T5" fmla="*/ 2147483647 h 680"/>
                <a:gd name="T6" fmla="*/ 0 w 1376"/>
                <a:gd name="T7" fmla="*/ 2147483647 h 680"/>
                <a:gd name="T8" fmla="*/ 0 w 1376"/>
                <a:gd name="T9" fmla="*/ 2147483647 h 680"/>
                <a:gd name="T10" fmla="*/ 2147483647 w 1376"/>
                <a:gd name="T11" fmla="*/ 2147483647 h 680"/>
                <a:gd name="T12" fmla="*/ 2147483647 w 1376"/>
                <a:gd name="T13" fmla="*/ 2147483647 h 680"/>
                <a:gd name="T14" fmla="*/ 2147483647 w 1376"/>
                <a:gd name="T15" fmla="*/ 2147483647 h 6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6" h="680">
                  <a:moveTo>
                    <a:pt x="1376" y="202"/>
                  </a:moveTo>
                  <a:lnTo>
                    <a:pt x="832" y="0"/>
                  </a:lnTo>
                  <a:lnTo>
                    <a:pt x="832" y="186"/>
                  </a:lnTo>
                  <a:lnTo>
                    <a:pt x="0" y="370"/>
                  </a:lnTo>
                  <a:lnTo>
                    <a:pt x="0" y="680"/>
                  </a:lnTo>
                  <a:lnTo>
                    <a:pt x="832" y="494"/>
                  </a:lnTo>
                  <a:lnTo>
                    <a:pt x="832" y="680"/>
                  </a:lnTo>
                  <a:lnTo>
                    <a:pt x="1376" y="202"/>
                  </a:lnTo>
                  <a:close/>
                </a:path>
              </a:pathLst>
            </a:custGeom>
            <a:gradFill>
              <a:gsLst>
                <a:gs pos="33000">
                  <a:srgbClr val="F68426">
                    <a:lumMod val="60000"/>
                    <a:lumOff val="40000"/>
                  </a:srgbClr>
                </a:gs>
                <a:gs pos="100000">
                  <a:srgbClr val="F68426"/>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77" name="Freeform 4220"/>
            <p:cNvSpPr/>
            <p:nvPr/>
          </p:nvSpPr>
          <p:spPr bwMode="auto">
            <a:xfrm>
              <a:off x="2873375" y="4198938"/>
              <a:ext cx="1557338" cy="771525"/>
            </a:xfrm>
            <a:custGeom>
              <a:avLst/>
              <a:gdLst>
                <a:gd name="T0" fmla="*/ 2147483647 w 1376"/>
                <a:gd name="T1" fmla="*/ 2147483647 h 682"/>
                <a:gd name="T2" fmla="*/ 2147483647 w 1376"/>
                <a:gd name="T3" fmla="*/ 2147483647 h 682"/>
                <a:gd name="T4" fmla="*/ 2147483647 w 1376"/>
                <a:gd name="T5" fmla="*/ 2147483647 h 682"/>
                <a:gd name="T6" fmla="*/ 0 w 1376"/>
                <a:gd name="T7" fmla="*/ 2147483647 h 682"/>
                <a:gd name="T8" fmla="*/ 0 w 1376"/>
                <a:gd name="T9" fmla="*/ 0 h 682"/>
                <a:gd name="T10" fmla="*/ 2147483647 w 1376"/>
                <a:gd name="T11" fmla="*/ 2147483647 h 682"/>
                <a:gd name="T12" fmla="*/ 2147483647 w 1376"/>
                <a:gd name="T13" fmla="*/ 0 h 682"/>
                <a:gd name="T14" fmla="*/ 2147483647 w 1376"/>
                <a:gd name="T15" fmla="*/ 2147483647 h 68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6" h="682">
                  <a:moveTo>
                    <a:pt x="1376" y="480"/>
                  </a:moveTo>
                  <a:lnTo>
                    <a:pt x="832" y="682"/>
                  </a:lnTo>
                  <a:lnTo>
                    <a:pt x="832" y="496"/>
                  </a:lnTo>
                  <a:lnTo>
                    <a:pt x="0" y="310"/>
                  </a:lnTo>
                  <a:lnTo>
                    <a:pt x="0" y="0"/>
                  </a:lnTo>
                  <a:lnTo>
                    <a:pt x="832" y="186"/>
                  </a:lnTo>
                  <a:lnTo>
                    <a:pt x="832" y="0"/>
                  </a:lnTo>
                  <a:lnTo>
                    <a:pt x="1376" y="480"/>
                  </a:lnTo>
                  <a:close/>
                </a:path>
              </a:pathLst>
            </a:custGeom>
            <a:gradFill>
              <a:gsLst>
                <a:gs pos="33000">
                  <a:srgbClr val="F68426">
                    <a:lumMod val="60000"/>
                    <a:lumOff val="40000"/>
                  </a:srgbClr>
                </a:gs>
                <a:gs pos="100000">
                  <a:srgbClr val="F68426"/>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78" name="Freeform 4222"/>
            <p:cNvSpPr/>
            <p:nvPr/>
          </p:nvSpPr>
          <p:spPr bwMode="auto">
            <a:xfrm>
              <a:off x="2873375" y="1827213"/>
              <a:ext cx="1519238" cy="1033462"/>
            </a:xfrm>
            <a:custGeom>
              <a:avLst/>
              <a:gdLst>
                <a:gd name="T0" fmla="*/ 2147483647 w 1342"/>
                <a:gd name="T1" fmla="*/ 2147483647 h 914"/>
                <a:gd name="T2" fmla="*/ 2147483647 w 1342"/>
                <a:gd name="T3" fmla="*/ 0 h 914"/>
                <a:gd name="T4" fmla="*/ 2147483647 w 1342"/>
                <a:gd name="T5" fmla="*/ 2147483647 h 914"/>
                <a:gd name="T6" fmla="*/ 0 w 1342"/>
                <a:gd name="T7" fmla="*/ 2147483647 h 914"/>
                <a:gd name="T8" fmla="*/ 0 w 1342"/>
                <a:gd name="T9" fmla="*/ 2147483647 h 914"/>
                <a:gd name="T10" fmla="*/ 2147483647 w 1342"/>
                <a:gd name="T11" fmla="*/ 2147483647 h 914"/>
                <a:gd name="T12" fmla="*/ 2147483647 w 1342"/>
                <a:gd name="T13" fmla="*/ 2147483647 h 914"/>
                <a:gd name="T14" fmla="*/ 2147483647 w 1342"/>
                <a:gd name="T15" fmla="*/ 2147483647 h 9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42" h="914">
                  <a:moveTo>
                    <a:pt x="1342" y="82"/>
                  </a:moveTo>
                  <a:lnTo>
                    <a:pt x="832" y="0"/>
                  </a:lnTo>
                  <a:lnTo>
                    <a:pt x="832" y="186"/>
                  </a:lnTo>
                  <a:lnTo>
                    <a:pt x="0" y="606"/>
                  </a:lnTo>
                  <a:lnTo>
                    <a:pt x="0" y="914"/>
                  </a:lnTo>
                  <a:lnTo>
                    <a:pt x="832" y="494"/>
                  </a:lnTo>
                  <a:lnTo>
                    <a:pt x="832" y="680"/>
                  </a:lnTo>
                  <a:lnTo>
                    <a:pt x="1342" y="82"/>
                  </a:lnTo>
                  <a:close/>
                </a:path>
              </a:pathLst>
            </a:custGeom>
            <a:gradFill>
              <a:gsLst>
                <a:gs pos="33000">
                  <a:srgbClr val="F68426">
                    <a:lumMod val="60000"/>
                    <a:lumOff val="40000"/>
                  </a:srgbClr>
                </a:gs>
                <a:gs pos="100000">
                  <a:srgbClr val="F68426"/>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80" name="Rectangle 4228"/>
            <p:cNvSpPr>
              <a:spLocks noChangeArrowheads="1"/>
            </p:cNvSpPr>
            <p:nvPr/>
          </p:nvSpPr>
          <p:spPr bwMode="auto">
            <a:xfrm>
              <a:off x="1258888" y="2325688"/>
              <a:ext cx="1512887" cy="677862"/>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数据爬取</a:t>
              </a:r>
            </a:p>
          </p:txBody>
        </p:sp>
        <p:sp>
          <p:nvSpPr>
            <p:cNvPr id="81" name="Rectangle 4228"/>
            <p:cNvSpPr>
              <a:spLocks noChangeArrowheads="1"/>
            </p:cNvSpPr>
            <p:nvPr/>
          </p:nvSpPr>
          <p:spPr bwMode="auto">
            <a:xfrm>
              <a:off x="1258888" y="3260725"/>
              <a:ext cx="1512887" cy="677862"/>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ctr">
                <a:lnSpc>
                  <a:spcPct val="120000"/>
                </a:lnSpc>
                <a:defRPr/>
              </a:pPr>
              <a:r>
                <a:rPr kumimoji="0" lang="zh-CN" altLang="en-US"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数据存储</a:t>
              </a:r>
            </a:p>
          </p:txBody>
        </p:sp>
        <p:sp>
          <p:nvSpPr>
            <p:cNvPr id="82" name="Rectangle 4228"/>
            <p:cNvSpPr>
              <a:spLocks noChangeArrowheads="1"/>
            </p:cNvSpPr>
            <p:nvPr/>
          </p:nvSpPr>
          <p:spPr bwMode="auto">
            <a:xfrm>
              <a:off x="1258888" y="4122738"/>
              <a:ext cx="1512887" cy="677862"/>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ctr">
                <a:lnSpc>
                  <a:spcPct val="120000"/>
                </a:lnSpc>
                <a:defRPr/>
              </a:pPr>
              <a:r>
                <a:rPr kumimoji="0" lang="zh-CN" altLang="en-US"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数据清洗</a:t>
              </a:r>
            </a:p>
          </p:txBody>
        </p:sp>
        <p:sp>
          <p:nvSpPr>
            <p:cNvPr id="84" name="Rectangle 4228"/>
            <p:cNvSpPr>
              <a:spLocks noChangeArrowheads="1"/>
            </p:cNvSpPr>
            <p:nvPr/>
          </p:nvSpPr>
          <p:spPr bwMode="auto">
            <a:xfrm>
              <a:off x="4496924" y="1687768"/>
              <a:ext cx="3951932" cy="3776829"/>
            </a:xfrm>
            <a:custGeom>
              <a:avLst/>
              <a:gdLst/>
              <a:ahLst/>
              <a:cxnLst/>
              <a:rect l="l" t="t" r="r" b="b"/>
              <a:pathLst>
                <a:path w="3951932" h="4730750">
                  <a:moveTo>
                    <a:pt x="0" y="0"/>
                  </a:moveTo>
                  <a:lnTo>
                    <a:pt x="3951932" y="0"/>
                  </a:lnTo>
                  <a:lnTo>
                    <a:pt x="3951932" y="4730750"/>
                  </a:lnTo>
                  <a:lnTo>
                    <a:pt x="0" y="4730750"/>
                  </a:lnTo>
                  <a:close/>
                </a:path>
              </a:pathLst>
            </a:cu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200"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85" name="Line 4263"/>
            <p:cNvSpPr>
              <a:spLocks noChangeShapeType="1"/>
            </p:cNvSpPr>
            <p:nvPr/>
          </p:nvSpPr>
          <p:spPr bwMode="auto">
            <a:xfrm>
              <a:off x="4515311" y="2434661"/>
              <a:ext cx="3527425" cy="0"/>
            </a:xfrm>
            <a:prstGeom prst="line">
              <a:avLst/>
            </a:prstGeom>
            <a:noFill/>
            <a:ln w="9525">
              <a:solidFill>
                <a:srgbClr val="949494"/>
              </a:solidFill>
              <a:prstDash val="dash"/>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endParaRPr>
            </a:p>
          </p:txBody>
        </p:sp>
        <p:sp>
          <p:nvSpPr>
            <p:cNvPr id="86" name="Line 4265"/>
            <p:cNvSpPr>
              <a:spLocks noChangeShapeType="1"/>
            </p:cNvSpPr>
            <p:nvPr/>
          </p:nvSpPr>
          <p:spPr bwMode="auto">
            <a:xfrm>
              <a:off x="4500563" y="4104709"/>
              <a:ext cx="3527425" cy="0"/>
            </a:xfrm>
            <a:prstGeom prst="line">
              <a:avLst/>
            </a:prstGeom>
            <a:noFill/>
            <a:ln w="9525">
              <a:solidFill>
                <a:srgbClr val="949494"/>
              </a:solidFill>
              <a:prstDash val="dash"/>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endParaRPr>
            </a:p>
          </p:txBody>
        </p:sp>
        <p:sp>
          <p:nvSpPr>
            <p:cNvPr id="88" name="TextBox 87"/>
            <p:cNvSpPr txBox="1"/>
            <p:nvPr/>
          </p:nvSpPr>
          <p:spPr bwMode="auto">
            <a:xfrm>
              <a:off x="4771988" y="2703977"/>
              <a:ext cx="3122530" cy="1061829"/>
            </a:xfrm>
            <a:prstGeom prst="rect">
              <a:avLst/>
            </a:prstGeom>
            <a:noFill/>
          </p:spPr>
          <p:txBody>
            <a:bodyPr vert="horz" wrap="square" lIns="91440" tIns="45720" rIns="91440" bIns="45720" numCol="1" anchor="t" anchorCtr="0" compatLnSpc="1">
              <a:spAutoFit/>
            </a:bodyPr>
            <a:lstStyle/>
            <a:p>
              <a:pPr>
                <a:lnSpc>
                  <a:spcPct val="150000"/>
                </a:lnSpc>
                <a:defRPr/>
              </a:pPr>
              <a:r>
                <a:rPr lang="zh-CN" altLang="en-US" sz="1400" kern="0" dirty="0">
                  <a:solidFill>
                    <a:srgbClr val="7D7D7D"/>
                  </a:solidFill>
                  <a:latin typeface="微软雅黑" panose="020B0503020204020204" pitchFamily="34" charset="-122"/>
                  <a:ea typeface="微软雅黑" panose="020B0503020204020204" pitchFamily="34" charset="-122"/>
                </a:rPr>
                <a:t>分布式文件存储系统</a:t>
              </a:r>
              <a:endParaRPr lang="en-US" altLang="zh-CN" sz="1400" kern="0" dirty="0">
                <a:solidFill>
                  <a:srgbClr val="7D7D7D"/>
                </a:solidFill>
                <a:latin typeface="微软雅黑" panose="020B0503020204020204" pitchFamily="34" charset="-122"/>
                <a:ea typeface="微软雅黑" panose="020B0503020204020204" pitchFamily="34" charset="-122"/>
              </a:endParaRPr>
            </a:p>
            <a:p>
              <a:pPr>
                <a:lnSpc>
                  <a:spcPct val="150000"/>
                </a:lnSpc>
                <a:defRPr/>
              </a:pPr>
              <a:r>
                <a:rPr lang="en-US" altLang="zh-CN" sz="1400" kern="0" dirty="0">
                  <a:solidFill>
                    <a:srgbClr val="7D7D7D"/>
                  </a:solidFill>
                  <a:latin typeface="微软雅黑" panose="020B0503020204020204" pitchFamily="34" charset="-122"/>
                  <a:ea typeface="微软雅黑" panose="020B0503020204020204" pitchFamily="34" charset="-122"/>
                </a:rPr>
                <a:t>NoSQL </a:t>
              </a:r>
              <a:r>
                <a:rPr lang="zh-CN" altLang="en-US" sz="1400" kern="0" dirty="0">
                  <a:solidFill>
                    <a:srgbClr val="7D7D7D"/>
                  </a:solidFill>
                  <a:latin typeface="微软雅黑" panose="020B0503020204020204" pitchFamily="34" charset="-122"/>
                  <a:ea typeface="微软雅黑" panose="020B0503020204020204" pitchFamily="34" charset="-122"/>
                </a:rPr>
                <a:t>数据库</a:t>
              </a:r>
              <a:endParaRPr lang="en-US" altLang="zh-CN" sz="1400" kern="0" dirty="0">
                <a:solidFill>
                  <a:srgbClr val="7D7D7D"/>
                </a:solidFill>
                <a:latin typeface="微软雅黑" panose="020B0503020204020204" pitchFamily="34" charset="-122"/>
                <a:ea typeface="微软雅黑" panose="020B0503020204020204" pitchFamily="34" charset="-122"/>
              </a:endParaRPr>
            </a:p>
            <a:p>
              <a:pPr>
                <a:lnSpc>
                  <a:spcPct val="150000"/>
                </a:lnSpc>
                <a:defRPr/>
              </a:pPr>
              <a:r>
                <a:rPr lang="zh-CN" altLang="en-US" sz="1400" kern="0" dirty="0">
                  <a:solidFill>
                    <a:srgbClr val="7D7D7D"/>
                  </a:solidFill>
                  <a:latin typeface="微软雅黑" panose="020B0503020204020204" pitchFamily="34" charset="-122"/>
                  <a:ea typeface="微软雅黑" panose="020B0503020204020204" pitchFamily="34" charset="-122"/>
                </a:rPr>
                <a:t>分布式并行数据库系统</a:t>
              </a:r>
              <a:endParaRPr kumimoji="0" lang="zh-CN" altLang="en-US" sz="14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endParaRPr>
            </a:p>
          </p:txBody>
        </p:sp>
        <p:sp>
          <p:nvSpPr>
            <p:cNvPr id="89" name="TextBox 88"/>
            <p:cNvSpPr txBox="1"/>
            <p:nvPr/>
          </p:nvSpPr>
          <p:spPr bwMode="auto">
            <a:xfrm>
              <a:off x="4755678" y="1861848"/>
              <a:ext cx="3308554" cy="377411"/>
            </a:xfrm>
            <a:prstGeom prst="rect">
              <a:avLst/>
            </a:prstGeom>
            <a:noFill/>
          </p:spPr>
          <p:txBody>
            <a:bodyPr vert="horz" wrap="square" lIns="91440" tIns="45720" rIns="91440" bIns="45720" numCol="1" anchor="t" anchorCtr="0" compatLnSpc="1">
              <a:spAutoFit/>
            </a:bodyPr>
            <a:lstStyle/>
            <a:p>
              <a:pPr lvl="0">
                <a:lnSpc>
                  <a:spcPct val="150000"/>
                </a:lnSpc>
                <a:defRPr/>
              </a:pPr>
              <a:r>
                <a:rPr kumimoji="0" lang="zh-CN" altLang="en-US" sz="14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rPr>
                <a:t>网络爬虫：</a:t>
              </a:r>
              <a:r>
                <a:rPr lang="en-US" altLang="zh-CN" sz="1400" kern="0" dirty="0" err="1">
                  <a:solidFill>
                    <a:srgbClr val="7D7D7D"/>
                  </a:solidFill>
                  <a:latin typeface="微软雅黑" panose="020B0503020204020204" pitchFamily="34" charset="-122"/>
                  <a:ea typeface="微软雅黑" panose="020B0503020204020204" pitchFamily="34" charset="-122"/>
                </a:rPr>
                <a:t>Heritrix</a:t>
              </a:r>
              <a:r>
                <a:rPr lang="zh-CN" altLang="en-US" sz="1400" kern="0" dirty="0">
                  <a:solidFill>
                    <a:srgbClr val="7D7D7D"/>
                  </a:solidFill>
                  <a:latin typeface="微软雅黑" panose="020B0503020204020204" pitchFamily="34" charset="-122"/>
                  <a:ea typeface="微软雅黑" panose="020B0503020204020204" pitchFamily="34" charset="-122"/>
                </a:rPr>
                <a:t>，</a:t>
              </a:r>
              <a:r>
                <a:rPr lang="en-US" altLang="zh-CN" sz="1400" kern="0" dirty="0" err="1">
                  <a:solidFill>
                    <a:srgbClr val="7D7D7D"/>
                  </a:solidFill>
                  <a:latin typeface="微软雅黑" panose="020B0503020204020204" pitchFamily="34" charset="-122"/>
                  <a:ea typeface="微软雅黑" panose="020B0503020204020204" pitchFamily="34" charset="-122"/>
                </a:rPr>
                <a:t>Nutch</a:t>
              </a:r>
              <a:r>
                <a:rPr lang="en-US" altLang="zh-CN" sz="1400" kern="0" dirty="0">
                  <a:solidFill>
                    <a:srgbClr val="7D7D7D"/>
                  </a:solidFill>
                  <a:latin typeface="微软雅黑" panose="020B0503020204020204" pitchFamily="34" charset="-122"/>
                  <a:ea typeface="微软雅黑" panose="020B0503020204020204" pitchFamily="34" charset="-122"/>
                </a:rPr>
                <a:t> </a:t>
              </a:r>
              <a:r>
                <a:rPr lang="zh-CN" altLang="en-US" sz="1400" kern="0" dirty="0">
                  <a:solidFill>
                    <a:srgbClr val="7D7D7D"/>
                  </a:solidFill>
                  <a:latin typeface="微软雅黑" panose="020B0503020204020204" pitchFamily="34" charset="-122"/>
                  <a:ea typeface="微软雅黑" panose="020B0503020204020204" pitchFamily="34" charset="-122"/>
                </a:rPr>
                <a:t>和 </a:t>
              </a:r>
              <a:r>
                <a:rPr lang="en-US" altLang="zh-CN" sz="1400" kern="0" dirty="0">
                  <a:solidFill>
                    <a:srgbClr val="7D7D7D"/>
                  </a:solidFill>
                  <a:latin typeface="微软雅黑" panose="020B0503020204020204" pitchFamily="34" charset="-122"/>
                  <a:ea typeface="微软雅黑" panose="020B0503020204020204" pitchFamily="34" charset="-122"/>
                </a:rPr>
                <a:t>Labin</a:t>
              </a:r>
              <a:endParaRPr lang="zh-CN" altLang="en-US" sz="1400" kern="0" dirty="0">
                <a:solidFill>
                  <a:srgbClr val="7D7D7D"/>
                </a:solidFill>
                <a:latin typeface="微软雅黑" panose="020B0503020204020204" pitchFamily="34" charset="-122"/>
                <a:ea typeface="微软雅黑" panose="020B0503020204020204" pitchFamily="34" charset="-122"/>
              </a:endParaRPr>
            </a:p>
          </p:txBody>
        </p:sp>
        <p:sp>
          <p:nvSpPr>
            <p:cNvPr id="90" name="TextBox 89"/>
            <p:cNvSpPr txBox="1"/>
            <p:nvPr/>
          </p:nvSpPr>
          <p:spPr bwMode="auto">
            <a:xfrm>
              <a:off x="4652439" y="4823920"/>
              <a:ext cx="3272310" cy="377411"/>
            </a:xfrm>
            <a:prstGeom prst="rect">
              <a:avLst/>
            </a:prstGeom>
            <a:noFill/>
          </p:spPr>
          <p:txBody>
            <a:bodyPr vert="horz" wrap="square" lIns="91440" tIns="45720" rIns="91440" bIns="45720" numCol="1" anchor="t" anchorCtr="0" compatLnSpc="1">
              <a:spAutoFit/>
            </a:bodyPr>
            <a:lstStyle/>
            <a:p>
              <a:pPr lvl="0">
                <a:lnSpc>
                  <a:spcPct val="150000"/>
                </a:lnSpc>
                <a:defRPr/>
              </a:pPr>
              <a:endParaRPr kumimoji="0" lang="zh-CN" altLang="en-US" sz="14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endParaRPr>
            </a:p>
          </p:txBody>
        </p:sp>
      </p:grpSp>
      <p:sp>
        <p:nvSpPr>
          <p:cNvPr id="93" name="矩形 92"/>
          <p:cNvSpPr/>
          <p:nvPr/>
        </p:nvSpPr>
        <p:spPr>
          <a:xfrm>
            <a:off x="6351638" y="4816648"/>
            <a:ext cx="3308555" cy="377411"/>
          </a:xfrm>
          <a:prstGeom prst="rect">
            <a:avLst/>
          </a:prstGeom>
        </p:spPr>
        <p:txBody>
          <a:bodyPr wrap="square">
            <a:spAutoFit/>
          </a:bodyPr>
          <a:lstStyle/>
          <a:p>
            <a:pPr>
              <a:lnSpc>
                <a:spcPct val="150000"/>
              </a:lnSpc>
              <a:defRPr/>
            </a:pPr>
            <a:r>
              <a:rPr lang="zh-CN" altLang="en-US" sz="1400" kern="0" dirty="0">
                <a:solidFill>
                  <a:srgbClr val="7D7D7D"/>
                </a:solidFill>
                <a:latin typeface="微软雅黑" panose="020B0503020204020204" pitchFamily="34" charset="-122"/>
                <a:ea typeface="微软雅黑" panose="020B0503020204020204" pitchFamily="34" charset="-122"/>
              </a:rPr>
              <a:t>整理已采集数据</a:t>
            </a:r>
          </a:p>
        </p:txBody>
      </p:sp>
      <p:sp>
        <p:nvSpPr>
          <p:cNvPr id="87" name="矩形 86"/>
          <p:cNvSpPr/>
          <p:nvPr/>
        </p:nvSpPr>
        <p:spPr>
          <a:xfrm>
            <a:off x="1543211" y="1588955"/>
            <a:ext cx="2492990" cy="461665"/>
          </a:xfrm>
          <a:prstGeom prst="rect">
            <a:avLst/>
          </a:prstGeom>
        </p:spPr>
        <p:txBody>
          <a:bodyPr wrap="none">
            <a:spAutoFit/>
          </a:bodyPr>
          <a:lstStyle/>
          <a:p>
            <a:pPr marL="457200" indent="-457200">
              <a:buFont typeface="+mj-ea"/>
              <a:buAutoNum type="circleNumDbPlain"/>
            </a:pPr>
            <a:r>
              <a:rPr lang="zh-CN" altLang="en-US" sz="2400" b="1" dirty="0">
                <a:solidFill>
                  <a:srgbClr val="F784A5"/>
                </a:solidFill>
                <a:latin typeface="微软雅黑" panose="020B0503020204020204" pitchFamily="34" charset="-122"/>
                <a:ea typeface="微软雅黑" panose="020B0503020204020204" pitchFamily="34" charset="-122"/>
              </a:rPr>
              <a:t>信息采集技术</a:t>
            </a:r>
          </a:p>
        </p:txBody>
      </p:sp>
      <p:sp>
        <p:nvSpPr>
          <p:cNvPr id="91"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网络舆情分析关键技术</a:t>
            </a:r>
          </a:p>
        </p:txBody>
      </p:sp>
      <p:sp>
        <p:nvSpPr>
          <p:cNvPr id="92"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p:cTn id="7" dur="500" fill="hold"/>
                                        <p:tgtEl>
                                          <p:spTgt spid="74"/>
                                        </p:tgtEl>
                                        <p:attrNameLst>
                                          <p:attrName>ppt_w</p:attrName>
                                        </p:attrNameLst>
                                      </p:cBhvr>
                                      <p:tavLst>
                                        <p:tav tm="0">
                                          <p:val>
                                            <p:fltVal val="0"/>
                                          </p:val>
                                        </p:tav>
                                        <p:tav tm="100000">
                                          <p:val>
                                            <p:strVal val="#ppt_w"/>
                                          </p:val>
                                        </p:tav>
                                      </p:tavLst>
                                    </p:anim>
                                    <p:anim calcmode="lin" valueType="num">
                                      <p:cBhvr>
                                        <p:cTn id="8" dur="500" fill="hold"/>
                                        <p:tgtEl>
                                          <p:spTgt spid="7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130"/>
          <p:cNvSpPr/>
          <p:nvPr/>
        </p:nvSpPr>
        <p:spPr>
          <a:xfrm>
            <a:off x="8316822" y="2197071"/>
            <a:ext cx="2552741" cy="387836"/>
          </a:xfrm>
          <a:prstGeom prst="rect">
            <a:avLst/>
          </a:prstGeom>
          <a:solidFill>
            <a:srgbClr val="6FA0D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Single-pass </a:t>
            </a:r>
            <a:r>
              <a:rPr lang="zh-CN" altLang="en-US" dirty="0">
                <a:latin typeface="微软雅黑" panose="020B0503020204020204" pitchFamily="34" charset="-122"/>
                <a:ea typeface="微软雅黑" panose="020B0503020204020204" pitchFamily="34" charset="-122"/>
              </a:rPr>
              <a:t>聚类算法</a:t>
            </a:r>
          </a:p>
        </p:txBody>
      </p:sp>
      <p:sp>
        <p:nvSpPr>
          <p:cNvPr id="132" name="矩形 131"/>
          <p:cNvSpPr/>
          <p:nvPr/>
        </p:nvSpPr>
        <p:spPr>
          <a:xfrm>
            <a:off x="8316822" y="2893148"/>
            <a:ext cx="2552741" cy="387836"/>
          </a:xfrm>
          <a:prstGeom prst="rect">
            <a:avLst/>
          </a:prstGeom>
          <a:solidFill>
            <a:srgbClr val="8AAC46">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K -means</a:t>
            </a:r>
            <a:endParaRPr lang="zh-CN" altLang="en-US" dirty="0">
              <a:latin typeface="微软雅黑" panose="020B0503020204020204" pitchFamily="34" charset="-122"/>
              <a:ea typeface="微软雅黑" panose="020B0503020204020204" pitchFamily="34" charset="-122"/>
            </a:endParaRPr>
          </a:p>
        </p:txBody>
      </p:sp>
      <p:sp>
        <p:nvSpPr>
          <p:cNvPr id="133" name="矩形 132"/>
          <p:cNvSpPr/>
          <p:nvPr/>
        </p:nvSpPr>
        <p:spPr>
          <a:xfrm>
            <a:off x="8316822" y="3589225"/>
            <a:ext cx="2537992" cy="387836"/>
          </a:xfrm>
          <a:prstGeom prst="rect">
            <a:avLst/>
          </a:prstGeom>
          <a:solidFill>
            <a:srgbClr val="F68426">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KNN </a:t>
            </a:r>
            <a:r>
              <a:rPr lang="zh-CN" altLang="en-US" dirty="0">
                <a:latin typeface="微软雅黑" panose="020B0503020204020204" pitchFamily="34" charset="-122"/>
                <a:ea typeface="微软雅黑" panose="020B0503020204020204" pitchFamily="34" charset="-122"/>
              </a:rPr>
              <a:t>最邻近法</a:t>
            </a:r>
          </a:p>
        </p:txBody>
      </p:sp>
      <p:sp>
        <p:nvSpPr>
          <p:cNvPr id="134" name="矩形 133"/>
          <p:cNvSpPr/>
          <p:nvPr/>
        </p:nvSpPr>
        <p:spPr>
          <a:xfrm>
            <a:off x="8318152" y="4285303"/>
            <a:ext cx="2521914" cy="387836"/>
          </a:xfrm>
          <a:prstGeom prst="rect">
            <a:avLst/>
          </a:prstGeom>
          <a:solidFill>
            <a:srgbClr val="FF0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SVM </a:t>
            </a:r>
            <a:r>
              <a:rPr lang="zh-CN" altLang="en-US" dirty="0">
                <a:latin typeface="微软雅黑" panose="020B0503020204020204" pitchFamily="34" charset="-122"/>
                <a:ea typeface="微软雅黑" panose="020B0503020204020204" pitchFamily="34" charset="-122"/>
              </a:rPr>
              <a:t>支持向量机</a:t>
            </a:r>
          </a:p>
        </p:txBody>
      </p:sp>
      <p:sp>
        <p:nvSpPr>
          <p:cNvPr id="135" name="矩形 134"/>
          <p:cNvSpPr/>
          <p:nvPr/>
        </p:nvSpPr>
        <p:spPr>
          <a:xfrm>
            <a:off x="8336485" y="4930439"/>
            <a:ext cx="2533077" cy="387836"/>
          </a:xfrm>
          <a:prstGeom prst="rect">
            <a:avLst/>
          </a:prstGeom>
          <a:solidFill>
            <a:schemeClr val="tx2">
              <a:lumMod val="60000"/>
              <a:lumOff val="4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SOM </a:t>
            </a:r>
            <a:r>
              <a:rPr lang="zh-CN" altLang="en-US" dirty="0">
                <a:latin typeface="微软雅黑" panose="020B0503020204020204" pitchFamily="34" charset="-122"/>
                <a:ea typeface="微软雅黑" panose="020B0503020204020204" pitchFamily="34" charset="-122"/>
              </a:rPr>
              <a:t>神经网络聚类</a:t>
            </a:r>
          </a:p>
        </p:txBody>
      </p:sp>
      <p:sp>
        <p:nvSpPr>
          <p:cNvPr id="136" name="左大括号 135"/>
          <p:cNvSpPr/>
          <p:nvPr/>
        </p:nvSpPr>
        <p:spPr>
          <a:xfrm>
            <a:off x="7610168" y="2286001"/>
            <a:ext cx="280219" cy="2934929"/>
          </a:xfrm>
          <a:prstGeom prst="leftBrace">
            <a:avLst>
              <a:gd name="adj1" fmla="val 8333"/>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8433" name="Picture 1" descr="D:\A研三\组会\51pptmoban.com\放大镜\3D小人手拿放大镜ppt素材图片-www.51pptmoban.com (1).jpg"/>
          <p:cNvPicPr>
            <a:picLocks noChangeAspect="1" noChangeArrowheads="1"/>
          </p:cNvPicPr>
          <p:nvPr/>
        </p:nvPicPr>
        <p:blipFill>
          <a:blip r:embed="rId2" cstate="print"/>
          <a:srcRect b="5825"/>
          <a:stretch>
            <a:fillRect/>
          </a:stretch>
        </p:blipFill>
        <p:spPr bwMode="auto">
          <a:xfrm>
            <a:off x="6236573" y="2873478"/>
            <a:ext cx="1256674" cy="1256070"/>
          </a:xfrm>
          <a:prstGeom prst="rect">
            <a:avLst/>
          </a:prstGeom>
          <a:noFill/>
        </p:spPr>
      </p:pic>
      <p:cxnSp>
        <p:nvCxnSpPr>
          <p:cNvPr id="149" name="直接连接符 148"/>
          <p:cNvCxnSpPr/>
          <p:nvPr/>
        </p:nvCxnSpPr>
        <p:spPr>
          <a:xfrm>
            <a:off x="1114430" y="299104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bwMode="auto">
          <a:xfrm>
            <a:off x="1342364" y="3185914"/>
            <a:ext cx="185200" cy="191467"/>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53" name="文本框 12"/>
          <p:cNvSpPr txBox="1"/>
          <p:nvPr/>
        </p:nvSpPr>
        <p:spPr>
          <a:xfrm>
            <a:off x="1700020" y="3108735"/>
            <a:ext cx="3277397" cy="372025"/>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1600" dirty="0"/>
              <a:t>Single-pass</a:t>
            </a:r>
            <a:r>
              <a:rPr lang="zh-CN" altLang="en-US" sz="1600" dirty="0"/>
              <a:t>：动态聚类表现良好</a:t>
            </a:r>
          </a:p>
        </p:txBody>
      </p:sp>
      <p:cxnSp>
        <p:nvCxnSpPr>
          <p:cNvPr id="157" name="直接连接符 156"/>
          <p:cNvCxnSpPr/>
          <p:nvPr/>
        </p:nvCxnSpPr>
        <p:spPr>
          <a:xfrm>
            <a:off x="1089850" y="367439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bwMode="auto">
          <a:xfrm>
            <a:off x="1342364" y="3871253"/>
            <a:ext cx="185200" cy="191467"/>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59" name="文本框 12"/>
          <p:cNvSpPr txBox="1"/>
          <p:nvPr/>
        </p:nvSpPr>
        <p:spPr>
          <a:xfrm>
            <a:off x="1675440" y="3771296"/>
            <a:ext cx="3939358" cy="372025"/>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1600" dirty="0"/>
              <a:t>K-means</a:t>
            </a:r>
            <a:r>
              <a:rPr lang="zh-CN" altLang="en-US" sz="1600" dirty="0"/>
              <a:t>：基于硬划分的无监督聚类算法</a:t>
            </a:r>
          </a:p>
        </p:txBody>
      </p:sp>
      <p:cxnSp>
        <p:nvCxnSpPr>
          <p:cNvPr id="160" name="直接连接符 159"/>
          <p:cNvCxnSpPr/>
          <p:nvPr/>
        </p:nvCxnSpPr>
        <p:spPr>
          <a:xfrm>
            <a:off x="1089850" y="424957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bwMode="auto">
          <a:xfrm>
            <a:off x="1342364" y="4444259"/>
            <a:ext cx="185200" cy="191467"/>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2" name="文本框 12"/>
          <p:cNvSpPr txBox="1"/>
          <p:nvPr/>
        </p:nvSpPr>
        <p:spPr>
          <a:xfrm>
            <a:off x="1675440" y="4353410"/>
            <a:ext cx="3783251" cy="372025"/>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1600" dirty="0"/>
              <a:t>KNN</a:t>
            </a:r>
            <a:r>
              <a:rPr lang="zh-CN" altLang="en-US" sz="1600" dirty="0"/>
              <a:t>：基于类比学习的非参数分类技术</a:t>
            </a:r>
          </a:p>
        </p:txBody>
      </p:sp>
      <p:cxnSp>
        <p:nvCxnSpPr>
          <p:cNvPr id="163" name="直接连接符 162"/>
          <p:cNvCxnSpPr/>
          <p:nvPr/>
        </p:nvCxnSpPr>
        <p:spPr>
          <a:xfrm>
            <a:off x="1104597" y="4854261"/>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bwMode="auto">
          <a:xfrm>
            <a:off x="1342364" y="5042200"/>
            <a:ext cx="185200" cy="191467"/>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5" name="文本框 12"/>
          <p:cNvSpPr txBox="1"/>
          <p:nvPr/>
        </p:nvSpPr>
        <p:spPr>
          <a:xfrm>
            <a:off x="1690187" y="4951167"/>
            <a:ext cx="3277397" cy="372025"/>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1600" dirty="0"/>
              <a:t>SVM</a:t>
            </a:r>
            <a:r>
              <a:rPr lang="zh-CN" altLang="en-US" sz="1600" dirty="0"/>
              <a:t>：多热点事件识别</a:t>
            </a:r>
          </a:p>
        </p:txBody>
      </p:sp>
      <p:cxnSp>
        <p:nvCxnSpPr>
          <p:cNvPr id="166" name="直接连接符 165"/>
          <p:cNvCxnSpPr/>
          <p:nvPr/>
        </p:nvCxnSpPr>
        <p:spPr>
          <a:xfrm>
            <a:off x="1104598" y="5429448"/>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7" name="矩形 166"/>
          <p:cNvSpPr/>
          <p:nvPr/>
        </p:nvSpPr>
        <p:spPr bwMode="auto">
          <a:xfrm>
            <a:off x="1342364" y="5618303"/>
            <a:ext cx="185200" cy="191467"/>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8" name="文本框 12"/>
          <p:cNvSpPr txBox="1"/>
          <p:nvPr/>
        </p:nvSpPr>
        <p:spPr>
          <a:xfrm>
            <a:off x="1690188" y="5526354"/>
            <a:ext cx="3277397" cy="372025"/>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1600" dirty="0"/>
              <a:t>SOM</a:t>
            </a:r>
            <a:r>
              <a:rPr lang="zh-CN" altLang="en-US" sz="1600" dirty="0"/>
              <a:t>：人工神经网络</a:t>
            </a:r>
          </a:p>
        </p:txBody>
      </p:sp>
      <p:cxnSp>
        <p:nvCxnSpPr>
          <p:cNvPr id="169" name="直接连接符 168"/>
          <p:cNvCxnSpPr/>
          <p:nvPr/>
        </p:nvCxnSpPr>
        <p:spPr>
          <a:xfrm>
            <a:off x="1139008" y="602430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1086011" y="2534886"/>
            <a:ext cx="1210588" cy="338554"/>
          </a:xfrm>
          <a:prstGeom prst="rect">
            <a:avLst/>
          </a:prstGeom>
        </p:spPr>
        <p:txBody>
          <a:bodyPr wrap="none">
            <a:spAutoFit/>
          </a:bodyPr>
          <a:lstStyle/>
          <a:p>
            <a:r>
              <a:rPr lang="zh-CN" altLang="en-US" sz="1600" b="1" dirty="0">
                <a:latin typeface="微软雅黑" panose="020B0503020204020204" pitchFamily="34" charset="-122"/>
                <a:ea typeface="微软雅黑" panose="020B0503020204020204" pitchFamily="34" charset="-122"/>
              </a:rPr>
              <a:t>主要算法：</a:t>
            </a:r>
          </a:p>
        </p:txBody>
      </p:sp>
      <p:sp>
        <p:nvSpPr>
          <p:cNvPr id="30" name="矩形 29"/>
          <p:cNvSpPr/>
          <p:nvPr/>
        </p:nvSpPr>
        <p:spPr>
          <a:xfrm>
            <a:off x="1448618" y="1431300"/>
            <a:ext cx="2377574" cy="461665"/>
          </a:xfrm>
          <a:prstGeom prst="rect">
            <a:avLst/>
          </a:prstGeom>
        </p:spPr>
        <p:txBody>
          <a:bodyPr wrap="none">
            <a:spAutoFit/>
          </a:bodyPr>
          <a:lstStyle/>
          <a:p>
            <a:pPr marL="342900" indent="-342900">
              <a:buFont typeface="+mj-ea"/>
              <a:buAutoNum type="circleNumDbPlain" startAt="2"/>
            </a:pPr>
            <a:r>
              <a:rPr lang="zh-CN" altLang="en-US" sz="2400" b="1" dirty="0">
                <a:solidFill>
                  <a:srgbClr val="F784A5"/>
                </a:solidFill>
                <a:latin typeface="微软雅黑" panose="020B0503020204020204" pitchFamily="34" charset="-122"/>
                <a:ea typeface="微软雅黑" panose="020B0503020204020204" pitchFamily="34" charset="-122"/>
              </a:rPr>
              <a:t>热点发现技术</a:t>
            </a:r>
          </a:p>
        </p:txBody>
      </p:sp>
      <p:sp>
        <p:nvSpPr>
          <p:cNvPr id="34"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网络舆情分析关键技术</a:t>
            </a:r>
          </a:p>
        </p:txBody>
      </p:sp>
      <p:sp>
        <p:nvSpPr>
          <p:cNvPr id="35"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fill="hold"/>
                                        <p:tgtEl>
                                          <p:spTgt spid="131"/>
                                        </p:tgtEl>
                                        <p:attrNameLst>
                                          <p:attrName>ppt_x</p:attrName>
                                        </p:attrNameLst>
                                      </p:cBhvr>
                                      <p:tavLst>
                                        <p:tav tm="0">
                                          <p:val>
                                            <p:strVal val="0-#ppt_w/2"/>
                                          </p:val>
                                        </p:tav>
                                        <p:tav tm="100000">
                                          <p:val>
                                            <p:strVal val="#ppt_x"/>
                                          </p:val>
                                        </p:tav>
                                      </p:tavLst>
                                    </p:anim>
                                    <p:anim calcmode="lin" valueType="num">
                                      <p:cBhvr additive="base">
                                        <p:cTn id="8" dur="500" fill="hold"/>
                                        <p:tgtEl>
                                          <p:spTgt spid="13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100"/>
                                  </p:stCondLst>
                                  <p:childTnLst>
                                    <p:set>
                                      <p:cBhvr>
                                        <p:cTn id="10" dur="1" fill="hold">
                                          <p:stCondLst>
                                            <p:cond delay="0"/>
                                          </p:stCondLst>
                                        </p:cTn>
                                        <p:tgtEl>
                                          <p:spTgt spid="132"/>
                                        </p:tgtEl>
                                        <p:attrNameLst>
                                          <p:attrName>style.visibility</p:attrName>
                                        </p:attrNameLst>
                                      </p:cBhvr>
                                      <p:to>
                                        <p:strVal val="visible"/>
                                      </p:to>
                                    </p:set>
                                    <p:anim calcmode="lin" valueType="num">
                                      <p:cBhvr additive="base">
                                        <p:cTn id="11" dur="500" fill="hold"/>
                                        <p:tgtEl>
                                          <p:spTgt spid="132"/>
                                        </p:tgtEl>
                                        <p:attrNameLst>
                                          <p:attrName>ppt_x</p:attrName>
                                        </p:attrNameLst>
                                      </p:cBhvr>
                                      <p:tavLst>
                                        <p:tav tm="0">
                                          <p:val>
                                            <p:strVal val="0-#ppt_w/2"/>
                                          </p:val>
                                        </p:tav>
                                        <p:tav tm="100000">
                                          <p:val>
                                            <p:strVal val="#ppt_x"/>
                                          </p:val>
                                        </p:tav>
                                      </p:tavLst>
                                    </p:anim>
                                    <p:anim calcmode="lin" valueType="num">
                                      <p:cBhvr additive="base">
                                        <p:cTn id="12" dur="500" fill="hold"/>
                                        <p:tgtEl>
                                          <p:spTgt spid="13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200"/>
                                  </p:stCondLst>
                                  <p:childTnLst>
                                    <p:set>
                                      <p:cBhvr>
                                        <p:cTn id="14" dur="1" fill="hold">
                                          <p:stCondLst>
                                            <p:cond delay="0"/>
                                          </p:stCondLst>
                                        </p:cTn>
                                        <p:tgtEl>
                                          <p:spTgt spid="133"/>
                                        </p:tgtEl>
                                        <p:attrNameLst>
                                          <p:attrName>style.visibility</p:attrName>
                                        </p:attrNameLst>
                                      </p:cBhvr>
                                      <p:to>
                                        <p:strVal val="visible"/>
                                      </p:to>
                                    </p:set>
                                    <p:anim calcmode="lin" valueType="num">
                                      <p:cBhvr additive="base">
                                        <p:cTn id="15" dur="500" fill="hold"/>
                                        <p:tgtEl>
                                          <p:spTgt spid="133"/>
                                        </p:tgtEl>
                                        <p:attrNameLst>
                                          <p:attrName>ppt_x</p:attrName>
                                        </p:attrNameLst>
                                      </p:cBhvr>
                                      <p:tavLst>
                                        <p:tav tm="0">
                                          <p:val>
                                            <p:strVal val="0-#ppt_w/2"/>
                                          </p:val>
                                        </p:tav>
                                        <p:tav tm="100000">
                                          <p:val>
                                            <p:strVal val="#ppt_x"/>
                                          </p:val>
                                        </p:tav>
                                      </p:tavLst>
                                    </p:anim>
                                    <p:anim calcmode="lin" valueType="num">
                                      <p:cBhvr additive="base">
                                        <p:cTn id="16" dur="500" fill="hold"/>
                                        <p:tgtEl>
                                          <p:spTgt spid="13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34"/>
                                        </p:tgtEl>
                                        <p:attrNameLst>
                                          <p:attrName>style.visibility</p:attrName>
                                        </p:attrNameLst>
                                      </p:cBhvr>
                                      <p:to>
                                        <p:strVal val="visible"/>
                                      </p:to>
                                    </p:set>
                                    <p:anim calcmode="lin" valueType="num">
                                      <p:cBhvr additive="base">
                                        <p:cTn id="19" dur="500" fill="hold"/>
                                        <p:tgtEl>
                                          <p:spTgt spid="134"/>
                                        </p:tgtEl>
                                        <p:attrNameLst>
                                          <p:attrName>ppt_x</p:attrName>
                                        </p:attrNameLst>
                                      </p:cBhvr>
                                      <p:tavLst>
                                        <p:tav tm="0">
                                          <p:val>
                                            <p:strVal val="0-#ppt_w/2"/>
                                          </p:val>
                                        </p:tav>
                                        <p:tav tm="100000">
                                          <p:val>
                                            <p:strVal val="#ppt_x"/>
                                          </p:val>
                                        </p:tav>
                                      </p:tavLst>
                                    </p:anim>
                                    <p:anim calcmode="lin" valueType="num">
                                      <p:cBhvr additive="base">
                                        <p:cTn id="20" dur="500" fill="hold"/>
                                        <p:tgtEl>
                                          <p:spTgt spid="134"/>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35"/>
                                        </p:tgtEl>
                                        <p:attrNameLst>
                                          <p:attrName>style.visibility</p:attrName>
                                        </p:attrNameLst>
                                      </p:cBhvr>
                                      <p:to>
                                        <p:strVal val="visible"/>
                                      </p:to>
                                    </p:set>
                                    <p:anim calcmode="lin" valueType="num">
                                      <p:cBhvr additive="base">
                                        <p:cTn id="24" dur="500" fill="hold"/>
                                        <p:tgtEl>
                                          <p:spTgt spid="135"/>
                                        </p:tgtEl>
                                        <p:attrNameLst>
                                          <p:attrName>ppt_x</p:attrName>
                                        </p:attrNameLst>
                                      </p:cBhvr>
                                      <p:tavLst>
                                        <p:tav tm="0">
                                          <p:val>
                                            <p:strVal val="0-#ppt_w/2"/>
                                          </p:val>
                                        </p:tav>
                                        <p:tav tm="100000">
                                          <p:val>
                                            <p:strVal val="#ppt_x"/>
                                          </p:val>
                                        </p:tav>
                                      </p:tavLst>
                                    </p:anim>
                                    <p:anim calcmode="lin" valueType="num">
                                      <p:cBhvr additive="base">
                                        <p:cTn id="25" dur="500" fill="hold"/>
                                        <p:tgtEl>
                                          <p:spTgt spid="1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bldLvl="0" animBg="1"/>
      <p:bldP spid="132" grpId="0" bldLvl="0" animBg="1"/>
      <p:bldP spid="133" grpId="0" bldLvl="0" animBg="1"/>
      <p:bldP spid="134" grpId="0" bldLvl="0" animBg="1"/>
      <p:bldP spid="135"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4" name="Freeform 274"/>
          <p:cNvSpPr/>
          <p:nvPr/>
        </p:nvSpPr>
        <p:spPr bwMode="auto">
          <a:xfrm>
            <a:off x="4068087" y="2466712"/>
            <a:ext cx="1440000" cy="1440000"/>
          </a:xfrm>
          <a:prstGeom prst="flowChartConnector">
            <a:avLst/>
          </a:prstGeom>
          <a:solidFill>
            <a:srgbClr val="F784A5"/>
          </a:solidFill>
          <a:ln>
            <a:noFill/>
          </a:ln>
          <a:effectLst>
            <a:reflection endPos="21000" dist="50800" dir="5400000" sy="-100000" algn="bl" rotWithShape="0"/>
          </a:effectLst>
        </p:spPr>
        <p:txBody>
          <a:bodyPr vert="horz" wrap="square" lIns="91440" tIns="45720" rIns="91440" bIns="45720" numCol="1" anchor="t" anchorCtr="0" compatLnSpc="1"/>
          <a:lstStyle/>
          <a:p>
            <a:endParaRPr lang="zh-CN" altLang="en-US" dirty="0"/>
          </a:p>
        </p:txBody>
      </p:sp>
      <p:sp>
        <p:nvSpPr>
          <p:cNvPr id="175" name="TextBox 33"/>
          <p:cNvSpPr txBox="1"/>
          <p:nvPr/>
        </p:nvSpPr>
        <p:spPr>
          <a:xfrm>
            <a:off x="4234087" y="2992059"/>
            <a:ext cx="1107996" cy="369332"/>
          </a:xfrm>
          <a:prstGeom prst="rect">
            <a:avLst/>
          </a:prstGeom>
          <a:noFill/>
        </p:spPr>
        <p:txBody>
          <a:bodyPr wrap="non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热点评估</a:t>
            </a:r>
            <a:endParaRPr lang="en-US" altLang="zh-CN" dirty="0">
              <a:solidFill>
                <a:schemeClr val="bg1"/>
              </a:solidFill>
              <a:latin typeface="微软雅黑" panose="020B0503020204020204" pitchFamily="34" charset="-122"/>
              <a:ea typeface="微软雅黑" panose="020B0503020204020204" pitchFamily="34" charset="-122"/>
            </a:endParaRPr>
          </a:p>
        </p:txBody>
      </p:sp>
      <p:cxnSp>
        <p:nvCxnSpPr>
          <p:cNvPr id="176" name="直接箭头连接符 175"/>
          <p:cNvCxnSpPr/>
          <p:nvPr/>
        </p:nvCxnSpPr>
        <p:spPr>
          <a:xfrm flipH="1">
            <a:off x="1125644" y="2271520"/>
            <a:ext cx="2427907" cy="0"/>
          </a:xfrm>
          <a:prstGeom prst="straightConnector1">
            <a:avLst/>
          </a:prstGeom>
          <a:ln>
            <a:solidFill>
              <a:srgbClr val="F784A5"/>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endCxn id="174" idx="1"/>
          </p:cNvCxnSpPr>
          <p:nvPr/>
        </p:nvCxnSpPr>
        <p:spPr>
          <a:xfrm>
            <a:off x="3553551" y="2271520"/>
            <a:ext cx="725419" cy="406075"/>
          </a:xfrm>
          <a:prstGeom prst="line">
            <a:avLst/>
          </a:prstGeom>
          <a:ln>
            <a:solidFill>
              <a:srgbClr val="F784A5"/>
            </a:solidFill>
          </a:ln>
        </p:spPr>
        <p:style>
          <a:lnRef idx="1">
            <a:schemeClr val="accent1"/>
          </a:lnRef>
          <a:fillRef idx="0">
            <a:schemeClr val="accent1"/>
          </a:fillRef>
          <a:effectRef idx="0">
            <a:schemeClr val="accent1"/>
          </a:effectRef>
          <a:fontRef idx="minor">
            <a:schemeClr val="tx1"/>
          </a:fontRef>
        </p:style>
      </p:cxnSp>
      <p:sp>
        <p:nvSpPr>
          <p:cNvPr id="178" name="文本框 88"/>
          <p:cNvSpPr txBox="1"/>
          <p:nvPr/>
        </p:nvSpPr>
        <p:spPr>
          <a:xfrm>
            <a:off x="1514617" y="2491668"/>
            <a:ext cx="2113487" cy="2308324"/>
          </a:xfrm>
          <a:prstGeom prst="rect">
            <a:avLst/>
          </a:prstGeom>
          <a:noFill/>
        </p:spPr>
        <p:txBody>
          <a:bodyPr wrap="square" rtlCol="0">
            <a:spAutoFit/>
          </a:bodyPr>
          <a:lstStyle/>
          <a:p>
            <a:pPr marL="285750" indent="-285750">
              <a:buFont typeface="Wingdings" panose="05000000000000000000" pitchFamily="2" charset="2"/>
              <a:buChar char="l"/>
            </a:pPr>
            <a:r>
              <a:rPr lang="zh-CN" altLang="en-US" sz="2000" dirty="0">
                <a:solidFill>
                  <a:schemeClr val="bg2">
                    <a:lumMod val="25000"/>
                  </a:schemeClr>
                </a:solidFill>
                <a:latin typeface="微软雅黑" panose="020B0503020204020204" pitchFamily="34" charset="-122"/>
                <a:ea typeface="微软雅黑" panose="020B0503020204020204" pitchFamily="34" charset="-122"/>
              </a:rPr>
              <a:t>词频统计：</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TF-IDF</a:t>
            </a: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与领域词典结合</a:t>
            </a:r>
            <a:endParaRPr lang="en-US" altLang="zh-CN"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endParaRPr lang="zh-CN" altLang="en-US"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2000" dirty="0">
                <a:solidFill>
                  <a:schemeClr val="bg2">
                    <a:lumMod val="25000"/>
                  </a:schemeClr>
                </a:solidFill>
                <a:latin typeface="微软雅黑" panose="020B0503020204020204" pitchFamily="34" charset="-122"/>
                <a:ea typeface="微软雅黑" panose="020B0503020204020204" pitchFamily="34" charset="-122"/>
              </a:rPr>
              <a:t>情感分类：</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基于概率论</a:t>
            </a:r>
            <a:endParaRPr lang="en-US" altLang="zh-CN"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基于信息论</a:t>
            </a:r>
            <a:endParaRPr lang="en-US" altLang="zh-CN"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79" name="Freeform 274"/>
          <p:cNvSpPr/>
          <p:nvPr/>
        </p:nvSpPr>
        <p:spPr bwMode="auto">
          <a:xfrm>
            <a:off x="6476989" y="2456881"/>
            <a:ext cx="1440000" cy="1440000"/>
          </a:xfrm>
          <a:prstGeom prst="flowChartConnector">
            <a:avLst/>
          </a:prstGeom>
          <a:solidFill>
            <a:srgbClr val="F784A5"/>
          </a:solidFill>
          <a:ln>
            <a:noFill/>
          </a:ln>
          <a:effectLst>
            <a:reflection endPos="21000" dist="50800" dir="5400000" sy="-100000" algn="bl" rotWithShape="0"/>
          </a:effectLst>
        </p:spPr>
        <p:txBody>
          <a:bodyPr vert="horz" wrap="square" lIns="91440" tIns="45720" rIns="91440" bIns="45720" numCol="1" anchor="t" anchorCtr="0" compatLnSpc="1"/>
          <a:lstStyle/>
          <a:p>
            <a:endParaRPr lang="zh-CN" altLang="en-US" dirty="0"/>
          </a:p>
        </p:txBody>
      </p:sp>
      <p:sp>
        <p:nvSpPr>
          <p:cNvPr id="180" name="TextBox 33"/>
          <p:cNvSpPr txBox="1"/>
          <p:nvPr/>
        </p:nvSpPr>
        <p:spPr>
          <a:xfrm>
            <a:off x="6642989" y="2982231"/>
            <a:ext cx="1107996" cy="369332"/>
          </a:xfrm>
          <a:prstGeom prst="rect">
            <a:avLst/>
          </a:prstGeom>
          <a:noFill/>
        </p:spPr>
        <p:txBody>
          <a:bodyPr wrap="non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热点跟踪</a:t>
            </a:r>
            <a:endParaRPr lang="en-US" altLang="zh-CN" dirty="0">
              <a:solidFill>
                <a:schemeClr val="bg1"/>
              </a:solidFill>
              <a:latin typeface="微软雅黑" panose="020B0503020204020204" pitchFamily="34" charset="-122"/>
              <a:ea typeface="微软雅黑" panose="020B0503020204020204" pitchFamily="34" charset="-122"/>
            </a:endParaRPr>
          </a:p>
        </p:txBody>
      </p:sp>
      <p:cxnSp>
        <p:nvCxnSpPr>
          <p:cNvPr id="181" name="直接箭头连接符 180"/>
          <p:cNvCxnSpPr/>
          <p:nvPr/>
        </p:nvCxnSpPr>
        <p:spPr>
          <a:xfrm>
            <a:off x="8499176" y="2320682"/>
            <a:ext cx="2414630" cy="9563"/>
          </a:xfrm>
          <a:prstGeom prst="straightConnector1">
            <a:avLst/>
          </a:prstGeom>
          <a:ln>
            <a:solidFill>
              <a:srgbClr val="F784A5"/>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V="1">
            <a:off x="7806002" y="2315497"/>
            <a:ext cx="703817" cy="550876"/>
          </a:xfrm>
          <a:prstGeom prst="line">
            <a:avLst/>
          </a:prstGeom>
          <a:ln>
            <a:solidFill>
              <a:srgbClr val="F784A5"/>
            </a:solidFill>
          </a:ln>
        </p:spPr>
        <p:style>
          <a:lnRef idx="1">
            <a:schemeClr val="accent1"/>
          </a:lnRef>
          <a:fillRef idx="0">
            <a:schemeClr val="accent1"/>
          </a:fillRef>
          <a:effectRef idx="0">
            <a:schemeClr val="accent1"/>
          </a:effectRef>
          <a:fontRef idx="minor">
            <a:schemeClr val="tx1"/>
          </a:fontRef>
        </p:style>
      </p:cxnSp>
      <p:sp>
        <p:nvSpPr>
          <p:cNvPr id="183" name="文本框 88"/>
          <p:cNvSpPr txBox="1"/>
          <p:nvPr/>
        </p:nvSpPr>
        <p:spPr>
          <a:xfrm>
            <a:off x="8569260" y="2658817"/>
            <a:ext cx="2510883" cy="2308324"/>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K</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最近邻算法</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a:t>
            </a: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分类准确性高，速度慢</a:t>
            </a:r>
            <a:endParaRPr lang="en-US" altLang="zh-CN"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endParaRPr lang="zh-CN" altLang="en-US"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2000" dirty="0">
                <a:solidFill>
                  <a:schemeClr val="bg2">
                    <a:lumMod val="25000"/>
                  </a:schemeClr>
                </a:solidFill>
                <a:latin typeface="微软雅黑" panose="020B0503020204020204" pitchFamily="34" charset="-122"/>
                <a:ea typeface="微软雅黑" panose="020B0503020204020204" pitchFamily="34" charset="-122"/>
              </a:rPr>
              <a:t>朴素贝叶斯算法</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a:t>
            </a:r>
          </a:p>
          <a:p>
            <a:pPr marL="285750" indent="-285750"/>
            <a:r>
              <a:rPr lang="en-US" altLang="zh-CN" dirty="0">
                <a:solidFill>
                  <a:schemeClr val="bg2">
                    <a:lumMod val="25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分类效率相对稳定，误差率易受干扰</a:t>
            </a:r>
            <a:endParaRPr lang="en-US" altLang="zh-CN"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r>
              <a:rPr lang="en-US" altLang="zh-CN" sz="1400" dirty="0">
                <a:solidFill>
                  <a:schemeClr val="bg2">
                    <a:lumMod val="25000"/>
                  </a:schemeClr>
                </a:solidFill>
                <a:latin typeface="微软雅黑" panose="020B0503020204020204" pitchFamily="34" charset="-122"/>
                <a:ea typeface="微软雅黑" panose="020B0503020204020204" pitchFamily="34" charset="-122"/>
              </a:rPr>
              <a:t>	</a:t>
            </a: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89" name="文本框 70"/>
          <p:cNvSpPr txBox="1"/>
          <p:nvPr/>
        </p:nvSpPr>
        <p:spPr>
          <a:xfrm>
            <a:off x="6602211" y="5101703"/>
            <a:ext cx="4636060" cy="400110"/>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000" dirty="0">
                <a:solidFill>
                  <a:srgbClr val="00B0F0"/>
                </a:solidFill>
                <a:latin typeface="微软雅黑" panose="020B0503020204020204" pitchFamily="34" charset="-122"/>
                <a:ea typeface="微软雅黑" panose="020B0503020204020204" pitchFamily="34" charset="-122"/>
              </a:rPr>
              <a:t>通过对热点的快速分类实现跟踪</a:t>
            </a:r>
          </a:p>
        </p:txBody>
      </p:sp>
      <p:sp>
        <p:nvSpPr>
          <p:cNvPr id="190" name="文本框 70"/>
          <p:cNvSpPr txBox="1"/>
          <p:nvPr/>
        </p:nvSpPr>
        <p:spPr>
          <a:xfrm>
            <a:off x="1091231" y="5106617"/>
            <a:ext cx="4636060" cy="400110"/>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000" dirty="0">
                <a:solidFill>
                  <a:srgbClr val="00B0F0"/>
                </a:solidFill>
                <a:latin typeface="微软雅黑" panose="020B0503020204020204" pitchFamily="34" charset="-122"/>
                <a:ea typeface="微软雅黑" panose="020B0503020204020204" pitchFamily="34" charset="-122"/>
              </a:rPr>
              <a:t>对热点舆情进行等级评估与阈值设定</a:t>
            </a:r>
          </a:p>
        </p:txBody>
      </p:sp>
      <p:sp>
        <p:nvSpPr>
          <p:cNvPr id="19" name="矩形 18"/>
          <p:cNvSpPr/>
          <p:nvPr/>
        </p:nvSpPr>
        <p:spPr>
          <a:xfrm>
            <a:off x="1385556" y="1257879"/>
            <a:ext cx="2800767" cy="461665"/>
          </a:xfrm>
          <a:prstGeom prst="rect">
            <a:avLst/>
          </a:prstGeom>
        </p:spPr>
        <p:txBody>
          <a:bodyPr wrap="none">
            <a:spAutoFit/>
          </a:bodyPr>
          <a:lstStyle/>
          <a:p>
            <a:pPr marL="457200" indent="-457200">
              <a:buFont typeface="+mj-ea"/>
              <a:buAutoNum type="circleNumDbPlain" startAt="3"/>
            </a:pPr>
            <a:r>
              <a:rPr lang="zh-CN" altLang="en-US" sz="2400" b="1" dirty="0">
                <a:solidFill>
                  <a:srgbClr val="F784A5"/>
                </a:solidFill>
                <a:latin typeface="微软雅黑" panose="020B0503020204020204" pitchFamily="34" charset="-122"/>
                <a:ea typeface="微软雅黑" panose="020B0503020204020204" pitchFamily="34" charset="-122"/>
              </a:rPr>
              <a:t>热点评估与跟踪</a:t>
            </a:r>
          </a:p>
        </p:txBody>
      </p:sp>
      <p:sp>
        <p:nvSpPr>
          <p:cNvPr id="20"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网络舆情分析关键技术</a:t>
            </a:r>
          </a:p>
        </p:txBody>
      </p:sp>
      <p:sp>
        <p:nvSpPr>
          <p:cNvPr id="21"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70" name="图示 169"/>
          <p:cNvGraphicFramePr/>
          <p:nvPr>
            <p:extLst>
              <p:ext uri="{D42A27DB-BD31-4B8C-83A1-F6EECF244321}">
                <p14:modId xmlns:p14="http://schemas.microsoft.com/office/powerpoint/2010/main" val="1524196427"/>
              </p:ext>
            </p:extLst>
          </p:nvPr>
        </p:nvGraphicFramePr>
        <p:xfrm>
          <a:off x="4701459" y="1884790"/>
          <a:ext cx="5887884" cy="3365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408" name="Rectangle 24"/>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7" name="矩形 186"/>
          <p:cNvSpPr/>
          <p:nvPr/>
        </p:nvSpPr>
        <p:spPr>
          <a:xfrm>
            <a:off x="5919100" y="5692568"/>
            <a:ext cx="4288353" cy="400110"/>
          </a:xfrm>
          <a:prstGeom prst="rect">
            <a:avLst/>
          </a:prstGeom>
        </p:spPr>
        <p:txBody>
          <a:bodyPr wrap="none">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网络舆情安全评估模型一般构建步骤</a:t>
            </a:r>
          </a:p>
        </p:txBody>
      </p:sp>
      <p:cxnSp>
        <p:nvCxnSpPr>
          <p:cNvPr id="189" name="直接连接符 188"/>
          <p:cNvCxnSpPr/>
          <p:nvPr/>
        </p:nvCxnSpPr>
        <p:spPr>
          <a:xfrm>
            <a:off x="541926" y="285831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1" name="文本框 12"/>
          <p:cNvSpPr txBox="1"/>
          <p:nvPr/>
        </p:nvSpPr>
        <p:spPr>
          <a:xfrm>
            <a:off x="675218" y="3009740"/>
            <a:ext cx="3661256" cy="98757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indent="410400"/>
            <a:r>
              <a:rPr lang="zh-CN" altLang="en-US" sz="1600" dirty="0"/>
              <a:t>网络舆情的等级评估通常采用综合评判方法，即对受到多种因素制约的事物或现象做出一个总体评判。</a:t>
            </a:r>
            <a:endParaRPr lang="en-US" altLang="zh-CN" sz="1600" dirty="0"/>
          </a:p>
        </p:txBody>
      </p:sp>
      <p:cxnSp>
        <p:nvCxnSpPr>
          <p:cNvPr id="192" name="直接连接符 191"/>
          <p:cNvCxnSpPr/>
          <p:nvPr/>
        </p:nvCxnSpPr>
        <p:spPr>
          <a:xfrm>
            <a:off x="529411" y="542943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549075" y="421024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4" name="矩形 193"/>
          <p:cNvSpPr/>
          <p:nvPr/>
        </p:nvSpPr>
        <p:spPr>
          <a:xfrm>
            <a:off x="675216" y="4344699"/>
            <a:ext cx="3661257" cy="987578"/>
          </a:xfrm>
          <a:prstGeom prst="rect">
            <a:avLst/>
          </a:prstGeom>
        </p:spPr>
        <p:txBody>
          <a:bodyPr wrap="square">
            <a:spAutoFit/>
          </a:bodyPr>
          <a:lstStyle/>
          <a:p>
            <a:pPr indent="410400">
              <a:lnSpc>
                <a:spcPct val="125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我国对网络舆情的等级评估采用多级模糊综合评判模型，模型的确定主要涉及算子的选择。</a:t>
            </a:r>
          </a:p>
        </p:txBody>
      </p:sp>
      <p:sp>
        <p:nvSpPr>
          <p:cNvPr id="16" name="矩形 15"/>
          <p:cNvSpPr/>
          <p:nvPr/>
        </p:nvSpPr>
        <p:spPr>
          <a:xfrm>
            <a:off x="1054480" y="1557424"/>
            <a:ext cx="2492990" cy="461665"/>
          </a:xfrm>
          <a:prstGeom prst="rect">
            <a:avLst/>
          </a:prstGeom>
        </p:spPr>
        <p:txBody>
          <a:bodyPr wrap="none">
            <a:spAutoFit/>
          </a:bodyPr>
          <a:lstStyle/>
          <a:p>
            <a:pPr marL="457200" indent="-457200">
              <a:buFont typeface="+mj-ea"/>
              <a:buAutoNum type="circleNumDbPlain" startAt="4"/>
            </a:pPr>
            <a:r>
              <a:rPr lang="zh-CN" altLang="en-US" sz="2400" b="1" dirty="0">
                <a:solidFill>
                  <a:srgbClr val="F784A5"/>
                </a:solidFill>
                <a:latin typeface="微软雅黑" panose="020B0503020204020204" pitchFamily="34" charset="-122"/>
                <a:ea typeface="微软雅黑" panose="020B0503020204020204" pitchFamily="34" charset="-122"/>
              </a:rPr>
              <a:t>舆情等级评估</a:t>
            </a:r>
          </a:p>
        </p:txBody>
      </p:sp>
      <p:sp>
        <p:nvSpPr>
          <p:cNvPr id="17"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网络舆情分析关键技术</a:t>
            </a:r>
          </a:p>
        </p:txBody>
      </p:sp>
      <p:sp>
        <p:nvSpPr>
          <p:cNvPr id="18"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668760"/>
          </a:xfrm>
          <a:prstGeom prst="rect">
            <a:avLst/>
          </a:prstGeom>
          <a:noFill/>
          <a:ln w="9525">
            <a:noFill/>
            <a:miter lim="800000"/>
          </a:ln>
        </p:spPr>
        <p:txBody>
          <a:bodyPr/>
          <a:lstStyle/>
          <a:p>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r>
              <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系统框架</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3" name="文本框 4"/>
          <p:cNvSpPr>
            <a:spLocks noChangeArrowheads="1"/>
          </p:cNvSpPr>
          <p:nvPr/>
        </p:nvSpPr>
        <p:spPr bwMode="auto">
          <a:xfrm>
            <a:off x="1494368" y="260350"/>
            <a:ext cx="77699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40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网络舆情分析系统框架</a:t>
            </a:r>
          </a:p>
        </p:txBody>
      </p:sp>
      <p:sp>
        <p:nvSpPr>
          <p:cNvPr id="84"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62466" name="Rectangle 2"/>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 name="矩形 10"/>
          <p:cNvSpPr/>
          <p:nvPr/>
        </p:nvSpPr>
        <p:spPr>
          <a:xfrm>
            <a:off x="1474166" y="1237900"/>
            <a:ext cx="6303169" cy="1477328"/>
          </a:xfrm>
          <a:prstGeom prst="rect">
            <a:avLst/>
          </a:prstGeom>
        </p:spPr>
        <p:txBody>
          <a:bodyPr wrap="square">
            <a:spAutoFit/>
          </a:bodyPr>
          <a:lstStyle/>
          <a:p>
            <a:r>
              <a:rPr lang="zh-CN" altLang="en-US" b="1" dirty="0">
                <a:solidFill>
                  <a:schemeClr val="tx2"/>
                </a:solidFill>
                <a:latin typeface="微软雅黑" panose="020B0503020204020204" pitchFamily="34" charset="-122"/>
                <a:ea typeface="微软雅黑" panose="020B0503020204020204" pitchFamily="34" charset="-122"/>
              </a:rPr>
              <a:t>总体设计原则：</a:t>
            </a:r>
            <a:r>
              <a:rPr lang="zh-CN" altLang="en-US" dirty="0">
                <a:solidFill>
                  <a:schemeClr val="tx2"/>
                </a:solidFill>
                <a:latin typeface="微软雅黑" panose="020B0503020204020204" pitchFamily="34" charset="-122"/>
                <a:ea typeface="微软雅黑" panose="020B0503020204020204" pitchFamily="34" charset="-122"/>
              </a:rPr>
              <a:t>流程化、标准化、模式化</a:t>
            </a:r>
            <a:endParaRPr lang="en-US" altLang="zh-CN" dirty="0">
              <a:solidFill>
                <a:schemeClr val="tx2"/>
              </a:solidFill>
              <a:latin typeface="微软雅黑" panose="020B0503020204020204" pitchFamily="34" charset="-122"/>
              <a:ea typeface="微软雅黑" panose="020B0503020204020204" pitchFamily="34" charset="-122"/>
            </a:endParaRPr>
          </a:p>
          <a:p>
            <a:endParaRPr lang="zh-CN" altLang="en-US" dirty="0">
              <a:solidFill>
                <a:schemeClr val="tx2"/>
              </a:solidFill>
              <a:latin typeface="微软雅黑" panose="020B0503020204020204" pitchFamily="34" charset="-122"/>
              <a:ea typeface="微软雅黑" panose="020B0503020204020204" pitchFamily="34" charset="-122"/>
            </a:endParaRPr>
          </a:p>
          <a:p>
            <a:pPr algn="just"/>
            <a:r>
              <a:rPr lang="zh-CN" altLang="en-US" b="1" dirty="0">
                <a:solidFill>
                  <a:schemeClr val="tx2"/>
                </a:solidFill>
                <a:latin typeface="微软雅黑" panose="020B0503020204020204" pitchFamily="34" charset="-122"/>
                <a:ea typeface="微软雅黑" panose="020B0503020204020204" pitchFamily="34" charset="-122"/>
              </a:rPr>
              <a:t>系统关键：</a:t>
            </a:r>
            <a:r>
              <a:rPr lang="zh-CN" altLang="en-US" dirty="0">
                <a:solidFill>
                  <a:schemeClr val="tx2"/>
                </a:solidFill>
                <a:latin typeface="微软雅黑" panose="020B0503020204020204" pitchFamily="34" charset="-122"/>
                <a:ea typeface="微软雅黑" panose="020B0503020204020204" pitchFamily="34" charset="-122"/>
              </a:rPr>
              <a:t>信息采集和舆情分析</a:t>
            </a:r>
            <a:endParaRPr lang="en-US" altLang="zh-CN" dirty="0">
              <a:solidFill>
                <a:schemeClr val="tx2"/>
              </a:solidFill>
              <a:latin typeface="微软雅黑" panose="020B0503020204020204" pitchFamily="34" charset="-122"/>
              <a:ea typeface="微软雅黑" panose="020B0503020204020204" pitchFamily="34" charset="-122"/>
            </a:endParaRPr>
          </a:p>
          <a:p>
            <a:pPr algn="just"/>
            <a:endParaRPr lang="en-US" altLang="zh-CN" b="1" dirty="0">
              <a:solidFill>
                <a:schemeClr val="tx2"/>
              </a:solidFill>
              <a:latin typeface="微软雅黑" panose="020B0503020204020204" pitchFamily="34" charset="-122"/>
              <a:ea typeface="微软雅黑" panose="020B0503020204020204" pitchFamily="34" charset="-122"/>
            </a:endParaRPr>
          </a:p>
          <a:p>
            <a:pPr algn="just"/>
            <a:r>
              <a:rPr lang="zh-CN" altLang="en-US" b="1" dirty="0">
                <a:solidFill>
                  <a:schemeClr val="tx2"/>
                </a:solidFill>
                <a:latin typeface="微软雅黑" panose="020B0503020204020204" pitchFamily="34" charset="-122"/>
                <a:ea typeface="微软雅黑" panose="020B0503020204020204" pitchFamily="34" charset="-122"/>
              </a:rPr>
              <a:t>信息源的选择：</a:t>
            </a:r>
            <a:r>
              <a:rPr lang="zh-CN" altLang="en-US" dirty="0">
                <a:solidFill>
                  <a:schemeClr val="tx2"/>
                </a:solidFill>
                <a:latin typeface="微软雅黑" panose="020B0503020204020204" pitchFamily="34" charset="-122"/>
                <a:ea typeface="微软雅黑" panose="020B0503020204020204" pitchFamily="34" charset="-122"/>
              </a:rPr>
              <a:t>人工设定和机器学习</a:t>
            </a:r>
            <a:endParaRPr lang="en-US" altLang="zh-CN" dirty="0">
              <a:solidFill>
                <a:schemeClr val="tx2"/>
              </a:solidFill>
              <a:latin typeface="微软雅黑" panose="020B0503020204020204" pitchFamily="34" charset="-122"/>
              <a:ea typeface="微软雅黑" panose="020B0503020204020204" pitchFamily="34" charset="-122"/>
            </a:endParaRPr>
          </a:p>
        </p:txBody>
      </p:sp>
      <p:pic>
        <p:nvPicPr>
          <p:cNvPr id="3" name="Picture 2" descr="C:\Users\qin\AppData\Roaming\Tencent\Users\252752518\QQ\WinTemp\RichOle\PO}F4WAK{C(04P5(FVTG5_5.png"/>
          <p:cNvPicPr>
            <a:picLocks noChangeAspect="1" noChangeArrowheads="1"/>
          </p:cNvPicPr>
          <p:nvPr/>
        </p:nvPicPr>
        <p:blipFill>
          <a:blip r:embed="rId2"/>
          <a:srcRect/>
          <a:stretch>
            <a:fillRect/>
          </a:stretch>
        </p:blipFill>
        <p:spPr bwMode="auto">
          <a:xfrm>
            <a:off x="1970690" y="4193629"/>
            <a:ext cx="6553198" cy="135583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5" name="文本框 70"/>
          <p:cNvSpPr txBox="1"/>
          <p:nvPr/>
        </p:nvSpPr>
        <p:spPr>
          <a:xfrm>
            <a:off x="1552221" y="3060492"/>
            <a:ext cx="3570208"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r>
              <a:rPr lang="zh-CN" altLang="en-US" sz="2400" b="1" dirty="0">
                <a:latin typeface="微软雅黑" panose="020B0503020204020204" pitchFamily="34" charset="-122"/>
                <a:ea typeface="微软雅黑" panose="020B0503020204020204" pitchFamily="34" charset="-122"/>
              </a:rPr>
              <a:t>典型舆情系统业务流程：</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3"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网络舆情分析系统框架</a:t>
            </a:r>
          </a:p>
        </p:txBody>
      </p:sp>
      <p:sp>
        <p:nvSpPr>
          <p:cNvPr id="84"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63490" name="Rectangle 2"/>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3" name="Picture 2" descr="C:\Users\qin\AppData\Roaming\Tencent\Users\252752518\QQ\WinTemp\RichOle\}UNVHCM_~P9{8H85`7}6QAL.png"/>
          <p:cNvPicPr>
            <a:picLocks noChangeAspect="1" noChangeArrowheads="1"/>
          </p:cNvPicPr>
          <p:nvPr/>
        </p:nvPicPr>
        <p:blipFill>
          <a:blip r:embed="rId2"/>
          <a:srcRect/>
          <a:stretch>
            <a:fillRect/>
          </a:stretch>
        </p:blipFill>
        <p:spPr bwMode="auto">
          <a:xfrm>
            <a:off x="4934606" y="1623849"/>
            <a:ext cx="6480332" cy="4020206"/>
          </a:xfrm>
          <a:prstGeom prst="rect">
            <a:avLst/>
          </a:prstGeom>
          <a:ln w="88900" cap="sq" cmpd="thickThin">
            <a:solidFill>
              <a:srgbClr val="000000"/>
            </a:solidFill>
            <a:prstDash val="solid"/>
            <a:miter lim="800000"/>
            <a:headEnd/>
            <a:tailEnd/>
          </a:ln>
          <a:effectLst>
            <a:innerShdw blurRad="76200">
              <a:srgbClr val="000000"/>
            </a:innerShdw>
          </a:effectLst>
        </p:spPr>
      </p:pic>
      <p:cxnSp>
        <p:nvCxnSpPr>
          <p:cNvPr id="11" name="直接连接符 10"/>
          <p:cNvCxnSpPr/>
          <p:nvPr/>
        </p:nvCxnSpPr>
        <p:spPr>
          <a:xfrm>
            <a:off x="417708" y="2290753"/>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70412" y="3621145"/>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70412" y="5009217"/>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 name="文本框 12"/>
          <p:cNvSpPr txBox="1"/>
          <p:nvPr/>
        </p:nvSpPr>
        <p:spPr>
          <a:xfrm>
            <a:off x="576672" y="2467819"/>
            <a:ext cx="3743080" cy="1015663"/>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buFont typeface="Wingdings" panose="05000000000000000000" pitchFamily="2" charset="2"/>
              <a:buChar char="n"/>
            </a:pPr>
            <a:r>
              <a:rPr lang="zh-CN" altLang="en-US" sz="1600" dirty="0"/>
              <a:t>  信息采集：从数据源进行网页抓取，经正文提取、内容去重等操作，然后将数据表示为便于处理的形式。</a:t>
            </a:r>
            <a:endParaRPr lang="en-US" altLang="zh-CN" sz="1600" dirty="0"/>
          </a:p>
        </p:txBody>
      </p:sp>
      <p:sp>
        <p:nvSpPr>
          <p:cNvPr id="18" name="文本框 70"/>
          <p:cNvSpPr txBox="1"/>
          <p:nvPr/>
        </p:nvSpPr>
        <p:spPr>
          <a:xfrm>
            <a:off x="716649" y="1436644"/>
            <a:ext cx="2492990"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a:pPr>
            <a:r>
              <a:rPr lang="zh-CN" altLang="en-US" sz="2400" b="1" dirty="0">
                <a:latin typeface="微软雅黑" panose="020B0503020204020204" pitchFamily="34" charset="-122"/>
                <a:ea typeface="微软雅黑" panose="020B0503020204020204" pitchFamily="34" charset="-122"/>
              </a:rPr>
              <a:t>系统总体架构</a:t>
            </a:r>
          </a:p>
        </p:txBody>
      </p:sp>
      <p:sp>
        <p:nvSpPr>
          <p:cNvPr id="19" name="文本框 12"/>
          <p:cNvSpPr txBox="1"/>
          <p:nvPr/>
        </p:nvSpPr>
        <p:spPr>
          <a:xfrm>
            <a:off x="555648" y="3783724"/>
            <a:ext cx="3743080" cy="1015663"/>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buFont typeface="Wingdings" panose="05000000000000000000" pitchFamily="2" charset="2"/>
              <a:buChar char="n"/>
            </a:pPr>
            <a:r>
              <a:rPr lang="zh-CN" altLang="en-US" sz="1600" dirty="0"/>
              <a:t>  舆情分析：利用分类、聚类算法对信息进行分析处理，形成舆情简报传递给前台。</a:t>
            </a:r>
            <a:endParaRPr lang="en-US" altLang="zh-CN" sz="1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文本框 70"/>
          <p:cNvSpPr txBox="1"/>
          <p:nvPr/>
        </p:nvSpPr>
        <p:spPr>
          <a:xfrm>
            <a:off x="716649" y="1436644"/>
            <a:ext cx="2492990"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2"/>
            </a:pPr>
            <a:r>
              <a:rPr lang="zh-CN" altLang="en-US" sz="2400" b="1" dirty="0">
                <a:latin typeface="微软雅黑" panose="020B0503020204020204" pitchFamily="34" charset="-122"/>
                <a:ea typeface="微软雅黑" panose="020B0503020204020204" pitchFamily="34" charset="-122"/>
              </a:rPr>
              <a:t>关键技术分析</a:t>
            </a:r>
          </a:p>
        </p:txBody>
      </p:sp>
      <p:grpSp>
        <p:nvGrpSpPr>
          <p:cNvPr id="80" name="组合 79"/>
          <p:cNvGrpSpPr/>
          <p:nvPr/>
        </p:nvGrpSpPr>
        <p:grpSpPr>
          <a:xfrm>
            <a:off x="4531369" y="2633106"/>
            <a:ext cx="2670092" cy="2275413"/>
            <a:chOff x="3545731" y="2428154"/>
            <a:chExt cx="2670092" cy="2275413"/>
          </a:xfrm>
        </p:grpSpPr>
        <p:sp>
          <p:nvSpPr>
            <p:cNvPr id="81" name="椭圆 6"/>
            <p:cNvSpPr/>
            <p:nvPr/>
          </p:nvSpPr>
          <p:spPr>
            <a:xfrm rot="10800000">
              <a:off x="3912096" y="2428154"/>
              <a:ext cx="2295129" cy="2275413"/>
            </a:xfrm>
            <a:custGeom>
              <a:avLst/>
              <a:gdLst/>
              <a:ahLst/>
              <a:cxnLst/>
              <a:rect l="l" t="t" r="r" b="b"/>
              <a:pathLst>
                <a:path w="2295129" h="2275413">
                  <a:moveTo>
                    <a:pt x="1337568" y="0"/>
                  </a:moveTo>
                  <a:cubicBezTo>
                    <a:pt x="1713211" y="0"/>
                    <a:pt x="2052687" y="154850"/>
                    <a:pt x="2295129" y="404701"/>
                  </a:cubicBezTo>
                  <a:cubicBezTo>
                    <a:pt x="1827474" y="1308842"/>
                    <a:pt x="772209" y="2025485"/>
                    <a:pt x="384531" y="2275413"/>
                  </a:cubicBezTo>
                  <a:cubicBezTo>
                    <a:pt x="146596" y="2034317"/>
                    <a:pt x="0" y="1703062"/>
                    <a:pt x="0" y="1337568"/>
                  </a:cubicBezTo>
                  <a:cubicBezTo>
                    <a:pt x="0" y="598850"/>
                    <a:pt x="598850" y="0"/>
                    <a:pt x="1337568" y="0"/>
                  </a:cubicBezTo>
                  <a:close/>
                </a:path>
              </a:pathLst>
            </a:custGeom>
            <a:gradFill flip="none" rotWithShape="1">
              <a:gsLst>
                <a:gs pos="43000">
                  <a:srgbClr val="FF7711"/>
                </a:gs>
                <a:gs pos="67000">
                  <a:srgbClr val="FFAA01"/>
                </a:gs>
                <a:gs pos="100000">
                  <a:srgbClr val="FECE02"/>
                </a:gs>
                <a:gs pos="0">
                  <a:srgbClr val="C73E01"/>
                </a:gs>
                <a:gs pos="80000">
                  <a:srgbClr val="FFC000"/>
                </a:gs>
              </a:gsLst>
              <a:lin ang="5400000" scaled="1"/>
              <a:tileRect/>
            </a:gra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82" name="椭圆 6"/>
            <p:cNvSpPr/>
            <p:nvPr/>
          </p:nvSpPr>
          <p:spPr>
            <a:xfrm rot="10800000">
              <a:off x="3920694" y="2428154"/>
              <a:ext cx="2295129" cy="2275413"/>
            </a:xfrm>
            <a:custGeom>
              <a:avLst/>
              <a:gdLst/>
              <a:ahLst/>
              <a:cxnLst/>
              <a:rect l="l" t="t" r="r" b="b"/>
              <a:pathLst>
                <a:path w="2295129" h="2275413">
                  <a:moveTo>
                    <a:pt x="1337568" y="0"/>
                  </a:moveTo>
                  <a:cubicBezTo>
                    <a:pt x="1713211" y="0"/>
                    <a:pt x="2052687" y="154850"/>
                    <a:pt x="2295129" y="404701"/>
                  </a:cubicBezTo>
                  <a:cubicBezTo>
                    <a:pt x="1827474" y="1308842"/>
                    <a:pt x="772209" y="2025485"/>
                    <a:pt x="384531" y="2275413"/>
                  </a:cubicBezTo>
                  <a:cubicBezTo>
                    <a:pt x="146596" y="2034317"/>
                    <a:pt x="0" y="1703062"/>
                    <a:pt x="0" y="1337568"/>
                  </a:cubicBezTo>
                  <a:cubicBezTo>
                    <a:pt x="0" y="598850"/>
                    <a:pt x="598850" y="0"/>
                    <a:pt x="1337568" y="0"/>
                  </a:cubicBezTo>
                  <a:close/>
                </a:path>
              </a:pathLst>
            </a:cu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83" name="椭圆 82"/>
            <p:cNvSpPr/>
            <p:nvPr/>
          </p:nvSpPr>
          <p:spPr>
            <a:xfrm rot="5217985">
              <a:off x="5300404" y="3062918"/>
              <a:ext cx="1014502" cy="502943"/>
            </a:xfrm>
            <a:prstGeom prst="ellipse">
              <a:avLst/>
            </a:prstGeom>
            <a:gradFill flip="none" rotWithShape="1">
              <a:gsLst>
                <a:gs pos="84000">
                  <a:schemeClr val="bg1">
                    <a:alpha val="0"/>
                  </a:schemeClr>
                </a:gs>
                <a:gs pos="12000">
                  <a:schemeClr val="bg1">
                    <a:alpha val="60000"/>
                  </a:schemeClr>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84" name="TextBox 11"/>
            <p:cNvSpPr txBox="1">
              <a:spLocks noChangeArrowheads="1"/>
            </p:cNvSpPr>
            <p:nvPr/>
          </p:nvSpPr>
          <p:spPr bwMode="auto">
            <a:xfrm flipH="1">
              <a:off x="4647088" y="3823031"/>
              <a:ext cx="1309173" cy="646331"/>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defRPr/>
              </a:pPr>
              <a:r>
                <a:rPr lang="zh-CN" altLang="en-US" kern="0" dirty="0">
                  <a:solidFill>
                    <a:schemeClr val="bg1"/>
                  </a:solidFill>
                  <a:latin typeface="微软雅黑" panose="020B0503020204020204" pitchFamily="34" charset="-122"/>
                  <a:ea typeface="微软雅黑" panose="020B0503020204020204" pitchFamily="34" charset="-122"/>
                </a:rPr>
                <a:t>舆情分析引擎</a:t>
              </a:r>
              <a:endParaRPr lang="en-US" altLang="zh-CN" kern="0" dirty="0">
                <a:solidFill>
                  <a:schemeClr val="bg1"/>
                </a:solidFill>
                <a:latin typeface="微软雅黑" panose="020B0503020204020204" pitchFamily="34" charset="-122"/>
                <a:ea typeface="微软雅黑" panose="020B0503020204020204" pitchFamily="34" charset="-122"/>
              </a:endParaRPr>
            </a:p>
          </p:txBody>
        </p:sp>
        <p:sp>
          <p:nvSpPr>
            <p:cNvPr id="146" name="椭圆 145"/>
            <p:cNvSpPr/>
            <p:nvPr/>
          </p:nvSpPr>
          <p:spPr>
            <a:xfrm rot="18967632">
              <a:off x="3545731" y="3150223"/>
              <a:ext cx="2653328" cy="419772"/>
            </a:xfrm>
            <a:prstGeom prst="ellipse">
              <a:avLst/>
            </a:prstGeom>
            <a:solidFill>
              <a:schemeClr val="bg1"/>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grpSp>
      <p:grpSp>
        <p:nvGrpSpPr>
          <p:cNvPr id="147" name="组合 146"/>
          <p:cNvGrpSpPr/>
          <p:nvPr/>
        </p:nvGrpSpPr>
        <p:grpSpPr>
          <a:xfrm>
            <a:off x="3803106" y="2778533"/>
            <a:ext cx="2310500" cy="2275414"/>
            <a:chOff x="5332361" y="2573581"/>
            <a:chExt cx="2310500" cy="2275414"/>
          </a:xfrm>
        </p:grpSpPr>
        <p:grpSp>
          <p:nvGrpSpPr>
            <p:cNvPr id="148" name="组合 58"/>
            <p:cNvGrpSpPr/>
            <p:nvPr/>
          </p:nvGrpSpPr>
          <p:grpSpPr>
            <a:xfrm>
              <a:off x="5332361" y="2573581"/>
              <a:ext cx="2310500" cy="2275414"/>
              <a:chOff x="2846694" y="2581300"/>
              <a:chExt cx="2310500" cy="2275414"/>
            </a:xfrm>
          </p:grpSpPr>
          <p:sp>
            <p:nvSpPr>
              <p:cNvPr id="163" name="椭圆 6"/>
              <p:cNvSpPr/>
              <p:nvPr/>
            </p:nvSpPr>
            <p:spPr>
              <a:xfrm>
                <a:off x="2862065" y="2581301"/>
                <a:ext cx="2295129" cy="2275413"/>
              </a:xfrm>
              <a:custGeom>
                <a:avLst/>
                <a:gdLst/>
                <a:ahLst/>
                <a:cxnLst/>
                <a:rect l="l" t="t" r="r" b="b"/>
                <a:pathLst>
                  <a:path w="2295129" h="2275413">
                    <a:moveTo>
                      <a:pt x="1337568" y="0"/>
                    </a:moveTo>
                    <a:cubicBezTo>
                      <a:pt x="1713211" y="0"/>
                      <a:pt x="2052687" y="154850"/>
                      <a:pt x="2295129" y="404701"/>
                    </a:cubicBezTo>
                    <a:cubicBezTo>
                      <a:pt x="1827474" y="1308842"/>
                      <a:pt x="772209" y="2025485"/>
                      <a:pt x="384531" y="2275413"/>
                    </a:cubicBezTo>
                    <a:cubicBezTo>
                      <a:pt x="146596" y="2034317"/>
                      <a:pt x="0" y="1703062"/>
                      <a:pt x="0" y="1337568"/>
                    </a:cubicBezTo>
                    <a:cubicBezTo>
                      <a:pt x="0" y="598850"/>
                      <a:pt x="598850" y="0"/>
                      <a:pt x="1337568" y="0"/>
                    </a:cubicBezTo>
                    <a:close/>
                  </a:path>
                </a:pathLst>
              </a:custGeom>
              <a:gradFill flip="none" rotWithShape="1">
                <a:gsLst>
                  <a:gs pos="0">
                    <a:srgbClr val="BE1247"/>
                  </a:gs>
                  <a:gs pos="25000">
                    <a:srgbClr val="D2144F"/>
                  </a:gs>
                  <a:gs pos="42000">
                    <a:srgbClr val="BE1247"/>
                  </a:gs>
                  <a:gs pos="100000">
                    <a:srgbClr val="FA9496"/>
                  </a:gs>
                </a:gsLst>
                <a:lin ang="14400000" scaled="0"/>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64" name="椭圆 163"/>
              <p:cNvSpPr/>
              <p:nvPr/>
            </p:nvSpPr>
            <p:spPr>
              <a:xfrm rot="19429506">
                <a:off x="3067135" y="2948183"/>
                <a:ext cx="1014502" cy="502943"/>
              </a:xfrm>
              <a:prstGeom prst="ellipse">
                <a:avLst/>
              </a:prstGeom>
              <a:gradFill flip="none" rotWithShape="1">
                <a:gsLst>
                  <a:gs pos="84000">
                    <a:schemeClr val="bg1">
                      <a:alpha val="0"/>
                    </a:schemeClr>
                  </a:gs>
                  <a:gs pos="12000">
                    <a:schemeClr val="bg1">
                      <a:alpha val="60000"/>
                    </a:schemeClr>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65" name="椭圆 6"/>
              <p:cNvSpPr/>
              <p:nvPr/>
            </p:nvSpPr>
            <p:spPr>
              <a:xfrm>
                <a:off x="2846694" y="2581300"/>
                <a:ext cx="2295129" cy="2275413"/>
              </a:xfrm>
              <a:custGeom>
                <a:avLst/>
                <a:gdLst/>
                <a:ahLst/>
                <a:cxnLst/>
                <a:rect l="l" t="t" r="r" b="b"/>
                <a:pathLst>
                  <a:path w="2295129" h="2275413">
                    <a:moveTo>
                      <a:pt x="1337568" y="0"/>
                    </a:moveTo>
                    <a:cubicBezTo>
                      <a:pt x="1713211" y="0"/>
                      <a:pt x="2052687" y="154850"/>
                      <a:pt x="2295129" y="404701"/>
                    </a:cubicBezTo>
                    <a:cubicBezTo>
                      <a:pt x="1827474" y="1308842"/>
                      <a:pt x="772209" y="2025485"/>
                      <a:pt x="384531" y="2275413"/>
                    </a:cubicBezTo>
                    <a:cubicBezTo>
                      <a:pt x="146596" y="2034317"/>
                      <a:pt x="0" y="1703062"/>
                      <a:pt x="0" y="1337568"/>
                    </a:cubicBezTo>
                    <a:cubicBezTo>
                      <a:pt x="0" y="598850"/>
                      <a:pt x="598850" y="0"/>
                      <a:pt x="1337568" y="0"/>
                    </a:cubicBezTo>
                    <a:close/>
                  </a:path>
                </a:pathLst>
              </a:custGeom>
              <a:gradFill flip="none" rotWithShape="1">
                <a:gsLst>
                  <a:gs pos="84000">
                    <a:srgbClr val="BE1247">
                      <a:alpha val="80000"/>
                    </a:srgbClr>
                  </a:gs>
                  <a:gs pos="100000">
                    <a:schemeClr val="bg1">
                      <a:alpha val="0"/>
                    </a:schemeClr>
                  </a:gs>
                  <a:gs pos="53000">
                    <a:schemeClr val="bg1">
                      <a:alpha val="0"/>
                    </a:schemeClr>
                  </a:gs>
                </a:gsLst>
                <a:path path="circle">
                  <a:fillToRect l="50000" t="50000" r="50000" b="50000"/>
                </a:path>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grpSp>
        <p:sp>
          <p:nvSpPr>
            <p:cNvPr id="162" name="TextBox 11"/>
            <p:cNvSpPr txBox="1">
              <a:spLocks noChangeArrowheads="1"/>
            </p:cNvSpPr>
            <p:nvPr/>
          </p:nvSpPr>
          <p:spPr bwMode="auto">
            <a:xfrm flipH="1">
              <a:off x="5702630" y="3291651"/>
              <a:ext cx="1306545" cy="646331"/>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defRPr/>
              </a:pPr>
              <a:r>
                <a:rPr lang="zh-CN" altLang="en-US" kern="0" dirty="0">
                  <a:solidFill>
                    <a:schemeClr val="bg1"/>
                  </a:solidFill>
                  <a:latin typeface="微软雅黑" panose="020B0503020204020204" pitchFamily="34" charset="-122"/>
                  <a:ea typeface="微软雅黑" panose="020B0503020204020204" pitchFamily="34" charset="-122"/>
                </a:rPr>
                <a:t>舆情搜索引擎</a:t>
              </a:r>
              <a:endParaRPr lang="en-US" altLang="zh-CN" kern="0" dirty="0">
                <a:solidFill>
                  <a:schemeClr val="bg1"/>
                </a:solidFill>
                <a:latin typeface="微软雅黑" panose="020B0503020204020204" pitchFamily="34" charset="-122"/>
                <a:ea typeface="微软雅黑" panose="020B0503020204020204" pitchFamily="34" charset="-122"/>
              </a:endParaRPr>
            </a:p>
          </p:txBody>
        </p:sp>
      </p:grpSp>
      <p:cxnSp>
        <p:nvCxnSpPr>
          <p:cNvPr id="166" name="直接连接符 165"/>
          <p:cNvCxnSpPr/>
          <p:nvPr/>
        </p:nvCxnSpPr>
        <p:spPr>
          <a:xfrm>
            <a:off x="6903799" y="2778533"/>
            <a:ext cx="3206768" cy="1"/>
          </a:xfrm>
          <a:prstGeom prst="line">
            <a:avLst/>
          </a:prstGeom>
          <a:ln>
            <a:solidFill>
              <a:schemeClr val="accent6">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1253583" y="4949356"/>
            <a:ext cx="2919794" cy="0"/>
          </a:xfrm>
          <a:prstGeom prst="line">
            <a:avLst/>
          </a:prstGeom>
          <a:ln>
            <a:solidFill>
              <a:srgbClr val="E21C3D"/>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168" name="TextBox 11"/>
          <p:cNvSpPr txBox="1">
            <a:spLocks noChangeArrowheads="1"/>
          </p:cNvSpPr>
          <p:nvPr/>
        </p:nvSpPr>
        <p:spPr bwMode="auto">
          <a:xfrm flipH="1">
            <a:off x="773085" y="3687912"/>
            <a:ext cx="3259399" cy="115685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auto" hangingPunct="1">
              <a:lnSpc>
                <a:spcPct val="150000"/>
              </a:lnSpc>
              <a:spcBef>
                <a:spcPts val="0"/>
              </a:spcBef>
              <a:spcAft>
                <a:spcPts val="0"/>
              </a:spcAft>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包括信息源的选择和信息的采集</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fontAlgn="auto" hangingPunct="1">
              <a:lnSpc>
                <a:spcPct val="150000"/>
              </a:lnSpc>
              <a:spcBef>
                <a:spcPts val="0"/>
              </a:spcBef>
              <a:spcAft>
                <a:spcPts val="0"/>
              </a:spcAft>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在传统搜索引擎基础上进行拓展</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fontAlgn="auto" hangingPunct="1">
              <a:lnSpc>
                <a:spcPct val="150000"/>
              </a:lnSpc>
              <a:spcBef>
                <a:spcPts val="0"/>
              </a:spcBef>
              <a:spcAft>
                <a:spcPts val="0"/>
              </a:spcAft>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搜索的广度和深度影响系统性能</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69" name="TextBox 11"/>
          <p:cNvSpPr txBox="1">
            <a:spLocks noChangeArrowheads="1"/>
          </p:cNvSpPr>
          <p:nvPr/>
        </p:nvSpPr>
        <p:spPr bwMode="auto">
          <a:xfrm flipH="1">
            <a:off x="7561043" y="2919833"/>
            <a:ext cx="3113883" cy="243105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功能：</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        信息的概念化</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        焦点的发现</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        事件的追踪</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主要技术：</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en-US" altLang="zh-CN" sz="1600" kern="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文本聚类</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en-US" altLang="zh-CN" sz="1600" kern="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文本分类</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a:p>
            <a:pPr eaLnBrk="1" hangingPunct="1">
              <a:lnSpc>
                <a:spcPct val="120000"/>
              </a:lnSpc>
              <a:defRPr/>
            </a:pPr>
            <a:r>
              <a:rPr lang="en-US" altLang="zh-CN" sz="1600" kern="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文本倾向性分析</a:t>
            </a:r>
            <a:endParaRPr lang="en-US" altLang="zh-CN" sz="1600" kern="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73"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网络舆情分析系统框架</a:t>
            </a:r>
          </a:p>
        </p:txBody>
      </p:sp>
      <p:sp>
        <p:nvSpPr>
          <p:cNvPr id="174"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additive="base">
                                        <p:cTn id="7" dur="200" fill="hold"/>
                                        <p:tgtEl>
                                          <p:spTgt spid="80"/>
                                        </p:tgtEl>
                                        <p:attrNameLst>
                                          <p:attrName>ppt_x</p:attrName>
                                        </p:attrNameLst>
                                      </p:cBhvr>
                                      <p:tavLst>
                                        <p:tav tm="0">
                                          <p:val>
                                            <p:strVal val="0-#ppt_w/2"/>
                                          </p:val>
                                        </p:tav>
                                        <p:tav tm="100000">
                                          <p:val>
                                            <p:strVal val="#ppt_x"/>
                                          </p:val>
                                        </p:tav>
                                      </p:tavLst>
                                    </p:anim>
                                    <p:anim calcmode="lin" valueType="num">
                                      <p:cBhvr additive="base">
                                        <p:cTn id="8" dur="200" fill="hold"/>
                                        <p:tgtEl>
                                          <p:spTgt spid="8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7"/>
                                        </p:tgtEl>
                                        <p:attrNameLst>
                                          <p:attrName>style.visibility</p:attrName>
                                        </p:attrNameLst>
                                      </p:cBhvr>
                                      <p:to>
                                        <p:strVal val="visible"/>
                                      </p:to>
                                    </p:set>
                                    <p:anim calcmode="lin" valueType="num">
                                      <p:cBhvr additive="base">
                                        <p:cTn id="11" dur="200" fill="hold"/>
                                        <p:tgtEl>
                                          <p:spTgt spid="147"/>
                                        </p:tgtEl>
                                        <p:attrNameLst>
                                          <p:attrName>ppt_x</p:attrName>
                                        </p:attrNameLst>
                                      </p:cBhvr>
                                      <p:tavLst>
                                        <p:tav tm="0">
                                          <p:val>
                                            <p:strVal val="1+#ppt_w/2"/>
                                          </p:val>
                                        </p:tav>
                                        <p:tav tm="100000">
                                          <p:val>
                                            <p:strVal val="#ppt_x"/>
                                          </p:val>
                                        </p:tav>
                                      </p:tavLst>
                                    </p:anim>
                                    <p:anim calcmode="lin" valueType="num">
                                      <p:cBhvr additive="base">
                                        <p:cTn id="12" dur="200" fill="hold"/>
                                        <p:tgtEl>
                                          <p:spTgt spid="14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167"/>
                                        </p:tgtEl>
                                        <p:attrNameLst>
                                          <p:attrName>style.visibility</p:attrName>
                                        </p:attrNameLst>
                                      </p:cBhvr>
                                      <p:to>
                                        <p:strVal val="visible"/>
                                      </p:to>
                                    </p:set>
                                    <p:animEffect transition="in" filter="wipe(right)">
                                      <p:cBhvr>
                                        <p:cTn id="16" dur="500"/>
                                        <p:tgtEl>
                                          <p:spTgt spid="167"/>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168"/>
                                        </p:tgtEl>
                                        <p:attrNameLst>
                                          <p:attrName>style.visibility</p:attrName>
                                        </p:attrNameLst>
                                      </p:cBhvr>
                                      <p:to>
                                        <p:strVal val="visible"/>
                                      </p:to>
                                    </p:set>
                                    <p:animEffect transition="in" filter="fade">
                                      <p:cBhvr>
                                        <p:cTn id="19" dur="1000"/>
                                        <p:tgtEl>
                                          <p:spTgt spid="168"/>
                                        </p:tgtEl>
                                      </p:cBhvr>
                                    </p:animEffect>
                                    <p:anim calcmode="lin" valueType="num">
                                      <p:cBhvr>
                                        <p:cTn id="20" dur="1000" fill="hold"/>
                                        <p:tgtEl>
                                          <p:spTgt spid="168"/>
                                        </p:tgtEl>
                                        <p:attrNameLst>
                                          <p:attrName>ppt_x</p:attrName>
                                        </p:attrNameLst>
                                      </p:cBhvr>
                                      <p:tavLst>
                                        <p:tav tm="0">
                                          <p:val>
                                            <p:strVal val="#ppt_x"/>
                                          </p:val>
                                        </p:tav>
                                        <p:tav tm="100000">
                                          <p:val>
                                            <p:strVal val="#ppt_x"/>
                                          </p:val>
                                        </p:tav>
                                      </p:tavLst>
                                    </p:anim>
                                    <p:anim calcmode="lin" valueType="num">
                                      <p:cBhvr>
                                        <p:cTn id="21" dur="1000" fill="hold"/>
                                        <p:tgtEl>
                                          <p:spTgt spid="168"/>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66"/>
                                        </p:tgtEl>
                                        <p:attrNameLst>
                                          <p:attrName>style.visibility</p:attrName>
                                        </p:attrNameLst>
                                      </p:cBhvr>
                                      <p:to>
                                        <p:strVal val="visible"/>
                                      </p:to>
                                    </p:set>
                                    <p:animEffect transition="in" filter="wipe(left)">
                                      <p:cBhvr>
                                        <p:cTn id="25" dur="500"/>
                                        <p:tgtEl>
                                          <p:spTgt spid="166"/>
                                        </p:tgtEl>
                                      </p:cBhvr>
                                    </p:animEffect>
                                  </p:childTnLst>
                                </p:cTn>
                              </p:par>
                              <p:par>
                                <p:cTn id="26" presetID="47" presetClass="entr" presetSubtype="0" fill="hold" grpId="0" nodeType="withEffect">
                                  <p:stCondLst>
                                    <p:cond delay="0"/>
                                  </p:stCondLst>
                                  <p:childTnLst>
                                    <p:set>
                                      <p:cBhvr>
                                        <p:cTn id="27" dur="1" fill="hold">
                                          <p:stCondLst>
                                            <p:cond delay="0"/>
                                          </p:stCondLst>
                                        </p:cTn>
                                        <p:tgtEl>
                                          <p:spTgt spid="169"/>
                                        </p:tgtEl>
                                        <p:attrNameLst>
                                          <p:attrName>style.visibility</p:attrName>
                                        </p:attrNameLst>
                                      </p:cBhvr>
                                      <p:to>
                                        <p:strVal val="visible"/>
                                      </p:to>
                                    </p:set>
                                    <p:animEffect transition="in" filter="fade">
                                      <p:cBhvr>
                                        <p:cTn id="28" dur="1000"/>
                                        <p:tgtEl>
                                          <p:spTgt spid="169"/>
                                        </p:tgtEl>
                                      </p:cBhvr>
                                    </p:animEffect>
                                    <p:anim calcmode="lin" valueType="num">
                                      <p:cBhvr>
                                        <p:cTn id="29" dur="1000" fill="hold"/>
                                        <p:tgtEl>
                                          <p:spTgt spid="169"/>
                                        </p:tgtEl>
                                        <p:attrNameLst>
                                          <p:attrName>ppt_x</p:attrName>
                                        </p:attrNameLst>
                                      </p:cBhvr>
                                      <p:tavLst>
                                        <p:tav tm="0">
                                          <p:val>
                                            <p:strVal val="#ppt_x"/>
                                          </p:val>
                                        </p:tav>
                                        <p:tav tm="100000">
                                          <p:val>
                                            <p:strVal val="#ppt_x"/>
                                          </p:val>
                                        </p:tav>
                                      </p:tavLst>
                                    </p:anim>
                                    <p:anim calcmode="lin" valueType="num">
                                      <p:cBhvr>
                                        <p:cTn id="30" dur="1000" fill="hold"/>
                                        <p:tgtEl>
                                          <p:spTgt spid="1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p:bldP spid="16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668760"/>
          </a:xfrm>
          <a:prstGeom prst="rect">
            <a:avLst/>
          </a:prstGeom>
          <a:noFill/>
          <a:ln w="9525">
            <a:noFill/>
            <a:miter lim="800000"/>
          </a:ln>
        </p:spPr>
        <p:txBody>
          <a:bodyPr/>
          <a:lstStyle/>
          <a:p>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网络舆情分析</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r>
              <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常用方法</a:t>
            </a:r>
            <a:endParaRPr lang="en-US" altLang="zh-CN" sz="60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网络舆情分析常用方法</a:t>
            </a:r>
          </a:p>
        </p:txBody>
      </p:sp>
      <p:sp>
        <p:nvSpPr>
          <p:cNvPr id="110"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12" name="文本框 70"/>
          <p:cNvSpPr txBox="1"/>
          <p:nvPr/>
        </p:nvSpPr>
        <p:spPr>
          <a:xfrm>
            <a:off x="1583751" y="1373582"/>
            <a:ext cx="4391379" cy="461665"/>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a:pPr>
            <a:r>
              <a:rPr lang="zh-CN" altLang="en-US" sz="2400" b="1" dirty="0">
                <a:latin typeface="微软雅黑" panose="020B0503020204020204" pitchFamily="34" charset="-122"/>
                <a:ea typeface="微软雅黑" panose="020B0503020204020204" pitchFamily="34" charset="-122"/>
              </a:rPr>
              <a:t>高仿真网络信息深度抽取</a:t>
            </a:r>
          </a:p>
        </p:txBody>
      </p:sp>
      <p:pic>
        <p:nvPicPr>
          <p:cNvPr id="109569" name="Picture 1" descr="C:\Users\qin\AppData\Roaming\Tencent\Users\252752518\QQ\WinTemp\RichOle\N~E%U_]1T@$}1Q}V`RNASSU.png"/>
          <p:cNvPicPr>
            <a:picLocks noChangeAspect="1" noChangeArrowheads="1"/>
          </p:cNvPicPr>
          <p:nvPr/>
        </p:nvPicPr>
        <p:blipFill>
          <a:blip r:embed="rId3"/>
          <a:srcRect/>
          <a:stretch>
            <a:fillRect/>
          </a:stretch>
        </p:blipFill>
        <p:spPr bwMode="auto">
          <a:xfrm>
            <a:off x="6621517" y="2443655"/>
            <a:ext cx="4414345" cy="2953332"/>
          </a:xfrm>
          <a:prstGeom prst="rect">
            <a:avLst/>
          </a:prstGeom>
          <a:ln w="88900" cap="sq" cmpd="thickThin">
            <a:solidFill>
              <a:srgbClr val="000000"/>
            </a:solidFill>
            <a:prstDash val="solid"/>
            <a:miter lim="800000"/>
            <a:headEnd/>
            <a:tailEnd/>
          </a:ln>
          <a:effectLst>
            <a:innerShdw blurRad="76200">
              <a:srgbClr val="000000"/>
            </a:innerShdw>
          </a:effectLst>
        </p:spPr>
      </p:pic>
      <p:cxnSp>
        <p:nvCxnSpPr>
          <p:cNvPr id="113" name="直接连接符 112"/>
          <p:cNvCxnSpPr/>
          <p:nvPr/>
        </p:nvCxnSpPr>
        <p:spPr>
          <a:xfrm>
            <a:off x="1079871" y="279526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1079871" y="3731530"/>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1079871" y="5178352"/>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7" name="矩形 116"/>
          <p:cNvSpPr/>
          <p:nvPr/>
        </p:nvSpPr>
        <p:spPr bwMode="auto">
          <a:xfrm>
            <a:off x="1457822" y="320123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8" name="矩形 117"/>
          <p:cNvSpPr/>
          <p:nvPr/>
        </p:nvSpPr>
        <p:spPr bwMode="auto">
          <a:xfrm>
            <a:off x="1457822" y="431993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9" name="文本框 12"/>
          <p:cNvSpPr txBox="1"/>
          <p:nvPr/>
        </p:nvSpPr>
        <p:spPr>
          <a:xfrm>
            <a:off x="1900987" y="2880363"/>
            <a:ext cx="3277397"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重点研究原创网络互动式动态信息提取</a:t>
            </a:r>
            <a:endParaRPr lang="en-US" altLang="zh-CN" sz="1800" dirty="0"/>
          </a:p>
        </p:txBody>
      </p:sp>
      <p:sp>
        <p:nvSpPr>
          <p:cNvPr id="120" name="文本框 14"/>
          <p:cNvSpPr txBox="1"/>
          <p:nvPr/>
        </p:nvSpPr>
        <p:spPr>
          <a:xfrm>
            <a:off x="1908753" y="3874558"/>
            <a:ext cx="3348086"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形成高性能动态信息提取系统，组成舆情监控系统的信息获取模块</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网络舆情分析常用方法</a:t>
            </a:r>
          </a:p>
        </p:txBody>
      </p:sp>
      <p:sp>
        <p:nvSpPr>
          <p:cNvPr id="110"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12" name="文本框 70"/>
          <p:cNvSpPr txBox="1"/>
          <p:nvPr/>
        </p:nvSpPr>
        <p:spPr>
          <a:xfrm>
            <a:off x="1583751" y="1373582"/>
            <a:ext cx="4391379" cy="461665"/>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2"/>
            </a:pPr>
            <a:r>
              <a:rPr lang="zh-CN" altLang="en-US" sz="2400" b="1" dirty="0">
                <a:latin typeface="微软雅黑" panose="020B0503020204020204" pitchFamily="34" charset="-122"/>
                <a:ea typeface="微软雅黑" panose="020B0503020204020204" pitchFamily="34" charset="-122"/>
              </a:rPr>
              <a:t>信息自动提取机器人技术</a:t>
            </a:r>
          </a:p>
        </p:txBody>
      </p:sp>
      <p:grpSp>
        <p:nvGrpSpPr>
          <p:cNvPr id="23" name="组合 22"/>
          <p:cNvGrpSpPr/>
          <p:nvPr/>
        </p:nvGrpSpPr>
        <p:grpSpPr>
          <a:xfrm>
            <a:off x="2668671" y="2339493"/>
            <a:ext cx="6244503" cy="3270354"/>
            <a:chOff x="5333043" y="1929590"/>
            <a:chExt cx="6244503" cy="3270354"/>
          </a:xfrm>
        </p:grpSpPr>
        <p:sp>
          <p:nvSpPr>
            <p:cNvPr id="15" name="Freeform 48"/>
            <p:cNvSpPr/>
            <p:nvPr/>
          </p:nvSpPr>
          <p:spPr bwMode="gray">
            <a:xfrm flipH="1">
              <a:off x="5333043" y="1929590"/>
              <a:ext cx="3073400" cy="155575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chemeClr val="bg1">
                <a:lumMod val="75000"/>
              </a:schemeClr>
            </a:solidFill>
            <a:ln w="28575" cmpd="sng">
              <a:solidFill>
                <a:srgbClr val="F8F8F8"/>
              </a:solidFill>
              <a:round/>
            </a:ln>
            <a:effectLst>
              <a:outerShdw dist="107763" dir="2700000" algn="ctr" rotWithShape="0">
                <a:srgbClr val="1C1C1C">
                  <a:alpha val="50000"/>
                </a:srgbClr>
              </a:outerShdw>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16" name="Freeform 49"/>
            <p:cNvSpPr/>
            <p:nvPr/>
          </p:nvSpPr>
          <p:spPr bwMode="gray">
            <a:xfrm>
              <a:off x="8502453" y="1929590"/>
              <a:ext cx="3075093" cy="1555750"/>
            </a:xfrm>
            <a:custGeom>
              <a:avLst/>
              <a:gdLst>
                <a:gd name="T0" fmla="*/ 2147483647 w 1299"/>
                <a:gd name="T1" fmla="*/ 2147483647 h 1008"/>
                <a:gd name="T2" fmla="*/ 2147483647 w 1299"/>
                <a:gd name="T3" fmla="*/ 2147483647 h 1008"/>
                <a:gd name="T4" fmla="*/ 2147483647 w 1299"/>
                <a:gd name="T5" fmla="*/ 2147483647 h 1008"/>
                <a:gd name="T6" fmla="*/ 2147483647 w 1299"/>
                <a:gd name="T7" fmla="*/ 0 h 1008"/>
                <a:gd name="T8" fmla="*/ 2147483647 w 1299"/>
                <a:gd name="T9" fmla="*/ 0 h 1008"/>
                <a:gd name="T10" fmla="*/ 0 w 1299"/>
                <a:gd name="T11" fmla="*/ 2147483647 h 1008"/>
                <a:gd name="T12" fmla="*/ 2147483647 w 1299"/>
                <a:gd name="T13" fmla="*/ 2147483647 h 10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3DA2CB"/>
            </a:solidFill>
            <a:ln w="28575" cmpd="sng">
              <a:solidFill>
                <a:srgbClr val="F8F8F8"/>
              </a:solidFill>
              <a:round/>
            </a:ln>
            <a:effectLst>
              <a:outerShdw dist="107763" dir="2700000" algn="ctr" rotWithShape="0">
                <a:srgbClr val="1C1C1C">
                  <a:alpha val="50000"/>
                </a:srgbClr>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Freeform 50"/>
            <p:cNvSpPr/>
            <p:nvPr/>
          </p:nvSpPr>
          <p:spPr bwMode="gray">
            <a:xfrm>
              <a:off x="5334101" y="3585774"/>
              <a:ext cx="3073400" cy="1614170"/>
            </a:xfrm>
            <a:custGeom>
              <a:avLst/>
              <a:gdLst>
                <a:gd name="T0" fmla="*/ 2147483647 w 1299"/>
                <a:gd name="T1" fmla="*/ 2147483647 h 1008"/>
                <a:gd name="T2" fmla="*/ 2147483647 w 1299"/>
                <a:gd name="T3" fmla="*/ 2147483647 h 1008"/>
                <a:gd name="T4" fmla="*/ 2147483647 w 1299"/>
                <a:gd name="T5" fmla="*/ 2147483647 h 1008"/>
                <a:gd name="T6" fmla="*/ 2147483647 w 1299"/>
                <a:gd name="T7" fmla="*/ 0 h 1008"/>
                <a:gd name="T8" fmla="*/ 2147483647 w 1299"/>
                <a:gd name="T9" fmla="*/ 0 h 1008"/>
                <a:gd name="T10" fmla="*/ 0 w 1299"/>
                <a:gd name="T11" fmla="*/ 2147483647 h 1008"/>
                <a:gd name="T12" fmla="*/ 2147483647 w 1299"/>
                <a:gd name="T13" fmla="*/ 2147483647 h 10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3DA2CB"/>
            </a:solidFill>
            <a:ln w="28575" cmpd="sng">
              <a:solidFill>
                <a:srgbClr val="31B5D6"/>
              </a:solidFill>
              <a:round/>
            </a:ln>
            <a:effectLst>
              <a:outerShdw dist="107763" dir="2700000" algn="ctr" rotWithShape="0">
                <a:srgbClr val="1C1C1C">
                  <a:alpha val="50000"/>
                </a:srgbClr>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Freeform 51"/>
            <p:cNvSpPr/>
            <p:nvPr/>
          </p:nvSpPr>
          <p:spPr bwMode="gray">
            <a:xfrm flipH="1">
              <a:off x="8502453" y="3585774"/>
              <a:ext cx="3075093" cy="161417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chemeClr val="bg1">
                <a:lumMod val="75000"/>
              </a:schemeClr>
            </a:solidFill>
            <a:ln w="28575" cmpd="sng">
              <a:solidFill>
                <a:srgbClr val="F8F8F8"/>
              </a:solidFill>
              <a:round/>
            </a:ln>
            <a:effectLst>
              <a:outerShdw dist="107763" dir="2700000" algn="ctr" rotWithShape="0">
                <a:srgbClr val="1C1C1C">
                  <a:alpha val="50000"/>
                </a:srgbClr>
              </a:outerShdw>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19" name="Rectangle 59"/>
            <p:cNvSpPr>
              <a:spLocks noChangeArrowheads="1"/>
            </p:cNvSpPr>
            <p:nvPr/>
          </p:nvSpPr>
          <p:spPr bwMode="auto">
            <a:xfrm>
              <a:off x="5641019" y="2185773"/>
              <a:ext cx="2611120" cy="128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pPr>
              <a:r>
                <a:rPr lang="en-US" altLang="zh-CN" b="1" dirty="0">
                  <a:solidFill>
                    <a:schemeClr val="bg1"/>
                  </a:solidFill>
                  <a:latin typeface="微软雅黑" panose="020B0503020204020204" pitchFamily="34" charset="-122"/>
                  <a:ea typeface="微软雅黑" panose="020B0503020204020204" pitchFamily="34" charset="-122"/>
                </a:rPr>
                <a:t>1</a:t>
              </a:r>
              <a:r>
                <a:rPr lang="zh-CN" altLang="en-US" b="1" dirty="0">
                  <a:solidFill>
                    <a:schemeClr val="bg1"/>
                  </a:solidFill>
                  <a:latin typeface="微软雅黑" panose="020B0503020204020204" pitchFamily="34" charset="-122"/>
                  <a:ea typeface="微软雅黑" panose="020B0503020204020204" pitchFamily="34" charset="-122"/>
                </a:rPr>
                <a:t>、个性化可配置的信息自动提取技术</a:t>
              </a:r>
            </a:p>
            <a:p>
              <a:pPr eaLnBrk="1" hangingPunct="1">
                <a:lnSpc>
                  <a:spcPct val="150000"/>
                </a:lnSpc>
              </a:pP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0" name="Rectangle 60"/>
            <p:cNvSpPr>
              <a:spLocks noChangeArrowheads="1"/>
            </p:cNvSpPr>
            <p:nvPr/>
          </p:nvSpPr>
          <p:spPr bwMode="auto">
            <a:xfrm>
              <a:off x="8714419" y="2185772"/>
              <a:ext cx="2611120" cy="128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50000"/>
                </a:lnSpc>
              </a:pPr>
              <a:r>
                <a:rPr lang="en-US" altLang="zh-CN" b="1" dirty="0">
                  <a:solidFill>
                    <a:schemeClr val="bg1"/>
                  </a:solidFill>
                  <a:latin typeface="微软雅黑" panose="020B0503020204020204" pitchFamily="34" charset="-122"/>
                  <a:ea typeface="微软雅黑" panose="020B0503020204020204" pitchFamily="34" charset="-122"/>
                </a:rPr>
                <a:t>2</a:t>
              </a:r>
              <a:r>
                <a:rPr lang="zh-CN" altLang="en-US" b="1" dirty="0">
                  <a:solidFill>
                    <a:schemeClr val="bg1"/>
                  </a:solidFill>
                  <a:latin typeface="微软雅黑" panose="020B0503020204020204" pitchFamily="34" charset="-122"/>
                  <a:ea typeface="微软雅黑" panose="020B0503020204020204" pitchFamily="34" charset="-122"/>
                </a:rPr>
                <a:t>、互动式信息的智能提取技术</a:t>
              </a:r>
            </a:p>
            <a:p>
              <a:pPr>
                <a:lnSpc>
                  <a:spcPct val="150000"/>
                </a:lnSpc>
              </a:pP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1" name="Rectangle 61"/>
            <p:cNvSpPr>
              <a:spLocks noChangeArrowheads="1"/>
            </p:cNvSpPr>
            <p:nvPr/>
          </p:nvSpPr>
          <p:spPr bwMode="auto">
            <a:xfrm>
              <a:off x="5641019" y="3883450"/>
              <a:ext cx="2458720" cy="874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50000"/>
                </a:lnSpc>
              </a:pPr>
              <a:r>
                <a:rPr lang="en-US" altLang="zh-CN" b="1" dirty="0">
                  <a:solidFill>
                    <a:schemeClr val="bg1"/>
                  </a:solidFill>
                  <a:latin typeface="微软雅黑" panose="020B0503020204020204" pitchFamily="34" charset="-122"/>
                  <a:ea typeface="微软雅黑" panose="020B0503020204020204" pitchFamily="34" charset="-122"/>
                </a:rPr>
                <a:t>3</a:t>
              </a:r>
              <a:r>
                <a:rPr lang="zh-CN" altLang="en-US" b="1" dirty="0">
                  <a:solidFill>
                    <a:schemeClr val="bg1"/>
                  </a:solidFill>
                  <a:latin typeface="微软雅黑" panose="020B0503020204020204" pitchFamily="34" charset="-122"/>
                  <a:ea typeface="微软雅黑" panose="020B0503020204020204" pitchFamily="34" charset="-122"/>
                </a:rPr>
                <a:t>、网页编写语言的实时语义理解技术</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2" name="Rectangle 62"/>
            <p:cNvSpPr>
              <a:spLocks noChangeArrowheads="1"/>
            </p:cNvSpPr>
            <p:nvPr/>
          </p:nvSpPr>
          <p:spPr bwMode="auto">
            <a:xfrm>
              <a:off x="8760372" y="4163405"/>
              <a:ext cx="2611120" cy="458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50000"/>
                </a:lnSpc>
              </a:pPr>
              <a:r>
                <a:rPr lang="en-US" altLang="zh-CN" b="1" dirty="0">
                  <a:solidFill>
                    <a:schemeClr val="bg1"/>
                  </a:solidFill>
                  <a:latin typeface="微软雅黑" panose="020B0503020204020204" pitchFamily="34" charset="-122"/>
                  <a:ea typeface="微软雅黑" panose="020B0503020204020204" pitchFamily="34" charset="-122"/>
                </a:rPr>
                <a:t>4</a:t>
              </a:r>
              <a:r>
                <a:rPr lang="zh-CN" altLang="en-US" b="1" dirty="0">
                  <a:solidFill>
                    <a:schemeClr val="bg1"/>
                  </a:solidFill>
                  <a:latin typeface="微软雅黑" panose="020B0503020204020204" pitchFamily="34" charset="-122"/>
                  <a:ea typeface="微软雅黑" panose="020B0503020204020204" pitchFamily="34" charset="-122"/>
                </a:rPr>
                <a:t>、多线程内容提取技术</a:t>
              </a: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网络舆情分析常用方法</a:t>
            </a:r>
          </a:p>
        </p:txBody>
      </p:sp>
      <p:sp>
        <p:nvSpPr>
          <p:cNvPr id="110"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12" name="文本框 70"/>
          <p:cNvSpPr txBox="1"/>
          <p:nvPr/>
        </p:nvSpPr>
        <p:spPr>
          <a:xfrm>
            <a:off x="1583750" y="1373582"/>
            <a:ext cx="6787739" cy="461665"/>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3"/>
            </a:pPr>
            <a:r>
              <a:rPr lang="zh-CN" altLang="en-US" sz="2400" b="1" dirty="0">
                <a:latin typeface="微软雅黑" panose="020B0503020204020204" pitchFamily="34" charset="-122"/>
                <a:ea typeface="微软雅黑" panose="020B0503020204020204" pitchFamily="34" charset="-122"/>
              </a:rPr>
              <a:t>基于语义的海量文本特征快速提取与分类</a:t>
            </a:r>
          </a:p>
        </p:txBody>
      </p:sp>
      <p:sp>
        <p:nvSpPr>
          <p:cNvPr id="23" name="流程图: 磁盘 22"/>
          <p:cNvSpPr/>
          <p:nvPr/>
        </p:nvSpPr>
        <p:spPr>
          <a:xfrm>
            <a:off x="5344527" y="2270235"/>
            <a:ext cx="1103587" cy="81980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磁盘 23"/>
          <p:cNvSpPr/>
          <p:nvPr/>
        </p:nvSpPr>
        <p:spPr>
          <a:xfrm>
            <a:off x="10463058" y="4929351"/>
            <a:ext cx="1045779" cy="74623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7709349" y="2285996"/>
            <a:ext cx="1403131" cy="725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基于分词的文本特征提取</a:t>
            </a:r>
          </a:p>
        </p:txBody>
      </p:sp>
      <p:sp>
        <p:nvSpPr>
          <p:cNvPr id="26" name="矩形 25"/>
          <p:cNvSpPr/>
          <p:nvPr/>
        </p:nvSpPr>
        <p:spPr>
          <a:xfrm>
            <a:off x="6490149" y="3557753"/>
            <a:ext cx="1566041" cy="557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基于字频统计的文本特征提取</a:t>
            </a:r>
          </a:p>
        </p:txBody>
      </p:sp>
      <p:sp>
        <p:nvSpPr>
          <p:cNvPr id="27" name="矩形 26"/>
          <p:cNvSpPr/>
          <p:nvPr/>
        </p:nvSpPr>
        <p:spPr>
          <a:xfrm>
            <a:off x="8960079" y="4230419"/>
            <a:ext cx="1334814" cy="499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分类特征统计分析</a:t>
            </a:r>
          </a:p>
        </p:txBody>
      </p:sp>
      <p:sp>
        <p:nvSpPr>
          <p:cNvPr id="28" name="矩形 27"/>
          <p:cNvSpPr/>
          <p:nvPr/>
        </p:nvSpPr>
        <p:spPr>
          <a:xfrm>
            <a:off x="4971400" y="4545723"/>
            <a:ext cx="1823544" cy="688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基于互联网网络媒体特性的多媒体特征提取</a:t>
            </a:r>
          </a:p>
        </p:txBody>
      </p:sp>
      <p:cxnSp>
        <p:nvCxnSpPr>
          <p:cNvPr id="30" name="直接箭头连接符 29"/>
          <p:cNvCxnSpPr>
            <a:stCxn id="23" idx="4"/>
            <a:endCxn id="25" idx="1"/>
          </p:cNvCxnSpPr>
          <p:nvPr/>
        </p:nvCxnSpPr>
        <p:spPr>
          <a:xfrm flipV="1">
            <a:off x="6448114" y="2648603"/>
            <a:ext cx="1261235" cy="315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形状 34"/>
          <p:cNvCxnSpPr>
            <a:stCxn id="25" idx="3"/>
            <a:endCxn id="27" idx="0"/>
          </p:cNvCxnSpPr>
          <p:nvPr/>
        </p:nvCxnSpPr>
        <p:spPr>
          <a:xfrm>
            <a:off x="9112480" y="2648603"/>
            <a:ext cx="515006" cy="158181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形状 36"/>
          <p:cNvCxnSpPr>
            <a:stCxn id="27" idx="3"/>
            <a:endCxn id="24" idx="1"/>
          </p:cNvCxnSpPr>
          <p:nvPr/>
        </p:nvCxnSpPr>
        <p:spPr>
          <a:xfrm>
            <a:off x="10294893" y="4480040"/>
            <a:ext cx="691055" cy="44931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6" idx="3"/>
          </p:cNvCxnSpPr>
          <p:nvPr/>
        </p:nvCxnSpPr>
        <p:spPr>
          <a:xfrm flipV="1">
            <a:off x="8056190" y="3831021"/>
            <a:ext cx="1576552" cy="5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肘形连接符 42"/>
          <p:cNvCxnSpPr>
            <a:cxnSpLocks/>
            <a:stCxn id="28" idx="3"/>
            <a:endCxn id="27" idx="1"/>
          </p:cNvCxnSpPr>
          <p:nvPr/>
        </p:nvCxnSpPr>
        <p:spPr>
          <a:xfrm flipV="1">
            <a:off x="6794944" y="4480040"/>
            <a:ext cx="2165135" cy="40989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cxnSpLocks/>
            <a:stCxn id="23" idx="3"/>
            <a:endCxn id="28" idx="0"/>
          </p:cNvCxnSpPr>
          <p:nvPr/>
        </p:nvCxnSpPr>
        <p:spPr>
          <a:xfrm rot="5400000">
            <a:off x="5161906" y="3811308"/>
            <a:ext cx="1455682" cy="131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肘形连接符 47"/>
          <p:cNvCxnSpPr>
            <a:endCxn id="26" idx="1"/>
          </p:cNvCxnSpPr>
          <p:nvPr/>
        </p:nvCxnSpPr>
        <p:spPr>
          <a:xfrm rot="16200000" flipH="1">
            <a:off x="5875293" y="3221421"/>
            <a:ext cx="809298" cy="42041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044981" y="3153102"/>
            <a:ext cx="867102" cy="646331"/>
          </a:xfrm>
          <a:prstGeom prst="rect">
            <a:avLst/>
          </a:prstGeom>
          <a:noFill/>
        </p:spPr>
        <p:txBody>
          <a:bodyPr wrap="square" rtlCol="0">
            <a:spAutoFit/>
          </a:bodyPr>
          <a:lstStyle/>
          <a:p>
            <a:r>
              <a:rPr lang="zh-CN" altLang="en-US" sz="1200" dirty="0">
                <a:solidFill>
                  <a:schemeClr val="bg2">
                    <a:lumMod val="50000"/>
                  </a:schemeClr>
                </a:solidFill>
                <a:latin typeface="微软雅黑" panose="020B0503020204020204" pitchFamily="34" charset="-122"/>
                <a:ea typeface="微软雅黑" panose="020B0503020204020204" pitchFamily="34" charset="-122"/>
              </a:rPr>
              <a:t>互联网舆情信息原始数据库</a:t>
            </a:r>
          </a:p>
        </p:txBody>
      </p:sp>
      <p:sp>
        <p:nvSpPr>
          <p:cNvPr id="54" name="TextBox 53"/>
          <p:cNvSpPr txBox="1"/>
          <p:nvPr/>
        </p:nvSpPr>
        <p:spPr>
          <a:xfrm>
            <a:off x="10478822" y="5717627"/>
            <a:ext cx="1156139" cy="830997"/>
          </a:xfrm>
          <a:prstGeom prst="rect">
            <a:avLst/>
          </a:prstGeom>
          <a:noFill/>
        </p:spPr>
        <p:txBody>
          <a:bodyPr wrap="square" rtlCol="0">
            <a:spAutoFit/>
          </a:bodyPr>
          <a:lstStyle/>
          <a:p>
            <a:r>
              <a:rPr lang="zh-CN" altLang="en-US" sz="1200" dirty="0">
                <a:solidFill>
                  <a:schemeClr val="bg2">
                    <a:lumMod val="50000"/>
                  </a:schemeClr>
                </a:solidFill>
                <a:latin typeface="微软雅黑" panose="020B0503020204020204" pitchFamily="34" charset="-122"/>
                <a:ea typeface="微软雅黑" panose="020B0503020204020204" pitchFamily="34" charset="-122"/>
              </a:rPr>
              <a:t>互联网舆情信息作业数据库</a:t>
            </a:r>
            <a:endParaRPr lang="en-US" altLang="zh-CN" sz="1200" dirty="0">
              <a:solidFill>
                <a:schemeClr val="bg2">
                  <a:lumMod val="50000"/>
                </a:schemeClr>
              </a:solidFill>
              <a:latin typeface="微软雅黑" panose="020B0503020204020204" pitchFamily="34" charset="-122"/>
              <a:ea typeface="微软雅黑" panose="020B0503020204020204" pitchFamily="34" charset="-122"/>
            </a:endParaRPr>
          </a:p>
          <a:p>
            <a:r>
              <a:rPr lang="zh-CN" altLang="en-US" sz="1200" dirty="0">
                <a:solidFill>
                  <a:schemeClr val="bg2">
                    <a:lumMod val="50000"/>
                  </a:schemeClr>
                </a:solidFill>
                <a:latin typeface="微软雅黑" panose="020B0503020204020204" pitchFamily="34" charset="-122"/>
                <a:ea typeface="微软雅黑" panose="020B0503020204020204" pitchFamily="34" charset="-122"/>
              </a:rPr>
              <a:t>（标准化、正则化）</a:t>
            </a:r>
          </a:p>
        </p:txBody>
      </p:sp>
      <p:cxnSp>
        <p:nvCxnSpPr>
          <p:cNvPr id="55" name="直接连接符 54"/>
          <p:cNvCxnSpPr/>
          <p:nvPr/>
        </p:nvCxnSpPr>
        <p:spPr>
          <a:xfrm>
            <a:off x="606891" y="2590304"/>
            <a:ext cx="36360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06891" y="3526572"/>
            <a:ext cx="36360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606891" y="4737392"/>
            <a:ext cx="36360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8" name="矩形 57"/>
          <p:cNvSpPr/>
          <p:nvPr/>
        </p:nvSpPr>
        <p:spPr bwMode="auto">
          <a:xfrm>
            <a:off x="624930" y="2814666"/>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9" name="矩形 58"/>
          <p:cNvSpPr/>
          <p:nvPr/>
        </p:nvSpPr>
        <p:spPr bwMode="auto">
          <a:xfrm>
            <a:off x="624768" y="401704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0" name="文本框 12"/>
          <p:cNvSpPr txBox="1"/>
          <p:nvPr/>
        </p:nvSpPr>
        <p:spPr>
          <a:xfrm>
            <a:off x="1049623" y="2682332"/>
            <a:ext cx="2986349" cy="753220"/>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重点研究网络文本媒体的语义特征提取</a:t>
            </a:r>
            <a:endParaRPr lang="en-US" altLang="zh-CN" sz="1800" dirty="0"/>
          </a:p>
        </p:txBody>
      </p:sp>
      <p:sp>
        <p:nvSpPr>
          <p:cNvPr id="61" name="文本框 14"/>
          <p:cNvSpPr txBox="1"/>
          <p:nvPr/>
        </p:nvSpPr>
        <p:spPr>
          <a:xfrm>
            <a:off x="1029681" y="3593403"/>
            <a:ext cx="2978583" cy="1099468"/>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800" dirty="0"/>
              <a:t>形成基于语义的文本特征快速提取与分类系统，组成舆情监控系统的信息分析模块</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网络舆情分析常用方法</a:t>
            </a:r>
          </a:p>
        </p:txBody>
      </p:sp>
      <p:sp>
        <p:nvSpPr>
          <p:cNvPr id="110"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12" name="文本框 70"/>
          <p:cNvSpPr txBox="1"/>
          <p:nvPr/>
        </p:nvSpPr>
        <p:spPr>
          <a:xfrm>
            <a:off x="1583751" y="1373582"/>
            <a:ext cx="3445450" cy="461665"/>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4"/>
            </a:pPr>
            <a:r>
              <a:rPr lang="zh-CN" altLang="en-US" sz="2400" b="1" dirty="0">
                <a:latin typeface="微软雅黑" panose="020B0503020204020204" pitchFamily="34" charset="-122"/>
                <a:ea typeface="微软雅黑" panose="020B0503020204020204" pitchFamily="34" charset="-122"/>
              </a:rPr>
              <a:t>多媒体群件理解技术</a:t>
            </a:r>
          </a:p>
        </p:txBody>
      </p:sp>
      <p:sp>
        <p:nvSpPr>
          <p:cNvPr id="29" name="Line 1598"/>
          <p:cNvSpPr>
            <a:spLocks noChangeShapeType="1"/>
          </p:cNvSpPr>
          <p:nvPr/>
        </p:nvSpPr>
        <p:spPr bwMode="auto">
          <a:xfrm>
            <a:off x="5495935" y="63241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1" name="Line 1599"/>
          <p:cNvSpPr>
            <a:spLocks noChangeShapeType="1"/>
          </p:cNvSpPr>
          <p:nvPr/>
        </p:nvSpPr>
        <p:spPr bwMode="auto">
          <a:xfrm>
            <a:off x="5495935" y="63241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2" name="Line 1600"/>
          <p:cNvSpPr>
            <a:spLocks noChangeShapeType="1"/>
          </p:cNvSpPr>
          <p:nvPr/>
        </p:nvSpPr>
        <p:spPr bwMode="auto">
          <a:xfrm>
            <a:off x="5483235" y="6238398"/>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3" name="Line 1601"/>
          <p:cNvSpPr>
            <a:spLocks noChangeShapeType="1"/>
          </p:cNvSpPr>
          <p:nvPr/>
        </p:nvSpPr>
        <p:spPr bwMode="auto">
          <a:xfrm>
            <a:off x="5483235" y="6238398"/>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4" name="Line 1602"/>
          <p:cNvSpPr>
            <a:spLocks noChangeShapeType="1"/>
          </p:cNvSpPr>
          <p:nvPr/>
        </p:nvSpPr>
        <p:spPr bwMode="auto">
          <a:xfrm>
            <a:off x="5470535" y="61717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6" name="Line 1603"/>
          <p:cNvSpPr>
            <a:spLocks noChangeShapeType="1"/>
          </p:cNvSpPr>
          <p:nvPr/>
        </p:nvSpPr>
        <p:spPr bwMode="auto">
          <a:xfrm>
            <a:off x="5470535" y="61717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38" name="Oval 2713"/>
          <p:cNvSpPr>
            <a:spLocks noChangeArrowheads="1"/>
          </p:cNvSpPr>
          <p:nvPr/>
        </p:nvSpPr>
        <p:spPr bwMode="auto">
          <a:xfrm>
            <a:off x="4415004" y="4628673"/>
            <a:ext cx="2763838" cy="630238"/>
          </a:xfrm>
          <a:prstGeom prst="ellipse">
            <a:avLst/>
          </a:prstGeom>
          <a:solidFill>
            <a:srgbClr val="EEECE1">
              <a:alpha val="36862"/>
            </a:srgbClr>
          </a:solidFill>
          <a:ln>
            <a:noFill/>
          </a:ln>
          <a:effectLst/>
          <a:extLst>
            <a:ext uri="{91240B29-F687-4F45-9708-019B960494DF}">
              <a14:hiddenLine xmlns:a14="http://schemas.microsoft.com/office/drawing/2010/main" w="9525">
                <a:solidFill>
                  <a:srgbClr val="99FF66"/>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endParaRPr>
          </a:p>
        </p:txBody>
      </p:sp>
      <p:sp>
        <p:nvSpPr>
          <p:cNvPr id="39" name="灰色3"/>
          <p:cNvSpPr/>
          <p:nvPr/>
        </p:nvSpPr>
        <p:spPr bwMode="auto">
          <a:xfrm>
            <a:off x="5056354" y="2185787"/>
            <a:ext cx="2249488" cy="1331912"/>
          </a:xfrm>
          <a:custGeom>
            <a:avLst/>
            <a:gdLst>
              <a:gd name="T0" fmla="*/ 0 w 1296"/>
              <a:gd name="T1" fmla="*/ 0 h 768"/>
              <a:gd name="T2" fmla="*/ 2147483647 w 1296"/>
              <a:gd name="T3" fmla="*/ 2147483647 h 768"/>
              <a:gd name="T4" fmla="*/ 2147483647 w 1296"/>
              <a:gd name="T5" fmla="*/ 2147483647 h 768"/>
              <a:gd name="T6" fmla="*/ 2147483647 w 1296"/>
              <a:gd name="T7" fmla="*/ 0 h 768"/>
              <a:gd name="T8" fmla="*/ 0 w 1296"/>
              <a:gd name="T9" fmla="*/ 0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0"/>
                </a:moveTo>
                <a:lnTo>
                  <a:pt x="432" y="768"/>
                </a:lnTo>
                <a:lnTo>
                  <a:pt x="1296" y="768"/>
                </a:lnTo>
                <a:lnTo>
                  <a:pt x="864" y="0"/>
                </a:lnTo>
                <a:lnTo>
                  <a:pt x="0" y="0"/>
                </a:lnTo>
                <a:close/>
              </a:path>
            </a:pathLst>
          </a:custGeom>
          <a:gradFill rotWithShape="1">
            <a:gsLst>
              <a:gs pos="0">
                <a:srgbClr val="DDDDDD"/>
              </a:gs>
              <a:gs pos="100000">
                <a:srgbClr val="FFFFFF"/>
              </a:gs>
            </a:gsLst>
            <a:lin ang="5400000" scaled="1"/>
          </a:gradFill>
          <a:ln w="3175">
            <a:solidFill>
              <a:srgbClr val="C0C0C0"/>
            </a:solidFill>
            <a:miter lim="800000"/>
          </a:ln>
        </p:spPr>
        <p:txBody>
          <a:bodyPr wrap="none" anchor="ctr"/>
          <a:lstStyle/>
          <a:p>
            <a:endParaRPr lang="zh-CN" altLang="en-US" kern="0" dirty="0">
              <a:solidFill>
                <a:sysClr val="windowText" lastClr="000000"/>
              </a:solidFill>
              <a:ea typeface="微软雅黑" panose="020B0503020204020204" pitchFamily="34" charset="-122"/>
            </a:endParaRPr>
          </a:p>
        </p:txBody>
      </p:sp>
      <p:sp>
        <p:nvSpPr>
          <p:cNvPr id="40" name="灰色2"/>
          <p:cNvSpPr/>
          <p:nvPr/>
        </p:nvSpPr>
        <p:spPr bwMode="auto">
          <a:xfrm>
            <a:off x="5045242" y="3601837"/>
            <a:ext cx="2249487" cy="1335087"/>
          </a:xfrm>
          <a:custGeom>
            <a:avLst/>
            <a:gdLst>
              <a:gd name="T0" fmla="*/ 0 w 1296"/>
              <a:gd name="T1" fmla="*/ 2147483647 h 768"/>
              <a:gd name="T2" fmla="*/ 2147483647 w 1296"/>
              <a:gd name="T3" fmla="*/ 2147483647 h 768"/>
              <a:gd name="T4" fmla="*/ 2147483647 w 1296"/>
              <a:gd name="T5" fmla="*/ 0 h 768"/>
              <a:gd name="T6" fmla="*/ 2147483647 w 1296"/>
              <a:gd name="T7" fmla="*/ 0 h 768"/>
              <a:gd name="T8" fmla="*/ 0 w 1296"/>
              <a:gd name="T9" fmla="*/ 2147483647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768"/>
                </a:moveTo>
                <a:lnTo>
                  <a:pt x="864" y="768"/>
                </a:lnTo>
                <a:lnTo>
                  <a:pt x="1296" y="0"/>
                </a:lnTo>
                <a:lnTo>
                  <a:pt x="432" y="0"/>
                </a:lnTo>
                <a:lnTo>
                  <a:pt x="0" y="768"/>
                </a:lnTo>
                <a:close/>
              </a:path>
            </a:pathLst>
          </a:custGeom>
          <a:gradFill rotWithShape="1">
            <a:gsLst>
              <a:gs pos="0">
                <a:srgbClr val="DDDDDD"/>
              </a:gs>
              <a:gs pos="100000">
                <a:srgbClr val="FFFFFF"/>
              </a:gs>
            </a:gsLst>
            <a:lin ang="5400000" scaled="1"/>
          </a:gradFill>
          <a:ln w="3175">
            <a:solidFill>
              <a:srgbClr val="C0C0C0"/>
            </a:solidFill>
            <a:miter lim="800000"/>
          </a:ln>
        </p:spPr>
        <p:txBody>
          <a:bodyPr wrap="none" anchor="ctr"/>
          <a:lstStyle/>
          <a:p>
            <a:endParaRPr lang="zh-CN" altLang="en-US" kern="0" dirty="0">
              <a:solidFill>
                <a:sysClr val="windowText" lastClr="000000"/>
              </a:solidFill>
              <a:ea typeface="微软雅黑" panose="020B0503020204020204" pitchFamily="34" charset="-122"/>
            </a:endParaRPr>
          </a:p>
        </p:txBody>
      </p:sp>
      <p:sp>
        <p:nvSpPr>
          <p:cNvPr id="42" name="灰色1"/>
          <p:cNvSpPr/>
          <p:nvPr/>
        </p:nvSpPr>
        <p:spPr bwMode="auto">
          <a:xfrm>
            <a:off x="4234029" y="2211187"/>
            <a:ext cx="1500188" cy="2665412"/>
          </a:xfrm>
          <a:custGeom>
            <a:avLst/>
            <a:gdLst>
              <a:gd name="T0" fmla="*/ 0 w 864"/>
              <a:gd name="T1" fmla="*/ 2147483647 h 1536"/>
              <a:gd name="T2" fmla="*/ 2147483647 w 864"/>
              <a:gd name="T3" fmla="*/ 2147483647 h 1536"/>
              <a:gd name="T4" fmla="*/ 2147483647 w 864"/>
              <a:gd name="T5" fmla="*/ 2147483647 h 1536"/>
              <a:gd name="T6" fmla="*/ 2147483647 w 864"/>
              <a:gd name="T7" fmla="*/ 0 h 1536"/>
              <a:gd name="T8" fmla="*/ 0 w 864"/>
              <a:gd name="T9" fmla="*/ 2147483647 h 1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536">
                <a:moveTo>
                  <a:pt x="0" y="768"/>
                </a:moveTo>
                <a:lnTo>
                  <a:pt x="432" y="1536"/>
                </a:lnTo>
                <a:lnTo>
                  <a:pt x="864" y="768"/>
                </a:lnTo>
                <a:lnTo>
                  <a:pt x="432" y="0"/>
                </a:lnTo>
                <a:lnTo>
                  <a:pt x="0" y="768"/>
                </a:lnTo>
                <a:close/>
              </a:path>
            </a:pathLst>
          </a:custGeom>
          <a:gradFill rotWithShape="1">
            <a:gsLst>
              <a:gs pos="0">
                <a:srgbClr val="DDDDDD"/>
              </a:gs>
              <a:gs pos="100000">
                <a:srgbClr val="FFFFFF"/>
              </a:gs>
            </a:gsLst>
            <a:lin ang="5400000" scaled="1"/>
          </a:gradFill>
          <a:ln w="3175">
            <a:solidFill>
              <a:srgbClr val="C0C0C0"/>
            </a:solidFill>
            <a:miter lim="800000"/>
          </a:ln>
        </p:spPr>
        <p:txBody>
          <a:bodyPr wrap="none" anchor="ctr"/>
          <a:lstStyle/>
          <a:p>
            <a:endParaRPr lang="zh-CN" altLang="en-US" kern="0" dirty="0">
              <a:solidFill>
                <a:sysClr val="windowText" lastClr="000000"/>
              </a:solidFill>
              <a:ea typeface="微软雅黑" panose="020B0503020204020204" pitchFamily="34" charset="-122"/>
            </a:endParaRPr>
          </a:p>
        </p:txBody>
      </p:sp>
      <p:sp>
        <p:nvSpPr>
          <p:cNvPr id="44" name="深色2"/>
          <p:cNvSpPr/>
          <p:nvPr/>
        </p:nvSpPr>
        <p:spPr bwMode="auto">
          <a:xfrm>
            <a:off x="5056354" y="2179161"/>
            <a:ext cx="2249488" cy="1331912"/>
          </a:xfrm>
          <a:custGeom>
            <a:avLst/>
            <a:gdLst>
              <a:gd name="T0" fmla="*/ 0 w 1296"/>
              <a:gd name="T1" fmla="*/ 0 h 768"/>
              <a:gd name="T2" fmla="*/ 2147483647 w 1296"/>
              <a:gd name="T3" fmla="*/ 2147483647 h 768"/>
              <a:gd name="T4" fmla="*/ 2147483647 w 1296"/>
              <a:gd name="T5" fmla="*/ 2147483647 h 768"/>
              <a:gd name="T6" fmla="*/ 2147483647 w 1296"/>
              <a:gd name="T7" fmla="*/ 0 h 768"/>
              <a:gd name="T8" fmla="*/ 0 w 1296"/>
              <a:gd name="T9" fmla="*/ 0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0"/>
                </a:moveTo>
                <a:lnTo>
                  <a:pt x="432" y="768"/>
                </a:lnTo>
                <a:lnTo>
                  <a:pt x="1296" y="768"/>
                </a:lnTo>
                <a:lnTo>
                  <a:pt x="864" y="0"/>
                </a:lnTo>
                <a:lnTo>
                  <a:pt x="0" y="0"/>
                </a:lnTo>
                <a:close/>
              </a:path>
            </a:pathLst>
          </a:custGeom>
          <a:gradFill>
            <a:gsLst>
              <a:gs pos="100000">
                <a:srgbClr val="2676FF">
                  <a:lumMod val="60000"/>
                  <a:lumOff val="40000"/>
                </a:srgbClr>
              </a:gs>
              <a:gs pos="0">
                <a:srgbClr val="2676FF"/>
              </a:gs>
            </a:gsLst>
            <a:lin ang="16200000" scaled="0"/>
          </a:gradFill>
          <a:ln w="3175" cap="flat" cmpd="sng" algn="ctr">
            <a:solidFill>
              <a:srgbClr val="89CC40">
                <a:lumMod val="60000"/>
                <a:lumOff val="40000"/>
              </a:srgbClr>
            </a:solidFill>
            <a:prstDash val="solid"/>
          </a:ln>
          <a:effectLst/>
        </p:spPr>
        <p:txBody>
          <a:bodyPr vert="eaVert"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45" name="深色3"/>
          <p:cNvSpPr/>
          <p:nvPr/>
        </p:nvSpPr>
        <p:spPr bwMode="auto">
          <a:xfrm>
            <a:off x="5045242" y="3595211"/>
            <a:ext cx="2249487" cy="1335087"/>
          </a:xfrm>
          <a:custGeom>
            <a:avLst/>
            <a:gdLst>
              <a:gd name="T0" fmla="*/ 0 w 1296"/>
              <a:gd name="T1" fmla="*/ 2147483647 h 768"/>
              <a:gd name="T2" fmla="*/ 2147483647 w 1296"/>
              <a:gd name="T3" fmla="*/ 2147483647 h 768"/>
              <a:gd name="T4" fmla="*/ 2147483647 w 1296"/>
              <a:gd name="T5" fmla="*/ 0 h 768"/>
              <a:gd name="T6" fmla="*/ 2147483647 w 1296"/>
              <a:gd name="T7" fmla="*/ 0 h 768"/>
              <a:gd name="T8" fmla="*/ 0 w 1296"/>
              <a:gd name="T9" fmla="*/ 2147483647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768">
                <a:moveTo>
                  <a:pt x="0" y="768"/>
                </a:moveTo>
                <a:lnTo>
                  <a:pt x="864" y="768"/>
                </a:lnTo>
                <a:lnTo>
                  <a:pt x="1296" y="0"/>
                </a:lnTo>
                <a:lnTo>
                  <a:pt x="432" y="0"/>
                </a:lnTo>
                <a:lnTo>
                  <a:pt x="0" y="768"/>
                </a:lnTo>
                <a:close/>
              </a:path>
            </a:pathLst>
          </a:custGeom>
          <a:gradFill>
            <a:gsLst>
              <a:gs pos="100000">
                <a:srgbClr val="2676FF">
                  <a:lumMod val="60000"/>
                  <a:lumOff val="40000"/>
                </a:srgbClr>
              </a:gs>
              <a:gs pos="0">
                <a:srgbClr val="2676FF"/>
              </a:gs>
            </a:gsLst>
            <a:lin ang="16200000" scaled="0"/>
          </a:gradFill>
          <a:ln w="3175" cap="flat" cmpd="sng" algn="ctr">
            <a:solidFill>
              <a:srgbClr val="89CC40">
                <a:lumMod val="60000"/>
                <a:lumOff val="40000"/>
              </a:srgbClr>
            </a:solidFill>
            <a:prstDash val="solid"/>
          </a:ln>
          <a:effectLst/>
        </p:spPr>
        <p:txBody>
          <a:bodyPr vert="eaVert"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47" name="深色1"/>
          <p:cNvSpPr/>
          <p:nvPr/>
        </p:nvSpPr>
        <p:spPr bwMode="auto">
          <a:xfrm>
            <a:off x="4234029" y="2204561"/>
            <a:ext cx="1500188" cy="2665412"/>
          </a:xfrm>
          <a:custGeom>
            <a:avLst/>
            <a:gdLst>
              <a:gd name="T0" fmla="*/ 0 w 864"/>
              <a:gd name="T1" fmla="*/ 2147483647 h 1536"/>
              <a:gd name="T2" fmla="*/ 2147483647 w 864"/>
              <a:gd name="T3" fmla="*/ 2147483647 h 1536"/>
              <a:gd name="T4" fmla="*/ 2147483647 w 864"/>
              <a:gd name="T5" fmla="*/ 2147483647 h 1536"/>
              <a:gd name="T6" fmla="*/ 2147483647 w 864"/>
              <a:gd name="T7" fmla="*/ 0 h 1536"/>
              <a:gd name="T8" fmla="*/ 0 w 864"/>
              <a:gd name="T9" fmla="*/ 2147483647 h 1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536">
                <a:moveTo>
                  <a:pt x="0" y="768"/>
                </a:moveTo>
                <a:lnTo>
                  <a:pt x="432" y="1536"/>
                </a:lnTo>
                <a:lnTo>
                  <a:pt x="864" y="768"/>
                </a:lnTo>
                <a:lnTo>
                  <a:pt x="432" y="0"/>
                </a:lnTo>
                <a:lnTo>
                  <a:pt x="0" y="768"/>
                </a:lnTo>
                <a:close/>
              </a:path>
            </a:pathLst>
          </a:custGeom>
          <a:gradFill>
            <a:gsLst>
              <a:gs pos="100000">
                <a:srgbClr val="2676FF">
                  <a:lumMod val="60000"/>
                  <a:lumOff val="40000"/>
                </a:srgbClr>
              </a:gs>
              <a:gs pos="0">
                <a:srgbClr val="2676FF"/>
              </a:gs>
            </a:gsLst>
            <a:lin ang="16200000" scaled="0"/>
          </a:gradFill>
          <a:ln w="3175" cap="flat" cmpd="sng" algn="ctr">
            <a:solidFill>
              <a:srgbClr val="89CC40">
                <a:lumMod val="60000"/>
                <a:lumOff val="40000"/>
              </a:srgbClr>
            </a:solidFill>
            <a:prstDash val="solid"/>
          </a:ln>
          <a:effectLst/>
        </p:spPr>
        <p:txBody>
          <a:bodyPr vert="eaVert"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49" name="Line 1598"/>
          <p:cNvSpPr>
            <a:spLocks noChangeShapeType="1"/>
          </p:cNvSpPr>
          <p:nvPr/>
        </p:nvSpPr>
        <p:spPr bwMode="auto">
          <a:xfrm>
            <a:off x="5553242" y="63241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51" name="Line 1599"/>
          <p:cNvSpPr>
            <a:spLocks noChangeShapeType="1"/>
          </p:cNvSpPr>
          <p:nvPr/>
        </p:nvSpPr>
        <p:spPr bwMode="auto">
          <a:xfrm>
            <a:off x="5553242" y="63241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52" name="Line 1600"/>
          <p:cNvSpPr>
            <a:spLocks noChangeShapeType="1"/>
          </p:cNvSpPr>
          <p:nvPr/>
        </p:nvSpPr>
        <p:spPr bwMode="auto">
          <a:xfrm>
            <a:off x="5540542" y="6238398"/>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53" name="Line 1601"/>
          <p:cNvSpPr>
            <a:spLocks noChangeShapeType="1"/>
          </p:cNvSpPr>
          <p:nvPr/>
        </p:nvSpPr>
        <p:spPr bwMode="auto">
          <a:xfrm>
            <a:off x="5540542" y="6238398"/>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62" name="Line 1602"/>
          <p:cNvSpPr>
            <a:spLocks noChangeShapeType="1"/>
          </p:cNvSpPr>
          <p:nvPr/>
        </p:nvSpPr>
        <p:spPr bwMode="auto">
          <a:xfrm>
            <a:off x="5527842" y="61717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sp>
        <p:nvSpPr>
          <p:cNvPr id="63" name="Line 1603"/>
          <p:cNvSpPr>
            <a:spLocks noChangeShapeType="1"/>
          </p:cNvSpPr>
          <p:nvPr/>
        </p:nvSpPr>
        <p:spPr bwMode="auto">
          <a:xfrm>
            <a:off x="5527842" y="6171723"/>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Impact" panose="020B0806030902050204" pitchFamily="34" charset="0"/>
              <a:ea typeface="微软雅黑" panose="020B0503020204020204" pitchFamily="34" charset="-122"/>
            </a:endParaRPr>
          </a:p>
        </p:txBody>
      </p:sp>
      <p:grpSp>
        <p:nvGrpSpPr>
          <p:cNvPr id="64" name="组合 63"/>
          <p:cNvGrpSpPr/>
          <p:nvPr/>
        </p:nvGrpSpPr>
        <p:grpSpPr>
          <a:xfrm>
            <a:off x="5056354" y="3764180"/>
            <a:ext cx="1892887" cy="2711622"/>
            <a:chOff x="6774848" y="3480392"/>
            <a:chExt cx="1892887" cy="2711622"/>
          </a:xfrm>
        </p:grpSpPr>
        <p:sp>
          <p:nvSpPr>
            <p:cNvPr id="65" name="TextBox 19"/>
            <p:cNvSpPr txBox="1">
              <a:spLocks noChangeArrowheads="1"/>
            </p:cNvSpPr>
            <p:nvPr/>
          </p:nvSpPr>
          <p:spPr bwMode="auto">
            <a:xfrm>
              <a:off x="6774848" y="5238291"/>
              <a:ext cx="1869941" cy="9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20000"/>
                </a:lnSpc>
                <a:defRPr/>
              </a:pPr>
              <a:r>
                <a:rPr lang="zh-CN" altLang="en-US" sz="1600" b="1" kern="0" dirty="0">
                  <a:solidFill>
                    <a:srgbClr val="00B0F0"/>
                  </a:solidFill>
                  <a:latin typeface="微软雅黑" panose="020B0503020204020204" pitchFamily="34" charset="-122"/>
                  <a:ea typeface="微软雅黑" panose="020B0503020204020204" pitchFamily="34" charset="-122"/>
                </a:rPr>
                <a:t>综合环境信息和相关媒体信息的多媒体群件理解技术</a:t>
              </a:r>
            </a:p>
          </p:txBody>
        </p:sp>
        <p:cxnSp>
          <p:nvCxnSpPr>
            <p:cNvPr id="66" name="直接连接符 65"/>
            <p:cNvCxnSpPr/>
            <p:nvPr/>
          </p:nvCxnSpPr>
          <p:spPr>
            <a:xfrm>
              <a:off x="8667735" y="3480392"/>
              <a:ext cx="0" cy="2108848"/>
            </a:xfrm>
            <a:prstGeom prst="line">
              <a:avLst/>
            </a:prstGeom>
            <a:ln>
              <a:headEnd type="oval"/>
              <a:tailEnd type="oval"/>
            </a:ln>
            <a:effectLst>
              <a:outerShdw blurRad="50800" dist="38100" dir="5400000" algn="t"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grpSp>
      <p:grpSp>
        <p:nvGrpSpPr>
          <p:cNvPr id="68" name="组合 67"/>
          <p:cNvGrpSpPr/>
          <p:nvPr/>
        </p:nvGrpSpPr>
        <p:grpSpPr>
          <a:xfrm>
            <a:off x="6805225" y="2410927"/>
            <a:ext cx="2195765" cy="849197"/>
            <a:chOff x="8523719" y="2127139"/>
            <a:chExt cx="2195765" cy="849197"/>
          </a:xfrm>
        </p:grpSpPr>
        <p:cxnSp>
          <p:nvCxnSpPr>
            <p:cNvPr id="69" name="直接连接符 68"/>
            <p:cNvCxnSpPr/>
            <p:nvPr/>
          </p:nvCxnSpPr>
          <p:spPr>
            <a:xfrm>
              <a:off x="8523719" y="2976336"/>
              <a:ext cx="2179999" cy="0"/>
            </a:xfrm>
            <a:prstGeom prst="line">
              <a:avLst/>
            </a:prstGeom>
            <a:ln>
              <a:headEnd type="oval"/>
              <a:tailEnd type="oval"/>
            </a:ln>
            <a:effectLst>
              <a:outerShdw blurRad="50800" dist="38100" dir="5400000" algn="t"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sp>
          <p:nvSpPr>
            <p:cNvPr id="70" name="TextBox 19"/>
            <p:cNvSpPr txBox="1">
              <a:spLocks noChangeArrowheads="1"/>
            </p:cNvSpPr>
            <p:nvPr/>
          </p:nvSpPr>
          <p:spPr bwMode="auto">
            <a:xfrm>
              <a:off x="8991246" y="2127139"/>
              <a:ext cx="1728238" cy="65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defRPr/>
              </a:pPr>
              <a:r>
                <a:rPr lang="zh-CN" altLang="en-US" sz="1600" b="1" kern="0" dirty="0">
                  <a:solidFill>
                    <a:srgbClr val="00B0F0"/>
                  </a:solidFill>
                  <a:latin typeface="微软雅黑" panose="020B0503020204020204" pitchFamily="34" charset="-122"/>
                  <a:ea typeface="微软雅黑" panose="020B0503020204020204" pitchFamily="34" charset="-122"/>
                </a:rPr>
                <a:t>图像核心信息</a:t>
              </a:r>
              <a:endParaRPr lang="en-US" altLang="zh-CN" sz="1600" b="1" kern="0" dirty="0">
                <a:solidFill>
                  <a:srgbClr val="00B0F0"/>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1600" b="1" kern="0" dirty="0">
                  <a:solidFill>
                    <a:srgbClr val="00B0F0"/>
                  </a:solidFill>
                  <a:latin typeface="微软雅黑" panose="020B0503020204020204" pitchFamily="34" charset="-122"/>
                  <a:ea typeface="微软雅黑" panose="020B0503020204020204" pitchFamily="34" charset="-122"/>
                </a:rPr>
                <a:t>快速提取技术</a:t>
              </a:r>
            </a:p>
          </p:txBody>
        </p:sp>
      </p:grpSp>
      <p:grpSp>
        <p:nvGrpSpPr>
          <p:cNvPr id="73" name="组合 72"/>
          <p:cNvGrpSpPr/>
          <p:nvPr/>
        </p:nvGrpSpPr>
        <p:grpSpPr>
          <a:xfrm>
            <a:off x="2375189" y="2152041"/>
            <a:ext cx="2089566" cy="1385226"/>
            <a:chOff x="1213067" y="1868253"/>
            <a:chExt cx="2089566" cy="1385226"/>
          </a:xfrm>
        </p:grpSpPr>
        <p:sp>
          <p:nvSpPr>
            <p:cNvPr id="75" name="TextBox 19"/>
            <p:cNvSpPr txBox="1">
              <a:spLocks noChangeArrowheads="1"/>
            </p:cNvSpPr>
            <p:nvPr/>
          </p:nvSpPr>
          <p:spPr bwMode="auto">
            <a:xfrm>
              <a:off x="1213067" y="1868253"/>
              <a:ext cx="1822831" cy="9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20000"/>
                </a:lnSpc>
                <a:defRPr/>
              </a:pPr>
              <a:r>
                <a:rPr lang="zh-CN" altLang="en-US" sz="1600" b="1" kern="0" dirty="0">
                  <a:solidFill>
                    <a:srgbClr val="00B0F0"/>
                  </a:solidFill>
                  <a:latin typeface="微软雅黑" panose="020B0503020204020204" pitchFamily="34" charset="-122"/>
                  <a:ea typeface="微软雅黑" panose="020B0503020204020204" pitchFamily="34" charset="-122"/>
                </a:rPr>
                <a:t>综合字词、标点和模式匹配的文本核心信息快速提取</a:t>
              </a:r>
              <a:endParaRPr kumimoji="0" lang="zh-CN" altLang="en-US" sz="1600" b="1"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cxnSp>
          <p:nvCxnSpPr>
            <p:cNvPr id="76" name="直接连接符 75"/>
            <p:cNvCxnSpPr/>
            <p:nvPr/>
          </p:nvCxnSpPr>
          <p:spPr>
            <a:xfrm flipH="1">
              <a:off x="1213067" y="3253479"/>
              <a:ext cx="2089566" cy="0"/>
            </a:xfrm>
            <a:prstGeom prst="line">
              <a:avLst/>
            </a:prstGeom>
            <a:ln>
              <a:headEnd type="oval"/>
              <a:tailEnd type="oval"/>
            </a:ln>
            <a:effectLst>
              <a:outerShdw blurRad="50800" dist="38100" dir="5400000" algn="t"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10" presetClass="exit" presetSubtype="0" fill="hold" grpId="1" nodeType="withEffect">
                                  <p:stCondLst>
                                    <p:cond delay="0"/>
                                  </p:stCondLst>
                                  <p:childTnLst>
                                    <p:animEffect transition="out" filter="fade">
                                      <p:cBhvr>
                                        <p:cTn id="13" dur="500"/>
                                        <p:tgtEl>
                                          <p:spTgt spid="42"/>
                                        </p:tgtEl>
                                      </p:cBhvr>
                                    </p:animEffect>
                                    <p:set>
                                      <p:cBhvr>
                                        <p:cTn id="14" dur="1" fill="hold">
                                          <p:stCondLst>
                                            <p:cond delay="499"/>
                                          </p:stCondLst>
                                        </p:cTn>
                                        <p:tgtEl>
                                          <p:spTgt spid="42"/>
                                        </p:tgtEl>
                                        <p:attrNameLst>
                                          <p:attrName>style.visibility</p:attrName>
                                        </p:attrNameLst>
                                      </p:cBhvr>
                                      <p:to>
                                        <p:strVal val="hidden"/>
                                      </p:to>
                                    </p:set>
                                  </p:childTnLst>
                                </p:cTn>
                              </p:par>
                              <p:par>
                                <p:cTn id="15" presetID="10" presetClass="entr" presetSubtype="0" fill="hold" grpId="2"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xit" presetSubtype="0" fill="hold" grpId="1" nodeType="withEffect">
                                  <p:stCondLst>
                                    <p:cond delay="0"/>
                                  </p:stCondLst>
                                  <p:childTnLst>
                                    <p:animEffect transition="out" filter="fade">
                                      <p:cBhvr>
                                        <p:cTn id="27" dur="500"/>
                                        <p:tgtEl>
                                          <p:spTgt spid="39"/>
                                        </p:tgtEl>
                                      </p:cBhvr>
                                    </p:animEffect>
                                    <p:set>
                                      <p:cBhvr>
                                        <p:cTn id="28" dur="1" fill="hold">
                                          <p:stCondLst>
                                            <p:cond delay="499"/>
                                          </p:stCondLst>
                                        </p:cTn>
                                        <p:tgtEl>
                                          <p:spTgt spid="39"/>
                                        </p:tgtEl>
                                        <p:attrNameLst>
                                          <p:attrName>style.visibility</p:attrName>
                                        </p:attrNameLst>
                                      </p:cBhvr>
                                      <p:to>
                                        <p:strVal val="hidden"/>
                                      </p:to>
                                    </p:set>
                                  </p:childTnLst>
                                </p:cTn>
                              </p:par>
                            </p:childTnLst>
                          </p:cTn>
                        </p:par>
                        <p:par>
                          <p:cTn id="29" fill="hold">
                            <p:stCondLst>
                              <p:cond delay="2000"/>
                            </p:stCondLst>
                            <p:childTnLst>
                              <p:par>
                                <p:cTn id="30" presetID="2" presetClass="entr" presetSubtype="8" fill="hold" nodeType="afterEffect">
                                  <p:stCondLst>
                                    <p:cond delay="0"/>
                                  </p:stCondLst>
                                  <p:childTnLst>
                                    <p:set>
                                      <p:cBhvr>
                                        <p:cTn id="31" dur="1" fill="hold">
                                          <p:stCondLst>
                                            <p:cond delay="0"/>
                                          </p:stCondLst>
                                        </p:cTn>
                                        <p:tgtEl>
                                          <p:spTgt spid="68"/>
                                        </p:tgtEl>
                                        <p:attrNameLst>
                                          <p:attrName>style.visibility</p:attrName>
                                        </p:attrNameLst>
                                      </p:cBhvr>
                                      <p:to>
                                        <p:strVal val="visible"/>
                                      </p:to>
                                    </p:set>
                                    <p:anim calcmode="lin" valueType="num">
                                      <p:cBhvr additive="base">
                                        <p:cTn id="32" dur="100" fill="hold"/>
                                        <p:tgtEl>
                                          <p:spTgt spid="68"/>
                                        </p:tgtEl>
                                        <p:attrNameLst>
                                          <p:attrName>ppt_x</p:attrName>
                                        </p:attrNameLst>
                                      </p:cBhvr>
                                      <p:tavLst>
                                        <p:tav tm="0">
                                          <p:val>
                                            <p:strVal val="0-#ppt_w/2"/>
                                          </p:val>
                                        </p:tav>
                                        <p:tav tm="100000">
                                          <p:val>
                                            <p:strVal val="#ppt_x"/>
                                          </p:val>
                                        </p:tav>
                                      </p:tavLst>
                                    </p:anim>
                                    <p:anim calcmode="lin" valueType="num">
                                      <p:cBhvr additive="base">
                                        <p:cTn id="33" dur="100" fill="hold"/>
                                        <p:tgtEl>
                                          <p:spTgt spid="68"/>
                                        </p:tgtEl>
                                        <p:attrNameLst>
                                          <p:attrName>ppt_y</p:attrName>
                                        </p:attrNameLst>
                                      </p:cBhvr>
                                      <p:tavLst>
                                        <p:tav tm="0">
                                          <p:val>
                                            <p:strVal val="#ppt_y"/>
                                          </p:val>
                                        </p:tav>
                                        <p:tav tm="100000">
                                          <p:val>
                                            <p:strVal val="#ppt_y"/>
                                          </p:val>
                                        </p:tav>
                                      </p:tavLst>
                                    </p:anim>
                                  </p:childTnLst>
                                </p:cTn>
                              </p:par>
                              <p:par>
                                <p:cTn id="34" presetID="10" presetClass="entr" presetSubtype="0" fill="hold" grpId="2"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childTnLst>
                          </p:cTn>
                        </p:par>
                        <p:par>
                          <p:cTn id="37" fill="hold">
                            <p:stCondLst>
                              <p:cond delay="2500"/>
                            </p:stCondLst>
                            <p:childTnLst>
                              <p:par>
                                <p:cTn id="38" presetID="22" presetClass="entr" presetSubtype="4" fill="hold" grpId="0"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down)">
                                      <p:cBhvr>
                                        <p:cTn id="40" dur="500"/>
                                        <p:tgtEl>
                                          <p:spTgt spid="40"/>
                                        </p:tgtEl>
                                      </p:cBhvr>
                                    </p:animEffect>
                                  </p:childTnLst>
                                </p:cTn>
                              </p:par>
                            </p:childTnLst>
                          </p:cTn>
                        </p:par>
                        <p:par>
                          <p:cTn id="41" fill="hold">
                            <p:stCondLst>
                              <p:cond delay="3000"/>
                            </p:stCondLst>
                            <p:childTnLst>
                              <p:par>
                                <p:cTn id="42" presetID="10" presetClass="entr" presetSubtype="0"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500"/>
                                        <p:tgtEl>
                                          <p:spTgt spid="45"/>
                                        </p:tgtEl>
                                      </p:cBhvr>
                                    </p:animEffect>
                                  </p:childTnLst>
                                </p:cTn>
                              </p:par>
                              <p:par>
                                <p:cTn id="45" presetID="10" presetClass="exit" presetSubtype="0" fill="hold" grpId="1" nodeType="withEffect">
                                  <p:stCondLst>
                                    <p:cond delay="0"/>
                                  </p:stCondLst>
                                  <p:childTnLst>
                                    <p:animEffect transition="out" filter="fade">
                                      <p:cBhvr>
                                        <p:cTn id="46" dur="500"/>
                                        <p:tgtEl>
                                          <p:spTgt spid="40"/>
                                        </p:tgtEl>
                                      </p:cBhvr>
                                    </p:animEffect>
                                    <p:set>
                                      <p:cBhvr>
                                        <p:cTn id="47" dur="1" fill="hold">
                                          <p:stCondLst>
                                            <p:cond delay="499"/>
                                          </p:stCondLst>
                                        </p:cTn>
                                        <p:tgtEl>
                                          <p:spTgt spid="40"/>
                                        </p:tgtEl>
                                        <p:attrNameLst>
                                          <p:attrName>style.visibility</p:attrName>
                                        </p:attrNameLst>
                                      </p:cBhvr>
                                      <p:to>
                                        <p:strVal val="hidden"/>
                                      </p:to>
                                    </p:set>
                                  </p:childTnLst>
                                </p:cTn>
                              </p:par>
                            </p:childTnLst>
                          </p:cTn>
                        </p:par>
                        <p:par>
                          <p:cTn id="48" fill="hold">
                            <p:stCondLst>
                              <p:cond delay="3500"/>
                            </p:stCondLst>
                            <p:childTnLst>
                              <p:par>
                                <p:cTn id="49" presetID="2" presetClass="entr" presetSubtype="1" fill="hold" nodeType="afterEffect">
                                  <p:stCondLst>
                                    <p:cond delay="0"/>
                                  </p:stCondLst>
                                  <p:childTnLst>
                                    <p:set>
                                      <p:cBhvr>
                                        <p:cTn id="50" dur="1" fill="hold">
                                          <p:stCondLst>
                                            <p:cond delay="0"/>
                                          </p:stCondLst>
                                        </p:cTn>
                                        <p:tgtEl>
                                          <p:spTgt spid="64"/>
                                        </p:tgtEl>
                                        <p:attrNameLst>
                                          <p:attrName>style.visibility</p:attrName>
                                        </p:attrNameLst>
                                      </p:cBhvr>
                                      <p:to>
                                        <p:strVal val="visible"/>
                                      </p:to>
                                    </p:set>
                                    <p:anim calcmode="lin" valueType="num">
                                      <p:cBhvr additive="base">
                                        <p:cTn id="51" dur="100" fill="hold"/>
                                        <p:tgtEl>
                                          <p:spTgt spid="64"/>
                                        </p:tgtEl>
                                        <p:attrNameLst>
                                          <p:attrName>ppt_x</p:attrName>
                                        </p:attrNameLst>
                                      </p:cBhvr>
                                      <p:tavLst>
                                        <p:tav tm="0">
                                          <p:val>
                                            <p:strVal val="#ppt_x"/>
                                          </p:val>
                                        </p:tav>
                                        <p:tav tm="100000">
                                          <p:val>
                                            <p:strVal val="#ppt_x"/>
                                          </p:val>
                                        </p:tav>
                                      </p:tavLst>
                                    </p:anim>
                                    <p:anim calcmode="lin" valueType="num">
                                      <p:cBhvr additive="base">
                                        <p:cTn id="52" dur="100" fill="hold"/>
                                        <p:tgtEl>
                                          <p:spTgt spid="64"/>
                                        </p:tgtEl>
                                        <p:attrNameLst>
                                          <p:attrName>ppt_y</p:attrName>
                                        </p:attrNameLst>
                                      </p:cBhvr>
                                      <p:tavLst>
                                        <p:tav tm="0">
                                          <p:val>
                                            <p:strVal val="0-#ppt_h/2"/>
                                          </p:val>
                                        </p:tav>
                                        <p:tav tm="100000">
                                          <p:val>
                                            <p:strVal val="#ppt_y"/>
                                          </p:val>
                                        </p:tav>
                                      </p:tavLst>
                                    </p:anim>
                                  </p:childTnLst>
                                </p:cTn>
                              </p:par>
                              <p:par>
                                <p:cTn id="53" presetID="10" presetClass="entr" presetSubtype="0" fill="hold" grpId="2"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bldLvl="0" animBg="1"/>
      <p:bldP spid="39" grpId="2" bldLvl="0" animBg="1"/>
      <p:bldP spid="40" grpId="0" bldLvl="0" animBg="1"/>
      <p:bldP spid="40" grpId="1" bldLvl="0" animBg="1"/>
      <p:bldP spid="40" grpId="2" bldLvl="0" animBg="1"/>
      <p:bldP spid="42" grpId="0" bldLvl="0" animBg="1"/>
      <p:bldP spid="42" grpId="1" bldLvl="0" animBg="1"/>
      <p:bldP spid="42" grpId="2" bldLvl="0" animBg="1"/>
      <p:bldP spid="44" grpId="0" bldLvl="0" animBg="1"/>
      <p:bldP spid="45" grpId="0" bldLvl="0" animBg="1"/>
      <p:bldP spid="47"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网络舆情分析常用方法</a:t>
            </a:r>
          </a:p>
        </p:txBody>
      </p:sp>
      <p:sp>
        <p:nvSpPr>
          <p:cNvPr id="110"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12" name="文本框 70"/>
          <p:cNvSpPr txBox="1"/>
          <p:nvPr/>
        </p:nvSpPr>
        <p:spPr>
          <a:xfrm>
            <a:off x="1583750" y="1373582"/>
            <a:ext cx="4501740" cy="461665"/>
          </a:xfrm>
          <a:prstGeom prst="rect">
            <a:avLst/>
          </a:prstGeom>
          <a:noFill/>
        </p:spPr>
        <p:txBody>
          <a:bodyPr wrap="squar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5"/>
            </a:pPr>
            <a:r>
              <a:rPr lang="zh-CN" altLang="en-US" sz="2400" b="1" dirty="0">
                <a:latin typeface="微软雅黑" panose="020B0503020204020204" pitchFamily="34" charset="-122"/>
                <a:ea typeface="微软雅黑" panose="020B0503020204020204" pitchFamily="34" charset="-122"/>
              </a:rPr>
              <a:t>非结构信息自组织聚合表达</a:t>
            </a:r>
          </a:p>
        </p:txBody>
      </p:sp>
      <p:grpSp>
        <p:nvGrpSpPr>
          <p:cNvPr id="82" name="组合 81"/>
          <p:cNvGrpSpPr/>
          <p:nvPr/>
        </p:nvGrpSpPr>
        <p:grpSpPr>
          <a:xfrm>
            <a:off x="4587745" y="1949664"/>
            <a:ext cx="6815955" cy="4051741"/>
            <a:chOff x="4587745" y="1949664"/>
            <a:chExt cx="6815955" cy="4051741"/>
          </a:xfrm>
        </p:grpSpPr>
        <p:sp>
          <p:nvSpPr>
            <p:cNvPr id="35" name="流程图: 磁盘 34"/>
            <p:cNvSpPr/>
            <p:nvPr/>
          </p:nvSpPr>
          <p:spPr>
            <a:xfrm>
              <a:off x="5565221" y="2112582"/>
              <a:ext cx="914400" cy="69368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流程图: 磁盘 36"/>
            <p:cNvSpPr/>
            <p:nvPr/>
          </p:nvSpPr>
          <p:spPr>
            <a:xfrm>
              <a:off x="9075720" y="2138858"/>
              <a:ext cx="914400" cy="69368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流程图: 磁盘 40"/>
            <p:cNvSpPr/>
            <p:nvPr/>
          </p:nvSpPr>
          <p:spPr>
            <a:xfrm>
              <a:off x="9327969" y="2044262"/>
              <a:ext cx="914400" cy="69368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流程图: 磁盘 42"/>
            <p:cNvSpPr/>
            <p:nvPr/>
          </p:nvSpPr>
          <p:spPr>
            <a:xfrm>
              <a:off x="9627512" y="1949664"/>
              <a:ext cx="914400" cy="69368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6589994" y="3689129"/>
              <a:ext cx="2790498" cy="630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分类数据库数据挖掘引擎</a:t>
              </a:r>
            </a:p>
          </p:txBody>
        </p:sp>
        <p:sp>
          <p:nvSpPr>
            <p:cNvPr id="48" name="流程图: 可选过程 47"/>
            <p:cNvSpPr/>
            <p:nvPr/>
          </p:nvSpPr>
          <p:spPr>
            <a:xfrm>
              <a:off x="4587745" y="5092262"/>
              <a:ext cx="1040524" cy="81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舆情热点分析</a:t>
              </a:r>
            </a:p>
          </p:txBody>
        </p:sp>
        <p:sp>
          <p:nvSpPr>
            <p:cNvPr id="50" name="流程图: 可选过程 49"/>
            <p:cNvSpPr/>
            <p:nvPr/>
          </p:nvSpPr>
          <p:spPr>
            <a:xfrm>
              <a:off x="6048682" y="5118537"/>
              <a:ext cx="1040524" cy="81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舆情焦点分析</a:t>
              </a:r>
            </a:p>
          </p:txBody>
        </p:sp>
        <p:sp>
          <p:nvSpPr>
            <p:cNvPr id="54" name="流程图: 可选过程 53"/>
            <p:cNvSpPr/>
            <p:nvPr/>
          </p:nvSpPr>
          <p:spPr>
            <a:xfrm>
              <a:off x="7478087" y="5160579"/>
              <a:ext cx="1040524" cy="81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舆情演变分析</a:t>
              </a:r>
            </a:p>
          </p:txBody>
        </p:sp>
        <p:sp>
          <p:nvSpPr>
            <p:cNvPr id="55" name="流程图: 可选过程 54"/>
            <p:cNvSpPr/>
            <p:nvPr/>
          </p:nvSpPr>
          <p:spPr>
            <a:xfrm>
              <a:off x="9002087" y="5171088"/>
              <a:ext cx="1040524" cy="81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舆情关联分析</a:t>
              </a:r>
            </a:p>
          </p:txBody>
        </p:sp>
        <p:sp>
          <p:nvSpPr>
            <p:cNvPr id="56" name="流程图: 可选过程 55"/>
            <p:cNvSpPr/>
            <p:nvPr/>
          </p:nvSpPr>
          <p:spPr>
            <a:xfrm>
              <a:off x="10363176" y="5181598"/>
              <a:ext cx="1040524" cy="81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舆情综合分析</a:t>
              </a:r>
            </a:p>
          </p:txBody>
        </p:sp>
        <p:cxnSp>
          <p:nvCxnSpPr>
            <p:cNvPr id="58" name="直接箭头连接符 57"/>
            <p:cNvCxnSpPr>
              <a:stCxn id="35" idx="4"/>
              <a:endCxn id="37" idx="2"/>
            </p:cNvCxnSpPr>
            <p:nvPr/>
          </p:nvCxnSpPr>
          <p:spPr>
            <a:xfrm>
              <a:off x="6479621" y="2459424"/>
              <a:ext cx="2596099" cy="262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肘形连接符 59"/>
            <p:cNvCxnSpPr>
              <a:stCxn id="41" idx="3"/>
              <a:endCxn id="46" idx="0"/>
            </p:cNvCxnSpPr>
            <p:nvPr/>
          </p:nvCxnSpPr>
          <p:spPr>
            <a:xfrm rot="5400000">
              <a:off x="8409614" y="2313574"/>
              <a:ext cx="951184" cy="179992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肘形连接符 63"/>
            <p:cNvCxnSpPr>
              <a:stCxn id="46" idx="2"/>
              <a:endCxn id="48" idx="0"/>
            </p:cNvCxnSpPr>
            <p:nvPr/>
          </p:nvCxnSpPr>
          <p:spPr>
            <a:xfrm rot="5400000">
              <a:off x="6160369" y="3267387"/>
              <a:ext cx="772513" cy="287723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肘形连接符 67"/>
            <p:cNvCxnSpPr>
              <a:stCxn id="46" idx="2"/>
              <a:endCxn id="56" idx="0"/>
            </p:cNvCxnSpPr>
            <p:nvPr/>
          </p:nvCxnSpPr>
          <p:spPr>
            <a:xfrm rot="16200000" flipH="1">
              <a:off x="9003416" y="3301575"/>
              <a:ext cx="861849" cy="2898195"/>
            </a:xfrm>
            <a:prstGeom prst="bentConnector3">
              <a:avLst>
                <a:gd name="adj1" fmla="val 4451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endCxn id="50" idx="0"/>
            </p:cNvCxnSpPr>
            <p:nvPr/>
          </p:nvCxnSpPr>
          <p:spPr>
            <a:xfrm rot="16200000" flipH="1">
              <a:off x="6345606" y="4895198"/>
              <a:ext cx="436179" cy="104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endCxn id="54" idx="0"/>
            </p:cNvCxnSpPr>
            <p:nvPr/>
          </p:nvCxnSpPr>
          <p:spPr>
            <a:xfrm rot="16200000" flipH="1">
              <a:off x="7756617" y="4918847"/>
              <a:ext cx="478220" cy="52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endCxn id="55" idx="0"/>
            </p:cNvCxnSpPr>
            <p:nvPr/>
          </p:nvCxnSpPr>
          <p:spPr>
            <a:xfrm rot="16200000" flipH="1">
              <a:off x="9285873" y="4934612"/>
              <a:ext cx="457198" cy="157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83" name="直接连接符 82"/>
          <p:cNvCxnSpPr/>
          <p:nvPr/>
        </p:nvCxnSpPr>
        <p:spPr>
          <a:xfrm>
            <a:off x="701489" y="327117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701489" y="381123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701489" y="4351296"/>
            <a:ext cx="409851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7" name="矩形 86"/>
          <p:cNvSpPr/>
          <p:nvPr/>
        </p:nvSpPr>
        <p:spPr bwMode="auto">
          <a:xfrm>
            <a:off x="1162563" y="3437813"/>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88" name="矩形 87"/>
          <p:cNvSpPr/>
          <p:nvPr/>
        </p:nvSpPr>
        <p:spPr bwMode="auto">
          <a:xfrm>
            <a:off x="1162563" y="3984800"/>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90" name="文本框 12"/>
          <p:cNvSpPr txBox="1"/>
          <p:nvPr/>
        </p:nvSpPr>
        <p:spPr>
          <a:xfrm>
            <a:off x="1522604" y="3280341"/>
            <a:ext cx="3277397" cy="441916"/>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数据仓储模块</a:t>
            </a:r>
          </a:p>
        </p:txBody>
      </p:sp>
      <p:sp>
        <p:nvSpPr>
          <p:cNvPr id="91" name="文本框 13"/>
          <p:cNvSpPr txBox="1"/>
          <p:nvPr/>
        </p:nvSpPr>
        <p:spPr>
          <a:xfrm>
            <a:off x="1522604" y="3820401"/>
            <a:ext cx="3277397" cy="441916"/>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数据类型挖掘引擎模块</a:t>
            </a:r>
          </a:p>
        </p:txBody>
      </p:sp>
      <p:sp>
        <p:nvSpPr>
          <p:cNvPr id="92" name="矩形 91"/>
          <p:cNvSpPr/>
          <p:nvPr/>
        </p:nvSpPr>
        <p:spPr bwMode="auto">
          <a:xfrm>
            <a:off x="1155307" y="2894187"/>
            <a:ext cx="216000" cy="216024"/>
          </a:xfrm>
          <a:prstGeom prst="rect">
            <a:avLst/>
          </a:prstGeom>
          <a:solidFill>
            <a:srgbClr val="323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93" name="文本框 12"/>
          <p:cNvSpPr txBox="1"/>
          <p:nvPr/>
        </p:nvSpPr>
        <p:spPr>
          <a:xfrm>
            <a:off x="1515348" y="2750569"/>
            <a:ext cx="3277397" cy="441916"/>
          </a:xfrm>
          <a:prstGeom prst="rect">
            <a:avLst/>
          </a:prstGeom>
        </p:spPr>
        <p:txBody>
          <a:bodyPr wrap="square">
            <a:spAutoFit/>
          </a:bodyPr>
          <a:lstStyle>
            <a:defPPr>
              <a:defRPr lang="zh-CN"/>
            </a:defPPr>
            <a:lvl1pPr>
              <a:lnSpc>
                <a:spcPct val="125000"/>
              </a:lnSpc>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数据分析模块</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he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60" y="203929"/>
            <a:ext cx="11597803" cy="635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4"/>
          <p:cNvSpPr txBox="1"/>
          <p:nvPr/>
        </p:nvSpPr>
        <p:spPr bwMode="auto">
          <a:xfrm>
            <a:off x="10001251" y="6429375"/>
            <a:ext cx="1879600" cy="266700"/>
          </a:xfrm>
          <a:prstGeom prst="rect">
            <a:avLst/>
          </a:prstGeom>
          <a:noFill/>
          <a:ln w="9525">
            <a:noFill/>
            <a:miter lim="800000"/>
          </a:ln>
        </p:spPr>
        <p:txBody>
          <a:bodyPr/>
          <a:lstStyle/>
          <a:p>
            <a:pPr algn="ctr">
              <a:spcBef>
                <a:spcPct val="20000"/>
              </a:spcBef>
              <a:buFont typeface="Arial" panose="020B0604020202020204" pitchFamily="34" charset="0"/>
              <a:buNone/>
              <a:defRPr/>
            </a:pPr>
            <a:r>
              <a:rPr lang="en-US" altLang="zh-CN" sz="1100" dirty="0" err="1">
                <a:solidFill>
                  <a:schemeClr val="tx1">
                    <a:tint val="75000"/>
                  </a:schemeClr>
                </a:solidFill>
                <a:latin typeface="+mn-lt"/>
                <a:ea typeface="+mn-ea"/>
              </a:rPr>
              <a:t>Jasmine.More</a:t>
            </a:r>
            <a:endParaRPr lang="zh-CN" altLang="en-US" sz="1100" dirty="0">
              <a:solidFill>
                <a:schemeClr val="tx1">
                  <a:tint val="75000"/>
                </a:schemeClr>
              </a:solidFill>
              <a:latin typeface="+mn-lt"/>
              <a:ea typeface="+mn-ea"/>
            </a:endParaRPr>
          </a:p>
        </p:txBody>
      </p:sp>
      <p:sp>
        <p:nvSpPr>
          <p:cNvPr id="4" name="副标题 4"/>
          <p:cNvSpPr txBox="1"/>
          <p:nvPr/>
        </p:nvSpPr>
        <p:spPr bwMode="auto">
          <a:xfrm>
            <a:off x="2410155" y="1988840"/>
            <a:ext cx="7334251" cy="1195794"/>
          </a:xfrm>
          <a:prstGeom prst="rect">
            <a:avLst/>
          </a:prstGeom>
          <a:noFill/>
          <a:ln w="9525">
            <a:noFill/>
            <a:miter lim="800000"/>
          </a:ln>
        </p:spPr>
        <p:txBody>
          <a:bodyPr/>
          <a:lstStyle/>
          <a:p>
            <a:r>
              <a:rPr lang="zh-CN" altLang="en-US"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典型应用及发展趋势</a:t>
            </a:r>
            <a:endParaRPr lang="en-US" altLang="zh-CN" sz="4800" dirty="0">
              <a:solidFill>
                <a:schemeClr val="accent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500"/>
                                        <p:tgtEl>
                                          <p:spTgt spid="5"/>
                                        </p:tgtEl>
                                      </p:cBhvr>
                                    </p:animEffect>
                                  </p:childTnLst>
                                </p:cTn>
                              </p:par>
                              <p:par>
                                <p:cTn id="12" presetID="0" presetClass="path" presetSubtype="0" accel="50000" decel="50000" fill="hold" nodeType="withEffect">
                                  <p:stCondLst>
                                    <p:cond delay="0"/>
                                  </p:stCondLst>
                                  <p:childTnLst>
                                    <p:animMotion origin="layout" path="M -0.90955 5.64292E-6 L 3.05556E-6 5.64292E-6 " pathEditMode="relative" ptsTypes="AA">
                                      <p:cBhvr>
                                        <p:cTn id="13"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网络舆情分析的典型应用</a:t>
            </a:r>
          </a:p>
        </p:txBody>
      </p:sp>
      <p:sp>
        <p:nvSpPr>
          <p:cNvPr id="168"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4338" name="Rectangle 2"/>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170" name="图片 169" descr="图片1.png"/>
          <p:cNvPicPr>
            <a:picLocks noChangeAspect="1"/>
          </p:cNvPicPr>
          <p:nvPr/>
        </p:nvPicPr>
        <p:blipFill>
          <a:blip r:embed="rId2"/>
          <a:stretch>
            <a:fillRect/>
          </a:stretch>
        </p:blipFill>
        <p:spPr>
          <a:xfrm>
            <a:off x="5031117" y="2168811"/>
            <a:ext cx="6162399" cy="3380651"/>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71" name="矩形 170"/>
          <p:cNvSpPr/>
          <p:nvPr/>
        </p:nvSpPr>
        <p:spPr>
          <a:xfrm>
            <a:off x="1143091" y="2704094"/>
            <a:ext cx="3350082" cy="2120902"/>
          </a:xfrm>
          <a:prstGeom prst="rect">
            <a:avLst/>
          </a:prstGeom>
        </p:spPr>
        <p:txBody>
          <a:bodyPr wrap="square">
            <a:spAutoFit/>
          </a:bodyPr>
          <a:lstStyle/>
          <a:p>
            <a:pPr indent="457200">
              <a:lnSpc>
                <a:spcPct val="150000"/>
              </a:lnSpc>
            </a:pPr>
            <a:r>
              <a:rPr lang="zh-CN" altLang="en-US" dirty="0">
                <a:solidFill>
                  <a:schemeClr val="tx2"/>
                </a:solidFill>
                <a:latin typeface="微软雅黑" panose="020B0503020204020204" pitchFamily="34" charset="-122"/>
                <a:ea typeface="微软雅黑" panose="020B0503020204020204" pitchFamily="34" charset="-122"/>
              </a:rPr>
              <a:t>利用网络协商与人机对话模拟等技术实现目标站点的信息获取，进行归一化存储，最终呈现系统目标站点的讨论分析情况和具体内容。</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172" name="文本框 182"/>
          <p:cNvSpPr txBox="1"/>
          <p:nvPr/>
        </p:nvSpPr>
        <p:spPr>
          <a:xfrm>
            <a:off x="633792" y="1476073"/>
            <a:ext cx="4698722" cy="584775"/>
          </a:xfrm>
          <a:prstGeom prst="rect">
            <a:avLst/>
          </a:prstGeom>
          <a:noFill/>
        </p:spPr>
        <p:txBody>
          <a:bodyPr wrap="none" rtlCol="0">
            <a:spAutoFit/>
          </a:bodyPr>
          <a:lstStyle>
            <a:defPPr>
              <a:defRPr lang="zh-CN"/>
            </a:defPPr>
            <a:lvl1pPr>
              <a:defRPr sz="3200">
                <a:solidFill>
                  <a:srgbClr val="31B5D6"/>
                </a:solidFill>
                <a:latin typeface="华康俪金黑W8(P)" panose="020B0800000000000000" pitchFamily="34" charset="-122"/>
                <a:ea typeface="华康俪金黑W8(P)" panose="020B0800000000000000" pitchFamily="34" charset="-122"/>
              </a:defRPr>
            </a:lvl1pPr>
          </a:lstStyle>
          <a:p>
            <a:r>
              <a:rPr lang="zh-CN" altLang="en-US" dirty="0"/>
              <a:t>互联网论坛信息监控案例</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reeform 12"/>
          <p:cNvSpPr/>
          <p:nvPr/>
        </p:nvSpPr>
        <p:spPr bwMode="auto">
          <a:xfrm flipH="1" flipV="1">
            <a:off x="10511242" y="6006689"/>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网络舆情分析的典型应用</a:t>
            </a:r>
          </a:p>
        </p:txBody>
      </p:sp>
      <p:sp>
        <p:nvSpPr>
          <p:cNvPr id="37"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pic>
        <p:nvPicPr>
          <p:cNvPr id="13313" name="Picture 1" descr="C:\Users\qin\AppData\Roaming\Tencent\Users\252752518\QQ\WinTemp\RichOle\X$YOS01@QA)VZ%)M%92AF5D.png"/>
          <p:cNvPicPr>
            <a:picLocks noChangeAspect="1" noChangeArrowheads="1"/>
          </p:cNvPicPr>
          <p:nvPr/>
        </p:nvPicPr>
        <p:blipFill>
          <a:blip r:embed="rId3"/>
          <a:srcRect/>
          <a:stretch>
            <a:fillRect/>
          </a:stretch>
        </p:blipFill>
        <p:spPr bwMode="auto">
          <a:xfrm>
            <a:off x="1213945" y="2349057"/>
            <a:ext cx="2600325" cy="1543050"/>
          </a:xfrm>
          <a:prstGeom prst="rect">
            <a:avLst/>
          </a:prstGeom>
          <a:noFill/>
        </p:spPr>
      </p:pic>
      <p:pic>
        <p:nvPicPr>
          <p:cNvPr id="13314" name="Picture 2" descr="C:\Users\qin\AppData\Roaming\Tencent\Users\252752518\QQ\WinTemp\RichOle\DXQ7G6QGUIPECOSB63F8(4W.png"/>
          <p:cNvPicPr>
            <a:picLocks noChangeAspect="1" noChangeArrowheads="1"/>
          </p:cNvPicPr>
          <p:nvPr/>
        </p:nvPicPr>
        <p:blipFill>
          <a:blip r:embed="rId4"/>
          <a:srcRect/>
          <a:stretch>
            <a:fillRect/>
          </a:stretch>
        </p:blipFill>
        <p:spPr bwMode="auto">
          <a:xfrm>
            <a:off x="8213926" y="2412118"/>
            <a:ext cx="2364737" cy="1484805"/>
          </a:xfrm>
          <a:prstGeom prst="rect">
            <a:avLst/>
          </a:prstGeom>
          <a:noFill/>
        </p:spPr>
      </p:pic>
      <p:pic>
        <p:nvPicPr>
          <p:cNvPr id="13316" name="Picture 4" descr="C:\Users\qin\AppData\Roaming\Tencent\Users\252752518\QQ\WinTemp\RichOle\1ZHJ41$FMNY%ZQ)EM~DY9A7.png"/>
          <p:cNvPicPr>
            <a:picLocks noChangeAspect="1" noChangeArrowheads="1"/>
          </p:cNvPicPr>
          <p:nvPr/>
        </p:nvPicPr>
        <p:blipFill>
          <a:blip r:embed="rId5"/>
          <a:srcRect/>
          <a:stretch>
            <a:fillRect/>
          </a:stretch>
        </p:blipFill>
        <p:spPr bwMode="auto">
          <a:xfrm>
            <a:off x="4887319" y="2364822"/>
            <a:ext cx="2266950" cy="1504950"/>
          </a:xfrm>
          <a:prstGeom prst="rect">
            <a:avLst/>
          </a:prstGeom>
          <a:noFill/>
        </p:spPr>
      </p:pic>
      <p:sp>
        <p:nvSpPr>
          <p:cNvPr id="43" name="TextBox 42"/>
          <p:cNvSpPr txBox="1"/>
          <p:nvPr/>
        </p:nvSpPr>
        <p:spPr>
          <a:xfrm>
            <a:off x="1374148" y="4256028"/>
            <a:ext cx="2127088"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定点站点</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深入挖掘机制</a:t>
            </a:r>
          </a:p>
        </p:txBody>
      </p:sp>
      <p:sp>
        <p:nvSpPr>
          <p:cNvPr id="44" name="TextBox 43"/>
          <p:cNvSpPr txBox="1"/>
          <p:nvPr/>
        </p:nvSpPr>
        <p:spPr>
          <a:xfrm>
            <a:off x="4900369" y="4250773"/>
            <a:ext cx="2127088" cy="1015663"/>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异构数据归一化存储与目标站点热点查询</a:t>
            </a:r>
          </a:p>
        </p:txBody>
      </p:sp>
      <p:sp>
        <p:nvSpPr>
          <p:cNvPr id="12" name="TextBox 11"/>
          <p:cNvSpPr txBox="1"/>
          <p:nvPr/>
        </p:nvSpPr>
        <p:spPr>
          <a:xfrm>
            <a:off x="8316231" y="4308580"/>
            <a:ext cx="2127088"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监控目标热点自动发现功能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5"/>
                                        </p:tgtEl>
                                        <p:attrNameLst>
                                          <p:attrName>style.visibility</p:attrName>
                                        </p:attrNameLst>
                                      </p:cBhvr>
                                      <p:to>
                                        <p:strVal val="visible"/>
                                      </p:to>
                                    </p:set>
                                  </p:childTnLst>
                                </p:cTn>
                              </p:par>
                              <p:par>
                                <p:cTn id="7" presetID="35" presetClass="path" presetSubtype="0" accel="50000" decel="50000" fill="hold" grpId="1" nodeType="withEffect">
                                  <p:stCondLst>
                                    <p:cond delay="0"/>
                                  </p:stCondLst>
                                  <p:childTnLst>
                                    <p:animMotion origin="layout" path="M 7.85742E-7 -3.33333E-6 L -0.39495 -0.11018 " pathEditMode="relative" rAng="0" ptsTypes="AA">
                                      <p:cBhvr>
                                        <p:cTn id="8" dur="500" spd="-99900" fill="hold"/>
                                        <p:tgtEl>
                                          <p:spTgt spid="95"/>
                                        </p:tgtEl>
                                        <p:attrNameLst>
                                          <p:attrName>ppt_x</p:attrName>
                                          <p:attrName>ppt_y</p:attrName>
                                        </p:attrNameLst>
                                      </p:cBhvr>
                                      <p:rCtr x="-19748" y="-5509"/>
                                    </p:animMotion>
                                  </p:childTnLst>
                                </p:cTn>
                              </p:par>
                              <p:par>
                                <p:cTn id="9" presetID="42"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1000"/>
                                        <p:tgtEl>
                                          <p:spTgt spid="43"/>
                                        </p:tgtEl>
                                      </p:cBhvr>
                                    </p:animEffect>
                                    <p:anim calcmode="lin" valueType="num">
                                      <p:cBhvr>
                                        <p:cTn id="12" dur="1000" fill="hold"/>
                                        <p:tgtEl>
                                          <p:spTgt spid="43"/>
                                        </p:tgtEl>
                                        <p:attrNameLst>
                                          <p:attrName>ppt_x</p:attrName>
                                        </p:attrNameLst>
                                      </p:cBhvr>
                                      <p:tavLst>
                                        <p:tav tm="0">
                                          <p:val>
                                            <p:strVal val="#ppt_x"/>
                                          </p:val>
                                        </p:tav>
                                        <p:tav tm="100000">
                                          <p:val>
                                            <p:strVal val="#ppt_x"/>
                                          </p:val>
                                        </p:tav>
                                      </p:tavLst>
                                    </p:anim>
                                    <p:anim calcmode="lin" valueType="num">
                                      <p:cBhvr>
                                        <p:cTn id="13" dur="1000" fill="hold"/>
                                        <p:tgtEl>
                                          <p:spTgt spid="43"/>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1000"/>
                                        <p:tgtEl>
                                          <p:spTgt spid="44"/>
                                        </p:tgtEl>
                                      </p:cBhvr>
                                    </p:animEffect>
                                    <p:anim calcmode="lin" valueType="num">
                                      <p:cBhvr>
                                        <p:cTn id="17" dur="1000" fill="hold"/>
                                        <p:tgtEl>
                                          <p:spTgt spid="44"/>
                                        </p:tgtEl>
                                        <p:attrNameLst>
                                          <p:attrName>ppt_x</p:attrName>
                                        </p:attrNameLst>
                                      </p:cBhvr>
                                      <p:tavLst>
                                        <p:tav tm="0">
                                          <p:val>
                                            <p:strVal val="#ppt_x"/>
                                          </p:val>
                                        </p:tav>
                                        <p:tav tm="100000">
                                          <p:val>
                                            <p:strVal val="#ppt_x"/>
                                          </p:val>
                                        </p:tav>
                                      </p:tavLst>
                                    </p:anim>
                                    <p:anim calcmode="lin" valueType="num">
                                      <p:cBhvr>
                                        <p:cTn id="18" dur="1000" fill="hold"/>
                                        <p:tgtEl>
                                          <p:spTgt spid="4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bldLvl="0" animBg="1"/>
      <p:bldP spid="95" grpId="1" bldLvl="0" animBg="1"/>
      <p:bldP spid="43" grpId="0"/>
      <p:bldP spid="44" grpId="0"/>
      <p:bldP spid="12"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网络舆情分析的发展趋势</a:t>
            </a:r>
          </a:p>
        </p:txBody>
      </p:sp>
      <p:sp>
        <p:nvSpPr>
          <p:cNvPr id="163"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65" name="文本框 70"/>
          <p:cNvSpPr txBox="1"/>
          <p:nvPr/>
        </p:nvSpPr>
        <p:spPr>
          <a:xfrm>
            <a:off x="716649" y="1436644"/>
            <a:ext cx="4339650"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a:pPr>
            <a:r>
              <a:rPr lang="zh-CN" altLang="en-US" sz="2400" b="1" dirty="0">
                <a:latin typeface="微软雅黑" panose="020B0503020204020204" pitchFamily="34" charset="-122"/>
                <a:ea typeface="微软雅黑" panose="020B0503020204020204" pitchFamily="34" charset="-122"/>
              </a:rPr>
              <a:t>针对信息源的深入信息采集</a:t>
            </a:r>
          </a:p>
        </p:txBody>
      </p:sp>
      <p:pic>
        <p:nvPicPr>
          <p:cNvPr id="166" name="图片 165"/>
          <p:cNvPicPr/>
          <p:nvPr/>
        </p:nvPicPr>
        <p:blipFill>
          <a:blip r:embed="rId2">
            <a:extLst>
              <a:ext uri="{28A0092B-C50C-407E-A947-70E740481C1C}">
                <a14:useLocalDpi xmlns:a14="http://schemas.microsoft.com/office/drawing/2010/main" val="0"/>
              </a:ext>
            </a:extLst>
          </a:blip>
          <a:stretch>
            <a:fillRect/>
          </a:stretch>
        </p:blipFill>
        <p:spPr>
          <a:xfrm>
            <a:off x="4128655" y="2889595"/>
            <a:ext cx="7169727" cy="1950419"/>
          </a:xfrm>
          <a:prstGeom prst="rect">
            <a:avLst/>
          </a:prstGeom>
        </p:spPr>
      </p:pic>
      <p:sp>
        <p:nvSpPr>
          <p:cNvPr id="8" name="矩形 7"/>
          <p:cNvSpPr/>
          <p:nvPr/>
        </p:nvSpPr>
        <p:spPr>
          <a:xfrm>
            <a:off x="1379573" y="2704094"/>
            <a:ext cx="2987475" cy="1477328"/>
          </a:xfrm>
          <a:prstGeom prst="rect">
            <a:avLst/>
          </a:prstGeom>
        </p:spPr>
        <p:txBody>
          <a:bodyPr wrap="square">
            <a:spAutoFit/>
          </a:bodyPr>
          <a:lstStyle/>
          <a:p>
            <a:pPr indent="457200">
              <a:lnSpc>
                <a:spcPct val="150000"/>
              </a:lnSpc>
            </a:pPr>
            <a:r>
              <a:rPr lang="zh-CN" altLang="en-US" dirty="0">
                <a:solidFill>
                  <a:schemeClr val="tx2"/>
                </a:solidFill>
                <a:latin typeface="微软雅黑" panose="020B0503020204020204" pitchFamily="34" charset="-122"/>
                <a:ea typeface="微软雅黑" panose="020B0503020204020204" pitchFamily="34" charset="-122"/>
              </a:rPr>
              <a:t>信息采集的深入性和全面性是重点解决问题。</a:t>
            </a:r>
          </a:p>
          <a:p>
            <a:endParaRPr lang="zh-CN" altLang="en-US" dirty="0">
              <a:solidFill>
                <a:schemeClr val="tx2"/>
              </a:solidFill>
              <a:latin typeface="微软雅黑" panose="020B0503020204020204" pitchFamily="34" charset="-122"/>
              <a:ea typeface="微软雅黑" panose="020B0503020204020204" pitchFamily="34" charset="-122"/>
            </a:endParaRPr>
          </a:p>
          <a:p>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网络舆情分析的发展趋势</a:t>
            </a:r>
          </a:p>
        </p:txBody>
      </p:sp>
      <p:sp>
        <p:nvSpPr>
          <p:cNvPr id="163"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65" name="文本框 70"/>
          <p:cNvSpPr txBox="1"/>
          <p:nvPr/>
        </p:nvSpPr>
        <p:spPr>
          <a:xfrm>
            <a:off x="716649" y="1436644"/>
            <a:ext cx="3416320"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2"/>
            </a:pPr>
            <a:r>
              <a:rPr lang="zh-CN" altLang="en-US" sz="2400" b="1" dirty="0">
                <a:latin typeface="微软雅黑" panose="020B0503020204020204" pitchFamily="34" charset="-122"/>
                <a:ea typeface="微软雅黑" panose="020B0503020204020204" pitchFamily="34" charset="-122"/>
              </a:rPr>
              <a:t>异构信息的融合分析</a:t>
            </a:r>
          </a:p>
        </p:txBody>
      </p:sp>
      <p:grpSp>
        <p:nvGrpSpPr>
          <p:cNvPr id="7" name="深色圆1"/>
          <p:cNvGrpSpPr/>
          <p:nvPr/>
        </p:nvGrpSpPr>
        <p:grpSpPr>
          <a:xfrm>
            <a:off x="3833048" y="2572636"/>
            <a:ext cx="2376487" cy="2374900"/>
            <a:chOff x="2423929" y="2241550"/>
            <a:chExt cx="2376487" cy="2374900"/>
          </a:xfrm>
        </p:grpSpPr>
        <p:sp>
          <p:nvSpPr>
            <p:cNvPr id="8" name="椭圆 1"/>
            <p:cNvSpPr/>
            <p:nvPr/>
          </p:nvSpPr>
          <p:spPr>
            <a:xfrm>
              <a:off x="2423929" y="2241550"/>
              <a:ext cx="2160587" cy="2374900"/>
            </a:xfrm>
            <a:custGeom>
              <a:avLst/>
              <a:gdLst/>
              <a:ahLst/>
              <a:cxnLst/>
              <a:rect l="l" t="t" r="r" b="b"/>
              <a:pathLst>
                <a:path w="2160240" h="2376264">
                  <a:moveTo>
                    <a:pt x="1188132" y="0"/>
                  </a:moveTo>
                  <a:cubicBezTo>
                    <a:pt x="1590403" y="0"/>
                    <a:pt x="1945982" y="199917"/>
                    <a:pt x="2160240" y="506305"/>
                  </a:cubicBezTo>
                  <a:cubicBezTo>
                    <a:pt x="2023867" y="698904"/>
                    <a:pt x="1944216" y="934216"/>
                    <a:pt x="1944216" y="1188132"/>
                  </a:cubicBezTo>
                  <a:cubicBezTo>
                    <a:pt x="1944216" y="1442048"/>
                    <a:pt x="2023867" y="1677360"/>
                    <a:pt x="2160240" y="1869959"/>
                  </a:cubicBezTo>
                  <a:cubicBezTo>
                    <a:pt x="1945982" y="2176348"/>
                    <a:pt x="1590403" y="2376264"/>
                    <a:pt x="1188132" y="2376264"/>
                  </a:cubicBezTo>
                  <a:cubicBezTo>
                    <a:pt x="531945" y="2376264"/>
                    <a:pt x="0" y="1844319"/>
                    <a:pt x="0" y="1188132"/>
                  </a:cubicBezTo>
                  <a:cubicBezTo>
                    <a:pt x="0" y="531945"/>
                    <a:pt x="531945" y="0"/>
                    <a:pt x="1188132" y="0"/>
                  </a:cubicBezTo>
                  <a:close/>
                </a:path>
              </a:pathLst>
            </a:custGeom>
            <a:gradFill>
              <a:gsLst>
                <a:gs pos="0">
                  <a:srgbClr val="C00000">
                    <a:lumMod val="60000"/>
                    <a:lumOff val="40000"/>
                  </a:srgbClr>
                </a:gs>
                <a:gs pos="100000">
                  <a:srgbClr val="C00000"/>
                </a:gs>
              </a:gsLst>
              <a:lin ang="5400000" scaled="0"/>
            </a:gradFill>
            <a:ln w="3175" cap="flat" cmpd="sng" algn="ctr">
              <a:solidFill>
                <a:srgbClr val="C00000">
                  <a:lumMod val="60000"/>
                  <a:lumOff val="40000"/>
                </a:srgbClr>
              </a:solidFill>
              <a:prstDash val="solid"/>
            </a:ln>
            <a:effectLst>
              <a:outerShdw blurRad="50800" dist="38100" dir="2700000" algn="tl" rotWithShape="0">
                <a:prstClr val="black">
                  <a:alpha val="40000"/>
                </a:prstClr>
              </a:outerShdw>
            </a:effectLst>
          </p:spPr>
          <p:txBody>
            <a:bodyPr rIns="360000" anchor="ctr"/>
            <a:lstStyle/>
            <a:p>
              <a:pPr lvl="0" algn="ctr">
                <a:lnSpc>
                  <a:spcPct val="150000"/>
                </a:lnSpc>
                <a:defRPr/>
              </a:pPr>
              <a:r>
                <a:rPr lang="zh-CN" altLang="en-US" b="1" kern="0" dirty="0">
                  <a:solidFill>
                    <a:sysClr val="window" lastClr="FFFFFF"/>
                  </a:solidFill>
                  <a:latin typeface="微软雅黑" panose="020B0503020204020204" pitchFamily="34" charset="-122"/>
                  <a:ea typeface="微软雅黑" panose="020B0503020204020204" pitchFamily="34" charset="-122"/>
                </a:rPr>
                <a:t>数据格式</a:t>
              </a:r>
              <a:endParaRPr lang="en-US" altLang="zh-CN" b="1" kern="0" dirty="0">
                <a:solidFill>
                  <a:sysClr val="window" lastClr="FFFFFF"/>
                </a:solidFill>
                <a:latin typeface="微软雅黑" panose="020B0503020204020204" pitchFamily="34" charset="-122"/>
                <a:ea typeface="微软雅黑" panose="020B0503020204020204" pitchFamily="34" charset="-122"/>
              </a:endParaRPr>
            </a:p>
          </p:txBody>
        </p:sp>
        <p:sp>
          <p:nvSpPr>
            <p:cNvPr id="9" name="椭圆 9"/>
            <p:cNvSpPr/>
            <p:nvPr/>
          </p:nvSpPr>
          <p:spPr>
            <a:xfrm>
              <a:off x="4368616" y="2747963"/>
              <a:ext cx="431800" cy="1362075"/>
            </a:xfrm>
            <a:custGeom>
              <a:avLst/>
              <a:gdLst/>
              <a:ahLst/>
              <a:cxnLst/>
              <a:rect l="l" t="t" r="r" b="b"/>
              <a:pathLst>
                <a:path w="432048" h="1363654">
                  <a:moveTo>
                    <a:pt x="216024" y="0"/>
                  </a:moveTo>
                  <a:cubicBezTo>
                    <a:pt x="352397" y="192599"/>
                    <a:pt x="432048" y="427911"/>
                    <a:pt x="432048" y="681827"/>
                  </a:cubicBezTo>
                  <a:cubicBezTo>
                    <a:pt x="432048" y="935743"/>
                    <a:pt x="352397" y="1171055"/>
                    <a:pt x="216024" y="1363654"/>
                  </a:cubicBezTo>
                  <a:cubicBezTo>
                    <a:pt x="79651" y="1171055"/>
                    <a:pt x="0" y="935743"/>
                    <a:pt x="0" y="681827"/>
                  </a:cubicBezTo>
                  <a:cubicBezTo>
                    <a:pt x="0" y="427911"/>
                    <a:pt x="79651" y="192599"/>
                    <a:pt x="216024" y="0"/>
                  </a:cubicBezTo>
                  <a:close/>
                </a:path>
              </a:pathLst>
            </a:custGeom>
            <a:gradFill>
              <a:gsLst>
                <a:gs pos="0">
                  <a:srgbClr val="C00000">
                    <a:lumMod val="60000"/>
                    <a:lumOff val="40000"/>
                  </a:srgbClr>
                </a:gs>
                <a:gs pos="100000">
                  <a:srgbClr val="C00000"/>
                </a:gs>
              </a:gsLst>
              <a:lin ang="5400000" scaled="0"/>
            </a:gradFill>
            <a:ln w="3175" cap="flat" cmpd="sng" algn="ctr">
              <a:solidFill>
                <a:srgbClr val="C00000">
                  <a:lumMod val="60000"/>
                  <a:lumOff val="40000"/>
                </a:srgbClr>
              </a:solidFill>
              <a:prstDash val="solid"/>
            </a:ln>
            <a:effectLst>
              <a:outerShdw blurRad="50800" dist="38100" dir="2700000" algn="tl" rotWithShape="0">
                <a:prstClr val="black">
                  <a:alpha val="40000"/>
                </a:prstClr>
              </a:outerShdw>
            </a:effectLst>
          </p:spPr>
          <p:txBody>
            <a:bodyPr rIns="360000" anchor="ctr"/>
            <a:lstStyle/>
            <a:p>
              <a:pPr marL="0" marR="0" lvl="0" indent="0" algn="ctr" defTabSz="914400" eaLnBrk="1" fontAlgn="auto" latinLnBrk="0" hangingPunct="1">
                <a:lnSpc>
                  <a:spcPct val="15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浅色圆1"/>
          <p:cNvGrpSpPr/>
          <p:nvPr/>
        </p:nvGrpSpPr>
        <p:grpSpPr>
          <a:xfrm>
            <a:off x="5777735" y="2572636"/>
            <a:ext cx="2376488" cy="2374900"/>
            <a:chOff x="4368616" y="2241550"/>
            <a:chExt cx="2376488" cy="2374900"/>
          </a:xfrm>
        </p:grpSpPr>
        <p:sp>
          <p:nvSpPr>
            <p:cNvPr id="11" name="椭圆 13"/>
            <p:cNvSpPr/>
            <p:nvPr/>
          </p:nvSpPr>
          <p:spPr>
            <a:xfrm>
              <a:off x="4584516" y="2241550"/>
              <a:ext cx="2160588" cy="2374900"/>
            </a:xfrm>
            <a:custGeom>
              <a:avLst/>
              <a:gdLst/>
              <a:ahLst/>
              <a:cxnLst/>
              <a:rect l="l" t="t" r="r" b="b"/>
              <a:pathLst>
                <a:path w="2160240" h="2376264">
                  <a:moveTo>
                    <a:pt x="972108" y="0"/>
                  </a:moveTo>
                  <a:cubicBezTo>
                    <a:pt x="1628295" y="0"/>
                    <a:pt x="2160240" y="531945"/>
                    <a:pt x="2160240" y="1188132"/>
                  </a:cubicBezTo>
                  <a:cubicBezTo>
                    <a:pt x="2160240" y="1844319"/>
                    <a:pt x="1628295" y="2376264"/>
                    <a:pt x="972108" y="2376264"/>
                  </a:cubicBezTo>
                  <a:cubicBezTo>
                    <a:pt x="569837" y="2376264"/>
                    <a:pt x="214259" y="2176348"/>
                    <a:pt x="0" y="1869959"/>
                  </a:cubicBezTo>
                  <a:cubicBezTo>
                    <a:pt x="136373" y="1677360"/>
                    <a:pt x="216024" y="1442048"/>
                    <a:pt x="216024" y="1188132"/>
                  </a:cubicBezTo>
                  <a:cubicBezTo>
                    <a:pt x="216024" y="934216"/>
                    <a:pt x="136373" y="698904"/>
                    <a:pt x="0" y="506305"/>
                  </a:cubicBezTo>
                  <a:cubicBezTo>
                    <a:pt x="214259" y="199917"/>
                    <a:pt x="569837" y="0"/>
                    <a:pt x="972108" y="0"/>
                  </a:cubicBezTo>
                  <a:close/>
                </a:path>
              </a:pathLst>
            </a:custGeom>
            <a:gradFill>
              <a:gsLst>
                <a:gs pos="33000">
                  <a:srgbClr val="F9F9F9"/>
                </a:gs>
                <a:gs pos="100000">
                  <a:srgbClr val="D7D7D7"/>
                </a:gs>
              </a:gsLst>
              <a:lin ang="5400000" scaled="0"/>
            </a:gradFill>
            <a:ln w="3175" cap="flat" cmpd="sng" algn="ctr">
              <a:solidFill>
                <a:srgbClr val="EAEAEA"/>
              </a:solidFill>
              <a:prstDash val="solid"/>
            </a:ln>
            <a:effectLst>
              <a:outerShdw blurRad="50800" dist="38100" dir="2700000" algn="tl" rotWithShape="0">
                <a:prstClr val="black">
                  <a:alpha val="40000"/>
                </a:prstClr>
              </a:outerShdw>
            </a:effectLst>
          </p:spPr>
          <p:txBody>
            <a:bodyPr lIns="360000" anchor="ctr"/>
            <a:lstStyle/>
            <a:p>
              <a:pPr lvl="0" algn="ctr">
                <a:lnSpc>
                  <a:spcPct val="150000"/>
                </a:lnSpc>
                <a:defRPr/>
              </a:pPr>
              <a:r>
                <a:rPr lang="zh-CN" altLang="en-US" b="1" kern="0" dirty="0">
                  <a:solidFill>
                    <a:srgbClr val="4D4D4D"/>
                  </a:solidFill>
                  <a:latin typeface="微软雅黑" panose="020B0503020204020204" pitchFamily="34" charset="-122"/>
                  <a:ea typeface="微软雅黑" panose="020B0503020204020204" pitchFamily="34" charset="-122"/>
                </a:rPr>
                <a:t>语义分析</a:t>
              </a:r>
              <a:endParaRPr kumimoji="0" lang="en-US" altLang="zh-CN" b="1"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endParaRPr>
            </a:p>
          </p:txBody>
        </p:sp>
        <p:sp>
          <p:nvSpPr>
            <p:cNvPr id="12" name="椭圆 9"/>
            <p:cNvSpPr/>
            <p:nvPr/>
          </p:nvSpPr>
          <p:spPr>
            <a:xfrm>
              <a:off x="4368616" y="2747963"/>
              <a:ext cx="431800" cy="1362075"/>
            </a:xfrm>
            <a:custGeom>
              <a:avLst/>
              <a:gdLst/>
              <a:ahLst/>
              <a:cxnLst/>
              <a:rect l="l" t="t" r="r" b="b"/>
              <a:pathLst>
                <a:path w="432048" h="1363654">
                  <a:moveTo>
                    <a:pt x="216024" y="0"/>
                  </a:moveTo>
                  <a:cubicBezTo>
                    <a:pt x="352397" y="192599"/>
                    <a:pt x="432048" y="427911"/>
                    <a:pt x="432048" y="681827"/>
                  </a:cubicBezTo>
                  <a:cubicBezTo>
                    <a:pt x="432048" y="935743"/>
                    <a:pt x="352397" y="1171055"/>
                    <a:pt x="216024" y="1363654"/>
                  </a:cubicBezTo>
                  <a:cubicBezTo>
                    <a:pt x="79651" y="1171055"/>
                    <a:pt x="0" y="935743"/>
                    <a:pt x="0" y="681827"/>
                  </a:cubicBezTo>
                  <a:cubicBezTo>
                    <a:pt x="0" y="427911"/>
                    <a:pt x="79651" y="192599"/>
                    <a:pt x="216024" y="0"/>
                  </a:cubicBezTo>
                  <a:close/>
                </a:path>
              </a:pathLst>
            </a:custGeom>
            <a:solidFill>
              <a:srgbClr val="C00000">
                <a:lumMod val="40000"/>
                <a:lumOff val="60000"/>
              </a:srgbClr>
            </a:solidFill>
            <a:ln w="3175" cap="flat" cmpd="sng" algn="ctr">
              <a:solidFill>
                <a:srgbClr val="C00000">
                  <a:lumMod val="20000"/>
                  <a:lumOff val="80000"/>
                </a:srgbClr>
              </a:solid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grpSp>
      <p:grpSp>
        <p:nvGrpSpPr>
          <p:cNvPr id="13" name="左文本"/>
          <p:cNvGrpSpPr/>
          <p:nvPr/>
        </p:nvGrpSpPr>
        <p:grpSpPr>
          <a:xfrm>
            <a:off x="1888360" y="3207541"/>
            <a:ext cx="3673128" cy="1237378"/>
            <a:chOff x="479241" y="2876455"/>
            <a:chExt cx="3673128" cy="1237378"/>
          </a:xfrm>
        </p:grpSpPr>
        <p:sp>
          <p:nvSpPr>
            <p:cNvPr id="14" name="左文本"/>
            <p:cNvSpPr txBox="1">
              <a:spLocks noChangeArrowheads="1"/>
            </p:cNvSpPr>
            <p:nvPr/>
          </p:nvSpPr>
          <p:spPr bwMode="auto">
            <a:xfrm>
              <a:off x="479241" y="2876455"/>
              <a:ext cx="1898611" cy="115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defRPr/>
              </a:pPr>
              <a:r>
                <a:rPr lang="zh-CN" altLang="en-US" sz="1600" kern="0" dirty="0">
                  <a:solidFill>
                    <a:srgbClr val="7D7D7D"/>
                  </a:solidFill>
                  <a:latin typeface="微软雅黑" panose="020B0503020204020204" pitchFamily="34" charset="-122"/>
                  <a:ea typeface="微软雅黑" panose="020B0503020204020204" pitchFamily="34" charset="-122"/>
                </a:rPr>
                <a:t>采取通用的具有高度扩展性的数据格式进行资源整合</a:t>
              </a:r>
              <a:endParaRPr kumimoji="0" lang="zh-CN" altLang="en-US" sz="160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endParaRPr>
            </a:p>
          </p:txBody>
        </p:sp>
        <p:cxnSp>
          <p:nvCxnSpPr>
            <p:cNvPr id="15" name="左线条"/>
            <p:cNvCxnSpPr/>
            <p:nvPr/>
          </p:nvCxnSpPr>
          <p:spPr>
            <a:xfrm>
              <a:off x="827584" y="4113833"/>
              <a:ext cx="3324785" cy="0"/>
            </a:xfrm>
            <a:prstGeom prst="line">
              <a:avLst/>
            </a:prstGeom>
            <a:noFill/>
            <a:ln w="9525" cap="flat" cmpd="sng" algn="ctr">
              <a:solidFill>
                <a:srgbClr val="7D7D7D"/>
              </a:solidFill>
              <a:prstDash val="solid"/>
              <a:headEnd type="oval"/>
              <a:tailEnd type="oval"/>
            </a:ln>
            <a:effectLst/>
          </p:spPr>
        </p:cxnSp>
      </p:grpSp>
      <p:grpSp>
        <p:nvGrpSpPr>
          <p:cNvPr id="16" name="右文本"/>
          <p:cNvGrpSpPr/>
          <p:nvPr/>
        </p:nvGrpSpPr>
        <p:grpSpPr>
          <a:xfrm>
            <a:off x="6425088" y="3228322"/>
            <a:ext cx="3647167" cy="1216597"/>
            <a:chOff x="5015969" y="2897236"/>
            <a:chExt cx="3647167" cy="1216597"/>
          </a:xfrm>
        </p:grpSpPr>
        <p:sp>
          <p:nvSpPr>
            <p:cNvPr id="17" name="右文本"/>
            <p:cNvSpPr txBox="1">
              <a:spLocks noChangeArrowheads="1"/>
            </p:cNvSpPr>
            <p:nvPr/>
          </p:nvSpPr>
          <p:spPr bwMode="auto">
            <a:xfrm>
              <a:off x="6804248" y="2897236"/>
              <a:ext cx="1858888" cy="115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defRPr/>
              </a:pPr>
              <a:r>
                <a:rPr lang="zh-CN" altLang="en-US" sz="1600" kern="0" dirty="0">
                  <a:solidFill>
                    <a:srgbClr val="7D7D7D"/>
                  </a:solidFill>
                  <a:latin typeface="微软雅黑" panose="020B0503020204020204" pitchFamily="34" charset="-122"/>
                  <a:ea typeface="微软雅黑" panose="020B0503020204020204" pitchFamily="34" charset="-122"/>
                </a:rPr>
                <a:t>采取基于语义等应用层上层信息的抽象融合分析</a:t>
              </a:r>
              <a:endParaRPr kumimoji="0" lang="zh-CN" altLang="en-US" sz="160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endParaRPr>
            </a:p>
          </p:txBody>
        </p:sp>
        <p:cxnSp>
          <p:nvCxnSpPr>
            <p:cNvPr id="18" name="右线条"/>
            <p:cNvCxnSpPr/>
            <p:nvPr/>
          </p:nvCxnSpPr>
          <p:spPr>
            <a:xfrm>
              <a:off x="5015969" y="4113833"/>
              <a:ext cx="3444463" cy="0"/>
            </a:xfrm>
            <a:prstGeom prst="line">
              <a:avLst/>
            </a:prstGeom>
            <a:noFill/>
            <a:ln w="9525" cap="flat" cmpd="sng" algn="ctr">
              <a:solidFill>
                <a:srgbClr val="7D7D7D"/>
              </a:solidFill>
              <a:prstDash val="solid"/>
              <a:headEnd type="oval"/>
              <a:tailEnd type="oval"/>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par>
                                <p:cTn id="8" presetID="21"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childTnLst>
                          </p:cTn>
                        </p:par>
                        <p:par>
                          <p:cTn id="11" fill="hold">
                            <p:stCondLst>
                              <p:cond delay="2000"/>
                            </p:stCondLst>
                            <p:childTnLst>
                              <p:par>
                                <p:cTn id="12" presetID="22" presetClass="entr" presetSubtype="2"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right)">
                                      <p:cBhvr>
                                        <p:cTn id="14" dur="500"/>
                                        <p:tgtEl>
                                          <p:spTgt spid="13"/>
                                        </p:tgtEl>
                                      </p:cBhvr>
                                    </p:animEffect>
                                  </p:childTnLst>
                                </p:cTn>
                              </p:par>
                              <p:par>
                                <p:cTn id="15" presetID="22" presetClass="entr" presetSubtype="8"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文本框 4"/>
          <p:cNvSpPr>
            <a:spLocks noChangeArrowheads="1"/>
          </p:cNvSpPr>
          <p:nvPr/>
        </p:nvSpPr>
        <p:spPr bwMode="auto">
          <a:xfrm>
            <a:off x="1494368" y="260350"/>
            <a:ext cx="7769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dirty="0">
                <a:solidFill>
                  <a:srgbClr val="31B5D6"/>
                </a:solidFill>
                <a:latin typeface="微软雅黑" panose="020B0503020204020204" pitchFamily="34" charset="-122"/>
                <a:ea typeface="微软雅黑" panose="020B0503020204020204" pitchFamily="34" charset="-122"/>
                <a:sym typeface="Calibri" panose="020F0502020204030204" pitchFamily="34" charset="0"/>
              </a:rPr>
              <a:t>网络舆情分析的发展趋势</a:t>
            </a:r>
          </a:p>
        </p:txBody>
      </p:sp>
      <p:sp>
        <p:nvSpPr>
          <p:cNvPr id="163" name="直接连接符 13"/>
          <p:cNvSpPr>
            <a:spLocks noChangeShapeType="1"/>
          </p:cNvSpPr>
          <p:nvPr/>
        </p:nvSpPr>
        <p:spPr bwMode="auto">
          <a:xfrm>
            <a:off x="675217" y="927100"/>
            <a:ext cx="8313800" cy="0"/>
          </a:xfrm>
          <a:prstGeom prst="line">
            <a:avLst/>
          </a:prstGeom>
          <a:noFill/>
          <a:ln w="6350">
            <a:solidFill>
              <a:srgbClr val="4A7EBB">
                <a:alpha val="25098"/>
              </a:srgbClr>
            </a:solidFill>
            <a:bevel/>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endParaRPr>
          </a:p>
        </p:txBody>
      </p:sp>
      <p:sp>
        <p:nvSpPr>
          <p:cNvPr id="165" name="文本框 70"/>
          <p:cNvSpPr txBox="1"/>
          <p:nvPr/>
        </p:nvSpPr>
        <p:spPr>
          <a:xfrm>
            <a:off x="716649" y="1436644"/>
            <a:ext cx="4031873" cy="461665"/>
          </a:xfrm>
          <a:prstGeom prst="rect">
            <a:avLst/>
          </a:prstGeom>
          <a:noFill/>
        </p:spPr>
        <p:txBody>
          <a:bodyPr wrap="none" rtlCol="0">
            <a:spAutoFit/>
          </a:bodyPr>
          <a:lstStyle>
            <a:defPPr>
              <a:defRPr lang="zh-CN"/>
            </a:defPPr>
            <a:lvl1pPr>
              <a:defRPr sz="3200">
                <a:solidFill>
                  <a:srgbClr val="F784A5"/>
                </a:solidFill>
                <a:latin typeface="华康俪金黑W8(P)" panose="020B0800000000000000" pitchFamily="34" charset="-122"/>
                <a:ea typeface="华康俪金黑W8(P)" panose="020B0800000000000000" pitchFamily="34" charset="-122"/>
              </a:defRPr>
            </a:lvl1pPr>
          </a:lstStyle>
          <a:p>
            <a:pPr marL="457200" indent="-457200">
              <a:buFont typeface="+mj-ea"/>
              <a:buAutoNum type="circleNumDbPlain" startAt="3"/>
            </a:pPr>
            <a:r>
              <a:rPr lang="zh-CN" altLang="en-US" sz="2400" b="1" dirty="0">
                <a:latin typeface="微软雅黑" panose="020B0503020204020204" pitchFamily="34" charset="-122"/>
                <a:ea typeface="微软雅黑" panose="020B0503020204020204" pitchFamily="34" charset="-122"/>
              </a:rPr>
              <a:t>非结构信息的结构化表达</a:t>
            </a:r>
          </a:p>
        </p:txBody>
      </p:sp>
      <p:grpSp>
        <p:nvGrpSpPr>
          <p:cNvPr id="7" name="组合 6"/>
          <p:cNvGrpSpPr/>
          <p:nvPr/>
        </p:nvGrpSpPr>
        <p:grpSpPr>
          <a:xfrm>
            <a:off x="3796559" y="2126500"/>
            <a:ext cx="6971289" cy="4185827"/>
            <a:chOff x="2771800" y="1259397"/>
            <a:chExt cx="6971289" cy="4185827"/>
          </a:xfrm>
        </p:grpSpPr>
        <p:grpSp>
          <p:nvGrpSpPr>
            <p:cNvPr id="8" name="组合 40"/>
            <p:cNvGrpSpPr/>
            <p:nvPr/>
          </p:nvGrpSpPr>
          <p:grpSpPr>
            <a:xfrm>
              <a:off x="2771800" y="1259397"/>
              <a:ext cx="6971289" cy="3393741"/>
              <a:chOff x="1019175" y="1052514"/>
              <a:chExt cx="10728273" cy="5395142"/>
            </a:xfrm>
          </p:grpSpPr>
          <p:sp>
            <p:nvSpPr>
              <p:cNvPr id="13" name="Rectangle 4"/>
              <p:cNvSpPr>
                <a:spLocks noChangeArrowheads="1"/>
              </p:cNvSpPr>
              <p:nvPr/>
            </p:nvSpPr>
            <p:spPr bwMode="auto">
              <a:xfrm>
                <a:off x="1019175" y="1485901"/>
                <a:ext cx="10728273" cy="657224"/>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r">
                  <a:lnSpc>
                    <a:spcPct val="120000"/>
                  </a:lnSpc>
                  <a:defRPr/>
                </a:pPr>
                <a:r>
                  <a:rPr lang="zh-CN" altLang="en-US" sz="1400" kern="0" dirty="0">
                    <a:solidFill>
                      <a:srgbClr val="4D4D4D"/>
                    </a:solidFill>
                    <a:latin typeface="微软雅黑" panose="020B0503020204020204" pitchFamily="34" charset="-122"/>
                    <a:ea typeface="微软雅黑" panose="020B0503020204020204" pitchFamily="34" charset="-122"/>
                  </a:rPr>
                  <a:t>如：人名、地名、机构名、日期、时间、邮件地址等</a:t>
                </a:r>
                <a:endParaRPr kumimoji="0" lang="zh-CN" altLang="en-US" sz="14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endParaRPr>
              </a:p>
            </p:txBody>
          </p:sp>
          <p:grpSp>
            <p:nvGrpSpPr>
              <p:cNvPr id="14" name="组合 50"/>
              <p:cNvGrpSpPr/>
              <p:nvPr/>
            </p:nvGrpSpPr>
            <p:grpSpPr>
              <a:xfrm>
                <a:off x="1019175" y="2745713"/>
                <a:ext cx="10728273" cy="733924"/>
                <a:chOff x="1019175" y="2745713"/>
                <a:chExt cx="10728273" cy="733924"/>
              </a:xfrm>
            </p:grpSpPr>
            <p:sp>
              <p:nvSpPr>
                <p:cNvPr id="25" name="Rectangle 2"/>
                <p:cNvSpPr>
                  <a:spLocks noChangeArrowheads="1"/>
                </p:cNvSpPr>
                <p:nvPr/>
              </p:nvSpPr>
              <p:spPr bwMode="auto">
                <a:xfrm>
                  <a:off x="1019175" y="2757488"/>
                  <a:ext cx="10728273" cy="657226"/>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r">
                    <a:lnSpc>
                      <a:spcPct val="120000"/>
                    </a:lnSpc>
                    <a:defRPr/>
                  </a:pPr>
                  <a:r>
                    <a:rPr lang="zh-CN" altLang="en-US" sz="1400" kern="0" dirty="0">
                      <a:solidFill>
                        <a:srgbClr val="4D4D4D"/>
                      </a:solidFill>
                      <a:latin typeface="微软雅黑" panose="020B0503020204020204" pitchFamily="34" charset="-122"/>
                      <a:ea typeface="微软雅黑" panose="020B0503020204020204" pitchFamily="34" charset="-122"/>
                    </a:rPr>
                    <a:t>应用模板的方法搜索和识别名词性条目的相关信息</a:t>
                  </a:r>
                  <a:endParaRPr kumimoji="0" lang="zh-CN" altLang="en-US" sz="14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endParaRPr>
                </a:p>
              </p:txBody>
            </p:sp>
            <p:sp>
              <p:nvSpPr>
                <p:cNvPr id="26" name="Text Box 12"/>
                <p:cNvSpPr txBox="1">
                  <a:spLocks noChangeArrowheads="1"/>
                </p:cNvSpPr>
                <p:nvPr/>
              </p:nvSpPr>
              <p:spPr bwMode="auto">
                <a:xfrm>
                  <a:off x="1355725" y="2745713"/>
                  <a:ext cx="746125" cy="733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0" lang="en-US" altLang="zh-CN" sz="2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rPr>
                    <a:t>2</a:t>
                  </a:r>
                </a:p>
              </p:txBody>
            </p:sp>
          </p:grpSp>
          <p:grpSp>
            <p:nvGrpSpPr>
              <p:cNvPr id="15" name="组合 51"/>
              <p:cNvGrpSpPr/>
              <p:nvPr/>
            </p:nvGrpSpPr>
            <p:grpSpPr>
              <a:xfrm>
                <a:off x="1019175" y="4043571"/>
                <a:ext cx="10728273" cy="733924"/>
                <a:chOff x="1019175" y="4043571"/>
                <a:chExt cx="10728273" cy="733924"/>
              </a:xfrm>
            </p:grpSpPr>
            <p:sp>
              <p:nvSpPr>
                <p:cNvPr id="23" name="Rectangle 2"/>
                <p:cNvSpPr>
                  <a:spLocks noChangeArrowheads="1"/>
                </p:cNvSpPr>
                <p:nvPr/>
              </p:nvSpPr>
              <p:spPr bwMode="auto">
                <a:xfrm>
                  <a:off x="1019175" y="4055346"/>
                  <a:ext cx="10728273" cy="657226"/>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r">
                    <a:lnSpc>
                      <a:spcPct val="120000"/>
                    </a:lnSpc>
                    <a:defRPr/>
                  </a:pPr>
                  <a:r>
                    <a:rPr lang="zh-CN" altLang="en-US" sz="1400" kern="0" dirty="0">
                      <a:solidFill>
                        <a:srgbClr val="4D4D4D"/>
                      </a:solidFill>
                      <a:latin typeface="微软雅黑" panose="020B0503020204020204" pitchFamily="34" charset="-122"/>
                      <a:ea typeface="微软雅黑" panose="020B0503020204020204" pitchFamily="34" charset="-122"/>
                    </a:rPr>
                    <a:t>应用模板的方法搜索和专有名词之间的关系</a:t>
                  </a:r>
                </a:p>
              </p:txBody>
            </p:sp>
            <p:sp>
              <p:nvSpPr>
                <p:cNvPr id="24" name="Text Box 12"/>
                <p:cNvSpPr txBox="1">
                  <a:spLocks noChangeArrowheads="1"/>
                </p:cNvSpPr>
                <p:nvPr/>
              </p:nvSpPr>
              <p:spPr bwMode="auto">
                <a:xfrm>
                  <a:off x="1355725" y="4043571"/>
                  <a:ext cx="746125" cy="733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0" lang="en-US" altLang="zh-CN" sz="2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rPr>
                    <a:t>3</a:t>
                  </a:r>
                </a:p>
              </p:txBody>
            </p:sp>
          </p:grpSp>
          <p:grpSp>
            <p:nvGrpSpPr>
              <p:cNvPr id="16" name="组合 52"/>
              <p:cNvGrpSpPr/>
              <p:nvPr/>
            </p:nvGrpSpPr>
            <p:grpSpPr>
              <a:xfrm>
                <a:off x="1019175" y="5311932"/>
                <a:ext cx="10728273" cy="733924"/>
                <a:chOff x="1019175" y="5311932"/>
                <a:chExt cx="10728273" cy="733924"/>
              </a:xfrm>
            </p:grpSpPr>
            <p:sp>
              <p:nvSpPr>
                <p:cNvPr id="21" name="Rectangle 2"/>
                <p:cNvSpPr>
                  <a:spLocks noChangeArrowheads="1"/>
                </p:cNvSpPr>
                <p:nvPr/>
              </p:nvSpPr>
              <p:spPr bwMode="auto">
                <a:xfrm>
                  <a:off x="1019175" y="5323707"/>
                  <a:ext cx="10728273" cy="657226"/>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r">
                    <a:lnSpc>
                      <a:spcPct val="120000"/>
                    </a:lnSpc>
                    <a:defRPr/>
                  </a:pPr>
                  <a:r>
                    <a:rPr lang="zh-CN" altLang="en-US" sz="1400" kern="0" dirty="0">
                      <a:solidFill>
                        <a:srgbClr val="4D4D4D"/>
                      </a:solidFill>
                      <a:latin typeface="微软雅黑" panose="020B0503020204020204" pitchFamily="34" charset="-122"/>
                      <a:ea typeface="微软雅黑" panose="020B0503020204020204" pitchFamily="34" charset="-122"/>
                    </a:rPr>
                    <a:t>解决文本中的代词指称问题</a:t>
                  </a:r>
                </a:p>
              </p:txBody>
            </p:sp>
            <p:sp>
              <p:nvSpPr>
                <p:cNvPr id="22" name="Text Box 12"/>
                <p:cNvSpPr txBox="1">
                  <a:spLocks noChangeArrowheads="1"/>
                </p:cNvSpPr>
                <p:nvPr/>
              </p:nvSpPr>
              <p:spPr bwMode="auto">
                <a:xfrm>
                  <a:off x="1355725" y="5311932"/>
                  <a:ext cx="746125" cy="733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0" lang="en-US" altLang="zh-CN" sz="2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rPr>
                    <a:t>4</a:t>
                  </a:r>
                </a:p>
              </p:txBody>
            </p:sp>
          </p:grpSp>
          <p:sp>
            <p:nvSpPr>
              <p:cNvPr id="17" name="矩形 1"/>
              <p:cNvSpPr/>
              <p:nvPr/>
            </p:nvSpPr>
            <p:spPr>
              <a:xfrm>
                <a:off x="2130425" y="1052514"/>
                <a:ext cx="2343150" cy="1557337"/>
              </a:xfrm>
              <a:custGeom>
                <a:avLst/>
                <a:gdLst/>
                <a:ahLst/>
                <a:cxnLst/>
                <a:rect l="l" t="t" r="r" b="b"/>
                <a:pathLst>
                  <a:path w="2343150" h="1557337">
                    <a:moveTo>
                      <a:pt x="0" y="0"/>
                    </a:moveTo>
                    <a:lnTo>
                      <a:pt x="2343150" y="0"/>
                    </a:lnTo>
                    <a:lnTo>
                      <a:pt x="2343150" y="1168003"/>
                    </a:lnTo>
                    <a:lnTo>
                      <a:pt x="1171575" y="1557337"/>
                    </a:lnTo>
                    <a:lnTo>
                      <a:pt x="0" y="1168003"/>
                    </a:lnTo>
                    <a:close/>
                  </a:path>
                </a:pathLst>
              </a:custGeom>
              <a:gradFill>
                <a:gsLst>
                  <a:gs pos="33000">
                    <a:srgbClr val="2676FF">
                      <a:lumMod val="60000"/>
                      <a:lumOff val="40000"/>
                    </a:srgbClr>
                  </a:gs>
                  <a:gs pos="100000">
                    <a:srgbClr val="2676FF"/>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vert="horz" lIns="0" rIns="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400" kern="10" dirty="0">
                    <a:ln w="9525">
                      <a:solidFill>
                        <a:sysClr val="window" lastClr="FFFFFF"/>
                      </a:solidFill>
                      <a:round/>
                    </a:ln>
                    <a:solidFill>
                      <a:sysClr val="window" lastClr="FFFFFF"/>
                    </a:solidFill>
                    <a:latin typeface="微软雅黑" panose="020B0503020204020204" pitchFamily="34" charset="-122"/>
                    <a:ea typeface="微软雅黑" panose="020B0503020204020204" pitchFamily="34" charset="-122"/>
                  </a:rPr>
                  <a:t>专有名词</a:t>
                </a:r>
                <a:endParaRPr kumimoji="0" lang="zh-CN" altLang="en-US" sz="1400" i="0" u="none" strike="noStrike" kern="10" cap="none" spc="0" normalizeH="0" baseline="0" noProof="0" dirty="0">
                  <a:ln w="9525">
                    <a:solidFill>
                      <a:sysClr val="window" lastClr="FFFFFF"/>
                    </a:solidFill>
                    <a:round/>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18" name="矩形 18"/>
              <p:cNvSpPr/>
              <p:nvPr/>
            </p:nvSpPr>
            <p:spPr>
              <a:xfrm>
                <a:off x="2130425" y="2324099"/>
                <a:ext cx="2343150" cy="1557338"/>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gradFill>
                <a:gsLst>
                  <a:gs pos="33000">
                    <a:srgbClr val="2676FF">
                      <a:lumMod val="60000"/>
                      <a:lumOff val="40000"/>
                    </a:srgbClr>
                  </a:gs>
                  <a:gs pos="100000">
                    <a:srgbClr val="2676FF"/>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vert="horz" lIns="0" rIns="0" anchor="ctr"/>
              <a:lstStyle/>
              <a:p>
                <a:pPr lvl="0" algn="ctr">
                  <a:defRPr/>
                </a:pPr>
                <a:r>
                  <a:rPr kumimoji="0" lang="zh-CN" altLang="en-US" sz="1400" b="0" i="0" u="none" strike="noStrike" kern="10" cap="none" spc="0" normalizeH="0" baseline="0" noProof="0" dirty="0">
                    <a:ln w="9525">
                      <a:solidFill>
                        <a:sysClr val="window" lastClr="FFFFFF"/>
                      </a:solidFill>
                      <a:round/>
                    </a:ln>
                    <a:solidFill>
                      <a:sysClr val="window" lastClr="FFFFFF"/>
                    </a:solidFill>
                    <a:effectLst/>
                    <a:uLnTx/>
                    <a:uFillTx/>
                    <a:latin typeface="微软雅黑" panose="020B0503020204020204" pitchFamily="34" charset="-122"/>
                    <a:ea typeface="微软雅黑" panose="020B0503020204020204" pitchFamily="34" charset="-122"/>
                    <a:cs typeface="+mn-cs"/>
                  </a:rPr>
                  <a:t>模板要素</a:t>
                </a:r>
              </a:p>
            </p:txBody>
          </p:sp>
          <p:sp>
            <p:nvSpPr>
              <p:cNvPr id="19" name="矩形 19"/>
              <p:cNvSpPr/>
              <p:nvPr/>
            </p:nvSpPr>
            <p:spPr>
              <a:xfrm>
                <a:off x="2130425" y="3621957"/>
                <a:ext cx="2343150" cy="1557338"/>
              </a:xfrm>
              <a:custGeom>
                <a:avLst/>
                <a:gdLst/>
                <a:ahLst/>
                <a:cxnLst/>
                <a:rect l="l" t="t" r="r" b="b"/>
                <a:pathLst>
                  <a:path w="2343150" h="1557338">
                    <a:moveTo>
                      <a:pt x="2343150" y="0"/>
                    </a:moveTo>
                    <a:lnTo>
                      <a:pt x="2343150" y="1168004"/>
                    </a:lnTo>
                    <a:lnTo>
                      <a:pt x="1171575" y="1557338"/>
                    </a:lnTo>
                    <a:lnTo>
                      <a:pt x="0" y="1168004"/>
                    </a:lnTo>
                    <a:lnTo>
                      <a:pt x="0" y="560040"/>
                    </a:lnTo>
                    <a:lnTo>
                      <a:pt x="17388" y="560040"/>
                    </a:lnTo>
                    <a:lnTo>
                      <a:pt x="17388" y="5778"/>
                    </a:lnTo>
                    <a:lnTo>
                      <a:pt x="1171575" y="389335"/>
                    </a:lnTo>
                    <a:close/>
                  </a:path>
                </a:pathLst>
              </a:custGeom>
              <a:gradFill>
                <a:gsLst>
                  <a:gs pos="33000">
                    <a:srgbClr val="2676FF">
                      <a:lumMod val="60000"/>
                      <a:lumOff val="40000"/>
                    </a:srgbClr>
                  </a:gs>
                  <a:gs pos="100000">
                    <a:srgbClr val="2676FF"/>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vert="horz" lIns="0" rIns="0" anchor="ctr"/>
              <a:lstStyle/>
              <a:p>
                <a:pPr lvl="0" algn="ctr">
                  <a:defRPr/>
                </a:pPr>
                <a:r>
                  <a:rPr kumimoji="0" lang="zh-CN" altLang="en-US" sz="1400" b="0" i="0" u="none" strike="noStrike" kern="10" cap="none" spc="0" normalizeH="0" baseline="0" noProof="0" dirty="0">
                    <a:ln w="9525">
                      <a:solidFill>
                        <a:sysClr val="window" lastClr="FFFFFF"/>
                      </a:solidFill>
                      <a:round/>
                    </a:ln>
                    <a:solidFill>
                      <a:sysClr val="window" lastClr="FFFFFF"/>
                    </a:solidFill>
                    <a:effectLst/>
                    <a:uLnTx/>
                    <a:uFillTx/>
                    <a:latin typeface="微软雅黑" panose="020B0503020204020204" pitchFamily="34" charset="-122"/>
                    <a:ea typeface="微软雅黑" panose="020B0503020204020204" pitchFamily="34" charset="-122"/>
                    <a:cs typeface="+mn-cs"/>
                  </a:rPr>
                  <a:t>模板关系</a:t>
                </a:r>
              </a:p>
            </p:txBody>
          </p:sp>
          <p:sp>
            <p:nvSpPr>
              <p:cNvPr id="20" name="矩形 20"/>
              <p:cNvSpPr/>
              <p:nvPr/>
            </p:nvSpPr>
            <p:spPr>
              <a:xfrm>
                <a:off x="2130425" y="4890318"/>
                <a:ext cx="2343150" cy="1557338"/>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gradFill>
                <a:gsLst>
                  <a:gs pos="33000">
                    <a:srgbClr val="2676FF">
                      <a:lumMod val="60000"/>
                      <a:lumOff val="40000"/>
                    </a:srgbClr>
                  </a:gs>
                  <a:gs pos="100000">
                    <a:srgbClr val="2676FF"/>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vert="horz" lIns="0" rIns="0" anchor="ctr"/>
              <a:lstStyle/>
              <a:p>
                <a:pPr lvl="0" algn="ctr">
                  <a:defRPr/>
                </a:pPr>
                <a:r>
                  <a:rPr lang="zh-CN" altLang="en-US" sz="1400" kern="10" dirty="0">
                    <a:ln w="9525">
                      <a:solidFill>
                        <a:sysClr val="window" lastClr="FFFFFF"/>
                      </a:solidFill>
                      <a:round/>
                    </a:ln>
                    <a:solidFill>
                      <a:sysClr val="window" lastClr="FFFFFF"/>
                    </a:solidFill>
                    <a:latin typeface="微软雅黑" panose="020B0503020204020204" pitchFamily="34" charset="-122"/>
                    <a:ea typeface="微软雅黑" panose="020B0503020204020204" pitchFamily="34" charset="-122"/>
                  </a:rPr>
                  <a:t>同指关系</a:t>
                </a:r>
                <a:endParaRPr kumimoji="0" lang="zh-CN" altLang="en-US" sz="1400" b="0" i="0" u="none" strike="noStrike" kern="10" cap="none" spc="0" normalizeH="0" baseline="0" noProof="0" dirty="0">
                  <a:ln w="9525">
                    <a:solidFill>
                      <a:sysClr val="window" lastClr="FFFFFF"/>
                    </a:solidFill>
                    <a:round/>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grpSp>
        <p:sp>
          <p:nvSpPr>
            <p:cNvPr id="9" name="Rectangle 2"/>
            <p:cNvSpPr>
              <a:spLocks noChangeArrowheads="1"/>
            </p:cNvSpPr>
            <p:nvPr/>
          </p:nvSpPr>
          <p:spPr bwMode="auto">
            <a:xfrm>
              <a:off x="2771800" y="4738219"/>
              <a:ext cx="6971289" cy="413419"/>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gn="r">
                <a:lnSpc>
                  <a:spcPct val="120000"/>
                </a:lnSpc>
                <a:defRPr/>
              </a:pPr>
              <a:r>
                <a:rPr lang="zh-CN" altLang="en-US" sz="1400" kern="0" dirty="0">
                  <a:solidFill>
                    <a:srgbClr val="4D4D4D"/>
                  </a:solidFill>
                  <a:latin typeface="微软雅黑" panose="020B0503020204020204" pitchFamily="34" charset="-122"/>
                  <a:ea typeface="微软雅黑" panose="020B0503020204020204" pitchFamily="34" charset="-122"/>
                </a:rPr>
                <a:t>根据应用目标定义任务框架</a:t>
              </a:r>
            </a:p>
          </p:txBody>
        </p:sp>
        <p:sp>
          <p:nvSpPr>
            <p:cNvPr id="10" name="Text Box 12"/>
            <p:cNvSpPr txBox="1">
              <a:spLocks noChangeArrowheads="1"/>
            </p:cNvSpPr>
            <p:nvPr/>
          </p:nvSpPr>
          <p:spPr bwMode="auto">
            <a:xfrm>
              <a:off x="2990492" y="4730812"/>
              <a:ext cx="4848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0" lang="en-US" altLang="zh-CN" sz="2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rPr>
                <a:t>5</a:t>
              </a:r>
            </a:p>
          </p:txBody>
        </p:sp>
        <p:sp>
          <p:nvSpPr>
            <p:cNvPr id="11" name="矩形 20"/>
            <p:cNvSpPr/>
            <p:nvPr/>
          </p:nvSpPr>
          <p:spPr>
            <a:xfrm>
              <a:off x="3493896" y="4465602"/>
              <a:ext cx="1522591" cy="979622"/>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gradFill>
              <a:gsLst>
                <a:gs pos="33000">
                  <a:srgbClr val="2676FF">
                    <a:lumMod val="60000"/>
                    <a:lumOff val="40000"/>
                  </a:srgbClr>
                </a:gs>
                <a:gs pos="100000">
                  <a:srgbClr val="2676FF"/>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vert="horz" lIns="0" rIns="0" anchor="ctr"/>
            <a:lstStyle/>
            <a:p>
              <a:pPr lvl="0" algn="ctr">
                <a:defRPr/>
              </a:pPr>
              <a:r>
                <a:rPr kumimoji="0" lang="zh-CN" altLang="en-US" sz="1400" b="0" i="0" u="none" strike="noStrike" kern="10" cap="none" spc="0" normalizeH="0" baseline="0" noProof="0" dirty="0">
                  <a:ln w="9525">
                    <a:solidFill>
                      <a:sysClr val="window" lastClr="FFFFFF"/>
                    </a:solidFill>
                    <a:round/>
                  </a:ln>
                  <a:solidFill>
                    <a:sysClr val="window" lastClr="FFFFFF"/>
                  </a:solidFill>
                  <a:effectLst/>
                  <a:uLnTx/>
                  <a:uFillTx/>
                  <a:latin typeface="微软雅黑" panose="020B0503020204020204" pitchFamily="34" charset="-122"/>
                  <a:ea typeface="微软雅黑" panose="020B0503020204020204" pitchFamily="34" charset="-122"/>
                  <a:cs typeface="+mn-cs"/>
                </a:rPr>
                <a:t>脚本模板</a:t>
              </a:r>
            </a:p>
          </p:txBody>
        </p:sp>
        <p:sp>
          <p:nvSpPr>
            <p:cNvPr id="12" name="Text Box 12"/>
            <p:cNvSpPr txBox="1">
              <a:spLocks noChangeArrowheads="1"/>
            </p:cNvSpPr>
            <p:nvPr/>
          </p:nvSpPr>
          <p:spPr bwMode="auto">
            <a:xfrm>
              <a:off x="3007044" y="1527175"/>
              <a:ext cx="4848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0" lang="en-US" altLang="zh-CN" sz="2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rPr>
                <a:t>1</a:t>
              </a:r>
            </a:p>
          </p:txBody>
        </p:sp>
      </p:grpSp>
      <p:sp>
        <p:nvSpPr>
          <p:cNvPr id="27" name="矩形 26"/>
          <p:cNvSpPr/>
          <p:nvPr/>
        </p:nvSpPr>
        <p:spPr>
          <a:xfrm>
            <a:off x="512470" y="2936993"/>
            <a:ext cx="2955944" cy="1705403"/>
          </a:xfrm>
          <a:prstGeom prst="rect">
            <a:avLst/>
          </a:prstGeom>
        </p:spPr>
        <p:txBody>
          <a:bodyPr wrap="square">
            <a:spAutoFit/>
          </a:bodyPr>
          <a:lstStyle/>
          <a:p>
            <a:pPr indent="457200">
              <a:lnSpc>
                <a:spcPct val="150000"/>
              </a:lnSpc>
            </a:pPr>
            <a:r>
              <a:rPr lang="zh-CN" altLang="en-US" dirty="0">
                <a:solidFill>
                  <a:schemeClr val="tx2"/>
                </a:solidFill>
                <a:latin typeface="微软雅黑" panose="020B0503020204020204" pitchFamily="34" charset="-122"/>
                <a:ea typeface="微软雅黑" panose="020B0503020204020204" pitchFamily="34" charset="-122"/>
              </a:rPr>
              <a:t>通常，非结构信息的结构化表达被归结为文本信息提取问题，信息提取技术可分为五个层次。</a:t>
            </a:r>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8"/>
          <p:cNvSpPr/>
          <p:nvPr/>
        </p:nvSpPr>
        <p:spPr>
          <a:xfrm>
            <a:off x="92360" y="4146997"/>
            <a:ext cx="12192000" cy="2711003"/>
          </a:xfrm>
          <a:custGeom>
            <a:avLst/>
            <a:gdLst>
              <a:gd name="connsiteX0" fmla="*/ 0 w 12192000"/>
              <a:gd name="connsiteY0" fmla="*/ 0 h 2711003"/>
              <a:gd name="connsiteX1" fmla="*/ 12192000 w 12192000"/>
              <a:gd name="connsiteY1" fmla="*/ 0 h 2711003"/>
              <a:gd name="connsiteX2" fmla="*/ 12192000 w 12192000"/>
              <a:gd name="connsiteY2" fmla="*/ 2711003 h 2711003"/>
              <a:gd name="connsiteX3" fmla="*/ 0 w 12192000"/>
              <a:gd name="connsiteY3" fmla="*/ 2711003 h 2711003"/>
            </a:gdLst>
            <a:ahLst/>
            <a:cxnLst>
              <a:cxn ang="0">
                <a:pos x="connsiteX0" y="connsiteY0"/>
              </a:cxn>
              <a:cxn ang="0">
                <a:pos x="connsiteX1" y="connsiteY1"/>
              </a:cxn>
              <a:cxn ang="0">
                <a:pos x="connsiteX2" y="connsiteY2"/>
              </a:cxn>
              <a:cxn ang="0">
                <a:pos x="connsiteX3" y="connsiteY3"/>
              </a:cxn>
            </a:cxnLst>
            <a:rect l="l" t="t" r="r" b="b"/>
            <a:pathLst>
              <a:path w="12192000" h="2711003">
                <a:moveTo>
                  <a:pt x="0" y="0"/>
                </a:moveTo>
                <a:lnTo>
                  <a:pt x="12192000" y="0"/>
                </a:lnTo>
                <a:lnTo>
                  <a:pt x="12192000" y="2711003"/>
                </a:lnTo>
                <a:lnTo>
                  <a:pt x="0" y="2711003"/>
                </a:lnTo>
                <a:close/>
              </a:path>
            </a:pathLst>
          </a:custGeom>
          <a:solidFill>
            <a:srgbClr val="31B5D6"/>
          </a:solidFill>
          <a:ln>
            <a:solidFill>
              <a:srgbClr val="31B5D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solidFill>
                <a:srgbClr val="31B5D6"/>
              </a:solidFill>
            </a:endParaRPr>
          </a:p>
        </p:txBody>
      </p:sp>
      <p:sp>
        <p:nvSpPr>
          <p:cNvPr id="10" name="矩形 9"/>
          <p:cNvSpPr/>
          <p:nvPr/>
        </p:nvSpPr>
        <p:spPr>
          <a:xfrm>
            <a:off x="0" y="1"/>
            <a:ext cx="12192000" cy="271100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1" rIns="91440" bIns="45721" numCol="1" spcCol="0" rtlCol="0" fromWordArt="0" anchor="ctr" anchorCtr="0" forceAA="0" compatLnSpc="1">
            <a:noAutofit/>
          </a:bodyPr>
          <a:lstStyle/>
          <a:p>
            <a:pPr algn="ctr"/>
            <a:endParaRPr lang="zh-CN" altLang="en-US" sz="1800"/>
          </a:p>
        </p:txBody>
      </p:sp>
      <p:sp>
        <p:nvSpPr>
          <p:cNvPr id="11" name="文本框 10"/>
          <p:cNvSpPr txBox="1"/>
          <p:nvPr/>
        </p:nvSpPr>
        <p:spPr>
          <a:xfrm>
            <a:off x="3662530" y="1695342"/>
            <a:ext cx="4607127" cy="1015663"/>
          </a:xfrm>
          <a:prstGeom prst="rect">
            <a:avLst/>
          </a:prstGeom>
          <a:noFill/>
        </p:spPr>
        <p:txBody>
          <a:bodyPr wrap="square" rtlCol="0">
            <a:spAutoFit/>
          </a:bodyPr>
          <a:lstStyle/>
          <a:p>
            <a:pPr algn="dist"/>
            <a:r>
              <a:rPr lang="zh-CN" altLang="en-US" sz="6000" dirty="0">
                <a:solidFill>
                  <a:srgbClr val="31B5D6"/>
                </a:solidFill>
                <a:latin typeface="方正粗宋简体" panose="03000509000000000000" pitchFamily="65" charset="-122"/>
                <a:ea typeface="方正粗宋简体" panose="03000509000000000000" pitchFamily="65" charset="-122"/>
              </a:rPr>
              <a:t>大数据时代</a:t>
            </a:r>
          </a:p>
        </p:txBody>
      </p:sp>
      <p:sp>
        <p:nvSpPr>
          <p:cNvPr id="17" name="文本框 16"/>
          <p:cNvSpPr txBox="1"/>
          <p:nvPr/>
        </p:nvSpPr>
        <p:spPr>
          <a:xfrm>
            <a:off x="3168055" y="4268852"/>
            <a:ext cx="6027934" cy="707886"/>
          </a:xfrm>
          <a:prstGeom prst="rect">
            <a:avLst/>
          </a:prstGeom>
          <a:noFill/>
        </p:spPr>
        <p:txBody>
          <a:bodyPr wrap="square" rtlCol="0">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期望数据与安全完美平衡</a:t>
            </a:r>
          </a:p>
        </p:txBody>
      </p:sp>
      <p:sp>
        <p:nvSpPr>
          <p:cNvPr id="2" name="AutoShape 2" descr="“大数据时代 安全”的图片搜索结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7413" name="Picture 5" descr="“大数据时代 安全”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6268" y="2729820"/>
            <a:ext cx="2451913" cy="145663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KOZHO13yzUCaepRpRzBw5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OZHO13yzUCaepRpRzBw5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KOZHO13yzUCaepRpRzBw5w"/>
</p:tagLst>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9642</TotalTime>
  <Words>7918</Words>
  <Application>Microsoft Office PowerPoint</Application>
  <PresentationFormat>宽屏</PresentationFormat>
  <Paragraphs>942</Paragraphs>
  <Slides>127</Slides>
  <Notes>38</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127</vt:i4>
      </vt:variant>
    </vt:vector>
  </HeadingPairs>
  <TitlesOfParts>
    <vt:vector size="140" baseType="lpstr">
      <vt:lpstr>微软雅黑</vt:lpstr>
      <vt:lpstr>Wingdings</vt:lpstr>
      <vt:lpstr>Arial</vt:lpstr>
      <vt:lpstr>Calibri</vt:lpstr>
      <vt:lpstr>方正粗宋简体</vt:lpstr>
      <vt:lpstr>Impact</vt:lpstr>
      <vt:lpstr>Calibri Light</vt:lpstr>
      <vt:lpstr>等线</vt:lpstr>
      <vt:lpstr>华康俪金黑W8(P)</vt:lpstr>
      <vt:lpstr>微软雅黑</vt:lpstr>
      <vt:lpstr>默认设计模板</vt:lpstr>
      <vt:lpstr>Visio</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zhao</dc:creator>
  <cp:lastModifiedBy>吴 凌云</cp:lastModifiedBy>
  <cp:revision>323</cp:revision>
  <dcterms:created xsi:type="dcterms:W3CDTF">2014-04-19T11:56:00Z</dcterms:created>
  <dcterms:modified xsi:type="dcterms:W3CDTF">2022-12-15T14:12:10Z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