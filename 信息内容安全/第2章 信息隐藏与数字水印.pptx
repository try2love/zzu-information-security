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5" r:id="rId2"/>
    <p:sldMasterId id="2147483687" r:id="rId3"/>
    <p:sldMasterId id="2147483699" r:id="rId4"/>
  </p:sldMasterIdLst>
  <p:notesMasterIdLst>
    <p:notesMasterId r:id="rId103"/>
  </p:notesMasterIdLst>
  <p:sldIdLst>
    <p:sldId id="256" r:id="rId5"/>
    <p:sldId id="261" r:id="rId6"/>
    <p:sldId id="257" r:id="rId7"/>
    <p:sldId id="369" r:id="rId8"/>
    <p:sldId id="260" r:id="rId9"/>
    <p:sldId id="262" r:id="rId10"/>
    <p:sldId id="263" r:id="rId11"/>
    <p:sldId id="358" r:id="rId12"/>
    <p:sldId id="264" r:id="rId13"/>
    <p:sldId id="265" r:id="rId14"/>
    <p:sldId id="324" r:id="rId15"/>
    <p:sldId id="270" r:id="rId16"/>
    <p:sldId id="371" r:id="rId17"/>
    <p:sldId id="372" r:id="rId18"/>
    <p:sldId id="271" r:id="rId19"/>
    <p:sldId id="277" r:id="rId20"/>
    <p:sldId id="275" r:id="rId21"/>
    <p:sldId id="279" r:id="rId22"/>
    <p:sldId id="280" r:id="rId23"/>
    <p:sldId id="370" r:id="rId24"/>
    <p:sldId id="326" r:id="rId25"/>
    <p:sldId id="359" r:id="rId26"/>
    <p:sldId id="362" r:id="rId27"/>
    <p:sldId id="363" r:id="rId28"/>
    <p:sldId id="364" r:id="rId29"/>
    <p:sldId id="360" r:id="rId30"/>
    <p:sldId id="365" r:id="rId31"/>
    <p:sldId id="361" r:id="rId32"/>
    <p:sldId id="366" r:id="rId33"/>
    <p:sldId id="367" r:id="rId34"/>
    <p:sldId id="368" r:id="rId35"/>
    <p:sldId id="282" r:id="rId36"/>
    <p:sldId id="325" r:id="rId37"/>
    <p:sldId id="283" r:id="rId38"/>
    <p:sldId id="327" r:id="rId39"/>
    <p:sldId id="284" r:id="rId40"/>
    <p:sldId id="285" r:id="rId41"/>
    <p:sldId id="286" r:id="rId42"/>
    <p:sldId id="287" r:id="rId43"/>
    <p:sldId id="356" r:id="rId44"/>
    <p:sldId id="288" r:id="rId45"/>
    <p:sldId id="289" r:id="rId46"/>
    <p:sldId id="328" r:id="rId47"/>
    <p:sldId id="347" r:id="rId48"/>
    <p:sldId id="290" r:id="rId49"/>
    <p:sldId id="329" r:id="rId50"/>
    <p:sldId id="291" r:id="rId51"/>
    <p:sldId id="292" r:id="rId52"/>
    <p:sldId id="330" r:id="rId53"/>
    <p:sldId id="293" r:id="rId54"/>
    <p:sldId id="294" r:id="rId55"/>
    <p:sldId id="295" r:id="rId56"/>
    <p:sldId id="331" r:id="rId57"/>
    <p:sldId id="296" r:id="rId58"/>
    <p:sldId id="348" r:id="rId59"/>
    <p:sldId id="349" r:id="rId60"/>
    <p:sldId id="350" r:id="rId61"/>
    <p:sldId id="351" r:id="rId62"/>
    <p:sldId id="352" r:id="rId63"/>
    <p:sldId id="297" r:id="rId64"/>
    <p:sldId id="299" r:id="rId65"/>
    <p:sldId id="332" r:id="rId66"/>
    <p:sldId id="298" r:id="rId67"/>
    <p:sldId id="333" r:id="rId68"/>
    <p:sldId id="300" r:id="rId69"/>
    <p:sldId id="334" r:id="rId70"/>
    <p:sldId id="335" r:id="rId71"/>
    <p:sldId id="302" r:id="rId72"/>
    <p:sldId id="336" r:id="rId73"/>
    <p:sldId id="303" r:id="rId74"/>
    <p:sldId id="337" r:id="rId75"/>
    <p:sldId id="338" r:id="rId76"/>
    <p:sldId id="304" r:id="rId77"/>
    <p:sldId id="339" r:id="rId78"/>
    <p:sldId id="307" r:id="rId79"/>
    <p:sldId id="341" r:id="rId80"/>
    <p:sldId id="308" r:id="rId81"/>
    <p:sldId id="309" r:id="rId82"/>
    <p:sldId id="342" r:id="rId83"/>
    <p:sldId id="310" r:id="rId84"/>
    <p:sldId id="311" r:id="rId85"/>
    <p:sldId id="343" r:id="rId86"/>
    <p:sldId id="312" r:id="rId87"/>
    <p:sldId id="313" r:id="rId88"/>
    <p:sldId id="344" r:id="rId89"/>
    <p:sldId id="314" r:id="rId90"/>
    <p:sldId id="353" r:id="rId91"/>
    <p:sldId id="315" r:id="rId92"/>
    <p:sldId id="316" r:id="rId93"/>
    <p:sldId id="354" r:id="rId94"/>
    <p:sldId id="317" r:id="rId95"/>
    <p:sldId id="319" r:id="rId96"/>
    <p:sldId id="355" r:id="rId97"/>
    <p:sldId id="345" r:id="rId98"/>
    <p:sldId id="321" r:id="rId99"/>
    <p:sldId id="346" r:id="rId100"/>
    <p:sldId id="322" r:id="rId101"/>
    <p:sldId id="323" r:id="rId10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660066"/>
    <a:srgbClr val="6600CC"/>
    <a:srgbClr val="0066FF"/>
    <a:srgbClr val="0099FF"/>
    <a:srgbClr val="993366"/>
    <a:srgbClr val="333399"/>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88" autoAdjust="0"/>
    <p:restoredTop sz="83529" autoAdjust="0"/>
  </p:normalViewPr>
  <p:slideViewPr>
    <p:cSldViewPr showGuides="1">
      <p:cViewPr varScale="1">
        <p:scale>
          <a:sx n="83" d="100"/>
          <a:sy n="83" d="100"/>
        </p:scale>
        <p:origin x="139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页眉占位符 14337"/>
          <p:cNvSpPr>
            <a:spLocks noGrp="1"/>
          </p:cNvSpPr>
          <p:nvPr>
            <p:ph type="hdr" sz="quarter"/>
          </p:nvPr>
        </p:nvSpPr>
        <p:spPr>
          <a:xfrm>
            <a:off x="0" y="0"/>
            <a:ext cx="2971800" cy="457200"/>
          </a:xfrm>
          <a:prstGeom prst="rect">
            <a:avLst/>
          </a:prstGeom>
          <a:noFill/>
          <a:ln w="9525">
            <a:noFill/>
          </a:ln>
        </p:spPr>
        <p:txBody>
          <a:bodyPr/>
          <a:lstStyle>
            <a:lvl1pPr>
              <a:defRPr sz="1200" b="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4339" name="日期占位符 14338"/>
          <p:cNvSpPr>
            <a:spLocks noGrp="1"/>
          </p:cNvSpPr>
          <p:nvPr>
            <p:ph type="dt" idx="1"/>
          </p:nvPr>
        </p:nvSpPr>
        <p:spPr>
          <a:xfrm>
            <a:off x="3884613" y="0"/>
            <a:ext cx="2971800" cy="457200"/>
          </a:xfrm>
          <a:prstGeom prst="rect">
            <a:avLst/>
          </a:prstGeom>
          <a:noFill/>
          <a:ln w="9525">
            <a:noFill/>
          </a:ln>
        </p:spPr>
        <p:txBody>
          <a:bodyPr/>
          <a:lstStyle>
            <a:lvl1pPr algn="r">
              <a:defRPr sz="1200" b="0" noProof="1"/>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9460" name="幻灯片图像占位符 14339"/>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9461" name="文本占位符 14340"/>
          <p:cNvSpPr>
            <a:spLocks noGrp="1" noChangeArrowheads="1"/>
          </p:cNvSpPr>
          <p:nvPr>
            <p:ph type="body" sz="quarter" idx="4294967295"/>
          </p:nvPr>
        </p:nvSpPr>
        <p:spPr bwMode="auto">
          <a:xfrm>
            <a:off x="685800" y="4343400"/>
            <a:ext cx="54864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第五级</a:t>
            </a:r>
          </a:p>
        </p:txBody>
      </p:sp>
      <p:sp>
        <p:nvSpPr>
          <p:cNvPr id="14342" name="页脚占位符 14341"/>
          <p:cNvSpPr>
            <a:spLocks noGrp="1"/>
          </p:cNvSpPr>
          <p:nvPr>
            <p:ph type="ftr" sz="quarter" idx="4"/>
          </p:nvPr>
        </p:nvSpPr>
        <p:spPr>
          <a:xfrm>
            <a:off x="0" y="8685213"/>
            <a:ext cx="2971800" cy="457200"/>
          </a:xfrm>
          <a:prstGeom prst="rect">
            <a:avLst/>
          </a:prstGeom>
          <a:noFill/>
          <a:ln w="9525">
            <a:noFill/>
          </a:ln>
        </p:spPr>
        <p:txBody>
          <a:bodyPr anchor="b"/>
          <a:lstStyle>
            <a:lvl1pPr>
              <a:defRPr sz="1200" b="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4343" name="灯片编号占位符 14342"/>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lstStyle/>
          <a:p>
            <a:pPr lvl="0" algn="r" eaLnBrk="1" fontAlgn="base" hangingPunct="1">
              <a:buNone/>
            </a:pPr>
            <a:fld id="{9A0DB2DC-4C9A-4742-B13C-FB6460FD3503}" type="slidenum">
              <a:rPr lang="zh-CN" altLang="en-US" sz="1200" b="0" strike="noStrike" noProof="1" dirty="0">
                <a:latin typeface="华文细黑" panose="02010600040101010101" pitchFamily="2" charset="-122"/>
                <a:ea typeface="华文细黑" panose="02010600040101010101" pitchFamily="2" charset="-122"/>
                <a:cs typeface="+mn-cs"/>
              </a:rPr>
              <a:t>‹#›</a:t>
            </a:fld>
            <a:endParaRPr lang="zh-CN" altLang="en-US" sz="1200" b="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MITM%E6%94%BB%E5%87%BB/15637385?fromModule=lemma_inlink"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5%8A%A8%E6%80%81%E5%9B%BE%E5%83%8F%E4%B8%93%E5%AE%B6%E7%BB%84/1400570?fromModule=lemma_inlink" TargetMode="External"/><Relationship Id="rId2" Type="http://schemas.openxmlformats.org/officeDocument/2006/relationships/slide" Target="../slides/slide56.xml"/><Relationship Id="rId1" Type="http://schemas.openxmlformats.org/officeDocument/2006/relationships/notesMaster" Target="../notesMasters/notesMaster1.xml"/><Relationship Id="rId4" Type="http://schemas.openxmlformats.org/officeDocument/2006/relationships/hyperlink" Target="https://baike.baidu.com/item/%E5%9B%BD%E9%99%85%E6%A0%87%E5%87%86%E5%8C%96%E7%BB%84%E7%BB%87/779832?fromModule=lemma_inlink"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aike.baidu.com/item/%E5%9B%9B%E8%88%8D%E4%BA%94%E5%85%A5/6730333?fromModule=lemma_inlink" TargetMode="External"/><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中间人攻击（</a:t>
            </a:r>
            <a:r>
              <a:rPr lang="en-US" altLang="zh-CN" b="0" i="0" dirty="0">
                <a:solidFill>
                  <a:srgbClr val="333333"/>
                </a:solidFill>
                <a:effectLst/>
                <a:latin typeface="Helvetica Neue"/>
              </a:rPr>
              <a:t>Man-in-the-</a:t>
            </a:r>
            <a:r>
              <a:rPr lang="en-US" altLang="zh-CN" b="0" i="0" dirty="0" err="1">
                <a:solidFill>
                  <a:srgbClr val="333333"/>
                </a:solidFill>
                <a:effectLst/>
                <a:latin typeface="Helvetica Neue"/>
              </a:rPr>
              <a:t>MiddleAttack</a:t>
            </a:r>
            <a:r>
              <a:rPr lang="zh-CN" altLang="en-US" b="0" i="0" dirty="0">
                <a:solidFill>
                  <a:srgbClr val="333333"/>
                </a:solidFill>
                <a:effectLst/>
                <a:latin typeface="Helvetica Neue"/>
              </a:rPr>
              <a:t>，简称“</a:t>
            </a:r>
            <a:r>
              <a:rPr lang="en-US" altLang="zh-CN" b="0" i="0" u="none" strike="noStrike" dirty="0">
                <a:solidFill>
                  <a:srgbClr val="136EC2"/>
                </a:solidFill>
                <a:effectLst/>
                <a:latin typeface="Helvetica Neue"/>
                <a:hlinkClick r:id="rId3"/>
              </a:rPr>
              <a:t>MITM</a:t>
            </a:r>
            <a:r>
              <a:rPr lang="zh-CN" altLang="en-US" b="0" i="0" u="none" strike="noStrike">
                <a:solidFill>
                  <a:srgbClr val="136EC2"/>
                </a:solidFill>
                <a:effectLst/>
                <a:latin typeface="Helvetica Neue"/>
                <a:hlinkClick r:id="rId3"/>
              </a:rPr>
              <a:t>攻击</a:t>
            </a:r>
            <a:r>
              <a:rPr lang="zh-CN" altLang="en-US" b="0" i="0">
                <a:solidFill>
                  <a:srgbClr val="333333"/>
                </a:solidFill>
                <a:effectLst/>
                <a:latin typeface="Helvetica Neue"/>
              </a:rPr>
              <a:t>”）是一种“间接”的入侵攻击，这种攻击模式是通过各种技术手段将受入侵者控制的一台计算机虚拟放置在网络连接中的两台通信计算机之间，这台计算机就称为“中间人”。</a:t>
            </a:r>
            <a:endParaRPr lang="zh-CN" altLang="en-US"/>
          </a:p>
        </p:txBody>
      </p:sp>
    </p:spTree>
    <p:extLst>
      <p:ext uri="{BB962C8B-B14F-4D97-AF65-F5344CB8AC3E}">
        <p14:creationId xmlns:p14="http://schemas.microsoft.com/office/powerpoint/2010/main" val="3436469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70276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MPEG</a:t>
            </a:r>
            <a:r>
              <a:rPr lang="zh-CN" altLang="en-US" b="0" i="0" dirty="0">
                <a:solidFill>
                  <a:srgbClr val="333333"/>
                </a:solidFill>
                <a:effectLst/>
                <a:latin typeface="Helvetica Neue"/>
              </a:rPr>
              <a:t>（</a:t>
            </a:r>
            <a:r>
              <a:rPr lang="en-US" altLang="zh-CN" b="0" i="0" dirty="0">
                <a:solidFill>
                  <a:srgbClr val="333333"/>
                </a:solidFill>
                <a:effectLst/>
                <a:latin typeface="Helvetica Neue"/>
              </a:rPr>
              <a:t>Moving Picture Experts Group</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3"/>
              </a:rPr>
              <a:t>动态图像专家组</a:t>
            </a:r>
            <a:r>
              <a:rPr lang="zh-CN" altLang="en-US" b="0" i="0" dirty="0">
                <a:solidFill>
                  <a:srgbClr val="333333"/>
                </a:solidFill>
                <a:effectLst/>
                <a:latin typeface="Helvetica Neue"/>
              </a:rPr>
              <a:t>）是</a:t>
            </a:r>
            <a:r>
              <a:rPr lang="en-US" altLang="zh-CN" b="0" i="0" dirty="0">
                <a:solidFill>
                  <a:srgbClr val="333333"/>
                </a:solidFill>
                <a:effectLst/>
                <a:latin typeface="Helvetica Neue"/>
              </a:rPr>
              <a:t>ISO</a:t>
            </a:r>
            <a:r>
              <a:rPr lang="zh-CN" altLang="en-US" b="0" i="0" dirty="0">
                <a:solidFill>
                  <a:srgbClr val="333333"/>
                </a:solidFill>
                <a:effectLst/>
                <a:latin typeface="Helvetica Neue"/>
              </a:rPr>
              <a:t>（</a:t>
            </a:r>
            <a:r>
              <a:rPr lang="en-US" altLang="zh-CN" b="0" i="0" dirty="0">
                <a:solidFill>
                  <a:srgbClr val="333333"/>
                </a:solidFill>
                <a:effectLst/>
                <a:latin typeface="Helvetica Neue"/>
              </a:rPr>
              <a:t>International Standardization Organization</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4"/>
              </a:rPr>
              <a:t>国际标准化组织</a:t>
            </a:r>
            <a:r>
              <a:rPr lang="zh-CN" altLang="en-US" b="0" i="0" dirty="0">
                <a:solidFill>
                  <a:srgbClr val="333333"/>
                </a:solidFill>
                <a:effectLst/>
                <a:latin typeface="Helvetica Neue"/>
              </a:rPr>
              <a:t>）与</a:t>
            </a:r>
            <a:r>
              <a:rPr lang="en-US" altLang="zh-CN" b="0" i="0" dirty="0">
                <a:solidFill>
                  <a:srgbClr val="333333"/>
                </a:solidFill>
                <a:effectLst/>
                <a:latin typeface="Helvetica Neue"/>
              </a:rPr>
              <a:t>IEC</a:t>
            </a:r>
            <a:r>
              <a:rPr lang="zh-CN" altLang="en-US" b="0" i="0" dirty="0">
                <a:solidFill>
                  <a:srgbClr val="333333"/>
                </a:solidFill>
                <a:effectLst/>
                <a:latin typeface="Helvetica Neue"/>
              </a:rPr>
              <a:t>（</a:t>
            </a:r>
            <a:r>
              <a:rPr lang="en-US" altLang="zh-CN" b="0" i="0" dirty="0">
                <a:solidFill>
                  <a:srgbClr val="333333"/>
                </a:solidFill>
                <a:effectLst/>
                <a:latin typeface="Helvetica Neue"/>
              </a:rPr>
              <a:t>International Electrotechnical Commission</a:t>
            </a:r>
            <a:r>
              <a:rPr lang="zh-CN" altLang="en-US" b="0" i="0" dirty="0">
                <a:solidFill>
                  <a:srgbClr val="333333"/>
                </a:solidFill>
                <a:effectLst/>
                <a:latin typeface="Helvetica Neue"/>
              </a:rPr>
              <a:t>，国际电工委员会）于</a:t>
            </a:r>
            <a:r>
              <a:rPr lang="en-US" altLang="zh-CN" b="0" i="0" dirty="0">
                <a:solidFill>
                  <a:srgbClr val="333333"/>
                </a:solidFill>
                <a:effectLst/>
                <a:latin typeface="Helvetica Neue"/>
              </a:rPr>
              <a:t>1988</a:t>
            </a:r>
            <a:r>
              <a:rPr lang="zh-CN" altLang="en-US" b="0" i="0" dirty="0">
                <a:solidFill>
                  <a:srgbClr val="333333"/>
                </a:solidFill>
                <a:effectLst/>
                <a:latin typeface="Helvetica Neue"/>
              </a:rPr>
              <a:t>年成立的专门针对运动图像和语音压缩制定国际标准的组织。</a:t>
            </a:r>
            <a:endParaRPr lang="zh-CN" altLang="en-US" dirty="0"/>
          </a:p>
        </p:txBody>
      </p:sp>
    </p:spTree>
    <p:extLst>
      <p:ext uri="{BB962C8B-B14F-4D97-AF65-F5344CB8AC3E}">
        <p14:creationId xmlns:p14="http://schemas.microsoft.com/office/powerpoint/2010/main" val="2310351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floor</a:t>
            </a:r>
            <a:r>
              <a:rPr lang="zh-CN" altLang="en-US" b="0" i="0" dirty="0">
                <a:solidFill>
                  <a:srgbClr val="333333"/>
                </a:solidFill>
                <a:effectLst/>
                <a:latin typeface="Helvetica Neue"/>
              </a:rPr>
              <a:t>函数，其功能是“向下取整”，或者说“向下舍入”、“向零取舍”，即取不大于</a:t>
            </a:r>
            <a:r>
              <a:rPr lang="en-US" altLang="zh-CN" b="0" i="0" dirty="0">
                <a:solidFill>
                  <a:srgbClr val="333333"/>
                </a:solidFill>
                <a:effectLst/>
                <a:latin typeface="Helvetica Neue"/>
              </a:rPr>
              <a:t>x</a:t>
            </a:r>
            <a:r>
              <a:rPr lang="zh-CN" altLang="en-US" b="0" i="0" dirty="0">
                <a:solidFill>
                  <a:srgbClr val="333333"/>
                </a:solidFill>
                <a:effectLst/>
                <a:latin typeface="Helvetica Neue"/>
              </a:rPr>
              <a:t>的最大整数，与“</a:t>
            </a:r>
            <a:r>
              <a:rPr lang="zh-CN" altLang="en-US" b="0" i="0" u="none" strike="noStrike" dirty="0">
                <a:solidFill>
                  <a:srgbClr val="136EC2"/>
                </a:solidFill>
                <a:effectLst/>
                <a:latin typeface="Helvetica Neue"/>
                <a:hlinkClick r:id="rId3"/>
              </a:rPr>
              <a:t>四舍五入</a:t>
            </a:r>
            <a:r>
              <a:rPr lang="zh-CN" altLang="en-US" b="0" i="0" dirty="0">
                <a:solidFill>
                  <a:srgbClr val="333333"/>
                </a:solidFill>
                <a:effectLst/>
                <a:latin typeface="Helvetica Neue"/>
              </a:rPr>
              <a:t>”不同，下取整是直接取按照数轴上最接近要求值的左边值，即不大于要求值的最大的那个整数值。</a:t>
            </a:r>
            <a:endParaRPr lang="zh-CN" altLang="en-US" dirty="0"/>
          </a:p>
        </p:txBody>
      </p:sp>
    </p:spTree>
    <p:extLst>
      <p:ext uri="{BB962C8B-B14F-4D97-AF65-F5344CB8AC3E}">
        <p14:creationId xmlns:p14="http://schemas.microsoft.com/office/powerpoint/2010/main" val="507049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1.png"/><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5122" name="组合 65"/>
          <p:cNvGrpSpPr/>
          <p:nvPr/>
        </p:nvGrpSpPr>
        <p:grpSpPr>
          <a:xfrm>
            <a:off x="1617663" y="1003300"/>
            <a:ext cx="5908675" cy="3073400"/>
            <a:chOff x="2014158" y="457200"/>
            <a:chExt cx="8163685" cy="3184013"/>
          </a:xfrm>
        </p:grpSpPr>
        <p:sp>
          <p:nvSpPr>
            <p:cNvPr id="8" name="Rectangle 9"/>
            <p:cNvSpPr>
              <a:spLocks noChangeArrowheads="1"/>
            </p:cNvSpPr>
            <p:nvPr/>
          </p:nvSpPr>
          <p:spPr bwMode="auto">
            <a:xfrm>
              <a:off x="4319378" y="677581"/>
              <a:ext cx="3553243" cy="2203811"/>
            </a:xfrm>
            <a:prstGeom prst="rect">
              <a:avLst/>
            </a:prstGeom>
            <a:solidFill>
              <a:schemeClr val="bg1">
                <a:lumMod val="85000"/>
              </a:schemeClr>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9" name="Rectangle 10"/>
            <p:cNvSpPr>
              <a:spLocks noChangeArrowheads="1"/>
            </p:cNvSpPr>
            <p:nvPr/>
          </p:nvSpPr>
          <p:spPr bwMode="auto">
            <a:xfrm>
              <a:off x="4497041" y="817376"/>
              <a:ext cx="3197919" cy="1800875"/>
            </a:xfrm>
            <a:prstGeom prst="rect">
              <a:avLst/>
            </a:prstGeom>
            <a:solidFill>
              <a:srgbClr val="FDFDFD"/>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0" name="Freeform 11"/>
            <p:cNvSpPr>
              <a:spLocks noEditPoints="1"/>
            </p:cNvSpPr>
            <p:nvPr/>
          </p:nvSpPr>
          <p:spPr bwMode="auto">
            <a:xfrm>
              <a:off x="4086882" y="457200"/>
              <a:ext cx="4018235" cy="2554118"/>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1" name="Freeform 12"/>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2" name="Freeform 13"/>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3" name="Rectangle 14"/>
            <p:cNvSpPr>
              <a:spLocks noChangeArrowheads="1"/>
            </p:cNvSpPr>
            <p:nvPr/>
          </p:nvSpPr>
          <p:spPr bwMode="auto">
            <a:xfrm>
              <a:off x="4497041" y="817376"/>
              <a:ext cx="1116419" cy="358530"/>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4" name="Rectangle 15"/>
            <p:cNvSpPr>
              <a:spLocks noChangeArrowheads="1"/>
            </p:cNvSpPr>
            <p:nvPr/>
          </p:nvSpPr>
          <p:spPr bwMode="auto">
            <a:xfrm>
              <a:off x="4497041" y="1175906"/>
              <a:ext cx="1116419" cy="1442344"/>
            </a:xfrm>
            <a:prstGeom prst="rect">
              <a:avLst/>
            </a:prstGeom>
            <a:solidFill>
              <a:srgbClr val="3C4F5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5" name="Rectangle 16"/>
            <p:cNvSpPr>
              <a:spLocks noChangeArrowheads="1"/>
            </p:cNvSpPr>
            <p:nvPr/>
          </p:nvSpPr>
          <p:spPr bwMode="auto">
            <a:xfrm>
              <a:off x="4681283" y="1340369"/>
              <a:ext cx="743548" cy="296034"/>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6" name="Rectangle 17"/>
            <p:cNvSpPr>
              <a:spLocks noChangeArrowheads="1"/>
            </p:cNvSpPr>
            <p:nvPr/>
          </p:nvSpPr>
          <p:spPr bwMode="auto">
            <a:xfrm>
              <a:off x="4681283" y="1832115"/>
              <a:ext cx="743548" cy="294390"/>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7" name="Rectangle 18"/>
            <p:cNvSpPr>
              <a:spLocks noChangeArrowheads="1"/>
            </p:cNvSpPr>
            <p:nvPr/>
          </p:nvSpPr>
          <p:spPr bwMode="auto">
            <a:xfrm>
              <a:off x="4681283" y="2290968"/>
              <a:ext cx="743548" cy="164463"/>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18" name="Rectangle 19"/>
            <p:cNvSpPr>
              <a:spLocks noChangeArrowheads="1"/>
            </p:cNvSpPr>
            <p:nvPr/>
          </p:nvSpPr>
          <p:spPr bwMode="auto">
            <a:xfrm>
              <a:off x="6058713" y="1210443"/>
              <a:ext cx="1375236" cy="98678"/>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rgbClr val="FFC543"/>
                </a:solidFill>
                <a:effectLst/>
                <a:uLnTx/>
                <a:uFillTx/>
                <a:latin typeface="华文细黑" panose="02010600040101010101" pitchFamily="2" charset="-122"/>
                <a:ea typeface="华文细黑" panose="02010600040101010101" pitchFamily="2" charset="-122"/>
                <a:cs typeface="+mn-cs"/>
              </a:endParaRPr>
            </a:p>
          </p:txBody>
        </p:sp>
        <p:sp>
          <p:nvSpPr>
            <p:cNvPr id="19" name="Rectangle 20"/>
            <p:cNvSpPr>
              <a:spLocks noChangeArrowheads="1"/>
            </p:cNvSpPr>
            <p:nvPr/>
          </p:nvSpPr>
          <p:spPr bwMode="auto">
            <a:xfrm>
              <a:off x="6058713" y="1471940"/>
              <a:ext cx="1375236" cy="97033"/>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0" name="Rectangle 21"/>
            <p:cNvSpPr>
              <a:spLocks noChangeArrowheads="1"/>
            </p:cNvSpPr>
            <p:nvPr/>
          </p:nvSpPr>
          <p:spPr bwMode="auto">
            <a:xfrm>
              <a:off x="6058713" y="1735082"/>
              <a:ext cx="1375236" cy="97033"/>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1" name="Rectangle 22"/>
            <p:cNvSpPr>
              <a:spLocks noChangeArrowheads="1"/>
            </p:cNvSpPr>
            <p:nvPr/>
          </p:nvSpPr>
          <p:spPr bwMode="auto">
            <a:xfrm>
              <a:off x="6058713" y="1994934"/>
              <a:ext cx="1375236" cy="98678"/>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2" name="Rectangle 23"/>
            <p:cNvSpPr>
              <a:spLocks noChangeArrowheads="1"/>
            </p:cNvSpPr>
            <p:nvPr/>
          </p:nvSpPr>
          <p:spPr bwMode="auto">
            <a:xfrm>
              <a:off x="6058713" y="2258076"/>
              <a:ext cx="1375236" cy="98678"/>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rgbClr val="FFC000"/>
                </a:solidFill>
                <a:effectLst/>
                <a:uLnTx/>
                <a:uFillTx/>
                <a:latin typeface="华文细黑" panose="02010600040101010101" pitchFamily="2" charset="-122"/>
                <a:ea typeface="华文细黑" panose="02010600040101010101" pitchFamily="2" charset="-122"/>
                <a:cs typeface="+mn-cs"/>
              </a:endParaRPr>
            </a:p>
          </p:txBody>
        </p:sp>
        <p:sp>
          <p:nvSpPr>
            <p:cNvPr id="23" name="Rectangle 25"/>
            <p:cNvSpPr>
              <a:spLocks noChangeArrowheads="1"/>
            </p:cNvSpPr>
            <p:nvPr/>
          </p:nvSpPr>
          <p:spPr bwMode="auto">
            <a:xfrm>
              <a:off x="2014158" y="3452081"/>
              <a:ext cx="300490" cy="189132"/>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4" name="Rectangle 26"/>
            <p:cNvSpPr>
              <a:spLocks noChangeArrowheads="1"/>
            </p:cNvSpPr>
            <p:nvPr/>
          </p:nvSpPr>
          <p:spPr bwMode="auto">
            <a:xfrm>
              <a:off x="2314648" y="3095194"/>
              <a:ext cx="289523" cy="546019"/>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5" name="Rectangle 27"/>
            <p:cNvSpPr>
              <a:spLocks noChangeArrowheads="1"/>
            </p:cNvSpPr>
            <p:nvPr/>
          </p:nvSpPr>
          <p:spPr bwMode="auto">
            <a:xfrm>
              <a:off x="2604171" y="2560688"/>
              <a:ext cx="302684" cy="1080525"/>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6" name="Rectangle 28"/>
            <p:cNvSpPr>
              <a:spLocks noChangeArrowheads="1"/>
            </p:cNvSpPr>
            <p:nvPr/>
          </p:nvSpPr>
          <p:spPr bwMode="auto">
            <a:xfrm>
              <a:off x="2906855" y="2175844"/>
              <a:ext cx="298297" cy="1465369"/>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7" name="Rectangle 29"/>
            <p:cNvSpPr>
              <a:spLocks noChangeArrowheads="1"/>
            </p:cNvSpPr>
            <p:nvPr/>
          </p:nvSpPr>
          <p:spPr bwMode="auto">
            <a:xfrm>
              <a:off x="3205152" y="3009673"/>
              <a:ext cx="291718" cy="631540"/>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8" name="Rectangle 30"/>
            <p:cNvSpPr>
              <a:spLocks noChangeArrowheads="1"/>
            </p:cNvSpPr>
            <p:nvPr/>
          </p:nvSpPr>
          <p:spPr bwMode="auto">
            <a:xfrm>
              <a:off x="3496869" y="3379717"/>
              <a:ext cx="298297" cy="261496"/>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29" name="Rectangle 32"/>
            <p:cNvSpPr>
              <a:spLocks noChangeArrowheads="1"/>
            </p:cNvSpPr>
            <p:nvPr/>
          </p:nvSpPr>
          <p:spPr bwMode="auto">
            <a:xfrm>
              <a:off x="9888320" y="3452081"/>
              <a:ext cx="289523" cy="189132"/>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30" name="Rectangle 33"/>
            <p:cNvSpPr>
              <a:spLocks noChangeArrowheads="1"/>
            </p:cNvSpPr>
            <p:nvPr/>
          </p:nvSpPr>
          <p:spPr bwMode="auto">
            <a:xfrm>
              <a:off x="9587829" y="3095194"/>
              <a:ext cx="300491" cy="546019"/>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31" name="Rectangle 34"/>
            <p:cNvSpPr>
              <a:spLocks noChangeArrowheads="1"/>
            </p:cNvSpPr>
            <p:nvPr/>
          </p:nvSpPr>
          <p:spPr bwMode="auto">
            <a:xfrm>
              <a:off x="9287339" y="2560688"/>
              <a:ext cx="300490" cy="1080525"/>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32" name="Rectangle 35"/>
            <p:cNvSpPr>
              <a:spLocks noChangeArrowheads="1"/>
            </p:cNvSpPr>
            <p:nvPr/>
          </p:nvSpPr>
          <p:spPr bwMode="auto">
            <a:xfrm>
              <a:off x="8995621" y="2175844"/>
              <a:ext cx="291718" cy="1465369"/>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33" name="Rectangle 36"/>
            <p:cNvSpPr>
              <a:spLocks noChangeArrowheads="1"/>
            </p:cNvSpPr>
            <p:nvPr/>
          </p:nvSpPr>
          <p:spPr bwMode="auto">
            <a:xfrm>
              <a:off x="8697324" y="3009673"/>
              <a:ext cx="298297" cy="631540"/>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34" name="Rectangle 37"/>
            <p:cNvSpPr>
              <a:spLocks noChangeArrowheads="1"/>
            </p:cNvSpPr>
            <p:nvPr/>
          </p:nvSpPr>
          <p:spPr bwMode="auto">
            <a:xfrm>
              <a:off x="8396835" y="3379717"/>
              <a:ext cx="300490" cy="261496"/>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grpSp>
      <p:sp>
        <p:nvSpPr>
          <p:cNvPr id="2" name="Title 1"/>
          <p:cNvSpPr>
            <a:spLocks noGrp="1"/>
          </p:cNvSpPr>
          <p:nvPr>
            <p:ph type="ctrTitle"/>
          </p:nvPr>
        </p:nvSpPr>
        <p:spPr>
          <a:xfrm>
            <a:off x="1143073" y="3471048"/>
            <a:ext cx="6858436" cy="1637564"/>
          </a:xfrm>
        </p:spPr>
        <p:txBody>
          <a:bodyPr anchor="b">
            <a:normAutofit/>
          </a:bodyPr>
          <a:lstStyle>
            <a:lvl1pPr algn="ctr">
              <a:defRPr sz="4050">
                <a:solidFill>
                  <a:schemeClr val="accent1">
                    <a:lumMod val="75000"/>
                  </a:schemeClr>
                </a:solidFill>
              </a:defRPr>
            </a:lvl1pPr>
          </a:lstStyle>
          <a:p>
            <a:pPr fontAlgn="base"/>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base"/>
            <a:r>
              <a:rPr lang="zh-CN" altLang="en-US" strike="noStrike" noProof="1"/>
              <a:t>单击此处编辑母版副标题样式</a:t>
            </a:r>
            <a:endParaRPr lang="en-US" strike="noStrike" noProof="1"/>
          </a:p>
        </p:txBody>
      </p:sp>
      <p:sp>
        <p:nvSpPr>
          <p:cNvPr id="35"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dirty="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F2D67F2-00B1-42D9-9BF7-D0556FBD9683}" type="datetime1">
              <a:rPr kumimoji="0" lang="zh-CN" altLang="en-US" sz="900" b="1"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t>2022/10/20</a:t>
            </a:fld>
            <a:endParaRPr kumimoji="0" lang="zh-CN" altLang="en-US" sz="900" b="1"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6"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37" name="Slide Number Placeholder 5"/>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a typeface="宋体" panose="02010600030101010101" pitchFamily="2"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base"/>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base"/>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base"/>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7753" tIns="18876" rIns="37753" bIns="18876" anchor="ctr">
            <a:norm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745" b="1" i="0" u="none" strike="noStrike" kern="1200" cap="none" spc="0" normalizeH="0" baseline="0" noProof="1">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base"/>
            <a:r>
              <a:rPr lang="zh-CN" altLang="en-US" sz="4950" strike="noStrike" noProof="1"/>
              <a:t>单击此处编辑母版标题样式</a:t>
            </a:r>
            <a:endParaRPr lang="en-US" strike="noStrike" noProof="1"/>
          </a:p>
        </p:txBody>
      </p:sp>
      <p:sp>
        <p:nvSpPr>
          <p:cNvPr id="8" name="Date Placeholder 2"/>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Footer Placeholder 3"/>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10" name="Slide Number Placeholder 4"/>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a typeface="宋体" panose="02010600030101010101" pitchFamily="2" charset="-122"/>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base"/>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marL="0" marR="0" lvl="0" indent="0" algn="l" defTabSz="685800" rtl="0" eaLnBrk="0" fontAlgn="base" latinLnBrk="0" hangingPunct="0">
              <a:lnSpc>
                <a:spcPct val="90000"/>
              </a:lnSpc>
              <a:spcBef>
                <a:spcPts val="750"/>
              </a:spcBef>
              <a:spcAft>
                <a:spcPct val="0"/>
              </a:spcAft>
              <a:buClr>
                <a:schemeClr val="accent1"/>
              </a:buClr>
              <a:buSzTx/>
              <a:buFont typeface="Wingdings" panose="05000000000000000000" pitchFamily="2" charset="2"/>
              <a:buNone/>
              <a:defRPr/>
            </a:pPr>
            <a:r>
              <a:rPr kumimoji="0" lang="zh-CN" altLang="en-US" sz="2400" b="0" i="0" u="none" strike="noStrike" kern="1200" cap="none" spc="0" normalizeH="0" baseline="0" noProof="1">
                <a:ln>
                  <a:noFill/>
                </a:ln>
                <a:solidFill>
                  <a:schemeClr val="accent1"/>
                </a:solidFill>
                <a:effectLst/>
                <a:uLnTx/>
                <a:uFillTx/>
                <a:latin typeface="+mn-lt"/>
                <a:ea typeface="+mn-ea"/>
                <a:cs typeface="+mn-cs"/>
              </a:rPr>
              <a:t>单击图标添加图片</a:t>
            </a:r>
            <a:endParaRPr kumimoji="0" lang="en-US" sz="2400" b="0" i="0" u="none" strike="noStrike" kern="1200" cap="none" spc="0" normalizeH="0" baseline="0" noProof="1">
              <a:ln>
                <a:noFill/>
              </a:ln>
              <a:solidFill>
                <a:schemeClr val="accent1"/>
              </a:solidFill>
              <a:effectLst/>
              <a:uLnTx/>
              <a:uFillTx/>
              <a:latin typeface="+mn-lt"/>
              <a:ea typeface="+mn-ea"/>
              <a:cs typeface="+mn-cs"/>
            </a:endParaRPr>
          </a:p>
        </p:txBody>
      </p:sp>
      <p:sp>
        <p:nvSpPr>
          <p:cNvPr id="4" name="Text Placeholder 3"/>
          <p:cNvSpPr>
            <a:spLocks noGrp="1"/>
          </p:cNvSpPr>
          <p:nvPr>
            <p:ph type="body" sz="half" idx="2"/>
          </p:nvPr>
        </p:nvSpPr>
        <p:spPr>
          <a:xfrm>
            <a:off x="629880" y="2057400"/>
            <a:ext cx="3124099" cy="3811588"/>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7" name="任意多边形 6"/>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8" name="任意多边形 7"/>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9"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10" name="任意多边形 9"/>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11" name="Freeform 6"/>
          <p:cNvSpPr/>
          <p:nvPr>
            <p:custDataLst>
              <p:tags r:id="rId5"/>
            </p:custDataLst>
          </p:nvPr>
        </p:nvSpPr>
        <p:spPr bwMode="auto">
          <a:xfrm>
            <a:off x="488950" y="1141413"/>
            <a:ext cx="263525" cy="357188"/>
          </a:xfrm>
          <a:prstGeom prst="rect">
            <a:avLst/>
          </a:prstGeom>
          <a:solidFill>
            <a:schemeClr val="accent1"/>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12" name="Freeform 7"/>
          <p:cNvSpPr/>
          <p:nvPr>
            <p:custDataLst>
              <p:tags r:id="rId6"/>
            </p:custDataLst>
          </p:nvPr>
        </p:nvSpPr>
        <p:spPr bwMode="auto">
          <a:xfrm>
            <a:off x="282575" y="4922838"/>
            <a:ext cx="412750" cy="557213"/>
          </a:xfrm>
          <a:prstGeom prst="rect">
            <a:avLst/>
          </a:prstGeom>
          <a:solidFill>
            <a:srgbClr val="FFC543"/>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13" name="Freeform 8"/>
          <p:cNvSpPr/>
          <p:nvPr>
            <p:custDataLst>
              <p:tags r:id="rId7"/>
            </p:custDataLst>
          </p:nvPr>
        </p:nvSpPr>
        <p:spPr bwMode="auto">
          <a:xfrm>
            <a:off x="1600200" y="5073650"/>
            <a:ext cx="307975" cy="406400"/>
          </a:xfrm>
          <a:prstGeom prst="rect">
            <a:avLst/>
          </a:prstGeom>
          <a:solidFill>
            <a:srgbClr val="464F5A"/>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14"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1" i="0" u="none" strike="noStrike" kern="1200" cap="none" spc="0" normalizeH="0" baseline="0" noProof="1">
              <a:ln>
                <a:noFill/>
              </a:ln>
              <a:solidFill>
                <a:schemeClr val="tx1"/>
              </a:solidFill>
              <a:effectLst/>
              <a:uLnTx/>
              <a:uFillTx/>
              <a:latin typeface="+mn-ea"/>
              <a:ea typeface="华文细黑" panose="02010600040101010101" pitchFamily="2" charset="-122"/>
              <a:cs typeface="+mn-cs"/>
            </a:endParaRPr>
          </a:p>
        </p:txBody>
      </p:sp>
      <p:sp>
        <p:nvSpPr>
          <p:cNvPr id="15" name="日期占位符 1"/>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smtClean="0">
                <a:latin typeface="FrutigerNext LT Regular" pitchFamily="2" charset="0"/>
                <a:ea typeface="华文细黑" panose="0201060004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554F731-F1D9-405D-9569-D30D95C59ADF}" type="datetimeFigureOut">
              <a:rPr kumimoji="0" lang="zh-CN" altLang="en-US" sz="900" b="1" i="0" u="none" strike="noStrike" kern="1200" cap="none" spc="0" normalizeH="0" baseline="0" noProof="1">
                <a:ln>
                  <a:noFill/>
                </a:ln>
                <a:solidFill>
                  <a:schemeClr val="tx1">
                    <a:tint val="75000"/>
                  </a:schemeClr>
                </a:solidFill>
                <a:effectLst/>
                <a:uLnTx/>
                <a:uFillTx/>
                <a:latin typeface="FrutigerNext LT Regular" pitchFamily="2" charset="0"/>
                <a:ea typeface="华文细黑" panose="02010600040101010101" pitchFamily="2" charset="-122"/>
                <a:cs typeface="+mn-cs"/>
              </a:rPr>
              <a:t>2022/10/20</a:t>
            </a:fld>
            <a:endParaRPr kumimoji="0" lang="zh-CN" altLang="en-US" sz="900" b="1" i="0" u="none" strike="noStrike" kern="1200" cap="none" spc="0" normalizeH="0" baseline="0" noProof="1">
              <a:ln>
                <a:noFill/>
              </a:ln>
              <a:solidFill>
                <a:schemeClr val="tx1">
                  <a:tint val="75000"/>
                </a:schemeClr>
              </a:solidFill>
              <a:effectLst/>
              <a:uLnTx/>
              <a:uFillTx/>
              <a:latin typeface="FrutigerNext LT Regular" pitchFamily="2" charset="0"/>
              <a:ea typeface="华文细黑" panose="02010600040101010101" pitchFamily="2" charset="-122"/>
              <a:cs typeface="+mn-cs"/>
            </a:endParaRPr>
          </a:p>
        </p:txBody>
      </p:sp>
      <p:sp>
        <p:nvSpPr>
          <p:cNvPr id="16" name="页脚占位符 2"/>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17" name="灯片编号占位符 3"/>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FrutigerNext LT Regular" pitchFamily="2" charset="0"/>
                <a:ea typeface="宋体" panose="02010600030101010101" pitchFamily="2" charset="-122"/>
                <a:cs typeface="+mn-cs"/>
              </a:rPr>
              <a:t>‹#›</a:t>
            </a:fld>
            <a:endParaRPr lang="zh-CN" altLang="en-US" strike="noStrike" noProof="1">
              <a:latin typeface="FrutigerNext LT Regular"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bldLvl="0" animBg="1"/>
      <p:bldP spid="12" grpId="0" bldLvl="0" animBg="1"/>
      <p:bldP spid="13" grpId="0" bldLvl="0" animBg="1"/>
      <p:bldP spid="14" grpId="0" bldLvl="0" animBg="1"/>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8194" name="Picture 2" descr="2"/>
          <p:cNvPicPr>
            <a:picLocks noChangeAspect="1"/>
          </p:cNvPicPr>
          <p:nvPr/>
        </p:nvPicPr>
        <p:blipFill>
          <a:blip r:embed="rId2"/>
          <a:stretch>
            <a:fillRect/>
          </a:stretch>
        </p:blipFill>
        <p:spPr>
          <a:xfrm>
            <a:off x="-14287" y="754063"/>
            <a:ext cx="9142412" cy="3810000"/>
          </a:xfrm>
          <a:prstGeom prst="rect">
            <a:avLst/>
          </a:prstGeom>
          <a:noFill/>
          <a:ln w="9525">
            <a:noFill/>
          </a:ln>
        </p:spPr>
      </p:pic>
      <p:pic>
        <p:nvPicPr>
          <p:cNvPr id="8195" name="Picture 6" descr="院徽副本"/>
          <p:cNvPicPr>
            <a:picLocks noChangeAspect="1"/>
          </p:cNvPicPr>
          <p:nvPr/>
        </p:nvPicPr>
        <p:blipFill>
          <a:blip r:embed="rId3"/>
          <a:stretch>
            <a:fillRect/>
          </a:stretch>
        </p:blipFill>
        <p:spPr>
          <a:xfrm>
            <a:off x="7759700" y="823913"/>
            <a:ext cx="957263" cy="1189037"/>
          </a:xfrm>
          <a:prstGeom prst="rect">
            <a:avLst/>
          </a:prstGeom>
          <a:noFill/>
          <a:ln w="9525">
            <a:noFill/>
          </a:ln>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单击此处编辑母版副标题样式</a:t>
            </a:r>
          </a:p>
        </p:txBody>
      </p:sp>
      <p:sp>
        <p:nvSpPr>
          <p:cNvPr id="12" name="Rectangle 5"/>
          <p:cNvSpPr>
            <a:spLocks noGrp="1" noChangeArrowheads="1"/>
          </p:cNvSpPr>
          <p:nvPr>
            <p:ph type="dt" sz="quarter" idx="2"/>
          </p:nvPr>
        </p:nvSpPr>
        <p:spPr bwMode="auto">
          <a:xfrm>
            <a:off x="8050213" y="4246563"/>
            <a:ext cx="2135188" cy="473075"/>
          </a:xfrm>
          <a:prstGeom prst="rect">
            <a:avLst/>
          </a:prstGeom>
          <a:noFill/>
          <a:ln w="9525">
            <a:noFill/>
            <a:miter lim="800000"/>
          </a:ln>
          <a:effectLst/>
        </p:spPr>
        <p:txBody>
          <a:bodyPr vert="horz" wrap="square" lIns="71551" tIns="35775" rIns="71551" bIns="35775" numCol="1" anchor="t" anchorCtr="0" compatLnSpc="1"/>
          <a:lstStyle>
            <a:lvl1pPr eaLnBrk="0" hangingPunct="0">
              <a:lnSpc>
                <a:spcPct val="100000"/>
              </a:lnSpc>
              <a:defRPr sz="1100" b="0">
                <a:latin typeface="FrutigerNext LT Regular" pitchFamily="2"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D5D5EF5B-5F35-46B1-8425-E7F4C87DD4B3}" type="datetime1">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rPr>
              <a:t>2022/10/20</a:t>
            </a:fld>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日期占位符 3"/>
          <p:cNvSpPr>
            <a:spLocks noGrp="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eaLnBrk="0" hangingPunct="0">
              <a:defRPr sz="1100" b="0"/>
            </a:lvl1pPr>
          </a:lstStyle>
          <a:p>
            <a:pPr marL="0" marR="0" lvl="0" indent="0" algn="l" defTabSz="914400" rtl="0" eaLnBrk="0" fontAlgn="base" latinLnBrk="0" hangingPunct="0">
              <a:lnSpc>
                <a:spcPct val="85000"/>
              </a:lnSpc>
              <a:spcBef>
                <a:spcPct val="0"/>
              </a:spcBef>
              <a:spcAft>
                <a:spcPct val="0"/>
              </a:spcAft>
              <a:buClrTx/>
              <a:buSzTx/>
              <a:buFontTx/>
              <a:buNone/>
              <a:defRPr/>
            </a:pPr>
            <a:endParaRPr kumimoji="0" lang="en-GB" altLang="en-US" sz="1100" b="0" i="0" u="none" strike="noStrike" kern="1200" cap="none" spc="0" normalizeH="0" baseline="0" noProof="0">
              <a:ln>
                <a:noFill/>
              </a:ln>
              <a:solidFill>
                <a:schemeClr val="tx1"/>
              </a:solidFill>
              <a:effectLst/>
              <a:uLnTx/>
              <a:uFillTx/>
              <a:latin typeface="FrutigerNext LT Bold" pitchFamily="4" charset="0"/>
              <a:ea typeface="MS PGothic" panose="020B0600070205080204" pitchFamily="34" charset="-128"/>
              <a:cs typeface="+mn-cs"/>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sz="1100">
                <a:latin typeface="FrutigerNext LT Regular" pitchFamily="2" charset="0"/>
                <a:ea typeface="华文细黑" panose="0201060004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 HTTP://DLS.ZZU.EDU.CN       </a:t>
            </a:r>
            <a:r>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trike="noStrike" noProof="1"/>
              <a:t>单击此处编辑母版文本样式</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3"/>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6"/>
          <p:cNvSpPr>
            <a:spLocks noGrp="1"/>
          </p:cNvSpPr>
          <p:nvPr>
            <p:ph type="ftr" sz="quarter" idx="1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sz="1300">
                <a:latin typeface="FrutigerNext LT Regular" pitchFamily="2" charset="0"/>
                <a:ea typeface="华文细黑" panose="0201060004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3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 HTTP://DLS.ZZU.EDU.CN       </a:t>
            </a:r>
            <a:r>
              <a:rPr kumimoji="0" lang="zh-CN" altLang="en-US" sz="13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1"/>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
                <a:schemeClr val="bg2"/>
              </a:buClr>
              <a:buSzPct val="60000"/>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3"/>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53286" y="430893"/>
            <a:ext cx="5812127" cy="5405059"/>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3"/>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trike="noStrike" noProof="1"/>
              <a:t>单击此处编辑母版文本样式</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Tx/>
              <a:buSzTx/>
              <a:buFontTx/>
              <a:buNone/>
              <a:defRPr/>
            </a:pPr>
            <a:endParaRPr kumimoji="0" lang="zh-CN" altLang="en-US" sz="26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53286" y="638024"/>
            <a:ext cx="5812127" cy="5197928"/>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trike="noStrike" noProof="1"/>
              <a:t>单击此处编辑母版文本样式</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00000"/>
              </a:lnSpc>
              <a:spcBef>
                <a:spcPct val="20000"/>
              </a:spcBef>
              <a:spcAft>
                <a:spcPct val="0"/>
              </a:spcAft>
              <a:buClrTx/>
              <a:buSzTx/>
              <a:buFontTx/>
              <a:buNone/>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2.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3.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4.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0"/>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28"/>
            </p:custDataLst>
          </p:nvPr>
        </p:nvSpPr>
        <p:spPr>
          <a:xfrm>
            <a:off x="628650" y="366713"/>
            <a:ext cx="7888288" cy="863600"/>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1027" name="Text Placeholder 2"/>
          <p:cNvSpPr>
            <a:spLocks noGrp="1"/>
          </p:cNvSpPr>
          <p:nvPr>
            <p:ph type="body"/>
            <p:custDataLst>
              <p:tags r:id="rId29"/>
            </p:custDataLst>
          </p:nvPr>
        </p:nvSpPr>
        <p:spPr>
          <a:xfrm>
            <a:off x="628650" y="1462088"/>
            <a:ext cx="7888288" cy="4714875"/>
          </a:xfrm>
          <a:prstGeom prst="rect">
            <a:avLst/>
          </a:prstGeom>
          <a:noFill/>
          <a:ln w="9525">
            <a:noFill/>
          </a:ln>
        </p:spPr>
        <p:txBody>
          <a:bodyPr anchor="t"/>
          <a:lstStyle/>
          <a:p>
            <a:pPr lvl="0"/>
            <a:r>
              <a:rPr lang="" altLang="en-US" dirty="0"/>
              <a:t>单击此处编辑母版文本样式</a:t>
            </a:r>
          </a:p>
          <a:p>
            <a:pPr lvl="1" indent="-171450"/>
            <a:r>
              <a:rPr lang="" altLang="en-US" dirty="0"/>
              <a:t>第二级</a:t>
            </a:r>
          </a:p>
          <a:p>
            <a:pPr lvl="2" indent="-171450"/>
            <a:r>
              <a:rPr lang="" altLang="en-US" dirty="0"/>
              <a:t>第三级</a:t>
            </a:r>
          </a:p>
          <a:p>
            <a:pPr lvl="3" indent="-171450"/>
            <a:r>
              <a:rPr lang="" altLang="en-US" dirty="0"/>
              <a:t>第四级</a:t>
            </a:r>
          </a:p>
          <a:p>
            <a:pPr lvl="4" indent="-171450"/>
            <a:r>
              <a:rPr lang="" altLang="en-US" dirty="0"/>
              <a:t>第五级</a:t>
            </a:r>
            <a:endParaRPr lang="" altLang="zh-CN" dirty="0"/>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noProof="1">
                <a:solidFill>
                  <a:schemeClr val="tx1">
                    <a:tint val="75000"/>
                  </a:schemeClr>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noProof="1">
                <a:solidFill>
                  <a:schemeClr val="tx1">
                    <a:tint val="75000"/>
                  </a:schemeClr>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1">
              <a:ln>
                <a:noFill/>
              </a:ln>
              <a:solidFill>
                <a:schemeClr val="tx1">
                  <a:tint val="75000"/>
                </a:schemeClr>
              </a:solidFill>
              <a:effectLst/>
              <a:uLnTx/>
              <a:uFillTx/>
              <a:latin typeface="华文细黑" panose="02010600040101010101" pitchFamily="2" charset="-122"/>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lvl1pPr algn="r">
              <a:defRPr sz="900">
                <a:solidFill>
                  <a:srgbClr val="9D9D9D"/>
                </a:solidFill>
                <a:latin typeface="Times New Roman" panose="02020603050405020304" pitchFamily="18" charset="0"/>
                <a:ea typeface="宋体" panose="02010600030101010101" pitchFamily="2" charset="-122"/>
              </a:defRPr>
            </a:lvl1p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descr="7"/>
          <p:cNvPicPr>
            <a:picLocks noChangeAspect="1"/>
          </p:cNvPicPr>
          <p:nvPr/>
        </p:nvPicPr>
        <p:blipFill>
          <a:blip r:embed="rId13"/>
          <a:stretch>
            <a:fillRect/>
          </a:stretch>
        </p:blipFill>
        <p:spPr>
          <a:xfrm>
            <a:off x="0" y="6572250"/>
            <a:ext cx="9142413" cy="285750"/>
          </a:xfrm>
          <a:prstGeom prst="rect">
            <a:avLst/>
          </a:prstGeom>
          <a:noFill/>
          <a:ln w="9525">
            <a:noFill/>
          </a:ln>
        </p:spPr>
      </p:pic>
      <p:sp>
        <p:nvSpPr>
          <p:cNvPr id="1027"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a:defRPr sz="1400">
                <a:latin typeface="FrutigerNext LT Bold" pitchFamily="4" charset="0"/>
                <a:ea typeface="MS PGothic" panose="020B0600070205080204" pitchFamily="34" charset="-128"/>
              </a:defRPr>
            </a:lvl1pPr>
          </a:lstStyle>
          <a:p>
            <a:pPr lvl="0" eaLnBrk="1" fontAlgn="base" hangingPunct="1">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z="1100" strike="noStrike" noProof="1" dirty="0">
                <a:latin typeface="FrutigerNext LT Bold" pitchFamily="4" charset="0"/>
                <a:ea typeface="MS PGothic" panose="020B0600070205080204" pitchFamily="34" charset="-128"/>
                <a:cs typeface="+mn-cs"/>
              </a:rPr>
              <a:t>‹#›</a:t>
            </a:fld>
            <a:endParaRPr lang="de-DE" altLang="en-US" sz="1100" strike="noStrike" noProof="1">
              <a:latin typeface="FrutigerNext LT Bold" pitchFamily="4" charset="0"/>
              <a:ea typeface="MS PGothic" panose="020B0600070205080204" pitchFamily="34" charset="-128"/>
            </a:endParaRPr>
          </a:p>
        </p:txBody>
      </p:sp>
      <p:sp>
        <p:nvSpPr>
          <p:cNvPr id="2052" name="Rectangle 4"/>
          <p:cNvSpPr>
            <a:spLocks noGrp="1"/>
          </p:cNvSpPr>
          <p:nvPr>
            <p:ph type="title"/>
          </p:nvPr>
        </p:nvSpPr>
        <p:spPr>
          <a:xfrm>
            <a:off x="652463" y="190500"/>
            <a:ext cx="7745412" cy="869950"/>
          </a:xfrm>
          <a:prstGeom prst="rect">
            <a:avLst/>
          </a:prstGeom>
          <a:noFill/>
          <a:ln w="9525">
            <a:noFill/>
          </a:ln>
        </p:spPr>
        <p:txBody>
          <a:bodyPr lIns="71551" tIns="35775" rIns="71551" bIns="35775" anchor="ctr"/>
          <a:lstStyle/>
          <a:p>
            <a:pPr lvl="0"/>
            <a:r>
              <a:rPr lang="" altLang="en-US" dirty="0"/>
              <a:t>单击此处编辑母版标题样式</a:t>
            </a:r>
          </a:p>
        </p:txBody>
      </p:sp>
      <p:sp>
        <p:nvSpPr>
          <p:cNvPr id="2053" name="Rectangle 5"/>
          <p:cNvSpPr>
            <a:spLocks noGrp="1"/>
          </p:cNvSpPr>
          <p:nvPr>
            <p:ph type="body"/>
          </p:nvPr>
        </p:nvSpPr>
        <p:spPr>
          <a:xfrm>
            <a:off x="652463" y="1428750"/>
            <a:ext cx="7931150" cy="4667250"/>
          </a:xfrm>
          <a:prstGeom prst="rect">
            <a:avLst/>
          </a:prstGeom>
          <a:noFill/>
          <a:ln w="9525">
            <a:noFill/>
          </a:ln>
        </p:spPr>
        <p:txBody>
          <a:bodyPr lIns="71562" tIns="35781" rIns="71562" bIns="35781" anchor="t"/>
          <a:lstStyle/>
          <a:p>
            <a:pPr lvl="0"/>
            <a:r>
              <a:rPr lang="" altLang="en-US" dirty="0"/>
              <a:t>单击此处编辑母版文本样式</a:t>
            </a:r>
          </a:p>
          <a:p>
            <a:pPr lvl="1" indent="-222250"/>
            <a:r>
              <a:rPr lang="" altLang="en-US" dirty="0"/>
              <a:t>第二级</a:t>
            </a:r>
          </a:p>
          <a:p>
            <a:pPr lvl="2" indent="-179705"/>
            <a:r>
              <a:rPr lang="" altLang="en-US" dirty="0"/>
              <a:t>第三级</a:t>
            </a:r>
          </a:p>
          <a:p>
            <a:pPr lvl="3" indent="-179070"/>
            <a:r>
              <a:rPr lang="" altLang="en-US" dirty="0"/>
              <a:t>第四级</a:t>
            </a:r>
          </a:p>
          <a:p>
            <a:pPr lvl="4" indent="-179070"/>
            <a:r>
              <a:rPr lang="" altLang="en-US" dirty="0"/>
              <a:t>第五级</a:t>
            </a:r>
          </a:p>
        </p:txBody>
      </p:sp>
      <p:pic>
        <p:nvPicPr>
          <p:cNvPr id="2054" name="Picture 6" descr="院徽副本"/>
          <p:cNvPicPr>
            <a:picLocks noChangeAspect="1"/>
          </p:cNvPicPr>
          <p:nvPr/>
        </p:nvPicPr>
        <p:blipFill>
          <a:blip r:embed="rId14"/>
          <a:stretch>
            <a:fillRect/>
          </a:stretch>
        </p:blipFill>
        <p:spPr>
          <a:xfrm>
            <a:off x="7904163" y="190500"/>
            <a:ext cx="741362" cy="890588"/>
          </a:xfrm>
          <a:prstGeom prst="rect">
            <a:avLst/>
          </a:prstGeom>
          <a:noFill/>
          <a:ln w="9525">
            <a:noFill/>
          </a:ln>
        </p:spPr>
      </p:pic>
      <p:sp>
        <p:nvSpPr>
          <p:cNvPr id="7" name="Line 4"/>
          <p:cNvSpPr>
            <a:spLocks noChangeShapeType="1"/>
          </p:cNvSpPr>
          <p:nvPr/>
        </p:nvSpPr>
        <p:spPr bwMode="auto">
          <a:xfrm>
            <a:off x="19050" y="1143000"/>
            <a:ext cx="9080500" cy="0"/>
          </a:xfrm>
          <a:prstGeom prst="line">
            <a:avLst/>
          </a:prstGeom>
          <a:noFill/>
          <a:ln w="38100" cap="flat" cmpd="dbl">
            <a:solidFill>
              <a:srgbClr val="B2B2B2"/>
            </a:solidFill>
            <a:round/>
          </a:ln>
          <a:effectLst/>
        </p:spPr>
        <p:txBody>
          <a:bodyPr lIns="55893" tIns="27947" rIns="55893" bIns="27947"/>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10"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lgn="ctr">
              <a:defRPr sz="900" b="0">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pitchFamily="34" charset="-122"/>
          <a:ea typeface="微软雅黑" panose="020B0503020204020204" pitchFamily="3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pitchFamily="34" charset="-122"/>
          <a:ea typeface="微软雅黑" panose="020B0503020204020204" pitchFamily="3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pitchFamily="34" charset="-122"/>
          <a:ea typeface="微软雅黑" panose="020B0503020204020204" pitchFamily="34" charset="-122"/>
        </a:defRPr>
      </a:lvl3pPr>
      <a:lvl4pPr marL="1250950"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pitchFamily="34" charset="-122"/>
          <a:ea typeface="微软雅黑" panose="020B0503020204020204" pitchFamily="34" charset="-122"/>
        </a:defRPr>
      </a:lvl4pPr>
      <a:lvl5pPr marL="1609725" indent="-179705"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4450" y="98425"/>
            <a:ext cx="239713" cy="252413"/>
          </a:xfrm>
          <a:prstGeom prst="rect">
            <a:avLst/>
          </a:prstGeom>
          <a:solidFill>
            <a:srgbClr val="DDDDDD"/>
          </a:solidFill>
          <a:ln w="9525">
            <a:noFill/>
            <a:miter lim="800000"/>
          </a:ln>
          <a:effectLst/>
        </p:spPr>
        <p:txBody>
          <a:bodyPr wrap="none" lIns="55884" tIns="27941" rIns="55884" bIns="27941"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3075" name="Rectangle 3"/>
          <p:cNvSpPr>
            <a:spLocks noGrp="1"/>
          </p:cNvSpPr>
          <p:nvPr>
            <p:ph type="title"/>
          </p:nvPr>
        </p:nvSpPr>
        <p:spPr>
          <a:xfrm>
            <a:off x="652463" y="636588"/>
            <a:ext cx="7931150" cy="869950"/>
          </a:xfrm>
          <a:prstGeom prst="rect">
            <a:avLst/>
          </a:prstGeom>
          <a:noFill/>
          <a:ln w="9525">
            <a:noFill/>
          </a:ln>
        </p:spPr>
        <p:txBody>
          <a:bodyPr lIns="71562" tIns="35781" rIns="71562" bIns="35781" anchor="ctr"/>
          <a:lstStyle/>
          <a:p>
            <a:pPr lvl="0"/>
            <a:r>
              <a:rPr lang="" altLang="en-US" dirty="0"/>
              <a:t>单击此处编辑母版标题样式</a:t>
            </a:r>
          </a:p>
        </p:txBody>
      </p:sp>
      <p:sp>
        <p:nvSpPr>
          <p:cNvPr id="3076" name="Rectangle 4"/>
          <p:cNvSpPr>
            <a:spLocks noGrp="1"/>
          </p:cNvSpPr>
          <p:nvPr>
            <p:ph type="body"/>
          </p:nvPr>
        </p:nvSpPr>
        <p:spPr>
          <a:xfrm>
            <a:off x="652463" y="1643063"/>
            <a:ext cx="7931150" cy="4192587"/>
          </a:xfrm>
          <a:prstGeom prst="rect">
            <a:avLst/>
          </a:prstGeom>
          <a:noFill/>
          <a:ln w="9525">
            <a:noFill/>
          </a:ln>
        </p:spPr>
        <p:txBody>
          <a:bodyPr lIns="71562" tIns="35781" rIns="71562" bIns="35781" anchor="t"/>
          <a:lstStyle/>
          <a:p>
            <a:pPr lvl="0"/>
            <a:r>
              <a:rPr lang="" altLang="en-US" dirty="0"/>
              <a:t>单击此处编辑母版文本样式</a:t>
            </a:r>
          </a:p>
          <a:p>
            <a:pPr lvl="1" indent="-222250"/>
            <a:r>
              <a:rPr lang="" altLang="en-US" dirty="0"/>
              <a:t>第二级</a:t>
            </a:r>
          </a:p>
          <a:p>
            <a:pPr lvl="2" indent="-179705"/>
            <a:r>
              <a:rPr lang="" altLang="en-US" dirty="0"/>
              <a:t>第三级</a:t>
            </a:r>
          </a:p>
          <a:p>
            <a:pPr lvl="3" indent="-177800"/>
            <a:r>
              <a:rPr lang="" altLang="en-US" dirty="0"/>
              <a:t>第四级</a:t>
            </a:r>
          </a:p>
          <a:p>
            <a:pPr lvl="4" indent="-179070"/>
            <a:r>
              <a:rPr lang="" altLang="en-US" dirty="0"/>
              <a:t>第五级</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0950"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09725"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0950" indent="-179705" algn="l" defTabSz="714375" rtl="0" eaLnBrk="0" fontAlgn="base" hangingPunct="0">
        <a:spcBef>
          <a:spcPct val="20000"/>
        </a:spcBef>
        <a:spcAft>
          <a:spcPct val="0"/>
        </a:spcAft>
        <a:buChar char="–"/>
        <a:defRPr sz="1500">
          <a:solidFill>
            <a:schemeClr val="tx1"/>
          </a:solidFill>
          <a:latin typeface="+mn-lt"/>
          <a:ea typeface="+mn-ea"/>
        </a:defRPr>
      </a:lvl4pPr>
      <a:lvl5pPr marL="1609725" indent="-179705"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s://baijiahao.baidu.com/s?id=1599909343396164902&amp;wfr=spider&amp;for=pc" TargetMode="External"/><Relationship Id="rId7" Type="http://schemas.openxmlformats.org/officeDocument/2006/relationships/image" Target="../media/image10.jpeg"/><Relationship Id="rId2" Type="http://schemas.openxmlformats.org/officeDocument/2006/relationships/hyperlink" Target="&#37197;&#22871;&#22270;&#20687;&#35270;&#39057;/&#21457;&#31786;&#34255;&#20449;.3gp" TargetMode="Externa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jpeg"/><Relationship Id="rId9"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3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bin"/><Relationship Id="rId1" Type="http://schemas.openxmlformats.org/officeDocument/2006/relationships/slideLayout" Target="../slideLayouts/slideLayout11.xml"/><Relationship Id="rId6" Type="http://schemas.openxmlformats.org/officeDocument/2006/relationships/oleObject" Target="../embeddings/oleObject4.bin"/><Relationship Id="rId5" Type="http://schemas.openxmlformats.org/officeDocument/2006/relationships/image" Target="../media/image24.wmf"/><Relationship Id="rId4"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30.wmf"/><Relationship Id="rId2" Type="http://schemas.openxmlformats.org/officeDocument/2006/relationships/hyperlink" Target="https://haokan.baidu.com/v?pd=wisenatural&amp;vid=2211584119988659600" TargetMode="External"/><Relationship Id="rId1" Type="http://schemas.openxmlformats.org/officeDocument/2006/relationships/slideLayout" Target="../slideLayouts/slideLayout2.xml"/><Relationship Id="rId6" Type="http://schemas.openxmlformats.org/officeDocument/2006/relationships/image" Target="../media/image27.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image" Target="../media/image6.jpeg"/><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8.bin"/><Relationship Id="rId14" Type="http://schemas.openxmlformats.org/officeDocument/2006/relationships/image" Target="../media/image31.wmf"/></Relationships>
</file>

<file path=ppt/slides/_rels/slide3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33.wmf"/><Relationship Id="rId4" Type="http://schemas.openxmlformats.org/officeDocument/2006/relationships/oleObject" Target="../embeddings/oleObject12.bin"/></Relationships>
</file>

<file path=ppt/slides/_rels/slide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4.bin"/><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38.wmf"/><Relationship Id="rId10" Type="http://schemas.openxmlformats.org/officeDocument/2006/relationships/image" Target="../media/image6.jpeg"/><Relationship Id="rId4" Type="http://schemas.openxmlformats.org/officeDocument/2006/relationships/oleObject" Target="../embeddings/oleObject16.bin"/><Relationship Id="rId9" Type="http://schemas.openxmlformats.org/officeDocument/2006/relationships/image" Target="../media/image40.wmf"/></Relationships>
</file>

<file path=ppt/slides/_rels/slide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44.wmf"/><Relationship Id="rId4" Type="http://schemas.openxmlformats.org/officeDocument/2006/relationships/oleObject" Target="../embeddings/oleObject20.bin"/></Relationships>
</file>

<file path=ppt/slides/_rels/slide6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22.bin"/><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0.wmf"/><Relationship Id="rId5" Type="http://schemas.openxmlformats.org/officeDocument/2006/relationships/oleObject" Target="../embeddings/oleObject24.bin"/><Relationship Id="rId4" Type="http://schemas.openxmlformats.org/officeDocument/2006/relationships/image" Target="../media/image49.wmf"/><Relationship Id="rId9" Type="http://schemas.openxmlformats.org/officeDocument/2006/relationships/image" Target="../media/image6.jpeg"/></Relationships>
</file>

<file path=ppt/slides/_rels/slide7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image" Target="../media/image6.jpeg"/><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56.wmf"/><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3.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29.bin"/></Relationships>
</file>

<file path=ppt/slides/_rels/slide79.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8.wmf"/><Relationship Id="rId4" Type="http://schemas.openxmlformats.org/officeDocument/2006/relationships/oleObject" Target="../embeddings/oleObject32.bin"/></Relationships>
</file>

<file path=ppt/slides/_rels/slide80.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59.wmf"/><Relationship Id="rId11" Type="http://schemas.openxmlformats.org/officeDocument/2006/relationships/image" Target="../media/image6.jpeg"/><Relationship Id="rId5" Type="http://schemas.openxmlformats.org/officeDocument/2006/relationships/oleObject" Target="../embeddings/oleObject34.bin"/><Relationship Id="rId10" Type="http://schemas.openxmlformats.org/officeDocument/2006/relationships/image" Target="../media/image61.wmf"/><Relationship Id="rId4" Type="http://schemas.openxmlformats.org/officeDocument/2006/relationships/image" Target="../media/image53.wmf"/><Relationship Id="rId9" Type="http://schemas.openxmlformats.org/officeDocument/2006/relationships/oleObject" Target="../embeddings/oleObject36.bin"/></Relationships>
</file>

<file path=ppt/slides/_rels/slide8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oleObject" Target="../embeddings/oleObject37.bin"/><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84.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38.bin"/><Relationship Id="rId1" Type="http://schemas.openxmlformats.org/officeDocument/2006/relationships/slideLayout" Target="../slideLayouts/slideLayout14.xml"/><Relationship Id="rId6" Type="http://schemas.openxmlformats.org/officeDocument/2006/relationships/image" Target="../media/image6.jpeg"/><Relationship Id="rId5" Type="http://schemas.openxmlformats.org/officeDocument/2006/relationships/image" Target="../media/image64.wmf"/><Relationship Id="rId4" Type="http://schemas.openxmlformats.org/officeDocument/2006/relationships/oleObject" Target="../embeddings/oleObject39.bin"/></Relationships>
</file>

<file path=ppt/slides/_rels/slide8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40.bin"/><Relationship Id="rId1" Type="http://schemas.openxmlformats.org/officeDocument/2006/relationships/slideLayout" Target="../slideLayouts/slideLayout16.xml"/><Relationship Id="rId4" Type="http://schemas.openxmlformats.org/officeDocument/2006/relationships/image" Target="../media/image6.jpeg"/></Relationships>
</file>

<file path=ppt/slides/_rels/slide87.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41.bin"/><Relationship Id="rId1" Type="http://schemas.openxmlformats.org/officeDocument/2006/relationships/slideLayout" Target="../slideLayouts/slideLayout16.xml"/><Relationship Id="rId4" Type="http://schemas.openxmlformats.org/officeDocument/2006/relationships/image" Target="../media/image6.jpeg"/></Relationships>
</file>

<file path=ppt/slides/_rels/slide8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66.wmf"/><Relationship Id="rId7" Type="http://schemas.openxmlformats.org/officeDocument/2006/relationships/image" Target="../media/image68.wmf"/><Relationship Id="rId2" Type="http://schemas.openxmlformats.org/officeDocument/2006/relationships/oleObject" Target="../embeddings/oleObject42.bin"/><Relationship Id="rId1" Type="http://schemas.openxmlformats.org/officeDocument/2006/relationships/slideLayout" Target="../slideLayouts/slideLayout17.xml"/><Relationship Id="rId6" Type="http://schemas.openxmlformats.org/officeDocument/2006/relationships/oleObject" Target="../embeddings/oleObject44.bin"/><Relationship Id="rId5" Type="http://schemas.openxmlformats.org/officeDocument/2006/relationships/image" Target="../media/image67.wmf"/><Relationship Id="rId4" Type="http://schemas.openxmlformats.org/officeDocument/2006/relationships/oleObject" Target="../embeddings/oleObject43.bin"/></Relationships>
</file>

<file path=ppt/slides/_rels/slide8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69.png"/><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2.xml"/></Relationships>
</file>

<file path=ppt/slides/_rels/slide9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3.xml"/></Relationships>
</file>

<file path=ppt/slides/_rels/slide9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4.xml"/></Relationships>
</file>

<file path=ppt/slides/_rels/slide9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1"/>
          <p:cNvSpPr>
            <a:spLocks noGrp="1"/>
          </p:cNvSpPr>
          <p:nvPr>
            <p:ph type="sldNum" sz="quarter" idx="4"/>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a:t>
            </a:fld>
            <a:endParaRPr lang="zh-CN" altLang="en-US" sz="1400" b="0" dirty="0">
              <a:latin typeface="Times New Roman" panose="02020603050405020304" pitchFamily="18" charset="0"/>
              <a:ea typeface="宋体" panose="02010600030101010101" pitchFamily="2" charset="-122"/>
            </a:endParaRPr>
          </a:p>
        </p:txBody>
      </p:sp>
      <p:sp>
        <p:nvSpPr>
          <p:cNvPr id="2050" name="标题 2049"/>
          <p:cNvSpPr>
            <a:spLocks noGrp="1"/>
          </p:cNvSpPr>
          <p:nvPr>
            <p:ph type="ctrTitle"/>
          </p:nvPr>
        </p:nvSpPr>
        <p:spPr>
          <a:xfrm>
            <a:off x="511175" y="3578225"/>
            <a:ext cx="8164513" cy="1636713"/>
          </a:xfrm>
        </p:spPr>
        <p:txBody>
          <a:bodyPr vert="horz" wrap="square" lIns="92075" tIns="46038" rIns="92075" bIns="46038" numCol="1" anchor="b" anchorCtr="0" compatLnSpc="1">
            <a:norm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rgbClr val="DB4603"/>
                </a:solidFill>
                <a:effectLst/>
                <a:uLnTx/>
                <a:uFillTx/>
                <a:latin typeface="微软雅黑" panose="020B0503020204020204" pitchFamily="34" charset="-122"/>
                <a:ea typeface="微软雅黑" panose="020B0503020204020204" pitchFamily="34" charset="-122"/>
                <a:cs typeface="+mj-cs"/>
                <a:sym typeface="+mn-ea"/>
              </a:rPr>
              <a:t>数字内容安全</a:t>
            </a:r>
            <a:r>
              <a:rPr kumimoji="0" lang="en-US" altLang="zh-CN" sz="3600" b="1" i="0" u="none" strike="noStrike" kern="1200" cap="none" spc="0" normalizeH="0" baseline="0" noProof="1">
                <a:ln>
                  <a:noFill/>
                </a:ln>
                <a:solidFill>
                  <a:srgbClr val="DB4603"/>
                </a:solidFill>
                <a:effectLst/>
                <a:uLnTx/>
                <a:uFillTx/>
                <a:latin typeface="微软雅黑" panose="020B0503020204020204" pitchFamily="34" charset="-122"/>
                <a:ea typeface="微软雅黑" panose="020B0503020204020204" pitchFamily="34" charset="-122"/>
                <a:cs typeface="+mj-cs"/>
                <a:sym typeface="+mn-ea"/>
              </a:rPr>
              <a:t>—</a:t>
            </a:r>
            <a:r>
              <a:rPr kumimoji="0" lang="zh-CN" altLang="en-US" sz="3600" b="1" i="0" u="none" strike="noStrike" kern="1200" cap="none" spc="0" normalizeH="0" baseline="0" noProof="1">
                <a:ln>
                  <a:noFill/>
                </a:ln>
                <a:solidFill>
                  <a:srgbClr val="DB4603"/>
                </a:solidFill>
                <a:effectLst/>
                <a:uLnTx/>
                <a:uFillTx/>
                <a:latin typeface="微软雅黑" panose="020B0503020204020204" pitchFamily="34" charset="-122"/>
                <a:ea typeface="微软雅黑" panose="020B0503020204020204" pitchFamily="34" charset="-122"/>
                <a:cs typeface="+mj-cs"/>
                <a:sym typeface="+mn-ea"/>
              </a:rPr>
              <a:t>信息隐藏与数字水印</a:t>
            </a:r>
            <a:endPar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endParaRPr>
          </a:p>
        </p:txBody>
      </p:sp>
      <p:pic>
        <p:nvPicPr>
          <p:cNvPr id="2" name="图片 1">
            <a:extLst>
              <a:ext uri="{FF2B5EF4-FFF2-40B4-BE49-F238E27FC236}">
                <a16:creationId xmlns:a16="http://schemas.microsoft.com/office/drawing/2014/main" id="{04EF422E-D308-15BA-E0FC-9D74BA2516F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副标题 2">
            <a:extLst>
              <a:ext uri="{FF2B5EF4-FFF2-40B4-BE49-F238E27FC236}">
                <a16:creationId xmlns:a16="http://schemas.microsoft.com/office/drawing/2014/main" id="{25856481-6452-C3FE-39E4-0AFD1F273E3B}"/>
              </a:ext>
            </a:extLst>
          </p:cNvPr>
          <p:cNvSpPr>
            <a:spLocks noGrp="1"/>
          </p:cNvSpPr>
          <p:nvPr>
            <p:ph type="subTitle" idx="1"/>
          </p:nvPr>
        </p:nvSpPr>
        <p:spPr>
          <a:xfrm>
            <a:off x="1143000" y="6321166"/>
            <a:ext cx="6858000" cy="348194"/>
          </a:xfrm>
        </p:spPr>
        <p:txBody>
          <a:bodyPr/>
          <a:lstStyle/>
          <a:p>
            <a:r>
              <a:rPr lang="zh-CN" altLang="en-US" dirty="0">
                <a:solidFill>
                  <a:schemeClr val="tx1"/>
                </a:solidFill>
                <a:latin typeface="方正小篆体" panose="03000509000000000000" pitchFamily="65" charset="-122"/>
                <a:ea typeface="方正小篆体" panose="03000509000000000000" pitchFamily="65" charset="-122"/>
              </a:rPr>
              <a:t>授课教师：吴凌云</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a:t>
            </a:fld>
            <a:endParaRPr lang="zh-CN" altLang="en-US" sz="1400" b="0" dirty="0">
              <a:latin typeface="Times New Roman" panose="02020603050405020304" pitchFamily="18" charset="0"/>
              <a:ea typeface="宋体" panose="02010600030101010101" pitchFamily="2" charset="-122"/>
            </a:endParaRPr>
          </a:p>
        </p:txBody>
      </p:sp>
      <p:sp>
        <p:nvSpPr>
          <p:cNvPr id="18434" name="标题 184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本章内容</a:t>
            </a:r>
          </a:p>
        </p:txBody>
      </p:sp>
      <p:sp>
        <p:nvSpPr>
          <p:cNvPr id="21507" name="文本占位符 18434"/>
          <p:cNvSpPr>
            <a:spLocks noGrp="1"/>
          </p:cNvSpPr>
          <p:nvPr>
            <p:ph idx="1"/>
          </p:nvPr>
        </p:nvSpPr>
        <p:spPr>
          <a:ln/>
        </p:spPr>
        <p:txBody>
          <a:bodyPr vert="horz" wrap="square" lIns="91440" tIns="45720" rIns="91440" bIns="45720" anchor="t"/>
          <a:lstStyle/>
          <a:p>
            <a:pPr marL="0" indent="457200" defTabSz="685800" eaLnBrk="1" hangingPunct="1">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空域和变换域信息隐藏技术</a:t>
            </a:r>
          </a:p>
          <a:p>
            <a:pPr marL="0" indent="457200" defTabSz="685800" eaLnBrk="1" hangingPunct="1">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数字水印框架与评价指标</a:t>
            </a:r>
          </a:p>
          <a:p>
            <a:pPr marL="0" indent="457200" defTabSz="685800" eaLnBrk="1" hangingPunct="1">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版权保护与内容认证数字水印技术</a:t>
            </a:r>
          </a:p>
          <a:p>
            <a:pPr marL="0" indent="457200" defTabSz="685800" eaLnBrk="1" hangingPunct="1">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可逆水印技术 </a:t>
            </a:r>
          </a:p>
          <a:p>
            <a:pPr marL="0" indent="457200" defTabSz="685800" eaLnBrk="1" hangingPunct="1">
              <a:lnSpc>
                <a:spcPct val="150000"/>
              </a:lnSpc>
              <a:spcBef>
                <a:spcPts val="600"/>
              </a:spcBef>
              <a:buClr>
                <a:schemeClr val="accent2"/>
              </a:buClr>
              <a:buSzPct val="80000"/>
            </a:pPr>
            <a:r>
              <a:rPr lang="zh-CN" altLang="en-US" sz="2400" b="1" kern="1200" dirty="0">
                <a:solidFill>
                  <a:schemeClr val="accent1"/>
                </a:solidFill>
                <a:latin typeface="+mn-lt"/>
                <a:ea typeface="华文细黑" panose="02010600040101010101" pitchFamily="2" charset="-122"/>
                <a:cs typeface="+mn-cs"/>
              </a:rPr>
              <a:t>信息隐藏与数字水印技术的发展历程与应用</a:t>
            </a:r>
            <a:endParaRPr lang="zh-CN" altLang="en-US" sz="2800" b="1" kern="1200" dirty="0">
              <a:solidFill>
                <a:schemeClr val="accent1"/>
              </a:solidFill>
              <a:latin typeface="+mn-lt"/>
              <a:ea typeface="华文细黑" panose="02010600040101010101" pitchFamily="2" charset="-122"/>
              <a:cs typeface="+mn-cs"/>
            </a:endParaRPr>
          </a:p>
        </p:txBody>
      </p:sp>
      <p:pic>
        <p:nvPicPr>
          <p:cNvPr id="2" name="图片 1">
            <a:extLst>
              <a:ext uri="{FF2B5EF4-FFF2-40B4-BE49-F238E27FC236}">
                <a16:creationId xmlns:a16="http://schemas.microsoft.com/office/drawing/2014/main" id="{1F1CD990-4E2F-9E06-D5EA-1FE796984ED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a:t>
            </a:fld>
            <a:endParaRPr lang="zh-CN" altLang="en-US" sz="1400" b="0" dirty="0">
              <a:latin typeface="Times New Roman" panose="02020603050405020304" pitchFamily="18" charset="0"/>
              <a:ea typeface="宋体" panose="02010600030101010101" pitchFamily="2" charset="-122"/>
            </a:endParaRPr>
          </a:p>
        </p:txBody>
      </p:sp>
      <p:sp>
        <p:nvSpPr>
          <p:cNvPr id="3074" name="标题 307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学习目标</a:t>
            </a:r>
          </a:p>
        </p:txBody>
      </p:sp>
      <p:sp>
        <p:nvSpPr>
          <p:cNvPr id="37892" name="文本占位符 3074"/>
          <p:cNvSpPr>
            <a:spLocks noGrp="1" noChangeArrowheads="1"/>
          </p:cNvSpPr>
          <p:nvPr>
            <p:ph idx="1"/>
          </p:nvPr>
        </p:nvSpPr>
        <p:spPr/>
        <p:txBody>
          <a:bodyPr vert="horz" wrap="square" lIns="91440" tIns="45720" rIns="91440" bIns="45720" numCol="1" anchor="t" anchorCtr="0" compatLnSpc="1"/>
          <a:lstStyle/>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理解信息隐藏与数字水印技术的基本概念</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掌握空域和变换域的信息隐藏技术、数字水印技术</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了解信息隐藏与数字水印的发展与应用  </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3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2" name="图片 1">
            <a:extLst>
              <a:ext uri="{FF2B5EF4-FFF2-40B4-BE49-F238E27FC236}">
                <a16:creationId xmlns:a16="http://schemas.microsoft.com/office/drawing/2014/main" id="{22129136-1830-11B3-2020-97BCB88102E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D7F47-D22F-4B2E-9C8D-4A65341E3AA7}"/>
              </a:ext>
            </a:extLst>
          </p:cNvPr>
          <p:cNvSpPr>
            <a:spLocks noGrp="1"/>
          </p:cNvSpPr>
          <p:nvPr>
            <p:ph type="title"/>
          </p:nvPr>
        </p:nvSpPr>
        <p:spPr/>
        <p:txBody>
          <a:bodyPr/>
          <a:lstStyle/>
          <a:p>
            <a:r>
              <a:rPr lang="zh-CN" altLang="en-US" dirty="0"/>
              <a:t>囚犯问题</a:t>
            </a:r>
          </a:p>
        </p:txBody>
      </p:sp>
      <p:sp>
        <p:nvSpPr>
          <p:cNvPr id="3" name="内容占位符 2">
            <a:extLst>
              <a:ext uri="{FF2B5EF4-FFF2-40B4-BE49-F238E27FC236}">
                <a16:creationId xmlns:a16="http://schemas.microsoft.com/office/drawing/2014/main" id="{4DB9AA27-CA14-4E3E-90FA-270D706B158A}"/>
              </a:ext>
            </a:extLst>
          </p:cNvPr>
          <p:cNvSpPr>
            <a:spLocks noGrp="1"/>
          </p:cNvSpPr>
          <p:nvPr>
            <p:ph idx="1"/>
          </p:nvPr>
        </p:nvSpPr>
        <p:spPr>
          <a:xfrm>
            <a:off x="628650" y="1462088"/>
            <a:ext cx="7888288" cy="5207272"/>
          </a:xfrm>
        </p:spPr>
        <p:txBody>
          <a:bodyPr/>
          <a:lstStyle/>
          <a:p>
            <a:pPr algn="l">
              <a:lnSpc>
                <a:spcPct val="150000"/>
              </a:lnSpc>
            </a:pPr>
            <a:r>
              <a:rPr lang="zh-CN" altLang="en-US" b="0" i="0" dirty="0">
                <a:solidFill>
                  <a:srgbClr val="333333"/>
                </a:solidFill>
                <a:effectLst/>
                <a:latin typeface="Helvetica Neue"/>
              </a:rPr>
              <a:t>假设</a:t>
            </a:r>
            <a:r>
              <a:rPr lang="en-US" altLang="zh-CN" b="0" i="0" dirty="0">
                <a:solidFill>
                  <a:srgbClr val="333333"/>
                </a:solidFill>
                <a:effectLst/>
                <a:latin typeface="Helvetica Neue"/>
              </a:rPr>
              <a:t>Alice</a:t>
            </a:r>
            <a:r>
              <a:rPr lang="zh-CN" altLang="en-US" b="0" i="0" dirty="0">
                <a:solidFill>
                  <a:srgbClr val="333333"/>
                </a:solidFill>
                <a:effectLst/>
                <a:latin typeface="Helvetica Neue"/>
              </a:rPr>
              <a:t>和</a:t>
            </a:r>
            <a:r>
              <a:rPr lang="en-US" altLang="zh-CN" b="0" i="0" dirty="0">
                <a:solidFill>
                  <a:srgbClr val="333333"/>
                </a:solidFill>
                <a:effectLst/>
                <a:latin typeface="Helvetica Neue"/>
              </a:rPr>
              <a:t>Bob</a:t>
            </a:r>
            <a:r>
              <a:rPr lang="zh-CN" altLang="en-US" b="0" i="0" dirty="0">
                <a:solidFill>
                  <a:srgbClr val="333333"/>
                </a:solidFill>
                <a:effectLst/>
                <a:latin typeface="Helvetica Neue"/>
              </a:rPr>
              <a:t>被捕入狱，</a:t>
            </a:r>
            <a:r>
              <a:rPr lang="en-US" altLang="zh-CN" b="0" i="0" dirty="0">
                <a:solidFill>
                  <a:srgbClr val="333333"/>
                </a:solidFill>
                <a:effectLst/>
                <a:latin typeface="Helvetica Neue"/>
              </a:rPr>
              <a:t>Bob</a:t>
            </a:r>
            <a:r>
              <a:rPr lang="zh-CN" altLang="en-US" b="0" i="0" dirty="0">
                <a:solidFill>
                  <a:srgbClr val="333333"/>
                </a:solidFill>
                <a:effectLst/>
                <a:latin typeface="Helvetica Neue"/>
              </a:rPr>
              <a:t>被关在男牢房，而</a:t>
            </a:r>
            <a:r>
              <a:rPr lang="en-US" altLang="zh-CN" b="0" i="0" dirty="0">
                <a:solidFill>
                  <a:srgbClr val="333333"/>
                </a:solidFill>
                <a:effectLst/>
                <a:latin typeface="Helvetica Neue"/>
              </a:rPr>
              <a:t>Alice</a:t>
            </a:r>
            <a:r>
              <a:rPr lang="zh-CN" altLang="en-US" b="0" i="0" dirty="0">
                <a:solidFill>
                  <a:srgbClr val="333333"/>
                </a:solidFill>
                <a:effectLst/>
                <a:latin typeface="Helvetica Neue"/>
              </a:rPr>
              <a:t>被关在女牢房。看守</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愿意让他们交换信件（消息），但不允许他们加密。但同时，</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意识到这样他们会商讨一个逃跑计划，所以他必须要阅读他们之间的信件。</a:t>
            </a:r>
          </a:p>
          <a:p>
            <a:pPr algn="l">
              <a:lnSpc>
                <a:spcPct val="150000"/>
              </a:lnSpc>
            </a:pPr>
            <a:r>
              <a:rPr lang="en-US" altLang="zh-CN" b="0" i="0" dirty="0">
                <a:solidFill>
                  <a:srgbClr val="333333"/>
                </a:solidFill>
                <a:effectLst/>
                <a:latin typeface="Helvetica Neue"/>
              </a:rPr>
              <a:t>Walter</a:t>
            </a:r>
            <a:r>
              <a:rPr lang="zh-CN" altLang="en-US" b="0" i="0" dirty="0">
                <a:solidFill>
                  <a:srgbClr val="333333"/>
                </a:solidFill>
                <a:effectLst/>
                <a:latin typeface="Helvetica Neue"/>
              </a:rPr>
              <a:t>也希望欺骗他们，他想让他们中的一个将一份欺诈的消息当做来自另一个人的真实消息。但</a:t>
            </a:r>
            <a:r>
              <a:rPr lang="en-US" altLang="zh-CN" b="0" i="0" dirty="0">
                <a:solidFill>
                  <a:srgbClr val="333333"/>
                </a:solidFill>
                <a:effectLst/>
                <a:latin typeface="Helvetica Neue"/>
              </a:rPr>
              <a:t>Alice</a:t>
            </a:r>
            <a:r>
              <a:rPr lang="zh-CN" altLang="en-US" b="0" i="0" dirty="0">
                <a:solidFill>
                  <a:srgbClr val="333333"/>
                </a:solidFill>
                <a:effectLst/>
                <a:latin typeface="Helvetica Neue"/>
              </a:rPr>
              <a:t>和</a:t>
            </a:r>
            <a:r>
              <a:rPr lang="en-US" altLang="zh-CN" b="0" i="0" dirty="0">
                <a:solidFill>
                  <a:srgbClr val="333333"/>
                </a:solidFill>
                <a:effectLst/>
                <a:latin typeface="Helvetica Neue"/>
              </a:rPr>
              <a:t>Bob</a:t>
            </a:r>
            <a:r>
              <a:rPr lang="zh-CN" altLang="en-US" b="0" i="0" dirty="0">
                <a:solidFill>
                  <a:srgbClr val="333333"/>
                </a:solidFill>
                <a:effectLst/>
                <a:latin typeface="Helvetica Neue"/>
              </a:rPr>
              <a:t>愿意冒这种欺诈的危险，否则他们就无法通信了，并且他们必须商讨他们的逃跑计划。为了完成这件事情，他们肯定要欺骗看守，并找出一个秘密通信的方法，他们必须建立一个阈下信道，即完全在</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视野内的他们之间的一个秘密通信信道，即使消息本身并不包含秘密信息。通过交换无害的签名的消息，他们可以互相传送秘密消息，并骗过</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，即使</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始终监视着所有的通信。</a:t>
            </a:r>
          </a:p>
        </p:txBody>
      </p:sp>
      <p:pic>
        <p:nvPicPr>
          <p:cNvPr id="4" name="图片 3">
            <a:extLst>
              <a:ext uri="{FF2B5EF4-FFF2-40B4-BE49-F238E27FC236}">
                <a16:creationId xmlns:a16="http://schemas.microsoft.com/office/drawing/2014/main" id="{234B9B41-FCCE-CD06-667D-B08B12512B4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0152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a:t>
            </a:fld>
            <a:endParaRPr lang="zh-CN" altLang="en-US" sz="1400" b="0" dirty="0">
              <a:latin typeface="Times New Roman" panose="02020603050405020304" pitchFamily="18" charset="0"/>
              <a:ea typeface="宋体" panose="02010600030101010101" pitchFamily="2" charset="-122"/>
            </a:endParaRPr>
          </a:p>
        </p:txBody>
      </p:sp>
      <p:sp>
        <p:nvSpPr>
          <p:cNvPr id="16386" name="标题 163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39940" name="文本占位符 16386"/>
          <p:cNvSpPr>
            <a:spLocks noGrp="1"/>
          </p:cNvSpPr>
          <p:nvPr>
            <p:ph idx="1"/>
          </p:nvPr>
        </p:nvSpPr>
        <p:spPr/>
        <p:txBody>
          <a:bodyPr vert="horz" wrap="square" lIns="91440" tIns="45720" rIns="91440" bIns="45720" anchor="t"/>
          <a:lstStyle/>
          <a:p>
            <a:pPr marL="609600" marR="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远古时代的隐写术</a:t>
            </a:r>
          </a:p>
          <a:p>
            <a:pPr marL="609600" marR="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Char char="!"/>
            </a:pPr>
            <a:endPar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marR="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）用头发掩盖信息 </a:t>
            </a:r>
          </a:p>
          <a:p>
            <a:pPr marL="0" indent="457200" eaLnBrk="1" hangingPunct="1">
              <a:lnSpc>
                <a:spcPct val="150000"/>
              </a:lnSpc>
              <a:spcBef>
                <a:spcPts val="600"/>
              </a:spcBef>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t>
            </a:r>
            <a:r>
              <a:rPr lang="zh-CN" altLang="en-US" sz="2400" b="1" noProof="1">
                <a:latin typeface="华文细黑" panose="02010600040101010101" pitchFamily="2" charset="-122"/>
                <a:ea typeface="华文细黑" panose="02010600040101010101" pitchFamily="2" charset="-122"/>
              </a:rPr>
              <a:t>使用书记板</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隐藏信息 </a:t>
            </a:r>
          </a:p>
          <a:p>
            <a:pPr marL="0" marR="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pP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hlinkClick r:id="rId2" action="ppaction://hlinkfile"/>
              </a:rPr>
              <a:t>使用饰品、衣物等隐藏信息</a:t>
            </a:r>
            <a:endParaRPr kumimoji="0" lang="en-US" altLang="zh-CN"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indent="457200" eaLnBrk="1" hangingPunct="1">
              <a:lnSpc>
                <a:spcPct val="150000"/>
              </a:lnSpc>
              <a:spcBef>
                <a:spcPts val="600"/>
              </a:spcBef>
              <a:buNone/>
            </a:pP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4</a:t>
            </a:r>
            <a:r>
              <a:rPr lang="zh-CN" altLang="en-US" sz="2400" b="1" noProof="1">
                <a:latin typeface="华文细黑" panose="02010600040101010101" pitchFamily="2" charset="-122"/>
                <a:ea typeface="华文细黑" panose="02010600040101010101" pitchFamily="2" charset="-122"/>
              </a:rPr>
              <a:t>）</a:t>
            </a:r>
            <a:r>
              <a:rPr lang="zh-CN" altLang="en-US" sz="2400" b="1" noProof="1">
                <a:latin typeface="华文细黑" panose="02010600040101010101" pitchFamily="2" charset="-122"/>
                <a:ea typeface="华文细黑" panose="02010600040101010101" pitchFamily="2" charset="-122"/>
                <a:hlinkClick r:id="rId3"/>
              </a:rPr>
              <a:t>使用</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hlinkClick r:id="rId3"/>
              </a:rPr>
              <a:t>音乐谱隐藏信息 </a:t>
            </a:r>
            <a:endPar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endParaRPr>
          </a:p>
          <a:p>
            <a:pPr marL="0" indent="457200" eaLnBrk="1" hangingPunct="1">
              <a:lnSpc>
                <a:spcPct val="150000"/>
              </a:lnSpc>
              <a:spcBef>
                <a:spcPts val="600"/>
              </a:spcBef>
              <a:buNone/>
            </a:pP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5</a:t>
            </a:r>
            <a:r>
              <a:rPr lang="zh-CN" altLang="en-US" sz="2400" b="1" noProof="1">
                <a:latin typeface="华文细黑" panose="02010600040101010101" pitchFamily="2" charset="-122"/>
                <a:ea typeface="华文细黑" panose="02010600040101010101" pitchFamily="2" charset="-122"/>
              </a:rPr>
              <a:t>）使用</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离合诗隐藏信息 </a:t>
            </a:r>
          </a:p>
          <a:p>
            <a:pPr marL="0" marR="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pP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6</a:t>
            </a:r>
            <a:r>
              <a:rPr lang="zh-CN" altLang="en-US" sz="2400" b="1" noProof="1">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solidFill>
                  <a:schemeClr val="tx1"/>
                </a:solidFill>
                <a:latin typeface="华文细黑" panose="02010600040101010101" pitchFamily="2" charset="-122"/>
                <a:ea typeface="华文细黑" panose="02010600040101010101" pitchFamily="2" charset="-122"/>
                <a:cs typeface="+mn-cs"/>
              </a:rPr>
              <a:t>使用微小图隐藏信息</a:t>
            </a:r>
            <a:r>
              <a:rPr kumimoji="0" lang="zh-CN" altLang="en-US" sz="2400" b="1" i="0" u="none" strike="noStrike" kern="1200" cap="none" spc="0" normalizeH="0" baseline="0" noProof="1">
                <a:solidFill>
                  <a:schemeClr val="tx1"/>
                </a:solidFill>
                <a:latin typeface="+mn-lt"/>
                <a:ea typeface="+mn-ea"/>
                <a:cs typeface="+mn-cs"/>
              </a:rPr>
              <a:t> </a:t>
            </a:r>
          </a:p>
        </p:txBody>
      </p:sp>
      <p:pic>
        <p:nvPicPr>
          <p:cNvPr id="21506" name="Picture 2">
            <a:extLst>
              <a:ext uri="{FF2B5EF4-FFF2-40B4-BE49-F238E27FC236}">
                <a16:creationId xmlns:a16="http://schemas.microsoft.com/office/drawing/2014/main" id="{B65AB51F-073D-4EAA-B3A9-43EC9CE4B6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08" t="11200" r="8321"/>
          <a:stretch/>
        </p:blipFill>
        <p:spPr bwMode="auto">
          <a:xfrm>
            <a:off x="4932040" y="1282701"/>
            <a:ext cx="4032448" cy="4770436"/>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9AF1A95E-8BD0-4EA2-9935-F887F383CF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7800" y="924719"/>
            <a:ext cx="3257550" cy="5486400"/>
          </a:xfrm>
          <a:prstGeom prst="rect">
            <a:avLst/>
          </a:prstGeom>
        </p:spPr>
      </p:pic>
      <p:pic>
        <p:nvPicPr>
          <p:cNvPr id="5" name="图片 4">
            <a:extLst>
              <a:ext uri="{FF2B5EF4-FFF2-40B4-BE49-F238E27FC236}">
                <a16:creationId xmlns:a16="http://schemas.microsoft.com/office/drawing/2014/main" id="{1E34670B-176C-43B6-A0F9-A6C3E42672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56212" y="924718"/>
            <a:ext cx="3259138" cy="5486400"/>
          </a:xfrm>
          <a:prstGeom prst="rect">
            <a:avLst/>
          </a:prstGeom>
        </p:spPr>
      </p:pic>
      <p:pic>
        <p:nvPicPr>
          <p:cNvPr id="1026" name="Picture 2">
            <a:extLst>
              <a:ext uri="{FF2B5EF4-FFF2-40B4-BE49-F238E27FC236}">
                <a16:creationId xmlns:a16="http://schemas.microsoft.com/office/drawing/2014/main" id="{AD111A92-92F8-48D7-B002-1590AA090D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9014" y="1647031"/>
            <a:ext cx="3238500" cy="42862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9EB4AE9-8A3C-4882-9430-EB45D1A1D6D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6054" y="3117849"/>
            <a:ext cx="2133600" cy="3114675"/>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E763F7F9-5671-E659-A8CA-B97E1AE3533C}"/>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randombar(horizontal)">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21506"/>
                                        </p:tgtEl>
                                      </p:cBhvr>
                                    </p:animEffect>
                                    <p:set>
                                      <p:cBhvr>
                                        <p:cTn id="12" dur="1" fill="hold">
                                          <p:stCondLst>
                                            <p:cond delay="499"/>
                                          </p:stCondLst>
                                        </p:cTn>
                                        <p:tgtEl>
                                          <p:spTgt spid="2150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xit" presetSubtype="4" fill="hold" nodeType="clickEffect">
                                  <p:stCondLst>
                                    <p:cond delay="0"/>
                                  </p:stCondLst>
                                  <p:childTnLst>
                                    <p:animEffect transition="out" filter="wipe(down)">
                                      <p:cBhvr>
                                        <p:cTn id="27" dur="500"/>
                                        <p:tgtEl>
                                          <p:spTgt spid="5"/>
                                        </p:tgtEl>
                                      </p:cBhvr>
                                    </p:animEffect>
                                    <p:set>
                                      <p:cBhvr>
                                        <p:cTn id="28" dur="1" fill="hold">
                                          <p:stCondLst>
                                            <p:cond delay="499"/>
                                          </p:stCondLst>
                                        </p:cTn>
                                        <p:tgtEl>
                                          <p:spTgt spid="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Effect transition="in" filter="wheel(1)">
                                      <p:cBhvr>
                                        <p:cTn id="37" dur="2000"/>
                                        <p:tgtEl>
                                          <p:spTgt spid="1026"/>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28"/>
                                        </p:tgtEl>
                                        <p:attrNameLst>
                                          <p:attrName>style.visibility</p:attrName>
                                        </p:attrNameLst>
                                      </p:cBhvr>
                                      <p:to>
                                        <p:strVal val="visible"/>
                                      </p:to>
                                    </p:set>
                                    <p:animEffect transition="in" filter="fade">
                                      <p:cBhvr>
                                        <p:cTn id="42" dur="1000"/>
                                        <p:tgtEl>
                                          <p:spTgt spid="1028"/>
                                        </p:tgtEl>
                                      </p:cBhvr>
                                    </p:animEffect>
                                    <p:anim calcmode="lin" valueType="num">
                                      <p:cBhvr>
                                        <p:cTn id="43" dur="1000" fill="hold"/>
                                        <p:tgtEl>
                                          <p:spTgt spid="1028"/>
                                        </p:tgtEl>
                                        <p:attrNameLst>
                                          <p:attrName>ppt_x</p:attrName>
                                        </p:attrNameLst>
                                      </p:cBhvr>
                                      <p:tavLst>
                                        <p:tav tm="0">
                                          <p:val>
                                            <p:strVal val="#ppt_x"/>
                                          </p:val>
                                        </p:tav>
                                        <p:tav tm="100000">
                                          <p:val>
                                            <p:strVal val="#ppt_x"/>
                                          </p:val>
                                        </p:tav>
                                      </p:tavLst>
                                    </p:anim>
                                    <p:anim calcmode="lin" valueType="num">
                                      <p:cBhvr>
                                        <p:cTn id="44"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xit" presetSubtype="4" fill="hold" nodeType="clickEffect">
                                  <p:stCondLst>
                                    <p:cond delay="0"/>
                                  </p:stCondLst>
                                  <p:childTnLst>
                                    <p:animEffect transition="out" filter="wipe(down)">
                                      <p:cBhvr>
                                        <p:cTn id="48" dur="500"/>
                                        <p:tgtEl>
                                          <p:spTgt spid="1026"/>
                                        </p:tgtEl>
                                      </p:cBhvr>
                                    </p:animEffect>
                                    <p:set>
                                      <p:cBhvr>
                                        <p:cTn id="49" dur="1" fill="hold">
                                          <p:stCondLst>
                                            <p:cond delay="499"/>
                                          </p:stCondLst>
                                        </p:cTn>
                                        <p:tgtEl>
                                          <p:spTgt spid="1026"/>
                                        </p:tgtEl>
                                        <p:attrNameLst>
                                          <p:attrName>style.visibility</p:attrName>
                                        </p:attrNameLst>
                                      </p:cBhvr>
                                      <p:to>
                                        <p:strVal val="hidden"/>
                                      </p:to>
                                    </p:set>
                                  </p:childTnLst>
                                </p:cTn>
                              </p:par>
                              <p:par>
                                <p:cTn id="50" presetID="22" presetClass="exit" presetSubtype="4" fill="hold" nodeType="withEffect">
                                  <p:stCondLst>
                                    <p:cond delay="0"/>
                                  </p:stCondLst>
                                  <p:childTnLst>
                                    <p:animEffect transition="out" filter="wipe(down)">
                                      <p:cBhvr>
                                        <p:cTn id="51" dur="500"/>
                                        <p:tgtEl>
                                          <p:spTgt spid="1028"/>
                                        </p:tgtEl>
                                      </p:cBhvr>
                                    </p:animEffect>
                                    <p:set>
                                      <p:cBhvr>
                                        <p:cTn id="52" dur="1" fill="hold">
                                          <p:stCondLst>
                                            <p:cond delay="499"/>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CFEF9F8-6923-CC11-AB9A-63B7AE69D0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a:t>
            </a:fld>
            <a:endParaRPr lang="zh-CN" altLang="en-US" sz="1400" b="0" dirty="0">
              <a:latin typeface="Times New Roman" panose="02020603050405020304" pitchFamily="18" charset="0"/>
              <a:ea typeface="宋体" panose="02010600030101010101" pitchFamily="2" charset="-122"/>
            </a:endParaRPr>
          </a:p>
        </p:txBody>
      </p:sp>
      <p:sp>
        <p:nvSpPr>
          <p:cNvPr id="19458" name="标题 194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9219" name="文本占位符 19458"/>
          <p:cNvSpPr>
            <a:spLocks noGrp="1"/>
          </p:cNvSpPr>
          <p:nvPr>
            <p:ph idx="1"/>
          </p:nvPr>
        </p:nvSpPr>
        <p:spPr/>
        <p:txBody>
          <a:bodyPr vert="horz" wrap="square" lIns="91440" tIns="45720" rIns="91440" bIns="45720" numCol="1" rtlCol="0" anchor="t" anchorCtr="0" compatLnSpc="1">
            <a:normAutofit fontScale="97500"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信息隐藏技术产生背景</a:t>
            </a:r>
          </a:p>
          <a:p>
            <a:pPr marL="0" marR="0" lvl="0" indent="594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随着因特网的日益普及，多媒体信息的交流已达到了前所未有的深度和广度，其发布形式愈加丰富。人们如今可以通过因特网发布自己的作品、重要信息和进行网络贸易等 ，但是随之而出现的问题也十分严重：如作品</a:t>
            </a: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侵权</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更加容易，</a:t>
            </a: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篡改</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也更加方便。</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因此如何既充分利用因特网的便利 ，又能有效地保护知识产权，已受到人们的高度重视。这标志着一门新兴的交叉学科</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信息隐藏学</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的正式诞生。</a:t>
            </a:r>
            <a:endParaRPr kumimoji="0" lang="zh-CN" altLang="en-US" sz="24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3" name="图片 2">
            <a:extLst>
              <a:ext uri="{FF2B5EF4-FFF2-40B4-BE49-F238E27FC236}">
                <a16:creationId xmlns:a16="http://schemas.microsoft.com/office/drawing/2014/main" id="{6D19EF85-C230-4E72-9221-241BD74D9631}"/>
              </a:ext>
            </a:extLst>
          </p:cNvPr>
          <p:cNvPicPr>
            <a:picLocks noChangeAspect="1"/>
          </p:cNvPicPr>
          <p:nvPr/>
        </p:nvPicPr>
        <p:blipFill rotWithShape="1">
          <a:blip r:embed="rId3"/>
          <a:srcRect b="3932"/>
          <a:stretch/>
        </p:blipFill>
        <p:spPr>
          <a:xfrm>
            <a:off x="1259632" y="1266728"/>
            <a:ext cx="7682374" cy="4920208"/>
          </a:xfrm>
          <a:prstGeom prst="rect">
            <a:avLst/>
          </a:prstGeom>
        </p:spPr>
      </p:pic>
      <p:pic>
        <p:nvPicPr>
          <p:cNvPr id="4" name="图片 3">
            <a:extLst>
              <a:ext uri="{FF2B5EF4-FFF2-40B4-BE49-F238E27FC236}">
                <a16:creationId xmlns:a16="http://schemas.microsoft.com/office/drawing/2014/main" id="{332C8200-2494-447B-B4E1-C901D18090D0}"/>
              </a:ext>
            </a:extLst>
          </p:cNvPr>
          <p:cNvPicPr>
            <a:picLocks noChangeAspect="1"/>
          </p:cNvPicPr>
          <p:nvPr/>
        </p:nvPicPr>
        <p:blipFill>
          <a:blip r:embed="rId4"/>
          <a:stretch>
            <a:fillRect/>
          </a:stretch>
        </p:blipFill>
        <p:spPr>
          <a:xfrm>
            <a:off x="5580112" y="188640"/>
            <a:ext cx="2681003" cy="5805264"/>
          </a:xfrm>
          <a:prstGeom prst="rect">
            <a:avLst/>
          </a:prstGeom>
        </p:spPr>
      </p:pic>
      <p:pic>
        <p:nvPicPr>
          <p:cNvPr id="6" name="图片 5">
            <a:extLst>
              <a:ext uri="{FF2B5EF4-FFF2-40B4-BE49-F238E27FC236}">
                <a16:creationId xmlns:a16="http://schemas.microsoft.com/office/drawing/2014/main" id="{EAD121C2-684B-436F-A53F-C874EB55DA94}"/>
              </a:ext>
            </a:extLst>
          </p:cNvPr>
          <p:cNvPicPr>
            <a:picLocks noChangeAspect="1"/>
          </p:cNvPicPr>
          <p:nvPr/>
        </p:nvPicPr>
        <p:blipFill rotWithShape="1">
          <a:blip r:embed="rId5">
            <a:extLst>
              <a:ext uri="{28A0092B-C50C-407E-A947-70E740481C1C}">
                <a14:useLocalDpi xmlns:a14="http://schemas.microsoft.com/office/drawing/2010/main" val="0"/>
              </a:ext>
            </a:extLst>
          </a:blip>
          <a:srcRect t="59449" b="22701"/>
          <a:stretch/>
        </p:blipFill>
        <p:spPr>
          <a:xfrm>
            <a:off x="1311669" y="3429001"/>
            <a:ext cx="7548063" cy="2917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nodeType="clickEffect">
                                  <p:stCondLst>
                                    <p:cond delay="0"/>
                                  </p:stCondLst>
                                  <p:childTnLst>
                                    <p:animEffect transition="out" filter="wipe(down)">
                                      <p:cBhvr>
                                        <p:cTn id="35" dur="500"/>
                                        <p:tgtEl>
                                          <p:spTgt spid="6"/>
                                        </p:tgtEl>
                                      </p:cBhvr>
                                    </p:animEffect>
                                    <p:set>
                                      <p:cBhvr>
                                        <p:cTn id="36"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a:t>
            </a:fld>
            <a:endParaRPr lang="zh-CN" altLang="en-US" sz="1400" b="0" dirty="0">
              <a:latin typeface="Times New Roman" panose="02020603050405020304" pitchFamily="18" charset="0"/>
              <a:ea typeface="宋体" panose="02010600030101010101" pitchFamily="2" charset="-122"/>
            </a:endParaRPr>
          </a:p>
        </p:txBody>
      </p:sp>
      <p:sp>
        <p:nvSpPr>
          <p:cNvPr id="20482" name="标题 204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40964" name="文本占位符 20482"/>
          <p:cNvSpPr>
            <a:spLocks noGrp="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信息隐藏定义</a:t>
            </a:r>
          </a:p>
          <a:p>
            <a:pPr marL="0" marR="0" lvl="0" indent="576000" algn="l" defTabSz="685800" rtl="0" eaLnBrk="1" fontAlgn="base"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信息隐藏</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Information Hiding</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），也叫</a:t>
            </a: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数据隐藏</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。简单地说，信息隐藏就是将</a:t>
            </a: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秘密信息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隐藏于另一非保密的</a:t>
            </a: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载体</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之中。</a:t>
            </a:r>
          </a:p>
          <a:p>
            <a:pPr marL="0" marR="0" lvl="0" indent="576000" algn="l" defTabSz="685800" rtl="0" eaLnBrk="1" fontAlgn="base"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这里的载体可以是图像、音频、视频、文本 ，也可以是信道，甚至是某套编码体制或整个系统。</a:t>
            </a:r>
            <a:r>
              <a:rPr kumimoji="0" lang="zh-CN" altLang="en-US" sz="24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pic>
        <p:nvPicPr>
          <p:cNvPr id="2" name="图片 1">
            <a:extLst>
              <a:ext uri="{FF2B5EF4-FFF2-40B4-BE49-F238E27FC236}">
                <a16:creationId xmlns:a16="http://schemas.microsoft.com/office/drawing/2014/main" id="{47F413FF-44CD-5544-90C4-5F675464100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808E597B-DF57-410C-99B0-5AA8CE3FE99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259632" y="506364"/>
            <a:ext cx="6264696" cy="6264696"/>
          </a:xfrm>
        </p:spPr>
      </p:pic>
      <p:pic>
        <p:nvPicPr>
          <p:cNvPr id="2" name="图片 1">
            <a:extLst>
              <a:ext uri="{FF2B5EF4-FFF2-40B4-BE49-F238E27FC236}">
                <a16:creationId xmlns:a16="http://schemas.microsoft.com/office/drawing/2014/main" id="{2507EAAB-D7A3-CE98-108E-F881DD59DA8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0373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a:t>
            </a:fld>
            <a:endParaRPr lang="zh-CN" altLang="en-US" sz="1400" b="0" dirty="0">
              <a:latin typeface="Times New Roman" panose="02020603050405020304" pitchFamily="18" charset="0"/>
              <a:ea typeface="宋体" panose="02010600030101010101" pitchFamily="2" charset="-122"/>
            </a:endParaRPr>
          </a:p>
        </p:txBody>
      </p:sp>
      <p:sp>
        <p:nvSpPr>
          <p:cNvPr id="22530" name="标题 225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1267" name="文本占位符 22530"/>
          <p:cNvSpPr>
            <a:spLocks noGrp="1"/>
          </p:cNvSpPr>
          <p:nvPr>
            <p:ph idx="1"/>
          </p:nvPr>
        </p:nvSpPr>
        <p:spPr/>
        <p:txBody>
          <a:bodyPr vert="horz" wrap="square" lIns="91440" tIns="45720" rIns="91440" bIns="45720" numCol="1" rtlCol="0" anchor="t" anchorCtr="0" compatLnSpc="1">
            <a:normAutofit fontScale="500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56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信息隐藏存在原因</a:t>
            </a:r>
          </a:p>
          <a:p>
            <a:pPr marL="0" marR="0" lvl="0" indent="50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endParaRPr kumimoji="0" lang="en-US" altLang="zh-CN"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信息能够隐藏在多媒体数据中主要是基于两个事实。</a:t>
            </a:r>
          </a:p>
          <a:p>
            <a:pPr marL="0" marR="0" lvl="0" indent="540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其一，多媒体信息本身存在很大的</a:t>
            </a:r>
            <a:r>
              <a:rPr kumimoji="0" lang="zh-CN" altLang="en-US" sz="46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冗余性</a:t>
            </a:r>
            <a:r>
              <a:rPr kumimoji="0" lang="zh-CN" altLang="en-US"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。从信息论的角度看，未压缩的多媒体信息的编码效率是很低的，所以将这些机密信息嵌入到多媒体信息中进行秘密传送是完全可行的，并不会影响到多媒体信息本身的传送和使用。</a:t>
            </a:r>
          </a:p>
          <a:p>
            <a:pPr marL="0" marR="0" lvl="0" indent="540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其二，人类的</a:t>
            </a:r>
            <a:r>
              <a:rPr kumimoji="0" lang="zh-CN" altLang="en-US" sz="46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听觉和视觉系统</a:t>
            </a:r>
            <a:r>
              <a:rPr kumimoji="0" lang="zh-CN" altLang="en-US"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都有一定的</a:t>
            </a:r>
            <a:r>
              <a:rPr kumimoji="0" lang="zh-CN" altLang="en-US" sz="46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掩蔽效应</a:t>
            </a:r>
            <a:r>
              <a:rPr kumimoji="0" lang="zh-CN" altLang="en-US" sz="4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。人们可以充分利用这种掩蔽性将信息隐藏而不被察觉。 </a:t>
            </a:r>
          </a:p>
        </p:txBody>
      </p:sp>
      <p:pic>
        <p:nvPicPr>
          <p:cNvPr id="2" name="图片 1">
            <a:extLst>
              <a:ext uri="{FF2B5EF4-FFF2-40B4-BE49-F238E27FC236}">
                <a16:creationId xmlns:a16="http://schemas.microsoft.com/office/drawing/2014/main" id="{D14ABD69-4F54-8845-8F31-84C97BCD260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10</a:t>
            </a:fld>
            <a:endParaRPr lang="zh-CN" altLang="en-US" sz="1400" b="0" dirty="0">
              <a:latin typeface="Times New Roman" panose="02020603050405020304" pitchFamily="18" charset="0"/>
              <a:ea typeface="宋体" panose="02010600030101010101" pitchFamily="2" charset="-122"/>
            </a:endParaRPr>
          </a:p>
        </p:txBody>
      </p:sp>
      <p:sp>
        <p:nvSpPr>
          <p:cNvPr id="24578" name="标题 2457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2291" name="文本占位符 24578"/>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信息隐藏与传统密码学的区别</a:t>
            </a:r>
            <a:endParaRPr kumimoji="0" lang="en-US" altLang="zh-CN"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密码学技术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主要是研究如何将机密信息进行特殊的编码，以形成不可识别的密码形式（密文）进行传递。</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信息隐藏</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则主要研究如何将某一机密信息秘密隐藏于另一公开的信息中，然后通过公开信息的传输来传递机密信息。</a:t>
            </a:r>
          </a:p>
        </p:txBody>
      </p:sp>
      <p:pic>
        <p:nvPicPr>
          <p:cNvPr id="2" name="图片 1">
            <a:extLst>
              <a:ext uri="{FF2B5EF4-FFF2-40B4-BE49-F238E27FC236}">
                <a16:creationId xmlns:a16="http://schemas.microsoft.com/office/drawing/2014/main" id="{4A70817F-447F-038D-400E-80A0F15177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11</a:t>
            </a:fld>
            <a:endParaRPr lang="zh-CN" altLang="en-US" sz="1400" b="0" dirty="0">
              <a:latin typeface="Times New Roman" panose="02020603050405020304" pitchFamily="18" charset="0"/>
              <a:ea typeface="宋体" panose="02010600030101010101" pitchFamily="2" charset="-122"/>
            </a:endParaRPr>
          </a:p>
        </p:txBody>
      </p:sp>
      <p:sp>
        <p:nvSpPr>
          <p:cNvPr id="109570" name="标题 1095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3315" name="文本占位符 109570"/>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信息隐藏与传统密码学的区别</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1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对加密通信而言，可能的监测者或非法拦截者可通过截取密文，并对其进行破译，或将密文进行破坏后再发送，从而影响机密信息的安全；</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但对信息隐藏而言，监测者或非法拦截者则难以从公开信息中判断机密信息是否存在，难以截获机密信息，从而能保证机密信息的安全。</a:t>
            </a:r>
          </a:p>
        </p:txBody>
      </p:sp>
      <p:pic>
        <p:nvPicPr>
          <p:cNvPr id="2" name="图片 1">
            <a:extLst>
              <a:ext uri="{FF2B5EF4-FFF2-40B4-BE49-F238E27FC236}">
                <a16:creationId xmlns:a16="http://schemas.microsoft.com/office/drawing/2014/main" id="{501BC6B1-18E1-86E8-3FE7-658EF13273C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12</a:t>
            </a:fld>
            <a:endParaRPr lang="zh-CN" altLang="en-US" sz="1400" b="0" dirty="0">
              <a:latin typeface="Times New Roman" panose="02020603050405020304" pitchFamily="18" charset="0"/>
              <a:ea typeface="宋体" panose="02010600030101010101" pitchFamily="2" charset="-122"/>
            </a:endParaRPr>
          </a:p>
        </p:txBody>
      </p:sp>
      <p:sp>
        <p:nvSpPr>
          <p:cNvPr id="29698" name="标题 2969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29699" name="文本占位符 29698"/>
          <p:cNvSpPr>
            <a:spLocks noGrp="1"/>
          </p:cNvSpPr>
          <p:nvPr>
            <p:ph idx="1"/>
          </p:nvPr>
        </p:nvSpPr>
        <p:spPr>
          <a:ln/>
        </p:spPr>
        <p:txBody>
          <a:bodyPr vert="horz" wrap="square" lIns="91440" tIns="45720" rIns="91440" bIns="45720" anchor="t"/>
          <a:lstStyle/>
          <a:p>
            <a:pPr marL="609600" indent="-609600" defTabSz="685800" eaLnBrk="1" hangingPunct="1">
              <a:lnSpc>
                <a:spcPct val="100000"/>
              </a:lnSpc>
            </a:pPr>
            <a:r>
              <a:rPr lang="" altLang="en-US" sz="2800" b="1" kern="1200" dirty="0">
                <a:solidFill>
                  <a:schemeClr val="accent1"/>
                </a:solidFill>
                <a:latin typeface="华文细黑" panose="02010600040101010101" pitchFamily="2" charset="-122"/>
                <a:ea typeface="华文细黑" panose="02010600040101010101" pitchFamily="2" charset="-122"/>
                <a:cs typeface="+mn-cs"/>
              </a:rPr>
              <a:t>信息隐藏的原理框图</a:t>
            </a:r>
          </a:p>
          <a:p>
            <a:pPr marL="609600" indent="-609600" algn="just" defTabSz="685800" eaLnBrk="1" hangingPunct="1">
              <a:buNone/>
            </a:pPr>
            <a:r>
              <a:rPr lang="zh-CN" altLang="en-US" b="1" kern="1200" dirty="0">
                <a:latin typeface="华文细黑" panose="02010600040101010101" pitchFamily="2" charset="-122"/>
                <a:ea typeface="华文细黑" panose="02010600040101010101" pitchFamily="2" charset="-122"/>
                <a:cs typeface="+mn-cs"/>
              </a:rPr>
              <a:t>                </a:t>
            </a:r>
            <a:endParaRPr lang="zh-CN" altLang="en-US" sz="5400" b="1" kern="1200" dirty="0">
              <a:latin typeface="华文细黑" panose="02010600040101010101" pitchFamily="2" charset="-122"/>
              <a:ea typeface="华文细黑" panose="02010600040101010101" pitchFamily="2" charset="-122"/>
              <a:cs typeface="+mn-cs"/>
            </a:endParaRPr>
          </a:p>
          <a:p>
            <a:pPr marL="609600" indent="-609600" algn="just" defTabSz="685800" eaLnBrk="1" hangingPunct="1">
              <a:buNone/>
            </a:pPr>
            <a:r>
              <a:rPr lang="zh-CN" altLang="en-US" sz="5400" b="1" kern="1200" dirty="0">
                <a:latin typeface="+mn-lt"/>
                <a:ea typeface="+mn-ea"/>
                <a:cs typeface="+mn-cs"/>
              </a:rPr>
              <a:t>            </a:t>
            </a:r>
            <a:endParaRPr lang="zh-CN" altLang="en-US" sz="4400" kern="1200" dirty="0">
              <a:solidFill>
                <a:schemeClr val="tx2"/>
              </a:solidFill>
              <a:latin typeface="+mn-lt"/>
              <a:ea typeface="+mn-ea"/>
              <a:cs typeface="+mn-cs"/>
            </a:endParaRPr>
          </a:p>
        </p:txBody>
      </p:sp>
      <p:pic>
        <p:nvPicPr>
          <p:cNvPr id="29700" name="图片 29722"/>
          <p:cNvPicPr>
            <a:picLocks noChangeAspect="1"/>
          </p:cNvPicPr>
          <p:nvPr/>
        </p:nvPicPr>
        <p:blipFill rotWithShape="1">
          <a:blip r:embed="rId2">
            <a:extLst>
              <a:ext uri="{28A0092B-C50C-407E-A947-70E740481C1C}">
                <a14:useLocalDpi xmlns:a14="http://schemas.microsoft.com/office/drawing/2010/main" val="0"/>
              </a:ext>
            </a:extLst>
          </a:blip>
          <a:srcRect t="4769" b="4769"/>
          <a:stretch/>
        </p:blipFill>
        <p:spPr>
          <a:xfrm>
            <a:off x="745271" y="2420887"/>
            <a:ext cx="8075201" cy="2788135"/>
          </a:xfrm>
          <a:prstGeom prst="rect">
            <a:avLst/>
          </a:prstGeom>
          <a:noFill/>
          <a:ln w="12700">
            <a:noFill/>
          </a:ln>
        </p:spPr>
      </p:pic>
      <p:pic>
        <p:nvPicPr>
          <p:cNvPr id="2" name="图片 1">
            <a:extLst>
              <a:ext uri="{FF2B5EF4-FFF2-40B4-BE49-F238E27FC236}">
                <a16:creationId xmlns:a16="http://schemas.microsoft.com/office/drawing/2014/main" id="{BB3E3EBC-258E-0D01-C835-690D6D8215A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EFC24-3989-4F82-8738-6A9692F05DE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2AD8B48-C169-41D0-A432-639DAA18802D}"/>
              </a:ext>
            </a:extLst>
          </p:cNvPr>
          <p:cNvSpPr>
            <a:spLocks noGrp="1"/>
          </p:cNvSpPr>
          <p:nvPr>
            <p:ph idx="1"/>
          </p:nvPr>
        </p:nvSpPr>
        <p:spPr/>
        <p:txBody>
          <a:bodyPr/>
          <a:lstStyle/>
          <a:p>
            <a:pPr>
              <a:lnSpc>
                <a:spcPct val="150000"/>
              </a:lnSpc>
            </a:pPr>
            <a:r>
              <a:rPr lang="en-US" altLang="zh-CN" sz="2400" dirty="0"/>
              <a:t>A</a:t>
            </a:r>
            <a:r>
              <a:rPr lang="zh-CN" altLang="en-US" sz="2400" dirty="0"/>
              <a:t>打算秘密传递一些信息给</a:t>
            </a:r>
            <a:r>
              <a:rPr lang="en-US" altLang="zh-CN" sz="2400" dirty="0"/>
              <a:t>B</a:t>
            </a:r>
            <a:r>
              <a:rPr lang="zh-CN" altLang="en-US" sz="2400" dirty="0"/>
              <a:t>，</a:t>
            </a:r>
            <a:r>
              <a:rPr lang="en-US" altLang="zh-CN" sz="2400" dirty="0"/>
              <a:t>A</a:t>
            </a:r>
            <a:r>
              <a:rPr lang="zh-CN" altLang="en-US" sz="2400" dirty="0"/>
              <a:t>需要从一个随机消息源中随机选取一个无关紧要的消息</a:t>
            </a:r>
            <a:r>
              <a:rPr lang="en-US" altLang="zh-CN" sz="2400" dirty="0"/>
              <a:t>c</a:t>
            </a:r>
            <a:r>
              <a:rPr lang="zh-CN" altLang="en-US" sz="2400" dirty="0"/>
              <a:t>，当这个消息公开传递时，不会引起怀疑，称这个消息</a:t>
            </a:r>
            <a:r>
              <a:rPr lang="en-US" altLang="zh-CN" sz="2400" dirty="0"/>
              <a:t>c</a:t>
            </a:r>
            <a:r>
              <a:rPr lang="zh-CN" altLang="en-US" sz="2400" dirty="0"/>
              <a:t>为载体对象</a:t>
            </a:r>
            <a:endParaRPr lang="en-US" altLang="zh-CN" sz="2400" dirty="0"/>
          </a:p>
          <a:p>
            <a:pPr>
              <a:lnSpc>
                <a:spcPct val="150000"/>
              </a:lnSpc>
            </a:pPr>
            <a:r>
              <a:rPr lang="zh-CN" altLang="en-US" sz="2400" dirty="0"/>
              <a:t>把需要秘密传递的信息</a:t>
            </a:r>
            <a:r>
              <a:rPr lang="en-US" altLang="zh-CN" sz="2400" dirty="0"/>
              <a:t>m</a:t>
            </a:r>
            <a:r>
              <a:rPr lang="zh-CN" altLang="en-US" sz="2400" dirty="0"/>
              <a:t>隐藏到载体对象</a:t>
            </a:r>
            <a:r>
              <a:rPr lang="en-US" altLang="zh-CN" sz="2400" dirty="0"/>
              <a:t>c</a:t>
            </a:r>
            <a:r>
              <a:rPr lang="zh-CN" altLang="en-US" sz="2400" dirty="0"/>
              <a:t>中，此时，载体对象</a:t>
            </a:r>
            <a:r>
              <a:rPr lang="en-US" altLang="zh-CN" sz="2400" dirty="0"/>
              <a:t>c</a:t>
            </a:r>
            <a:r>
              <a:rPr lang="zh-CN" altLang="en-US" sz="2400" dirty="0"/>
              <a:t>就变成伪装对象</a:t>
            </a:r>
            <a:r>
              <a:rPr lang="en-US" altLang="zh-CN" sz="2400" dirty="0"/>
              <a:t>c</a:t>
            </a:r>
            <a:r>
              <a:rPr lang="zh-CN" altLang="en-US" sz="2400" dirty="0"/>
              <a:t>’</a:t>
            </a:r>
            <a:endParaRPr lang="en-US" altLang="zh-CN" sz="2400" dirty="0"/>
          </a:p>
          <a:p>
            <a:pPr>
              <a:lnSpc>
                <a:spcPct val="150000"/>
              </a:lnSpc>
            </a:pPr>
            <a:r>
              <a:rPr lang="zh-CN" altLang="en-US" sz="2400" dirty="0"/>
              <a:t>秘密信息的嵌入过程需要密钥，此密钥称为伪装密钥</a:t>
            </a:r>
          </a:p>
        </p:txBody>
      </p:sp>
      <p:pic>
        <p:nvPicPr>
          <p:cNvPr id="4" name="图片 3">
            <a:extLst>
              <a:ext uri="{FF2B5EF4-FFF2-40B4-BE49-F238E27FC236}">
                <a16:creationId xmlns:a16="http://schemas.microsoft.com/office/drawing/2014/main" id="{48A20636-49D6-07FF-20BC-174DED43AE0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7528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0DE2F-D371-4B64-AFED-BB41D8C62661}"/>
              </a:ext>
            </a:extLst>
          </p:cNvPr>
          <p:cNvSpPr>
            <a:spLocks noGrp="1"/>
          </p:cNvSpPr>
          <p:nvPr>
            <p:ph type="title"/>
          </p:nvPr>
        </p:nvSpPr>
        <p:spPr/>
        <p:txBody>
          <a:bodyPr/>
          <a:lstStyle/>
          <a:p>
            <a:r>
              <a:rPr lang="zh-CN" altLang="en-US" dirty="0"/>
              <a:t>实现信息隐藏的基本要求</a:t>
            </a:r>
          </a:p>
        </p:txBody>
      </p:sp>
      <p:sp>
        <p:nvSpPr>
          <p:cNvPr id="3" name="内容占位符 2">
            <a:extLst>
              <a:ext uri="{FF2B5EF4-FFF2-40B4-BE49-F238E27FC236}">
                <a16:creationId xmlns:a16="http://schemas.microsoft.com/office/drawing/2014/main" id="{B5441C50-0BAD-49BD-947F-C0AD81DA2DAE}"/>
              </a:ext>
            </a:extLst>
          </p:cNvPr>
          <p:cNvSpPr>
            <a:spLocks noGrp="1"/>
          </p:cNvSpPr>
          <p:nvPr>
            <p:ph idx="1"/>
          </p:nvPr>
        </p:nvSpPr>
        <p:spPr/>
        <p:txBody>
          <a:bodyPr/>
          <a:lstStyle/>
          <a:p>
            <a:pPr>
              <a:lnSpc>
                <a:spcPct val="150000"/>
              </a:lnSpc>
            </a:pPr>
            <a:r>
              <a:rPr lang="zh-CN" altLang="en-US" sz="2400" dirty="0"/>
              <a:t>载体对象是正常的，不会引起怀疑</a:t>
            </a:r>
            <a:endParaRPr lang="en-US" altLang="zh-CN" sz="2400" dirty="0"/>
          </a:p>
          <a:p>
            <a:pPr>
              <a:lnSpc>
                <a:spcPct val="150000"/>
              </a:lnSpc>
            </a:pPr>
            <a:r>
              <a:rPr lang="zh-CN" altLang="en-US" sz="2400" dirty="0"/>
              <a:t>伪装对象与载体对象无法区分，无论从感观上，还是从计算机的分析上</a:t>
            </a:r>
            <a:endParaRPr lang="en-US" altLang="zh-CN" sz="2400" dirty="0"/>
          </a:p>
          <a:p>
            <a:pPr>
              <a:lnSpc>
                <a:spcPct val="150000"/>
              </a:lnSpc>
            </a:pPr>
            <a:r>
              <a:rPr lang="zh-CN" altLang="en-US" sz="2400" dirty="0"/>
              <a:t>不可视通信的安全性取决于第三方</a:t>
            </a:r>
            <a:r>
              <a:rPr lang="zh-CN" altLang="en-US" sz="2400" b="1" dirty="0">
                <a:solidFill>
                  <a:srgbClr val="FF9900"/>
                </a:solidFill>
              </a:rPr>
              <a:t>有没有能力</a:t>
            </a:r>
            <a:r>
              <a:rPr lang="zh-CN" altLang="en-US" sz="2400" dirty="0"/>
              <a:t>将载体对象和伪装对象区别开来</a:t>
            </a:r>
            <a:endParaRPr lang="en-US" altLang="zh-CN" sz="2400" dirty="0"/>
          </a:p>
          <a:p>
            <a:pPr>
              <a:lnSpc>
                <a:spcPct val="150000"/>
              </a:lnSpc>
            </a:pPr>
            <a:r>
              <a:rPr lang="zh-CN" altLang="en-US" sz="2400" dirty="0"/>
              <a:t>对伪装对象的正常处理，不应破坏隐藏的信息</a:t>
            </a:r>
          </a:p>
        </p:txBody>
      </p:sp>
      <p:pic>
        <p:nvPicPr>
          <p:cNvPr id="4" name="图片 3">
            <a:extLst>
              <a:ext uri="{FF2B5EF4-FFF2-40B4-BE49-F238E27FC236}">
                <a16:creationId xmlns:a16="http://schemas.microsoft.com/office/drawing/2014/main" id="{F9E4987E-9214-8D43-85B1-474C020323E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234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15</a:t>
            </a:fld>
            <a:endParaRPr lang="zh-CN" altLang="en-US" sz="1400" b="0" dirty="0">
              <a:latin typeface="Times New Roman" panose="02020603050405020304" pitchFamily="18" charset="0"/>
              <a:ea typeface="宋体" panose="02010600030101010101" pitchFamily="2" charset="-122"/>
            </a:endParaRPr>
          </a:p>
        </p:txBody>
      </p:sp>
      <p:sp>
        <p:nvSpPr>
          <p:cNvPr id="30722" name="标题 307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5363" name="文本占位符 30722"/>
          <p:cNvSpPr>
            <a:spLocks noGrp="1"/>
          </p:cNvSpPr>
          <p:nvPr>
            <p:ph idx="1"/>
          </p:nvPr>
        </p:nvSpPr>
        <p:spPr/>
        <p:txBody>
          <a:bodyPr vert="horz" wrap="square" lIns="91440" tIns="45720" rIns="91440" bIns="45720" numCol="1" rtlCol="0" anchor="t" anchorCtr="0" compatLnSpc="1">
            <a:normAutofit fontScale="97500"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隐藏技术分类</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根据信息隐藏技术的应用目的和载体对象不同，信息隐藏可分为许多分支 。</a:t>
            </a: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（1）隐写术</a:t>
            </a: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（2）数字水印</a:t>
            </a: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（3）隐蔽信道</a:t>
            </a: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（4）阈下信道</a:t>
            </a:r>
          </a:p>
        </p:txBody>
      </p:sp>
      <p:pic>
        <p:nvPicPr>
          <p:cNvPr id="2" name="图片 1">
            <a:extLst>
              <a:ext uri="{FF2B5EF4-FFF2-40B4-BE49-F238E27FC236}">
                <a16:creationId xmlns:a16="http://schemas.microsoft.com/office/drawing/2014/main" id="{200EF130-F487-91A6-1492-20C9D9425D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16</a:t>
            </a:fld>
            <a:endParaRPr lang="zh-CN" altLang="en-US" sz="1400" b="0" dirty="0">
              <a:latin typeface="Times New Roman" panose="02020603050405020304" pitchFamily="18" charset="0"/>
              <a:ea typeface="宋体" panose="02010600030101010101" pitchFamily="2" charset="-122"/>
            </a:endParaRPr>
          </a:p>
        </p:txBody>
      </p:sp>
      <p:sp>
        <p:nvSpPr>
          <p:cNvPr id="36866" name="标题 3686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6387" name="文本占位符 36866"/>
          <p:cNvSpPr>
            <a:spLocks noGrp="1"/>
          </p:cNvSpPr>
          <p:nvPr>
            <p:ph idx="1"/>
          </p:nvPr>
        </p:nvSpPr>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隐写术</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6096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3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隐写术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是一种隐蔽通信技术，其主要目的是将重要的信息隐藏起来，以便不引起人注意地进行传输和存储。</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096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隐写术在其发展过程中逐渐形成了两大分支，即</a:t>
            </a:r>
            <a:r>
              <a:rPr kumimoji="0" lang="zh-CN" altLang="en-US" sz="23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语义</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隐写和</a:t>
            </a:r>
            <a:r>
              <a:rPr kumimoji="0" lang="zh-CN" altLang="en-US" sz="23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技术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隐写。</a:t>
            </a:r>
          </a:p>
          <a:p>
            <a:pPr marL="609600" marR="0" lvl="0" indent="-609600" algn="just"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28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endPar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2" name="图片 1">
            <a:extLst>
              <a:ext uri="{FF2B5EF4-FFF2-40B4-BE49-F238E27FC236}">
                <a16:creationId xmlns:a16="http://schemas.microsoft.com/office/drawing/2014/main" id="{D9F95B1D-1746-C641-8345-7967286C16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17</a:t>
            </a:fld>
            <a:endParaRPr lang="zh-CN" altLang="en-US" sz="1400" b="0" dirty="0">
              <a:latin typeface="Times New Roman" panose="02020603050405020304" pitchFamily="18" charset="0"/>
              <a:ea typeface="宋体" panose="02010600030101010101" pitchFamily="2" charset="-122"/>
            </a:endParaRPr>
          </a:p>
        </p:txBody>
      </p:sp>
      <p:sp>
        <p:nvSpPr>
          <p:cNvPr id="34818" name="标题 348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7411" name="文本占位符 34818"/>
          <p:cNvSpPr>
            <a:spLocks noGrp="1"/>
          </p:cNvSpPr>
          <p:nvPr>
            <p:ph idx="1"/>
          </p:nvPr>
        </p:nvSpPr>
        <p:spPr/>
        <p:txBody>
          <a:bodyPr vert="horz" wrap="square" lIns="91440" tIns="45720" rIns="91440" bIns="45720" numCol="1" rtlCol="0" anchor="t" anchorCtr="0" compatLnSpc="1">
            <a:normAutofit fontScale="92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3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a:t>
            </a:r>
          </a:p>
          <a:p>
            <a:pPr marL="609600" marR="0" lvl="0" indent="-609600" algn="just"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a:p>
            <a:pPr marL="0" marR="0" lvl="0" indent="55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5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数字水印技术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是信息隐藏技术的另一重要分支，数字水印技术通过在原始数据中嵌入秘密信息—水印证实该数据的所有权。</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这种被嵌入的水印可以是一段文字、标识、序列号等，而且这种水印通常是不可见或不可察的，它与原始数据（如图象、音频、视频数据）紧密结合并隐藏其中，并可以经历一些不破坏原数据使用价值或商用价值的操作而能保存下来。</a:t>
            </a:r>
            <a:r>
              <a:rPr kumimoji="0" lang="zh-CN" altLang="en-US" sz="2400" b="0"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pic>
        <p:nvPicPr>
          <p:cNvPr id="2" name="图片 1">
            <a:extLst>
              <a:ext uri="{FF2B5EF4-FFF2-40B4-BE49-F238E27FC236}">
                <a16:creationId xmlns:a16="http://schemas.microsoft.com/office/drawing/2014/main" id="{3597932D-FE35-BA10-E8B2-A995DE430B1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18</a:t>
            </a:fld>
            <a:endParaRPr lang="zh-CN" altLang="en-US" sz="1400" b="0" dirty="0">
              <a:latin typeface="Times New Roman" panose="02020603050405020304" pitchFamily="18" charset="0"/>
              <a:ea typeface="宋体" panose="02010600030101010101" pitchFamily="2" charset="-122"/>
            </a:endParaRPr>
          </a:p>
        </p:txBody>
      </p:sp>
      <p:sp>
        <p:nvSpPr>
          <p:cNvPr id="38914" name="标题 389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8435" name="文本占位符 38914"/>
          <p:cNvSpPr>
            <a:spLocks noGrp="1"/>
          </p:cNvSpPr>
          <p:nvPr>
            <p:ph idx="1"/>
          </p:nvPr>
        </p:nvSpPr>
        <p:spPr/>
        <p:txBody>
          <a:bodyPr vert="horz" wrap="square" lIns="91440" tIns="45720" rIns="91440" bIns="45720" numCol="1" rtlCol="0" anchor="t" anchorCtr="0" compatLnSpc="1">
            <a:normAutofit fontScale="97500"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隐蔽信道</a:t>
            </a:r>
          </a:p>
          <a:p>
            <a:pPr marL="609600" marR="0" lvl="0" indent="-609600" algn="just"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6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隐蔽信道</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是指允许进程以危害系统安全策略的方式传输信息的通信信道。</a:t>
            </a: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隐蔽信道分析工作包括信道</a:t>
            </a:r>
            <a:r>
              <a:rPr lang="zh-CN" altLang="en-US" sz="2600" b="1" noProof="1">
                <a:solidFill>
                  <a:schemeClr val="accent1"/>
                </a:solidFill>
                <a:ea typeface="华文细黑" panose="02010600040101010101" pitchFamily="2" charset="-122"/>
              </a:rPr>
              <a:t>识别</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lang="zh-CN" altLang="en-US" sz="2600" b="1" noProof="1">
                <a:solidFill>
                  <a:schemeClr val="accent1"/>
                </a:solidFill>
                <a:ea typeface="华文细黑" panose="02010600040101010101" pitchFamily="2" charset="-122"/>
              </a:rPr>
              <a:t>度量</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和</a:t>
            </a:r>
            <a:r>
              <a:rPr lang="zh-CN" altLang="en-US" sz="2600" b="1" noProof="1">
                <a:solidFill>
                  <a:schemeClr val="accent1"/>
                </a:solidFill>
                <a:ea typeface="华文细黑" panose="02010600040101010101" pitchFamily="2" charset="-122"/>
              </a:rPr>
              <a:t>处置</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信道识别是对系统的静态分析，强调对设计和代码进行分析发现所有潜在的隐蔽信道。</a:t>
            </a:r>
            <a:endParaRPr kumimoji="0" lang="en-US" altLang="zh-CN"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lang="zh-CN" altLang="en-US" sz="2100" b="1" noProof="1">
                <a:latin typeface="华文细黑" panose="02010600040101010101" pitchFamily="2" charset="-122"/>
                <a:ea typeface="华文细黑" panose="02010600040101010101" pitchFamily="2" charset="-122"/>
              </a:rPr>
              <a:t>信道度量是对信道传输能力和威胁程度的评价。</a:t>
            </a:r>
            <a:endParaRPr lang="en-US" altLang="zh-CN" sz="2100" b="1" noProof="1">
              <a:latin typeface="华文细黑" panose="02010600040101010101" pitchFamily="2" charset="-122"/>
              <a:ea typeface="华文细黑" panose="02010600040101010101" pitchFamily="2" charset="-122"/>
            </a:endParaRPr>
          </a:p>
          <a:p>
            <a:pPr lvl="2" eaLnBrk="1" fontAlgn="auto" hangingPunct="1">
              <a:lnSpc>
                <a:spcPct val="150000"/>
              </a:lnSpc>
              <a:spcBef>
                <a:spcPts val="600"/>
              </a:spcBef>
              <a:spcAft>
                <a:spcPts val="600"/>
              </a:spcAft>
              <a:defRPr/>
            </a:pPr>
            <a:r>
              <a:rPr lang="zh-CN" altLang="en-US" sz="2100" b="1" noProof="1">
                <a:latin typeface="华文细黑" panose="02010600040101010101" pitchFamily="2" charset="-122"/>
                <a:ea typeface="华文细黑" panose="02010600040101010101" pitchFamily="2" charset="-122"/>
              </a:rPr>
              <a:t>信道处置措施包括信道消除、限制和审计。 </a:t>
            </a:r>
          </a:p>
        </p:txBody>
      </p:sp>
      <p:pic>
        <p:nvPicPr>
          <p:cNvPr id="2" name="图片 1">
            <a:extLst>
              <a:ext uri="{FF2B5EF4-FFF2-40B4-BE49-F238E27FC236}">
                <a16:creationId xmlns:a16="http://schemas.microsoft.com/office/drawing/2014/main" id="{1B3472EE-9F2E-4621-895E-D93DFAD17ECE}"/>
              </a:ext>
            </a:extLst>
          </p:cNvPr>
          <p:cNvPicPr>
            <a:picLocks noChangeAspect="1"/>
          </p:cNvPicPr>
          <p:nvPr/>
        </p:nvPicPr>
        <p:blipFill rotWithShape="1">
          <a:blip r:embed="rId2"/>
          <a:srcRect t="9051" b="9931"/>
          <a:stretch/>
        </p:blipFill>
        <p:spPr>
          <a:xfrm>
            <a:off x="467544" y="1571548"/>
            <a:ext cx="8424936" cy="5119342"/>
          </a:xfrm>
          <a:prstGeom prst="rect">
            <a:avLst/>
          </a:prstGeom>
        </p:spPr>
      </p:pic>
      <p:pic>
        <p:nvPicPr>
          <p:cNvPr id="3" name="图片 2">
            <a:extLst>
              <a:ext uri="{FF2B5EF4-FFF2-40B4-BE49-F238E27FC236}">
                <a16:creationId xmlns:a16="http://schemas.microsoft.com/office/drawing/2014/main" id="{ABEF4DC1-6275-35D0-D955-74279EC9CAF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19</a:t>
            </a:fld>
            <a:endParaRPr lang="zh-CN" altLang="en-US" sz="1400" b="0" dirty="0">
              <a:latin typeface="Times New Roman" panose="02020603050405020304" pitchFamily="18" charset="0"/>
              <a:ea typeface="宋体" panose="02010600030101010101" pitchFamily="2" charset="-122"/>
            </a:endParaRPr>
          </a:p>
        </p:txBody>
      </p:sp>
      <p:sp>
        <p:nvSpPr>
          <p:cNvPr id="39938" name="标题 399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2.1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基本概念</a:t>
            </a:r>
          </a:p>
        </p:txBody>
      </p:sp>
      <p:sp>
        <p:nvSpPr>
          <p:cNvPr id="19459" name="文本占位符 39938"/>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阈下信道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8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阈下信道</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是指在基于公钥密码技术的数字签名、认证等应用密码体制的输出密码数据中建立起来的一种隐蔽信道，除指定的接收者外，任何其他人均不知道密码数据中是否有阈下消息存在。 </a:t>
            </a:r>
          </a:p>
        </p:txBody>
      </p:sp>
      <p:pic>
        <p:nvPicPr>
          <p:cNvPr id="2" name="图片 1">
            <a:extLst>
              <a:ext uri="{FF2B5EF4-FFF2-40B4-BE49-F238E27FC236}">
                <a16:creationId xmlns:a16="http://schemas.microsoft.com/office/drawing/2014/main" id="{28CD0274-CBEC-40E1-D854-6F3EC2A2D8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51D689-46E2-4627-9D50-B04E45D5DE5A}"/>
              </a:ext>
            </a:extLst>
          </p:cNvPr>
          <p:cNvSpPr>
            <a:spLocks noGrp="1"/>
          </p:cNvSpPr>
          <p:nvPr>
            <p:ph type="title"/>
          </p:nvPr>
        </p:nvSpPr>
        <p:spPr/>
        <p:txBody>
          <a:bodyPr/>
          <a:lstStyle/>
          <a:p>
            <a:r>
              <a:rPr lang="zh-CN" altLang="en-US" dirty="0"/>
              <a:t>阈下通道举例</a:t>
            </a:r>
          </a:p>
        </p:txBody>
      </p:sp>
      <p:sp>
        <p:nvSpPr>
          <p:cNvPr id="3" name="内容占位符 2">
            <a:extLst>
              <a:ext uri="{FF2B5EF4-FFF2-40B4-BE49-F238E27FC236}">
                <a16:creationId xmlns:a16="http://schemas.microsoft.com/office/drawing/2014/main" id="{24E1DF77-1F7B-4370-8ED5-ABF8AF8CAB6F}"/>
              </a:ext>
            </a:extLst>
          </p:cNvPr>
          <p:cNvSpPr>
            <a:spLocks noGrp="1"/>
          </p:cNvSpPr>
          <p:nvPr>
            <p:ph idx="1"/>
          </p:nvPr>
        </p:nvSpPr>
        <p:spPr/>
        <p:txBody>
          <a:bodyPr/>
          <a:lstStyle/>
          <a:p>
            <a:pPr>
              <a:lnSpc>
                <a:spcPct val="150000"/>
              </a:lnSpc>
            </a:pPr>
            <a:r>
              <a:rPr lang="zh-CN" altLang="en-US" b="0" i="0" dirty="0">
                <a:solidFill>
                  <a:srgbClr val="333333"/>
                </a:solidFill>
                <a:effectLst/>
                <a:latin typeface="Helvetica Neue"/>
              </a:rPr>
              <a:t>一个简单的阈下信道可以是句子中单词的数目。句子中奇数个单词对应“</a:t>
            </a:r>
            <a:r>
              <a:rPr lang="en-US" altLang="zh-CN" b="0" i="0" dirty="0">
                <a:solidFill>
                  <a:srgbClr val="333333"/>
                </a:solidFill>
                <a:effectLst/>
                <a:latin typeface="Helvetica Neue"/>
              </a:rPr>
              <a:t>1”</a:t>
            </a:r>
            <a:r>
              <a:rPr lang="zh-CN" altLang="en-US" b="0" i="0" dirty="0">
                <a:solidFill>
                  <a:srgbClr val="333333"/>
                </a:solidFill>
                <a:effectLst/>
                <a:latin typeface="Helvetica Neue"/>
              </a:rPr>
              <a:t>，而偶数个单词对应“</a:t>
            </a:r>
            <a:r>
              <a:rPr lang="en-US" altLang="zh-CN" b="0" i="0" dirty="0">
                <a:solidFill>
                  <a:srgbClr val="333333"/>
                </a:solidFill>
                <a:effectLst/>
                <a:latin typeface="Helvetica Neue"/>
              </a:rPr>
              <a:t>0”</a:t>
            </a:r>
            <a:r>
              <a:rPr lang="zh-CN" altLang="en-US" b="0" i="0" dirty="0">
                <a:solidFill>
                  <a:srgbClr val="333333"/>
                </a:solidFill>
                <a:effectLst/>
                <a:latin typeface="Helvetica Neue"/>
              </a:rPr>
              <a:t>。因此，当读这种仿佛无关紧要的句子时，已经将信息“</a:t>
            </a:r>
            <a:r>
              <a:rPr lang="en-US" altLang="zh-CN" b="0" i="0" dirty="0">
                <a:solidFill>
                  <a:srgbClr val="333333"/>
                </a:solidFill>
                <a:effectLst/>
                <a:latin typeface="Helvetica Neue"/>
              </a:rPr>
              <a:t>1010”</a:t>
            </a:r>
            <a:r>
              <a:rPr lang="zh-CN" altLang="en-US" b="0" i="0" dirty="0">
                <a:solidFill>
                  <a:srgbClr val="333333"/>
                </a:solidFill>
                <a:effectLst/>
                <a:latin typeface="Helvetica Neue"/>
              </a:rPr>
              <a:t>传递给了自己的人员。不过这个例子的问题在于它没有</a:t>
            </a:r>
            <a:r>
              <a:rPr lang="zh-CN" altLang="en-US" dirty="0">
                <a:solidFill>
                  <a:srgbClr val="333333"/>
                </a:solidFill>
                <a:latin typeface="Helvetica Neue"/>
              </a:rPr>
              <a:t>密钥，</a:t>
            </a:r>
            <a:r>
              <a:rPr lang="zh-CN" altLang="en-US" b="0" i="0" dirty="0">
                <a:solidFill>
                  <a:srgbClr val="333333"/>
                </a:solidFill>
                <a:effectLst/>
                <a:latin typeface="Helvetica Neue"/>
              </a:rPr>
              <a:t>安全性完全依赖于算法的保密性。</a:t>
            </a:r>
            <a:endParaRPr lang="en-US" altLang="zh-CN" b="0" i="0" dirty="0">
              <a:solidFill>
                <a:srgbClr val="333333"/>
              </a:solidFill>
              <a:effectLst/>
              <a:latin typeface="Helvetica Neue"/>
            </a:endParaRPr>
          </a:p>
          <a:p>
            <a:pPr>
              <a:lnSpc>
                <a:spcPct val="150000"/>
              </a:lnSpc>
            </a:pPr>
            <a:r>
              <a:rPr lang="zh-CN" altLang="en-US" b="0" i="0" dirty="0">
                <a:solidFill>
                  <a:srgbClr val="333333"/>
                </a:solidFill>
                <a:effectLst/>
                <a:latin typeface="Helvetica Neue"/>
              </a:rPr>
              <a:t>由于阈下信道隐藏在看似正常的数字签名的文本中，所以这是一种迷惑人的信息传递。事实上，阈下信道签名算法与通常的签名算法区别不开，至少对</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是这样，</a:t>
            </a:r>
            <a:r>
              <a:rPr lang="en-US" altLang="zh-CN" b="0" i="0" dirty="0">
                <a:solidFill>
                  <a:srgbClr val="333333"/>
                </a:solidFill>
                <a:effectLst/>
                <a:latin typeface="Helvetica Neue"/>
              </a:rPr>
              <a:t>Walter</a:t>
            </a:r>
            <a:r>
              <a:rPr lang="zh-CN" altLang="en-US" b="0" i="0" dirty="0">
                <a:solidFill>
                  <a:srgbClr val="333333"/>
                </a:solidFill>
                <a:effectLst/>
                <a:latin typeface="Helvetica Neue"/>
              </a:rPr>
              <a:t>不仅读不出阈下信道消息，而且他也不知道阈下信道已经出现。</a:t>
            </a:r>
          </a:p>
          <a:p>
            <a:pPr>
              <a:lnSpc>
                <a:spcPct val="150000"/>
              </a:lnSpc>
            </a:pPr>
            <a:endParaRPr lang="zh-CN" altLang="en-US" b="0" i="0" dirty="0">
              <a:solidFill>
                <a:srgbClr val="333333"/>
              </a:solidFill>
              <a:effectLst/>
              <a:latin typeface="Helvetica Neue"/>
            </a:endParaRPr>
          </a:p>
          <a:p>
            <a:pPr>
              <a:lnSpc>
                <a:spcPct val="150000"/>
              </a:lnSpc>
            </a:pPr>
            <a:endParaRPr lang="zh-CN" altLang="en-US" dirty="0"/>
          </a:p>
        </p:txBody>
      </p:sp>
      <p:pic>
        <p:nvPicPr>
          <p:cNvPr id="4" name="图片 3">
            <a:extLst>
              <a:ext uri="{FF2B5EF4-FFF2-40B4-BE49-F238E27FC236}">
                <a16:creationId xmlns:a16="http://schemas.microsoft.com/office/drawing/2014/main" id="{D39DD898-1C6B-0C6B-A917-1D5545BC744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9494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21</a:t>
            </a:fld>
            <a:endParaRPr lang="zh-CN" altLang="en-US" sz="1400" b="0" dirty="0">
              <a:latin typeface="Times New Roman" panose="02020603050405020304" pitchFamily="18" charset="0"/>
              <a:ea typeface="宋体" panose="02010600030101010101" pitchFamily="2" charset="-122"/>
            </a:endParaRPr>
          </a:p>
        </p:txBody>
      </p:sp>
      <p:sp>
        <p:nvSpPr>
          <p:cNvPr id="111618" name="标题 1116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信息隐藏技术</a:t>
            </a:r>
          </a:p>
        </p:txBody>
      </p:sp>
      <p:sp>
        <p:nvSpPr>
          <p:cNvPr id="20483" name="文本占位符 111618"/>
          <p:cNvSpPr>
            <a:spLocks noGrp="1"/>
          </p:cNvSpPr>
          <p:nvPr>
            <p:ph idx="1"/>
          </p:nvPr>
        </p:nvSpPr>
        <p:spPr/>
        <p:txBody>
          <a:bodyPr vert="horz" wrap="square" lIns="91440" tIns="45720" rIns="91440" bIns="45720" numCol="1" rtlCol="0" anchor="t" anchorCtr="0" compatLnSpc="1">
            <a:normAutofit fontScale="97500" lnSpcReduction="1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3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信息隐藏技术分类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mn-lt"/>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根据应用场合的不同要求，信息隐藏技术可以分为</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隐写术</a:t>
            </a:r>
            <a:r>
              <a:rPr lang="zh-CN" altLang="en-US" sz="2400" b="1" noProof="1">
                <a:latin typeface="华文细黑" panose="02010600040101010101" pitchFamily="2" charset="-122"/>
                <a:ea typeface="华文细黑" panose="02010600040101010101" pitchFamily="2" charset="-122"/>
              </a:rPr>
              <a:t>和</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两个主要分支。</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kumimoji="0" lang="zh-CN" altLang="en-US"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隐写术</a:t>
            </a: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研究的重点是如何实现信息的伪装的隐蔽性；</a:t>
            </a:r>
            <a:endParaRPr kumimoji="0" lang="en-US" altLang="zh-CN"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kumimoji="0" lang="zh-CN" altLang="en-US"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a:t>
            </a: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则需要考虑水印信息是否稳健等特性，如对各种可能攻击的敏感性等。</a:t>
            </a:r>
            <a:endParaRPr kumimoji="0" lang="en-US" altLang="zh-CN"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根据隐藏协议，信息隐藏还可分为无密钥信息隐藏、私钥信息隐藏、公钥信息隐藏。         </a:t>
            </a:r>
          </a:p>
        </p:txBody>
      </p:sp>
      <p:pic>
        <p:nvPicPr>
          <p:cNvPr id="2" name="图片 1">
            <a:extLst>
              <a:ext uri="{FF2B5EF4-FFF2-40B4-BE49-F238E27FC236}">
                <a16:creationId xmlns:a16="http://schemas.microsoft.com/office/drawing/2014/main" id="{E9642591-AAE5-B0D4-FA9E-7579CF0E279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22</a:t>
            </a:fld>
            <a:endParaRPr lang="zh-CN" altLang="en-US" sz="1400" b="0" dirty="0">
              <a:latin typeface="Times New Roman" panose="02020603050405020304" pitchFamily="18" charset="0"/>
              <a:ea typeface="宋体" panose="02010600030101010101" pitchFamily="2" charset="-122"/>
            </a:endParaRPr>
          </a:p>
        </p:txBody>
      </p:sp>
      <p:sp>
        <p:nvSpPr>
          <p:cNvPr id="111618" name="标题 1116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信息隐藏技术</a:t>
            </a:r>
          </a:p>
        </p:txBody>
      </p:sp>
      <p:sp>
        <p:nvSpPr>
          <p:cNvPr id="20483" name="文本占位符 111618"/>
          <p:cNvSpPr>
            <a:spLocks noGrp="1"/>
          </p:cNvSpPr>
          <p:nvPr>
            <p:ph idx="1"/>
          </p:nvPr>
        </p:nvSpPr>
        <p:spPr/>
        <p:txBody>
          <a:bodyPr vert="horz" wrap="square" lIns="91440" tIns="45720" rIns="91440" bIns="45720" numCol="1" rtlCol="0" anchor="t" anchorCtr="0" compatLnSpc="1">
            <a:normAutofit fontScale="97500" lnSpcReduction="1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3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无密钥信息隐藏</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mn-lt"/>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隐藏过程：映射</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E</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C×M</a:t>
            </a: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C’</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kumimoji="0" lang="en-US" altLang="zh-CN"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C</a:t>
            </a:r>
            <a:r>
              <a:rPr kumimoji="0" lang="zh-CN" altLang="en-US"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a:t>
            </a:r>
            <a:r>
              <a:rPr lang="zh-CN" altLang="en-US" sz="2100" b="1" noProof="1">
                <a:latin typeface="华文细黑" panose="02010600040101010101" pitchFamily="2" charset="-122"/>
                <a:ea typeface="华文细黑" panose="02010600040101010101" pitchFamily="2" charset="-122"/>
              </a:rPr>
              <a:t>所有可能载体的集合</a:t>
            </a: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endParaRPr kumimoji="0" lang="en-US" altLang="zh-CN"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kumimoji="0" lang="en-US" altLang="zh-CN"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M</a:t>
            </a:r>
            <a:r>
              <a:rPr kumimoji="0" lang="zh-CN" altLang="en-US"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a:t>
            </a:r>
            <a:r>
              <a:rPr lang="zh-CN" altLang="en-US" sz="2100" b="1" noProof="1">
                <a:latin typeface="华文细黑" panose="02010600040101010101" pitchFamily="2" charset="-122"/>
                <a:ea typeface="华文细黑" panose="02010600040101010101" pitchFamily="2" charset="-122"/>
              </a:rPr>
              <a:t>所有可能秘密消息的集合</a:t>
            </a: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endParaRPr kumimoji="0" lang="en-US" altLang="zh-CN"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lvl="2" eaLnBrk="1" fontAlgn="auto" hangingPunct="1">
              <a:lnSpc>
                <a:spcPct val="150000"/>
              </a:lnSpc>
              <a:spcBef>
                <a:spcPts val="600"/>
              </a:spcBef>
              <a:spcAft>
                <a:spcPts val="600"/>
              </a:spcAft>
              <a:defRPr/>
            </a:pPr>
            <a:r>
              <a:rPr lang="en-US" altLang="zh-CN" sz="2100" b="1" noProof="1">
                <a:solidFill>
                  <a:schemeClr val="accent1"/>
                </a:solidFill>
                <a:latin typeface="华文细黑" panose="02010600040101010101" pitchFamily="2" charset="-122"/>
                <a:ea typeface="华文细黑" panose="02010600040101010101" pitchFamily="2" charset="-122"/>
              </a:rPr>
              <a:t>C’</a:t>
            </a:r>
            <a:r>
              <a:rPr lang="zh-CN" altLang="en-US" sz="2100" b="1" noProof="1">
                <a:solidFill>
                  <a:schemeClr val="accent1"/>
                </a:solidFill>
                <a:latin typeface="华文细黑" panose="02010600040101010101" pitchFamily="2" charset="-122"/>
                <a:ea typeface="华文细黑" panose="02010600040101010101" pitchFamily="2" charset="-122"/>
              </a:rPr>
              <a:t>：</a:t>
            </a:r>
            <a:r>
              <a:rPr lang="zh-CN" altLang="en-US" sz="2100" b="1" noProof="1">
                <a:latin typeface="华文细黑" panose="02010600040101010101" pitchFamily="2" charset="-122"/>
                <a:ea typeface="华文细黑" panose="02010600040101010101" pitchFamily="2" charset="-122"/>
              </a:rPr>
              <a:t>所有伪装对象的集合。</a:t>
            </a:r>
            <a:endParaRPr lang="en-US" altLang="zh-CN" sz="2100" b="1" noProof="1">
              <a:solidFill>
                <a:schemeClr val="accent1"/>
              </a:solidFill>
              <a:latin typeface="华文细黑" panose="02010600040101010101" pitchFamily="2" charset="-122"/>
              <a:ea typeface="华文细黑" panose="02010600040101010101" pitchFamily="2" charset="-122"/>
            </a:endParaRPr>
          </a:p>
          <a:p>
            <a:pPr marL="0" indent="576000" eaLnBrk="1" fontAlgn="auto" hangingPunct="1">
              <a:lnSpc>
                <a:spcPct val="150000"/>
              </a:lnSpc>
              <a:spcBef>
                <a:spcPts val="600"/>
              </a:spcBef>
              <a:spcAft>
                <a:spcPts val="600"/>
              </a:spcAft>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提取过程：映射</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lang="en-US" altLang="zh-CN" sz="2400" b="1" noProof="1">
                <a:latin typeface="华文细黑" panose="02010600040101010101" pitchFamily="2" charset="-122"/>
                <a:ea typeface="华文细黑" panose="02010600040101010101" pitchFamily="2" charset="-122"/>
              </a:rPr>
              <a:t>C’</a:t>
            </a: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M</a:t>
            </a: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双方约定嵌入算法和提取算法，</a:t>
            </a:r>
            <a:r>
              <a:rPr kumimoji="0" lang="zh-CN" altLang="en-US" sz="24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rPr>
              <a:t>算法要保密</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pic>
        <p:nvPicPr>
          <p:cNvPr id="2" name="图片 1">
            <a:extLst>
              <a:ext uri="{FF2B5EF4-FFF2-40B4-BE49-F238E27FC236}">
                <a16:creationId xmlns:a16="http://schemas.microsoft.com/office/drawing/2014/main" id="{372F194F-6EE3-D472-1440-BCD7E282192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7340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8174367-2A32-4B49-BF98-B6B4D1637294}"/>
                  </a:ext>
                </a:extLst>
              </p:cNvPr>
              <p:cNvSpPr>
                <a:spLocks noGrp="1"/>
              </p:cNvSpPr>
              <p:nvPr>
                <p:ph idx="1"/>
              </p:nvPr>
            </p:nvSpPr>
            <p:spPr>
              <a:xfrm>
                <a:off x="628650" y="692696"/>
                <a:ext cx="7888288" cy="5484267"/>
              </a:xfrm>
            </p:spPr>
            <p:txBody>
              <a:bodyPr/>
              <a:lstStyle/>
              <a:p>
                <a:pPr>
                  <a:lnSpc>
                    <a:spcPct val="150000"/>
                  </a:lnSpc>
                </a:pPr>
                <a:r>
                  <a:rPr lang="zh-CN" altLang="en-US" sz="2400" dirty="0"/>
                  <a:t>定义：对一个五元组</a:t>
                </a:r>
                <a14:m>
                  <m:oMath xmlns:m="http://schemas.openxmlformats.org/officeDocument/2006/math">
                    <m:nary>
                      <m:naryPr>
                        <m:chr m:val="∑"/>
                        <m:subHide m:val="on"/>
                        <m:supHide m:val="on"/>
                        <m:ctrlPr>
                          <a:rPr lang="zh-CN" altLang="en-US" sz="2400" i="1" smtClean="0">
                            <a:latin typeface="Cambria Math" panose="02040503050406030204" pitchFamily="18" charset="0"/>
                          </a:rPr>
                        </m:ctrlPr>
                      </m:naryPr>
                      <m:sub/>
                      <m:sup/>
                      <m:e>
                        <m:r>
                          <a:rPr lang="en-US" altLang="zh-CN" sz="2400" i="1">
                            <a:latin typeface="Cambria Math" panose="02040503050406030204" pitchFamily="18" charset="0"/>
                          </a:rPr>
                          <m:t>=</m:t>
                        </m:r>
                      </m:e>
                    </m:nary>
                  </m:oMath>
                </a14:m>
                <a:r>
                  <a:rPr lang="en-US" altLang="zh-CN" sz="2400" dirty="0"/>
                  <a:t>〈C</a:t>
                </a:r>
                <a:r>
                  <a:rPr lang="zh-CN" altLang="en-US" sz="2400" dirty="0"/>
                  <a:t>，</a:t>
                </a:r>
                <a:r>
                  <a:rPr lang="en-US" altLang="zh-CN" sz="2400" dirty="0"/>
                  <a:t>M</a:t>
                </a:r>
                <a:r>
                  <a:rPr lang="zh-CN" altLang="en-US" sz="2400" dirty="0"/>
                  <a:t>，</a:t>
                </a:r>
                <a:r>
                  <a:rPr lang="en-US" altLang="zh-CN" sz="2400" dirty="0"/>
                  <a:t>C</a:t>
                </a:r>
                <a:r>
                  <a:rPr lang="en-US" altLang="zh-CN" sz="2400" b="1" noProof="1">
                    <a:latin typeface="华文细黑" panose="02010600040101010101" pitchFamily="2" charset="-122"/>
                    <a:ea typeface="华文细黑" panose="02010600040101010101" pitchFamily="2" charset="-122"/>
                  </a:rPr>
                  <a:t>’</a:t>
                </a:r>
                <a:r>
                  <a:rPr lang="zh-CN" altLang="en-US" sz="2400" dirty="0"/>
                  <a:t>，</a:t>
                </a:r>
                <a:r>
                  <a:rPr lang="en-US" altLang="zh-CN" sz="2400" dirty="0"/>
                  <a:t>D</a:t>
                </a:r>
                <a:r>
                  <a:rPr lang="zh-CN" altLang="en-US" sz="2400" dirty="0"/>
                  <a:t>，</a:t>
                </a:r>
                <a:r>
                  <a:rPr lang="en-US" altLang="zh-CN" sz="2400" dirty="0"/>
                  <a:t>E〉</a:t>
                </a:r>
                <a:r>
                  <a:rPr lang="zh-CN" altLang="en-US" sz="2400" dirty="0"/>
                  <a:t>，其中</a:t>
                </a:r>
                <a:r>
                  <a:rPr lang="en-US" altLang="zh-CN" sz="2400" dirty="0"/>
                  <a:t>C</a:t>
                </a:r>
                <a:r>
                  <a:rPr lang="zh-CN" altLang="en-US" sz="2400" dirty="0"/>
                  <a:t>是所有可能载体的集合，</a:t>
                </a:r>
                <a:r>
                  <a:rPr lang="en-US" altLang="zh-CN" sz="2400" dirty="0"/>
                  <a:t>M</a:t>
                </a:r>
                <a:r>
                  <a:rPr lang="zh-CN" altLang="en-US" sz="2400" dirty="0"/>
                  <a:t>是所有可能秘密消息的集合，</a:t>
                </a:r>
                <a:r>
                  <a:rPr lang="en-US" altLang="zh-CN" sz="2400" dirty="0"/>
                  <a:t>C</a:t>
                </a:r>
                <a:r>
                  <a:rPr lang="en-US" altLang="zh-CN" sz="2400" b="1" noProof="1">
                    <a:latin typeface="华文细黑" panose="02010600040101010101" pitchFamily="2" charset="-122"/>
                    <a:ea typeface="华文细黑" panose="02010600040101010101" pitchFamily="2" charset="-122"/>
                  </a:rPr>
                  <a:t>’</a:t>
                </a:r>
                <a:r>
                  <a:rPr lang="zh-CN" altLang="en-US" sz="2400" b="1" noProof="1">
                    <a:latin typeface="华文细黑" panose="02010600040101010101" pitchFamily="2" charset="-122"/>
                    <a:ea typeface="华文细黑" panose="02010600040101010101" pitchFamily="2" charset="-122"/>
                  </a:rPr>
                  <a:t>是所有可能伪装对象的集合</a:t>
                </a:r>
                <a:endParaRPr lang="en-US" altLang="zh-CN" sz="2400" b="1" noProof="1">
                  <a:latin typeface="华文细黑" panose="02010600040101010101" pitchFamily="2" charset="-122"/>
                  <a:ea typeface="华文细黑" panose="02010600040101010101" pitchFamily="2" charset="-122"/>
                </a:endParaRPr>
              </a:p>
              <a:p>
                <a:pPr>
                  <a:lnSpc>
                    <a:spcPct val="150000"/>
                  </a:lnSpc>
                </a:pP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rPr>
                  <a:t>E</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rPr>
                  <a:t>C×M</a:t>
                </a: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C’</a:t>
                </a:r>
                <a:r>
                  <a:rPr lang="zh-CN" altLang="en-US" sz="2400" b="1" noProof="1">
                    <a:latin typeface="华文细黑" panose="02010600040101010101" pitchFamily="2" charset="-122"/>
                    <a:ea typeface="华文细黑" panose="02010600040101010101" pitchFamily="2" charset="-122"/>
                  </a:rPr>
                  <a:t>是嵌入函数</a:t>
                </a:r>
                <a:endParaRPr lang="en-US" altLang="zh-CN" sz="2400" b="1" noProof="1">
                  <a:latin typeface="华文细黑" panose="02010600040101010101" pitchFamily="2" charset="-122"/>
                  <a:ea typeface="华文细黑" panose="02010600040101010101" pitchFamily="2" charset="-122"/>
                </a:endParaRPr>
              </a:p>
              <a:p>
                <a:pPr>
                  <a:lnSpc>
                    <a:spcPct val="150000"/>
                  </a:lnSpc>
                </a:pP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rPr>
                  <a:t>D</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C’</a:t>
                </a:r>
                <a:r>
                  <a:rPr lang="zh-CN" altLang="en-US" sz="2400" b="1" noProof="1">
                    <a:latin typeface="华文细黑" panose="02010600040101010101" pitchFamily="2" charset="-122"/>
                    <a:ea typeface="华文细黑" panose="02010600040101010101" pitchFamily="2" charset="-122"/>
                  </a:rPr>
                  <a:t>→</a:t>
                </a:r>
                <a:r>
                  <a:rPr lang="en-US" altLang="zh-CN" sz="2400" b="1" noProof="1">
                    <a:latin typeface="华文细黑" panose="02010600040101010101" pitchFamily="2" charset="-122"/>
                    <a:ea typeface="华文细黑" panose="02010600040101010101" pitchFamily="2" charset="-122"/>
                  </a:rPr>
                  <a:t>M</a:t>
                </a:r>
                <a:r>
                  <a:rPr lang="zh-CN" altLang="en-US" sz="2400" b="1" noProof="1">
                    <a:latin typeface="华文细黑" panose="02010600040101010101" pitchFamily="2" charset="-122"/>
                    <a:ea typeface="华文细黑" panose="02010600040101010101" pitchFamily="2" charset="-122"/>
                  </a:rPr>
                  <a:t>是提取函数</a:t>
                </a:r>
                <a:endParaRPr lang="en-US" altLang="zh-CN" sz="2400" b="1" noProof="1">
                  <a:latin typeface="华文细黑" panose="02010600040101010101" pitchFamily="2" charset="-122"/>
                  <a:ea typeface="华文细黑" panose="02010600040101010101" pitchFamily="2" charset="-122"/>
                </a:endParaRPr>
              </a:p>
              <a:p>
                <a:pPr>
                  <a:lnSpc>
                    <a:spcPct val="150000"/>
                  </a:lnSpc>
                </a:pPr>
                <a:r>
                  <a:rPr lang="zh-CN" altLang="en-US" sz="2400" dirty="0"/>
                  <a:t>若满足性质：对所有</a:t>
                </a:r>
                <a:r>
                  <a:rPr lang="en-US" altLang="zh-CN" sz="2400" dirty="0"/>
                  <a:t>m</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t>M</a:t>
                </a:r>
                <a:r>
                  <a:rPr lang="zh-CN" altLang="en-US" sz="2400" dirty="0"/>
                  <a:t>和</a:t>
                </a:r>
                <a:r>
                  <a:rPr lang="en-US" altLang="zh-CN" sz="2400" dirty="0"/>
                  <a:t>c</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C</a:t>
                </a:r>
                <a:r>
                  <a:rPr lang="zh-CN" altLang="en-US" sz="2400" dirty="0"/>
                  <a:t>，</a:t>
                </a:r>
                <a:endParaRPr lang="en-US" altLang="zh-CN" sz="2400" dirty="0"/>
              </a:p>
              <a:p>
                <a:pPr marL="0" indent="0">
                  <a:lnSpc>
                    <a:spcPct val="150000"/>
                  </a:lnSpc>
                  <a:buNone/>
                </a:pPr>
                <a:r>
                  <a:rPr lang="en-US" altLang="zh-CN" sz="2400" dirty="0"/>
                  <a:t>    </a:t>
                </a:r>
                <a:r>
                  <a:rPr lang="zh-CN" altLang="en-US" sz="2400" dirty="0"/>
                  <a:t>恒有：</a:t>
                </a:r>
                <a:r>
                  <a:rPr lang="en-US" altLang="zh-CN" sz="2400" dirty="0"/>
                  <a:t>D(E(c</a:t>
                </a:r>
                <a:r>
                  <a:rPr lang="zh-CN" altLang="en-US" sz="2400" dirty="0"/>
                  <a:t>，</a:t>
                </a:r>
                <a:r>
                  <a:rPr lang="en-US" altLang="zh-CN" sz="2400" dirty="0"/>
                  <a:t>m))=m</a:t>
                </a:r>
                <a:r>
                  <a:rPr lang="zh-CN" altLang="en-US" sz="2400" dirty="0"/>
                  <a:t>，</a:t>
                </a:r>
                <a:endParaRPr lang="en-US" altLang="zh-CN" sz="2400" dirty="0"/>
              </a:p>
              <a:p>
                <a:pPr>
                  <a:lnSpc>
                    <a:spcPct val="150000"/>
                  </a:lnSpc>
                </a:pPr>
                <a:r>
                  <a:rPr lang="zh-CN" altLang="en-US" sz="2400" dirty="0"/>
                  <a:t>则称该五元组为</a:t>
                </a:r>
                <a:r>
                  <a:rPr lang="zh-CN" altLang="en-US" sz="2800" dirty="0">
                    <a:solidFill>
                      <a:schemeClr val="accent1"/>
                    </a:solidFill>
                    <a:latin typeface="+mj-lt"/>
                    <a:ea typeface="+mj-ea"/>
                    <a:cs typeface="+mj-cs"/>
                  </a:rPr>
                  <a:t>无密钥信息隐藏系统</a:t>
                </a:r>
                <a:r>
                  <a:rPr lang="zh-CN" altLang="en-US" sz="2400" dirty="0"/>
                  <a:t>。</a:t>
                </a:r>
              </a:p>
            </p:txBody>
          </p:sp>
        </mc:Choice>
        <mc:Fallback xmlns="">
          <p:sp>
            <p:nvSpPr>
              <p:cNvPr id="3" name="内容占位符 2">
                <a:extLst>
                  <a:ext uri="{FF2B5EF4-FFF2-40B4-BE49-F238E27FC236}">
                    <a16:creationId xmlns:a16="http://schemas.microsoft.com/office/drawing/2014/main" id="{88174367-2A32-4B49-BF98-B6B4D1637294}"/>
                  </a:ext>
                </a:extLst>
              </p:cNvPr>
              <p:cNvSpPr>
                <a:spLocks noGrp="1" noRot="1" noChangeAspect="1" noMove="1" noResize="1" noEditPoints="1" noAdjustHandles="1" noChangeArrowheads="1" noChangeShapeType="1" noTextEdit="1"/>
              </p:cNvSpPr>
              <p:nvPr>
                <p:ph idx="1"/>
              </p:nvPr>
            </p:nvSpPr>
            <p:spPr>
              <a:xfrm>
                <a:off x="628650" y="692696"/>
                <a:ext cx="7888288" cy="5484267"/>
              </a:xfrm>
              <a:blipFill>
                <a:blip r:embed="rId2"/>
                <a:stretch>
                  <a:fillRect l="-1005" t="-8676"/>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452A1DCF-972D-6F45-BF7F-9682C7F374D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5564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190023-4D2A-4D0E-AF1C-7A642EE0FD8E}"/>
              </a:ext>
            </a:extLst>
          </p:cNvPr>
          <p:cNvSpPr>
            <a:spLocks noGrp="1"/>
          </p:cNvSpPr>
          <p:nvPr>
            <p:ph type="title"/>
          </p:nvPr>
        </p:nvSpPr>
        <p:spPr/>
        <p:txBody>
          <a:bodyPr/>
          <a:lstStyle/>
          <a:p>
            <a:r>
              <a:rPr lang="zh-CN" altLang="en-US" dirty="0"/>
              <a:t>相似性函数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E93DDFB-2348-4079-9ADB-BBFD8BDA4582}"/>
                  </a:ext>
                </a:extLst>
              </p:cNvPr>
              <p:cNvSpPr>
                <a:spLocks noGrp="1"/>
              </p:cNvSpPr>
              <p:nvPr>
                <p:ph idx="1"/>
              </p:nvPr>
            </p:nvSpPr>
            <p:spPr/>
            <p:txBody>
              <a:bodyPr/>
              <a:lstStyle/>
              <a:p>
                <a:pPr>
                  <a:lnSpc>
                    <a:spcPct val="150000"/>
                  </a:lnSpc>
                </a:pPr>
                <a:r>
                  <a:rPr lang="zh-CN" altLang="en-US" sz="2400" dirty="0"/>
                  <a:t>载体对象和伪装对象在感觉上不可区分，如何度量？</a:t>
                </a:r>
                <a:endParaRPr lang="en-US" altLang="zh-CN" sz="2400" dirty="0"/>
              </a:p>
              <a:p>
                <a:pPr>
                  <a:lnSpc>
                    <a:spcPct val="150000"/>
                  </a:lnSpc>
                </a:pPr>
                <a:r>
                  <a:rPr lang="zh-CN" altLang="en-US" sz="2400" dirty="0"/>
                  <a:t>定义：设</a:t>
                </a:r>
                <a:r>
                  <a:rPr lang="en-US" altLang="zh-CN" sz="2400" dirty="0"/>
                  <a:t>C</a:t>
                </a:r>
                <a:r>
                  <a:rPr lang="zh-CN" altLang="en-US" sz="2400" dirty="0"/>
                  <a:t>是一个非空集合，一个函数</a:t>
                </a:r>
                <a:r>
                  <a:rPr lang="en-US" altLang="zh-CN" sz="2400" dirty="0"/>
                  <a:t>sim</a:t>
                </a:r>
                <a:r>
                  <a:rPr lang="zh-CN" altLang="en-US" sz="2400" dirty="0"/>
                  <a:t>：</a:t>
                </a:r>
                <a:r>
                  <a:rPr lang="en-US" altLang="zh-CN" sz="2400" dirty="0"/>
                  <a:t>C</a:t>
                </a:r>
                <a:r>
                  <a:rPr lang="en-US" altLang="zh-CN" sz="2400" baseline="30000" dirty="0"/>
                  <a:t>2</a:t>
                </a:r>
                <a:r>
                  <a:rPr lang="en-US" altLang="zh-CN" sz="2400" dirty="0"/>
                  <a:t>→(-∞</a:t>
                </a:r>
                <a:r>
                  <a:rPr lang="zh-CN" altLang="en-US" sz="2400" dirty="0"/>
                  <a:t>，</a:t>
                </a:r>
                <a:r>
                  <a:rPr lang="en-US" altLang="zh-CN" sz="2400" dirty="0"/>
                  <a:t>1)</a:t>
                </a:r>
                <a:r>
                  <a:rPr lang="zh-CN" altLang="en-US" sz="2400" dirty="0"/>
                  <a:t>，对</a:t>
                </a:r>
                <a:r>
                  <a:rPr lang="en-US" altLang="zh-CN" sz="2400" dirty="0"/>
                  <a:t>x</a:t>
                </a:r>
                <a:r>
                  <a:rPr lang="zh-CN" altLang="en-US" sz="2400" dirty="0"/>
                  <a:t>，</a:t>
                </a:r>
                <a:r>
                  <a:rPr lang="en-US" altLang="zh-CN" sz="2400" dirty="0"/>
                  <a:t>y</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t>C</a:t>
                </a:r>
                <a:r>
                  <a:rPr lang="zh-CN" altLang="en-US" sz="2400" dirty="0"/>
                  <a:t>，若满足</a:t>
                </a:r>
                <a:endParaRPr lang="en-US" altLang="zh-CN" sz="2400" dirty="0"/>
              </a:p>
              <a:p>
                <a:pPr marL="0" indent="0">
                  <a:lnSpc>
                    <a:spcPct val="150000"/>
                  </a:lnSpc>
                  <a:buNone/>
                </a:pPr>
                <a:r>
                  <a:rPr lang="en-US" altLang="zh-CN" sz="2400" dirty="0"/>
                  <a:t>                 sim</a:t>
                </a:r>
                <a:r>
                  <a:rPr lang="zh-CN" altLang="en-US" sz="2400" dirty="0"/>
                  <a:t>（</a:t>
                </a:r>
                <a:r>
                  <a:rPr lang="en-US" altLang="zh-CN" sz="2400" dirty="0"/>
                  <a:t>x</a:t>
                </a:r>
                <a:r>
                  <a:rPr lang="zh-CN" altLang="en-US" sz="2400" dirty="0"/>
                  <a:t>，</a:t>
                </a:r>
                <a:r>
                  <a:rPr lang="en-US" altLang="zh-CN" sz="2400" dirty="0"/>
                  <a:t>y</a:t>
                </a:r>
                <a:r>
                  <a:rPr lang="zh-CN" altLang="en-US" sz="2400" dirty="0"/>
                  <a:t>）</a:t>
                </a:r>
                <a14:m>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i="1" smtClean="0">
                                <a:latin typeface="Cambria Math" panose="02040503050406030204" pitchFamily="18" charset="0"/>
                              </a:rPr>
                            </m:ctrlPr>
                          </m:eqArrPr>
                          <m:e>
                            <m:r>
                              <a:rPr lang="en-US" altLang="zh-CN" sz="2400" i="1">
                                <a:latin typeface="Cambria Math" panose="02040503050406030204" pitchFamily="18" charset="0"/>
                              </a:rPr>
                              <m:t>=</m:t>
                            </m:r>
                            <m:r>
                              <a:rPr lang="en-US" altLang="zh-CN" sz="2400" b="0" i="1" smtClean="0">
                                <a:latin typeface="Cambria Math" panose="02040503050406030204" pitchFamily="18" charset="0"/>
                              </a:rPr>
                              <m:t>1       </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e>
                          <m:e>
                            <m:r>
                              <a:rPr lang="en-US" altLang="zh-CN" sz="2400" b="0" i="1" smtClean="0">
                                <a:latin typeface="Cambria Math" panose="02040503050406030204" pitchFamily="18" charset="0"/>
                              </a:rPr>
                              <m:t>&lt;1      </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𝑦</m:t>
                            </m:r>
                            <m:r>
                              <a:rPr lang="en-US" altLang="zh-CN" sz="2400" b="0" i="1" smtClean="0">
                                <a:latin typeface="Cambria Math" panose="02040503050406030204" pitchFamily="18" charset="0"/>
                              </a:rPr>
                              <m:t> </m:t>
                            </m:r>
                          </m:e>
                        </m:eqArr>
                      </m:e>
                    </m:d>
                  </m:oMath>
                </a14:m>
                <a:endParaRPr lang="en-US" altLang="zh-CN" sz="2400" dirty="0"/>
              </a:p>
              <a:p>
                <a:pPr>
                  <a:lnSpc>
                    <a:spcPct val="150000"/>
                  </a:lnSpc>
                </a:pPr>
                <a:r>
                  <a:rPr lang="zh-CN" altLang="en-US" sz="2400" dirty="0"/>
                  <a:t>则</a:t>
                </a:r>
                <a:r>
                  <a:rPr lang="en-US" altLang="zh-CN" sz="2400" dirty="0"/>
                  <a:t>sim</a:t>
                </a:r>
                <a:r>
                  <a:rPr lang="zh-CN" altLang="en-US" sz="2400" dirty="0"/>
                  <a:t>称为</a:t>
                </a:r>
                <a:r>
                  <a:rPr lang="en-US" altLang="zh-CN" sz="2400" dirty="0"/>
                  <a:t>C</a:t>
                </a:r>
                <a:r>
                  <a:rPr lang="zh-CN" altLang="en-US" sz="2400" dirty="0"/>
                  <a:t>上的相似性函数</a:t>
                </a:r>
                <a:endParaRPr lang="en-US" altLang="zh-CN" sz="2400" dirty="0"/>
              </a:p>
              <a:p>
                <a:pPr>
                  <a:lnSpc>
                    <a:spcPct val="150000"/>
                  </a:lnSpc>
                </a:pPr>
                <a:r>
                  <a:rPr lang="zh-CN" altLang="en-US" sz="2400" dirty="0"/>
                  <a:t>相似度应尽可能接近</a:t>
                </a:r>
                <a:r>
                  <a:rPr lang="en-US" altLang="zh-CN" sz="2400" dirty="0"/>
                  <a:t>1</a:t>
                </a:r>
              </a:p>
            </p:txBody>
          </p:sp>
        </mc:Choice>
        <mc:Fallback xmlns="">
          <p:sp>
            <p:nvSpPr>
              <p:cNvPr id="3" name="内容占位符 2">
                <a:extLst>
                  <a:ext uri="{FF2B5EF4-FFF2-40B4-BE49-F238E27FC236}">
                    <a16:creationId xmlns:a16="http://schemas.microsoft.com/office/drawing/2014/main" id="{CE93DDFB-2348-4079-9ADB-BBFD8BDA4582}"/>
                  </a:ext>
                </a:extLst>
              </p:cNvPr>
              <p:cNvSpPr>
                <a:spLocks noGrp="1" noRot="1" noChangeAspect="1" noMove="1" noResize="1" noEditPoints="1" noAdjustHandles="1" noChangeArrowheads="1" noChangeShapeType="1" noTextEdit="1"/>
              </p:cNvSpPr>
              <p:nvPr>
                <p:ph idx="1"/>
              </p:nvPr>
            </p:nvSpPr>
            <p:spPr>
              <a:blipFill>
                <a:blip r:embed="rId2"/>
                <a:stretch>
                  <a:fillRect l="-100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BD570340-DE54-5264-A7F8-E66400C4A0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5931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E0E57-2B1F-49A2-A1DD-C2F2D49C18AD}"/>
              </a:ext>
            </a:extLst>
          </p:cNvPr>
          <p:cNvSpPr>
            <a:spLocks noGrp="1"/>
          </p:cNvSpPr>
          <p:nvPr>
            <p:ph type="title"/>
          </p:nvPr>
        </p:nvSpPr>
        <p:spPr/>
        <p:txBody>
          <a:bodyPr/>
          <a:lstStyle/>
          <a:p>
            <a:r>
              <a:rPr lang="zh-CN" altLang="en-US" dirty="0"/>
              <a:t>载体的选择</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775CD7-0AB1-4F45-9656-95008913BDB6}"/>
                  </a:ext>
                </a:extLst>
              </p:cNvPr>
              <p:cNvSpPr>
                <a:spLocks noGrp="1"/>
              </p:cNvSpPr>
              <p:nvPr>
                <p:ph idx="1"/>
              </p:nvPr>
            </p:nvSpPr>
            <p:spPr/>
            <p:txBody>
              <a:bodyPr/>
              <a:lstStyle/>
              <a:p>
                <a:pPr>
                  <a:lnSpc>
                    <a:spcPct val="150000"/>
                  </a:lnSpc>
                </a:pPr>
                <a:r>
                  <a:rPr lang="zh-CN" altLang="en-US" sz="2400" dirty="0"/>
                  <a:t>不同的嵌入算法，对载体的影响不同</a:t>
                </a:r>
                <a:endParaRPr lang="en-US" altLang="zh-CN" sz="2400" dirty="0"/>
              </a:p>
              <a:p>
                <a:pPr>
                  <a:lnSpc>
                    <a:spcPct val="150000"/>
                  </a:lnSpc>
                </a:pPr>
                <a:r>
                  <a:rPr lang="zh-CN" altLang="en-US" sz="2400" dirty="0"/>
                  <a:t>选择最合适的载体，使得信息嵌入后影响最小，即载体对象与伪装对象的相似度最大</a:t>
                </a:r>
                <a:endParaRPr lang="en-US" altLang="zh-CN" sz="2400" dirty="0"/>
              </a:p>
              <a:p>
                <a:pPr marL="0" indent="0">
                  <a:lnSpc>
                    <a:spcPct val="80000"/>
                  </a:lnSpc>
                  <a:buNone/>
                </a:pPr>
                <a:r>
                  <a:rPr lang="en-US" altLang="zh-CN" sz="2400" dirty="0"/>
                  <a:t>         c = Max  sim</a:t>
                </a:r>
                <a:r>
                  <a:rPr lang="zh-CN" altLang="en-US" sz="2400" dirty="0"/>
                  <a:t>（</a:t>
                </a:r>
                <a:r>
                  <a:rPr lang="en-US" altLang="zh-CN" sz="2400" dirty="0"/>
                  <a:t>x</a:t>
                </a:r>
                <a:r>
                  <a:rPr lang="zh-CN" altLang="en-US" sz="2400" dirty="0"/>
                  <a:t>，</a:t>
                </a:r>
                <a:r>
                  <a:rPr lang="en-US" altLang="zh-CN" sz="2400" dirty="0"/>
                  <a:t>E</a:t>
                </a:r>
                <a:r>
                  <a:rPr lang="zh-CN" altLang="en-US" sz="2400" dirty="0"/>
                  <a:t>（</a:t>
                </a:r>
                <a:r>
                  <a:rPr lang="en-US" altLang="zh-CN" sz="2400" dirty="0"/>
                  <a:t>x</a:t>
                </a:r>
                <a:r>
                  <a:rPr lang="zh-CN" altLang="en-US" sz="2400" dirty="0"/>
                  <a:t>，</a:t>
                </a:r>
                <a:r>
                  <a:rPr lang="en-US" altLang="zh-CN" sz="2400" dirty="0"/>
                  <a:t>m</a:t>
                </a:r>
                <a:r>
                  <a:rPr lang="zh-CN" altLang="en-US" sz="2400" dirty="0"/>
                  <a:t>））</a:t>
                </a:r>
                <a:endParaRPr lang="en-US" altLang="zh-CN" sz="2400" dirty="0"/>
              </a:p>
              <a:p>
                <a:pPr marL="0" indent="0">
                  <a:lnSpc>
                    <a:spcPct val="80000"/>
                  </a:lnSpc>
                  <a:buNone/>
                </a:pPr>
                <a:r>
                  <a:rPr lang="en-US" altLang="zh-CN" sz="2400" dirty="0"/>
                  <a:t>               x</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t>C</a:t>
                </a:r>
                <a:endParaRPr lang="zh-CN" altLang="en-US" sz="2400" dirty="0"/>
              </a:p>
            </p:txBody>
          </p:sp>
        </mc:Choice>
        <mc:Fallback xmlns="">
          <p:sp>
            <p:nvSpPr>
              <p:cNvPr id="3" name="内容占位符 2">
                <a:extLst>
                  <a:ext uri="{FF2B5EF4-FFF2-40B4-BE49-F238E27FC236}">
                    <a16:creationId xmlns:a16="http://schemas.microsoft.com/office/drawing/2014/main" id="{64775CD7-0AB1-4F45-9656-95008913BDB6}"/>
                  </a:ext>
                </a:extLst>
              </p:cNvPr>
              <p:cNvSpPr>
                <a:spLocks noGrp="1" noRot="1" noChangeAspect="1" noMove="1" noResize="1" noEditPoints="1" noAdjustHandles="1" noChangeArrowheads="1" noChangeShapeType="1" noTextEdit="1"/>
              </p:cNvSpPr>
              <p:nvPr>
                <p:ph idx="1"/>
              </p:nvPr>
            </p:nvSpPr>
            <p:spPr>
              <a:blipFill>
                <a:blip r:embed="rId2"/>
                <a:stretch>
                  <a:fillRect l="-1005" r="-30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F113F34-9076-210E-61D8-5DDC9D9947C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6561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26</a:t>
            </a:fld>
            <a:endParaRPr lang="zh-CN" altLang="en-US" sz="1400" b="0" dirty="0">
              <a:latin typeface="Times New Roman" panose="02020603050405020304" pitchFamily="18" charset="0"/>
              <a:ea typeface="宋体" panose="02010600030101010101" pitchFamily="2" charset="-122"/>
            </a:endParaRPr>
          </a:p>
        </p:txBody>
      </p:sp>
      <p:sp>
        <p:nvSpPr>
          <p:cNvPr id="111618" name="标题 1116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信息隐藏技术</a:t>
            </a:r>
          </a:p>
        </p:txBody>
      </p:sp>
      <p:sp>
        <p:nvSpPr>
          <p:cNvPr id="20483" name="文本占位符 111618"/>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3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私钥信息隐藏</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mn-lt"/>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Kerckhoffs</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准则（</a:t>
            </a:r>
            <a:r>
              <a:rPr lang="zh-CN" altLang="en-US" sz="2400" b="0" i="0" dirty="0">
                <a:solidFill>
                  <a:srgbClr val="333333"/>
                </a:solidFill>
                <a:effectLst/>
                <a:latin typeface="arial" panose="020B0604020202020204" pitchFamily="34" charset="0"/>
              </a:rPr>
              <a:t>柯克霍夫原则</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）：密码设计者应该假设对手知道数据加密的方法，数据的安全性必须仅依赖于密钥的安全性。</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无密钥信息隐藏系统，违反了</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Kerckhoffs</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准则。         </a:t>
            </a:r>
          </a:p>
        </p:txBody>
      </p:sp>
      <p:pic>
        <p:nvPicPr>
          <p:cNvPr id="2" name="图片 1">
            <a:extLst>
              <a:ext uri="{FF2B5EF4-FFF2-40B4-BE49-F238E27FC236}">
                <a16:creationId xmlns:a16="http://schemas.microsoft.com/office/drawing/2014/main" id="{E9AB73EB-F212-1C71-02DF-6AE911E4891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5964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8843388-BE01-BB36-26C9-BC98BDFE6A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DCB58C6-537D-4442-8FE2-223C11456184}"/>
                  </a:ext>
                </a:extLst>
              </p:cNvPr>
              <p:cNvSpPr>
                <a:spLocks noGrp="1"/>
              </p:cNvSpPr>
              <p:nvPr>
                <p:ph idx="1"/>
              </p:nvPr>
            </p:nvSpPr>
            <p:spPr>
              <a:xfrm>
                <a:off x="628650" y="404664"/>
                <a:ext cx="8119814" cy="6120680"/>
              </a:xfrm>
            </p:spPr>
            <p:txBody>
              <a:bodyPr/>
              <a:lstStyle/>
              <a:p>
                <a:pPr>
                  <a:lnSpc>
                    <a:spcPct val="150000"/>
                  </a:lnSpc>
                </a:pPr>
                <a:r>
                  <a:rPr lang="zh-CN" altLang="en-US" sz="2400" dirty="0"/>
                  <a:t>定义：对一个六元组</a:t>
                </a:r>
                <a14:m>
                  <m:oMath xmlns:m="http://schemas.openxmlformats.org/officeDocument/2006/math">
                    <m:nary>
                      <m:naryPr>
                        <m:chr m:val="∑"/>
                        <m:subHide m:val="on"/>
                        <m:supHide m:val="on"/>
                        <m:ctrlPr>
                          <a:rPr lang="zh-CN" altLang="en-US" sz="2400" i="1" smtClean="0">
                            <a:latin typeface="Cambria Math" panose="02040503050406030204" pitchFamily="18" charset="0"/>
                          </a:rPr>
                        </m:ctrlPr>
                      </m:naryPr>
                      <m:sub/>
                      <m:sup/>
                      <m:e>
                        <m:r>
                          <a:rPr lang="en-US" altLang="zh-CN" sz="2400" i="1">
                            <a:latin typeface="Cambria Math" panose="02040503050406030204" pitchFamily="18" charset="0"/>
                          </a:rPr>
                          <m:t>=</m:t>
                        </m:r>
                      </m:e>
                    </m:nary>
                  </m:oMath>
                </a14:m>
                <a:r>
                  <a:rPr lang="en-US" altLang="zh-CN" sz="2400" dirty="0"/>
                  <a:t>〈C</a:t>
                </a:r>
                <a:r>
                  <a:rPr lang="zh-CN" altLang="en-US" sz="2400" dirty="0"/>
                  <a:t>，</a:t>
                </a:r>
                <a:r>
                  <a:rPr lang="en-US" altLang="zh-CN" sz="2400" dirty="0"/>
                  <a:t>M</a:t>
                </a:r>
                <a:r>
                  <a:rPr lang="zh-CN" altLang="en-US" sz="2400" dirty="0"/>
                  <a:t>，</a:t>
                </a:r>
                <a:r>
                  <a:rPr lang="en-US" altLang="zh-CN" sz="2400" dirty="0"/>
                  <a:t>K</a:t>
                </a:r>
                <a:r>
                  <a:rPr lang="zh-CN" altLang="en-US" sz="2400" dirty="0"/>
                  <a:t>，</a:t>
                </a:r>
                <a:r>
                  <a:rPr lang="en-US" altLang="zh-CN" sz="2400" dirty="0"/>
                  <a:t>C</a:t>
                </a:r>
                <a:r>
                  <a:rPr lang="en-US" altLang="zh-CN" sz="2400" b="1" noProof="1">
                    <a:latin typeface="华文细黑" panose="02010600040101010101" pitchFamily="2" charset="-122"/>
                    <a:ea typeface="华文细黑" panose="02010600040101010101" pitchFamily="2" charset="-122"/>
                  </a:rPr>
                  <a:t>’</a:t>
                </a:r>
                <a:r>
                  <a:rPr lang="zh-CN" altLang="en-US" sz="2400" dirty="0"/>
                  <a:t>，</a:t>
                </a:r>
                <a:r>
                  <a:rPr lang="en-US" altLang="zh-CN" sz="2400" dirty="0"/>
                  <a:t>D</a:t>
                </a:r>
                <a:r>
                  <a:rPr lang="en-US" altLang="zh-CN" sz="2400" baseline="-25000" dirty="0"/>
                  <a:t>K</a:t>
                </a:r>
                <a:r>
                  <a:rPr lang="zh-CN" altLang="en-US" sz="2400" dirty="0"/>
                  <a:t>，</a:t>
                </a:r>
                <a:r>
                  <a:rPr lang="en-US" altLang="zh-CN" sz="2400" dirty="0"/>
                  <a:t>E</a:t>
                </a:r>
                <a:r>
                  <a:rPr lang="en-US" altLang="zh-CN" sz="2400" baseline="-25000" dirty="0"/>
                  <a:t>K</a:t>
                </a:r>
                <a:r>
                  <a:rPr lang="en-US" altLang="zh-CN" sz="2400" dirty="0"/>
                  <a:t>〉</a:t>
                </a:r>
                <a:r>
                  <a:rPr lang="zh-CN" altLang="en-US" sz="2400" dirty="0"/>
                  <a:t>，其中</a:t>
                </a:r>
                <a:r>
                  <a:rPr lang="en-US" altLang="zh-CN" sz="2400" dirty="0"/>
                  <a:t>C</a:t>
                </a:r>
                <a:r>
                  <a:rPr lang="zh-CN" altLang="en-US" sz="2400" dirty="0"/>
                  <a:t>是所有可能载体的集合，</a:t>
                </a:r>
                <a:r>
                  <a:rPr lang="en-US" altLang="zh-CN" sz="2400" dirty="0"/>
                  <a:t>M</a:t>
                </a:r>
                <a:r>
                  <a:rPr lang="zh-CN" altLang="en-US" sz="2400" dirty="0"/>
                  <a:t>是所有可能秘密消息的集合，</a:t>
                </a:r>
                <a:r>
                  <a:rPr lang="en-US" altLang="zh-CN" sz="2400" dirty="0"/>
                  <a:t>K</a:t>
                </a:r>
                <a:r>
                  <a:rPr lang="zh-CN" altLang="en-US" sz="2400" dirty="0"/>
                  <a:t>是</a:t>
                </a:r>
                <a:r>
                  <a:rPr lang="zh-CN" altLang="en-US" sz="2400" noProof="1"/>
                  <a:t>所有可能密钥的集合，</a:t>
                </a:r>
                <a:endParaRPr lang="en-US" altLang="zh-CN" sz="2400" noProof="1">
                  <a:latin typeface="华文细黑" panose="02010600040101010101" pitchFamily="2" charset="-122"/>
                  <a:ea typeface="华文细黑" panose="02010600040101010101" pitchFamily="2" charset="-122"/>
                </a:endParaRPr>
              </a:p>
              <a:p>
                <a:pPr>
                  <a:lnSpc>
                    <a:spcPct val="150000"/>
                  </a:lnSpc>
                </a:pPr>
                <a:r>
                  <a:rPr lang="en-US" altLang="zh-CN" sz="2400" noProof="1"/>
                  <a:t>E</a:t>
                </a:r>
                <a:r>
                  <a:rPr lang="en-US" altLang="zh-CN" sz="2400" baseline="-25000" noProof="1"/>
                  <a:t>K</a:t>
                </a:r>
                <a:r>
                  <a:rPr lang="zh-CN" altLang="en-US" sz="2400" noProof="1"/>
                  <a:t>：</a:t>
                </a:r>
                <a:r>
                  <a:rPr lang="en-US" altLang="zh-CN" sz="2400" noProof="1"/>
                  <a:t>C×M×K</a:t>
                </a:r>
                <a:r>
                  <a:rPr lang="zh-CN" altLang="en-US" sz="2400" noProof="1"/>
                  <a:t>→</a:t>
                </a:r>
                <a:r>
                  <a:rPr lang="en-US" altLang="zh-CN" sz="2400" noProof="1"/>
                  <a:t>C’</a:t>
                </a:r>
                <a:r>
                  <a:rPr lang="zh-CN" altLang="en-US" sz="2400" noProof="1"/>
                  <a:t>是嵌入函数</a:t>
                </a:r>
                <a:endParaRPr lang="en-US" altLang="zh-CN" sz="2400" noProof="1"/>
              </a:p>
              <a:p>
                <a:pPr>
                  <a:lnSpc>
                    <a:spcPct val="150000"/>
                  </a:lnSpc>
                </a:pPr>
                <a:r>
                  <a:rPr lang="en-US" altLang="zh-CN" sz="2400" noProof="1"/>
                  <a:t>D</a:t>
                </a:r>
                <a:r>
                  <a:rPr lang="en-US" altLang="zh-CN" sz="2400" baseline="-25000" noProof="1"/>
                  <a:t>K</a:t>
                </a:r>
                <a:r>
                  <a:rPr lang="zh-CN" altLang="en-US" sz="2400" noProof="1"/>
                  <a:t>：</a:t>
                </a:r>
                <a:r>
                  <a:rPr lang="en-US" altLang="zh-CN" sz="2400" noProof="1"/>
                  <a:t>C’×K</a:t>
                </a:r>
                <a:r>
                  <a:rPr lang="zh-CN" altLang="en-US" sz="2400" noProof="1"/>
                  <a:t>→</a:t>
                </a:r>
                <a:r>
                  <a:rPr lang="en-US" altLang="zh-CN" sz="2400" noProof="1"/>
                  <a:t>M</a:t>
                </a:r>
                <a:r>
                  <a:rPr lang="zh-CN" altLang="en-US" sz="2400" noProof="1"/>
                  <a:t>是提取函数</a:t>
                </a:r>
                <a:endParaRPr lang="en-US" altLang="zh-CN" sz="2400" noProof="1"/>
              </a:p>
              <a:p>
                <a:pPr>
                  <a:lnSpc>
                    <a:spcPct val="150000"/>
                  </a:lnSpc>
                </a:pPr>
                <a:r>
                  <a:rPr lang="zh-CN" altLang="en-US" sz="2400" dirty="0"/>
                  <a:t>若满足性质：对所有</a:t>
                </a:r>
                <a:r>
                  <a:rPr lang="en-US" altLang="zh-CN" sz="2400" dirty="0"/>
                  <a:t>m</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a:t>M</a:t>
                </a:r>
                <a:r>
                  <a:rPr lang="zh-CN" altLang="en-US" sz="2400" dirty="0"/>
                  <a:t>，</a:t>
                </a:r>
                <a:r>
                  <a:rPr lang="en-US" altLang="zh-CN" sz="2400" dirty="0"/>
                  <a:t>c</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C</a:t>
                </a:r>
                <a:r>
                  <a:rPr lang="zh-CN" altLang="en-US" sz="2400" dirty="0"/>
                  <a:t>和</a:t>
                </a:r>
                <a:r>
                  <a:rPr lang="en-US" altLang="zh-CN" sz="2400" dirty="0"/>
                  <a:t>k</a:t>
                </a:r>
                <a14:m>
                  <m:oMath xmlns:m="http://schemas.openxmlformats.org/officeDocument/2006/math">
                    <m:r>
                      <a:rPr lang="en-US" altLang="zh-CN" sz="2400" i="1">
                        <a:latin typeface="Cambria Math" panose="02040503050406030204" pitchFamily="18" charset="0"/>
                        <a:ea typeface="Cambria Math" panose="02040503050406030204" pitchFamily="18" charset="0"/>
                      </a:rPr>
                      <m:t>∈</m:t>
                    </m:r>
                  </m:oMath>
                </a14:m>
                <a:r>
                  <a:rPr lang="en-US" altLang="zh-CN" sz="2400" dirty="0"/>
                  <a:t>K</a:t>
                </a:r>
                <a:r>
                  <a:rPr lang="zh-CN" altLang="en-US" sz="2400" dirty="0"/>
                  <a:t>，</a:t>
                </a:r>
                <a:endParaRPr lang="en-US" altLang="zh-CN" sz="2400" dirty="0"/>
              </a:p>
              <a:p>
                <a:pPr marL="0" indent="0">
                  <a:lnSpc>
                    <a:spcPct val="150000"/>
                  </a:lnSpc>
                  <a:buNone/>
                </a:pPr>
                <a:r>
                  <a:rPr lang="en-US" altLang="zh-CN" sz="2400" dirty="0"/>
                  <a:t>    </a:t>
                </a:r>
                <a:r>
                  <a:rPr lang="zh-CN" altLang="en-US" sz="2400" dirty="0"/>
                  <a:t>恒有：</a:t>
                </a:r>
                <a:r>
                  <a:rPr lang="en-US" altLang="zh-CN" sz="2400" dirty="0"/>
                  <a:t>D</a:t>
                </a:r>
                <a:r>
                  <a:rPr kumimoji="0" lang="en-US" altLang="zh-CN"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rPr>
                  <a:t>K </a:t>
                </a:r>
                <a:r>
                  <a:rPr lang="en-US" altLang="zh-CN" sz="2400" dirty="0"/>
                  <a:t>(E</a:t>
                </a:r>
                <a:r>
                  <a:rPr kumimoji="0" lang="en-US" altLang="zh-CN"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rPr>
                  <a:t>K </a:t>
                </a:r>
                <a:r>
                  <a:rPr lang="en-US" altLang="zh-CN" sz="2400" dirty="0"/>
                  <a:t>(c</a:t>
                </a:r>
                <a:r>
                  <a:rPr lang="zh-CN" altLang="en-US" sz="2400" dirty="0"/>
                  <a:t>，</a:t>
                </a:r>
                <a:r>
                  <a:rPr lang="en-US" altLang="zh-CN" sz="2400" dirty="0"/>
                  <a:t>m</a:t>
                </a:r>
                <a:r>
                  <a:rPr lang="zh-CN" altLang="en-US" sz="2400" dirty="0"/>
                  <a:t>，</a:t>
                </a:r>
                <a:r>
                  <a:rPr lang="en-US" altLang="zh-CN" sz="2400" dirty="0"/>
                  <a:t>k)</a:t>
                </a:r>
                <a:r>
                  <a:rPr lang="zh-CN" altLang="en-US" sz="2400" dirty="0"/>
                  <a:t>，</a:t>
                </a:r>
                <a:r>
                  <a:rPr lang="en-US" altLang="zh-CN" sz="2400" dirty="0"/>
                  <a:t>k)=m</a:t>
                </a:r>
                <a:r>
                  <a:rPr lang="zh-CN" altLang="en-US" sz="2400" dirty="0"/>
                  <a:t>，</a:t>
                </a:r>
                <a:endParaRPr lang="en-US" altLang="zh-CN" sz="2400" dirty="0"/>
              </a:p>
              <a:p>
                <a:pPr>
                  <a:lnSpc>
                    <a:spcPct val="150000"/>
                  </a:lnSpc>
                </a:pPr>
                <a:r>
                  <a:rPr lang="zh-CN" altLang="en-US" sz="2400" dirty="0"/>
                  <a:t>则称该六元组为</a:t>
                </a:r>
                <a:r>
                  <a:rPr lang="zh-CN" altLang="en-US" sz="2800" dirty="0">
                    <a:solidFill>
                      <a:schemeClr val="accent1"/>
                    </a:solidFill>
                    <a:latin typeface="+mj-lt"/>
                    <a:ea typeface="+mj-ea"/>
                    <a:cs typeface="+mj-cs"/>
                  </a:rPr>
                  <a:t>私钥信息隐藏系统</a:t>
                </a:r>
                <a:r>
                  <a:rPr lang="zh-CN" altLang="en-US" sz="2400" dirty="0"/>
                  <a:t>。</a:t>
                </a:r>
                <a:endParaRPr lang="en-US" altLang="zh-CN" sz="2400" dirty="0"/>
              </a:p>
              <a:p>
                <a:pPr>
                  <a:lnSpc>
                    <a:spcPct val="150000"/>
                  </a:lnSpc>
                </a:pPr>
                <a:r>
                  <a:rPr lang="zh-CN" altLang="en-US" sz="2400" dirty="0"/>
                  <a:t>私钥的传递：密钥交换协议</a:t>
                </a:r>
                <a:endParaRPr lang="en-US" altLang="zh-CN" sz="2800" dirty="0"/>
              </a:p>
            </p:txBody>
          </p:sp>
        </mc:Choice>
        <mc:Fallback xmlns="">
          <p:sp>
            <p:nvSpPr>
              <p:cNvPr id="3" name="内容占位符 2">
                <a:extLst>
                  <a:ext uri="{FF2B5EF4-FFF2-40B4-BE49-F238E27FC236}">
                    <a16:creationId xmlns:a16="http://schemas.microsoft.com/office/drawing/2014/main" id="{7DCB58C6-537D-4442-8FE2-223C11456184}"/>
                  </a:ext>
                </a:extLst>
              </p:cNvPr>
              <p:cNvSpPr>
                <a:spLocks noGrp="1" noRot="1" noChangeAspect="1" noMove="1" noResize="1" noEditPoints="1" noAdjustHandles="1" noChangeArrowheads="1" noChangeShapeType="1" noTextEdit="1"/>
              </p:cNvSpPr>
              <p:nvPr>
                <p:ph idx="1"/>
              </p:nvPr>
            </p:nvSpPr>
            <p:spPr>
              <a:xfrm>
                <a:off x="628650" y="404664"/>
                <a:ext cx="8119814" cy="6120680"/>
              </a:xfrm>
              <a:blipFill>
                <a:blip r:embed="rId3"/>
                <a:stretch>
                  <a:fillRect l="-976" t="-7769" r="-9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9699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28</a:t>
            </a:fld>
            <a:endParaRPr lang="zh-CN" altLang="en-US" sz="1400" b="0" dirty="0">
              <a:latin typeface="Times New Roman" panose="02020603050405020304" pitchFamily="18" charset="0"/>
              <a:ea typeface="宋体" panose="02010600030101010101" pitchFamily="2" charset="-122"/>
            </a:endParaRPr>
          </a:p>
        </p:txBody>
      </p:sp>
      <p:sp>
        <p:nvSpPr>
          <p:cNvPr id="111618" name="标题 1116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信息隐藏技术</a:t>
            </a:r>
          </a:p>
        </p:txBody>
      </p:sp>
      <p:sp>
        <p:nvSpPr>
          <p:cNvPr id="20483" name="文本占位符 111618"/>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3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公钥信息隐藏</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mn-lt"/>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类似于公钥密码。</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通信各方使用约定的公钥体制，各自产生自己的公开钥和秘密钥，将公开钥存储在一个公开的数据库中，通信各方可以随时取用，秘密钥由通信各方自己保存，不予公开。  </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公钥用于传递会话密钥。</a:t>
            </a:r>
            <a:endParaRPr lang="en-US" altLang="zh-CN" sz="2400" b="1" noProof="1">
              <a:latin typeface="华文细黑" panose="02010600040101010101" pitchFamily="2" charset="-122"/>
              <a:ea typeface="华文细黑" panose="02010600040101010101" pitchFamily="2" charset="-122"/>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lang="zh-CN" altLang="en-US" sz="2400" b="1" noProof="1">
                <a:latin typeface="华文细黑" panose="02010600040101010101" pitchFamily="2" charset="-122"/>
                <a:ea typeface="华文细黑" panose="02010600040101010101" pitchFamily="2" charset="-122"/>
              </a:rPr>
              <a:t>会话密钥用来作为隐藏密钥。</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2" name="图片 1">
            <a:extLst>
              <a:ext uri="{FF2B5EF4-FFF2-40B4-BE49-F238E27FC236}">
                <a16:creationId xmlns:a16="http://schemas.microsoft.com/office/drawing/2014/main" id="{0C7EF614-E49A-FBEB-BAFC-87188EC9956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2731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B7764-F8D5-4C33-B0BC-1C4B7C9A5487}"/>
              </a:ext>
            </a:extLst>
          </p:cNvPr>
          <p:cNvSpPr>
            <a:spLocks noGrp="1"/>
          </p:cNvSpPr>
          <p:nvPr>
            <p:ph type="title"/>
          </p:nvPr>
        </p:nvSpPr>
        <p:spPr/>
        <p:txBody>
          <a:bodyPr/>
          <a:lstStyle/>
          <a:p>
            <a:r>
              <a:rPr lang="zh-CN" altLang="en-US" dirty="0"/>
              <a:t>公钥信息隐藏</a:t>
            </a:r>
          </a:p>
        </p:txBody>
      </p:sp>
      <p:pic>
        <p:nvPicPr>
          <p:cNvPr id="5" name="内容占位符 4">
            <a:extLst>
              <a:ext uri="{FF2B5EF4-FFF2-40B4-BE49-F238E27FC236}">
                <a16:creationId xmlns:a16="http://schemas.microsoft.com/office/drawing/2014/main" id="{7577E88C-C50A-4549-B11D-7D611CF33F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329413"/>
            <a:ext cx="8047805" cy="5080938"/>
          </a:xfrm>
        </p:spPr>
      </p:pic>
      <p:pic>
        <p:nvPicPr>
          <p:cNvPr id="3" name="图片 2">
            <a:extLst>
              <a:ext uri="{FF2B5EF4-FFF2-40B4-BE49-F238E27FC236}">
                <a16:creationId xmlns:a16="http://schemas.microsoft.com/office/drawing/2014/main" id="{219C952B-F80F-7880-FDBC-AF31F9B8F4C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34646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CDC534-6EAA-43A3-8B82-FA5F4128FF4A}"/>
              </a:ext>
            </a:extLst>
          </p:cNvPr>
          <p:cNvSpPr>
            <a:spLocks noGrp="1"/>
          </p:cNvSpPr>
          <p:nvPr>
            <p:ph type="title"/>
          </p:nvPr>
        </p:nvSpPr>
        <p:spPr/>
        <p:txBody>
          <a:bodyPr/>
          <a:lstStyle/>
          <a:p>
            <a:r>
              <a:rPr lang="zh-CN" altLang="en-US" dirty="0"/>
              <a:t>中间人插入攻击</a:t>
            </a:r>
          </a:p>
        </p:txBody>
      </p:sp>
      <p:sp>
        <p:nvSpPr>
          <p:cNvPr id="3" name="内容占位符 2">
            <a:extLst>
              <a:ext uri="{FF2B5EF4-FFF2-40B4-BE49-F238E27FC236}">
                <a16:creationId xmlns:a16="http://schemas.microsoft.com/office/drawing/2014/main" id="{B37D6F49-6F80-4E52-BA60-D114896E50C0}"/>
              </a:ext>
            </a:extLst>
          </p:cNvPr>
          <p:cNvSpPr>
            <a:spLocks noGrp="1"/>
          </p:cNvSpPr>
          <p:nvPr>
            <p:ph idx="1"/>
          </p:nvPr>
        </p:nvSpPr>
        <p:spPr/>
        <p:txBody>
          <a:bodyPr/>
          <a:lstStyle/>
          <a:p>
            <a:pPr>
              <a:lnSpc>
                <a:spcPct val="150000"/>
              </a:lnSpc>
            </a:pPr>
            <a:r>
              <a:rPr lang="zh-CN" altLang="en-US" sz="2800" dirty="0"/>
              <a:t>与公钥密码实现的密钥交换协议类似，用公钥信息隐藏进行密钥的交换，无法抵抗中间人插入攻击</a:t>
            </a:r>
          </a:p>
        </p:txBody>
      </p:sp>
      <p:pic>
        <p:nvPicPr>
          <p:cNvPr id="4" name="图片 3">
            <a:extLst>
              <a:ext uri="{FF2B5EF4-FFF2-40B4-BE49-F238E27FC236}">
                <a16:creationId xmlns:a16="http://schemas.microsoft.com/office/drawing/2014/main" id="{73A1BD43-00CC-402C-54C3-714C2BA3223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4004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246B47-23DC-44C7-815B-9C5BD3E00078}"/>
              </a:ext>
            </a:extLst>
          </p:cNvPr>
          <p:cNvSpPr>
            <a:spLocks noGrp="1"/>
          </p:cNvSpPr>
          <p:nvPr>
            <p:ph type="title"/>
          </p:nvPr>
        </p:nvSpPr>
        <p:spPr/>
        <p:txBody>
          <a:bodyPr/>
          <a:lstStyle/>
          <a:p>
            <a:r>
              <a:rPr lang="zh-CN" altLang="en-US" dirty="0"/>
              <a:t>问题</a:t>
            </a:r>
          </a:p>
        </p:txBody>
      </p:sp>
      <p:sp>
        <p:nvSpPr>
          <p:cNvPr id="3" name="内容占位符 2">
            <a:extLst>
              <a:ext uri="{FF2B5EF4-FFF2-40B4-BE49-F238E27FC236}">
                <a16:creationId xmlns:a16="http://schemas.microsoft.com/office/drawing/2014/main" id="{73546962-D8B6-47E7-93B6-029E9D2E641D}"/>
              </a:ext>
            </a:extLst>
          </p:cNvPr>
          <p:cNvSpPr>
            <a:spLocks noGrp="1"/>
          </p:cNvSpPr>
          <p:nvPr>
            <p:ph idx="1"/>
          </p:nvPr>
        </p:nvSpPr>
        <p:spPr/>
        <p:txBody>
          <a:bodyPr/>
          <a:lstStyle/>
          <a:p>
            <a:pPr>
              <a:lnSpc>
                <a:spcPct val="150000"/>
              </a:lnSpc>
            </a:pPr>
            <a:r>
              <a:rPr lang="zh-CN" altLang="en-US" sz="2800" dirty="0"/>
              <a:t>公钥信息隐藏只是借用公钥密码的思想，传递秘密密钥</a:t>
            </a:r>
            <a:endParaRPr lang="en-US" altLang="zh-CN" sz="2800" dirty="0"/>
          </a:p>
          <a:p>
            <a:pPr>
              <a:lnSpc>
                <a:spcPct val="150000"/>
              </a:lnSpc>
            </a:pPr>
            <a:r>
              <a:rPr lang="zh-CN" altLang="en-US" sz="2800" dirty="0"/>
              <a:t>还没有产生类似于公钥密码算法的公钥隐藏算法</a:t>
            </a:r>
          </a:p>
        </p:txBody>
      </p:sp>
      <p:pic>
        <p:nvPicPr>
          <p:cNvPr id="4" name="图片 3">
            <a:extLst>
              <a:ext uri="{FF2B5EF4-FFF2-40B4-BE49-F238E27FC236}">
                <a16:creationId xmlns:a16="http://schemas.microsoft.com/office/drawing/2014/main" id="{EC2988C0-21F0-8B94-8757-82364340774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5214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32</a:t>
            </a:fld>
            <a:endParaRPr lang="zh-CN" altLang="en-US" sz="1400" b="0" dirty="0">
              <a:latin typeface="Times New Roman" panose="02020603050405020304" pitchFamily="18" charset="0"/>
              <a:ea typeface="宋体" panose="02010600030101010101" pitchFamily="2" charset="-122"/>
            </a:endParaRPr>
          </a:p>
        </p:txBody>
      </p:sp>
      <p:sp>
        <p:nvSpPr>
          <p:cNvPr id="41986" name="标题 419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信息隐藏技术</a:t>
            </a:r>
          </a:p>
        </p:txBody>
      </p:sp>
      <p:sp>
        <p:nvSpPr>
          <p:cNvPr id="21507" name="文本占位符 41986"/>
          <p:cNvSpPr>
            <a:spLocks noGrp="1"/>
          </p:cNvSpPr>
          <p:nvPr>
            <p:ph idx="1"/>
          </p:nvPr>
        </p:nvSpPr>
        <p:spPr>
          <a:xfrm>
            <a:off x="468313" y="1462088"/>
            <a:ext cx="8316913" cy="4714875"/>
          </a:xfrm>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信息隐藏技术要求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5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隐写术：</a:t>
            </a:r>
            <a:r>
              <a:rPr kumimoji="0" lang="zh-CN" altLang="en-US"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隐写术的要求包括不可感知性和不可检测性、秘密性、较大的水印容量以及算法实现简单。</a:t>
            </a:r>
          </a:p>
          <a:p>
            <a:pPr marL="0" marR="0" lvl="0" indent="612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5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鲁棒水印：</a:t>
            </a:r>
            <a:r>
              <a:rPr kumimoji="0" lang="zh-CN" altLang="en-US"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鲁棒水印最重要的要求包括不可感知性、鲁棒性、解决所有权死锁问题、秘密性以及算法实现简单等。</a:t>
            </a:r>
          </a:p>
        </p:txBody>
      </p:sp>
      <p:pic>
        <p:nvPicPr>
          <p:cNvPr id="2" name="图片 1">
            <a:extLst>
              <a:ext uri="{FF2B5EF4-FFF2-40B4-BE49-F238E27FC236}">
                <a16:creationId xmlns:a16="http://schemas.microsoft.com/office/drawing/2014/main" id="{2BAD1D42-31A0-8DFB-7C56-6052F4CD906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33</a:t>
            </a:fld>
            <a:endParaRPr lang="zh-CN" altLang="en-US" sz="1400" b="0" dirty="0">
              <a:latin typeface="Times New Roman" panose="02020603050405020304" pitchFamily="18" charset="0"/>
              <a:ea typeface="宋体" panose="02010600030101010101" pitchFamily="2" charset="-122"/>
            </a:endParaRPr>
          </a:p>
        </p:txBody>
      </p:sp>
      <p:sp>
        <p:nvSpPr>
          <p:cNvPr id="110594" name="标题 11059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信息隐藏技术</a:t>
            </a:r>
          </a:p>
        </p:txBody>
      </p:sp>
      <p:sp>
        <p:nvSpPr>
          <p:cNvPr id="22531" name="文本占位符 110594"/>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信息隐藏技术要求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完全脆弱水印：</a:t>
            </a:r>
            <a:r>
              <a:rPr lang="zh-CN" altLang="en-US" sz="2400" b="1" noProof="1">
                <a:latin typeface="华文细黑" panose="02010600040101010101" pitchFamily="2" charset="-122"/>
                <a:ea typeface="华文细黑" panose="02010600040101010101" pitchFamily="2" charset="-122"/>
              </a:rPr>
              <a:t>对</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完全脆弱水印最重要要求包括不可感性、对任何处理的敏感性、秘密性以及算法实现简单等。</a:t>
            </a: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半脆弱水印：</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对半脆弱水印最重要的要求包括不可感性、对恶意攻击的敏感性、对合法处理的鲁棒性、秘密性以及算法实现简单等。</a:t>
            </a:r>
          </a:p>
        </p:txBody>
      </p:sp>
      <p:pic>
        <p:nvPicPr>
          <p:cNvPr id="2" name="图片 1">
            <a:extLst>
              <a:ext uri="{FF2B5EF4-FFF2-40B4-BE49-F238E27FC236}">
                <a16:creationId xmlns:a16="http://schemas.microsoft.com/office/drawing/2014/main" id="{C5990FAF-F5B5-502E-BDF1-614E754376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34</a:t>
            </a:fld>
            <a:endParaRPr lang="zh-CN" altLang="en-US" sz="1400" b="0" dirty="0">
              <a:latin typeface="Times New Roman" panose="02020603050405020304" pitchFamily="18" charset="0"/>
              <a:ea typeface="宋体" panose="02010600030101010101" pitchFamily="2" charset="-122"/>
            </a:endParaRPr>
          </a:p>
        </p:txBody>
      </p:sp>
      <p:sp>
        <p:nvSpPr>
          <p:cNvPr id="45058" name="标题 450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23555" name="文本占位符 45058"/>
          <p:cNvSpPr>
            <a:spLocks noGrp="1"/>
          </p:cNvSpPr>
          <p:nvPr>
            <p:ph idx="1"/>
          </p:nvPr>
        </p:nvSpPr>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信息隐藏技术原理</a:t>
            </a:r>
          </a:p>
          <a:p>
            <a:pPr marL="609600" marR="0" lvl="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从信号处理的角度来理解，信息隐藏可视为在强背景信号（载体）中叠加一个弱信号（隐藏信息）。</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由于人的听觉系统和视觉系统的分辨能力受到一定的限制，叠加的弱信号只要低于某一个阈值，人就无法感觉到隐藏信息的存在。</a:t>
            </a:r>
          </a:p>
          <a:p>
            <a:pPr marL="609600" marR="0" lvl="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38916" name="矩形 45060"/>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C288514D-9C42-4570-83F8-408C085FBBB0}"/>
              </a:ext>
            </a:extLst>
          </p:cNvPr>
          <p:cNvPicPr>
            <a:picLocks noChangeAspect="1"/>
          </p:cNvPicPr>
          <p:nvPr/>
        </p:nvPicPr>
        <p:blipFill>
          <a:blip r:embed="rId2"/>
          <a:stretch>
            <a:fillRect/>
          </a:stretch>
        </p:blipFill>
        <p:spPr>
          <a:xfrm>
            <a:off x="1524000" y="200025"/>
            <a:ext cx="6096000" cy="6457950"/>
          </a:xfrm>
          <a:prstGeom prst="rect">
            <a:avLst/>
          </a:prstGeom>
        </p:spPr>
      </p:pic>
      <p:pic>
        <p:nvPicPr>
          <p:cNvPr id="3" name="图片 2">
            <a:extLst>
              <a:ext uri="{FF2B5EF4-FFF2-40B4-BE49-F238E27FC236}">
                <a16:creationId xmlns:a16="http://schemas.microsoft.com/office/drawing/2014/main" id="{A458AA0A-1BCD-1CA8-C293-A561FD6971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xit" presetSubtype="1" fill="hold" nodeType="clickEffect">
                                  <p:stCondLst>
                                    <p:cond delay="0"/>
                                  </p:stCondLst>
                                  <p:childTnLst>
                                    <p:animEffect transition="out" filter="wheel(1)">
                                      <p:cBhvr>
                                        <p:cTn id="11" dur="2000"/>
                                        <p:tgtEl>
                                          <p:spTgt spid="2"/>
                                        </p:tgtEl>
                                      </p:cBhvr>
                                    </p:animEffect>
                                    <p:set>
                                      <p:cBhvr>
                                        <p:cTn id="12"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35</a:t>
            </a:fld>
            <a:endParaRPr lang="zh-CN" altLang="en-US" sz="1400" b="0" dirty="0">
              <a:latin typeface="Times New Roman" panose="02020603050405020304" pitchFamily="18" charset="0"/>
              <a:ea typeface="宋体" panose="02010600030101010101" pitchFamily="2" charset="-122"/>
            </a:endParaRPr>
          </a:p>
        </p:txBody>
      </p:sp>
      <p:sp>
        <p:nvSpPr>
          <p:cNvPr id="112642" name="标题 1126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9939" name="文本占位符 112642"/>
          <p:cNvSpPr>
            <a:spLocks noGrp="1" noChangeArrowheads="1"/>
          </p:cNvSpPr>
          <p:nvPr>
            <p:ph idx="1"/>
          </p:nvPr>
        </p:nvSpPr>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信息隐藏技术原理</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设</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和</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分别表示原始载体信号和隐藏信息后的含隐秘信息载体信号，</a:t>
            </a:r>
            <a:r>
              <a:rPr kumimoji="0" lang="en-US" altLang="zh-CN" sz="23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W</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为待隐藏信息，</a:t>
            </a:r>
            <a:r>
              <a:rPr kumimoji="0" lang="zh-CN" altLang="en-US" sz="2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信息隐藏的过程</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可表示为：</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mn-lt"/>
              <a:ea typeface="华文细黑" panose="02010600040101010101" pitchFamily="2" charset="-122"/>
              <a:cs typeface="+mn-cs"/>
            </a:endParaRP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mn-lt"/>
                <a:ea typeface="华文细黑" panose="02010600040101010101" pitchFamily="2" charset="-122"/>
                <a:cs typeface="+mn-cs"/>
              </a:rPr>
              <a:t>                                                                                  </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2-1</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39940" name="矩形 112643"/>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39941" name="对象 112644"/>
          <p:cNvGraphicFramePr/>
          <p:nvPr>
            <p:extLst>
              <p:ext uri="{D42A27DB-BD31-4B8C-83A1-F6EECF244321}">
                <p14:modId xmlns:p14="http://schemas.microsoft.com/office/powerpoint/2010/main" val="4164667259"/>
              </p:ext>
            </p:extLst>
          </p:nvPr>
        </p:nvGraphicFramePr>
        <p:xfrm>
          <a:off x="2627313" y="3932238"/>
          <a:ext cx="3382962" cy="639762"/>
        </p:xfrm>
        <a:graphic>
          <a:graphicData uri="http://schemas.openxmlformats.org/presentationml/2006/ole">
            <mc:AlternateContent xmlns:mc="http://schemas.openxmlformats.org/markup-compatibility/2006">
              <mc:Choice xmlns:v="urn:schemas-microsoft-com:vml" Requires="v">
                <p:oleObj r:id="rId2" imgW="1206500" imgH="228600" progId="Equation.DSMT4">
                  <p:embed/>
                </p:oleObj>
              </mc:Choice>
              <mc:Fallback>
                <p:oleObj r:id="rId2" imgW="1206500" imgH="228600" progId="Equation.DSMT4">
                  <p:embed/>
                  <p:pic>
                    <p:nvPicPr>
                      <p:cNvPr id="0" name="图片 3115"/>
                      <p:cNvPicPr/>
                      <p:nvPr/>
                    </p:nvPicPr>
                    <p:blipFill>
                      <a:blip r:embed="rId3"/>
                      <a:stretch>
                        <a:fillRect/>
                      </a:stretch>
                    </p:blipFill>
                    <p:spPr>
                      <a:xfrm>
                        <a:off x="2627313" y="3932238"/>
                        <a:ext cx="3382962" cy="639762"/>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2D7B9C75-617F-4167-505E-852CDF59F6B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36</a:t>
            </a:fld>
            <a:endParaRPr lang="zh-CN" altLang="en-US" sz="1400" b="0" dirty="0">
              <a:latin typeface="Times New Roman" panose="02020603050405020304" pitchFamily="18" charset="0"/>
              <a:ea typeface="宋体" panose="02010600030101010101" pitchFamily="2" charset="-122"/>
            </a:endParaRPr>
          </a:p>
        </p:txBody>
      </p:sp>
      <p:sp>
        <p:nvSpPr>
          <p:cNvPr id="46082" name="标题 460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40963" name="文本占位符 46082"/>
          <p:cNvSpPr>
            <a:spLocks noGrp="1" noChangeArrowheads="1"/>
          </p:cNvSpPr>
          <p:nvPr>
            <p:ph type="body" sz="half" idx="1"/>
          </p:nvPr>
        </p:nvSpPr>
        <p:spPr>
          <a:xfrm>
            <a:off x="503238" y="1628775"/>
            <a:ext cx="8029575" cy="5003800"/>
          </a:xfrm>
        </p:spPr>
        <p:txBody>
          <a:bodyPr vert="horz" wrap="square" lIns="91440" tIns="45720" rIns="91440" bIns="45720" numCol="1" rtlCol="0" anchor="t" anchorCtr="0" compatLnSpc="1">
            <a:normAutofit lnSpcReduction="10000"/>
          </a:bodyPr>
          <a:lstStyle/>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Char char="!"/>
              <a:defRPr/>
            </a:pP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信息隐藏技术原理</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Char char="!"/>
              <a:defRPr/>
            </a:pPr>
            <a:endParaRPr kumimoji="0" lang="zh-CN" altLang="en-US" sz="2400" b="0"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I.J.Cox</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提出了</a:t>
            </a:r>
            <a:r>
              <a:rPr kumimoji="0" lang="zh-CN" altLang="en-US" sz="2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三种常用的信息嵌入公式</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，分别为：</a:t>
            </a:r>
            <a:endPar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r"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(2-2)</a:t>
            </a:r>
          </a:p>
          <a:p>
            <a:pPr marL="0" marR="0" lvl="0" indent="576000" algn="r"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(2-3)</a:t>
            </a:r>
          </a:p>
          <a:p>
            <a:pPr marL="0" marR="0" lvl="0" indent="576000" algn="r"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(2-4)</a:t>
            </a:r>
          </a:p>
          <a:p>
            <a:pPr marL="0" marR="0" lvl="0" indent="576000" algn="l"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其中 </a:t>
            </a:r>
            <a:r>
              <a:rPr kumimoji="0" lang="en-US" altLang="zh-CN" sz="23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en-US" altLang="zh-CN" sz="2300" b="1" i="1"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i  </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和 </a:t>
            </a:r>
            <a:r>
              <a:rPr kumimoji="0" lang="en-US" altLang="zh-CN" sz="23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en-US" altLang="zh-CN" sz="2300" b="1" i="1"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kumimoji="0" lang="en-US" altLang="zh-CN" sz="2300" b="1" i="1" u="none" strike="noStrike" kern="1200" cap="none" spc="0" normalizeH="0" baseline="3000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分别表示原始载体信号和隐藏信息后的含隐秘信息载体信号分量（或从中提取的特征）值，</a:t>
            </a:r>
            <a:r>
              <a:rPr kumimoji="0" lang="en-US" altLang="zh-CN" sz="23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W</a:t>
            </a:r>
            <a:r>
              <a:rPr kumimoji="0" lang="en-US" altLang="zh-CN" sz="2300" b="1" i="1"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i  </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为待嵌入隐藏信号分量，</a:t>
            </a:r>
            <a:r>
              <a:rPr kumimoji="0" lang="el-GR" altLang="zh-CN" sz="23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α</a:t>
            </a:r>
            <a:r>
              <a:rPr kumimoji="0" lang="en-US" altLang="zh-CN" sz="23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为嵌入强度。 </a:t>
            </a:r>
          </a:p>
        </p:txBody>
      </p:sp>
      <p:sp>
        <p:nvSpPr>
          <p:cNvPr id="40964" name="矩形 46083"/>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40965" name="矩形 4608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0966" name="对象 46086"/>
          <p:cNvGraphicFramePr/>
          <p:nvPr>
            <p:extLst>
              <p:ext uri="{D42A27DB-BD31-4B8C-83A1-F6EECF244321}">
                <p14:modId xmlns:p14="http://schemas.microsoft.com/office/powerpoint/2010/main" val="1353186041"/>
              </p:ext>
            </p:extLst>
          </p:nvPr>
        </p:nvGraphicFramePr>
        <p:xfrm>
          <a:off x="3384550" y="3176588"/>
          <a:ext cx="1619250" cy="482600"/>
        </p:xfrm>
        <a:graphic>
          <a:graphicData uri="http://schemas.openxmlformats.org/presentationml/2006/ole">
            <mc:AlternateContent xmlns:mc="http://schemas.openxmlformats.org/markup-compatibility/2006">
              <mc:Choice xmlns:v="urn:schemas-microsoft-com:vml" Requires="v">
                <p:oleObj r:id="rId2" imgW="799465" imgH="241300" progId="Equation.DSMT4">
                  <p:embed/>
                </p:oleObj>
              </mc:Choice>
              <mc:Fallback>
                <p:oleObj r:id="rId2" imgW="799465" imgH="241300" progId="Equation.DSMT4">
                  <p:embed/>
                  <p:pic>
                    <p:nvPicPr>
                      <p:cNvPr id="0" name="图片 3118"/>
                      <p:cNvPicPr/>
                      <p:nvPr/>
                    </p:nvPicPr>
                    <p:blipFill>
                      <a:blip r:embed="rId3"/>
                      <a:stretch>
                        <a:fillRect/>
                      </a:stretch>
                    </p:blipFill>
                    <p:spPr>
                      <a:xfrm>
                        <a:off x="3384550" y="3176588"/>
                        <a:ext cx="1619250" cy="482600"/>
                      </a:xfrm>
                      <a:prstGeom prst="rect">
                        <a:avLst/>
                      </a:prstGeom>
                      <a:noFill/>
                      <a:ln w="38100">
                        <a:noFill/>
                        <a:miter/>
                      </a:ln>
                    </p:spPr>
                  </p:pic>
                </p:oleObj>
              </mc:Fallback>
            </mc:AlternateContent>
          </a:graphicData>
        </a:graphic>
      </p:graphicFrame>
      <p:sp>
        <p:nvSpPr>
          <p:cNvPr id="40967" name="矩形 46089"/>
          <p:cNvSpPr/>
          <p:nvPr/>
        </p:nvSpPr>
        <p:spPr>
          <a:xfrm>
            <a:off x="0" y="32131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0968" name="对象 46088"/>
          <p:cNvGraphicFramePr/>
          <p:nvPr>
            <p:extLst>
              <p:ext uri="{D42A27DB-BD31-4B8C-83A1-F6EECF244321}">
                <p14:modId xmlns:p14="http://schemas.microsoft.com/office/powerpoint/2010/main" val="685759147"/>
              </p:ext>
            </p:extLst>
          </p:nvPr>
        </p:nvGraphicFramePr>
        <p:xfrm>
          <a:off x="3348038" y="3789363"/>
          <a:ext cx="1985962" cy="482600"/>
        </p:xfrm>
        <a:graphic>
          <a:graphicData uri="http://schemas.openxmlformats.org/presentationml/2006/ole">
            <mc:AlternateContent xmlns:mc="http://schemas.openxmlformats.org/markup-compatibility/2006">
              <mc:Choice xmlns:v="urn:schemas-microsoft-com:vml" Requires="v">
                <p:oleObj r:id="rId4" imgW="977900" imgH="241300" progId="Equation.DSMT4">
                  <p:embed/>
                </p:oleObj>
              </mc:Choice>
              <mc:Fallback>
                <p:oleObj r:id="rId4" imgW="977900" imgH="241300" progId="Equation.DSMT4">
                  <p:embed/>
                  <p:pic>
                    <p:nvPicPr>
                      <p:cNvPr id="0" name="图片 3116"/>
                      <p:cNvPicPr/>
                      <p:nvPr/>
                    </p:nvPicPr>
                    <p:blipFill>
                      <a:blip r:embed="rId5"/>
                      <a:stretch>
                        <a:fillRect/>
                      </a:stretch>
                    </p:blipFill>
                    <p:spPr>
                      <a:xfrm>
                        <a:off x="3348038" y="3789363"/>
                        <a:ext cx="1985962" cy="482600"/>
                      </a:xfrm>
                      <a:prstGeom prst="rect">
                        <a:avLst/>
                      </a:prstGeom>
                      <a:noFill/>
                      <a:ln w="38100">
                        <a:noFill/>
                        <a:miter/>
                      </a:ln>
                    </p:spPr>
                  </p:pic>
                </p:oleObj>
              </mc:Fallback>
            </mc:AlternateContent>
          </a:graphicData>
        </a:graphic>
      </p:graphicFrame>
      <p:sp>
        <p:nvSpPr>
          <p:cNvPr id="40969" name="矩形 46091"/>
          <p:cNvSpPr/>
          <p:nvPr/>
        </p:nvSpPr>
        <p:spPr>
          <a:xfrm>
            <a:off x="0" y="32496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0970" name="对象 46090"/>
          <p:cNvGraphicFramePr/>
          <p:nvPr>
            <p:extLst>
              <p:ext uri="{D42A27DB-BD31-4B8C-83A1-F6EECF244321}">
                <p14:modId xmlns:p14="http://schemas.microsoft.com/office/powerpoint/2010/main" val="2385409489"/>
              </p:ext>
            </p:extLst>
          </p:nvPr>
        </p:nvGraphicFramePr>
        <p:xfrm>
          <a:off x="3384550" y="4473575"/>
          <a:ext cx="2011363" cy="508000"/>
        </p:xfrm>
        <a:graphic>
          <a:graphicData uri="http://schemas.openxmlformats.org/presentationml/2006/ole">
            <mc:AlternateContent xmlns:mc="http://schemas.openxmlformats.org/markup-compatibility/2006">
              <mc:Choice xmlns:v="urn:schemas-microsoft-com:vml" Requires="v">
                <p:oleObj r:id="rId6" imgW="1015365" imgH="254000" progId="Equation.DSMT4">
                  <p:embed/>
                </p:oleObj>
              </mc:Choice>
              <mc:Fallback>
                <p:oleObj r:id="rId6" imgW="1015365" imgH="254000" progId="Equation.DSMT4">
                  <p:embed/>
                  <p:pic>
                    <p:nvPicPr>
                      <p:cNvPr id="0" name="图片 3117"/>
                      <p:cNvPicPr/>
                      <p:nvPr/>
                    </p:nvPicPr>
                    <p:blipFill>
                      <a:blip r:embed="rId7"/>
                      <a:stretch>
                        <a:fillRect/>
                      </a:stretch>
                    </p:blipFill>
                    <p:spPr>
                      <a:xfrm>
                        <a:off x="3384550" y="4473575"/>
                        <a:ext cx="2011363" cy="508000"/>
                      </a:xfrm>
                      <a:prstGeom prst="rect">
                        <a:avLst/>
                      </a:prstGeom>
                      <a:noFill/>
                      <a:ln w="38100">
                        <a:noFill/>
                        <a:miter/>
                      </a:ln>
                    </p:spPr>
                  </p:pic>
                </p:oleObj>
              </mc:Fallback>
            </mc:AlternateContent>
          </a:graphicData>
        </a:graphic>
      </p:graphicFrame>
      <p:sp>
        <p:nvSpPr>
          <p:cNvPr id="40971" name="矩形 46100"/>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740CFC91-B5E0-F053-227A-094AFED527F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37</a:t>
            </a:fld>
            <a:endParaRPr lang="zh-CN" altLang="en-US" sz="1400" b="0" dirty="0">
              <a:latin typeface="Times New Roman" panose="02020603050405020304" pitchFamily="18" charset="0"/>
              <a:ea typeface="宋体" panose="02010600030101010101" pitchFamily="2" charset="-122"/>
            </a:endParaRPr>
          </a:p>
        </p:txBody>
      </p:sp>
      <p:sp>
        <p:nvSpPr>
          <p:cNvPr id="58370" name="标题 583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41987" name="文本占位符 58370"/>
          <p:cNvSpPr>
            <a:spLocks noGrp="1" noChangeArrowheads="1"/>
          </p:cNvSpPr>
          <p:nvPr>
            <p:ph idx="1"/>
          </p:nvPr>
        </p:nvSpPr>
        <p:spPr>
          <a:xfrm>
            <a:off x="628650" y="1462088"/>
            <a:ext cx="7888288" cy="4919663"/>
          </a:xfrm>
        </p:spPr>
        <p:txBody>
          <a:bodyPr vert="horz" wrap="square" lIns="91440" tIns="45720" rIns="91440" bIns="45720" numCol="1" rtlCol="0" anchor="t" anchorCtr="0" compatLnSpc="1">
            <a:normAutofit fontScale="625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45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信息隐藏技术原理</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base" latinLnBrk="0" hangingPunct="1">
              <a:lnSpc>
                <a:spcPct val="170000"/>
              </a:lnSpc>
              <a:spcBef>
                <a:spcPts val="600"/>
              </a:spcBef>
              <a:spcAft>
                <a:spcPts val="600"/>
              </a:spcAft>
              <a:buClr>
                <a:schemeClr val="accent1"/>
              </a:buClr>
              <a:buSzTx/>
              <a:buFont typeface="Wingdings" panose="05000000000000000000" pitchFamily="2" charset="2"/>
              <a:buNone/>
              <a:defRPr/>
            </a:pPr>
            <a:r>
              <a:rPr kumimoji="0" lang="zh-CN" altLang="en-US" sz="3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假设用       表示待测掩密信号，从中提取的水印序列用       表示，                在相对于      没有误差的情况下，</a:t>
            </a:r>
            <a:r>
              <a:rPr kumimoji="0" lang="zh-CN" altLang="en-US" sz="3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隐藏信息可由式（</a:t>
            </a:r>
            <a:r>
              <a:rPr kumimoji="0" lang="en-US" altLang="zh-CN" sz="3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2-2</a:t>
            </a:r>
            <a:r>
              <a:rPr kumimoji="0" lang="zh-CN" altLang="en-US" sz="3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）和式（</a:t>
            </a:r>
            <a:r>
              <a:rPr kumimoji="0" lang="en-US" altLang="zh-CN" sz="3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2-3</a:t>
            </a:r>
            <a:r>
              <a:rPr kumimoji="0" lang="zh-CN" altLang="en-US" sz="3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）提取</a:t>
            </a:r>
            <a:r>
              <a:rPr kumimoji="0" lang="zh-CN" altLang="en-US" sz="3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609600" marR="0" lvl="0" indent="5400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3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70000"/>
              </a:lnSpc>
              <a:spcBef>
                <a:spcPts val="600"/>
              </a:spcBef>
              <a:spcAft>
                <a:spcPts val="0"/>
              </a:spcAft>
              <a:buClr>
                <a:schemeClr val="accent1"/>
              </a:buClr>
              <a:buSzPct val="80000"/>
              <a:buFont typeface="Wingdings" panose="05000000000000000000" pitchFamily="2" charset="2"/>
              <a:buNone/>
              <a:defRPr/>
            </a:pPr>
            <a:r>
              <a:rPr kumimoji="0" lang="zh-CN" altLang="en-US" sz="3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水印的检测</a:t>
            </a: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通常需要三个步骤 ：</a:t>
            </a:r>
            <a:endParaRPr kumimoji="0" lang="en-US" altLang="zh-CN"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70000"/>
              </a:lnSpc>
              <a:spcBef>
                <a:spcPts val="600"/>
              </a:spcBef>
              <a:spcAft>
                <a:spcPts val="0"/>
              </a:spcAft>
              <a:buClr>
                <a:schemeClr val="accent1"/>
              </a:buClr>
              <a:buSzPct val="80000"/>
              <a:buFont typeface="Wingdings" panose="05000000000000000000" pitchFamily="2" charset="2"/>
              <a:buNone/>
              <a:defRPr/>
            </a:pP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）计算检测的水印与原始水印信息的相关性；</a:t>
            </a:r>
            <a:endParaRPr kumimoji="0" lang="en-US" altLang="zh-CN"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70000"/>
              </a:lnSpc>
              <a:spcBef>
                <a:spcPts val="600"/>
              </a:spcBef>
              <a:spcAft>
                <a:spcPts val="0"/>
              </a:spcAft>
              <a:buClr>
                <a:schemeClr val="accent1"/>
              </a:buClr>
              <a:buSzPct val="80000"/>
              <a:buFont typeface="Wingdings" panose="05000000000000000000" pitchFamily="2" charset="2"/>
              <a:buNone/>
              <a:defRPr/>
            </a:pP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hlinkClick r:id="rId2"/>
              </a:rPr>
              <a:t>门限化所得到的计算结果</a:t>
            </a: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endParaRPr kumimoji="0" lang="en-US" altLang="zh-CN"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70000"/>
              </a:lnSpc>
              <a:spcBef>
                <a:spcPts val="600"/>
              </a:spcBef>
              <a:spcAft>
                <a:spcPts val="0"/>
              </a:spcAft>
              <a:buClr>
                <a:schemeClr val="accent1"/>
              </a:buClr>
              <a:buSzPct val="80000"/>
              <a:buFont typeface="Wingdings" panose="05000000000000000000" pitchFamily="2" charset="2"/>
              <a:buNone/>
              <a:defRPr/>
            </a:pP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3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）判断水印是否存在。</a:t>
            </a: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41988" name="矩形 58371"/>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41989" name="矩形 58374"/>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1990" name="对象 58373"/>
          <p:cNvGraphicFramePr/>
          <p:nvPr>
            <p:extLst>
              <p:ext uri="{D42A27DB-BD31-4B8C-83A1-F6EECF244321}">
                <p14:modId xmlns:p14="http://schemas.microsoft.com/office/powerpoint/2010/main" val="124049687"/>
              </p:ext>
            </p:extLst>
          </p:nvPr>
        </p:nvGraphicFramePr>
        <p:xfrm>
          <a:off x="2052638" y="2330450"/>
          <a:ext cx="366712" cy="304800"/>
        </p:xfrm>
        <a:graphic>
          <a:graphicData uri="http://schemas.openxmlformats.org/presentationml/2006/ole">
            <mc:AlternateContent xmlns:mc="http://schemas.openxmlformats.org/markup-compatibility/2006">
              <mc:Choice xmlns:v="urn:schemas-microsoft-com:vml" Requires="v">
                <p:oleObj r:id="rId3" imgW="228600" imgH="190500" progId="Equation.DSMT4">
                  <p:embed/>
                </p:oleObj>
              </mc:Choice>
              <mc:Fallback>
                <p:oleObj r:id="rId3" imgW="228600" imgH="190500" progId="Equation.DSMT4">
                  <p:embed/>
                  <p:pic>
                    <p:nvPicPr>
                      <p:cNvPr id="0" name="图片 3119"/>
                      <p:cNvPicPr/>
                      <p:nvPr/>
                    </p:nvPicPr>
                    <p:blipFill>
                      <a:blip r:embed="rId4"/>
                      <a:stretch>
                        <a:fillRect/>
                      </a:stretch>
                    </p:blipFill>
                    <p:spPr>
                      <a:xfrm>
                        <a:off x="2052638" y="2330450"/>
                        <a:ext cx="366712" cy="304800"/>
                      </a:xfrm>
                      <a:prstGeom prst="rect">
                        <a:avLst/>
                      </a:prstGeom>
                      <a:noFill/>
                      <a:ln w="38100">
                        <a:noFill/>
                        <a:miter/>
                      </a:ln>
                    </p:spPr>
                  </p:pic>
                </p:oleObj>
              </mc:Fallback>
            </mc:AlternateContent>
          </a:graphicData>
        </a:graphic>
      </p:graphicFrame>
      <p:sp>
        <p:nvSpPr>
          <p:cNvPr id="41991" name="矩形 58376"/>
          <p:cNvSpPr/>
          <p:nvPr/>
        </p:nvSpPr>
        <p:spPr>
          <a:xfrm>
            <a:off x="0" y="332898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1992" name="对象 58375"/>
          <p:cNvGraphicFramePr/>
          <p:nvPr>
            <p:extLst>
              <p:ext uri="{D42A27DB-BD31-4B8C-83A1-F6EECF244321}">
                <p14:modId xmlns:p14="http://schemas.microsoft.com/office/powerpoint/2010/main" val="1327549082"/>
              </p:ext>
            </p:extLst>
          </p:nvPr>
        </p:nvGraphicFramePr>
        <p:xfrm>
          <a:off x="7596188" y="2341563"/>
          <a:ext cx="374650" cy="328612"/>
        </p:xfrm>
        <a:graphic>
          <a:graphicData uri="http://schemas.openxmlformats.org/presentationml/2006/ole">
            <mc:AlternateContent xmlns:mc="http://schemas.openxmlformats.org/markup-compatibility/2006">
              <mc:Choice xmlns:v="urn:schemas-microsoft-com:vml" Requires="v">
                <p:oleObj r:id="rId5" imgW="228600" imgH="203200" progId="Equation.DSMT4">
                  <p:embed/>
                </p:oleObj>
              </mc:Choice>
              <mc:Fallback>
                <p:oleObj r:id="rId5" imgW="228600" imgH="203200" progId="Equation.DSMT4">
                  <p:embed/>
                  <p:pic>
                    <p:nvPicPr>
                      <p:cNvPr id="0" name="图片 3120"/>
                      <p:cNvPicPr/>
                      <p:nvPr/>
                    </p:nvPicPr>
                    <p:blipFill>
                      <a:blip r:embed="rId6"/>
                      <a:stretch>
                        <a:fillRect/>
                      </a:stretch>
                    </p:blipFill>
                    <p:spPr>
                      <a:xfrm>
                        <a:off x="7596188" y="2341563"/>
                        <a:ext cx="374650" cy="328612"/>
                      </a:xfrm>
                      <a:prstGeom prst="rect">
                        <a:avLst/>
                      </a:prstGeom>
                      <a:noFill/>
                      <a:ln w="38100">
                        <a:noFill/>
                        <a:miter/>
                      </a:ln>
                    </p:spPr>
                  </p:pic>
                </p:oleObj>
              </mc:Fallback>
            </mc:AlternateContent>
          </a:graphicData>
        </a:graphic>
      </p:graphicFrame>
      <p:sp>
        <p:nvSpPr>
          <p:cNvPr id="41993" name="矩形 5837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1994" name="对象 58377"/>
          <p:cNvGraphicFramePr/>
          <p:nvPr>
            <p:extLst>
              <p:ext uri="{D42A27DB-BD31-4B8C-83A1-F6EECF244321}">
                <p14:modId xmlns:p14="http://schemas.microsoft.com/office/powerpoint/2010/main" val="3595436594"/>
              </p:ext>
            </p:extLst>
          </p:nvPr>
        </p:nvGraphicFramePr>
        <p:xfrm>
          <a:off x="1223963" y="2779713"/>
          <a:ext cx="1036637" cy="360362"/>
        </p:xfrm>
        <a:graphic>
          <a:graphicData uri="http://schemas.openxmlformats.org/presentationml/2006/ole">
            <mc:AlternateContent xmlns:mc="http://schemas.openxmlformats.org/markup-compatibility/2006">
              <mc:Choice xmlns:v="urn:schemas-microsoft-com:vml" Requires="v">
                <p:oleObj r:id="rId7" imgW="685800" imgH="241300" progId="Equation.DSMT4">
                  <p:embed/>
                </p:oleObj>
              </mc:Choice>
              <mc:Fallback>
                <p:oleObj r:id="rId7" imgW="685800" imgH="241300" progId="Equation.DSMT4">
                  <p:embed/>
                  <p:pic>
                    <p:nvPicPr>
                      <p:cNvPr id="0" name="图片 3108"/>
                      <p:cNvPicPr/>
                      <p:nvPr/>
                    </p:nvPicPr>
                    <p:blipFill>
                      <a:blip r:embed="rId8"/>
                      <a:stretch>
                        <a:fillRect/>
                      </a:stretch>
                    </p:blipFill>
                    <p:spPr>
                      <a:xfrm>
                        <a:off x="1223963" y="2779713"/>
                        <a:ext cx="1036637" cy="360362"/>
                      </a:xfrm>
                      <a:prstGeom prst="rect">
                        <a:avLst/>
                      </a:prstGeom>
                      <a:noFill/>
                      <a:ln w="38100">
                        <a:noFill/>
                        <a:miter/>
                      </a:ln>
                    </p:spPr>
                  </p:pic>
                </p:oleObj>
              </mc:Fallback>
            </mc:AlternateContent>
          </a:graphicData>
        </a:graphic>
      </p:graphicFrame>
      <p:sp>
        <p:nvSpPr>
          <p:cNvPr id="41995" name="矩形 58380"/>
          <p:cNvSpPr/>
          <p:nvPr/>
        </p:nvSpPr>
        <p:spPr>
          <a:xfrm>
            <a:off x="0" y="333375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1996" name="对象 58379"/>
          <p:cNvGraphicFramePr/>
          <p:nvPr>
            <p:extLst>
              <p:ext uri="{D42A27DB-BD31-4B8C-83A1-F6EECF244321}">
                <p14:modId xmlns:p14="http://schemas.microsoft.com/office/powerpoint/2010/main" val="2532335952"/>
              </p:ext>
            </p:extLst>
          </p:nvPr>
        </p:nvGraphicFramePr>
        <p:xfrm>
          <a:off x="3455988" y="2816225"/>
          <a:ext cx="320675" cy="304800"/>
        </p:xfrm>
        <a:graphic>
          <a:graphicData uri="http://schemas.openxmlformats.org/presentationml/2006/ole">
            <mc:AlternateContent xmlns:mc="http://schemas.openxmlformats.org/markup-compatibility/2006">
              <mc:Choice xmlns:v="urn:schemas-microsoft-com:vml" Requires="v">
                <p:oleObj r:id="rId9" imgW="203200" imgH="190500" progId="Equation.DSMT4">
                  <p:embed/>
                </p:oleObj>
              </mc:Choice>
              <mc:Fallback>
                <p:oleObj r:id="rId9" imgW="203200" imgH="190500" progId="Equation.DSMT4">
                  <p:embed/>
                  <p:pic>
                    <p:nvPicPr>
                      <p:cNvPr id="0" name="图片 3109"/>
                      <p:cNvPicPr/>
                      <p:nvPr/>
                    </p:nvPicPr>
                    <p:blipFill>
                      <a:blip r:embed="rId10"/>
                      <a:stretch>
                        <a:fillRect/>
                      </a:stretch>
                    </p:blipFill>
                    <p:spPr>
                      <a:xfrm>
                        <a:off x="3455988" y="2816225"/>
                        <a:ext cx="320675" cy="304800"/>
                      </a:xfrm>
                      <a:prstGeom prst="rect">
                        <a:avLst/>
                      </a:prstGeom>
                      <a:noFill/>
                      <a:ln w="38100">
                        <a:noFill/>
                        <a:miter/>
                      </a:ln>
                    </p:spPr>
                  </p:pic>
                </p:oleObj>
              </mc:Fallback>
            </mc:AlternateContent>
          </a:graphicData>
        </a:graphic>
      </p:graphicFrame>
      <p:sp>
        <p:nvSpPr>
          <p:cNvPr id="41997" name="矩形 5838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1998" name="对象 58387"/>
          <p:cNvGraphicFramePr/>
          <p:nvPr>
            <p:extLst>
              <p:ext uri="{D42A27DB-BD31-4B8C-83A1-F6EECF244321}">
                <p14:modId xmlns:p14="http://schemas.microsoft.com/office/powerpoint/2010/main" val="2023488758"/>
              </p:ext>
            </p:extLst>
          </p:nvPr>
        </p:nvGraphicFramePr>
        <p:xfrm>
          <a:off x="1584325" y="3665538"/>
          <a:ext cx="2159000" cy="482600"/>
        </p:xfrm>
        <a:graphic>
          <a:graphicData uri="http://schemas.openxmlformats.org/presentationml/2006/ole">
            <mc:AlternateContent xmlns:mc="http://schemas.openxmlformats.org/markup-compatibility/2006">
              <mc:Choice xmlns:v="urn:schemas-microsoft-com:vml" Requires="v">
                <p:oleObj r:id="rId11" imgW="1066800" imgH="241300" progId="Equation.DSMT4">
                  <p:embed/>
                </p:oleObj>
              </mc:Choice>
              <mc:Fallback>
                <p:oleObj r:id="rId11" imgW="1066800" imgH="241300" progId="Equation.DSMT4">
                  <p:embed/>
                  <p:pic>
                    <p:nvPicPr>
                      <p:cNvPr id="0" name="图片 3110"/>
                      <p:cNvPicPr/>
                      <p:nvPr/>
                    </p:nvPicPr>
                    <p:blipFill>
                      <a:blip r:embed="rId12"/>
                      <a:stretch>
                        <a:fillRect/>
                      </a:stretch>
                    </p:blipFill>
                    <p:spPr>
                      <a:xfrm>
                        <a:off x="1584325" y="3665538"/>
                        <a:ext cx="2159000" cy="482600"/>
                      </a:xfrm>
                      <a:prstGeom prst="rect">
                        <a:avLst/>
                      </a:prstGeom>
                      <a:noFill/>
                      <a:ln w="38100">
                        <a:noFill/>
                        <a:miter/>
                      </a:ln>
                    </p:spPr>
                  </p:pic>
                </p:oleObj>
              </mc:Fallback>
            </mc:AlternateContent>
          </a:graphicData>
        </a:graphic>
      </p:graphicFrame>
      <p:sp>
        <p:nvSpPr>
          <p:cNvPr id="41999" name="矩形 5839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2000" name="对象 58389"/>
          <p:cNvGraphicFramePr/>
          <p:nvPr>
            <p:extLst>
              <p:ext uri="{D42A27DB-BD31-4B8C-83A1-F6EECF244321}">
                <p14:modId xmlns:p14="http://schemas.microsoft.com/office/powerpoint/2010/main" val="1774958023"/>
              </p:ext>
            </p:extLst>
          </p:nvPr>
        </p:nvGraphicFramePr>
        <p:xfrm>
          <a:off x="4824413" y="3667125"/>
          <a:ext cx="2408237" cy="481013"/>
        </p:xfrm>
        <a:graphic>
          <a:graphicData uri="http://schemas.openxmlformats.org/presentationml/2006/ole">
            <mc:AlternateContent xmlns:mc="http://schemas.openxmlformats.org/markup-compatibility/2006">
              <mc:Choice xmlns:v="urn:schemas-microsoft-com:vml" Requires="v">
                <p:oleObj r:id="rId13" imgW="1193165" imgH="241300" progId="Equation.DSMT4">
                  <p:embed/>
                </p:oleObj>
              </mc:Choice>
              <mc:Fallback>
                <p:oleObj r:id="rId13" imgW="1193165" imgH="241300" progId="Equation.DSMT4">
                  <p:embed/>
                  <p:pic>
                    <p:nvPicPr>
                      <p:cNvPr id="0" name="图片 3111"/>
                      <p:cNvPicPr/>
                      <p:nvPr/>
                    </p:nvPicPr>
                    <p:blipFill>
                      <a:blip r:embed="rId14"/>
                      <a:stretch>
                        <a:fillRect/>
                      </a:stretch>
                    </p:blipFill>
                    <p:spPr>
                      <a:xfrm>
                        <a:off x="4824413" y="3667125"/>
                        <a:ext cx="2408237" cy="481013"/>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7045B557-5B06-8726-5B97-5E7E2152C78A}"/>
              </a:ext>
            </a:extLst>
          </p:cNvPr>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38</a:t>
            </a:fld>
            <a:endParaRPr lang="zh-CN" altLang="en-US" sz="1400" b="0" dirty="0">
              <a:latin typeface="Times New Roman" panose="02020603050405020304" pitchFamily="18" charset="0"/>
              <a:ea typeface="宋体" panose="02010600030101010101" pitchFamily="2" charset="-122"/>
            </a:endParaRPr>
          </a:p>
        </p:txBody>
      </p:sp>
      <p:sp>
        <p:nvSpPr>
          <p:cNvPr id="63490" name="标题 634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4103" name="文本占位符 63490"/>
          <p:cNvSpPr>
            <a:spLocks noGrp="1" noChangeArrowheads="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信息隐藏技术原理</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为了确定载体中是否含有水印，可以通过式（</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2-5</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）计算</a:t>
            </a:r>
            <a:r>
              <a:rPr kumimoji="0" lang="zh-CN" altLang="en-US" sz="2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相似度：</a:t>
            </a:r>
          </a:p>
          <a:p>
            <a:pPr marL="0" marR="0" lvl="0" indent="576000" algn="r"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(2-5)</a:t>
            </a:r>
          </a:p>
          <a:p>
            <a:pPr marL="0" marR="0" lvl="0" indent="576000" algn="l" defTabSz="685800" rtl="0" eaLnBrk="1" fontAlgn="auto" latinLnBrk="0" hangingPunct="1">
              <a:lnSpc>
                <a:spcPct val="150000"/>
              </a:lnSpc>
              <a:spcBef>
                <a:spcPts val="600"/>
              </a:spcBef>
              <a:spcAft>
                <a:spcPts val="60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若                    ，可以判定被测掩密信号中有水印存在；否则没有。    为一阈值，值过小会导致误检率增加而漏检概率降低；反之，则会导致漏检概率增加而误检率降低。</a:t>
            </a:r>
          </a:p>
        </p:txBody>
      </p:sp>
      <p:sp>
        <p:nvSpPr>
          <p:cNvPr id="43012" name="矩形 63491"/>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43013" name="矩形 63494"/>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3014" name="对象 63493"/>
          <p:cNvGraphicFramePr/>
          <p:nvPr>
            <p:extLst>
              <p:ext uri="{D42A27DB-BD31-4B8C-83A1-F6EECF244321}">
                <p14:modId xmlns:p14="http://schemas.microsoft.com/office/powerpoint/2010/main" val="1048296069"/>
              </p:ext>
            </p:extLst>
          </p:nvPr>
        </p:nvGraphicFramePr>
        <p:xfrm>
          <a:off x="3132138" y="3498850"/>
          <a:ext cx="2936875" cy="723900"/>
        </p:xfrm>
        <a:graphic>
          <a:graphicData uri="http://schemas.openxmlformats.org/presentationml/2006/ole">
            <mc:AlternateContent xmlns:mc="http://schemas.openxmlformats.org/markup-compatibility/2006">
              <mc:Choice xmlns:v="urn:schemas-microsoft-com:vml" Requires="v">
                <p:oleObj r:id="rId2" imgW="1967865" imgH="482600" progId="Equation.DSMT4">
                  <p:embed/>
                </p:oleObj>
              </mc:Choice>
              <mc:Fallback>
                <p:oleObj r:id="rId2" imgW="1967865" imgH="482600" progId="Equation.DSMT4">
                  <p:embed/>
                  <p:pic>
                    <p:nvPicPr>
                      <p:cNvPr id="0" name="图片 3113"/>
                      <p:cNvPicPr/>
                      <p:nvPr/>
                    </p:nvPicPr>
                    <p:blipFill>
                      <a:blip r:embed="rId3"/>
                      <a:stretch>
                        <a:fillRect/>
                      </a:stretch>
                    </p:blipFill>
                    <p:spPr>
                      <a:xfrm>
                        <a:off x="3132138" y="3498850"/>
                        <a:ext cx="2936875" cy="723900"/>
                      </a:xfrm>
                      <a:prstGeom prst="rect">
                        <a:avLst/>
                      </a:prstGeom>
                      <a:noFill/>
                      <a:ln w="38100">
                        <a:noFill/>
                        <a:miter/>
                      </a:ln>
                    </p:spPr>
                  </p:pic>
                </p:oleObj>
              </mc:Fallback>
            </mc:AlternateContent>
          </a:graphicData>
        </a:graphic>
      </p:graphicFrame>
      <p:sp>
        <p:nvSpPr>
          <p:cNvPr id="43015" name="矩形 63496"/>
          <p:cNvSpPr/>
          <p:nvPr/>
        </p:nvSpPr>
        <p:spPr>
          <a:xfrm>
            <a:off x="0" y="332898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43016" name="矩形 63498"/>
          <p:cNvSpPr/>
          <p:nvPr/>
        </p:nvSpPr>
        <p:spPr>
          <a:xfrm>
            <a:off x="0" y="332898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43017" name="矩形 63500"/>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3018" name="对象 63499"/>
          <p:cNvGraphicFramePr/>
          <p:nvPr>
            <p:extLst>
              <p:ext uri="{D42A27DB-BD31-4B8C-83A1-F6EECF244321}">
                <p14:modId xmlns:p14="http://schemas.microsoft.com/office/powerpoint/2010/main" val="2753235739"/>
              </p:ext>
            </p:extLst>
          </p:nvPr>
        </p:nvGraphicFramePr>
        <p:xfrm>
          <a:off x="1692275" y="4437063"/>
          <a:ext cx="1323975" cy="341312"/>
        </p:xfrm>
        <a:graphic>
          <a:graphicData uri="http://schemas.openxmlformats.org/presentationml/2006/ole">
            <mc:AlternateContent xmlns:mc="http://schemas.openxmlformats.org/markup-compatibility/2006">
              <mc:Choice xmlns:v="urn:schemas-microsoft-com:vml" Requires="v">
                <p:oleObj r:id="rId4" imgW="889000" imgH="228600" progId="Equation.DSMT4">
                  <p:embed/>
                </p:oleObj>
              </mc:Choice>
              <mc:Fallback>
                <p:oleObj r:id="rId4" imgW="889000" imgH="228600" progId="Equation.DSMT4">
                  <p:embed/>
                  <p:pic>
                    <p:nvPicPr>
                      <p:cNvPr id="0" name="图片 3112"/>
                      <p:cNvPicPr/>
                      <p:nvPr/>
                    </p:nvPicPr>
                    <p:blipFill>
                      <a:blip r:embed="rId5"/>
                      <a:stretch>
                        <a:fillRect/>
                      </a:stretch>
                    </p:blipFill>
                    <p:spPr>
                      <a:xfrm>
                        <a:off x="1692275" y="4437063"/>
                        <a:ext cx="1323975" cy="341312"/>
                      </a:xfrm>
                      <a:prstGeom prst="rect">
                        <a:avLst/>
                      </a:prstGeom>
                      <a:noFill/>
                      <a:ln w="38100">
                        <a:noFill/>
                        <a:miter/>
                      </a:ln>
                    </p:spPr>
                  </p:pic>
                </p:oleObj>
              </mc:Fallback>
            </mc:AlternateContent>
          </a:graphicData>
        </a:graphic>
      </p:graphicFrame>
      <p:sp>
        <p:nvSpPr>
          <p:cNvPr id="43019" name="矩形 63505"/>
          <p:cNvSpPr/>
          <p:nvPr/>
        </p:nvSpPr>
        <p:spPr>
          <a:xfrm>
            <a:off x="0" y="332898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43020" name="对象 63504"/>
          <p:cNvGraphicFramePr/>
          <p:nvPr>
            <p:extLst>
              <p:ext uri="{D42A27DB-BD31-4B8C-83A1-F6EECF244321}">
                <p14:modId xmlns:p14="http://schemas.microsoft.com/office/powerpoint/2010/main" val="792432958"/>
              </p:ext>
            </p:extLst>
          </p:nvPr>
        </p:nvGraphicFramePr>
        <p:xfrm>
          <a:off x="2159000" y="4976813"/>
          <a:ext cx="230188" cy="266700"/>
        </p:xfrm>
        <a:graphic>
          <a:graphicData uri="http://schemas.openxmlformats.org/presentationml/2006/ole">
            <mc:AlternateContent xmlns:mc="http://schemas.openxmlformats.org/markup-compatibility/2006">
              <mc:Choice xmlns:v="urn:schemas-microsoft-com:vml" Requires="v">
                <p:oleObj r:id="rId6" imgW="139700" imgH="165100" progId="Equation.DSMT4">
                  <p:embed/>
                </p:oleObj>
              </mc:Choice>
              <mc:Fallback>
                <p:oleObj r:id="rId6" imgW="139700" imgH="165100" progId="Equation.DSMT4">
                  <p:embed/>
                  <p:pic>
                    <p:nvPicPr>
                      <p:cNvPr id="0" name="图片 3114"/>
                      <p:cNvPicPr/>
                      <p:nvPr/>
                    </p:nvPicPr>
                    <p:blipFill>
                      <a:blip r:embed="rId7"/>
                      <a:stretch>
                        <a:fillRect/>
                      </a:stretch>
                    </p:blipFill>
                    <p:spPr>
                      <a:xfrm>
                        <a:off x="2159000" y="4976813"/>
                        <a:ext cx="230188" cy="266700"/>
                      </a:xfrm>
                      <a:prstGeom prst="rect">
                        <a:avLst/>
                      </a:prstGeom>
                      <a:noFill/>
                      <a:ln w="38100">
                        <a:noFill/>
                        <a:miter/>
                      </a:ln>
                    </p:spPr>
                  </p:pic>
                </p:oleObj>
              </mc:Fallback>
            </mc:AlternateContent>
          </a:graphicData>
        </a:graphic>
      </p:graphicFrame>
      <p:sp>
        <p:nvSpPr>
          <p:cNvPr id="43021" name="矩形 63507"/>
          <p:cNvSpPr/>
          <p:nvPr/>
        </p:nvSpPr>
        <p:spPr>
          <a:xfrm>
            <a:off x="-215900" y="382428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A80B9C17-6FD8-AD40-497C-74631361BA7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39</a:t>
            </a:fld>
            <a:endParaRPr lang="zh-CN" altLang="en-US" sz="1400" b="0" dirty="0">
              <a:latin typeface="Times New Roman" panose="02020603050405020304" pitchFamily="18" charset="0"/>
              <a:ea typeface="宋体" panose="02010600030101010101" pitchFamily="2" charset="-122"/>
            </a:endParaRPr>
          </a:p>
        </p:txBody>
      </p:sp>
      <p:sp>
        <p:nvSpPr>
          <p:cNvPr id="65538" name="标题 655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44035" name="文本占位符 65538"/>
          <p:cNvSpPr>
            <a:spLocks noGrp="1" noChangeArrowheads="1"/>
          </p:cNvSpPr>
          <p:nvPr>
            <p:ph idx="1"/>
          </p:nvPr>
        </p:nvSpPr>
        <p:spPr/>
        <p:txBody>
          <a:bodyPr vert="horz" wrap="square" lIns="91440" tIns="45720" rIns="91440" bIns="45720" numCol="1" rtlCol="0" anchor="t" anchorCtr="0" compatLnSpc="1">
            <a:normAutofit fontScale="92500"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3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信息隐藏技术模型</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2800" b="0"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从数字通信的理论出发，</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可理解为在一个宽带信道（原始载体信息）上采用扩频通信技术传输一个窄带信号（隐藏信息）。</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由于隐藏信号的能量较低，它分布到信道中任意特征上的能量是难以检测到的；</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隐藏信息检测</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则可理解为在一个含噪声信道中的弱信号检测问题 。</a:t>
            </a:r>
            <a:r>
              <a:rPr kumimoji="0" lang="zh-CN" altLang="en-US" sz="1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44036" name="矩形 6553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F613FC05-7423-3D4E-8392-C521BCBEB8F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40</a:t>
            </a:fld>
            <a:endParaRPr lang="zh-CN" altLang="en-US" sz="1400" b="0" dirty="0">
              <a:latin typeface="Times New Roman" panose="02020603050405020304" pitchFamily="18" charset="0"/>
              <a:ea typeface="宋体" panose="02010600030101010101" pitchFamily="2" charset="-122"/>
            </a:endParaRPr>
          </a:p>
        </p:txBody>
      </p:sp>
      <p:sp>
        <p:nvSpPr>
          <p:cNvPr id="65538" name="标题 655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45059" name="文本占位符 65538"/>
          <p:cNvSpPr>
            <a:spLocks noGrp="1"/>
          </p:cNvSpPr>
          <p:nvPr>
            <p:ph idx="1"/>
          </p:nvPr>
        </p:nvSpPr>
        <p:spPr>
          <a:ln/>
        </p:spPr>
        <p:txBody>
          <a:bodyPr vert="horz" wrap="square" lIns="91440" tIns="45720" rIns="91440" bIns="45720" anchor="t"/>
          <a:lstStyle/>
          <a:p>
            <a:pPr marL="609600" indent="-609600" defTabSz="685800" eaLnBrk="1" hangingPunct="1">
              <a:lnSpc>
                <a:spcPct val="100000"/>
              </a:lnSpc>
            </a:pPr>
            <a:r>
              <a:rPr lang="" altLang="en-US" sz="2800" b="1" kern="1200" dirty="0">
                <a:solidFill>
                  <a:schemeClr val="accent1"/>
                </a:solidFill>
                <a:latin typeface="华文细黑" panose="02010600040101010101" pitchFamily="2" charset="-122"/>
                <a:ea typeface="华文细黑" panose="02010600040101010101" pitchFamily="2" charset="-122"/>
                <a:cs typeface="+mn-cs"/>
              </a:rPr>
              <a:t>信息隐藏技术模型</a:t>
            </a:r>
          </a:p>
          <a:p>
            <a:pPr marL="609600" indent="-609600" defTabSz="685800" eaLnBrk="1" hangingPunct="1"/>
            <a:endParaRPr lang="zh-CN" altLang="en-US" sz="2800" kern="1200" dirty="0">
              <a:latin typeface="华文细黑" panose="02010600040101010101" pitchFamily="2" charset="-122"/>
              <a:ea typeface="华文细黑" panose="02010600040101010101" pitchFamily="2" charset="-122"/>
              <a:cs typeface="+mn-cs"/>
            </a:endParaRPr>
          </a:p>
          <a:p>
            <a:pPr marL="609600" indent="-609600" defTabSz="685800" eaLnBrk="1" hangingPunct="1">
              <a:buNone/>
            </a:pPr>
            <a:r>
              <a:rPr lang="zh-CN" altLang="en-US" b="1" kern="1200" dirty="0">
                <a:latin typeface="华文细黑" panose="02010600040101010101" pitchFamily="2" charset="-122"/>
                <a:ea typeface="华文细黑" panose="02010600040101010101" pitchFamily="2" charset="-122"/>
                <a:cs typeface="+mn-cs"/>
              </a:rPr>
              <a:t>                                                                                         </a:t>
            </a:r>
          </a:p>
        </p:txBody>
      </p:sp>
      <p:sp>
        <p:nvSpPr>
          <p:cNvPr id="45060" name="矩形 6553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7" name="图片 6"/>
          <p:cNvPicPr>
            <a:picLocks noChangeAspect="1"/>
          </p:cNvPicPr>
          <p:nvPr/>
        </p:nvPicPr>
        <p:blipFill>
          <a:blip r:embed="rId2"/>
          <a:srcRect b="13315"/>
          <a:stretch>
            <a:fillRect/>
          </a:stretch>
        </p:blipFill>
        <p:spPr>
          <a:xfrm>
            <a:off x="705197" y="2024062"/>
            <a:ext cx="7854965" cy="3781201"/>
          </a:xfrm>
          <a:prstGeom prst="rect">
            <a:avLst/>
          </a:prstGeom>
          <a:noFill/>
          <a:ln w="12700">
            <a:noFill/>
          </a:ln>
        </p:spPr>
      </p:pic>
      <p:pic>
        <p:nvPicPr>
          <p:cNvPr id="2" name="图片 1">
            <a:extLst>
              <a:ext uri="{FF2B5EF4-FFF2-40B4-BE49-F238E27FC236}">
                <a16:creationId xmlns:a16="http://schemas.microsoft.com/office/drawing/2014/main" id="{C1392021-6BF8-3431-5CE5-26413ED225F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41</a:t>
            </a:fld>
            <a:endParaRPr lang="zh-CN" altLang="en-US" sz="1400" b="0" dirty="0">
              <a:latin typeface="Times New Roman" panose="02020603050405020304" pitchFamily="18" charset="0"/>
              <a:ea typeface="宋体" panose="02010600030101010101" pitchFamily="2" charset="-122"/>
            </a:endParaRPr>
          </a:p>
        </p:txBody>
      </p:sp>
      <p:sp>
        <p:nvSpPr>
          <p:cNvPr id="66562" name="标题 665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29699" name="文本占位符 66562"/>
          <p:cNvSpPr>
            <a:spLocks noGrp="1"/>
          </p:cNvSpPr>
          <p:nvPr>
            <p:ph idx="1"/>
          </p:nvPr>
        </p:nvSpPr>
        <p:spPr>
          <a:xfrm>
            <a:off x="431800" y="1462088"/>
            <a:ext cx="8316913" cy="4919663"/>
          </a:xfrm>
        </p:spPr>
        <p:txBody>
          <a:bodyPr vert="horz" wrap="square" lIns="91440" tIns="45720" rIns="91440" bIns="45720" numCol="1" rtlCol="0" anchor="t" anchorCtr="0" compatLnSpc="1">
            <a:normAutofit fontScale="250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11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空域信息隐藏技术</a:t>
            </a:r>
            <a:endParaRPr kumimoji="0" lang="en-US" altLang="zh-CN" sz="11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auto" latinLnBrk="0" hangingPunct="1">
              <a:lnSpc>
                <a:spcPct val="160000"/>
              </a:lnSpc>
              <a:spcBef>
                <a:spcPts val="600"/>
              </a:spcBef>
              <a:spcAft>
                <a:spcPts val="600"/>
              </a:spcAft>
              <a:buClr>
                <a:schemeClr val="accent1"/>
              </a:buClr>
              <a:buSzTx/>
              <a:buFont typeface="Wingdings" panose="05000000000000000000" pitchFamily="2" charset="2"/>
              <a:buNone/>
              <a:defRPr/>
            </a:pPr>
            <a:endParaRPr kumimoji="0" lang="en-US" altLang="zh-CN" sz="9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60000"/>
              </a:lnSpc>
              <a:spcBef>
                <a:spcPts val="600"/>
              </a:spcBef>
              <a:spcAft>
                <a:spcPts val="600"/>
              </a:spcAft>
              <a:buClr>
                <a:schemeClr val="accent1"/>
              </a:buClr>
              <a:buSzTx/>
              <a:buFont typeface="Wingdings" panose="05000000000000000000" pitchFamily="2" charset="2"/>
              <a:buNone/>
              <a:defRPr/>
            </a:pPr>
            <a:r>
              <a:rPr kumimoji="0" lang="zh-CN" altLang="en-US" sz="8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空域隐藏技术</a:t>
            </a:r>
            <a:r>
              <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是指在图像、视频、音频等载体的空间上进行信息隐藏。通过直接改变宿主媒体的某些像素值嵌入数据。</a:t>
            </a:r>
          </a:p>
          <a:p>
            <a:pPr marL="0" marR="0" lvl="0" indent="558000" algn="l" defTabSz="685800" rtl="0" eaLnBrk="1" fontAlgn="auto" latinLnBrk="0" hangingPunct="1">
              <a:lnSpc>
                <a:spcPct val="160000"/>
              </a:lnSpc>
              <a:spcBef>
                <a:spcPts val="600"/>
              </a:spcBef>
              <a:spcAft>
                <a:spcPts val="600"/>
              </a:spcAft>
              <a:buClr>
                <a:schemeClr val="accent1"/>
              </a:buClr>
              <a:buSzTx/>
              <a:buFont typeface="Wingdings" panose="05000000000000000000" pitchFamily="2" charset="2"/>
              <a:buNone/>
              <a:defRPr/>
            </a:pPr>
            <a:r>
              <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空域信息隐藏技术无需对原始媒体进行变换，计算简单，效率较高，但由于水印要均衡不可感知性和稳健性，选择属性范围小。</a:t>
            </a:r>
            <a:endParaRPr kumimoji="0" lang="en-US" altLang="zh-CN"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60000"/>
              </a:lnSpc>
              <a:spcBef>
                <a:spcPts val="600"/>
              </a:spcBef>
              <a:spcAft>
                <a:spcPts val="600"/>
              </a:spcAft>
              <a:buClr>
                <a:schemeClr val="accent1"/>
              </a:buClr>
              <a:buSzTx/>
              <a:buFont typeface="Wingdings" panose="05000000000000000000" pitchFamily="2" charset="2"/>
              <a:buNone/>
              <a:defRPr/>
            </a:pPr>
            <a:r>
              <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难以抵抗信号处理的攻击及噪声干扰的影响，鲁棒性较差。</a:t>
            </a:r>
          </a:p>
        </p:txBody>
      </p:sp>
      <p:sp>
        <p:nvSpPr>
          <p:cNvPr id="46084" name="矩形 66563"/>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4D54576B-66CE-0EF5-B19B-76C42849C4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42</a:t>
            </a:fld>
            <a:endParaRPr lang="zh-CN" altLang="en-US" sz="1400" b="0" dirty="0">
              <a:latin typeface="Times New Roman" panose="02020603050405020304" pitchFamily="18" charset="0"/>
              <a:ea typeface="宋体" panose="02010600030101010101" pitchFamily="2" charset="-122"/>
            </a:endParaRPr>
          </a:p>
        </p:txBody>
      </p:sp>
      <p:sp>
        <p:nvSpPr>
          <p:cNvPr id="67586" name="标题 675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0723" name="文本占位符 67586"/>
          <p:cNvSpPr>
            <a:spLocks noGrp="1"/>
          </p:cNvSpPr>
          <p:nvPr>
            <p:ph idx="1"/>
          </p:nvPr>
        </p:nvSpPr>
        <p:spPr/>
        <p:txBody>
          <a:bodyPr vert="horz" wrap="square" lIns="91440" tIns="45720" rIns="91440" bIns="45720" numCol="1" rtlCol="0" anchor="t" anchorCtr="0" compatLnSpc="1">
            <a:normAutofit fontScale="92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3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基于替换</a:t>
            </a:r>
            <a:r>
              <a:rPr kumimoji="0" lang="en-US" altLang="zh-CN" sz="3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LSB</a:t>
            </a:r>
            <a:r>
              <a:rPr kumimoji="0" lang="zh-CN" altLang="en-US" sz="3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的空域信息隐藏 </a:t>
            </a:r>
          </a:p>
          <a:p>
            <a:pPr marL="0" marR="0" lvl="0" indent="4572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LSB (the Least Significant Bits)即</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最不重要比特位</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。改变LSB主要的考虑是不重要数据的调整对原始图像的视觉效果影响较小。</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40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以图像为例，图像部分像素的最低一个或者多个位平面的值被隐藏数据所替换。即载体像素的LSB平面根据要隐藏的数据改变为“1”或者不变，以此达到隐藏信息的目的。</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47108" name="矩形 67587"/>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D59358E9-4F08-7112-99C6-3ED00EA95D7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43</a:t>
            </a:fld>
            <a:endParaRPr lang="zh-CN" altLang="en-US" sz="1400" b="0" dirty="0">
              <a:latin typeface="Times New Roman" panose="02020603050405020304" pitchFamily="18" charset="0"/>
              <a:ea typeface="宋体" panose="02010600030101010101" pitchFamily="2" charset="-122"/>
            </a:endParaRPr>
          </a:p>
        </p:txBody>
      </p:sp>
      <p:sp>
        <p:nvSpPr>
          <p:cNvPr id="113666" name="标题 11366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1747" name="文本占位符 113666"/>
          <p:cNvSpPr>
            <a:spLocks noGrp="1"/>
          </p:cNvSpPr>
          <p:nvPr>
            <p:ph idx="1"/>
          </p:nvPr>
        </p:nvSpPr>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基于替换</a:t>
            </a:r>
            <a:r>
              <a:rPr kumimoji="0" lang="en-US" altLang="zh-CN"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LSB</a:t>
            </a: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的空域信息隐藏 </a:t>
            </a:r>
          </a:p>
          <a:p>
            <a:pPr marL="0" marR="0" lvl="0" indent="457200" algn="l" defTabSz="685800" rtl="0" eaLnBrk="1" fontAlgn="auto" latinLnBrk="0" hangingPunct="1">
              <a:lnSpc>
                <a:spcPct val="160000"/>
              </a:lnSpc>
              <a:spcBef>
                <a:spcPts val="600"/>
              </a:spcBef>
              <a:spcAft>
                <a:spcPts val="600"/>
              </a:spcAft>
              <a:buClr>
                <a:schemeClr val="accent1"/>
              </a:buClr>
              <a:buSzTx/>
              <a:buFont typeface="Wingdings" panose="05000000000000000000" pitchFamily="2" charset="2"/>
              <a:buChar char="!"/>
              <a:defRPr/>
            </a:pPr>
            <a:endPar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基于替换的LSB的隐藏方法具有如下</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特点</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612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（1）具有较大的信息隐藏容量</a:t>
            </a:r>
          </a:p>
          <a:p>
            <a:pPr marL="0" marR="0" lvl="0" indent="612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（2）计算简单。</a:t>
            </a:r>
          </a:p>
          <a:p>
            <a:pPr marL="0" marR="0" lvl="0" indent="612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（3）掩密图像失真小。</a:t>
            </a:r>
          </a:p>
          <a:p>
            <a:pPr marL="0" marR="0" lvl="0" indent="612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（4）隐藏数据的鲁棒性较差。</a:t>
            </a:r>
            <a:endParaRPr kumimoji="0" lang="zh-CN" altLang="en-US" sz="1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48132" name="矩形 113667"/>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C92EB751-FD88-C421-C162-1871D7F2F47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44</a:t>
            </a:fld>
            <a:endParaRPr lang="zh-CN" altLang="en-US" sz="1400" b="0" dirty="0">
              <a:latin typeface="Times New Roman" panose="02020603050405020304" pitchFamily="18" charset="0"/>
              <a:ea typeface="宋体" panose="02010600030101010101" pitchFamily="2" charset="-122"/>
            </a:endParaRPr>
          </a:p>
        </p:txBody>
      </p:sp>
      <p:sp>
        <p:nvSpPr>
          <p:cNvPr id="137218" name="标题 1372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2771" name="文本占位符 137218"/>
          <p:cNvSpPr>
            <a:spLocks noGrp="1"/>
          </p:cNvSpPr>
          <p:nvPr>
            <p:ph type="body" sz="half" idx="1"/>
          </p:nvPr>
        </p:nvSpPr>
        <p:spPr>
          <a:xfrm>
            <a:off x="827088" y="1665288"/>
            <a:ext cx="7881938" cy="4860056"/>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基于替换</a:t>
            </a:r>
            <a:r>
              <a:rPr kumimoji="0" lang="en-US" altLang="zh-CN"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LSB</a:t>
            </a: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的空域信息隐藏 </a:t>
            </a:r>
          </a:p>
          <a:p>
            <a:pPr marL="609600" marR="0" lvl="0" indent="-609600" algn="l" defTabSz="685800" rtl="0" eaLnBrk="1" fontAlgn="auto" latinLnBrk="0" hangingPunct="1">
              <a:lnSpc>
                <a:spcPct val="90000"/>
              </a:lnSpc>
              <a:spcBef>
                <a:spcPts val="750"/>
              </a:spcBef>
              <a:spcAft>
                <a:spcPct val="0"/>
              </a:spcAft>
              <a:buClr>
                <a:schemeClr val="accent2"/>
              </a:buClr>
              <a:buSzPct val="80000"/>
              <a:buFont typeface="Wingdings" panose="05000000000000000000" pitchFamily="2" charset="2"/>
              <a:buChar char="!"/>
              <a:defRPr/>
            </a:pPr>
            <a:endPar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4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例</a:t>
            </a:r>
            <a:r>
              <a:rPr kumimoji="0" lang="en-US" altLang="zh-CN"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设待隐藏信息为1001，取灰度图像的4个像素值 (0-255整数)的最低位进行隐藏。</a:t>
            </a:r>
            <a:endPar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
        <p:nvSpPr>
          <p:cNvPr id="49156" name="矩形 13721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137354" name="内容占位符 137353"/>
          <p:cNvGraphicFramePr>
            <a:graphicFrameLocks noGrp="1"/>
          </p:cNvGraphicFramePr>
          <p:nvPr>
            <p:ph sz="half" idx="1"/>
            <p:extLst>
              <p:ext uri="{D42A27DB-BD31-4B8C-83A1-F6EECF244321}">
                <p14:modId xmlns:p14="http://schemas.microsoft.com/office/powerpoint/2010/main" val="801683310"/>
              </p:ext>
            </p:extLst>
          </p:nvPr>
        </p:nvGraphicFramePr>
        <p:xfrm>
          <a:off x="1547664" y="3885207"/>
          <a:ext cx="6768752" cy="2376248"/>
        </p:xfrm>
        <a:graphic>
          <a:graphicData uri="http://schemas.openxmlformats.org/drawingml/2006/table">
            <a:tbl>
              <a:tblPr/>
              <a:tblGrid>
                <a:gridCol w="1845710">
                  <a:extLst>
                    <a:ext uri="{9D8B030D-6E8A-4147-A177-3AD203B41FA5}">
                      <a16:colId xmlns:a16="http://schemas.microsoft.com/office/drawing/2014/main" val="20000"/>
                    </a:ext>
                  </a:extLst>
                </a:gridCol>
                <a:gridCol w="1398945">
                  <a:extLst>
                    <a:ext uri="{9D8B030D-6E8A-4147-A177-3AD203B41FA5}">
                      <a16:colId xmlns:a16="http://schemas.microsoft.com/office/drawing/2014/main" val="20001"/>
                    </a:ext>
                  </a:extLst>
                </a:gridCol>
                <a:gridCol w="1609389">
                  <a:extLst>
                    <a:ext uri="{9D8B030D-6E8A-4147-A177-3AD203B41FA5}">
                      <a16:colId xmlns:a16="http://schemas.microsoft.com/office/drawing/2014/main" val="20002"/>
                    </a:ext>
                  </a:extLst>
                </a:gridCol>
                <a:gridCol w="1914708">
                  <a:extLst>
                    <a:ext uri="{9D8B030D-6E8A-4147-A177-3AD203B41FA5}">
                      <a16:colId xmlns:a16="http://schemas.microsoft.com/office/drawing/2014/main" val="20003"/>
                    </a:ext>
                  </a:extLst>
                </a:gridCol>
              </a:tblGrid>
              <a:tr h="467765">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600" b="1" dirty="0">
                          <a:solidFill>
                            <a:schemeClr val="bg2"/>
                          </a:solidFill>
                          <a:cs typeface="Times New Roman" panose="02020603050405020304" pitchFamily="18" charset="0"/>
                        </a:rPr>
                        <a:t>隐藏前</a:t>
                      </a:r>
                      <a:r>
                        <a:rPr lang="en-US" altLang="zh-CN" sz="1600" b="1" dirty="0">
                          <a:solidFill>
                            <a:schemeClr val="bg2"/>
                          </a:solidFill>
                          <a:cs typeface="Times New Roman" panose="02020603050405020304" pitchFamily="18" charset="0"/>
                        </a:rPr>
                        <a:t>8</a:t>
                      </a:r>
                      <a:r>
                        <a:rPr lang="zh-CN" altLang="en-US" sz="1600" b="1" dirty="0">
                          <a:solidFill>
                            <a:schemeClr val="bg2"/>
                          </a:solidFill>
                          <a:cs typeface="Times New Roman" panose="02020603050405020304" pitchFamily="18" charset="0"/>
                        </a:rPr>
                        <a:t>位灰度值</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600" b="1" dirty="0">
                          <a:solidFill>
                            <a:schemeClr val="bg2"/>
                          </a:solidFill>
                          <a:cs typeface="Times New Roman" panose="02020603050405020304" pitchFamily="18" charset="0"/>
                        </a:rPr>
                        <a:t>二进制表示</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600" b="1" dirty="0">
                          <a:solidFill>
                            <a:schemeClr val="bg2"/>
                          </a:solidFill>
                          <a:cs typeface="Times New Roman" panose="02020603050405020304" pitchFamily="18" charset="0"/>
                        </a:rPr>
                        <a:t>隐藏后二进制</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zh-CN" altLang="en-US" sz="1600" b="1" dirty="0">
                          <a:solidFill>
                            <a:schemeClr val="bg2"/>
                          </a:solidFill>
                          <a:cs typeface="Times New Roman" panose="02020603050405020304" pitchFamily="18" charset="0"/>
                        </a:rPr>
                        <a:t>隐藏后八位灰度值</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478992">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34</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00100010</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00100011</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35</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482734">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a:solidFill>
                            <a:schemeClr val="bg2"/>
                          </a:solidFill>
                          <a:cs typeface="Times New Roman" panose="02020603050405020304" pitchFamily="18" charset="0"/>
                        </a:rPr>
                        <a:t>180</a:t>
                      </a:r>
                      <a:endParaRPr lang="zh-CN" altLang="en-US" sz="1600" b="1">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a:solidFill>
                            <a:schemeClr val="bg2"/>
                          </a:solidFill>
                          <a:cs typeface="Times New Roman" panose="02020603050405020304" pitchFamily="18" charset="0"/>
                        </a:rPr>
                        <a:t>10110100</a:t>
                      </a:r>
                      <a:endParaRPr lang="zh-CN" altLang="en-US" sz="1600" b="1">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10110100</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180</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478992">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a:solidFill>
                            <a:schemeClr val="bg2"/>
                          </a:solidFill>
                          <a:cs typeface="Times New Roman" panose="02020603050405020304" pitchFamily="18" charset="0"/>
                        </a:rPr>
                        <a:t>255</a:t>
                      </a:r>
                      <a:endParaRPr lang="zh-CN" altLang="en-US" sz="1600" b="1">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a:solidFill>
                            <a:schemeClr val="bg2"/>
                          </a:solidFill>
                          <a:cs typeface="Times New Roman" panose="02020603050405020304" pitchFamily="18" charset="0"/>
                        </a:rPr>
                        <a:t>11111111</a:t>
                      </a:r>
                      <a:endParaRPr lang="zh-CN" altLang="en-US" sz="1600" b="1">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11111110</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254</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467765">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a:solidFill>
                            <a:schemeClr val="bg2"/>
                          </a:solidFill>
                          <a:cs typeface="Times New Roman" panose="02020603050405020304" pitchFamily="18" charset="0"/>
                        </a:rPr>
                        <a:t>2</a:t>
                      </a:r>
                      <a:endParaRPr lang="zh-CN" altLang="en-US" sz="1600" b="1">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a:solidFill>
                            <a:schemeClr val="bg2"/>
                          </a:solidFill>
                          <a:cs typeface="Times New Roman" panose="02020603050405020304" pitchFamily="18" charset="0"/>
                        </a:rPr>
                        <a:t>00000010</a:t>
                      </a:r>
                      <a:endParaRPr lang="zh-CN" altLang="en-US" sz="1600" b="1">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00000011</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accent2"/>
                        </a:buClr>
                        <a:buSzPct val="80000"/>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2"/>
                        </a:buClr>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lvl="0" algn="ctr">
                        <a:spcBef>
                          <a:spcPct val="0"/>
                        </a:spcBef>
                        <a:buClrTx/>
                        <a:buSzTx/>
                        <a:buFontTx/>
                        <a:buNone/>
                      </a:pPr>
                      <a:r>
                        <a:rPr lang="en-US" altLang="zh-CN" sz="1600" b="1" dirty="0">
                          <a:solidFill>
                            <a:schemeClr val="bg2"/>
                          </a:solidFill>
                          <a:cs typeface="Times New Roman" panose="02020603050405020304" pitchFamily="18" charset="0"/>
                        </a:rPr>
                        <a:t>3</a:t>
                      </a:r>
                      <a:endParaRPr lang="zh-CN" altLang="en-US" sz="1600" b="1" dirty="0">
                        <a:solidFill>
                          <a:schemeClr val="bg2"/>
                        </a:solidFill>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bl>
          </a:graphicData>
        </a:graphic>
      </p:graphicFrame>
      <p:pic>
        <p:nvPicPr>
          <p:cNvPr id="2" name="图片 1">
            <a:extLst>
              <a:ext uri="{FF2B5EF4-FFF2-40B4-BE49-F238E27FC236}">
                <a16:creationId xmlns:a16="http://schemas.microsoft.com/office/drawing/2014/main" id="{BF4C3FAB-B09A-A487-86FD-823D49CD14F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45</a:t>
            </a:fld>
            <a:endParaRPr lang="zh-CN" altLang="en-US" sz="1400" b="0" dirty="0">
              <a:latin typeface="Times New Roman" panose="02020603050405020304" pitchFamily="18" charset="0"/>
              <a:ea typeface="宋体" panose="02010600030101010101" pitchFamily="2" charset="-122"/>
            </a:endParaRPr>
          </a:p>
        </p:txBody>
      </p:sp>
      <p:sp>
        <p:nvSpPr>
          <p:cNvPr id="68610" name="标题 686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3795" name="文本占位符 68610"/>
          <p:cNvSpPr>
            <a:spLocks noGrp="1"/>
          </p:cNvSpPr>
          <p:nvPr>
            <p:ph idx="1"/>
          </p:nvPr>
        </p:nvSpPr>
        <p:spPr/>
        <p:txBody>
          <a:bodyPr vert="horz" wrap="square" lIns="91440" tIns="45720" rIns="91440" bIns="45720" numCol="1" rtlCol="0" anchor="t" anchorCtr="0" compatLnSpc="1">
            <a:normAutofit fontScale="850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en-US" altLang="zh-CN" sz="3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Patchwork</a:t>
            </a:r>
            <a:r>
              <a:rPr kumimoji="0" lang="zh-CN" altLang="en-US" sz="3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空域信息隐藏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Patchwork算法</a:t>
            </a: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（拼凑方法）只是试图回答是否有水印存在，因而实际隐藏的只是1bit信息。</a:t>
            </a:r>
          </a:p>
          <a:p>
            <a:pPr marL="0" marR="0" lvl="0" indent="612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Patchwork算法的一般步骤如下：</a:t>
            </a:r>
            <a:endParaRPr kumimoji="0" lang="en-US" altLang="zh-CN"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（1）用一个密钥初始化一个伪随机数发生器；</a:t>
            </a:r>
            <a:endParaRPr kumimoji="0" lang="en-US" altLang="zh-CN"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（2）根据伪随机数发生器的输出，随机选择 n 个像素对，其灰度值为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1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50180" name="矩形 68611"/>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50181" name="矩形 68613"/>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50182" name="对象 68612"/>
          <p:cNvGraphicFramePr/>
          <p:nvPr>
            <p:extLst>
              <p:ext uri="{D42A27DB-BD31-4B8C-83A1-F6EECF244321}">
                <p14:modId xmlns:p14="http://schemas.microsoft.com/office/powerpoint/2010/main" val="4199039479"/>
              </p:ext>
            </p:extLst>
          </p:nvPr>
        </p:nvGraphicFramePr>
        <p:xfrm>
          <a:off x="3203848" y="5265738"/>
          <a:ext cx="669925" cy="342900"/>
        </p:xfrm>
        <a:graphic>
          <a:graphicData uri="http://schemas.openxmlformats.org/presentationml/2006/ole">
            <mc:AlternateContent xmlns:mc="http://schemas.openxmlformats.org/markup-compatibility/2006">
              <mc:Choice xmlns:v="urn:schemas-microsoft-com:vml" Requires="v">
                <p:oleObj r:id="rId2" imgW="444500" imgH="228600" progId="Equation.DSMT4">
                  <p:embed/>
                </p:oleObj>
              </mc:Choice>
              <mc:Fallback>
                <p:oleObj r:id="rId2" imgW="444500" imgH="228600" progId="Equation.DSMT4">
                  <p:embed/>
                  <p:pic>
                    <p:nvPicPr>
                      <p:cNvPr id="0" name="图片 3075"/>
                      <p:cNvPicPr/>
                      <p:nvPr/>
                    </p:nvPicPr>
                    <p:blipFill>
                      <a:blip r:embed="rId3"/>
                      <a:stretch>
                        <a:fillRect/>
                      </a:stretch>
                    </p:blipFill>
                    <p:spPr>
                      <a:xfrm>
                        <a:off x="3203848" y="5265738"/>
                        <a:ext cx="669925" cy="342900"/>
                      </a:xfrm>
                      <a:prstGeom prst="rect">
                        <a:avLst/>
                      </a:prstGeom>
                      <a:noFill/>
                      <a:ln w="38100">
                        <a:noFill/>
                        <a:miter/>
                      </a:ln>
                    </p:spPr>
                  </p:pic>
                </p:oleObj>
              </mc:Fallback>
            </mc:AlternateContent>
          </a:graphicData>
        </a:graphic>
      </p:graphicFrame>
      <p:sp>
        <p:nvSpPr>
          <p:cNvPr id="50183" name="矩形 6861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50184" name="矩形 6861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50185" name="矩形 68619"/>
          <p:cNvSpPr/>
          <p:nvPr/>
        </p:nvSpPr>
        <p:spPr>
          <a:xfrm>
            <a:off x="0" y="321468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50186" name="矩形 68621"/>
          <p:cNvSpPr/>
          <p:nvPr/>
        </p:nvSpPr>
        <p:spPr>
          <a:xfrm>
            <a:off x="0" y="33385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02A5CB22-BABD-C52D-3721-A2EA387BA0D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46</a:t>
            </a:fld>
            <a:endParaRPr lang="zh-CN" altLang="en-US" sz="1400" b="0" dirty="0">
              <a:latin typeface="Times New Roman" panose="02020603050405020304" pitchFamily="18" charset="0"/>
              <a:ea typeface="宋体" panose="02010600030101010101" pitchFamily="2" charset="-122"/>
            </a:endParaRPr>
          </a:p>
        </p:txBody>
      </p:sp>
      <p:sp>
        <p:nvSpPr>
          <p:cNvPr id="114690" name="标题 1146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4819" name="文本占位符 114690"/>
          <p:cNvSpPr>
            <a:spLocks noGrp="1"/>
          </p:cNvSpPr>
          <p:nvPr>
            <p:ph idx="1"/>
          </p:nvPr>
        </p:nvSpPr>
        <p:spPr/>
        <p:txBody>
          <a:bodyPr vert="horz" wrap="square" lIns="91440" tIns="45720" rIns="91440" bIns="45720" numCol="1" rtlCol="0" anchor="t" anchorCtr="0" compatLnSpc="1">
            <a:normAutofit fontScale="95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en-US" altLang="zh-CN"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Patchwork</a:t>
            </a: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空域信息隐藏 </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（3）令                 ，            ，完成信息的嵌入。这样整个图像的平均亮度保持不变。检测时，令</a:t>
            </a:r>
          </a:p>
          <a:p>
            <a:pPr marL="0" marR="0" lvl="0" indent="4826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826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如果              ，存在隐藏信息，否则，不存在隐藏信息。</a:t>
            </a:r>
          </a:p>
        </p:txBody>
      </p:sp>
      <p:sp>
        <p:nvSpPr>
          <p:cNvPr id="51204" name="矩形 114691"/>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51205" name="矩形 114692"/>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51206" name="矩形 11469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51207" name="对象 114695"/>
          <p:cNvGraphicFramePr/>
          <p:nvPr>
            <p:extLst>
              <p:ext uri="{D42A27DB-BD31-4B8C-83A1-F6EECF244321}">
                <p14:modId xmlns:p14="http://schemas.microsoft.com/office/powerpoint/2010/main" val="3133792807"/>
              </p:ext>
            </p:extLst>
          </p:nvPr>
        </p:nvGraphicFramePr>
        <p:xfrm>
          <a:off x="2470842" y="2542434"/>
          <a:ext cx="1079500" cy="360362"/>
        </p:xfrm>
        <a:graphic>
          <a:graphicData uri="http://schemas.openxmlformats.org/presentationml/2006/ole">
            <mc:AlternateContent xmlns:mc="http://schemas.openxmlformats.org/markup-compatibility/2006">
              <mc:Choice xmlns:v="urn:schemas-microsoft-com:vml" Requires="v">
                <p:oleObj r:id="rId2" imgW="711200" imgH="241300" progId="Equation.DSMT4">
                  <p:embed/>
                </p:oleObj>
              </mc:Choice>
              <mc:Fallback>
                <p:oleObj r:id="rId2" imgW="711200" imgH="241300" progId="Equation.DSMT4">
                  <p:embed/>
                  <p:pic>
                    <p:nvPicPr>
                      <p:cNvPr id="0" name="图片 3077"/>
                      <p:cNvPicPr/>
                      <p:nvPr/>
                    </p:nvPicPr>
                    <p:blipFill>
                      <a:blip r:embed="rId3"/>
                      <a:stretch>
                        <a:fillRect/>
                      </a:stretch>
                    </p:blipFill>
                    <p:spPr>
                      <a:xfrm>
                        <a:off x="2470842" y="2542434"/>
                        <a:ext cx="1079500" cy="360362"/>
                      </a:xfrm>
                      <a:prstGeom prst="rect">
                        <a:avLst/>
                      </a:prstGeom>
                      <a:noFill/>
                      <a:ln w="38100">
                        <a:noFill/>
                        <a:miter/>
                      </a:ln>
                    </p:spPr>
                  </p:pic>
                </p:oleObj>
              </mc:Fallback>
            </mc:AlternateContent>
          </a:graphicData>
        </a:graphic>
      </p:graphicFrame>
      <p:sp>
        <p:nvSpPr>
          <p:cNvPr id="51208" name="矩形 11469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51209" name="对象 114697"/>
          <p:cNvGraphicFramePr/>
          <p:nvPr>
            <p:extLst>
              <p:ext uri="{D42A27DB-BD31-4B8C-83A1-F6EECF244321}">
                <p14:modId xmlns:p14="http://schemas.microsoft.com/office/powerpoint/2010/main" val="110429755"/>
              </p:ext>
            </p:extLst>
          </p:nvPr>
        </p:nvGraphicFramePr>
        <p:xfrm>
          <a:off x="3751386" y="2549207"/>
          <a:ext cx="1036638" cy="360362"/>
        </p:xfrm>
        <a:graphic>
          <a:graphicData uri="http://schemas.openxmlformats.org/presentationml/2006/ole">
            <mc:AlternateContent xmlns:mc="http://schemas.openxmlformats.org/markup-compatibility/2006">
              <mc:Choice xmlns:v="urn:schemas-microsoft-com:vml" Requires="v">
                <p:oleObj r:id="rId4" imgW="685800" imgH="241300" progId="Equation.DSMT4">
                  <p:embed/>
                </p:oleObj>
              </mc:Choice>
              <mc:Fallback>
                <p:oleObj r:id="rId4" imgW="685800" imgH="241300" progId="Equation.DSMT4">
                  <p:embed/>
                  <p:pic>
                    <p:nvPicPr>
                      <p:cNvPr id="0" name="图片 3076"/>
                      <p:cNvPicPr/>
                      <p:nvPr/>
                    </p:nvPicPr>
                    <p:blipFill>
                      <a:blip r:embed="rId5"/>
                      <a:stretch>
                        <a:fillRect/>
                      </a:stretch>
                    </p:blipFill>
                    <p:spPr>
                      <a:xfrm>
                        <a:off x="3751386" y="2549207"/>
                        <a:ext cx="1036638" cy="360362"/>
                      </a:xfrm>
                      <a:prstGeom prst="rect">
                        <a:avLst/>
                      </a:prstGeom>
                      <a:noFill/>
                      <a:ln w="38100">
                        <a:noFill/>
                        <a:miter/>
                      </a:ln>
                    </p:spPr>
                  </p:pic>
                </p:oleObj>
              </mc:Fallback>
            </mc:AlternateContent>
          </a:graphicData>
        </a:graphic>
      </p:graphicFrame>
      <p:sp>
        <p:nvSpPr>
          <p:cNvPr id="51210" name="矩形 114698"/>
          <p:cNvSpPr/>
          <p:nvPr/>
        </p:nvSpPr>
        <p:spPr>
          <a:xfrm>
            <a:off x="0" y="32131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51211" name="对象 114699"/>
          <p:cNvGraphicFramePr/>
          <p:nvPr>
            <p:extLst>
              <p:ext uri="{D42A27DB-BD31-4B8C-83A1-F6EECF244321}">
                <p14:modId xmlns:p14="http://schemas.microsoft.com/office/powerpoint/2010/main" val="3495691643"/>
              </p:ext>
            </p:extLst>
          </p:nvPr>
        </p:nvGraphicFramePr>
        <p:xfrm>
          <a:off x="3132138" y="3681413"/>
          <a:ext cx="2090737" cy="863600"/>
        </p:xfrm>
        <a:graphic>
          <a:graphicData uri="http://schemas.openxmlformats.org/presentationml/2006/ole">
            <mc:AlternateContent xmlns:mc="http://schemas.openxmlformats.org/markup-compatibility/2006">
              <mc:Choice xmlns:v="urn:schemas-microsoft-com:vml" Requires="v">
                <p:oleObj r:id="rId6" imgW="1040765" imgH="431800" progId="Equation.DSMT4">
                  <p:embed/>
                </p:oleObj>
              </mc:Choice>
              <mc:Fallback>
                <p:oleObj r:id="rId6" imgW="1040765" imgH="431800" progId="Equation.DSMT4">
                  <p:embed/>
                  <p:pic>
                    <p:nvPicPr>
                      <p:cNvPr id="0" name="图片 3078"/>
                      <p:cNvPicPr/>
                      <p:nvPr/>
                    </p:nvPicPr>
                    <p:blipFill>
                      <a:blip r:embed="rId7"/>
                      <a:stretch>
                        <a:fillRect/>
                      </a:stretch>
                    </p:blipFill>
                    <p:spPr>
                      <a:xfrm>
                        <a:off x="3132138" y="3681413"/>
                        <a:ext cx="2090737" cy="863600"/>
                      </a:xfrm>
                      <a:prstGeom prst="rect">
                        <a:avLst/>
                      </a:prstGeom>
                      <a:noFill/>
                      <a:ln w="38100">
                        <a:noFill/>
                        <a:miter/>
                      </a:ln>
                    </p:spPr>
                  </p:pic>
                </p:oleObj>
              </mc:Fallback>
            </mc:AlternateContent>
          </a:graphicData>
        </a:graphic>
      </p:graphicFrame>
      <p:sp>
        <p:nvSpPr>
          <p:cNvPr id="51212" name="矩形 114700"/>
          <p:cNvSpPr/>
          <p:nvPr/>
        </p:nvSpPr>
        <p:spPr>
          <a:xfrm>
            <a:off x="0" y="32496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51213" name="对象 114701"/>
          <p:cNvGraphicFramePr/>
          <p:nvPr>
            <p:extLst>
              <p:ext uri="{D42A27DB-BD31-4B8C-83A1-F6EECF244321}">
                <p14:modId xmlns:p14="http://schemas.microsoft.com/office/powerpoint/2010/main" val="809002187"/>
              </p:ext>
            </p:extLst>
          </p:nvPr>
        </p:nvGraphicFramePr>
        <p:xfrm>
          <a:off x="2016125" y="5121275"/>
          <a:ext cx="749300" cy="320675"/>
        </p:xfrm>
        <a:graphic>
          <a:graphicData uri="http://schemas.openxmlformats.org/presentationml/2006/ole">
            <mc:AlternateContent xmlns:mc="http://schemas.openxmlformats.org/markup-compatibility/2006">
              <mc:Choice xmlns:v="urn:schemas-microsoft-com:vml" Requires="v">
                <p:oleObj r:id="rId8" imgW="418465" imgH="177800" progId="Equation.DSMT4">
                  <p:embed/>
                </p:oleObj>
              </mc:Choice>
              <mc:Fallback>
                <p:oleObj r:id="rId8" imgW="418465" imgH="177800" progId="Equation.DSMT4">
                  <p:embed/>
                  <p:pic>
                    <p:nvPicPr>
                      <p:cNvPr id="0" name="图片 3079"/>
                      <p:cNvPicPr/>
                      <p:nvPr/>
                    </p:nvPicPr>
                    <p:blipFill>
                      <a:blip r:embed="rId9"/>
                      <a:stretch>
                        <a:fillRect/>
                      </a:stretch>
                    </p:blipFill>
                    <p:spPr>
                      <a:xfrm>
                        <a:off x="2016125" y="5121275"/>
                        <a:ext cx="749300" cy="320675"/>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8BEAC507-7270-B1E0-4B1F-FA2A55DB3AD2}"/>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47</a:t>
            </a:fld>
            <a:endParaRPr lang="zh-CN" altLang="en-US" sz="1400" b="0" dirty="0">
              <a:latin typeface="Times New Roman" panose="02020603050405020304" pitchFamily="18" charset="0"/>
              <a:ea typeface="宋体" panose="02010600030101010101" pitchFamily="2" charset="-122"/>
            </a:endParaRPr>
          </a:p>
        </p:txBody>
      </p:sp>
      <p:sp>
        <p:nvSpPr>
          <p:cNvPr id="69634" name="标题 696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5843" name="文本占位符 69634"/>
          <p:cNvSpPr>
            <a:spLocks noGrp="1"/>
          </p:cNvSpPr>
          <p:nvPr>
            <p:ph idx="1"/>
          </p:nvPr>
        </p:nvSpPr>
        <p:spPr/>
        <p:txBody>
          <a:bodyPr vert="horz" wrap="square" lIns="91440" tIns="45720" rIns="91440" bIns="45720" numCol="1" rtlCol="0" anchor="t" anchorCtr="0" compatLnSpc="1">
            <a:normAutofit fontScale="525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5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变换域信息隐藏 </a:t>
            </a:r>
          </a:p>
          <a:p>
            <a:pPr marL="609600" marR="0" lvl="0" indent="-609600" algn="l" defTabSz="685800" rtl="0" eaLnBrk="1" fontAlgn="auto" latinLnBrk="0" hangingPunct="1">
              <a:lnSpc>
                <a:spcPct val="80000"/>
              </a:lnSpc>
              <a:spcBef>
                <a:spcPts val="750"/>
              </a:spcBef>
              <a:spcAft>
                <a:spcPct val="0"/>
              </a:spcAft>
              <a:buClr>
                <a:schemeClr val="accent1"/>
              </a:buClr>
              <a:buSzTx/>
              <a:buFont typeface="Wingdings" panose="05000000000000000000" pitchFamily="2" charset="2"/>
              <a:buChar char="!"/>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6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36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变换域隐藏技术</a:t>
            </a: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中，信息隐藏过程是在变换域中进行的。借助信号进行正交变换后</a:t>
            </a:r>
            <a:r>
              <a:rPr kumimoji="0" lang="zh-CN" altLang="en-US" sz="36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能量重新分布</a:t>
            </a: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的特点，进行信息隐藏，可以较好的解决不可感知性和稳健性的矛盾。</a:t>
            </a:r>
            <a:endParaRPr kumimoji="0" lang="en-US" altLang="zh-CN"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6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信息隐藏中常用的变换有：</a:t>
            </a:r>
            <a:endParaRPr kumimoji="0" lang="en-US" altLang="zh-CN"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6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离散傅立叶变换（Discrete Fourier Transform，DFT）</a:t>
            </a:r>
            <a:endParaRPr kumimoji="0" lang="en-US" altLang="zh-CN"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6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离散余弦变换（Discrete Cosine Transform，DCT）</a:t>
            </a:r>
            <a:endParaRPr kumimoji="0" lang="en-US" altLang="zh-CN"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6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离散小波变换（Discrete Wavelet Transform，DWT）</a:t>
            </a:r>
            <a:endParaRPr kumimoji="0" lang="en-US" altLang="zh-CN"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68000" algn="l" defTabSz="685800" rtl="0" eaLnBrk="1" fontAlgn="auto" latinLnBrk="0" hangingPunct="1">
              <a:lnSpc>
                <a:spcPct val="150000"/>
              </a:lnSpc>
              <a:spcBef>
                <a:spcPts val="600"/>
              </a:spcBef>
              <a:spcAft>
                <a:spcPts val="600"/>
              </a:spcAft>
              <a:buClr>
                <a:schemeClr val="accent1"/>
              </a:buClr>
              <a:buSzTx/>
              <a:buFont typeface="Wingdings" panose="05000000000000000000" pitchFamily="2" charset="2"/>
              <a:buNone/>
              <a:defRPr/>
            </a:pPr>
            <a:r>
              <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此外，近年出现Bandelet变换，Curvelet变换等。 </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52228" name="矩形 69635"/>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85531A71-03AD-E2FE-5060-CA0A8006450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48</a:t>
            </a:fld>
            <a:endParaRPr lang="zh-CN" altLang="en-US" sz="1400" b="0" dirty="0">
              <a:latin typeface="Times New Roman" panose="02020603050405020304" pitchFamily="18" charset="0"/>
              <a:ea typeface="宋体" panose="02010600030101010101" pitchFamily="2" charset="-122"/>
            </a:endParaRPr>
          </a:p>
        </p:txBody>
      </p:sp>
      <p:sp>
        <p:nvSpPr>
          <p:cNvPr id="70658" name="标题 706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6867" name="文本占位符 70658"/>
          <p:cNvSpPr>
            <a:spLocks noGrp="1"/>
          </p:cNvSpPr>
          <p:nvPr>
            <p:ph idx="1"/>
          </p:nvPr>
        </p:nvSpPr>
        <p:spPr>
          <a:xfrm>
            <a:off x="628650" y="1700808"/>
            <a:ext cx="7888288" cy="4332139"/>
          </a:xfrm>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离散余弦变换（</a:t>
            </a:r>
            <a:r>
              <a:rPr kumimoji="0" lang="en-US" altLang="zh-CN"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DCT</a:t>
            </a:r>
            <a:r>
              <a:rPr kumimoji="0" lang="zh-CN" altLang="en-US"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a:t>
            </a:r>
            <a:endParaRPr kumimoji="0" lang="en-US" altLang="zh-CN" sz="2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0" algn="l" defTabSz="685800" rtl="0" eaLnBrk="1" fontAlgn="auto" latinLnBrk="0" hangingPunct="1">
              <a:lnSpc>
                <a:spcPct val="90000"/>
              </a:lnSpc>
              <a:spcBef>
                <a:spcPts val="750"/>
              </a:spcBef>
              <a:spcAft>
                <a:spcPct val="0"/>
              </a:spcAft>
              <a:buClr>
                <a:schemeClr val="accent1"/>
              </a:buClr>
              <a:buSzTx/>
              <a:buNone/>
              <a:defRPr/>
            </a:pPr>
            <a:endParaRPr kumimoji="0" lang="en-US" altLang="zh-CN"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40000"/>
              </a:lnSpc>
              <a:spcBef>
                <a:spcPts val="600"/>
              </a:spcBef>
              <a:spcAft>
                <a:spcPts val="600"/>
              </a:spcAft>
              <a:buClr>
                <a:schemeClr val="accent1"/>
              </a:buClr>
              <a:buSzTx/>
              <a:buFont typeface="Wingdings" panose="05000000000000000000" pitchFamily="2" charset="2"/>
              <a:buNone/>
              <a:defRPr/>
            </a:pPr>
            <a:r>
              <a:rPr kumimoji="0" lang="zh-CN" altLang="en-US" sz="25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DCT变换</a:t>
            </a:r>
            <a:r>
              <a:rPr kumimoji="0" lang="zh-CN" altLang="en-US"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是一种通常使用的图像压缩标准，JPEG、MPEG-2等标准，采用的变换都是DCT。</a:t>
            </a:r>
            <a:endParaRPr kumimoji="0" lang="en-US" altLang="zh-CN"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40000"/>
              </a:lnSpc>
              <a:spcBef>
                <a:spcPts val="600"/>
              </a:spcBef>
              <a:spcAft>
                <a:spcPts val="600"/>
              </a:spcAft>
              <a:buClr>
                <a:schemeClr val="accent1"/>
              </a:buClr>
              <a:buSzTx/>
              <a:buFont typeface="Wingdings" panose="05000000000000000000" pitchFamily="2" charset="2"/>
              <a:buNone/>
              <a:defRPr/>
            </a:pPr>
            <a:r>
              <a:rPr kumimoji="0" lang="zh-CN" altLang="en-US" sz="2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基于DCT的数字水印算法首先从载体中获取特征进行二维离散余弦变换，然后选择适当的系数将水印嵌入，最后进行二维离散余弦反变换得到加入水印的图像。</a:t>
            </a:r>
          </a:p>
        </p:txBody>
      </p:sp>
      <p:sp>
        <p:nvSpPr>
          <p:cNvPr id="53252" name="矩形 7065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9F8A4115-7B35-76D2-4711-6CC12F94DBC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49</a:t>
            </a:fld>
            <a:endParaRPr lang="zh-CN" altLang="en-US" sz="1400" b="0" dirty="0">
              <a:latin typeface="Times New Roman" panose="02020603050405020304" pitchFamily="18" charset="0"/>
              <a:ea typeface="宋体" panose="02010600030101010101" pitchFamily="2" charset="-122"/>
            </a:endParaRPr>
          </a:p>
        </p:txBody>
      </p:sp>
      <p:sp>
        <p:nvSpPr>
          <p:cNvPr id="115714" name="标题 1157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37891" name="文本占位符 115714"/>
          <p:cNvSpPr>
            <a:spLocks noGrp="1"/>
          </p:cNvSpPr>
          <p:nvPr>
            <p:ph idx="1"/>
          </p:nvPr>
        </p:nvSpPr>
        <p:spPr>
          <a:xfrm>
            <a:off x="628650" y="1700809"/>
            <a:ext cx="7888288" cy="4476154"/>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离散余弦变换（</a:t>
            </a:r>
            <a:r>
              <a:rPr kumimoji="0" lang="en-US" altLang="zh-CN"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DCT</a:t>
            </a: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a:t>
            </a:r>
            <a:endParaRPr kumimoji="0" lang="en-US" altLang="zh-CN"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0" algn="l" defTabSz="685800" rtl="0" eaLnBrk="1" fontAlgn="auto" latinLnBrk="0" hangingPunct="1">
              <a:lnSpc>
                <a:spcPct val="90000"/>
              </a:lnSpc>
              <a:spcBef>
                <a:spcPts val="750"/>
              </a:spcBef>
              <a:spcAft>
                <a:spcPct val="0"/>
              </a:spcAft>
              <a:buClr>
                <a:schemeClr val="accent1"/>
              </a:buClr>
              <a:buSzTx/>
              <a:buNone/>
              <a:defRPr/>
            </a:pP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选择什么样频段的系数是一个很有</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争议</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的问题。</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将水印加入高频段，这样不至于使原始图像失真；将水印加入到图像的低频段可以增强水印的鲁棒性。</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现在更为统一的意见是将水印加入到原始图像</a:t>
            </a:r>
            <a:r>
              <a:rPr kumimoji="0" lang="zh-CN" altLang="en-US" sz="24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rPr>
              <a:t>中频段</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以在信噪比和鲁棒性之间平衡。</a:t>
            </a:r>
          </a:p>
        </p:txBody>
      </p:sp>
      <p:sp>
        <p:nvSpPr>
          <p:cNvPr id="54276" name="矩形 115715"/>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C7F018BE-AEB7-5AAF-50FB-D137302DBDC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50</a:t>
            </a:fld>
            <a:endParaRPr lang="zh-CN" altLang="en-US" sz="1400" b="0" dirty="0">
              <a:latin typeface="Times New Roman" panose="02020603050405020304" pitchFamily="18" charset="0"/>
              <a:ea typeface="宋体" panose="02010600030101010101" pitchFamily="2" charset="-122"/>
            </a:endParaRPr>
          </a:p>
        </p:txBody>
      </p:sp>
      <p:sp>
        <p:nvSpPr>
          <p:cNvPr id="71682" name="标题 716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54275" name="文本占位符 71682"/>
          <p:cNvSpPr>
            <a:spLocks noGrp="1" noChangeArrowheads="1"/>
          </p:cNvSpPr>
          <p:nvPr>
            <p:ph idx="1"/>
          </p:nvPr>
        </p:nvSpPr>
        <p:spPr/>
        <p:txBody>
          <a:bodyPr vert="horz" wrap="square" lIns="91440" tIns="45720" rIns="91440" bIns="45720" numCol="1" rtlCol="0" anchor="t" anchorCtr="0" compatLnSpc="1">
            <a:normAutofit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离散小波变换 </a:t>
            </a:r>
            <a:r>
              <a:rPr kumimoji="0" lang="en-US" altLang="zh-CN"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(DWT)</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小波变换</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具有多分辨分析特点，能充分反映人类的视觉特性，特别是新的图像压缩标准，如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JPEG2000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等都采用了基于小波变换的方法，因而在小波变换域研究水印是极为重要的。</a:t>
            </a: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基于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DWT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的数字水印算法和基于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DCT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的数字水印算法的基本思想是基本一样的。但是由于基于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DWT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的数字水印算法具有多分辨特性，水印的嵌入变得更为灵活。</a:t>
            </a: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55300" name="矩形 71683"/>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21210729-67CD-4C3E-A8EC-2A8035297B9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51</a:t>
            </a:fld>
            <a:endParaRPr lang="zh-CN" altLang="en-US" sz="1400" b="0" dirty="0">
              <a:latin typeface="Times New Roman" panose="02020603050405020304" pitchFamily="18" charset="0"/>
              <a:ea typeface="宋体" panose="02010600030101010101" pitchFamily="2" charset="-122"/>
            </a:endParaRPr>
          </a:p>
        </p:txBody>
      </p:sp>
      <p:sp>
        <p:nvSpPr>
          <p:cNvPr id="72706" name="标题 727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55299" name="文本占位符 72706"/>
          <p:cNvSpPr>
            <a:spLocks noGrp="1" noChangeArrowheads="1"/>
          </p:cNvSpPr>
          <p:nvPr>
            <p:ph idx="1"/>
          </p:nvPr>
        </p:nvSpPr>
        <p:spPr>
          <a:xfrm>
            <a:off x="628650" y="1628800"/>
            <a:ext cx="8047806" cy="5040560"/>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变换域信息隐藏技术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1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变换域信息隐藏方法的主要</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步骤</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如下：</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）应用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DCT</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DFT</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DWT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等方法将原始宿主信号变换到频域空间； </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）在变换域选择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n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个系数以隐藏信息；</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）根据一定的规则或公式修改选择的 </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n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个变换系数；</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）进行反变换以得到掩密载体。        </a:t>
            </a:r>
          </a:p>
        </p:txBody>
      </p:sp>
      <p:sp>
        <p:nvSpPr>
          <p:cNvPr id="56324" name="矩形 72707"/>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8DE62E86-D5E7-1698-2E24-9D1C1651284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52</a:t>
            </a:fld>
            <a:endParaRPr lang="zh-CN" altLang="en-US" sz="1400" b="0" dirty="0">
              <a:latin typeface="Times New Roman" panose="02020603050405020304" pitchFamily="18" charset="0"/>
              <a:ea typeface="宋体" panose="02010600030101010101" pitchFamily="2" charset="-122"/>
            </a:endParaRPr>
          </a:p>
        </p:txBody>
      </p:sp>
      <p:sp>
        <p:nvSpPr>
          <p:cNvPr id="73730" name="标题 737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56323" name="文本占位符 73730"/>
          <p:cNvSpPr>
            <a:spLocks noGrp="1" noChangeArrowheads="1"/>
          </p:cNvSpPr>
          <p:nvPr>
            <p:ph idx="1"/>
          </p:nvPr>
        </p:nvSpPr>
        <p:spPr>
          <a:xfrm>
            <a:off x="628650" y="1844824"/>
            <a:ext cx="7975798" cy="4332139"/>
          </a:xfrm>
        </p:spPr>
        <p:txBody>
          <a:bodyPr vert="horz" wrap="square" lIns="91440" tIns="45720" rIns="91440" bIns="45720" numCol="1" rtlCol="0" anchor="t" anchorCtr="0" compatLnSpc="1">
            <a:normAutofit fontScale="775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3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变换域信息隐藏优点</a:t>
            </a:r>
          </a:p>
          <a:p>
            <a:pPr marL="0" marR="0" lvl="0" indent="457200" algn="l" defTabSz="685800" rtl="0" eaLnBrk="1" fontAlgn="auto" latinLnBrk="0" hangingPunct="1">
              <a:lnSpc>
                <a:spcPct val="140000"/>
              </a:lnSpc>
              <a:spcBef>
                <a:spcPts val="600"/>
              </a:spcBef>
              <a:spcAft>
                <a:spcPts val="600"/>
              </a:spcAft>
              <a:buClr>
                <a:schemeClr val="accent1"/>
              </a:buClr>
              <a:buSzTx/>
              <a:buFont typeface="Wingdings" panose="05000000000000000000" pitchFamily="2" charset="2"/>
              <a:buNone/>
              <a:defRPr/>
            </a:pPr>
            <a:endPar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）变换域中嵌入的信号能量可以较均匀的分布到空域的所有像素上，有利于保证不可见性。</a:t>
            </a:r>
          </a:p>
          <a:p>
            <a:pPr marL="0" lvl="0" indent="558000" eaLnBrk="1" fontAlgn="auto" hangingPunct="1">
              <a:lnSpc>
                <a:spcPct val="160000"/>
              </a:lnSpc>
              <a:spcBef>
                <a:spcPts val="600"/>
              </a:spcBef>
              <a:spcAft>
                <a:spcPts val="0"/>
              </a:spcAft>
              <a:buNone/>
              <a:defRPr/>
            </a:pP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lang="zh-CN" altLang="en-US" sz="2600" b="1" noProof="1">
                <a:latin typeface="华文细黑" panose="02010600040101010101" pitchFamily="2" charset="-122"/>
                <a:ea typeface="华文细黑" panose="02010600040101010101" pitchFamily="2" charset="-122"/>
              </a:rPr>
              <a:t>）在变换域，人类视觉系统 </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HVS</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Human Visual System</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lang="zh-CN" altLang="en-US" sz="2600" b="1" noProof="1">
                <a:latin typeface="华文细黑" panose="02010600040101010101" pitchFamily="2" charset="-122"/>
                <a:ea typeface="华文细黑" panose="02010600040101010101" pitchFamily="2" charset="-122"/>
              </a:rPr>
              <a:t>人类听觉系统 </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HAS</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Human Auditory System</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）的某些特性可以更方便地结合到嵌入过程中，有利于不可感知性和稳健性能的提高。</a:t>
            </a:r>
          </a:p>
          <a:p>
            <a:pPr marL="0" marR="0" lvl="0" indent="558000" algn="l" defTabSz="685800" rtl="0" eaLnBrk="1" fontAlgn="auto" latinLnBrk="0" hangingPunct="1">
              <a:lnSpc>
                <a:spcPct val="160000"/>
              </a:lnSpc>
              <a:spcBef>
                <a:spcPts val="600"/>
              </a:spcBef>
              <a:spcAft>
                <a:spcPts val="0"/>
              </a:spcAft>
              <a:buClr>
                <a:schemeClr val="accent1"/>
              </a:buClr>
              <a:buSzTx/>
              <a:buFont typeface="Wingdings" panose="05000000000000000000" pitchFamily="2" charset="2"/>
              <a:buNone/>
              <a:defRPr/>
            </a:pP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）变换域的方法可与国际数据压缩标准兼容，从而便于实现在压缩域内的信息隐藏算法。</a:t>
            </a: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57348" name="矩形 73731"/>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5BE5C204-EA86-16A9-B94E-4A9C12C4D4B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53</a:t>
            </a:fld>
            <a:endParaRPr lang="zh-CN" altLang="en-US" sz="1400" b="0" dirty="0">
              <a:latin typeface="Times New Roman" panose="02020603050405020304" pitchFamily="18" charset="0"/>
              <a:ea typeface="宋体" panose="02010600030101010101" pitchFamily="2" charset="-122"/>
            </a:endParaRPr>
          </a:p>
        </p:txBody>
      </p:sp>
      <p:sp>
        <p:nvSpPr>
          <p:cNvPr id="116738" name="标题 1167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57347" name="文本占位符 116738"/>
          <p:cNvSpPr>
            <a:spLocks noGrp="1" noChangeArrowheads="1"/>
          </p:cNvSpPr>
          <p:nvPr>
            <p:ph idx="1"/>
          </p:nvPr>
        </p:nvSpPr>
        <p:spPr>
          <a:xfrm>
            <a:off x="628650" y="1916833"/>
            <a:ext cx="7888288" cy="4260130"/>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变换域信息隐藏缺点</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）隐藏信息量比空域方法低；计算量大于空域算法；</a:t>
            </a:r>
          </a:p>
          <a:p>
            <a:pPr marL="0" marR="0" lvl="0" indent="612000" algn="l" defTabSz="685800" rtl="0" eaLnBrk="1" fontAlgn="auto" latinLnBrk="0" hangingPunct="1">
              <a:lnSpc>
                <a:spcPct val="150000"/>
              </a:lnSpc>
              <a:spcBef>
                <a:spcPts val="600"/>
              </a:spcBef>
              <a:spcAft>
                <a:spcPts val="0"/>
              </a:spcAft>
              <a:buClr>
                <a:schemeClr val="accent1"/>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）在正变换和反变换计算过程中，由于数据格式的转换，通常会造成信息的丢失，这等效于一次轻微的攻击，对于大量数据的隐藏是很不利的。</a:t>
            </a:r>
          </a:p>
        </p:txBody>
      </p:sp>
      <p:sp>
        <p:nvSpPr>
          <p:cNvPr id="58372" name="矩形 11673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82A5DA48-8A54-FC8F-8955-39284E5F188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54</a:t>
            </a:fld>
            <a:endParaRPr lang="zh-CN" altLang="en-US" sz="1400" b="0" dirty="0">
              <a:latin typeface="Times New Roman" panose="02020603050405020304" pitchFamily="18" charset="0"/>
              <a:ea typeface="宋体" panose="02010600030101010101" pitchFamily="2" charset="-122"/>
            </a:endParaRPr>
          </a:p>
        </p:txBody>
      </p:sp>
      <p:sp>
        <p:nvSpPr>
          <p:cNvPr id="74754" name="标题 7475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67588" name="文本占位符 74754"/>
          <p:cNvSpPr>
            <a:spLocks noGrp="1" noChangeArrowheads="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其他信息隐藏技术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RST</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域算法</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）压缩域算法</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）网格水印算法</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）扩频技术</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5</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）人的生理模型技术</a:t>
            </a:r>
          </a:p>
        </p:txBody>
      </p:sp>
      <p:sp>
        <p:nvSpPr>
          <p:cNvPr id="59396" name="矩形 74755"/>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30032C5C-1B5B-CC8E-2659-9442DA0A9E3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55</a:t>
            </a:fld>
            <a:endParaRPr lang="zh-CN" altLang="en-US" sz="1400" b="0" dirty="0">
              <a:latin typeface="Times New Roman" panose="02020603050405020304" pitchFamily="18" charset="0"/>
              <a:ea typeface="宋体" panose="02010600030101010101" pitchFamily="2" charset="-122"/>
            </a:endParaRPr>
          </a:p>
        </p:txBody>
      </p:sp>
      <p:sp>
        <p:nvSpPr>
          <p:cNvPr id="139266" name="标题 13926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59395" name="文本占位符 139266"/>
          <p:cNvSpPr>
            <a:spLocks noGrp="1" noChangeArrowheads="1"/>
          </p:cNvSpPr>
          <p:nvPr>
            <p:ph idx="1"/>
          </p:nvPr>
        </p:nvSpPr>
        <p:spPr>
          <a:xfrm>
            <a:off x="628650" y="1628800"/>
            <a:ext cx="7888288" cy="4548163"/>
          </a:xfrm>
        </p:spPr>
        <p:txBody>
          <a:bodyPr vert="horz" wrap="square" lIns="91440" tIns="45720" rIns="91440" bIns="45720" numCol="1" rtlCol="0" anchor="t" anchorCtr="0" compatLnSpc="1">
            <a:normAutofit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其他信息隐藏技术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RST</a:t>
            </a:r>
            <a:r>
              <a:rPr kumimoji="0" lang="zh-CN" altLang="en-US"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域算法</a:t>
            </a:r>
          </a:p>
          <a:p>
            <a:pPr marL="0" marR="0" lvl="0" indent="558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en-US" altLang="zh-CN"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RST(</a:t>
            </a:r>
            <a:r>
              <a:rPr kumimoji="0" lang="en-US" altLang="zh-CN" sz="2200" b="0" i="0" u="none" strike="noStrike" kern="1200" cap="none" spc="0" normalizeH="0" baseline="0" noProof="0" dirty="0">
                <a:ln>
                  <a:noFill/>
                </a:ln>
                <a:solidFill>
                  <a:schemeClr val="accent1"/>
                </a:solidFill>
                <a:effectLst/>
                <a:uLnTx/>
                <a:uFillTx/>
                <a:latin typeface="+mn-lt"/>
                <a:ea typeface="+mn-ea"/>
                <a:cs typeface="+mn-cs"/>
              </a:rPr>
              <a:t>R-rotate S-scale T-translation</a:t>
            </a:r>
            <a:r>
              <a:rPr kumimoji="0" lang="en-US" altLang="zh-CN"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域信息隐藏法基本思想是利用</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Fourier-</a:t>
            </a:r>
            <a:r>
              <a:rPr kumimoji="0" lang="en-US" altLang="zh-CN" sz="2200" b="1" i="0"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Mellin</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变换，使得经过旋转、缩放、平移三种变换后得到的图像和原图像在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RST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域保持一致。此过程先后经过离散傅立叶变换、</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Fourier-</a:t>
            </a:r>
            <a:r>
              <a:rPr kumimoji="0" lang="en-US" altLang="zh-CN" sz="2200" b="1" i="0"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Mellin</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变换、</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DFT</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58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该方法的优点是有很强的抗几何变换能力，缺点是抵抗有损压缩、低通滤波等信号处理方法的稳健性不够。    </a:t>
            </a:r>
          </a:p>
        </p:txBody>
      </p:sp>
      <p:sp>
        <p:nvSpPr>
          <p:cNvPr id="60420" name="矩形 139267"/>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8BE2B695-0E5F-06E3-1784-1EE8B23880B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56</a:t>
            </a:fld>
            <a:endParaRPr lang="zh-CN" altLang="en-US" sz="1400" b="0" dirty="0">
              <a:latin typeface="Times New Roman" panose="02020603050405020304" pitchFamily="18" charset="0"/>
              <a:ea typeface="宋体" panose="02010600030101010101" pitchFamily="2" charset="-122"/>
            </a:endParaRPr>
          </a:p>
        </p:txBody>
      </p:sp>
      <p:sp>
        <p:nvSpPr>
          <p:cNvPr id="140290" name="标题 1402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69636" name="文本占位符 140290"/>
          <p:cNvSpPr>
            <a:spLocks noGrp="1" noChangeArrowheads="1"/>
          </p:cNvSpPr>
          <p:nvPr>
            <p:ph idx="1"/>
          </p:nvPr>
        </p:nvSpPr>
        <p:spPr>
          <a:xfrm>
            <a:off x="628650" y="1772816"/>
            <a:ext cx="7888288" cy="4404147"/>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其他信息隐藏技术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压缩域</a:t>
            </a:r>
            <a:r>
              <a:rPr lang="zh-CN" altLang="en-US" sz="2400" b="1" dirty="0">
                <a:solidFill>
                  <a:schemeClr val="accent1"/>
                </a:solidFill>
                <a:latin typeface="华文细黑" panose="02010600040101010101" pitchFamily="2" charset="-122"/>
                <a:ea typeface="华文细黑" panose="02010600040101010101" pitchFamily="2" charset="-122"/>
              </a:rPr>
              <a:t>算法</a:t>
            </a:r>
            <a:endParaRPr lang="en-US" altLang="zh-CN" sz="2400" b="1" dirty="0">
              <a:solidFill>
                <a:schemeClr val="accent1"/>
              </a:solidFill>
              <a:latin typeface="华文细黑" panose="02010600040101010101" pitchFamily="2" charset="-122"/>
              <a:ea typeface="华文细黑" panose="02010600040101010101" pitchFamily="2" charset="-122"/>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基于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JPEG</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MPEG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标准的压缩域信息隐藏系统不仅节省了大量的完全解码和重新编码过程，而且在数字电视广播及</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VOD</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Video On Demand</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）中有很大的使用价值。</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相应地，水印检测与提取也直接在压缩域数据中进行。</a:t>
            </a:r>
          </a:p>
        </p:txBody>
      </p:sp>
      <p:sp>
        <p:nvSpPr>
          <p:cNvPr id="61444" name="矩形 140291"/>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6D329F3D-E18E-BC2C-B4D3-484B18AC836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57</a:t>
            </a:fld>
            <a:endParaRPr lang="zh-CN" altLang="en-US" sz="1400" b="0" dirty="0">
              <a:latin typeface="Times New Roman" panose="02020603050405020304" pitchFamily="18" charset="0"/>
              <a:ea typeface="宋体" panose="02010600030101010101" pitchFamily="2" charset="-122"/>
            </a:endParaRPr>
          </a:p>
        </p:txBody>
      </p:sp>
      <p:sp>
        <p:nvSpPr>
          <p:cNvPr id="141314" name="标题 1413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0660" name="文本占位符 141314"/>
          <p:cNvSpPr>
            <a:spLocks noGrp="1" noChangeArrowheads="1"/>
          </p:cNvSpPr>
          <p:nvPr>
            <p:ph idx="1"/>
          </p:nvPr>
        </p:nvSpPr>
        <p:spPr>
          <a:xfrm>
            <a:off x="468313" y="1772816"/>
            <a:ext cx="8280400" cy="4824536"/>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其他信息隐藏技术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网格水印</a:t>
            </a:r>
            <a:r>
              <a:rPr lang="zh-CN" altLang="en-US" sz="2400" b="1" dirty="0">
                <a:solidFill>
                  <a:schemeClr val="accent1"/>
                </a:solidFill>
                <a:latin typeface="华文细黑" panose="02010600040101010101" pitchFamily="2" charset="-122"/>
                <a:ea typeface="华文细黑" panose="02010600040101010101" pitchFamily="2" charset="-122"/>
              </a:rPr>
              <a:t>算法</a:t>
            </a:r>
            <a:endParaRPr lang="en-US" altLang="zh-CN" sz="2400" b="1" dirty="0">
              <a:solidFill>
                <a:schemeClr val="accent1"/>
              </a:solidFill>
              <a:latin typeface="华文细黑" panose="02010600040101010101" pitchFamily="2" charset="-122"/>
              <a:ea typeface="华文细黑" panose="02010600040101010101" pitchFamily="2" charset="-122"/>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针对计算机图形学中常用的三角形网络模型，提出的网格信息隐藏方案，与多分辨网格处理工具箱集成，不需要建立额外的数据结构和进行额外的复杂计算，直接在网格低频成分中嵌入水印，并且在利用网格处理工具箱进行网格处理时，可以较好地保留隐藏信息，而且重采样算法简单高效，使简化网格和拓扑结构已改变的网格水印检测成为可能。</a:t>
            </a:r>
          </a:p>
        </p:txBody>
      </p:sp>
      <p:sp>
        <p:nvSpPr>
          <p:cNvPr id="62468" name="矩形 141315"/>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E0415A6A-418C-0EAF-5669-36BD0BF708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58</a:t>
            </a:fld>
            <a:endParaRPr lang="zh-CN" altLang="en-US" sz="1400" b="0" dirty="0">
              <a:latin typeface="Times New Roman" panose="02020603050405020304" pitchFamily="18" charset="0"/>
              <a:ea typeface="宋体" panose="02010600030101010101" pitchFamily="2" charset="-122"/>
            </a:endParaRPr>
          </a:p>
        </p:txBody>
      </p:sp>
      <p:sp>
        <p:nvSpPr>
          <p:cNvPr id="142338" name="标题 1423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1684" name="文本占位符 142338"/>
          <p:cNvSpPr>
            <a:spLocks noGrp="1" noChangeArrowheads="1"/>
          </p:cNvSpPr>
          <p:nvPr>
            <p:ph idx="1"/>
          </p:nvPr>
        </p:nvSpPr>
        <p:spPr>
          <a:xfrm>
            <a:off x="628650" y="1700808"/>
            <a:ext cx="7888288" cy="4968552"/>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其他信息隐藏技术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扩频技术</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扩频技术的一个重要优点是具有很强的抗干扰性。利用扩频技术的原理，将水印分布在许多数据频域系数中，加入每个频域系数的信号能量很小而且不可随意检测。</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然而，水印检测过程知道水印的位置和内容，它能将许多微弱的信号集中起来形成具有较高信噪比的输出值，要破坏水印需要强噪声加入所有的频域系数中，但是破坏水印的同时也造成原始数据质量严重下降。 </a:t>
            </a:r>
          </a:p>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63492" name="矩形 14233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271216D7-DF69-7024-ADDF-6B62FA8D302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59</a:t>
            </a:fld>
            <a:endParaRPr lang="zh-CN" altLang="en-US" sz="1400" b="0" dirty="0">
              <a:latin typeface="Times New Roman" panose="02020603050405020304" pitchFamily="18" charset="0"/>
              <a:ea typeface="宋体" panose="02010600030101010101" pitchFamily="2" charset="-122"/>
            </a:endParaRPr>
          </a:p>
        </p:txBody>
      </p:sp>
      <p:sp>
        <p:nvSpPr>
          <p:cNvPr id="143362" name="标题 1433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2.2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2708" name="文本占位符 143362"/>
          <p:cNvSpPr>
            <a:spLocks noGrp="1" noChangeArrowheads="1"/>
          </p:cNvSpPr>
          <p:nvPr>
            <p:ph idx="1"/>
          </p:nvPr>
        </p:nvSpPr>
        <p:spPr>
          <a:xfrm>
            <a:off x="628650" y="1700807"/>
            <a:ext cx="7888288" cy="4752527"/>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其他信息隐藏技术</a:t>
            </a:r>
          </a:p>
          <a:p>
            <a:pPr marL="0" marR="0" lvl="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endParaRPr kumimoji="0" lang="en-US" altLang="zh-CN"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5</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lang="zh-CN" altLang="en-US" sz="2200" b="1" dirty="0">
                <a:solidFill>
                  <a:schemeClr val="accent1"/>
                </a:solidFill>
                <a:latin typeface="华文细黑" panose="02010600040101010101" pitchFamily="2" charset="-122"/>
                <a:ea typeface="华文细黑" panose="02010600040101010101" pitchFamily="2" charset="-122"/>
              </a:rPr>
              <a:t>人的生理模型技术</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人的生理模型包括人类视觉系统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HVS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和人类听觉系统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HAS</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。该模型不仅被应用于多媒体数据压缩，同样可以用于信息隐藏。</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lvl="0" indent="558000" eaLnBrk="1" hangingPunct="1">
              <a:lnSpc>
                <a:spcPct val="150000"/>
              </a:lnSpc>
              <a:spcBef>
                <a:spcPts val="600"/>
              </a:spcBef>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它的基本思想是利用从模型中导出</a:t>
            </a:r>
            <a:r>
              <a:rPr lang="zh-CN" altLang="en-US" sz="2200" b="1" dirty="0">
                <a:latin typeface="华文细黑" panose="02010600040101010101" pitchFamily="2" charset="-122"/>
                <a:ea typeface="华文细黑" panose="02010600040101010101" pitchFamily="2" charset="-122"/>
              </a:rPr>
              <a:t>的最小可觉差 </a:t>
            </a:r>
            <a:r>
              <a:rPr lang="en-US" altLang="zh-CN" sz="2200" b="1" dirty="0">
                <a:latin typeface="华文细黑" panose="02010600040101010101" pitchFamily="2" charset="-122"/>
                <a:ea typeface="华文细黑" panose="02010600040101010101" pitchFamily="2" charset="-122"/>
              </a:rPr>
              <a:t>JND</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Just Noticeable Difference</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）描述来确定媒体的各个部分所能容忍的隐秘信号的最大强度，从而能够避免破坏视觉（听觉）质量，因而这一方法同时具有好的透明性和稳健性。</a:t>
            </a:r>
          </a:p>
        </p:txBody>
      </p:sp>
      <p:sp>
        <p:nvSpPr>
          <p:cNvPr id="64516" name="矩形 143363"/>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65500199-BBB8-9C47-3C8E-E5152A5D9CE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60</a:t>
            </a:fld>
            <a:endParaRPr lang="zh-CN" altLang="en-US" sz="1400" b="0" dirty="0">
              <a:latin typeface="Times New Roman" panose="02020603050405020304" pitchFamily="18" charset="0"/>
              <a:ea typeface="宋体" panose="02010600030101010101" pitchFamily="2" charset="-122"/>
            </a:endParaRPr>
          </a:p>
        </p:txBody>
      </p:sp>
      <p:sp>
        <p:nvSpPr>
          <p:cNvPr id="2" name="标题 7577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65539" name="文本占位符 75778"/>
          <p:cNvSpPr>
            <a:spLocks noGrp="1"/>
          </p:cNvSpPr>
          <p:nvPr>
            <p:ph idx="1"/>
          </p:nvPr>
        </p:nvSpPr>
        <p:spPr>
          <a:ln/>
        </p:spPr>
        <p:txBody>
          <a:bodyPr vert="horz" wrap="square" lIns="91440" tIns="45720" rIns="91440" bIns="45720" anchor="t"/>
          <a:lstStyle/>
          <a:p>
            <a:pPr marL="609600" indent="-609600" defTabSz="685800" eaLnBrk="1" hangingPunct="1">
              <a:lnSpc>
                <a:spcPct val="100000"/>
              </a:lnSpc>
            </a:pPr>
            <a:r>
              <a:rPr lang="" altLang="en-US" sz="2800" b="1" kern="1200" dirty="0">
                <a:solidFill>
                  <a:schemeClr val="accent1"/>
                </a:solidFill>
                <a:latin typeface="华文细黑" panose="02010600040101010101" pitchFamily="2" charset="-122"/>
                <a:ea typeface="华文细黑" panose="02010600040101010101" pitchFamily="2" charset="-122"/>
                <a:cs typeface="+mn-cs"/>
              </a:rPr>
              <a:t>数字水印嵌入和检测</a:t>
            </a:r>
            <a:r>
              <a:rPr lang="" altLang="zh-CN" sz="2800" b="1" kern="1200" dirty="0">
                <a:solidFill>
                  <a:schemeClr val="accent1"/>
                </a:solidFill>
                <a:latin typeface="华文细黑" panose="02010600040101010101" pitchFamily="2" charset="-122"/>
                <a:ea typeface="华文细黑" panose="02010600040101010101" pitchFamily="2" charset="-122"/>
                <a:cs typeface="+mn-cs"/>
              </a:rPr>
              <a:t>/</a:t>
            </a:r>
            <a:r>
              <a:rPr lang="" altLang="en-US" sz="2800" b="1" kern="1200" dirty="0">
                <a:solidFill>
                  <a:schemeClr val="accent1"/>
                </a:solidFill>
                <a:latin typeface="华文细黑" panose="02010600040101010101" pitchFamily="2" charset="-122"/>
                <a:ea typeface="华文细黑" panose="02010600040101010101" pitchFamily="2" charset="-122"/>
                <a:cs typeface="+mn-cs"/>
              </a:rPr>
              <a:t>抽取框架</a:t>
            </a:r>
          </a:p>
          <a:p>
            <a:pPr marL="609600" indent="-609600" defTabSz="685800" eaLnBrk="1" hangingPunct="1"/>
            <a:endParaRPr lang="zh-CN" altLang="en-US" sz="2400" b="1" kern="1200" dirty="0">
              <a:latin typeface="华文细黑" panose="02010600040101010101" pitchFamily="2" charset="-122"/>
              <a:ea typeface="华文细黑" panose="02010600040101010101" pitchFamily="2" charset="-122"/>
              <a:cs typeface="+mn-cs"/>
            </a:endParaRPr>
          </a:p>
          <a:p>
            <a:pPr marL="609600" indent="-609600" defTabSz="685800" eaLnBrk="1" hangingPunct="1">
              <a:buNone/>
            </a:pPr>
            <a:r>
              <a:rPr lang="zh-CN" altLang="en-US" b="1" kern="1200" dirty="0">
                <a:latin typeface="华文细黑" panose="02010600040101010101" pitchFamily="2" charset="-122"/>
                <a:ea typeface="华文细黑" panose="02010600040101010101" pitchFamily="2" charset="-122"/>
                <a:cs typeface="+mn-cs"/>
              </a:rPr>
              <a:t>      </a:t>
            </a:r>
            <a:endParaRPr lang="zh-CN" altLang="en-US" sz="2400" b="1" kern="1200" dirty="0">
              <a:latin typeface="华文细黑" panose="02010600040101010101" pitchFamily="2" charset="-122"/>
              <a:ea typeface="华文细黑" panose="02010600040101010101" pitchFamily="2" charset="-122"/>
              <a:cs typeface="+mn-cs"/>
            </a:endParaRPr>
          </a:p>
        </p:txBody>
      </p:sp>
      <p:sp>
        <p:nvSpPr>
          <p:cNvPr id="65540" name="矩形 75779"/>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3" name="图片 75780"/>
          <p:cNvPicPr>
            <a:picLocks noChangeAspect="1"/>
          </p:cNvPicPr>
          <p:nvPr/>
        </p:nvPicPr>
        <p:blipFill>
          <a:blip r:embed="rId2"/>
          <a:srcRect b="21407"/>
          <a:stretch>
            <a:fillRect/>
          </a:stretch>
        </p:blipFill>
        <p:spPr>
          <a:xfrm>
            <a:off x="1403649" y="2133600"/>
            <a:ext cx="6526116" cy="1664754"/>
          </a:xfrm>
          <a:prstGeom prst="rect">
            <a:avLst/>
          </a:prstGeom>
          <a:noFill/>
          <a:ln w="12700">
            <a:noFill/>
          </a:ln>
        </p:spPr>
      </p:pic>
      <p:pic>
        <p:nvPicPr>
          <p:cNvPr id="75782" name="图片 75781"/>
          <p:cNvPicPr>
            <a:picLocks noChangeAspect="1"/>
          </p:cNvPicPr>
          <p:nvPr/>
        </p:nvPicPr>
        <p:blipFill>
          <a:blip r:embed="rId3"/>
          <a:srcRect b="12567"/>
          <a:stretch>
            <a:fillRect/>
          </a:stretch>
        </p:blipFill>
        <p:spPr>
          <a:xfrm>
            <a:off x="1403648" y="4041774"/>
            <a:ext cx="6526115" cy="2213159"/>
          </a:xfrm>
          <a:prstGeom prst="rect">
            <a:avLst/>
          </a:prstGeom>
          <a:noFill/>
          <a:ln w="12700">
            <a:noFill/>
          </a:ln>
        </p:spPr>
      </p:pic>
      <p:pic>
        <p:nvPicPr>
          <p:cNvPr id="4" name="图片 3">
            <a:extLst>
              <a:ext uri="{FF2B5EF4-FFF2-40B4-BE49-F238E27FC236}">
                <a16:creationId xmlns:a16="http://schemas.microsoft.com/office/drawing/2014/main" id="{16F0EB4F-62BE-F459-4098-A60B66ABD3D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61</a:t>
            </a:fld>
            <a:endParaRPr lang="zh-CN" altLang="en-US" sz="1400" b="0" dirty="0">
              <a:latin typeface="Times New Roman" panose="02020603050405020304" pitchFamily="18" charset="0"/>
              <a:ea typeface="宋体" panose="02010600030101010101" pitchFamily="2" charset="-122"/>
            </a:endParaRPr>
          </a:p>
        </p:txBody>
      </p:sp>
      <p:sp>
        <p:nvSpPr>
          <p:cNvPr id="77826" name="标题 7782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4756" name="文本占位符 77826"/>
          <p:cNvSpPr>
            <a:spLocks noGrp="1" noChangeArrowheads="1"/>
          </p:cNvSpPr>
          <p:nvPr>
            <p:ph idx="1"/>
          </p:nvPr>
        </p:nvSpPr>
        <p:spPr>
          <a:xfrm>
            <a:off x="628650" y="1700808"/>
            <a:ext cx="7888288" cy="4476155"/>
          </a:xfrm>
        </p:spPr>
        <p:txBody>
          <a:bodyPr vert="horz" wrap="square" lIns="91440" tIns="45720" rIns="91440" bIns="45720" numCol="1" anchor="t" anchorCtr="0" compatLnSpc="1"/>
          <a:lstStyle/>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数字水印的分类</a:t>
            </a:r>
          </a:p>
          <a:p>
            <a:pPr marL="0" marR="0" lvl="0" indent="0" algn="l" defTabSz="685800" rtl="0" eaLnBrk="1" fontAlgn="base" latinLnBrk="0" hangingPunct="1">
              <a:lnSpc>
                <a:spcPct val="8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）宿主信息：文本水印、图像水印、视频水印、矢量图水印等。</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）水印嵌入位置：空域数字水印和变换域数字水印。</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）数字水印的性质：鲁棒水印和脆弱水印。鲁棒水印主要用于数字内容信息的版权保护和所有权认定，故应能经受各种可能的攻击；脆弱水印可以进一步分为完全脆弱水印和半脆弱水印。</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pic>
        <p:nvPicPr>
          <p:cNvPr id="2" name="图片 1">
            <a:extLst>
              <a:ext uri="{FF2B5EF4-FFF2-40B4-BE49-F238E27FC236}">
                <a16:creationId xmlns:a16="http://schemas.microsoft.com/office/drawing/2014/main" id="{E8FD6BDF-8FC8-40E0-B103-ADC2DED241A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62</a:t>
            </a:fld>
            <a:endParaRPr lang="zh-CN" altLang="en-US" sz="1400" b="0" dirty="0">
              <a:latin typeface="Times New Roman" panose="02020603050405020304" pitchFamily="18" charset="0"/>
              <a:ea typeface="宋体" panose="02010600030101010101" pitchFamily="2" charset="-122"/>
            </a:endParaRPr>
          </a:p>
        </p:txBody>
      </p:sp>
      <p:sp>
        <p:nvSpPr>
          <p:cNvPr id="117762" name="标题 1177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5780" name="文本占位符 117762"/>
          <p:cNvSpPr>
            <a:spLocks noGrp="1" noChangeArrowheads="1"/>
          </p:cNvSpPr>
          <p:nvPr>
            <p:ph idx="1"/>
          </p:nvPr>
        </p:nvSpPr>
        <p:spPr>
          <a:xfrm>
            <a:off x="628650" y="1700808"/>
            <a:ext cx="7888288" cy="447615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数字水印的分类</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）水印检测是否需要原始载体信息和水印信息：盲检测水印和非盲检测水印。</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5</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）检测方法的角度：水印可以分为私有水印和公开水印。</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6</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）水印载体是否可无损恢复：可逆水印和不可逆水印。</a:t>
            </a:r>
          </a:p>
        </p:txBody>
      </p:sp>
      <p:pic>
        <p:nvPicPr>
          <p:cNvPr id="2" name="图片 1">
            <a:extLst>
              <a:ext uri="{FF2B5EF4-FFF2-40B4-BE49-F238E27FC236}">
                <a16:creationId xmlns:a16="http://schemas.microsoft.com/office/drawing/2014/main" id="{5750B538-5090-DBBE-0CFE-A40A8047FC5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63</a:t>
            </a:fld>
            <a:endParaRPr lang="zh-CN" altLang="en-US" sz="1400" b="0" dirty="0">
              <a:latin typeface="Times New Roman" panose="02020603050405020304" pitchFamily="18" charset="0"/>
              <a:ea typeface="宋体" panose="02010600030101010101" pitchFamily="2" charset="-122"/>
            </a:endParaRPr>
          </a:p>
        </p:txBody>
      </p:sp>
      <p:sp>
        <p:nvSpPr>
          <p:cNvPr id="76802" name="标题 7680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6803" name="内容占位符 76802"/>
          <p:cNvSpPr>
            <a:spLocks noGrp="1" noChangeArrowheads="1"/>
          </p:cNvSpPr>
          <p:nvPr>
            <p:ph idx="1"/>
          </p:nvPr>
        </p:nvSpPr>
        <p:spPr>
          <a:xfrm>
            <a:off x="628650" y="1700808"/>
            <a:ext cx="7888288" cy="447615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数字水印评价指标</a:t>
            </a:r>
          </a:p>
          <a:p>
            <a:pPr marL="0" marR="0" lvl="0" indent="0" algn="l" defTabSz="685800" rtl="0" eaLnBrk="1" fontAlgn="base" latinLnBrk="0" hangingPunct="1">
              <a:lnSpc>
                <a:spcPct val="8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）安全性：水印的信息应是安全的，难以篡改或伪造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）隐蔽性：数字水印应是不可知觉的，而且应不影响被保护数据的正常使用 。衡量隐蔽性的客观标准有均方误差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MSE</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mean-square error</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）和信噪比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SNR</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Signal-to-noise radio</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）和峰值信噪比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PSNR</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609600" marR="0" lvl="0" indent="5580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
        <p:nvSpPr>
          <p:cNvPr id="68612" name="矩形 76803"/>
          <p:cNvSpPr/>
          <p:nvPr/>
        </p:nvSpPr>
        <p:spPr>
          <a:xfrm>
            <a:off x="0" y="3314700"/>
            <a:ext cx="9144000" cy="1588"/>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68613" name="矩形 76810"/>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76810" name="对象 76809"/>
          <p:cNvGraphicFramePr/>
          <p:nvPr>
            <p:extLst>
              <p:ext uri="{D42A27DB-BD31-4B8C-83A1-F6EECF244321}">
                <p14:modId xmlns:p14="http://schemas.microsoft.com/office/powerpoint/2010/main" val="1481011804"/>
              </p:ext>
            </p:extLst>
          </p:nvPr>
        </p:nvGraphicFramePr>
        <p:xfrm>
          <a:off x="1331640" y="5229171"/>
          <a:ext cx="4271963" cy="798513"/>
        </p:xfrm>
        <a:graphic>
          <a:graphicData uri="http://schemas.openxmlformats.org/presentationml/2006/ole">
            <mc:AlternateContent xmlns:mc="http://schemas.openxmlformats.org/markup-compatibility/2006">
              <mc:Choice xmlns:v="urn:schemas-microsoft-com:vml" Requires="v">
                <p:oleObj r:id="rId2" imgW="2387600" imgH="444500" progId="Equation.DSMT4">
                  <p:embed/>
                </p:oleObj>
              </mc:Choice>
              <mc:Fallback>
                <p:oleObj r:id="rId2" imgW="2387600" imgH="444500" progId="Equation.DSMT4">
                  <p:embed/>
                  <p:pic>
                    <p:nvPicPr>
                      <p:cNvPr id="0" name="图片 3080"/>
                      <p:cNvPicPr/>
                      <p:nvPr/>
                    </p:nvPicPr>
                    <p:blipFill>
                      <a:blip r:embed="rId3"/>
                      <a:stretch>
                        <a:fillRect/>
                      </a:stretch>
                    </p:blipFill>
                    <p:spPr>
                      <a:xfrm>
                        <a:off x="1331640" y="5229171"/>
                        <a:ext cx="4271963" cy="798513"/>
                      </a:xfrm>
                      <a:prstGeom prst="rect">
                        <a:avLst/>
                      </a:prstGeom>
                      <a:noFill/>
                      <a:ln w="38100">
                        <a:noFill/>
                        <a:miter/>
                      </a:ln>
                    </p:spPr>
                  </p:pic>
                </p:oleObj>
              </mc:Fallback>
            </mc:AlternateContent>
          </a:graphicData>
        </a:graphic>
      </p:graphicFrame>
      <p:sp>
        <p:nvSpPr>
          <p:cNvPr id="68615" name="矩形 76812"/>
          <p:cNvSpPr/>
          <p:nvPr/>
        </p:nvSpPr>
        <p:spPr>
          <a:xfrm>
            <a:off x="0" y="32004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76812" name="对象 76811"/>
          <p:cNvGraphicFramePr/>
          <p:nvPr>
            <p:extLst>
              <p:ext uri="{D42A27DB-BD31-4B8C-83A1-F6EECF244321}">
                <p14:modId xmlns:p14="http://schemas.microsoft.com/office/powerpoint/2010/main" val="4231537752"/>
              </p:ext>
            </p:extLst>
          </p:nvPr>
        </p:nvGraphicFramePr>
        <p:xfrm>
          <a:off x="3269457" y="5610225"/>
          <a:ext cx="4217987" cy="798513"/>
        </p:xfrm>
        <a:graphic>
          <a:graphicData uri="http://schemas.openxmlformats.org/presentationml/2006/ole">
            <mc:AlternateContent xmlns:mc="http://schemas.openxmlformats.org/markup-compatibility/2006">
              <mc:Choice xmlns:v="urn:schemas-microsoft-com:vml" Requires="v">
                <p:oleObj r:id="rId4" imgW="2348230" imgH="444500" progId="Equation.DSMT4">
                  <p:embed/>
                </p:oleObj>
              </mc:Choice>
              <mc:Fallback>
                <p:oleObj r:id="rId4" imgW="2348230" imgH="444500" progId="Equation.DSMT4">
                  <p:embed/>
                  <p:pic>
                    <p:nvPicPr>
                      <p:cNvPr id="0" name="图片 3081"/>
                      <p:cNvPicPr/>
                      <p:nvPr/>
                    </p:nvPicPr>
                    <p:blipFill>
                      <a:blip r:embed="rId5"/>
                      <a:stretch>
                        <a:fillRect/>
                      </a:stretch>
                    </p:blipFill>
                    <p:spPr>
                      <a:xfrm>
                        <a:off x="3269457" y="5610225"/>
                        <a:ext cx="4217987" cy="798513"/>
                      </a:xfrm>
                      <a:prstGeom prst="rect">
                        <a:avLst/>
                      </a:prstGeom>
                      <a:noFill/>
                      <a:ln w="38100">
                        <a:noFill/>
                        <a:miter/>
                      </a:ln>
                    </p:spPr>
                  </p:pic>
                </p:oleObj>
              </mc:Fallback>
            </mc:AlternateContent>
          </a:graphicData>
        </a:graphic>
      </p:graphicFrame>
      <p:sp>
        <p:nvSpPr>
          <p:cNvPr id="68617" name="矩形 76814"/>
          <p:cNvSpPr/>
          <p:nvPr/>
        </p:nvSpPr>
        <p:spPr>
          <a:xfrm>
            <a:off x="0" y="321945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76814" name="对象 76813"/>
          <p:cNvGraphicFramePr/>
          <p:nvPr>
            <p:extLst>
              <p:ext uri="{D42A27DB-BD31-4B8C-83A1-F6EECF244321}">
                <p14:modId xmlns:p14="http://schemas.microsoft.com/office/powerpoint/2010/main" val="1962820896"/>
              </p:ext>
            </p:extLst>
          </p:nvPr>
        </p:nvGraphicFramePr>
        <p:xfrm>
          <a:off x="4403453" y="5063570"/>
          <a:ext cx="2400300" cy="755650"/>
        </p:xfrm>
        <a:graphic>
          <a:graphicData uri="http://schemas.openxmlformats.org/presentationml/2006/ole">
            <mc:AlternateContent xmlns:mc="http://schemas.openxmlformats.org/markup-compatibility/2006">
              <mc:Choice xmlns:v="urn:schemas-microsoft-com:vml" Requires="v">
                <p:oleObj r:id="rId6" imgW="1333500" imgH="419100" progId="Equation.DSMT4">
                  <p:embed/>
                </p:oleObj>
              </mc:Choice>
              <mc:Fallback>
                <p:oleObj r:id="rId6" imgW="1333500" imgH="419100" progId="Equation.DSMT4">
                  <p:embed/>
                  <p:pic>
                    <p:nvPicPr>
                      <p:cNvPr id="0" name="图片 3082"/>
                      <p:cNvPicPr/>
                      <p:nvPr/>
                    </p:nvPicPr>
                    <p:blipFill>
                      <a:blip r:embed="rId7"/>
                      <a:stretch>
                        <a:fillRect/>
                      </a:stretch>
                    </p:blipFill>
                    <p:spPr>
                      <a:xfrm>
                        <a:off x="4403453" y="5063570"/>
                        <a:ext cx="2400300" cy="755650"/>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86ACB04B-E7E3-7785-6A71-1E98686D06B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8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68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8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68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8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7681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68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64</a:t>
            </a:fld>
            <a:endParaRPr lang="zh-CN" altLang="en-US" sz="1400" b="0" dirty="0">
              <a:latin typeface="Times New Roman" panose="02020603050405020304" pitchFamily="18" charset="0"/>
              <a:ea typeface="宋体" panose="02010600030101010101" pitchFamily="2" charset="-122"/>
            </a:endParaRPr>
          </a:p>
        </p:txBody>
      </p:sp>
      <p:sp>
        <p:nvSpPr>
          <p:cNvPr id="118786" name="标题 1187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6804" name="文本占位符 118786"/>
          <p:cNvSpPr>
            <a:spLocks noGrp="1" noChangeArrowheads="1"/>
          </p:cNvSpPr>
          <p:nvPr>
            <p:ph idx="1"/>
          </p:nvPr>
        </p:nvSpPr>
        <p:spPr>
          <a:xfrm>
            <a:off x="628650" y="1700808"/>
            <a:ext cx="7888288" cy="433213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数字水印评价指标</a:t>
            </a:r>
          </a:p>
          <a:p>
            <a:pPr marL="0" marR="0" lvl="0" indent="0" algn="l" defTabSz="685800" rtl="0" eaLnBrk="1" fontAlgn="base" latinLnBrk="0" hangingPunct="1">
              <a:lnSpc>
                <a:spcPct val="8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）鲁棒性：指在经历多种有意或无意的信号处理操作后，数字水印仍能保持部分完整性并能被准确鉴别。</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）水印容量：嵌入的水印信息必须足以表示数字内容的创建者或所有者的标志信息，或购买者的序列号，这样有利于保护数字产权合法拥有者的利益。 </a:t>
            </a:r>
            <a:endPar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69636" name="矩形 118787"/>
          <p:cNvSpPr/>
          <p:nvPr/>
        </p:nvSpPr>
        <p:spPr>
          <a:xfrm>
            <a:off x="0" y="3314700"/>
            <a:ext cx="9144000" cy="1588"/>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69637" name="矩形 118788"/>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69638" name="矩形 118790"/>
          <p:cNvSpPr/>
          <p:nvPr/>
        </p:nvSpPr>
        <p:spPr>
          <a:xfrm>
            <a:off x="0" y="32004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69639" name="矩形 118792"/>
          <p:cNvSpPr/>
          <p:nvPr/>
        </p:nvSpPr>
        <p:spPr>
          <a:xfrm>
            <a:off x="0" y="321945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FF3EC3C1-20B7-4969-5D35-F7CD636D6A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65</a:t>
            </a:fld>
            <a:endParaRPr lang="zh-CN" altLang="en-US" sz="1400" b="0" dirty="0">
              <a:latin typeface="Times New Roman" panose="02020603050405020304" pitchFamily="18" charset="0"/>
              <a:ea typeface="宋体" panose="02010600030101010101" pitchFamily="2" charset="-122"/>
            </a:endParaRPr>
          </a:p>
        </p:txBody>
      </p:sp>
      <p:sp>
        <p:nvSpPr>
          <p:cNvPr id="78850" name="标题 788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7828" name="文本占位符 78850"/>
          <p:cNvSpPr>
            <a:spLocks noGrp="1" noChangeArrowheads="1"/>
          </p:cNvSpPr>
          <p:nvPr>
            <p:ph idx="1"/>
          </p:nvPr>
        </p:nvSpPr>
        <p:spPr>
          <a:xfrm>
            <a:off x="628650" y="1700808"/>
            <a:ext cx="7888288" cy="447615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数字水印的攻击方法</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0"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水印攻击与密码攻击一样，包括主动攻击和被动攻击。</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主动攻击的目的并不是破解数字水印，而是篡改或破坏水印，使合法用户也不能读取水印信息。而被动攻击则试图破解数字水印算法。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）解释攻击及对策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）信号处理攻击及其对策</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）分析攻击及对策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）表达攻击及对策</a:t>
            </a:r>
          </a:p>
        </p:txBody>
      </p:sp>
      <p:pic>
        <p:nvPicPr>
          <p:cNvPr id="2" name="图片 1">
            <a:extLst>
              <a:ext uri="{FF2B5EF4-FFF2-40B4-BE49-F238E27FC236}">
                <a16:creationId xmlns:a16="http://schemas.microsoft.com/office/drawing/2014/main" id="{9FE2627A-625F-FD95-D1EA-E7291B33C32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66</a:t>
            </a:fld>
            <a:endParaRPr lang="zh-CN" altLang="en-US" sz="1400" b="0" dirty="0">
              <a:latin typeface="Times New Roman" panose="02020603050405020304" pitchFamily="18" charset="0"/>
              <a:ea typeface="宋体" panose="02010600030101010101" pitchFamily="2" charset="-122"/>
            </a:endParaRPr>
          </a:p>
        </p:txBody>
      </p:sp>
      <p:sp>
        <p:nvSpPr>
          <p:cNvPr id="119810" name="标题 1198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8852" name="文本占位符 119810"/>
          <p:cNvSpPr>
            <a:spLocks noGrp="1" noChangeArrowheads="1"/>
          </p:cNvSpPr>
          <p:nvPr>
            <p:ph idx="1"/>
          </p:nvPr>
        </p:nvSpPr>
        <p:spPr>
          <a:xfrm>
            <a:off x="628650" y="1628800"/>
            <a:ext cx="7888288" cy="454816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版权保护数字水印技术</a:t>
            </a:r>
          </a:p>
          <a:p>
            <a:pPr marL="0" marR="0" lvl="0" indent="0" algn="l" defTabSz="685800" rtl="0" eaLnBrk="1" fontAlgn="base" latinLnBrk="0" hangingPunct="1">
              <a:lnSpc>
                <a:spcPct val="8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至今还没有一个数字水印的最终技术标准，但数据隐藏小组（</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DHSG</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）已经明确了用于版权保护的数字水印必须满足的一些基本条件：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）隐藏于数字作品中且不可感知；</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）可以被专用的数字电路识别；</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）不必获取完整数据，仅从数据流中即可检测到数字水印。</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endParaRPr kumimoji="0" lang="en-US" altLang="zh-CN" sz="2800" b="0"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2" name="图片 1">
            <a:extLst>
              <a:ext uri="{FF2B5EF4-FFF2-40B4-BE49-F238E27FC236}">
                <a16:creationId xmlns:a16="http://schemas.microsoft.com/office/drawing/2014/main" id="{08076AC1-DEDF-8E11-C62C-7F29F3DA669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67</a:t>
            </a:fld>
            <a:endParaRPr lang="zh-CN" altLang="en-US" sz="1400" b="0" dirty="0">
              <a:latin typeface="Times New Roman" panose="02020603050405020304" pitchFamily="18" charset="0"/>
              <a:ea typeface="宋体" panose="02010600030101010101" pitchFamily="2" charset="-122"/>
            </a:endParaRPr>
          </a:p>
        </p:txBody>
      </p:sp>
      <p:sp>
        <p:nvSpPr>
          <p:cNvPr id="120834" name="标题 1208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9876" name="文本占位符 120834"/>
          <p:cNvSpPr>
            <a:spLocks noGrp="1" noChangeArrowheads="1"/>
          </p:cNvSpPr>
          <p:nvPr>
            <p:ph idx="1"/>
          </p:nvPr>
        </p:nvSpPr>
        <p:spPr>
          <a:xfrm>
            <a:off x="628650" y="1628800"/>
            <a:ext cx="7888288" cy="4404147"/>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版权保护数字水印技术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）可以标记“未曾复制”、“只可复制一次”和“不能再复制”等复制信息</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5</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）漏检概率低；</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6</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）水印内容（字段）的设计必须合理；</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7</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）必须使用成熟的技术嵌入或检测水印。 </a:t>
            </a:r>
          </a:p>
        </p:txBody>
      </p:sp>
      <p:pic>
        <p:nvPicPr>
          <p:cNvPr id="2" name="图片 1">
            <a:extLst>
              <a:ext uri="{FF2B5EF4-FFF2-40B4-BE49-F238E27FC236}">
                <a16:creationId xmlns:a16="http://schemas.microsoft.com/office/drawing/2014/main" id="{785B1EBA-09C2-E11B-A449-BBBFD167E56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68</a:t>
            </a:fld>
            <a:endParaRPr lang="zh-CN" altLang="en-US" sz="1400" b="0" dirty="0">
              <a:latin typeface="Times New Roman" panose="02020603050405020304" pitchFamily="18" charset="0"/>
              <a:ea typeface="宋体" panose="02010600030101010101" pitchFamily="2" charset="-122"/>
            </a:endParaRPr>
          </a:p>
        </p:txBody>
      </p:sp>
      <p:sp>
        <p:nvSpPr>
          <p:cNvPr id="81922" name="标题 819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1923" name="内容占位符 81922"/>
          <p:cNvSpPr>
            <a:spLocks noGrp="1" noChangeArrowheads="1"/>
          </p:cNvSpPr>
          <p:nvPr>
            <p:ph idx="1"/>
          </p:nvPr>
        </p:nvSpPr>
        <p:spPr>
          <a:xfrm>
            <a:off x="628650" y="1628800"/>
            <a:ext cx="7888288" cy="454816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内容认证数字水印技术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内容认证数字水印要检测出篡改位置并进行定位，嵌入过程：先对原始载体进行特征提取并以此来构造水印信息，再将水印信息嵌入到原始载体中得到嵌入水印后的受保护数字内容。</a:t>
            </a:r>
          </a:p>
        </p:txBody>
      </p:sp>
      <p:pic>
        <p:nvPicPr>
          <p:cNvPr id="81926" name="图片 81925"/>
          <p:cNvPicPr>
            <a:picLocks noChangeAspect="1"/>
          </p:cNvPicPr>
          <p:nvPr/>
        </p:nvPicPr>
        <p:blipFill>
          <a:blip r:embed="rId2"/>
          <a:srcRect b="14796"/>
          <a:stretch>
            <a:fillRect/>
          </a:stretch>
        </p:blipFill>
        <p:spPr>
          <a:xfrm>
            <a:off x="1871663" y="4137074"/>
            <a:ext cx="6743552" cy="2244254"/>
          </a:xfrm>
          <a:prstGeom prst="rect">
            <a:avLst/>
          </a:prstGeom>
          <a:noFill/>
          <a:ln w="12700">
            <a:noFill/>
          </a:ln>
        </p:spPr>
      </p:pic>
      <p:pic>
        <p:nvPicPr>
          <p:cNvPr id="2" name="图片 1">
            <a:extLst>
              <a:ext uri="{FF2B5EF4-FFF2-40B4-BE49-F238E27FC236}">
                <a16:creationId xmlns:a16="http://schemas.microsoft.com/office/drawing/2014/main" id="{4A56A8B1-A26A-8F8F-5C99-1464000AC68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19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69</a:t>
            </a:fld>
            <a:endParaRPr lang="zh-CN" altLang="en-US" sz="1400" b="0" dirty="0">
              <a:latin typeface="Times New Roman" panose="02020603050405020304" pitchFamily="18" charset="0"/>
              <a:ea typeface="宋体" panose="02010600030101010101" pitchFamily="2" charset="-122"/>
            </a:endParaRPr>
          </a:p>
        </p:txBody>
      </p:sp>
      <p:sp>
        <p:nvSpPr>
          <p:cNvPr id="121858" name="标题 1218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21859" name="内容占位符 121858"/>
          <p:cNvSpPr>
            <a:spLocks noGrp="1" noChangeArrowheads="1"/>
          </p:cNvSpPr>
          <p:nvPr>
            <p:ph idx="1"/>
          </p:nvPr>
        </p:nvSpPr>
        <p:spPr>
          <a:xfrm>
            <a:off x="628650" y="1462088"/>
            <a:ext cx="7888288" cy="5029199"/>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内容认证数字水印技术</a:t>
            </a:r>
          </a:p>
          <a:p>
            <a:pPr marL="0" marR="0" lvl="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图像内容认证过程如图所示。认证时，根据密钥提取出受保护图像中的水印信息。然后将提取出来的水印信息与原始水印信息相比较，若二者一致，则图像未被更改；若二者不一致，则认为图像已被更改，并给出有关图像改动的详细信息。</a:t>
            </a:r>
          </a:p>
        </p:txBody>
      </p:sp>
      <p:pic>
        <p:nvPicPr>
          <p:cNvPr id="121861" name="图片 121860"/>
          <p:cNvPicPr>
            <a:picLocks noChangeAspect="1"/>
          </p:cNvPicPr>
          <p:nvPr/>
        </p:nvPicPr>
        <p:blipFill>
          <a:blip r:embed="rId2"/>
          <a:srcRect b="15599"/>
          <a:stretch>
            <a:fillRect/>
          </a:stretch>
        </p:blipFill>
        <p:spPr>
          <a:xfrm>
            <a:off x="1727200" y="1989138"/>
            <a:ext cx="5638800" cy="2268537"/>
          </a:xfrm>
          <a:prstGeom prst="rect">
            <a:avLst/>
          </a:prstGeom>
          <a:noFill/>
          <a:ln w="12700">
            <a:noFill/>
          </a:ln>
        </p:spPr>
      </p:pic>
      <p:pic>
        <p:nvPicPr>
          <p:cNvPr id="2" name="图片 1">
            <a:extLst>
              <a:ext uri="{FF2B5EF4-FFF2-40B4-BE49-F238E27FC236}">
                <a16:creationId xmlns:a16="http://schemas.microsoft.com/office/drawing/2014/main" id="{A2B45C4A-7D8B-0568-BE81-E51C5DDC05A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5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70</a:t>
            </a:fld>
            <a:endParaRPr lang="zh-CN" altLang="en-US" sz="1400" b="0" dirty="0">
              <a:latin typeface="Times New Roman" panose="02020603050405020304" pitchFamily="18" charset="0"/>
              <a:ea typeface="宋体" panose="02010600030101010101" pitchFamily="2" charset="-122"/>
            </a:endParaRPr>
          </a:p>
        </p:txBody>
      </p:sp>
      <p:sp>
        <p:nvSpPr>
          <p:cNvPr id="2" name="标题 8294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2948" name="文本占位符 82946"/>
          <p:cNvSpPr>
            <a:spLocks noGrp="1" noChangeArrowheads="1"/>
          </p:cNvSpPr>
          <p:nvPr>
            <p:ph idx="1"/>
          </p:nvPr>
        </p:nvSpPr>
        <p:spPr>
          <a:xfrm>
            <a:off x="628650" y="1916832"/>
            <a:ext cx="7888288" cy="4260131"/>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可逆水印技术</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可逆数字水印（</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Reversible watermark</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技术属于数字水印技术的一个分支，目前大多数数字水印的方法在提取出所嵌入的秘密信息后，原宿主信息不能无损恢复，属于有损数字水印技术。但是在一些要求较高的场合，如医学诊断、军事图像、遥感图像处理及法律认证及证据等领域，则往往需要精确地恢复原载体。 </a:t>
            </a:r>
          </a:p>
        </p:txBody>
      </p:sp>
      <p:pic>
        <p:nvPicPr>
          <p:cNvPr id="3" name="图片 2">
            <a:extLst>
              <a:ext uri="{FF2B5EF4-FFF2-40B4-BE49-F238E27FC236}">
                <a16:creationId xmlns:a16="http://schemas.microsoft.com/office/drawing/2014/main" id="{363182AC-AF20-201B-4702-86704DFF26A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71</a:t>
            </a:fld>
            <a:endParaRPr lang="zh-CN" altLang="en-US" sz="1400" b="0" dirty="0">
              <a:latin typeface="Times New Roman" panose="02020603050405020304" pitchFamily="18" charset="0"/>
              <a:ea typeface="宋体" panose="02010600030101010101" pitchFamily="2" charset="-122"/>
            </a:endParaRPr>
          </a:p>
        </p:txBody>
      </p:sp>
      <p:sp>
        <p:nvSpPr>
          <p:cNvPr id="122882" name="标题 1228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3972" name="文本占位符 122882"/>
          <p:cNvSpPr>
            <a:spLocks noGrp="1" noChangeArrowheads="1"/>
          </p:cNvSpPr>
          <p:nvPr>
            <p:ph idx="1"/>
          </p:nvPr>
        </p:nvSpPr>
        <p:spPr>
          <a:xfrm>
            <a:off x="628650" y="1700808"/>
            <a:ext cx="7888288" cy="447615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可逆数字水印评价指标</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可逆数字水印的主要有两方面的性能评价：畸变程度和嵌入率（隐藏量）。</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）畸变程度：评价秘密信息嵌入后的畸变程度有两种方式，一种是主观评价法，另一个是客观评价法。</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主观评价法将人对载体的感觉分为几个等级，该方法易受到评价者主观因素的影响；常用的客观评价方法主要有均方差和峰值信噪比。</a:t>
            </a:r>
            <a:endParaRPr kumimoji="0" lang="zh-CN" altLang="en-US" sz="2800" b="0"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2" name="图片 1">
            <a:extLst>
              <a:ext uri="{FF2B5EF4-FFF2-40B4-BE49-F238E27FC236}">
                <a16:creationId xmlns:a16="http://schemas.microsoft.com/office/drawing/2014/main" id="{4C0FDB73-F566-1817-C087-29E02C77E12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72</a:t>
            </a:fld>
            <a:endParaRPr lang="zh-CN" altLang="en-US" sz="1400" b="0" dirty="0">
              <a:latin typeface="Times New Roman" panose="02020603050405020304" pitchFamily="18" charset="0"/>
              <a:ea typeface="宋体" panose="02010600030101010101" pitchFamily="2" charset="-122"/>
            </a:endParaRPr>
          </a:p>
        </p:txBody>
      </p:sp>
      <p:sp>
        <p:nvSpPr>
          <p:cNvPr id="123906" name="标题 1239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197" name="文本占位符 123906"/>
          <p:cNvSpPr>
            <a:spLocks noGrp="1" noChangeArrowheads="1"/>
          </p:cNvSpPr>
          <p:nvPr>
            <p:ph idx="1"/>
          </p:nvPr>
        </p:nvSpPr>
        <p:spPr>
          <a:xfrm>
            <a:off x="628650" y="1700808"/>
            <a:ext cx="7888288" cy="4404146"/>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可逆数字水印评价指标</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mn-lt"/>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嵌入率：嵌入量就是嵌入到载体中的秘密信息的比特数。嵌入量可以分为实际嵌入量和有效嵌入量。实际嵌入量即数字水印方法本身可嵌入的比特数，而有效嵌入量是指实际可隐藏的嵌入量再减去附加信息的信息量。</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常用的有效嵌入量的指标是嵌入率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ER</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，其表达式为：</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7828" name="矩形 123908"/>
          <p:cNvSpPr/>
          <p:nvPr/>
        </p:nvSpPr>
        <p:spPr>
          <a:xfrm>
            <a:off x="0" y="320516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77829" name="对象 123907"/>
          <p:cNvGraphicFramePr/>
          <p:nvPr>
            <p:extLst>
              <p:ext uri="{D42A27DB-BD31-4B8C-83A1-F6EECF244321}">
                <p14:modId xmlns:p14="http://schemas.microsoft.com/office/powerpoint/2010/main" val="2300386949"/>
              </p:ext>
            </p:extLst>
          </p:nvPr>
        </p:nvGraphicFramePr>
        <p:xfrm>
          <a:off x="2044700" y="5273129"/>
          <a:ext cx="5149850" cy="892175"/>
        </p:xfrm>
        <a:graphic>
          <a:graphicData uri="http://schemas.openxmlformats.org/presentationml/2006/ole">
            <mc:AlternateContent xmlns:mc="http://schemas.openxmlformats.org/markup-compatibility/2006">
              <mc:Choice xmlns:v="urn:schemas-microsoft-com:vml" Requires="v">
                <p:oleObj r:id="rId2" imgW="2589530" imgH="444500" progId="Equation.DSMT4">
                  <p:embed/>
                </p:oleObj>
              </mc:Choice>
              <mc:Fallback>
                <p:oleObj r:id="rId2" imgW="2589530" imgH="444500" progId="Equation.DSMT4">
                  <p:embed/>
                  <p:pic>
                    <p:nvPicPr>
                      <p:cNvPr id="0" name="图片 3083"/>
                      <p:cNvPicPr/>
                      <p:nvPr/>
                    </p:nvPicPr>
                    <p:blipFill>
                      <a:blip r:embed="rId3"/>
                      <a:stretch>
                        <a:fillRect/>
                      </a:stretch>
                    </p:blipFill>
                    <p:spPr>
                      <a:xfrm>
                        <a:off x="2044700" y="5273129"/>
                        <a:ext cx="5149850" cy="892175"/>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64D52D01-72FE-7BED-06E2-F9E29158671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73</a:t>
            </a:fld>
            <a:endParaRPr lang="zh-CN" altLang="en-US" sz="1400" b="0" dirty="0">
              <a:latin typeface="Times New Roman" panose="02020603050405020304" pitchFamily="18" charset="0"/>
              <a:ea typeface="宋体" panose="02010600030101010101" pitchFamily="2" charset="-122"/>
            </a:endParaRPr>
          </a:p>
        </p:txBody>
      </p:sp>
      <p:sp>
        <p:nvSpPr>
          <p:cNvPr id="83970" name="标题 839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4996" name="文本占位符 83970"/>
          <p:cNvSpPr>
            <a:spLocks noGrp="1" noChangeArrowheads="1"/>
          </p:cNvSpPr>
          <p:nvPr>
            <p:ph idx="1"/>
          </p:nvPr>
        </p:nvSpPr>
        <p:spPr>
          <a:xfrm>
            <a:off x="628650" y="1700808"/>
            <a:ext cx="7888288" cy="447615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可逆数字水印技术分类</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）基于无损压缩的可逆数字水印方法</a:t>
            </a: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）基于差值扩展的可逆数字水印方法</a:t>
            </a: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）基于直方图修改的可逆数字水印方法</a:t>
            </a: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2" name="图片 1">
            <a:extLst>
              <a:ext uri="{FF2B5EF4-FFF2-40B4-BE49-F238E27FC236}">
                <a16:creationId xmlns:a16="http://schemas.microsoft.com/office/drawing/2014/main" id="{69C29C48-0AC2-A333-98DF-78F29B69C80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74</a:t>
            </a:fld>
            <a:endParaRPr lang="zh-CN" altLang="en-US" sz="1400" b="0" dirty="0">
              <a:latin typeface="Times New Roman" panose="02020603050405020304" pitchFamily="18" charset="0"/>
              <a:ea typeface="宋体" panose="02010600030101010101" pitchFamily="2" charset="-122"/>
            </a:endParaRPr>
          </a:p>
        </p:txBody>
      </p:sp>
      <p:sp>
        <p:nvSpPr>
          <p:cNvPr id="124930" name="标题 1249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6020" name="文本占位符 124930"/>
          <p:cNvSpPr>
            <a:spLocks noGrp="1" noChangeArrowheads="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基于差分扩展的可逆水印技术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基本思路：将秘密信息嵌入在整数小波域的高频系数</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差值</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上，为了防止逆变换后的数据溢出问题的出现，取合适的高频系数，并且采用差值扩展的方式实现秘密信息的嵌入。</a:t>
            </a:r>
            <a:endPar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此外，为了实现原始载体图像的无损恢复，嵌入的位置图记录了秘密信息嵌入的位置。</a:t>
            </a:r>
            <a:endParaRPr kumimoji="0" lang="zh-CN" altLang="en-US" sz="2400" b="1" i="0" u="none" strike="noStrike" kern="1200" cap="none" spc="0" normalizeH="0" baseline="0" noProof="0" dirty="0">
              <a:ln>
                <a:noFill/>
              </a:ln>
              <a:solidFill>
                <a:schemeClr val="tx1"/>
              </a:solidFill>
              <a:effectLst/>
              <a:uLnTx/>
              <a:uFillTx/>
              <a:latin typeface="+mn-lt"/>
              <a:ea typeface="华文细黑" panose="02010600040101010101" pitchFamily="2" charset="-122"/>
              <a:cs typeface="+mn-cs"/>
            </a:endParaRPr>
          </a:p>
        </p:txBody>
      </p:sp>
      <p:sp>
        <p:nvSpPr>
          <p:cNvPr id="79876" name="矩形 12493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4667FD0F-39B5-4725-9645-93441C3C618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75</a:t>
            </a:fld>
            <a:endParaRPr lang="zh-CN" altLang="en-US" sz="1400" b="0" dirty="0">
              <a:latin typeface="Times New Roman" panose="02020603050405020304" pitchFamily="18" charset="0"/>
              <a:ea typeface="宋体" panose="02010600030101010101" pitchFamily="2" charset="-122"/>
            </a:endParaRPr>
          </a:p>
        </p:txBody>
      </p:sp>
      <p:sp>
        <p:nvSpPr>
          <p:cNvPr id="87042" name="标题 870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79875" name="文本占位符 87042"/>
          <p:cNvSpPr>
            <a:spLocks noGrp="1" noChangeArrowheads="1"/>
          </p:cNvSpPr>
          <p:nvPr>
            <p:ph idx="1"/>
          </p:nvPr>
        </p:nvSpPr>
        <p:spPr/>
        <p:txBody>
          <a:bodyPr vert="horz" wrap="square" lIns="91440" tIns="45720" rIns="91440" bIns="45720" numCol="1" rtlCol="0" anchor="t" anchorCtr="0" compatLnSpc="1">
            <a:normAutofit fontScale="775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3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基于差分扩展的可逆水印技术</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70000"/>
              </a:lnSpc>
              <a:spcBef>
                <a:spcPts val="600"/>
              </a:spcBef>
              <a:spcAft>
                <a:spcPct val="0"/>
              </a:spcAft>
              <a:buClr>
                <a:schemeClr val="accent1"/>
              </a:buClr>
              <a:buSzTx/>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以图像为例，差值扩展的可逆水印方法的基本步骤：</a:t>
            </a:r>
          </a:p>
          <a:p>
            <a:pPr marL="0" marR="0" lvl="0" indent="558000" algn="l" defTabSz="685800" rtl="0" eaLnBrk="1" fontAlgn="base" latinLnBrk="0" hangingPunct="1">
              <a:lnSpc>
                <a:spcPct val="170000"/>
              </a:lnSpc>
              <a:spcBef>
                <a:spcPts val="600"/>
              </a:spcBef>
              <a:spcAft>
                <a:spcPct val="0"/>
              </a:spcAft>
              <a:buClr>
                <a:schemeClr val="accent1"/>
              </a:buClr>
              <a:buSzTx/>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将图像分成像素点对</a:t>
            </a:r>
            <a:r>
              <a:rPr kumimoji="0" lang="en-US" altLang="zh-CN" sz="28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(x, y)  </a:t>
            </a:r>
            <a:r>
              <a:rPr kumimoji="0" lang="en-US" altLang="zh-CN" sz="2800" b="1" i="1"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x,y</a:t>
            </a:r>
            <a:r>
              <a:rPr kumimoji="0" lang="en-US" altLang="zh-CN" sz="28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 Z , 0≤x,y≤255</a:t>
            </a: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。根据下式定义其整数均值 </a:t>
            </a:r>
            <a:r>
              <a:rPr kumimoji="0" lang="en-US" altLang="zh-CN" sz="28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l  </a:t>
            </a: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和差值 </a:t>
            </a:r>
            <a:r>
              <a:rPr kumimoji="0" lang="en-US" altLang="zh-CN" sz="28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en-US" altLang="zh-CN"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58000" algn="l" defTabSz="685800" rtl="0" eaLnBrk="1" fontAlgn="base" latinLnBrk="0" hangingPunct="1">
              <a:lnSpc>
                <a:spcPct val="170000"/>
              </a:lnSpc>
              <a:spcBef>
                <a:spcPts val="600"/>
              </a:spcBef>
              <a:spcAft>
                <a:spcPct val="0"/>
              </a:spcAft>
              <a:buClr>
                <a:schemeClr val="accent1"/>
              </a:buClr>
              <a:buSzTx/>
              <a:buFont typeface="Wingdings" panose="05000000000000000000" pitchFamily="2" charset="2"/>
              <a:buNone/>
              <a:defRPr/>
            </a:pPr>
            <a:r>
              <a:rPr kumimoji="0" lang="zh-CN" altLang="en-US" sz="2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70000"/>
              </a:lnSpc>
              <a:spcBef>
                <a:spcPts val="600"/>
              </a:spcBef>
              <a:spcAft>
                <a:spcPct val="0"/>
              </a:spcAft>
              <a:buClr>
                <a:schemeClr val="accent1"/>
              </a:buClr>
              <a:buSzTx/>
              <a:buFont typeface="Wingdings" panose="05000000000000000000" pitchFamily="2" charset="2"/>
              <a:buNone/>
              <a:defRPr/>
            </a:pPr>
            <a:endParaRPr kumimoji="0" lang="zh-CN" altLang="en-US" sz="2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70000"/>
              </a:lnSpc>
              <a:spcBef>
                <a:spcPts val="600"/>
              </a:spcBef>
              <a:spcAft>
                <a:spcPct val="0"/>
              </a:spcAft>
              <a:buClr>
                <a:schemeClr val="accent1"/>
              </a:buClr>
              <a:buSzTx/>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将秘密比特信息 </a:t>
            </a:r>
            <a:r>
              <a:rPr kumimoji="0" lang="en-US" altLang="zh-CN" sz="28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m </a:t>
            </a: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以差值扩展的方法嵌入到差值 </a:t>
            </a:r>
            <a:r>
              <a:rPr kumimoji="0" lang="en-US" altLang="zh-CN" sz="28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 </a:t>
            </a: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中：</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p:txBody>
      </p:sp>
      <p:sp>
        <p:nvSpPr>
          <p:cNvPr id="80900" name="矩形 87043"/>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0901" name="矩形 87048"/>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0902" name="对象 87047"/>
          <p:cNvGraphicFramePr/>
          <p:nvPr>
            <p:extLst>
              <p:ext uri="{D42A27DB-BD31-4B8C-83A1-F6EECF244321}">
                <p14:modId xmlns:p14="http://schemas.microsoft.com/office/powerpoint/2010/main" val="1114355813"/>
              </p:ext>
            </p:extLst>
          </p:nvPr>
        </p:nvGraphicFramePr>
        <p:xfrm>
          <a:off x="2339975" y="3860800"/>
          <a:ext cx="1622425" cy="944563"/>
        </p:xfrm>
        <a:graphic>
          <a:graphicData uri="http://schemas.openxmlformats.org/presentationml/2006/ole">
            <mc:AlternateContent xmlns:mc="http://schemas.openxmlformats.org/markup-compatibility/2006">
              <mc:Choice xmlns:v="urn:schemas-microsoft-com:vml" Requires="v">
                <p:oleObj r:id="rId3" imgW="1091565" imgH="635000" progId="Equation.DSMT4">
                  <p:embed/>
                </p:oleObj>
              </mc:Choice>
              <mc:Fallback>
                <p:oleObj r:id="rId3" imgW="1091565" imgH="635000" progId="Equation.DSMT4">
                  <p:embed/>
                  <p:pic>
                    <p:nvPicPr>
                      <p:cNvPr id="0" name="图片 3085"/>
                      <p:cNvPicPr/>
                      <p:nvPr/>
                    </p:nvPicPr>
                    <p:blipFill>
                      <a:blip r:embed="rId4"/>
                      <a:stretch>
                        <a:fillRect/>
                      </a:stretch>
                    </p:blipFill>
                    <p:spPr>
                      <a:xfrm>
                        <a:off x="2339975" y="3860800"/>
                        <a:ext cx="1622425" cy="944563"/>
                      </a:xfrm>
                      <a:prstGeom prst="rect">
                        <a:avLst/>
                      </a:prstGeom>
                      <a:noFill/>
                      <a:ln w="38100">
                        <a:noFill/>
                        <a:miter/>
                      </a:ln>
                    </p:spPr>
                  </p:pic>
                </p:oleObj>
              </mc:Fallback>
            </mc:AlternateContent>
          </a:graphicData>
        </a:graphic>
      </p:graphicFrame>
      <p:sp>
        <p:nvSpPr>
          <p:cNvPr id="80903" name="矩形 87050"/>
          <p:cNvSpPr/>
          <p:nvPr/>
        </p:nvSpPr>
        <p:spPr>
          <a:xfrm>
            <a:off x="0" y="30099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0904" name="对象 87049"/>
          <p:cNvGraphicFramePr/>
          <p:nvPr>
            <p:extLst>
              <p:ext uri="{D42A27DB-BD31-4B8C-83A1-F6EECF244321}">
                <p14:modId xmlns:p14="http://schemas.microsoft.com/office/powerpoint/2010/main" val="1114166871"/>
              </p:ext>
            </p:extLst>
          </p:nvPr>
        </p:nvGraphicFramePr>
        <p:xfrm>
          <a:off x="4716463" y="3716338"/>
          <a:ext cx="1900237" cy="1257300"/>
        </p:xfrm>
        <a:graphic>
          <a:graphicData uri="http://schemas.openxmlformats.org/presentationml/2006/ole">
            <mc:AlternateContent xmlns:mc="http://schemas.openxmlformats.org/markup-compatibility/2006">
              <mc:Choice xmlns:v="urn:schemas-microsoft-com:vml" Requires="v">
                <p:oleObj r:id="rId5" imgW="1270000" imgH="838200" progId="Equation.DSMT4">
                  <p:embed/>
                </p:oleObj>
              </mc:Choice>
              <mc:Fallback>
                <p:oleObj r:id="rId5" imgW="1270000" imgH="838200" progId="Equation.DSMT4">
                  <p:embed/>
                  <p:pic>
                    <p:nvPicPr>
                      <p:cNvPr id="0" name="图片 3084"/>
                      <p:cNvPicPr/>
                      <p:nvPr/>
                    </p:nvPicPr>
                    <p:blipFill>
                      <a:blip r:embed="rId6"/>
                      <a:stretch>
                        <a:fillRect/>
                      </a:stretch>
                    </p:blipFill>
                    <p:spPr>
                      <a:xfrm>
                        <a:off x="4716463" y="3716338"/>
                        <a:ext cx="1900237" cy="1257300"/>
                      </a:xfrm>
                      <a:prstGeom prst="rect">
                        <a:avLst/>
                      </a:prstGeom>
                      <a:noFill/>
                      <a:ln w="38100">
                        <a:noFill/>
                        <a:miter/>
                      </a:ln>
                    </p:spPr>
                  </p:pic>
                </p:oleObj>
              </mc:Fallback>
            </mc:AlternateContent>
          </a:graphicData>
        </a:graphic>
      </p:graphicFrame>
      <p:sp>
        <p:nvSpPr>
          <p:cNvPr id="80905" name="右箭头 87051"/>
          <p:cNvSpPr/>
          <p:nvPr/>
        </p:nvSpPr>
        <p:spPr>
          <a:xfrm>
            <a:off x="3995738" y="4184650"/>
            <a:ext cx="684212" cy="323850"/>
          </a:xfrm>
          <a:prstGeom prst="rightArrow">
            <a:avLst>
              <a:gd name="adj1" fmla="val 50000"/>
              <a:gd name="adj2" fmla="val 52769"/>
            </a:avLst>
          </a:prstGeom>
          <a:solidFill>
            <a:schemeClr val="tx1"/>
          </a:solidFill>
          <a:ln w="12700" cap="sq" cmpd="sng">
            <a:solidFill>
              <a:schemeClr val="tx1"/>
            </a:solidFill>
            <a:prstDash val="solid"/>
            <a:miter/>
            <a:headEnd type="none" w="med" len="med"/>
            <a:tailEnd type="none" w="med" len="med"/>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0906" name="矩形 8705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0907" name="对象 87052"/>
          <p:cNvGraphicFramePr/>
          <p:nvPr>
            <p:extLst>
              <p:ext uri="{D42A27DB-BD31-4B8C-83A1-F6EECF244321}">
                <p14:modId xmlns:p14="http://schemas.microsoft.com/office/powerpoint/2010/main" val="1527345032"/>
              </p:ext>
            </p:extLst>
          </p:nvPr>
        </p:nvGraphicFramePr>
        <p:xfrm>
          <a:off x="3708400" y="5661025"/>
          <a:ext cx="1684338" cy="357188"/>
        </p:xfrm>
        <a:graphic>
          <a:graphicData uri="http://schemas.openxmlformats.org/presentationml/2006/ole">
            <mc:AlternateContent xmlns:mc="http://schemas.openxmlformats.org/markup-compatibility/2006">
              <mc:Choice xmlns:v="urn:schemas-microsoft-com:vml" Requires="v">
                <p:oleObj r:id="rId7" imgW="836930" imgH="177800" progId="Equation.DSMT4">
                  <p:embed/>
                </p:oleObj>
              </mc:Choice>
              <mc:Fallback>
                <p:oleObj r:id="rId7" imgW="836930" imgH="177800" progId="Equation.DSMT4">
                  <p:embed/>
                  <p:pic>
                    <p:nvPicPr>
                      <p:cNvPr id="0" name="图片 3086"/>
                      <p:cNvPicPr/>
                      <p:nvPr/>
                    </p:nvPicPr>
                    <p:blipFill>
                      <a:blip r:embed="rId8"/>
                      <a:stretch>
                        <a:fillRect/>
                      </a:stretch>
                    </p:blipFill>
                    <p:spPr>
                      <a:xfrm>
                        <a:off x="3708400" y="5661025"/>
                        <a:ext cx="1684338" cy="357188"/>
                      </a:xfrm>
                      <a:prstGeom prst="rect">
                        <a:avLst/>
                      </a:prstGeom>
                      <a:noFill/>
                      <a:ln w="38100">
                        <a:noFill/>
                        <a:miter/>
                      </a:ln>
                    </p:spPr>
                  </p:pic>
                </p:oleObj>
              </mc:Fallback>
            </mc:AlternateContent>
          </a:graphicData>
        </a:graphic>
      </p:graphicFrame>
      <p:sp>
        <p:nvSpPr>
          <p:cNvPr id="80908" name="矩形 8705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E33DF896-D85A-023B-4EF6-B90002D7885D}"/>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76</a:t>
            </a:fld>
            <a:endParaRPr lang="zh-CN" altLang="en-US" sz="1400" b="0" dirty="0">
              <a:latin typeface="Times New Roman" panose="02020603050405020304" pitchFamily="18" charset="0"/>
              <a:ea typeface="宋体" panose="02010600030101010101" pitchFamily="2" charset="-122"/>
            </a:endParaRPr>
          </a:p>
        </p:txBody>
      </p:sp>
      <p:sp>
        <p:nvSpPr>
          <p:cNvPr id="128002" name="标题 12800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mc:AlternateContent xmlns:mc="http://schemas.openxmlformats.org/markup-compatibility/2006" xmlns:a14="http://schemas.microsoft.com/office/drawing/2010/main">
        <mc:Choice Requires="a14">
          <p:sp>
            <p:nvSpPr>
              <p:cNvPr id="10245" name="文本占位符 128002"/>
              <p:cNvSpPr>
                <a:spLocks noGrp="1" noChangeArrowheads="1"/>
              </p:cNvSpPr>
              <p:nvPr>
                <p:ph idx="1"/>
              </p:nvPr>
            </p:nvSpPr>
            <p:spPr>
              <a:xfrm>
                <a:off x="628650" y="1700809"/>
                <a:ext cx="7888288" cy="4476154"/>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基于差分扩展的可逆水印技术</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将得到的</a:t>
                </a:r>
                <a:r>
                  <a:rPr kumimoji="0" lang="en-US" altLang="zh-CN" sz="22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代入上式中，得到新的图像像素对，形成嵌入秘密信息后的图像。</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为了保证可逆隐藏后的数据没有溢出，设载体图像为</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8bit</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的灰度图像，可得某像素点对进行可逆数字水印的条件。</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d>
                        <m:dPr>
                          <m:begChr m:val="|"/>
                          <m:endChr m:val="|"/>
                          <m:ctrlPr>
                            <a:rPr kumimoji="0" lang="en-US" altLang="zh-CN" sz="2200" b="1" i="1" u="none" strike="noStrike" kern="1200" cap="none" spc="0" normalizeH="0" baseline="0" noProof="0" smtClean="0">
                              <a:ln>
                                <a:noFill/>
                              </a:ln>
                              <a:solidFill>
                                <a:schemeClr val="tx1"/>
                              </a:solidFill>
                              <a:effectLst/>
                              <a:uLnTx/>
                              <a:uFillTx/>
                              <a:latin typeface="Cambria Math" panose="02040503050406030204" pitchFamily="18" charset="0"/>
                              <a:ea typeface="华文细黑" panose="02010600040101010101" pitchFamily="2" charset="-122"/>
                            </a:rPr>
                          </m:ctrlPr>
                        </m:dPr>
                        <m:e>
                          <m:r>
                            <a:rPr kumimoji="0" lang="en-US" altLang="zh-CN" sz="2200" b="1" i="1" u="none" strike="noStrike" kern="1200" cap="none" spc="0" normalizeH="0" baseline="0" noProof="0" smtClean="0">
                              <a:ln>
                                <a:noFill/>
                              </a:ln>
                              <a:solidFill>
                                <a:schemeClr val="tx1"/>
                              </a:solidFill>
                              <a:effectLst/>
                              <a:uLnTx/>
                              <a:uFillTx/>
                              <a:latin typeface="Cambria Math" panose="02040503050406030204" pitchFamily="18" charset="0"/>
                              <a:ea typeface="华文细黑" panose="02010600040101010101" pitchFamily="2" charset="-122"/>
                            </a:rPr>
                            <m:t>𝟐</m:t>
                          </m:r>
                          <m:r>
                            <a:rPr kumimoji="0" lang="en-US" altLang="zh-CN" sz="22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US" altLang="zh-CN" sz="2200" b="1" i="1">
                              <a:latin typeface="Cambria Math" panose="02040503050406030204" pitchFamily="18" charset="0"/>
                              <a:ea typeface="Cambria Math" panose="02040503050406030204" pitchFamily="18" charset="0"/>
                            </a:rPr>
                            <m:t>h</m:t>
                          </m:r>
                          <m:r>
                            <a:rPr lang="en-US" altLang="zh-CN" sz="2200" b="1" i="1" smtClean="0">
                              <a:latin typeface="Cambria Math" panose="02040503050406030204" pitchFamily="18" charset="0"/>
                              <a:ea typeface="Cambria Math" panose="02040503050406030204" pitchFamily="18" charset="0"/>
                            </a:rPr>
                            <m:t>+</m:t>
                          </m:r>
                          <m:r>
                            <m:rPr>
                              <m:sty m:val="p"/>
                            </m:rPr>
                            <a:rPr lang="en-US" altLang="zh-CN" sz="2200" b="1" i="1">
                              <a:latin typeface="Cambria Math" panose="02040503050406030204" pitchFamily="18" charset="0"/>
                              <a:ea typeface="Cambria Math" panose="02040503050406030204" pitchFamily="18" charset="0"/>
                            </a:rPr>
                            <m:t>m</m:t>
                          </m:r>
                        </m:e>
                      </m:d>
                      <m:r>
                        <a:rPr kumimoji="0" lang="en-US" altLang="zh-CN" sz="22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US" altLang="zh-CN" sz="2200" b="1" i="1">
                          <a:latin typeface="Cambria Math" panose="02040503050406030204" pitchFamily="18" charset="0"/>
                          <a:ea typeface="Cambria Math" panose="02040503050406030204" pitchFamily="18" charset="0"/>
                        </a:rPr>
                        <m:t>min</m:t>
                      </m:r>
                      <m:d>
                        <m:dPr>
                          <m:ctrlPr>
                            <a:rPr lang="en-US" altLang="zh-CN" sz="2200" b="1" i="1" smtClean="0">
                              <a:latin typeface="Cambria Math" panose="02040503050406030204" pitchFamily="18" charset="0"/>
                              <a:ea typeface="Cambria Math" panose="02040503050406030204" pitchFamily="18" charset="0"/>
                            </a:rPr>
                          </m:ctrlPr>
                        </m:dPr>
                        <m:e>
                          <m:r>
                            <a:rPr lang="en-US" altLang="zh-CN" sz="2200" b="1" i="1" smtClean="0">
                              <a:latin typeface="Cambria Math" panose="02040503050406030204" pitchFamily="18" charset="0"/>
                              <a:ea typeface="Cambria Math" panose="02040503050406030204" pitchFamily="18" charset="0"/>
                            </a:rPr>
                            <m:t>𝟐</m:t>
                          </m:r>
                          <m:d>
                            <m:dPr>
                              <m:ctrlPr>
                                <a:rPr lang="en-US" altLang="zh-CN" sz="2200" b="1" i="1" smtClean="0">
                                  <a:latin typeface="Cambria Math" panose="02040503050406030204" pitchFamily="18" charset="0"/>
                                  <a:ea typeface="Cambria Math" panose="02040503050406030204" pitchFamily="18" charset="0"/>
                                </a:rPr>
                              </m:ctrlPr>
                            </m:dPr>
                            <m:e>
                              <m:r>
                                <a:rPr lang="en-US" altLang="zh-CN" sz="2200" b="1" i="1" smtClean="0">
                                  <a:latin typeface="Cambria Math" panose="02040503050406030204" pitchFamily="18" charset="0"/>
                                  <a:ea typeface="Cambria Math" panose="02040503050406030204" pitchFamily="18" charset="0"/>
                                </a:rPr>
                                <m:t>𝟐𝟓𝟓</m:t>
                              </m:r>
                              <m:r>
                                <a:rPr lang="en-US" altLang="zh-CN" sz="2200" b="1" i="1">
                                  <a:latin typeface="Cambria Math" panose="02040503050406030204" pitchFamily="18" charset="0"/>
                                  <a:ea typeface="Cambria Math" panose="02040503050406030204" pitchFamily="18" charset="0"/>
                                </a:rPr>
                                <m:t>−</m:t>
                              </m:r>
                              <m:r>
                                <m:rPr>
                                  <m:sty m:val="p"/>
                                </m:rPr>
                                <a:rPr lang="en-US" altLang="zh-CN" sz="2200" b="1" i="1" smtClean="0">
                                  <a:latin typeface="Cambria Math" panose="02040503050406030204" pitchFamily="18" charset="0"/>
                                  <a:ea typeface="Cambria Math" panose="02040503050406030204" pitchFamily="18" charset="0"/>
                                </a:rPr>
                                <m:t>l</m:t>
                              </m:r>
                            </m:e>
                          </m:d>
                          <m:r>
                            <a:rPr lang="zh-CN" altLang="en-US" sz="2200" b="1" i="1">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𝟐</m:t>
                          </m:r>
                          <m:r>
                            <m:rPr>
                              <m:sty m:val="p"/>
                            </m:rPr>
                            <a:rPr lang="en-US" altLang="zh-CN" sz="2200" b="1" i="1">
                              <a:latin typeface="Cambria Math" panose="02040503050406030204" pitchFamily="18" charset="0"/>
                              <a:ea typeface="Cambria Math" panose="02040503050406030204" pitchFamily="18" charset="0"/>
                            </a:rPr>
                            <m:t>l</m:t>
                          </m:r>
                          <m:r>
                            <a:rPr lang="en-US" altLang="zh-CN" sz="2200" b="1" i="1" smtClean="0">
                              <a:latin typeface="Cambria Math" panose="02040503050406030204" pitchFamily="18" charset="0"/>
                              <a:ea typeface="Cambria Math" panose="02040503050406030204" pitchFamily="18" charset="0"/>
                            </a:rPr>
                            <m:t>+</m:t>
                          </m:r>
                          <m:r>
                            <a:rPr lang="en-US" altLang="zh-CN" sz="2200" b="1" i="1" smtClean="0">
                              <a:latin typeface="Cambria Math" panose="02040503050406030204" pitchFamily="18" charset="0"/>
                              <a:ea typeface="Cambria Math" panose="02040503050406030204" pitchFamily="18" charset="0"/>
                            </a:rPr>
                            <m:t>𝟏</m:t>
                          </m:r>
                        </m:e>
                      </m:d>
                    </m:oMath>
                  </m:oMathPara>
                </a14:m>
                <a:endParaRPr kumimoji="0" lang="zh-CN" altLang="en-US" sz="1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800" b="1" i="0" u="none" strike="noStrike" kern="1200" cap="none" spc="0" normalizeH="0" baseline="0" noProof="0" dirty="0">
                  <a:ln>
                    <a:noFill/>
                  </a:ln>
                  <a:solidFill>
                    <a:schemeClr val="tx1"/>
                  </a:solidFill>
                  <a:effectLst/>
                  <a:uLnTx/>
                  <a:uFillTx/>
                  <a:latin typeface="+mn-lt"/>
                  <a:ea typeface="+mn-ea"/>
                  <a:cs typeface="+mn-cs"/>
                </a:endParaRPr>
              </a:p>
            </p:txBody>
          </p:sp>
        </mc:Choice>
        <mc:Fallback xmlns="">
          <p:sp>
            <p:nvSpPr>
              <p:cNvPr id="10245" name="文本占位符 128002"/>
              <p:cNvSpPr>
                <a:spLocks noGrp="1" noRot="1" noChangeAspect="1" noMove="1" noResize="1" noEditPoints="1" noAdjustHandles="1" noChangeArrowheads="1" noChangeShapeType="1" noTextEdit="1"/>
              </p:cNvSpPr>
              <p:nvPr>
                <p:ph idx="1"/>
              </p:nvPr>
            </p:nvSpPr>
            <p:spPr>
              <a:xfrm>
                <a:off x="628650" y="1700809"/>
                <a:ext cx="7888288" cy="4476154"/>
              </a:xfrm>
              <a:blipFill>
                <a:blip r:embed="rId2"/>
                <a:stretch>
                  <a:fillRect l="-1314" t="-1362"/>
                </a:stretch>
              </a:blipFill>
            </p:spPr>
            <p:txBody>
              <a:bodyPr/>
              <a:lstStyle/>
              <a:p>
                <a:r>
                  <a:rPr lang="zh-CN" altLang="en-US">
                    <a:noFill/>
                  </a:rPr>
                  <a:t> </a:t>
                </a:r>
              </a:p>
            </p:txBody>
          </p:sp>
        </mc:Fallback>
      </mc:AlternateContent>
      <p:sp>
        <p:nvSpPr>
          <p:cNvPr id="81924" name="矩形 128003"/>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1925" name="矩形 128004"/>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1926" name="矩形 128006"/>
          <p:cNvSpPr/>
          <p:nvPr/>
        </p:nvSpPr>
        <p:spPr>
          <a:xfrm>
            <a:off x="0" y="30099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1927" name="矩形 12800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1928" name="矩形 12801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DB3D85F3-12AE-A0C7-E370-5D8E336553A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77</a:t>
            </a:fld>
            <a:endParaRPr lang="zh-CN" altLang="en-US" sz="1400" b="0" dirty="0">
              <a:latin typeface="Times New Roman" panose="02020603050405020304" pitchFamily="18" charset="0"/>
              <a:ea typeface="宋体" panose="02010600030101010101" pitchFamily="2" charset="-122"/>
            </a:endParaRPr>
          </a:p>
        </p:txBody>
      </p:sp>
      <p:sp>
        <p:nvSpPr>
          <p:cNvPr id="2" name="标题 890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7044" name="文本占位符 89090"/>
          <p:cNvSpPr>
            <a:spLocks noGrp="1" noChangeArrowheads="1"/>
          </p:cNvSpPr>
          <p:nvPr>
            <p:ph idx="1"/>
          </p:nvPr>
        </p:nvSpPr>
        <p:spPr>
          <a:xfrm>
            <a:off x="628650" y="1628801"/>
            <a:ext cx="7888288" cy="4968551"/>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基于差分扩展的可逆水印技术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差值扩展的可逆数字水印方法具有以下优点：</a:t>
            </a:r>
          </a:p>
          <a:p>
            <a:pPr marL="1028700" lvl="3" indent="0" eaLnBrk="1" hangingPunct="1">
              <a:lnSpc>
                <a:spcPct val="150000"/>
              </a:lnSpc>
              <a:spcBef>
                <a:spcPts val="600"/>
              </a:spcBef>
              <a:buNone/>
              <a:defRPr/>
            </a:pPr>
            <a:r>
              <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① </a:t>
            </a:r>
            <a:r>
              <a:rPr kumimoji="0" lang="zh-CN" altLang="en-US"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算法简单，容易实现。</a:t>
            </a:r>
            <a:endPar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028700" lvl="3" indent="0" eaLnBrk="1" hangingPunct="1">
              <a:lnSpc>
                <a:spcPct val="150000"/>
              </a:lnSpc>
              <a:spcBef>
                <a:spcPts val="600"/>
              </a:spcBef>
              <a:buNone/>
              <a:defRPr/>
            </a:pPr>
            <a:r>
              <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② </a:t>
            </a:r>
            <a:r>
              <a:rPr kumimoji="0" lang="zh-CN" altLang="en-US"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差值数据的直方图自动向两边漂移。</a:t>
            </a:r>
            <a:endPar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028700" lvl="3" indent="0" eaLnBrk="1" hangingPunct="1">
              <a:lnSpc>
                <a:spcPct val="150000"/>
              </a:lnSpc>
              <a:spcBef>
                <a:spcPts val="600"/>
              </a:spcBef>
              <a:buNone/>
              <a:defRPr/>
            </a:pPr>
            <a:r>
              <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③ </a:t>
            </a:r>
            <a:r>
              <a:rPr kumimoji="0" lang="zh-CN" altLang="en-US"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满足可逆的像素点对的个数决定其隐藏量。</a:t>
            </a:r>
            <a:endPar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缺点：     </a:t>
            </a:r>
            <a:endPar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028700" lvl="3" indent="0" eaLnBrk="1" hangingPunct="1">
              <a:lnSpc>
                <a:spcPct val="150000"/>
              </a:lnSpc>
              <a:spcBef>
                <a:spcPts val="600"/>
              </a:spcBef>
              <a:buNone/>
              <a:defRPr/>
            </a:pPr>
            <a:r>
              <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① </a:t>
            </a:r>
            <a:r>
              <a:rPr kumimoji="0" lang="zh-CN" altLang="en-US"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附加信息过多。       </a:t>
            </a:r>
            <a:endPar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028700" lvl="3" indent="0" eaLnBrk="1" hangingPunct="1">
              <a:lnSpc>
                <a:spcPct val="150000"/>
              </a:lnSpc>
              <a:spcBef>
                <a:spcPts val="600"/>
              </a:spcBef>
              <a:buNone/>
              <a:defRPr/>
            </a:pPr>
            <a:r>
              <a:rPr kumimoji="0" lang="en-US" altLang="zh-CN"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② </a:t>
            </a:r>
            <a:r>
              <a:rPr kumimoji="0" lang="zh-CN" altLang="en-US" sz="1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盲目的扩展。 </a:t>
            </a:r>
          </a:p>
        </p:txBody>
      </p:sp>
      <p:sp>
        <p:nvSpPr>
          <p:cNvPr id="82948" name="矩形 8909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3" name="图片 2">
            <a:extLst>
              <a:ext uri="{FF2B5EF4-FFF2-40B4-BE49-F238E27FC236}">
                <a16:creationId xmlns:a16="http://schemas.microsoft.com/office/drawing/2014/main" id="{CC2E5C1B-811E-C56F-5B8E-489F821AC27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78</a:t>
            </a:fld>
            <a:endParaRPr lang="zh-CN" altLang="en-US" sz="1400" b="0" dirty="0">
              <a:latin typeface="Times New Roman" panose="02020603050405020304" pitchFamily="18" charset="0"/>
              <a:ea typeface="宋体" panose="02010600030101010101" pitchFamily="2" charset="-122"/>
            </a:endParaRPr>
          </a:p>
        </p:txBody>
      </p:sp>
      <p:sp>
        <p:nvSpPr>
          <p:cNvPr id="90114" name="标题 901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mc:AlternateContent xmlns:mc="http://schemas.openxmlformats.org/markup-compatibility/2006" xmlns:a14="http://schemas.microsoft.com/office/drawing/2010/main">
        <mc:Choice Requires="a14">
          <p:sp>
            <p:nvSpPr>
              <p:cNvPr id="82947" name="文本占位符 90114"/>
              <p:cNvSpPr>
                <a:spLocks noGrp="1" noChangeArrowheads="1"/>
              </p:cNvSpPr>
              <p:nvPr>
                <p:ph idx="1"/>
              </p:nvPr>
            </p:nvSpPr>
            <p:spPr>
              <a:xfrm>
                <a:off x="628650" y="1462088"/>
                <a:ext cx="7888288" cy="5260974"/>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基于直方图修改的可逆水印技术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以图像为例，水印嵌入步骤如下：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）首先计算图像的直方图，并找到其中的零点，即图像中没有任何灰度值的像素点记为 </a:t>
                </a:r>
                <a:r>
                  <a:rPr kumimoji="0" lang="en-US" altLang="zh-CN" sz="20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z </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；然后找到直方图像素点最多的灰度值的峰值点，记为 </a:t>
                </a:r>
                <a:r>
                  <a:rPr kumimoji="0" lang="en-US" altLang="zh-CN" sz="20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p </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。为了方便叙述，不妨假设 </a:t>
                </a:r>
                <a:r>
                  <a:rPr kumimoji="0" lang="en-US" altLang="zh-CN" sz="20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p &lt; z </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）由上到下、由左到右扫描图像中的各个像素点，各个像素点的灰度值用      表示，当            或            时，像素点的值保持不变，</a:t>
                </a:r>
                <a:endPar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即：          ；否则，当 </a:t>
                </a:r>
                <a14:m>
                  <m:oMath xmlns:m="http://schemas.openxmlformats.org/officeDocument/2006/math">
                    <m:r>
                      <m:rPr>
                        <m:sty m:val="p"/>
                      </m:rPr>
                      <a:rPr lang="en-US" altLang="zh-CN" sz="2000" b="1" dirty="0">
                        <a:latin typeface="Cambria Math" panose="02040503050406030204" pitchFamily="18" charset="0"/>
                        <a:ea typeface="华文细黑" panose="02010600040101010101" pitchFamily="2" charset="-122"/>
                      </a:rPr>
                      <m:t>p</m:t>
                    </m:r>
                    <m:r>
                      <a:rPr lang="en-US" altLang="zh-CN" sz="2000" b="1" i="1" dirty="0" smtClean="0">
                        <a:latin typeface="Cambria Math" panose="02040503050406030204" pitchFamily="18" charset="0"/>
                        <a:ea typeface="Cambria Math" panose="02040503050406030204" pitchFamily="18" charset="0"/>
                      </a:rPr>
                      <m:t>&lt;</m:t>
                    </m:r>
                    <m:sSub>
                      <m:sSubPr>
                        <m:ctrlPr>
                          <a:rPr lang="en-US" altLang="zh-CN" sz="2000" b="1" i="1" dirty="0" smtClean="0">
                            <a:latin typeface="Cambria Math" panose="02040503050406030204" pitchFamily="18" charset="0"/>
                            <a:ea typeface="Cambria Math" panose="02040503050406030204" pitchFamily="18" charset="0"/>
                          </a:rPr>
                        </m:ctrlPr>
                      </m:sSubPr>
                      <m:e>
                        <m:r>
                          <m:rPr>
                            <m:sty m:val="p"/>
                          </m:rPr>
                          <a:rPr lang="en-US" altLang="zh-CN" sz="2000" b="1" i="1" dirty="0">
                            <a:latin typeface="Cambria Math" panose="02040503050406030204" pitchFamily="18" charset="0"/>
                            <a:ea typeface="Cambria Math" panose="02040503050406030204" pitchFamily="18" charset="0"/>
                          </a:rPr>
                          <m:t>v</m:t>
                        </m:r>
                      </m:e>
                      <m:sub>
                        <m:r>
                          <m:rPr>
                            <m:sty m:val="p"/>
                          </m:rPr>
                          <a:rPr lang="en-US" altLang="zh-CN" sz="2000" b="1" i="1" dirty="0">
                            <a:latin typeface="Cambria Math" panose="02040503050406030204" pitchFamily="18" charset="0"/>
                            <a:ea typeface="Cambria Math" panose="02040503050406030204" pitchFamily="18" charset="0"/>
                          </a:rPr>
                          <m:t>ij</m:t>
                        </m:r>
                      </m:sub>
                    </m:sSub>
                    <m:r>
                      <a:rPr lang="en-US" altLang="zh-CN" sz="2000" b="1" i="1" dirty="0" smtClean="0">
                        <a:latin typeface="Cambria Math" panose="02040503050406030204" pitchFamily="18" charset="0"/>
                        <a:ea typeface="Cambria Math" panose="02040503050406030204" pitchFamily="18" charset="0"/>
                      </a:rPr>
                      <m:t>&lt;</m:t>
                    </m:r>
                    <m:r>
                      <m:rPr>
                        <m:sty m:val="p"/>
                      </m:rPr>
                      <a:rPr lang="en-US" altLang="zh-CN" sz="2000" b="1" i="1" dirty="0">
                        <a:latin typeface="Cambria Math" panose="02040503050406030204" pitchFamily="18" charset="0"/>
                        <a:ea typeface="Cambria Math" panose="02040503050406030204" pitchFamily="18" charset="0"/>
                      </a:rPr>
                      <m:t>z</m:t>
                    </m:r>
                  </m:oMath>
                </a14:m>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时，像素点的灰度值加 </a:t>
                </a:r>
                <a:r>
                  <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 </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endPar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即：                 。</a:t>
                </a:r>
              </a:p>
            </p:txBody>
          </p:sp>
        </mc:Choice>
        <mc:Fallback xmlns="">
          <p:sp>
            <p:nvSpPr>
              <p:cNvPr id="82947" name="文本占位符 90114"/>
              <p:cNvSpPr>
                <a:spLocks noGrp="1" noRot="1" noChangeAspect="1" noMove="1" noResize="1" noEditPoints="1" noAdjustHandles="1" noChangeArrowheads="1" noChangeShapeType="1" noTextEdit="1"/>
              </p:cNvSpPr>
              <p:nvPr>
                <p:ph idx="1"/>
              </p:nvPr>
            </p:nvSpPr>
            <p:spPr>
              <a:xfrm>
                <a:off x="628650" y="1462088"/>
                <a:ext cx="7888288" cy="5260974"/>
              </a:xfrm>
              <a:blipFill>
                <a:blip r:embed="rId2"/>
                <a:stretch>
                  <a:fillRect l="-1314" t="-1275" r="-1391"/>
                </a:stretch>
              </a:blipFill>
            </p:spPr>
            <p:txBody>
              <a:bodyPr/>
              <a:lstStyle/>
              <a:p>
                <a:r>
                  <a:rPr lang="zh-CN" altLang="en-US">
                    <a:noFill/>
                  </a:rPr>
                  <a:t> </a:t>
                </a:r>
              </a:p>
            </p:txBody>
          </p:sp>
        </mc:Fallback>
      </mc:AlternateContent>
      <p:sp>
        <p:nvSpPr>
          <p:cNvPr id="83972" name="矩形 90115"/>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3973" name="矩形 9011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3974" name="对象 90116"/>
          <p:cNvGraphicFramePr/>
          <p:nvPr>
            <p:extLst>
              <p:ext uri="{D42A27DB-BD31-4B8C-83A1-F6EECF244321}">
                <p14:modId xmlns:p14="http://schemas.microsoft.com/office/powerpoint/2010/main" val="3132882395"/>
              </p:ext>
            </p:extLst>
          </p:nvPr>
        </p:nvGraphicFramePr>
        <p:xfrm>
          <a:off x="2315155" y="4745463"/>
          <a:ext cx="244475" cy="358775"/>
        </p:xfrm>
        <a:graphic>
          <a:graphicData uri="http://schemas.openxmlformats.org/presentationml/2006/ole">
            <mc:AlternateContent xmlns:mc="http://schemas.openxmlformats.org/markup-compatibility/2006">
              <mc:Choice xmlns:v="urn:schemas-microsoft-com:vml" Requires="v">
                <p:oleObj r:id="rId3" imgW="165100" imgH="241300" progId="Equation.DSMT4">
                  <p:embed/>
                </p:oleObj>
              </mc:Choice>
              <mc:Fallback>
                <p:oleObj r:id="rId3" imgW="165100" imgH="241300" progId="Equation.DSMT4">
                  <p:embed/>
                  <p:pic>
                    <p:nvPicPr>
                      <p:cNvPr id="0" name="图片 3089"/>
                      <p:cNvPicPr/>
                      <p:nvPr/>
                    </p:nvPicPr>
                    <p:blipFill>
                      <a:blip r:embed="rId4"/>
                      <a:stretch>
                        <a:fillRect/>
                      </a:stretch>
                    </p:blipFill>
                    <p:spPr>
                      <a:xfrm>
                        <a:off x="2315155" y="4745463"/>
                        <a:ext cx="244475" cy="358775"/>
                      </a:xfrm>
                      <a:prstGeom prst="rect">
                        <a:avLst/>
                      </a:prstGeom>
                      <a:noFill/>
                      <a:ln w="38100">
                        <a:noFill/>
                        <a:miter/>
                      </a:ln>
                    </p:spPr>
                  </p:pic>
                </p:oleObj>
              </mc:Fallback>
            </mc:AlternateContent>
          </a:graphicData>
        </a:graphic>
      </p:graphicFrame>
      <p:sp>
        <p:nvSpPr>
          <p:cNvPr id="83975" name="矩形 9011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3976" name="对象 90118"/>
          <p:cNvGraphicFramePr/>
          <p:nvPr>
            <p:extLst>
              <p:ext uri="{D42A27DB-BD31-4B8C-83A1-F6EECF244321}">
                <p14:modId xmlns:p14="http://schemas.microsoft.com/office/powerpoint/2010/main" val="3702942312"/>
              </p:ext>
            </p:extLst>
          </p:nvPr>
        </p:nvGraphicFramePr>
        <p:xfrm>
          <a:off x="3697525" y="4764512"/>
          <a:ext cx="676275" cy="358775"/>
        </p:xfrm>
        <a:graphic>
          <a:graphicData uri="http://schemas.openxmlformats.org/presentationml/2006/ole">
            <mc:AlternateContent xmlns:mc="http://schemas.openxmlformats.org/markup-compatibility/2006">
              <mc:Choice xmlns:v="urn:schemas-microsoft-com:vml" Requires="v">
                <p:oleObj r:id="rId5" imgW="444500" imgH="241300" progId="Equation.DSMT4">
                  <p:embed/>
                </p:oleObj>
              </mc:Choice>
              <mc:Fallback>
                <p:oleObj r:id="rId5" imgW="444500" imgH="241300" progId="Equation.DSMT4">
                  <p:embed/>
                  <p:pic>
                    <p:nvPicPr>
                      <p:cNvPr id="0" name="图片 3088"/>
                      <p:cNvPicPr/>
                      <p:nvPr/>
                    </p:nvPicPr>
                    <p:blipFill>
                      <a:blip r:embed="rId6"/>
                      <a:stretch>
                        <a:fillRect/>
                      </a:stretch>
                    </p:blipFill>
                    <p:spPr>
                      <a:xfrm>
                        <a:off x="3697525" y="4764512"/>
                        <a:ext cx="676275" cy="358775"/>
                      </a:xfrm>
                      <a:prstGeom prst="rect">
                        <a:avLst/>
                      </a:prstGeom>
                      <a:noFill/>
                      <a:ln w="38100">
                        <a:noFill/>
                        <a:miter/>
                      </a:ln>
                    </p:spPr>
                  </p:pic>
                </p:oleObj>
              </mc:Fallback>
            </mc:AlternateContent>
          </a:graphicData>
        </a:graphic>
      </p:graphicFrame>
      <p:sp>
        <p:nvSpPr>
          <p:cNvPr id="83977" name="矩形 9012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3978" name="对象 90120"/>
          <p:cNvGraphicFramePr/>
          <p:nvPr>
            <p:extLst>
              <p:ext uri="{D42A27DB-BD31-4B8C-83A1-F6EECF244321}">
                <p14:modId xmlns:p14="http://schemas.microsoft.com/office/powerpoint/2010/main" val="833498565"/>
              </p:ext>
            </p:extLst>
          </p:nvPr>
        </p:nvGraphicFramePr>
        <p:xfrm>
          <a:off x="4715623" y="4764511"/>
          <a:ext cx="647700" cy="358775"/>
        </p:xfrm>
        <a:graphic>
          <a:graphicData uri="http://schemas.openxmlformats.org/presentationml/2006/ole">
            <mc:AlternateContent xmlns:mc="http://schemas.openxmlformats.org/markup-compatibility/2006">
              <mc:Choice xmlns:v="urn:schemas-microsoft-com:vml" Requires="v">
                <p:oleObj r:id="rId7" imgW="431800" imgH="241300" progId="Equation.DSMT4">
                  <p:embed/>
                </p:oleObj>
              </mc:Choice>
              <mc:Fallback>
                <p:oleObj r:id="rId7" imgW="431800" imgH="241300" progId="Equation.DSMT4">
                  <p:embed/>
                  <p:pic>
                    <p:nvPicPr>
                      <p:cNvPr id="0" name="图片 3097"/>
                      <p:cNvPicPr/>
                      <p:nvPr/>
                    </p:nvPicPr>
                    <p:blipFill>
                      <a:blip r:embed="rId8"/>
                      <a:stretch>
                        <a:fillRect/>
                      </a:stretch>
                    </p:blipFill>
                    <p:spPr>
                      <a:xfrm>
                        <a:off x="4715623" y="4764511"/>
                        <a:ext cx="647700" cy="358775"/>
                      </a:xfrm>
                      <a:prstGeom prst="rect">
                        <a:avLst/>
                      </a:prstGeom>
                      <a:noFill/>
                      <a:ln w="38100">
                        <a:noFill/>
                        <a:miter/>
                      </a:ln>
                    </p:spPr>
                  </p:pic>
                </p:oleObj>
              </mc:Fallback>
            </mc:AlternateContent>
          </a:graphicData>
        </a:graphic>
      </p:graphicFrame>
      <p:sp>
        <p:nvSpPr>
          <p:cNvPr id="83979" name="矩形 90123"/>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3980" name="对象 90122"/>
          <p:cNvGraphicFramePr/>
          <p:nvPr>
            <p:extLst>
              <p:ext uri="{D42A27DB-BD31-4B8C-83A1-F6EECF244321}">
                <p14:modId xmlns:p14="http://schemas.microsoft.com/office/powerpoint/2010/main" val="973588010"/>
              </p:ext>
            </p:extLst>
          </p:nvPr>
        </p:nvGraphicFramePr>
        <p:xfrm>
          <a:off x="1115616" y="5301208"/>
          <a:ext cx="690562" cy="379413"/>
        </p:xfrm>
        <a:graphic>
          <a:graphicData uri="http://schemas.openxmlformats.org/presentationml/2006/ole">
            <mc:AlternateContent xmlns:mc="http://schemas.openxmlformats.org/markup-compatibility/2006">
              <mc:Choice xmlns:v="urn:schemas-microsoft-com:vml" Requires="v">
                <p:oleObj r:id="rId9" imgW="469900" imgH="254000" progId="Equation.DSMT4">
                  <p:embed/>
                </p:oleObj>
              </mc:Choice>
              <mc:Fallback>
                <p:oleObj r:id="rId9" imgW="469900" imgH="254000" progId="Equation.DSMT4">
                  <p:embed/>
                  <p:pic>
                    <p:nvPicPr>
                      <p:cNvPr id="0" name="图片 3098"/>
                      <p:cNvPicPr/>
                      <p:nvPr/>
                    </p:nvPicPr>
                    <p:blipFill>
                      <a:blip r:embed="rId10"/>
                      <a:stretch>
                        <a:fillRect/>
                      </a:stretch>
                    </p:blipFill>
                    <p:spPr>
                      <a:xfrm>
                        <a:off x="1115616" y="5301208"/>
                        <a:ext cx="690562" cy="379413"/>
                      </a:xfrm>
                      <a:prstGeom prst="rect">
                        <a:avLst/>
                      </a:prstGeom>
                      <a:noFill/>
                      <a:ln w="38100">
                        <a:noFill/>
                        <a:miter/>
                      </a:ln>
                    </p:spPr>
                  </p:pic>
                </p:oleObj>
              </mc:Fallback>
            </mc:AlternateContent>
          </a:graphicData>
        </a:graphic>
      </p:graphicFrame>
      <p:sp>
        <p:nvSpPr>
          <p:cNvPr id="83981" name="矩形 90125"/>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3982" name="对象 90124"/>
          <p:cNvGraphicFramePr/>
          <p:nvPr>
            <p:extLst>
              <p:ext uri="{D42A27DB-BD31-4B8C-83A1-F6EECF244321}">
                <p14:modId xmlns:p14="http://schemas.microsoft.com/office/powerpoint/2010/main" val="3828913997"/>
              </p:ext>
            </p:extLst>
          </p:nvPr>
        </p:nvGraphicFramePr>
        <p:xfrm>
          <a:off x="1187624" y="5870499"/>
          <a:ext cx="1019175" cy="382587"/>
        </p:xfrm>
        <a:graphic>
          <a:graphicData uri="http://schemas.openxmlformats.org/presentationml/2006/ole">
            <mc:AlternateContent xmlns:mc="http://schemas.openxmlformats.org/markup-compatibility/2006">
              <mc:Choice xmlns:v="urn:schemas-microsoft-com:vml" Requires="v">
                <p:oleObj r:id="rId11" imgW="685800" imgH="254000" progId="Equation.DSMT4">
                  <p:embed/>
                </p:oleObj>
              </mc:Choice>
              <mc:Fallback>
                <p:oleObj r:id="rId11" imgW="685800" imgH="254000" progId="Equation.DSMT4">
                  <p:embed/>
                  <p:pic>
                    <p:nvPicPr>
                      <p:cNvPr id="0" name="图片 3099"/>
                      <p:cNvPicPr/>
                      <p:nvPr/>
                    </p:nvPicPr>
                    <p:blipFill>
                      <a:blip r:embed="rId12"/>
                      <a:stretch>
                        <a:fillRect/>
                      </a:stretch>
                    </p:blipFill>
                    <p:spPr>
                      <a:xfrm>
                        <a:off x="1187624" y="5870499"/>
                        <a:ext cx="1019175" cy="382587"/>
                      </a:xfrm>
                      <a:prstGeom prst="rect">
                        <a:avLst/>
                      </a:prstGeom>
                      <a:noFill/>
                      <a:ln w="38100">
                        <a:noFill/>
                        <a:miter/>
                      </a:ln>
                    </p:spPr>
                  </p:pic>
                </p:oleObj>
              </mc:Fallback>
            </mc:AlternateContent>
          </a:graphicData>
        </a:graphic>
      </p:graphicFrame>
      <p:sp>
        <p:nvSpPr>
          <p:cNvPr id="83983" name="矩形 9012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3984" name="矩形 90129"/>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27075AD0-BB3F-EC91-847E-0B742F607013}"/>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79</a:t>
            </a:fld>
            <a:endParaRPr lang="zh-CN" altLang="en-US" sz="1400" b="0" dirty="0">
              <a:latin typeface="Times New Roman" panose="02020603050405020304" pitchFamily="18" charset="0"/>
              <a:ea typeface="宋体" panose="02010600030101010101" pitchFamily="2" charset="-122"/>
            </a:endParaRPr>
          </a:p>
        </p:txBody>
      </p:sp>
      <p:sp>
        <p:nvSpPr>
          <p:cNvPr id="130050" name="标题 1300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2294" name="文本占位符 130050"/>
          <p:cNvSpPr>
            <a:spLocks noGrp="1" noChangeArrowheads="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基于直方图修改的可逆水印技术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）图像中灰度值等于峰值点的像素点，为可嵌入秘密信息的点，将秘密信息转化为二进制流，用     表示。顺序嵌入信息得                 。</a:t>
            </a:r>
          </a:p>
          <a:p>
            <a:pPr marL="0" marR="0" lvl="0" indent="612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）得到的由灰度值组成的图像就是嵌入秘密信息后的图像。同时 </a:t>
            </a:r>
            <a:r>
              <a:rPr kumimoji="0" lang="en-US" altLang="zh-CN" sz="24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p </a:t>
            </a:r>
            <a:r>
              <a:rPr kumimoji="0" lang="zh-CN" altLang="en-US" sz="24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en-US" altLang="zh-CN" sz="24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z  </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以密钥的形式保存。</a:t>
            </a:r>
          </a:p>
        </p:txBody>
      </p:sp>
      <p:sp>
        <p:nvSpPr>
          <p:cNvPr id="84996" name="矩形 13005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4997" name="矩形 13005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4998" name="矩形 13005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4999" name="矩形 13005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5000" name="矩形 13005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5001" name="矩形 13006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5002" name="矩形 130062"/>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5003" name="对象 130063"/>
          <p:cNvGraphicFramePr/>
          <p:nvPr>
            <p:extLst>
              <p:ext uri="{D42A27DB-BD31-4B8C-83A1-F6EECF244321}">
                <p14:modId xmlns:p14="http://schemas.microsoft.com/office/powerpoint/2010/main" val="2547942116"/>
              </p:ext>
            </p:extLst>
          </p:nvPr>
        </p:nvGraphicFramePr>
        <p:xfrm>
          <a:off x="7207845" y="2996952"/>
          <a:ext cx="244475" cy="342900"/>
        </p:xfrm>
        <a:graphic>
          <a:graphicData uri="http://schemas.openxmlformats.org/presentationml/2006/ole">
            <mc:AlternateContent xmlns:mc="http://schemas.openxmlformats.org/markup-compatibility/2006">
              <mc:Choice xmlns:v="urn:schemas-microsoft-com:vml" Requires="v">
                <p:oleObj r:id="rId2" imgW="165100" imgH="228600" progId="Equation.DSMT4">
                  <p:embed/>
                </p:oleObj>
              </mc:Choice>
              <mc:Fallback>
                <p:oleObj r:id="rId2" imgW="165100" imgH="228600" progId="Equation.DSMT4">
                  <p:embed/>
                  <p:pic>
                    <p:nvPicPr>
                      <p:cNvPr id="0" name="图片 3100"/>
                      <p:cNvPicPr/>
                      <p:nvPr/>
                    </p:nvPicPr>
                    <p:blipFill>
                      <a:blip r:embed="rId3"/>
                      <a:stretch>
                        <a:fillRect/>
                      </a:stretch>
                    </p:blipFill>
                    <p:spPr>
                      <a:xfrm>
                        <a:off x="7207845" y="2996952"/>
                        <a:ext cx="244475" cy="342900"/>
                      </a:xfrm>
                      <a:prstGeom prst="rect">
                        <a:avLst/>
                      </a:prstGeom>
                      <a:noFill/>
                      <a:ln w="38100">
                        <a:noFill/>
                        <a:miter/>
                      </a:ln>
                    </p:spPr>
                  </p:pic>
                </p:oleObj>
              </mc:Fallback>
            </mc:AlternateContent>
          </a:graphicData>
        </a:graphic>
      </p:graphicFrame>
      <p:sp>
        <p:nvSpPr>
          <p:cNvPr id="85004" name="矩形 13006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5005" name="对象 130065"/>
          <p:cNvGraphicFramePr/>
          <p:nvPr>
            <p:extLst>
              <p:ext uri="{D42A27DB-BD31-4B8C-83A1-F6EECF244321}">
                <p14:modId xmlns:p14="http://schemas.microsoft.com/office/powerpoint/2010/main" val="1362399723"/>
              </p:ext>
            </p:extLst>
          </p:nvPr>
        </p:nvGraphicFramePr>
        <p:xfrm>
          <a:off x="2994794" y="3545924"/>
          <a:ext cx="1073150" cy="381000"/>
        </p:xfrm>
        <a:graphic>
          <a:graphicData uri="http://schemas.openxmlformats.org/presentationml/2006/ole">
            <mc:AlternateContent xmlns:mc="http://schemas.openxmlformats.org/markup-compatibility/2006">
              <mc:Choice xmlns:v="urn:schemas-microsoft-com:vml" Requires="v">
                <p:oleObj r:id="rId4" imgW="723900" imgH="254000" progId="Equation.DSMT4">
                  <p:embed/>
                </p:oleObj>
              </mc:Choice>
              <mc:Fallback>
                <p:oleObj r:id="rId4" imgW="723900" imgH="254000" progId="Equation.DSMT4">
                  <p:embed/>
                  <p:pic>
                    <p:nvPicPr>
                      <p:cNvPr id="0" name="图片 3101"/>
                      <p:cNvPicPr/>
                      <p:nvPr/>
                    </p:nvPicPr>
                    <p:blipFill>
                      <a:blip r:embed="rId5"/>
                      <a:stretch>
                        <a:fillRect/>
                      </a:stretch>
                    </p:blipFill>
                    <p:spPr>
                      <a:xfrm>
                        <a:off x="2994794" y="3545924"/>
                        <a:ext cx="1073150" cy="381000"/>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7C8B78D6-5073-7F56-2F3F-A21E5A8AA4C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80</a:t>
            </a:fld>
            <a:endParaRPr lang="zh-CN" altLang="en-US" sz="1400" b="0" dirty="0">
              <a:latin typeface="Times New Roman" panose="02020603050405020304" pitchFamily="18" charset="0"/>
              <a:ea typeface="宋体" panose="02010600030101010101" pitchFamily="2" charset="-122"/>
            </a:endParaRPr>
          </a:p>
        </p:txBody>
      </p:sp>
      <p:sp>
        <p:nvSpPr>
          <p:cNvPr id="91138" name="标题 911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mc:AlternateContent xmlns:mc="http://schemas.openxmlformats.org/markup-compatibility/2006" xmlns:a14="http://schemas.microsoft.com/office/drawing/2010/main">
        <mc:Choice Requires="a14">
          <p:sp>
            <p:nvSpPr>
              <p:cNvPr id="84995" name="文本占位符 91138"/>
              <p:cNvSpPr>
                <a:spLocks noGrp="1" noChangeArrowheads="1"/>
              </p:cNvSpPr>
              <p:nvPr>
                <p:ph idx="1"/>
              </p:nvPr>
            </p:nvSpPr>
            <p:spPr>
              <a:xfrm>
                <a:off x="628650" y="1462088"/>
                <a:ext cx="7888288" cy="5260973"/>
              </a:xfrm>
            </p:spPr>
            <p:txBody>
              <a:bodyPr vert="horz" wrap="square" lIns="91440" tIns="45720" rIns="91440" bIns="45720" numCol="1" rtlCol="0" anchor="t" anchorCtr="0" compatLnSpc="1">
                <a:normAutofit fontScale="47500" lnSpcReduction="20000"/>
              </a:bodyPr>
              <a:lstStyle/>
              <a:p>
                <a:pPr marL="609600" marR="0" lvl="0" indent="-609600" algn="l" defTabSz="685800" rtl="0" eaLnBrk="1" fontAlgn="base" latinLnBrk="0" hangingPunct="1">
                  <a:lnSpc>
                    <a:spcPct val="120000"/>
                  </a:lnSpc>
                  <a:spcBef>
                    <a:spcPts val="750"/>
                  </a:spcBef>
                  <a:spcAft>
                    <a:spcPct val="0"/>
                  </a:spcAft>
                  <a:buClr>
                    <a:schemeClr val="accent1"/>
                  </a:buClr>
                  <a:buSzTx/>
                  <a:buFont typeface="Wingdings" panose="05000000000000000000" pitchFamily="2" charset="2"/>
                  <a:buChar char="!"/>
                  <a:defRPr/>
                </a:pPr>
                <a:r>
                  <a:rPr kumimoji="0" lang="zh-CN" altLang="en-US" sz="59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基于直方图修改的可逆水印技术</a:t>
                </a:r>
              </a:p>
              <a:p>
                <a:pPr marL="0" marR="0" lvl="0" indent="0" algn="l" defTabSz="685800" rtl="0" eaLnBrk="1" fontAlgn="base" latinLnBrk="0" hangingPunct="1">
                  <a:lnSpc>
                    <a:spcPct val="90000"/>
                  </a:lnSpc>
                  <a:spcBef>
                    <a:spcPts val="750"/>
                  </a:spcBef>
                  <a:spcAft>
                    <a:spcPct val="0"/>
                  </a:spcAft>
                  <a:buClr>
                    <a:schemeClr val="accent1"/>
                  </a:buClr>
                  <a:buSzTx/>
                  <a:buNone/>
                  <a:defRPr/>
                </a:pPr>
                <a:endParaRPr kumimoji="0" lang="zh-CN" altLang="en-US" sz="13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秘密信息提取和原始图像的恢复过程如下：</a:t>
                </a:r>
              </a:p>
              <a:p>
                <a:pPr marL="0" marR="0" lvl="0" indent="504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）读取密钥，得到 </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p </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z </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的值。</a:t>
                </a:r>
              </a:p>
              <a:p>
                <a:pPr marL="0" marR="0" lvl="0" indent="504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）逐行扫描图像，当              时，说明该点为隐藏信息点，提取信息 </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0 </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并保持该点灰度值不变；当                   时，该点也为隐藏信息点，提取信息</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并使该像素点值减</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04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当              或             时，像素点的值保持不变；</a:t>
                </a:r>
                <a:endPar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当  </a:t>
                </a:r>
                <a14:m>
                  <m:oMath xmlns:m="http://schemas.openxmlformats.org/officeDocument/2006/math">
                    <m:r>
                      <m:rPr>
                        <m:sty m:val="p"/>
                      </m:rPr>
                      <a:rPr lang="en-US" altLang="zh-CN" sz="4200" b="1" dirty="0">
                        <a:latin typeface="Cambria Math" panose="02040503050406030204" pitchFamily="18" charset="0"/>
                        <a:ea typeface="华文细黑" panose="02010600040101010101" pitchFamily="2" charset="-122"/>
                      </a:rPr>
                      <m:t>p</m:t>
                    </m:r>
                    <m:r>
                      <a:rPr lang="en-US" altLang="zh-CN" sz="4200" b="1" i="1" dirty="0" smtClean="0">
                        <a:latin typeface="Cambria Math" panose="02040503050406030204" pitchFamily="18" charset="0"/>
                        <a:ea typeface="华文细黑" panose="02010600040101010101" pitchFamily="2" charset="-122"/>
                      </a:rPr>
                      <m:t>+</m:t>
                    </m:r>
                    <m:r>
                      <a:rPr lang="en-US" altLang="zh-CN" sz="4200" b="1" i="1" dirty="0" smtClean="0">
                        <a:latin typeface="Cambria Math" panose="02040503050406030204" pitchFamily="18" charset="0"/>
                        <a:ea typeface="华文细黑" panose="02010600040101010101" pitchFamily="2" charset="-122"/>
                      </a:rPr>
                      <m:t>𝟏</m:t>
                    </m:r>
                    <m:r>
                      <a:rPr lang="en-US" altLang="zh-CN" sz="4200" b="1" i="1" dirty="0" smtClean="0">
                        <a:latin typeface="Cambria Math" panose="02040503050406030204" pitchFamily="18" charset="0"/>
                        <a:ea typeface="Cambria Math" panose="02040503050406030204" pitchFamily="18" charset="0"/>
                      </a:rPr>
                      <m:t>&lt;</m:t>
                    </m:r>
                    <m:sSub>
                      <m:sSubPr>
                        <m:ctrlPr>
                          <a:rPr lang="en-US" altLang="zh-CN" sz="4200" b="1" i="1" dirty="0" smtClean="0">
                            <a:latin typeface="Cambria Math" panose="02040503050406030204" pitchFamily="18" charset="0"/>
                            <a:ea typeface="Cambria Math" panose="02040503050406030204" pitchFamily="18" charset="0"/>
                          </a:rPr>
                        </m:ctrlPr>
                      </m:sSubPr>
                      <m:e>
                        <m:r>
                          <m:rPr>
                            <m:sty m:val="p"/>
                          </m:rPr>
                          <a:rPr lang="en-US" altLang="zh-CN" sz="4200" b="1" i="1" dirty="0">
                            <a:latin typeface="Cambria Math" panose="02040503050406030204" pitchFamily="18" charset="0"/>
                            <a:ea typeface="Cambria Math" panose="02040503050406030204" pitchFamily="18" charset="0"/>
                          </a:rPr>
                          <m:t>v</m:t>
                        </m:r>
                      </m:e>
                      <m:sub>
                        <m:r>
                          <m:rPr>
                            <m:sty m:val="p"/>
                          </m:rPr>
                          <a:rPr lang="en-US" altLang="zh-CN" sz="4200" b="1" i="1" dirty="0">
                            <a:latin typeface="Cambria Math" panose="02040503050406030204" pitchFamily="18" charset="0"/>
                            <a:ea typeface="Cambria Math" panose="02040503050406030204" pitchFamily="18" charset="0"/>
                          </a:rPr>
                          <m:t>ij</m:t>
                        </m:r>
                      </m:sub>
                    </m:sSub>
                    <m:r>
                      <a:rPr lang="en-US" altLang="zh-CN" sz="4200" b="1" i="1" dirty="0" smtClean="0">
                        <a:latin typeface="Cambria Math" panose="02040503050406030204" pitchFamily="18" charset="0"/>
                        <a:ea typeface="Cambria Math" panose="02040503050406030204" pitchFamily="18" charset="0"/>
                      </a:rPr>
                      <m:t>&lt;</m:t>
                    </m:r>
                    <m:r>
                      <m:rPr>
                        <m:sty m:val="p"/>
                      </m:rPr>
                      <a:rPr lang="en-US" altLang="zh-CN" sz="4200" b="1" i="1" dirty="0">
                        <a:latin typeface="Cambria Math" panose="02040503050406030204" pitchFamily="18" charset="0"/>
                        <a:ea typeface="Cambria Math" panose="02040503050406030204" pitchFamily="18" charset="0"/>
                      </a:rPr>
                      <m:t>z</m:t>
                    </m:r>
                    <m:r>
                      <a:rPr lang="en-US" altLang="zh-CN" sz="4200" b="1" i="1" dirty="0" smtClean="0">
                        <a:latin typeface="Cambria Math" panose="02040503050406030204" pitchFamily="18" charset="0"/>
                        <a:ea typeface="Cambria Math" panose="02040503050406030204" pitchFamily="18" charset="0"/>
                      </a:rPr>
                      <m:t>+</m:t>
                    </m:r>
                    <m:r>
                      <a:rPr lang="en-US" altLang="zh-CN" sz="4200" b="1" i="1" dirty="0" smtClean="0">
                        <a:latin typeface="Cambria Math" panose="02040503050406030204" pitchFamily="18" charset="0"/>
                        <a:ea typeface="Cambria Math" panose="02040503050406030204" pitchFamily="18" charset="0"/>
                      </a:rPr>
                      <m:t>𝟏</m:t>
                    </m:r>
                  </m:oMath>
                </a14:m>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时，像素点的灰度值减</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04000" algn="l" defTabSz="685800" rtl="0" eaLnBrk="1" fontAlgn="base" latinLnBrk="0" hangingPunct="1">
                  <a:lnSpc>
                    <a:spcPct val="160000"/>
                  </a:lnSpc>
                  <a:spcBef>
                    <a:spcPts val="600"/>
                  </a:spcBef>
                  <a:spcAft>
                    <a:spcPct val="0"/>
                  </a:spcAft>
                  <a:buClr>
                    <a:schemeClr val="accent1"/>
                  </a:buClr>
                  <a:buSzTx/>
                  <a:buFont typeface="Wingdings" panose="05000000000000000000" pitchFamily="2" charset="2"/>
                  <a:buNone/>
                  <a:defRPr/>
                </a:pP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4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）得到由灰度值组成的新图像，即提取秘密信息后的载体图像。</a:t>
                </a:r>
                <a:endParaRPr kumimoji="0" lang="zh-CN" altLang="en-US" sz="38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mc:Choice>
        <mc:Fallback xmlns="">
          <p:sp>
            <p:nvSpPr>
              <p:cNvPr id="84995" name="文本占位符 91138"/>
              <p:cNvSpPr>
                <a:spLocks noGrp="1" noRot="1" noChangeAspect="1" noMove="1" noResize="1" noEditPoints="1" noAdjustHandles="1" noChangeArrowheads="1" noChangeShapeType="1" noTextEdit="1"/>
              </p:cNvSpPr>
              <p:nvPr>
                <p:ph idx="1"/>
              </p:nvPr>
            </p:nvSpPr>
            <p:spPr>
              <a:xfrm>
                <a:off x="628650" y="1462088"/>
                <a:ext cx="7888288" cy="5260973"/>
              </a:xfrm>
              <a:blipFill>
                <a:blip r:embed="rId2"/>
                <a:stretch>
                  <a:fillRect l="-1314" t="-1275" r="-155"/>
                </a:stretch>
              </a:blipFill>
            </p:spPr>
            <p:txBody>
              <a:bodyPr/>
              <a:lstStyle/>
              <a:p>
                <a:r>
                  <a:rPr lang="zh-CN" altLang="en-US">
                    <a:noFill/>
                  </a:rPr>
                  <a:t> </a:t>
                </a:r>
              </a:p>
            </p:txBody>
          </p:sp>
        </mc:Fallback>
      </mc:AlternateContent>
      <p:sp>
        <p:nvSpPr>
          <p:cNvPr id="86020" name="矩形 91139"/>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1" name="矩形 9114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2" name="矩形 9114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3" name="矩形 9114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4" name="矩形 9114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5" name="矩形 9114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6" name="矩形 91150"/>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7" name="矩形 9115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6028" name="矩形 9115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6029" name="对象 91154"/>
          <p:cNvGraphicFramePr/>
          <p:nvPr>
            <p:extLst>
              <p:ext uri="{D42A27DB-BD31-4B8C-83A1-F6EECF244321}">
                <p14:modId xmlns:p14="http://schemas.microsoft.com/office/powerpoint/2010/main" val="4135110837"/>
              </p:ext>
            </p:extLst>
          </p:nvPr>
        </p:nvGraphicFramePr>
        <p:xfrm>
          <a:off x="2311549" y="4627309"/>
          <a:ext cx="676275" cy="358775"/>
        </p:xfrm>
        <a:graphic>
          <a:graphicData uri="http://schemas.openxmlformats.org/presentationml/2006/ole">
            <mc:AlternateContent xmlns:mc="http://schemas.openxmlformats.org/markup-compatibility/2006">
              <mc:Choice xmlns:v="urn:schemas-microsoft-com:vml" Requires="v">
                <p:oleObj r:id="rId3" imgW="444500" imgH="241300" progId="Equation.DSMT4">
                  <p:embed/>
                </p:oleObj>
              </mc:Choice>
              <mc:Fallback>
                <p:oleObj r:id="rId3" imgW="444500" imgH="241300" progId="Equation.DSMT4">
                  <p:embed/>
                  <p:pic>
                    <p:nvPicPr>
                      <p:cNvPr id="0" name="图片 3102"/>
                      <p:cNvPicPr/>
                      <p:nvPr/>
                    </p:nvPicPr>
                    <p:blipFill>
                      <a:blip r:embed="rId4"/>
                      <a:stretch>
                        <a:fillRect/>
                      </a:stretch>
                    </p:blipFill>
                    <p:spPr>
                      <a:xfrm>
                        <a:off x="2311549" y="4627309"/>
                        <a:ext cx="676275" cy="358775"/>
                      </a:xfrm>
                      <a:prstGeom prst="rect">
                        <a:avLst/>
                      </a:prstGeom>
                      <a:noFill/>
                      <a:ln w="38100">
                        <a:noFill/>
                        <a:miter/>
                      </a:ln>
                    </p:spPr>
                  </p:pic>
                </p:oleObj>
              </mc:Fallback>
            </mc:AlternateContent>
          </a:graphicData>
        </a:graphic>
      </p:graphicFrame>
      <p:sp>
        <p:nvSpPr>
          <p:cNvPr id="86030" name="矩形 9115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6031" name="对象 91156"/>
          <p:cNvGraphicFramePr/>
          <p:nvPr>
            <p:extLst>
              <p:ext uri="{D42A27DB-BD31-4B8C-83A1-F6EECF244321}">
                <p14:modId xmlns:p14="http://schemas.microsoft.com/office/powerpoint/2010/main" val="4026760033"/>
              </p:ext>
            </p:extLst>
          </p:nvPr>
        </p:nvGraphicFramePr>
        <p:xfrm>
          <a:off x="3434532" y="4595939"/>
          <a:ext cx="633412" cy="358775"/>
        </p:xfrm>
        <a:graphic>
          <a:graphicData uri="http://schemas.openxmlformats.org/presentationml/2006/ole">
            <mc:AlternateContent xmlns:mc="http://schemas.openxmlformats.org/markup-compatibility/2006">
              <mc:Choice xmlns:v="urn:schemas-microsoft-com:vml" Requires="v">
                <p:oleObj r:id="rId5" imgW="419100" imgH="241300" progId="Equation.DSMT4">
                  <p:embed/>
                </p:oleObj>
              </mc:Choice>
              <mc:Fallback>
                <p:oleObj r:id="rId5" imgW="419100" imgH="241300" progId="Equation.DSMT4">
                  <p:embed/>
                  <p:pic>
                    <p:nvPicPr>
                      <p:cNvPr id="0" name="图片 3103"/>
                      <p:cNvPicPr/>
                      <p:nvPr/>
                    </p:nvPicPr>
                    <p:blipFill>
                      <a:blip r:embed="rId6"/>
                      <a:stretch>
                        <a:fillRect/>
                      </a:stretch>
                    </p:blipFill>
                    <p:spPr>
                      <a:xfrm>
                        <a:off x="3434532" y="4595939"/>
                        <a:ext cx="633412" cy="358775"/>
                      </a:xfrm>
                      <a:prstGeom prst="rect">
                        <a:avLst/>
                      </a:prstGeom>
                      <a:noFill/>
                      <a:ln w="38100">
                        <a:noFill/>
                        <a:miter/>
                      </a:ln>
                    </p:spPr>
                  </p:pic>
                </p:oleObj>
              </mc:Fallback>
            </mc:AlternateContent>
          </a:graphicData>
        </a:graphic>
      </p:graphicFrame>
      <p:sp>
        <p:nvSpPr>
          <p:cNvPr id="86032" name="矩形 9115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6033" name="对象 91158"/>
          <p:cNvGraphicFramePr/>
          <p:nvPr>
            <p:extLst>
              <p:ext uri="{D42A27DB-BD31-4B8C-83A1-F6EECF244321}">
                <p14:modId xmlns:p14="http://schemas.microsoft.com/office/powerpoint/2010/main" val="1614256708"/>
              </p:ext>
            </p:extLst>
          </p:nvPr>
        </p:nvGraphicFramePr>
        <p:xfrm>
          <a:off x="3995936" y="3259157"/>
          <a:ext cx="647700" cy="358775"/>
        </p:xfrm>
        <a:graphic>
          <a:graphicData uri="http://schemas.openxmlformats.org/presentationml/2006/ole">
            <mc:AlternateContent xmlns:mc="http://schemas.openxmlformats.org/markup-compatibility/2006">
              <mc:Choice xmlns:v="urn:schemas-microsoft-com:vml" Requires="v">
                <p:oleObj r:id="rId7" imgW="431800" imgH="241300" progId="Equation.DSMT4">
                  <p:embed/>
                </p:oleObj>
              </mc:Choice>
              <mc:Fallback>
                <p:oleObj r:id="rId7" imgW="431800" imgH="241300" progId="Equation.DSMT4">
                  <p:embed/>
                  <p:pic>
                    <p:nvPicPr>
                      <p:cNvPr id="0" name="图片 3104"/>
                      <p:cNvPicPr/>
                      <p:nvPr/>
                    </p:nvPicPr>
                    <p:blipFill>
                      <a:blip r:embed="rId8"/>
                      <a:stretch>
                        <a:fillRect/>
                      </a:stretch>
                    </p:blipFill>
                    <p:spPr>
                      <a:xfrm>
                        <a:off x="3995936" y="3259157"/>
                        <a:ext cx="647700" cy="358775"/>
                      </a:xfrm>
                      <a:prstGeom prst="rect">
                        <a:avLst/>
                      </a:prstGeom>
                      <a:noFill/>
                      <a:ln w="38100">
                        <a:noFill/>
                        <a:miter/>
                      </a:ln>
                    </p:spPr>
                  </p:pic>
                </p:oleObj>
              </mc:Fallback>
            </mc:AlternateContent>
          </a:graphicData>
        </a:graphic>
      </p:graphicFrame>
      <p:sp>
        <p:nvSpPr>
          <p:cNvPr id="86034" name="矩形 9116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6035" name="对象 91160"/>
          <p:cNvGraphicFramePr/>
          <p:nvPr>
            <p:extLst>
              <p:ext uri="{D42A27DB-BD31-4B8C-83A1-F6EECF244321}">
                <p14:modId xmlns:p14="http://schemas.microsoft.com/office/powerpoint/2010/main" val="253622864"/>
              </p:ext>
            </p:extLst>
          </p:nvPr>
        </p:nvGraphicFramePr>
        <p:xfrm>
          <a:off x="4803378" y="3676071"/>
          <a:ext cx="920750" cy="360363"/>
        </p:xfrm>
        <a:graphic>
          <a:graphicData uri="http://schemas.openxmlformats.org/presentationml/2006/ole">
            <mc:AlternateContent xmlns:mc="http://schemas.openxmlformats.org/markup-compatibility/2006">
              <mc:Choice xmlns:v="urn:schemas-microsoft-com:vml" Requires="v">
                <p:oleObj r:id="rId9" imgW="609600" imgH="241300" progId="Equation.DSMT4">
                  <p:embed/>
                </p:oleObj>
              </mc:Choice>
              <mc:Fallback>
                <p:oleObj r:id="rId9" imgW="609600" imgH="241300" progId="Equation.DSMT4">
                  <p:embed/>
                  <p:pic>
                    <p:nvPicPr>
                      <p:cNvPr id="0" name="图片 3105"/>
                      <p:cNvPicPr/>
                      <p:nvPr/>
                    </p:nvPicPr>
                    <p:blipFill>
                      <a:blip r:embed="rId10"/>
                      <a:stretch>
                        <a:fillRect/>
                      </a:stretch>
                    </p:blipFill>
                    <p:spPr>
                      <a:xfrm>
                        <a:off x="4803378" y="3676071"/>
                        <a:ext cx="920750" cy="360363"/>
                      </a:xfrm>
                      <a:prstGeom prst="rect">
                        <a:avLst/>
                      </a:prstGeom>
                      <a:noFill/>
                      <a:ln w="38100">
                        <a:noFill/>
                        <a:miter/>
                      </a:ln>
                    </p:spPr>
                  </p:pic>
                </p:oleObj>
              </mc:Fallback>
            </mc:AlternateContent>
          </a:graphicData>
        </a:graphic>
      </p:graphicFrame>
      <p:sp>
        <p:nvSpPr>
          <p:cNvPr id="86036" name="矩形 9116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1AD089C2-538D-5FD3-F614-975E0E98E2C3}"/>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81</a:t>
            </a:fld>
            <a:endParaRPr lang="zh-CN" altLang="en-US" sz="1400" b="0" dirty="0">
              <a:latin typeface="Times New Roman" panose="02020603050405020304" pitchFamily="18" charset="0"/>
              <a:ea typeface="宋体" panose="02010600030101010101" pitchFamily="2" charset="-122"/>
            </a:endParaRPr>
          </a:p>
        </p:txBody>
      </p:sp>
      <p:sp>
        <p:nvSpPr>
          <p:cNvPr id="92162" name="标题 921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8068" name="文本占位符 92162"/>
          <p:cNvSpPr>
            <a:spLocks noGrp="1" noChangeArrowheads="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基于直方图修改的可逆水印技术</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基于直方图修改的可逆数字水印，具有以下优点：</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）产生较少的畸变，具有较高的峰值信息比。</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）对于使用该方法直接在空域中应用不会产生数据溢出问题。</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）对于某些含有大量相同背景的图像具有较高的嵌入率。这对于一些数字医学图像具有很好的应用效果。</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7044" name="矩形 92163"/>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45" name="矩形 9216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46" name="矩形 9216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47" name="矩形 9216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48" name="矩形 92167"/>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49" name="矩形 9216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0" name="矩形 9216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1" name="矩形 9217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2" name="矩形 9217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3" name="矩形 9217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4" name="矩形 9217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5" name="矩形 9217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7056" name="矩形 9217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B2E781A2-6BD9-63BF-0374-A2B44A34497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82</a:t>
            </a:fld>
            <a:endParaRPr lang="zh-CN" altLang="en-US" sz="1400" b="0" dirty="0">
              <a:latin typeface="Times New Roman" panose="02020603050405020304" pitchFamily="18" charset="0"/>
              <a:ea typeface="宋体" panose="02010600030101010101" pitchFamily="2" charset="-122"/>
            </a:endParaRPr>
          </a:p>
        </p:txBody>
      </p:sp>
      <p:sp>
        <p:nvSpPr>
          <p:cNvPr id="132098" name="标题 13209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89092" name="文本占位符 132098"/>
          <p:cNvSpPr>
            <a:spLocks noGrp="1" noChangeArrowheads="1"/>
          </p:cNvSpPr>
          <p:nvPr>
            <p:ph idx="1"/>
          </p:nvPr>
        </p:nvSpPr>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基于直方图修改的可逆水印技术</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缺点：由于图像直方图的直接使用，因此其嵌入率不稳定，对于一般图像嵌入率较低。</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改进方法：</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）选择无穷远处为其差值直方图的零值点。</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）可选择两个或多个峰值进行可逆信息隐藏。</a:t>
            </a:r>
          </a:p>
          <a:p>
            <a:pPr marL="0" marR="0" lvl="0" indent="558000" algn="l" defTabSz="685800" rtl="0" eaLnBrk="1" fontAlgn="base" latinLnBrk="0" hangingPunct="1">
              <a:lnSpc>
                <a:spcPct val="150000"/>
              </a:lnSpc>
              <a:spcBef>
                <a:spcPts val="600"/>
              </a:spcBef>
              <a:spcAft>
                <a:spcPct val="0"/>
              </a:spcAft>
              <a:buClr>
                <a:schemeClr val="accent1"/>
              </a:buClr>
              <a:buSzTx/>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）可以进行多层隐藏。  </a:t>
            </a:r>
          </a:p>
        </p:txBody>
      </p:sp>
      <p:sp>
        <p:nvSpPr>
          <p:cNvPr id="88068" name="矩形 132099"/>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69" name="矩形 13210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0" name="矩形 13210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1" name="矩形 13210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2" name="矩形 132103"/>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3" name="矩形 13210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4" name="矩形 13210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5" name="矩形 13210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6" name="矩形 13210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7" name="矩形 13210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8" name="矩形 13210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79" name="矩形 13211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8080" name="矩形 13211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51DE6BC8-433E-861C-F47B-21C7073EDA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83</a:t>
            </a:fld>
            <a:endParaRPr lang="zh-CN" altLang="en-US" sz="1400" b="0" dirty="0">
              <a:latin typeface="Times New Roman" panose="02020603050405020304" pitchFamily="18" charset="0"/>
              <a:ea typeface="宋体" panose="02010600030101010101" pitchFamily="2" charset="-122"/>
            </a:endParaRPr>
          </a:p>
        </p:txBody>
      </p:sp>
      <p:sp>
        <p:nvSpPr>
          <p:cNvPr id="93186" name="标题 931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4341" name="文本占位符 93186"/>
          <p:cNvSpPr>
            <a:spLocks noGrp="1" noChangeArrowheads="1"/>
          </p:cNvSpPr>
          <p:nvPr>
            <p:ph type="body" sz="half" idx="1"/>
          </p:nvPr>
        </p:nvSpPr>
        <p:spPr>
          <a:xfrm>
            <a:off x="684213" y="1736725"/>
            <a:ext cx="8135938" cy="486092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变换域中可逆数字水印方法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6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考虑到精度变化的失真，基于变换域的可逆数字水印方法一般都采用整数变换，即变换与逆变换都为整数变换。</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在二维图像中，对图像的变换通常是对该图像矩阵左乘、右乘或者既左乘又右乘的变换，不失一般性，以左乘一个矩阵为例进行说明。</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式中，</a:t>
            </a:r>
            <a:r>
              <a:rPr kumimoji="0" lang="en-US" altLang="zh-CN" sz="22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为转换矩阵，</a:t>
            </a:r>
            <a:r>
              <a:rPr kumimoji="0" lang="en-US" altLang="zh-CN" sz="22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C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为原始矩阵，</a:t>
            </a:r>
            <a:r>
              <a:rPr kumimoji="0" lang="en-US" altLang="zh-CN" sz="2200" b="1" i="1"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为变换后的矩阵。</a:t>
            </a:r>
          </a:p>
        </p:txBody>
      </p:sp>
      <p:sp>
        <p:nvSpPr>
          <p:cNvPr id="89092" name="矩形 93187"/>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3" name="矩形 9318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4" name="矩形 9318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5" name="矩形 9319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6" name="矩形 93191"/>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7" name="矩形 9319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8" name="矩形 9319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099" name="矩形 9319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100" name="矩形 9319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101" name="矩形 9319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102" name="矩形 9319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103" name="矩形 9319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89104" name="矩形 9319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89105" name="内容占位符 93204"/>
          <p:cNvGraphicFramePr>
            <a:graphicFrameLocks noGrp="1"/>
          </p:cNvGraphicFramePr>
          <p:nvPr>
            <p:ph sz="half" idx="4294967295"/>
            <p:extLst>
              <p:ext uri="{D42A27DB-BD31-4B8C-83A1-F6EECF244321}">
                <p14:modId xmlns:p14="http://schemas.microsoft.com/office/powerpoint/2010/main" val="358803608"/>
              </p:ext>
            </p:extLst>
          </p:nvPr>
        </p:nvGraphicFramePr>
        <p:xfrm>
          <a:off x="3600450" y="5192713"/>
          <a:ext cx="1263650" cy="392112"/>
        </p:xfrm>
        <a:graphic>
          <a:graphicData uri="http://schemas.openxmlformats.org/presentationml/2006/ole">
            <mc:AlternateContent xmlns:mc="http://schemas.openxmlformats.org/markup-compatibility/2006">
              <mc:Choice xmlns:v="urn:schemas-microsoft-com:vml" Requires="v">
                <p:oleObj r:id="rId2" imgW="570230" imgH="177800" progId="Equation.DSMT4">
                  <p:embed/>
                </p:oleObj>
              </mc:Choice>
              <mc:Fallback>
                <p:oleObj r:id="rId2" imgW="570230" imgH="177800" progId="Equation.DSMT4">
                  <p:embed/>
                  <p:pic>
                    <p:nvPicPr>
                      <p:cNvPr id="0" name="图片 3107"/>
                      <p:cNvPicPr/>
                      <p:nvPr/>
                    </p:nvPicPr>
                    <p:blipFill>
                      <a:blip r:embed="rId3"/>
                      <a:stretch>
                        <a:fillRect/>
                      </a:stretch>
                    </p:blipFill>
                    <p:spPr>
                      <a:xfrm>
                        <a:off x="3600450" y="5192713"/>
                        <a:ext cx="1263650" cy="392112"/>
                      </a:xfrm>
                      <a:prstGeom prst="rect">
                        <a:avLst/>
                      </a:prstGeom>
                      <a:noFill/>
                      <a:ln w="38100">
                        <a:miter/>
                      </a:ln>
                    </p:spPr>
                  </p:pic>
                </p:oleObj>
              </mc:Fallback>
            </mc:AlternateContent>
          </a:graphicData>
        </a:graphic>
      </p:graphicFrame>
      <p:pic>
        <p:nvPicPr>
          <p:cNvPr id="2" name="图片 1">
            <a:extLst>
              <a:ext uri="{FF2B5EF4-FFF2-40B4-BE49-F238E27FC236}">
                <a16:creationId xmlns:a16="http://schemas.microsoft.com/office/drawing/2014/main" id="{819D8520-5D84-A58D-9D4E-CB3A552B008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84</a:t>
            </a:fld>
            <a:endParaRPr lang="zh-CN" altLang="en-US" sz="1400" b="0" dirty="0">
              <a:latin typeface="Times New Roman" panose="02020603050405020304" pitchFamily="18" charset="0"/>
              <a:ea typeface="宋体" panose="02010600030101010101" pitchFamily="2" charset="-122"/>
            </a:endParaRPr>
          </a:p>
        </p:txBody>
      </p:sp>
      <p:sp>
        <p:nvSpPr>
          <p:cNvPr id="97282" name="标题 972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5366" name="文本占位符 97282"/>
          <p:cNvSpPr>
            <a:spLocks noGrp="1" noChangeArrowheads="1"/>
          </p:cNvSpPr>
          <p:nvPr>
            <p:ph type="body" sz="half" idx="1"/>
          </p:nvPr>
        </p:nvSpPr>
        <p:spPr>
          <a:xfrm>
            <a:off x="719138" y="1773238"/>
            <a:ext cx="8064500" cy="471646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变换域中可逆数字水印方法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设变换域内的原始矩阵为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，嵌入秘密信息后的矩阵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，嵌入信息的过程就可看做是在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上叠加了一个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矩</a:t>
            </a:r>
            <a:r>
              <a:rPr lang="zh-CN" altLang="en-US" sz="2200" b="1" dirty="0">
                <a:solidFill>
                  <a:schemeClr val="tx1"/>
                </a:solidFill>
                <a:latin typeface="华文细黑" panose="02010600040101010101" pitchFamily="2" charset="-122"/>
                <a:ea typeface="华文细黑" panose="02010600040101010101" pitchFamily="2" charset="-122"/>
              </a:rPr>
              <a:t>阵</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a:t>
            </a:r>
            <a:r>
              <a:rPr kumimoji="0" lang="en-US" altLang="zh-CN" sz="2200" b="1" i="0"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i,j</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)∈Z)</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嵌入信息的数学模型可写为：</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其逆变化为：</a:t>
            </a:r>
            <a:r>
              <a:rPr kumimoji="0" lang="zh-CN" altLang="en-US"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r>
              <a:rPr kumimoji="0" lang="zh-CN" altLang="en-US" sz="2200" b="0"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p:txBody>
      </p:sp>
      <p:sp>
        <p:nvSpPr>
          <p:cNvPr id="90116" name="矩形 97283"/>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17" name="矩形 9728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18" name="矩形 9728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19" name="矩形 9728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0" name="矩形 97287"/>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1" name="矩形 9728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2" name="矩形 9728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3" name="矩形 9729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4" name="矩形 9729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5" name="矩形 9729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6" name="矩形 9729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7" name="矩形 9729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8" name="矩形 9729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0129" name="矩形 97300"/>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0130" name="对象 97299"/>
          <p:cNvGraphicFramePr/>
          <p:nvPr>
            <p:extLst>
              <p:ext uri="{D42A27DB-BD31-4B8C-83A1-F6EECF244321}">
                <p14:modId xmlns:p14="http://schemas.microsoft.com/office/powerpoint/2010/main" val="2509438986"/>
              </p:ext>
            </p:extLst>
          </p:nvPr>
        </p:nvGraphicFramePr>
        <p:xfrm>
          <a:off x="5004048" y="3861048"/>
          <a:ext cx="1274762" cy="355600"/>
        </p:xfrm>
        <a:graphic>
          <a:graphicData uri="http://schemas.openxmlformats.org/presentationml/2006/ole">
            <mc:AlternateContent xmlns:mc="http://schemas.openxmlformats.org/markup-compatibility/2006">
              <mc:Choice xmlns:v="urn:schemas-microsoft-com:vml" Requires="v">
                <p:oleObj r:id="rId2" imgW="647700" imgH="177800" progId="Equation.DSMT4">
                  <p:embed/>
                </p:oleObj>
              </mc:Choice>
              <mc:Fallback>
                <p:oleObj r:id="rId2" imgW="647700" imgH="177800" progId="Equation.DSMT4">
                  <p:embed/>
                  <p:pic>
                    <p:nvPicPr>
                      <p:cNvPr id="0" name="图片 3090"/>
                      <p:cNvPicPr/>
                      <p:nvPr/>
                    </p:nvPicPr>
                    <p:blipFill>
                      <a:blip r:embed="rId3"/>
                      <a:stretch>
                        <a:fillRect/>
                      </a:stretch>
                    </p:blipFill>
                    <p:spPr>
                      <a:xfrm>
                        <a:off x="5004048" y="3861048"/>
                        <a:ext cx="1274762" cy="355600"/>
                      </a:xfrm>
                      <a:prstGeom prst="rect">
                        <a:avLst/>
                      </a:prstGeom>
                      <a:noFill/>
                      <a:ln w="38100">
                        <a:noFill/>
                        <a:miter/>
                      </a:ln>
                    </p:spPr>
                  </p:pic>
                </p:oleObj>
              </mc:Fallback>
            </mc:AlternateContent>
          </a:graphicData>
        </a:graphic>
      </p:graphicFrame>
      <p:sp>
        <p:nvSpPr>
          <p:cNvPr id="90131" name="矩形 97302"/>
          <p:cNvSpPr/>
          <p:nvPr/>
        </p:nvSpPr>
        <p:spPr>
          <a:xfrm>
            <a:off x="0" y="33147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0132" name="对象 97301"/>
          <p:cNvGraphicFramePr/>
          <p:nvPr>
            <p:extLst>
              <p:ext uri="{D42A27DB-BD31-4B8C-83A1-F6EECF244321}">
                <p14:modId xmlns:p14="http://schemas.microsoft.com/office/powerpoint/2010/main" val="3452464069"/>
              </p:ext>
            </p:extLst>
          </p:nvPr>
        </p:nvGraphicFramePr>
        <p:xfrm>
          <a:off x="3050381" y="4669026"/>
          <a:ext cx="4437063" cy="457200"/>
        </p:xfrm>
        <a:graphic>
          <a:graphicData uri="http://schemas.openxmlformats.org/presentationml/2006/ole">
            <mc:AlternateContent xmlns:mc="http://schemas.openxmlformats.org/markup-compatibility/2006">
              <mc:Choice xmlns:v="urn:schemas-microsoft-com:vml" Requires="v">
                <p:oleObj r:id="rId4" imgW="2222500" imgH="228600" progId="Equation.DSMT4">
                  <p:embed/>
                </p:oleObj>
              </mc:Choice>
              <mc:Fallback>
                <p:oleObj r:id="rId4" imgW="2222500" imgH="228600" progId="Equation.DSMT4">
                  <p:embed/>
                  <p:pic>
                    <p:nvPicPr>
                      <p:cNvPr id="0" name="图片 3091"/>
                      <p:cNvPicPr/>
                      <p:nvPr/>
                    </p:nvPicPr>
                    <p:blipFill>
                      <a:blip r:embed="rId5"/>
                      <a:stretch>
                        <a:fillRect/>
                      </a:stretch>
                    </p:blipFill>
                    <p:spPr>
                      <a:xfrm>
                        <a:off x="3050381" y="4669026"/>
                        <a:ext cx="4437063" cy="457200"/>
                      </a:xfrm>
                      <a:prstGeom prst="rect">
                        <a:avLst/>
                      </a:prstGeom>
                      <a:noFill/>
                      <a:ln w="38100">
                        <a:noFill/>
                        <a:miter/>
                      </a:ln>
                    </p:spPr>
                  </p:pic>
                </p:oleObj>
              </mc:Fallback>
            </mc:AlternateContent>
          </a:graphicData>
        </a:graphic>
      </p:graphicFrame>
      <p:sp>
        <p:nvSpPr>
          <p:cNvPr id="90133" name="矩形 9731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D6E68182-C580-D7EE-72D2-734C26123B9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85</a:t>
            </a:fld>
            <a:endParaRPr lang="zh-CN" altLang="en-US" sz="1400" b="0" dirty="0">
              <a:latin typeface="Times New Roman" panose="02020603050405020304" pitchFamily="18" charset="0"/>
              <a:ea typeface="宋体" panose="02010600030101010101" pitchFamily="2" charset="-122"/>
            </a:endParaRPr>
          </a:p>
        </p:txBody>
      </p:sp>
      <p:sp>
        <p:nvSpPr>
          <p:cNvPr id="133122" name="标题 1331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0116" name="文本占位符 133122"/>
          <p:cNvSpPr>
            <a:spLocks noGrp="1" noChangeArrowheads="1"/>
          </p:cNvSpPr>
          <p:nvPr>
            <p:ph type="body" sz="half" idx="1"/>
          </p:nvPr>
        </p:nvSpPr>
        <p:spPr>
          <a:xfrm>
            <a:off x="792163" y="2060575"/>
            <a:ext cx="8027988" cy="403225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变换域中可逆数字水印方法</a:t>
            </a:r>
          </a:p>
          <a:p>
            <a:pPr marL="609600" marR="0" lvl="0" indent="-609600" algn="l" defTabSz="685800" rtl="0" eaLnBrk="1" fontAlgn="base" latinLnBrk="0" hangingPunct="1">
              <a:lnSpc>
                <a:spcPct val="90000"/>
              </a:lnSpc>
              <a:spcBef>
                <a:spcPts val="750"/>
              </a:spcBef>
              <a:spcAft>
                <a:spcPct val="0"/>
              </a:spcAft>
              <a:buClr>
                <a:schemeClr val="accent1"/>
              </a:buClr>
              <a:buSzPct val="80000"/>
              <a:buFont typeface="Wingdings" panose="05000000000000000000" pitchFamily="2" charset="2"/>
              <a:buNone/>
              <a:defRPr/>
            </a:pPr>
            <a:endParaRPr kumimoji="0" lang="zh-CN" altLang="en-US" sz="16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在变换域中利用差值扩展、直方图修改或者压缩整数部分的方法实现可逆数字水印，只要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T</a:t>
            </a:r>
            <a:r>
              <a:rPr kumimoji="0" lang="en-US" altLang="zh-CN" sz="2200" b="1" i="0" u="none" strike="noStrike" kern="1200" cap="none" spc="0" normalizeH="0" baseline="3000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为整数，就可保证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C′</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为整数，由于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为在数字水印时附加的整数矩阵，所以只要矩阵中所有的元素都为整数，就可保证为整数。</a:t>
            </a:r>
            <a:endParaRPr kumimoji="0" lang="zh-CN" altLang="en-US" sz="2400" b="0"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
        <p:nvSpPr>
          <p:cNvPr id="91140" name="矩形 133123"/>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1" name="矩形 13312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2" name="矩形 13312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3" name="矩形 13312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4" name="矩形 133127"/>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5" name="矩形 13312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6" name="矩形 13312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7" name="矩形 13313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8" name="矩形 13313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49" name="矩形 13313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50" name="矩形 13313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51" name="矩形 13313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52" name="矩形 13313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53" name="矩形 133136"/>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1154" name="矩形 133140"/>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82D0AD46-AF99-064C-3B30-64DF613FBD5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86</a:t>
            </a:fld>
            <a:endParaRPr lang="zh-CN" altLang="en-US" sz="1400" b="0" dirty="0">
              <a:latin typeface="Times New Roman" panose="02020603050405020304" pitchFamily="18" charset="0"/>
              <a:ea typeface="宋体" panose="02010600030101010101" pitchFamily="2" charset="-122"/>
            </a:endParaRPr>
          </a:p>
        </p:txBody>
      </p:sp>
      <p:sp>
        <p:nvSpPr>
          <p:cNvPr id="98306" name="标题 983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6390" name="文本占位符 98306"/>
          <p:cNvSpPr>
            <a:spLocks noGrp="1" noChangeArrowheads="1"/>
          </p:cNvSpPr>
          <p:nvPr>
            <p:ph type="body" sz="half" idx="1"/>
          </p:nvPr>
        </p:nvSpPr>
        <p:spPr>
          <a:xfrm>
            <a:off x="935038" y="1597025"/>
            <a:ext cx="8208963" cy="4819651"/>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小波分析中可逆数字水印方法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两个数据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b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的 </a:t>
            </a:r>
            <a:r>
              <a:rPr kumimoji="0" lang="en-US" altLang="zh-CN" sz="2200" b="1" i="0"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Haar</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离散小波变换过程可表示为：</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式中，</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L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表示低频的参数；</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表示高频的参数。</a:t>
            </a:r>
          </a:p>
        </p:txBody>
      </p:sp>
      <p:sp>
        <p:nvSpPr>
          <p:cNvPr id="92164" name="矩形 98307"/>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65" name="矩形 9830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66" name="矩形 9830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67" name="矩形 9831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68" name="矩形 98311"/>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69" name="矩形 9831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0" name="矩形 9831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1" name="矩形 9831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2" name="矩形 9831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3" name="矩形 9831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4" name="矩形 9831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5" name="矩形 9831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6" name="矩形 9831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2177" name="矩形 98323"/>
          <p:cNvSpPr/>
          <p:nvPr/>
        </p:nvSpPr>
        <p:spPr>
          <a:xfrm>
            <a:off x="0" y="30480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2178" name="对象 98322"/>
          <p:cNvGraphicFramePr/>
          <p:nvPr>
            <p:extLst>
              <p:ext uri="{D42A27DB-BD31-4B8C-83A1-F6EECF244321}">
                <p14:modId xmlns:p14="http://schemas.microsoft.com/office/powerpoint/2010/main" val="2086320797"/>
              </p:ext>
            </p:extLst>
          </p:nvPr>
        </p:nvGraphicFramePr>
        <p:xfrm>
          <a:off x="4028281" y="3300413"/>
          <a:ext cx="1087437" cy="1144587"/>
        </p:xfrm>
        <a:graphic>
          <a:graphicData uri="http://schemas.openxmlformats.org/presentationml/2006/ole">
            <mc:AlternateContent xmlns:mc="http://schemas.openxmlformats.org/markup-compatibility/2006">
              <mc:Choice xmlns:v="urn:schemas-microsoft-com:vml" Requires="v">
                <p:oleObj r:id="rId2" imgW="723900" imgH="761365" progId="Equation.DSMT4">
                  <p:embed/>
                </p:oleObj>
              </mc:Choice>
              <mc:Fallback>
                <p:oleObj r:id="rId2" imgW="723900" imgH="761365" progId="Equation.DSMT4">
                  <p:embed/>
                  <p:pic>
                    <p:nvPicPr>
                      <p:cNvPr id="0" name="图片 3092"/>
                      <p:cNvPicPr/>
                      <p:nvPr/>
                    </p:nvPicPr>
                    <p:blipFill>
                      <a:blip r:embed="rId3"/>
                      <a:stretch>
                        <a:fillRect/>
                      </a:stretch>
                    </p:blipFill>
                    <p:spPr>
                      <a:xfrm>
                        <a:off x="4028281" y="3300413"/>
                        <a:ext cx="1087437" cy="1144587"/>
                      </a:xfrm>
                      <a:prstGeom prst="rect">
                        <a:avLst/>
                      </a:prstGeom>
                      <a:noFill/>
                      <a:ln w="38100">
                        <a:noFill/>
                        <a:miter/>
                      </a:ln>
                    </p:spPr>
                  </p:pic>
                </p:oleObj>
              </mc:Fallback>
            </mc:AlternateContent>
          </a:graphicData>
        </a:graphic>
      </p:graphicFrame>
      <p:sp>
        <p:nvSpPr>
          <p:cNvPr id="92179" name="矩形 98325"/>
          <p:cNvSpPr/>
          <p:nvPr/>
        </p:nvSpPr>
        <p:spPr>
          <a:xfrm>
            <a:off x="0" y="26908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55168067-7DCB-ADEB-8437-4764F6AA881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87</a:t>
            </a:fld>
            <a:endParaRPr lang="zh-CN" altLang="en-US" sz="1400" b="0" dirty="0">
              <a:latin typeface="Times New Roman" panose="02020603050405020304" pitchFamily="18" charset="0"/>
              <a:ea typeface="宋体" panose="02010600030101010101" pitchFamily="2" charset="-122"/>
            </a:endParaRPr>
          </a:p>
        </p:txBody>
      </p:sp>
      <p:sp>
        <p:nvSpPr>
          <p:cNvPr id="98306" name="标题 983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6390" name="文本占位符 98306"/>
          <p:cNvSpPr>
            <a:spLocks noGrp="1" noChangeArrowheads="1"/>
          </p:cNvSpPr>
          <p:nvPr>
            <p:ph type="body" sz="half" idx="1"/>
          </p:nvPr>
        </p:nvSpPr>
        <p:spPr>
          <a:xfrm>
            <a:off x="503238" y="1628775"/>
            <a:ext cx="8208963" cy="50942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小波分析中可逆数字水印方法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二维 </a:t>
            </a:r>
            <a:r>
              <a:rPr kumimoji="0" lang="en-US" altLang="zh-CN" sz="2200" b="1" i="0"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Haar</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离散小波变换是利用一维小波变换的方式先按行变换得到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L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和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两个频带，再按列变换，得到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LL</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LH</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HL</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HH</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四个区域。</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设有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b</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c</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d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四个数据构成的二维数据，其变换可表示为：</a:t>
            </a:r>
          </a:p>
        </p:txBody>
      </p:sp>
      <p:sp>
        <p:nvSpPr>
          <p:cNvPr id="93188" name="矩形 98307"/>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89" name="矩形 9830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0" name="矩形 9830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1" name="矩形 9831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2" name="矩形 98311"/>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3" name="矩形 9831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4" name="矩形 9831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5" name="矩形 9831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6" name="矩形 9831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7" name="矩形 9831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8" name="矩形 9831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199" name="矩形 9831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200" name="矩形 9831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201" name="矩形 98323"/>
          <p:cNvSpPr/>
          <p:nvPr/>
        </p:nvSpPr>
        <p:spPr>
          <a:xfrm>
            <a:off x="0" y="30480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3202" name="矩形 98325"/>
          <p:cNvSpPr/>
          <p:nvPr/>
        </p:nvSpPr>
        <p:spPr>
          <a:xfrm>
            <a:off x="0" y="26908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8325" name="对象 98324"/>
          <p:cNvGraphicFramePr/>
          <p:nvPr>
            <p:extLst>
              <p:ext uri="{D42A27DB-BD31-4B8C-83A1-F6EECF244321}">
                <p14:modId xmlns:p14="http://schemas.microsoft.com/office/powerpoint/2010/main" val="2297451445"/>
              </p:ext>
            </p:extLst>
          </p:nvPr>
        </p:nvGraphicFramePr>
        <p:xfrm>
          <a:off x="3600450" y="4652963"/>
          <a:ext cx="1871663" cy="1908175"/>
        </p:xfrm>
        <a:graphic>
          <a:graphicData uri="http://schemas.openxmlformats.org/presentationml/2006/ole">
            <mc:AlternateContent xmlns:mc="http://schemas.openxmlformats.org/markup-compatibility/2006">
              <mc:Choice xmlns:v="urn:schemas-microsoft-com:vml" Requires="v">
                <p:oleObj r:id="rId2" imgW="1257300" imgH="1473200" progId="Equation.DSMT4">
                  <p:embed/>
                </p:oleObj>
              </mc:Choice>
              <mc:Fallback>
                <p:oleObj r:id="rId2" imgW="1257300" imgH="1473200" progId="Equation.DSMT4">
                  <p:embed/>
                  <p:pic>
                    <p:nvPicPr>
                      <p:cNvPr id="0" name="图片 3093"/>
                      <p:cNvPicPr/>
                      <p:nvPr/>
                    </p:nvPicPr>
                    <p:blipFill>
                      <a:blip r:embed="rId3"/>
                      <a:stretch>
                        <a:fillRect/>
                      </a:stretch>
                    </p:blipFill>
                    <p:spPr>
                      <a:xfrm>
                        <a:off x="3600450" y="4652963"/>
                        <a:ext cx="1871663" cy="1908175"/>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A39ED957-5084-A4CA-A20F-93EEA323B82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88</a:t>
            </a:fld>
            <a:endParaRPr lang="zh-CN" altLang="en-US" sz="1400" b="0" dirty="0">
              <a:latin typeface="Times New Roman" panose="02020603050405020304" pitchFamily="18" charset="0"/>
              <a:ea typeface="宋体" panose="02010600030101010101" pitchFamily="2" charset="-122"/>
            </a:endParaRPr>
          </a:p>
        </p:txBody>
      </p:sp>
      <p:sp>
        <p:nvSpPr>
          <p:cNvPr id="99330" name="标题 993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7415" name="文本占位符 99330"/>
          <p:cNvSpPr>
            <a:spLocks noGrp="1" noChangeArrowheads="1"/>
          </p:cNvSpPr>
          <p:nvPr>
            <p:ph type="body" sz="half" idx="1"/>
          </p:nvPr>
        </p:nvSpPr>
        <p:spPr>
          <a:xfrm>
            <a:off x="1042988" y="1665288"/>
            <a:ext cx="8101013" cy="464502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小波分析中可逆数字水印方法</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2000" b="1" i="0" u="none" strike="noStrike" kern="1200" cap="none" spc="0" normalizeH="0" baseline="0" noProof="0" dirty="0">
              <a:ln>
                <a:noFill/>
              </a:ln>
              <a:solidFill>
                <a:schemeClr val="accent1"/>
              </a:solidFill>
              <a:effectLst/>
              <a:uLnTx/>
              <a:uFillTx/>
              <a:latin typeface="+mn-lt"/>
              <a:ea typeface="+mn-ea"/>
              <a:cs typeface="+mn-cs"/>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其逆变换为：</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accent1"/>
                </a:solidFill>
                <a:effectLst/>
                <a:uLnTx/>
                <a:uFillTx/>
                <a:latin typeface="+mn-lt"/>
                <a:ea typeface="+mn-ea"/>
                <a:cs typeface="+mn-cs"/>
              </a:rPr>
              <a:t>        </a:t>
            </a: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
        <p:nvSpPr>
          <p:cNvPr id="94212" name="矩形 9933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3" name="矩形 9933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4" name="矩形 9933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5" name="矩形 9933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6" name="矩形 99335"/>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7" name="矩形 9933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8" name="矩形 9933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19" name="矩形 9933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0" name="矩形 9933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1" name="矩形 9934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2" name="矩形 9934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3" name="矩形 9934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4" name="矩形 9934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5" name="矩形 99344"/>
          <p:cNvSpPr/>
          <p:nvPr/>
        </p:nvSpPr>
        <p:spPr>
          <a:xfrm>
            <a:off x="0" y="304800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26" name="矩形 99346"/>
          <p:cNvSpPr/>
          <p:nvPr/>
        </p:nvSpPr>
        <p:spPr>
          <a:xfrm>
            <a:off x="0" y="26908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4227" name="对象 99347"/>
          <p:cNvGraphicFramePr/>
          <p:nvPr>
            <p:extLst>
              <p:ext uri="{D42A27DB-BD31-4B8C-83A1-F6EECF244321}">
                <p14:modId xmlns:p14="http://schemas.microsoft.com/office/powerpoint/2010/main" val="1111898521"/>
              </p:ext>
            </p:extLst>
          </p:nvPr>
        </p:nvGraphicFramePr>
        <p:xfrm>
          <a:off x="1042988" y="2492375"/>
          <a:ext cx="1633537" cy="1917700"/>
        </p:xfrm>
        <a:graphic>
          <a:graphicData uri="http://schemas.openxmlformats.org/presentationml/2006/ole">
            <mc:AlternateContent xmlns:mc="http://schemas.openxmlformats.org/markup-compatibility/2006">
              <mc:Choice xmlns:v="urn:schemas-microsoft-com:vml" Requires="v">
                <p:oleObj r:id="rId2" imgW="1257300" imgH="1473200" progId="Equation.DSMT4">
                  <p:embed/>
                </p:oleObj>
              </mc:Choice>
              <mc:Fallback>
                <p:oleObj r:id="rId2" imgW="1257300" imgH="1473200" progId="Equation.DSMT4">
                  <p:embed/>
                  <p:pic>
                    <p:nvPicPr>
                      <p:cNvPr id="0" name="图片 3094"/>
                      <p:cNvPicPr/>
                      <p:nvPr/>
                    </p:nvPicPr>
                    <p:blipFill>
                      <a:blip r:embed="rId3"/>
                      <a:stretch>
                        <a:fillRect/>
                      </a:stretch>
                    </p:blipFill>
                    <p:spPr>
                      <a:xfrm>
                        <a:off x="1042988" y="2492375"/>
                        <a:ext cx="1633537" cy="1917700"/>
                      </a:xfrm>
                      <a:prstGeom prst="rect">
                        <a:avLst/>
                      </a:prstGeom>
                      <a:noFill/>
                      <a:ln w="38100">
                        <a:noFill/>
                        <a:miter/>
                      </a:ln>
                    </p:spPr>
                  </p:pic>
                </p:oleObj>
              </mc:Fallback>
            </mc:AlternateContent>
          </a:graphicData>
        </a:graphic>
      </p:graphicFrame>
      <p:sp>
        <p:nvSpPr>
          <p:cNvPr id="94228" name="矩形 99349"/>
          <p:cNvSpPr/>
          <p:nvPr/>
        </p:nvSpPr>
        <p:spPr>
          <a:xfrm>
            <a:off x="0" y="318135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4229" name="对象 99348"/>
          <p:cNvGraphicFramePr/>
          <p:nvPr>
            <p:extLst>
              <p:ext uri="{D42A27DB-BD31-4B8C-83A1-F6EECF244321}">
                <p14:modId xmlns:p14="http://schemas.microsoft.com/office/powerpoint/2010/main" val="264562170"/>
              </p:ext>
            </p:extLst>
          </p:nvPr>
        </p:nvGraphicFramePr>
        <p:xfrm>
          <a:off x="3721100" y="3105150"/>
          <a:ext cx="5064125" cy="781050"/>
        </p:xfrm>
        <a:graphic>
          <a:graphicData uri="http://schemas.openxmlformats.org/presentationml/2006/ole">
            <mc:AlternateContent xmlns:mc="http://schemas.openxmlformats.org/markup-compatibility/2006">
              <mc:Choice xmlns:v="urn:schemas-microsoft-com:vml" Requires="v">
                <p:oleObj r:id="rId4" imgW="3619500" imgH="558800" progId="Equation.DSMT4">
                  <p:embed/>
                </p:oleObj>
              </mc:Choice>
              <mc:Fallback>
                <p:oleObj r:id="rId4" imgW="3619500" imgH="558800" progId="Equation.DSMT4">
                  <p:embed/>
                  <p:pic>
                    <p:nvPicPr>
                      <p:cNvPr id="0" name="图片 3095"/>
                      <p:cNvPicPr/>
                      <p:nvPr/>
                    </p:nvPicPr>
                    <p:blipFill>
                      <a:blip r:embed="rId5"/>
                      <a:stretch>
                        <a:fillRect/>
                      </a:stretch>
                    </p:blipFill>
                    <p:spPr>
                      <a:xfrm>
                        <a:off x="3721100" y="3105150"/>
                        <a:ext cx="5064125" cy="781050"/>
                      </a:xfrm>
                      <a:prstGeom prst="rect">
                        <a:avLst/>
                      </a:prstGeom>
                      <a:noFill/>
                      <a:ln w="38100">
                        <a:noFill/>
                        <a:miter/>
                      </a:ln>
                    </p:spPr>
                  </p:pic>
                </p:oleObj>
              </mc:Fallback>
            </mc:AlternateContent>
          </a:graphicData>
        </a:graphic>
      </p:graphicFrame>
      <p:sp>
        <p:nvSpPr>
          <p:cNvPr id="94230" name="左右箭头 99350"/>
          <p:cNvSpPr/>
          <p:nvPr/>
        </p:nvSpPr>
        <p:spPr>
          <a:xfrm>
            <a:off x="2735263" y="3357563"/>
            <a:ext cx="865187" cy="250825"/>
          </a:xfrm>
          <a:prstGeom prst="leftRightArrow">
            <a:avLst>
              <a:gd name="adj1" fmla="val 50000"/>
              <a:gd name="adj2" fmla="val 68907"/>
            </a:avLst>
          </a:prstGeom>
          <a:solidFill>
            <a:schemeClr val="tx1"/>
          </a:solidFill>
          <a:ln w="12700" cap="sq" cmpd="sng">
            <a:solidFill>
              <a:schemeClr val="tx1"/>
            </a:solidFill>
            <a:prstDash val="solid"/>
            <a:miter/>
            <a:headEnd type="none" w="med" len="med"/>
            <a:tailEnd type="none" w="med" len="med"/>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4231" name="矩形 99352"/>
          <p:cNvSpPr/>
          <p:nvPr/>
        </p:nvSpPr>
        <p:spPr>
          <a:xfrm>
            <a:off x="0" y="2384425"/>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graphicFrame>
        <p:nvGraphicFramePr>
          <p:cNvPr id="94232" name="对象 99351"/>
          <p:cNvGraphicFramePr/>
          <p:nvPr>
            <p:extLst>
              <p:ext uri="{D42A27DB-BD31-4B8C-83A1-F6EECF244321}">
                <p14:modId xmlns:p14="http://schemas.microsoft.com/office/powerpoint/2010/main" val="4201505237"/>
              </p:ext>
            </p:extLst>
          </p:nvPr>
        </p:nvGraphicFramePr>
        <p:xfrm>
          <a:off x="3348038" y="5192713"/>
          <a:ext cx="5414962" cy="836612"/>
        </p:xfrm>
        <a:graphic>
          <a:graphicData uri="http://schemas.openxmlformats.org/presentationml/2006/ole">
            <mc:AlternateContent xmlns:mc="http://schemas.openxmlformats.org/markup-compatibility/2006">
              <mc:Choice xmlns:v="urn:schemas-microsoft-com:vml" Requires="v">
                <p:oleObj r:id="rId6" imgW="3619500" imgH="558800" progId="Equation.DSMT4">
                  <p:embed/>
                </p:oleObj>
              </mc:Choice>
              <mc:Fallback>
                <p:oleObj r:id="rId6" imgW="3619500" imgH="558800" progId="Equation.DSMT4">
                  <p:embed/>
                  <p:pic>
                    <p:nvPicPr>
                      <p:cNvPr id="0" name="图片 3096"/>
                      <p:cNvPicPr/>
                      <p:nvPr/>
                    </p:nvPicPr>
                    <p:blipFill>
                      <a:blip r:embed="rId7"/>
                      <a:stretch>
                        <a:fillRect/>
                      </a:stretch>
                    </p:blipFill>
                    <p:spPr>
                      <a:xfrm>
                        <a:off x="3348038" y="5192713"/>
                        <a:ext cx="5414962" cy="836612"/>
                      </a:xfrm>
                      <a:prstGeom prst="rect">
                        <a:avLst/>
                      </a:prstGeom>
                      <a:noFill/>
                      <a:ln w="38100">
                        <a:noFill/>
                        <a:miter/>
                      </a:ln>
                    </p:spPr>
                  </p:pic>
                </p:oleObj>
              </mc:Fallback>
            </mc:AlternateContent>
          </a:graphicData>
        </a:graphic>
      </p:graphicFrame>
      <p:pic>
        <p:nvPicPr>
          <p:cNvPr id="2" name="图片 1">
            <a:extLst>
              <a:ext uri="{FF2B5EF4-FFF2-40B4-BE49-F238E27FC236}">
                <a16:creationId xmlns:a16="http://schemas.microsoft.com/office/drawing/2014/main" id="{136EBF25-BB70-6896-8253-AA08404E66B9}"/>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89</a:t>
            </a:fld>
            <a:endParaRPr lang="zh-CN" altLang="en-US" sz="1400" b="0" dirty="0">
              <a:latin typeface="Times New Roman" panose="02020603050405020304" pitchFamily="18" charset="0"/>
              <a:ea typeface="宋体" panose="02010600030101010101" pitchFamily="2" charset="-122"/>
            </a:endParaRPr>
          </a:p>
        </p:txBody>
      </p:sp>
      <p:sp>
        <p:nvSpPr>
          <p:cNvPr id="100354" name="标题 10035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1140" name="文本占位符 100354"/>
          <p:cNvSpPr>
            <a:spLocks noGrp="1" noChangeArrowheads="1"/>
          </p:cNvSpPr>
          <p:nvPr>
            <p:ph type="body" sz="half" idx="1"/>
          </p:nvPr>
        </p:nvSpPr>
        <p:spPr>
          <a:xfrm>
            <a:off x="1043608" y="1665288"/>
            <a:ext cx="7416824" cy="475297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软件水印技术</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软件水印（</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Software Watermarking</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）是嵌入到程序当中的秘密消息，这些消息应该能够方便而且可靠地提取出来，以证明软件的所有权，并且具有在保证程序功能的情况下不能或者是难以去除该消息的功能。</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95236" name="矩形 100355"/>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37" name="矩形 10035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38" name="矩形 10035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39" name="矩形 10035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0" name="矩形 100359"/>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1" name="矩形 10036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2" name="矩形 10036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3" name="矩形 10036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4" name="矩形 10036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5" name="矩形 10036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6" name="矩形 10036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7" name="矩形 10036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5248" name="矩形 10036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1EF19832-3CDA-859C-0198-19B54E4FF0F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90</a:t>
            </a:fld>
            <a:endParaRPr lang="zh-CN" altLang="en-US" sz="1400" b="0" dirty="0">
              <a:latin typeface="Times New Roman" panose="02020603050405020304" pitchFamily="18" charset="0"/>
              <a:ea typeface="宋体" panose="02010600030101010101" pitchFamily="2" charset="-122"/>
            </a:endParaRPr>
          </a:p>
        </p:txBody>
      </p:sp>
      <p:sp>
        <p:nvSpPr>
          <p:cNvPr id="100354" name="标题 10035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1140" name="文本占位符 100354"/>
          <p:cNvSpPr>
            <a:spLocks noGrp="1" noChangeArrowheads="1"/>
          </p:cNvSpPr>
          <p:nvPr>
            <p:ph type="body" sz="half" idx="1"/>
          </p:nvPr>
        </p:nvSpPr>
        <p:spPr>
          <a:xfrm>
            <a:off x="827585" y="1665288"/>
            <a:ext cx="7813178" cy="475297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软件水印技术</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根据软件水印的提取技术可分为静态水印和动态水印。</a:t>
            </a:r>
          </a:p>
        </p:txBody>
      </p:sp>
      <p:sp>
        <p:nvSpPr>
          <p:cNvPr id="96260" name="矩形 100355"/>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1" name="矩形 10035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2" name="矩形 10035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3" name="矩形 10035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4" name="矩形 100359"/>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5" name="矩形 10036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6" name="矩形 10036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7" name="矩形 10036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8" name="矩形 10036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69" name="矩形 10036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70" name="矩形 10036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71" name="矩形 10036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6272" name="矩形 10036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19" name="图片 18"/>
          <p:cNvPicPr>
            <a:picLocks noChangeAspect="1"/>
          </p:cNvPicPr>
          <p:nvPr/>
        </p:nvPicPr>
        <p:blipFill>
          <a:blip r:embed="rId2"/>
          <a:srcRect b="8434"/>
          <a:stretch>
            <a:fillRect/>
          </a:stretch>
        </p:blipFill>
        <p:spPr>
          <a:xfrm>
            <a:off x="1529493" y="3411525"/>
            <a:ext cx="6409361" cy="3143251"/>
          </a:xfrm>
          <a:prstGeom prst="rect">
            <a:avLst/>
          </a:prstGeom>
          <a:noFill/>
          <a:ln w="12700">
            <a:noFill/>
          </a:ln>
        </p:spPr>
      </p:pic>
      <p:pic>
        <p:nvPicPr>
          <p:cNvPr id="2" name="图片 1">
            <a:extLst>
              <a:ext uri="{FF2B5EF4-FFF2-40B4-BE49-F238E27FC236}">
                <a16:creationId xmlns:a16="http://schemas.microsoft.com/office/drawing/2014/main" id="{8CE79F1C-A76C-7214-77FE-D85B8F71A31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91</a:t>
            </a:fld>
            <a:endParaRPr lang="zh-CN" altLang="en-US" sz="1400" b="0" dirty="0">
              <a:latin typeface="Times New Roman" panose="02020603050405020304" pitchFamily="18" charset="0"/>
              <a:ea typeface="宋体" panose="02010600030101010101" pitchFamily="2" charset="-122"/>
            </a:endParaRPr>
          </a:p>
        </p:txBody>
      </p:sp>
      <p:sp>
        <p:nvSpPr>
          <p:cNvPr id="101378" name="标题 10137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4211" name="文本占位符 101378"/>
          <p:cNvSpPr>
            <a:spLocks noGrp="1" noChangeArrowheads="1"/>
          </p:cNvSpPr>
          <p:nvPr>
            <p:ph type="body" sz="half" idx="1"/>
          </p:nvPr>
        </p:nvSpPr>
        <p:spPr>
          <a:xfrm>
            <a:off x="584468" y="1669438"/>
            <a:ext cx="8316913" cy="4716463"/>
          </a:xfrm>
        </p:spPr>
        <p:txBody>
          <a:bodyPr vert="horz" wrap="square" lIns="91440" tIns="45720" rIns="91440" bIns="45720" numCol="1" rtlCol="0" anchor="t" anchorCtr="0" compatLnSpc="1">
            <a:normAutofit fontScale="85000" lnSpcReduction="10000"/>
          </a:bodyPr>
          <a:lstStyle/>
          <a:p>
            <a:pPr marL="609600" marR="0" lvl="0" indent="-609600" algn="l" defTabSz="685800" rtl="0" eaLnBrk="1" fontAlgn="base" latinLnBrk="0" hangingPunct="1">
              <a:lnSpc>
                <a:spcPct val="110000"/>
              </a:lnSpc>
              <a:spcBef>
                <a:spcPts val="750"/>
              </a:spcBef>
              <a:spcAft>
                <a:spcPct val="0"/>
              </a:spcAft>
              <a:buClr>
                <a:schemeClr val="accent1"/>
              </a:buClr>
              <a:buSzPct val="80000"/>
              <a:buFont typeface="Wingdings" panose="05000000000000000000" pitchFamily="2" charset="2"/>
              <a:buChar char="!"/>
              <a:defRPr/>
            </a:pPr>
            <a:r>
              <a:rPr kumimoji="0" lang="zh-CN" altLang="en-US" sz="3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软件水印技术</a:t>
            </a:r>
          </a:p>
          <a:p>
            <a:pPr marL="0" marR="0" lvl="0" indent="0" algn="l" defTabSz="685800" rtl="0" eaLnBrk="1" fontAlgn="base" latinLnBrk="0" hangingPunct="1">
              <a:lnSpc>
                <a:spcPct val="80000"/>
              </a:lnSpc>
              <a:spcBef>
                <a:spcPts val="750"/>
              </a:spcBef>
              <a:spcAft>
                <a:spcPct val="0"/>
              </a:spcAft>
              <a:buClr>
                <a:schemeClr val="accent2"/>
              </a:buClr>
              <a:buSzPct val="80000"/>
              <a:buNone/>
              <a:defRPr/>
            </a:pPr>
            <a:endParaRPr kumimoji="0" lang="zh-CN" altLang="en-US" sz="19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）静态数据水印 </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静态数据水印容易产生和识别，是一种常见的水印。这种水印可以在程序中的一些数据中体现出来，因而很容易被迷乱攻击破坏。</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）静态代码水印</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与多媒体水印通常是加在载体上的冗余部分类似，可以用相同的方式来构造代码水印，因为目标代码也包含了冗余信息。静态代码水印</a:t>
            </a:r>
            <a:r>
              <a:rPr lang="zh-CN" altLang="en-US" sz="2400" b="1" dirty="0">
                <a:solidFill>
                  <a:schemeClr val="tx1"/>
                </a:solidFill>
                <a:latin typeface="华文细黑" panose="02010600040101010101" pitchFamily="2" charset="-122"/>
                <a:ea typeface="华文细黑" panose="02010600040101010101" pitchFamily="2" charset="-122"/>
              </a:rPr>
              <a:t>即</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经不起一些简单的攻击（如调整指令的顺序），也难以抵抗语义保持变换攻击。</a:t>
            </a:r>
            <a:endParaRPr kumimoji="0" lang="zh-CN" altLang="en-US" sz="1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
        <p:nvSpPr>
          <p:cNvPr id="97284" name="矩形 101379"/>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85" name="矩形 10138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86" name="矩形 10138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87" name="矩形 10138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88" name="矩形 101383"/>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89" name="矩形 10138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0" name="矩形 10138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1" name="矩形 10138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2" name="矩形 10138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3" name="矩形 10138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4" name="矩形 10138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5" name="矩形 10139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7296" name="矩形 10139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EFB3E4B1-8B59-8F14-9DE6-686A8F6CCC0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92</a:t>
            </a:fld>
            <a:endParaRPr lang="zh-CN" altLang="en-US" sz="1400" b="0" dirty="0">
              <a:latin typeface="Times New Roman" panose="02020603050405020304" pitchFamily="18" charset="0"/>
              <a:ea typeface="宋体" panose="02010600030101010101" pitchFamily="2" charset="-122"/>
            </a:endParaRPr>
          </a:p>
        </p:txBody>
      </p:sp>
      <p:sp>
        <p:nvSpPr>
          <p:cNvPr id="104450" name="标题 1044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3188" name="文本占位符 104450"/>
          <p:cNvSpPr>
            <a:spLocks noGrp="1" noChangeArrowheads="1"/>
          </p:cNvSpPr>
          <p:nvPr>
            <p:ph type="body" sz="half" idx="1"/>
          </p:nvPr>
        </p:nvSpPr>
        <p:spPr>
          <a:xfrm>
            <a:off x="647701" y="1665288"/>
            <a:ext cx="8172772" cy="50403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软件水印技术</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Easter Egg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水印</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该水印无须检测，它通过一个输入产生一个输出。该水印的主要问题是水印在程序中的位置容易找到，一旦输入正确信息，用 </a:t>
            </a:r>
            <a:r>
              <a:rPr kumimoji="0" lang="en-US" altLang="zh-CN" sz="2200" b="1" i="0" u="none" strike="noStrike" kern="120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cs typeface="+mn-cs"/>
              </a:rPr>
              <a:t>softice</a:t>
            </a:r>
            <a:r>
              <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这样的标准调试软件就可以跟踪程序执行情况，进而找到水印的位置，所以这种水印不是很安全。</a:t>
            </a:r>
          </a:p>
        </p:txBody>
      </p:sp>
      <p:sp>
        <p:nvSpPr>
          <p:cNvPr id="98308" name="矩形 10445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09" name="矩形 10445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0" name="矩形 10445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1" name="矩形 10445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2" name="矩形 104455"/>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3" name="矩形 10445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4" name="矩形 10445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5" name="矩形 10445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6" name="矩形 10445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7" name="矩形 10446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8" name="矩形 10446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19" name="矩形 10446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8320" name="矩形 10446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4F0F9F62-EC9D-3EA9-D045-5639CC76A65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93</a:t>
            </a:fld>
            <a:endParaRPr lang="zh-CN" altLang="en-US" sz="1400" b="0" dirty="0">
              <a:latin typeface="Times New Roman" panose="02020603050405020304" pitchFamily="18" charset="0"/>
              <a:ea typeface="宋体" panose="02010600030101010101" pitchFamily="2" charset="-122"/>
            </a:endParaRPr>
          </a:p>
        </p:txBody>
      </p:sp>
      <p:sp>
        <p:nvSpPr>
          <p:cNvPr id="104450" name="标题 1044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3188" name="文本占位符 104450"/>
          <p:cNvSpPr>
            <a:spLocks noGrp="1" noChangeArrowheads="1"/>
          </p:cNvSpPr>
          <p:nvPr>
            <p:ph type="body" sz="half" idx="1"/>
          </p:nvPr>
        </p:nvSpPr>
        <p:spPr>
          <a:xfrm>
            <a:off x="539750" y="1628775"/>
            <a:ext cx="8316913" cy="50403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软件水印技术</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）动态数据结构水印</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这种水印的机制是：输入特定信息激发程序把水印信息隐藏在堆、栈或者全局变量域等程序状态中。当所有信息都输完之后，通过检测程序变量的当前值来进行水印提取。</a:t>
            </a:r>
            <a:endPar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5</a:t>
            </a: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）动态执行过程水印</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当程序在特定的输入下运行时，对程序中指令的执行顺序或内存地址走向进行编码生成水印。水印检测则通过控制地址和操作码顺序的统计特性来进行。</a:t>
            </a:r>
            <a:endParaRPr kumimoji="0" lang="zh-CN" altLang="en-US" sz="20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
        <p:nvSpPr>
          <p:cNvPr id="99332" name="矩形 10445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3" name="矩形 10445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4" name="矩形 10445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5" name="矩形 10445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6" name="矩形 104455"/>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7" name="矩形 10445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8" name="矩形 10445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39" name="矩形 10445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40" name="矩形 10445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41" name="矩形 10446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42" name="矩形 10446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43" name="矩形 10446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99344" name="矩形 10446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1BDC2F97-93CE-36AA-BA27-1CAD4FD652B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94</a:t>
            </a:fld>
            <a:endParaRPr lang="zh-CN" altLang="en-US" sz="1400" b="0" dirty="0">
              <a:latin typeface="Times New Roman" panose="02020603050405020304" pitchFamily="18" charset="0"/>
              <a:ea typeface="宋体" panose="02010600030101010101" pitchFamily="2" charset="-122"/>
            </a:endParaRPr>
          </a:p>
        </p:txBody>
      </p:sp>
      <p:sp>
        <p:nvSpPr>
          <p:cNvPr id="135170" name="标题 1351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2.3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数字水印技术</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5236" name="文本占位符 135170"/>
          <p:cNvSpPr>
            <a:spLocks noGrp="1" noChangeArrowheads="1"/>
          </p:cNvSpPr>
          <p:nvPr>
            <p:ph type="body" sz="half" idx="1"/>
          </p:nvPr>
        </p:nvSpPr>
        <p:spPr>
          <a:xfrm>
            <a:off x="755650" y="1628775"/>
            <a:ext cx="7773988" cy="460853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软件水印技术</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软件水印有以下一些应用： </a:t>
            </a:r>
          </a:p>
          <a:p>
            <a:pPr marL="685800" lvl="2" indent="0" eaLnBrk="1" hangingPunct="1">
              <a:lnSpc>
                <a:spcPct val="150000"/>
              </a:lnSpc>
              <a:spcBef>
                <a:spcPts val="600"/>
              </a:spcBef>
              <a:buSzPct val="80000"/>
              <a:buNone/>
              <a:defRPr/>
            </a:pPr>
            <a:r>
              <a:rPr kumimoji="0" lang="zh-CN" altLang="en-US" sz="17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17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17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）软件版权申明（</a:t>
            </a:r>
            <a:r>
              <a:rPr kumimoji="0" lang="en-US" altLang="zh-CN" sz="17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Authorship</a:t>
            </a:r>
            <a:r>
              <a:rPr kumimoji="0" lang="zh-CN" altLang="en-US" sz="17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685800" lvl="2" indent="0" eaLnBrk="1" hangingPunct="1">
              <a:lnSpc>
                <a:spcPct val="150000"/>
              </a:lnSpc>
              <a:spcBef>
                <a:spcPts val="600"/>
              </a:spcBef>
              <a:buSzPct val="80000"/>
              <a:buNone/>
              <a:defRPr/>
            </a:pPr>
            <a:r>
              <a:rPr lang="zh-CN" altLang="en-US" sz="1700" b="1" dirty="0">
                <a:solidFill>
                  <a:schemeClr val="tx1"/>
                </a:solidFill>
                <a:latin typeface="华文细黑" panose="02010600040101010101" pitchFamily="2" charset="-122"/>
                <a:ea typeface="华文细黑" panose="02010600040101010101" pitchFamily="2" charset="-122"/>
              </a:rPr>
              <a:t>（</a:t>
            </a:r>
            <a:r>
              <a:rPr lang="en-US" altLang="zh-CN" sz="1700" b="1" dirty="0">
                <a:solidFill>
                  <a:schemeClr val="tx1"/>
                </a:solidFill>
                <a:latin typeface="华文细黑" panose="02010600040101010101" pitchFamily="2" charset="-122"/>
                <a:ea typeface="华文细黑" panose="02010600040101010101" pitchFamily="2" charset="-122"/>
              </a:rPr>
              <a:t>2</a:t>
            </a:r>
            <a:r>
              <a:rPr lang="zh-CN" altLang="en-US" sz="1700" b="1" dirty="0">
                <a:solidFill>
                  <a:schemeClr val="tx1"/>
                </a:solidFill>
                <a:latin typeface="华文细黑" panose="02010600040101010101" pitchFamily="2" charset="-122"/>
                <a:ea typeface="华文细黑" panose="02010600040101010101" pitchFamily="2" charset="-122"/>
              </a:rPr>
              <a:t>）软件版权证明（</a:t>
            </a:r>
            <a:r>
              <a:rPr lang="en-US" altLang="zh-CN" sz="1700" b="1" dirty="0">
                <a:solidFill>
                  <a:schemeClr val="tx1"/>
                </a:solidFill>
                <a:latin typeface="华文细黑" panose="02010600040101010101" pitchFamily="2" charset="-122"/>
                <a:ea typeface="华文细黑" panose="02010600040101010101" pitchFamily="2" charset="-122"/>
              </a:rPr>
              <a:t>Authentication</a:t>
            </a:r>
            <a:r>
              <a:rPr lang="zh-CN" altLang="en-US" sz="1700" b="1" dirty="0">
                <a:solidFill>
                  <a:schemeClr val="tx1"/>
                </a:solidFill>
                <a:latin typeface="华文细黑" panose="02010600040101010101" pitchFamily="2" charset="-122"/>
                <a:ea typeface="华文细黑" panose="02010600040101010101" pitchFamily="2" charset="-122"/>
              </a:rPr>
              <a:t>）</a:t>
            </a:r>
          </a:p>
          <a:p>
            <a:pPr marL="685800" lvl="2" indent="0" eaLnBrk="1" hangingPunct="1">
              <a:lnSpc>
                <a:spcPct val="150000"/>
              </a:lnSpc>
              <a:spcBef>
                <a:spcPts val="600"/>
              </a:spcBef>
              <a:buSzPct val="80000"/>
              <a:buNone/>
              <a:defRPr/>
            </a:pPr>
            <a:r>
              <a:rPr lang="zh-CN" altLang="en-US" sz="1700" b="1" dirty="0">
                <a:solidFill>
                  <a:schemeClr val="tx1"/>
                </a:solidFill>
                <a:latin typeface="华文细黑" panose="02010600040101010101" pitchFamily="2" charset="-122"/>
                <a:ea typeface="华文细黑" panose="02010600040101010101" pitchFamily="2" charset="-122"/>
              </a:rPr>
              <a:t>（</a:t>
            </a:r>
            <a:r>
              <a:rPr lang="en-US" altLang="zh-CN" sz="1700" b="1" dirty="0">
                <a:solidFill>
                  <a:schemeClr val="tx1"/>
                </a:solidFill>
                <a:latin typeface="华文细黑" panose="02010600040101010101" pitchFamily="2" charset="-122"/>
                <a:ea typeface="华文细黑" panose="02010600040101010101" pitchFamily="2" charset="-122"/>
              </a:rPr>
              <a:t>3</a:t>
            </a:r>
            <a:r>
              <a:rPr lang="zh-CN" altLang="en-US" sz="1700" b="1" dirty="0">
                <a:solidFill>
                  <a:schemeClr val="tx1"/>
                </a:solidFill>
                <a:latin typeface="华文细黑" panose="02010600040101010101" pitchFamily="2" charset="-122"/>
                <a:ea typeface="华文细黑" panose="02010600040101010101" pitchFamily="2" charset="-122"/>
              </a:rPr>
              <a:t>）盗版源的跟踪 </a:t>
            </a:r>
          </a:p>
          <a:p>
            <a:pPr marL="685800" lvl="2" indent="0" eaLnBrk="1" hangingPunct="1">
              <a:lnSpc>
                <a:spcPct val="150000"/>
              </a:lnSpc>
              <a:spcBef>
                <a:spcPts val="600"/>
              </a:spcBef>
              <a:buSzPct val="80000"/>
              <a:buNone/>
              <a:defRPr/>
            </a:pPr>
            <a:r>
              <a:rPr lang="zh-CN" altLang="en-US" sz="1700" b="1" dirty="0">
                <a:solidFill>
                  <a:schemeClr val="tx1"/>
                </a:solidFill>
                <a:latin typeface="华文细黑" panose="02010600040101010101" pitchFamily="2" charset="-122"/>
                <a:ea typeface="华文细黑" panose="02010600040101010101" pitchFamily="2" charset="-122"/>
              </a:rPr>
              <a:t>（</a:t>
            </a:r>
            <a:r>
              <a:rPr lang="en-US" altLang="zh-CN" sz="1700" b="1" dirty="0">
                <a:solidFill>
                  <a:schemeClr val="tx1"/>
                </a:solidFill>
                <a:latin typeface="华文细黑" panose="02010600040101010101" pitchFamily="2" charset="-122"/>
                <a:ea typeface="华文细黑" panose="02010600040101010101" pitchFamily="2" charset="-122"/>
              </a:rPr>
              <a:t>4</a:t>
            </a:r>
            <a:r>
              <a:rPr lang="zh-CN" altLang="en-US" sz="1700" b="1" dirty="0">
                <a:solidFill>
                  <a:schemeClr val="tx1"/>
                </a:solidFill>
                <a:latin typeface="华文细黑" panose="02010600040101010101" pitchFamily="2" charset="-122"/>
                <a:ea typeface="华文细黑" panose="02010600040101010101" pitchFamily="2" charset="-122"/>
              </a:rPr>
              <a:t>）非法复用软件模块的发现 </a:t>
            </a:r>
          </a:p>
          <a:p>
            <a:pPr marL="685800" lvl="2" indent="0" eaLnBrk="1" hangingPunct="1">
              <a:lnSpc>
                <a:spcPct val="150000"/>
              </a:lnSpc>
              <a:spcBef>
                <a:spcPts val="600"/>
              </a:spcBef>
              <a:buSzPct val="80000"/>
              <a:buNone/>
              <a:defRPr/>
            </a:pPr>
            <a:r>
              <a:rPr lang="zh-CN" altLang="en-US" sz="1700" b="1" dirty="0">
                <a:solidFill>
                  <a:schemeClr val="tx1"/>
                </a:solidFill>
                <a:latin typeface="华文细黑" panose="02010600040101010101" pitchFamily="2" charset="-122"/>
                <a:ea typeface="华文细黑" panose="02010600040101010101" pitchFamily="2" charset="-122"/>
              </a:rPr>
              <a:t>（</a:t>
            </a:r>
            <a:r>
              <a:rPr lang="en-US" altLang="zh-CN" sz="1700" b="1" dirty="0">
                <a:solidFill>
                  <a:schemeClr val="tx1"/>
                </a:solidFill>
                <a:latin typeface="华文细黑" panose="02010600040101010101" pitchFamily="2" charset="-122"/>
                <a:ea typeface="华文细黑" panose="02010600040101010101" pitchFamily="2" charset="-122"/>
              </a:rPr>
              <a:t>5</a:t>
            </a:r>
            <a:r>
              <a:rPr lang="zh-CN" altLang="en-US" sz="1700" b="1" dirty="0">
                <a:solidFill>
                  <a:schemeClr val="tx1"/>
                </a:solidFill>
                <a:latin typeface="华文细黑" panose="02010600040101010101" pitchFamily="2" charset="-122"/>
                <a:ea typeface="华文细黑" panose="02010600040101010101" pitchFamily="2" charset="-122"/>
              </a:rPr>
              <a:t>）盗版自报告                  </a:t>
            </a:r>
            <a:endParaRPr lang="en-US" altLang="zh-CN" sz="1700" b="1" dirty="0">
              <a:solidFill>
                <a:schemeClr val="tx1"/>
              </a:solidFill>
              <a:latin typeface="华文细黑" panose="02010600040101010101" pitchFamily="2" charset="-122"/>
              <a:ea typeface="华文细黑" panose="02010600040101010101" pitchFamily="2" charset="-122"/>
            </a:endParaRPr>
          </a:p>
          <a:p>
            <a:pPr marL="685800" lvl="2" indent="0" eaLnBrk="1" hangingPunct="1">
              <a:lnSpc>
                <a:spcPct val="150000"/>
              </a:lnSpc>
              <a:spcBef>
                <a:spcPts val="600"/>
              </a:spcBef>
              <a:buSzPct val="80000"/>
              <a:buNone/>
              <a:defRPr/>
            </a:pPr>
            <a:r>
              <a:rPr lang="zh-CN" altLang="en-US" sz="1700" b="1" dirty="0">
                <a:solidFill>
                  <a:schemeClr val="tx1"/>
                </a:solidFill>
                <a:latin typeface="华文细黑" panose="02010600040101010101" pitchFamily="2" charset="-122"/>
                <a:ea typeface="华文细黑" panose="02010600040101010101" pitchFamily="2" charset="-122"/>
              </a:rPr>
              <a:t>（</a:t>
            </a:r>
            <a:r>
              <a:rPr lang="en-US" altLang="zh-CN" sz="1700" b="1" dirty="0">
                <a:solidFill>
                  <a:schemeClr val="tx1"/>
                </a:solidFill>
                <a:latin typeface="华文细黑" panose="02010600040101010101" pitchFamily="2" charset="-122"/>
                <a:ea typeface="华文细黑" panose="02010600040101010101" pitchFamily="2" charset="-122"/>
              </a:rPr>
              <a:t>6</a:t>
            </a:r>
            <a:r>
              <a:rPr lang="zh-CN" altLang="en-US" sz="1700" b="1" dirty="0">
                <a:solidFill>
                  <a:schemeClr val="tx1"/>
                </a:solidFill>
                <a:latin typeface="华文细黑" panose="02010600040101010101" pitchFamily="2" charset="-122"/>
                <a:ea typeface="华文细黑" panose="02010600040101010101" pitchFamily="2" charset="-122"/>
              </a:rPr>
              <a:t>）盗版自发现 </a:t>
            </a:r>
          </a:p>
        </p:txBody>
      </p:sp>
      <p:sp>
        <p:nvSpPr>
          <p:cNvPr id="101380" name="矩形 135171"/>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1" name="矩形 13517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2" name="矩形 13517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3" name="矩形 13517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4" name="矩形 135175"/>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5" name="矩形 13517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6" name="矩形 13517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7" name="矩形 13517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8" name="矩形 13517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89" name="矩形 13518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90" name="矩形 13518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91" name="矩形 13518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1392" name="矩形 13518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095763F0-9EDA-0098-8648-76822AAA5C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95</a:t>
            </a:fld>
            <a:endParaRPr lang="zh-CN" altLang="en-US" sz="1400" b="0" dirty="0">
              <a:latin typeface="Times New Roman" panose="02020603050405020304" pitchFamily="18" charset="0"/>
              <a:ea typeface="宋体" panose="02010600030101010101" pitchFamily="2" charset="-122"/>
            </a:endParaRPr>
          </a:p>
        </p:txBody>
      </p:sp>
      <p:sp>
        <p:nvSpPr>
          <p:cNvPr id="106498" name="标题 10649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2.4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信息隐藏的应用与发展</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6260" name="文本占位符 106498"/>
          <p:cNvSpPr>
            <a:spLocks noGrp="1" noChangeArrowheads="1"/>
          </p:cNvSpPr>
          <p:nvPr>
            <p:ph type="body" sz="half" idx="1"/>
          </p:nvPr>
        </p:nvSpPr>
        <p:spPr>
          <a:xfrm>
            <a:off x="647700" y="1844675"/>
            <a:ext cx="8101013" cy="406876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信息隐藏技术的应用与发展方向</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）数字知识的产权保护</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）数据完整性鉴定</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）数据保密</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）资料不可抵赖性的确认</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28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        </a:t>
            </a: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p:txBody>
      </p:sp>
      <p:sp>
        <p:nvSpPr>
          <p:cNvPr id="102404" name="矩形 106499"/>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05" name="矩形 10650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06" name="矩形 10650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07" name="矩形 10650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08" name="矩形 106503"/>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09" name="矩形 10650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0" name="矩形 10650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1" name="矩形 106506"/>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2" name="矩形 106507"/>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3" name="矩形 10650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4" name="矩形 10650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5" name="矩形 10651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2416" name="矩形 106511"/>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CF09388D-B9BF-8A56-1065-97F40387416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96</a:t>
            </a:fld>
            <a:endParaRPr lang="zh-CN" altLang="en-US" sz="1400" b="0" dirty="0">
              <a:latin typeface="Times New Roman" panose="02020603050405020304" pitchFamily="18" charset="0"/>
              <a:ea typeface="宋体" panose="02010600030101010101" pitchFamily="2" charset="-122"/>
            </a:endParaRPr>
          </a:p>
        </p:txBody>
      </p:sp>
      <p:sp>
        <p:nvSpPr>
          <p:cNvPr id="136194" name="标题 13619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2.4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信息隐藏的应用与发展</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7284" name="文本占位符 136194"/>
          <p:cNvSpPr>
            <a:spLocks noGrp="1" noChangeArrowheads="1"/>
          </p:cNvSpPr>
          <p:nvPr>
            <p:ph type="body" sz="half" idx="1"/>
          </p:nvPr>
        </p:nvSpPr>
        <p:spPr>
          <a:xfrm>
            <a:off x="647700" y="1844674"/>
            <a:ext cx="8280400" cy="475267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信息隐藏技术的应用与发展方向</a:t>
            </a:r>
          </a:p>
          <a:p>
            <a:pPr marL="0" marR="0" lvl="0" indent="0" algn="l" defTabSz="685800" rtl="0" eaLnBrk="1" fontAlgn="base" latinLnBrk="0" hangingPunct="1">
              <a:lnSpc>
                <a:spcPct val="90000"/>
              </a:lnSpc>
              <a:spcBef>
                <a:spcPts val="750"/>
              </a:spcBef>
              <a:spcAft>
                <a:spcPct val="0"/>
              </a:spcAft>
              <a:buClr>
                <a:schemeClr val="accent2"/>
              </a:buClr>
              <a:buSzPct val="80000"/>
              <a:buNone/>
              <a:defRPr/>
            </a:pPr>
            <a:endParaRPr kumimoji="0" lang="zh-CN" altLang="en-US" sz="1600" b="1" i="0" u="none" strike="noStrike" kern="1200" cap="none" spc="0" normalizeH="0" baseline="0" noProof="0" dirty="0">
              <a:ln>
                <a:noFill/>
              </a:ln>
              <a:solidFill>
                <a:schemeClr val="accent1"/>
              </a:solidFill>
              <a:effectLst/>
              <a:uLnTx/>
              <a:uFillTx/>
              <a:latin typeface="+mn-lt"/>
              <a:ea typeface="+mn-ea"/>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信息隐藏技术为信息安全提供了一种新的思路，为我们研究信息安全提供了一个新的方向。</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但信息隐藏技术尚没有发展到可实用的阶段，使用密码加密仍是网络信息传输的主要安全手段。</a:t>
            </a:r>
            <a:endParaRPr kumimoji="0" lang="en-US" altLang="zh-CN"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现在还存在大量的问题亟待解决，如信息隐藏容量问题，如何建立不可感知性数学度量模型，信息隐藏的容量上界如何计算等。</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p:txBody>
      </p:sp>
      <p:sp>
        <p:nvSpPr>
          <p:cNvPr id="103428" name="矩形 136195"/>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29" name="矩形 13619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0" name="矩形 13619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1" name="矩形 13619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2" name="矩形 136199"/>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3" name="矩形 13620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4" name="矩形 13620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5" name="矩形 13620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6" name="矩形 13620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7" name="矩形 13620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8" name="矩形 13620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39" name="矩形 13620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3440" name="矩形 13620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3BB62E22-2700-4B7B-70E0-5E55EA7B42E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97</a:t>
            </a:fld>
            <a:endParaRPr lang="zh-CN" altLang="en-US" sz="1400" b="0" dirty="0">
              <a:latin typeface="Times New Roman" panose="02020603050405020304" pitchFamily="18" charset="0"/>
              <a:ea typeface="宋体" panose="02010600030101010101" pitchFamily="2" charset="-122"/>
            </a:endParaRPr>
          </a:p>
        </p:txBody>
      </p:sp>
      <p:sp>
        <p:nvSpPr>
          <p:cNvPr id="107522" name="标题 1075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2.4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rPr>
              <a:t>信息隐藏的应用与发展</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100355" name="文本占位符 107522"/>
          <p:cNvSpPr>
            <a:spLocks noGrp="1" noChangeArrowheads="1"/>
          </p:cNvSpPr>
          <p:nvPr>
            <p:ph type="body" sz="half" idx="1"/>
          </p:nvPr>
        </p:nvSpPr>
        <p:spPr>
          <a:xfrm>
            <a:off x="611188" y="1628775"/>
            <a:ext cx="8135938" cy="4860925"/>
          </a:xfrm>
        </p:spPr>
        <p:txBody>
          <a:bodyPr vert="horz" wrap="square" lIns="91440" tIns="45720" rIns="91440" bIns="45720" numCol="1" rtlCol="0" anchor="t" anchorCtr="0" compatLnSpc="1">
            <a:normAutofit fontScale="85000" lnSpcReduction="20000"/>
          </a:bodyPr>
          <a:lstStyle/>
          <a:p>
            <a:pPr marL="609600" marR="0" lvl="0" indent="-609600" algn="l" defTabSz="685800" rtl="0" eaLnBrk="1" fontAlgn="base" latinLnBrk="0" hangingPunct="1">
              <a:lnSpc>
                <a:spcPct val="110000"/>
              </a:lnSpc>
              <a:spcBef>
                <a:spcPts val="750"/>
              </a:spcBef>
              <a:spcAft>
                <a:spcPct val="0"/>
              </a:spcAft>
              <a:buClr>
                <a:schemeClr val="accent1"/>
              </a:buClr>
              <a:buSzPct val="80000"/>
              <a:buFont typeface="Wingdings" panose="05000000000000000000" pitchFamily="2" charset="2"/>
              <a:buChar char="!"/>
              <a:defRPr/>
            </a:pPr>
            <a:r>
              <a:rPr kumimoji="0" lang="zh-CN" altLang="en-US" sz="3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数字水印技术的应用和发展方向 </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900" b="0" i="0" u="none" strike="noStrike" kern="1200" cap="none" spc="0" normalizeH="0" baseline="0" noProof="0" dirty="0">
              <a:ln>
                <a:noFill/>
              </a:ln>
              <a:solidFill>
                <a:schemeClr val="accent1"/>
              </a:solidFill>
              <a:effectLst/>
              <a:uLnTx/>
              <a:uFillTx/>
              <a:latin typeface="+mn-lt"/>
              <a:ea typeface="+mn-ea"/>
              <a:cs typeface="+mn-cs"/>
            </a:endParaRPr>
          </a:p>
          <a:p>
            <a:pPr marL="0" marR="0" lvl="0" indent="504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近年来数字水印技术的研究和发展呈多元化，大致有如下几个方向：</a:t>
            </a:r>
          </a:p>
          <a:p>
            <a:pPr marL="0" marR="0" lvl="0" indent="504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）很多研究在试图使水印处理技术与编码算法统一起来。这样可以使水印对该编码算法具有鲁棒性，尽量减少无意的水印攻击。</a:t>
            </a:r>
          </a:p>
          <a:p>
            <a:pPr marL="0" marR="0" lvl="0" indent="504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）许多组织力图建立国际统一标准的水印算法。  </a:t>
            </a:r>
          </a:p>
          <a:p>
            <a:pPr marL="0" marR="0" lvl="0" indent="504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）很多公司和研究机构着力将水印处理技术商业化并应用于其他领域如军事和国防领域，用于传送秘密的军事命令、验证军事命令、信息的真实可靠性。</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p:txBody>
      </p:sp>
      <p:sp>
        <p:nvSpPr>
          <p:cNvPr id="104452" name="矩形 107523"/>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3" name="矩形 10752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4" name="矩形 10752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5" name="矩形 10752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6" name="矩形 107527"/>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7" name="矩形 107528"/>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8" name="矩形 107529"/>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59" name="矩形 107530"/>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60" name="矩形 107531"/>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61" name="矩形 107532"/>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62" name="矩形 107533"/>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63" name="矩形 107534"/>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4464" name="矩形 107535"/>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D9631DF5-EB01-266B-CEAE-EF1817AF80A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细黑" panose="02010600040101010101" pitchFamily="2" charset="-122"/>
                <a:ea typeface="华文细黑" panose="02010600040101010101" pitchFamily="2" charset="-122"/>
                <a:cs typeface="+mn-cs"/>
              </a:defRPr>
            </a:lvl5pPr>
          </a:lstStyle>
          <a:p>
            <a:pPr lvl="0" algn="r"/>
            <a:fld id="{9A0DB2DC-4C9A-4742-B13C-FB6460FD3503}" type="slidenum">
              <a:rPr lang="zh-CN" altLang="en-US" sz="1400" b="0" dirty="0">
                <a:latin typeface="Times New Roman" panose="02020603050405020304" pitchFamily="18" charset="0"/>
                <a:ea typeface="宋体" panose="02010600030101010101" pitchFamily="2" charset="-122"/>
              </a:rPr>
              <a:t>98</a:t>
            </a:fld>
            <a:endParaRPr lang="zh-CN" altLang="en-US" sz="1400" b="0" dirty="0">
              <a:latin typeface="Times New Roman" panose="02020603050405020304" pitchFamily="18" charset="0"/>
              <a:ea typeface="宋体" panose="02010600030101010101" pitchFamily="2" charset="-122"/>
            </a:endParaRPr>
          </a:p>
        </p:txBody>
      </p:sp>
      <p:sp>
        <p:nvSpPr>
          <p:cNvPr id="108546" name="标题 10854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a:t>
            </a:r>
            <a:r>
              <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思考题</a:t>
            </a:r>
            <a:r>
              <a:rPr kumimoji="0" lang="zh-CN" altLang="en-US" sz="36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rPr>
              <a:t> </a:t>
            </a:r>
          </a:p>
        </p:txBody>
      </p:sp>
      <p:sp>
        <p:nvSpPr>
          <p:cNvPr id="99332" name="文本占位符 108546"/>
          <p:cNvSpPr>
            <a:spLocks noGrp="1" noChangeArrowheads="1"/>
          </p:cNvSpPr>
          <p:nvPr>
            <p:ph type="body" sz="half" idx="1"/>
          </p:nvPr>
        </p:nvSpPr>
        <p:spPr>
          <a:xfrm>
            <a:off x="468313" y="1196975"/>
            <a:ext cx="8135938" cy="5400675"/>
          </a:xfrm>
        </p:spPr>
        <p:txBody>
          <a:bodyPr vert="horz" wrap="square" lIns="91440" tIns="45720" rIns="91440" bIns="45720" numCol="1" anchor="t" anchorCtr="0" compatLnSpc="1"/>
          <a:lstStyle/>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en-US" altLang="zh-CN" sz="2200" b="0" i="0" u="none" strike="noStrike" kern="1200" cap="none" spc="0" normalizeH="0" baseline="0" noProof="0" dirty="0">
              <a:ln>
                <a:noFill/>
              </a:ln>
              <a:solidFill>
                <a:schemeClr val="accent1"/>
              </a:solidFill>
              <a:effectLst/>
              <a:uLnTx/>
              <a:uFillTx/>
              <a:latin typeface="+mn-lt"/>
              <a:ea typeface="+mn-ea"/>
              <a:cs typeface="+mn-cs"/>
            </a:endParaRP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2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信息隐藏与数字水印的区别与联系。</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2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例举常见的信息隐藏技术。</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2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简单描述数字水印的组成框架。</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2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数字水印有哪些攻击，分别有何应对策略。</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2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目前，可逆水印还存在哪些不足。</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2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比较三种常见可逆水印方法，分析它们的优缺点。</a:t>
            </a:r>
          </a:p>
        </p:txBody>
      </p:sp>
      <p:sp>
        <p:nvSpPr>
          <p:cNvPr id="105476" name="矩形 108547"/>
          <p:cNvSpPr/>
          <p:nvPr/>
        </p:nvSpPr>
        <p:spPr>
          <a:xfrm>
            <a:off x="0" y="31099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77" name="矩形 10854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78" name="矩形 10854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79" name="矩形 108550"/>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0" name="矩形 108551"/>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1" name="矩形 108552"/>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2" name="矩形 108553"/>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3" name="矩形 108554"/>
          <p:cNvSpPr/>
          <p:nvPr/>
        </p:nvSpPr>
        <p:spPr>
          <a:xfrm>
            <a:off x="0" y="3300413"/>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4" name="矩形 108555"/>
          <p:cNvSpPr/>
          <p:nvPr/>
        </p:nvSpPr>
        <p:spPr>
          <a:xfrm>
            <a:off x="0" y="0"/>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5" name="矩形 108556"/>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6" name="矩形 108557"/>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7" name="矩形 108558"/>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sp>
        <p:nvSpPr>
          <p:cNvPr id="105488" name="矩形 108559"/>
          <p:cNvSpPr/>
          <p:nvPr/>
        </p:nvSpPr>
        <p:spPr>
          <a:xfrm>
            <a:off x="0" y="3309938"/>
            <a:ext cx="9144000" cy="0"/>
          </a:xfrm>
          <a:prstGeom prst="rect">
            <a:avLst/>
          </a:prstGeom>
          <a:noFill/>
          <a:ln w="12700">
            <a:noFill/>
          </a:ln>
        </p:spPr>
        <p:txBody>
          <a:bodyPr anchor="t"/>
          <a:lstStyle/>
          <a:p>
            <a:pPr algn="ctr"/>
            <a:endParaRPr lang="zh-CN" altLang="en-US" dirty="0">
              <a:latin typeface="华文细黑" panose="02010600040101010101" pitchFamily="2" charset="-122"/>
              <a:ea typeface="华文细黑" panose="02010600040101010101" pitchFamily="2" charset="-122"/>
            </a:endParaRPr>
          </a:p>
        </p:txBody>
      </p:sp>
      <p:pic>
        <p:nvPicPr>
          <p:cNvPr id="2" name="图片 1">
            <a:extLst>
              <a:ext uri="{FF2B5EF4-FFF2-40B4-BE49-F238E27FC236}">
                <a16:creationId xmlns:a16="http://schemas.microsoft.com/office/drawing/2014/main" id="{3395D4B6-EFC5-B8E9-F891-D9557145E7A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72008"/>
            <a:ext cx="771550" cy="7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7222</TotalTime>
  <Words>7569</Words>
  <Application>Microsoft Office PowerPoint</Application>
  <PresentationFormat>全屏显示(4:3)</PresentationFormat>
  <Paragraphs>697</Paragraphs>
  <Slides>98</Slides>
  <Notes>4</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1</vt:i4>
      </vt:variant>
      <vt:variant>
        <vt:lpstr>幻灯片标题</vt:lpstr>
      </vt:variant>
      <vt:variant>
        <vt:i4>98</vt:i4>
      </vt:variant>
    </vt:vector>
  </HeadingPairs>
  <TitlesOfParts>
    <vt:vector size="116" baseType="lpstr">
      <vt:lpstr>FrutigerNext LT Bold</vt:lpstr>
      <vt:lpstr>FrutigerNext LT Medium</vt:lpstr>
      <vt:lpstr>FrutigerNext LT Regular</vt:lpstr>
      <vt:lpstr>Helvetica Neue</vt:lpstr>
      <vt:lpstr>方正小篆体</vt:lpstr>
      <vt:lpstr>黑体</vt:lpstr>
      <vt:lpstr>华文细黑</vt:lpstr>
      <vt:lpstr>微软雅黑</vt:lpstr>
      <vt:lpstr>Arial</vt:lpstr>
      <vt:lpstr>Arial</vt:lpstr>
      <vt:lpstr>Cambria Math</vt:lpstr>
      <vt:lpstr>Times New Roman</vt:lpstr>
      <vt:lpstr>Wingdings</vt:lpstr>
      <vt:lpstr>1_Office 主题</vt:lpstr>
      <vt:lpstr>default</vt:lpstr>
      <vt:lpstr>2_自定义设计方案</vt:lpstr>
      <vt:lpstr>1_自定义设计方案</vt:lpstr>
      <vt:lpstr>Equation.DSMT4</vt:lpstr>
      <vt:lpstr>数字内容安全—信息隐藏与数字水印</vt:lpstr>
      <vt:lpstr>本章内容</vt:lpstr>
      <vt:lpstr>学习目标</vt:lpstr>
      <vt:lpstr>囚犯问题</vt:lpstr>
      <vt:lpstr> 2.1   基本概念</vt:lpstr>
      <vt:lpstr> 2.1   基本概念</vt:lpstr>
      <vt:lpstr> 2.1   基本概念</vt:lpstr>
      <vt:lpstr>PowerPoint 演示文稿</vt:lpstr>
      <vt:lpstr> 2.1   基本概念</vt:lpstr>
      <vt:lpstr> 2.1   基本概念</vt:lpstr>
      <vt:lpstr> 2.1   基本概念</vt:lpstr>
      <vt:lpstr> 2.1   基本概念</vt:lpstr>
      <vt:lpstr>PowerPoint 演示文稿</vt:lpstr>
      <vt:lpstr>实现信息隐藏的基本要求</vt:lpstr>
      <vt:lpstr> 2.1   基本概念</vt:lpstr>
      <vt:lpstr> 2.1   基本概念</vt:lpstr>
      <vt:lpstr> 2.1   基本概念</vt:lpstr>
      <vt:lpstr> 2.1   基本概念</vt:lpstr>
      <vt:lpstr> 2.1   基本概念</vt:lpstr>
      <vt:lpstr>阈下通道举例</vt:lpstr>
      <vt:lpstr> 2.2   信息隐藏技术</vt:lpstr>
      <vt:lpstr> 2.2   信息隐藏技术</vt:lpstr>
      <vt:lpstr>PowerPoint 演示文稿</vt:lpstr>
      <vt:lpstr>相似性函数</vt:lpstr>
      <vt:lpstr>载体的选择</vt:lpstr>
      <vt:lpstr> 2.2   信息隐藏技术</vt:lpstr>
      <vt:lpstr>PowerPoint 演示文稿</vt:lpstr>
      <vt:lpstr> 2.2   信息隐藏技术</vt:lpstr>
      <vt:lpstr>公钥信息隐藏</vt:lpstr>
      <vt:lpstr>中间人插入攻击</vt:lpstr>
      <vt:lpstr>问题</vt:lpstr>
      <vt:lpstr> 2.2   信息隐藏技术</vt:lpstr>
      <vt:lpstr> 2.2   信息隐藏技术</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2.2   信息隐藏技术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2.3   数字水印技术 </vt:lpstr>
      <vt:lpstr> 2.4   信息隐藏的应用与发展 </vt:lpstr>
      <vt:lpstr> 2.4   信息隐藏的应用与发展 </vt:lpstr>
      <vt:lpstr> 2.4   信息隐藏的应用与发展 </vt:lpstr>
      <vt:lpstr> 思考题 </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646</cp:revision>
  <dcterms:created xsi:type="dcterms:W3CDTF">2010-05-14T06:56:15Z</dcterms:created>
  <dcterms:modified xsi:type="dcterms:W3CDTF">2022-10-21T00:11:03Z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