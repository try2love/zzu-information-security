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659" r:id="rId1"/>
  </p:sldMasterIdLst>
  <p:notesMasterIdLst>
    <p:notesMasterId r:id="rId89"/>
  </p:notesMasterIdLst>
  <p:handoutMasterIdLst>
    <p:handoutMasterId r:id="rId90"/>
  </p:handoutMasterIdLst>
  <p:sldIdLst>
    <p:sldId id="1611" r:id="rId2"/>
    <p:sldId id="1838" r:id="rId3"/>
    <p:sldId id="1692" r:id="rId4"/>
    <p:sldId id="1841" r:id="rId5"/>
    <p:sldId id="1842" r:id="rId6"/>
    <p:sldId id="1843" r:id="rId7"/>
    <p:sldId id="1844" r:id="rId8"/>
    <p:sldId id="1845" r:id="rId9"/>
    <p:sldId id="1846" r:id="rId10"/>
    <p:sldId id="1919" r:id="rId11"/>
    <p:sldId id="1896" r:id="rId12"/>
    <p:sldId id="1903" r:id="rId13"/>
    <p:sldId id="1897" r:id="rId14"/>
    <p:sldId id="1790" r:id="rId15"/>
    <p:sldId id="1810" r:id="rId16"/>
    <p:sldId id="1847" r:id="rId17"/>
    <p:sldId id="1848" r:id="rId18"/>
    <p:sldId id="1849" r:id="rId19"/>
    <p:sldId id="1850" r:id="rId20"/>
    <p:sldId id="1852" r:id="rId21"/>
    <p:sldId id="1851" r:id="rId22"/>
    <p:sldId id="1893" r:id="rId23"/>
    <p:sldId id="1853" r:id="rId24"/>
    <p:sldId id="1914" r:id="rId25"/>
    <p:sldId id="1855" r:id="rId26"/>
    <p:sldId id="1856" r:id="rId27"/>
    <p:sldId id="1898" r:id="rId28"/>
    <p:sldId id="1857" r:id="rId29"/>
    <p:sldId id="1858" r:id="rId30"/>
    <p:sldId id="1894" r:id="rId31"/>
    <p:sldId id="1904" r:id="rId32"/>
    <p:sldId id="1912" r:id="rId33"/>
    <p:sldId id="1915" r:id="rId34"/>
    <p:sldId id="1859" r:id="rId35"/>
    <p:sldId id="1860" r:id="rId36"/>
    <p:sldId id="1861" r:id="rId37"/>
    <p:sldId id="1862" r:id="rId38"/>
    <p:sldId id="1863" r:id="rId39"/>
    <p:sldId id="1920" r:id="rId40"/>
    <p:sldId id="1864" r:id="rId41"/>
    <p:sldId id="1865" r:id="rId42"/>
    <p:sldId id="1866" r:id="rId43"/>
    <p:sldId id="1868" r:id="rId44"/>
    <p:sldId id="1867" r:id="rId45"/>
    <p:sldId id="1869" r:id="rId46"/>
    <p:sldId id="1870" r:id="rId47"/>
    <p:sldId id="1881" r:id="rId48"/>
    <p:sldId id="1882" r:id="rId49"/>
    <p:sldId id="1883" r:id="rId50"/>
    <p:sldId id="1884" r:id="rId51"/>
    <p:sldId id="1885" r:id="rId52"/>
    <p:sldId id="1886" r:id="rId53"/>
    <p:sldId id="1887" r:id="rId54"/>
    <p:sldId id="1888" r:id="rId55"/>
    <p:sldId id="1889" r:id="rId56"/>
    <p:sldId id="1890" r:id="rId57"/>
    <p:sldId id="1891" r:id="rId58"/>
    <p:sldId id="1905" r:id="rId59"/>
    <p:sldId id="1906" r:id="rId60"/>
    <p:sldId id="1907" r:id="rId61"/>
    <p:sldId id="1908" r:id="rId62"/>
    <p:sldId id="1909" r:id="rId63"/>
    <p:sldId id="1910" r:id="rId64"/>
    <p:sldId id="1917" r:id="rId65"/>
    <p:sldId id="1918" r:id="rId66"/>
    <p:sldId id="1913" r:id="rId67"/>
    <p:sldId id="1871" r:id="rId68"/>
    <p:sldId id="1872" r:id="rId69"/>
    <p:sldId id="1839" r:id="rId70"/>
    <p:sldId id="1780" r:id="rId71"/>
    <p:sldId id="1873" r:id="rId72"/>
    <p:sldId id="1874" r:id="rId73"/>
    <p:sldId id="1916" r:id="rId74"/>
    <p:sldId id="1840" r:id="rId75"/>
    <p:sldId id="1900" r:id="rId76"/>
    <p:sldId id="1837" r:id="rId77"/>
    <p:sldId id="1901" r:id="rId78"/>
    <p:sldId id="1902" r:id="rId79"/>
    <p:sldId id="1875" r:id="rId80"/>
    <p:sldId id="1876" r:id="rId81"/>
    <p:sldId id="1877" r:id="rId82"/>
    <p:sldId id="1878" r:id="rId83"/>
    <p:sldId id="1879" r:id="rId84"/>
    <p:sldId id="1880" r:id="rId85"/>
    <p:sldId id="1911" r:id="rId86"/>
    <p:sldId id="1685" r:id="rId87"/>
    <p:sldId id="1684" r:id="rId88"/>
  </p:sldIdLst>
  <p:sldSz cx="9144000" cy="6858000" type="screen4x3"/>
  <p:notesSz cx="6858000" cy="9144000"/>
  <p:defaultTextStyle>
    <a:defPPr>
      <a:defRPr lang="zh-CN"/>
    </a:defPPr>
    <a:lvl1pPr algn="l" rtl="0" fontAlgn="base">
      <a:spcBef>
        <a:spcPct val="0"/>
      </a:spcBef>
      <a:spcAft>
        <a:spcPct val="0"/>
      </a:spcAft>
      <a:defRPr kumimoji="1" b="1"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umimoji="1" b="1"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umimoji="1" b="1"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umimoji="1" b="1"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umimoji="1" b="1" kern="1200">
        <a:solidFill>
          <a:schemeClr val="tx1"/>
        </a:solidFill>
        <a:latin typeface="Tahoma" pitchFamily="34" charset="0"/>
        <a:ea typeface="宋体" pitchFamily="2" charset="-122"/>
        <a:cs typeface="+mn-cs"/>
      </a:defRPr>
    </a:lvl5pPr>
    <a:lvl6pPr marL="2286000" algn="l" defTabSz="914400" rtl="0" eaLnBrk="1" latinLnBrk="0" hangingPunct="1">
      <a:defRPr kumimoji="1" b="1" kern="1200">
        <a:solidFill>
          <a:schemeClr val="tx1"/>
        </a:solidFill>
        <a:latin typeface="Tahoma" pitchFamily="34" charset="0"/>
        <a:ea typeface="宋体" pitchFamily="2" charset="-122"/>
        <a:cs typeface="+mn-cs"/>
      </a:defRPr>
    </a:lvl6pPr>
    <a:lvl7pPr marL="2743200" algn="l" defTabSz="914400" rtl="0" eaLnBrk="1" latinLnBrk="0" hangingPunct="1">
      <a:defRPr kumimoji="1" b="1" kern="1200">
        <a:solidFill>
          <a:schemeClr val="tx1"/>
        </a:solidFill>
        <a:latin typeface="Tahoma" pitchFamily="34" charset="0"/>
        <a:ea typeface="宋体" pitchFamily="2" charset="-122"/>
        <a:cs typeface="+mn-cs"/>
      </a:defRPr>
    </a:lvl7pPr>
    <a:lvl8pPr marL="3200400" algn="l" defTabSz="914400" rtl="0" eaLnBrk="1" latinLnBrk="0" hangingPunct="1">
      <a:defRPr kumimoji="1" b="1" kern="1200">
        <a:solidFill>
          <a:schemeClr val="tx1"/>
        </a:solidFill>
        <a:latin typeface="Tahoma" pitchFamily="34" charset="0"/>
        <a:ea typeface="宋体" pitchFamily="2" charset="-122"/>
        <a:cs typeface="+mn-cs"/>
      </a:defRPr>
    </a:lvl8pPr>
    <a:lvl9pPr marL="3657600" algn="l" defTabSz="914400" rtl="0" eaLnBrk="1" latinLnBrk="0" hangingPunct="1">
      <a:defRPr kumimoji="1" b="1"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1ACA"/>
    <a:srgbClr val="0000CC"/>
    <a:srgbClr val="FACA00"/>
    <a:srgbClr val="3366FF"/>
    <a:srgbClr val="6699FF"/>
    <a:srgbClr val="000066"/>
    <a:srgbClr val="66FFCC"/>
    <a:srgbClr val="66CCFF"/>
    <a:srgbClr val="029A1B"/>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1165" autoAdjust="0"/>
  </p:normalViewPr>
  <p:slideViewPr>
    <p:cSldViewPr snapToGrid="0">
      <p:cViewPr varScale="1">
        <p:scale>
          <a:sx n="93" d="100"/>
          <a:sy n="93" d="100"/>
        </p:scale>
        <p:origin x="216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0872"/>
    </p:cViewPr>
  </p:sorterViewPr>
  <p:notesViewPr>
    <p:cSldViewPr snapToGrid="0">
      <p:cViewPr>
        <p:scale>
          <a:sx n="100" d="100"/>
          <a:sy n="100" d="100"/>
        </p:scale>
        <p:origin x="-2832" y="22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1095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ea typeface="宋体" charset="-122"/>
              </a:defRPr>
            </a:lvl1pPr>
          </a:lstStyle>
          <a:p>
            <a:pPr>
              <a:defRPr/>
            </a:pPr>
            <a:endParaRPr lang="en-US" altLang="zh-CN"/>
          </a:p>
        </p:txBody>
      </p:sp>
      <p:sp>
        <p:nvSpPr>
          <p:cNvPr id="1095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1095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ea typeface="宋体" charset="-122"/>
              </a:defRPr>
            </a:lvl1pPr>
          </a:lstStyle>
          <a:p>
            <a:pPr>
              <a:defRPr/>
            </a:pPr>
            <a:fld id="{3B4577F0-ED67-4FFE-A316-3B3AEC2EA4D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491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ea typeface="宋体" charset="-122"/>
              </a:defRPr>
            </a:lvl1pPr>
          </a:lstStyle>
          <a:p>
            <a:pPr>
              <a:defRPr/>
            </a:pPr>
            <a:endParaRPr lang="en-US" altLang="zh-CN"/>
          </a:p>
        </p:txBody>
      </p:sp>
      <p:sp>
        <p:nvSpPr>
          <p:cNvPr id="1116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91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91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Times New Roman" pitchFamily="18" charset="0"/>
                <a:ea typeface="宋体" charset="-122"/>
              </a:defRPr>
            </a:lvl1pPr>
          </a:lstStyle>
          <a:p>
            <a:pPr>
              <a:defRPr/>
            </a:pPr>
            <a:endParaRPr lang="en-US" altLang="zh-CN"/>
          </a:p>
        </p:txBody>
      </p:sp>
      <p:sp>
        <p:nvSpPr>
          <p:cNvPr id="491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ea typeface="宋体" charset="-122"/>
              </a:defRPr>
            </a:lvl1pPr>
          </a:lstStyle>
          <a:p>
            <a:pPr>
              <a:defRPr/>
            </a:pPr>
            <a:fld id="{E46A9642-FD4A-45CC-9F4F-8E10AB9AB4A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8" Type="http://schemas.openxmlformats.org/officeDocument/2006/relationships/hyperlink" Target="https://baike.baidu.com/item/%E5%8F%A4%E6%96%AF%E6%8B%89%E5%A4%AB%E8%AF%AD" TargetMode="External"/><Relationship Id="rId13" Type="http://schemas.openxmlformats.org/officeDocument/2006/relationships/hyperlink" Target="https://baike.baidu.com/item/%E4%B9%8C%E5%85%B9%E5%88%AB%E5%85%8B/2926007" TargetMode="External"/><Relationship Id="rId3" Type="http://schemas.openxmlformats.org/officeDocument/2006/relationships/hyperlink" Target="https://baike.baidu.com/item/%E5%B8%8C%E8%85%8A%E5%AD%97%E6%AF%8D" TargetMode="External"/><Relationship Id="rId7" Type="http://schemas.openxmlformats.org/officeDocument/2006/relationships/hyperlink" Target="https://baike.baidu.com/item/%E6%97%A9%E6%9C%9F/4907238" TargetMode="External"/><Relationship Id="rId12" Type="http://schemas.openxmlformats.org/officeDocument/2006/relationships/hyperlink" Target="https://baike.baidu.com/item/%E5%90%89%E5%B0%94%E5%90%89%E6%96%AF/2527563"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baike.baidu.com/item/%E6%96%AF%E6%8B%89%E5%A4%AB%E5%AD%97%E6%AF%8D" TargetMode="External"/><Relationship Id="rId11" Type="http://schemas.openxmlformats.org/officeDocument/2006/relationships/hyperlink" Target="https://baike.baidu.com/item/%E9%98%BF%E5%A1%9E%E6%8B%9C%E7%96%86" TargetMode="External"/><Relationship Id="rId5" Type="http://schemas.openxmlformats.org/officeDocument/2006/relationships/hyperlink" Target="https://baike.baidu.com/item/%E8%A5%BF%E9%87%8C%E5%B0%94/17492526" TargetMode="External"/><Relationship Id="rId10" Type="http://schemas.openxmlformats.org/officeDocument/2006/relationships/hyperlink" Target="https://baike.baidu.com/item/%E5%85%8B%E7%BD%97%E5%9C%B0%E4%BA%9A/346016" TargetMode="External"/><Relationship Id="rId4" Type="http://schemas.openxmlformats.org/officeDocument/2006/relationships/hyperlink" Target="https://baike.baidu.com/item/%E6%A0%BC%E6%8B%89%E5%93%A5%E9%87%8C%E5%AD%97%E6%AF%8D" TargetMode="External"/><Relationship Id="rId9" Type="http://schemas.openxmlformats.org/officeDocument/2006/relationships/hyperlink" Target="https://baike.baidu.com/item/%E5%A1%9E%E5%B0%94%E7%BB%B4%E4%BA%9A/5409143" TargetMode="External"/><Relationship Id="rId14" Type="http://schemas.openxmlformats.org/officeDocument/2006/relationships/hyperlink" Target="https://baike.baidu.com/item/%E8%92%99%E5%8F%A4/12000925" TargetMode="External"/></Relationships>
</file>

<file path=ppt/notesSlides/_rels/notesSlide14.xml.rels><?xml version="1.0" encoding="UTF-8" standalone="yes"?>
<Relationships xmlns="http://schemas.openxmlformats.org/package/2006/relationships"><Relationship Id="rId8" Type="http://schemas.openxmlformats.org/officeDocument/2006/relationships/hyperlink" Target="https://baike.baidu.com/item/%E5%8F%A4%E6%96%AF%E6%8B%89%E5%A4%AB%E8%AF%AD" TargetMode="External"/><Relationship Id="rId13" Type="http://schemas.openxmlformats.org/officeDocument/2006/relationships/hyperlink" Target="https://baike.baidu.com/item/%E4%B9%8C%E5%85%B9%E5%88%AB%E5%85%8B/2926007" TargetMode="External"/><Relationship Id="rId3" Type="http://schemas.openxmlformats.org/officeDocument/2006/relationships/hyperlink" Target="https://baike.baidu.com/item/%E5%B8%8C%E8%85%8A%E5%AD%97%E6%AF%8D" TargetMode="External"/><Relationship Id="rId7" Type="http://schemas.openxmlformats.org/officeDocument/2006/relationships/hyperlink" Target="https://baike.baidu.com/item/%E6%97%A9%E6%9C%9F/4907238" TargetMode="External"/><Relationship Id="rId12" Type="http://schemas.openxmlformats.org/officeDocument/2006/relationships/hyperlink" Target="https://baike.baidu.com/item/%E5%90%89%E5%B0%94%E5%90%89%E6%96%AF/2527563" TargetMode="External"/><Relationship Id="rId2" Type="http://schemas.openxmlformats.org/officeDocument/2006/relationships/slide" Target="../slides/slide21.xml"/><Relationship Id="rId1" Type="http://schemas.openxmlformats.org/officeDocument/2006/relationships/notesMaster" Target="../notesMasters/notesMaster1.xml"/><Relationship Id="rId6" Type="http://schemas.openxmlformats.org/officeDocument/2006/relationships/hyperlink" Target="https://baike.baidu.com/item/%E6%96%AF%E6%8B%89%E5%A4%AB%E5%AD%97%E6%AF%8D" TargetMode="External"/><Relationship Id="rId11" Type="http://schemas.openxmlformats.org/officeDocument/2006/relationships/hyperlink" Target="https://baike.baidu.com/item/%E9%98%BF%E5%A1%9E%E6%8B%9C%E7%96%86" TargetMode="External"/><Relationship Id="rId5" Type="http://schemas.openxmlformats.org/officeDocument/2006/relationships/hyperlink" Target="https://baike.baidu.com/item/%E8%A5%BF%E9%87%8C%E5%B0%94/17492526" TargetMode="External"/><Relationship Id="rId10" Type="http://schemas.openxmlformats.org/officeDocument/2006/relationships/hyperlink" Target="https://baike.baidu.com/item/%E5%85%8B%E7%BD%97%E5%9C%B0%E4%BA%9A/346016" TargetMode="External"/><Relationship Id="rId4" Type="http://schemas.openxmlformats.org/officeDocument/2006/relationships/hyperlink" Target="https://baike.baidu.com/item/%E6%A0%BC%E6%8B%89%E5%93%A5%E9%87%8C%E5%AD%97%E6%AF%8D" TargetMode="External"/><Relationship Id="rId9" Type="http://schemas.openxmlformats.org/officeDocument/2006/relationships/hyperlink" Target="https://baike.baidu.com/item/%E5%A1%9E%E5%B0%94%E7%BB%B4%E4%BA%9A/5409143" TargetMode="External"/><Relationship Id="rId14" Type="http://schemas.openxmlformats.org/officeDocument/2006/relationships/hyperlink" Target="https://baike.baidu.com/item/%E8%92%99%E5%8F%A4/12000925"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mp.weixin.qq.com/s?__biz=MzAxOTM1MDQ1NA==&amp;mid=2451175410&amp;idx=1&amp;sn=29c88ee569144e441584afe58f7b9630&amp;chksm=8c25012bbb52883db323efea51860a9f2b2b341d8c9201bb4ba11532e135d4552771618bc66c&amp;scene=21#wechat_redirect" TargetMode="External"/><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9FD54D0F-DE20-458F-9711-211063689A02}" type="slidenum">
              <a:rPr lang="zh-CN" altLang="en-US" smtClean="0"/>
              <a:pPr>
                <a:defRPr/>
              </a:pPr>
              <a:t>2</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zh-CN" altLang="en-US"/>
          </a:p>
        </p:txBody>
      </p:sp>
    </p:spTree>
    <p:extLst>
      <p:ext uri="{BB962C8B-B14F-4D97-AF65-F5344CB8AC3E}">
        <p14:creationId xmlns:p14="http://schemas.microsoft.com/office/powerpoint/2010/main" val="2512278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dirty="0"/>
              <a:t>这个定义将社会工程人员的活动范围扩大到生活的各个方面</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5</a:t>
            </a:fld>
            <a:endParaRPr lang="en-US" altLang="zh-CN"/>
          </a:p>
        </p:txBody>
      </p:sp>
    </p:spTree>
    <p:extLst>
      <p:ext uri="{BB962C8B-B14F-4D97-AF65-F5344CB8AC3E}">
        <p14:creationId xmlns:p14="http://schemas.microsoft.com/office/powerpoint/2010/main" val="1594654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a:t>
            </a:fld>
            <a:endParaRPr lang="en-US" altLang="zh-CN"/>
          </a:p>
        </p:txBody>
      </p:sp>
    </p:spTree>
    <p:extLst>
      <p:ext uri="{BB962C8B-B14F-4D97-AF65-F5344CB8AC3E}">
        <p14:creationId xmlns:p14="http://schemas.microsoft.com/office/powerpoint/2010/main" val="3943560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7</a:t>
            </a:fld>
            <a:endParaRPr lang="en-US" altLang="zh-CN"/>
          </a:p>
        </p:txBody>
      </p:sp>
    </p:spTree>
    <p:extLst>
      <p:ext uri="{BB962C8B-B14F-4D97-AF65-F5344CB8AC3E}">
        <p14:creationId xmlns:p14="http://schemas.microsoft.com/office/powerpoint/2010/main" val="1409678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8</a:t>
            </a:fld>
            <a:endParaRPr lang="en-US" altLang="zh-CN"/>
          </a:p>
        </p:txBody>
      </p:sp>
    </p:spTree>
    <p:extLst>
      <p:ext uri="{BB962C8B-B14F-4D97-AF65-F5344CB8AC3E}">
        <p14:creationId xmlns:p14="http://schemas.microsoft.com/office/powerpoint/2010/main" val="1471152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9</a:t>
            </a:fld>
            <a:endParaRPr lang="en-US" altLang="zh-CN"/>
          </a:p>
        </p:txBody>
      </p:sp>
    </p:spTree>
    <p:extLst>
      <p:ext uri="{BB962C8B-B14F-4D97-AF65-F5344CB8AC3E}">
        <p14:creationId xmlns:p14="http://schemas.microsoft.com/office/powerpoint/2010/main" val="459445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后面三张</a:t>
            </a:r>
            <a:r>
              <a:rPr lang="en-US" altLang="zh-CN"/>
              <a:t>PPT</a:t>
            </a:r>
            <a:endParaRPr lang="zh-CN" altLang="en-US"/>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10</a:t>
            </a:fld>
            <a:endParaRPr lang="en-US" altLang="zh-CN"/>
          </a:p>
        </p:txBody>
      </p:sp>
    </p:spTree>
    <p:extLst>
      <p:ext uri="{BB962C8B-B14F-4D97-AF65-F5344CB8AC3E}">
        <p14:creationId xmlns:p14="http://schemas.microsoft.com/office/powerpoint/2010/main" val="18114721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charset="-122"/>
                <a:cs typeface="+mn-cs"/>
              </a:rPr>
              <a:t>凯文</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米特尼克写过三本书，</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反欺骗的艺术</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反入侵的艺术</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线上幽灵</a:t>
            </a:r>
            <a:r>
              <a:rPr kumimoji="1" lang="en-US" altLang="zh-CN" sz="1200" b="0" i="0" kern="1200" dirty="0">
                <a:solidFill>
                  <a:schemeClr val="tx1"/>
                </a:solidFill>
                <a:effectLst/>
                <a:latin typeface="Times New Roman" pitchFamily="18" charset="0"/>
                <a:ea typeface="宋体" charset="-122"/>
                <a:cs typeface="+mn-cs"/>
              </a:rPr>
              <a:t>》</a:t>
            </a:r>
          </a:p>
          <a:p>
            <a:r>
              <a:rPr lang="en-US" altLang="zh-CN" dirty="0"/>
              <a:t>https://mp.weixin.qq.com/s/V0LwIpNNTjSCE2PtcT1hZw</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11</a:t>
            </a:fld>
            <a:endParaRPr lang="en-US" altLang="zh-CN"/>
          </a:p>
        </p:txBody>
      </p:sp>
    </p:spTree>
    <p:extLst>
      <p:ext uri="{BB962C8B-B14F-4D97-AF65-F5344CB8AC3E}">
        <p14:creationId xmlns:p14="http://schemas.microsoft.com/office/powerpoint/2010/main" val="1802084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https://mp.weixin.qq.com/s/V0LwIpNNTjSCE2PtcT1hZw</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12</a:t>
            </a:fld>
            <a:endParaRPr lang="en-US" altLang="zh-CN"/>
          </a:p>
        </p:txBody>
      </p:sp>
    </p:spTree>
    <p:extLst>
      <p:ext uri="{BB962C8B-B14F-4D97-AF65-F5344CB8AC3E}">
        <p14:creationId xmlns:p14="http://schemas.microsoft.com/office/powerpoint/2010/main" val="3515553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https://mp.weixin.qq.com/s/V0LwIpNNTjSCE2PtcT1hZw</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13</a:t>
            </a:fld>
            <a:endParaRPr lang="en-US" altLang="zh-CN"/>
          </a:p>
        </p:txBody>
      </p:sp>
    </p:spTree>
    <p:extLst>
      <p:ext uri="{BB962C8B-B14F-4D97-AF65-F5344CB8AC3E}">
        <p14:creationId xmlns:p14="http://schemas.microsoft.com/office/powerpoint/2010/main" val="3593722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9FD54D0F-DE20-458F-9711-211063689A02}" type="slidenum">
              <a:rPr lang="zh-CN" altLang="en-US" smtClean="0"/>
              <a:pPr>
                <a:defRPr/>
              </a:pPr>
              <a:t>14</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zh-CN" altLang="en-US"/>
          </a:p>
        </p:txBody>
      </p:sp>
    </p:spTree>
    <p:extLst>
      <p:ext uri="{BB962C8B-B14F-4D97-AF65-F5344CB8AC3E}">
        <p14:creationId xmlns:p14="http://schemas.microsoft.com/office/powerpoint/2010/main" val="324341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a:t>
            </a:r>
            <a:r>
              <a:rPr lang="en-US" altLang="zh-CN" dirty="0"/>
              <a:t>URL</a:t>
            </a:r>
            <a:r>
              <a:rPr lang="zh-CN" altLang="en-US" dirty="0"/>
              <a:t>通过电子邮件、短信等发给用户，诱骗用户点击访问</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19</a:t>
            </a:fld>
            <a:endParaRPr lang="en-US" altLang="zh-CN"/>
          </a:p>
        </p:txBody>
      </p:sp>
    </p:spTree>
    <p:extLst>
      <p:ext uri="{BB962C8B-B14F-4D97-AF65-F5344CB8AC3E}">
        <p14:creationId xmlns:p14="http://schemas.microsoft.com/office/powerpoint/2010/main" val="1543725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charset="-122"/>
                <a:cs typeface="+mn-cs"/>
              </a:rPr>
              <a:t>西里尔字母源于脱胎自</a:t>
            </a:r>
            <a:r>
              <a:rPr kumimoji="1" lang="zh-CN" altLang="en-US" sz="1200" b="0" i="0" u="none" strike="noStrike" kern="1200" dirty="0">
                <a:solidFill>
                  <a:schemeClr val="tx1"/>
                </a:solidFill>
                <a:effectLst/>
                <a:latin typeface="Times New Roman" pitchFamily="18" charset="0"/>
                <a:ea typeface="宋体" charset="-122"/>
                <a:cs typeface="+mn-cs"/>
                <a:hlinkClick r:id="rId3"/>
              </a:rPr>
              <a:t>希腊字母</a:t>
            </a:r>
            <a:r>
              <a:rPr kumimoji="1" lang="zh-CN" altLang="en-US" sz="1200" b="0" i="0" kern="1200" dirty="0">
                <a:solidFill>
                  <a:schemeClr val="tx1"/>
                </a:solidFill>
                <a:effectLst/>
                <a:latin typeface="Times New Roman" pitchFamily="18" charset="0"/>
                <a:ea typeface="宋体" charset="-122"/>
                <a:cs typeface="+mn-cs"/>
              </a:rPr>
              <a:t>的</a:t>
            </a:r>
            <a:r>
              <a:rPr kumimoji="1" lang="zh-CN" altLang="en-US" sz="1200" b="0" i="0" u="none" strike="noStrike" kern="1200" dirty="0">
                <a:solidFill>
                  <a:schemeClr val="tx1"/>
                </a:solidFill>
                <a:effectLst/>
                <a:latin typeface="Times New Roman" pitchFamily="18" charset="0"/>
                <a:ea typeface="宋体" charset="-122"/>
                <a:cs typeface="+mn-cs"/>
                <a:hlinkClick r:id="rId4"/>
              </a:rPr>
              <a:t>格拉哥里字母</a:t>
            </a:r>
            <a:r>
              <a:rPr kumimoji="1" lang="zh-CN" altLang="en-US" sz="1200" b="0" i="0" kern="1200" dirty="0">
                <a:solidFill>
                  <a:schemeClr val="tx1"/>
                </a:solidFill>
                <a:effectLst/>
                <a:latin typeface="Times New Roman" pitchFamily="18" charset="0"/>
                <a:ea typeface="宋体" charset="-122"/>
                <a:cs typeface="+mn-cs"/>
              </a:rPr>
              <a:t>，普遍认为是由基督教传教士圣</a:t>
            </a:r>
            <a:r>
              <a:rPr kumimoji="1" lang="zh-CN" altLang="en-US" sz="1200" b="0" i="0" u="none" strike="noStrike" kern="1200" dirty="0">
                <a:solidFill>
                  <a:schemeClr val="tx1"/>
                </a:solidFill>
                <a:effectLst/>
                <a:latin typeface="Times New Roman" pitchFamily="18" charset="0"/>
                <a:ea typeface="宋体" charset="-122"/>
                <a:cs typeface="+mn-cs"/>
                <a:hlinkClick r:id="rId5"/>
              </a:rPr>
              <a:t>西里尔</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827</a:t>
            </a:r>
            <a:r>
              <a:rPr kumimoji="1" lang="zh-CN" altLang="en-US" sz="1200" b="0" i="0" kern="1200" dirty="0">
                <a:solidFill>
                  <a:schemeClr val="tx1"/>
                </a:solidFill>
                <a:effectLst/>
                <a:latin typeface="Times New Roman" pitchFamily="18" charset="0"/>
                <a:ea typeface="宋体" charset="-122"/>
                <a:cs typeface="+mn-cs"/>
              </a:rPr>
              <a:t>年</a:t>
            </a:r>
            <a:r>
              <a:rPr kumimoji="1" lang="en-US" altLang="zh-CN" sz="1200" b="0" i="0" kern="1200" dirty="0">
                <a:solidFill>
                  <a:schemeClr val="tx1"/>
                </a:solidFill>
                <a:effectLst/>
                <a:latin typeface="Times New Roman" pitchFamily="18" charset="0"/>
                <a:ea typeface="宋体" charset="-122"/>
                <a:cs typeface="+mn-cs"/>
              </a:rPr>
              <a:t>–869</a:t>
            </a:r>
            <a:r>
              <a:rPr kumimoji="1" lang="zh-CN" altLang="en-US" sz="1200" b="0" i="0" kern="1200" dirty="0">
                <a:solidFill>
                  <a:schemeClr val="tx1"/>
                </a:solidFill>
                <a:effectLst/>
                <a:latin typeface="Times New Roman" pitchFamily="18" charset="0"/>
                <a:ea typeface="宋体" charset="-122"/>
                <a:cs typeface="+mn-cs"/>
              </a:rPr>
              <a:t>年）和圣梅笃丢斯在</a:t>
            </a:r>
            <a:r>
              <a:rPr kumimoji="1" lang="en-US" altLang="zh-CN" sz="1200" b="0" i="0" kern="1200" dirty="0">
                <a:solidFill>
                  <a:schemeClr val="tx1"/>
                </a:solidFill>
                <a:effectLst/>
                <a:latin typeface="Times New Roman" pitchFamily="18" charset="0"/>
                <a:ea typeface="宋体" charset="-122"/>
                <a:cs typeface="+mn-cs"/>
              </a:rPr>
              <a:t>9</a:t>
            </a:r>
            <a:r>
              <a:rPr kumimoji="1" lang="zh-CN" altLang="en-US" sz="1200" b="0" i="0" kern="1200" dirty="0">
                <a:solidFill>
                  <a:schemeClr val="tx1"/>
                </a:solidFill>
                <a:effectLst/>
                <a:latin typeface="Times New Roman" pitchFamily="18" charset="0"/>
                <a:ea typeface="宋体" charset="-122"/>
                <a:cs typeface="+mn-cs"/>
              </a:rPr>
              <a:t>世纪为了在斯拉夫民族传播基督教（当时东西教会还未正式分裂）方便所创立的，被斯拉夫民族广泛采用，因此有时也称为</a:t>
            </a:r>
            <a:r>
              <a:rPr kumimoji="1" lang="zh-CN" altLang="en-US" sz="1200" b="0" i="0" u="none" strike="noStrike" kern="1200" dirty="0">
                <a:solidFill>
                  <a:schemeClr val="tx1"/>
                </a:solidFill>
                <a:effectLst/>
                <a:latin typeface="Times New Roman" pitchFamily="18" charset="0"/>
                <a:ea typeface="宋体" charset="-122"/>
                <a:cs typeface="+mn-cs"/>
                <a:hlinkClick r:id="rId6"/>
              </a:rPr>
              <a:t>斯拉夫字母</a:t>
            </a:r>
            <a:r>
              <a:rPr kumimoji="1" lang="zh-CN" altLang="en-US" sz="1200" b="0" i="0" kern="1200" dirty="0">
                <a:solidFill>
                  <a:schemeClr val="tx1"/>
                </a:solidFill>
                <a:effectLst/>
                <a:latin typeface="Times New Roman" pitchFamily="18" charset="0"/>
                <a:ea typeface="宋体" charset="-122"/>
                <a:cs typeface="+mn-cs"/>
              </a:rPr>
              <a:t>。</a:t>
            </a:r>
            <a:r>
              <a:rPr kumimoji="1" lang="zh-CN" altLang="en-US" sz="1200" b="0" i="0" u="none" strike="noStrike" kern="1200" dirty="0">
                <a:solidFill>
                  <a:schemeClr val="tx1"/>
                </a:solidFill>
                <a:effectLst/>
                <a:latin typeface="Times New Roman" pitchFamily="18" charset="0"/>
                <a:ea typeface="宋体" charset="-122"/>
                <a:cs typeface="+mn-cs"/>
                <a:hlinkClick r:id="rId7"/>
              </a:rPr>
              <a:t>早期</a:t>
            </a:r>
            <a:r>
              <a:rPr kumimoji="1" lang="zh-CN" altLang="en-US" sz="1200" b="0" i="0" kern="1200" dirty="0">
                <a:solidFill>
                  <a:schemeClr val="tx1"/>
                </a:solidFill>
                <a:effectLst/>
                <a:latin typeface="Times New Roman" pitchFamily="18" charset="0"/>
                <a:ea typeface="宋体" charset="-122"/>
                <a:cs typeface="+mn-cs"/>
              </a:rPr>
              <a:t>的西里尔字母又称作</a:t>
            </a:r>
            <a:r>
              <a:rPr kumimoji="1" lang="zh-CN" altLang="en-US" sz="1200" b="0" i="0" u="none" strike="noStrike" kern="1200" dirty="0">
                <a:solidFill>
                  <a:schemeClr val="tx1"/>
                </a:solidFill>
                <a:effectLst/>
                <a:latin typeface="Times New Roman" pitchFamily="18" charset="0"/>
                <a:ea typeface="宋体" charset="-122"/>
                <a:cs typeface="+mn-cs"/>
                <a:hlinkClick r:id="rId8"/>
              </a:rPr>
              <a:t>古斯拉夫语</a:t>
            </a:r>
            <a:r>
              <a:rPr kumimoji="1" lang="zh-CN" altLang="en-US" sz="1200" b="0" i="0" kern="1200" dirty="0">
                <a:solidFill>
                  <a:schemeClr val="tx1"/>
                </a:solidFill>
                <a:effectLst/>
                <a:latin typeface="Times New Roman" pitchFamily="18" charset="0"/>
                <a:ea typeface="宋体" charset="-122"/>
                <a:cs typeface="+mn-cs"/>
              </a:rPr>
              <a:t>字母（现代的斯拉夫字母经过修改）。</a:t>
            </a:r>
          </a:p>
          <a:p>
            <a:r>
              <a:rPr kumimoji="1" lang="zh-CN" altLang="en-US" sz="1200" b="0" i="0" kern="1200" dirty="0">
                <a:solidFill>
                  <a:schemeClr val="tx1"/>
                </a:solidFill>
                <a:effectLst/>
                <a:latin typeface="Times New Roman" pitchFamily="18" charset="0"/>
                <a:ea typeface="宋体" charset="-122"/>
                <a:cs typeface="+mn-cs"/>
              </a:rPr>
              <a:t>在斯拉夫民族中，如</a:t>
            </a:r>
            <a:r>
              <a:rPr kumimoji="1" lang="zh-CN" altLang="en-US" sz="1200" b="0" i="0" u="none" strike="noStrike" kern="1200" dirty="0">
                <a:solidFill>
                  <a:schemeClr val="tx1"/>
                </a:solidFill>
                <a:effectLst/>
                <a:latin typeface="Times New Roman" pitchFamily="18" charset="0"/>
                <a:ea typeface="宋体" charset="-122"/>
                <a:cs typeface="+mn-cs"/>
                <a:hlinkClick r:id="rId9"/>
              </a:rPr>
              <a:t>塞尔维亚</a:t>
            </a:r>
            <a:r>
              <a:rPr kumimoji="1" lang="zh-CN" altLang="en-US" sz="1200" b="0" i="0" kern="1200" dirty="0">
                <a:solidFill>
                  <a:schemeClr val="tx1"/>
                </a:solidFill>
                <a:effectLst/>
                <a:latin typeface="Times New Roman" pitchFamily="18" charset="0"/>
                <a:ea typeface="宋体" charset="-122"/>
                <a:cs typeface="+mn-cs"/>
              </a:rPr>
              <a:t>，</a:t>
            </a:r>
            <a:r>
              <a:rPr kumimoji="1" lang="zh-CN" altLang="en-US" sz="1200" b="0" i="0" u="none" strike="noStrike" kern="1200" dirty="0">
                <a:solidFill>
                  <a:schemeClr val="tx1"/>
                </a:solidFill>
                <a:effectLst/>
                <a:latin typeface="Times New Roman" pitchFamily="18" charset="0"/>
                <a:ea typeface="宋体" charset="-122"/>
                <a:cs typeface="+mn-cs"/>
                <a:hlinkClick r:id="rId10"/>
              </a:rPr>
              <a:t>克罗地亚</a:t>
            </a:r>
            <a:r>
              <a:rPr kumimoji="1" lang="zh-CN" altLang="en-US" sz="1200" b="0" i="0" kern="1200" dirty="0">
                <a:solidFill>
                  <a:schemeClr val="tx1"/>
                </a:solidFill>
                <a:effectLst/>
                <a:latin typeface="Times New Roman" pitchFamily="18" charset="0"/>
                <a:ea typeface="宋体" charset="-122"/>
                <a:cs typeface="+mn-cs"/>
              </a:rPr>
              <a:t>等也使用西里尔文字。前苏联地区由于当时的政治体制，也都采用了西里尔文字，包括中亚地区的</a:t>
            </a:r>
            <a:r>
              <a:rPr kumimoji="1" lang="zh-CN" altLang="en-US" sz="1200" b="0" i="0" u="none" strike="noStrike" kern="1200" dirty="0">
                <a:solidFill>
                  <a:schemeClr val="tx1"/>
                </a:solidFill>
                <a:effectLst/>
                <a:latin typeface="Times New Roman" pitchFamily="18" charset="0"/>
                <a:ea typeface="宋体" charset="-122"/>
                <a:cs typeface="+mn-cs"/>
                <a:hlinkClick r:id="rId11"/>
              </a:rPr>
              <a:t>阿塞拜疆</a:t>
            </a:r>
            <a:r>
              <a:rPr kumimoji="1" lang="zh-CN" altLang="en-US" sz="1200" b="0" i="0" kern="1200" dirty="0">
                <a:solidFill>
                  <a:schemeClr val="tx1"/>
                </a:solidFill>
                <a:effectLst/>
                <a:latin typeface="Times New Roman" pitchFamily="18" charset="0"/>
                <a:ea typeface="宋体" charset="-122"/>
                <a:cs typeface="+mn-cs"/>
              </a:rPr>
              <a:t>、</a:t>
            </a:r>
            <a:r>
              <a:rPr kumimoji="1" lang="zh-CN" altLang="en-US" sz="1200" b="0" i="0" u="none" strike="noStrike" kern="1200" dirty="0">
                <a:solidFill>
                  <a:schemeClr val="tx1"/>
                </a:solidFill>
                <a:effectLst/>
                <a:latin typeface="Times New Roman" pitchFamily="18" charset="0"/>
                <a:ea typeface="宋体" charset="-122"/>
                <a:cs typeface="+mn-cs"/>
                <a:hlinkClick r:id="rId12"/>
              </a:rPr>
              <a:t>吉尔吉斯</a:t>
            </a:r>
            <a:r>
              <a:rPr kumimoji="1" lang="zh-CN" altLang="en-US" sz="1200" b="0" i="0" kern="1200" dirty="0">
                <a:solidFill>
                  <a:schemeClr val="tx1"/>
                </a:solidFill>
                <a:effectLst/>
                <a:latin typeface="Times New Roman" pitchFamily="18" charset="0"/>
                <a:ea typeface="宋体" charset="-122"/>
                <a:cs typeface="+mn-cs"/>
              </a:rPr>
              <a:t>、</a:t>
            </a:r>
            <a:r>
              <a:rPr kumimoji="1" lang="zh-CN" altLang="en-US" sz="1200" b="0" i="0" u="none" strike="noStrike" kern="1200" dirty="0">
                <a:solidFill>
                  <a:schemeClr val="tx1"/>
                </a:solidFill>
                <a:effectLst/>
                <a:latin typeface="Times New Roman" pitchFamily="18" charset="0"/>
                <a:ea typeface="宋体" charset="-122"/>
                <a:cs typeface="+mn-cs"/>
                <a:hlinkClick r:id="rId13"/>
              </a:rPr>
              <a:t>乌兹别克</a:t>
            </a:r>
            <a:r>
              <a:rPr kumimoji="1" lang="zh-CN" altLang="en-US" sz="1200" b="0" i="0" kern="1200" dirty="0">
                <a:solidFill>
                  <a:schemeClr val="tx1"/>
                </a:solidFill>
                <a:effectLst/>
                <a:latin typeface="Times New Roman" pitchFamily="18" charset="0"/>
                <a:ea typeface="宋体" charset="-122"/>
                <a:cs typeface="+mn-cs"/>
              </a:rPr>
              <a:t>以至</a:t>
            </a:r>
            <a:r>
              <a:rPr kumimoji="1" lang="zh-CN" altLang="en-US" sz="1200" b="0" i="0" u="none" strike="noStrike" kern="1200" dirty="0">
                <a:solidFill>
                  <a:schemeClr val="tx1"/>
                </a:solidFill>
                <a:effectLst/>
                <a:latin typeface="Times New Roman" pitchFamily="18" charset="0"/>
                <a:ea typeface="宋体" charset="-122"/>
                <a:cs typeface="+mn-cs"/>
                <a:hlinkClick r:id="rId14"/>
              </a:rPr>
              <a:t>蒙古</a:t>
            </a:r>
            <a:r>
              <a:rPr kumimoji="1" lang="zh-CN" altLang="en-US" sz="1200" b="0" i="0" kern="1200" dirty="0">
                <a:solidFill>
                  <a:schemeClr val="tx1"/>
                </a:solidFill>
                <a:effectLst/>
                <a:latin typeface="Times New Roman" pitchFamily="18" charset="0"/>
                <a:ea typeface="宋体" charset="-122"/>
                <a:cs typeface="+mn-cs"/>
              </a:rPr>
              <a:t>。</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20</a:t>
            </a:fld>
            <a:endParaRPr lang="en-US" altLang="zh-CN"/>
          </a:p>
        </p:txBody>
      </p:sp>
    </p:spTree>
    <p:extLst>
      <p:ext uri="{BB962C8B-B14F-4D97-AF65-F5344CB8AC3E}">
        <p14:creationId xmlns:p14="http://schemas.microsoft.com/office/powerpoint/2010/main" val="607404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charset="-122"/>
                <a:cs typeface="+mn-cs"/>
              </a:rPr>
              <a:t>西里尔字母源于脱胎自</a:t>
            </a:r>
            <a:r>
              <a:rPr kumimoji="1" lang="zh-CN" altLang="en-US" sz="1200" b="0" i="0" u="none" strike="noStrike" kern="1200" dirty="0">
                <a:solidFill>
                  <a:schemeClr val="tx1"/>
                </a:solidFill>
                <a:effectLst/>
                <a:latin typeface="Times New Roman" pitchFamily="18" charset="0"/>
                <a:ea typeface="宋体" charset="-122"/>
                <a:cs typeface="+mn-cs"/>
                <a:hlinkClick r:id="rId3"/>
              </a:rPr>
              <a:t>希腊字母</a:t>
            </a:r>
            <a:r>
              <a:rPr kumimoji="1" lang="zh-CN" altLang="en-US" sz="1200" b="0" i="0" kern="1200" dirty="0">
                <a:solidFill>
                  <a:schemeClr val="tx1"/>
                </a:solidFill>
                <a:effectLst/>
                <a:latin typeface="Times New Roman" pitchFamily="18" charset="0"/>
                <a:ea typeface="宋体" charset="-122"/>
                <a:cs typeface="+mn-cs"/>
              </a:rPr>
              <a:t>的</a:t>
            </a:r>
            <a:r>
              <a:rPr kumimoji="1" lang="zh-CN" altLang="en-US" sz="1200" b="0" i="0" u="none" strike="noStrike" kern="1200" dirty="0">
                <a:solidFill>
                  <a:schemeClr val="tx1"/>
                </a:solidFill>
                <a:effectLst/>
                <a:latin typeface="Times New Roman" pitchFamily="18" charset="0"/>
                <a:ea typeface="宋体" charset="-122"/>
                <a:cs typeface="+mn-cs"/>
                <a:hlinkClick r:id="rId4"/>
              </a:rPr>
              <a:t>格拉哥里字母</a:t>
            </a:r>
            <a:r>
              <a:rPr kumimoji="1" lang="zh-CN" altLang="en-US" sz="1200" b="0" i="0" kern="1200" dirty="0">
                <a:solidFill>
                  <a:schemeClr val="tx1"/>
                </a:solidFill>
                <a:effectLst/>
                <a:latin typeface="Times New Roman" pitchFamily="18" charset="0"/>
                <a:ea typeface="宋体" charset="-122"/>
                <a:cs typeface="+mn-cs"/>
              </a:rPr>
              <a:t>，普遍认为是由基督教传教士圣</a:t>
            </a:r>
            <a:r>
              <a:rPr kumimoji="1" lang="zh-CN" altLang="en-US" sz="1200" b="0" i="0" u="none" strike="noStrike" kern="1200" dirty="0">
                <a:solidFill>
                  <a:schemeClr val="tx1"/>
                </a:solidFill>
                <a:effectLst/>
                <a:latin typeface="Times New Roman" pitchFamily="18" charset="0"/>
                <a:ea typeface="宋体" charset="-122"/>
                <a:cs typeface="+mn-cs"/>
                <a:hlinkClick r:id="rId5"/>
              </a:rPr>
              <a:t>西里尔</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827</a:t>
            </a:r>
            <a:r>
              <a:rPr kumimoji="1" lang="zh-CN" altLang="en-US" sz="1200" b="0" i="0" kern="1200" dirty="0">
                <a:solidFill>
                  <a:schemeClr val="tx1"/>
                </a:solidFill>
                <a:effectLst/>
                <a:latin typeface="Times New Roman" pitchFamily="18" charset="0"/>
                <a:ea typeface="宋体" charset="-122"/>
                <a:cs typeface="+mn-cs"/>
              </a:rPr>
              <a:t>年</a:t>
            </a:r>
            <a:r>
              <a:rPr kumimoji="1" lang="en-US" altLang="zh-CN" sz="1200" b="0" i="0" kern="1200" dirty="0">
                <a:solidFill>
                  <a:schemeClr val="tx1"/>
                </a:solidFill>
                <a:effectLst/>
                <a:latin typeface="Times New Roman" pitchFamily="18" charset="0"/>
                <a:ea typeface="宋体" charset="-122"/>
                <a:cs typeface="+mn-cs"/>
              </a:rPr>
              <a:t>–869</a:t>
            </a:r>
            <a:r>
              <a:rPr kumimoji="1" lang="zh-CN" altLang="en-US" sz="1200" b="0" i="0" kern="1200" dirty="0">
                <a:solidFill>
                  <a:schemeClr val="tx1"/>
                </a:solidFill>
                <a:effectLst/>
                <a:latin typeface="Times New Roman" pitchFamily="18" charset="0"/>
                <a:ea typeface="宋体" charset="-122"/>
                <a:cs typeface="+mn-cs"/>
              </a:rPr>
              <a:t>年）和圣梅笃丢斯在</a:t>
            </a:r>
            <a:r>
              <a:rPr kumimoji="1" lang="en-US" altLang="zh-CN" sz="1200" b="0" i="0" kern="1200" dirty="0">
                <a:solidFill>
                  <a:schemeClr val="tx1"/>
                </a:solidFill>
                <a:effectLst/>
                <a:latin typeface="Times New Roman" pitchFamily="18" charset="0"/>
                <a:ea typeface="宋体" charset="-122"/>
                <a:cs typeface="+mn-cs"/>
              </a:rPr>
              <a:t>9</a:t>
            </a:r>
            <a:r>
              <a:rPr kumimoji="1" lang="zh-CN" altLang="en-US" sz="1200" b="0" i="0" kern="1200" dirty="0">
                <a:solidFill>
                  <a:schemeClr val="tx1"/>
                </a:solidFill>
                <a:effectLst/>
                <a:latin typeface="Times New Roman" pitchFamily="18" charset="0"/>
                <a:ea typeface="宋体" charset="-122"/>
                <a:cs typeface="+mn-cs"/>
              </a:rPr>
              <a:t>世纪为了在斯拉夫民族传播基督教（当时东西教会还未正式分裂）方便所创立的，被斯拉夫民族广泛采用，因此有时也称为</a:t>
            </a:r>
            <a:r>
              <a:rPr kumimoji="1" lang="zh-CN" altLang="en-US" sz="1200" b="0" i="0" u="none" strike="noStrike" kern="1200" dirty="0">
                <a:solidFill>
                  <a:schemeClr val="tx1"/>
                </a:solidFill>
                <a:effectLst/>
                <a:latin typeface="Times New Roman" pitchFamily="18" charset="0"/>
                <a:ea typeface="宋体" charset="-122"/>
                <a:cs typeface="+mn-cs"/>
                <a:hlinkClick r:id="rId6"/>
              </a:rPr>
              <a:t>斯拉夫字母</a:t>
            </a:r>
            <a:r>
              <a:rPr kumimoji="1" lang="zh-CN" altLang="en-US" sz="1200" b="0" i="0" kern="1200" dirty="0">
                <a:solidFill>
                  <a:schemeClr val="tx1"/>
                </a:solidFill>
                <a:effectLst/>
                <a:latin typeface="Times New Roman" pitchFamily="18" charset="0"/>
                <a:ea typeface="宋体" charset="-122"/>
                <a:cs typeface="+mn-cs"/>
              </a:rPr>
              <a:t>。</a:t>
            </a:r>
            <a:r>
              <a:rPr kumimoji="1" lang="zh-CN" altLang="en-US" sz="1200" b="0" i="0" u="none" strike="noStrike" kern="1200" dirty="0">
                <a:solidFill>
                  <a:schemeClr val="tx1"/>
                </a:solidFill>
                <a:effectLst/>
                <a:latin typeface="Times New Roman" pitchFamily="18" charset="0"/>
                <a:ea typeface="宋体" charset="-122"/>
                <a:cs typeface="+mn-cs"/>
                <a:hlinkClick r:id="rId7"/>
              </a:rPr>
              <a:t>早期</a:t>
            </a:r>
            <a:r>
              <a:rPr kumimoji="1" lang="zh-CN" altLang="en-US" sz="1200" b="0" i="0" kern="1200" dirty="0">
                <a:solidFill>
                  <a:schemeClr val="tx1"/>
                </a:solidFill>
                <a:effectLst/>
                <a:latin typeface="Times New Roman" pitchFamily="18" charset="0"/>
                <a:ea typeface="宋体" charset="-122"/>
                <a:cs typeface="+mn-cs"/>
              </a:rPr>
              <a:t>的西里尔字母又称作</a:t>
            </a:r>
            <a:r>
              <a:rPr kumimoji="1" lang="zh-CN" altLang="en-US" sz="1200" b="0" i="0" u="none" strike="noStrike" kern="1200" dirty="0">
                <a:solidFill>
                  <a:schemeClr val="tx1"/>
                </a:solidFill>
                <a:effectLst/>
                <a:latin typeface="Times New Roman" pitchFamily="18" charset="0"/>
                <a:ea typeface="宋体" charset="-122"/>
                <a:cs typeface="+mn-cs"/>
                <a:hlinkClick r:id="rId8"/>
              </a:rPr>
              <a:t>古斯拉夫语</a:t>
            </a:r>
            <a:r>
              <a:rPr kumimoji="1" lang="zh-CN" altLang="en-US" sz="1200" b="0" i="0" kern="1200" dirty="0">
                <a:solidFill>
                  <a:schemeClr val="tx1"/>
                </a:solidFill>
                <a:effectLst/>
                <a:latin typeface="Times New Roman" pitchFamily="18" charset="0"/>
                <a:ea typeface="宋体" charset="-122"/>
                <a:cs typeface="+mn-cs"/>
              </a:rPr>
              <a:t>字母（现代的斯拉夫字母经过修改）。</a:t>
            </a:r>
          </a:p>
          <a:p>
            <a:r>
              <a:rPr kumimoji="1" lang="zh-CN" altLang="en-US" sz="1200" b="0" i="0" kern="1200" dirty="0">
                <a:solidFill>
                  <a:schemeClr val="tx1"/>
                </a:solidFill>
                <a:effectLst/>
                <a:latin typeface="Times New Roman" pitchFamily="18" charset="0"/>
                <a:ea typeface="宋体" charset="-122"/>
                <a:cs typeface="+mn-cs"/>
              </a:rPr>
              <a:t>在斯拉夫民族中，如</a:t>
            </a:r>
            <a:r>
              <a:rPr kumimoji="1" lang="zh-CN" altLang="en-US" sz="1200" b="0" i="0" u="none" strike="noStrike" kern="1200" dirty="0">
                <a:solidFill>
                  <a:schemeClr val="tx1"/>
                </a:solidFill>
                <a:effectLst/>
                <a:latin typeface="Times New Roman" pitchFamily="18" charset="0"/>
                <a:ea typeface="宋体" charset="-122"/>
                <a:cs typeface="+mn-cs"/>
                <a:hlinkClick r:id="rId9"/>
              </a:rPr>
              <a:t>塞尔维亚</a:t>
            </a:r>
            <a:r>
              <a:rPr kumimoji="1" lang="zh-CN" altLang="en-US" sz="1200" b="0" i="0" kern="1200" dirty="0">
                <a:solidFill>
                  <a:schemeClr val="tx1"/>
                </a:solidFill>
                <a:effectLst/>
                <a:latin typeface="Times New Roman" pitchFamily="18" charset="0"/>
                <a:ea typeface="宋体" charset="-122"/>
                <a:cs typeface="+mn-cs"/>
              </a:rPr>
              <a:t>，</a:t>
            </a:r>
            <a:r>
              <a:rPr kumimoji="1" lang="zh-CN" altLang="en-US" sz="1200" b="0" i="0" u="none" strike="noStrike" kern="1200" dirty="0">
                <a:solidFill>
                  <a:schemeClr val="tx1"/>
                </a:solidFill>
                <a:effectLst/>
                <a:latin typeface="Times New Roman" pitchFamily="18" charset="0"/>
                <a:ea typeface="宋体" charset="-122"/>
                <a:cs typeface="+mn-cs"/>
                <a:hlinkClick r:id="rId10"/>
              </a:rPr>
              <a:t>克罗地亚</a:t>
            </a:r>
            <a:r>
              <a:rPr kumimoji="1" lang="zh-CN" altLang="en-US" sz="1200" b="0" i="0" kern="1200" dirty="0">
                <a:solidFill>
                  <a:schemeClr val="tx1"/>
                </a:solidFill>
                <a:effectLst/>
                <a:latin typeface="Times New Roman" pitchFamily="18" charset="0"/>
                <a:ea typeface="宋体" charset="-122"/>
                <a:cs typeface="+mn-cs"/>
              </a:rPr>
              <a:t>等也使用西里尔文字。前苏联地区由于当时的政治体制，也都采用了西里尔文字，包括中亚地区的</a:t>
            </a:r>
            <a:r>
              <a:rPr kumimoji="1" lang="zh-CN" altLang="en-US" sz="1200" b="0" i="0" u="none" strike="noStrike" kern="1200" dirty="0">
                <a:solidFill>
                  <a:schemeClr val="tx1"/>
                </a:solidFill>
                <a:effectLst/>
                <a:latin typeface="Times New Roman" pitchFamily="18" charset="0"/>
                <a:ea typeface="宋体" charset="-122"/>
                <a:cs typeface="+mn-cs"/>
                <a:hlinkClick r:id="rId11"/>
              </a:rPr>
              <a:t>阿塞拜疆</a:t>
            </a:r>
            <a:r>
              <a:rPr kumimoji="1" lang="zh-CN" altLang="en-US" sz="1200" b="0" i="0" kern="1200" dirty="0">
                <a:solidFill>
                  <a:schemeClr val="tx1"/>
                </a:solidFill>
                <a:effectLst/>
                <a:latin typeface="Times New Roman" pitchFamily="18" charset="0"/>
                <a:ea typeface="宋体" charset="-122"/>
                <a:cs typeface="+mn-cs"/>
              </a:rPr>
              <a:t>、</a:t>
            </a:r>
            <a:r>
              <a:rPr kumimoji="1" lang="zh-CN" altLang="en-US" sz="1200" b="0" i="0" u="none" strike="noStrike" kern="1200" dirty="0">
                <a:solidFill>
                  <a:schemeClr val="tx1"/>
                </a:solidFill>
                <a:effectLst/>
                <a:latin typeface="Times New Roman" pitchFamily="18" charset="0"/>
                <a:ea typeface="宋体" charset="-122"/>
                <a:cs typeface="+mn-cs"/>
                <a:hlinkClick r:id="rId12"/>
              </a:rPr>
              <a:t>吉尔吉斯</a:t>
            </a:r>
            <a:r>
              <a:rPr kumimoji="1" lang="zh-CN" altLang="en-US" sz="1200" b="0" i="0" kern="1200" dirty="0">
                <a:solidFill>
                  <a:schemeClr val="tx1"/>
                </a:solidFill>
                <a:effectLst/>
                <a:latin typeface="Times New Roman" pitchFamily="18" charset="0"/>
                <a:ea typeface="宋体" charset="-122"/>
                <a:cs typeface="+mn-cs"/>
              </a:rPr>
              <a:t>、</a:t>
            </a:r>
            <a:r>
              <a:rPr kumimoji="1" lang="zh-CN" altLang="en-US" sz="1200" b="0" i="0" u="none" strike="noStrike" kern="1200" dirty="0">
                <a:solidFill>
                  <a:schemeClr val="tx1"/>
                </a:solidFill>
                <a:effectLst/>
                <a:latin typeface="Times New Roman" pitchFamily="18" charset="0"/>
                <a:ea typeface="宋体" charset="-122"/>
                <a:cs typeface="+mn-cs"/>
                <a:hlinkClick r:id="rId13"/>
              </a:rPr>
              <a:t>乌兹别克</a:t>
            </a:r>
            <a:r>
              <a:rPr kumimoji="1" lang="zh-CN" altLang="en-US" sz="1200" b="0" i="0" kern="1200" dirty="0">
                <a:solidFill>
                  <a:schemeClr val="tx1"/>
                </a:solidFill>
                <a:effectLst/>
                <a:latin typeface="Times New Roman" pitchFamily="18" charset="0"/>
                <a:ea typeface="宋体" charset="-122"/>
                <a:cs typeface="+mn-cs"/>
              </a:rPr>
              <a:t>以至</a:t>
            </a:r>
            <a:r>
              <a:rPr kumimoji="1" lang="zh-CN" altLang="en-US" sz="1200" b="0" i="0" u="none" strike="noStrike" kern="1200" dirty="0">
                <a:solidFill>
                  <a:schemeClr val="tx1"/>
                </a:solidFill>
                <a:effectLst/>
                <a:latin typeface="Times New Roman" pitchFamily="18" charset="0"/>
                <a:ea typeface="宋体" charset="-122"/>
                <a:cs typeface="+mn-cs"/>
                <a:hlinkClick r:id="rId14"/>
              </a:rPr>
              <a:t>蒙古</a:t>
            </a:r>
            <a:r>
              <a:rPr kumimoji="1" lang="zh-CN" altLang="en-US" sz="1200" b="0" i="0" kern="1200" dirty="0">
                <a:solidFill>
                  <a:schemeClr val="tx1"/>
                </a:solidFill>
                <a:effectLst/>
                <a:latin typeface="Times New Roman" pitchFamily="18" charset="0"/>
                <a:ea typeface="宋体" charset="-122"/>
                <a:cs typeface="+mn-cs"/>
              </a:rPr>
              <a:t>。</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21</a:t>
            </a:fld>
            <a:endParaRPr lang="en-US" altLang="zh-CN"/>
          </a:p>
        </p:txBody>
      </p:sp>
    </p:spTree>
    <p:extLst>
      <p:ext uri="{BB962C8B-B14F-4D97-AF65-F5344CB8AC3E}">
        <p14:creationId xmlns:p14="http://schemas.microsoft.com/office/powerpoint/2010/main" val="1568737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itchFamily="18" charset="0"/>
                <a:ea typeface="宋体" charset="-122"/>
                <a:cs typeface="+mn-cs"/>
              </a:rPr>
              <a:t>CDC</a:t>
            </a:r>
            <a:r>
              <a:rPr kumimoji="1" lang="zh-CN" altLang="en-US" sz="1200" b="0" i="0" kern="1200" dirty="0">
                <a:solidFill>
                  <a:schemeClr val="tx1"/>
                </a:solidFill>
                <a:effectLst/>
                <a:latin typeface="Times New Roman" pitchFamily="18" charset="0"/>
                <a:ea typeface="宋体" charset="-122"/>
                <a:cs typeface="+mn-cs"/>
              </a:rPr>
              <a:t>是美国疾控中心的简称，中国疾控中心的简称是</a:t>
            </a:r>
            <a:r>
              <a:rPr kumimoji="1" lang="en-US" altLang="zh-CN" sz="1200" b="0" i="0" kern="1200" dirty="0">
                <a:solidFill>
                  <a:schemeClr val="tx1"/>
                </a:solidFill>
                <a:effectLst/>
                <a:latin typeface="Times New Roman" pitchFamily="18" charset="0"/>
                <a:ea typeface="宋体" charset="-122"/>
                <a:cs typeface="+mn-cs"/>
              </a:rPr>
              <a:t>CCDC</a:t>
            </a:r>
            <a:endParaRPr kumimoji="1" lang="zh-CN" altLang="en-US" sz="1200" b="0" i="0" kern="1200" dirty="0">
              <a:solidFill>
                <a:schemeClr val="tx1"/>
              </a:solidFill>
              <a:effectLst/>
              <a:latin typeface="Times New Roman" pitchFamily="18" charset="0"/>
              <a:ea typeface="宋体" charset="-122"/>
              <a:cs typeface="+mn-cs"/>
            </a:endParaRP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22</a:t>
            </a:fld>
            <a:endParaRPr lang="en-US" altLang="zh-CN"/>
          </a:p>
        </p:txBody>
      </p:sp>
    </p:spTree>
    <p:extLst>
      <p:ext uri="{BB962C8B-B14F-4D97-AF65-F5344CB8AC3E}">
        <p14:creationId xmlns:p14="http://schemas.microsoft.com/office/powerpoint/2010/main" val="4154723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https://www.secrss.com/articles/28702</a:t>
            </a:r>
          </a:p>
          <a:p>
            <a:r>
              <a:rPr kumimoji="1" lang="zh-CN" altLang="en-US" sz="1200" b="0" i="0" kern="1200" dirty="0">
                <a:solidFill>
                  <a:schemeClr val="tx1"/>
                </a:solidFill>
                <a:effectLst/>
                <a:latin typeface="Times New Roman" pitchFamily="18" charset="0"/>
                <a:ea typeface="宋体" charset="-122"/>
                <a:cs typeface="+mn-cs"/>
              </a:rPr>
              <a:t>迷人小猫组织设法成功地将攻击隐藏在</a:t>
            </a:r>
            <a:r>
              <a:rPr kumimoji="1" lang="en-US" altLang="zh-CN" sz="1200" b="0" i="0" kern="1200" dirty="0">
                <a:solidFill>
                  <a:schemeClr val="tx1"/>
                </a:solidFill>
                <a:effectLst/>
                <a:latin typeface="Times New Roman" pitchFamily="18" charset="0"/>
                <a:ea typeface="宋体" charset="-122"/>
                <a:cs typeface="+mn-cs"/>
              </a:rPr>
              <a:t>https://www.google .com / </a:t>
            </a:r>
            <a:r>
              <a:rPr kumimoji="1" lang="en-US" altLang="zh-CN" sz="1200" b="0" i="0" kern="1200" dirty="0" err="1">
                <a:solidFill>
                  <a:schemeClr val="tx1"/>
                </a:solidFill>
                <a:effectLst/>
                <a:latin typeface="Times New Roman" pitchFamily="18" charset="0"/>
                <a:ea typeface="宋体" charset="-122"/>
                <a:cs typeface="+mn-cs"/>
              </a:rPr>
              <a:t>urlq</a:t>
            </a:r>
            <a:r>
              <a:rPr kumimoji="1" lang="en-US" altLang="zh-CN" sz="1200" b="0" i="0" kern="1200" dirty="0">
                <a:solidFill>
                  <a:schemeClr val="tx1"/>
                </a:solidFill>
                <a:effectLst/>
                <a:latin typeface="Times New Roman" pitchFamily="18" charset="0"/>
                <a:ea typeface="宋体" charset="-122"/>
                <a:cs typeface="+mn-cs"/>
              </a:rPr>
              <a:t>=https</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//script.google.com/</a:t>
            </a:r>
            <a:r>
              <a:rPr kumimoji="1" lang="en-US" altLang="zh-CN" sz="1200" b="0" i="0" kern="1200" dirty="0" err="1">
                <a:solidFill>
                  <a:schemeClr val="tx1"/>
                </a:solidFill>
                <a:effectLst/>
                <a:latin typeface="Times New Roman" pitchFamily="18" charset="0"/>
                <a:ea typeface="宋体" charset="-122"/>
                <a:cs typeface="+mn-cs"/>
              </a:rPr>
              <a:t>xxxx</a:t>
            </a:r>
            <a:r>
              <a:rPr kumimoji="1" lang="zh-CN" altLang="en-US" sz="1200" b="0" i="0" kern="1200" dirty="0">
                <a:solidFill>
                  <a:schemeClr val="tx1"/>
                </a:solidFill>
                <a:effectLst/>
                <a:latin typeface="Times New Roman" pitchFamily="18" charset="0"/>
                <a:ea typeface="宋体" charset="-122"/>
                <a:cs typeface="+mn-cs"/>
              </a:rPr>
              <a:t>的合法</a:t>
            </a:r>
            <a:r>
              <a:rPr kumimoji="1" lang="en-US" altLang="zh-CN" sz="1200" b="0" i="0" kern="1200" dirty="0">
                <a:solidFill>
                  <a:schemeClr val="tx1"/>
                </a:solidFill>
                <a:effectLst/>
                <a:latin typeface="Times New Roman" pitchFamily="18" charset="0"/>
                <a:ea typeface="宋体" charset="-122"/>
                <a:cs typeface="+mn-cs"/>
              </a:rPr>
              <a:t>Google </a:t>
            </a:r>
            <a:r>
              <a:rPr kumimoji="1" lang="zh-CN" altLang="en-US" sz="1200" b="0" i="0" kern="1200" dirty="0">
                <a:solidFill>
                  <a:schemeClr val="tx1"/>
                </a:solidFill>
                <a:effectLst/>
                <a:latin typeface="Times New Roman" pitchFamily="18" charset="0"/>
                <a:ea typeface="宋体" charset="-122"/>
                <a:cs typeface="+mn-cs"/>
              </a:rPr>
              <a:t>链接后面 ，即使很警惕的安全专家也可能会上当。</a:t>
            </a:r>
          </a:p>
          <a:p>
            <a:r>
              <a:rPr kumimoji="1" lang="zh-CN" altLang="en-US" sz="1200" b="0" i="0" kern="1200" dirty="0">
                <a:solidFill>
                  <a:schemeClr val="tx1"/>
                </a:solidFill>
                <a:effectLst/>
                <a:latin typeface="Times New Roman" pitchFamily="18" charset="0"/>
                <a:ea typeface="宋体" charset="-122"/>
                <a:cs typeface="+mn-cs"/>
              </a:rPr>
              <a:t>在此网络钓鱼活动中，“迷人小猫” 使用伪造的短信以欺骗受害者。他们向目标发送确认消息，说明“ </a:t>
            </a:r>
            <a:r>
              <a:rPr kumimoji="1" lang="en-US" altLang="zh-CN" sz="1200" b="0" i="0" kern="1200" dirty="0">
                <a:solidFill>
                  <a:schemeClr val="tx1"/>
                </a:solidFill>
                <a:effectLst/>
                <a:latin typeface="Times New Roman" pitchFamily="18" charset="0"/>
                <a:ea typeface="宋体" charset="-122"/>
                <a:cs typeface="+mn-cs"/>
              </a:rPr>
              <a:t>Google</a:t>
            </a:r>
            <a:r>
              <a:rPr kumimoji="1" lang="zh-CN" altLang="en-US" sz="1200" b="0" i="0" kern="1200" dirty="0">
                <a:solidFill>
                  <a:schemeClr val="tx1"/>
                </a:solidFill>
                <a:effectLst/>
                <a:latin typeface="Times New Roman" pitchFamily="18" charset="0"/>
                <a:ea typeface="宋体" charset="-122"/>
                <a:cs typeface="+mn-cs"/>
              </a:rPr>
              <a:t>帐户恢复”；他们声称这些邮件是由</a:t>
            </a:r>
            <a:r>
              <a:rPr kumimoji="1" lang="en-US" altLang="zh-CN" sz="1200" b="0" i="0" kern="1200" dirty="0">
                <a:solidFill>
                  <a:schemeClr val="tx1"/>
                </a:solidFill>
                <a:effectLst/>
                <a:latin typeface="Times New Roman" pitchFamily="18" charset="0"/>
                <a:ea typeface="宋体" charset="-122"/>
                <a:cs typeface="+mn-cs"/>
              </a:rPr>
              <a:t>Google</a:t>
            </a:r>
            <a:r>
              <a:rPr kumimoji="1" lang="zh-CN" altLang="en-US" sz="1200" b="0" i="0" kern="1200" dirty="0">
                <a:solidFill>
                  <a:schemeClr val="tx1"/>
                </a:solidFill>
                <a:effectLst/>
                <a:latin typeface="Times New Roman" pitchFamily="18" charset="0"/>
                <a:ea typeface="宋体" charset="-122"/>
                <a:cs typeface="+mn-cs"/>
              </a:rPr>
              <a:t>发送的，用户必须点击</a:t>
            </a:r>
            <a:r>
              <a:rPr kumimoji="1" lang="en-US" altLang="zh-CN" sz="1200" b="0" i="0" kern="1200" dirty="0">
                <a:solidFill>
                  <a:schemeClr val="tx1"/>
                </a:solidFill>
                <a:effectLst/>
                <a:latin typeface="Times New Roman" pitchFamily="18" charset="0"/>
                <a:ea typeface="宋体" charset="-122"/>
                <a:cs typeface="+mn-cs"/>
              </a:rPr>
              <a:t>SMS</a:t>
            </a:r>
            <a:r>
              <a:rPr kumimoji="1" lang="zh-CN" altLang="en-US" sz="1200" b="0" i="0" kern="1200" dirty="0">
                <a:solidFill>
                  <a:schemeClr val="tx1"/>
                </a:solidFill>
                <a:effectLst/>
                <a:latin typeface="Times New Roman" pitchFamily="18" charset="0"/>
                <a:ea typeface="宋体" charset="-122"/>
                <a:cs typeface="+mn-cs"/>
              </a:rPr>
              <a:t>中的链接以确认身份。</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24</a:t>
            </a:fld>
            <a:endParaRPr lang="en-US" altLang="zh-CN"/>
          </a:p>
        </p:txBody>
      </p:sp>
    </p:spTree>
    <p:extLst>
      <p:ext uri="{BB962C8B-B14F-4D97-AF65-F5344CB8AC3E}">
        <p14:creationId xmlns:p14="http://schemas.microsoft.com/office/powerpoint/2010/main" val="917533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https://mp.weixin.qq.com/s/V0LwIpNNTjSCE2PtcT1hZw</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27</a:t>
            </a:fld>
            <a:endParaRPr lang="en-US" altLang="zh-CN"/>
          </a:p>
        </p:txBody>
      </p:sp>
    </p:spTree>
    <p:extLst>
      <p:ext uri="{BB962C8B-B14F-4D97-AF65-F5344CB8AC3E}">
        <p14:creationId xmlns:p14="http://schemas.microsoft.com/office/powerpoint/2010/main" val="624760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itchFamily="18" charset="0"/>
                <a:ea typeface="宋体" charset="-122"/>
                <a:cs typeface="+mn-cs"/>
              </a:rPr>
              <a:t>图</a:t>
            </a:r>
            <a:r>
              <a:rPr kumimoji="1" lang="en-US" altLang="zh-CN" sz="1200" kern="1200" dirty="0">
                <a:solidFill>
                  <a:schemeClr val="tx1"/>
                </a:solidFill>
                <a:effectLst/>
                <a:latin typeface="Times New Roman" pitchFamily="18" charset="0"/>
                <a:ea typeface="宋体" charset="-122"/>
                <a:cs typeface="+mn-cs"/>
              </a:rPr>
              <a:t>10-2</a:t>
            </a:r>
            <a:r>
              <a:rPr kumimoji="1" lang="zh-CN" altLang="zh-CN" sz="1200" kern="1200" dirty="0">
                <a:solidFill>
                  <a:schemeClr val="tx1"/>
                </a:solidFill>
                <a:effectLst/>
                <a:latin typeface="Times New Roman" pitchFamily="18" charset="0"/>
                <a:ea typeface="宋体" charset="-122"/>
                <a:cs typeface="+mn-cs"/>
              </a:rPr>
              <a:t>所示的是著名</a:t>
            </a:r>
            <a:r>
              <a:rPr kumimoji="1" lang="en-US" altLang="zh-CN" sz="1200" kern="1200" dirty="0">
                <a:solidFill>
                  <a:schemeClr val="tx1"/>
                </a:solidFill>
                <a:effectLst/>
                <a:latin typeface="Times New Roman" pitchFamily="18" charset="0"/>
                <a:ea typeface="宋体" charset="-122"/>
                <a:cs typeface="+mn-cs"/>
              </a:rPr>
              <a:t>APT</a:t>
            </a:r>
            <a:r>
              <a:rPr kumimoji="1" lang="zh-CN" altLang="zh-CN" sz="1200" kern="1200" dirty="0">
                <a:solidFill>
                  <a:schemeClr val="tx1"/>
                </a:solidFill>
                <a:effectLst/>
                <a:latin typeface="Times New Roman" pitchFamily="18" charset="0"/>
                <a:ea typeface="宋体" charset="-122"/>
                <a:cs typeface="+mn-cs"/>
              </a:rPr>
              <a:t>攻击组织“白象”针对中国高校教师的钓鱼邮件，邮件正文是关于南海问题，在邮件的最后诱导受害者点击链接查看“完整版报告（</a:t>
            </a:r>
            <a:r>
              <a:rPr kumimoji="1" lang="en-US" altLang="zh-CN" sz="1200" kern="1200" dirty="0">
                <a:solidFill>
                  <a:schemeClr val="tx1"/>
                </a:solidFill>
                <a:effectLst/>
                <a:latin typeface="Times New Roman" pitchFamily="18" charset="0"/>
                <a:ea typeface="宋体" charset="-122"/>
                <a:cs typeface="+mn-cs"/>
              </a:rPr>
              <a:t>Download the Complete report</a:t>
            </a:r>
            <a:r>
              <a:rPr kumimoji="1" lang="zh-CN" altLang="zh-CN" sz="1200" kern="1200" dirty="0">
                <a:solidFill>
                  <a:schemeClr val="tx1"/>
                </a:solidFill>
                <a:effectLst/>
                <a:latin typeface="Times New Roman" pitchFamily="18" charset="0"/>
                <a:ea typeface="宋体" charset="-122"/>
                <a:cs typeface="+mn-cs"/>
              </a:rPr>
              <a:t>）”。一旦用户点击了这个链接就会下载恶意文档。该文档使用了</a:t>
            </a:r>
            <a:r>
              <a:rPr kumimoji="1" lang="en-US" altLang="zh-CN" sz="1200" kern="1200" dirty="0">
                <a:solidFill>
                  <a:schemeClr val="tx1"/>
                </a:solidFill>
                <a:effectLst/>
                <a:latin typeface="Times New Roman" pitchFamily="18" charset="0"/>
                <a:ea typeface="宋体" charset="-122"/>
                <a:cs typeface="+mn-cs"/>
              </a:rPr>
              <a:t>CVE-2014-4114</a:t>
            </a:r>
            <a:r>
              <a:rPr kumimoji="1" lang="zh-CN" altLang="zh-CN" sz="1200" kern="1200" dirty="0">
                <a:solidFill>
                  <a:schemeClr val="tx1"/>
                </a:solidFill>
                <a:effectLst/>
                <a:latin typeface="Times New Roman" pitchFamily="18" charset="0"/>
                <a:ea typeface="宋体" charset="-122"/>
                <a:cs typeface="+mn-cs"/>
              </a:rPr>
              <a:t>漏洞，且利用</a:t>
            </a:r>
            <a:r>
              <a:rPr kumimoji="1" lang="en-US" altLang="zh-CN" sz="1200" kern="1200" dirty="0">
                <a:solidFill>
                  <a:schemeClr val="tx1"/>
                </a:solidFill>
                <a:effectLst/>
                <a:latin typeface="Times New Roman" pitchFamily="18" charset="0"/>
                <a:ea typeface="宋体" charset="-122"/>
                <a:cs typeface="+mn-cs"/>
              </a:rPr>
              <a:t>PPS</a:t>
            </a:r>
            <a:r>
              <a:rPr kumimoji="1" lang="zh-CN" altLang="zh-CN" sz="1200" kern="1200" dirty="0">
                <a:solidFill>
                  <a:schemeClr val="tx1"/>
                </a:solidFill>
                <a:effectLst/>
                <a:latin typeface="Times New Roman" pitchFamily="18" charset="0"/>
                <a:ea typeface="宋体" charset="-122"/>
                <a:cs typeface="+mn-cs"/>
              </a:rPr>
              <a:t>格式文档自动播放的特点，来实现文档打开漏洞即被触发。</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28</a:t>
            </a:fld>
            <a:endParaRPr lang="en-US" altLang="zh-CN"/>
          </a:p>
        </p:txBody>
      </p:sp>
    </p:spTree>
    <p:extLst>
      <p:ext uri="{BB962C8B-B14F-4D97-AF65-F5344CB8AC3E}">
        <p14:creationId xmlns:p14="http://schemas.microsoft.com/office/powerpoint/2010/main" val="2763140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29</a:t>
            </a:fld>
            <a:endParaRPr lang="en-US" altLang="zh-CN"/>
          </a:p>
        </p:txBody>
      </p:sp>
    </p:spTree>
    <p:extLst>
      <p:ext uri="{BB962C8B-B14F-4D97-AF65-F5344CB8AC3E}">
        <p14:creationId xmlns:p14="http://schemas.microsoft.com/office/powerpoint/2010/main" val="2961060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30</a:t>
            </a:fld>
            <a:endParaRPr lang="en-US" altLang="zh-CN"/>
          </a:p>
        </p:txBody>
      </p:sp>
    </p:spTree>
    <p:extLst>
      <p:ext uri="{BB962C8B-B14F-4D97-AF65-F5344CB8AC3E}">
        <p14:creationId xmlns:p14="http://schemas.microsoft.com/office/powerpoint/2010/main" val="35152929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寄安信：</a:t>
            </a:r>
            <a:r>
              <a:rPr lang="en-US" altLang="zh-CN" dirty="0"/>
              <a:t>2020</a:t>
            </a:r>
            <a:r>
              <a:rPr lang="zh-CN" altLang="en-US" dirty="0"/>
              <a:t>年中</a:t>
            </a:r>
            <a:r>
              <a:rPr lang="en-US" altLang="zh-CN" dirty="0"/>
              <a:t>APT</a:t>
            </a:r>
            <a:r>
              <a:rPr lang="zh-CN" altLang="en-US" dirty="0"/>
              <a:t>分析报告</a:t>
            </a:r>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31</a:t>
            </a:fld>
            <a:endParaRPr lang="en-US" altLang="zh-CN"/>
          </a:p>
        </p:txBody>
      </p:sp>
    </p:spTree>
    <p:extLst>
      <p:ext uri="{BB962C8B-B14F-4D97-AF65-F5344CB8AC3E}">
        <p14:creationId xmlns:p14="http://schemas.microsoft.com/office/powerpoint/2010/main" val="16146233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https://www.trustwave.com/en-us/resources/blogs/spiderlabs-blog/phishing-the-holiday-season/</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32</a:t>
            </a:fld>
            <a:endParaRPr lang="en-US" altLang="zh-CN"/>
          </a:p>
        </p:txBody>
      </p:sp>
    </p:spTree>
    <p:extLst>
      <p:ext uri="{BB962C8B-B14F-4D97-AF65-F5344CB8AC3E}">
        <p14:creationId xmlns:p14="http://schemas.microsoft.com/office/powerpoint/2010/main" val="24763287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https://www.secrss.com/articles/28702</a:t>
            </a:r>
          </a:p>
          <a:p>
            <a:r>
              <a:rPr kumimoji="1" lang="zh-CN" altLang="en-US" sz="1200" b="0" i="0" kern="1200" dirty="0">
                <a:solidFill>
                  <a:schemeClr val="tx1"/>
                </a:solidFill>
                <a:effectLst/>
                <a:latin typeface="Times New Roman" pitchFamily="18" charset="0"/>
                <a:ea typeface="宋体" charset="-122"/>
                <a:cs typeface="+mn-cs"/>
              </a:rPr>
              <a:t>此网络钓鱼活动中使用的另一种方法是发送带有欺骗性标题的虚假电子邮件，例如“圣诞快乐”，并发送便条</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书</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照片等，这些通常是由以前被黑客入侵的电子邮件发送的。</a:t>
            </a:r>
          </a:p>
          <a:p>
            <a:r>
              <a:rPr kumimoji="1" lang="zh-CN" altLang="en-US" sz="1200" b="0" i="0" kern="1200" dirty="0">
                <a:solidFill>
                  <a:schemeClr val="tx1"/>
                </a:solidFill>
                <a:effectLst/>
                <a:latin typeface="Times New Roman" pitchFamily="18" charset="0"/>
                <a:ea typeface="宋体" charset="-122"/>
                <a:cs typeface="+mn-cs"/>
              </a:rPr>
              <a:t>攻击者在邮件中邀请接受者打开电子邮件正文中的链接。为了实现这一目标，”迷人小猫“使用了“新年问候”这一主题，邮件行文颇为令人信服，例如“今年，我想让朋友们对我的最后一本书感到满意。这是我给您的特别圣诞节礼物。” 在电子邮件正文中。该链接的结构类似于伪造短信中使用的链接。</a:t>
            </a:r>
          </a:p>
          <a:p>
            <a:r>
              <a:rPr kumimoji="1" lang="zh-CN" altLang="en-US" sz="1200" b="0" i="0" kern="1200" dirty="0">
                <a:solidFill>
                  <a:schemeClr val="tx1"/>
                </a:solidFill>
                <a:effectLst/>
                <a:latin typeface="Times New Roman" pitchFamily="18" charset="0"/>
                <a:ea typeface="宋体" charset="-122"/>
                <a:cs typeface="+mn-cs"/>
              </a:rPr>
              <a:t>最终，合法的</a:t>
            </a:r>
            <a:r>
              <a:rPr kumimoji="1" lang="en-US" altLang="zh-CN" sz="1200" b="0" i="0" kern="1200" dirty="0">
                <a:solidFill>
                  <a:schemeClr val="tx1"/>
                </a:solidFill>
                <a:effectLst/>
                <a:latin typeface="Times New Roman" pitchFamily="18" charset="0"/>
                <a:ea typeface="宋体" charset="-122"/>
                <a:cs typeface="+mn-cs"/>
              </a:rPr>
              <a:t>Google URL</a:t>
            </a:r>
            <a:r>
              <a:rPr kumimoji="1" lang="zh-CN" altLang="en-US" sz="1200" b="0" i="0" kern="1200" dirty="0">
                <a:solidFill>
                  <a:schemeClr val="tx1"/>
                </a:solidFill>
                <a:effectLst/>
                <a:latin typeface="Times New Roman" pitchFamily="18" charset="0"/>
                <a:ea typeface="宋体" charset="-122"/>
                <a:cs typeface="+mn-cs"/>
              </a:rPr>
              <a:t>最终将通过不同的网站将访问链接者带到网络钓鱼页面，并要求他们提供个人电子邮件服务（例如</a:t>
            </a:r>
            <a:r>
              <a:rPr kumimoji="1" lang="en-US" altLang="zh-CN" sz="1200" b="0" i="0" kern="1200" dirty="0">
                <a:solidFill>
                  <a:schemeClr val="tx1"/>
                </a:solidFill>
                <a:effectLst/>
                <a:latin typeface="Times New Roman" pitchFamily="18" charset="0"/>
                <a:ea typeface="宋体" charset="-122"/>
                <a:cs typeface="+mn-cs"/>
              </a:rPr>
              <a:t>Gmail</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Yahoo</a:t>
            </a:r>
            <a:r>
              <a:rPr kumimoji="1" lang="zh-CN" altLang="en-US" sz="1200" b="0" i="0" kern="1200" dirty="0">
                <a:solidFill>
                  <a:schemeClr val="tx1"/>
                </a:solidFill>
                <a:effectLst/>
                <a:latin typeface="Times New Roman" pitchFamily="18" charset="0"/>
                <a:ea typeface="宋体" charset="-122"/>
                <a:cs typeface="+mn-cs"/>
              </a:rPr>
              <a:t>和</a:t>
            </a:r>
            <a:r>
              <a:rPr kumimoji="1" lang="en-US" altLang="zh-CN" sz="1200" b="0" i="0" kern="1200" dirty="0">
                <a:solidFill>
                  <a:schemeClr val="tx1"/>
                </a:solidFill>
                <a:effectLst/>
                <a:latin typeface="Times New Roman" pitchFamily="18" charset="0"/>
                <a:ea typeface="宋体" charset="-122"/>
                <a:cs typeface="+mn-cs"/>
              </a:rPr>
              <a:t>Outlook</a:t>
            </a:r>
            <a:r>
              <a:rPr kumimoji="1" lang="zh-CN" altLang="en-US" sz="1200" b="0" i="0" kern="1200" dirty="0">
                <a:solidFill>
                  <a:schemeClr val="tx1"/>
                </a:solidFill>
                <a:effectLst/>
                <a:latin typeface="Times New Roman" pitchFamily="18" charset="0"/>
                <a:ea typeface="宋体" charset="-122"/>
                <a:cs typeface="+mn-cs"/>
              </a:rPr>
              <a:t>）的登录凭据。包括企业电子邮件。</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33</a:t>
            </a:fld>
            <a:endParaRPr lang="en-US" altLang="zh-CN"/>
          </a:p>
        </p:txBody>
      </p:sp>
    </p:spTree>
    <p:extLst>
      <p:ext uri="{BB962C8B-B14F-4D97-AF65-F5344CB8AC3E}">
        <p14:creationId xmlns:p14="http://schemas.microsoft.com/office/powerpoint/2010/main" val="42806398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https://www.secrss.com/articles/26593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58</a:t>
            </a:fld>
            <a:endParaRPr lang="en-US" altLang="zh-CN"/>
          </a:p>
        </p:txBody>
      </p:sp>
    </p:spTree>
    <p:extLst>
      <p:ext uri="{BB962C8B-B14F-4D97-AF65-F5344CB8AC3E}">
        <p14:creationId xmlns:p14="http://schemas.microsoft.com/office/powerpoint/2010/main" val="2955990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https://www.secrss.com/articles/26593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59</a:t>
            </a:fld>
            <a:endParaRPr lang="en-US" altLang="zh-CN"/>
          </a:p>
        </p:txBody>
      </p:sp>
    </p:spTree>
    <p:extLst>
      <p:ext uri="{BB962C8B-B14F-4D97-AF65-F5344CB8AC3E}">
        <p14:creationId xmlns:p14="http://schemas.microsoft.com/office/powerpoint/2010/main" val="30596042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https://www.secrss.com/articles/26593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60</a:t>
            </a:fld>
            <a:endParaRPr lang="en-US" altLang="zh-CN"/>
          </a:p>
        </p:txBody>
      </p:sp>
    </p:spTree>
    <p:extLst>
      <p:ext uri="{BB962C8B-B14F-4D97-AF65-F5344CB8AC3E}">
        <p14:creationId xmlns:p14="http://schemas.microsoft.com/office/powerpoint/2010/main" val="4335958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https://www.secrss.com/articles/26593</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61</a:t>
            </a:fld>
            <a:endParaRPr lang="en-US" altLang="zh-CN"/>
          </a:p>
        </p:txBody>
      </p:sp>
    </p:spTree>
    <p:extLst>
      <p:ext uri="{BB962C8B-B14F-4D97-AF65-F5344CB8AC3E}">
        <p14:creationId xmlns:p14="http://schemas.microsoft.com/office/powerpoint/2010/main" val="32869902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https://www.secrss.com/articles/28901</a:t>
            </a:r>
          </a:p>
          <a:p>
            <a:r>
              <a:rPr kumimoji="1" lang="en-US" altLang="zh-CN" sz="1200" b="0" i="0" kern="1200" dirty="0">
                <a:solidFill>
                  <a:schemeClr val="tx1"/>
                </a:solidFill>
                <a:effectLst/>
                <a:latin typeface="Times New Roman" pitchFamily="18" charset="0"/>
                <a:ea typeface="宋体" charset="-122"/>
                <a:cs typeface="+mn-cs"/>
              </a:rPr>
              <a:t>https://blog.google/threat-analysis-group/new-campaign-targeting-security-researchers/</a:t>
            </a:r>
          </a:p>
          <a:p>
            <a:r>
              <a:rPr kumimoji="1" lang="zh-CN" altLang="en-US" sz="1200" b="0" i="0" kern="1200" dirty="0">
                <a:solidFill>
                  <a:schemeClr val="tx1"/>
                </a:solidFill>
                <a:effectLst/>
                <a:latin typeface="Times New Roman" pitchFamily="18" charset="0"/>
                <a:ea typeface="宋体" charset="-122"/>
                <a:cs typeface="+mn-cs"/>
              </a:rPr>
              <a:t>攻击者首先建立了几个专注于漏洞研究的推特号。他们使用了这些</a:t>
            </a:r>
            <a:r>
              <a:rPr kumimoji="1" lang="en-US" altLang="zh-CN" sz="1200" b="0" i="0" kern="1200" dirty="0">
                <a:solidFill>
                  <a:schemeClr val="tx1"/>
                </a:solidFill>
                <a:effectLst/>
                <a:latin typeface="Times New Roman" pitchFamily="18" charset="0"/>
                <a:ea typeface="宋体" charset="-122"/>
                <a:cs typeface="+mn-cs"/>
              </a:rPr>
              <a:t>Twitter</a:t>
            </a:r>
            <a:r>
              <a:rPr kumimoji="1" lang="zh-CN" altLang="en-US" sz="1200" b="0" i="0" kern="1200" dirty="0">
                <a:solidFill>
                  <a:schemeClr val="tx1"/>
                </a:solidFill>
                <a:effectLst/>
                <a:latin typeface="Times New Roman" pitchFamily="18" charset="0"/>
                <a:ea typeface="宋体" charset="-122"/>
                <a:cs typeface="+mn-cs"/>
              </a:rPr>
              <a:t>个人资料来发布指向其博客的链接，并发布漏洞利用的视频，这些账号之间存在互相转发的行为。</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64</a:t>
            </a:fld>
            <a:endParaRPr lang="en-US" altLang="zh-CN"/>
          </a:p>
        </p:txBody>
      </p:sp>
    </p:spTree>
    <p:extLst>
      <p:ext uri="{BB962C8B-B14F-4D97-AF65-F5344CB8AC3E}">
        <p14:creationId xmlns:p14="http://schemas.microsoft.com/office/powerpoint/2010/main" val="42196240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https://www.secrss.com/articles/28901</a:t>
            </a:r>
          </a:p>
          <a:p>
            <a:r>
              <a:rPr kumimoji="1" lang="en-US" altLang="zh-CN" sz="1200" b="0" i="0" kern="1200" dirty="0">
                <a:solidFill>
                  <a:schemeClr val="tx1"/>
                </a:solidFill>
                <a:effectLst/>
                <a:latin typeface="Times New Roman" pitchFamily="18" charset="0"/>
                <a:ea typeface="宋体" charset="-122"/>
                <a:cs typeface="+mn-cs"/>
              </a:rPr>
              <a:t>https://blog.google/threat-analysis-group/new-campaign-targeting-security-researchers/</a:t>
            </a:r>
          </a:p>
          <a:p>
            <a:r>
              <a:rPr kumimoji="1" lang="en-US" altLang="zh-CN" sz="1200" b="0" i="0" kern="1200">
                <a:solidFill>
                  <a:schemeClr val="tx1"/>
                </a:solidFill>
                <a:effectLst/>
                <a:latin typeface="Times New Roman" pitchFamily="18" charset="0"/>
                <a:ea typeface="宋体" charset="-122"/>
                <a:cs typeface="+mn-cs"/>
              </a:rPr>
              <a:t>https://paper.seebug.org/1471/</a:t>
            </a:r>
            <a:endParaRPr kumimoji="1" lang="en-US" altLang="zh-CN"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号称安全界养号策略，这点此前黑鸟也曾发布过一个伪装成漏洞研究人员发布</a:t>
            </a:r>
            <a:r>
              <a:rPr kumimoji="1" lang="en-US" altLang="zh-CN" sz="1200" b="0" i="0" kern="1200" dirty="0">
                <a:solidFill>
                  <a:schemeClr val="tx1"/>
                </a:solidFill>
                <a:effectLst/>
                <a:latin typeface="Times New Roman" pitchFamily="18" charset="0"/>
                <a:ea typeface="宋体" charset="-122"/>
                <a:cs typeface="+mn-cs"/>
              </a:rPr>
              <a:t>0day</a:t>
            </a:r>
            <a:r>
              <a:rPr kumimoji="1" lang="zh-CN" altLang="en-US" sz="1200" b="0" i="0" kern="1200" dirty="0">
                <a:solidFill>
                  <a:schemeClr val="tx1"/>
                </a:solidFill>
                <a:effectLst/>
                <a:latin typeface="Times New Roman" pitchFamily="18" charset="0"/>
                <a:ea typeface="宋体" charset="-122"/>
                <a:cs typeface="+mn-cs"/>
              </a:rPr>
              <a:t>剪辑视频用来骗钱的案例：</a:t>
            </a:r>
            <a:r>
              <a:rPr kumimoji="1" lang="zh-CN" altLang="en-US" sz="1200" b="0" i="0" u="none" strike="noStrike" kern="1200" dirty="0">
                <a:solidFill>
                  <a:schemeClr val="tx1"/>
                </a:solidFill>
                <a:effectLst/>
                <a:latin typeface="Times New Roman" pitchFamily="18" charset="0"/>
                <a:ea typeface="宋体" charset="-122"/>
                <a:cs typeface="+mn-cs"/>
                <a:hlinkClick r:id="rId3"/>
              </a:rPr>
              <a:t>外国骗子装成中国黑客制造假</a:t>
            </a:r>
            <a:r>
              <a:rPr kumimoji="1" lang="en-US" altLang="zh-CN" sz="1200" b="0" i="0" u="none" strike="noStrike" kern="1200" dirty="0">
                <a:solidFill>
                  <a:schemeClr val="tx1"/>
                </a:solidFill>
                <a:effectLst/>
                <a:latin typeface="Times New Roman" pitchFamily="18" charset="0"/>
                <a:ea typeface="宋体" charset="-122"/>
                <a:cs typeface="+mn-cs"/>
                <a:hlinkClick r:id="rId3"/>
              </a:rPr>
              <a:t>0day</a:t>
            </a:r>
            <a:r>
              <a:rPr kumimoji="1" lang="zh-CN" altLang="en-US" sz="1200" b="0" i="0" u="none" strike="noStrike" kern="1200" dirty="0">
                <a:solidFill>
                  <a:schemeClr val="tx1"/>
                </a:solidFill>
                <a:effectLst/>
                <a:latin typeface="Times New Roman" pitchFamily="18" charset="0"/>
                <a:ea typeface="宋体" charset="-122"/>
                <a:cs typeface="+mn-cs"/>
                <a:hlinkClick r:id="rId3"/>
              </a:rPr>
              <a:t>漏洞视频，骗完钱后删号走人</a:t>
            </a:r>
            <a:endParaRPr kumimoji="1" lang="zh-CN" altLang="en-US" sz="1200" b="0" i="0" kern="1200" dirty="0">
              <a:solidFill>
                <a:schemeClr val="tx1"/>
              </a:solidFill>
              <a:effectLst/>
              <a:latin typeface="Times New Roman" pitchFamily="18" charset="0"/>
              <a:ea typeface="宋体" charset="-122"/>
              <a:cs typeface="+mn-cs"/>
            </a:endParaRPr>
          </a:p>
          <a:p>
            <a:r>
              <a:rPr kumimoji="1" lang="zh-CN" altLang="en-US" sz="1200" b="0" i="0" kern="1200" dirty="0">
                <a:solidFill>
                  <a:schemeClr val="tx1"/>
                </a:solidFill>
                <a:effectLst/>
                <a:latin typeface="Times New Roman" pitchFamily="18" charset="0"/>
                <a:ea typeface="宋体" charset="-122"/>
                <a:cs typeface="+mn-cs"/>
              </a:rPr>
              <a:t>但需要注意的是，这次的攻击者真的懂漏洞研究，并且发布的文章分析的</a:t>
            </a:r>
            <a:r>
              <a:rPr kumimoji="1" lang="zh-CN" altLang="en-US" sz="1200" b="1" i="0" kern="1200" dirty="0">
                <a:solidFill>
                  <a:schemeClr val="tx1"/>
                </a:solidFill>
                <a:effectLst/>
                <a:latin typeface="Times New Roman" pitchFamily="18" charset="0"/>
                <a:ea typeface="宋体" charset="-122"/>
                <a:cs typeface="+mn-cs"/>
              </a:rPr>
              <a:t>还挺不错</a:t>
            </a:r>
            <a:r>
              <a:rPr kumimoji="1" lang="zh-CN" altLang="en-US" sz="1200" b="0" i="0" kern="1200" dirty="0">
                <a:solidFill>
                  <a:schemeClr val="tx1"/>
                </a:solidFill>
                <a:effectLst/>
                <a:latin typeface="Times New Roman" pitchFamily="18" charset="0"/>
                <a:ea typeface="宋体" charset="-122"/>
                <a:cs typeface="+mn-cs"/>
              </a:rPr>
              <a:t>。</a:t>
            </a:r>
          </a:p>
          <a:p>
            <a:r>
              <a:rPr kumimoji="1" lang="zh-CN" altLang="en-US" sz="1200" b="0" i="0" kern="1200" dirty="0">
                <a:solidFill>
                  <a:schemeClr val="tx1"/>
                </a:solidFill>
                <a:effectLst/>
                <a:latin typeface="Times New Roman" pitchFamily="18" charset="0"/>
                <a:ea typeface="宋体" charset="-122"/>
                <a:cs typeface="+mn-cs"/>
              </a:rPr>
              <a:t>博客包含已公开披露的漏洞的文章和分析，甚至有的安全研究人员还会往这投稿，可能试图在其他安全研究人员中建立更多的信誉。</a:t>
            </a:r>
          </a:p>
          <a:p>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65</a:t>
            </a:fld>
            <a:endParaRPr lang="en-US" altLang="zh-CN"/>
          </a:p>
        </p:txBody>
      </p:sp>
    </p:spTree>
    <p:extLst>
      <p:ext uri="{BB962C8B-B14F-4D97-AF65-F5344CB8AC3E}">
        <p14:creationId xmlns:p14="http://schemas.microsoft.com/office/powerpoint/2010/main" val="13395117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https://www.secrss.com/articles/28559</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66</a:t>
            </a:fld>
            <a:endParaRPr lang="en-US" altLang="zh-CN"/>
          </a:p>
        </p:txBody>
      </p:sp>
    </p:spTree>
    <p:extLst>
      <p:ext uri="{BB962C8B-B14F-4D97-AF65-F5344CB8AC3E}">
        <p14:creationId xmlns:p14="http://schemas.microsoft.com/office/powerpoint/2010/main" val="8894643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9FD54D0F-DE20-458F-9711-211063689A02}" type="slidenum">
              <a:rPr lang="zh-CN" altLang="en-US" smtClean="0"/>
              <a:pPr>
                <a:defRPr/>
              </a:pPr>
              <a:t>69</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zh-CN" altLang="en-US"/>
          </a:p>
        </p:txBody>
      </p:sp>
    </p:spTree>
    <p:extLst>
      <p:ext uri="{BB962C8B-B14F-4D97-AF65-F5344CB8AC3E}">
        <p14:creationId xmlns:p14="http://schemas.microsoft.com/office/powerpoint/2010/main" val="24972998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文档</a:t>
            </a:r>
            <a:r>
              <a:rPr lang="en-US" altLang="zh-CN" dirty="0"/>
              <a:t>https://getgophish.com/documentation/</a:t>
            </a:r>
            <a:endParaRPr lang="zh-CN" altLang="en-US" dirty="0"/>
          </a:p>
        </p:txBody>
      </p:sp>
      <p:sp>
        <p:nvSpPr>
          <p:cNvPr id="4" name="灯片编号占位符 3"/>
          <p:cNvSpPr>
            <a:spLocks noGrp="1"/>
          </p:cNvSpPr>
          <p:nvPr>
            <p:ph type="sldNum" sz="quarter" idx="5"/>
          </p:nvPr>
        </p:nvSpPr>
        <p:spPr/>
        <p:txBody>
          <a:bodyPr/>
          <a:lstStyle/>
          <a:p>
            <a:pPr>
              <a:defRPr/>
            </a:pPr>
            <a:fld id="{E46A9642-FD4A-45CC-9F4F-8E10AB9AB4AA}" type="slidenum">
              <a:rPr lang="en-US" altLang="zh-CN" smtClean="0"/>
              <a:pPr>
                <a:defRPr/>
              </a:pPr>
              <a:t>73</a:t>
            </a:fld>
            <a:endParaRPr lang="en-US" altLang="zh-CN"/>
          </a:p>
        </p:txBody>
      </p:sp>
    </p:spTree>
    <p:extLst>
      <p:ext uri="{BB962C8B-B14F-4D97-AF65-F5344CB8AC3E}">
        <p14:creationId xmlns:p14="http://schemas.microsoft.com/office/powerpoint/2010/main" val="30902530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p:txBody>
          <a:bodyPr/>
          <a:lstStyle/>
          <a:p>
            <a:pPr>
              <a:defRPr/>
            </a:pPr>
            <a:fld id="{9FD54D0F-DE20-458F-9711-211063689A02}" type="slidenum">
              <a:rPr lang="zh-CN" altLang="en-US" smtClean="0"/>
              <a:pPr>
                <a:defRPr/>
              </a:pPr>
              <a:t>74</a:t>
            </a:fld>
            <a:endParaRPr lang="en-US" altLang="zh-CN"/>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zh-CN" altLang="en-US"/>
          </a:p>
        </p:txBody>
      </p:sp>
    </p:spTree>
    <p:extLst>
      <p:ext uri="{BB962C8B-B14F-4D97-AF65-F5344CB8AC3E}">
        <p14:creationId xmlns:p14="http://schemas.microsoft.com/office/powerpoint/2010/main" val="28594850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https://www.secrss.com/articles/24136</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75</a:t>
            </a:fld>
            <a:endParaRPr lang="en-US" altLang="zh-CN"/>
          </a:p>
        </p:txBody>
      </p:sp>
    </p:spTree>
    <p:extLst>
      <p:ext uri="{BB962C8B-B14F-4D97-AF65-F5344CB8AC3E}">
        <p14:creationId xmlns:p14="http://schemas.microsoft.com/office/powerpoint/2010/main" val="41223574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1" i="0" kern="1200" dirty="0">
                <a:solidFill>
                  <a:schemeClr val="tx1"/>
                </a:solidFill>
                <a:effectLst/>
                <a:latin typeface="Times New Roman" pitchFamily="18" charset="0"/>
                <a:ea typeface="宋体" charset="-122"/>
                <a:cs typeface="+mn-cs"/>
              </a:rPr>
              <a:t>网络安全意识提升的意义，不仅仅是避免点击钓鱼邮件、钓鱼链接而中招，更重要的是可以依靠每个人的判断力，更早发现网络攻击，发出预警，提升全局安全防御能力，是“网聚人的力量”，形成“人人联防”的网络安全“人防工事”。</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77</a:t>
            </a:fld>
            <a:endParaRPr lang="en-US" altLang="zh-CN"/>
          </a:p>
        </p:txBody>
      </p:sp>
    </p:spTree>
    <p:extLst>
      <p:ext uri="{BB962C8B-B14F-4D97-AF65-F5344CB8AC3E}">
        <p14:creationId xmlns:p14="http://schemas.microsoft.com/office/powerpoint/2010/main" val="36925080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itchFamily="18" charset="0"/>
                <a:ea typeface="宋体" charset="-122"/>
                <a:cs typeface="+mn-cs"/>
              </a:rPr>
              <a:t>https://www.secrss.com/articles/24136</a:t>
            </a:r>
          </a:p>
          <a:p>
            <a:r>
              <a:rPr kumimoji="1" lang="en-US" altLang="zh-CN" sz="1200" b="0" i="0" kern="1200" dirty="0">
                <a:solidFill>
                  <a:schemeClr val="tx1"/>
                </a:solidFill>
                <a:effectLst/>
                <a:latin typeface="Times New Roman" pitchFamily="18" charset="0"/>
                <a:ea typeface="宋体" charset="-122"/>
                <a:cs typeface="+mn-cs"/>
              </a:rPr>
              <a:t>2019</a:t>
            </a:r>
            <a:r>
              <a:rPr kumimoji="1" lang="zh-CN" altLang="en-US" sz="1200" b="0" i="0" kern="1200" dirty="0">
                <a:solidFill>
                  <a:schemeClr val="tx1"/>
                </a:solidFill>
                <a:effectLst/>
                <a:latin typeface="Times New Roman" pitchFamily="18" charset="0"/>
                <a:ea typeface="宋体" charset="-122"/>
                <a:cs typeface="+mn-cs"/>
              </a:rPr>
              <a:t>年</a:t>
            </a:r>
            <a:r>
              <a:rPr kumimoji="1" lang="en-US" altLang="zh-CN" sz="1200" b="0" i="0" kern="1200" dirty="0">
                <a:solidFill>
                  <a:schemeClr val="tx1"/>
                </a:solidFill>
                <a:effectLst/>
                <a:latin typeface="Times New Roman" pitchFamily="18" charset="0"/>
                <a:ea typeface="宋体" charset="-122"/>
                <a:cs typeface="+mn-cs"/>
              </a:rPr>
              <a:t>6</a:t>
            </a:r>
            <a:r>
              <a:rPr kumimoji="1" lang="zh-CN" altLang="en-US" sz="1200" b="0" i="0" kern="1200" dirty="0">
                <a:solidFill>
                  <a:schemeClr val="tx1"/>
                </a:solidFill>
                <a:effectLst/>
                <a:latin typeface="Times New Roman" pitchFamily="18" charset="0"/>
                <a:ea typeface="宋体" charset="-122"/>
                <a:cs typeface="+mn-cs"/>
              </a:rPr>
              <a:t>月，</a:t>
            </a:r>
            <a:r>
              <a:rPr kumimoji="1" lang="en-US" altLang="zh-CN" sz="1200" b="0" i="0" kern="1200" dirty="0">
                <a:solidFill>
                  <a:schemeClr val="tx1"/>
                </a:solidFill>
                <a:effectLst/>
                <a:latin typeface="Times New Roman" pitchFamily="18" charset="0"/>
                <a:ea typeface="宋体" charset="-122"/>
                <a:cs typeface="+mn-cs"/>
              </a:rPr>
              <a:t>2010</a:t>
            </a:r>
            <a:r>
              <a:rPr kumimoji="1" lang="zh-CN" altLang="en-US" sz="1200" b="0" i="0" kern="1200" dirty="0">
                <a:solidFill>
                  <a:schemeClr val="tx1"/>
                </a:solidFill>
                <a:effectLst/>
                <a:latin typeface="Times New Roman" pitchFamily="18" charset="0"/>
                <a:ea typeface="宋体" charset="-122"/>
                <a:cs typeface="+mn-cs"/>
              </a:rPr>
              <a:t>年建立、打凯文</a:t>
            </a:r>
            <a:r>
              <a:rPr kumimoji="1" lang="en-US" altLang="zh-CN" sz="1200" b="0" i="0" kern="1200" dirty="0">
                <a:solidFill>
                  <a:schemeClr val="tx1"/>
                </a:solidFill>
                <a:effectLst/>
                <a:latin typeface="Times New Roman" pitchFamily="18" charset="0"/>
                <a:ea typeface="宋体" charset="-122"/>
                <a:cs typeface="+mn-cs"/>
              </a:rPr>
              <a:t>·</a:t>
            </a:r>
            <a:r>
              <a:rPr kumimoji="1" lang="zh-CN" altLang="en-US" sz="1200" b="0" i="0" kern="1200" dirty="0">
                <a:solidFill>
                  <a:schemeClr val="tx1"/>
                </a:solidFill>
                <a:effectLst/>
                <a:latin typeface="Times New Roman" pitchFamily="18" charset="0"/>
                <a:ea typeface="宋体" charset="-122"/>
                <a:cs typeface="+mn-cs"/>
              </a:rPr>
              <a:t>米特尼克安全意识培训品牌的</a:t>
            </a:r>
            <a:r>
              <a:rPr kumimoji="1" lang="en-US" altLang="zh-CN" sz="1200" b="0" i="0" kern="1200" dirty="0">
                <a:solidFill>
                  <a:schemeClr val="tx1"/>
                </a:solidFill>
                <a:effectLst/>
                <a:latin typeface="Times New Roman" pitchFamily="18" charset="0"/>
                <a:ea typeface="宋体" charset="-122"/>
                <a:cs typeface="+mn-cs"/>
              </a:rPr>
              <a:t>KnowBe4</a:t>
            </a:r>
            <a:r>
              <a:rPr kumimoji="1" lang="zh-CN" altLang="en-US" sz="1200" b="0" i="0" kern="1200" dirty="0">
                <a:solidFill>
                  <a:schemeClr val="tx1"/>
                </a:solidFill>
                <a:effectLst/>
                <a:latin typeface="Times New Roman" pitchFamily="18" charset="0"/>
                <a:ea typeface="宋体" charset="-122"/>
                <a:cs typeface="+mn-cs"/>
              </a:rPr>
              <a:t>获得</a:t>
            </a:r>
            <a:r>
              <a:rPr kumimoji="1" lang="en-US" altLang="zh-CN" sz="1200" b="0" i="0" kern="1200" dirty="0">
                <a:solidFill>
                  <a:schemeClr val="tx1"/>
                </a:solidFill>
                <a:effectLst/>
                <a:latin typeface="Times New Roman" pitchFamily="18" charset="0"/>
                <a:ea typeface="宋体" charset="-122"/>
                <a:cs typeface="+mn-cs"/>
              </a:rPr>
              <a:t>KKR</a:t>
            </a:r>
            <a:r>
              <a:rPr kumimoji="1" lang="zh-CN" altLang="en-US" sz="1200" b="0" i="0" kern="1200" dirty="0">
                <a:solidFill>
                  <a:schemeClr val="tx1"/>
                </a:solidFill>
                <a:effectLst/>
                <a:latin typeface="Times New Roman" pitchFamily="18" charset="0"/>
                <a:ea typeface="宋体" charset="-122"/>
                <a:cs typeface="+mn-cs"/>
              </a:rPr>
              <a:t>领投的</a:t>
            </a:r>
            <a:r>
              <a:rPr kumimoji="1" lang="en-US" altLang="zh-CN" sz="1200" b="0" i="0" kern="1200" dirty="0">
                <a:solidFill>
                  <a:schemeClr val="tx1"/>
                </a:solidFill>
                <a:effectLst/>
                <a:latin typeface="Times New Roman" pitchFamily="18" charset="0"/>
                <a:ea typeface="宋体" charset="-122"/>
                <a:cs typeface="+mn-cs"/>
              </a:rPr>
              <a:t>3</a:t>
            </a:r>
            <a:r>
              <a:rPr kumimoji="1" lang="zh-CN" altLang="en-US" sz="1200" b="0" i="0" kern="1200" dirty="0">
                <a:solidFill>
                  <a:schemeClr val="tx1"/>
                </a:solidFill>
                <a:effectLst/>
                <a:latin typeface="Times New Roman" pitchFamily="18" charset="0"/>
                <a:ea typeface="宋体" charset="-122"/>
                <a:cs typeface="+mn-cs"/>
              </a:rPr>
              <a:t>亿美元的投资，公司估值达到</a:t>
            </a:r>
            <a:r>
              <a:rPr kumimoji="1" lang="en-US" altLang="zh-CN" sz="1200" b="0" i="0" kern="1200" dirty="0">
                <a:solidFill>
                  <a:schemeClr val="tx1"/>
                </a:solidFill>
                <a:effectLst/>
                <a:latin typeface="Times New Roman" pitchFamily="18" charset="0"/>
                <a:ea typeface="宋体" charset="-122"/>
                <a:cs typeface="+mn-cs"/>
              </a:rPr>
              <a:t>10</a:t>
            </a:r>
            <a:r>
              <a:rPr kumimoji="1" lang="zh-CN" altLang="en-US" sz="1200" b="0" i="0" kern="1200" dirty="0">
                <a:solidFill>
                  <a:schemeClr val="tx1"/>
                </a:solidFill>
                <a:effectLst/>
                <a:latin typeface="Times New Roman" pitchFamily="18" charset="0"/>
                <a:ea typeface="宋体" charset="-122"/>
                <a:cs typeface="+mn-cs"/>
              </a:rPr>
              <a:t>亿美金，成为网络安全的独角兽公司。在此之前，</a:t>
            </a:r>
            <a:r>
              <a:rPr kumimoji="1" lang="en-US" altLang="zh-CN" sz="1200" b="0" i="0" kern="1200" dirty="0">
                <a:solidFill>
                  <a:schemeClr val="tx1"/>
                </a:solidFill>
                <a:effectLst/>
                <a:latin typeface="Times New Roman" pitchFamily="18" charset="0"/>
                <a:ea typeface="宋体" charset="-122"/>
                <a:cs typeface="+mn-cs"/>
              </a:rPr>
              <a:t>Knowbe4</a:t>
            </a:r>
            <a:r>
              <a:rPr kumimoji="1" lang="zh-CN" altLang="en-US" sz="1200" b="0" i="0" kern="1200" dirty="0">
                <a:solidFill>
                  <a:schemeClr val="tx1"/>
                </a:solidFill>
                <a:effectLst/>
                <a:latin typeface="Times New Roman" pitchFamily="18" charset="0"/>
                <a:ea typeface="宋体" charset="-122"/>
                <a:cs typeface="+mn-cs"/>
              </a:rPr>
              <a:t>已经完</a:t>
            </a:r>
            <a:r>
              <a:rPr kumimoji="1" lang="en-US" altLang="zh-CN" sz="1200" b="0" i="0" kern="1200" dirty="0">
                <a:solidFill>
                  <a:schemeClr val="tx1"/>
                </a:solidFill>
                <a:effectLst/>
                <a:latin typeface="Times New Roman" pitchFamily="18" charset="0"/>
                <a:ea typeface="宋体" charset="-122"/>
                <a:cs typeface="+mn-cs"/>
              </a:rPr>
              <a:t>2017</a:t>
            </a:r>
            <a:r>
              <a:rPr kumimoji="1" lang="zh-CN" altLang="en-US" sz="1200" b="0" i="0" kern="1200" dirty="0">
                <a:solidFill>
                  <a:schemeClr val="tx1"/>
                </a:solidFill>
                <a:effectLst/>
                <a:latin typeface="Times New Roman" pitchFamily="18" charset="0"/>
                <a:ea typeface="宋体" charset="-122"/>
                <a:cs typeface="+mn-cs"/>
              </a:rPr>
              <a:t>年由高盛（</a:t>
            </a:r>
            <a:r>
              <a:rPr kumimoji="1" lang="en-US" altLang="zh-CN" sz="1200" b="0" i="0" kern="1200" dirty="0" err="1">
                <a:solidFill>
                  <a:schemeClr val="tx1"/>
                </a:solidFill>
                <a:effectLst/>
                <a:latin typeface="Times New Roman" pitchFamily="18" charset="0"/>
                <a:ea typeface="宋体" charset="-122"/>
                <a:cs typeface="+mn-cs"/>
              </a:rPr>
              <a:t>GoldmanSachs</a:t>
            </a:r>
            <a:r>
              <a:rPr kumimoji="1" lang="zh-CN" altLang="en-US" sz="1200" b="0" i="0" kern="1200" dirty="0">
                <a:solidFill>
                  <a:schemeClr val="tx1"/>
                </a:solidFill>
                <a:effectLst/>
                <a:latin typeface="Times New Roman" pitchFamily="18" charset="0"/>
                <a:ea typeface="宋体" charset="-122"/>
                <a:cs typeface="+mn-cs"/>
              </a:rPr>
              <a:t>）成长型股票基金领投的</a:t>
            </a:r>
            <a:r>
              <a:rPr kumimoji="1" lang="en-US" altLang="zh-CN" sz="1200" b="0" i="0" kern="1200" dirty="0">
                <a:solidFill>
                  <a:schemeClr val="tx1"/>
                </a:solidFill>
                <a:effectLst/>
                <a:latin typeface="Times New Roman" pitchFamily="18" charset="0"/>
                <a:ea typeface="宋体" charset="-122"/>
                <a:cs typeface="+mn-cs"/>
              </a:rPr>
              <a:t>3,000</a:t>
            </a:r>
            <a:r>
              <a:rPr kumimoji="1" lang="zh-CN" altLang="en-US" sz="1200" b="0" i="0" kern="1200" dirty="0">
                <a:solidFill>
                  <a:schemeClr val="tx1"/>
                </a:solidFill>
                <a:effectLst/>
                <a:latin typeface="Times New Roman" pitchFamily="18" charset="0"/>
                <a:ea typeface="宋体" charset="-122"/>
                <a:cs typeface="+mn-cs"/>
              </a:rPr>
              <a:t>万美元</a:t>
            </a:r>
            <a:r>
              <a:rPr kumimoji="1" lang="en-US" altLang="zh-CN" sz="1200" b="0" i="0" kern="1200" dirty="0">
                <a:solidFill>
                  <a:schemeClr val="tx1"/>
                </a:solidFill>
                <a:effectLst/>
                <a:latin typeface="Times New Roman" pitchFamily="18" charset="0"/>
                <a:ea typeface="宋体" charset="-122"/>
                <a:cs typeface="+mn-cs"/>
              </a:rPr>
              <a:t>B</a:t>
            </a:r>
            <a:r>
              <a:rPr kumimoji="1" lang="zh-CN" altLang="en-US" sz="1200" b="0" i="0" kern="1200" dirty="0">
                <a:solidFill>
                  <a:schemeClr val="tx1"/>
                </a:solidFill>
                <a:effectLst/>
                <a:latin typeface="Times New Roman" pitchFamily="18" charset="0"/>
                <a:ea typeface="宋体" charset="-122"/>
                <a:cs typeface="+mn-cs"/>
              </a:rPr>
              <a:t>轮融资，</a:t>
            </a:r>
            <a:r>
              <a:rPr kumimoji="1" lang="en-US" altLang="zh-CN" sz="1200" b="0" i="0" kern="1200" dirty="0">
                <a:solidFill>
                  <a:schemeClr val="tx1"/>
                </a:solidFill>
                <a:effectLst/>
                <a:latin typeface="Times New Roman" pitchFamily="18" charset="0"/>
                <a:ea typeface="宋体" charset="-122"/>
                <a:cs typeface="+mn-cs"/>
              </a:rPr>
              <a:t>2018</a:t>
            </a:r>
            <a:r>
              <a:rPr kumimoji="1" lang="zh-CN" altLang="en-US" sz="1200" b="0" i="0" kern="1200" dirty="0">
                <a:solidFill>
                  <a:schemeClr val="tx1"/>
                </a:solidFill>
                <a:effectLst/>
                <a:latin typeface="Times New Roman" pitchFamily="18" charset="0"/>
                <a:ea typeface="宋体" charset="-122"/>
                <a:cs typeface="+mn-cs"/>
              </a:rPr>
              <a:t>年收购南非公司</a:t>
            </a:r>
            <a:r>
              <a:rPr kumimoji="1" lang="en-US" altLang="zh-CN" sz="1200" b="0" i="0" kern="1200" dirty="0" err="1">
                <a:solidFill>
                  <a:schemeClr val="tx1"/>
                </a:solidFill>
                <a:effectLst/>
                <a:latin typeface="Times New Roman" pitchFamily="18" charset="0"/>
                <a:ea typeface="宋体" charset="-122"/>
                <a:cs typeface="+mn-cs"/>
              </a:rPr>
              <a:t>PopcornTraining</a:t>
            </a:r>
            <a:r>
              <a:rPr kumimoji="1" lang="zh-CN" altLang="en-US" sz="1200" b="0" i="0" kern="1200" dirty="0">
                <a:solidFill>
                  <a:schemeClr val="tx1"/>
                </a:solidFill>
                <a:effectLst/>
                <a:latin typeface="Times New Roman" pitchFamily="18" charset="0"/>
                <a:ea typeface="宋体" charset="-122"/>
                <a:cs typeface="+mn-cs"/>
              </a:rPr>
              <a:t>，</a:t>
            </a:r>
            <a:r>
              <a:rPr kumimoji="1" lang="en-US" altLang="zh-CN" sz="1200" b="0" i="0" kern="1200" dirty="0">
                <a:solidFill>
                  <a:schemeClr val="tx1"/>
                </a:solidFill>
                <a:effectLst/>
                <a:latin typeface="Times New Roman" pitchFamily="18" charset="0"/>
                <a:ea typeface="宋体" charset="-122"/>
                <a:cs typeface="+mn-cs"/>
              </a:rPr>
              <a:t>2019</a:t>
            </a:r>
            <a:r>
              <a:rPr kumimoji="1" lang="zh-CN" altLang="en-US" sz="1200" b="0" i="0" kern="1200" dirty="0">
                <a:solidFill>
                  <a:schemeClr val="tx1"/>
                </a:solidFill>
                <a:effectLst/>
                <a:latin typeface="Times New Roman" pitchFamily="18" charset="0"/>
                <a:ea typeface="宋体" charset="-122"/>
                <a:cs typeface="+mn-cs"/>
              </a:rPr>
              <a:t>年收购巴西公司</a:t>
            </a:r>
            <a:r>
              <a:rPr kumimoji="1" lang="en-US" altLang="zh-CN" sz="1200" b="0" i="0" kern="1200" dirty="0" err="1">
                <a:solidFill>
                  <a:schemeClr val="tx1"/>
                </a:solidFill>
                <a:effectLst/>
                <a:latin typeface="Times New Roman" pitchFamily="18" charset="0"/>
                <a:ea typeface="宋体" charset="-122"/>
                <a:cs typeface="+mn-cs"/>
              </a:rPr>
              <a:t>ElPescador</a:t>
            </a:r>
            <a:r>
              <a:rPr kumimoji="1" lang="zh-CN" altLang="en-US" sz="1200" b="0" i="0" kern="1200" dirty="0">
                <a:solidFill>
                  <a:schemeClr val="tx1"/>
                </a:solidFill>
                <a:effectLst/>
                <a:latin typeface="Times New Roman" pitchFamily="18" charset="0"/>
                <a:ea typeface="宋体" charset="-122"/>
                <a:cs typeface="+mn-cs"/>
              </a:rPr>
              <a:t>和挪威公司</a:t>
            </a:r>
            <a:r>
              <a:rPr kumimoji="1" lang="en-US" altLang="zh-CN" sz="1200" b="0" i="0" kern="1200" dirty="0" err="1">
                <a:solidFill>
                  <a:schemeClr val="tx1"/>
                </a:solidFill>
                <a:effectLst/>
                <a:latin typeface="Times New Roman" pitchFamily="18" charset="0"/>
                <a:ea typeface="宋体" charset="-122"/>
                <a:cs typeface="+mn-cs"/>
              </a:rPr>
              <a:t>CLTRe</a:t>
            </a:r>
            <a:r>
              <a:rPr kumimoji="1" lang="zh-CN" altLang="en-US" sz="1200" b="0" i="0" kern="1200" dirty="0">
                <a:solidFill>
                  <a:schemeClr val="tx1"/>
                </a:solidFill>
                <a:effectLst/>
                <a:latin typeface="Times New Roman" pitchFamily="18" charset="0"/>
                <a:ea typeface="宋体" charset="-122"/>
                <a:cs typeface="+mn-cs"/>
              </a:rPr>
              <a:t>。从</a:t>
            </a:r>
            <a:r>
              <a:rPr kumimoji="1" lang="en-US" altLang="zh-CN" sz="1200" b="0" i="0" kern="1200" dirty="0">
                <a:solidFill>
                  <a:schemeClr val="tx1"/>
                </a:solidFill>
                <a:effectLst/>
                <a:latin typeface="Times New Roman" pitchFamily="18" charset="0"/>
                <a:ea typeface="宋体" charset="-122"/>
                <a:cs typeface="+mn-cs"/>
              </a:rPr>
              <a:t>Business Observer</a:t>
            </a:r>
            <a:r>
              <a:rPr kumimoji="1" lang="zh-CN" altLang="en-US" sz="1200" b="0" i="0" kern="1200" dirty="0">
                <a:solidFill>
                  <a:schemeClr val="tx1"/>
                </a:solidFill>
                <a:effectLst/>
                <a:latin typeface="Times New Roman" pitchFamily="18" charset="0"/>
                <a:ea typeface="宋体" charset="-122"/>
                <a:cs typeface="+mn-cs"/>
              </a:rPr>
              <a:t>今年年初的一篇报道看到，</a:t>
            </a:r>
            <a:r>
              <a:rPr kumimoji="1" lang="en-US" altLang="zh-CN" sz="1200" b="1" i="0" kern="1200" dirty="0">
                <a:solidFill>
                  <a:schemeClr val="tx1"/>
                </a:solidFill>
                <a:effectLst/>
                <a:latin typeface="Times New Roman" pitchFamily="18" charset="0"/>
                <a:ea typeface="宋体" charset="-122"/>
                <a:cs typeface="+mn-cs"/>
              </a:rPr>
              <a:t>KnowBe4</a:t>
            </a:r>
            <a:r>
              <a:rPr kumimoji="1" lang="zh-CN" altLang="en-US" sz="1200" b="1" i="0" kern="1200" dirty="0">
                <a:solidFill>
                  <a:schemeClr val="tx1"/>
                </a:solidFill>
                <a:effectLst/>
                <a:latin typeface="Times New Roman" pitchFamily="18" charset="0"/>
                <a:ea typeface="宋体" charset="-122"/>
                <a:cs typeface="+mn-cs"/>
              </a:rPr>
              <a:t>在</a:t>
            </a:r>
            <a:r>
              <a:rPr kumimoji="1" lang="en-US" altLang="zh-CN" sz="1200" b="1" i="0" kern="1200" dirty="0">
                <a:solidFill>
                  <a:schemeClr val="tx1"/>
                </a:solidFill>
                <a:effectLst/>
                <a:latin typeface="Times New Roman" pitchFamily="18" charset="0"/>
                <a:ea typeface="宋体" charset="-122"/>
                <a:cs typeface="+mn-cs"/>
              </a:rPr>
              <a:t>2017</a:t>
            </a:r>
            <a:r>
              <a:rPr kumimoji="1" lang="zh-CN" altLang="en-US" sz="1200" b="1" i="0" kern="1200" dirty="0">
                <a:solidFill>
                  <a:schemeClr val="tx1"/>
                </a:solidFill>
                <a:effectLst/>
                <a:latin typeface="Times New Roman" pitchFamily="18" charset="0"/>
                <a:ea typeface="宋体" charset="-122"/>
                <a:cs typeface="+mn-cs"/>
              </a:rPr>
              <a:t>年的收入是</a:t>
            </a:r>
            <a:r>
              <a:rPr kumimoji="1" lang="en-US" altLang="zh-CN" sz="1200" b="1" i="0" kern="1200" dirty="0">
                <a:solidFill>
                  <a:schemeClr val="tx1"/>
                </a:solidFill>
                <a:effectLst/>
                <a:latin typeface="Times New Roman" pitchFamily="18" charset="0"/>
                <a:ea typeface="宋体" charset="-122"/>
                <a:cs typeface="+mn-cs"/>
              </a:rPr>
              <a:t>6200</a:t>
            </a:r>
            <a:r>
              <a:rPr kumimoji="1" lang="zh-CN" altLang="en-US" sz="1200" b="1" i="0" kern="1200" dirty="0">
                <a:solidFill>
                  <a:schemeClr val="tx1"/>
                </a:solidFill>
                <a:effectLst/>
                <a:latin typeface="Times New Roman" pitchFamily="18" charset="0"/>
                <a:ea typeface="宋体" charset="-122"/>
                <a:cs typeface="+mn-cs"/>
              </a:rPr>
              <a:t>万美金，</a:t>
            </a:r>
            <a:r>
              <a:rPr kumimoji="1" lang="en-US" altLang="zh-CN" sz="1200" b="1" i="0" kern="1200" dirty="0">
                <a:solidFill>
                  <a:schemeClr val="tx1"/>
                </a:solidFill>
                <a:effectLst/>
                <a:latin typeface="Times New Roman" pitchFamily="18" charset="0"/>
                <a:ea typeface="宋体" charset="-122"/>
                <a:cs typeface="+mn-cs"/>
              </a:rPr>
              <a:t>2018</a:t>
            </a:r>
            <a:r>
              <a:rPr kumimoji="1" lang="zh-CN" altLang="en-US" sz="1200" b="1" i="0" kern="1200" dirty="0">
                <a:solidFill>
                  <a:schemeClr val="tx1"/>
                </a:solidFill>
                <a:effectLst/>
                <a:latin typeface="Times New Roman" pitchFamily="18" charset="0"/>
                <a:ea typeface="宋体" charset="-122"/>
                <a:cs typeface="+mn-cs"/>
              </a:rPr>
              <a:t>年达到</a:t>
            </a:r>
            <a:r>
              <a:rPr kumimoji="1" lang="en-US" altLang="zh-CN" sz="1200" b="1" i="0" kern="1200" dirty="0">
                <a:solidFill>
                  <a:schemeClr val="tx1"/>
                </a:solidFill>
                <a:effectLst/>
                <a:latin typeface="Times New Roman" pitchFamily="18" charset="0"/>
                <a:ea typeface="宋体" charset="-122"/>
                <a:cs typeface="+mn-cs"/>
              </a:rPr>
              <a:t>1.2</a:t>
            </a:r>
            <a:r>
              <a:rPr kumimoji="1" lang="zh-CN" altLang="en-US" sz="1200" b="1" i="0" kern="1200" dirty="0">
                <a:solidFill>
                  <a:schemeClr val="tx1"/>
                </a:solidFill>
                <a:effectLst/>
                <a:latin typeface="Times New Roman" pitchFamily="18" charset="0"/>
                <a:ea typeface="宋体" charset="-122"/>
                <a:cs typeface="+mn-cs"/>
              </a:rPr>
              <a:t>亿美金，</a:t>
            </a:r>
            <a:r>
              <a:rPr kumimoji="1" lang="en-US" altLang="zh-CN" sz="1200" b="1" i="0" kern="1200" dirty="0">
                <a:solidFill>
                  <a:schemeClr val="tx1"/>
                </a:solidFill>
                <a:effectLst/>
                <a:latin typeface="Times New Roman" pitchFamily="18" charset="0"/>
                <a:ea typeface="宋体" charset="-122"/>
                <a:cs typeface="+mn-cs"/>
              </a:rPr>
              <a:t>2020</a:t>
            </a:r>
            <a:r>
              <a:rPr kumimoji="1" lang="zh-CN" altLang="en-US" sz="1200" b="1" i="0" kern="1200" dirty="0">
                <a:solidFill>
                  <a:schemeClr val="tx1"/>
                </a:solidFill>
                <a:effectLst/>
                <a:latin typeface="Times New Roman" pitchFamily="18" charset="0"/>
                <a:ea typeface="宋体" charset="-122"/>
                <a:cs typeface="+mn-cs"/>
              </a:rPr>
              <a:t>年一季度销售收入比去年同期增长</a:t>
            </a:r>
            <a:r>
              <a:rPr kumimoji="1" lang="en-US" altLang="zh-CN" sz="1200" b="1" i="0" kern="1200" dirty="0">
                <a:solidFill>
                  <a:schemeClr val="tx1"/>
                </a:solidFill>
                <a:effectLst/>
                <a:latin typeface="Times New Roman" pitchFamily="18" charset="0"/>
                <a:ea typeface="宋体" charset="-122"/>
                <a:cs typeface="+mn-cs"/>
              </a:rPr>
              <a:t>40%</a:t>
            </a:r>
            <a:r>
              <a:rPr kumimoji="1" lang="zh-CN" altLang="en-US" sz="1200" b="1" i="0" kern="1200" dirty="0">
                <a:solidFill>
                  <a:schemeClr val="tx1"/>
                </a:solidFill>
                <a:effectLst/>
                <a:latin typeface="Times New Roman" pitchFamily="18" charset="0"/>
                <a:ea typeface="宋体" charset="-122"/>
                <a:cs typeface="+mn-cs"/>
              </a:rPr>
              <a:t>，员工达到</a:t>
            </a:r>
            <a:r>
              <a:rPr kumimoji="1" lang="en-US" altLang="zh-CN" sz="1200" b="1" i="0" kern="1200" dirty="0">
                <a:solidFill>
                  <a:schemeClr val="tx1"/>
                </a:solidFill>
                <a:effectLst/>
                <a:latin typeface="Times New Roman" pitchFamily="18" charset="0"/>
                <a:ea typeface="宋体" charset="-122"/>
                <a:cs typeface="+mn-cs"/>
              </a:rPr>
              <a:t>884</a:t>
            </a:r>
            <a:r>
              <a:rPr kumimoji="1" lang="zh-CN" altLang="en-US" sz="1200" b="1" i="0" kern="1200" dirty="0">
                <a:solidFill>
                  <a:schemeClr val="tx1"/>
                </a:solidFill>
                <a:effectLst/>
                <a:latin typeface="Times New Roman" pitchFamily="18" charset="0"/>
                <a:ea typeface="宋体" charset="-122"/>
                <a:cs typeface="+mn-cs"/>
              </a:rPr>
              <a:t>人。</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78</a:t>
            </a:fld>
            <a:endParaRPr lang="en-US" altLang="zh-CN"/>
          </a:p>
        </p:txBody>
      </p:sp>
    </p:spTree>
    <p:extLst>
      <p:ext uri="{BB962C8B-B14F-4D97-AF65-F5344CB8AC3E}">
        <p14:creationId xmlns:p14="http://schemas.microsoft.com/office/powerpoint/2010/main" val="5329976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https://www.secrss.com/articles/27115</a:t>
            </a:r>
          </a:p>
          <a:p>
            <a:r>
              <a:rPr kumimoji="1" lang="en-US" altLang="zh-CN" sz="1200" b="0" i="0" kern="1200" dirty="0">
                <a:solidFill>
                  <a:schemeClr val="tx1"/>
                </a:solidFill>
                <a:effectLst/>
                <a:latin typeface="Times New Roman" pitchFamily="18" charset="0"/>
                <a:ea typeface="宋体" charset="-122"/>
                <a:cs typeface="+mn-cs"/>
              </a:rPr>
              <a:t>https://www.tripwire.com/state-of-security/security-awareness/6-common-phishing-attacks-and-how-to-protect-against-them/</a:t>
            </a:r>
            <a:endParaRPr lang="zh-CN" altLang="en-US" dirty="0"/>
          </a:p>
        </p:txBody>
      </p:sp>
      <p:sp>
        <p:nvSpPr>
          <p:cNvPr id="4" name="灯片编号占位符 3"/>
          <p:cNvSpPr>
            <a:spLocks noGrp="1"/>
          </p:cNvSpPr>
          <p:nvPr>
            <p:ph type="sldNum" sz="quarter" idx="10"/>
          </p:nvPr>
        </p:nvSpPr>
        <p:spPr/>
        <p:txBody>
          <a:bodyPr/>
          <a:lstStyle/>
          <a:p>
            <a:pPr>
              <a:defRPr/>
            </a:pPr>
            <a:fld id="{E46A9642-FD4A-45CC-9F4F-8E10AB9AB4AA}" type="slidenum">
              <a:rPr lang="en-US" altLang="zh-CN" smtClean="0"/>
              <a:pPr>
                <a:defRPr/>
              </a:pPr>
              <a:t>85</a:t>
            </a:fld>
            <a:endParaRPr lang="en-US" altLang="zh-CN"/>
          </a:p>
        </p:txBody>
      </p:sp>
    </p:spTree>
    <p:extLst>
      <p:ext uri="{BB962C8B-B14F-4D97-AF65-F5344CB8AC3E}">
        <p14:creationId xmlns:p14="http://schemas.microsoft.com/office/powerpoint/2010/main" val="12292269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p:txBody>
          <a:bodyPr/>
          <a:lstStyle/>
          <a:p>
            <a:pPr>
              <a:defRPr/>
            </a:pPr>
            <a:fld id="{FC2DA121-BC35-4391-B492-7EE07A8E23B9}" type="slidenum">
              <a:rPr lang="zh-CN" altLang="en-US" smtClean="0"/>
              <a:pPr>
                <a:defRPr/>
              </a:pPr>
              <a:t>87</a:t>
            </a:fld>
            <a:endParaRPr lang="en-US" altLang="zh-CN"/>
          </a:p>
        </p:txBody>
      </p:sp>
      <p:sp>
        <p:nvSpPr>
          <p:cNvPr id="135171" name="Rectangle 2"/>
          <p:cNvSpPr>
            <a:spLocks noGrp="1" noRot="1" noChangeAspect="1" noChangeArrowheads="1" noTextEdit="1"/>
          </p:cNvSpPr>
          <p:nvPr>
            <p:ph type="sldImg"/>
          </p:nvPr>
        </p:nvSpPr>
        <p:spPr>
          <a:solidFill>
            <a:srgbClr val="FFFFFF"/>
          </a:solidFill>
          <a:ln/>
        </p:spPr>
      </p:sp>
      <p:sp>
        <p:nvSpPr>
          <p:cNvPr id="13517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a:grpSpLocks/>
          </p:cNvGrpSpPr>
          <p:nvPr/>
        </p:nvGrpSpPr>
        <p:grpSpPr bwMode="auto">
          <a:xfrm>
            <a:off x="0" y="2438400"/>
            <a:ext cx="9009063" cy="1052513"/>
            <a:chOff x="0" y="1536"/>
            <a:chExt cx="5675" cy="663"/>
          </a:xfrm>
        </p:grpSpPr>
        <p:grpSp>
          <p:nvGrpSpPr>
            <p:cNvPr id="3"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grpSp>
          <p:nvGrpSpPr>
            <p:cNvPr id="4"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en-US">
                <a:solidFill>
                  <a:srgbClr val="000000"/>
                </a:solidFill>
                <a:ea typeface="宋体" charset="-122"/>
              </a:endParaRPr>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zh-CN" altLang="en-US"/>
              <a:t>单击此处编辑母版标题样式</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1C61395C-8CDD-4FA2-ADB5-FD6889F54024}" type="datetime1">
              <a:rPr lang="zh-CN" altLang="en-US" smtClean="0">
                <a:solidFill>
                  <a:srgbClr val="1C1C1C"/>
                </a:solidFill>
              </a:rPr>
              <a:pPr>
                <a:defRPr/>
              </a:pPr>
              <a:t>2023/3/22</a:t>
            </a:fld>
            <a:endParaRPr lang="en-US" altLang="zh-CN">
              <a:solidFill>
                <a:srgbClr val="1C1C1C"/>
              </a:solidFill>
            </a:endParaRP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19E74429-26DC-471E-9251-C4807B21DCEF}" type="slidenum">
              <a:rPr lang="en-US" altLang="zh-CN">
                <a:solidFill>
                  <a:srgbClr val="1C1C1C"/>
                </a:solidFill>
              </a:rPr>
              <a:pPr>
                <a:defRPr/>
              </a:pPr>
              <a:t>‹#›</a:t>
            </a:fld>
            <a:endParaRPr lang="en-US" altLang="zh-CN">
              <a:solidFill>
                <a:srgbClr val="1C1C1C"/>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lnSpc>
                <a:spcPts val="4500"/>
              </a:lnSpc>
              <a:defRPr b="0" baseline="0">
                <a:latin typeface="Times New Roman" panose="02020603050405020304" pitchFamily="18" charset="0"/>
                <a:ea typeface="黑体" panose="02010609060101010101" pitchFamily="49" charset="-122"/>
              </a:defRPr>
            </a:lvl1pPr>
            <a:lvl2pPr>
              <a:lnSpc>
                <a:spcPts val="4500"/>
              </a:lnSpc>
              <a:defRPr b="0" baseline="0">
                <a:latin typeface="Times New Roman" panose="02020603050405020304" pitchFamily="18" charset="0"/>
                <a:ea typeface="黑体" panose="02010609060101010101" pitchFamily="49" charset="-122"/>
              </a:defRPr>
            </a:lvl2pPr>
            <a:lvl3pPr>
              <a:lnSpc>
                <a:spcPts val="4500"/>
              </a:lnSpc>
              <a:defRPr b="0" baseline="0">
                <a:latin typeface="Times New Roman" panose="02020603050405020304" pitchFamily="18" charset="0"/>
                <a:ea typeface="黑体" panose="02010609060101010101" pitchFamily="49" charset="-122"/>
              </a:defRPr>
            </a:lvl3pPr>
            <a:lvl4pPr>
              <a:lnSpc>
                <a:spcPts val="4500"/>
              </a:lnSpc>
              <a:defRPr b="0" baseline="0">
                <a:latin typeface="Times New Roman" panose="02020603050405020304" pitchFamily="18" charset="0"/>
                <a:ea typeface="黑体" panose="02010609060101010101" pitchFamily="49" charset="-122"/>
              </a:defRPr>
            </a:lvl4pPr>
            <a:lvl5pPr>
              <a:lnSpc>
                <a:spcPts val="4500"/>
              </a:lnSpc>
              <a:defRPr b="0" baseline="0">
                <a:latin typeface="Times New Roman" panose="02020603050405020304" pitchFamily="18" charset="0"/>
                <a:ea typeface="黑体" panose="020106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fld id="{13EAD5F1-67B5-4A0D-ABC1-AB8E7ABAD35E}" type="datetime1">
              <a:rPr lang="zh-CN" altLang="en-US" smtClean="0">
                <a:solidFill>
                  <a:srgbClr val="000000"/>
                </a:solidFill>
              </a:rPr>
              <a:pPr>
                <a:defRPr/>
              </a:pPr>
              <a:t>2023/3/22</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65EB7420-10C5-4439-A879-6C64816B7E29}"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588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1213" y="155416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fld id="{8777064C-0A55-4E07-B965-6C3D3728ABB2}" type="datetime1">
              <a:rPr lang="zh-CN" altLang="en-US" smtClean="0">
                <a:solidFill>
                  <a:srgbClr val="000000"/>
                </a:solidFill>
              </a:rPr>
              <a:pPr>
                <a:defRPr/>
              </a:pPr>
              <a:t>2023/3/22</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6B28E056-97FC-4A70-8131-E02F6583BF82}"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a:ln/>
        </p:spPr>
        <p:txBody>
          <a:bodyPr/>
          <a:lstStyle>
            <a:lvl1pPr>
              <a:defRPr/>
            </a:lvl1pPr>
          </a:lstStyle>
          <a:p>
            <a:pPr>
              <a:defRPr/>
            </a:pPr>
            <a:fld id="{E8AED8A2-82FC-4DC1-9863-2A50613A6AE6}" type="datetime1">
              <a:rPr lang="zh-CN" altLang="en-US" smtClean="0">
                <a:solidFill>
                  <a:srgbClr val="000000"/>
                </a:solidFill>
              </a:rPr>
              <a:pPr>
                <a:defRPr/>
              </a:pPr>
              <a:t>2023/3/22</a:t>
            </a:fld>
            <a:endParaRPr lang="en-US" altLang="zh-CN">
              <a:solidFill>
                <a:srgbClr val="000000"/>
              </a:solidFill>
            </a:endParaRPr>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Rectangle 13"/>
          <p:cNvSpPr>
            <a:spLocks noGrp="1" noChangeArrowheads="1"/>
          </p:cNvSpPr>
          <p:nvPr>
            <p:ph type="sldNum" sz="quarter" idx="12"/>
          </p:nvPr>
        </p:nvSpPr>
        <p:spPr>
          <a:ln/>
        </p:spPr>
        <p:txBody>
          <a:bodyPr/>
          <a:lstStyle>
            <a:lvl1pPr>
              <a:defRPr/>
            </a:lvl1pPr>
          </a:lstStyle>
          <a:p>
            <a:pPr>
              <a:defRPr/>
            </a:pPr>
            <a:fld id="{BBFD273C-C71A-40AC-9777-8B20B0D93BC7}"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a:ln/>
        </p:spPr>
        <p:txBody>
          <a:bodyPr/>
          <a:lstStyle>
            <a:lvl1pPr>
              <a:defRPr/>
            </a:lvl1pPr>
          </a:lstStyle>
          <a:p>
            <a:pPr>
              <a:defRPr/>
            </a:pPr>
            <a:fld id="{075295FB-9049-4B10-8132-A2704FC040E4}" type="datetime1">
              <a:rPr lang="zh-CN" altLang="en-US" smtClean="0">
                <a:solidFill>
                  <a:srgbClr val="000000"/>
                </a:solidFill>
              </a:rPr>
              <a:pPr>
                <a:defRPr/>
              </a:pPr>
              <a:t>2023/3/22</a:t>
            </a:fld>
            <a:endParaRPr lang="en-US" altLang="zh-CN">
              <a:solidFill>
                <a:srgbClr val="000000"/>
              </a:solidFill>
            </a:endParaRPr>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2"/>
          </p:nvPr>
        </p:nvSpPr>
        <p:spPr>
          <a:ln/>
        </p:spPr>
        <p:txBody>
          <a:bodyPr/>
          <a:lstStyle>
            <a:lvl1pPr>
              <a:defRPr/>
            </a:lvl1pPr>
          </a:lstStyle>
          <a:p>
            <a:pPr>
              <a:defRPr/>
            </a:pPr>
            <a:fld id="{3782B63A-4FE1-4D96-8285-FCAE99EA7890}"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27E94A6A-DBE8-4CE6-9619-41C62789DE7E}" type="datetime1">
              <a:rPr lang="zh-CN" altLang="en-US" smtClean="0">
                <a:solidFill>
                  <a:srgbClr val="000000"/>
                </a:solidFill>
              </a:rPr>
              <a:pPr>
                <a:defRPr/>
              </a:pPr>
              <a:t>2023/3/22</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B733275C-2774-4B25-97E7-7065F970E90C}"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fld id="{00651A7E-C721-4544-8D2F-3546C0565F84}" type="datetime1">
              <a:rPr lang="zh-CN" altLang="en-US" smtClean="0">
                <a:solidFill>
                  <a:srgbClr val="000000"/>
                </a:solidFill>
              </a:rPr>
              <a:pPr>
                <a:defRPr/>
              </a:pPr>
              <a:t>2023/3/22</a:t>
            </a:fld>
            <a:endParaRPr lang="en-US" altLang="zh-CN">
              <a:solidFill>
                <a:srgbClr val="000000"/>
              </a:solidFill>
            </a:endParaRPr>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Rectangle 13"/>
          <p:cNvSpPr>
            <a:spLocks noGrp="1" noChangeArrowheads="1"/>
          </p:cNvSpPr>
          <p:nvPr>
            <p:ph type="sldNum" sz="quarter" idx="12"/>
          </p:nvPr>
        </p:nvSpPr>
        <p:spPr>
          <a:ln/>
        </p:spPr>
        <p:txBody>
          <a:bodyPr/>
          <a:lstStyle>
            <a:lvl1pPr>
              <a:defRPr/>
            </a:lvl1pPr>
          </a:lstStyle>
          <a:p>
            <a:pPr>
              <a:defRPr/>
            </a:pPr>
            <a:fld id="{2C21E245-20D5-4D11-AD9A-5B593160C07A}"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fld id="{CB3E5F7E-5148-4CB2-963A-95C37528F550}" type="datetime1">
              <a:rPr lang="zh-CN" altLang="en-US" smtClean="0">
                <a:solidFill>
                  <a:srgbClr val="000000"/>
                </a:solidFill>
              </a:rPr>
              <a:pPr>
                <a:defRPr/>
              </a:pPr>
              <a:t>2023/3/22</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EF68ED92-367B-4CD8-A26C-4E6248EAD48D}"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73875" y="142875"/>
            <a:ext cx="2070100" cy="55260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58813" y="142875"/>
            <a:ext cx="6062662" cy="55260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fld id="{E565DC17-A35B-464B-A9AB-82DCA891CFF2}" type="datetime1">
              <a:rPr lang="zh-CN" altLang="en-US" smtClean="0">
                <a:solidFill>
                  <a:srgbClr val="000000"/>
                </a:solidFill>
              </a:rPr>
              <a:pPr>
                <a:defRPr/>
              </a:pPr>
              <a:t>2023/3/22</a:t>
            </a:fld>
            <a:endParaRPr lang="en-US" altLang="zh-CN">
              <a:solidFill>
                <a:srgbClr val="000000"/>
              </a:solidFill>
            </a:endParaRPr>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2"/>
          </p:nvPr>
        </p:nvSpPr>
        <p:spPr>
          <a:ln/>
        </p:spPr>
        <p:txBody>
          <a:bodyPr/>
          <a:lstStyle>
            <a:lvl1pPr>
              <a:defRPr/>
            </a:lvl1pPr>
          </a:lstStyle>
          <a:p>
            <a:pPr>
              <a:defRPr/>
            </a:pPr>
            <a:fld id="{CBA975A5-F217-4B48-B315-600F055D9787}" type="slidenum">
              <a:rPr lang="en-US" altLang="zh-CN">
                <a:solidFill>
                  <a:srgbClr val="000000"/>
                </a:solidFill>
              </a:rPr>
              <a:pPr>
                <a:defRPr/>
              </a:pPr>
              <a:t>‹#›</a:t>
            </a:fld>
            <a:endParaRPr lang="en-US" altLang="zh-CN">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ltGray">
          <a:xfrm>
            <a:off x="417513" y="439738"/>
            <a:ext cx="438150" cy="474662"/>
          </a:xfrm>
          <a:prstGeom prst="rect">
            <a:avLst/>
          </a:prstGeom>
          <a:solidFill>
            <a:schemeClr val="accent2"/>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5" name="Rectangle 3"/>
          <p:cNvSpPr>
            <a:spLocks noChangeArrowheads="1"/>
          </p:cNvSpPr>
          <p:nvPr/>
        </p:nvSpPr>
        <p:spPr bwMode="ltGray">
          <a:xfrm>
            <a:off x="800100" y="439738"/>
            <a:ext cx="328613" cy="47466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6" name="Rectangle 4"/>
          <p:cNvSpPr>
            <a:spLocks noChangeArrowheads="1"/>
          </p:cNvSpPr>
          <p:nvPr/>
        </p:nvSpPr>
        <p:spPr bwMode="ltGray">
          <a:xfrm>
            <a:off x="541338" y="862013"/>
            <a:ext cx="422275" cy="474662"/>
          </a:xfrm>
          <a:prstGeom prst="rect">
            <a:avLst/>
          </a:prstGeom>
          <a:solidFill>
            <a:schemeClr val="folHlink"/>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7" name="Rectangle 5"/>
          <p:cNvSpPr>
            <a:spLocks noChangeArrowheads="1"/>
          </p:cNvSpPr>
          <p:nvPr/>
        </p:nvSpPr>
        <p:spPr bwMode="ltGray">
          <a:xfrm>
            <a:off x="911225" y="862013"/>
            <a:ext cx="368300" cy="47466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8" name="Rectangle 6"/>
          <p:cNvSpPr>
            <a:spLocks noChangeArrowheads="1"/>
          </p:cNvSpPr>
          <p:nvPr/>
        </p:nvSpPr>
        <p:spPr bwMode="ltGray">
          <a:xfrm>
            <a:off x="127000" y="788988"/>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79" name="Rectangle 7"/>
          <p:cNvSpPr>
            <a:spLocks noChangeArrowheads="1"/>
          </p:cNvSpPr>
          <p:nvPr/>
        </p:nvSpPr>
        <p:spPr bwMode="gray">
          <a:xfrm>
            <a:off x="762000" y="331788"/>
            <a:ext cx="31750" cy="1052512"/>
          </a:xfrm>
          <a:prstGeom prst="rect">
            <a:avLst/>
          </a:prstGeom>
          <a:solidFill>
            <a:schemeClr val="bg2"/>
          </a:soli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80" name="Rectangle 8"/>
          <p:cNvSpPr>
            <a:spLocks noChangeArrowheads="1"/>
          </p:cNvSpPr>
          <p:nvPr/>
        </p:nvSpPr>
        <p:spPr bwMode="gray">
          <a:xfrm>
            <a:off x="442913" y="1122363"/>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1033" name="Rectangle 9"/>
          <p:cNvSpPr>
            <a:spLocks noGrp="1" noChangeArrowheads="1"/>
          </p:cNvSpPr>
          <p:nvPr>
            <p:ph type="title"/>
          </p:nvPr>
        </p:nvSpPr>
        <p:spPr bwMode="auto">
          <a:xfrm>
            <a:off x="1150938" y="142875"/>
            <a:ext cx="7793037" cy="9588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p:cNvSpPr>
            <a:spLocks noGrp="1" noChangeArrowheads="1"/>
          </p:cNvSpPr>
          <p:nvPr>
            <p:ph type="body" idx="1"/>
          </p:nvPr>
        </p:nvSpPr>
        <p:spPr bwMode="auto">
          <a:xfrm>
            <a:off x="658813" y="1554163"/>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3" name="Rectangle 11"/>
          <p:cNvSpPr>
            <a:spLocks noGrp="1" noChangeArrowheads="1"/>
          </p:cNvSpPr>
          <p:nvPr>
            <p:ph type="dt" sz="half" idx="2"/>
          </p:nvPr>
        </p:nvSpPr>
        <p:spPr bwMode="auto">
          <a:xfrm>
            <a:off x="914400" y="634841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kumimoji="0" sz="1400" b="0">
                <a:ea typeface="宋体" charset="-122"/>
              </a:defRPr>
            </a:lvl1pPr>
          </a:lstStyle>
          <a:p>
            <a:pPr>
              <a:defRPr/>
            </a:pPr>
            <a:fld id="{2812D72D-DA04-4C9C-9A6E-C01386CD88CE}" type="datetime1">
              <a:rPr lang="zh-CN" altLang="en-US" smtClean="0">
                <a:solidFill>
                  <a:srgbClr val="000000"/>
                </a:solidFill>
              </a:rPr>
              <a:pPr>
                <a:defRPr/>
              </a:pPr>
              <a:t>2023/3/22</a:t>
            </a:fld>
            <a:endParaRPr lang="en-US" altLang="zh-CN">
              <a:solidFill>
                <a:srgbClr val="000000"/>
              </a:solidFill>
            </a:endParaRPr>
          </a:p>
        </p:txBody>
      </p:sp>
      <p:sp>
        <p:nvSpPr>
          <p:cNvPr id="3084" name="Rectangle 12"/>
          <p:cNvSpPr>
            <a:spLocks noGrp="1" noChangeArrowheads="1"/>
          </p:cNvSpPr>
          <p:nvPr>
            <p:ph type="ftr" sz="quarter" idx="3"/>
          </p:nvPr>
        </p:nvSpPr>
        <p:spPr bwMode="auto">
          <a:xfrm>
            <a:off x="3352800" y="6348413"/>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b="0">
                <a:ea typeface="宋体" charset="-122"/>
              </a:defRPr>
            </a:lvl1pPr>
          </a:lstStyle>
          <a:p>
            <a:pPr>
              <a:defRPr/>
            </a:pPr>
            <a:endParaRPr lang="en-US" altLang="zh-CN">
              <a:solidFill>
                <a:srgbClr val="000000"/>
              </a:solidFill>
            </a:endParaRPr>
          </a:p>
        </p:txBody>
      </p:sp>
      <p:sp>
        <p:nvSpPr>
          <p:cNvPr id="3085" name="Rectangle 13"/>
          <p:cNvSpPr>
            <a:spLocks noGrp="1" noChangeArrowheads="1"/>
          </p:cNvSpPr>
          <p:nvPr>
            <p:ph type="sldNum" sz="quarter" idx="4"/>
          </p:nvPr>
        </p:nvSpPr>
        <p:spPr bwMode="auto">
          <a:xfrm>
            <a:off x="6781800" y="634841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b="0">
                <a:ea typeface="宋体" charset="-122"/>
              </a:defRPr>
            </a:lvl1pPr>
          </a:lstStyle>
          <a:p>
            <a:pPr>
              <a:defRPr/>
            </a:pPr>
            <a:fld id="{38C58080-A4A9-4607-B318-5D24794E2C9C}" type="slidenum">
              <a:rPr lang="en-US" altLang="zh-CN">
                <a:solidFill>
                  <a:srgbClr val="000000"/>
                </a:solidFill>
              </a:rPr>
              <a:pPr>
                <a:defRPr/>
              </a:pPr>
              <a:t>‹#›</a:t>
            </a:fld>
            <a:endParaRPr lang="en-US" altLang="zh-CN">
              <a:solidFill>
                <a:srgbClr val="000000"/>
              </a:solidFill>
            </a:endParaRPr>
          </a:p>
        </p:txBody>
      </p:sp>
      <p:sp>
        <p:nvSpPr>
          <p:cNvPr id="3089" name="Rectangle 17"/>
          <p:cNvSpPr>
            <a:spLocks noChangeArrowheads="1"/>
          </p:cNvSpPr>
          <p:nvPr/>
        </p:nvSpPr>
        <p:spPr bwMode="gray">
          <a:xfrm>
            <a:off x="539750" y="6332538"/>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lang="zh-CN" altLang="zh-CN" sz="2400" b="0">
              <a:solidFill>
                <a:srgbClr val="000000"/>
              </a:solidFill>
              <a:ea typeface="宋体" charset="-122"/>
            </a:endParaRPr>
          </a:p>
        </p:txBody>
      </p:sp>
      <p:sp>
        <p:nvSpPr>
          <p:cNvPr id="3090" name="Line 18"/>
          <p:cNvSpPr>
            <a:spLocks noChangeShapeType="1"/>
          </p:cNvSpPr>
          <p:nvPr/>
        </p:nvSpPr>
        <p:spPr bwMode="auto">
          <a:xfrm>
            <a:off x="827088" y="6189663"/>
            <a:ext cx="0" cy="503237"/>
          </a:xfrm>
          <a:prstGeom prst="line">
            <a:avLst/>
          </a:prstGeom>
          <a:noFill/>
          <a:ln w="28575">
            <a:solidFill>
              <a:schemeClr val="tx1"/>
            </a:solidFill>
            <a:miter lim="800000"/>
            <a:headEnd/>
            <a:tailEnd/>
          </a:ln>
          <a:effectLst/>
        </p:spPr>
        <p:txBody>
          <a:bodyPr wrap="none"/>
          <a:lstStyle/>
          <a:p>
            <a:pPr algn="ctr">
              <a:defRPr/>
            </a:pPr>
            <a:endParaRPr lang="zh-CN" altLang="en-US">
              <a:solidFill>
                <a:srgbClr val="000000"/>
              </a:solidFill>
              <a:ea typeface="宋体" charset="-122"/>
            </a:endParaRPr>
          </a:p>
        </p:txBody>
      </p:sp>
    </p:spTree>
  </p:cSld>
  <p:clrMap bg1="lt1" tx1="dk1" bg2="lt2" tx2="dk2" accent1="accent1" accent2="accent2" accent3="accent3" accent4="accent4" accent5="accent5" accent6="accent6" hlink="hlink" folHlink="folHlink"/>
  <p:sldLayoutIdLst>
    <p:sldLayoutId id="2147484660" r:id="rId1"/>
    <p:sldLayoutId id="2147484661" r:id="rId2"/>
    <p:sldLayoutId id="2147484662" r:id="rId3"/>
    <p:sldLayoutId id="2147484663" r:id="rId4"/>
    <p:sldLayoutId id="2147484664" r:id="rId5"/>
    <p:sldLayoutId id="2147484665" r:id="rId6"/>
    <p:sldLayoutId id="2147484666" r:id="rId7"/>
    <p:sldLayoutId id="2147484667" r:id="rId8"/>
    <p:sldLayoutId id="2147484668" r:id="rId9"/>
    <p:sldLayoutId id="2147484669" r:id="rId10"/>
    <p:sldLayoutId id="2147484670" r:id="rId11"/>
  </p:sldLayoutIdLst>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2pPr>
      <a:lvl3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3pPr>
      <a:lvl4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4pPr>
      <a:lvl5pPr algn="l" rtl="0" eaLnBrk="0" fontAlgn="base" hangingPunct="0">
        <a:spcBef>
          <a:spcPct val="0"/>
        </a:spcBef>
        <a:spcAft>
          <a:spcPct val="0"/>
        </a:spcAft>
        <a:defRPr kumimoji="1" sz="4400" b="1">
          <a:solidFill>
            <a:schemeClr val="tx2"/>
          </a:solidFill>
          <a:latin typeface="Times New Roman" pitchFamily="18" charset="0"/>
          <a:ea typeface="楷体_GB2312" pitchFamily="49" charset="-122"/>
        </a:defRPr>
      </a:lvl5pPr>
      <a:lvl6pPr marL="457200" algn="l" rtl="0" fontAlgn="base">
        <a:spcBef>
          <a:spcPct val="0"/>
        </a:spcBef>
        <a:spcAft>
          <a:spcPct val="0"/>
        </a:spcAft>
        <a:defRPr kumimoji="1" sz="4400" b="1">
          <a:solidFill>
            <a:schemeClr val="tx2"/>
          </a:solidFill>
          <a:latin typeface="Times New Roman" pitchFamily="18" charset="0"/>
          <a:ea typeface="楷体_GB2312" pitchFamily="49" charset="-122"/>
        </a:defRPr>
      </a:lvl6pPr>
      <a:lvl7pPr marL="914400" algn="l" rtl="0" fontAlgn="base">
        <a:spcBef>
          <a:spcPct val="0"/>
        </a:spcBef>
        <a:spcAft>
          <a:spcPct val="0"/>
        </a:spcAft>
        <a:defRPr kumimoji="1" sz="4400" b="1">
          <a:solidFill>
            <a:schemeClr val="tx2"/>
          </a:solidFill>
          <a:latin typeface="Times New Roman" pitchFamily="18" charset="0"/>
          <a:ea typeface="楷体_GB2312" pitchFamily="49" charset="-122"/>
        </a:defRPr>
      </a:lvl7pPr>
      <a:lvl8pPr marL="1371600" algn="l" rtl="0" fontAlgn="base">
        <a:spcBef>
          <a:spcPct val="0"/>
        </a:spcBef>
        <a:spcAft>
          <a:spcPct val="0"/>
        </a:spcAft>
        <a:defRPr kumimoji="1" sz="4400" b="1">
          <a:solidFill>
            <a:schemeClr val="tx2"/>
          </a:solidFill>
          <a:latin typeface="Times New Roman" pitchFamily="18" charset="0"/>
          <a:ea typeface="楷体_GB2312" pitchFamily="49" charset="-122"/>
        </a:defRPr>
      </a:lvl8pPr>
      <a:lvl9pPr marL="1828800" algn="l" rtl="0" fontAlgn="base">
        <a:spcBef>
          <a:spcPct val="0"/>
        </a:spcBef>
        <a:spcAft>
          <a:spcPct val="0"/>
        </a:spcAft>
        <a:defRPr kumimoji="1" sz="4400" b="1">
          <a:solidFill>
            <a:schemeClr val="tx2"/>
          </a:solidFill>
          <a:latin typeface="Times New Roman" pitchFamily="18" charset="0"/>
          <a:ea typeface="楷体_GB2312"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3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39.png"/></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6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6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标题 1"/>
          <p:cNvSpPr>
            <a:spLocks noGrp="1"/>
          </p:cNvSpPr>
          <p:nvPr>
            <p:ph type="ctrTitle"/>
          </p:nvPr>
        </p:nvSpPr>
        <p:spPr>
          <a:xfrm>
            <a:off x="1144365" y="1392937"/>
            <a:ext cx="7281334" cy="1143000"/>
          </a:xfrm>
        </p:spPr>
        <p:txBody>
          <a:bodyPr/>
          <a:lstStyle/>
          <a:p>
            <a:r>
              <a:rPr lang="zh-CN" altLang="en-US" dirty="0">
                <a:solidFill>
                  <a:schemeClr val="tx1"/>
                </a:solidFill>
              </a:rPr>
              <a:t>第 十二 章    社会工程学</a:t>
            </a:r>
          </a:p>
        </p:txBody>
      </p:sp>
      <p:grpSp>
        <p:nvGrpSpPr>
          <p:cNvPr id="8" name="组合 7"/>
          <p:cNvGrpSpPr/>
          <p:nvPr/>
        </p:nvGrpSpPr>
        <p:grpSpPr>
          <a:xfrm>
            <a:off x="1463778" y="3428385"/>
            <a:ext cx="5715000" cy="3009900"/>
            <a:chOff x="1463778" y="3428385"/>
            <a:chExt cx="5715000" cy="3009900"/>
          </a:xfrm>
        </p:grpSpPr>
        <p:pic>
          <p:nvPicPr>
            <p:cNvPr id="3" name="图片 2"/>
            <p:cNvPicPr>
              <a:picLocks noChangeAspect="1"/>
            </p:cNvPicPr>
            <p:nvPr/>
          </p:nvPicPr>
          <p:blipFill>
            <a:blip r:embed="rId2"/>
            <a:stretch>
              <a:fillRect/>
            </a:stretch>
          </p:blipFill>
          <p:spPr>
            <a:xfrm>
              <a:off x="1463778" y="3428385"/>
              <a:ext cx="5715000" cy="3009900"/>
            </a:xfrm>
            <a:prstGeom prst="rect">
              <a:avLst/>
            </a:prstGeom>
          </p:spPr>
        </p:pic>
        <p:pic>
          <p:nvPicPr>
            <p:cNvPr id="4" name="图片 3"/>
            <p:cNvPicPr>
              <a:picLocks noChangeAspect="1"/>
            </p:cNvPicPr>
            <p:nvPr/>
          </p:nvPicPr>
          <p:blipFill>
            <a:blip r:embed="rId3"/>
            <a:stretch>
              <a:fillRect/>
            </a:stretch>
          </p:blipFill>
          <p:spPr>
            <a:xfrm>
              <a:off x="3235428" y="3428385"/>
              <a:ext cx="2171700" cy="704850"/>
            </a:xfrm>
            <a:prstGeom prst="rect">
              <a:avLst/>
            </a:prstGeom>
          </p:spPr>
        </p:pic>
        <p:pic>
          <p:nvPicPr>
            <p:cNvPr id="7" name="图片 6"/>
            <p:cNvPicPr>
              <a:picLocks noChangeAspect="1"/>
            </p:cNvPicPr>
            <p:nvPr/>
          </p:nvPicPr>
          <p:blipFill>
            <a:blip r:embed="rId4"/>
            <a:stretch>
              <a:fillRect/>
            </a:stretch>
          </p:blipFill>
          <p:spPr>
            <a:xfrm>
              <a:off x="1710813" y="5147187"/>
              <a:ext cx="840658" cy="368709"/>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内容提纲</a:t>
            </a:r>
            <a:endParaRPr lang="en-US" altLang="zh-CN">
              <a:solidFill>
                <a:schemeClr val="accent1"/>
              </a:solidFill>
            </a:endParaRPr>
          </a:p>
        </p:txBody>
      </p:sp>
      <p:sp>
        <p:nvSpPr>
          <p:cNvPr id="30723"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en-US">
              <a:ea typeface="宋体" charset="-122"/>
            </a:endParaRPr>
          </a:p>
        </p:txBody>
      </p:sp>
      <p:sp>
        <p:nvSpPr>
          <p:cNvPr id="30724" name="Line 4"/>
          <p:cNvSpPr>
            <a:spLocks noChangeShapeType="1"/>
          </p:cNvSpPr>
          <p:nvPr/>
        </p:nvSpPr>
        <p:spPr bwMode="gray">
          <a:xfrm>
            <a:off x="1252538" y="3382750"/>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25" name="Rectangle 5"/>
          <p:cNvSpPr>
            <a:spLocks noChangeArrowheads="1"/>
          </p:cNvSpPr>
          <p:nvPr/>
        </p:nvSpPr>
        <p:spPr bwMode="gray">
          <a:xfrm rot="3419336">
            <a:off x="979487" y="280648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26" name="Text Box 6"/>
          <p:cNvSpPr txBox="1">
            <a:spLocks noChangeArrowheads="1"/>
          </p:cNvSpPr>
          <p:nvPr/>
        </p:nvSpPr>
        <p:spPr bwMode="gray">
          <a:xfrm>
            <a:off x="1785938" y="2769975"/>
            <a:ext cx="5634036" cy="579437"/>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社会工程学常用技术</a:t>
            </a:r>
          </a:p>
        </p:txBody>
      </p:sp>
      <p:sp>
        <p:nvSpPr>
          <p:cNvPr id="30727" name="Text Box 7"/>
          <p:cNvSpPr txBox="1">
            <a:spLocks noChangeArrowheads="1"/>
          </p:cNvSpPr>
          <p:nvPr/>
        </p:nvSpPr>
        <p:spPr bwMode="gray">
          <a:xfrm>
            <a:off x="1057275" y="2838237"/>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2</a:t>
            </a:r>
          </a:p>
        </p:txBody>
      </p:sp>
      <p:sp>
        <p:nvSpPr>
          <p:cNvPr id="30728" name="Rectangle 8"/>
          <p:cNvSpPr>
            <a:spLocks noChangeArrowheads="1"/>
          </p:cNvSpPr>
          <p:nvPr/>
        </p:nvSpPr>
        <p:spPr bwMode="gray">
          <a:xfrm rot="3419336">
            <a:off x="973137" y="388489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29" name="Text Box 9"/>
          <p:cNvSpPr txBox="1">
            <a:spLocks noChangeArrowheads="1"/>
          </p:cNvSpPr>
          <p:nvPr/>
        </p:nvSpPr>
        <p:spPr bwMode="gray">
          <a:xfrm>
            <a:off x="1779588" y="3848383"/>
            <a:ext cx="5497512" cy="579438"/>
          </a:xfrm>
          <a:prstGeom prst="rect">
            <a:avLst/>
          </a:prstGeom>
          <a:noFill/>
          <a:ln w="9525" algn="ctr">
            <a:noFill/>
            <a:miter lim="800000"/>
            <a:headEnd/>
            <a:tailEnd/>
          </a:ln>
        </p:spPr>
        <p:txBody>
          <a:bodyPr>
            <a:spAutoFit/>
          </a:bodyPr>
          <a:lstStyle/>
          <a:p>
            <a:pPr eaLnBrk="0" hangingPunct="0"/>
            <a:r>
              <a:rPr lang="zh-CN" altLang="en-US" sz="3200" dirty="0">
                <a:solidFill>
                  <a:srgbClr val="000000"/>
                </a:solidFill>
                <a:latin typeface="Times New Roman" panose="02020603050405020304" pitchFamily="18" charset="0"/>
                <a:cs typeface="Times New Roman" panose="02020603050405020304" pitchFamily="18" charset="0"/>
              </a:rPr>
              <a:t>社工库与社会工程学工具</a:t>
            </a:r>
            <a:endParaRPr lang="zh-CN" altLang="en-US" sz="3200" b="1" dirty="0">
              <a:solidFill>
                <a:srgbClr val="000000"/>
              </a:solidFill>
              <a:latin typeface="Times New Roman" panose="02020603050405020304" pitchFamily="18" charset="0"/>
              <a:cs typeface="Times New Roman" panose="02020603050405020304" pitchFamily="18" charset="0"/>
            </a:endParaRPr>
          </a:p>
        </p:txBody>
      </p:sp>
      <p:sp>
        <p:nvSpPr>
          <p:cNvPr id="30730" name="Text Box 10"/>
          <p:cNvSpPr txBox="1">
            <a:spLocks noChangeArrowheads="1"/>
          </p:cNvSpPr>
          <p:nvPr/>
        </p:nvSpPr>
        <p:spPr bwMode="gray">
          <a:xfrm>
            <a:off x="1050925" y="3916646"/>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3</a:t>
            </a:r>
          </a:p>
        </p:txBody>
      </p:sp>
      <p:sp>
        <p:nvSpPr>
          <p:cNvPr id="30731" name="Line 11"/>
          <p:cNvSpPr>
            <a:spLocks noChangeShapeType="1"/>
          </p:cNvSpPr>
          <p:nvPr/>
        </p:nvSpPr>
        <p:spPr bwMode="gray">
          <a:xfrm>
            <a:off x="1252538" y="4470683"/>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2" name="Rectangle 12"/>
          <p:cNvSpPr>
            <a:spLocks noChangeArrowheads="1"/>
          </p:cNvSpPr>
          <p:nvPr/>
        </p:nvSpPr>
        <p:spPr bwMode="gray">
          <a:xfrm rot="3419336">
            <a:off x="987425" y="4933469"/>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33" name="Text Box 13"/>
          <p:cNvSpPr txBox="1">
            <a:spLocks noChangeArrowheads="1"/>
          </p:cNvSpPr>
          <p:nvPr/>
        </p:nvSpPr>
        <p:spPr bwMode="gray">
          <a:xfrm>
            <a:off x="1785938" y="4963180"/>
            <a:ext cx="5634036" cy="579438"/>
          </a:xfrm>
          <a:prstGeom prst="rect">
            <a:avLst/>
          </a:prstGeom>
          <a:noFill/>
          <a:ln w="9525" algn="ctr">
            <a:noFill/>
            <a:miter lim="800000"/>
            <a:headEnd/>
            <a:tailEnd/>
          </a:ln>
        </p:spPr>
        <p:txBody>
          <a:bodyPr wrap="square">
            <a:spAutoFit/>
          </a:bodyPr>
          <a:lstStyle/>
          <a:p>
            <a:pPr eaLnBrk="0" hangingPunct="0"/>
            <a:r>
              <a:rPr lang="zh-CN" altLang="en-US" sz="3200" b="1" dirty="0">
                <a:solidFill>
                  <a:srgbClr val="000000"/>
                </a:solidFill>
              </a:rPr>
              <a:t>防范社会工程学</a:t>
            </a:r>
          </a:p>
        </p:txBody>
      </p:sp>
      <p:sp>
        <p:nvSpPr>
          <p:cNvPr id="30734" name="Text Box 14"/>
          <p:cNvSpPr txBox="1">
            <a:spLocks noChangeArrowheads="1"/>
          </p:cNvSpPr>
          <p:nvPr/>
        </p:nvSpPr>
        <p:spPr bwMode="gray">
          <a:xfrm>
            <a:off x="1041400" y="4974744"/>
            <a:ext cx="355600" cy="461962"/>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4</a:t>
            </a:r>
          </a:p>
        </p:txBody>
      </p:sp>
      <p:sp>
        <p:nvSpPr>
          <p:cNvPr id="30735" name="Line 15"/>
          <p:cNvSpPr>
            <a:spLocks noChangeShapeType="1"/>
          </p:cNvSpPr>
          <p:nvPr/>
        </p:nvSpPr>
        <p:spPr bwMode="gray">
          <a:xfrm>
            <a:off x="1262063" y="5559552"/>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6" name="Rectangle 16"/>
          <p:cNvSpPr>
            <a:spLocks noChangeArrowheads="1"/>
          </p:cNvSpPr>
          <p:nvPr/>
        </p:nvSpPr>
        <p:spPr bwMode="gray">
          <a:xfrm rot="3419336">
            <a:off x="979487" y="1764832"/>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37" name="Text Box 17"/>
          <p:cNvSpPr txBox="1">
            <a:spLocks noChangeArrowheads="1"/>
          </p:cNvSpPr>
          <p:nvPr/>
        </p:nvSpPr>
        <p:spPr bwMode="gray">
          <a:xfrm>
            <a:off x="1785937" y="1728319"/>
            <a:ext cx="5634037" cy="579438"/>
          </a:xfrm>
          <a:prstGeom prst="rect">
            <a:avLst/>
          </a:prstGeom>
          <a:solidFill>
            <a:srgbClr val="FF6600"/>
          </a:solidFill>
          <a:ln w="9525" algn="ctr">
            <a:noFill/>
            <a:miter lim="800000"/>
            <a:headEnd/>
            <a:tailEnd/>
          </a:ln>
        </p:spPr>
        <p:txBody>
          <a:bodyPr wrap="square">
            <a:spAutoFit/>
          </a:bodyPr>
          <a:lstStyle>
            <a:defPPr>
              <a:defRPr lang="zh-CN"/>
            </a:defPPr>
            <a:lvl1pPr eaLnBrk="0" hangingPunct="0">
              <a:defRPr sz="3200">
                <a:solidFill>
                  <a:srgbClr val="000000"/>
                </a:solidFill>
                <a:latin typeface="Times New Roman" panose="02020603050405020304" pitchFamily="18" charset="0"/>
                <a:ea typeface="黑体" panose="02010609060101010101" pitchFamily="49" charset="-122"/>
              </a:defRPr>
            </a:lvl1pPr>
          </a:lstStyle>
          <a:p>
            <a:r>
              <a:rPr lang="zh-CN" altLang="en-US" dirty="0"/>
              <a:t>概述</a:t>
            </a:r>
          </a:p>
        </p:txBody>
      </p:sp>
      <p:sp>
        <p:nvSpPr>
          <p:cNvPr id="30738" name="Text Box 18"/>
          <p:cNvSpPr txBox="1">
            <a:spLocks noChangeArrowheads="1"/>
          </p:cNvSpPr>
          <p:nvPr/>
        </p:nvSpPr>
        <p:spPr bwMode="gray">
          <a:xfrm>
            <a:off x="1057275" y="1796582"/>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1</a:t>
            </a:r>
          </a:p>
        </p:txBody>
      </p:sp>
      <p:sp>
        <p:nvSpPr>
          <p:cNvPr id="30739" name="Line 19"/>
          <p:cNvSpPr>
            <a:spLocks noChangeShapeType="1"/>
          </p:cNvSpPr>
          <p:nvPr/>
        </p:nvSpPr>
        <p:spPr bwMode="gray">
          <a:xfrm>
            <a:off x="1252538" y="2386467"/>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extLst>
      <p:ext uri="{BB962C8B-B14F-4D97-AF65-F5344CB8AC3E}">
        <p14:creationId xmlns:p14="http://schemas.microsoft.com/office/powerpoint/2010/main" val="3969365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社会工程学</a:t>
            </a:r>
          </a:p>
        </p:txBody>
      </p:sp>
      <p:sp>
        <p:nvSpPr>
          <p:cNvPr id="3" name="内容占位符 2"/>
          <p:cNvSpPr>
            <a:spLocks noGrp="1"/>
          </p:cNvSpPr>
          <p:nvPr>
            <p:ph idx="1"/>
          </p:nvPr>
        </p:nvSpPr>
        <p:spPr>
          <a:xfrm>
            <a:off x="583516" y="1315533"/>
            <a:ext cx="7641236" cy="4406668"/>
          </a:xfrm>
        </p:spPr>
        <p:txBody>
          <a:bodyPr>
            <a:normAutofit/>
          </a:bodyPr>
          <a:lstStyle/>
          <a:p>
            <a:r>
              <a:rPr lang="zh-CN" altLang="en-US" sz="2800" dirty="0"/>
              <a:t>人是核心要素</a:t>
            </a:r>
            <a:endParaRPr lang="en-US" altLang="zh-CN" sz="2800" dirty="0"/>
          </a:p>
          <a:p>
            <a:pPr lvl="1"/>
            <a:r>
              <a:rPr lang="en-US" altLang="zh-CN" dirty="0"/>
              <a:t>IATF</a:t>
            </a:r>
            <a:r>
              <a:rPr lang="zh-CN" altLang="zh-CN" dirty="0"/>
              <a:t>核心要素：人、技术和操作，其中人是信息体系的主体，是信息系统的拥有者、管理者和使用者，是信息保障体系的核心，是第一位的要素。</a:t>
            </a:r>
            <a:r>
              <a:rPr lang="zh-CN" altLang="zh-CN" dirty="0">
                <a:solidFill>
                  <a:srgbClr val="FF0000"/>
                </a:solidFill>
              </a:rPr>
              <a:t>“人”不仅是安全的终极目标，也是安全的核心手段和最危险的攻击面</a:t>
            </a:r>
            <a:endParaRPr lang="en-US" altLang="zh-CN" sz="2400" dirty="0">
              <a:solidFill>
                <a:srgbClr val="FF0000"/>
              </a:solidFill>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5957" y="2484054"/>
            <a:ext cx="5416353" cy="2840114"/>
          </a:xfrm>
          <a:prstGeom prst="rect">
            <a:avLst/>
          </a:prstGeom>
        </p:spPr>
      </p:pic>
    </p:spTree>
    <p:extLst>
      <p:ext uri="{BB962C8B-B14F-4D97-AF65-F5344CB8AC3E}">
        <p14:creationId xmlns:p14="http://schemas.microsoft.com/office/powerpoint/2010/main" val="110900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定义</a:t>
            </a:r>
            <a:endParaRPr lang="en-US" altLang="zh-CN" dirty="0"/>
          </a:p>
          <a:p>
            <a:pPr lvl="1"/>
            <a:r>
              <a:rPr lang="zh-CN" altLang="zh-CN" dirty="0">
                <a:solidFill>
                  <a:srgbClr val="FF0000"/>
                </a:solidFill>
              </a:rPr>
              <a:t>维基百科</a:t>
            </a:r>
            <a:r>
              <a:rPr lang="zh-CN" altLang="zh-CN" dirty="0"/>
              <a:t>：社会工程是操纵他人采取特定行动或者泄露机密信息的行为。它与骗局或欺骗类似，故该词常用于指代欺诈或诈骗，以达到收集信息、欺诈或访问计算机系统的目的。大多数情况下，攻击者与受害者不会面对面接触</a:t>
            </a:r>
            <a:endParaRPr lang="zh-CN" altLang="en-US" dirty="0"/>
          </a:p>
        </p:txBody>
      </p:sp>
      <p:sp>
        <p:nvSpPr>
          <p:cNvPr id="3" name="标题 2"/>
          <p:cNvSpPr>
            <a:spLocks noGrp="1"/>
          </p:cNvSpPr>
          <p:nvPr>
            <p:ph type="title"/>
          </p:nvPr>
        </p:nvSpPr>
        <p:spPr/>
        <p:txBody>
          <a:bodyPr/>
          <a:lstStyle/>
          <a:p>
            <a:r>
              <a:rPr lang="zh-CN" altLang="en-US" dirty="0"/>
              <a:t>社会工程学</a:t>
            </a:r>
          </a:p>
        </p:txBody>
      </p:sp>
    </p:spTree>
    <p:extLst>
      <p:ext uri="{BB962C8B-B14F-4D97-AF65-F5344CB8AC3E}">
        <p14:creationId xmlns:p14="http://schemas.microsoft.com/office/powerpoint/2010/main" val="2481806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0323" y="1259195"/>
            <a:ext cx="8373652" cy="4114800"/>
          </a:xfrm>
        </p:spPr>
        <p:txBody>
          <a:bodyPr/>
          <a:lstStyle/>
          <a:p>
            <a:r>
              <a:rPr lang="zh-CN" altLang="en-US" dirty="0"/>
              <a:t>定义</a:t>
            </a:r>
            <a:endParaRPr lang="en-US" altLang="zh-CN" dirty="0"/>
          </a:p>
          <a:p>
            <a:pPr lvl="1"/>
            <a:r>
              <a:rPr lang="zh-CN" altLang="zh-CN" dirty="0">
                <a:solidFill>
                  <a:srgbClr val="FF0000"/>
                </a:solidFill>
              </a:rPr>
              <a:t>韦氏词典</a:t>
            </a:r>
            <a:r>
              <a:rPr lang="zh-CN" altLang="zh-CN" dirty="0"/>
              <a:t>：“社会</a:t>
            </a:r>
            <a:r>
              <a:rPr lang="en-US" altLang="zh-CN" dirty="0"/>
              <a:t>(Social)</a:t>
            </a:r>
            <a:r>
              <a:rPr lang="zh-CN" altLang="zh-CN" dirty="0"/>
              <a:t>”是指“社区中属于或与生活、福利以及人际关系有关的”，“工程</a:t>
            </a:r>
            <a:r>
              <a:rPr lang="en-US" altLang="zh-CN" dirty="0"/>
              <a:t>(Engineering)</a:t>
            </a:r>
            <a:r>
              <a:rPr lang="zh-CN" altLang="zh-CN" dirty="0"/>
              <a:t>”是指“对物理、化学等纯科学进行实际应用的艺术或科学”，组合起来的意思就是：社会工程学是一门艺术或者科学，它有技巧地诱导人们在生活中的某些方面采取某种行动。</a:t>
            </a:r>
            <a:endParaRPr lang="zh-CN" altLang="en-US" dirty="0"/>
          </a:p>
        </p:txBody>
      </p:sp>
      <p:sp>
        <p:nvSpPr>
          <p:cNvPr id="3" name="标题 2"/>
          <p:cNvSpPr>
            <a:spLocks noGrp="1"/>
          </p:cNvSpPr>
          <p:nvPr>
            <p:ph type="title"/>
          </p:nvPr>
        </p:nvSpPr>
        <p:spPr/>
        <p:txBody>
          <a:bodyPr/>
          <a:lstStyle/>
          <a:p>
            <a:r>
              <a:rPr lang="zh-CN" altLang="en-US" dirty="0"/>
              <a:t>社会工程学</a:t>
            </a:r>
          </a:p>
        </p:txBody>
      </p:sp>
    </p:spTree>
    <p:extLst>
      <p:ext uri="{BB962C8B-B14F-4D97-AF65-F5344CB8AC3E}">
        <p14:creationId xmlns:p14="http://schemas.microsoft.com/office/powerpoint/2010/main" val="3954940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0323" y="1259195"/>
            <a:ext cx="8373652" cy="5023618"/>
          </a:xfrm>
        </p:spPr>
        <p:txBody>
          <a:bodyPr/>
          <a:lstStyle/>
          <a:p>
            <a:r>
              <a:rPr lang="zh-CN" altLang="en-US" dirty="0"/>
              <a:t>定义</a:t>
            </a:r>
            <a:endParaRPr lang="en-US" altLang="zh-CN" dirty="0"/>
          </a:p>
          <a:p>
            <a:pPr lvl="1"/>
            <a:r>
              <a:rPr lang="en-US" altLang="zh-CN" dirty="0">
                <a:solidFill>
                  <a:srgbClr val="FF0000"/>
                </a:solidFill>
              </a:rPr>
              <a:t>Hadnagy</a:t>
            </a:r>
            <a:r>
              <a:rPr lang="zh-CN" altLang="zh-CN" dirty="0"/>
              <a:t>：社会工程是一种操纵他人采取 特定行动的行为，该行动不一定符合“目标人”的最佳利益，其结果包括获取信息、取得访问权或让目标采取特定的行动。</a:t>
            </a:r>
            <a:endParaRPr lang="en-US" altLang="zh-CN" dirty="0"/>
          </a:p>
        </p:txBody>
      </p:sp>
      <p:sp>
        <p:nvSpPr>
          <p:cNvPr id="3" name="标题 2"/>
          <p:cNvSpPr>
            <a:spLocks noGrp="1"/>
          </p:cNvSpPr>
          <p:nvPr>
            <p:ph type="title"/>
          </p:nvPr>
        </p:nvSpPr>
        <p:spPr/>
        <p:txBody>
          <a:bodyPr/>
          <a:lstStyle/>
          <a:p>
            <a:r>
              <a:rPr lang="zh-CN" altLang="en-US" dirty="0"/>
              <a:t>社会工程学</a:t>
            </a:r>
          </a:p>
        </p:txBody>
      </p:sp>
    </p:spTree>
    <p:extLst>
      <p:ext uri="{BB962C8B-B14F-4D97-AF65-F5344CB8AC3E}">
        <p14:creationId xmlns:p14="http://schemas.microsoft.com/office/powerpoint/2010/main" val="2422314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0323" y="1259195"/>
            <a:ext cx="8373652" cy="5023618"/>
          </a:xfrm>
        </p:spPr>
        <p:txBody>
          <a:bodyPr/>
          <a:lstStyle/>
          <a:p>
            <a:r>
              <a:rPr lang="zh-CN" altLang="en-US" dirty="0"/>
              <a:t>定义</a:t>
            </a:r>
            <a:endParaRPr lang="en-US" altLang="zh-CN" dirty="0"/>
          </a:p>
          <a:p>
            <a:pPr lvl="1"/>
            <a:r>
              <a:rPr lang="zh-CN" altLang="en-US" dirty="0"/>
              <a:t>更一般的定义：</a:t>
            </a:r>
            <a:r>
              <a:rPr lang="zh-CN" altLang="zh-CN" dirty="0"/>
              <a:t>社会工程是一种利用人的弱点（例如人的本能反应、好奇心、信任、贪婪等）进行诸如欺骗、伤害来获取利益的方法，简单地说就是“诱骗”</a:t>
            </a:r>
            <a:r>
              <a:rPr lang="zh-CN" altLang="en-US" dirty="0"/>
              <a:t>。</a:t>
            </a:r>
            <a:endParaRPr lang="en-US" altLang="zh-CN" dirty="0"/>
          </a:p>
        </p:txBody>
      </p:sp>
      <p:sp>
        <p:nvSpPr>
          <p:cNvPr id="3" name="标题 2"/>
          <p:cNvSpPr>
            <a:spLocks noGrp="1"/>
          </p:cNvSpPr>
          <p:nvPr>
            <p:ph type="title"/>
          </p:nvPr>
        </p:nvSpPr>
        <p:spPr/>
        <p:txBody>
          <a:bodyPr/>
          <a:lstStyle/>
          <a:p>
            <a:r>
              <a:rPr lang="zh-CN" altLang="en-US" dirty="0"/>
              <a:t>社会工程学</a:t>
            </a:r>
          </a:p>
        </p:txBody>
      </p:sp>
    </p:spTree>
    <p:extLst>
      <p:ext uri="{BB962C8B-B14F-4D97-AF65-F5344CB8AC3E}">
        <p14:creationId xmlns:p14="http://schemas.microsoft.com/office/powerpoint/2010/main" val="172901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0323" y="1259195"/>
            <a:ext cx="8373652" cy="5023618"/>
          </a:xfrm>
        </p:spPr>
        <p:txBody>
          <a:bodyPr/>
          <a:lstStyle/>
          <a:p>
            <a:r>
              <a:rPr lang="zh-CN" altLang="en-US" dirty="0"/>
              <a:t>定义</a:t>
            </a:r>
            <a:endParaRPr lang="en-US" altLang="zh-CN" dirty="0"/>
          </a:p>
          <a:p>
            <a:pPr lvl="1"/>
            <a:r>
              <a:rPr lang="zh-CN" altLang="zh-CN" dirty="0">
                <a:solidFill>
                  <a:srgbClr val="FF0000"/>
                </a:solidFill>
              </a:rPr>
              <a:t>从网络攻防的角度看</a:t>
            </a:r>
            <a:r>
              <a:rPr lang="zh-CN" altLang="en-US" dirty="0"/>
              <a:t>：</a:t>
            </a:r>
            <a:r>
              <a:rPr lang="zh-CN" altLang="zh-CN" dirty="0"/>
              <a:t>社会工程是操纵他人采取特定行动或者泄露机密信息的行为，该行动不一定符合“目标人”的最佳利益，其结果包括获取信息、取得访问权或让目标采取特定的行动。</a:t>
            </a:r>
            <a:endParaRPr lang="zh-CN" altLang="en-US" dirty="0"/>
          </a:p>
        </p:txBody>
      </p:sp>
      <p:sp>
        <p:nvSpPr>
          <p:cNvPr id="3" name="标题 2"/>
          <p:cNvSpPr>
            <a:spLocks noGrp="1"/>
          </p:cNvSpPr>
          <p:nvPr>
            <p:ph type="title"/>
          </p:nvPr>
        </p:nvSpPr>
        <p:spPr/>
        <p:txBody>
          <a:bodyPr/>
          <a:lstStyle/>
          <a:p>
            <a:r>
              <a:rPr lang="zh-CN" altLang="en-US" dirty="0"/>
              <a:t>社会工程学</a:t>
            </a:r>
          </a:p>
        </p:txBody>
      </p:sp>
    </p:spTree>
    <p:extLst>
      <p:ext uri="{BB962C8B-B14F-4D97-AF65-F5344CB8AC3E}">
        <p14:creationId xmlns:p14="http://schemas.microsoft.com/office/powerpoint/2010/main" val="4199709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0323" y="1259195"/>
            <a:ext cx="8373652" cy="5023618"/>
          </a:xfrm>
        </p:spPr>
        <p:txBody>
          <a:bodyPr/>
          <a:lstStyle/>
          <a:p>
            <a:r>
              <a:rPr lang="zh-CN" altLang="en-US" dirty="0"/>
              <a:t>意义</a:t>
            </a:r>
            <a:endParaRPr lang="en-US" altLang="zh-CN" dirty="0"/>
          </a:p>
          <a:p>
            <a:pPr lvl="1"/>
            <a:r>
              <a:rPr lang="zh-CN" altLang="zh-CN" dirty="0"/>
              <a:t>在当前网络安全防护技术越来越强，单位或组织越来越重视网络安全防护系统建设的今天，纯技术的网络攻击的难度越来越大，借助社会工程学实施网络渗透攻击成为了一种主流的网络攻击形态。</a:t>
            </a:r>
            <a:r>
              <a:rPr lang="en-US" altLang="zh-CN" dirty="0">
                <a:solidFill>
                  <a:srgbClr val="FF0000"/>
                </a:solidFill>
              </a:rPr>
              <a:t>APT</a:t>
            </a:r>
            <a:r>
              <a:rPr lang="zh-CN" altLang="zh-CN" dirty="0">
                <a:solidFill>
                  <a:srgbClr val="FF0000"/>
                </a:solidFill>
              </a:rPr>
              <a:t>攻击过程中，就常常采用社会工程学的方法来实现攻击目的</a:t>
            </a:r>
            <a:r>
              <a:rPr lang="zh-CN" altLang="zh-CN" dirty="0"/>
              <a:t>。</a:t>
            </a:r>
            <a:endParaRPr lang="zh-CN" altLang="en-US" dirty="0"/>
          </a:p>
        </p:txBody>
      </p:sp>
      <p:sp>
        <p:nvSpPr>
          <p:cNvPr id="3" name="标题 2"/>
          <p:cNvSpPr>
            <a:spLocks noGrp="1"/>
          </p:cNvSpPr>
          <p:nvPr>
            <p:ph type="title"/>
          </p:nvPr>
        </p:nvSpPr>
        <p:spPr/>
        <p:txBody>
          <a:bodyPr/>
          <a:lstStyle/>
          <a:p>
            <a:r>
              <a:rPr lang="zh-CN" altLang="en-US" dirty="0"/>
              <a:t>社会工程学</a:t>
            </a:r>
          </a:p>
        </p:txBody>
      </p:sp>
    </p:spTree>
    <p:extLst>
      <p:ext uri="{BB962C8B-B14F-4D97-AF65-F5344CB8AC3E}">
        <p14:creationId xmlns:p14="http://schemas.microsoft.com/office/powerpoint/2010/main" val="3043059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8CCF002-5E87-494F-B7BF-633E4E84E02A}"/>
              </a:ext>
            </a:extLst>
          </p:cNvPr>
          <p:cNvSpPr>
            <a:spLocks noGrp="1"/>
          </p:cNvSpPr>
          <p:nvPr>
            <p:ph idx="1"/>
          </p:nvPr>
        </p:nvSpPr>
        <p:spPr>
          <a:xfrm>
            <a:off x="685800" y="1371600"/>
            <a:ext cx="7772400" cy="4114800"/>
          </a:xfrm>
        </p:spPr>
        <p:txBody>
          <a:bodyPr/>
          <a:lstStyle/>
          <a:p>
            <a:r>
              <a:rPr lang="en-US" altLang="zh-CN" dirty="0"/>
              <a:t>https://mp.weixin.qq.com/s/V0LwIpNNTjSCE2PtcT1hZw</a:t>
            </a:r>
            <a:endParaRPr lang="zh-CN" altLang="en-US" dirty="0"/>
          </a:p>
        </p:txBody>
      </p:sp>
      <p:sp>
        <p:nvSpPr>
          <p:cNvPr id="3" name="标题 2">
            <a:extLst>
              <a:ext uri="{FF2B5EF4-FFF2-40B4-BE49-F238E27FC236}">
                <a16:creationId xmlns:a16="http://schemas.microsoft.com/office/drawing/2014/main" id="{5287E4E3-D839-4F61-B4F0-5C933796ED93}"/>
              </a:ext>
            </a:extLst>
          </p:cNvPr>
          <p:cNvSpPr>
            <a:spLocks noGrp="1"/>
          </p:cNvSpPr>
          <p:nvPr>
            <p:ph type="title"/>
          </p:nvPr>
        </p:nvSpPr>
        <p:spPr/>
        <p:txBody>
          <a:bodyPr/>
          <a:lstStyle/>
          <a:p>
            <a:r>
              <a:rPr lang="zh-CN" altLang="en-US" dirty="0"/>
              <a:t>社会工程学</a:t>
            </a:r>
          </a:p>
        </p:txBody>
      </p:sp>
      <p:grpSp>
        <p:nvGrpSpPr>
          <p:cNvPr id="6" name="组合 5">
            <a:extLst>
              <a:ext uri="{FF2B5EF4-FFF2-40B4-BE49-F238E27FC236}">
                <a16:creationId xmlns:a16="http://schemas.microsoft.com/office/drawing/2014/main" id="{23AC2892-F095-40CC-9EFB-3A0FC7DA8359}"/>
              </a:ext>
            </a:extLst>
          </p:cNvPr>
          <p:cNvGrpSpPr/>
          <p:nvPr/>
        </p:nvGrpSpPr>
        <p:grpSpPr>
          <a:xfrm>
            <a:off x="1150938" y="3429000"/>
            <a:ext cx="6534150" cy="1666875"/>
            <a:chOff x="1150938" y="2728565"/>
            <a:chExt cx="6534150" cy="1666875"/>
          </a:xfrm>
        </p:grpSpPr>
        <p:pic>
          <p:nvPicPr>
            <p:cNvPr id="4" name="图片 3">
              <a:extLst>
                <a:ext uri="{FF2B5EF4-FFF2-40B4-BE49-F238E27FC236}">
                  <a16:creationId xmlns:a16="http://schemas.microsoft.com/office/drawing/2014/main" id="{CB31EAA7-2B66-47B8-B5E6-8A91B572937D}"/>
                </a:ext>
              </a:extLst>
            </p:cNvPr>
            <p:cNvPicPr>
              <a:picLocks noChangeAspect="1"/>
            </p:cNvPicPr>
            <p:nvPr/>
          </p:nvPicPr>
          <p:blipFill>
            <a:blip r:embed="rId3"/>
            <a:stretch>
              <a:fillRect/>
            </a:stretch>
          </p:blipFill>
          <p:spPr>
            <a:xfrm>
              <a:off x="1150938" y="2728565"/>
              <a:ext cx="6534150" cy="1666875"/>
            </a:xfrm>
            <a:prstGeom prst="rect">
              <a:avLst/>
            </a:prstGeom>
            <a:ln>
              <a:solidFill>
                <a:srgbClr val="FF0000"/>
              </a:solidFill>
            </a:ln>
          </p:spPr>
        </p:pic>
        <p:pic>
          <p:nvPicPr>
            <p:cNvPr id="5" name="图片 4">
              <a:extLst>
                <a:ext uri="{FF2B5EF4-FFF2-40B4-BE49-F238E27FC236}">
                  <a16:creationId xmlns:a16="http://schemas.microsoft.com/office/drawing/2014/main" id="{73D5214D-38DE-4ACC-957C-94B9A8AEB8B2}"/>
                </a:ext>
              </a:extLst>
            </p:cNvPr>
            <p:cNvPicPr>
              <a:picLocks noChangeAspect="1"/>
            </p:cNvPicPr>
            <p:nvPr/>
          </p:nvPicPr>
          <p:blipFill>
            <a:blip r:embed="rId4"/>
            <a:stretch>
              <a:fillRect/>
            </a:stretch>
          </p:blipFill>
          <p:spPr>
            <a:xfrm>
              <a:off x="6352222" y="2728565"/>
              <a:ext cx="828675" cy="781050"/>
            </a:xfrm>
            <a:prstGeom prst="rect">
              <a:avLst/>
            </a:prstGeom>
          </p:spPr>
        </p:pic>
      </p:grpSp>
    </p:spTree>
    <p:extLst>
      <p:ext uri="{BB962C8B-B14F-4D97-AF65-F5344CB8AC3E}">
        <p14:creationId xmlns:p14="http://schemas.microsoft.com/office/powerpoint/2010/main" val="4105989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50938" y="1630363"/>
            <a:ext cx="5685404" cy="4114800"/>
          </a:xfrm>
        </p:spPr>
      </p:pic>
      <p:sp>
        <p:nvSpPr>
          <p:cNvPr id="3" name="标题 2"/>
          <p:cNvSpPr>
            <a:spLocks noGrp="1"/>
          </p:cNvSpPr>
          <p:nvPr>
            <p:ph type="title"/>
          </p:nvPr>
        </p:nvSpPr>
        <p:spPr/>
        <p:txBody>
          <a:bodyPr/>
          <a:lstStyle/>
          <a:p>
            <a:r>
              <a:rPr lang="zh-CN" altLang="en-US" dirty="0"/>
              <a:t>社会工程学</a:t>
            </a:r>
          </a:p>
        </p:txBody>
      </p:sp>
    </p:spTree>
    <p:extLst>
      <p:ext uri="{BB962C8B-B14F-4D97-AF65-F5344CB8AC3E}">
        <p14:creationId xmlns:p14="http://schemas.microsoft.com/office/powerpoint/2010/main" val="1722614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4578" y="1443804"/>
            <a:ext cx="7772400" cy="4114800"/>
          </a:xfrm>
        </p:spPr>
        <p:txBody>
          <a:bodyPr/>
          <a:lstStyle/>
          <a:p>
            <a:pPr>
              <a:lnSpc>
                <a:spcPct val="150000"/>
              </a:lnSpc>
              <a:spcBef>
                <a:spcPts val="0"/>
              </a:spcBef>
            </a:pPr>
            <a:r>
              <a:rPr lang="zh-CN" altLang="en-US" dirty="0"/>
              <a:t>威瑞森的报告显示，</a:t>
            </a:r>
            <a:r>
              <a:rPr lang="en-US" altLang="zh-CN" dirty="0"/>
              <a:t>94%</a:t>
            </a:r>
            <a:r>
              <a:rPr lang="zh-CN" altLang="en-US" dirty="0"/>
              <a:t>的恶意软件通过电子邮件传播，</a:t>
            </a:r>
            <a:r>
              <a:rPr lang="zh-CN" altLang="en-US" dirty="0">
                <a:solidFill>
                  <a:srgbClr val="FF0000"/>
                </a:solidFill>
              </a:rPr>
              <a:t>排名第一的社会工程攻击是网络钓鱼</a:t>
            </a:r>
          </a:p>
        </p:txBody>
      </p:sp>
      <p:sp>
        <p:nvSpPr>
          <p:cNvPr id="3" name="标题 2"/>
          <p:cNvSpPr>
            <a:spLocks noGrp="1"/>
          </p:cNvSpPr>
          <p:nvPr>
            <p:ph type="title"/>
          </p:nvPr>
        </p:nvSpPr>
        <p:spPr/>
        <p:txBody>
          <a:bodyPr/>
          <a:lstStyle/>
          <a:p>
            <a:r>
              <a:rPr lang="zh-CN" altLang="en-US" dirty="0"/>
              <a:t>社会工程学</a:t>
            </a:r>
          </a:p>
        </p:txBody>
      </p:sp>
      <p:grpSp>
        <p:nvGrpSpPr>
          <p:cNvPr id="7" name="组合 6"/>
          <p:cNvGrpSpPr/>
          <p:nvPr/>
        </p:nvGrpSpPr>
        <p:grpSpPr>
          <a:xfrm>
            <a:off x="1322989" y="4269689"/>
            <a:ext cx="5867400" cy="809625"/>
            <a:chOff x="928851" y="4348517"/>
            <a:chExt cx="5867400" cy="809625"/>
          </a:xfrm>
        </p:grpSpPr>
        <p:pic>
          <p:nvPicPr>
            <p:cNvPr id="6" name="图片 5"/>
            <p:cNvPicPr>
              <a:picLocks noChangeAspect="1"/>
            </p:cNvPicPr>
            <p:nvPr/>
          </p:nvPicPr>
          <p:blipFill>
            <a:blip r:embed="rId3"/>
            <a:stretch>
              <a:fillRect/>
            </a:stretch>
          </p:blipFill>
          <p:spPr>
            <a:xfrm>
              <a:off x="928851" y="4348517"/>
              <a:ext cx="5867400" cy="809625"/>
            </a:xfrm>
            <a:prstGeom prst="rect">
              <a:avLst/>
            </a:prstGeom>
          </p:spPr>
        </p:pic>
        <p:pic>
          <p:nvPicPr>
            <p:cNvPr id="4" name="图片 3"/>
            <p:cNvPicPr>
              <a:picLocks noChangeAspect="1"/>
            </p:cNvPicPr>
            <p:nvPr/>
          </p:nvPicPr>
          <p:blipFill>
            <a:blip r:embed="rId4"/>
            <a:stretch>
              <a:fillRect/>
            </a:stretch>
          </p:blipFill>
          <p:spPr>
            <a:xfrm>
              <a:off x="4751987" y="4458054"/>
              <a:ext cx="1981200" cy="590550"/>
            </a:xfrm>
            <a:prstGeom prst="rect">
              <a:avLst/>
            </a:prstGeom>
          </p:spPr>
        </p:pic>
      </p:grpSp>
    </p:spTree>
    <p:extLst>
      <p:ext uri="{BB962C8B-B14F-4D97-AF65-F5344CB8AC3E}">
        <p14:creationId xmlns:p14="http://schemas.microsoft.com/office/powerpoint/2010/main" val="644995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554163"/>
            <a:ext cx="7772400" cy="670877"/>
          </a:xfrm>
        </p:spPr>
        <p:txBody>
          <a:bodyPr/>
          <a:lstStyle/>
          <a:p>
            <a:endParaRPr lang="zh-CN" altLang="en-US" dirty="0"/>
          </a:p>
        </p:txBody>
      </p:sp>
      <p:sp>
        <p:nvSpPr>
          <p:cNvPr id="3" name="标题 2"/>
          <p:cNvSpPr>
            <a:spLocks noGrp="1"/>
          </p:cNvSpPr>
          <p:nvPr>
            <p:ph type="title"/>
          </p:nvPr>
        </p:nvSpPr>
        <p:spPr/>
        <p:txBody>
          <a:bodyPr/>
          <a:lstStyle/>
          <a:p>
            <a:r>
              <a:rPr lang="zh-CN" altLang="en-US" dirty="0"/>
              <a:t>社会工程学</a:t>
            </a:r>
          </a:p>
        </p:txBody>
      </p:sp>
      <p:pic>
        <p:nvPicPr>
          <p:cNvPr id="6" name="图片 5"/>
          <p:cNvPicPr>
            <a:picLocks noChangeAspect="1"/>
          </p:cNvPicPr>
          <p:nvPr/>
        </p:nvPicPr>
        <p:blipFill>
          <a:blip r:embed="rId3"/>
          <a:stretch>
            <a:fillRect/>
          </a:stretch>
        </p:blipFill>
        <p:spPr>
          <a:xfrm>
            <a:off x="712787" y="1554163"/>
            <a:ext cx="7477428" cy="4680382"/>
          </a:xfrm>
          <a:prstGeom prst="rect">
            <a:avLst/>
          </a:prstGeom>
        </p:spPr>
      </p:pic>
    </p:spTree>
    <p:extLst>
      <p:ext uri="{BB962C8B-B14F-4D97-AF65-F5344CB8AC3E}">
        <p14:creationId xmlns:p14="http://schemas.microsoft.com/office/powerpoint/2010/main" val="1158205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内容提纲</a:t>
            </a:r>
            <a:endParaRPr lang="en-US" altLang="zh-CN">
              <a:solidFill>
                <a:schemeClr val="accent1"/>
              </a:solidFill>
            </a:endParaRPr>
          </a:p>
        </p:txBody>
      </p:sp>
      <p:sp>
        <p:nvSpPr>
          <p:cNvPr id="30723"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en-US">
              <a:ea typeface="宋体" charset="-122"/>
            </a:endParaRPr>
          </a:p>
        </p:txBody>
      </p:sp>
      <p:sp>
        <p:nvSpPr>
          <p:cNvPr id="30724" name="Line 4"/>
          <p:cNvSpPr>
            <a:spLocks noChangeShapeType="1"/>
          </p:cNvSpPr>
          <p:nvPr/>
        </p:nvSpPr>
        <p:spPr bwMode="gray">
          <a:xfrm>
            <a:off x="1252538" y="3382750"/>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25" name="Rectangle 5"/>
          <p:cNvSpPr>
            <a:spLocks noChangeArrowheads="1"/>
          </p:cNvSpPr>
          <p:nvPr/>
        </p:nvSpPr>
        <p:spPr bwMode="gray">
          <a:xfrm rot="3419336">
            <a:off x="979487" y="280648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26" name="Text Box 6"/>
          <p:cNvSpPr txBox="1">
            <a:spLocks noChangeArrowheads="1"/>
          </p:cNvSpPr>
          <p:nvPr/>
        </p:nvSpPr>
        <p:spPr bwMode="gray">
          <a:xfrm>
            <a:off x="1785938" y="2769975"/>
            <a:ext cx="5634036" cy="579437"/>
          </a:xfrm>
          <a:prstGeom prst="rect">
            <a:avLst/>
          </a:prstGeom>
          <a:solidFill>
            <a:srgbClr val="FF6600"/>
          </a:solidFill>
          <a:ln w="9525" algn="ctr">
            <a:noFill/>
            <a:miter lim="800000"/>
            <a:headEnd/>
            <a:tailEnd/>
          </a:ln>
        </p:spPr>
        <p:txBody>
          <a:bodyPr wrap="square">
            <a:spAutoFit/>
          </a:bodyPr>
          <a:lstStyle>
            <a:defPPr>
              <a:defRPr lang="zh-CN"/>
            </a:defPPr>
            <a:lvl1pPr eaLnBrk="0" hangingPunct="0">
              <a:defRPr sz="3200">
                <a:solidFill>
                  <a:srgbClr val="000000"/>
                </a:solidFill>
                <a:latin typeface="Times New Roman" panose="02020603050405020304" pitchFamily="18" charset="0"/>
                <a:ea typeface="黑体" panose="02010609060101010101" pitchFamily="49" charset="-122"/>
              </a:defRPr>
            </a:lvl1pPr>
          </a:lstStyle>
          <a:p>
            <a:r>
              <a:rPr lang="zh-CN" altLang="en-US" dirty="0"/>
              <a:t>社会工程学常用技术</a:t>
            </a:r>
          </a:p>
        </p:txBody>
      </p:sp>
      <p:sp>
        <p:nvSpPr>
          <p:cNvPr id="30727" name="Text Box 7"/>
          <p:cNvSpPr txBox="1">
            <a:spLocks noChangeArrowheads="1"/>
          </p:cNvSpPr>
          <p:nvPr/>
        </p:nvSpPr>
        <p:spPr bwMode="gray">
          <a:xfrm>
            <a:off x="1057275" y="2838237"/>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2</a:t>
            </a:r>
          </a:p>
        </p:txBody>
      </p:sp>
      <p:sp>
        <p:nvSpPr>
          <p:cNvPr id="30728" name="Rectangle 8"/>
          <p:cNvSpPr>
            <a:spLocks noChangeArrowheads="1"/>
          </p:cNvSpPr>
          <p:nvPr/>
        </p:nvSpPr>
        <p:spPr bwMode="gray">
          <a:xfrm rot="3419336">
            <a:off x="973137" y="388489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29" name="Text Box 9"/>
          <p:cNvSpPr txBox="1">
            <a:spLocks noChangeArrowheads="1"/>
          </p:cNvSpPr>
          <p:nvPr/>
        </p:nvSpPr>
        <p:spPr bwMode="gray">
          <a:xfrm>
            <a:off x="1779588" y="3848383"/>
            <a:ext cx="5497512" cy="579438"/>
          </a:xfrm>
          <a:prstGeom prst="rect">
            <a:avLst/>
          </a:prstGeom>
          <a:noFill/>
          <a:ln w="9525" algn="ctr">
            <a:noFill/>
            <a:miter lim="800000"/>
            <a:headEnd/>
            <a:tailEnd/>
          </a:ln>
        </p:spPr>
        <p:txBody>
          <a:bodyPr>
            <a:spAutoFit/>
          </a:bodyPr>
          <a:lstStyle/>
          <a:p>
            <a:pPr eaLnBrk="0" hangingPunct="0"/>
            <a:r>
              <a:rPr lang="zh-CN" altLang="en-US" sz="3200" dirty="0">
                <a:solidFill>
                  <a:srgbClr val="000000"/>
                </a:solidFill>
                <a:latin typeface="Times New Roman" panose="02020603050405020304" pitchFamily="18" charset="0"/>
                <a:cs typeface="Times New Roman" panose="02020603050405020304" pitchFamily="18" charset="0"/>
              </a:rPr>
              <a:t>社工库与社会工程学工具</a:t>
            </a:r>
            <a:endParaRPr lang="zh-CN" altLang="en-US" sz="3200" b="1" dirty="0">
              <a:solidFill>
                <a:srgbClr val="000000"/>
              </a:solidFill>
              <a:latin typeface="Times New Roman" panose="02020603050405020304" pitchFamily="18" charset="0"/>
              <a:cs typeface="Times New Roman" panose="02020603050405020304" pitchFamily="18" charset="0"/>
            </a:endParaRPr>
          </a:p>
        </p:txBody>
      </p:sp>
      <p:sp>
        <p:nvSpPr>
          <p:cNvPr id="30730" name="Text Box 10"/>
          <p:cNvSpPr txBox="1">
            <a:spLocks noChangeArrowheads="1"/>
          </p:cNvSpPr>
          <p:nvPr/>
        </p:nvSpPr>
        <p:spPr bwMode="gray">
          <a:xfrm>
            <a:off x="1050925" y="3916646"/>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3</a:t>
            </a:r>
          </a:p>
        </p:txBody>
      </p:sp>
      <p:sp>
        <p:nvSpPr>
          <p:cNvPr id="30731" name="Line 11"/>
          <p:cNvSpPr>
            <a:spLocks noChangeShapeType="1"/>
          </p:cNvSpPr>
          <p:nvPr/>
        </p:nvSpPr>
        <p:spPr bwMode="gray">
          <a:xfrm>
            <a:off x="1252538" y="4470683"/>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2" name="Rectangle 12"/>
          <p:cNvSpPr>
            <a:spLocks noChangeArrowheads="1"/>
          </p:cNvSpPr>
          <p:nvPr/>
        </p:nvSpPr>
        <p:spPr bwMode="gray">
          <a:xfrm rot="3419336">
            <a:off x="987425" y="4933469"/>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33" name="Text Box 13"/>
          <p:cNvSpPr txBox="1">
            <a:spLocks noChangeArrowheads="1"/>
          </p:cNvSpPr>
          <p:nvPr/>
        </p:nvSpPr>
        <p:spPr bwMode="gray">
          <a:xfrm>
            <a:off x="1785938" y="4963180"/>
            <a:ext cx="5634036" cy="579438"/>
          </a:xfrm>
          <a:prstGeom prst="rect">
            <a:avLst/>
          </a:prstGeom>
          <a:noFill/>
          <a:ln w="9525" algn="ctr">
            <a:noFill/>
            <a:miter lim="800000"/>
            <a:headEnd/>
            <a:tailEnd/>
          </a:ln>
        </p:spPr>
        <p:txBody>
          <a:bodyPr wrap="square">
            <a:spAutoFit/>
          </a:bodyPr>
          <a:lstStyle/>
          <a:p>
            <a:pPr eaLnBrk="0" hangingPunct="0"/>
            <a:r>
              <a:rPr lang="zh-CN" altLang="en-US" sz="3200" b="1" dirty="0">
                <a:solidFill>
                  <a:srgbClr val="000000"/>
                </a:solidFill>
              </a:rPr>
              <a:t>防范社会工程学</a:t>
            </a:r>
          </a:p>
        </p:txBody>
      </p:sp>
      <p:sp>
        <p:nvSpPr>
          <p:cNvPr id="30734" name="Text Box 14"/>
          <p:cNvSpPr txBox="1">
            <a:spLocks noChangeArrowheads="1"/>
          </p:cNvSpPr>
          <p:nvPr/>
        </p:nvSpPr>
        <p:spPr bwMode="gray">
          <a:xfrm>
            <a:off x="1041400" y="4974744"/>
            <a:ext cx="355600" cy="461962"/>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4</a:t>
            </a:r>
          </a:p>
        </p:txBody>
      </p:sp>
      <p:sp>
        <p:nvSpPr>
          <p:cNvPr id="30735" name="Line 15"/>
          <p:cNvSpPr>
            <a:spLocks noChangeShapeType="1"/>
          </p:cNvSpPr>
          <p:nvPr/>
        </p:nvSpPr>
        <p:spPr bwMode="gray">
          <a:xfrm>
            <a:off x="1262063" y="5559552"/>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6" name="Rectangle 16"/>
          <p:cNvSpPr>
            <a:spLocks noChangeArrowheads="1"/>
          </p:cNvSpPr>
          <p:nvPr/>
        </p:nvSpPr>
        <p:spPr bwMode="gray">
          <a:xfrm rot="3419336">
            <a:off x="979487" y="1764832"/>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37" name="Text Box 17"/>
          <p:cNvSpPr txBox="1">
            <a:spLocks noChangeArrowheads="1"/>
          </p:cNvSpPr>
          <p:nvPr/>
        </p:nvSpPr>
        <p:spPr bwMode="gray">
          <a:xfrm>
            <a:off x="1785937" y="1728319"/>
            <a:ext cx="5634037" cy="579438"/>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概述</a:t>
            </a:r>
          </a:p>
        </p:txBody>
      </p:sp>
      <p:sp>
        <p:nvSpPr>
          <p:cNvPr id="30738" name="Text Box 18"/>
          <p:cNvSpPr txBox="1">
            <a:spLocks noChangeArrowheads="1"/>
          </p:cNvSpPr>
          <p:nvPr/>
        </p:nvSpPr>
        <p:spPr bwMode="gray">
          <a:xfrm>
            <a:off x="1057275" y="1796582"/>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1</a:t>
            </a:r>
          </a:p>
        </p:txBody>
      </p:sp>
      <p:sp>
        <p:nvSpPr>
          <p:cNvPr id="30739" name="Line 19"/>
          <p:cNvSpPr>
            <a:spLocks noChangeShapeType="1"/>
          </p:cNvSpPr>
          <p:nvPr/>
        </p:nvSpPr>
        <p:spPr bwMode="gray">
          <a:xfrm>
            <a:off x="1252538" y="2386467"/>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extLst>
      <p:ext uri="{BB962C8B-B14F-4D97-AF65-F5344CB8AC3E}">
        <p14:creationId xmlns:p14="http://schemas.microsoft.com/office/powerpoint/2010/main" val="979964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6829" y="1430101"/>
            <a:ext cx="7960752" cy="4967661"/>
          </a:xfrm>
        </p:spPr>
        <p:txBody>
          <a:bodyPr/>
          <a:lstStyle/>
          <a:p>
            <a:pPr>
              <a:lnSpc>
                <a:spcPts val="4200"/>
              </a:lnSpc>
              <a:spcBef>
                <a:spcPts val="0"/>
              </a:spcBef>
            </a:pPr>
            <a:r>
              <a:rPr lang="zh-CN" altLang="zh-CN" dirty="0"/>
              <a:t>社会工程主要是针对人的攻击，因此，攻击者或社会工程师（社会工程学的实施者）必须掌握心理学、人际关系学和行为学等知识和技能，以便收集和掌握实施入侵所需要的相关资料与信息、开展具体的攻击行动，常见形式有</a:t>
            </a:r>
            <a:r>
              <a:rPr lang="zh-CN" altLang="zh-CN" dirty="0">
                <a:solidFill>
                  <a:srgbClr val="FF0000"/>
                </a:solidFill>
              </a:rPr>
              <a:t>伪装、引诱、恐吓、说服、反向社会工程</a:t>
            </a:r>
            <a:r>
              <a:rPr lang="zh-CN" altLang="zh-CN" dirty="0"/>
              <a:t>等</a:t>
            </a:r>
            <a:r>
              <a:rPr lang="zh-CN" altLang="zh-CN" sz="2400" dirty="0"/>
              <a:t>。</a:t>
            </a:r>
          </a:p>
          <a:p>
            <a:pPr>
              <a:lnSpc>
                <a:spcPts val="4200"/>
              </a:lnSpc>
              <a:spcBef>
                <a:spcPts val="0"/>
              </a:spcBef>
            </a:pPr>
            <a:endParaRPr lang="zh-CN" altLang="en-US" sz="2800" dirty="0"/>
          </a:p>
        </p:txBody>
      </p:sp>
      <p:sp>
        <p:nvSpPr>
          <p:cNvPr id="3" name="标题 2"/>
          <p:cNvSpPr>
            <a:spLocks noGrp="1"/>
          </p:cNvSpPr>
          <p:nvPr>
            <p:ph type="title"/>
          </p:nvPr>
        </p:nvSpPr>
        <p:spPr/>
        <p:txBody>
          <a:bodyPr/>
          <a:lstStyle/>
          <a:p>
            <a:r>
              <a:rPr lang="zh-CN" altLang="en-US" dirty="0"/>
              <a:t>常用技术</a:t>
            </a:r>
          </a:p>
        </p:txBody>
      </p:sp>
    </p:spTree>
    <p:extLst>
      <p:ext uri="{BB962C8B-B14F-4D97-AF65-F5344CB8AC3E}">
        <p14:creationId xmlns:p14="http://schemas.microsoft.com/office/powerpoint/2010/main" val="4655816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伪装成管理员或熟悉的人向用户</a:t>
            </a:r>
            <a:r>
              <a:rPr lang="zh-CN" altLang="zh-CN" dirty="0">
                <a:solidFill>
                  <a:srgbClr val="FF0000"/>
                </a:solidFill>
              </a:rPr>
              <a:t>发送信息</a:t>
            </a:r>
            <a:r>
              <a:rPr lang="zh-CN" altLang="zh-CN" dirty="0"/>
              <a:t>、</a:t>
            </a:r>
            <a:r>
              <a:rPr lang="zh-CN" altLang="zh-CN" dirty="0">
                <a:solidFill>
                  <a:srgbClr val="FF0000"/>
                </a:solidFill>
              </a:rPr>
              <a:t>打电话</a:t>
            </a:r>
            <a:r>
              <a:rPr lang="zh-CN" altLang="zh-CN" dirty="0"/>
              <a:t>，或</a:t>
            </a:r>
            <a:r>
              <a:rPr lang="zh-CN" altLang="zh-CN" dirty="0">
                <a:solidFill>
                  <a:srgbClr val="FF0000"/>
                </a:solidFill>
              </a:rPr>
              <a:t>伪造知名</a:t>
            </a:r>
            <a:r>
              <a:rPr lang="en-US" altLang="zh-CN" dirty="0">
                <a:solidFill>
                  <a:srgbClr val="FF0000"/>
                </a:solidFill>
              </a:rPr>
              <a:t>Web</a:t>
            </a:r>
            <a:r>
              <a:rPr lang="zh-CN" altLang="zh-CN" dirty="0">
                <a:solidFill>
                  <a:srgbClr val="FF0000"/>
                </a:solidFill>
              </a:rPr>
              <a:t>站点</a:t>
            </a:r>
            <a:r>
              <a:rPr lang="zh-CN" altLang="zh-CN" dirty="0"/>
              <a:t>（钓鱼网站），如银行、政府网站，让用户误以为是真的网站而去访问等，进而达到攻击的目的</a:t>
            </a:r>
            <a:endParaRPr lang="zh-CN" altLang="en-US" dirty="0"/>
          </a:p>
        </p:txBody>
      </p:sp>
      <p:sp>
        <p:nvSpPr>
          <p:cNvPr id="3" name="标题 2"/>
          <p:cNvSpPr>
            <a:spLocks noGrp="1"/>
          </p:cNvSpPr>
          <p:nvPr>
            <p:ph type="title"/>
          </p:nvPr>
        </p:nvSpPr>
        <p:spPr/>
        <p:txBody>
          <a:bodyPr/>
          <a:lstStyle/>
          <a:p>
            <a:r>
              <a:rPr lang="zh-CN" altLang="en-US" dirty="0"/>
              <a:t>一、伪装</a:t>
            </a:r>
          </a:p>
        </p:txBody>
      </p:sp>
    </p:spTree>
    <p:extLst>
      <p:ext uri="{BB962C8B-B14F-4D97-AF65-F5344CB8AC3E}">
        <p14:creationId xmlns:p14="http://schemas.microsoft.com/office/powerpoint/2010/main" val="479814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4065" y="1303440"/>
            <a:ext cx="8299910" cy="4802392"/>
          </a:xfrm>
        </p:spPr>
        <p:txBody>
          <a:bodyPr/>
          <a:lstStyle/>
          <a:p>
            <a:r>
              <a:rPr lang="zh-CN" altLang="zh-CN" dirty="0"/>
              <a:t>伪装</a:t>
            </a:r>
            <a:r>
              <a:rPr lang="zh-CN" altLang="en-US" dirty="0"/>
              <a:t>的原则或技巧</a:t>
            </a:r>
            <a:endParaRPr lang="en-US" altLang="zh-CN" dirty="0"/>
          </a:p>
          <a:p>
            <a:pPr lvl="1"/>
            <a:r>
              <a:rPr lang="zh-CN" altLang="zh-CN" dirty="0"/>
              <a:t>尽可能了解要伪装的目标</a:t>
            </a:r>
            <a:endParaRPr lang="en-US" altLang="zh-CN" dirty="0"/>
          </a:p>
          <a:p>
            <a:pPr lvl="1"/>
            <a:r>
              <a:rPr lang="zh-CN" altLang="zh-CN" dirty="0"/>
              <a:t>加入个人爱好会提高成功率</a:t>
            </a:r>
            <a:endParaRPr lang="en-US" altLang="zh-CN" dirty="0"/>
          </a:p>
          <a:p>
            <a:pPr lvl="1"/>
            <a:r>
              <a:rPr lang="zh-CN" altLang="zh-CN" dirty="0"/>
              <a:t>练习方言或表达方式；不要低估打电话的作用</a:t>
            </a:r>
            <a:endParaRPr lang="en-US" altLang="zh-CN" dirty="0"/>
          </a:p>
          <a:p>
            <a:pPr lvl="1"/>
            <a:r>
              <a:rPr lang="zh-CN" altLang="zh-CN" dirty="0"/>
              <a:t>伪装越简单，成功率越高</a:t>
            </a:r>
            <a:endParaRPr lang="en-US" altLang="zh-CN" dirty="0"/>
          </a:p>
          <a:p>
            <a:pPr lvl="1"/>
            <a:r>
              <a:rPr lang="zh-CN" altLang="zh-CN" dirty="0"/>
              <a:t>伪装必须自然</a:t>
            </a:r>
            <a:endParaRPr lang="en-US" altLang="zh-CN" dirty="0"/>
          </a:p>
          <a:p>
            <a:pPr lvl="1"/>
            <a:r>
              <a:rPr lang="zh-CN" altLang="zh-CN" dirty="0"/>
              <a:t>为目标提供合理的结论或下一步工作安排等</a:t>
            </a:r>
            <a:endParaRPr lang="zh-CN" altLang="en-US" dirty="0"/>
          </a:p>
        </p:txBody>
      </p:sp>
      <p:sp>
        <p:nvSpPr>
          <p:cNvPr id="3" name="标题 2"/>
          <p:cNvSpPr>
            <a:spLocks noGrp="1"/>
          </p:cNvSpPr>
          <p:nvPr>
            <p:ph type="title"/>
          </p:nvPr>
        </p:nvSpPr>
        <p:spPr/>
        <p:txBody>
          <a:bodyPr/>
          <a:lstStyle/>
          <a:p>
            <a:r>
              <a:rPr lang="zh-CN" altLang="en-US" dirty="0"/>
              <a:t>一、伪装</a:t>
            </a:r>
          </a:p>
        </p:txBody>
      </p:sp>
    </p:spTree>
    <p:extLst>
      <p:ext uri="{BB962C8B-B14F-4D97-AF65-F5344CB8AC3E}">
        <p14:creationId xmlns:p14="http://schemas.microsoft.com/office/powerpoint/2010/main" val="743505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2" y="1255263"/>
            <a:ext cx="7448868" cy="3880617"/>
          </a:xfrm>
        </p:spPr>
        <p:txBody>
          <a:bodyPr/>
          <a:lstStyle/>
          <a:p>
            <a:r>
              <a:rPr lang="zh-CN" altLang="en-US" dirty="0"/>
              <a:t>伪装网站</a:t>
            </a:r>
          </a:p>
        </p:txBody>
      </p:sp>
      <p:sp>
        <p:nvSpPr>
          <p:cNvPr id="3" name="标题 2"/>
          <p:cNvSpPr>
            <a:spLocks noGrp="1"/>
          </p:cNvSpPr>
          <p:nvPr>
            <p:ph type="title"/>
          </p:nvPr>
        </p:nvSpPr>
        <p:spPr/>
        <p:txBody>
          <a:bodyPr/>
          <a:lstStyle/>
          <a:p>
            <a:r>
              <a:rPr lang="zh-CN" altLang="en-US" dirty="0"/>
              <a:t>一、伪装</a:t>
            </a:r>
          </a:p>
        </p:txBody>
      </p:sp>
      <p:pic>
        <p:nvPicPr>
          <p:cNvPr id="5" name="图片 4"/>
          <p:cNvPicPr>
            <a:picLocks noChangeAspect="1"/>
          </p:cNvPicPr>
          <p:nvPr/>
        </p:nvPicPr>
        <p:blipFill>
          <a:blip r:embed="rId2"/>
          <a:stretch>
            <a:fillRect/>
          </a:stretch>
        </p:blipFill>
        <p:spPr>
          <a:xfrm>
            <a:off x="1024572" y="1255263"/>
            <a:ext cx="6953250" cy="4785360"/>
          </a:xfrm>
          <a:prstGeom prst="rect">
            <a:avLst/>
          </a:prstGeom>
        </p:spPr>
      </p:pic>
    </p:spTree>
    <p:extLst>
      <p:ext uri="{BB962C8B-B14F-4D97-AF65-F5344CB8AC3E}">
        <p14:creationId xmlns:p14="http://schemas.microsoft.com/office/powerpoint/2010/main" val="1041954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4052" y="1270503"/>
            <a:ext cx="7772400" cy="4114800"/>
          </a:xfrm>
        </p:spPr>
        <p:txBody>
          <a:bodyPr/>
          <a:lstStyle/>
          <a:p>
            <a:r>
              <a:rPr lang="zh-CN" altLang="en-US" dirty="0"/>
              <a:t>伪装网站</a:t>
            </a:r>
            <a:r>
              <a:rPr lang="en-US" altLang="zh-CN" dirty="0"/>
              <a:t>URL</a:t>
            </a:r>
            <a:r>
              <a:rPr lang="zh-CN" altLang="en-US" dirty="0"/>
              <a:t>中常见字符</a:t>
            </a:r>
            <a:endParaRPr lang="en-US" altLang="zh-CN" dirty="0"/>
          </a:p>
          <a:p>
            <a:pPr lvl="1"/>
            <a:r>
              <a:rPr lang="zh-CN" altLang="en-US" dirty="0"/>
              <a:t>字母</a:t>
            </a:r>
            <a:r>
              <a:rPr lang="en-US" altLang="zh-CN" dirty="0"/>
              <a:t>o</a:t>
            </a:r>
            <a:r>
              <a:rPr lang="zh-CN" altLang="en-US" dirty="0"/>
              <a:t>与数字</a:t>
            </a:r>
            <a:r>
              <a:rPr lang="en-US" altLang="zh-CN" dirty="0"/>
              <a:t>0</a:t>
            </a:r>
          </a:p>
          <a:p>
            <a:pPr lvl="1"/>
            <a:endParaRPr lang="en-US" altLang="zh-CN" dirty="0"/>
          </a:p>
          <a:p>
            <a:pPr lvl="1"/>
            <a:endParaRPr lang="zh-CN" altLang="en-US" dirty="0"/>
          </a:p>
        </p:txBody>
      </p:sp>
      <p:sp>
        <p:nvSpPr>
          <p:cNvPr id="3" name="标题 2"/>
          <p:cNvSpPr>
            <a:spLocks noGrp="1"/>
          </p:cNvSpPr>
          <p:nvPr>
            <p:ph type="title"/>
          </p:nvPr>
        </p:nvSpPr>
        <p:spPr/>
        <p:txBody>
          <a:bodyPr/>
          <a:lstStyle/>
          <a:p>
            <a:r>
              <a:rPr lang="zh-CN" altLang="en-US" dirty="0"/>
              <a:t>一、伪装</a:t>
            </a:r>
          </a:p>
        </p:txBody>
      </p:sp>
      <p:pic>
        <p:nvPicPr>
          <p:cNvPr id="5" name="图片 4"/>
          <p:cNvPicPr/>
          <p:nvPr/>
        </p:nvPicPr>
        <p:blipFill>
          <a:blip r:embed="rId3">
            <a:extLst>
              <a:ext uri="{28A0092B-C50C-407E-A947-70E740481C1C}">
                <a14:useLocalDpi xmlns:a14="http://schemas.microsoft.com/office/drawing/2010/main" val="0"/>
              </a:ext>
            </a:extLst>
          </a:blip>
          <a:srcRect/>
          <a:stretch>
            <a:fillRect/>
          </a:stretch>
        </p:blipFill>
        <p:spPr bwMode="auto">
          <a:xfrm>
            <a:off x="1150938" y="2747134"/>
            <a:ext cx="6305014" cy="3775588"/>
          </a:xfrm>
          <a:prstGeom prst="rect">
            <a:avLst/>
          </a:prstGeom>
          <a:noFill/>
          <a:ln>
            <a:noFill/>
          </a:ln>
        </p:spPr>
      </p:pic>
    </p:spTree>
    <p:extLst>
      <p:ext uri="{BB962C8B-B14F-4D97-AF65-F5344CB8AC3E}">
        <p14:creationId xmlns:p14="http://schemas.microsoft.com/office/powerpoint/2010/main" val="3767532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4052" y="1270503"/>
            <a:ext cx="7772400" cy="4114800"/>
          </a:xfrm>
        </p:spPr>
        <p:txBody>
          <a:bodyPr/>
          <a:lstStyle/>
          <a:p>
            <a:r>
              <a:rPr lang="zh-CN" altLang="en-US" dirty="0"/>
              <a:t>伪装网站</a:t>
            </a:r>
            <a:r>
              <a:rPr lang="en-US" altLang="zh-CN" dirty="0"/>
              <a:t>URL</a:t>
            </a:r>
            <a:r>
              <a:rPr lang="zh-CN" altLang="en-US" dirty="0"/>
              <a:t>中常见字符</a:t>
            </a:r>
            <a:endParaRPr lang="en-US" altLang="zh-CN" dirty="0"/>
          </a:p>
          <a:p>
            <a:pPr lvl="1"/>
            <a:r>
              <a:rPr lang="zh-CN" altLang="zh-CN" dirty="0"/>
              <a:t>将英文字母</a:t>
            </a:r>
            <a:r>
              <a:rPr lang="en-US" altLang="zh-CN" dirty="0"/>
              <a:t>a</a:t>
            </a:r>
            <a:r>
              <a:rPr lang="zh-CN" altLang="en-US" dirty="0"/>
              <a:t>（</a:t>
            </a:r>
            <a:r>
              <a:rPr lang="en-US" altLang="zh-CN" dirty="0"/>
              <a:t>o</a:t>
            </a:r>
            <a:r>
              <a:rPr lang="zh-CN" altLang="en-US" dirty="0"/>
              <a:t>）</a:t>
            </a:r>
            <a:r>
              <a:rPr lang="zh-CN" altLang="zh-CN" dirty="0"/>
              <a:t>替换为西里尔文（</a:t>
            </a:r>
            <a:r>
              <a:rPr lang="en-US" altLang="zh-CN" dirty="0"/>
              <a:t>Cyrillic</a:t>
            </a:r>
            <a:r>
              <a:rPr lang="zh-CN" altLang="zh-CN" dirty="0"/>
              <a:t>）字母а</a:t>
            </a:r>
            <a:r>
              <a:rPr lang="zh-CN" altLang="en-US" dirty="0"/>
              <a:t>（</a:t>
            </a:r>
            <a:r>
              <a:rPr lang="az-Cyrl-AZ" altLang="zh-CN" dirty="0"/>
              <a:t>о</a:t>
            </a:r>
            <a:r>
              <a:rPr lang="zh-CN" altLang="en-US" dirty="0"/>
              <a:t>）</a:t>
            </a:r>
            <a:r>
              <a:rPr lang="zh-CN" altLang="zh-CN" dirty="0"/>
              <a:t>或俄文字母а</a:t>
            </a:r>
            <a:r>
              <a:rPr lang="zh-CN" altLang="en-US" dirty="0"/>
              <a:t> （</a:t>
            </a:r>
            <a:r>
              <a:rPr lang="az-Cyrl-AZ" altLang="zh-CN" dirty="0"/>
              <a:t>о</a:t>
            </a:r>
            <a:r>
              <a:rPr lang="zh-CN" altLang="en-US" dirty="0"/>
              <a:t>）</a:t>
            </a:r>
            <a:endParaRPr lang="en-US" altLang="zh-CN" dirty="0"/>
          </a:p>
          <a:p>
            <a:pPr lvl="1"/>
            <a:endParaRPr lang="zh-CN" altLang="en-US" dirty="0"/>
          </a:p>
        </p:txBody>
      </p:sp>
      <p:sp>
        <p:nvSpPr>
          <p:cNvPr id="3" name="标题 2"/>
          <p:cNvSpPr>
            <a:spLocks noGrp="1"/>
          </p:cNvSpPr>
          <p:nvPr>
            <p:ph type="title"/>
          </p:nvPr>
        </p:nvSpPr>
        <p:spPr/>
        <p:txBody>
          <a:bodyPr/>
          <a:lstStyle/>
          <a:p>
            <a:r>
              <a:rPr lang="zh-CN" altLang="en-US" dirty="0"/>
              <a:t>一、伪装</a:t>
            </a:r>
          </a:p>
        </p:txBody>
      </p:sp>
      <p:pic>
        <p:nvPicPr>
          <p:cNvPr id="6" name="图片 5"/>
          <p:cNvPicPr>
            <a:picLocks noChangeAspect="1"/>
          </p:cNvPicPr>
          <p:nvPr/>
        </p:nvPicPr>
        <p:blipFill>
          <a:blip r:embed="rId3"/>
          <a:stretch>
            <a:fillRect/>
          </a:stretch>
        </p:blipFill>
        <p:spPr>
          <a:xfrm>
            <a:off x="1843246" y="3129914"/>
            <a:ext cx="4857591" cy="3667125"/>
          </a:xfrm>
          <a:prstGeom prst="rect">
            <a:avLst/>
          </a:prstGeom>
        </p:spPr>
      </p:pic>
      <p:sp>
        <p:nvSpPr>
          <p:cNvPr id="8" name="矩形 7"/>
          <p:cNvSpPr/>
          <p:nvPr/>
        </p:nvSpPr>
        <p:spPr bwMode="auto">
          <a:xfrm>
            <a:off x="3048000" y="5013959"/>
            <a:ext cx="213360" cy="371343"/>
          </a:xfrm>
          <a:prstGeom prst="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Tahoma" pitchFamily="34" charset="0"/>
              <a:ea typeface="宋体" charset="-122"/>
            </a:endParaRPr>
          </a:p>
        </p:txBody>
      </p:sp>
    </p:spTree>
    <p:extLst>
      <p:ext uri="{BB962C8B-B14F-4D97-AF65-F5344CB8AC3E}">
        <p14:creationId xmlns:p14="http://schemas.microsoft.com/office/powerpoint/2010/main" val="2477208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4052" y="1270503"/>
            <a:ext cx="7772400" cy="4114800"/>
          </a:xfrm>
        </p:spPr>
        <p:txBody>
          <a:bodyPr/>
          <a:lstStyle/>
          <a:p>
            <a:pPr>
              <a:spcBef>
                <a:spcPts val="0"/>
              </a:spcBef>
            </a:pPr>
            <a:r>
              <a:rPr lang="zh-CN" altLang="en-US" dirty="0"/>
              <a:t>伪装网站</a:t>
            </a:r>
            <a:r>
              <a:rPr lang="en-US" altLang="zh-CN" dirty="0"/>
              <a:t>URL</a:t>
            </a:r>
            <a:r>
              <a:rPr lang="zh-CN" altLang="en-US" dirty="0"/>
              <a:t>中常见字符</a:t>
            </a:r>
            <a:endParaRPr lang="en-US" altLang="zh-CN" dirty="0"/>
          </a:p>
          <a:p>
            <a:pPr lvl="1"/>
            <a:r>
              <a:rPr lang="zh-CN" altLang="zh-CN" dirty="0"/>
              <a:t>将英文字母</a:t>
            </a:r>
            <a:r>
              <a:rPr lang="en-US" altLang="zh-CN" dirty="0"/>
              <a:t>a</a:t>
            </a:r>
            <a:r>
              <a:rPr lang="zh-CN" altLang="en-US" dirty="0"/>
              <a:t>（</a:t>
            </a:r>
            <a:r>
              <a:rPr lang="en-US" altLang="zh-CN" dirty="0"/>
              <a:t>o</a:t>
            </a:r>
            <a:r>
              <a:rPr lang="zh-CN" altLang="en-US" dirty="0"/>
              <a:t>）</a:t>
            </a:r>
            <a:r>
              <a:rPr lang="zh-CN" altLang="zh-CN" dirty="0"/>
              <a:t>替换为西里尔文（</a:t>
            </a:r>
            <a:r>
              <a:rPr lang="en-US" altLang="zh-CN" dirty="0"/>
              <a:t>Cyrillic</a:t>
            </a:r>
            <a:r>
              <a:rPr lang="zh-CN" altLang="zh-CN" dirty="0"/>
              <a:t>）字母а</a:t>
            </a:r>
            <a:r>
              <a:rPr lang="zh-CN" altLang="en-US" dirty="0"/>
              <a:t>（</a:t>
            </a:r>
            <a:r>
              <a:rPr lang="az-Cyrl-AZ" altLang="zh-CN" dirty="0"/>
              <a:t>о</a:t>
            </a:r>
            <a:r>
              <a:rPr lang="zh-CN" altLang="en-US" dirty="0"/>
              <a:t>）</a:t>
            </a:r>
            <a:r>
              <a:rPr lang="zh-CN" altLang="zh-CN" dirty="0"/>
              <a:t>或俄文字母а</a:t>
            </a:r>
            <a:r>
              <a:rPr lang="zh-CN" altLang="en-US" dirty="0"/>
              <a:t> （</a:t>
            </a:r>
            <a:r>
              <a:rPr lang="az-Cyrl-AZ" altLang="zh-CN" dirty="0"/>
              <a:t>о</a:t>
            </a:r>
            <a:r>
              <a:rPr lang="zh-CN" altLang="en-US" dirty="0"/>
              <a:t>）</a:t>
            </a:r>
          </a:p>
        </p:txBody>
      </p:sp>
      <p:sp>
        <p:nvSpPr>
          <p:cNvPr id="3" name="标题 2"/>
          <p:cNvSpPr>
            <a:spLocks noGrp="1"/>
          </p:cNvSpPr>
          <p:nvPr>
            <p:ph type="title"/>
          </p:nvPr>
        </p:nvSpPr>
        <p:spPr/>
        <p:txBody>
          <a:bodyPr/>
          <a:lstStyle/>
          <a:p>
            <a:r>
              <a:rPr lang="zh-CN" altLang="en-US" dirty="0"/>
              <a:t>一、伪装</a:t>
            </a:r>
          </a:p>
        </p:txBody>
      </p:sp>
      <p:pic>
        <p:nvPicPr>
          <p:cNvPr id="7" name="图片 6"/>
          <p:cNvPicPr>
            <a:picLocks noChangeAspect="1"/>
          </p:cNvPicPr>
          <p:nvPr/>
        </p:nvPicPr>
        <p:blipFill>
          <a:blip r:embed="rId3"/>
          <a:stretch>
            <a:fillRect/>
          </a:stretch>
        </p:blipFill>
        <p:spPr>
          <a:xfrm>
            <a:off x="1150938" y="3014663"/>
            <a:ext cx="7017702" cy="3401378"/>
          </a:xfrm>
          <a:prstGeom prst="rect">
            <a:avLst/>
          </a:prstGeom>
        </p:spPr>
      </p:pic>
    </p:spTree>
    <p:extLst>
      <p:ext uri="{BB962C8B-B14F-4D97-AF65-F5344CB8AC3E}">
        <p14:creationId xmlns:p14="http://schemas.microsoft.com/office/powerpoint/2010/main" val="1707376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4052" y="1270503"/>
            <a:ext cx="7772400" cy="4114800"/>
          </a:xfrm>
        </p:spPr>
        <p:txBody>
          <a:bodyPr/>
          <a:lstStyle/>
          <a:p>
            <a:pPr>
              <a:spcBef>
                <a:spcPts val="0"/>
              </a:spcBef>
            </a:pPr>
            <a:r>
              <a:rPr lang="zh-CN" altLang="en-US" dirty="0"/>
              <a:t>伪装网站</a:t>
            </a:r>
            <a:r>
              <a:rPr lang="en-US" altLang="zh-CN" dirty="0"/>
              <a:t>URL</a:t>
            </a:r>
            <a:r>
              <a:rPr lang="zh-CN" altLang="en-US" dirty="0"/>
              <a:t>中常见字符</a:t>
            </a:r>
            <a:endParaRPr lang="en-US" altLang="zh-CN" dirty="0"/>
          </a:p>
          <a:p>
            <a:pPr lvl="1">
              <a:spcBef>
                <a:spcPts val="0"/>
              </a:spcBef>
            </a:pPr>
            <a:r>
              <a:rPr lang="zh-CN" altLang="zh-CN" dirty="0"/>
              <a:t>将大写英文字母</a:t>
            </a:r>
            <a:r>
              <a:rPr lang="en-US" altLang="zh-CN" dirty="0"/>
              <a:t>I</a:t>
            </a:r>
            <a:r>
              <a:rPr lang="zh-CN" altLang="zh-CN" dirty="0"/>
              <a:t>替换为数字</a:t>
            </a:r>
            <a:r>
              <a:rPr lang="en-US" altLang="zh-CN" dirty="0"/>
              <a:t>1 </a:t>
            </a:r>
          </a:p>
          <a:p>
            <a:pPr lvl="1">
              <a:spcBef>
                <a:spcPts val="0"/>
              </a:spcBef>
            </a:pPr>
            <a:r>
              <a:rPr lang="zh-CN" altLang="zh-CN" dirty="0"/>
              <a:t>将大写</a:t>
            </a:r>
            <a:r>
              <a:rPr lang="en-US" altLang="zh-CN" dirty="0"/>
              <a:t>Y</a:t>
            </a:r>
            <a:r>
              <a:rPr lang="zh-CN" altLang="zh-CN" dirty="0"/>
              <a:t>替换成大写字母</a:t>
            </a:r>
            <a:r>
              <a:rPr lang="en-US" altLang="zh-CN" dirty="0"/>
              <a:t>V</a:t>
            </a:r>
            <a:r>
              <a:rPr lang="zh-CN" altLang="zh-CN" dirty="0"/>
              <a:t>或反过来</a:t>
            </a:r>
            <a:endParaRPr lang="en-US" altLang="zh-CN" dirty="0"/>
          </a:p>
          <a:p>
            <a:pPr lvl="1">
              <a:spcBef>
                <a:spcPts val="0"/>
              </a:spcBef>
            </a:pPr>
            <a:r>
              <a:rPr lang="en-US" altLang="zh-CN" dirty="0"/>
              <a:t>2020</a:t>
            </a:r>
            <a:r>
              <a:rPr lang="zh-CN" altLang="en-US" dirty="0"/>
              <a:t>非冠疫情期间出现的：用</a:t>
            </a:r>
            <a:r>
              <a:rPr lang="en-US" altLang="zh-CN" dirty="0" err="1"/>
              <a:t>cclc</a:t>
            </a:r>
            <a:r>
              <a:rPr lang="zh-CN" altLang="en-US" dirty="0"/>
              <a:t>来伪装（美国）疾控中心（</a:t>
            </a:r>
            <a:r>
              <a:rPr lang="en-US" altLang="zh-CN" dirty="0"/>
              <a:t>center for disease control</a:t>
            </a:r>
            <a:r>
              <a:rPr lang="zh-CN" altLang="en-US" dirty="0"/>
              <a:t>）的简称</a:t>
            </a:r>
            <a:r>
              <a:rPr lang="en-US" altLang="zh-CN" dirty="0" err="1"/>
              <a:t>cdc</a:t>
            </a:r>
            <a:r>
              <a:rPr lang="zh-CN" altLang="en-US" dirty="0"/>
              <a:t>，主要用于伪装域名，如用</a:t>
            </a:r>
            <a:r>
              <a:rPr lang="en-US" altLang="zh-CN" dirty="0"/>
              <a:t>cclc.gov</a:t>
            </a:r>
            <a:r>
              <a:rPr lang="zh-CN" altLang="en-US" dirty="0"/>
              <a:t>伪装成</a:t>
            </a:r>
            <a:r>
              <a:rPr lang="en-US" altLang="zh-CN" dirty="0"/>
              <a:t>cdc.gov</a:t>
            </a:r>
          </a:p>
          <a:p>
            <a:pPr lvl="1">
              <a:spcBef>
                <a:spcPts val="0"/>
              </a:spcBef>
            </a:pPr>
            <a:endParaRPr lang="zh-CN" altLang="en-US" dirty="0"/>
          </a:p>
        </p:txBody>
      </p:sp>
      <p:sp>
        <p:nvSpPr>
          <p:cNvPr id="3" name="标题 2"/>
          <p:cNvSpPr>
            <a:spLocks noGrp="1"/>
          </p:cNvSpPr>
          <p:nvPr>
            <p:ph type="title"/>
          </p:nvPr>
        </p:nvSpPr>
        <p:spPr/>
        <p:txBody>
          <a:bodyPr/>
          <a:lstStyle/>
          <a:p>
            <a:r>
              <a:rPr lang="zh-CN" altLang="en-US" dirty="0"/>
              <a:t>一、伪装</a:t>
            </a:r>
          </a:p>
        </p:txBody>
      </p:sp>
    </p:spTree>
    <p:extLst>
      <p:ext uri="{BB962C8B-B14F-4D97-AF65-F5344CB8AC3E}">
        <p14:creationId xmlns:p14="http://schemas.microsoft.com/office/powerpoint/2010/main" val="3642766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01762"/>
            <a:ext cx="7772400" cy="4861877"/>
          </a:xfrm>
        </p:spPr>
        <p:txBody>
          <a:bodyPr/>
          <a:lstStyle/>
          <a:p>
            <a:pPr>
              <a:lnSpc>
                <a:spcPts val="4100"/>
              </a:lnSpc>
              <a:spcBef>
                <a:spcPts val="0"/>
              </a:spcBef>
            </a:pPr>
            <a:r>
              <a:rPr lang="zh-CN" altLang="zh-CN" dirty="0"/>
              <a:t>利用同一单词不同形式来迷惑受害者。</a:t>
            </a:r>
            <a:endParaRPr lang="en-US" altLang="zh-CN" dirty="0"/>
          </a:p>
          <a:p>
            <a:pPr lvl="1">
              <a:lnSpc>
                <a:spcPts val="4100"/>
              </a:lnSpc>
              <a:spcBef>
                <a:spcPts val="0"/>
              </a:spcBef>
            </a:pPr>
            <a:r>
              <a:rPr lang="en-US" altLang="zh-CN" sz="2400" dirty="0"/>
              <a:t>2018</a:t>
            </a:r>
            <a:r>
              <a:rPr lang="zh-CN" altLang="zh-CN" sz="2400" dirty="0"/>
              <a:t>年，安全研究人员在</a:t>
            </a:r>
            <a:r>
              <a:rPr lang="en-US" altLang="zh-CN" sz="2400" dirty="0"/>
              <a:t>Python</a:t>
            </a:r>
            <a:r>
              <a:rPr lang="zh-CN" altLang="zh-CN" sz="2400" dirty="0"/>
              <a:t>软件库中发现了一个名为“</a:t>
            </a:r>
            <a:r>
              <a:rPr lang="en-US" altLang="zh-CN" sz="2400" dirty="0" err="1"/>
              <a:t>Colourama</a:t>
            </a:r>
            <a:r>
              <a:rPr lang="zh-CN" altLang="zh-CN" sz="2400" dirty="0"/>
              <a:t>”的盗窃加密货币的恶意</a:t>
            </a:r>
            <a:r>
              <a:rPr lang="en-US" altLang="zh-CN" sz="2400" dirty="0"/>
              <a:t>Python</a:t>
            </a:r>
            <a:r>
              <a:rPr lang="zh-CN" altLang="zh-CN" sz="2400" dirty="0"/>
              <a:t>软件包，它仿冒的是</a:t>
            </a:r>
            <a:r>
              <a:rPr lang="en-US" altLang="zh-CN" sz="2400" dirty="0"/>
              <a:t>Python</a:t>
            </a:r>
            <a:r>
              <a:rPr lang="zh-CN" altLang="zh-CN" sz="2400" dirty="0"/>
              <a:t>软件库中下载排名前</a:t>
            </a:r>
            <a:r>
              <a:rPr lang="en-US" altLang="zh-CN" sz="2400" dirty="0"/>
              <a:t>20</a:t>
            </a:r>
            <a:r>
              <a:rPr lang="zh-CN" altLang="zh-CN" sz="2400" dirty="0"/>
              <a:t>的软件包“</a:t>
            </a:r>
            <a:r>
              <a:rPr lang="en-US" altLang="zh-CN" sz="2400" dirty="0" err="1"/>
              <a:t>Colorama</a:t>
            </a:r>
            <a:r>
              <a:rPr lang="zh-CN" altLang="zh-CN" sz="2400" dirty="0"/>
              <a:t>”。恶意包名称中的“</a:t>
            </a:r>
            <a:r>
              <a:rPr lang="en-US" altLang="zh-CN" sz="2400" dirty="0"/>
              <a:t>Colour</a:t>
            </a:r>
            <a:r>
              <a:rPr lang="zh-CN" altLang="zh-CN" sz="2400" dirty="0"/>
              <a:t>”与被仿冒的</a:t>
            </a:r>
            <a:r>
              <a:rPr lang="en-US" altLang="zh-CN" sz="2400" dirty="0"/>
              <a:t>Python</a:t>
            </a:r>
            <a:r>
              <a:rPr lang="zh-CN" altLang="zh-CN" sz="2400" dirty="0"/>
              <a:t>包名称中的“</a:t>
            </a:r>
            <a:r>
              <a:rPr lang="en-US" altLang="zh-CN" sz="2400" dirty="0"/>
              <a:t>Color</a:t>
            </a:r>
            <a:r>
              <a:rPr lang="zh-CN" altLang="zh-CN" sz="2400" dirty="0"/>
              <a:t>”的意思是一样的，只差一个字母，很具有迷惑性。尽管该恶意</a:t>
            </a:r>
            <a:r>
              <a:rPr lang="en-US" altLang="zh-CN" sz="2400" dirty="0"/>
              <a:t>Python</a:t>
            </a:r>
            <a:r>
              <a:rPr lang="zh-CN" altLang="zh-CN" sz="2400" dirty="0"/>
              <a:t>包上线不久就被发现，但在被发现之前还是有</a:t>
            </a:r>
            <a:r>
              <a:rPr lang="en-US" altLang="zh-CN" sz="2400" dirty="0"/>
              <a:t>151</a:t>
            </a:r>
            <a:r>
              <a:rPr lang="zh-CN" altLang="zh-CN" sz="2400" dirty="0"/>
              <a:t>个用户已经下载了该软件包</a:t>
            </a:r>
            <a:endParaRPr lang="zh-CN" altLang="en-US" sz="2400" dirty="0"/>
          </a:p>
        </p:txBody>
      </p:sp>
      <p:sp>
        <p:nvSpPr>
          <p:cNvPr id="3" name="标题 2"/>
          <p:cNvSpPr>
            <a:spLocks noGrp="1"/>
          </p:cNvSpPr>
          <p:nvPr>
            <p:ph type="title"/>
          </p:nvPr>
        </p:nvSpPr>
        <p:spPr/>
        <p:txBody>
          <a:bodyPr/>
          <a:lstStyle/>
          <a:p>
            <a:r>
              <a:rPr lang="zh-CN" altLang="en-US" dirty="0"/>
              <a:t>一、伪装</a:t>
            </a:r>
          </a:p>
        </p:txBody>
      </p:sp>
    </p:spTree>
    <p:extLst>
      <p:ext uri="{BB962C8B-B14F-4D97-AF65-F5344CB8AC3E}">
        <p14:creationId xmlns:p14="http://schemas.microsoft.com/office/powerpoint/2010/main" val="64175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147B878-7DE7-4BDD-B48D-C7C282094492}"/>
              </a:ext>
            </a:extLst>
          </p:cNvPr>
          <p:cNvSpPr>
            <a:spLocks noGrp="1"/>
          </p:cNvSpPr>
          <p:nvPr>
            <p:ph idx="1"/>
          </p:nvPr>
        </p:nvSpPr>
        <p:spPr>
          <a:xfrm>
            <a:off x="685800" y="1371600"/>
            <a:ext cx="7772400" cy="4114800"/>
          </a:xfrm>
        </p:spPr>
        <p:txBody>
          <a:bodyPr/>
          <a:lstStyle/>
          <a:p>
            <a:r>
              <a:rPr lang="zh-CN" altLang="en-US" dirty="0"/>
              <a:t>伪装网站</a:t>
            </a:r>
            <a:r>
              <a:rPr lang="en-US" altLang="zh-CN" dirty="0"/>
              <a:t>URL</a:t>
            </a:r>
            <a:r>
              <a:rPr lang="zh-CN" altLang="en-US" dirty="0"/>
              <a:t>中常见字符</a:t>
            </a:r>
            <a:endParaRPr lang="en-US" altLang="zh-CN" dirty="0"/>
          </a:p>
          <a:p>
            <a:pPr lvl="1"/>
            <a:r>
              <a:rPr lang="zh-CN" altLang="en-US" dirty="0"/>
              <a:t>用</a:t>
            </a:r>
            <a:r>
              <a:rPr lang="en-US" altLang="zh-CN" dirty="0"/>
              <a:t>ASCII</a:t>
            </a:r>
            <a:r>
              <a:rPr lang="zh-CN" altLang="en-US" dirty="0"/>
              <a:t>码代替可见字符</a:t>
            </a:r>
          </a:p>
        </p:txBody>
      </p:sp>
      <p:sp>
        <p:nvSpPr>
          <p:cNvPr id="3" name="标题 2">
            <a:extLst>
              <a:ext uri="{FF2B5EF4-FFF2-40B4-BE49-F238E27FC236}">
                <a16:creationId xmlns:a16="http://schemas.microsoft.com/office/drawing/2014/main" id="{F4FE3871-88E9-4D77-8EFB-4736870357AD}"/>
              </a:ext>
            </a:extLst>
          </p:cNvPr>
          <p:cNvSpPr>
            <a:spLocks noGrp="1"/>
          </p:cNvSpPr>
          <p:nvPr>
            <p:ph type="title"/>
          </p:nvPr>
        </p:nvSpPr>
        <p:spPr/>
        <p:txBody>
          <a:bodyPr/>
          <a:lstStyle/>
          <a:p>
            <a:r>
              <a:rPr lang="zh-CN" altLang="en-US" dirty="0"/>
              <a:t>一、伪装</a:t>
            </a:r>
          </a:p>
        </p:txBody>
      </p:sp>
      <p:pic>
        <p:nvPicPr>
          <p:cNvPr id="4" name="图片 3">
            <a:extLst>
              <a:ext uri="{FF2B5EF4-FFF2-40B4-BE49-F238E27FC236}">
                <a16:creationId xmlns:a16="http://schemas.microsoft.com/office/drawing/2014/main" id="{E6B0029B-8C3A-42E7-9AFD-574530C08627}"/>
              </a:ext>
            </a:extLst>
          </p:cNvPr>
          <p:cNvPicPr>
            <a:picLocks noChangeAspect="1"/>
          </p:cNvPicPr>
          <p:nvPr/>
        </p:nvPicPr>
        <p:blipFill>
          <a:blip r:embed="rId3"/>
          <a:stretch>
            <a:fillRect/>
          </a:stretch>
        </p:blipFill>
        <p:spPr>
          <a:xfrm>
            <a:off x="1025062" y="2956906"/>
            <a:ext cx="7433138" cy="944187"/>
          </a:xfrm>
          <a:prstGeom prst="rect">
            <a:avLst/>
          </a:prstGeom>
        </p:spPr>
      </p:pic>
      <p:pic>
        <p:nvPicPr>
          <p:cNvPr id="5" name="图片 4">
            <a:extLst>
              <a:ext uri="{FF2B5EF4-FFF2-40B4-BE49-F238E27FC236}">
                <a16:creationId xmlns:a16="http://schemas.microsoft.com/office/drawing/2014/main" id="{71276602-D598-4542-8E8C-4FCB35A307F7}"/>
              </a:ext>
            </a:extLst>
          </p:cNvPr>
          <p:cNvPicPr>
            <a:picLocks noChangeAspect="1"/>
          </p:cNvPicPr>
          <p:nvPr/>
        </p:nvPicPr>
        <p:blipFill>
          <a:blip r:embed="rId4"/>
          <a:stretch>
            <a:fillRect/>
          </a:stretch>
        </p:blipFill>
        <p:spPr>
          <a:xfrm>
            <a:off x="1025062" y="2722936"/>
            <a:ext cx="2257425" cy="238125"/>
          </a:xfrm>
          <a:prstGeom prst="rect">
            <a:avLst/>
          </a:prstGeom>
          <a:ln>
            <a:solidFill>
              <a:srgbClr val="FF0000"/>
            </a:solidFill>
          </a:ln>
        </p:spPr>
      </p:pic>
      <p:pic>
        <p:nvPicPr>
          <p:cNvPr id="7" name="图片 6">
            <a:extLst>
              <a:ext uri="{FF2B5EF4-FFF2-40B4-BE49-F238E27FC236}">
                <a16:creationId xmlns:a16="http://schemas.microsoft.com/office/drawing/2014/main" id="{848ACA27-B831-45DA-B124-FE4DDCB06E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042506"/>
            <a:ext cx="9144000" cy="4271775"/>
          </a:xfrm>
          <a:prstGeom prst="rect">
            <a:avLst/>
          </a:prstGeom>
        </p:spPr>
      </p:pic>
      <p:sp>
        <p:nvSpPr>
          <p:cNvPr id="8" name="矩形: 圆角 7">
            <a:extLst>
              <a:ext uri="{FF2B5EF4-FFF2-40B4-BE49-F238E27FC236}">
                <a16:creationId xmlns:a16="http://schemas.microsoft.com/office/drawing/2014/main" id="{E7C26B0B-8DC6-48BD-994A-E07252413301}"/>
              </a:ext>
            </a:extLst>
          </p:cNvPr>
          <p:cNvSpPr/>
          <p:nvPr/>
        </p:nvSpPr>
        <p:spPr bwMode="auto">
          <a:xfrm>
            <a:off x="33251" y="5398525"/>
            <a:ext cx="8424949" cy="769554"/>
          </a:xfrm>
          <a:prstGeom prst="roundRect">
            <a:avLst/>
          </a:prstGeom>
          <a:noFill/>
          <a:ln w="1905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Tahoma" pitchFamily="34" charset="0"/>
              <a:ea typeface="宋体" charset="-122"/>
            </a:endParaRPr>
          </a:p>
        </p:txBody>
      </p:sp>
      <p:pic>
        <p:nvPicPr>
          <p:cNvPr id="10" name="图片 9">
            <a:extLst>
              <a:ext uri="{FF2B5EF4-FFF2-40B4-BE49-F238E27FC236}">
                <a16:creationId xmlns:a16="http://schemas.microsoft.com/office/drawing/2014/main" id="{42D0815B-0259-421E-9E89-E70192D55B1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57700" y="285404"/>
            <a:ext cx="4000500" cy="6334125"/>
          </a:xfrm>
          <a:prstGeom prst="rect">
            <a:avLst/>
          </a:prstGeom>
        </p:spPr>
      </p:pic>
    </p:spTree>
    <p:extLst>
      <p:ext uri="{BB962C8B-B14F-4D97-AF65-F5344CB8AC3E}">
        <p14:creationId xmlns:p14="http://schemas.microsoft.com/office/powerpoint/2010/main" val="4035190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0.70"/>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1000" fill="hold"/>
                                        <p:tgtEl>
                                          <p:spTgt spid="10"/>
                                        </p:tgtEl>
                                        <p:attrNameLst>
                                          <p:attrName>ppt_w</p:attrName>
                                        </p:attrNameLst>
                                      </p:cBhvr>
                                      <p:tavLst>
                                        <p:tav tm="0">
                                          <p:val>
                                            <p:strVal val="#ppt_w*0.70"/>
                                          </p:val>
                                        </p:tav>
                                        <p:tav tm="100000">
                                          <p:val>
                                            <p:strVal val="#ppt_w"/>
                                          </p:val>
                                        </p:tav>
                                      </p:tavLst>
                                    </p:anim>
                                    <p:anim calcmode="lin" valueType="num">
                                      <p:cBhvr>
                                        <p:cTn id="20" dur="1000" fill="hold"/>
                                        <p:tgtEl>
                                          <p:spTgt spid="10"/>
                                        </p:tgtEl>
                                        <p:attrNameLst>
                                          <p:attrName>ppt_h</p:attrName>
                                        </p:attrNameLst>
                                      </p:cBhvr>
                                      <p:tavLst>
                                        <p:tav tm="0">
                                          <p:val>
                                            <p:strVal val="#ppt_h"/>
                                          </p:val>
                                        </p:tav>
                                        <p:tav tm="100000">
                                          <p:val>
                                            <p:strVal val="#ppt_h"/>
                                          </p:val>
                                        </p:tav>
                                      </p:tavLst>
                                    </p:anim>
                                    <p:animEffect transition="in" filter="fade">
                                      <p:cBhvr>
                                        <p:cTn id="2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3" y="1477963"/>
            <a:ext cx="7772400" cy="4114800"/>
          </a:xfrm>
        </p:spPr>
        <p:txBody>
          <a:bodyPr/>
          <a:lstStyle/>
          <a:p>
            <a:r>
              <a:rPr lang="zh-CN" altLang="zh-CN" dirty="0"/>
              <a:t>通过中奖、免费赠送礼品、有诱惑力的资料等内容，引诱用户打开网页、邮件及附件、短信里的网络链接等手段，实现木马的传播，进而控制用户的计算机；通过有奖调查、比赛投票、赠送礼品等手段，要求填写账号、密码、联系方式等信息，来收集用户的个人信息等</a:t>
            </a:r>
            <a:endParaRPr lang="zh-CN" altLang="en-US" dirty="0"/>
          </a:p>
        </p:txBody>
      </p:sp>
      <p:sp>
        <p:nvSpPr>
          <p:cNvPr id="3" name="标题 2"/>
          <p:cNvSpPr>
            <a:spLocks noGrp="1"/>
          </p:cNvSpPr>
          <p:nvPr>
            <p:ph type="title"/>
          </p:nvPr>
        </p:nvSpPr>
        <p:spPr/>
        <p:txBody>
          <a:bodyPr/>
          <a:lstStyle/>
          <a:p>
            <a:r>
              <a:rPr lang="zh-CN" altLang="en-US" dirty="0"/>
              <a:t>二、引诱</a:t>
            </a:r>
          </a:p>
        </p:txBody>
      </p:sp>
    </p:spTree>
    <p:extLst>
      <p:ext uri="{BB962C8B-B14F-4D97-AF65-F5344CB8AC3E}">
        <p14:creationId xmlns:p14="http://schemas.microsoft.com/office/powerpoint/2010/main" val="2057615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3" y="1477963"/>
            <a:ext cx="7772400" cy="4114800"/>
          </a:xfrm>
        </p:spPr>
        <p:txBody>
          <a:bodyPr/>
          <a:lstStyle/>
          <a:p>
            <a:r>
              <a:rPr lang="zh-CN" altLang="zh-CN" dirty="0"/>
              <a:t>大到</a:t>
            </a:r>
            <a:r>
              <a:rPr lang="en-US" altLang="zh-CN" dirty="0"/>
              <a:t>APT</a:t>
            </a:r>
            <a:r>
              <a:rPr lang="zh-CN" altLang="zh-CN" dirty="0"/>
              <a:t>组织，小到社会上一些小黑客、不法分子，大量利用</a:t>
            </a:r>
            <a:r>
              <a:rPr lang="zh-CN" altLang="zh-CN" dirty="0">
                <a:solidFill>
                  <a:srgbClr val="FF0000"/>
                </a:solidFill>
              </a:rPr>
              <a:t>热点事件作为诱饵文档</a:t>
            </a:r>
            <a:r>
              <a:rPr lang="zh-CN" altLang="zh-CN" dirty="0"/>
              <a:t>来实施社会工程攻击，如南海问题、中美贸易战、重大流行疾病、重大选举、战争等</a:t>
            </a:r>
            <a:endParaRPr lang="zh-CN" altLang="en-US" dirty="0"/>
          </a:p>
        </p:txBody>
      </p:sp>
      <p:sp>
        <p:nvSpPr>
          <p:cNvPr id="3" name="标题 2"/>
          <p:cNvSpPr>
            <a:spLocks noGrp="1"/>
          </p:cNvSpPr>
          <p:nvPr>
            <p:ph type="title"/>
          </p:nvPr>
        </p:nvSpPr>
        <p:spPr/>
        <p:txBody>
          <a:bodyPr/>
          <a:lstStyle/>
          <a:p>
            <a:r>
              <a:rPr lang="zh-CN" altLang="en-US" dirty="0"/>
              <a:t>二、引诱</a:t>
            </a:r>
          </a:p>
        </p:txBody>
      </p:sp>
    </p:spTree>
    <p:extLst>
      <p:ext uri="{BB962C8B-B14F-4D97-AF65-F5344CB8AC3E}">
        <p14:creationId xmlns:p14="http://schemas.microsoft.com/office/powerpoint/2010/main" val="35353736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58813" y="1873568"/>
            <a:ext cx="7772400" cy="3475990"/>
          </a:xfrm>
        </p:spPr>
      </p:pic>
      <p:sp>
        <p:nvSpPr>
          <p:cNvPr id="3" name="标题 2"/>
          <p:cNvSpPr>
            <a:spLocks noGrp="1"/>
          </p:cNvSpPr>
          <p:nvPr>
            <p:ph type="title"/>
          </p:nvPr>
        </p:nvSpPr>
        <p:spPr/>
        <p:txBody>
          <a:bodyPr/>
          <a:lstStyle/>
          <a:p>
            <a:r>
              <a:rPr lang="zh-CN" altLang="en-US" dirty="0"/>
              <a:t>二、引诱</a:t>
            </a:r>
          </a:p>
        </p:txBody>
      </p:sp>
    </p:spTree>
    <p:extLst>
      <p:ext uri="{BB962C8B-B14F-4D97-AF65-F5344CB8AC3E}">
        <p14:creationId xmlns:p14="http://schemas.microsoft.com/office/powerpoint/2010/main" val="2833893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3" y="1477963"/>
            <a:ext cx="7772400" cy="4114800"/>
          </a:xfrm>
        </p:spPr>
        <p:txBody>
          <a:bodyPr/>
          <a:lstStyle/>
          <a:p>
            <a:endParaRPr lang="zh-CN" altLang="en-US" dirty="0"/>
          </a:p>
        </p:txBody>
      </p:sp>
      <p:sp>
        <p:nvSpPr>
          <p:cNvPr id="3" name="标题 2"/>
          <p:cNvSpPr>
            <a:spLocks noGrp="1"/>
          </p:cNvSpPr>
          <p:nvPr>
            <p:ph type="title"/>
          </p:nvPr>
        </p:nvSpPr>
        <p:spPr/>
        <p:txBody>
          <a:bodyPr/>
          <a:lstStyle/>
          <a:p>
            <a:r>
              <a:rPr lang="zh-CN" altLang="en-US" dirty="0"/>
              <a:t>二、引诱</a:t>
            </a:r>
          </a:p>
        </p:txBody>
      </p:sp>
      <p:pic>
        <p:nvPicPr>
          <p:cNvPr id="4" name="Picture 2"/>
          <p:cNvPicPr/>
          <p:nvPr/>
        </p:nvPicPr>
        <p:blipFill>
          <a:blip r:embed="rId3" cstate="print"/>
          <a:srcRect/>
          <a:stretch>
            <a:fillRect/>
          </a:stretch>
        </p:blipFill>
        <p:spPr bwMode="auto">
          <a:xfrm>
            <a:off x="3582988" y="1254442"/>
            <a:ext cx="4817745" cy="5080635"/>
          </a:xfrm>
          <a:prstGeom prst="rect">
            <a:avLst/>
          </a:prstGeom>
          <a:noFill/>
          <a:ln w="9525">
            <a:noFill/>
            <a:miter lim="800000"/>
            <a:headEnd/>
            <a:tailEnd/>
          </a:ln>
          <a:effectLst/>
        </p:spPr>
      </p:pic>
      <p:pic>
        <p:nvPicPr>
          <p:cNvPr id="5" name="图片 4" descr="http://www.myhack58.com/Article/UploadPic/2016-7/2016711165446345.jpg?%BA%DA%B0%C9%B0%B2%C8%AB%CD%F8"/>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5973" y="2901873"/>
            <a:ext cx="2252028" cy="2041365"/>
          </a:xfrm>
          <a:prstGeom prst="rect">
            <a:avLst/>
          </a:prstGeom>
          <a:noFill/>
          <a:ln>
            <a:noFill/>
          </a:ln>
        </p:spPr>
      </p:pic>
    </p:spTree>
    <p:extLst>
      <p:ext uri="{BB962C8B-B14F-4D97-AF65-F5344CB8AC3E}">
        <p14:creationId xmlns:p14="http://schemas.microsoft.com/office/powerpoint/2010/main" val="87038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1" y="1249363"/>
            <a:ext cx="7772400" cy="4114800"/>
          </a:xfrm>
        </p:spPr>
        <p:txBody>
          <a:bodyPr/>
          <a:lstStyle/>
          <a:p>
            <a:r>
              <a:rPr lang="en-US" altLang="zh-CN" dirty="0"/>
              <a:t>2020.2</a:t>
            </a:r>
            <a:r>
              <a:rPr lang="zh-CN" altLang="en-US" dirty="0"/>
              <a:t>：</a:t>
            </a:r>
            <a:r>
              <a:rPr lang="en-US" altLang="zh-CN" dirty="0"/>
              <a:t>APT</a:t>
            </a:r>
            <a:r>
              <a:rPr lang="zh-CN" altLang="zh-CN" dirty="0"/>
              <a:t>组织利用肺炎疫情相关题材制作的钓鱼邮件</a:t>
            </a:r>
            <a:endParaRPr lang="zh-CN" altLang="en-US" dirty="0"/>
          </a:p>
        </p:txBody>
      </p:sp>
      <p:sp>
        <p:nvSpPr>
          <p:cNvPr id="3" name="标题 2"/>
          <p:cNvSpPr>
            <a:spLocks noGrp="1"/>
          </p:cNvSpPr>
          <p:nvPr>
            <p:ph type="title"/>
          </p:nvPr>
        </p:nvSpPr>
        <p:spPr/>
        <p:txBody>
          <a:bodyPr/>
          <a:lstStyle/>
          <a:p>
            <a:r>
              <a:rPr lang="zh-CN" altLang="en-US" dirty="0"/>
              <a:t>二、引诱</a:t>
            </a:r>
          </a:p>
        </p:txBody>
      </p:sp>
      <p:pic>
        <p:nvPicPr>
          <p:cNvPr id="4" name="图片 3"/>
          <p:cNvPicPr>
            <a:picLocks noChangeAspect="1"/>
          </p:cNvPicPr>
          <p:nvPr/>
        </p:nvPicPr>
        <p:blipFill>
          <a:blip r:embed="rId3"/>
          <a:stretch>
            <a:fillRect/>
          </a:stretch>
        </p:blipFill>
        <p:spPr>
          <a:xfrm>
            <a:off x="1014726" y="3493135"/>
            <a:ext cx="6999607" cy="1871028"/>
          </a:xfrm>
          <a:prstGeom prst="rect">
            <a:avLst/>
          </a:prstGeom>
          <a:ln>
            <a:solidFill>
              <a:srgbClr val="FF0000"/>
            </a:solidFill>
          </a:ln>
        </p:spPr>
      </p:pic>
      <p:pic>
        <p:nvPicPr>
          <p:cNvPr id="6" name="图片 5" descr="C:\Users\wlf\Documents\WeChat Files\fff413a\FileStorage\Temp\1c865a48c671c2f9003853e7473a75f0.jpg"/>
          <p:cNvPicPr/>
          <p:nvPr/>
        </p:nvPicPr>
        <p:blipFill>
          <a:blip r:embed="rId4">
            <a:extLst>
              <a:ext uri="{28A0092B-C50C-407E-A947-70E740481C1C}">
                <a14:useLocalDpi xmlns:a14="http://schemas.microsoft.com/office/drawing/2010/main" val="0"/>
              </a:ext>
            </a:extLst>
          </a:blip>
          <a:srcRect/>
          <a:stretch>
            <a:fillRect/>
          </a:stretch>
        </p:blipFill>
        <p:spPr bwMode="auto">
          <a:xfrm>
            <a:off x="1077593" y="2405697"/>
            <a:ext cx="6873875" cy="3613786"/>
          </a:xfrm>
          <a:prstGeom prst="rect">
            <a:avLst/>
          </a:prstGeom>
          <a:noFill/>
          <a:ln>
            <a:noFill/>
          </a:ln>
        </p:spPr>
      </p:pic>
    </p:spTree>
    <p:extLst>
      <p:ext uri="{BB962C8B-B14F-4D97-AF65-F5344CB8AC3E}">
        <p14:creationId xmlns:p14="http://schemas.microsoft.com/office/powerpoint/2010/main" val="1599432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1" y="1249363"/>
            <a:ext cx="7772400" cy="4114800"/>
          </a:xfrm>
        </p:spPr>
        <p:txBody>
          <a:bodyPr/>
          <a:lstStyle/>
          <a:p>
            <a:r>
              <a:rPr lang="en-US" altLang="zh-CN" dirty="0"/>
              <a:t>2020.2</a:t>
            </a:r>
            <a:r>
              <a:rPr lang="zh-CN" altLang="en-US" dirty="0"/>
              <a:t>：</a:t>
            </a:r>
            <a:r>
              <a:rPr lang="en-US" altLang="zh-CN" dirty="0"/>
              <a:t>APT</a:t>
            </a:r>
            <a:r>
              <a:rPr lang="zh-CN" altLang="zh-CN" dirty="0"/>
              <a:t>组织利用肺炎疫情相关题材制作的钓鱼邮件</a:t>
            </a:r>
            <a:endParaRPr lang="zh-CN" altLang="en-US" dirty="0"/>
          </a:p>
        </p:txBody>
      </p:sp>
      <p:sp>
        <p:nvSpPr>
          <p:cNvPr id="3" name="标题 2"/>
          <p:cNvSpPr>
            <a:spLocks noGrp="1"/>
          </p:cNvSpPr>
          <p:nvPr>
            <p:ph type="title"/>
          </p:nvPr>
        </p:nvSpPr>
        <p:spPr/>
        <p:txBody>
          <a:bodyPr/>
          <a:lstStyle/>
          <a:p>
            <a:r>
              <a:rPr lang="zh-CN" altLang="en-US" dirty="0"/>
              <a:t>二、引诱</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6531" y="2362200"/>
            <a:ext cx="6096000" cy="3855720"/>
          </a:xfrm>
          <a:prstGeom prst="rect">
            <a:avLst/>
          </a:prstGeom>
        </p:spPr>
      </p:pic>
      <p:pic>
        <p:nvPicPr>
          <p:cNvPr id="7" name="图片 6"/>
          <p:cNvPicPr>
            <a:picLocks noChangeAspect="1"/>
          </p:cNvPicPr>
          <p:nvPr/>
        </p:nvPicPr>
        <p:blipFill>
          <a:blip r:embed="rId4"/>
          <a:stretch>
            <a:fillRect/>
          </a:stretch>
        </p:blipFill>
        <p:spPr>
          <a:xfrm>
            <a:off x="1466531" y="5553075"/>
            <a:ext cx="5848350" cy="923925"/>
          </a:xfrm>
          <a:prstGeom prst="rect">
            <a:avLst/>
          </a:prstGeom>
          <a:ln>
            <a:solidFill>
              <a:srgbClr val="FF0000"/>
            </a:solidFill>
          </a:ln>
        </p:spPr>
      </p:pic>
    </p:spTree>
    <p:extLst>
      <p:ext uri="{BB962C8B-B14F-4D97-AF65-F5344CB8AC3E}">
        <p14:creationId xmlns:p14="http://schemas.microsoft.com/office/powerpoint/2010/main" val="9812580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1" y="1249363"/>
            <a:ext cx="7772400" cy="4114800"/>
          </a:xfrm>
        </p:spPr>
        <p:txBody>
          <a:bodyPr/>
          <a:lstStyle/>
          <a:p>
            <a:r>
              <a:rPr lang="en-US" altLang="zh-CN" dirty="0"/>
              <a:t>2020.7</a:t>
            </a:r>
            <a:r>
              <a:rPr lang="zh-CN" altLang="en-US" dirty="0"/>
              <a:t>：</a:t>
            </a:r>
            <a:r>
              <a:rPr lang="en-US" altLang="zh-CN" dirty="0"/>
              <a:t>APT</a:t>
            </a:r>
            <a:r>
              <a:rPr lang="zh-CN" altLang="zh-CN" dirty="0"/>
              <a:t>组织利用肺炎疫情相关题材制作的钓鱼邮件</a:t>
            </a:r>
            <a:endParaRPr lang="zh-CN" altLang="en-US" dirty="0"/>
          </a:p>
        </p:txBody>
      </p:sp>
      <p:sp>
        <p:nvSpPr>
          <p:cNvPr id="3" name="标题 2"/>
          <p:cNvSpPr>
            <a:spLocks noGrp="1"/>
          </p:cNvSpPr>
          <p:nvPr>
            <p:ph type="title"/>
          </p:nvPr>
        </p:nvSpPr>
        <p:spPr/>
        <p:txBody>
          <a:bodyPr/>
          <a:lstStyle/>
          <a:p>
            <a:r>
              <a:rPr lang="zh-CN" altLang="en-US" dirty="0"/>
              <a:t>二、引诱</a:t>
            </a:r>
          </a:p>
        </p:txBody>
      </p:sp>
      <p:pic>
        <p:nvPicPr>
          <p:cNvPr id="6" name="图片 5"/>
          <p:cNvPicPr>
            <a:picLocks noChangeAspect="1"/>
          </p:cNvPicPr>
          <p:nvPr/>
        </p:nvPicPr>
        <p:blipFill>
          <a:blip r:embed="rId3"/>
          <a:stretch>
            <a:fillRect/>
          </a:stretch>
        </p:blipFill>
        <p:spPr>
          <a:xfrm>
            <a:off x="643047" y="2215822"/>
            <a:ext cx="8169877" cy="4131058"/>
          </a:xfrm>
          <a:prstGeom prst="rect">
            <a:avLst/>
          </a:prstGeom>
          <a:ln>
            <a:solidFill>
              <a:srgbClr val="FF0000"/>
            </a:solidFill>
          </a:ln>
        </p:spPr>
      </p:pic>
      <p:pic>
        <p:nvPicPr>
          <p:cNvPr id="8" name="图片 7"/>
          <p:cNvPicPr>
            <a:picLocks noChangeAspect="1"/>
          </p:cNvPicPr>
          <p:nvPr/>
        </p:nvPicPr>
        <p:blipFill>
          <a:blip r:embed="rId4"/>
          <a:stretch>
            <a:fillRect/>
          </a:stretch>
        </p:blipFill>
        <p:spPr>
          <a:xfrm>
            <a:off x="1590783" y="1872922"/>
            <a:ext cx="5876925" cy="342900"/>
          </a:xfrm>
          <a:prstGeom prst="rect">
            <a:avLst/>
          </a:prstGeom>
          <a:ln>
            <a:solidFill>
              <a:srgbClr val="FF0000"/>
            </a:solidFill>
          </a:ln>
        </p:spPr>
      </p:pic>
    </p:spTree>
    <p:extLst>
      <p:ext uri="{BB962C8B-B14F-4D97-AF65-F5344CB8AC3E}">
        <p14:creationId xmlns:p14="http://schemas.microsoft.com/office/powerpoint/2010/main" val="2235026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par>
                                <p:cTn id="10" presetID="55"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strVal val="#ppt_w*0.70"/>
                                          </p:val>
                                        </p:tav>
                                        <p:tav tm="100000">
                                          <p:val>
                                            <p:strVal val="#ppt_w"/>
                                          </p:val>
                                        </p:tav>
                                      </p:tavLst>
                                    </p:anim>
                                    <p:anim calcmode="lin" valueType="num">
                                      <p:cBhvr>
                                        <p:cTn id="13" dur="1000" fill="hold"/>
                                        <p:tgtEl>
                                          <p:spTgt spid="6"/>
                                        </p:tgtEl>
                                        <p:attrNameLst>
                                          <p:attrName>ppt_h</p:attrName>
                                        </p:attrNameLst>
                                      </p:cBhvr>
                                      <p:tavLst>
                                        <p:tav tm="0">
                                          <p:val>
                                            <p:strVal val="#ppt_h"/>
                                          </p:val>
                                        </p:tav>
                                        <p:tav tm="100000">
                                          <p:val>
                                            <p:strVal val="#ppt_h"/>
                                          </p:val>
                                        </p:tav>
                                      </p:tavLst>
                                    </p:anim>
                                    <p:animEffect transition="in" filter="fade">
                                      <p:cBhvr>
                                        <p:cTn id="1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331" y="1249363"/>
            <a:ext cx="7772400" cy="4114800"/>
          </a:xfrm>
        </p:spPr>
        <p:txBody>
          <a:bodyPr/>
          <a:lstStyle/>
          <a:p>
            <a:r>
              <a:rPr lang="en-US" altLang="zh-CN" dirty="0"/>
              <a:t>2020.12</a:t>
            </a:r>
            <a:r>
              <a:rPr lang="zh-CN" altLang="en-US" dirty="0"/>
              <a:t>：节日</a:t>
            </a:r>
            <a:r>
              <a:rPr lang="zh-CN" altLang="zh-CN" dirty="0"/>
              <a:t>钓鱼邮件</a:t>
            </a:r>
            <a:endParaRPr lang="zh-CN" altLang="en-US" dirty="0"/>
          </a:p>
        </p:txBody>
      </p:sp>
      <p:sp>
        <p:nvSpPr>
          <p:cNvPr id="3" name="标题 2"/>
          <p:cNvSpPr>
            <a:spLocks noGrp="1"/>
          </p:cNvSpPr>
          <p:nvPr>
            <p:ph type="title"/>
          </p:nvPr>
        </p:nvSpPr>
        <p:spPr/>
        <p:txBody>
          <a:bodyPr/>
          <a:lstStyle/>
          <a:p>
            <a:r>
              <a:rPr lang="zh-CN" altLang="en-US" dirty="0"/>
              <a:t>二、引诱</a:t>
            </a:r>
          </a:p>
        </p:txBody>
      </p:sp>
      <p:pic>
        <p:nvPicPr>
          <p:cNvPr id="4" name="图片 3">
            <a:extLst>
              <a:ext uri="{FF2B5EF4-FFF2-40B4-BE49-F238E27FC236}">
                <a16:creationId xmlns:a16="http://schemas.microsoft.com/office/drawing/2014/main" id="{7637C338-F5A0-4326-B5AC-15B7D92BD114}"/>
              </a:ext>
            </a:extLst>
          </p:cNvPr>
          <p:cNvPicPr>
            <a:picLocks noChangeAspect="1"/>
          </p:cNvPicPr>
          <p:nvPr/>
        </p:nvPicPr>
        <p:blipFill>
          <a:blip r:embed="rId3"/>
          <a:stretch>
            <a:fillRect/>
          </a:stretch>
        </p:blipFill>
        <p:spPr>
          <a:xfrm>
            <a:off x="561829" y="2089179"/>
            <a:ext cx="7477125" cy="3876675"/>
          </a:xfrm>
          <a:prstGeom prst="rect">
            <a:avLst/>
          </a:prstGeom>
          <a:ln>
            <a:solidFill>
              <a:srgbClr val="FF0000"/>
            </a:solidFill>
          </a:ln>
        </p:spPr>
      </p:pic>
      <p:pic>
        <p:nvPicPr>
          <p:cNvPr id="7" name="图片 6">
            <a:extLst>
              <a:ext uri="{FF2B5EF4-FFF2-40B4-BE49-F238E27FC236}">
                <a16:creationId xmlns:a16="http://schemas.microsoft.com/office/drawing/2014/main" id="{E70DC5B7-3823-4650-AE14-78B700DD47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2878" y="2289693"/>
            <a:ext cx="6714286" cy="3914286"/>
          </a:xfrm>
          <a:prstGeom prst="rect">
            <a:avLst/>
          </a:prstGeom>
        </p:spPr>
      </p:pic>
      <p:pic>
        <p:nvPicPr>
          <p:cNvPr id="10" name="图片 9">
            <a:extLst>
              <a:ext uri="{FF2B5EF4-FFF2-40B4-BE49-F238E27FC236}">
                <a16:creationId xmlns:a16="http://schemas.microsoft.com/office/drawing/2014/main" id="{1BE40659-4C2F-4F0A-BCC3-8391D44295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941541"/>
            <a:ext cx="9144000" cy="3240000"/>
          </a:xfrm>
          <a:prstGeom prst="rect">
            <a:avLst/>
          </a:prstGeom>
          <a:ln>
            <a:solidFill>
              <a:srgbClr val="FF0000"/>
            </a:solidFill>
          </a:ln>
        </p:spPr>
      </p:pic>
    </p:spTree>
    <p:extLst>
      <p:ext uri="{BB962C8B-B14F-4D97-AF65-F5344CB8AC3E}">
        <p14:creationId xmlns:p14="http://schemas.microsoft.com/office/powerpoint/2010/main" val="696553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1000" fill="hold"/>
                                        <p:tgtEl>
                                          <p:spTgt spid="10"/>
                                        </p:tgtEl>
                                        <p:attrNameLst>
                                          <p:attrName>ppt_w</p:attrName>
                                        </p:attrNameLst>
                                      </p:cBhvr>
                                      <p:tavLst>
                                        <p:tav tm="0">
                                          <p:val>
                                            <p:strVal val="#ppt_w*0.70"/>
                                          </p:val>
                                        </p:tav>
                                        <p:tav tm="100000">
                                          <p:val>
                                            <p:strVal val="#ppt_w"/>
                                          </p:val>
                                        </p:tav>
                                      </p:tavLst>
                                    </p:anim>
                                    <p:anim calcmode="lin" valueType="num">
                                      <p:cBhvr>
                                        <p:cTn id="15" dur="1000" fill="hold"/>
                                        <p:tgtEl>
                                          <p:spTgt spid="10"/>
                                        </p:tgtEl>
                                        <p:attrNameLst>
                                          <p:attrName>ppt_h</p:attrName>
                                        </p:attrNameLst>
                                      </p:cBhvr>
                                      <p:tavLst>
                                        <p:tav tm="0">
                                          <p:val>
                                            <p:strVal val="#ppt_h"/>
                                          </p:val>
                                        </p:tav>
                                        <p:tav tm="100000">
                                          <p:val>
                                            <p:strVal val="#ppt_h"/>
                                          </p:val>
                                        </p:tav>
                                      </p:tavLst>
                                    </p:anim>
                                    <p:animEffect transition="in" filter="fade">
                                      <p:cBhvr>
                                        <p:cTn id="1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28E2E4F-D58F-4F98-82BF-4FF79ED7C5E6}"/>
              </a:ext>
            </a:extLst>
          </p:cNvPr>
          <p:cNvSpPr>
            <a:spLocks noGrp="1"/>
          </p:cNvSpPr>
          <p:nvPr>
            <p:ph idx="1"/>
          </p:nvPr>
        </p:nvSpPr>
        <p:spPr>
          <a:xfrm>
            <a:off x="492558" y="1371600"/>
            <a:ext cx="7772400" cy="4114800"/>
          </a:xfrm>
        </p:spPr>
        <p:txBody>
          <a:bodyPr/>
          <a:lstStyle/>
          <a:p>
            <a:r>
              <a:rPr lang="en-US" altLang="zh-CN" dirty="0"/>
              <a:t>2020.12</a:t>
            </a:r>
            <a:r>
              <a:rPr lang="zh-CN" altLang="en-US" dirty="0"/>
              <a:t>：节日</a:t>
            </a:r>
            <a:r>
              <a:rPr lang="zh-CN" altLang="zh-CN" dirty="0"/>
              <a:t>钓鱼邮件</a:t>
            </a:r>
            <a:endParaRPr lang="zh-CN" altLang="en-US" dirty="0"/>
          </a:p>
          <a:p>
            <a:endParaRPr lang="zh-CN" altLang="en-US" dirty="0"/>
          </a:p>
        </p:txBody>
      </p:sp>
      <p:sp>
        <p:nvSpPr>
          <p:cNvPr id="3" name="标题 2">
            <a:extLst>
              <a:ext uri="{FF2B5EF4-FFF2-40B4-BE49-F238E27FC236}">
                <a16:creationId xmlns:a16="http://schemas.microsoft.com/office/drawing/2014/main" id="{27FE6861-A28C-4DE4-B13F-7F0A3EAB5DE0}"/>
              </a:ext>
            </a:extLst>
          </p:cNvPr>
          <p:cNvSpPr>
            <a:spLocks noGrp="1"/>
          </p:cNvSpPr>
          <p:nvPr>
            <p:ph type="title"/>
          </p:nvPr>
        </p:nvSpPr>
        <p:spPr/>
        <p:txBody>
          <a:bodyPr/>
          <a:lstStyle/>
          <a:p>
            <a:r>
              <a:rPr lang="zh-CN" altLang="en-US" dirty="0"/>
              <a:t>二、引诱</a:t>
            </a:r>
          </a:p>
        </p:txBody>
      </p:sp>
      <p:pic>
        <p:nvPicPr>
          <p:cNvPr id="4" name="图片 3">
            <a:extLst>
              <a:ext uri="{FF2B5EF4-FFF2-40B4-BE49-F238E27FC236}">
                <a16:creationId xmlns:a16="http://schemas.microsoft.com/office/drawing/2014/main" id="{74BB25B8-3BF7-4770-823D-6D83634446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54" y="2257389"/>
            <a:ext cx="8977746" cy="4271775"/>
          </a:xfrm>
          <a:prstGeom prst="rect">
            <a:avLst/>
          </a:prstGeom>
        </p:spPr>
      </p:pic>
      <p:pic>
        <p:nvPicPr>
          <p:cNvPr id="5" name="图片 4">
            <a:extLst>
              <a:ext uri="{FF2B5EF4-FFF2-40B4-BE49-F238E27FC236}">
                <a16:creationId xmlns:a16="http://schemas.microsoft.com/office/drawing/2014/main" id="{5C6818E4-F987-442B-B312-DE96193E813F}"/>
              </a:ext>
            </a:extLst>
          </p:cNvPr>
          <p:cNvPicPr>
            <a:picLocks noChangeAspect="1"/>
          </p:cNvPicPr>
          <p:nvPr/>
        </p:nvPicPr>
        <p:blipFill>
          <a:blip r:embed="rId4"/>
          <a:stretch>
            <a:fillRect/>
          </a:stretch>
        </p:blipFill>
        <p:spPr>
          <a:xfrm>
            <a:off x="2736964" y="1987514"/>
            <a:ext cx="6207011" cy="788937"/>
          </a:xfrm>
          <a:prstGeom prst="rect">
            <a:avLst/>
          </a:prstGeom>
          <a:ln>
            <a:solidFill>
              <a:srgbClr val="FF0000"/>
            </a:solidFill>
          </a:ln>
        </p:spPr>
      </p:pic>
      <p:pic>
        <p:nvPicPr>
          <p:cNvPr id="7" name="图片 6">
            <a:extLst>
              <a:ext uri="{FF2B5EF4-FFF2-40B4-BE49-F238E27FC236}">
                <a16:creationId xmlns:a16="http://schemas.microsoft.com/office/drawing/2014/main" id="{5417C4CC-EB8E-47DD-A4FC-16C319427C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76400" y="1619214"/>
            <a:ext cx="5791200" cy="4752975"/>
          </a:xfrm>
          <a:prstGeom prst="rect">
            <a:avLst/>
          </a:prstGeom>
        </p:spPr>
      </p:pic>
    </p:spTree>
    <p:extLst>
      <p:ext uri="{BB962C8B-B14F-4D97-AF65-F5344CB8AC3E}">
        <p14:creationId xmlns:p14="http://schemas.microsoft.com/office/powerpoint/2010/main" val="179981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par>
                                <p:cTn id="10" presetID="55"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1000" fill="hold"/>
                                        <p:tgtEl>
                                          <p:spTgt spid="5"/>
                                        </p:tgtEl>
                                        <p:attrNameLst>
                                          <p:attrName>ppt_w</p:attrName>
                                        </p:attrNameLst>
                                      </p:cBhvr>
                                      <p:tavLst>
                                        <p:tav tm="0">
                                          <p:val>
                                            <p:strVal val="#ppt_w*0.70"/>
                                          </p:val>
                                        </p:tav>
                                        <p:tav tm="100000">
                                          <p:val>
                                            <p:strVal val="#ppt_w"/>
                                          </p:val>
                                        </p:tav>
                                      </p:tavLst>
                                    </p:anim>
                                    <p:anim calcmode="lin" valueType="num">
                                      <p:cBhvr>
                                        <p:cTn id="13" dur="1000" fill="hold"/>
                                        <p:tgtEl>
                                          <p:spTgt spid="5"/>
                                        </p:tgtEl>
                                        <p:attrNameLst>
                                          <p:attrName>ppt_h</p:attrName>
                                        </p:attrNameLst>
                                      </p:cBhvr>
                                      <p:tavLst>
                                        <p:tav tm="0">
                                          <p:val>
                                            <p:strVal val="#ppt_h"/>
                                          </p:val>
                                        </p:tav>
                                        <p:tav tm="100000">
                                          <p:val>
                                            <p:strVal val="#ppt_h"/>
                                          </p:val>
                                        </p:tav>
                                      </p:tavLst>
                                    </p:anim>
                                    <p:animEffect transition="in" filter="fade">
                                      <p:cBhvr>
                                        <p:cTn id="14" dur="10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strVal val="#ppt_w*0.70"/>
                                          </p:val>
                                        </p:tav>
                                        <p:tav tm="100000">
                                          <p:val>
                                            <p:strVal val="#ppt_w"/>
                                          </p:val>
                                        </p:tav>
                                      </p:tavLst>
                                    </p:anim>
                                    <p:anim calcmode="lin" valueType="num">
                                      <p:cBhvr>
                                        <p:cTn id="20" dur="1000" fill="hold"/>
                                        <p:tgtEl>
                                          <p:spTgt spid="7"/>
                                        </p:tgtEl>
                                        <p:attrNameLst>
                                          <p:attrName>ppt_h</p:attrName>
                                        </p:attrNameLst>
                                      </p:cBhvr>
                                      <p:tavLst>
                                        <p:tav tm="0">
                                          <p:val>
                                            <p:strVal val="#ppt_h"/>
                                          </p:val>
                                        </p:tav>
                                        <p:tav tm="100000">
                                          <p:val>
                                            <p:strVal val="#ppt_h"/>
                                          </p:val>
                                        </p:tav>
                                      </p:tavLst>
                                    </p:anim>
                                    <p:animEffect transition="in" filter="fade">
                                      <p:cBhvr>
                                        <p:cTn id="2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32242"/>
            <a:ext cx="7555547" cy="4678997"/>
          </a:xfrm>
        </p:spPr>
        <p:txBody>
          <a:bodyPr/>
          <a:lstStyle/>
          <a:p>
            <a:r>
              <a:rPr lang="zh-CN" altLang="zh-CN" dirty="0"/>
              <a:t>利用人们对安全、漏洞、病毒、木马、黑客等内容的敏感性，以权威机构或系统管理员的面目出现，散布诸如安全警告、系统风险之类的信息，使用危言耸听的伎俩恐吓欺骗计算机用户，下载安全防护软件、漏洞补丁，或执行系统升级、更改口令等，进而控制用户的计算机或网络应用账户等</a:t>
            </a:r>
            <a:endParaRPr lang="zh-CN" altLang="en-US" dirty="0"/>
          </a:p>
        </p:txBody>
      </p:sp>
      <p:sp>
        <p:nvSpPr>
          <p:cNvPr id="3" name="标题 2"/>
          <p:cNvSpPr>
            <a:spLocks noGrp="1"/>
          </p:cNvSpPr>
          <p:nvPr>
            <p:ph type="title"/>
          </p:nvPr>
        </p:nvSpPr>
        <p:spPr/>
        <p:txBody>
          <a:bodyPr/>
          <a:lstStyle/>
          <a:p>
            <a:r>
              <a:rPr lang="zh-CN" altLang="en-US" dirty="0"/>
              <a:t>三、恐吓</a:t>
            </a:r>
          </a:p>
        </p:txBody>
      </p:sp>
    </p:spTree>
    <p:extLst>
      <p:ext uri="{BB962C8B-B14F-4D97-AF65-F5344CB8AC3E}">
        <p14:creationId xmlns:p14="http://schemas.microsoft.com/office/powerpoint/2010/main" val="38704019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7238" y="1264602"/>
            <a:ext cx="7555547" cy="4678997"/>
          </a:xfrm>
        </p:spPr>
        <p:txBody>
          <a:bodyPr/>
          <a:lstStyle/>
          <a:p>
            <a:r>
              <a:rPr lang="en-US" altLang="zh-CN" dirty="0"/>
              <a:t>2016.3.19</a:t>
            </a:r>
            <a:r>
              <a:rPr lang="zh-CN" altLang="en-US" dirty="0"/>
              <a:t>：</a:t>
            </a:r>
            <a:r>
              <a:rPr lang="zh-CN" altLang="zh-CN" dirty="0"/>
              <a:t>希拉里竞选团队主席</a:t>
            </a:r>
            <a:r>
              <a:rPr lang="en-US" altLang="zh-CN" dirty="0"/>
              <a:t>John Podesta</a:t>
            </a:r>
            <a:r>
              <a:rPr lang="zh-CN" altLang="zh-CN" dirty="0"/>
              <a:t>收到的钓鱼邮件</a:t>
            </a:r>
            <a:endParaRPr lang="zh-CN" altLang="en-US" dirty="0"/>
          </a:p>
        </p:txBody>
      </p:sp>
      <p:sp>
        <p:nvSpPr>
          <p:cNvPr id="3" name="标题 2"/>
          <p:cNvSpPr>
            <a:spLocks noGrp="1"/>
          </p:cNvSpPr>
          <p:nvPr>
            <p:ph type="title"/>
          </p:nvPr>
        </p:nvSpPr>
        <p:spPr/>
        <p:txBody>
          <a:bodyPr/>
          <a:lstStyle/>
          <a:p>
            <a:r>
              <a:rPr lang="zh-CN" altLang="en-US" dirty="0"/>
              <a:t>三、恐吓</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bwMode="auto">
          <a:xfrm>
            <a:off x="885666" y="2408554"/>
            <a:ext cx="7437119" cy="4063682"/>
          </a:xfrm>
          <a:prstGeom prst="rect">
            <a:avLst/>
          </a:prstGeom>
          <a:noFill/>
        </p:spPr>
      </p:pic>
    </p:spTree>
    <p:extLst>
      <p:ext uri="{BB962C8B-B14F-4D97-AF65-F5344CB8AC3E}">
        <p14:creationId xmlns:p14="http://schemas.microsoft.com/office/powerpoint/2010/main" val="38336927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7238" y="1264602"/>
            <a:ext cx="7555547" cy="4678997"/>
          </a:xfrm>
        </p:spPr>
        <p:txBody>
          <a:bodyPr/>
          <a:lstStyle/>
          <a:p>
            <a:r>
              <a:rPr lang="zh-CN" altLang="zh-CN" dirty="0"/>
              <a:t>假冒网易邮箱管理员的身份给用户发送的安全告警邮件</a:t>
            </a:r>
            <a:endParaRPr lang="zh-CN" altLang="en-US" dirty="0"/>
          </a:p>
        </p:txBody>
      </p:sp>
      <p:sp>
        <p:nvSpPr>
          <p:cNvPr id="3" name="标题 2"/>
          <p:cNvSpPr>
            <a:spLocks noGrp="1"/>
          </p:cNvSpPr>
          <p:nvPr>
            <p:ph type="title"/>
          </p:nvPr>
        </p:nvSpPr>
        <p:spPr/>
        <p:txBody>
          <a:bodyPr/>
          <a:lstStyle/>
          <a:p>
            <a:r>
              <a:rPr lang="zh-CN" altLang="en-US" dirty="0"/>
              <a:t>三、恐吓</a:t>
            </a:r>
          </a:p>
        </p:txBody>
      </p:sp>
      <p:pic>
        <p:nvPicPr>
          <p:cNvPr id="5" name="图片 4">
            <a:extLst>
              <a:ext uri="{FF2B5EF4-FFF2-40B4-BE49-F238E27FC236}">
                <a16:creationId xmlns:a16="http://schemas.microsoft.com/office/drawing/2014/main" id="{E5137148-6A77-499F-9FC6-1EC2E51493CB}"/>
              </a:ext>
            </a:extLst>
          </p:cNvPr>
          <p:cNvPicPr/>
          <p:nvPr/>
        </p:nvPicPr>
        <p:blipFill>
          <a:blip r:embed="rId2" cstate="print"/>
          <a:stretch>
            <a:fillRect/>
          </a:stretch>
        </p:blipFill>
        <p:spPr>
          <a:xfrm>
            <a:off x="1021080" y="2453640"/>
            <a:ext cx="6827519" cy="3652836"/>
          </a:xfrm>
          <a:prstGeom prst="rect">
            <a:avLst/>
          </a:prstGeom>
        </p:spPr>
      </p:pic>
    </p:spTree>
    <p:extLst>
      <p:ext uri="{BB962C8B-B14F-4D97-AF65-F5344CB8AC3E}">
        <p14:creationId xmlns:p14="http://schemas.microsoft.com/office/powerpoint/2010/main" val="2076407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7238" y="1264602"/>
            <a:ext cx="7555547" cy="4678997"/>
          </a:xfrm>
        </p:spPr>
        <p:txBody>
          <a:bodyPr/>
          <a:lstStyle/>
          <a:p>
            <a:r>
              <a:rPr lang="zh-CN" altLang="zh-CN" dirty="0"/>
              <a:t>假冒网易邮箱管理员的身份给用户发送的安全告警邮件</a:t>
            </a:r>
            <a:endParaRPr lang="zh-CN" altLang="en-US" dirty="0"/>
          </a:p>
        </p:txBody>
      </p:sp>
      <p:sp>
        <p:nvSpPr>
          <p:cNvPr id="3" name="标题 2"/>
          <p:cNvSpPr>
            <a:spLocks noGrp="1"/>
          </p:cNvSpPr>
          <p:nvPr>
            <p:ph type="title"/>
          </p:nvPr>
        </p:nvSpPr>
        <p:spPr/>
        <p:txBody>
          <a:bodyPr/>
          <a:lstStyle/>
          <a:p>
            <a:r>
              <a:rPr lang="zh-CN" altLang="en-US" dirty="0"/>
              <a:t>三、恐吓</a:t>
            </a:r>
          </a:p>
        </p:txBody>
      </p:sp>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1150938" y="2425382"/>
            <a:ext cx="6859270" cy="3681094"/>
          </a:xfrm>
          <a:prstGeom prst="rect">
            <a:avLst/>
          </a:prstGeom>
          <a:noFill/>
          <a:ln>
            <a:noFill/>
          </a:ln>
        </p:spPr>
      </p:pic>
    </p:spTree>
    <p:extLst>
      <p:ext uri="{BB962C8B-B14F-4D97-AF65-F5344CB8AC3E}">
        <p14:creationId xmlns:p14="http://schemas.microsoft.com/office/powerpoint/2010/main" val="24861543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67238" y="1264602"/>
            <a:ext cx="7555547" cy="4678997"/>
          </a:xfrm>
        </p:spPr>
        <p:txBody>
          <a:bodyPr/>
          <a:lstStyle/>
          <a:p>
            <a:r>
              <a:rPr lang="zh-CN" altLang="zh-CN" dirty="0"/>
              <a:t>假冒网易邮箱管理员的身份给用户发送的安全告警邮件</a:t>
            </a:r>
            <a:endParaRPr lang="zh-CN" altLang="en-US" dirty="0"/>
          </a:p>
        </p:txBody>
      </p:sp>
      <p:sp>
        <p:nvSpPr>
          <p:cNvPr id="3" name="标题 2"/>
          <p:cNvSpPr>
            <a:spLocks noGrp="1"/>
          </p:cNvSpPr>
          <p:nvPr>
            <p:ph type="title"/>
          </p:nvPr>
        </p:nvSpPr>
        <p:spPr/>
        <p:txBody>
          <a:bodyPr/>
          <a:lstStyle/>
          <a:p>
            <a:r>
              <a:rPr lang="zh-CN" altLang="en-US" dirty="0"/>
              <a:t>三、恐吓</a:t>
            </a:r>
          </a:p>
        </p:txBody>
      </p:sp>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1324609" y="2580956"/>
            <a:ext cx="6998175" cy="3728404"/>
          </a:xfrm>
          <a:prstGeom prst="rect">
            <a:avLst/>
          </a:prstGeom>
          <a:noFill/>
          <a:ln>
            <a:noFill/>
          </a:ln>
        </p:spPr>
      </p:pic>
    </p:spTree>
    <p:extLst>
      <p:ext uri="{BB962C8B-B14F-4D97-AF65-F5344CB8AC3E}">
        <p14:creationId xmlns:p14="http://schemas.microsoft.com/office/powerpoint/2010/main" val="3656024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D3B0A26-2E12-44B8-9C6D-EFE022172E05}"/>
              </a:ext>
            </a:extLst>
          </p:cNvPr>
          <p:cNvSpPr>
            <a:spLocks noGrp="1"/>
          </p:cNvSpPr>
          <p:nvPr>
            <p:ph idx="1"/>
          </p:nvPr>
        </p:nvSpPr>
        <p:spPr>
          <a:xfrm>
            <a:off x="685800" y="1371600"/>
            <a:ext cx="7772400" cy="4114800"/>
          </a:xfrm>
        </p:spPr>
        <p:txBody>
          <a:bodyPr/>
          <a:lstStyle/>
          <a:p>
            <a:r>
              <a:rPr lang="zh-CN" altLang="en-US" dirty="0"/>
              <a:t>假冒邮件服务器软件开发团队</a:t>
            </a:r>
          </a:p>
        </p:txBody>
      </p:sp>
      <p:sp>
        <p:nvSpPr>
          <p:cNvPr id="3" name="标题 2">
            <a:extLst>
              <a:ext uri="{FF2B5EF4-FFF2-40B4-BE49-F238E27FC236}">
                <a16:creationId xmlns:a16="http://schemas.microsoft.com/office/drawing/2014/main" id="{87557175-78E8-4158-86D7-D15EC673DFD2}"/>
              </a:ext>
            </a:extLst>
          </p:cNvPr>
          <p:cNvSpPr>
            <a:spLocks noGrp="1"/>
          </p:cNvSpPr>
          <p:nvPr>
            <p:ph type="title"/>
          </p:nvPr>
        </p:nvSpPr>
        <p:spPr/>
        <p:txBody>
          <a:bodyPr/>
          <a:lstStyle/>
          <a:p>
            <a:r>
              <a:rPr lang="zh-CN" altLang="en-US" dirty="0"/>
              <a:t>三、恐吓</a:t>
            </a:r>
          </a:p>
        </p:txBody>
      </p:sp>
      <p:pic>
        <p:nvPicPr>
          <p:cNvPr id="7" name="图片 6">
            <a:extLst>
              <a:ext uri="{FF2B5EF4-FFF2-40B4-BE49-F238E27FC236}">
                <a16:creationId xmlns:a16="http://schemas.microsoft.com/office/drawing/2014/main" id="{EB770198-4BC8-46E3-9B88-EBB11A1027BB}"/>
              </a:ext>
            </a:extLst>
          </p:cNvPr>
          <p:cNvPicPr>
            <a:picLocks noChangeAspect="1"/>
          </p:cNvPicPr>
          <p:nvPr/>
        </p:nvPicPr>
        <p:blipFill>
          <a:blip r:embed="rId2"/>
          <a:stretch>
            <a:fillRect/>
          </a:stretch>
        </p:blipFill>
        <p:spPr>
          <a:xfrm>
            <a:off x="200025" y="862965"/>
            <a:ext cx="6267450" cy="5629275"/>
          </a:xfrm>
          <a:prstGeom prst="rect">
            <a:avLst/>
          </a:prstGeom>
        </p:spPr>
      </p:pic>
      <p:pic>
        <p:nvPicPr>
          <p:cNvPr id="8" name="图片 7">
            <a:extLst>
              <a:ext uri="{FF2B5EF4-FFF2-40B4-BE49-F238E27FC236}">
                <a16:creationId xmlns:a16="http://schemas.microsoft.com/office/drawing/2014/main" id="{9D20EA86-0E27-41EF-9B3D-1F77233EBA70}"/>
              </a:ext>
            </a:extLst>
          </p:cNvPr>
          <p:cNvPicPr>
            <a:picLocks noChangeAspect="1"/>
          </p:cNvPicPr>
          <p:nvPr/>
        </p:nvPicPr>
        <p:blipFill>
          <a:blip r:embed="rId3"/>
          <a:stretch>
            <a:fillRect/>
          </a:stretch>
        </p:blipFill>
        <p:spPr>
          <a:xfrm>
            <a:off x="3181350" y="4600055"/>
            <a:ext cx="5762625" cy="457200"/>
          </a:xfrm>
          <a:prstGeom prst="rect">
            <a:avLst/>
          </a:prstGeom>
          <a:ln>
            <a:solidFill>
              <a:schemeClr val="tx1"/>
            </a:solidFill>
          </a:ln>
        </p:spPr>
      </p:pic>
      <p:sp>
        <p:nvSpPr>
          <p:cNvPr id="9" name="椭圆 8">
            <a:extLst>
              <a:ext uri="{FF2B5EF4-FFF2-40B4-BE49-F238E27FC236}">
                <a16:creationId xmlns:a16="http://schemas.microsoft.com/office/drawing/2014/main" id="{9694045F-D5AB-4B87-A73E-AC6811525A56}"/>
              </a:ext>
            </a:extLst>
          </p:cNvPr>
          <p:cNvSpPr/>
          <p:nvPr/>
        </p:nvSpPr>
        <p:spPr bwMode="auto">
          <a:xfrm>
            <a:off x="200025" y="4538749"/>
            <a:ext cx="2495550" cy="579813"/>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Tahoma" pitchFamily="34" charset="0"/>
              <a:ea typeface="宋体" charset="-122"/>
            </a:endParaRPr>
          </a:p>
        </p:txBody>
      </p:sp>
    </p:spTree>
    <p:extLst>
      <p:ext uri="{BB962C8B-B14F-4D97-AF65-F5344CB8AC3E}">
        <p14:creationId xmlns:p14="http://schemas.microsoft.com/office/powerpoint/2010/main" val="3159418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strVal val="#ppt_w*0.70"/>
                                          </p:val>
                                        </p:tav>
                                        <p:tav tm="100000">
                                          <p:val>
                                            <p:strVal val="#ppt_w"/>
                                          </p:val>
                                        </p:tav>
                                      </p:tavLst>
                                    </p:anim>
                                    <p:anim calcmode="lin" valueType="num">
                                      <p:cBhvr>
                                        <p:cTn id="15" dur="1000" fill="hold"/>
                                        <p:tgtEl>
                                          <p:spTgt spid="9"/>
                                        </p:tgtEl>
                                        <p:attrNameLst>
                                          <p:attrName>ppt_h</p:attrName>
                                        </p:attrNameLst>
                                      </p:cBhvr>
                                      <p:tavLst>
                                        <p:tav tm="0">
                                          <p:val>
                                            <p:strVal val="#ppt_h"/>
                                          </p:val>
                                        </p:tav>
                                        <p:tav tm="100000">
                                          <p:val>
                                            <p:strVal val="#ppt_h"/>
                                          </p:val>
                                        </p:tav>
                                      </p:tavLst>
                                    </p:anim>
                                    <p:animEffect transition="in" filter="fade">
                                      <p:cBhvr>
                                        <p:cTn id="16" dur="1000"/>
                                        <p:tgtEl>
                                          <p:spTgt spid="9"/>
                                        </p:tgtEl>
                                      </p:cBhvr>
                                    </p:animEffect>
                                  </p:childTnLst>
                                </p:cTn>
                              </p:par>
                              <p:par>
                                <p:cTn id="17" presetID="55"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strVal val="#ppt_w*0.70"/>
                                          </p:val>
                                        </p:tav>
                                        <p:tav tm="100000">
                                          <p:val>
                                            <p:strVal val="#ppt_w"/>
                                          </p:val>
                                        </p:tav>
                                      </p:tavLst>
                                    </p:anim>
                                    <p:anim calcmode="lin" valueType="num">
                                      <p:cBhvr>
                                        <p:cTn id="20" dur="1000" fill="hold"/>
                                        <p:tgtEl>
                                          <p:spTgt spid="8"/>
                                        </p:tgtEl>
                                        <p:attrNameLst>
                                          <p:attrName>ppt_h</p:attrName>
                                        </p:attrNameLst>
                                      </p:cBhvr>
                                      <p:tavLst>
                                        <p:tav tm="0">
                                          <p:val>
                                            <p:strVal val="#ppt_h"/>
                                          </p:val>
                                        </p:tav>
                                        <p:tav tm="100000">
                                          <p:val>
                                            <p:strVal val="#ppt_h"/>
                                          </p:val>
                                        </p:tav>
                                      </p:tavLst>
                                    </p:anim>
                                    <p:animEffect transition="in" filter="fade">
                                      <p:cBhvr>
                                        <p:cTn id="2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solidFill>
                  <a:srgbClr val="FF0000"/>
                </a:solidFill>
              </a:rPr>
              <a:t>让他人以你所期望的方式去行动、反应、思考或建立信仰的过程</a:t>
            </a:r>
            <a:r>
              <a:rPr lang="zh-CN" altLang="zh-CN" dirty="0"/>
              <a:t>，其中包含了情感和信仰等因素，同时需要熟悉心理学知识。要想成功地实现说服的目标，应遵循</a:t>
            </a:r>
            <a:r>
              <a:rPr lang="en-US" altLang="zh-CN" dirty="0"/>
              <a:t>5</a:t>
            </a:r>
            <a:r>
              <a:rPr lang="zh-CN" altLang="zh-CN" dirty="0"/>
              <a:t>项基本原则：目标明确；构建共识；洞悉并融入环境；灵活应变；内省并保持理性，不受自己的情感的影响</a:t>
            </a:r>
            <a:endParaRPr lang="zh-CN" altLang="en-US" dirty="0"/>
          </a:p>
        </p:txBody>
      </p:sp>
      <p:sp>
        <p:nvSpPr>
          <p:cNvPr id="3" name="标题 2"/>
          <p:cNvSpPr>
            <a:spLocks noGrp="1"/>
          </p:cNvSpPr>
          <p:nvPr>
            <p:ph type="title"/>
          </p:nvPr>
        </p:nvSpPr>
        <p:spPr/>
        <p:txBody>
          <a:bodyPr/>
          <a:lstStyle/>
          <a:p>
            <a:r>
              <a:rPr lang="zh-CN" altLang="en-US" dirty="0"/>
              <a:t>四、说服</a:t>
            </a:r>
          </a:p>
        </p:txBody>
      </p:sp>
    </p:spTree>
    <p:extLst>
      <p:ext uri="{BB962C8B-B14F-4D97-AF65-F5344CB8AC3E}">
        <p14:creationId xmlns:p14="http://schemas.microsoft.com/office/powerpoint/2010/main" val="17088677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安全专家</a:t>
            </a:r>
            <a:r>
              <a:rPr lang="en-US" altLang="zh-CN" dirty="0"/>
              <a:t>Hadnagy</a:t>
            </a:r>
            <a:r>
              <a:rPr lang="zh-CN" altLang="zh-CN" dirty="0"/>
              <a:t>在《社会工程》一书中给出的“</a:t>
            </a:r>
            <a:r>
              <a:rPr lang="zh-CN" altLang="zh-CN" dirty="0">
                <a:solidFill>
                  <a:srgbClr val="FF0000"/>
                </a:solidFill>
              </a:rPr>
              <a:t>主题乐园</a:t>
            </a:r>
            <a:r>
              <a:rPr lang="zh-CN" altLang="zh-CN" dirty="0"/>
              <a:t>”案例</a:t>
            </a:r>
            <a:endParaRPr lang="zh-CN" altLang="en-US" dirty="0"/>
          </a:p>
        </p:txBody>
      </p:sp>
      <p:sp>
        <p:nvSpPr>
          <p:cNvPr id="3" name="标题 2"/>
          <p:cNvSpPr>
            <a:spLocks noGrp="1"/>
          </p:cNvSpPr>
          <p:nvPr>
            <p:ph type="title"/>
          </p:nvPr>
        </p:nvSpPr>
        <p:spPr/>
        <p:txBody>
          <a:bodyPr/>
          <a:lstStyle/>
          <a:p>
            <a:r>
              <a:rPr lang="zh-CN" altLang="en-US" dirty="0"/>
              <a:t>四、说服</a:t>
            </a:r>
          </a:p>
        </p:txBody>
      </p:sp>
    </p:spTree>
    <p:extLst>
      <p:ext uri="{BB962C8B-B14F-4D97-AF65-F5344CB8AC3E}">
        <p14:creationId xmlns:p14="http://schemas.microsoft.com/office/powerpoint/2010/main" val="37070566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1172" y="1569403"/>
            <a:ext cx="7982267" cy="4114800"/>
          </a:xfrm>
        </p:spPr>
        <p:txBody>
          <a:bodyPr/>
          <a:lstStyle/>
          <a:p>
            <a:r>
              <a:rPr lang="zh-CN" altLang="zh-CN" dirty="0"/>
              <a:t>反向社会工程（</a:t>
            </a:r>
            <a:r>
              <a:rPr lang="en-US" altLang="zh-CN" dirty="0"/>
              <a:t>Reverse Social Engineering</a:t>
            </a:r>
            <a:r>
              <a:rPr lang="zh-CN" altLang="zh-CN" dirty="0"/>
              <a:t>）</a:t>
            </a:r>
            <a:r>
              <a:rPr lang="zh-CN" altLang="en-US" dirty="0"/>
              <a:t>：</a:t>
            </a:r>
            <a:r>
              <a:rPr lang="zh-CN" altLang="zh-CN" dirty="0"/>
              <a:t>攻击者通过技术或者非技术的手段给网络或者计算机应用制造“问题”，使其目标人员深信不疑。然后，诱使工作人员或者网络管理人员透露或者泄漏攻击者需要的信息，甚至执行攻击者希望的攻击操作，如下载带有病毒的文件，重启服务等</a:t>
            </a:r>
            <a:endParaRPr lang="zh-CN" altLang="en-US" dirty="0"/>
          </a:p>
        </p:txBody>
      </p:sp>
      <p:sp>
        <p:nvSpPr>
          <p:cNvPr id="3" name="标题 2"/>
          <p:cNvSpPr>
            <a:spLocks noGrp="1"/>
          </p:cNvSpPr>
          <p:nvPr>
            <p:ph type="title"/>
          </p:nvPr>
        </p:nvSpPr>
        <p:spPr/>
        <p:txBody>
          <a:bodyPr/>
          <a:lstStyle/>
          <a:p>
            <a:r>
              <a:rPr lang="zh-CN" altLang="en-US" dirty="0"/>
              <a:t>五、反向社会工程</a:t>
            </a:r>
          </a:p>
        </p:txBody>
      </p:sp>
    </p:spTree>
    <p:extLst>
      <p:ext uri="{BB962C8B-B14F-4D97-AF65-F5344CB8AC3E}">
        <p14:creationId xmlns:p14="http://schemas.microsoft.com/office/powerpoint/2010/main" val="29244593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69252" y="1310322"/>
            <a:ext cx="8241348" cy="4999037"/>
          </a:xfrm>
        </p:spPr>
        <p:txBody>
          <a:bodyPr/>
          <a:lstStyle/>
          <a:p>
            <a:pPr>
              <a:lnSpc>
                <a:spcPts val="4000"/>
              </a:lnSpc>
              <a:spcBef>
                <a:spcPts val="0"/>
              </a:spcBef>
            </a:pPr>
            <a:r>
              <a:rPr lang="zh-CN" altLang="en-US" dirty="0"/>
              <a:t>反向社会工程步骤：</a:t>
            </a:r>
            <a:endParaRPr lang="en-US" altLang="zh-CN" dirty="0"/>
          </a:p>
          <a:p>
            <a:pPr lvl="1">
              <a:lnSpc>
                <a:spcPts val="4000"/>
              </a:lnSpc>
              <a:spcBef>
                <a:spcPts val="0"/>
              </a:spcBef>
            </a:pPr>
            <a:r>
              <a:rPr lang="zh-CN" altLang="zh-CN" sz="2400" dirty="0"/>
              <a:t>破坏</a:t>
            </a:r>
            <a:r>
              <a:rPr lang="en-US" altLang="zh-CN" sz="2400" dirty="0"/>
              <a:t> (Sabotage)</a:t>
            </a:r>
            <a:r>
              <a:rPr lang="zh-CN" altLang="zh-CN" sz="2400" dirty="0"/>
              <a:t>。对目标系统实施初步攻击并获得基本权限后，留下错误信息，使用户注意到信息，并尝试获得帮助。</a:t>
            </a:r>
          </a:p>
          <a:p>
            <a:pPr lvl="1">
              <a:lnSpc>
                <a:spcPts val="4000"/>
              </a:lnSpc>
              <a:spcBef>
                <a:spcPts val="0"/>
              </a:spcBef>
            </a:pPr>
            <a:r>
              <a:rPr lang="zh-CN" altLang="zh-CN" sz="2400" dirty="0"/>
              <a:t>推销</a:t>
            </a:r>
            <a:r>
              <a:rPr lang="en-US" altLang="zh-CN" sz="2400" dirty="0"/>
              <a:t> (Marketing)</a:t>
            </a:r>
            <a:r>
              <a:rPr lang="zh-CN" altLang="zh-CN" sz="2400" dirty="0"/>
              <a:t>。利用推销术，确保用户能够向攻击者求助，比如冒充是系统维护公司，或者在错误信息里留下求助电话号码等。</a:t>
            </a:r>
          </a:p>
          <a:p>
            <a:pPr lvl="1">
              <a:lnSpc>
                <a:spcPts val="4000"/>
              </a:lnSpc>
              <a:spcBef>
                <a:spcPts val="0"/>
              </a:spcBef>
            </a:pPr>
            <a:r>
              <a:rPr lang="zh-CN" altLang="zh-CN" sz="2400" dirty="0"/>
              <a:t>支持</a:t>
            </a:r>
            <a:r>
              <a:rPr lang="en-US" altLang="zh-CN" sz="2400" dirty="0"/>
              <a:t> (Support)</a:t>
            </a:r>
            <a:r>
              <a:rPr lang="zh-CN" altLang="zh-CN" sz="2400" dirty="0"/>
              <a:t>。攻击者帮助用户解决系统问题，在用户没有察觉的情况下，进一步获得所需信息或执行想要的操作等</a:t>
            </a:r>
            <a:endParaRPr lang="zh-CN" altLang="en-US" sz="2400" dirty="0"/>
          </a:p>
        </p:txBody>
      </p:sp>
      <p:sp>
        <p:nvSpPr>
          <p:cNvPr id="3" name="标题 2"/>
          <p:cNvSpPr>
            <a:spLocks noGrp="1"/>
          </p:cNvSpPr>
          <p:nvPr>
            <p:ph type="title"/>
          </p:nvPr>
        </p:nvSpPr>
        <p:spPr/>
        <p:txBody>
          <a:bodyPr/>
          <a:lstStyle/>
          <a:p>
            <a:r>
              <a:rPr lang="zh-CN" altLang="en-US" dirty="0"/>
              <a:t>五、反向社会工程</a:t>
            </a:r>
          </a:p>
        </p:txBody>
      </p:sp>
    </p:spTree>
    <p:extLst>
      <p:ext uri="{BB962C8B-B14F-4D97-AF65-F5344CB8AC3E}">
        <p14:creationId xmlns:p14="http://schemas.microsoft.com/office/powerpoint/2010/main" val="23239353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案例一：过于自信的</a:t>
            </a:r>
            <a:r>
              <a:rPr lang="en-US" altLang="zh-CN" dirty="0"/>
              <a:t>CEO</a:t>
            </a:r>
            <a:endParaRPr lang="zh-CN" altLang="en-US" dirty="0"/>
          </a:p>
        </p:txBody>
      </p:sp>
      <p:sp>
        <p:nvSpPr>
          <p:cNvPr id="3" name="标题 2"/>
          <p:cNvSpPr>
            <a:spLocks noGrp="1"/>
          </p:cNvSpPr>
          <p:nvPr>
            <p:ph type="title"/>
          </p:nvPr>
        </p:nvSpPr>
        <p:spPr/>
        <p:txBody>
          <a:bodyPr/>
          <a:lstStyle/>
          <a:p>
            <a:r>
              <a:rPr lang="zh-CN" altLang="en-US" dirty="0"/>
              <a:t>案例分析</a:t>
            </a:r>
          </a:p>
        </p:txBody>
      </p:sp>
    </p:spTree>
    <p:extLst>
      <p:ext uri="{BB962C8B-B14F-4D97-AF65-F5344CB8AC3E}">
        <p14:creationId xmlns:p14="http://schemas.microsoft.com/office/powerpoint/2010/main" val="17767634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案例二： 让用户安装木马</a:t>
            </a:r>
          </a:p>
        </p:txBody>
      </p:sp>
      <p:sp>
        <p:nvSpPr>
          <p:cNvPr id="3" name="标题 2"/>
          <p:cNvSpPr>
            <a:spLocks noGrp="1"/>
          </p:cNvSpPr>
          <p:nvPr>
            <p:ph type="title"/>
          </p:nvPr>
        </p:nvSpPr>
        <p:spPr/>
        <p:txBody>
          <a:bodyPr/>
          <a:lstStyle/>
          <a:p>
            <a:r>
              <a:rPr lang="zh-CN" altLang="en-US" dirty="0"/>
              <a:t>案例分析</a:t>
            </a:r>
          </a:p>
        </p:txBody>
      </p:sp>
    </p:spTree>
    <p:extLst>
      <p:ext uri="{BB962C8B-B14F-4D97-AF65-F5344CB8AC3E}">
        <p14:creationId xmlns:p14="http://schemas.microsoft.com/office/powerpoint/2010/main" val="13584439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案例三：已知某公司一高管的</a:t>
            </a:r>
            <a:r>
              <a:rPr lang="en-US" altLang="zh-CN" dirty="0"/>
              <a:t>QQ</a:t>
            </a:r>
            <a:r>
              <a:rPr lang="zh-CN" altLang="en-US" dirty="0"/>
              <a:t>号，要求获得其</a:t>
            </a:r>
            <a:r>
              <a:rPr lang="en-US" altLang="zh-CN" dirty="0"/>
              <a:t>QQ</a:t>
            </a:r>
            <a:r>
              <a:rPr lang="zh-CN" altLang="en-US" dirty="0"/>
              <a:t>密码和邮箱密码</a:t>
            </a:r>
          </a:p>
        </p:txBody>
      </p:sp>
      <p:sp>
        <p:nvSpPr>
          <p:cNvPr id="3" name="标题 2"/>
          <p:cNvSpPr>
            <a:spLocks noGrp="1"/>
          </p:cNvSpPr>
          <p:nvPr>
            <p:ph type="title"/>
          </p:nvPr>
        </p:nvSpPr>
        <p:spPr/>
        <p:txBody>
          <a:bodyPr/>
          <a:lstStyle/>
          <a:p>
            <a:r>
              <a:rPr lang="zh-CN" altLang="en-US" dirty="0"/>
              <a:t>案例分析</a:t>
            </a:r>
          </a:p>
        </p:txBody>
      </p:sp>
    </p:spTree>
    <p:extLst>
      <p:ext uri="{BB962C8B-B14F-4D97-AF65-F5344CB8AC3E}">
        <p14:creationId xmlns:p14="http://schemas.microsoft.com/office/powerpoint/2010/main" val="20957102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altLang="en-US" dirty="0"/>
              <a:t>案例三（续）</a:t>
            </a:r>
          </a:p>
        </p:txBody>
      </p:sp>
      <p:sp>
        <p:nvSpPr>
          <p:cNvPr id="11267" name="Rectangle 3"/>
          <p:cNvSpPr>
            <a:spLocks noGrp="1" noChangeArrowheads="1"/>
          </p:cNvSpPr>
          <p:nvPr>
            <p:ph type="body" idx="1"/>
          </p:nvPr>
        </p:nvSpPr>
        <p:spPr>
          <a:xfrm>
            <a:off x="582613" y="1310322"/>
            <a:ext cx="8361362" cy="4983797"/>
          </a:xfrm>
        </p:spPr>
        <p:txBody>
          <a:bodyPr/>
          <a:lstStyle/>
          <a:p>
            <a:r>
              <a:rPr lang="zh-CN" altLang="en-US" dirty="0"/>
              <a:t>调研</a:t>
            </a:r>
          </a:p>
          <a:p>
            <a:pPr lvl="1"/>
            <a:r>
              <a:rPr lang="zh-CN" altLang="en-US" dirty="0"/>
              <a:t>了解对方的企业文化 公司背景，又注册了一堆目标公司相关行业的一些论坛 调查这家公司</a:t>
            </a:r>
          </a:p>
          <a:p>
            <a:pPr lvl="1"/>
            <a:r>
              <a:rPr lang="zh-CN" altLang="en-US" dirty="0"/>
              <a:t>目标公司大概运营了</a:t>
            </a:r>
            <a:r>
              <a:rPr lang="en-US" altLang="zh-CN" dirty="0"/>
              <a:t>4</a:t>
            </a:r>
            <a:r>
              <a:rPr lang="zh-CN" altLang="en-US" dirty="0"/>
              <a:t>年之久，有不小的行业知名度 </a:t>
            </a:r>
          </a:p>
          <a:p>
            <a:pPr lvl="1"/>
            <a:r>
              <a:rPr lang="zh-CN" altLang="en-US" dirty="0"/>
              <a:t>渗透了一家目标同类型公司。目的是挑个简单的先进去找些行业术语，规范文档</a:t>
            </a:r>
          </a:p>
          <a:p>
            <a:pPr lvl="1"/>
            <a:r>
              <a:rPr lang="zh-CN" altLang="en-US" dirty="0"/>
              <a:t>试探攻击该公司网站，失败！</a:t>
            </a:r>
          </a:p>
        </p:txBody>
      </p:sp>
    </p:spTree>
    <p:extLst>
      <p:ext uri="{BB962C8B-B14F-4D97-AF65-F5344CB8AC3E}">
        <p14:creationId xmlns:p14="http://schemas.microsoft.com/office/powerpoint/2010/main" val="42121149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dirty="0"/>
              <a:t>案例三（续）</a:t>
            </a:r>
          </a:p>
        </p:txBody>
      </p:sp>
      <p:sp>
        <p:nvSpPr>
          <p:cNvPr id="12291" name="Rectangle 3"/>
          <p:cNvSpPr>
            <a:spLocks noGrp="1" noChangeArrowheads="1"/>
          </p:cNvSpPr>
          <p:nvPr>
            <p:ph type="body" idx="1"/>
          </p:nvPr>
        </p:nvSpPr>
        <p:spPr/>
        <p:txBody>
          <a:bodyPr/>
          <a:lstStyle/>
          <a:p>
            <a:r>
              <a:rPr lang="zh-CN" altLang="en-US" dirty="0"/>
              <a:t>攻击步骤：</a:t>
            </a:r>
          </a:p>
          <a:p>
            <a:pPr lvl="1">
              <a:buFontTx/>
              <a:buAutoNum type="alphaUcPeriod"/>
            </a:pPr>
            <a:r>
              <a:rPr lang="zh-CN" altLang="en-US" dirty="0"/>
              <a:t> 以投资关系接触目标用户</a:t>
            </a:r>
          </a:p>
          <a:p>
            <a:pPr lvl="1">
              <a:buFontTx/>
              <a:buAutoNum type="alphaUcPeriod"/>
            </a:pPr>
            <a:r>
              <a:rPr lang="zh-CN" altLang="en-US" dirty="0"/>
              <a:t> 利用利益诱惑方式深入了解目标</a:t>
            </a:r>
          </a:p>
          <a:p>
            <a:pPr lvl="1">
              <a:buFontTx/>
              <a:buAutoNum type="alphaUcPeriod"/>
            </a:pPr>
            <a:r>
              <a:rPr lang="zh-CN" altLang="en-US" dirty="0"/>
              <a:t> “竞争”心理社会工程学攻击实施</a:t>
            </a:r>
          </a:p>
          <a:p>
            <a:pPr lvl="1">
              <a:buFontTx/>
              <a:buAutoNum type="alphaUcPeriod"/>
            </a:pPr>
            <a:r>
              <a:rPr lang="zh-CN" altLang="en-US" dirty="0"/>
              <a:t> 后续渗透及资料窃取</a:t>
            </a:r>
          </a:p>
          <a:p>
            <a:endParaRPr lang="en-US" altLang="zh-CN" dirty="0"/>
          </a:p>
        </p:txBody>
      </p:sp>
    </p:spTree>
    <p:extLst>
      <p:ext uri="{BB962C8B-B14F-4D97-AF65-F5344CB8AC3E}">
        <p14:creationId xmlns:p14="http://schemas.microsoft.com/office/powerpoint/2010/main" val="31811702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dirty="0"/>
              <a:t>案例三（续）</a:t>
            </a:r>
          </a:p>
        </p:txBody>
      </p:sp>
      <p:sp>
        <p:nvSpPr>
          <p:cNvPr id="13315" name="Rectangle 3"/>
          <p:cNvSpPr>
            <a:spLocks noGrp="1" noChangeArrowheads="1"/>
          </p:cNvSpPr>
          <p:nvPr>
            <p:ph type="body" idx="1"/>
          </p:nvPr>
        </p:nvSpPr>
        <p:spPr>
          <a:xfrm>
            <a:off x="613093" y="1325562"/>
            <a:ext cx="7772400" cy="4892358"/>
          </a:xfrm>
        </p:spPr>
        <p:txBody>
          <a:bodyPr/>
          <a:lstStyle/>
          <a:p>
            <a:pPr>
              <a:lnSpc>
                <a:spcPts val="3500"/>
              </a:lnSpc>
              <a:spcBef>
                <a:spcPts val="0"/>
              </a:spcBef>
            </a:pPr>
            <a:r>
              <a:rPr lang="zh-CN" altLang="en-US" sz="2400" dirty="0"/>
              <a:t>周二上午</a:t>
            </a:r>
            <a:r>
              <a:rPr lang="en-US" altLang="zh-CN" sz="2400" dirty="0"/>
              <a:t>10:00 </a:t>
            </a:r>
            <a:r>
              <a:rPr lang="zh-CN" altLang="en-US" sz="2400" dirty="0"/>
              <a:t>加对方</a:t>
            </a:r>
            <a:r>
              <a:rPr lang="en-US" altLang="zh-CN" sz="2400" dirty="0"/>
              <a:t>QQ</a:t>
            </a:r>
            <a:r>
              <a:rPr lang="zh-CN" altLang="en-US" sz="2400" dirty="0"/>
              <a:t>为好友</a:t>
            </a:r>
          </a:p>
          <a:p>
            <a:pPr>
              <a:lnSpc>
                <a:spcPts val="3500"/>
              </a:lnSpc>
              <a:spcBef>
                <a:spcPts val="0"/>
              </a:spcBef>
            </a:pPr>
            <a:r>
              <a:rPr lang="en-US" altLang="zh-CN" sz="2400" dirty="0"/>
              <a:t>E:</a:t>
            </a:r>
            <a:r>
              <a:rPr lang="zh-CN" altLang="en-US" sz="2400" dirty="0"/>
              <a:t>你好</a:t>
            </a:r>
            <a:r>
              <a:rPr lang="en-US" altLang="zh-CN" sz="2400" dirty="0"/>
              <a:t>,</a:t>
            </a:r>
            <a:r>
              <a:rPr lang="zh-CN" altLang="en-US" sz="2400" dirty="0"/>
              <a:t>在论坛看到你发布你们公司一些在做的项目</a:t>
            </a:r>
            <a:r>
              <a:rPr lang="en-US" altLang="zh-CN" sz="2400" dirty="0"/>
              <a:t>,</a:t>
            </a:r>
            <a:r>
              <a:rPr lang="zh-CN" altLang="en-US" sz="2400" dirty="0"/>
              <a:t>想了解下</a:t>
            </a:r>
            <a:r>
              <a:rPr lang="en-US" altLang="zh-CN" sz="2400" dirty="0"/>
              <a:t>,</a:t>
            </a:r>
            <a:r>
              <a:rPr lang="zh-CN" altLang="en-US" sz="2400" dirty="0"/>
              <a:t>你这会方便么</a:t>
            </a:r>
            <a:r>
              <a:rPr lang="en-US" altLang="zh-CN" sz="2400" dirty="0"/>
              <a:t>?</a:t>
            </a:r>
          </a:p>
          <a:p>
            <a:pPr>
              <a:lnSpc>
                <a:spcPts val="3500"/>
              </a:lnSpc>
              <a:spcBef>
                <a:spcPts val="0"/>
              </a:spcBef>
            </a:pPr>
            <a:r>
              <a:rPr lang="en-US" altLang="zh-CN" sz="2400" dirty="0"/>
              <a:t>T:</a:t>
            </a:r>
            <a:r>
              <a:rPr lang="zh-CN" altLang="en-US" sz="2400" dirty="0"/>
              <a:t>你是说哪个项目</a:t>
            </a:r>
            <a:r>
              <a:rPr lang="en-US" altLang="zh-CN" sz="2400" dirty="0"/>
              <a:t>?</a:t>
            </a:r>
            <a:r>
              <a:rPr lang="zh-CN" altLang="en-US" sz="2400" dirty="0"/>
              <a:t>你想了解什么</a:t>
            </a:r>
            <a:r>
              <a:rPr lang="en-US" altLang="zh-CN" sz="2400" dirty="0"/>
              <a:t>?</a:t>
            </a:r>
          </a:p>
          <a:p>
            <a:pPr>
              <a:lnSpc>
                <a:spcPts val="3500"/>
              </a:lnSpc>
              <a:spcBef>
                <a:spcPts val="0"/>
              </a:spcBef>
            </a:pPr>
            <a:r>
              <a:rPr lang="en-US" altLang="zh-CN" sz="2400" dirty="0"/>
              <a:t>E:htt://abbs/ </a:t>
            </a:r>
            <a:r>
              <a:rPr lang="zh-CN" altLang="en-US" sz="2400" dirty="0"/>
              <a:t>就是这个项目 我想了解下你们的进度，想知道什么时间可以测试产品。</a:t>
            </a:r>
          </a:p>
          <a:p>
            <a:pPr>
              <a:lnSpc>
                <a:spcPts val="3500"/>
              </a:lnSpc>
              <a:spcBef>
                <a:spcPts val="0"/>
              </a:spcBef>
            </a:pPr>
            <a:r>
              <a:rPr lang="en-US" altLang="zh-CN" sz="2400" dirty="0"/>
              <a:t>T:</a:t>
            </a:r>
            <a:r>
              <a:rPr lang="zh-CN" altLang="en-US" sz="2400" dirty="0"/>
              <a:t>目前已经可以测试了</a:t>
            </a:r>
            <a:r>
              <a:rPr lang="en-US" altLang="zh-CN" sz="2400" dirty="0"/>
              <a:t>,</a:t>
            </a:r>
            <a:r>
              <a:rPr lang="zh-CN" altLang="en-US" sz="2400" dirty="0"/>
              <a:t>你是那里的？做什么的？</a:t>
            </a:r>
          </a:p>
          <a:p>
            <a:pPr>
              <a:lnSpc>
                <a:spcPts val="3500"/>
              </a:lnSpc>
              <a:spcBef>
                <a:spcPts val="0"/>
              </a:spcBef>
            </a:pPr>
            <a:r>
              <a:rPr lang="en-US" altLang="zh-CN" sz="2400" dirty="0"/>
              <a:t>E:</a:t>
            </a:r>
            <a:r>
              <a:rPr lang="zh-CN" altLang="en-US" sz="2400" dirty="0"/>
              <a:t>能先让我测试下么？</a:t>
            </a:r>
          </a:p>
          <a:p>
            <a:pPr>
              <a:lnSpc>
                <a:spcPts val="3500"/>
              </a:lnSpc>
              <a:spcBef>
                <a:spcPts val="0"/>
              </a:spcBef>
            </a:pPr>
            <a:r>
              <a:rPr lang="en-US" altLang="zh-CN" sz="2400" dirty="0"/>
              <a:t>T:</a:t>
            </a:r>
            <a:r>
              <a:rPr lang="zh-CN" altLang="en-US" sz="2400" dirty="0"/>
              <a:t>可以测试</a:t>
            </a:r>
            <a:r>
              <a:rPr lang="en-US" altLang="zh-CN" sz="2400" dirty="0"/>
              <a:t>,</a:t>
            </a:r>
            <a:r>
              <a:rPr lang="zh-CN" altLang="en-US" sz="2400" dirty="0"/>
              <a:t>不过你要提供你的信息给我。</a:t>
            </a:r>
          </a:p>
          <a:p>
            <a:pPr>
              <a:lnSpc>
                <a:spcPts val="3500"/>
              </a:lnSpc>
              <a:spcBef>
                <a:spcPts val="0"/>
              </a:spcBef>
            </a:pPr>
            <a:r>
              <a:rPr lang="en-US" altLang="zh-CN" sz="2400" dirty="0"/>
              <a:t>E:</a:t>
            </a:r>
            <a:r>
              <a:rPr lang="zh-CN" altLang="en-US" sz="2400" dirty="0"/>
              <a:t>你是员工？还是</a:t>
            </a:r>
            <a:r>
              <a:rPr lang="en-US" altLang="zh-CN" sz="2400" dirty="0"/>
              <a:t>PM</a:t>
            </a:r>
            <a:r>
              <a:rPr lang="zh-CN" altLang="en-US" sz="2400" dirty="0"/>
              <a:t>？还是？？</a:t>
            </a:r>
            <a:r>
              <a:rPr lang="en-US" altLang="zh-CN" sz="2400" dirty="0"/>
              <a:t>?</a:t>
            </a:r>
          </a:p>
          <a:p>
            <a:pPr>
              <a:lnSpc>
                <a:spcPts val="3500"/>
              </a:lnSpc>
              <a:spcBef>
                <a:spcPts val="0"/>
              </a:spcBef>
            </a:pPr>
            <a:r>
              <a:rPr lang="en-US" altLang="zh-CN" sz="2400" dirty="0"/>
              <a:t>T:PM</a:t>
            </a:r>
            <a:r>
              <a:rPr lang="zh-CN" altLang="en-US" sz="2400" dirty="0"/>
              <a:t>？ 你到底是做什么的？</a:t>
            </a:r>
          </a:p>
        </p:txBody>
      </p:sp>
    </p:spTree>
    <p:extLst>
      <p:ext uri="{BB962C8B-B14F-4D97-AF65-F5344CB8AC3E}">
        <p14:creationId xmlns:p14="http://schemas.microsoft.com/office/powerpoint/2010/main" val="14120028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dirty="0"/>
              <a:t>案例三（续）</a:t>
            </a:r>
          </a:p>
        </p:txBody>
      </p:sp>
      <p:sp>
        <p:nvSpPr>
          <p:cNvPr id="14339" name="Rectangle 3"/>
          <p:cNvSpPr>
            <a:spLocks noGrp="1" noChangeArrowheads="1"/>
          </p:cNvSpPr>
          <p:nvPr>
            <p:ph type="body" idx="1"/>
          </p:nvPr>
        </p:nvSpPr>
        <p:spPr>
          <a:xfrm>
            <a:off x="487680" y="1402080"/>
            <a:ext cx="8229600" cy="4637088"/>
          </a:xfrm>
        </p:spPr>
        <p:txBody>
          <a:bodyPr/>
          <a:lstStyle/>
          <a:p>
            <a:pPr>
              <a:lnSpc>
                <a:spcPct val="90000"/>
              </a:lnSpc>
            </a:pPr>
            <a:r>
              <a:rPr lang="en-US" altLang="zh-CN" sz="2400" dirty="0"/>
              <a:t>E:</a:t>
            </a:r>
            <a:r>
              <a:rPr lang="zh-CN" altLang="en-US" sz="2400" dirty="0"/>
              <a:t>呵呵，不好意思 还没自报家门 我的电子名片：</a:t>
            </a:r>
          </a:p>
          <a:p>
            <a:pPr>
              <a:lnSpc>
                <a:spcPct val="90000"/>
              </a:lnSpc>
              <a:buFontTx/>
              <a:buNone/>
            </a:pPr>
            <a:r>
              <a:rPr lang="zh-CN" altLang="en-US" sz="2400" dirty="0"/>
              <a:t>    张** （总经理助理）</a:t>
            </a:r>
            <a:r>
              <a:rPr lang="en-US" altLang="zh-CN" sz="2400" dirty="0"/>
              <a:t>tel:150XXX333</a:t>
            </a:r>
          </a:p>
          <a:p>
            <a:pPr>
              <a:lnSpc>
                <a:spcPct val="90000"/>
              </a:lnSpc>
              <a:buFontTx/>
              <a:buNone/>
            </a:pPr>
            <a:r>
              <a:rPr lang="en-US" altLang="zh-CN" sz="2400" dirty="0"/>
              <a:t>    </a:t>
            </a:r>
            <a:r>
              <a:rPr lang="zh-CN" altLang="en-US" sz="2400" dirty="0"/>
              <a:t>河南省*****房地产开发集团 </a:t>
            </a:r>
            <a:r>
              <a:rPr lang="en-US" altLang="zh-CN" sz="2400" dirty="0"/>
              <a:t>email:E@91ri.org</a:t>
            </a:r>
          </a:p>
          <a:p>
            <a:pPr>
              <a:lnSpc>
                <a:spcPct val="90000"/>
              </a:lnSpc>
            </a:pPr>
            <a:r>
              <a:rPr lang="en-US" altLang="zh-CN" sz="2400" dirty="0"/>
              <a:t>T:</a:t>
            </a:r>
            <a:r>
              <a:rPr lang="zh-CN" altLang="en-US" sz="2400" dirty="0"/>
              <a:t>房地产</a:t>
            </a:r>
            <a:r>
              <a:rPr lang="en-US" altLang="zh-CN" sz="2400" dirty="0"/>
              <a:t>?</a:t>
            </a:r>
            <a:r>
              <a:rPr lang="zh-CN" altLang="en-US" sz="2400" dirty="0"/>
              <a:t>和我们没什么关系。你怎么对我们项目有兴趣？</a:t>
            </a:r>
          </a:p>
          <a:p>
            <a:pPr>
              <a:lnSpc>
                <a:spcPct val="90000"/>
              </a:lnSpc>
            </a:pPr>
            <a:r>
              <a:rPr lang="en-US" altLang="zh-CN" sz="2400" dirty="0"/>
              <a:t>E:</a:t>
            </a:r>
            <a:r>
              <a:rPr lang="zh-CN" altLang="en-US" sz="2400" dirty="0"/>
              <a:t>集团预计在年底前要扩展三个新的子公司 其中包含****的业务 但是因为一时间无法迅速构建团队，所以董事会想要以投资方式收购成熟的团队和技术。</a:t>
            </a:r>
          </a:p>
          <a:p>
            <a:pPr>
              <a:lnSpc>
                <a:spcPct val="90000"/>
              </a:lnSpc>
            </a:pPr>
            <a:r>
              <a:rPr lang="en-US" altLang="zh-CN" sz="2400" dirty="0"/>
              <a:t>T:</a:t>
            </a:r>
            <a:r>
              <a:rPr lang="zh-CN" altLang="en-US" sz="2400" dirty="0"/>
              <a:t>大概明白了</a:t>
            </a:r>
            <a:r>
              <a:rPr lang="en-US" altLang="zh-CN" sz="2400" dirty="0"/>
              <a:t>,</a:t>
            </a:r>
            <a:r>
              <a:rPr lang="zh-CN" altLang="en-US" sz="2400" dirty="0"/>
              <a:t>不过我这会儿忙</a:t>
            </a:r>
            <a:r>
              <a:rPr lang="en-US" altLang="zh-CN" sz="2400" dirty="0"/>
              <a:t>,</a:t>
            </a:r>
            <a:r>
              <a:rPr lang="zh-CN" altLang="en-US" sz="2400" dirty="0"/>
              <a:t>你有什么事跟我助理谈吧</a:t>
            </a:r>
            <a:r>
              <a:rPr lang="en-US" altLang="zh-CN" sz="2400" dirty="0"/>
              <a:t>. </a:t>
            </a:r>
          </a:p>
          <a:p>
            <a:pPr>
              <a:lnSpc>
                <a:spcPct val="90000"/>
              </a:lnSpc>
            </a:pPr>
            <a:r>
              <a:rPr lang="en-US" altLang="zh-CN" sz="2400" dirty="0"/>
              <a:t>E:</a:t>
            </a:r>
            <a:r>
              <a:rPr lang="zh-CN" altLang="en-US" sz="2400" dirty="0"/>
              <a:t>没关系 等你有空了我再找你详细聊吧 你的名片？</a:t>
            </a:r>
          </a:p>
          <a:p>
            <a:pPr>
              <a:lnSpc>
                <a:spcPct val="90000"/>
              </a:lnSpc>
            </a:pPr>
            <a:r>
              <a:rPr lang="en-US" altLang="zh-CN" sz="2400" dirty="0"/>
              <a:t>T:  </a:t>
            </a:r>
            <a:r>
              <a:rPr lang="zh-CN" altLang="en-US" sz="2400" dirty="0"/>
              <a:t>宋**** </a:t>
            </a:r>
            <a:r>
              <a:rPr lang="en-US" altLang="zh-CN" sz="2400" dirty="0"/>
              <a:t>(PM) tel:13323XX4</a:t>
            </a:r>
          </a:p>
          <a:p>
            <a:pPr>
              <a:lnSpc>
                <a:spcPct val="90000"/>
              </a:lnSpc>
              <a:buFontTx/>
              <a:buNone/>
            </a:pPr>
            <a:r>
              <a:rPr lang="en-US" altLang="zh-CN" sz="2400" dirty="0"/>
              <a:t>        </a:t>
            </a:r>
            <a:r>
              <a:rPr lang="zh-CN" altLang="en-US" sz="2400" dirty="0"/>
              <a:t>上海****信息科技有限公司</a:t>
            </a:r>
            <a:r>
              <a:rPr lang="en-US" altLang="zh-CN" sz="2400" dirty="0"/>
              <a:t>email:T@91ri.org</a:t>
            </a:r>
          </a:p>
        </p:txBody>
      </p:sp>
    </p:spTree>
    <p:extLst>
      <p:ext uri="{BB962C8B-B14F-4D97-AF65-F5344CB8AC3E}">
        <p14:creationId xmlns:p14="http://schemas.microsoft.com/office/powerpoint/2010/main" val="298119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dirty="0"/>
              <a:t>案例三（续）</a:t>
            </a:r>
          </a:p>
        </p:txBody>
      </p:sp>
      <p:sp>
        <p:nvSpPr>
          <p:cNvPr id="15363" name="Rectangle 3"/>
          <p:cNvSpPr>
            <a:spLocks noGrp="1" noChangeArrowheads="1"/>
          </p:cNvSpPr>
          <p:nvPr>
            <p:ph type="body" idx="1"/>
          </p:nvPr>
        </p:nvSpPr>
        <p:spPr>
          <a:xfrm>
            <a:off x="689293" y="1508442"/>
            <a:ext cx="7772400" cy="4678997"/>
          </a:xfrm>
        </p:spPr>
        <p:txBody>
          <a:bodyPr/>
          <a:lstStyle/>
          <a:p>
            <a:pPr>
              <a:lnSpc>
                <a:spcPct val="90000"/>
              </a:lnSpc>
            </a:pPr>
            <a:r>
              <a:rPr lang="en-US" altLang="zh-CN" sz="2400" dirty="0"/>
              <a:t>E:</a:t>
            </a:r>
            <a:r>
              <a:rPr lang="zh-CN" altLang="en-US" sz="2400" dirty="0"/>
              <a:t>不好意思</a:t>
            </a:r>
            <a:r>
              <a:rPr lang="en-US" altLang="zh-CN" sz="2400" dirty="0"/>
              <a:t>,</a:t>
            </a:r>
            <a:r>
              <a:rPr lang="zh-CN" altLang="en-US" sz="2400" dirty="0"/>
              <a:t>我还需要问一个问题</a:t>
            </a:r>
            <a:r>
              <a:rPr lang="en-US" altLang="zh-CN" sz="2400" dirty="0"/>
              <a:t>,</a:t>
            </a:r>
            <a:r>
              <a:rPr lang="zh-CN" altLang="en-US" sz="2400" dirty="0"/>
              <a:t>你们公司股份制你是技术入股</a:t>
            </a:r>
            <a:r>
              <a:rPr lang="en-US" altLang="zh-CN" sz="2400" dirty="0"/>
              <a:t>?</a:t>
            </a:r>
          </a:p>
          <a:p>
            <a:pPr>
              <a:lnSpc>
                <a:spcPct val="90000"/>
              </a:lnSpc>
            </a:pPr>
            <a:r>
              <a:rPr lang="en-US" altLang="zh-CN" sz="2400" dirty="0"/>
              <a:t>T:</a:t>
            </a:r>
            <a:r>
              <a:rPr lang="zh-CN" altLang="en-US" sz="2400" dirty="0"/>
              <a:t>嗯</a:t>
            </a:r>
            <a:r>
              <a:rPr lang="en-US" altLang="zh-CN" sz="2400" dirty="0"/>
              <a:t>!</a:t>
            </a:r>
            <a:r>
              <a:rPr lang="zh-CN" altLang="en-US" sz="2400" dirty="0"/>
              <a:t>有问题？</a:t>
            </a:r>
          </a:p>
          <a:p>
            <a:pPr>
              <a:lnSpc>
                <a:spcPct val="90000"/>
              </a:lnSpc>
            </a:pPr>
            <a:r>
              <a:rPr lang="en-US" altLang="zh-CN" sz="2400" dirty="0"/>
              <a:t>E:</a:t>
            </a:r>
            <a:r>
              <a:rPr lang="zh-CN" altLang="en-US" sz="2400" dirty="0"/>
              <a:t>只是先打听下</a:t>
            </a:r>
            <a:r>
              <a:rPr lang="en-US" altLang="zh-CN" sz="2400" dirty="0"/>
              <a:t>,</a:t>
            </a:r>
            <a:r>
              <a:rPr lang="zh-CN" altLang="en-US" sz="2400" dirty="0"/>
              <a:t>我们本来是预计以不超过</a:t>
            </a:r>
            <a:r>
              <a:rPr lang="en-US" altLang="zh-CN" sz="2400" dirty="0"/>
              <a:t>300</a:t>
            </a:r>
            <a:r>
              <a:rPr lang="zh-CN" altLang="en-US" sz="2400" dirty="0"/>
              <a:t>万收购一个团队</a:t>
            </a:r>
            <a:r>
              <a:rPr lang="en-US" altLang="zh-CN" sz="2400" dirty="0"/>
              <a:t>,</a:t>
            </a:r>
            <a:r>
              <a:rPr lang="zh-CN" altLang="en-US" sz="2400" dirty="0"/>
              <a:t>如果你有信心带出你现在的团队并能做好管理那么你可以脱离你的公司</a:t>
            </a:r>
            <a:r>
              <a:rPr lang="en-US" altLang="zh-CN" sz="2400" dirty="0"/>
              <a:t>,</a:t>
            </a:r>
            <a:r>
              <a:rPr lang="zh-CN" altLang="en-US" sz="2400" dirty="0"/>
              <a:t>这样岂不是更好</a:t>
            </a:r>
            <a:r>
              <a:rPr lang="en-US" altLang="zh-CN" sz="2400" dirty="0"/>
              <a:t>?</a:t>
            </a:r>
          </a:p>
          <a:p>
            <a:pPr>
              <a:lnSpc>
                <a:spcPct val="90000"/>
              </a:lnSpc>
            </a:pPr>
            <a:r>
              <a:rPr lang="en-US" altLang="zh-CN" sz="2400" dirty="0"/>
              <a:t>T:</a:t>
            </a:r>
            <a:r>
              <a:rPr lang="zh-CN" altLang="en-US" sz="2400" dirty="0"/>
              <a:t>这个问题我没考虑过 你还是先测试下产品</a:t>
            </a:r>
          </a:p>
          <a:p>
            <a:pPr>
              <a:lnSpc>
                <a:spcPct val="90000"/>
              </a:lnSpc>
            </a:pPr>
            <a:r>
              <a:rPr lang="en-US" altLang="zh-CN" sz="2400" dirty="0"/>
              <a:t>E:</a:t>
            </a:r>
            <a:r>
              <a:rPr lang="zh-CN" altLang="en-US" sz="2400" dirty="0"/>
              <a:t>怎么测试</a:t>
            </a:r>
            <a:r>
              <a:rPr lang="en-US" altLang="zh-CN" sz="2400" dirty="0"/>
              <a:t>?</a:t>
            </a:r>
          </a:p>
          <a:p>
            <a:pPr>
              <a:lnSpc>
                <a:spcPct val="90000"/>
              </a:lnSpc>
            </a:pPr>
            <a:r>
              <a:rPr lang="en-US" altLang="zh-CN" sz="2400" dirty="0"/>
              <a:t>T:</a:t>
            </a:r>
            <a:r>
              <a:rPr lang="zh-CN" altLang="en-US" sz="2400" dirty="0"/>
              <a:t>目前只能我们内部测试</a:t>
            </a:r>
            <a:r>
              <a:rPr lang="en-US" altLang="zh-CN" sz="2400" dirty="0"/>
              <a:t>,</a:t>
            </a:r>
            <a:r>
              <a:rPr lang="zh-CN" altLang="en-US" sz="2400" dirty="0"/>
              <a:t>你想看看的话我为你演示吧</a:t>
            </a:r>
            <a:r>
              <a:rPr lang="en-US" altLang="zh-CN" sz="2400" dirty="0"/>
              <a:t>(</a:t>
            </a:r>
            <a:r>
              <a:rPr lang="zh-CN" altLang="en-US" sz="2400" dirty="0"/>
              <a:t>有钱就能有好的服务</a:t>
            </a:r>
            <a:r>
              <a:rPr lang="en-US" altLang="zh-CN" sz="2400" dirty="0"/>
              <a:t>,</a:t>
            </a:r>
            <a:r>
              <a:rPr lang="zh-CN" altLang="en-US" sz="2400" dirty="0"/>
              <a:t>没有白眼</a:t>
            </a:r>
            <a:r>
              <a:rPr lang="en-US" altLang="zh-CN" sz="2400" dirty="0"/>
              <a:t>,</a:t>
            </a:r>
            <a:r>
              <a:rPr lang="zh-CN" altLang="en-US" sz="2400" dirty="0"/>
              <a:t>没有我在忙的推延</a:t>
            </a:r>
            <a:r>
              <a:rPr lang="en-US" altLang="zh-CN" sz="2400" dirty="0"/>
              <a:t>)</a:t>
            </a:r>
          </a:p>
          <a:p>
            <a:pPr>
              <a:lnSpc>
                <a:spcPct val="90000"/>
              </a:lnSpc>
            </a:pPr>
            <a:r>
              <a:rPr lang="en-US" altLang="zh-CN" sz="2400" dirty="0"/>
              <a:t>E:</a:t>
            </a:r>
            <a:r>
              <a:rPr lang="zh-CN" altLang="en-US" sz="2400" dirty="0"/>
              <a:t>现在吗</a:t>
            </a:r>
            <a:r>
              <a:rPr lang="en-US" altLang="zh-CN" sz="2400" dirty="0"/>
              <a:t>?</a:t>
            </a:r>
            <a:r>
              <a:rPr lang="zh-CN" altLang="en-US" sz="2400" dirty="0"/>
              <a:t>我这会儿不是很方便</a:t>
            </a:r>
            <a:r>
              <a:rPr lang="en-US" altLang="zh-CN" sz="2400" dirty="0"/>
              <a:t>,</a:t>
            </a:r>
            <a:r>
              <a:rPr lang="zh-CN" altLang="en-US" sz="2400" dirty="0"/>
              <a:t>等下有个会</a:t>
            </a:r>
            <a:r>
              <a:rPr lang="en-US" altLang="zh-CN" sz="2400" dirty="0"/>
              <a:t>,</a:t>
            </a:r>
            <a:r>
              <a:rPr lang="zh-CN" altLang="en-US" sz="2400" dirty="0"/>
              <a:t>晚上可以吗</a:t>
            </a:r>
            <a:r>
              <a:rPr lang="en-US" altLang="zh-CN" sz="2400" dirty="0"/>
              <a:t>?(</a:t>
            </a:r>
            <a:r>
              <a:rPr lang="zh-CN" altLang="en-US" sz="2400" dirty="0"/>
              <a:t>换我摆谱</a:t>
            </a:r>
            <a:r>
              <a:rPr lang="en-US" altLang="zh-CN" sz="2400" dirty="0"/>
              <a:t>)</a:t>
            </a:r>
          </a:p>
        </p:txBody>
      </p:sp>
    </p:spTree>
    <p:extLst>
      <p:ext uri="{BB962C8B-B14F-4D97-AF65-F5344CB8AC3E}">
        <p14:creationId xmlns:p14="http://schemas.microsoft.com/office/powerpoint/2010/main" val="29397561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zh-CN" altLang="en-US" dirty="0"/>
              <a:t>案例三（续）</a:t>
            </a:r>
          </a:p>
        </p:txBody>
      </p:sp>
      <p:sp>
        <p:nvSpPr>
          <p:cNvPr id="16387" name="Rectangle 3"/>
          <p:cNvSpPr>
            <a:spLocks noGrp="1" noChangeArrowheads="1"/>
          </p:cNvSpPr>
          <p:nvPr>
            <p:ph type="body" idx="1"/>
          </p:nvPr>
        </p:nvSpPr>
        <p:spPr>
          <a:xfrm>
            <a:off x="714375" y="1101725"/>
            <a:ext cx="8229600" cy="4924425"/>
          </a:xfrm>
        </p:spPr>
        <p:txBody>
          <a:bodyPr/>
          <a:lstStyle/>
          <a:p>
            <a:pPr>
              <a:lnSpc>
                <a:spcPct val="100000"/>
              </a:lnSpc>
              <a:spcBef>
                <a:spcPts val="0"/>
              </a:spcBef>
            </a:pPr>
            <a:r>
              <a:rPr lang="en-US" altLang="zh-CN" sz="2400" dirty="0"/>
              <a:t>T:</a:t>
            </a:r>
            <a:r>
              <a:rPr lang="zh-CN" altLang="en-US" sz="2400" dirty="0"/>
              <a:t>几点</a:t>
            </a:r>
            <a:r>
              <a:rPr lang="en-US" altLang="zh-CN" sz="2400" dirty="0"/>
              <a:t>?</a:t>
            </a:r>
          </a:p>
          <a:p>
            <a:pPr>
              <a:lnSpc>
                <a:spcPct val="100000"/>
              </a:lnSpc>
              <a:spcBef>
                <a:spcPts val="0"/>
              </a:spcBef>
            </a:pPr>
            <a:r>
              <a:rPr lang="en-US" altLang="zh-CN" sz="2400" dirty="0"/>
              <a:t>E:9</a:t>
            </a:r>
            <a:r>
              <a:rPr lang="zh-CN" altLang="en-US" sz="2400" dirty="0"/>
              <a:t>点可以么？</a:t>
            </a:r>
            <a:r>
              <a:rPr lang="en-US" altLang="zh-CN" sz="2400" dirty="0"/>
              <a:t>(</a:t>
            </a:r>
            <a:r>
              <a:rPr lang="zh-CN" altLang="en-US" sz="2400" dirty="0"/>
              <a:t>说晚上</a:t>
            </a:r>
            <a:r>
              <a:rPr lang="en-US" altLang="zh-CN" sz="2400" dirty="0"/>
              <a:t>9</a:t>
            </a:r>
            <a:r>
              <a:rPr lang="zh-CN" altLang="en-US" sz="2400" dirty="0"/>
              <a:t>点是想知道他们所谓内部测试是不是真实内部测试</a:t>
            </a:r>
            <a:r>
              <a:rPr lang="en-US" altLang="zh-CN" sz="2400" dirty="0"/>
              <a:t>,</a:t>
            </a:r>
            <a:r>
              <a:rPr lang="zh-CN" altLang="en-US" sz="2400" dirty="0"/>
              <a:t>呵呵</a:t>
            </a:r>
            <a:r>
              <a:rPr lang="en-US" altLang="zh-CN" sz="2400" dirty="0"/>
              <a:t>)</a:t>
            </a:r>
          </a:p>
          <a:p>
            <a:pPr>
              <a:lnSpc>
                <a:spcPct val="100000"/>
              </a:lnSpc>
              <a:spcBef>
                <a:spcPts val="0"/>
              </a:spcBef>
            </a:pPr>
            <a:r>
              <a:rPr lang="en-US" altLang="zh-CN" sz="2400" dirty="0"/>
              <a:t>T:……</a:t>
            </a:r>
            <a:r>
              <a:rPr lang="zh-CN" altLang="en-US" sz="2400" dirty="0"/>
              <a:t>那时已经下班了</a:t>
            </a:r>
          </a:p>
          <a:p>
            <a:pPr>
              <a:lnSpc>
                <a:spcPct val="100000"/>
              </a:lnSpc>
              <a:spcBef>
                <a:spcPts val="0"/>
              </a:spcBef>
            </a:pPr>
            <a:r>
              <a:rPr lang="en-US" altLang="zh-CN" sz="2400" dirty="0"/>
              <a:t>E:</a:t>
            </a:r>
            <a:r>
              <a:rPr lang="zh-CN" altLang="en-US" sz="2400" dirty="0"/>
              <a:t>那你说个时间吧</a:t>
            </a:r>
          </a:p>
          <a:p>
            <a:pPr>
              <a:lnSpc>
                <a:spcPct val="100000"/>
              </a:lnSpc>
              <a:spcBef>
                <a:spcPts val="0"/>
              </a:spcBef>
            </a:pPr>
            <a:r>
              <a:rPr lang="en-US" altLang="zh-CN" sz="2400" dirty="0"/>
              <a:t>T:</a:t>
            </a:r>
            <a:r>
              <a:rPr lang="zh-CN" altLang="en-US" sz="2400" dirty="0"/>
              <a:t>好吧那就</a:t>
            </a:r>
            <a:r>
              <a:rPr lang="en-US" altLang="zh-CN" sz="2400" dirty="0"/>
              <a:t>9</a:t>
            </a:r>
            <a:r>
              <a:rPr lang="zh-CN" altLang="en-US" sz="2400" dirty="0"/>
              <a:t>点吧</a:t>
            </a:r>
            <a:r>
              <a:rPr lang="en-US" altLang="zh-CN" sz="2400" dirty="0"/>
              <a:t>(</a:t>
            </a:r>
            <a:r>
              <a:rPr lang="zh-CN" altLang="en-US" sz="2400" dirty="0"/>
              <a:t>看来晚上</a:t>
            </a:r>
            <a:r>
              <a:rPr lang="en-US" altLang="zh-CN" sz="2400" dirty="0"/>
              <a:t>9</a:t>
            </a:r>
            <a:r>
              <a:rPr lang="zh-CN" altLang="en-US" sz="2400" dirty="0"/>
              <a:t>点也能演示</a:t>
            </a:r>
            <a:r>
              <a:rPr lang="en-US" altLang="zh-CN" sz="2400" dirty="0"/>
              <a:t>,</a:t>
            </a:r>
            <a:r>
              <a:rPr lang="zh-CN" altLang="en-US" sz="2400" dirty="0"/>
              <a:t>那不像是纯内部的测试</a:t>
            </a:r>
            <a:r>
              <a:rPr lang="en-US" altLang="zh-CN" sz="2400" dirty="0"/>
              <a:t>,</a:t>
            </a:r>
            <a:r>
              <a:rPr lang="zh-CN" altLang="en-US" sz="2400" dirty="0"/>
              <a:t>或者</a:t>
            </a:r>
            <a:r>
              <a:rPr lang="en-US" altLang="zh-CN" sz="2400" dirty="0"/>
              <a:t>…VPN?)</a:t>
            </a:r>
          </a:p>
          <a:p>
            <a:pPr>
              <a:lnSpc>
                <a:spcPct val="100000"/>
              </a:lnSpc>
              <a:spcBef>
                <a:spcPts val="0"/>
              </a:spcBef>
            </a:pPr>
            <a:r>
              <a:rPr lang="en-US" altLang="zh-CN" sz="2400" dirty="0"/>
              <a:t>E:</a:t>
            </a:r>
            <a:r>
              <a:rPr lang="zh-CN" altLang="en-US" sz="2400" dirty="0"/>
              <a:t>嗯 好的 那我先出去了</a:t>
            </a:r>
          </a:p>
          <a:p>
            <a:pPr>
              <a:lnSpc>
                <a:spcPct val="100000"/>
              </a:lnSpc>
              <a:spcBef>
                <a:spcPts val="0"/>
              </a:spcBef>
            </a:pPr>
            <a:r>
              <a:rPr lang="en-US" altLang="zh-CN" sz="2400" dirty="0"/>
              <a:t>T:</a:t>
            </a:r>
            <a:r>
              <a:rPr lang="zh-CN" altLang="en-US" sz="2400" dirty="0"/>
              <a:t>再见</a:t>
            </a:r>
          </a:p>
          <a:p>
            <a:pPr>
              <a:lnSpc>
                <a:spcPct val="100000"/>
              </a:lnSpc>
              <a:spcBef>
                <a:spcPts val="0"/>
              </a:spcBef>
            </a:pPr>
            <a:r>
              <a:rPr lang="zh-CN" altLang="en-US" sz="2400" dirty="0"/>
              <a:t>晚上</a:t>
            </a:r>
            <a:r>
              <a:rPr lang="en-US" altLang="zh-CN" sz="2400" dirty="0"/>
              <a:t>9</a:t>
            </a:r>
            <a:r>
              <a:rPr lang="zh-CN" altLang="en-US" sz="2400" dirty="0"/>
              <a:t>点</a:t>
            </a:r>
            <a:r>
              <a:rPr lang="en-US" altLang="zh-CN" sz="2400" dirty="0"/>
              <a:t>20</a:t>
            </a:r>
            <a:r>
              <a:rPr lang="zh-CN" altLang="en-US" sz="2400" dirty="0"/>
              <a:t>我上网了</a:t>
            </a:r>
            <a:r>
              <a:rPr lang="en-US" altLang="zh-CN" sz="2400" dirty="0"/>
              <a:t>… </a:t>
            </a:r>
            <a:r>
              <a:rPr lang="zh-CN" altLang="en-US" sz="2400" dirty="0"/>
              <a:t>让他等了一会儿 测试他的耐心和脾气呵呵</a:t>
            </a:r>
          </a:p>
          <a:p>
            <a:pPr>
              <a:lnSpc>
                <a:spcPct val="100000"/>
              </a:lnSpc>
              <a:spcBef>
                <a:spcPts val="0"/>
              </a:spcBef>
            </a:pPr>
            <a:r>
              <a:rPr lang="en-US" altLang="zh-CN" sz="2400" dirty="0"/>
              <a:t>T:</a:t>
            </a:r>
            <a:r>
              <a:rPr lang="zh-CN" altLang="en-US" sz="2400" dirty="0"/>
              <a:t>你好</a:t>
            </a:r>
            <a:r>
              <a:rPr lang="en-US" altLang="zh-CN" sz="2400" dirty="0"/>
              <a:t>! </a:t>
            </a:r>
            <a:r>
              <a:rPr lang="zh-CN" altLang="en-US" sz="2400" dirty="0"/>
              <a:t>来了请联系我</a:t>
            </a:r>
          </a:p>
          <a:p>
            <a:pPr>
              <a:lnSpc>
                <a:spcPct val="100000"/>
              </a:lnSpc>
              <a:spcBef>
                <a:spcPts val="0"/>
              </a:spcBef>
            </a:pPr>
            <a:r>
              <a:rPr lang="en-US" altLang="zh-CN" sz="2400" dirty="0"/>
              <a:t>T:</a:t>
            </a:r>
            <a:r>
              <a:rPr lang="zh-CN" altLang="en-US" sz="2400" dirty="0"/>
              <a:t>你好</a:t>
            </a:r>
            <a:r>
              <a:rPr lang="en-US" altLang="zh-CN" sz="2400" dirty="0"/>
              <a:t>! </a:t>
            </a:r>
            <a:r>
              <a:rPr lang="zh-CN" altLang="en-US" sz="2400" dirty="0"/>
              <a:t>来了么？</a:t>
            </a:r>
          </a:p>
          <a:p>
            <a:pPr>
              <a:lnSpc>
                <a:spcPct val="100000"/>
              </a:lnSpc>
              <a:spcBef>
                <a:spcPts val="0"/>
              </a:spcBef>
            </a:pPr>
            <a:r>
              <a:rPr lang="en-US" altLang="zh-CN" sz="2400" dirty="0"/>
              <a:t>E:</a:t>
            </a:r>
            <a:r>
              <a:rPr lang="zh-CN" altLang="en-US" sz="2400" dirty="0"/>
              <a:t>不好意思</a:t>
            </a:r>
            <a:r>
              <a:rPr lang="en-US" altLang="zh-CN" sz="2400" dirty="0"/>
              <a:t>! </a:t>
            </a:r>
            <a:r>
              <a:rPr lang="zh-CN" altLang="en-US" sz="2400" dirty="0"/>
              <a:t>堵车刚到家</a:t>
            </a:r>
          </a:p>
        </p:txBody>
      </p:sp>
    </p:spTree>
    <p:extLst>
      <p:ext uri="{BB962C8B-B14F-4D97-AF65-F5344CB8AC3E}">
        <p14:creationId xmlns:p14="http://schemas.microsoft.com/office/powerpoint/2010/main" val="1429650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zh-CN" altLang="en-US" dirty="0"/>
              <a:t>案例三（续）</a:t>
            </a:r>
          </a:p>
        </p:txBody>
      </p:sp>
      <p:sp>
        <p:nvSpPr>
          <p:cNvPr id="17411" name="Rectangle 3"/>
          <p:cNvSpPr>
            <a:spLocks noGrp="1" noChangeArrowheads="1"/>
          </p:cNvSpPr>
          <p:nvPr>
            <p:ph type="body" idx="1"/>
          </p:nvPr>
        </p:nvSpPr>
        <p:spPr>
          <a:xfrm>
            <a:off x="579120" y="1432560"/>
            <a:ext cx="8229600" cy="4781550"/>
          </a:xfrm>
        </p:spPr>
        <p:txBody>
          <a:bodyPr/>
          <a:lstStyle/>
          <a:p>
            <a:pPr>
              <a:lnSpc>
                <a:spcPct val="100000"/>
              </a:lnSpc>
              <a:spcBef>
                <a:spcPts val="0"/>
              </a:spcBef>
            </a:pPr>
            <a:r>
              <a:rPr lang="en-US" altLang="zh-CN" sz="2400" dirty="0"/>
              <a:t>E:</a:t>
            </a:r>
            <a:r>
              <a:rPr lang="zh-CN" altLang="en-US" sz="2400" dirty="0"/>
              <a:t>怎么看到测试？</a:t>
            </a:r>
          </a:p>
          <a:p>
            <a:pPr>
              <a:lnSpc>
                <a:spcPct val="100000"/>
              </a:lnSpc>
              <a:spcBef>
                <a:spcPts val="0"/>
              </a:spcBef>
            </a:pPr>
            <a:r>
              <a:rPr lang="zh-CN" altLang="en-US" sz="2400" dirty="0"/>
              <a:t>他发了个</a:t>
            </a:r>
            <a:r>
              <a:rPr lang="en-US" altLang="zh-CN" sz="2400" dirty="0"/>
              <a:t>QQ</a:t>
            </a:r>
            <a:r>
              <a:rPr lang="zh-CN" altLang="en-US" sz="2400" dirty="0"/>
              <a:t>远程协助</a:t>
            </a:r>
            <a:r>
              <a:rPr lang="en-US" altLang="zh-CN" sz="2400" dirty="0"/>
              <a:t>… </a:t>
            </a:r>
            <a:r>
              <a:rPr lang="zh-CN" altLang="en-US" sz="2400" dirty="0"/>
              <a:t>简直</a:t>
            </a:r>
            <a:r>
              <a:rPr lang="en-US" altLang="zh-CN" sz="2400" dirty="0"/>
              <a:t>…</a:t>
            </a:r>
            <a:r>
              <a:rPr lang="zh-CN" altLang="en-US" sz="2400" dirty="0"/>
              <a:t>太幸运了 呵呵 这样我了解的就更多啦</a:t>
            </a:r>
          </a:p>
          <a:p>
            <a:pPr>
              <a:lnSpc>
                <a:spcPct val="100000"/>
              </a:lnSpc>
              <a:spcBef>
                <a:spcPts val="0"/>
              </a:spcBef>
            </a:pPr>
            <a:r>
              <a:rPr lang="zh-CN" altLang="en-US" sz="2400" dirty="0"/>
              <a:t>只装了个咖啡防病毒 下面两个网卡</a:t>
            </a:r>
            <a:r>
              <a:rPr lang="en-US" altLang="zh-CN" sz="2400" dirty="0"/>
              <a:t>3</a:t>
            </a:r>
            <a:r>
              <a:rPr lang="zh-CN" altLang="en-US" sz="2400" dirty="0"/>
              <a:t>个网卡图标</a:t>
            </a:r>
            <a:r>
              <a:rPr lang="en-US" altLang="zh-CN" sz="2400" dirty="0"/>
              <a:t>… </a:t>
            </a:r>
            <a:r>
              <a:rPr lang="zh-CN" altLang="en-US" sz="2400" dirty="0"/>
              <a:t>比较幸运（因为很有可能有一个是</a:t>
            </a:r>
            <a:r>
              <a:rPr lang="en-US" altLang="zh-CN" sz="2400" dirty="0"/>
              <a:t>VPN</a:t>
            </a:r>
            <a:r>
              <a:rPr lang="zh-CN" altLang="en-US" sz="2400" dirty="0"/>
              <a:t>）</a:t>
            </a:r>
          </a:p>
          <a:p>
            <a:pPr>
              <a:lnSpc>
                <a:spcPct val="100000"/>
              </a:lnSpc>
              <a:spcBef>
                <a:spcPts val="0"/>
              </a:spcBef>
            </a:pPr>
            <a:r>
              <a:rPr lang="zh-CN" altLang="en-US" sz="2400" dirty="0"/>
              <a:t>看了很多操作演示 然后我就开始</a:t>
            </a:r>
            <a:r>
              <a:rPr lang="en-US" altLang="zh-CN" sz="2400" dirty="0"/>
              <a:t>…</a:t>
            </a:r>
            <a:r>
              <a:rPr lang="zh-CN" altLang="en-US" sz="2400" dirty="0"/>
              <a:t>继续</a:t>
            </a:r>
          </a:p>
          <a:p>
            <a:pPr>
              <a:lnSpc>
                <a:spcPct val="100000"/>
              </a:lnSpc>
              <a:spcBef>
                <a:spcPts val="0"/>
              </a:spcBef>
            </a:pPr>
            <a:r>
              <a:rPr lang="en-US" altLang="zh-CN" sz="2400" dirty="0"/>
              <a:t>E:</a:t>
            </a:r>
            <a:r>
              <a:rPr lang="zh-CN" altLang="en-US" sz="2400" dirty="0"/>
              <a:t>很不错的</a:t>
            </a:r>
            <a:r>
              <a:rPr lang="en-US" altLang="zh-CN" sz="2400" dirty="0"/>
              <a:t>,</a:t>
            </a:r>
            <a:r>
              <a:rPr lang="zh-CN" altLang="en-US" sz="2400" dirty="0"/>
              <a:t>这个是你主要开发</a:t>
            </a:r>
            <a:r>
              <a:rPr lang="en-US" altLang="zh-CN" sz="2400" dirty="0"/>
              <a:t>?</a:t>
            </a:r>
          </a:p>
          <a:p>
            <a:pPr>
              <a:lnSpc>
                <a:spcPct val="100000"/>
              </a:lnSpc>
              <a:spcBef>
                <a:spcPts val="0"/>
              </a:spcBef>
            </a:pPr>
            <a:r>
              <a:rPr lang="en-US" altLang="zh-CN" sz="2400" dirty="0"/>
              <a:t>T:</a:t>
            </a:r>
            <a:r>
              <a:rPr lang="zh-CN" altLang="en-US" sz="2400" dirty="0"/>
              <a:t>是的</a:t>
            </a:r>
          </a:p>
          <a:p>
            <a:pPr>
              <a:lnSpc>
                <a:spcPct val="100000"/>
              </a:lnSpc>
              <a:spcBef>
                <a:spcPts val="0"/>
              </a:spcBef>
            </a:pPr>
            <a:r>
              <a:rPr lang="en-US" altLang="zh-CN" sz="2400" dirty="0"/>
              <a:t>E:</a:t>
            </a:r>
            <a:r>
              <a:rPr lang="zh-CN" altLang="en-US" sz="2400" dirty="0"/>
              <a:t>你们负责开发的一共多少人？</a:t>
            </a:r>
          </a:p>
          <a:p>
            <a:pPr>
              <a:lnSpc>
                <a:spcPct val="100000"/>
              </a:lnSpc>
              <a:spcBef>
                <a:spcPts val="0"/>
              </a:spcBef>
            </a:pPr>
            <a:r>
              <a:rPr lang="en-US" altLang="zh-CN" sz="2400" dirty="0"/>
              <a:t>T:</a:t>
            </a:r>
            <a:r>
              <a:rPr lang="zh-CN" altLang="en-US" sz="2400" dirty="0"/>
              <a:t>大概</a:t>
            </a:r>
            <a:r>
              <a:rPr lang="en-US" altLang="zh-CN" sz="2400" dirty="0"/>
              <a:t>30</a:t>
            </a:r>
            <a:r>
              <a:rPr lang="zh-CN" altLang="en-US" sz="2400" dirty="0"/>
              <a:t>人做研发的</a:t>
            </a:r>
          </a:p>
          <a:p>
            <a:pPr>
              <a:lnSpc>
                <a:spcPct val="100000"/>
              </a:lnSpc>
              <a:spcBef>
                <a:spcPts val="0"/>
              </a:spcBef>
            </a:pPr>
            <a:r>
              <a:rPr lang="en-US" altLang="zh-CN" sz="2400" dirty="0"/>
              <a:t>E:</a:t>
            </a:r>
            <a:r>
              <a:rPr lang="zh-CN" altLang="en-US" sz="2400" dirty="0"/>
              <a:t>你个人有没有考虑过独立出来呢</a:t>
            </a:r>
            <a:r>
              <a:rPr lang="en-US" altLang="zh-CN" sz="2400" dirty="0"/>
              <a:t>?</a:t>
            </a:r>
            <a:r>
              <a:rPr lang="zh-CN" altLang="en-US" sz="2400" dirty="0"/>
              <a:t>如果你能带团队一起这样 考虑下吧</a:t>
            </a:r>
            <a:r>
              <a:rPr lang="en-US" altLang="zh-CN" sz="2400" dirty="0"/>
              <a:t>?</a:t>
            </a:r>
          </a:p>
          <a:p>
            <a:pPr>
              <a:lnSpc>
                <a:spcPct val="100000"/>
              </a:lnSpc>
              <a:spcBef>
                <a:spcPts val="0"/>
              </a:spcBef>
            </a:pPr>
            <a:r>
              <a:rPr lang="en-US" altLang="zh-CN" sz="2400" dirty="0"/>
              <a:t>T:</a:t>
            </a:r>
            <a:r>
              <a:rPr lang="zh-CN" altLang="en-US" sz="2400" dirty="0"/>
              <a:t>没有考虑过</a:t>
            </a:r>
          </a:p>
        </p:txBody>
      </p:sp>
    </p:spTree>
    <p:extLst>
      <p:ext uri="{BB962C8B-B14F-4D97-AF65-F5344CB8AC3E}">
        <p14:creationId xmlns:p14="http://schemas.microsoft.com/office/powerpoint/2010/main" val="32345213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dirty="0"/>
              <a:t>案例三（续）</a:t>
            </a:r>
          </a:p>
        </p:txBody>
      </p:sp>
      <p:sp>
        <p:nvSpPr>
          <p:cNvPr id="18435" name="Rectangle 3"/>
          <p:cNvSpPr>
            <a:spLocks noGrp="1" noChangeArrowheads="1"/>
          </p:cNvSpPr>
          <p:nvPr>
            <p:ph type="body" idx="1"/>
          </p:nvPr>
        </p:nvSpPr>
        <p:spPr>
          <a:xfrm>
            <a:off x="579120" y="1356360"/>
            <a:ext cx="8229600" cy="4924425"/>
          </a:xfrm>
        </p:spPr>
        <p:txBody>
          <a:bodyPr/>
          <a:lstStyle/>
          <a:p>
            <a:pPr>
              <a:lnSpc>
                <a:spcPct val="80000"/>
              </a:lnSpc>
            </a:pPr>
            <a:r>
              <a:rPr lang="en-US" altLang="zh-CN" sz="2400" dirty="0"/>
              <a:t>E:</a:t>
            </a:r>
            <a:r>
              <a:rPr lang="zh-CN" altLang="en-US" sz="2400" dirty="0"/>
              <a:t>那如果我明天汇报后有关投资的问题应该联系谁</a:t>
            </a:r>
            <a:r>
              <a:rPr lang="en-US" altLang="zh-CN" sz="2400" dirty="0"/>
              <a:t>?</a:t>
            </a:r>
          </a:p>
          <a:p>
            <a:pPr>
              <a:lnSpc>
                <a:spcPct val="80000"/>
              </a:lnSpc>
            </a:pPr>
            <a:r>
              <a:rPr lang="en-US" altLang="zh-CN" sz="2400" dirty="0"/>
              <a:t>T:</a:t>
            </a:r>
            <a:r>
              <a:rPr lang="zh-CN" altLang="en-US" sz="2400" dirty="0"/>
              <a:t>这个你要联系市场部的经理也就是我们副总****</a:t>
            </a:r>
          </a:p>
          <a:p>
            <a:pPr>
              <a:lnSpc>
                <a:spcPct val="100000"/>
              </a:lnSpc>
              <a:spcBef>
                <a:spcPts val="0"/>
              </a:spcBef>
            </a:pPr>
            <a:r>
              <a:rPr lang="en-US" altLang="zh-CN" sz="2400" dirty="0"/>
              <a:t>E:</a:t>
            </a:r>
            <a:r>
              <a:rPr lang="zh-CN" altLang="en-US" sz="2400" dirty="0"/>
              <a:t>哦 我知道了</a:t>
            </a:r>
          </a:p>
          <a:p>
            <a:pPr>
              <a:lnSpc>
                <a:spcPct val="80000"/>
              </a:lnSpc>
              <a:buFontTx/>
              <a:buNone/>
            </a:pPr>
            <a:r>
              <a:rPr lang="zh-CN" altLang="en-US" sz="2400" dirty="0"/>
              <a:t>     </a:t>
            </a:r>
            <a:r>
              <a:rPr lang="en-US" altLang="zh-CN" sz="2400" dirty="0"/>
              <a:t>(</a:t>
            </a:r>
            <a:r>
              <a:rPr lang="zh-CN" altLang="en-US" sz="2400" dirty="0"/>
              <a:t>看来这做技术的的确很专注</a:t>
            </a:r>
            <a:r>
              <a:rPr lang="en-US" altLang="zh-CN" sz="2400" dirty="0"/>
              <a:t>…</a:t>
            </a:r>
            <a:r>
              <a:rPr lang="zh-CN" altLang="en-US" sz="2400" dirty="0"/>
              <a:t>不吃荤腥</a:t>
            </a:r>
            <a:r>
              <a:rPr lang="en-US" altLang="zh-CN" sz="2400" dirty="0"/>
              <a:t>…</a:t>
            </a:r>
            <a:r>
              <a:rPr lang="zh-CN" altLang="en-US" sz="2400" dirty="0"/>
              <a:t>套不上他</a:t>
            </a:r>
            <a:r>
              <a:rPr lang="en-US" altLang="zh-CN" sz="2400" dirty="0"/>
              <a:t>…</a:t>
            </a:r>
            <a:r>
              <a:rPr lang="zh-CN" altLang="en-US" sz="2400" dirty="0"/>
              <a:t>套自己吧</a:t>
            </a:r>
            <a:r>
              <a:rPr lang="en-US" altLang="zh-CN" sz="2400" dirty="0"/>
              <a:t>)</a:t>
            </a:r>
          </a:p>
          <a:p>
            <a:pPr>
              <a:lnSpc>
                <a:spcPct val="80000"/>
              </a:lnSpc>
            </a:pPr>
            <a:r>
              <a:rPr lang="en-US" altLang="zh-CN" sz="2400" dirty="0"/>
              <a:t>E:</a:t>
            </a:r>
            <a:r>
              <a:rPr lang="zh-CN" altLang="en-US" sz="2400" dirty="0"/>
              <a:t>如果是和你公司谈的话 有点</a:t>
            </a:r>
            <a:r>
              <a:rPr lang="en-US" altLang="zh-CN" sz="2400" dirty="0"/>
              <a:t>…</a:t>
            </a:r>
          </a:p>
          <a:p>
            <a:pPr>
              <a:lnSpc>
                <a:spcPct val="80000"/>
              </a:lnSpc>
            </a:pPr>
            <a:r>
              <a:rPr lang="en-US" altLang="zh-CN" sz="2400" dirty="0"/>
              <a:t>T:</a:t>
            </a:r>
            <a:r>
              <a:rPr lang="zh-CN" altLang="en-US" sz="2400" dirty="0"/>
              <a:t>怎么？</a:t>
            </a:r>
          </a:p>
          <a:p>
            <a:pPr>
              <a:lnSpc>
                <a:spcPct val="80000"/>
              </a:lnSpc>
            </a:pPr>
            <a:r>
              <a:rPr lang="en-US" altLang="zh-CN" sz="2400" dirty="0"/>
              <a:t>E:</a:t>
            </a:r>
            <a:r>
              <a:rPr lang="zh-CN" altLang="en-US" sz="2400" dirty="0"/>
              <a:t>这笔投资并不小的 你是知道了 如果通过公司对你对我都没有利益嘛</a:t>
            </a:r>
            <a:r>
              <a:rPr lang="en-US" altLang="zh-CN" sz="2400" dirty="0"/>
              <a:t>…</a:t>
            </a:r>
          </a:p>
          <a:p>
            <a:pPr>
              <a:lnSpc>
                <a:spcPct val="80000"/>
              </a:lnSpc>
            </a:pPr>
            <a:r>
              <a:rPr lang="en-US" altLang="zh-CN" sz="2400" dirty="0"/>
              <a:t>T:</a:t>
            </a:r>
            <a:r>
              <a:rPr lang="zh-CN" altLang="en-US" sz="2400" dirty="0"/>
              <a:t>这个我不懂</a:t>
            </a:r>
            <a:r>
              <a:rPr lang="en-US" altLang="zh-CN" sz="2400" dirty="0"/>
              <a:t>,</a:t>
            </a:r>
            <a:r>
              <a:rPr lang="zh-CN" altLang="en-US" sz="2400" dirty="0"/>
              <a:t>你跟他谈就好了</a:t>
            </a:r>
            <a:r>
              <a:rPr lang="en-US" altLang="zh-CN" sz="2400" dirty="0"/>
              <a:t>.</a:t>
            </a:r>
          </a:p>
          <a:p>
            <a:pPr>
              <a:lnSpc>
                <a:spcPct val="80000"/>
              </a:lnSpc>
            </a:pPr>
            <a:r>
              <a:rPr lang="en-US" altLang="zh-CN" sz="2400" dirty="0"/>
              <a:t>E:</a:t>
            </a:r>
            <a:r>
              <a:rPr lang="zh-CN" altLang="en-US" sz="2400" dirty="0"/>
              <a:t>这样吧 你能不能先侧面帮我打听下看有没有这方面合作的意向 可以吗？</a:t>
            </a:r>
          </a:p>
          <a:p>
            <a:pPr>
              <a:lnSpc>
                <a:spcPct val="80000"/>
              </a:lnSpc>
            </a:pPr>
            <a:r>
              <a:rPr lang="en-US" altLang="zh-CN" sz="2400" dirty="0"/>
              <a:t>T:</a:t>
            </a:r>
            <a:r>
              <a:rPr lang="zh-CN" altLang="en-US" sz="2400" dirty="0"/>
              <a:t>这没问题 明天我问下给你答复 我要下了</a:t>
            </a:r>
          </a:p>
          <a:p>
            <a:pPr>
              <a:lnSpc>
                <a:spcPct val="80000"/>
              </a:lnSpc>
            </a:pPr>
            <a:r>
              <a:rPr lang="en-US" altLang="zh-CN" sz="2400" dirty="0"/>
              <a:t>E:</a:t>
            </a:r>
            <a:r>
              <a:rPr lang="zh-CN" altLang="en-US" sz="2400" dirty="0"/>
              <a:t>嗯 好 明天联系</a:t>
            </a:r>
          </a:p>
        </p:txBody>
      </p:sp>
    </p:spTree>
    <p:extLst>
      <p:ext uri="{BB962C8B-B14F-4D97-AF65-F5344CB8AC3E}">
        <p14:creationId xmlns:p14="http://schemas.microsoft.com/office/powerpoint/2010/main" val="13289547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dirty="0"/>
              <a:t>案例三（续）</a:t>
            </a:r>
          </a:p>
        </p:txBody>
      </p:sp>
      <p:sp>
        <p:nvSpPr>
          <p:cNvPr id="19459" name="Rectangle 3"/>
          <p:cNvSpPr>
            <a:spLocks noGrp="1" noChangeArrowheads="1"/>
          </p:cNvSpPr>
          <p:nvPr>
            <p:ph type="body" idx="1"/>
          </p:nvPr>
        </p:nvSpPr>
        <p:spPr>
          <a:xfrm>
            <a:off x="475933" y="1234122"/>
            <a:ext cx="7772400" cy="4587557"/>
          </a:xfrm>
        </p:spPr>
        <p:txBody>
          <a:bodyPr/>
          <a:lstStyle/>
          <a:p>
            <a:pPr>
              <a:lnSpc>
                <a:spcPct val="100000"/>
              </a:lnSpc>
              <a:spcBef>
                <a:spcPts val="0"/>
              </a:spcBef>
            </a:pPr>
            <a:r>
              <a:rPr lang="zh-CN" altLang="en-US" sz="2400" dirty="0"/>
              <a:t>第二天 他告诉我他们那个副总包括老总也很感兴趣</a:t>
            </a:r>
            <a:r>
              <a:rPr lang="en-US" altLang="zh-CN" sz="2400" dirty="0"/>
              <a:t>… </a:t>
            </a:r>
            <a:r>
              <a:rPr lang="zh-CN" altLang="en-US" sz="2400" dirty="0"/>
              <a:t>而且他们老总给我来了一个电话 表示说我个人方面的利益可以放心 邀请我去上海</a:t>
            </a:r>
            <a:r>
              <a:rPr lang="en-US" altLang="zh-CN" sz="2400" dirty="0"/>
              <a:t>.</a:t>
            </a:r>
          </a:p>
          <a:p>
            <a:pPr>
              <a:lnSpc>
                <a:spcPct val="100000"/>
              </a:lnSpc>
              <a:spcBef>
                <a:spcPts val="0"/>
              </a:spcBef>
            </a:pPr>
            <a:r>
              <a:rPr lang="zh-CN" altLang="en-US" sz="2400" dirty="0"/>
              <a:t>我当然不能过去</a:t>
            </a:r>
            <a:r>
              <a:rPr lang="en-US" altLang="zh-CN" sz="2400" dirty="0"/>
              <a:t>, </a:t>
            </a:r>
            <a:r>
              <a:rPr lang="zh-CN" altLang="en-US" sz="2400" dirty="0"/>
              <a:t>不过我也跟他们老总谈了我很感兴趣 非常感兴趣 我们老板也说没问题 下周我们就去上海具体谈判 </a:t>
            </a:r>
          </a:p>
          <a:p>
            <a:pPr>
              <a:lnSpc>
                <a:spcPct val="100000"/>
              </a:lnSpc>
              <a:spcBef>
                <a:spcPts val="0"/>
              </a:spcBef>
            </a:pPr>
            <a:r>
              <a:rPr lang="zh-CN" altLang="en-US" sz="2400" dirty="0"/>
              <a:t>然后下周</a:t>
            </a:r>
            <a:r>
              <a:rPr lang="en-US" altLang="zh-CN" sz="2400" dirty="0"/>
              <a:t>T</a:t>
            </a:r>
            <a:r>
              <a:rPr lang="zh-CN" altLang="en-US" sz="2400" dirty="0"/>
              <a:t>就一直催我</a:t>
            </a:r>
            <a:r>
              <a:rPr lang="en-US" altLang="zh-CN" sz="2400" dirty="0"/>
              <a:t>,</a:t>
            </a:r>
            <a:r>
              <a:rPr lang="zh-CN" altLang="en-US" sz="2400" dirty="0"/>
              <a:t>我一直推说我这里有点小问题 后来在他们老总也跟我联系问我什么时间过去 我告诉他现在有另外一家和你们做同样产品的公司联系我们 到我们这里做了演示 不过不是我联系的是公司的一个市场部经理牵头的 所以投资的事情暂缓。我并在通话中透漏了我的私欲 “放心吧我不会让那经理得逞的</a:t>
            </a:r>
            <a:r>
              <a:rPr lang="en-US" altLang="zh-CN" sz="2400" dirty="0"/>
              <a:t>!” </a:t>
            </a:r>
            <a:r>
              <a:rPr lang="zh-CN" altLang="en-US" sz="2400" dirty="0"/>
              <a:t>也给了对方老总充分的安慰”如果有什么动态我会即时的通知你</a:t>
            </a:r>
            <a:r>
              <a:rPr lang="en-US" altLang="zh-CN" sz="2400" dirty="0"/>
              <a:t>,</a:t>
            </a:r>
            <a:r>
              <a:rPr lang="zh-CN" altLang="en-US" sz="2400" dirty="0"/>
              <a:t>希望*总能配合我”</a:t>
            </a:r>
          </a:p>
        </p:txBody>
      </p:sp>
    </p:spTree>
    <p:extLst>
      <p:ext uri="{BB962C8B-B14F-4D97-AF65-F5344CB8AC3E}">
        <p14:creationId xmlns:p14="http://schemas.microsoft.com/office/powerpoint/2010/main" val="1205209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en-US" dirty="0"/>
              <a:t>案例三（续）</a:t>
            </a:r>
          </a:p>
        </p:txBody>
      </p:sp>
      <p:sp>
        <p:nvSpPr>
          <p:cNvPr id="20483" name="Rectangle 3"/>
          <p:cNvSpPr>
            <a:spLocks noGrp="1" noChangeArrowheads="1"/>
          </p:cNvSpPr>
          <p:nvPr>
            <p:ph type="body" idx="1"/>
          </p:nvPr>
        </p:nvSpPr>
        <p:spPr>
          <a:xfrm>
            <a:off x="521652" y="1386522"/>
            <a:ext cx="8043227" cy="5273357"/>
          </a:xfrm>
        </p:spPr>
        <p:txBody>
          <a:bodyPr/>
          <a:lstStyle/>
          <a:p>
            <a:pPr>
              <a:lnSpc>
                <a:spcPts val="4200"/>
              </a:lnSpc>
              <a:spcBef>
                <a:spcPts val="0"/>
              </a:spcBef>
            </a:pPr>
            <a:r>
              <a:rPr lang="zh-CN" altLang="en-US" sz="2800" dirty="0"/>
              <a:t>两天后的早上，我拨了他老总的电话告诉他 对方公司的演示我已经看到了。告诉他们希望让</a:t>
            </a:r>
            <a:r>
              <a:rPr lang="en-US" altLang="zh-CN" sz="2800" dirty="0"/>
              <a:t>T</a:t>
            </a:r>
            <a:r>
              <a:rPr lang="zh-CN" altLang="en-US" sz="2800" dirty="0"/>
              <a:t>能配合一下找找那家公司产品上的不足</a:t>
            </a:r>
            <a:r>
              <a:rPr lang="en-US" altLang="zh-CN" sz="2800" dirty="0"/>
              <a:t>…</a:t>
            </a:r>
            <a:r>
              <a:rPr lang="zh-CN" altLang="en-US" sz="2800" dirty="0"/>
              <a:t>这样我有理由说服我的老板，</a:t>
            </a:r>
            <a:r>
              <a:rPr lang="en-US" altLang="zh-CN" sz="2800" dirty="0"/>
              <a:t>T</a:t>
            </a:r>
            <a:r>
              <a:rPr lang="zh-CN" altLang="en-US" sz="2800" dirty="0"/>
              <a:t>的老总说没问题，上班就让</a:t>
            </a:r>
            <a:r>
              <a:rPr lang="en-US" altLang="zh-CN" sz="2800" dirty="0"/>
              <a:t>T</a:t>
            </a:r>
            <a:r>
              <a:rPr lang="zh-CN" altLang="en-US" sz="2800" dirty="0"/>
              <a:t>联系我</a:t>
            </a:r>
            <a:r>
              <a:rPr lang="en-US" altLang="zh-CN" sz="2800" dirty="0"/>
              <a:t>. </a:t>
            </a:r>
            <a:r>
              <a:rPr lang="zh-CN" altLang="en-US" sz="2800" dirty="0"/>
              <a:t>（我绕过了</a:t>
            </a:r>
            <a:r>
              <a:rPr lang="en-US" altLang="zh-CN" sz="2800" dirty="0"/>
              <a:t>T</a:t>
            </a:r>
            <a:r>
              <a:rPr lang="zh-CN" altLang="en-US" sz="2800" dirty="0"/>
              <a:t>让他的老总告诉他这样就更可信了</a:t>
            </a:r>
            <a:r>
              <a:rPr lang="en-US" altLang="zh-CN" sz="2800" dirty="0"/>
              <a:t>,</a:t>
            </a:r>
            <a:r>
              <a:rPr lang="zh-CN" altLang="en-US" sz="2800" dirty="0"/>
              <a:t>借刀杀人说的就这招吧</a:t>
            </a:r>
            <a:r>
              <a:rPr lang="en-US" altLang="zh-CN" sz="2800" dirty="0"/>
              <a:t>!</a:t>
            </a:r>
            <a:r>
              <a:rPr lang="zh-CN" altLang="en-US" sz="2800" dirty="0"/>
              <a:t>） </a:t>
            </a:r>
          </a:p>
          <a:p>
            <a:pPr>
              <a:lnSpc>
                <a:spcPts val="4200"/>
              </a:lnSpc>
              <a:spcBef>
                <a:spcPts val="0"/>
              </a:spcBef>
            </a:pPr>
            <a:r>
              <a:rPr lang="zh-CN" altLang="en-US" sz="2800" dirty="0"/>
              <a:t>这里我把之前渗透的那家公司的网站根目录放置了一个名为</a:t>
            </a:r>
            <a:r>
              <a:rPr lang="en-US" altLang="zh-CN" sz="2800" dirty="0"/>
              <a:t>/</a:t>
            </a:r>
            <a:r>
              <a:rPr lang="en-US" altLang="zh-CN" sz="2800" dirty="0" err="1"/>
              <a:t>pdemo.rar</a:t>
            </a:r>
            <a:r>
              <a:rPr lang="zh-CN" altLang="en-US" sz="2800" dirty="0"/>
              <a:t>的文件包 里面塞了一些文档放了一个</a:t>
            </a:r>
            <a:r>
              <a:rPr lang="en-US" altLang="zh-CN" sz="2800" dirty="0"/>
              <a:t>demo.exe</a:t>
            </a:r>
            <a:r>
              <a:rPr lang="zh-CN" altLang="en-US" sz="2800" dirty="0"/>
              <a:t>文件 </a:t>
            </a:r>
          </a:p>
        </p:txBody>
      </p:sp>
    </p:spTree>
    <p:extLst>
      <p:ext uri="{BB962C8B-B14F-4D97-AF65-F5344CB8AC3E}">
        <p14:creationId xmlns:p14="http://schemas.microsoft.com/office/powerpoint/2010/main" val="27242875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zh-CN" altLang="en-US" dirty="0"/>
              <a:t>案例三（续）</a:t>
            </a:r>
          </a:p>
        </p:txBody>
      </p:sp>
      <p:sp>
        <p:nvSpPr>
          <p:cNvPr id="21507" name="Rectangle 3"/>
          <p:cNvSpPr>
            <a:spLocks noGrp="1" noChangeArrowheads="1"/>
          </p:cNvSpPr>
          <p:nvPr>
            <p:ph type="body" idx="1"/>
          </p:nvPr>
        </p:nvSpPr>
        <p:spPr>
          <a:xfrm>
            <a:off x="506413" y="1295083"/>
            <a:ext cx="7772400" cy="4922838"/>
          </a:xfrm>
        </p:spPr>
        <p:txBody>
          <a:bodyPr/>
          <a:lstStyle/>
          <a:p>
            <a:pPr>
              <a:lnSpc>
                <a:spcPts val="4200"/>
              </a:lnSpc>
              <a:spcBef>
                <a:spcPts val="0"/>
              </a:spcBef>
            </a:pPr>
            <a:r>
              <a:rPr lang="zh-CN" altLang="en-US" sz="2800" dirty="0"/>
              <a:t>下面的事情</a:t>
            </a:r>
            <a:r>
              <a:rPr lang="en-US" altLang="zh-CN" sz="2800" dirty="0"/>
              <a:t>…</a:t>
            </a:r>
            <a:r>
              <a:rPr lang="zh-CN" altLang="en-US" sz="2800" dirty="0"/>
              <a:t>就不用再说了 整个竞争心理社会工程学攻击实施完毕</a:t>
            </a:r>
          </a:p>
          <a:p>
            <a:pPr>
              <a:lnSpc>
                <a:spcPts val="4200"/>
              </a:lnSpc>
              <a:spcBef>
                <a:spcPts val="0"/>
              </a:spcBef>
            </a:pPr>
            <a:r>
              <a:rPr lang="zh-CN" altLang="en-US" sz="2800" dirty="0"/>
              <a:t>后续的日子里，我告诉</a:t>
            </a:r>
            <a:r>
              <a:rPr lang="en-US" altLang="zh-CN" sz="2800" dirty="0"/>
              <a:t>T</a:t>
            </a:r>
            <a:r>
              <a:rPr lang="zh-CN" altLang="en-US" sz="2800" dirty="0"/>
              <a:t>让他给我做一个文档详细关于两个产品的比较的文档 这样我有充足的时间看他机器上的文件</a:t>
            </a:r>
            <a:r>
              <a:rPr lang="en-US" altLang="zh-CN" sz="2800" dirty="0"/>
              <a:t>…</a:t>
            </a:r>
            <a:r>
              <a:rPr lang="zh-CN" altLang="en-US" sz="2800" dirty="0"/>
              <a:t>我截获了邮箱的密码，从邮箱找到了</a:t>
            </a:r>
            <a:r>
              <a:rPr lang="en-US" altLang="zh-CN" sz="2800" dirty="0"/>
              <a:t>VPN</a:t>
            </a:r>
            <a:r>
              <a:rPr lang="zh-CN" altLang="en-US" sz="2800" dirty="0"/>
              <a:t>帐户、办公系统帐户，并拿到了</a:t>
            </a:r>
            <a:r>
              <a:rPr lang="en-US" altLang="zh-CN" sz="2800" dirty="0"/>
              <a:t>VPN</a:t>
            </a:r>
            <a:r>
              <a:rPr lang="zh-CN" altLang="en-US" sz="2800" dirty="0"/>
              <a:t>后的两台服务器 并安装嗅探工具。到最后</a:t>
            </a:r>
            <a:r>
              <a:rPr lang="en-US" altLang="zh-CN" sz="2800" dirty="0"/>
              <a:t>,</a:t>
            </a:r>
            <a:r>
              <a:rPr lang="zh-CN" altLang="en-US" sz="2800" dirty="0"/>
              <a:t>就是几乎所有他们公司服务器。当然还有我想要的一些源代码</a:t>
            </a:r>
            <a:r>
              <a:rPr lang="en-US" altLang="zh-CN" sz="2800" dirty="0"/>
              <a:t>… </a:t>
            </a:r>
          </a:p>
        </p:txBody>
      </p:sp>
    </p:spTree>
    <p:extLst>
      <p:ext uri="{BB962C8B-B14F-4D97-AF65-F5344CB8AC3E}">
        <p14:creationId xmlns:p14="http://schemas.microsoft.com/office/powerpoint/2010/main" val="18532974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案例四</a:t>
            </a:r>
            <a:r>
              <a:rPr lang="en-US" altLang="zh-CN" dirty="0"/>
              <a:t>-2020Twitter</a:t>
            </a:r>
            <a:r>
              <a:rPr lang="zh-CN" altLang="en-US" dirty="0"/>
              <a:t>被黑</a:t>
            </a:r>
          </a:p>
        </p:txBody>
      </p:sp>
      <p:pic>
        <p:nvPicPr>
          <p:cNvPr id="4" name="图片 3"/>
          <p:cNvPicPr>
            <a:picLocks noChangeAspect="1"/>
          </p:cNvPicPr>
          <p:nvPr/>
        </p:nvPicPr>
        <p:blipFill>
          <a:blip r:embed="rId3"/>
          <a:stretch>
            <a:fillRect/>
          </a:stretch>
        </p:blipFill>
        <p:spPr>
          <a:xfrm>
            <a:off x="838200" y="1266825"/>
            <a:ext cx="6534150" cy="1781175"/>
          </a:xfrm>
          <a:prstGeom prst="rect">
            <a:avLst/>
          </a:prstGeom>
          <a:ln>
            <a:solidFill>
              <a:srgbClr val="FF0000"/>
            </a:solidFill>
          </a:ln>
        </p:spPr>
      </p:pic>
      <p:pic>
        <p:nvPicPr>
          <p:cNvPr id="5" name="图片 4"/>
          <p:cNvPicPr>
            <a:picLocks noChangeAspect="1"/>
          </p:cNvPicPr>
          <p:nvPr/>
        </p:nvPicPr>
        <p:blipFill>
          <a:blip r:embed="rId4"/>
          <a:stretch>
            <a:fillRect/>
          </a:stretch>
        </p:blipFill>
        <p:spPr>
          <a:xfrm>
            <a:off x="7372350" y="142875"/>
            <a:ext cx="1571625" cy="1123950"/>
          </a:xfrm>
          <a:prstGeom prst="rect">
            <a:avLst/>
          </a:prstGeom>
        </p:spPr>
      </p:pic>
      <p:pic>
        <p:nvPicPr>
          <p:cNvPr id="6" name="图片 5"/>
          <p:cNvPicPr>
            <a:picLocks noChangeAspect="1"/>
          </p:cNvPicPr>
          <p:nvPr/>
        </p:nvPicPr>
        <p:blipFill>
          <a:blip r:embed="rId5"/>
          <a:stretch>
            <a:fillRect/>
          </a:stretch>
        </p:blipFill>
        <p:spPr>
          <a:xfrm>
            <a:off x="838200" y="3611563"/>
            <a:ext cx="6734175" cy="1123950"/>
          </a:xfrm>
          <a:prstGeom prst="rect">
            <a:avLst/>
          </a:prstGeom>
          <a:ln>
            <a:solidFill>
              <a:srgbClr val="0070C0"/>
            </a:solidFill>
          </a:ln>
        </p:spPr>
      </p:pic>
      <p:pic>
        <p:nvPicPr>
          <p:cNvPr id="7" name="图片 6"/>
          <p:cNvPicPr>
            <a:picLocks noChangeAspect="1"/>
          </p:cNvPicPr>
          <p:nvPr/>
        </p:nvPicPr>
        <p:blipFill>
          <a:blip r:embed="rId6"/>
          <a:stretch>
            <a:fillRect/>
          </a:stretch>
        </p:blipFill>
        <p:spPr>
          <a:xfrm>
            <a:off x="1630363" y="2061953"/>
            <a:ext cx="6800850" cy="3981450"/>
          </a:xfrm>
          <a:prstGeom prst="rect">
            <a:avLst/>
          </a:prstGeom>
          <a:ln>
            <a:solidFill>
              <a:srgbClr val="FF0000"/>
            </a:solidFill>
          </a:ln>
        </p:spPr>
      </p:pic>
    </p:spTree>
    <p:extLst>
      <p:ext uri="{BB962C8B-B14F-4D97-AF65-F5344CB8AC3E}">
        <p14:creationId xmlns:p14="http://schemas.microsoft.com/office/powerpoint/2010/main" val="3477682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0.70"/>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案例四</a:t>
            </a:r>
            <a:r>
              <a:rPr lang="en-US" altLang="zh-CN" dirty="0"/>
              <a:t>-2020Twitter</a:t>
            </a:r>
            <a:r>
              <a:rPr lang="zh-CN" altLang="en-US" dirty="0"/>
              <a:t>被黑</a:t>
            </a:r>
          </a:p>
        </p:txBody>
      </p:sp>
      <p:pic>
        <p:nvPicPr>
          <p:cNvPr id="5" name="图片 4"/>
          <p:cNvPicPr>
            <a:picLocks noChangeAspect="1"/>
          </p:cNvPicPr>
          <p:nvPr/>
        </p:nvPicPr>
        <p:blipFill>
          <a:blip r:embed="rId3"/>
          <a:stretch>
            <a:fillRect/>
          </a:stretch>
        </p:blipFill>
        <p:spPr>
          <a:xfrm>
            <a:off x="7372350" y="142875"/>
            <a:ext cx="1571625" cy="1123950"/>
          </a:xfrm>
          <a:prstGeom prst="rect">
            <a:avLst/>
          </a:prstGeom>
        </p:spPr>
      </p:pic>
      <p:pic>
        <p:nvPicPr>
          <p:cNvPr id="8" name="图片 7"/>
          <p:cNvPicPr>
            <a:picLocks noChangeAspect="1"/>
          </p:cNvPicPr>
          <p:nvPr/>
        </p:nvPicPr>
        <p:blipFill>
          <a:blip r:embed="rId4"/>
          <a:stretch>
            <a:fillRect/>
          </a:stretch>
        </p:blipFill>
        <p:spPr>
          <a:xfrm>
            <a:off x="945491" y="1950978"/>
            <a:ext cx="6838950" cy="2724150"/>
          </a:xfrm>
          <a:prstGeom prst="rect">
            <a:avLst/>
          </a:prstGeom>
        </p:spPr>
      </p:pic>
    </p:spTree>
    <p:extLst>
      <p:ext uri="{BB962C8B-B14F-4D97-AF65-F5344CB8AC3E}">
        <p14:creationId xmlns:p14="http://schemas.microsoft.com/office/powerpoint/2010/main" val="1702818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dirty="0"/>
          </a:p>
        </p:txBody>
      </p:sp>
      <p:sp>
        <p:nvSpPr>
          <p:cNvPr id="3" name="标题 2"/>
          <p:cNvSpPr>
            <a:spLocks noGrp="1"/>
          </p:cNvSpPr>
          <p:nvPr>
            <p:ph type="title"/>
          </p:nvPr>
        </p:nvSpPr>
        <p:spPr/>
        <p:txBody>
          <a:bodyPr/>
          <a:lstStyle/>
          <a:p>
            <a:r>
              <a:rPr lang="zh-CN" altLang="en-US" dirty="0"/>
              <a:t>案例四</a:t>
            </a:r>
            <a:r>
              <a:rPr lang="en-US" altLang="zh-CN" dirty="0"/>
              <a:t>-2020Twitter</a:t>
            </a:r>
            <a:r>
              <a:rPr lang="zh-CN" altLang="en-US" dirty="0"/>
              <a:t>被黑</a:t>
            </a:r>
          </a:p>
        </p:txBody>
      </p:sp>
      <p:pic>
        <p:nvPicPr>
          <p:cNvPr id="5" name="图片 4"/>
          <p:cNvPicPr>
            <a:picLocks noChangeAspect="1"/>
          </p:cNvPicPr>
          <p:nvPr/>
        </p:nvPicPr>
        <p:blipFill>
          <a:blip r:embed="rId3"/>
          <a:stretch>
            <a:fillRect/>
          </a:stretch>
        </p:blipFill>
        <p:spPr>
          <a:xfrm>
            <a:off x="7372350" y="142875"/>
            <a:ext cx="1571625" cy="1123950"/>
          </a:xfrm>
          <a:prstGeom prst="rect">
            <a:avLst/>
          </a:prstGeom>
        </p:spPr>
      </p:pic>
      <p:pic>
        <p:nvPicPr>
          <p:cNvPr id="4" name="图片 3"/>
          <p:cNvPicPr>
            <a:picLocks noChangeAspect="1"/>
          </p:cNvPicPr>
          <p:nvPr/>
        </p:nvPicPr>
        <p:blipFill>
          <a:blip r:embed="rId4"/>
          <a:stretch>
            <a:fillRect/>
          </a:stretch>
        </p:blipFill>
        <p:spPr>
          <a:xfrm>
            <a:off x="1190625" y="1995487"/>
            <a:ext cx="6762750" cy="2867025"/>
          </a:xfrm>
          <a:prstGeom prst="rect">
            <a:avLst/>
          </a:prstGeom>
          <a:ln>
            <a:solidFill>
              <a:srgbClr val="FF0000"/>
            </a:solidFill>
          </a:ln>
        </p:spPr>
      </p:pic>
    </p:spTree>
    <p:extLst>
      <p:ext uri="{BB962C8B-B14F-4D97-AF65-F5344CB8AC3E}">
        <p14:creationId xmlns:p14="http://schemas.microsoft.com/office/powerpoint/2010/main" val="16428126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22386" y="4802745"/>
            <a:ext cx="3333333" cy="1723810"/>
          </a:xfrm>
        </p:spPr>
      </p:pic>
      <p:sp>
        <p:nvSpPr>
          <p:cNvPr id="3" name="标题 2"/>
          <p:cNvSpPr>
            <a:spLocks noGrp="1"/>
          </p:cNvSpPr>
          <p:nvPr>
            <p:ph type="title"/>
          </p:nvPr>
        </p:nvSpPr>
        <p:spPr/>
        <p:txBody>
          <a:bodyPr/>
          <a:lstStyle/>
          <a:p>
            <a:r>
              <a:rPr lang="zh-CN" altLang="en-US" dirty="0"/>
              <a:t>案例四</a:t>
            </a:r>
            <a:r>
              <a:rPr lang="en-US" altLang="zh-CN" dirty="0"/>
              <a:t>-2020Twitter</a:t>
            </a:r>
            <a:r>
              <a:rPr lang="zh-CN" altLang="en-US" dirty="0"/>
              <a:t>被黑</a:t>
            </a:r>
          </a:p>
        </p:txBody>
      </p:sp>
      <p:pic>
        <p:nvPicPr>
          <p:cNvPr id="5" name="图片 4"/>
          <p:cNvPicPr>
            <a:picLocks noChangeAspect="1"/>
          </p:cNvPicPr>
          <p:nvPr/>
        </p:nvPicPr>
        <p:blipFill>
          <a:blip r:embed="rId4"/>
          <a:stretch>
            <a:fillRect/>
          </a:stretch>
        </p:blipFill>
        <p:spPr>
          <a:xfrm>
            <a:off x="7372350" y="142875"/>
            <a:ext cx="1571625" cy="1123950"/>
          </a:xfrm>
          <a:prstGeom prst="rect">
            <a:avLst/>
          </a:prstGeom>
        </p:spPr>
      </p:pic>
      <p:pic>
        <p:nvPicPr>
          <p:cNvPr id="6" name="图片 5"/>
          <p:cNvPicPr>
            <a:picLocks noChangeAspect="1"/>
          </p:cNvPicPr>
          <p:nvPr/>
        </p:nvPicPr>
        <p:blipFill>
          <a:blip r:embed="rId5"/>
          <a:stretch>
            <a:fillRect/>
          </a:stretch>
        </p:blipFill>
        <p:spPr>
          <a:xfrm>
            <a:off x="149090" y="1364220"/>
            <a:ext cx="6934200" cy="3438525"/>
          </a:xfrm>
          <a:prstGeom prst="rect">
            <a:avLst/>
          </a:prstGeom>
          <a:ln>
            <a:solidFill>
              <a:srgbClr val="FF0000"/>
            </a:solidFill>
          </a:ln>
        </p:spPr>
      </p:pic>
      <p:pic>
        <p:nvPicPr>
          <p:cNvPr id="8" name="图片 7"/>
          <p:cNvPicPr>
            <a:picLocks noChangeAspect="1"/>
          </p:cNvPicPr>
          <p:nvPr/>
        </p:nvPicPr>
        <p:blipFill>
          <a:blip r:embed="rId6"/>
          <a:stretch>
            <a:fillRect/>
          </a:stretch>
        </p:blipFill>
        <p:spPr>
          <a:xfrm>
            <a:off x="1300162" y="1529320"/>
            <a:ext cx="6858000" cy="4867275"/>
          </a:xfrm>
          <a:prstGeom prst="rect">
            <a:avLst/>
          </a:prstGeom>
          <a:ln>
            <a:solidFill>
              <a:srgbClr val="0070C0"/>
            </a:solidFill>
          </a:ln>
        </p:spPr>
      </p:pic>
    </p:spTree>
    <p:extLst>
      <p:ext uri="{BB962C8B-B14F-4D97-AF65-F5344CB8AC3E}">
        <p14:creationId xmlns:p14="http://schemas.microsoft.com/office/powerpoint/2010/main" val="170705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案例四</a:t>
            </a:r>
            <a:r>
              <a:rPr lang="en-US" altLang="zh-CN" dirty="0"/>
              <a:t>-2020Twitter</a:t>
            </a:r>
            <a:r>
              <a:rPr lang="zh-CN" altLang="en-US" dirty="0"/>
              <a:t>被黑</a:t>
            </a:r>
          </a:p>
        </p:txBody>
      </p:sp>
      <p:pic>
        <p:nvPicPr>
          <p:cNvPr id="4" name="图片 3"/>
          <p:cNvPicPr>
            <a:picLocks noChangeAspect="1"/>
          </p:cNvPicPr>
          <p:nvPr/>
        </p:nvPicPr>
        <p:blipFill>
          <a:blip r:embed="rId2"/>
          <a:stretch>
            <a:fillRect/>
          </a:stretch>
        </p:blipFill>
        <p:spPr>
          <a:xfrm>
            <a:off x="866955" y="1346170"/>
            <a:ext cx="6858000" cy="3648075"/>
          </a:xfrm>
          <a:prstGeom prst="rect">
            <a:avLst/>
          </a:prstGeom>
          <a:ln>
            <a:solidFill>
              <a:srgbClr val="FF0000"/>
            </a:solidFill>
          </a:ln>
        </p:spPr>
      </p:pic>
      <p:pic>
        <p:nvPicPr>
          <p:cNvPr id="5" name="图片 4"/>
          <p:cNvPicPr>
            <a:picLocks noChangeAspect="1"/>
          </p:cNvPicPr>
          <p:nvPr/>
        </p:nvPicPr>
        <p:blipFill>
          <a:blip r:embed="rId3"/>
          <a:stretch>
            <a:fillRect/>
          </a:stretch>
        </p:blipFill>
        <p:spPr>
          <a:xfrm>
            <a:off x="2066925" y="2074653"/>
            <a:ext cx="6877050" cy="4572000"/>
          </a:xfrm>
          <a:prstGeom prst="rect">
            <a:avLst/>
          </a:prstGeom>
          <a:ln>
            <a:solidFill>
              <a:srgbClr val="002060"/>
            </a:solidFill>
          </a:ln>
        </p:spPr>
      </p:pic>
    </p:spTree>
    <p:extLst>
      <p:ext uri="{BB962C8B-B14F-4D97-AF65-F5344CB8AC3E}">
        <p14:creationId xmlns:p14="http://schemas.microsoft.com/office/powerpoint/2010/main" val="304248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endParaRPr lang="zh-CN" altLang="en-US"/>
          </a:p>
        </p:txBody>
      </p:sp>
      <p:sp>
        <p:nvSpPr>
          <p:cNvPr id="3" name="标题 2"/>
          <p:cNvSpPr>
            <a:spLocks noGrp="1"/>
          </p:cNvSpPr>
          <p:nvPr>
            <p:ph type="title"/>
          </p:nvPr>
        </p:nvSpPr>
        <p:spPr/>
        <p:txBody>
          <a:bodyPr/>
          <a:lstStyle/>
          <a:p>
            <a:r>
              <a:rPr lang="zh-CN" altLang="en-US" dirty="0"/>
              <a:t>案例四</a:t>
            </a:r>
            <a:r>
              <a:rPr lang="en-US" altLang="zh-CN" dirty="0"/>
              <a:t>-2020Twitter</a:t>
            </a:r>
            <a:r>
              <a:rPr lang="zh-CN" altLang="en-US" dirty="0"/>
              <a:t>被黑</a:t>
            </a:r>
          </a:p>
        </p:txBody>
      </p:sp>
      <p:pic>
        <p:nvPicPr>
          <p:cNvPr id="4" name="图片 3"/>
          <p:cNvPicPr>
            <a:picLocks noChangeAspect="1"/>
          </p:cNvPicPr>
          <p:nvPr/>
        </p:nvPicPr>
        <p:blipFill>
          <a:blip r:embed="rId2"/>
          <a:stretch>
            <a:fillRect/>
          </a:stretch>
        </p:blipFill>
        <p:spPr>
          <a:xfrm>
            <a:off x="1144588" y="1554163"/>
            <a:ext cx="6800850" cy="4619625"/>
          </a:xfrm>
          <a:prstGeom prst="rect">
            <a:avLst/>
          </a:prstGeom>
          <a:ln>
            <a:solidFill>
              <a:srgbClr val="FF0000"/>
            </a:solidFill>
          </a:ln>
        </p:spPr>
      </p:pic>
    </p:spTree>
    <p:extLst>
      <p:ext uri="{BB962C8B-B14F-4D97-AF65-F5344CB8AC3E}">
        <p14:creationId xmlns:p14="http://schemas.microsoft.com/office/powerpoint/2010/main" val="337333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B5D25D5-C98F-4CAC-9D95-C4B3AD175C99}"/>
              </a:ext>
            </a:extLst>
          </p:cNvPr>
          <p:cNvSpPr>
            <a:spLocks noGrp="1"/>
          </p:cNvSpPr>
          <p:nvPr>
            <p:ph idx="1"/>
          </p:nvPr>
        </p:nvSpPr>
        <p:spPr>
          <a:xfrm>
            <a:off x="685800" y="1371600"/>
            <a:ext cx="7772400" cy="4114800"/>
          </a:xfrm>
        </p:spPr>
        <p:txBody>
          <a:bodyPr/>
          <a:lstStyle/>
          <a:p>
            <a:r>
              <a:rPr lang="en-US" altLang="zh-CN" sz="2800" dirty="0"/>
              <a:t>2020</a:t>
            </a:r>
            <a:r>
              <a:rPr lang="zh-CN" altLang="en-US" sz="2800" dirty="0"/>
              <a:t>年下半年至</a:t>
            </a:r>
            <a:r>
              <a:rPr lang="en-US" altLang="zh-CN" sz="2800" dirty="0"/>
              <a:t>2021</a:t>
            </a:r>
            <a:r>
              <a:rPr lang="zh-CN" altLang="en-US" sz="2800" dirty="0"/>
              <a:t>年初，谷歌威胁分析小组发现并确定了一个持续针对网络和漏洞安全研究人员的攻击活动。谷歌认为这项攻击的发起者来自朝鲜网军。需要注意的是，这起攻击活动成立的本身，</a:t>
            </a:r>
            <a:r>
              <a:rPr lang="zh-CN" altLang="en-US" sz="2800" dirty="0">
                <a:solidFill>
                  <a:srgbClr val="FF0000"/>
                </a:solidFill>
              </a:rPr>
              <a:t>在于实施社会工程学的人员精通漏洞分析和研究，在此基础上才能成功攻击多个漏洞研究人员。</a:t>
            </a:r>
          </a:p>
        </p:txBody>
      </p:sp>
      <p:sp>
        <p:nvSpPr>
          <p:cNvPr id="3" name="标题 2">
            <a:extLst>
              <a:ext uri="{FF2B5EF4-FFF2-40B4-BE49-F238E27FC236}">
                <a16:creationId xmlns:a16="http://schemas.microsoft.com/office/drawing/2014/main" id="{0A99C80D-0444-4866-9A4B-5669FD0B6AFD}"/>
              </a:ext>
            </a:extLst>
          </p:cNvPr>
          <p:cNvSpPr>
            <a:spLocks noGrp="1"/>
          </p:cNvSpPr>
          <p:nvPr>
            <p:ph type="title"/>
          </p:nvPr>
        </p:nvSpPr>
        <p:spPr/>
        <p:txBody>
          <a:bodyPr/>
          <a:lstStyle/>
          <a:p>
            <a:r>
              <a:rPr lang="zh-CN" altLang="en-US" dirty="0"/>
              <a:t>案例五</a:t>
            </a:r>
            <a:r>
              <a:rPr lang="en-US" altLang="zh-CN" dirty="0"/>
              <a:t>-</a:t>
            </a:r>
            <a:r>
              <a:rPr lang="zh-CN" altLang="en-US" dirty="0"/>
              <a:t>漏洞挖掘人员成为目标</a:t>
            </a:r>
          </a:p>
        </p:txBody>
      </p:sp>
      <p:pic>
        <p:nvPicPr>
          <p:cNvPr id="5" name="图片 4">
            <a:extLst>
              <a:ext uri="{FF2B5EF4-FFF2-40B4-BE49-F238E27FC236}">
                <a16:creationId xmlns:a16="http://schemas.microsoft.com/office/drawing/2014/main" id="{0FA79BE6-51DE-4360-947A-F366A48843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434" y="142874"/>
            <a:ext cx="8477132" cy="6572251"/>
          </a:xfrm>
          <a:prstGeom prst="rect">
            <a:avLst/>
          </a:prstGeom>
        </p:spPr>
      </p:pic>
      <p:pic>
        <p:nvPicPr>
          <p:cNvPr id="7" name="图片 6">
            <a:extLst>
              <a:ext uri="{FF2B5EF4-FFF2-40B4-BE49-F238E27FC236}">
                <a16:creationId xmlns:a16="http://schemas.microsoft.com/office/drawing/2014/main" id="{4B52347D-AE58-470B-90A3-C34B560CD6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37509" y="2490701"/>
            <a:ext cx="6657916" cy="1997133"/>
          </a:xfrm>
          <a:prstGeom prst="rect">
            <a:avLst/>
          </a:prstGeom>
          <a:ln>
            <a:solidFill>
              <a:srgbClr val="FF0000"/>
            </a:solidFill>
          </a:ln>
        </p:spPr>
      </p:pic>
    </p:spTree>
    <p:extLst>
      <p:ext uri="{BB962C8B-B14F-4D97-AF65-F5344CB8AC3E}">
        <p14:creationId xmlns:p14="http://schemas.microsoft.com/office/powerpoint/2010/main" val="215387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0.70"/>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B5D25D5-C98F-4CAC-9D95-C4B3AD175C99}"/>
              </a:ext>
            </a:extLst>
          </p:cNvPr>
          <p:cNvSpPr>
            <a:spLocks noGrp="1"/>
          </p:cNvSpPr>
          <p:nvPr>
            <p:ph idx="1"/>
          </p:nvPr>
        </p:nvSpPr>
        <p:spPr>
          <a:xfrm>
            <a:off x="685800" y="1371600"/>
            <a:ext cx="7772400" cy="4114800"/>
          </a:xfrm>
        </p:spPr>
        <p:txBody>
          <a:bodyPr/>
          <a:lstStyle/>
          <a:p>
            <a:endParaRPr lang="zh-CN" altLang="en-US" sz="2800" dirty="0">
              <a:solidFill>
                <a:srgbClr val="FF0000"/>
              </a:solidFill>
            </a:endParaRPr>
          </a:p>
        </p:txBody>
      </p:sp>
      <p:sp>
        <p:nvSpPr>
          <p:cNvPr id="3" name="标题 2">
            <a:extLst>
              <a:ext uri="{FF2B5EF4-FFF2-40B4-BE49-F238E27FC236}">
                <a16:creationId xmlns:a16="http://schemas.microsoft.com/office/drawing/2014/main" id="{0A99C80D-0444-4866-9A4B-5669FD0B6AFD}"/>
              </a:ext>
            </a:extLst>
          </p:cNvPr>
          <p:cNvSpPr>
            <a:spLocks noGrp="1"/>
          </p:cNvSpPr>
          <p:nvPr>
            <p:ph type="title"/>
          </p:nvPr>
        </p:nvSpPr>
        <p:spPr/>
        <p:txBody>
          <a:bodyPr/>
          <a:lstStyle/>
          <a:p>
            <a:r>
              <a:rPr lang="zh-CN" altLang="en-US" dirty="0"/>
              <a:t>案例五</a:t>
            </a:r>
            <a:r>
              <a:rPr lang="en-US" altLang="zh-CN" dirty="0"/>
              <a:t>-</a:t>
            </a:r>
            <a:r>
              <a:rPr lang="zh-CN" altLang="en-US" dirty="0"/>
              <a:t>漏洞挖掘人员成为目标</a:t>
            </a:r>
          </a:p>
        </p:txBody>
      </p:sp>
      <p:pic>
        <p:nvPicPr>
          <p:cNvPr id="4" name="图片 3">
            <a:extLst>
              <a:ext uri="{FF2B5EF4-FFF2-40B4-BE49-F238E27FC236}">
                <a16:creationId xmlns:a16="http://schemas.microsoft.com/office/drawing/2014/main" id="{B2247385-6DB9-4F33-882E-AB12B28F38AB}"/>
              </a:ext>
            </a:extLst>
          </p:cNvPr>
          <p:cNvPicPr>
            <a:picLocks noChangeAspect="1"/>
          </p:cNvPicPr>
          <p:nvPr/>
        </p:nvPicPr>
        <p:blipFill>
          <a:blip r:embed="rId3"/>
          <a:stretch>
            <a:fillRect/>
          </a:stretch>
        </p:blipFill>
        <p:spPr>
          <a:xfrm>
            <a:off x="278477" y="1392382"/>
            <a:ext cx="6858000" cy="4714875"/>
          </a:xfrm>
          <a:prstGeom prst="rect">
            <a:avLst/>
          </a:prstGeom>
        </p:spPr>
      </p:pic>
      <p:pic>
        <p:nvPicPr>
          <p:cNvPr id="6" name="图片 5">
            <a:extLst>
              <a:ext uri="{FF2B5EF4-FFF2-40B4-BE49-F238E27FC236}">
                <a16:creationId xmlns:a16="http://schemas.microsoft.com/office/drawing/2014/main" id="{71E4CE3C-FA1D-49FB-87A2-AE7D4AD29B23}"/>
              </a:ext>
            </a:extLst>
          </p:cNvPr>
          <p:cNvPicPr>
            <a:picLocks noChangeAspect="1"/>
          </p:cNvPicPr>
          <p:nvPr/>
        </p:nvPicPr>
        <p:blipFill>
          <a:blip r:embed="rId4"/>
          <a:stretch>
            <a:fillRect/>
          </a:stretch>
        </p:blipFill>
        <p:spPr>
          <a:xfrm>
            <a:off x="1704802" y="1603490"/>
            <a:ext cx="6819900" cy="4781550"/>
          </a:xfrm>
          <a:prstGeom prst="rect">
            <a:avLst/>
          </a:prstGeom>
          <a:ln>
            <a:solidFill>
              <a:srgbClr val="FF0000"/>
            </a:solidFill>
          </a:ln>
        </p:spPr>
      </p:pic>
      <p:pic>
        <p:nvPicPr>
          <p:cNvPr id="7" name="图片 6">
            <a:extLst>
              <a:ext uri="{FF2B5EF4-FFF2-40B4-BE49-F238E27FC236}">
                <a16:creationId xmlns:a16="http://schemas.microsoft.com/office/drawing/2014/main" id="{9AFE4B22-8947-44D1-84EF-EC4E6D084F8B}"/>
              </a:ext>
            </a:extLst>
          </p:cNvPr>
          <p:cNvPicPr>
            <a:picLocks noChangeAspect="1"/>
          </p:cNvPicPr>
          <p:nvPr/>
        </p:nvPicPr>
        <p:blipFill>
          <a:blip r:embed="rId5"/>
          <a:stretch>
            <a:fillRect/>
          </a:stretch>
        </p:blipFill>
        <p:spPr>
          <a:xfrm>
            <a:off x="609773" y="2574925"/>
            <a:ext cx="6829425" cy="3181350"/>
          </a:xfrm>
          <a:prstGeom prst="rect">
            <a:avLst/>
          </a:prstGeom>
        </p:spPr>
      </p:pic>
    </p:spTree>
    <p:extLst>
      <p:ext uri="{BB962C8B-B14F-4D97-AF65-F5344CB8AC3E}">
        <p14:creationId xmlns:p14="http://schemas.microsoft.com/office/powerpoint/2010/main" val="401867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1000" fill="hold"/>
                                        <p:tgtEl>
                                          <p:spTgt spid="7"/>
                                        </p:tgtEl>
                                        <p:attrNameLst>
                                          <p:attrName>ppt_w</p:attrName>
                                        </p:attrNameLst>
                                      </p:cBhvr>
                                      <p:tavLst>
                                        <p:tav tm="0">
                                          <p:val>
                                            <p:strVal val="#ppt_w*0.70"/>
                                          </p:val>
                                        </p:tav>
                                        <p:tav tm="100000">
                                          <p:val>
                                            <p:strVal val="#ppt_w"/>
                                          </p:val>
                                        </p:tav>
                                      </p:tavLst>
                                    </p:anim>
                                    <p:anim calcmode="lin" valueType="num">
                                      <p:cBhvr>
                                        <p:cTn id="15" dur="1000" fill="hold"/>
                                        <p:tgtEl>
                                          <p:spTgt spid="7"/>
                                        </p:tgtEl>
                                        <p:attrNameLst>
                                          <p:attrName>ppt_h</p:attrName>
                                        </p:attrNameLst>
                                      </p:cBhvr>
                                      <p:tavLst>
                                        <p:tav tm="0">
                                          <p:val>
                                            <p:strVal val="#ppt_h"/>
                                          </p:val>
                                        </p:tav>
                                        <p:tav tm="100000">
                                          <p:val>
                                            <p:strVal val="#ppt_h"/>
                                          </p:val>
                                        </p:tav>
                                      </p:tavLst>
                                    </p:anim>
                                    <p:animEffect transition="in" filter="fade">
                                      <p:cBhvr>
                                        <p:cTn id="1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CD204DFD-948B-417D-B869-B2107DA37BB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17873" y="2165752"/>
            <a:ext cx="6858352" cy="3822896"/>
          </a:xfrm>
        </p:spPr>
      </p:pic>
      <p:sp>
        <p:nvSpPr>
          <p:cNvPr id="3" name="标题 2">
            <a:extLst>
              <a:ext uri="{FF2B5EF4-FFF2-40B4-BE49-F238E27FC236}">
                <a16:creationId xmlns:a16="http://schemas.microsoft.com/office/drawing/2014/main" id="{43D1CE9D-AA8D-4E3A-AE36-EAD8EE2BB5D7}"/>
              </a:ext>
            </a:extLst>
          </p:cNvPr>
          <p:cNvSpPr>
            <a:spLocks noGrp="1"/>
          </p:cNvSpPr>
          <p:nvPr>
            <p:ph type="title"/>
          </p:nvPr>
        </p:nvSpPr>
        <p:spPr/>
        <p:txBody>
          <a:bodyPr/>
          <a:lstStyle/>
          <a:p>
            <a:r>
              <a:rPr lang="zh-CN" altLang="en-US" dirty="0"/>
              <a:t>实战攻防演习中的钓鱼攻击</a:t>
            </a:r>
          </a:p>
        </p:txBody>
      </p:sp>
      <p:pic>
        <p:nvPicPr>
          <p:cNvPr id="6" name="图片 5">
            <a:extLst>
              <a:ext uri="{FF2B5EF4-FFF2-40B4-BE49-F238E27FC236}">
                <a16:creationId xmlns:a16="http://schemas.microsoft.com/office/drawing/2014/main" id="{1CCB8C42-4BC2-4782-B0B7-C28D303CA31A}"/>
              </a:ext>
            </a:extLst>
          </p:cNvPr>
          <p:cNvPicPr>
            <a:picLocks noChangeAspect="1"/>
          </p:cNvPicPr>
          <p:nvPr/>
        </p:nvPicPr>
        <p:blipFill>
          <a:blip r:embed="rId4"/>
          <a:stretch>
            <a:fillRect/>
          </a:stretch>
        </p:blipFill>
        <p:spPr>
          <a:xfrm>
            <a:off x="939598" y="6424815"/>
            <a:ext cx="2543175" cy="228600"/>
          </a:xfrm>
          <a:prstGeom prst="rect">
            <a:avLst/>
          </a:prstGeom>
        </p:spPr>
      </p:pic>
      <p:pic>
        <p:nvPicPr>
          <p:cNvPr id="8" name="图片 7">
            <a:extLst>
              <a:ext uri="{FF2B5EF4-FFF2-40B4-BE49-F238E27FC236}">
                <a16:creationId xmlns:a16="http://schemas.microsoft.com/office/drawing/2014/main" id="{2A8D55E0-96B2-4CC3-B64F-3378FCC26D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598" y="1404185"/>
            <a:ext cx="7414903" cy="2103302"/>
          </a:xfrm>
          <a:prstGeom prst="rect">
            <a:avLst/>
          </a:prstGeom>
        </p:spPr>
      </p:pic>
      <p:pic>
        <p:nvPicPr>
          <p:cNvPr id="10" name="图片 9">
            <a:extLst>
              <a:ext uri="{FF2B5EF4-FFF2-40B4-BE49-F238E27FC236}">
                <a16:creationId xmlns:a16="http://schemas.microsoft.com/office/drawing/2014/main" id="{75E1136A-E2FF-48C8-A3A2-B295465E07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3226" y="3570075"/>
            <a:ext cx="9144000" cy="2468785"/>
          </a:xfrm>
          <a:prstGeom prst="rect">
            <a:avLst/>
          </a:prstGeom>
        </p:spPr>
      </p:pic>
    </p:spTree>
    <p:extLst>
      <p:ext uri="{BB962C8B-B14F-4D97-AF65-F5344CB8AC3E}">
        <p14:creationId xmlns:p14="http://schemas.microsoft.com/office/powerpoint/2010/main" val="198604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1000" fill="hold"/>
                                        <p:tgtEl>
                                          <p:spTgt spid="10"/>
                                        </p:tgtEl>
                                        <p:attrNameLst>
                                          <p:attrName>ppt_w</p:attrName>
                                        </p:attrNameLst>
                                      </p:cBhvr>
                                      <p:tavLst>
                                        <p:tav tm="0">
                                          <p:val>
                                            <p:strVal val="#ppt_w*0.70"/>
                                          </p:val>
                                        </p:tav>
                                        <p:tav tm="100000">
                                          <p:val>
                                            <p:strVal val="#ppt_w"/>
                                          </p:val>
                                        </p:tav>
                                      </p:tavLst>
                                    </p:anim>
                                    <p:anim calcmode="lin" valueType="num">
                                      <p:cBhvr>
                                        <p:cTn id="15" dur="1000" fill="hold"/>
                                        <p:tgtEl>
                                          <p:spTgt spid="10"/>
                                        </p:tgtEl>
                                        <p:attrNameLst>
                                          <p:attrName>ppt_h</p:attrName>
                                        </p:attrNameLst>
                                      </p:cBhvr>
                                      <p:tavLst>
                                        <p:tav tm="0">
                                          <p:val>
                                            <p:strVal val="#ppt_h"/>
                                          </p:val>
                                        </p:tav>
                                        <p:tav tm="100000">
                                          <p:val>
                                            <p:strVal val="#ppt_h"/>
                                          </p:val>
                                        </p:tav>
                                      </p:tavLst>
                                    </p:anim>
                                    <p:animEffect transition="in" filter="fade">
                                      <p:cBhvr>
                                        <p:cTn id="1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91173" y="1356042"/>
            <a:ext cx="7772400" cy="4831397"/>
          </a:xfrm>
        </p:spPr>
        <p:txBody>
          <a:bodyPr/>
          <a:lstStyle/>
          <a:p>
            <a:r>
              <a:rPr lang="zh-CN" altLang="en-US" dirty="0"/>
              <a:t>经验教训</a:t>
            </a:r>
            <a:endParaRPr lang="en-US" altLang="zh-CN" dirty="0"/>
          </a:p>
          <a:p>
            <a:pPr lvl="1"/>
            <a:r>
              <a:rPr lang="zh-CN" altLang="zh-CN" dirty="0"/>
              <a:t>站在系统或安全管理员的立场上，</a:t>
            </a:r>
            <a:r>
              <a:rPr lang="zh-CN" altLang="zh-CN" dirty="0">
                <a:solidFill>
                  <a:srgbClr val="FF0000"/>
                </a:solidFill>
              </a:rPr>
              <a:t>不要让“人之间的关系”问题介入到你的信息安全链路之中</a:t>
            </a:r>
            <a:r>
              <a:rPr lang="zh-CN" altLang="zh-CN" dirty="0"/>
              <a:t>，以至于让你的努力前功尽弃。</a:t>
            </a:r>
            <a:endParaRPr lang="en-US" altLang="zh-CN" dirty="0"/>
          </a:p>
          <a:p>
            <a:pPr lvl="1"/>
            <a:r>
              <a:rPr lang="zh-CN" altLang="zh-CN" dirty="0"/>
              <a:t>站在攻击者的立场上，当系统管理员的“工作链”上存放有你所需要的数据时，</a:t>
            </a:r>
            <a:r>
              <a:rPr lang="zh-CN" altLang="zh-CN" dirty="0">
                <a:solidFill>
                  <a:srgbClr val="FF0000"/>
                </a:solidFill>
              </a:rPr>
              <a:t>千万不要让他“摆脱”自身的脆弱环节</a:t>
            </a:r>
            <a:r>
              <a:rPr lang="zh-CN" altLang="zh-CN" dirty="0"/>
              <a:t>，要想方设法地利用这个脆弱性环节</a:t>
            </a:r>
            <a:endParaRPr lang="zh-CN" altLang="en-US" dirty="0"/>
          </a:p>
        </p:txBody>
      </p:sp>
      <p:sp>
        <p:nvSpPr>
          <p:cNvPr id="3" name="标题 2"/>
          <p:cNvSpPr>
            <a:spLocks noGrp="1"/>
          </p:cNvSpPr>
          <p:nvPr>
            <p:ph type="title"/>
          </p:nvPr>
        </p:nvSpPr>
        <p:spPr/>
        <p:txBody>
          <a:bodyPr/>
          <a:lstStyle/>
          <a:p>
            <a:r>
              <a:rPr lang="zh-CN" altLang="en-US" dirty="0"/>
              <a:t>案例分析</a:t>
            </a:r>
          </a:p>
        </p:txBody>
      </p:sp>
    </p:spTree>
    <p:extLst>
      <p:ext uri="{BB962C8B-B14F-4D97-AF65-F5344CB8AC3E}">
        <p14:creationId xmlns:p14="http://schemas.microsoft.com/office/powerpoint/2010/main" val="37229848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573" y="1417003"/>
            <a:ext cx="7772400" cy="4114800"/>
          </a:xfrm>
        </p:spPr>
        <p:txBody>
          <a:bodyPr/>
          <a:lstStyle/>
          <a:p>
            <a:r>
              <a:rPr lang="zh-CN" altLang="zh-CN" sz="2800" dirty="0"/>
              <a:t>杨义先《黑客心理学</a:t>
            </a:r>
            <a:r>
              <a:rPr lang="en-US" altLang="zh-CN" sz="2800" dirty="0"/>
              <a:t>--</a:t>
            </a:r>
            <a:r>
              <a:rPr lang="zh-CN" altLang="zh-CN" sz="2800" dirty="0"/>
              <a:t>社会工程学原理》</a:t>
            </a:r>
            <a:endParaRPr lang="en-US" altLang="zh-CN" sz="2800" dirty="0"/>
          </a:p>
          <a:p>
            <a:endParaRPr lang="zh-CN" altLang="en-US" sz="2800" dirty="0"/>
          </a:p>
        </p:txBody>
      </p:sp>
      <p:sp>
        <p:nvSpPr>
          <p:cNvPr id="3" name="标题 2"/>
          <p:cNvSpPr>
            <a:spLocks noGrp="1"/>
          </p:cNvSpPr>
          <p:nvPr>
            <p:ph type="title"/>
          </p:nvPr>
        </p:nvSpPr>
        <p:spPr/>
        <p:txBody>
          <a:bodyPr/>
          <a:lstStyle/>
          <a:p>
            <a:r>
              <a:rPr lang="zh-CN" altLang="en-US" dirty="0"/>
              <a:t>心理学的重要性</a:t>
            </a:r>
          </a:p>
        </p:txBody>
      </p:sp>
      <p:pic>
        <p:nvPicPr>
          <p:cNvPr id="4" name="图片 3"/>
          <p:cNvPicPr>
            <a:picLocks noChangeAspect="1"/>
          </p:cNvPicPr>
          <p:nvPr/>
        </p:nvPicPr>
        <p:blipFill>
          <a:blip r:embed="rId2"/>
          <a:stretch>
            <a:fillRect/>
          </a:stretch>
        </p:blipFill>
        <p:spPr>
          <a:xfrm>
            <a:off x="279559" y="2601277"/>
            <a:ext cx="8500427" cy="2930526"/>
          </a:xfrm>
          <a:prstGeom prst="rect">
            <a:avLst/>
          </a:prstGeom>
          <a:ln>
            <a:solidFill>
              <a:srgbClr val="FF0000"/>
            </a:solidFill>
          </a:ln>
        </p:spPr>
      </p:pic>
    </p:spTree>
    <p:extLst>
      <p:ext uri="{BB962C8B-B14F-4D97-AF65-F5344CB8AC3E}">
        <p14:creationId xmlns:p14="http://schemas.microsoft.com/office/powerpoint/2010/main" val="13678614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内容提纲</a:t>
            </a:r>
            <a:endParaRPr lang="en-US" altLang="zh-CN">
              <a:solidFill>
                <a:schemeClr val="accent1"/>
              </a:solidFill>
            </a:endParaRPr>
          </a:p>
        </p:txBody>
      </p:sp>
      <p:sp>
        <p:nvSpPr>
          <p:cNvPr id="30723"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en-US">
              <a:ea typeface="宋体" charset="-122"/>
            </a:endParaRPr>
          </a:p>
        </p:txBody>
      </p:sp>
      <p:sp>
        <p:nvSpPr>
          <p:cNvPr id="30724" name="Line 4"/>
          <p:cNvSpPr>
            <a:spLocks noChangeShapeType="1"/>
          </p:cNvSpPr>
          <p:nvPr/>
        </p:nvSpPr>
        <p:spPr bwMode="gray">
          <a:xfrm>
            <a:off x="1252538" y="3382750"/>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25" name="Rectangle 5"/>
          <p:cNvSpPr>
            <a:spLocks noChangeArrowheads="1"/>
          </p:cNvSpPr>
          <p:nvPr/>
        </p:nvSpPr>
        <p:spPr bwMode="gray">
          <a:xfrm rot="3419336">
            <a:off x="979487" y="280648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26" name="Text Box 6"/>
          <p:cNvSpPr txBox="1">
            <a:spLocks noChangeArrowheads="1"/>
          </p:cNvSpPr>
          <p:nvPr/>
        </p:nvSpPr>
        <p:spPr bwMode="gray">
          <a:xfrm>
            <a:off x="1785938" y="2769975"/>
            <a:ext cx="5634036" cy="579437"/>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社会工程学常用技术</a:t>
            </a:r>
          </a:p>
        </p:txBody>
      </p:sp>
      <p:sp>
        <p:nvSpPr>
          <p:cNvPr id="30727" name="Text Box 7"/>
          <p:cNvSpPr txBox="1">
            <a:spLocks noChangeArrowheads="1"/>
          </p:cNvSpPr>
          <p:nvPr/>
        </p:nvSpPr>
        <p:spPr bwMode="gray">
          <a:xfrm>
            <a:off x="1057275" y="2838237"/>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2</a:t>
            </a:r>
          </a:p>
        </p:txBody>
      </p:sp>
      <p:sp>
        <p:nvSpPr>
          <p:cNvPr id="30728" name="Rectangle 8"/>
          <p:cNvSpPr>
            <a:spLocks noChangeArrowheads="1"/>
          </p:cNvSpPr>
          <p:nvPr/>
        </p:nvSpPr>
        <p:spPr bwMode="gray">
          <a:xfrm rot="3419336">
            <a:off x="973137" y="388489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29" name="Text Box 9"/>
          <p:cNvSpPr txBox="1">
            <a:spLocks noChangeArrowheads="1"/>
          </p:cNvSpPr>
          <p:nvPr/>
        </p:nvSpPr>
        <p:spPr bwMode="gray">
          <a:xfrm>
            <a:off x="1779588" y="3848383"/>
            <a:ext cx="5497512" cy="579438"/>
          </a:xfrm>
          <a:prstGeom prst="rect">
            <a:avLst/>
          </a:prstGeom>
          <a:solidFill>
            <a:srgbClr val="FF6600"/>
          </a:solidFill>
          <a:ln w="9525" algn="ctr">
            <a:noFill/>
            <a:miter lim="800000"/>
            <a:headEnd/>
            <a:tailEnd/>
          </a:ln>
        </p:spPr>
        <p:txBody>
          <a:bodyPr wrap="square">
            <a:spAutoFit/>
          </a:bodyPr>
          <a:lstStyle>
            <a:defPPr>
              <a:defRPr lang="zh-CN"/>
            </a:defPPr>
            <a:lvl1pPr eaLnBrk="0" hangingPunct="0">
              <a:defRPr sz="3200">
                <a:solidFill>
                  <a:srgbClr val="000000"/>
                </a:solidFill>
                <a:latin typeface="Times New Roman" panose="02020603050405020304" pitchFamily="18" charset="0"/>
                <a:ea typeface="黑体" panose="02010609060101010101" pitchFamily="49" charset="-122"/>
              </a:defRPr>
            </a:lvl1pPr>
          </a:lstStyle>
          <a:p>
            <a:r>
              <a:rPr lang="zh-CN" altLang="en-US" dirty="0"/>
              <a:t>社工库与社会工程学工具</a:t>
            </a:r>
          </a:p>
        </p:txBody>
      </p:sp>
      <p:sp>
        <p:nvSpPr>
          <p:cNvPr id="30730" name="Text Box 10"/>
          <p:cNvSpPr txBox="1">
            <a:spLocks noChangeArrowheads="1"/>
          </p:cNvSpPr>
          <p:nvPr/>
        </p:nvSpPr>
        <p:spPr bwMode="gray">
          <a:xfrm>
            <a:off x="1050925" y="3916646"/>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3</a:t>
            </a:r>
          </a:p>
        </p:txBody>
      </p:sp>
      <p:sp>
        <p:nvSpPr>
          <p:cNvPr id="30731" name="Line 11"/>
          <p:cNvSpPr>
            <a:spLocks noChangeShapeType="1"/>
          </p:cNvSpPr>
          <p:nvPr/>
        </p:nvSpPr>
        <p:spPr bwMode="gray">
          <a:xfrm>
            <a:off x="1252538" y="4470683"/>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2" name="Rectangle 12"/>
          <p:cNvSpPr>
            <a:spLocks noChangeArrowheads="1"/>
          </p:cNvSpPr>
          <p:nvPr/>
        </p:nvSpPr>
        <p:spPr bwMode="gray">
          <a:xfrm rot="3419336">
            <a:off x="987425" y="4933469"/>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33" name="Text Box 13"/>
          <p:cNvSpPr txBox="1">
            <a:spLocks noChangeArrowheads="1"/>
          </p:cNvSpPr>
          <p:nvPr/>
        </p:nvSpPr>
        <p:spPr bwMode="gray">
          <a:xfrm>
            <a:off x="1785938" y="4963180"/>
            <a:ext cx="5634036" cy="579438"/>
          </a:xfrm>
          <a:prstGeom prst="rect">
            <a:avLst/>
          </a:prstGeom>
          <a:noFill/>
          <a:ln w="9525" algn="ctr">
            <a:noFill/>
            <a:miter lim="800000"/>
            <a:headEnd/>
            <a:tailEnd/>
          </a:ln>
        </p:spPr>
        <p:txBody>
          <a:bodyPr wrap="square">
            <a:spAutoFit/>
          </a:bodyPr>
          <a:lstStyle/>
          <a:p>
            <a:pPr eaLnBrk="0" hangingPunct="0"/>
            <a:r>
              <a:rPr lang="zh-CN" altLang="en-US" sz="3200" b="1" dirty="0">
                <a:solidFill>
                  <a:srgbClr val="000000"/>
                </a:solidFill>
              </a:rPr>
              <a:t>防范社会工程学</a:t>
            </a:r>
          </a:p>
        </p:txBody>
      </p:sp>
      <p:sp>
        <p:nvSpPr>
          <p:cNvPr id="30734" name="Text Box 14"/>
          <p:cNvSpPr txBox="1">
            <a:spLocks noChangeArrowheads="1"/>
          </p:cNvSpPr>
          <p:nvPr/>
        </p:nvSpPr>
        <p:spPr bwMode="gray">
          <a:xfrm>
            <a:off x="1041400" y="4974744"/>
            <a:ext cx="355600" cy="461962"/>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4</a:t>
            </a:r>
          </a:p>
        </p:txBody>
      </p:sp>
      <p:sp>
        <p:nvSpPr>
          <p:cNvPr id="30735" name="Line 15"/>
          <p:cNvSpPr>
            <a:spLocks noChangeShapeType="1"/>
          </p:cNvSpPr>
          <p:nvPr/>
        </p:nvSpPr>
        <p:spPr bwMode="gray">
          <a:xfrm>
            <a:off x="1262063" y="5559552"/>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6" name="Rectangle 16"/>
          <p:cNvSpPr>
            <a:spLocks noChangeArrowheads="1"/>
          </p:cNvSpPr>
          <p:nvPr/>
        </p:nvSpPr>
        <p:spPr bwMode="gray">
          <a:xfrm rot="3419336">
            <a:off x="979487" y="1764832"/>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37" name="Text Box 17"/>
          <p:cNvSpPr txBox="1">
            <a:spLocks noChangeArrowheads="1"/>
          </p:cNvSpPr>
          <p:nvPr/>
        </p:nvSpPr>
        <p:spPr bwMode="gray">
          <a:xfrm>
            <a:off x="1785937" y="1728319"/>
            <a:ext cx="5634037" cy="579438"/>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概述</a:t>
            </a:r>
          </a:p>
        </p:txBody>
      </p:sp>
      <p:sp>
        <p:nvSpPr>
          <p:cNvPr id="30738" name="Text Box 18"/>
          <p:cNvSpPr txBox="1">
            <a:spLocks noChangeArrowheads="1"/>
          </p:cNvSpPr>
          <p:nvPr/>
        </p:nvSpPr>
        <p:spPr bwMode="gray">
          <a:xfrm>
            <a:off x="1057275" y="1796582"/>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1</a:t>
            </a:r>
          </a:p>
        </p:txBody>
      </p:sp>
      <p:sp>
        <p:nvSpPr>
          <p:cNvPr id="30739" name="Line 19"/>
          <p:cNvSpPr>
            <a:spLocks noChangeShapeType="1"/>
          </p:cNvSpPr>
          <p:nvPr/>
        </p:nvSpPr>
        <p:spPr bwMode="gray">
          <a:xfrm>
            <a:off x="1252538" y="2386467"/>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extLst>
      <p:ext uri="{BB962C8B-B14F-4D97-AF65-F5344CB8AC3E}">
        <p14:creationId xmlns:p14="http://schemas.microsoft.com/office/powerpoint/2010/main" val="37481811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78131" y="1306736"/>
            <a:ext cx="7772400" cy="5033103"/>
          </a:xfrm>
        </p:spPr>
        <p:txBody>
          <a:bodyPr/>
          <a:lstStyle/>
          <a:p>
            <a:pPr>
              <a:lnSpc>
                <a:spcPts val="4000"/>
              </a:lnSpc>
              <a:spcBef>
                <a:spcPts val="0"/>
              </a:spcBef>
            </a:pPr>
            <a:r>
              <a:rPr lang="zh-CN" altLang="zh-CN" sz="2800" dirty="0"/>
              <a:t>社会工程攻击所需要的信息称为“</a:t>
            </a:r>
            <a:r>
              <a:rPr lang="zh-CN" altLang="zh-CN" sz="2800" dirty="0">
                <a:solidFill>
                  <a:srgbClr val="FF0000"/>
                </a:solidFill>
              </a:rPr>
              <a:t>社工信息</a:t>
            </a:r>
            <a:r>
              <a:rPr lang="zh-CN" altLang="zh-CN" sz="2800" dirty="0"/>
              <a:t>”，这些信息包罗万象，如个人的身份信息（姓名、身份证号、生日、住址、工作单位、联系电话、电子邮箱等），在各个网站上的账号、密码、分享的照片等，信用卡记录、住宿记录、订票记录、通信记录、短信内容、各种社交软件的聊天，网络地址信息、域名信息等。保存这些信息的结构化数据库称为“</a:t>
            </a:r>
            <a:r>
              <a:rPr lang="zh-CN" altLang="zh-CN" sz="2800" dirty="0">
                <a:solidFill>
                  <a:srgbClr val="FF0000"/>
                </a:solidFill>
              </a:rPr>
              <a:t>社会工程数据库</a:t>
            </a:r>
            <a:r>
              <a:rPr lang="zh-CN" altLang="zh-CN" sz="2800" dirty="0"/>
              <a:t>（</a:t>
            </a:r>
            <a:r>
              <a:rPr lang="en-US" altLang="zh-CN" sz="2800" dirty="0"/>
              <a:t>Social Engineering Database</a:t>
            </a:r>
            <a:r>
              <a:rPr lang="zh-CN" altLang="zh-CN" sz="2800" dirty="0"/>
              <a:t>）”，简称为“社工库”。</a:t>
            </a:r>
            <a:endParaRPr lang="zh-CN" altLang="en-US" sz="2800" dirty="0"/>
          </a:p>
        </p:txBody>
      </p:sp>
      <p:sp>
        <p:nvSpPr>
          <p:cNvPr id="3" name="标题 2"/>
          <p:cNvSpPr>
            <a:spLocks noGrp="1"/>
          </p:cNvSpPr>
          <p:nvPr>
            <p:ph type="title"/>
          </p:nvPr>
        </p:nvSpPr>
        <p:spPr>
          <a:xfrm>
            <a:off x="1391570" y="191002"/>
            <a:ext cx="6821988" cy="958850"/>
          </a:xfrm>
        </p:spPr>
        <p:txBody>
          <a:bodyPr/>
          <a:lstStyle/>
          <a:p>
            <a:r>
              <a:rPr lang="zh-CN" altLang="en-US" dirty="0"/>
              <a:t>社工库</a:t>
            </a:r>
          </a:p>
        </p:txBody>
      </p:sp>
    </p:spTree>
    <p:extLst>
      <p:ext uri="{BB962C8B-B14F-4D97-AF65-F5344CB8AC3E}">
        <p14:creationId xmlns:p14="http://schemas.microsoft.com/office/powerpoint/2010/main" val="9585939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573" y="1432243"/>
            <a:ext cx="7772400" cy="4114800"/>
          </a:xfrm>
        </p:spPr>
        <p:txBody>
          <a:bodyPr/>
          <a:lstStyle/>
          <a:p>
            <a:r>
              <a:rPr lang="zh-CN" altLang="zh-CN" dirty="0"/>
              <a:t>在进行社会工程攻击时，经常需要</a:t>
            </a:r>
            <a:r>
              <a:rPr lang="zh-CN" altLang="zh-CN" dirty="0">
                <a:solidFill>
                  <a:srgbClr val="FF0000"/>
                </a:solidFill>
              </a:rPr>
              <a:t>制作钓鱼网站</a:t>
            </a:r>
            <a:r>
              <a:rPr lang="zh-CN" altLang="zh-CN" dirty="0"/>
              <a:t>，制作并发送</a:t>
            </a:r>
            <a:r>
              <a:rPr lang="zh-CN" altLang="zh-CN" dirty="0">
                <a:solidFill>
                  <a:srgbClr val="FF0000"/>
                </a:solidFill>
              </a:rPr>
              <a:t>钓鱼邮</a:t>
            </a:r>
            <a:r>
              <a:rPr lang="zh-CN" altLang="zh-CN" dirty="0"/>
              <a:t>件、</a:t>
            </a:r>
            <a:r>
              <a:rPr lang="zh-CN" altLang="zh-CN" dirty="0">
                <a:solidFill>
                  <a:srgbClr val="FF0000"/>
                </a:solidFill>
              </a:rPr>
              <a:t>诱饵文档</a:t>
            </a:r>
            <a:r>
              <a:rPr lang="zh-CN" altLang="zh-CN" dirty="0"/>
              <a:t>，</a:t>
            </a:r>
            <a:r>
              <a:rPr lang="zh-CN" altLang="zh-CN" dirty="0">
                <a:solidFill>
                  <a:srgbClr val="FF0000"/>
                </a:solidFill>
              </a:rPr>
              <a:t>伪造短信</a:t>
            </a:r>
            <a:r>
              <a:rPr lang="zh-CN" altLang="zh-CN" dirty="0"/>
              <a:t>等，这就需要借助社会工程攻击工具来完成</a:t>
            </a:r>
            <a:endParaRPr lang="zh-CN" altLang="en-US" dirty="0"/>
          </a:p>
        </p:txBody>
      </p:sp>
      <p:sp>
        <p:nvSpPr>
          <p:cNvPr id="3" name="标题 2"/>
          <p:cNvSpPr>
            <a:spLocks noGrp="1"/>
          </p:cNvSpPr>
          <p:nvPr>
            <p:ph type="title"/>
          </p:nvPr>
        </p:nvSpPr>
        <p:spPr/>
        <p:txBody>
          <a:bodyPr/>
          <a:lstStyle/>
          <a:p>
            <a:r>
              <a:rPr lang="zh-CN" altLang="en-US" dirty="0"/>
              <a:t>社会工程学工具</a:t>
            </a:r>
          </a:p>
        </p:txBody>
      </p:sp>
    </p:spTree>
    <p:extLst>
      <p:ext uri="{BB962C8B-B14F-4D97-AF65-F5344CB8AC3E}">
        <p14:creationId xmlns:p14="http://schemas.microsoft.com/office/powerpoint/2010/main" val="21531702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573" y="1432243"/>
            <a:ext cx="7772400" cy="4114800"/>
          </a:xfrm>
        </p:spPr>
        <p:txBody>
          <a:bodyPr/>
          <a:lstStyle/>
          <a:p>
            <a:r>
              <a:rPr lang="zh-CN" altLang="zh-CN" dirty="0"/>
              <a:t>在进行社会工程攻击时，经常需要</a:t>
            </a:r>
            <a:r>
              <a:rPr lang="zh-CN" altLang="zh-CN" dirty="0">
                <a:solidFill>
                  <a:srgbClr val="FF0000"/>
                </a:solidFill>
              </a:rPr>
              <a:t>制作钓鱼网站</a:t>
            </a:r>
            <a:r>
              <a:rPr lang="zh-CN" altLang="zh-CN" dirty="0"/>
              <a:t>，制作并发送</a:t>
            </a:r>
            <a:r>
              <a:rPr lang="zh-CN" altLang="zh-CN" dirty="0">
                <a:solidFill>
                  <a:srgbClr val="FF0000"/>
                </a:solidFill>
              </a:rPr>
              <a:t>钓鱼邮</a:t>
            </a:r>
            <a:r>
              <a:rPr lang="zh-CN" altLang="zh-CN" dirty="0"/>
              <a:t>件、</a:t>
            </a:r>
            <a:r>
              <a:rPr lang="zh-CN" altLang="zh-CN" dirty="0">
                <a:solidFill>
                  <a:srgbClr val="FF0000"/>
                </a:solidFill>
              </a:rPr>
              <a:t>诱饵文档</a:t>
            </a:r>
            <a:r>
              <a:rPr lang="zh-CN" altLang="zh-CN" dirty="0"/>
              <a:t>，</a:t>
            </a:r>
            <a:r>
              <a:rPr lang="zh-CN" altLang="zh-CN" dirty="0">
                <a:solidFill>
                  <a:srgbClr val="FF0000"/>
                </a:solidFill>
              </a:rPr>
              <a:t>伪造短信</a:t>
            </a:r>
            <a:r>
              <a:rPr lang="zh-CN" altLang="zh-CN" dirty="0"/>
              <a:t>等，这就需要借助社会工程攻击工具来完成</a:t>
            </a:r>
            <a:endParaRPr lang="zh-CN" altLang="en-US" dirty="0"/>
          </a:p>
        </p:txBody>
      </p:sp>
      <p:sp>
        <p:nvSpPr>
          <p:cNvPr id="3" name="标题 2"/>
          <p:cNvSpPr>
            <a:spLocks noGrp="1"/>
          </p:cNvSpPr>
          <p:nvPr>
            <p:ph type="title"/>
          </p:nvPr>
        </p:nvSpPr>
        <p:spPr/>
        <p:txBody>
          <a:bodyPr/>
          <a:lstStyle/>
          <a:p>
            <a:r>
              <a:rPr lang="zh-CN" altLang="en-US" dirty="0"/>
              <a:t>社会工程学工具</a:t>
            </a:r>
          </a:p>
        </p:txBody>
      </p:sp>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bwMode="auto">
          <a:xfrm>
            <a:off x="1066642" y="1432243"/>
            <a:ext cx="6926261" cy="4688839"/>
          </a:xfrm>
          <a:prstGeom prst="rect">
            <a:avLst/>
          </a:prstGeom>
          <a:noFill/>
          <a:ln>
            <a:noFill/>
          </a:ln>
        </p:spPr>
      </p:pic>
    </p:spTree>
    <p:extLst>
      <p:ext uri="{BB962C8B-B14F-4D97-AF65-F5344CB8AC3E}">
        <p14:creationId xmlns:p14="http://schemas.microsoft.com/office/powerpoint/2010/main" val="18182304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1EFCAEB-409A-4CBF-865D-376E3F1B3ED4}"/>
              </a:ext>
            </a:extLst>
          </p:cNvPr>
          <p:cNvSpPr>
            <a:spLocks noGrp="1"/>
          </p:cNvSpPr>
          <p:nvPr>
            <p:ph idx="1"/>
          </p:nvPr>
        </p:nvSpPr>
        <p:spPr>
          <a:xfrm>
            <a:off x="685800" y="1221975"/>
            <a:ext cx="7772400" cy="4114800"/>
          </a:xfrm>
        </p:spPr>
        <p:txBody>
          <a:bodyPr/>
          <a:lstStyle/>
          <a:p>
            <a:r>
              <a:rPr lang="en-US" altLang="zh-CN" dirty="0"/>
              <a:t>https://github.com/gophish/gophish</a:t>
            </a:r>
            <a:endParaRPr lang="zh-CN" altLang="en-US" dirty="0"/>
          </a:p>
        </p:txBody>
      </p:sp>
      <p:sp>
        <p:nvSpPr>
          <p:cNvPr id="3" name="标题 2">
            <a:extLst>
              <a:ext uri="{FF2B5EF4-FFF2-40B4-BE49-F238E27FC236}">
                <a16:creationId xmlns:a16="http://schemas.microsoft.com/office/drawing/2014/main" id="{AF5B210F-BAF4-428B-9FA0-B7C6982780AA}"/>
              </a:ext>
            </a:extLst>
          </p:cNvPr>
          <p:cNvSpPr>
            <a:spLocks noGrp="1"/>
          </p:cNvSpPr>
          <p:nvPr>
            <p:ph type="title"/>
          </p:nvPr>
        </p:nvSpPr>
        <p:spPr/>
        <p:txBody>
          <a:bodyPr/>
          <a:lstStyle/>
          <a:p>
            <a:r>
              <a:rPr lang="zh-CN" altLang="en-US" dirty="0"/>
              <a:t>社会工程学工具</a:t>
            </a:r>
          </a:p>
        </p:txBody>
      </p:sp>
      <p:pic>
        <p:nvPicPr>
          <p:cNvPr id="4" name="图片 3">
            <a:extLst>
              <a:ext uri="{FF2B5EF4-FFF2-40B4-BE49-F238E27FC236}">
                <a16:creationId xmlns:a16="http://schemas.microsoft.com/office/drawing/2014/main" id="{CB000FF2-5947-47CE-9895-557D6F1AFEED}"/>
              </a:ext>
            </a:extLst>
          </p:cNvPr>
          <p:cNvPicPr>
            <a:picLocks noChangeAspect="1"/>
          </p:cNvPicPr>
          <p:nvPr/>
        </p:nvPicPr>
        <p:blipFill>
          <a:blip r:embed="rId3"/>
          <a:stretch>
            <a:fillRect/>
          </a:stretch>
        </p:blipFill>
        <p:spPr>
          <a:xfrm>
            <a:off x="685800" y="1893859"/>
            <a:ext cx="7296150" cy="1704975"/>
          </a:xfrm>
          <a:prstGeom prst="rect">
            <a:avLst/>
          </a:prstGeom>
          <a:ln>
            <a:solidFill>
              <a:schemeClr val="tx1"/>
            </a:solidFill>
          </a:ln>
        </p:spPr>
      </p:pic>
      <p:pic>
        <p:nvPicPr>
          <p:cNvPr id="5" name="图片 4">
            <a:extLst>
              <a:ext uri="{FF2B5EF4-FFF2-40B4-BE49-F238E27FC236}">
                <a16:creationId xmlns:a16="http://schemas.microsoft.com/office/drawing/2014/main" id="{0937D5CF-2038-41E8-8167-B0FA8073CE84}"/>
              </a:ext>
            </a:extLst>
          </p:cNvPr>
          <p:cNvPicPr>
            <a:picLocks noChangeAspect="1"/>
          </p:cNvPicPr>
          <p:nvPr/>
        </p:nvPicPr>
        <p:blipFill>
          <a:blip r:embed="rId4"/>
          <a:stretch>
            <a:fillRect/>
          </a:stretch>
        </p:blipFill>
        <p:spPr>
          <a:xfrm>
            <a:off x="2658983" y="3653733"/>
            <a:ext cx="3349784" cy="2846416"/>
          </a:xfrm>
          <a:prstGeom prst="rect">
            <a:avLst/>
          </a:prstGeom>
          <a:ln>
            <a:solidFill>
              <a:schemeClr val="tx1"/>
            </a:solidFill>
          </a:ln>
        </p:spPr>
      </p:pic>
    </p:spTree>
    <p:extLst>
      <p:ext uri="{BB962C8B-B14F-4D97-AF65-F5344CB8AC3E}">
        <p14:creationId xmlns:p14="http://schemas.microsoft.com/office/powerpoint/2010/main" val="32337667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a:t>内容提纲</a:t>
            </a:r>
            <a:endParaRPr lang="en-US" altLang="zh-CN">
              <a:solidFill>
                <a:schemeClr val="accent1"/>
              </a:solidFill>
            </a:endParaRPr>
          </a:p>
        </p:txBody>
      </p:sp>
      <p:sp>
        <p:nvSpPr>
          <p:cNvPr id="30723" name="Text Box 3"/>
          <p:cNvSpPr txBox="1">
            <a:spLocks noChangeArrowheads="1"/>
          </p:cNvSpPr>
          <p:nvPr/>
        </p:nvSpPr>
        <p:spPr bwMode="auto">
          <a:xfrm>
            <a:off x="1660525" y="722313"/>
            <a:ext cx="184150" cy="366712"/>
          </a:xfrm>
          <a:prstGeom prst="rect">
            <a:avLst/>
          </a:prstGeom>
          <a:noFill/>
          <a:ln w="9525">
            <a:noFill/>
            <a:miter lim="800000"/>
            <a:headEnd/>
            <a:tailEnd/>
          </a:ln>
        </p:spPr>
        <p:txBody>
          <a:bodyPr wrap="none">
            <a:spAutoFit/>
          </a:bodyPr>
          <a:lstStyle/>
          <a:p>
            <a:endParaRPr lang="zh-CN" altLang="en-US">
              <a:ea typeface="宋体" charset="-122"/>
            </a:endParaRPr>
          </a:p>
        </p:txBody>
      </p:sp>
      <p:sp>
        <p:nvSpPr>
          <p:cNvPr id="30724" name="Line 4"/>
          <p:cNvSpPr>
            <a:spLocks noChangeShapeType="1"/>
          </p:cNvSpPr>
          <p:nvPr/>
        </p:nvSpPr>
        <p:spPr bwMode="gray">
          <a:xfrm>
            <a:off x="1252538" y="3382750"/>
            <a:ext cx="6167437" cy="7937"/>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25" name="Rectangle 5"/>
          <p:cNvSpPr>
            <a:spLocks noChangeArrowheads="1"/>
          </p:cNvSpPr>
          <p:nvPr/>
        </p:nvSpPr>
        <p:spPr bwMode="gray">
          <a:xfrm rot="3419336">
            <a:off x="979487" y="2806488"/>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26" name="Text Box 6"/>
          <p:cNvSpPr txBox="1">
            <a:spLocks noChangeArrowheads="1"/>
          </p:cNvSpPr>
          <p:nvPr/>
        </p:nvSpPr>
        <p:spPr bwMode="gray">
          <a:xfrm>
            <a:off x="1785938" y="2769975"/>
            <a:ext cx="5634036" cy="579437"/>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社会工程学常用技术</a:t>
            </a:r>
          </a:p>
        </p:txBody>
      </p:sp>
      <p:sp>
        <p:nvSpPr>
          <p:cNvPr id="30727" name="Text Box 7"/>
          <p:cNvSpPr txBox="1">
            <a:spLocks noChangeArrowheads="1"/>
          </p:cNvSpPr>
          <p:nvPr/>
        </p:nvSpPr>
        <p:spPr bwMode="gray">
          <a:xfrm>
            <a:off x="1057275" y="2838237"/>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2</a:t>
            </a:r>
          </a:p>
        </p:txBody>
      </p:sp>
      <p:sp>
        <p:nvSpPr>
          <p:cNvPr id="30728" name="Rectangle 8"/>
          <p:cNvSpPr>
            <a:spLocks noChangeArrowheads="1"/>
          </p:cNvSpPr>
          <p:nvPr/>
        </p:nvSpPr>
        <p:spPr bwMode="gray">
          <a:xfrm rot="3419336">
            <a:off x="973137" y="3884896"/>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29" name="Text Box 9"/>
          <p:cNvSpPr txBox="1">
            <a:spLocks noChangeArrowheads="1"/>
          </p:cNvSpPr>
          <p:nvPr/>
        </p:nvSpPr>
        <p:spPr bwMode="gray">
          <a:xfrm>
            <a:off x="1779588" y="3848383"/>
            <a:ext cx="5497512" cy="579438"/>
          </a:xfrm>
          <a:prstGeom prst="rect">
            <a:avLst/>
          </a:prstGeom>
          <a:noFill/>
          <a:ln w="9525" algn="ctr">
            <a:noFill/>
            <a:miter lim="800000"/>
            <a:headEnd/>
            <a:tailEnd/>
          </a:ln>
        </p:spPr>
        <p:txBody>
          <a:bodyPr>
            <a:spAutoFit/>
          </a:bodyPr>
          <a:lstStyle/>
          <a:p>
            <a:pPr eaLnBrk="0" hangingPunct="0"/>
            <a:r>
              <a:rPr lang="zh-CN" altLang="en-US" sz="3200" dirty="0">
                <a:solidFill>
                  <a:srgbClr val="000000"/>
                </a:solidFill>
                <a:latin typeface="Times New Roman" panose="02020603050405020304" pitchFamily="18" charset="0"/>
                <a:cs typeface="Times New Roman" panose="02020603050405020304" pitchFamily="18" charset="0"/>
              </a:rPr>
              <a:t>社工库与社会工程学工具</a:t>
            </a:r>
            <a:endParaRPr lang="zh-CN" altLang="en-US" sz="3200" b="1" dirty="0">
              <a:solidFill>
                <a:srgbClr val="000000"/>
              </a:solidFill>
              <a:latin typeface="Times New Roman" panose="02020603050405020304" pitchFamily="18" charset="0"/>
              <a:cs typeface="Times New Roman" panose="02020603050405020304" pitchFamily="18" charset="0"/>
            </a:endParaRPr>
          </a:p>
        </p:txBody>
      </p:sp>
      <p:sp>
        <p:nvSpPr>
          <p:cNvPr id="30730" name="Text Box 10"/>
          <p:cNvSpPr txBox="1">
            <a:spLocks noChangeArrowheads="1"/>
          </p:cNvSpPr>
          <p:nvPr/>
        </p:nvSpPr>
        <p:spPr bwMode="gray">
          <a:xfrm>
            <a:off x="1050925" y="3916646"/>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3</a:t>
            </a:r>
          </a:p>
        </p:txBody>
      </p:sp>
      <p:sp>
        <p:nvSpPr>
          <p:cNvPr id="30731" name="Line 11"/>
          <p:cNvSpPr>
            <a:spLocks noChangeShapeType="1"/>
          </p:cNvSpPr>
          <p:nvPr/>
        </p:nvSpPr>
        <p:spPr bwMode="gray">
          <a:xfrm>
            <a:off x="1252538" y="4470683"/>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2" name="Rectangle 12"/>
          <p:cNvSpPr>
            <a:spLocks noChangeArrowheads="1"/>
          </p:cNvSpPr>
          <p:nvPr/>
        </p:nvSpPr>
        <p:spPr bwMode="gray">
          <a:xfrm rot="3419336">
            <a:off x="987425" y="4933469"/>
            <a:ext cx="479425" cy="520700"/>
          </a:xfrm>
          <a:prstGeom prst="rect">
            <a:avLst/>
          </a:prstGeom>
          <a:solidFill>
            <a:srgbClr val="9369E7"/>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9369E7"/>
            </a:extrusionClr>
          </a:sp3d>
        </p:spPr>
        <p:txBody>
          <a:bodyPr wrap="none" anchor="ctr">
            <a:flatTx/>
          </a:bodyPr>
          <a:lstStyle/>
          <a:p>
            <a:endParaRPr lang="zh-CN" altLang="en-US"/>
          </a:p>
        </p:txBody>
      </p:sp>
      <p:sp>
        <p:nvSpPr>
          <p:cNvPr id="30733" name="Text Box 13"/>
          <p:cNvSpPr txBox="1">
            <a:spLocks noChangeArrowheads="1"/>
          </p:cNvSpPr>
          <p:nvPr/>
        </p:nvSpPr>
        <p:spPr bwMode="gray">
          <a:xfrm>
            <a:off x="1752600" y="4904100"/>
            <a:ext cx="5634036" cy="579438"/>
          </a:xfrm>
          <a:prstGeom prst="rect">
            <a:avLst/>
          </a:prstGeom>
          <a:solidFill>
            <a:srgbClr val="FF6600"/>
          </a:solidFill>
          <a:ln w="9525" algn="ctr">
            <a:noFill/>
            <a:miter lim="800000"/>
            <a:headEnd/>
            <a:tailEnd/>
          </a:ln>
        </p:spPr>
        <p:txBody>
          <a:bodyPr wrap="square">
            <a:spAutoFit/>
          </a:bodyPr>
          <a:lstStyle>
            <a:defPPr>
              <a:defRPr lang="zh-CN"/>
            </a:defPPr>
            <a:lvl1pPr eaLnBrk="0" hangingPunct="0">
              <a:defRPr sz="3200">
                <a:solidFill>
                  <a:srgbClr val="000000"/>
                </a:solidFill>
                <a:latin typeface="Times New Roman" panose="02020603050405020304" pitchFamily="18" charset="0"/>
                <a:ea typeface="黑体" panose="02010609060101010101" pitchFamily="49" charset="-122"/>
              </a:defRPr>
            </a:lvl1pPr>
          </a:lstStyle>
          <a:p>
            <a:r>
              <a:rPr lang="zh-CN" altLang="en-US" dirty="0"/>
              <a:t>防范社会工程学</a:t>
            </a:r>
          </a:p>
        </p:txBody>
      </p:sp>
      <p:sp>
        <p:nvSpPr>
          <p:cNvPr id="30734" name="Text Box 14"/>
          <p:cNvSpPr txBox="1">
            <a:spLocks noChangeArrowheads="1"/>
          </p:cNvSpPr>
          <p:nvPr/>
        </p:nvSpPr>
        <p:spPr bwMode="gray">
          <a:xfrm>
            <a:off x="1041400" y="4974744"/>
            <a:ext cx="355600" cy="461962"/>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4</a:t>
            </a:r>
          </a:p>
        </p:txBody>
      </p:sp>
      <p:sp>
        <p:nvSpPr>
          <p:cNvPr id="30735" name="Line 15"/>
          <p:cNvSpPr>
            <a:spLocks noChangeShapeType="1"/>
          </p:cNvSpPr>
          <p:nvPr/>
        </p:nvSpPr>
        <p:spPr bwMode="gray">
          <a:xfrm>
            <a:off x="1262063" y="5559552"/>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
        <p:nvSpPr>
          <p:cNvPr id="30736" name="Rectangle 16"/>
          <p:cNvSpPr>
            <a:spLocks noChangeArrowheads="1"/>
          </p:cNvSpPr>
          <p:nvPr/>
        </p:nvSpPr>
        <p:spPr bwMode="gray">
          <a:xfrm rot="3419336">
            <a:off x="979487" y="1764832"/>
            <a:ext cx="479425" cy="520700"/>
          </a:xfrm>
          <a:prstGeom prst="rect">
            <a:avLst/>
          </a:prstGeom>
          <a:solidFill>
            <a:srgbClr val="669900"/>
          </a:solidFill>
          <a:ln w="9525">
            <a:miter lim="800000"/>
            <a:headEnd/>
            <a:tailEnd/>
          </a:ln>
          <a:scene3d>
            <a:camera prst="legacyPerspectiveFront">
              <a:rot lat="0" lon="1500000" rev="0"/>
            </a:camera>
            <a:lightRig rig="legacyFlat4" dir="b"/>
          </a:scene3d>
          <a:sp3d extrusionH="430200" prstMaterial="legacyMatte">
            <a:bevelT w="13500" h="13500" prst="angle"/>
            <a:bevelB w="13500" h="13500" prst="angle"/>
            <a:extrusionClr>
              <a:srgbClr val="669900"/>
            </a:extrusionClr>
          </a:sp3d>
        </p:spPr>
        <p:txBody>
          <a:bodyPr wrap="none" anchor="ctr">
            <a:flatTx/>
          </a:bodyPr>
          <a:lstStyle/>
          <a:p>
            <a:endParaRPr lang="zh-CN" altLang="en-US"/>
          </a:p>
        </p:txBody>
      </p:sp>
      <p:sp>
        <p:nvSpPr>
          <p:cNvPr id="30737" name="Text Box 17"/>
          <p:cNvSpPr txBox="1">
            <a:spLocks noChangeArrowheads="1"/>
          </p:cNvSpPr>
          <p:nvPr/>
        </p:nvSpPr>
        <p:spPr bwMode="gray">
          <a:xfrm>
            <a:off x="1785937" y="1728319"/>
            <a:ext cx="5634037" cy="579438"/>
          </a:xfrm>
          <a:prstGeom prst="rect">
            <a:avLst/>
          </a:prstGeom>
          <a:noFill/>
          <a:ln w="9525" algn="ctr">
            <a:noFill/>
            <a:miter lim="800000"/>
            <a:headEnd/>
            <a:tailEnd/>
          </a:ln>
        </p:spPr>
        <p:txBody>
          <a:bodyPr>
            <a:spAutoFit/>
          </a:bodyPr>
          <a:lstStyle>
            <a:defPPr>
              <a:defRPr lang="zh-CN"/>
            </a:defPPr>
            <a:lvl1pPr eaLnBrk="0" hangingPunct="0">
              <a:defRPr sz="3200">
                <a:solidFill>
                  <a:srgbClr val="000000"/>
                </a:solidFill>
                <a:latin typeface="Times New Roman" panose="02020603050405020304" pitchFamily="18" charset="0"/>
                <a:cs typeface="Times New Roman" panose="02020603050405020304" pitchFamily="18" charset="0"/>
              </a:defRPr>
            </a:lvl1pPr>
          </a:lstStyle>
          <a:p>
            <a:r>
              <a:rPr lang="zh-CN" altLang="en-US" dirty="0"/>
              <a:t>概述</a:t>
            </a:r>
          </a:p>
        </p:txBody>
      </p:sp>
      <p:sp>
        <p:nvSpPr>
          <p:cNvPr id="30738" name="Text Box 18"/>
          <p:cNvSpPr txBox="1">
            <a:spLocks noChangeArrowheads="1"/>
          </p:cNvSpPr>
          <p:nvPr/>
        </p:nvSpPr>
        <p:spPr bwMode="gray">
          <a:xfrm>
            <a:off x="1057275" y="1796582"/>
            <a:ext cx="354013" cy="457200"/>
          </a:xfrm>
          <a:prstGeom prst="rect">
            <a:avLst/>
          </a:prstGeom>
          <a:noFill/>
          <a:ln w="9525" algn="ctr">
            <a:noFill/>
            <a:miter lim="800000"/>
            <a:headEnd/>
            <a:tailEnd/>
          </a:ln>
        </p:spPr>
        <p:txBody>
          <a:bodyPr wrap="none">
            <a:spAutoFit/>
          </a:bodyPr>
          <a:lstStyle/>
          <a:p>
            <a:pPr algn="ctr" eaLnBrk="0" hangingPunct="0"/>
            <a:r>
              <a:rPr lang="en-US" altLang="zh-CN" sz="2400" b="1">
                <a:solidFill>
                  <a:schemeClr val="bg1"/>
                </a:solidFill>
                <a:ea typeface="宋体" charset="-122"/>
              </a:rPr>
              <a:t>1</a:t>
            </a:r>
          </a:p>
        </p:txBody>
      </p:sp>
      <p:sp>
        <p:nvSpPr>
          <p:cNvPr id="30739" name="Line 19"/>
          <p:cNvSpPr>
            <a:spLocks noChangeShapeType="1"/>
          </p:cNvSpPr>
          <p:nvPr/>
        </p:nvSpPr>
        <p:spPr bwMode="gray">
          <a:xfrm>
            <a:off x="1252538" y="2386467"/>
            <a:ext cx="6167437" cy="7938"/>
          </a:xfrm>
          <a:prstGeom prst="line">
            <a:avLst/>
          </a:prstGeom>
          <a:noFill/>
          <a:ln w="25400">
            <a:solidFill>
              <a:srgbClr val="C0C0C0"/>
            </a:solidFill>
            <a:prstDash val="sysDot"/>
            <a:round/>
            <a:headEnd/>
            <a:tailEnd type="oval" w="med" len="med"/>
          </a:ln>
        </p:spPr>
        <p:txBody>
          <a:bodyPr wrap="none" anchor="ctr"/>
          <a:lstStyle/>
          <a:p>
            <a:endParaRPr lang="zh-CN" altLang="en-US"/>
          </a:p>
        </p:txBody>
      </p:sp>
    </p:spTree>
    <p:extLst>
      <p:ext uri="{BB962C8B-B14F-4D97-AF65-F5344CB8AC3E}">
        <p14:creationId xmlns:p14="http://schemas.microsoft.com/office/powerpoint/2010/main" val="19115975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74578" y="1443804"/>
            <a:ext cx="7772400" cy="4114800"/>
          </a:xfrm>
        </p:spPr>
        <p:txBody>
          <a:bodyPr/>
          <a:lstStyle/>
          <a:p>
            <a:pPr>
              <a:lnSpc>
                <a:spcPct val="150000"/>
              </a:lnSpc>
              <a:spcBef>
                <a:spcPts val="0"/>
              </a:spcBef>
            </a:pPr>
            <a:r>
              <a:rPr lang="zh-CN" altLang="en-US" dirty="0">
                <a:solidFill>
                  <a:srgbClr val="FF0000"/>
                </a:solidFill>
              </a:rPr>
              <a:t>技术手段对抗社会工程学攻击效果有限</a:t>
            </a:r>
          </a:p>
        </p:txBody>
      </p:sp>
      <p:sp>
        <p:nvSpPr>
          <p:cNvPr id="3" name="标题 2"/>
          <p:cNvSpPr>
            <a:spLocks noGrp="1"/>
          </p:cNvSpPr>
          <p:nvPr>
            <p:ph type="title"/>
          </p:nvPr>
        </p:nvSpPr>
        <p:spPr/>
        <p:txBody>
          <a:bodyPr/>
          <a:lstStyle/>
          <a:p>
            <a:r>
              <a:rPr lang="zh-CN" altLang="en-US" dirty="0"/>
              <a:t>防范社会工程学攻击</a:t>
            </a:r>
          </a:p>
        </p:txBody>
      </p:sp>
      <p:pic>
        <p:nvPicPr>
          <p:cNvPr id="6" name="图片 5"/>
          <p:cNvPicPr>
            <a:picLocks noChangeAspect="1"/>
          </p:cNvPicPr>
          <p:nvPr/>
        </p:nvPicPr>
        <p:blipFill>
          <a:blip r:embed="rId3"/>
          <a:stretch>
            <a:fillRect/>
          </a:stretch>
        </p:blipFill>
        <p:spPr>
          <a:xfrm>
            <a:off x="488840" y="2309758"/>
            <a:ext cx="8143875" cy="3590925"/>
          </a:xfrm>
          <a:prstGeom prst="rect">
            <a:avLst/>
          </a:prstGeom>
        </p:spPr>
      </p:pic>
    </p:spTree>
    <p:extLst>
      <p:ext uri="{BB962C8B-B14F-4D97-AF65-F5344CB8AC3E}">
        <p14:creationId xmlns:p14="http://schemas.microsoft.com/office/powerpoint/2010/main" val="10706953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既然社会工程攻击利用的是人的脆弱性，那么防范也要从人入手，主要有两方面工作：一量提高人的</a:t>
            </a:r>
            <a:r>
              <a:rPr lang="zh-CN" altLang="zh-CN" dirty="0">
                <a:solidFill>
                  <a:srgbClr val="FF0000"/>
                </a:solidFill>
              </a:rPr>
              <a:t>安全防范意识</a:t>
            </a:r>
            <a:r>
              <a:rPr lang="zh-CN" altLang="zh-CN" dirty="0"/>
              <a:t>，二是</a:t>
            </a:r>
            <a:r>
              <a:rPr lang="zh-CN" altLang="zh-CN" dirty="0">
                <a:solidFill>
                  <a:srgbClr val="FF0000"/>
                </a:solidFill>
              </a:rPr>
              <a:t>加强网络安全管理</a:t>
            </a:r>
            <a:r>
              <a:rPr lang="zh-CN" altLang="zh-CN" dirty="0"/>
              <a:t>，用规则来限制人的行为。</a:t>
            </a:r>
            <a:endParaRPr lang="zh-CN" altLang="en-US" dirty="0"/>
          </a:p>
        </p:txBody>
      </p:sp>
      <p:sp>
        <p:nvSpPr>
          <p:cNvPr id="3" name="标题 2"/>
          <p:cNvSpPr>
            <a:spLocks noGrp="1"/>
          </p:cNvSpPr>
          <p:nvPr>
            <p:ph type="title"/>
          </p:nvPr>
        </p:nvSpPr>
        <p:spPr/>
        <p:txBody>
          <a:bodyPr/>
          <a:lstStyle/>
          <a:p>
            <a:r>
              <a:rPr lang="zh-CN" altLang="en-US" dirty="0"/>
              <a:t>防范社会工程学攻击</a:t>
            </a:r>
          </a:p>
        </p:txBody>
      </p:sp>
    </p:spTree>
    <p:extLst>
      <p:ext uri="{BB962C8B-B14F-4D97-AF65-F5344CB8AC3E}">
        <p14:creationId xmlns:p14="http://schemas.microsoft.com/office/powerpoint/2010/main" val="19222709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安全意识培养</a:t>
            </a:r>
            <a:endParaRPr lang="en-US" altLang="zh-CN" dirty="0"/>
          </a:p>
          <a:p>
            <a:pPr lvl="1"/>
            <a:r>
              <a:rPr lang="en-US" altLang="zh-CN" dirty="0"/>
              <a:t>2020</a:t>
            </a:r>
            <a:r>
              <a:rPr lang="zh-CN" altLang="en-US" dirty="0"/>
              <a:t>年是美国“</a:t>
            </a:r>
            <a:r>
              <a:rPr lang="en-US" altLang="zh-CN" dirty="0"/>
              <a:t>National Cybersecurity Awareness Month(NCSAM)</a:t>
            </a:r>
            <a:r>
              <a:rPr lang="zh-CN" altLang="en-US" dirty="0"/>
              <a:t>国家网络安全意识月”的第</a:t>
            </a:r>
            <a:r>
              <a:rPr lang="en-US" altLang="zh-CN" dirty="0"/>
              <a:t>17</a:t>
            </a:r>
            <a:r>
              <a:rPr lang="zh-CN" altLang="en-US" dirty="0"/>
              <a:t>年，也是中国的“网络安全宣传周”的第</a:t>
            </a:r>
            <a:r>
              <a:rPr lang="en-US" altLang="zh-CN" dirty="0"/>
              <a:t>7</a:t>
            </a:r>
            <a:r>
              <a:rPr lang="zh-CN" altLang="en-US" dirty="0"/>
              <a:t>年，通过提升全民网络安全意识来提高网络安全能力，是国家网络安全管理机构的共识。</a:t>
            </a:r>
          </a:p>
        </p:txBody>
      </p:sp>
      <p:sp>
        <p:nvSpPr>
          <p:cNvPr id="3" name="标题 2"/>
          <p:cNvSpPr>
            <a:spLocks noGrp="1"/>
          </p:cNvSpPr>
          <p:nvPr>
            <p:ph type="title"/>
          </p:nvPr>
        </p:nvSpPr>
        <p:spPr/>
        <p:txBody>
          <a:bodyPr/>
          <a:lstStyle/>
          <a:p>
            <a:r>
              <a:rPr lang="zh-CN" altLang="en-US" dirty="0"/>
              <a:t>防范社会工程学攻击</a:t>
            </a:r>
          </a:p>
        </p:txBody>
      </p:sp>
    </p:spTree>
    <p:extLst>
      <p:ext uri="{BB962C8B-B14F-4D97-AF65-F5344CB8AC3E}">
        <p14:creationId xmlns:p14="http://schemas.microsoft.com/office/powerpoint/2010/main" val="26566510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337724"/>
            <a:ext cx="7772400" cy="4114800"/>
          </a:xfrm>
        </p:spPr>
        <p:txBody>
          <a:bodyPr/>
          <a:lstStyle/>
          <a:p>
            <a:r>
              <a:rPr lang="zh-CN" altLang="en-US" dirty="0"/>
              <a:t>安全意识培养</a:t>
            </a:r>
            <a:endParaRPr lang="en-US" altLang="zh-CN" dirty="0"/>
          </a:p>
          <a:p>
            <a:pPr lvl="1"/>
            <a:r>
              <a:rPr lang="zh-CN" altLang="en-US" dirty="0"/>
              <a:t>网络安全意识教育企业中的明星，由</a:t>
            </a:r>
            <a:r>
              <a:rPr lang="zh-CN" altLang="en-US" dirty="0">
                <a:solidFill>
                  <a:srgbClr val="FF0000"/>
                </a:solidFill>
              </a:rPr>
              <a:t>凯文</a:t>
            </a:r>
            <a:r>
              <a:rPr lang="en-US" altLang="zh-CN" dirty="0">
                <a:solidFill>
                  <a:srgbClr val="FF0000"/>
                </a:solidFill>
              </a:rPr>
              <a:t>·</a:t>
            </a:r>
            <a:r>
              <a:rPr lang="zh-CN" altLang="en-US" dirty="0">
                <a:solidFill>
                  <a:srgbClr val="FF0000"/>
                </a:solidFill>
              </a:rPr>
              <a:t>米特尼克</a:t>
            </a:r>
            <a:r>
              <a:rPr lang="zh-CN" altLang="en-US" dirty="0"/>
              <a:t>出任</a:t>
            </a:r>
            <a:r>
              <a:rPr lang="en-US" altLang="zh-CN" dirty="0"/>
              <a:t>Chief Hacking Officer</a:t>
            </a:r>
            <a:endParaRPr lang="zh-CN" altLang="en-US" dirty="0"/>
          </a:p>
        </p:txBody>
      </p:sp>
      <p:sp>
        <p:nvSpPr>
          <p:cNvPr id="3" name="标题 2"/>
          <p:cNvSpPr>
            <a:spLocks noGrp="1"/>
          </p:cNvSpPr>
          <p:nvPr>
            <p:ph type="title"/>
          </p:nvPr>
        </p:nvSpPr>
        <p:spPr/>
        <p:txBody>
          <a:bodyPr/>
          <a:lstStyle/>
          <a:p>
            <a:r>
              <a:rPr lang="zh-CN" altLang="en-US" dirty="0"/>
              <a:t>防范社会工程学攻击</a:t>
            </a:r>
          </a:p>
        </p:txBody>
      </p:sp>
      <p:pic>
        <p:nvPicPr>
          <p:cNvPr id="4" name="图片 3"/>
          <p:cNvPicPr>
            <a:picLocks noChangeAspect="1"/>
          </p:cNvPicPr>
          <p:nvPr/>
        </p:nvPicPr>
        <p:blipFill>
          <a:blip r:embed="rId3"/>
          <a:stretch>
            <a:fillRect/>
          </a:stretch>
        </p:blipFill>
        <p:spPr>
          <a:xfrm>
            <a:off x="2223566" y="3182728"/>
            <a:ext cx="3981450" cy="1276350"/>
          </a:xfrm>
          <a:prstGeom prst="rect">
            <a:avLst/>
          </a:prstGeom>
        </p:spPr>
      </p:pic>
      <p:pic>
        <p:nvPicPr>
          <p:cNvPr id="5" name="图片 4"/>
          <p:cNvPicPr>
            <a:picLocks noChangeAspect="1"/>
          </p:cNvPicPr>
          <p:nvPr/>
        </p:nvPicPr>
        <p:blipFill>
          <a:blip r:embed="rId4"/>
          <a:stretch>
            <a:fillRect/>
          </a:stretch>
        </p:blipFill>
        <p:spPr>
          <a:xfrm>
            <a:off x="796836" y="4695077"/>
            <a:ext cx="7856507" cy="1514894"/>
          </a:xfrm>
          <a:prstGeom prst="rect">
            <a:avLst/>
          </a:prstGeom>
          <a:ln>
            <a:solidFill>
              <a:srgbClr val="FF0000"/>
            </a:solidFill>
          </a:ln>
        </p:spPr>
      </p:pic>
    </p:spTree>
    <p:extLst>
      <p:ext uri="{BB962C8B-B14F-4D97-AF65-F5344CB8AC3E}">
        <p14:creationId xmlns:p14="http://schemas.microsoft.com/office/powerpoint/2010/main" val="37042889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防范方法</a:t>
            </a:r>
            <a:endParaRPr lang="en-US" altLang="zh-CN" dirty="0"/>
          </a:p>
          <a:p>
            <a:pPr lvl="1"/>
            <a:r>
              <a:rPr lang="zh-CN" altLang="en-US" dirty="0"/>
              <a:t>一、学会识别社会工程攻击</a:t>
            </a:r>
          </a:p>
        </p:txBody>
      </p:sp>
      <p:sp>
        <p:nvSpPr>
          <p:cNvPr id="3" name="标题 2"/>
          <p:cNvSpPr>
            <a:spLocks noGrp="1"/>
          </p:cNvSpPr>
          <p:nvPr>
            <p:ph type="title"/>
          </p:nvPr>
        </p:nvSpPr>
        <p:spPr/>
        <p:txBody>
          <a:bodyPr/>
          <a:lstStyle/>
          <a:p>
            <a:r>
              <a:rPr lang="zh-CN" altLang="en-US" dirty="0"/>
              <a:t>防范社会工程学攻击</a:t>
            </a:r>
          </a:p>
        </p:txBody>
      </p:sp>
    </p:spTree>
    <p:extLst>
      <p:ext uri="{BB962C8B-B14F-4D97-AF65-F5344CB8AC3E}">
        <p14:creationId xmlns:p14="http://schemas.microsoft.com/office/powerpoint/2010/main" val="19100481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防范方法</a:t>
            </a:r>
            <a:endParaRPr lang="en-US" altLang="zh-CN" dirty="0"/>
          </a:p>
          <a:p>
            <a:pPr lvl="1"/>
            <a:r>
              <a:rPr lang="zh-CN" altLang="en-US" dirty="0"/>
              <a:t>二、注意保护个人隐私信息</a:t>
            </a:r>
          </a:p>
        </p:txBody>
      </p:sp>
      <p:sp>
        <p:nvSpPr>
          <p:cNvPr id="3" name="标题 2"/>
          <p:cNvSpPr>
            <a:spLocks noGrp="1"/>
          </p:cNvSpPr>
          <p:nvPr>
            <p:ph type="title"/>
          </p:nvPr>
        </p:nvSpPr>
        <p:spPr/>
        <p:txBody>
          <a:bodyPr/>
          <a:lstStyle/>
          <a:p>
            <a:r>
              <a:rPr lang="zh-CN" altLang="en-US" dirty="0"/>
              <a:t>防范社会工程学攻击</a:t>
            </a:r>
          </a:p>
        </p:txBody>
      </p:sp>
    </p:spTree>
    <p:extLst>
      <p:ext uri="{BB962C8B-B14F-4D97-AF65-F5344CB8AC3E}">
        <p14:creationId xmlns:p14="http://schemas.microsoft.com/office/powerpoint/2010/main" val="1545208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防范方法</a:t>
            </a:r>
            <a:endParaRPr lang="en-US" altLang="zh-CN" dirty="0"/>
          </a:p>
          <a:p>
            <a:pPr lvl="1"/>
            <a:r>
              <a:rPr lang="zh-CN" altLang="en-US" dirty="0"/>
              <a:t>三、充分认识社会工程人员意图获取的信息的价值</a:t>
            </a:r>
          </a:p>
        </p:txBody>
      </p:sp>
      <p:sp>
        <p:nvSpPr>
          <p:cNvPr id="3" name="标题 2"/>
          <p:cNvSpPr>
            <a:spLocks noGrp="1"/>
          </p:cNvSpPr>
          <p:nvPr>
            <p:ph type="title"/>
          </p:nvPr>
        </p:nvSpPr>
        <p:spPr/>
        <p:txBody>
          <a:bodyPr/>
          <a:lstStyle/>
          <a:p>
            <a:r>
              <a:rPr lang="zh-CN" altLang="en-US" dirty="0"/>
              <a:t>防范社会工程学攻击</a:t>
            </a:r>
          </a:p>
        </p:txBody>
      </p:sp>
    </p:spTree>
    <p:extLst>
      <p:ext uri="{BB962C8B-B14F-4D97-AF65-F5344CB8AC3E}">
        <p14:creationId xmlns:p14="http://schemas.microsoft.com/office/powerpoint/2010/main" val="35969364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防范方法</a:t>
            </a:r>
            <a:endParaRPr lang="en-US" altLang="zh-CN" dirty="0"/>
          </a:p>
          <a:p>
            <a:pPr lvl="1"/>
            <a:r>
              <a:rPr lang="zh-CN" altLang="en-US" dirty="0"/>
              <a:t>四、及时更新、升级软件</a:t>
            </a:r>
          </a:p>
        </p:txBody>
      </p:sp>
      <p:sp>
        <p:nvSpPr>
          <p:cNvPr id="3" name="标题 2"/>
          <p:cNvSpPr>
            <a:spLocks noGrp="1"/>
          </p:cNvSpPr>
          <p:nvPr>
            <p:ph type="title"/>
          </p:nvPr>
        </p:nvSpPr>
        <p:spPr/>
        <p:txBody>
          <a:bodyPr/>
          <a:lstStyle/>
          <a:p>
            <a:r>
              <a:rPr lang="zh-CN" altLang="en-US" dirty="0"/>
              <a:t>防范社会工程学攻击</a:t>
            </a:r>
          </a:p>
        </p:txBody>
      </p:sp>
    </p:spTree>
    <p:extLst>
      <p:ext uri="{BB962C8B-B14F-4D97-AF65-F5344CB8AC3E}">
        <p14:creationId xmlns:p14="http://schemas.microsoft.com/office/powerpoint/2010/main" val="11316423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77963"/>
            <a:ext cx="7772400" cy="4114800"/>
          </a:xfrm>
        </p:spPr>
        <p:txBody>
          <a:bodyPr/>
          <a:lstStyle/>
          <a:p>
            <a:r>
              <a:rPr lang="zh-CN" altLang="en-US" dirty="0"/>
              <a:t>防范方法</a:t>
            </a:r>
            <a:endParaRPr lang="en-US" altLang="zh-CN" dirty="0"/>
          </a:p>
          <a:p>
            <a:pPr lvl="1"/>
            <a:r>
              <a:rPr lang="zh-CN" altLang="en-US" dirty="0"/>
              <a:t>五、制定规范可行的安全管理规章制度</a:t>
            </a:r>
          </a:p>
        </p:txBody>
      </p:sp>
      <p:sp>
        <p:nvSpPr>
          <p:cNvPr id="3" name="标题 2"/>
          <p:cNvSpPr>
            <a:spLocks noGrp="1"/>
          </p:cNvSpPr>
          <p:nvPr>
            <p:ph type="title"/>
          </p:nvPr>
        </p:nvSpPr>
        <p:spPr/>
        <p:txBody>
          <a:bodyPr/>
          <a:lstStyle/>
          <a:p>
            <a:r>
              <a:rPr lang="zh-CN" altLang="en-US" dirty="0"/>
              <a:t>防范社会工程学攻击</a:t>
            </a:r>
          </a:p>
        </p:txBody>
      </p:sp>
    </p:spTree>
    <p:extLst>
      <p:ext uri="{BB962C8B-B14F-4D97-AF65-F5344CB8AC3E}">
        <p14:creationId xmlns:p14="http://schemas.microsoft.com/office/powerpoint/2010/main" val="180008334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58813" y="1477963"/>
            <a:ext cx="7772400" cy="4114800"/>
          </a:xfrm>
        </p:spPr>
        <p:txBody>
          <a:bodyPr/>
          <a:lstStyle/>
          <a:p>
            <a:r>
              <a:rPr lang="zh-CN" altLang="zh-CN" dirty="0"/>
              <a:t>总之，上述措施的最终目的都是提高人的安全意识，并自觉地、不折不扣地遵守各项网络安全规章制度，</a:t>
            </a:r>
            <a:r>
              <a:rPr lang="zh-CN" altLang="zh-CN" dirty="0">
                <a:solidFill>
                  <a:srgbClr val="FF0000"/>
                </a:solidFill>
              </a:rPr>
              <a:t>不为“情”所动，不为“利”所诱，不惧“恐吓”</a:t>
            </a:r>
            <a:r>
              <a:rPr lang="zh-CN" altLang="zh-CN" dirty="0"/>
              <a:t>，只有这样才能有效抵御社会工程攻击</a:t>
            </a:r>
            <a:endParaRPr lang="zh-CN" altLang="en-US" dirty="0"/>
          </a:p>
        </p:txBody>
      </p:sp>
      <p:sp>
        <p:nvSpPr>
          <p:cNvPr id="3" name="标题 2"/>
          <p:cNvSpPr>
            <a:spLocks noGrp="1"/>
          </p:cNvSpPr>
          <p:nvPr>
            <p:ph type="title"/>
          </p:nvPr>
        </p:nvSpPr>
        <p:spPr/>
        <p:txBody>
          <a:bodyPr/>
          <a:lstStyle/>
          <a:p>
            <a:r>
              <a:rPr lang="zh-CN" altLang="en-US" dirty="0"/>
              <a:t>防范社会工程学攻击</a:t>
            </a:r>
          </a:p>
        </p:txBody>
      </p:sp>
    </p:spTree>
    <p:extLst>
      <p:ext uri="{BB962C8B-B14F-4D97-AF65-F5344CB8AC3E}">
        <p14:creationId xmlns:p14="http://schemas.microsoft.com/office/powerpoint/2010/main" val="42314056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044483" y="1257001"/>
            <a:ext cx="4580604" cy="5057534"/>
          </a:xfrm>
        </p:spPr>
      </p:pic>
      <p:sp>
        <p:nvSpPr>
          <p:cNvPr id="3" name="标题 2"/>
          <p:cNvSpPr>
            <a:spLocks noGrp="1"/>
          </p:cNvSpPr>
          <p:nvPr>
            <p:ph type="title"/>
          </p:nvPr>
        </p:nvSpPr>
        <p:spPr/>
        <p:txBody>
          <a:bodyPr/>
          <a:lstStyle/>
          <a:p>
            <a:r>
              <a:rPr lang="en-US" altLang="zh-CN" dirty="0"/>
              <a:t>6</a:t>
            </a:r>
            <a:r>
              <a:rPr lang="zh-CN" altLang="en-US" dirty="0"/>
              <a:t>种常见网络钓鱼攻击的防范</a:t>
            </a:r>
          </a:p>
        </p:txBody>
      </p:sp>
    </p:spTree>
    <p:extLst>
      <p:ext uri="{BB962C8B-B14F-4D97-AF65-F5344CB8AC3E}">
        <p14:creationId xmlns:p14="http://schemas.microsoft.com/office/powerpoint/2010/main" val="16059345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43573" y="1417003"/>
            <a:ext cx="7772400" cy="4114800"/>
          </a:xfrm>
        </p:spPr>
        <p:txBody>
          <a:bodyPr/>
          <a:lstStyle/>
          <a:p>
            <a:endParaRPr lang="zh-CN" altLang="en-US" sz="2800" dirty="0"/>
          </a:p>
        </p:txBody>
      </p:sp>
      <p:sp>
        <p:nvSpPr>
          <p:cNvPr id="3" name="标题 2"/>
          <p:cNvSpPr>
            <a:spLocks noGrp="1"/>
          </p:cNvSpPr>
          <p:nvPr>
            <p:ph type="title"/>
          </p:nvPr>
        </p:nvSpPr>
        <p:spPr/>
        <p:txBody>
          <a:bodyPr/>
          <a:lstStyle/>
          <a:p>
            <a:r>
              <a:rPr lang="zh-CN" altLang="en-US" dirty="0"/>
              <a:t>本章小结</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r>
              <a:rPr lang="zh-CN" altLang="en-US"/>
              <a:t>作业</a:t>
            </a:r>
          </a:p>
        </p:txBody>
      </p:sp>
      <p:sp>
        <p:nvSpPr>
          <p:cNvPr id="103427" name="AutoShape 3"/>
          <p:cNvSpPr>
            <a:spLocks noChangeArrowheads="1"/>
          </p:cNvSpPr>
          <p:nvPr/>
        </p:nvSpPr>
        <p:spPr bwMode="auto">
          <a:xfrm flipH="1">
            <a:off x="250825" y="2484438"/>
            <a:ext cx="73025" cy="144462"/>
          </a:xfrm>
          <a:prstGeom prst="octagon">
            <a:avLst>
              <a:gd name="adj" fmla="val 29287"/>
            </a:avLst>
          </a:prstGeom>
          <a:solidFill>
            <a:schemeClr val="bg1"/>
          </a:solidFill>
          <a:ln w="9525">
            <a:noFill/>
            <a:miter lim="800000"/>
            <a:headEnd/>
            <a:tailEnd/>
          </a:ln>
        </p:spPr>
        <p:txBody>
          <a:bodyPr wrap="none" anchor="ctr"/>
          <a:lstStyle/>
          <a:p>
            <a:endParaRPr lang="zh-CN" altLang="en-US"/>
          </a:p>
        </p:txBody>
      </p:sp>
      <p:sp>
        <p:nvSpPr>
          <p:cNvPr id="103428" name="Rectangle 4"/>
          <p:cNvSpPr>
            <a:spLocks noGrp="1" noChangeArrowheads="1"/>
          </p:cNvSpPr>
          <p:nvPr>
            <p:ph type="body" idx="1"/>
          </p:nvPr>
        </p:nvSpPr>
        <p:spPr>
          <a:xfrm>
            <a:off x="730250" y="1581150"/>
            <a:ext cx="7162800" cy="4352925"/>
          </a:xfrm>
          <a:noFill/>
        </p:spPr>
        <p:txBody>
          <a:bodyPr/>
          <a:lstStyle/>
          <a:p>
            <a:pPr marL="533400" indent="-533400" eaLnBrk="1" hangingPunct="1">
              <a:lnSpc>
                <a:spcPct val="150000"/>
              </a:lnSpc>
              <a:spcBef>
                <a:spcPts val="0"/>
              </a:spcBef>
              <a:buFont typeface="Wingdings" pitchFamily="2" charset="2"/>
              <a:buNone/>
            </a:pPr>
            <a:endParaRPr lang="en-US" altLang="zh-CN" sz="2800" dirty="0"/>
          </a:p>
        </p:txBody>
      </p:sp>
    </p:spTree>
  </p:cSld>
  <p:clrMapOvr>
    <a:masterClrMapping/>
  </p:clrMapOvr>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楷体_GB2312"/>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1800" b="1" i="0" u="none" strike="noStrike" cap="none" normalizeH="0" baseline="0" smtClean="0">
            <a:ln>
              <a:noFill/>
            </a:ln>
            <a:solidFill>
              <a:schemeClr val="tx1"/>
            </a:solidFill>
            <a:effectLst/>
            <a:latin typeface="Tahoma" pitchFamily="34"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1800" b="1" i="0" u="none" strike="noStrike" cap="none" normalizeH="0" baseline="0" smtClean="0">
            <a:ln>
              <a:noFill/>
            </a:ln>
            <a:solidFill>
              <a:schemeClr val="tx1"/>
            </a:solidFill>
            <a:effectLst/>
            <a:latin typeface="Tahoma" pitchFamily="34" charset="0"/>
            <a:ea typeface="宋体"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15551</TotalTime>
  <Words>4954</Words>
  <Application>Microsoft Office PowerPoint</Application>
  <PresentationFormat>全屏显示(4:3)</PresentationFormat>
  <Paragraphs>364</Paragraphs>
  <Slides>87</Slides>
  <Notes>38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87</vt:i4>
      </vt:variant>
    </vt:vector>
  </HeadingPairs>
  <TitlesOfParts>
    <vt:vector size="94" baseType="lpstr">
      <vt:lpstr>黑体</vt:lpstr>
      <vt:lpstr>楷体_GB2312</vt:lpstr>
      <vt:lpstr>宋体</vt:lpstr>
      <vt:lpstr>Tahoma</vt:lpstr>
      <vt:lpstr>Times New Roman</vt:lpstr>
      <vt:lpstr>Wingdings</vt:lpstr>
      <vt:lpstr>1_Blends</vt:lpstr>
      <vt:lpstr>第 十二 章    社会工程学</vt:lpstr>
      <vt:lpstr>内容提纲</vt:lpstr>
      <vt:lpstr>社会工程学</vt:lpstr>
      <vt:lpstr>社会工程学</vt:lpstr>
      <vt:lpstr>社会工程学</vt:lpstr>
      <vt:lpstr>社会工程学</vt:lpstr>
      <vt:lpstr>社会工程学</vt:lpstr>
      <vt:lpstr>社会工程学</vt:lpstr>
      <vt:lpstr>社会工程学</vt:lpstr>
      <vt:lpstr>社会工程学</vt:lpstr>
      <vt:lpstr>社会工程学</vt:lpstr>
      <vt:lpstr>社会工程学</vt:lpstr>
      <vt:lpstr>社会工程学</vt:lpstr>
      <vt:lpstr>内容提纲</vt:lpstr>
      <vt:lpstr>常用技术</vt:lpstr>
      <vt:lpstr>一、伪装</vt:lpstr>
      <vt:lpstr>一、伪装</vt:lpstr>
      <vt:lpstr>一、伪装</vt:lpstr>
      <vt:lpstr>一、伪装</vt:lpstr>
      <vt:lpstr>一、伪装</vt:lpstr>
      <vt:lpstr>一、伪装</vt:lpstr>
      <vt:lpstr>一、伪装</vt:lpstr>
      <vt:lpstr>一、伪装</vt:lpstr>
      <vt:lpstr>一、伪装</vt:lpstr>
      <vt:lpstr>二、引诱</vt:lpstr>
      <vt:lpstr>二、引诱</vt:lpstr>
      <vt:lpstr>二、引诱</vt:lpstr>
      <vt:lpstr>二、引诱</vt:lpstr>
      <vt:lpstr>二、引诱</vt:lpstr>
      <vt:lpstr>二、引诱</vt:lpstr>
      <vt:lpstr>二、引诱</vt:lpstr>
      <vt:lpstr>二、引诱</vt:lpstr>
      <vt:lpstr>二、引诱</vt:lpstr>
      <vt:lpstr>三、恐吓</vt:lpstr>
      <vt:lpstr>三、恐吓</vt:lpstr>
      <vt:lpstr>三、恐吓</vt:lpstr>
      <vt:lpstr>三、恐吓</vt:lpstr>
      <vt:lpstr>三、恐吓</vt:lpstr>
      <vt:lpstr>三、恐吓</vt:lpstr>
      <vt:lpstr>四、说服</vt:lpstr>
      <vt:lpstr>四、说服</vt:lpstr>
      <vt:lpstr>五、反向社会工程</vt:lpstr>
      <vt:lpstr>五、反向社会工程</vt:lpstr>
      <vt:lpstr>案例分析</vt:lpstr>
      <vt:lpstr>案例分析</vt:lpstr>
      <vt:lpstr>案例分析</vt:lpstr>
      <vt:lpstr>案例三（续）</vt:lpstr>
      <vt:lpstr>案例三（续）</vt:lpstr>
      <vt:lpstr>案例三（续）</vt:lpstr>
      <vt:lpstr>案例三（续）</vt:lpstr>
      <vt:lpstr>案例三（续）</vt:lpstr>
      <vt:lpstr>案例三（续）</vt:lpstr>
      <vt:lpstr>案例三（续）</vt:lpstr>
      <vt:lpstr>案例三（续）</vt:lpstr>
      <vt:lpstr>案例三（续）</vt:lpstr>
      <vt:lpstr>案例三（续）</vt:lpstr>
      <vt:lpstr>案例三（续）</vt:lpstr>
      <vt:lpstr>案例四-2020Twitter被黑</vt:lpstr>
      <vt:lpstr>案例四-2020Twitter被黑</vt:lpstr>
      <vt:lpstr>案例四-2020Twitter被黑</vt:lpstr>
      <vt:lpstr>案例四-2020Twitter被黑</vt:lpstr>
      <vt:lpstr>案例四-2020Twitter被黑</vt:lpstr>
      <vt:lpstr>案例四-2020Twitter被黑</vt:lpstr>
      <vt:lpstr>案例五-漏洞挖掘人员成为目标</vt:lpstr>
      <vt:lpstr>案例五-漏洞挖掘人员成为目标</vt:lpstr>
      <vt:lpstr>实战攻防演习中的钓鱼攻击</vt:lpstr>
      <vt:lpstr>案例分析</vt:lpstr>
      <vt:lpstr>心理学的重要性</vt:lpstr>
      <vt:lpstr>内容提纲</vt:lpstr>
      <vt:lpstr>社工库</vt:lpstr>
      <vt:lpstr>社会工程学工具</vt:lpstr>
      <vt:lpstr>社会工程学工具</vt:lpstr>
      <vt:lpstr>社会工程学工具</vt:lpstr>
      <vt:lpstr>内容提纲</vt:lpstr>
      <vt:lpstr>防范社会工程学攻击</vt:lpstr>
      <vt:lpstr>防范社会工程学攻击</vt:lpstr>
      <vt:lpstr>防范社会工程学攻击</vt:lpstr>
      <vt:lpstr>防范社会工程学攻击</vt:lpstr>
      <vt:lpstr>防范社会工程学攻击</vt:lpstr>
      <vt:lpstr>防范社会工程学攻击</vt:lpstr>
      <vt:lpstr>防范社会工程学攻击</vt:lpstr>
      <vt:lpstr>防范社会工程学攻击</vt:lpstr>
      <vt:lpstr>防范社会工程学攻击</vt:lpstr>
      <vt:lpstr>防范社会工程学攻击</vt:lpstr>
      <vt:lpstr>6种常见网络钓鱼攻击的防范</vt:lpstr>
      <vt:lpstr>本章小结</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unknown</dc:creator>
  <cp:lastModifiedBy>rlp</cp:lastModifiedBy>
  <cp:revision>1577</cp:revision>
  <dcterms:created xsi:type="dcterms:W3CDTF">2004-07-10T13:16:47Z</dcterms:created>
  <dcterms:modified xsi:type="dcterms:W3CDTF">2023-03-22T04:56:18Z</dcterms:modified>
</cp:coreProperties>
</file>