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1"/>
  </p:notesMasterIdLst>
  <p:handoutMasterIdLst>
    <p:handoutMasterId r:id="rId202"/>
  </p:handoutMasterIdLst>
  <p:sldIdLst>
    <p:sldId id="1346" r:id="rId2"/>
    <p:sldId id="1890" r:id="rId3"/>
    <p:sldId id="1862" r:id="rId4"/>
    <p:sldId id="1863" r:id="rId5"/>
    <p:sldId id="1864" r:id="rId6"/>
    <p:sldId id="2020" r:id="rId7"/>
    <p:sldId id="2021" r:id="rId8"/>
    <p:sldId id="2022" r:id="rId9"/>
    <p:sldId id="2023" r:id="rId10"/>
    <p:sldId id="2024" r:id="rId11"/>
    <p:sldId id="1936" r:id="rId12"/>
    <p:sldId id="1937" r:id="rId13"/>
    <p:sldId id="1926" r:id="rId14"/>
    <p:sldId id="1927" r:id="rId15"/>
    <p:sldId id="1928" r:id="rId16"/>
    <p:sldId id="1918" r:id="rId17"/>
    <p:sldId id="1919" r:id="rId18"/>
    <p:sldId id="1920" r:id="rId19"/>
    <p:sldId id="1938" r:id="rId20"/>
    <p:sldId id="1865" r:id="rId21"/>
    <p:sldId id="1866" r:id="rId22"/>
    <p:sldId id="1867" r:id="rId23"/>
    <p:sldId id="1924" r:id="rId24"/>
    <p:sldId id="1868" r:id="rId25"/>
    <p:sldId id="1869" r:id="rId26"/>
    <p:sldId id="1870" r:id="rId27"/>
    <p:sldId id="1871" r:id="rId28"/>
    <p:sldId id="1872" r:id="rId29"/>
    <p:sldId id="1873" r:id="rId30"/>
    <p:sldId id="2068" r:id="rId31"/>
    <p:sldId id="1874" r:id="rId32"/>
    <p:sldId id="2069" r:id="rId33"/>
    <p:sldId id="2070" r:id="rId34"/>
    <p:sldId id="2071" r:id="rId35"/>
    <p:sldId id="2072" r:id="rId36"/>
    <p:sldId id="2073" r:id="rId37"/>
    <p:sldId id="2074" r:id="rId38"/>
    <p:sldId id="1875" r:id="rId39"/>
    <p:sldId id="1876" r:id="rId40"/>
    <p:sldId id="1877" r:id="rId41"/>
    <p:sldId id="1878" r:id="rId42"/>
    <p:sldId id="1889" r:id="rId43"/>
    <p:sldId id="2060" r:id="rId44"/>
    <p:sldId id="1891" r:id="rId45"/>
    <p:sldId id="1892" r:id="rId46"/>
    <p:sldId id="1893" r:id="rId47"/>
    <p:sldId id="1894" r:id="rId48"/>
    <p:sldId id="1895" r:id="rId49"/>
    <p:sldId id="1896" r:id="rId50"/>
    <p:sldId id="1897" r:id="rId51"/>
    <p:sldId id="1898" r:id="rId52"/>
    <p:sldId id="1899" r:id="rId53"/>
    <p:sldId id="1900" r:id="rId54"/>
    <p:sldId id="1901" r:id="rId55"/>
    <p:sldId id="1902" r:id="rId56"/>
    <p:sldId id="1903" r:id="rId57"/>
    <p:sldId id="2009" r:id="rId58"/>
    <p:sldId id="2010" r:id="rId59"/>
    <p:sldId id="2011" r:id="rId60"/>
    <p:sldId id="2012" r:id="rId61"/>
    <p:sldId id="2025" r:id="rId62"/>
    <p:sldId id="2026" r:id="rId63"/>
    <p:sldId id="2027" r:id="rId64"/>
    <p:sldId id="2028" r:id="rId65"/>
    <p:sldId id="2029" r:id="rId66"/>
    <p:sldId id="1904" r:id="rId67"/>
    <p:sldId id="1905" r:id="rId68"/>
    <p:sldId id="1906" r:id="rId69"/>
    <p:sldId id="1907" r:id="rId70"/>
    <p:sldId id="1908" r:id="rId71"/>
    <p:sldId id="1909" r:id="rId72"/>
    <p:sldId id="1910" r:id="rId73"/>
    <p:sldId id="1911" r:id="rId74"/>
    <p:sldId id="1912" r:id="rId75"/>
    <p:sldId id="1914" r:id="rId76"/>
    <p:sldId id="1915" r:id="rId77"/>
    <p:sldId id="1916" r:id="rId78"/>
    <p:sldId id="1917" r:id="rId79"/>
    <p:sldId id="2050" r:id="rId80"/>
    <p:sldId id="2051" r:id="rId81"/>
    <p:sldId id="2052" r:id="rId82"/>
    <p:sldId id="2053" r:id="rId83"/>
    <p:sldId id="2054" r:id="rId84"/>
    <p:sldId id="2055" r:id="rId85"/>
    <p:sldId id="2061" r:id="rId86"/>
    <p:sldId id="1913" r:id="rId87"/>
    <p:sldId id="1921" r:id="rId88"/>
    <p:sldId id="1939" r:id="rId89"/>
    <p:sldId id="1940" r:id="rId90"/>
    <p:sldId id="1941" r:id="rId91"/>
    <p:sldId id="1942" r:id="rId92"/>
    <p:sldId id="1943" r:id="rId93"/>
    <p:sldId id="1944" r:id="rId94"/>
    <p:sldId id="1945" r:id="rId95"/>
    <p:sldId id="1946" r:id="rId96"/>
    <p:sldId id="1947" r:id="rId97"/>
    <p:sldId id="1948" r:id="rId98"/>
    <p:sldId id="1949" r:id="rId99"/>
    <p:sldId id="1950" r:id="rId100"/>
    <p:sldId id="1951" r:id="rId101"/>
    <p:sldId id="1952" r:id="rId102"/>
    <p:sldId id="1953" r:id="rId103"/>
    <p:sldId id="1954" r:id="rId104"/>
    <p:sldId id="1955" r:id="rId105"/>
    <p:sldId id="1956" r:id="rId106"/>
    <p:sldId id="1957" r:id="rId107"/>
    <p:sldId id="1958" r:id="rId108"/>
    <p:sldId id="1959" r:id="rId109"/>
    <p:sldId id="1960" r:id="rId110"/>
    <p:sldId id="1961" r:id="rId111"/>
    <p:sldId id="1962" r:id="rId112"/>
    <p:sldId id="1963" r:id="rId113"/>
    <p:sldId id="1964" r:id="rId114"/>
    <p:sldId id="1965" r:id="rId115"/>
    <p:sldId id="1966" r:id="rId116"/>
    <p:sldId id="1967" r:id="rId117"/>
    <p:sldId id="1968" r:id="rId118"/>
    <p:sldId id="1969" r:id="rId119"/>
    <p:sldId id="1970" r:id="rId120"/>
    <p:sldId id="1971" r:id="rId121"/>
    <p:sldId id="1972" r:id="rId122"/>
    <p:sldId id="1973" r:id="rId123"/>
    <p:sldId id="1974" r:id="rId124"/>
    <p:sldId id="1975" r:id="rId125"/>
    <p:sldId id="1976" r:id="rId126"/>
    <p:sldId id="1977" r:id="rId127"/>
    <p:sldId id="1978" r:id="rId128"/>
    <p:sldId id="1979" r:id="rId129"/>
    <p:sldId id="1980" r:id="rId130"/>
    <p:sldId id="1981" r:id="rId131"/>
    <p:sldId id="1982" r:id="rId132"/>
    <p:sldId id="1983" r:id="rId133"/>
    <p:sldId id="1984" r:id="rId134"/>
    <p:sldId id="1985" r:id="rId135"/>
    <p:sldId id="1986" r:id="rId136"/>
    <p:sldId id="1987" r:id="rId137"/>
    <p:sldId id="1988" r:id="rId138"/>
    <p:sldId id="1989" r:id="rId139"/>
    <p:sldId id="2006" r:id="rId140"/>
    <p:sldId id="1997" r:id="rId141"/>
    <p:sldId id="1998" r:id="rId142"/>
    <p:sldId id="1999" r:id="rId143"/>
    <p:sldId id="2000" r:id="rId144"/>
    <p:sldId id="2001" r:id="rId145"/>
    <p:sldId id="2002" r:id="rId146"/>
    <p:sldId id="2003" r:id="rId147"/>
    <p:sldId id="2057" r:id="rId148"/>
    <p:sldId id="2058" r:id="rId149"/>
    <p:sldId id="2067" r:id="rId150"/>
    <p:sldId id="1713" r:id="rId151"/>
    <p:sldId id="1714" r:id="rId152"/>
    <p:sldId id="1715" r:id="rId153"/>
    <p:sldId id="1716" r:id="rId154"/>
    <p:sldId id="1717" r:id="rId155"/>
    <p:sldId id="2019" r:id="rId156"/>
    <p:sldId id="1718" r:id="rId157"/>
    <p:sldId id="2037" r:id="rId158"/>
    <p:sldId id="1672" r:id="rId159"/>
    <p:sldId id="2056" r:id="rId160"/>
    <p:sldId id="1430" r:id="rId161"/>
    <p:sldId id="2075" r:id="rId162"/>
    <p:sldId id="2039" r:id="rId163"/>
    <p:sldId id="2040" r:id="rId164"/>
    <p:sldId id="2041" r:id="rId165"/>
    <p:sldId id="2042" r:id="rId166"/>
    <p:sldId id="2043" r:id="rId167"/>
    <p:sldId id="2044" r:id="rId168"/>
    <p:sldId id="2045" r:id="rId169"/>
    <p:sldId id="2046" r:id="rId170"/>
    <p:sldId id="2047" r:id="rId171"/>
    <p:sldId id="2048" r:id="rId172"/>
    <p:sldId id="2038" r:id="rId173"/>
    <p:sldId id="2049" r:id="rId174"/>
    <p:sldId id="2059" r:id="rId175"/>
    <p:sldId id="2076" r:id="rId176"/>
    <p:sldId id="2062" r:id="rId177"/>
    <p:sldId id="2063" r:id="rId178"/>
    <p:sldId id="2064" r:id="rId179"/>
    <p:sldId id="2065" r:id="rId180"/>
    <p:sldId id="2066" r:id="rId181"/>
    <p:sldId id="2013" r:id="rId182"/>
    <p:sldId id="2014" r:id="rId183"/>
    <p:sldId id="2015" r:id="rId184"/>
    <p:sldId id="2016" r:id="rId185"/>
    <p:sldId id="2017" r:id="rId186"/>
    <p:sldId id="2018" r:id="rId187"/>
    <p:sldId id="1922" r:id="rId188"/>
    <p:sldId id="1720" r:id="rId189"/>
    <p:sldId id="1721" r:id="rId190"/>
    <p:sldId id="1722" r:id="rId191"/>
    <p:sldId id="1723" r:id="rId192"/>
    <p:sldId id="1724" r:id="rId193"/>
    <p:sldId id="1725" r:id="rId194"/>
    <p:sldId id="1726" r:id="rId195"/>
    <p:sldId id="1727" r:id="rId196"/>
    <p:sldId id="1728" r:id="rId197"/>
    <p:sldId id="2008" r:id="rId198"/>
    <p:sldId id="1729" r:id="rId199"/>
    <p:sldId id="1836" r:id="rId200"/>
  </p:sldIdLst>
  <p:sldSz cx="9144000" cy="6858000" type="screen4x3"/>
  <p:notesSz cx="6858000" cy="9144000"/>
  <p:custDataLst>
    <p:tags r:id="rId203"/>
  </p:custDataLst>
  <p:defaultTextStyle>
    <a:defPPr>
      <a:defRPr lang="zh-CN"/>
    </a:defPPr>
    <a:lvl1pPr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FACA00"/>
    <a:srgbClr val="0000CC"/>
    <a:srgbClr val="6699FF"/>
    <a:srgbClr val="000066"/>
    <a:srgbClr val="66FFCC"/>
    <a:srgbClr val="66CCFF"/>
    <a:srgbClr val="029A1B"/>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4" autoAdjust="0"/>
    <p:restoredTop sz="78447" autoAdjust="0"/>
  </p:normalViewPr>
  <p:slideViewPr>
    <p:cSldViewPr snapToGrid="0">
      <p:cViewPr varScale="1">
        <p:scale>
          <a:sx n="90" d="100"/>
          <a:sy n="90" d="100"/>
        </p:scale>
        <p:origin x="221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p:scale>
          <a:sx n="100" d="100"/>
          <a:sy n="100" d="100"/>
        </p:scale>
        <p:origin x="-2832" y="22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theme" Target="theme/theme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tableStyles" Target="tableStyle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tags" Target="tags/tag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handoutMaster" Target="handoutMasters/handoutMaster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0">
                <a:latin typeface="Times New Roman" panose="02020603050405020304" pitchFamily="18" charset="0"/>
                <a:ea typeface="宋体" panose="02010600030101010101" pitchFamily="2" charset="-122"/>
              </a:defRPr>
            </a:lvl1pPr>
          </a:lstStyle>
          <a:p>
            <a:pPr>
              <a:defRPr/>
            </a:pPr>
            <a:fld id="{3B4577F0-ED67-4FFE-A316-3B3AEC2EA4D6}"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4915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116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4915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915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4915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0">
                <a:latin typeface="Times New Roman" panose="02020603050405020304" pitchFamily="18" charset="0"/>
                <a:ea typeface="宋体" panose="02010600030101010101" pitchFamily="2" charset="-122"/>
              </a:defRPr>
            </a:lvl1pPr>
          </a:lstStyle>
          <a:p>
            <a:pPr>
              <a:defRPr/>
            </a:pPr>
            <a:fld id="{E46A9642-FD4A-45CC-9F4F-8E10AB9AB4AA}"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mp.weixin.qq.com/s/Sy7kDXcVRY7gKOy6WOALGw" TargetMode="External"/><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mp.weixin.qq.com/s/Sy7kDXcVRY7gKOy6WOALGw" TargetMode="External"/><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mp.weixin.qq.com/s/Sy7kDXcVRY7gKOy6WOALGw" TargetMode="External"/><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mp.weixin.qq.com/s/Sy7kDXcVRY7gKOy6WOALGw" TargetMode="External"/><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mp.weixin.qq.com/s/Sy7kDXcVRY7gKOy6WOALGw" TargetMode="External"/><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mp.weixin.qq.com/s/Sy7kDXcVRY7gKOy6WOALGw" TargetMode="External"/><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3" Type="http://schemas.openxmlformats.org/officeDocument/2006/relationships/hyperlink" Target="https://www.secrss.com/articles/19365" TargetMode="External"/><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s://www.secrss.com/articles/19365" TargetMode="External"/><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3" Type="http://schemas.openxmlformats.org/officeDocument/2006/relationships/hyperlink" Target="https://www.freebuf.com/articles/database/110864.html" TargetMode="External"/><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3" Type="http://schemas.openxmlformats.org/officeDocument/2006/relationships/hyperlink" Target="https://www.freebuf.com/articles/database/110864.html" TargetMode="External"/><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3" Type="http://schemas.openxmlformats.org/officeDocument/2006/relationships/hyperlink" Target="https://www.freebuf.com/articles/database/110864.html" TargetMode="External"/><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3" Type="http://schemas.openxmlformats.org/officeDocument/2006/relationships/hyperlink" Target="https://www.freebuf.com/articles/database/110864.html" TargetMode="External"/><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3" Type="http://schemas.openxmlformats.org/officeDocument/2006/relationships/hyperlink" Target="https://www.freebuf.com/articles/database/110864.html" TargetMode="External"/><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3" Type="http://schemas.openxmlformats.org/officeDocument/2006/relationships/hyperlink" Target="https://www.freebuf.com/articles/database/110864.html" TargetMode="External"/><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3" Type="http://schemas.openxmlformats.org/officeDocument/2006/relationships/hyperlink" Target="https://www.freebuf.com/articles/database/110864.html" TargetMode="External"/><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3" Type="http://schemas.openxmlformats.org/officeDocument/2006/relationships/hyperlink" Target="https://www.freebuf.com/articles/database/110864.html" TargetMode="External"/><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3" Type="http://schemas.openxmlformats.org/officeDocument/2006/relationships/hyperlink" Target="http://www.heibai.org/post/979.html" TargetMode="External"/><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3" Type="http://schemas.openxmlformats.org/officeDocument/2006/relationships/hyperlink" Target="https://dchest.com/2020/05/25/improving-storage-of-password-encrypted-secrets-in-end-to-end-encrypted-apps/" TargetMode="External"/><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76296D1-E5AE-4B9D-879B-9C26B33FA9CE}" type="slidenum">
              <a:rPr lang="zh-CN" altLang="en-US"/>
              <a:t>2</a:t>
            </a:fld>
            <a:endParaRPr lang="en-US" altLang="zh-CN"/>
          </a:p>
        </p:txBody>
      </p:sp>
      <p:sp>
        <p:nvSpPr>
          <p:cNvPr id="151554" name="Rectangle 2"/>
          <p:cNvSpPr>
            <a:spLocks noGrp="1" noRot="1" noChangeAspect="1" noChangeArrowheads="1" noTextEdit="1"/>
          </p:cNvSpPr>
          <p:nvPr>
            <p:ph type="sldImg"/>
          </p:nvPr>
        </p:nvSpPr>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8F33576-C9AE-4753-9E6A-0E30C3AD2C2E}" type="slidenum">
              <a:rPr lang="en-US" altLang="zh-CN"/>
              <a:t>3</a:t>
            </a:fld>
            <a:endParaRPr lang="en-US" altLang="zh-CN"/>
          </a:p>
        </p:txBody>
      </p:sp>
      <p:sp>
        <p:nvSpPr>
          <p:cNvPr id="1661954" name="Rectangle 2"/>
          <p:cNvSpPr>
            <a:spLocks noGrp="1" noRot="1" noChangeAspect="1" noChangeArrowheads="1" noTextEdit="1"/>
          </p:cNvSpPr>
          <p:nvPr>
            <p:ph type="sldImg"/>
          </p:nvPr>
        </p:nvSpPr>
        <p:spPr/>
      </p:sp>
      <p:sp>
        <p:nvSpPr>
          <p:cNvPr id="1661955" name="Rectangle 3"/>
          <p:cNvSpPr>
            <a:spLocks noGrp="1" noChangeArrowheads="1"/>
          </p:cNvSpPr>
          <p:nvPr>
            <p:ph type="body" idx="1"/>
          </p:nvPr>
        </p:nvSpPr>
        <p:spPr/>
        <p:txBody>
          <a:bodyPr/>
          <a:lstStyle/>
          <a:p>
            <a:r>
              <a:rPr lang="zh-CN" altLang="en-US"/>
              <a:t>识别：通俗地讲，每个合法用户都要有一个不同的识别符，如银行卡的卡号，身份证号；验证：根据你输入的识别符来判断你是否是真的。</a:t>
            </a:r>
          </a:p>
          <a:p>
            <a:r>
              <a:rPr lang="zh-CN" altLang="en-US"/>
              <a:t>第一句讲完后提问：如果有非法用户来使用系统，破坏了系统的什么安全性质？可用性，主要从两个方面来说明：冒充合法用户来用，导致被冒充的合法用户无法使用系统；大量非法用户来使用，占用系统资源，使得合法用户无法使用系统。</a:t>
            </a:r>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AB30F42-5141-4687-B737-8FD91F6423A7}" type="slidenum">
              <a:rPr lang="en-US" altLang="zh-CN"/>
              <a:t>4</a:t>
            </a:fld>
            <a:endParaRPr lang="en-US" altLang="zh-CN"/>
          </a:p>
        </p:txBody>
      </p:sp>
      <p:sp>
        <p:nvSpPr>
          <p:cNvPr id="1696770" name="Rectangle 2"/>
          <p:cNvSpPr>
            <a:spLocks noGrp="1" noRot="1" noChangeAspect="1" noChangeArrowheads="1" noTextEdit="1"/>
          </p:cNvSpPr>
          <p:nvPr>
            <p:ph type="sldImg"/>
          </p:nvPr>
        </p:nvSpPr>
        <p:spPr/>
      </p:sp>
      <p:sp>
        <p:nvSpPr>
          <p:cNvPr id="1696771" name="Rectangle 3"/>
          <p:cNvSpPr>
            <a:spLocks noGrp="1" noChangeArrowheads="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olidFill>
                  <a:srgbClr val="FF0000"/>
                </a:solidFill>
              </a:rPr>
              <a:t>汪定教授</a:t>
            </a:r>
            <a:r>
              <a:rPr lang="en-US" altLang="zh-CN" dirty="0">
                <a:solidFill>
                  <a:srgbClr val="FF0000"/>
                </a:solidFill>
              </a:rPr>
              <a:t>2015</a:t>
            </a:r>
            <a:r>
              <a:rPr lang="zh-CN" altLang="en-US" dirty="0">
                <a:solidFill>
                  <a:srgbClr val="FF0000"/>
                </a:solidFill>
              </a:rPr>
              <a:t>年学术报告“理解中国用户口令：特征、安全性和启示”</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6</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olidFill>
                  <a:srgbClr val="FF0000"/>
                </a:solidFill>
              </a:rPr>
              <a:t>汪定教授</a:t>
            </a:r>
            <a:r>
              <a:rPr lang="en-US" altLang="zh-CN" dirty="0">
                <a:solidFill>
                  <a:srgbClr val="FF0000"/>
                </a:solidFill>
              </a:rPr>
              <a:t>2015</a:t>
            </a:r>
            <a:r>
              <a:rPr lang="zh-CN" altLang="en-US" dirty="0">
                <a:solidFill>
                  <a:srgbClr val="FF0000"/>
                </a:solidFill>
              </a:rPr>
              <a:t>年学术报告“理解中国用户口令：特征、安全性和启示”</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7</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olidFill>
                  <a:srgbClr val="FF0000"/>
                </a:solidFill>
              </a:rPr>
              <a:t>汪定教授</a:t>
            </a:r>
            <a:r>
              <a:rPr lang="en-US" altLang="zh-CN" dirty="0">
                <a:solidFill>
                  <a:srgbClr val="FF0000"/>
                </a:solidFill>
              </a:rPr>
              <a:t>2015</a:t>
            </a:r>
            <a:r>
              <a:rPr lang="zh-CN" altLang="en-US" dirty="0">
                <a:solidFill>
                  <a:srgbClr val="FF0000"/>
                </a:solidFill>
              </a:rPr>
              <a:t>年学术报告“理解中国用户口令：特征、安全性和启示”</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8</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olidFill>
                  <a:srgbClr val="FF0000"/>
                </a:solidFill>
              </a:rPr>
              <a:t>汪定教授</a:t>
            </a:r>
            <a:r>
              <a:rPr lang="en-US" altLang="zh-CN" dirty="0">
                <a:solidFill>
                  <a:srgbClr val="FF0000"/>
                </a:solidFill>
              </a:rPr>
              <a:t>2015</a:t>
            </a:r>
            <a:r>
              <a:rPr lang="zh-CN" altLang="en-US" dirty="0">
                <a:solidFill>
                  <a:srgbClr val="FF0000"/>
                </a:solidFill>
              </a:rPr>
              <a:t>年学术报告“理解中国用户口令：特征、安全性和启示”</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9</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olidFill>
                  <a:srgbClr val="FF0000"/>
                </a:solidFill>
              </a:rPr>
              <a:t>汪定教授</a:t>
            </a:r>
            <a:r>
              <a:rPr lang="en-US" altLang="zh-CN" dirty="0">
                <a:solidFill>
                  <a:srgbClr val="FF0000"/>
                </a:solidFill>
              </a:rPr>
              <a:t>2015</a:t>
            </a:r>
            <a:r>
              <a:rPr lang="zh-CN" altLang="en-US" dirty="0">
                <a:solidFill>
                  <a:srgbClr val="FF0000"/>
                </a:solidFill>
              </a:rPr>
              <a:t>年学术报告“理解中国用户口令：特征、安全性和启示”</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10</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13</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属于密码学认证中的一次性口令认证，将在后面介绍</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15</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本</a:t>
            </a:r>
            <a:r>
              <a:rPr lang="en-US" altLang="zh-CN" dirty="0"/>
              <a:t>PPT</a:t>
            </a:r>
            <a:r>
              <a:rPr lang="zh-CN" altLang="en-US" dirty="0"/>
              <a:t>来自：复旦大学，韩伟力，</a:t>
            </a:r>
            <a:r>
              <a:rPr lang="en-US" altLang="zh-CN" dirty="0"/>
              <a:t>201604</a:t>
            </a:r>
            <a:r>
              <a:rPr lang="en-US" altLang="zh-CN" baseline="0" dirty="0"/>
              <a:t> </a:t>
            </a:r>
            <a:r>
              <a:rPr lang="zh-CN" altLang="en-US" baseline="0" dirty="0"/>
              <a:t>上海</a:t>
            </a:r>
            <a:r>
              <a:rPr lang="en-US" altLang="zh-CN" baseline="0" dirty="0"/>
              <a:t>0CON</a:t>
            </a:r>
            <a:r>
              <a:rPr lang="zh-CN" altLang="en-US" baseline="0" dirty="0"/>
              <a:t>会议上的报告“说说口令安全这件事”</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16</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本</a:t>
            </a:r>
            <a:r>
              <a:rPr lang="en-US" altLang="zh-CN" dirty="0"/>
              <a:t>PPT</a:t>
            </a:r>
            <a:r>
              <a:rPr lang="zh-CN" altLang="en-US" dirty="0"/>
              <a:t>来自：复旦大学，韩伟力，</a:t>
            </a:r>
            <a:r>
              <a:rPr lang="en-US" altLang="zh-CN" dirty="0"/>
              <a:t>201604</a:t>
            </a:r>
            <a:r>
              <a:rPr lang="en-US" altLang="zh-CN" baseline="0" dirty="0"/>
              <a:t> </a:t>
            </a:r>
            <a:r>
              <a:rPr lang="zh-CN" altLang="en-US" baseline="0" dirty="0"/>
              <a:t>上海</a:t>
            </a:r>
            <a:r>
              <a:rPr lang="en-US" altLang="zh-CN" baseline="0" dirty="0"/>
              <a:t>0CON</a:t>
            </a:r>
            <a:r>
              <a:rPr lang="zh-CN" altLang="en-US" baseline="0" dirty="0"/>
              <a:t>会议上的报告“说说口令安全这件事”</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17</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本</a:t>
            </a:r>
            <a:r>
              <a:rPr lang="en-US" altLang="zh-CN" dirty="0"/>
              <a:t>PPT</a:t>
            </a:r>
            <a:r>
              <a:rPr lang="zh-CN" altLang="en-US" dirty="0"/>
              <a:t>来自：复旦大学，韩伟力，</a:t>
            </a:r>
            <a:r>
              <a:rPr lang="en-US" altLang="zh-CN" dirty="0"/>
              <a:t>201604</a:t>
            </a:r>
            <a:r>
              <a:rPr lang="en-US" altLang="zh-CN" baseline="0" dirty="0"/>
              <a:t> </a:t>
            </a:r>
            <a:r>
              <a:rPr lang="zh-CN" altLang="en-US" baseline="0" dirty="0"/>
              <a:t>上海</a:t>
            </a:r>
            <a:r>
              <a:rPr lang="en-US" altLang="zh-CN" baseline="0" dirty="0"/>
              <a:t>0CON</a:t>
            </a:r>
            <a:r>
              <a:rPr lang="zh-CN" altLang="en-US" baseline="0" dirty="0"/>
              <a:t>会议上的报告“说说口令安全这件事”</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18</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小数攻击的基本原理是：①</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 </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当用户向服务器请求认证时，攻击者截取服务器传给用户的种子和迭代值，并将迭代值改为较小的值；②</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 </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然后，假冒服务器，将得到的种子和较小的迭代值发送给用户；③</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 </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用户利用种子和迭代值计算一次性口令，发送给服务器；④</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 </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攻击者再次截取用户传过来的一次性口令，并利用已知的散列函数依次计算较大迭代值的一次性口令，就可获得该用户后续的一系列口令，从而在一段时间内冒充合法用户而不被发现</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30</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用用户口令散列加密会话密钥中的“加密”是什么意思？如何做的？对称加密？来自于陈伟教授的教材</a:t>
            </a:r>
            <a:r>
              <a:rPr lang="en-US" altLang="zh-CN" dirty="0"/>
              <a:t>《</a:t>
            </a:r>
            <a:r>
              <a:rPr lang="zh-CN" altLang="en-US" dirty="0"/>
              <a:t>网络安全原理与实践</a:t>
            </a:r>
            <a:r>
              <a:rPr lang="en-US" altLang="zh-CN" dirty="0"/>
              <a:t>》P134-135</a:t>
            </a:r>
          </a:p>
          <a:p>
            <a:r>
              <a:rPr lang="zh-CN" altLang="en-US" dirty="0"/>
              <a:t>其它文献好像都没有提到</a:t>
            </a:r>
            <a:r>
              <a:rPr lang="en-US" altLang="zh-CN" dirty="0"/>
              <a:t>S/KEY</a:t>
            </a:r>
            <a:r>
              <a:rPr lang="zh-CN" altLang="en-US" dirty="0"/>
              <a:t>协议认证完成后有会话密钥交换过程</a:t>
            </a:r>
            <a:endParaRPr lang="en-US" altLang="zh-CN" dirty="0"/>
          </a:p>
          <a:p>
            <a:r>
              <a:rPr lang="zh-CN" altLang="en-US" dirty="0"/>
              <a:t>并且改进的</a:t>
            </a:r>
            <a:r>
              <a:rPr lang="en-US" altLang="zh-CN" dirty="0"/>
              <a:t>S/KEY</a:t>
            </a:r>
            <a:r>
              <a:rPr lang="zh-CN" altLang="en-US" dirty="0"/>
              <a:t>协议有很多种，该教材可能只是取了其中一种</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32</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https://www.cnblogs.com/artech/archive/2011/01/25/NTLM.html</a:t>
            </a: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Windows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主要采用另一种认证协议</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——NTLM</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NT Lan Manager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NTLM</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使用在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Windows NT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和</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Windows 2000 Server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or later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）工作组环境中（</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Kerberos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用在域模式下）。在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AD</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域环境中，如果需要认证</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Windows NT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系统，也必须采用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NTLM</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。较之</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Kerberos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，基于</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NTLM</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的认证过程要简单很多。</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NTLM</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采用一种质询</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应答（</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Challenge/Response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）消息交换模式，上图反映了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Windows2000</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下整个</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NTLM</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认证流程。</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33</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https://www.cnblogs.com/artech/archive/2011/01/25/NTLM.html</a:t>
            </a:r>
          </a:p>
          <a:p>
            <a:r>
              <a:rPr lang="en-US" altLang="zh-CN" dirty="0"/>
              <a:t>1</a:t>
            </a:r>
            <a:r>
              <a:rPr lang="zh-CN" altLang="en-US" dirty="0"/>
              <a: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用户通过输入</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Windows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帐号和密码登录客户端主机。在登录之前，客户端会缓存输入密码的哈希值，原始密码会被丢弃（“原始密码在任何情况下都不能被缓存”，这是一条基本的安全准则）。成功登录客户端</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Windows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的用户如果试图访问服务器资源，需要向对方发送一个请求。该请求中包含一个以明文表示的用户名。</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、服务器接收到请求后，生成一个</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16</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位的随机数。这个随机数被称为</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Challenge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或者</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Nonce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。服务器在将该</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Challenge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发送给客户端之前，该</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Challenge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会先被保存起来。</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Challenge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是以明文的形式发送的。</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3</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、客户端在接收到服务器发回的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Challenge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后，用在步骤一中保存的密码哈希值对其加密，然后再将加密后的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Challenge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发送给服务器。</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4</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、服务器接收到客户端发送回来的加密后的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Challenge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后，会向</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DC</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Domain</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）发送针对客户端的验证请求。该请求主要包含以下三方面的内容：客户端用户名；客户端密码哈希值加密的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Challenge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和原始的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Challenge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5</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6</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DC</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根据用户名获取该帐号的密码哈希值，对原始的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Challenge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进行加密。如果加密后的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Challenge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和服务器发送的一致，则意味着用户拥有正确的密码，验证通过，否则验证失败。</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DC</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将验证结果发给服务器，并最终反馈给客户端。</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34</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https://www.cnblogs.com/backlion/archive/2004/01/13/7856115.html</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35</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76296D1-E5AE-4B9D-879B-9C26B33FA9CE}" type="slidenum">
              <a:rPr lang="zh-CN" altLang="en-US"/>
              <a:t>42</a:t>
            </a:fld>
            <a:endParaRPr lang="en-US" altLang="zh-CN"/>
          </a:p>
        </p:txBody>
      </p:sp>
      <p:sp>
        <p:nvSpPr>
          <p:cNvPr id="151554" name="Rectangle 2"/>
          <p:cNvSpPr>
            <a:spLocks noGrp="1" noRot="1" noChangeAspect="1" noChangeArrowheads="1" noTextEdit="1"/>
          </p:cNvSpPr>
          <p:nvPr>
            <p:ph type="sldImg"/>
          </p:nvPr>
        </p:nvSpPr>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在此之前，由于缺少真实的口令集作为研究对象，大多是建立在经验基础上的一些规律性认识，很少有相关的理论分析结果</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45</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中文国民口令多为纯数字，而英文国民口令多含有字母，这体现了语言对口令行为的影响。高达</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1.01%~10.44</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的用户选择流行的</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10</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个口令，这意味着攻击者只需尝试</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10</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个流行的口令，其成功率就会达到</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1.01%~10.44</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。同时，这也预示着人类生成的口令远不是均匀分布。</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46</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47</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48</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49</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2012</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年前，学术界普遍假设口令是服从均匀分布的，这主要是由于两个方面的原因：一是缺少大规模真实口令数据，难以确认服从什么分布；二是在均匀分布的假设下，分析问题比较简单。</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50</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51</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52</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本</a:t>
            </a:r>
            <a:r>
              <a:rPr lang="en-US" altLang="zh-CN" dirty="0"/>
              <a:t>PPT</a:t>
            </a:r>
            <a:r>
              <a:rPr lang="zh-CN" altLang="en-US" dirty="0"/>
              <a:t>来自：复旦大学，韩伟力，</a:t>
            </a:r>
            <a:r>
              <a:rPr lang="en-US" altLang="zh-CN" dirty="0"/>
              <a:t>201604</a:t>
            </a:r>
            <a:r>
              <a:rPr lang="en-US" altLang="zh-CN" baseline="0" dirty="0"/>
              <a:t> </a:t>
            </a:r>
            <a:r>
              <a:rPr lang="zh-CN" altLang="en-US" baseline="0" dirty="0"/>
              <a:t>上海</a:t>
            </a:r>
            <a:r>
              <a:rPr lang="en-US" altLang="zh-CN" baseline="0" dirty="0"/>
              <a:t>0CON</a:t>
            </a:r>
            <a:r>
              <a:rPr lang="zh-CN" altLang="en-US" baseline="0" dirty="0"/>
              <a:t>会议上的报告“说说口令安全这件事”</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57</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本</a:t>
            </a:r>
            <a:r>
              <a:rPr lang="en-US" altLang="zh-CN" dirty="0"/>
              <a:t>PPT</a:t>
            </a:r>
            <a:r>
              <a:rPr lang="zh-CN" altLang="en-US" dirty="0"/>
              <a:t>来自：复旦大学，韩伟力，</a:t>
            </a:r>
            <a:r>
              <a:rPr lang="en-US" altLang="zh-CN" dirty="0"/>
              <a:t>201604</a:t>
            </a:r>
            <a:r>
              <a:rPr lang="en-US" altLang="zh-CN" baseline="0" dirty="0"/>
              <a:t> </a:t>
            </a:r>
            <a:r>
              <a:rPr lang="zh-CN" altLang="en-US" baseline="0" dirty="0"/>
              <a:t>上海</a:t>
            </a:r>
            <a:r>
              <a:rPr lang="en-US" altLang="zh-CN" baseline="0" dirty="0"/>
              <a:t>0CON</a:t>
            </a:r>
            <a:r>
              <a:rPr lang="zh-CN" altLang="en-US" baseline="0" dirty="0"/>
              <a:t>会议上的报告“说说口令安全这件事”</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58</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本</a:t>
            </a:r>
            <a:r>
              <a:rPr lang="en-US" altLang="zh-CN" dirty="0"/>
              <a:t>PPT</a:t>
            </a:r>
            <a:r>
              <a:rPr lang="zh-CN" altLang="en-US" dirty="0"/>
              <a:t>来自：复旦大学，韩伟力，</a:t>
            </a:r>
            <a:r>
              <a:rPr lang="en-US" altLang="zh-CN" dirty="0"/>
              <a:t>201604</a:t>
            </a:r>
            <a:r>
              <a:rPr lang="en-US" altLang="zh-CN" baseline="0" dirty="0"/>
              <a:t> </a:t>
            </a:r>
            <a:r>
              <a:rPr lang="zh-CN" altLang="en-US" baseline="0" dirty="0"/>
              <a:t>上海</a:t>
            </a:r>
            <a:r>
              <a:rPr lang="en-US" altLang="zh-CN" baseline="0" dirty="0"/>
              <a:t>0CON</a:t>
            </a:r>
            <a:r>
              <a:rPr lang="zh-CN" altLang="en-US" baseline="0" dirty="0"/>
              <a:t>会议上的报告“说说口令安全这件事”</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59</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60</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olidFill>
                  <a:srgbClr val="FF0000"/>
                </a:solidFill>
              </a:rPr>
              <a:t>汪定教授</a:t>
            </a:r>
            <a:r>
              <a:rPr lang="en-US" altLang="zh-CN" dirty="0">
                <a:solidFill>
                  <a:srgbClr val="FF0000"/>
                </a:solidFill>
              </a:rPr>
              <a:t>2015</a:t>
            </a:r>
            <a:r>
              <a:rPr lang="zh-CN" altLang="en-US" dirty="0">
                <a:solidFill>
                  <a:srgbClr val="FF0000"/>
                </a:solidFill>
              </a:rPr>
              <a:t>年学术报告“理解中国用户口令：特征、安全性和启示”</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61</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olidFill>
                  <a:srgbClr val="FF0000"/>
                </a:solidFill>
              </a:rPr>
              <a:t>汪定教授</a:t>
            </a:r>
            <a:r>
              <a:rPr lang="en-US" altLang="zh-CN" dirty="0">
                <a:solidFill>
                  <a:srgbClr val="FF0000"/>
                </a:solidFill>
              </a:rPr>
              <a:t>2015</a:t>
            </a:r>
            <a:r>
              <a:rPr lang="zh-CN" altLang="en-US" dirty="0">
                <a:solidFill>
                  <a:srgbClr val="FF0000"/>
                </a:solidFill>
              </a:rPr>
              <a:t>年学术报告“理解中国用户口令：特征、安全性和启示”</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62</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olidFill>
                  <a:srgbClr val="FF0000"/>
                </a:solidFill>
              </a:rPr>
              <a:t>汪定教授</a:t>
            </a:r>
            <a:r>
              <a:rPr lang="en-US" altLang="zh-CN" dirty="0">
                <a:solidFill>
                  <a:srgbClr val="FF0000"/>
                </a:solidFill>
              </a:rPr>
              <a:t>2015</a:t>
            </a:r>
            <a:r>
              <a:rPr lang="zh-CN" altLang="en-US" dirty="0">
                <a:solidFill>
                  <a:srgbClr val="FF0000"/>
                </a:solidFill>
              </a:rPr>
              <a:t>年学术报告“理解中国用户口令：特征、安全性和启示”</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63</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olidFill>
                  <a:srgbClr val="FF0000"/>
                </a:solidFill>
              </a:rPr>
              <a:t>汪定教授</a:t>
            </a:r>
            <a:r>
              <a:rPr lang="en-US" altLang="zh-CN" dirty="0">
                <a:solidFill>
                  <a:srgbClr val="FF0000"/>
                </a:solidFill>
              </a:rPr>
              <a:t>2015</a:t>
            </a:r>
            <a:r>
              <a:rPr lang="zh-CN" altLang="en-US" dirty="0">
                <a:solidFill>
                  <a:srgbClr val="FF0000"/>
                </a:solidFill>
              </a:rPr>
              <a:t>年学术报告“理解中国用户口令：特征、安全性和启示”</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64</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olidFill>
                  <a:srgbClr val="FF0000"/>
                </a:solidFill>
              </a:rPr>
              <a:t>汪定教授</a:t>
            </a:r>
            <a:r>
              <a:rPr lang="en-US" altLang="zh-CN" dirty="0">
                <a:solidFill>
                  <a:srgbClr val="FF0000"/>
                </a:solidFill>
              </a:rPr>
              <a:t>2015</a:t>
            </a:r>
            <a:r>
              <a:rPr lang="zh-CN" altLang="en-US" dirty="0">
                <a:solidFill>
                  <a:srgbClr val="FF0000"/>
                </a:solidFill>
              </a:rPr>
              <a:t>年学术报告“理解中国用户口令：特征、安全性和启示”</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65</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本</a:t>
            </a:r>
            <a:r>
              <a:rPr lang="en-US" altLang="zh-CN" dirty="0"/>
              <a:t>PPT</a:t>
            </a:r>
            <a:r>
              <a:rPr lang="zh-CN" altLang="en-US" dirty="0"/>
              <a:t>来自：复旦大学，韩伟力，</a:t>
            </a:r>
            <a:r>
              <a:rPr lang="en-US" altLang="zh-CN" dirty="0"/>
              <a:t>201604</a:t>
            </a:r>
            <a:r>
              <a:rPr lang="en-US" altLang="zh-CN" baseline="0" dirty="0"/>
              <a:t> </a:t>
            </a:r>
            <a:r>
              <a:rPr lang="zh-CN" altLang="en-US" baseline="0" dirty="0"/>
              <a:t>上海</a:t>
            </a:r>
            <a:r>
              <a:rPr lang="en-US" altLang="zh-CN" baseline="0" dirty="0"/>
              <a:t>0CON</a:t>
            </a:r>
            <a:r>
              <a:rPr lang="zh-CN" altLang="en-US" baseline="0" dirty="0"/>
              <a:t>会议上的报告“说说口令安全这件事”</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75</a:t>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本</a:t>
            </a:r>
            <a:r>
              <a:rPr lang="en-US" altLang="zh-CN" dirty="0"/>
              <a:t>PPT</a:t>
            </a:r>
            <a:r>
              <a:rPr lang="zh-CN" altLang="en-US" dirty="0"/>
              <a:t>来自：复旦大学，韩伟力，</a:t>
            </a:r>
            <a:r>
              <a:rPr lang="en-US" altLang="zh-CN" dirty="0"/>
              <a:t>201604</a:t>
            </a:r>
            <a:r>
              <a:rPr lang="en-US" altLang="zh-CN" baseline="0" dirty="0"/>
              <a:t> </a:t>
            </a:r>
            <a:r>
              <a:rPr lang="zh-CN" altLang="en-US" baseline="0" dirty="0"/>
              <a:t>上海</a:t>
            </a:r>
            <a:r>
              <a:rPr lang="en-US" altLang="zh-CN" baseline="0" dirty="0"/>
              <a:t>0CON</a:t>
            </a:r>
            <a:r>
              <a:rPr lang="zh-CN" altLang="en-US" baseline="0" dirty="0"/>
              <a:t>会议上的报告“说说口令安全这件事”</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76</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本</a:t>
            </a:r>
            <a:r>
              <a:rPr lang="en-US" altLang="zh-CN" dirty="0"/>
              <a:t>PPT</a:t>
            </a:r>
            <a:r>
              <a:rPr lang="zh-CN" altLang="en-US" dirty="0"/>
              <a:t>来自：复旦大学，韩伟力，</a:t>
            </a:r>
            <a:r>
              <a:rPr lang="en-US" altLang="zh-CN" dirty="0"/>
              <a:t>201604</a:t>
            </a:r>
            <a:r>
              <a:rPr lang="en-US" altLang="zh-CN" baseline="0" dirty="0"/>
              <a:t> </a:t>
            </a:r>
            <a:r>
              <a:rPr lang="zh-CN" altLang="en-US" baseline="0" dirty="0"/>
              <a:t>上海</a:t>
            </a:r>
            <a:r>
              <a:rPr lang="en-US" altLang="zh-CN" baseline="0" dirty="0"/>
              <a:t>0CON</a:t>
            </a:r>
            <a:r>
              <a:rPr lang="zh-CN" altLang="en-US" baseline="0" dirty="0"/>
              <a:t>会议上的报告“说说口令安全这件事”</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77</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本</a:t>
            </a:r>
            <a:r>
              <a:rPr lang="en-US" altLang="zh-CN" dirty="0"/>
              <a:t>PPT</a:t>
            </a:r>
            <a:r>
              <a:rPr lang="zh-CN" altLang="en-US" dirty="0"/>
              <a:t>来自：复旦大学，韩伟力，</a:t>
            </a:r>
            <a:r>
              <a:rPr lang="en-US" altLang="zh-CN" dirty="0"/>
              <a:t>201604</a:t>
            </a:r>
            <a:r>
              <a:rPr lang="en-US" altLang="zh-CN" baseline="0" dirty="0"/>
              <a:t> </a:t>
            </a:r>
            <a:r>
              <a:rPr lang="zh-CN" altLang="en-US" baseline="0" dirty="0"/>
              <a:t>上海</a:t>
            </a:r>
            <a:r>
              <a:rPr lang="en-US" altLang="zh-CN" baseline="0" dirty="0"/>
              <a:t>0CON</a:t>
            </a:r>
            <a:r>
              <a:rPr lang="zh-CN" altLang="en-US" baseline="0" dirty="0"/>
              <a:t>会议上的报告“说说口令安全这件事”</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78</a:t>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https://mp.weixin.qq.com/s/Sy7kDXcVRY7gKOy6WOALGw</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79</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https://mp.weixin.qq.com/s/Sy7kDXcVRY7gKOy6WOALGw</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80</a:t>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https://mp.weixin.qq.com/s/Sy7kDXcVRY7gKOy6WOALGw</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rPr>
              <a:t>根据调查显示，大多数人认为他们了解口令安全性差的风险。然而，人们并没有利用这些知识来保护自己免受网络威胁。</a:t>
            </a:r>
            <a:r>
              <a:rPr lang="en-US" altLang="zh-CN" dirty="0">
                <a:effectLst/>
              </a:rPr>
              <a:t>91%</a:t>
            </a:r>
            <a:r>
              <a:rPr lang="zh-CN" altLang="en-US" dirty="0">
                <a:effectLst/>
              </a:rPr>
              <a:t>的人知道使用相同或相似的口令是有风险的，然而，</a:t>
            </a:r>
            <a:r>
              <a:rPr lang="en-US" altLang="zh-CN" dirty="0">
                <a:effectLst/>
              </a:rPr>
              <a:t>66%</a:t>
            </a:r>
            <a:r>
              <a:rPr lang="zh-CN" altLang="en-US" dirty="0">
                <a:effectLst/>
              </a:rPr>
              <a:t>的人在创建口令时总是会使用相同或相似的口令，该数字比</a:t>
            </a:r>
            <a:r>
              <a:rPr lang="en-US" altLang="zh-CN" dirty="0">
                <a:effectLst/>
              </a:rPr>
              <a:t>2018</a:t>
            </a:r>
            <a:r>
              <a:rPr lang="zh-CN" altLang="en-US" dirty="0">
                <a:effectLst/>
              </a:rPr>
              <a:t>年的调查结果高出了</a:t>
            </a:r>
            <a:r>
              <a:rPr lang="en-US" altLang="zh-CN" dirty="0">
                <a:effectLst/>
              </a:rPr>
              <a:t>8%</a:t>
            </a:r>
            <a:r>
              <a:rPr lang="zh-CN" altLang="en-US" dirty="0">
                <a:effectLst/>
              </a:rPr>
              <a:t>。</a:t>
            </a:r>
            <a:r>
              <a:rPr lang="en-US" altLang="zh-CN" dirty="0">
                <a:effectLst/>
              </a:rPr>
              <a:t>80%</a:t>
            </a:r>
            <a:r>
              <a:rPr lang="zh-CN" altLang="en-US" dirty="0">
                <a:effectLst/>
              </a:rPr>
              <a:t>的人担心他们的口令会泄露，然而</a:t>
            </a:r>
            <a:r>
              <a:rPr lang="en-US" altLang="zh-CN" dirty="0">
                <a:effectLst/>
              </a:rPr>
              <a:t>48%</a:t>
            </a:r>
            <a:r>
              <a:rPr lang="zh-CN" altLang="en-US" dirty="0">
                <a:effectLst/>
              </a:rPr>
              <a:t>的人表示如果非必须，他们永远不会更改口令，该数字比</a:t>
            </a:r>
            <a:r>
              <a:rPr lang="en-US" altLang="zh-CN" dirty="0">
                <a:effectLst/>
              </a:rPr>
              <a:t>2018</a:t>
            </a:r>
            <a:r>
              <a:rPr lang="zh-CN" altLang="en-US" dirty="0">
                <a:effectLst/>
              </a:rPr>
              <a:t>年高出了</a:t>
            </a:r>
            <a:r>
              <a:rPr lang="en-US" altLang="zh-CN" dirty="0">
                <a:effectLst/>
              </a:rPr>
              <a:t>40%</a:t>
            </a:r>
            <a:r>
              <a:rPr lang="zh-CN" altLang="en-US" dirty="0">
                <a:effectLst/>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77%</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的人表示他们知道保护口令的最佳做法，然而</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54%</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的人通过记忆来记住口令。</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81</a:t>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https://mp.weixin.qq.com/s/Sy7kDXcVRY7gKOy6WOALGw</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82</a:t>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https://mp.weixin.qq.com/s/Sy7kDXcVRY7gKOy6WOALGw</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effectLst/>
              </a:rPr>
              <a:t>2018</a:t>
            </a:r>
            <a:r>
              <a:rPr lang="zh-CN" altLang="en-US" dirty="0">
                <a:effectLst/>
              </a:rPr>
              <a:t>年，当被问及为何使用相同的口令时，</a:t>
            </a:r>
            <a:r>
              <a:rPr lang="en-US" altLang="zh-CN" dirty="0">
                <a:effectLst/>
              </a:rPr>
              <a:t>60%</a:t>
            </a:r>
            <a:r>
              <a:rPr lang="zh-CN" altLang="en-US" dirty="0">
                <a:effectLst/>
              </a:rPr>
              <a:t>的受访者表示害怕忘记登录信息，</a:t>
            </a:r>
            <a:r>
              <a:rPr lang="en-US" altLang="zh-CN" dirty="0">
                <a:effectLst/>
              </a:rPr>
              <a:t>52%</a:t>
            </a:r>
            <a:r>
              <a:rPr lang="zh-CN" altLang="en-US" dirty="0">
                <a:effectLst/>
              </a:rPr>
              <a:t>的受访者表示希望控制所有口令。</a:t>
            </a:r>
            <a:r>
              <a:rPr lang="zh-CN" altLang="en-US" dirty="0"/>
              <a:t/>
            </a:r>
            <a:br>
              <a:rPr lang="zh-CN" altLang="en-US" dirty="0"/>
            </a:br>
            <a:r>
              <a:rPr lang="zh-CN" altLang="en-US" dirty="0">
                <a:effectLst/>
              </a:rPr>
              <a:t>这种对口令的控制是可以理解的，但是并不正确。虽然所有口令都设置相同可能会感到安全，然而重复使用口令比为每个帐户创建唯一口令的风险要大得多。同时，期望记住所有账户的口令是行不通的。</a:t>
            </a:r>
            <a:r>
              <a:rPr lang="en-US" altLang="zh-CN" dirty="0">
                <a:effectLst/>
              </a:rPr>
              <a:t>25%</a:t>
            </a:r>
            <a:r>
              <a:rPr lang="zh-CN" altLang="en-US" dirty="0">
                <a:effectLst/>
              </a:rPr>
              <a:t>的人一个月至少重设一次口令因为忘记了口令。并且为了要记住口令，口令设置的就不够复杂，很容易就能被破解。</a:t>
            </a:r>
            <a:r>
              <a:rPr lang="en-US" altLang="zh-CN" dirty="0">
                <a:effectLst/>
              </a:rPr>
              <a:t>22%</a:t>
            </a:r>
            <a:r>
              <a:rPr lang="zh-CN" altLang="en-US" dirty="0">
                <a:effectLst/>
              </a:rPr>
              <a:t>的人认为他们可以猜测出其他人的口令。</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在所有或大部分账户中重复使用相同的口令意味着，如果黑客获得了一个账户的访问权，就可以访问所有账户。此外，如果你在家和工作中使用相同的口令，该行为会使企业面临被破解的风险。</a:t>
            </a:r>
          </a:p>
          <a:p>
            <a:endParaRPr lang="en-US" altLang="zh-CN" dirty="0">
              <a:hlinkClick r:id="rId3"/>
            </a:endParaRP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83</a:t>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https://mp.weixin.qq.com/s/Sy7kDXcVRY7gKOy6WOALGw</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effectLst/>
              </a:rPr>
              <a:t>受访者承认电子邮件和金融账户需要额外的保护，这是一种聪明的本能。电子邮件地址是线上生活的核心，通常包含黑客可以用来窃取身份和访问其他账户的信息。金融账户显然是至关重要的，因为该账户提供了对资金、信用信息和其他敏感数据的访问。</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69%</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的受访者表示会对财务账户创建强口令，</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47%</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的人表示会对电子邮箱使用强口令，该数据其次分别为医疗记录（</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31%</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）及工作相关账户（</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29%</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）。当问及何时会使用多因素验证，</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62%</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的受访者表示会对财务账户使用多因素认证，</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45%</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的人表示会对电子邮件启用多因素认证。该数据其次分别为医疗记录（</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34%</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）及工作相关账户（</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22%</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p>
          <a:p>
            <a:endParaRPr lang="en-US" altLang="zh-CN" dirty="0">
              <a:hlinkClick r:id="rId3"/>
            </a:endParaRP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84</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https://www.secrss.com/articles/26201</a:t>
            </a: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https://www.expressvpn.com/blog/nearly-8-in-10-americans-share-passwords/</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85</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76296D1-E5AE-4B9D-879B-9C26B33FA9CE}" type="slidenum">
              <a:rPr lang="zh-CN" altLang="en-US"/>
              <a:t>86</a:t>
            </a:fld>
            <a:endParaRPr lang="en-US" altLang="zh-CN"/>
          </a:p>
        </p:txBody>
      </p:sp>
      <p:sp>
        <p:nvSpPr>
          <p:cNvPr id="151554" name="Rectangle 2"/>
          <p:cNvSpPr>
            <a:spLocks noGrp="1" noRot="1" noChangeAspect="1" noChangeArrowheads="1" noTextEdit="1"/>
          </p:cNvSpPr>
          <p:nvPr>
            <p:ph type="sldImg"/>
          </p:nvPr>
        </p:nvSpPr>
        <p:spPr/>
      </p:sp>
      <p:sp>
        <p:nvSpPr>
          <p:cNvPr id="151555"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6AA3C00-F673-4610-AFD2-5EBE15B584EF}" type="slidenum">
              <a:rPr lang="zh-CN" altLang="en-US"/>
              <a:t>90</a:t>
            </a:fld>
            <a:endParaRPr lang="en-US" altLang="zh-CN"/>
          </a:p>
        </p:txBody>
      </p:sp>
      <p:sp>
        <p:nvSpPr>
          <p:cNvPr id="499714" name="Rectangle 2"/>
          <p:cNvSpPr>
            <a:spLocks noGrp="1" noRot="1" noChangeAspect="1" noChangeArrowheads="1" noTextEdit="1"/>
          </p:cNvSpPr>
          <p:nvPr>
            <p:ph type="sldImg"/>
          </p:nvPr>
        </p:nvSpPr>
        <p:spPr/>
      </p:sp>
      <p:sp>
        <p:nvSpPr>
          <p:cNvPr id="499715" name="Rectangle 3"/>
          <p:cNvSpPr>
            <a:spLocks noGrp="1" noChangeArrowheads="1"/>
          </p:cNvSpPr>
          <p:nvPr>
            <p:ph type="body" idx="1"/>
          </p:nvPr>
        </p:nvSpPr>
        <p:spPr/>
        <p:txBody>
          <a:bodyPr/>
          <a:lstStyle/>
          <a:p>
            <a:r>
              <a:rPr lang="zh-CN" altLang="en-US" dirty="0"/>
              <a:t>可以通过光盘启动的</a:t>
            </a:r>
            <a:r>
              <a:rPr lang="en-US" altLang="zh-CN" dirty="0"/>
              <a:t>Windows</a:t>
            </a:r>
            <a:r>
              <a:rPr lang="zh-CN" altLang="en-US" dirty="0"/>
              <a:t>口令破解程序把</a:t>
            </a:r>
            <a:r>
              <a:rPr lang="en-US" altLang="zh-CN" dirty="0"/>
              <a:t>SAM</a:t>
            </a:r>
            <a:r>
              <a:rPr lang="zh-CN" altLang="en-US" dirty="0"/>
              <a:t>文件里某用户对应的口令清为空</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位置：</a:t>
            </a:r>
            <a:r>
              <a:rPr lang="en-US" altLang="zh-CN" dirty="0"/>
              <a:t>%</a:t>
            </a:r>
            <a:r>
              <a:rPr lang="en-US" altLang="zh-CN" dirty="0" err="1"/>
              <a:t>SystemRoot</a:t>
            </a:r>
            <a:r>
              <a:rPr lang="en-US" altLang="zh-CN" dirty="0"/>
              <a:t>%\system32\</a:t>
            </a:r>
            <a:r>
              <a:rPr lang="en-US" altLang="zh-CN" dirty="0" err="1"/>
              <a:t>config</a:t>
            </a:r>
            <a:r>
              <a:rPr lang="en-US" altLang="zh-CN" dirty="0"/>
              <a:t>\</a:t>
            </a:r>
            <a:r>
              <a:rPr lang="en-US" altLang="zh-CN" dirty="0" err="1"/>
              <a:t>sam</a:t>
            </a:r>
            <a:r>
              <a:rPr lang="en-US" altLang="zh-CN" dirty="0"/>
              <a:t> </a:t>
            </a:r>
            <a:endParaRPr lang="zh-CN" altLang="en-US" dirty="0"/>
          </a:p>
          <a:p>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4169AFD4-99EB-4DA5-BF54-07AA8243D855}" type="slidenum">
              <a:rPr lang="zh-CN" altLang="en-US"/>
              <a:t>91</a:t>
            </a:fld>
            <a:endParaRPr lang="en-US" altLang="zh-CN"/>
          </a:p>
        </p:txBody>
      </p:sp>
      <p:sp>
        <p:nvSpPr>
          <p:cNvPr id="463874" name="Rectangle 2"/>
          <p:cNvSpPr>
            <a:spLocks noGrp="1" noRot="1" noChangeAspect="1" noChangeArrowheads="1" noTextEdit="1"/>
          </p:cNvSpPr>
          <p:nvPr>
            <p:ph type="sldImg"/>
          </p:nvPr>
        </p:nvSpPr>
        <p:spPr/>
      </p:sp>
      <p:sp>
        <p:nvSpPr>
          <p:cNvPr id="463875" name="Rectangle 3"/>
          <p:cNvSpPr>
            <a:spLocks noGrp="1" noChangeArrowheads="1"/>
          </p:cNvSpPr>
          <p:nvPr>
            <p:ph type="body" idx="1"/>
          </p:nvPr>
        </p:nvSpPr>
        <p:spPr/>
        <p:txBody>
          <a:bodyPr/>
          <a:lstStyle/>
          <a:p>
            <a:r>
              <a:rPr lang="zh-CN" altLang="en-US"/>
              <a:t>问题：</a:t>
            </a:r>
            <a:r>
              <a:rPr lang="en-US" altLang="zh-CN"/>
              <a:t>SAM</a:t>
            </a:r>
            <a:r>
              <a:rPr lang="zh-CN" altLang="en-US"/>
              <a:t>中为什么一个帐号有两条密码记录？</a:t>
            </a:r>
            <a:r>
              <a:rPr lang="en-US" altLang="zh-CN"/>
              <a:t>NT</a:t>
            </a:r>
            <a:r>
              <a:rPr lang="zh-CN" altLang="en-US"/>
              <a:t>哈希表示比</a:t>
            </a:r>
            <a:r>
              <a:rPr lang="en-US" altLang="zh-CN"/>
              <a:t>LM</a:t>
            </a:r>
            <a:r>
              <a:rPr lang="zh-CN" altLang="en-US"/>
              <a:t>表示的安全性高，但为了后向兼容性，保留了</a:t>
            </a:r>
            <a:r>
              <a:rPr lang="en-US" altLang="zh-CN"/>
              <a:t>LM</a:t>
            </a:r>
            <a:r>
              <a:rPr lang="zh-CN" altLang="en-US"/>
              <a:t>表示。</a:t>
            </a:r>
          </a:p>
          <a:p>
            <a:r>
              <a:rPr lang="zh-CN" altLang="en-US"/>
              <a:t>要给学生强调：</a:t>
            </a:r>
            <a:r>
              <a:rPr lang="en-US" altLang="zh-CN"/>
              <a:t>LM</a:t>
            </a:r>
            <a:r>
              <a:rPr lang="zh-CN" altLang="en-US"/>
              <a:t>既不是哈希也不是一个加密后的密码，只是一个加密后的固定的十六进制数，密码作为这个十六进制数的密钥。</a:t>
            </a:r>
            <a:endParaRPr lang="en-US" altLang="zh-CN"/>
          </a:p>
          <a:p>
            <a:r>
              <a:rPr lang="en-US" altLang="zh-CN"/>
              <a:t>LM</a:t>
            </a:r>
            <a:r>
              <a:rPr lang="zh-CN" altLang="en-US"/>
              <a:t>的脆弱性在于：字符串被分割成两个</a:t>
            </a:r>
            <a:r>
              <a:rPr lang="en-US" altLang="zh-CN"/>
              <a:t>7</a:t>
            </a:r>
            <a:r>
              <a:rPr lang="zh-CN" altLang="en-US"/>
              <a:t>位字符分别处理。猜解两个</a:t>
            </a:r>
            <a:r>
              <a:rPr lang="en-US" altLang="zh-CN"/>
              <a:t>7</a:t>
            </a:r>
            <a:r>
              <a:rPr lang="zh-CN" altLang="en-US"/>
              <a:t>位密码比猜解一个</a:t>
            </a:r>
            <a:r>
              <a:rPr lang="en-US" altLang="zh-CN"/>
              <a:t>14</a:t>
            </a:r>
            <a:r>
              <a:rPr lang="zh-CN" altLang="en-US"/>
              <a:t>位密码要简单得多。</a:t>
            </a:r>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3"/>
          <p:cNvSpPr>
            <a:spLocks noGrp="1" noChangeArrowheads="1"/>
          </p:cNvSpPr>
          <p:nvPr>
            <p:ph type="dt" sz="quarter" idx="1"/>
          </p:nvPr>
        </p:nvSpPr>
        <p:spPr>
          <a:noFill/>
          <a:ln>
            <a:miter lim="800000"/>
          </a:ln>
        </p:spPr>
        <p:txBody>
          <a:bodyPr/>
          <a:lstStyle/>
          <a:p>
            <a:fld id="{6FBB3A12-C329-4955-9FF7-EDB252C428B4}" type="datetime1">
              <a:rPr lang="zh-CN" altLang="en-US">
                <a:ea typeface="宋体" panose="02010600030101010101" pitchFamily="2" charset="-122"/>
              </a:rPr>
              <a:t>2023/5/8</a:t>
            </a:fld>
            <a:endParaRPr lang="en-US" altLang="zh-CN">
              <a:ea typeface="宋体" panose="02010600030101010101" pitchFamily="2" charset="-122"/>
            </a:endParaRPr>
          </a:p>
        </p:txBody>
      </p:sp>
      <p:sp>
        <p:nvSpPr>
          <p:cNvPr id="148483" name="Rectangle 7"/>
          <p:cNvSpPr>
            <a:spLocks noGrp="1" noChangeArrowheads="1"/>
          </p:cNvSpPr>
          <p:nvPr>
            <p:ph type="sldNum" sz="quarter" idx="5"/>
          </p:nvPr>
        </p:nvSpPr>
        <p:spPr>
          <a:noFill/>
          <a:ln>
            <a:miter lim="800000"/>
          </a:ln>
        </p:spPr>
        <p:txBody>
          <a:bodyPr/>
          <a:lstStyle/>
          <a:p>
            <a:fld id="{73DDD147-4EEC-4E1D-BF8F-8C8940C51A9F}" type="slidenum">
              <a:rPr lang="en-US" altLang="zh-CN">
                <a:ea typeface="宋体" panose="02010600030101010101" pitchFamily="2" charset="-122"/>
              </a:rPr>
              <a:t>92</a:t>
            </a:fld>
            <a:endParaRPr lang="en-US" altLang="zh-CN">
              <a:ea typeface="宋体" panose="02010600030101010101" pitchFamily="2" charset="-122"/>
            </a:endParaRPr>
          </a:p>
        </p:txBody>
      </p:sp>
      <p:sp>
        <p:nvSpPr>
          <p:cNvPr id="148484" name="Rectangle 2"/>
          <p:cNvSpPr>
            <a:spLocks noGrp="1" noRot="1" noChangeAspect="1" noChangeArrowheads="1" noTextEdit="1"/>
          </p:cNvSpPr>
          <p:nvPr>
            <p:ph type="sldImg"/>
          </p:nvPr>
        </p:nvSpPr>
        <p:spPr/>
      </p:sp>
      <p:sp>
        <p:nvSpPr>
          <p:cNvPr id="148485" name="Rectangle 3"/>
          <p:cNvSpPr>
            <a:spLocks noGrp="1" noChangeArrowheads="1"/>
          </p:cNvSpPr>
          <p:nvPr>
            <p:ph type="body" idx="1"/>
          </p:nvPr>
        </p:nvSpPr>
        <p:spPr>
          <a:noFill/>
        </p:spPr>
        <p:txBody>
          <a:bodyPr/>
          <a:lstStyle/>
          <a:p>
            <a:pPr eaLnBrk="1" hangingPunct="1"/>
            <a:r>
              <a:rPr lang="en-US" altLang="zh-CN" sz="900" dirty="0"/>
              <a:t>hacker</a:t>
            </a:r>
            <a:r>
              <a:rPr lang="zh-CN" altLang="en-US" sz="900" dirty="0"/>
              <a:t>在得到</a:t>
            </a:r>
            <a:r>
              <a:rPr lang="en-US" altLang="zh-CN" sz="900" dirty="0" err="1"/>
              <a:t>administratir</a:t>
            </a:r>
            <a:r>
              <a:rPr lang="zh-CN" altLang="en-US" sz="900" dirty="0"/>
              <a:t>后往往渴望知道更多的秘密，而所以的用户信息都是保 </a:t>
            </a:r>
            <a:br>
              <a:rPr lang="zh-CN" altLang="en-US" sz="900" dirty="0"/>
            </a:br>
            <a:r>
              <a:rPr lang="zh-CN" altLang="en-US" sz="900" dirty="0"/>
              <a:t>存在</a:t>
            </a:r>
            <a:r>
              <a:rPr lang="en-US" altLang="zh-CN" sz="900" dirty="0"/>
              <a:t>SAM</a:t>
            </a:r>
            <a:r>
              <a:rPr lang="zh-CN" altLang="en-US" sz="900" dirty="0"/>
              <a:t>文件中，这样，破解</a:t>
            </a:r>
            <a:r>
              <a:rPr lang="en-US" altLang="zh-CN" sz="900" dirty="0"/>
              <a:t>SAM</a:t>
            </a:r>
            <a:r>
              <a:rPr lang="zh-CN" altLang="en-US" sz="900" dirty="0"/>
              <a:t>也就是</a:t>
            </a:r>
            <a:r>
              <a:rPr lang="en-US" altLang="zh-CN" sz="900" dirty="0"/>
              <a:t>hacker</a:t>
            </a:r>
            <a:r>
              <a:rPr lang="zh-CN" altLang="en-US" sz="900" dirty="0"/>
              <a:t>接下来要做的。我们知道</a:t>
            </a:r>
            <a:r>
              <a:rPr lang="en-US" altLang="zh-CN" sz="900" dirty="0"/>
              <a:t>SAM</a:t>
            </a:r>
            <a:r>
              <a:rPr lang="zh-CN" altLang="en-US" sz="900" dirty="0"/>
              <a:t>的加密算法 </a:t>
            </a:r>
            <a:br>
              <a:rPr lang="zh-CN" altLang="en-US" sz="900" dirty="0"/>
            </a:br>
            <a:r>
              <a:rPr lang="zh-CN" altLang="en-US" sz="900" dirty="0"/>
              <a:t>沿用了</a:t>
            </a:r>
            <a:r>
              <a:rPr lang="en-US" altLang="zh-CN" sz="900" dirty="0" err="1"/>
              <a:t>LanManager</a:t>
            </a:r>
            <a:r>
              <a:rPr lang="zh-CN" altLang="en-US" sz="900" dirty="0"/>
              <a:t>的散列单项加密算法，导致了</a:t>
            </a:r>
            <a:r>
              <a:rPr lang="en-US" altLang="zh-CN" sz="900" dirty="0"/>
              <a:t>hacker</a:t>
            </a:r>
            <a:r>
              <a:rPr lang="zh-CN" altLang="en-US" sz="900" dirty="0"/>
              <a:t>可以用逆向破解这种算法加密的 </a:t>
            </a:r>
            <a:br>
              <a:rPr lang="zh-CN" altLang="en-US" sz="900" dirty="0"/>
            </a:br>
            <a:r>
              <a:rPr lang="en-US" altLang="zh-CN" sz="900" dirty="0"/>
              <a:t>SAM</a:t>
            </a:r>
            <a:r>
              <a:rPr lang="zh-CN" altLang="en-US" sz="900" dirty="0"/>
              <a:t>。 </a:t>
            </a:r>
            <a:br>
              <a:rPr lang="zh-CN" altLang="en-US" sz="900" dirty="0"/>
            </a:br>
            <a:r>
              <a:rPr lang="zh-CN" altLang="en-US" sz="900" dirty="0"/>
              <a:t>在对</a:t>
            </a:r>
            <a:r>
              <a:rPr lang="en-US" altLang="zh-CN" sz="900" dirty="0"/>
              <a:t>SAM</a:t>
            </a:r>
            <a:r>
              <a:rPr lang="zh-CN" altLang="en-US" sz="900" dirty="0"/>
              <a:t>破解之前，我们首先要获取</a:t>
            </a:r>
            <a:r>
              <a:rPr lang="en-US" altLang="zh-CN" sz="900" dirty="0"/>
              <a:t>SAM</a:t>
            </a:r>
            <a:r>
              <a:rPr lang="zh-CN" altLang="en-US" sz="900" dirty="0"/>
              <a:t>文件，部分</a:t>
            </a:r>
            <a:r>
              <a:rPr lang="en-US" altLang="zh-CN" sz="900" dirty="0"/>
              <a:t>NT</a:t>
            </a:r>
            <a:r>
              <a:rPr lang="zh-CN" altLang="en-US" sz="900" dirty="0"/>
              <a:t>系统中的</a:t>
            </a:r>
            <a:r>
              <a:rPr lang="en-US" altLang="zh-CN" sz="900" dirty="0"/>
              <a:t>SAM</a:t>
            </a:r>
            <a:r>
              <a:rPr lang="zh-CN" altLang="en-US" sz="900" dirty="0"/>
              <a:t>是被锁死的，在这 </a:t>
            </a:r>
            <a:br>
              <a:rPr lang="zh-CN" altLang="en-US" sz="900" dirty="0"/>
            </a:br>
            <a:r>
              <a:rPr lang="zh-CN" altLang="en-US" sz="900" dirty="0"/>
              <a:t>种情况下我们可以用以下方法： </a:t>
            </a:r>
            <a:br>
              <a:rPr lang="zh-CN" altLang="en-US" sz="900" dirty="0"/>
            </a:br>
            <a:r>
              <a:rPr lang="zh-CN" altLang="en-US" sz="900" dirty="0"/>
              <a:t>①引导另一个操作系统：利用</a:t>
            </a:r>
            <a:r>
              <a:rPr lang="en-US" altLang="zh-CN" sz="900" dirty="0"/>
              <a:t>NTFS DOS</a:t>
            </a:r>
            <a:r>
              <a:rPr lang="zh-CN" altLang="en-US" sz="900" dirty="0"/>
              <a:t>的系统驱动来获得对</a:t>
            </a:r>
            <a:r>
              <a:rPr lang="en-US" altLang="zh-CN" sz="900" dirty="0"/>
              <a:t>NTFS</a:t>
            </a:r>
            <a:r>
              <a:rPr lang="zh-CN" altLang="en-US" sz="900" dirty="0"/>
              <a:t>硬盘的访问权限，抓出 </a:t>
            </a:r>
            <a:br>
              <a:rPr lang="zh-CN" altLang="en-US" sz="900" dirty="0"/>
            </a:br>
            <a:r>
              <a:rPr lang="en-US" altLang="zh-CN" sz="900" dirty="0"/>
              <a:t>SAM</a:t>
            </a:r>
            <a:r>
              <a:rPr lang="zh-CN" altLang="en-US" sz="900" dirty="0"/>
              <a:t>。 </a:t>
            </a:r>
            <a:br>
              <a:rPr lang="zh-CN" altLang="en-US" sz="900" dirty="0"/>
            </a:br>
            <a:r>
              <a:rPr lang="zh-CN" altLang="en-US" sz="900" dirty="0"/>
              <a:t>②获取备份</a:t>
            </a:r>
            <a:r>
              <a:rPr lang="en-US" altLang="zh-CN" sz="900" dirty="0"/>
              <a:t>SAM</a:t>
            </a:r>
            <a:r>
              <a:rPr lang="zh-CN" altLang="en-US" sz="900" dirty="0"/>
              <a:t>：</a:t>
            </a:r>
            <a:r>
              <a:rPr lang="en-US" altLang="zh-CN" sz="900" dirty="0"/>
              <a:t>NT</a:t>
            </a:r>
            <a:r>
              <a:rPr lang="zh-CN" altLang="en-US" sz="900" dirty="0"/>
              <a:t>的</a:t>
            </a:r>
            <a:r>
              <a:rPr lang="en-US" altLang="zh-CN" sz="900" dirty="0" err="1"/>
              <a:t>Rdisk</a:t>
            </a:r>
            <a:r>
              <a:rPr lang="zh-CN" altLang="en-US" sz="900" dirty="0"/>
              <a:t>会在</a:t>
            </a:r>
            <a:r>
              <a:rPr lang="en-US" altLang="zh-CN" sz="900" dirty="0"/>
              <a:t>%system root%\</a:t>
            </a:r>
            <a:r>
              <a:rPr lang="en-US" altLang="zh-CN" sz="900" dirty="0" err="1"/>
              <a:t>reqair</a:t>
            </a:r>
            <a:r>
              <a:rPr lang="zh-CN" altLang="en-US" sz="900" dirty="0"/>
              <a:t>目录中将</a:t>
            </a:r>
            <a:r>
              <a:rPr lang="en-US" altLang="zh-CN" sz="900" dirty="0"/>
              <a:t>SAM</a:t>
            </a:r>
            <a:r>
              <a:rPr lang="zh-CN" altLang="en-US" sz="900" dirty="0"/>
              <a:t>备份为一个名为 </a:t>
            </a:r>
            <a:br>
              <a:rPr lang="zh-CN" altLang="en-US" sz="900" dirty="0"/>
            </a:br>
            <a:r>
              <a:rPr lang="en-US" altLang="zh-CN" sz="900" dirty="0"/>
              <a:t>SAM._</a:t>
            </a:r>
            <a:r>
              <a:rPr lang="zh-CN" altLang="en-US" sz="900" dirty="0"/>
              <a:t>的拷贝压缩，多数管理员在将这些信息拷贝后一般都会忘记删这些文件（以至于 </a:t>
            </a:r>
            <a:br>
              <a:rPr lang="zh-CN" altLang="en-US" sz="900" dirty="0"/>
            </a:br>
            <a:r>
              <a:rPr lang="en-US" altLang="zh-CN" sz="900" dirty="0"/>
              <a:t>hacker</a:t>
            </a:r>
            <a:r>
              <a:rPr lang="zh-CN" altLang="en-US" sz="900" dirty="0"/>
              <a:t>可以拷贝到这个文件</a:t>
            </a:r>
            <a:r>
              <a:rPr lang="en-US" altLang="zh-CN" sz="900" dirty="0"/>
              <a:t>) </a:t>
            </a:r>
            <a:br>
              <a:rPr lang="en-US" altLang="zh-CN" sz="900" dirty="0"/>
            </a:br>
            <a:r>
              <a:rPr lang="en-US" altLang="zh-CN" sz="900" dirty="0"/>
              <a:t>③</a:t>
            </a:r>
            <a:r>
              <a:rPr lang="zh-CN" altLang="en-US" sz="900" dirty="0"/>
              <a:t>得到</a:t>
            </a:r>
            <a:r>
              <a:rPr lang="en-US" altLang="zh-CN" sz="900" dirty="0"/>
              <a:t>SAM</a:t>
            </a:r>
            <a:r>
              <a:rPr lang="zh-CN" altLang="en-US" sz="900" dirty="0"/>
              <a:t>后用</a:t>
            </a:r>
            <a:r>
              <a:rPr lang="en-US" altLang="zh-CN" sz="900" dirty="0" err="1"/>
              <a:t>LOphcrack</a:t>
            </a:r>
            <a:r>
              <a:rPr lang="zh-CN" altLang="en-US" sz="900" dirty="0"/>
              <a:t>进行破解，由于</a:t>
            </a:r>
            <a:r>
              <a:rPr lang="en-US" altLang="zh-CN" sz="900" dirty="0" err="1"/>
              <a:t>LOphcrack</a:t>
            </a:r>
            <a:r>
              <a:rPr lang="zh-CN" altLang="en-US" sz="900" dirty="0"/>
              <a:t>的强大功能，密码的破译也只是一个 </a:t>
            </a:r>
            <a:br>
              <a:rPr lang="zh-CN" altLang="en-US" sz="900" dirty="0"/>
            </a:br>
            <a:r>
              <a:rPr lang="zh-CN" altLang="en-US" sz="900" dirty="0"/>
              <a:t>迟早的事。 </a:t>
            </a:r>
            <a:br>
              <a:rPr lang="zh-CN" altLang="en-US" sz="900" dirty="0"/>
            </a:br>
            <a:r>
              <a:rPr lang="zh-CN" altLang="en-US" sz="900" dirty="0"/>
              <a:t>其实</a:t>
            </a:r>
            <a:r>
              <a:rPr lang="en-US" altLang="zh-CN" sz="900" dirty="0"/>
              <a:t>hacker</a:t>
            </a:r>
            <a:r>
              <a:rPr lang="zh-CN" altLang="en-US" sz="900" dirty="0"/>
              <a:t>在</a:t>
            </a:r>
            <a:r>
              <a:rPr lang="en-US" altLang="zh-CN" sz="900" dirty="0" err="1"/>
              <a:t>tlenet</a:t>
            </a:r>
            <a:r>
              <a:rPr lang="zh-CN" altLang="en-US" sz="900" dirty="0"/>
              <a:t>带目标服务器后（如果是个企业内网）</a:t>
            </a:r>
            <a:r>
              <a:rPr lang="en-US" altLang="zh-CN" sz="900" dirty="0"/>
              <a:t>,</a:t>
            </a:r>
            <a:r>
              <a:rPr lang="zh-CN" altLang="en-US" sz="900" dirty="0"/>
              <a:t>输入</a:t>
            </a:r>
            <a:r>
              <a:rPr lang="en-US" altLang="zh-CN" sz="900" dirty="0"/>
              <a:t>net view</a:t>
            </a:r>
            <a:r>
              <a:rPr lang="zh-CN" altLang="en-US" sz="900" dirty="0"/>
              <a:t>整个企业 </a:t>
            </a:r>
            <a:br>
              <a:rPr lang="zh-CN" altLang="en-US" sz="900" dirty="0"/>
            </a:br>
            <a:r>
              <a:rPr lang="zh-CN" altLang="en-US" sz="900" dirty="0"/>
              <a:t>内部域的计算机已一展无余，然后通过映射驱动盘</a:t>
            </a:r>
            <a:r>
              <a:rPr lang="en-US" altLang="zh-CN" sz="900" dirty="0"/>
              <a:t>net use</a:t>
            </a:r>
            <a:r>
              <a:rPr lang="zh-CN" altLang="en-US" sz="900" dirty="0"/>
              <a:t>：</a:t>
            </a:r>
            <a:r>
              <a:rPr lang="en-US" altLang="zh-CN" sz="900" dirty="0"/>
              <a:t>z:\\192.169.x.x\c$(</a:t>
            </a:r>
            <a:r>
              <a:rPr lang="zh-CN" altLang="en-US" sz="900" dirty="0"/>
              <a:t>建立 </a:t>
            </a:r>
            <a:br>
              <a:rPr lang="zh-CN" altLang="en-US" sz="900" dirty="0"/>
            </a:br>
            <a:r>
              <a:rPr lang="en-US" altLang="zh-CN" sz="900" dirty="0"/>
              <a:t>IPC$</a:t>
            </a:r>
            <a:r>
              <a:rPr lang="zh-CN" altLang="en-US" sz="900" dirty="0"/>
              <a:t>前提下），这样内网的秘密资料也搞到手了。 </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p:sp>
      <p:sp>
        <p:nvSpPr>
          <p:cNvPr id="149507"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p:sp>
      <p:sp>
        <p:nvSpPr>
          <p:cNvPr id="150531"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0B1E9DC-F94C-421D-BEF7-4DB4617B9F40}" type="slidenum">
              <a:rPr lang="zh-CN" altLang="en-US"/>
              <a:t>108</a:t>
            </a:fld>
            <a:endParaRPr lang="en-US" altLang="zh-CN"/>
          </a:p>
        </p:txBody>
      </p:sp>
      <p:sp>
        <p:nvSpPr>
          <p:cNvPr id="498690" name="Rectangle 2"/>
          <p:cNvSpPr>
            <a:spLocks noGrp="1" noRot="1" noChangeAspect="1" noChangeArrowheads="1" noTextEdit="1"/>
          </p:cNvSpPr>
          <p:nvPr>
            <p:ph type="sldImg"/>
          </p:nvPr>
        </p:nvSpPr>
        <p:spPr/>
      </p:sp>
      <p:sp>
        <p:nvSpPr>
          <p:cNvPr id="498691" name="Rectangle 3"/>
          <p:cNvSpPr>
            <a:spLocks noGrp="1" noChangeArrowheads="1"/>
          </p:cNvSpPr>
          <p:nvPr>
            <p:ph type="body" idx="1"/>
          </p:nvPr>
        </p:nvSpPr>
        <p:spPr/>
        <p:txBody>
          <a:bodyPr/>
          <a:lstStyle/>
          <a:p>
            <a:r>
              <a:rPr lang="zh-CN" altLang="en-US"/>
              <a:t>必须开放</a:t>
            </a:r>
            <a:r>
              <a:rPr lang="en-US" altLang="zh-CN"/>
              <a:t>135</a:t>
            </a:r>
            <a:r>
              <a:rPr lang="zh-CN" altLang="en-US"/>
              <a:t>端口</a:t>
            </a:r>
            <a:r>
              <a:rPr lang="en-US" altLang="zh-CN"/>
              <a:t>RPC</a:t>
            </a:r>
            <a:r>
              <a:rPr lang="zh-CN" altLang="en-US"/>
              <a:t>服务，适用于</a:t>
            </a:r>
            <a:r>
              <a:rPr lang="en-US" altLang="zh-CN"/>
              <a:t>2000</a:t>
            </a:r>
            <a:r>
              <a:rPr lang="zh-CN" altLang="en-US"/>
              <a:t>，</a:t>
            </a:r>
            <a:r>
              <a:rPr lang="en-US" altLang="zh-CN"/>
              <a:t>XP SP1</a:t>
            </a:r>
            <a:r>
              <a:rPr lang="zh-CN" altLang="en-US"/>
              <a:t>（</a:t>
            </a:r>
            <a:r>
              <a:rPr lang="en-US" altLang="zh-CN"/>
              <a:t>SP2</a:t>
            </a:r>
            <a:r>
              <a:rPr lang="zh-CN" altLang="en-US"/>
              <a:t>，</a:t>
            </a:r>
            <a:r>
              <a:rPr lang="en-US" altLang="zh-CN"/>
              <a:t>SP3</a:t>
            </a:r>
            <a:r>
              <a:rPr lang="zh-CN" altLang="en-US"/>
              <a:t>不行），</a:t>
            </a:r>
            <a:r>
              <a:rPr lang="en-US" altLang="zh-CN"/>
              <a:t>2003</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DBD94F4-43C7-4D1F-A0F8-B9800423E70D}" type="slidenum">
              <a:rPr lang="zh-CN" altLang="en-US"/>
              <a:t>109</a:t>
            </a:fld>
            <a:endParaRPr lang="en-US" altLang="zh-CN"/>
          </a:p>
        </p:txBody>
      </p:sp>
      <p:sp>
        <p:nvSpPr>
          <p:cNvPr id="497666" name="Rectangle 2"/>
          <p:cNvSpPr>
            <a:spLocks noGrp="1" noRot="1" noChangeAspect="1" noChangeArrowheads="1" noTextEdit="1"/>
          </p:cNvSpPr>
          <p:nvPr>
            <p:ph type="sldImg"/>
          </p:nvPr>
        </p:nvSpPr>
        <p:spPr/>
      </p:sp>
      <p:sp>
        <p:nvSpPr>
          <p:cNvPr id="497667" name="Rectangle 3"/>
          <p:cNvSpPr>
            <a:spLocks noGrp="1" noChangeArrowheads="1"/>
          </p:cNvSpPr>
          <p:nvPr>
            <p:ph type="body" idx="1"/>
          </p:nvPr>
        </p:nvSpPr>
        <p:spPr/>
        <p:txBody>
          <a:bodyPr/>
          <a:lstStyle/>
          <a:p>
            <a:r>
              <a:rPr lang="zh-CN" altLang="en-US"/>
              <a:t>必须开放</a:t>
            </a:r>
            <a:r>
              <a:rPr lang="en-US" altLang="zh-CN"/>
              <a:t>SMB</a:t>
            </a:r>
            <a:r>
              <a:rPr lang="zh-CN" altLang="en-US"/>
              <a:t>服务，</a:t>
            </a:r>
            <a:r>
              <a:rPr lang="en-US" altLang="zh-CN"/>
              <a:t>Server Message Block</a:t>
            </a:r>
            <a:r>
              <a:rPr lang="zh-CN" altLang="en-US"/>
              <a:t>服务信息块，适用于</a:t>
            </a:r>
            <a:r>
              <a:rPr lang="en-US" altLang="zh-CN"/>
              <a:t>2000</a:t>
            </a:r>
            <a:r>
              <a:rPr lang="zh-CN" altLang="en-US"/>
              <a:t>，</a:t>
            </a:r>
            <a:r>
              <a:rPr lang="en-US" altLang="zh-CN"/>
              <a:t>XP SP1</a:t>
            </a:r>
            <a:r>
              <a:rPr lang="zh-CN" altLang="en-US"/>
              <a:t>（</a:t>
            </a:r>
            <a:r>
              <a:rPr lang="en-US" altLang="zh-CN"/>
              <a:t>SP2</a:t>
            </a:r>
            <a:r>
              <a:rPr lang="zh-CN" altLang="en-US"/>
              <a:t>，</a:t>
            </a:r>
            <a:r>
              <a:rPr lang="en-US" altLang="zh-CN"/>
              <a:t>SP3</a:t>
            </a:r>
            <a:r>
              <a:rPr lang="zh-CN" altLang="en-US"/>
              <a:t>不行），</a:t>
            </a:r>
            <a:r>
              <a:rPr lang="en-US" altLang="zh-CN"/>
              <a:t>2003</a:t>
            </a:r>
          </a:p>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F5C36DE-B9A9-46E0-96D6-7569B8D08DDD}" type="slidenum">
              <a:rPr lang="zh-CN" altLang="en-US"/>
              <a:t>116</a:t>
            </a:fld>
            <a:endParaRPr lang="en-US" altLang="zh-CN"/>
          </a:p>
        </p:txBody>
      </p:sp>
      <p:sp>
        <p:nvSpPr>
          <p:cNvPr id="456706" name="Rectangle 2"/>
          <p:cNvSpPr>
            <a:spLocks noGrp="1" noRot="1" noChangeAspect="1" noChangeArrowheads="1" noTextEdit="1"/>
          </p:cNvSpPr>
          <p:nvPr>
            <p:ph type="sldImg"/>
          </p:nvPr>
        </p:nvSpPr>
        <p:spPr/>
      </p:sp>
      <p:sp>
        <p:nvSpPr>
          <p:cNvPr id="456707" name="Rectangle 3"/>
          <p:cNvSpPr>
            <a:spLocks noGrp="1" noChangeArrowheads="1"/>
          </p:cNvSpPr>
          <p:nvPr>
            <p:ph type="body" idx="1"/>
          </p:nvPr>
        </p:nvSpPr>
        <p:spPr/>
        <p:txBody>
          <a:bodyPr/>
          <a:lstStyle/>
          <a:p>
            <a:r>
              <a:rPr lang="zh-CN" altLang="en-US"/>
              <a:t>解释导入的方式。</a:t>
            </a:r>
          </a:p>
          <a:p>
            <a:r>
              <a:rPr lang="zh-CN" altLang="en-US"/>
              <a:t>分为本机和远程机器两种；</a:t>
            </a:r>
          </a:p>
          <a:p>
            <a:r>
              <a:rPr lang="zh-CN" altLang="en-US"/>
              <a:t>导入的文件分为</a:t>
            </a:r>
            <a:r>
              <a:rPr lang="en-US" altLang="zh-CN"/>
              <a:t>SAM</a:t>
            </a:r>
            <a:r>
              <a:rPr lang="zh-CN" altLang="en-US"/>
              <a:t>文件、</a:t>
            </a:r>
            <a:r>
              <a:rPr lang="en-US" altLang="zh-CN"/>
              <a:t>LC4</a:t>
            </a:r>
            <a:r>
              <a:rPr lang="zh-CN" altLang="en-US"/>
              <a:t>文件、</a:t>
            </a:r>
            <a:r>
              <a:rPr lang="en-US" altLang="zh-CN"/>
              <a:t>PWDUMP</a:t>
            </a:r>
            <a:r>
              <a:rPr lang="zh-CN" altLang="en-US"/>
              <a:t>获取的</a:t>
            </a:r>
            <a:r>
              <a:rPr lang="en-US" altLang="zh-CN"/>
              <a:t>SAM</a:t>
            </a:r>
            <a:r>
              <a:rPr lang="zh-CN" altLang="en-US"/>
              <a:t>信息文件、</a:t>
            </a:r>
            <a:r>
              <a:rPr lang="en-US" altLang="zh-CN"/>
              <a:t>Unix/Linux</a:t>
            </a:r>
            <a:r>
              <a:rPr lang="zh-CN" altLang="en-US"/>
              <a:t>的影子文件</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3"/>
          <p:cNvSpPr>
            <a:spLocks noGrp="1" noChangeArrowheads="1"/>
          </p:cNvSpPr>
          <p:nvPr>
            <p:ph type="dt" sz="quarter" idx="1"/>
          </p:nvPr>
        </p:nvSpPr>
        <p:spPr>
          <a:noFill/>
          <a:ln>
            <a:miter lim="800000"/>
          </a:ln>
        </p:spPr>
        <p:txBody>
          <a:bodyPr/>
          <a:lstStyle/>
          <a:p>
            <a:fld id="{453666A4-6A8D-49C7-8C3A-A0CF15CD1FE3}" type="datetime1">
              <a:rPr lang="zh-CN" altLang="en-US">
                <a:ea typeface="宋体" panose="02010600030101010101" pitchFamily="2" charset="-122"/>
              </a:rPr>
              <a:t>2023/5/8</a:t>
            </a:fld>
            <a:endParaRPr lang="en-US" altLang="zh-CN">
              <a:ea typeface="宋体" panose="02010600030101010101" pitchFamily="2" charset="-122"/>
            </a:endParaRPr>
          </a:p>
        </p:txBody>
      </p:sp>
      <p:sp>
        <p:nvSpPr>
          <p:cNvPr id="153603" name="Rectangle 7"/>
          <p:cNvSpPr>
            <a:spLocks noGrp="1" noChangeArrowheads="1"/>
          </p:cNvSpPr>
          <p:nvPr>
            <p:ph type="sldNum" sz="quarter" idx="5"/>
          </p:nvPr>
        </p:nvSpPr>
        <p:spPr>
          <a:noFill/>
          <a:ln>
            <a:miter lim="800000"/>
          </a:ln>
        </p:spPr>
        <p:txBody>
          <a:bodyPr/>
          <a:lstStyle/>
          <a:p>
            <a:fld id="{D14EA00F-A5D3-4E6F-9D86-24BD80287245}" type="slidenum">
              <a:rPr lang="en-US" altLang="zh-CN">
                <a:ea typeface="宋体" panose="02010600030101010101" pitchFamily="2" charset="-122"/>
              </a:rPr>
              <a:t>123</a:t>
            </a:fld>
            <a:endParaRPr lang="en-US" altLang="zh-CN">
              <a:ea typeface="宋体" panose="02010600030101010101" pitchFamily="2" charset="-122"/>
            </a:endParaRPr>
          </a:p>
        </p:txBody>
      </p:sp>
      <p:sp>
        <p:nvSpPr>
          <p:cNvPr id="153604" name="Rectangle 2"/>
          <p:cNvSpPr>
            <a:spLocks noGrp="1" noRot="1" noChangeAspect="1" noChangeArrowheads="1" noTextEdit="1"/>
          </p:cNvSpPr>
          <p:nvPr>
            <p:ph type="sldImg"/>
          </p:nvPr>
        </p:nvSpPr>
        <p:spPr/>
      </p:sp>
      <p:sp>
        <p:nvSpPr>
          <p:cNvPr id="153605" name="Rectangle 3"/>
          <p:cNvSpPr>
            <a:spLocks noGrp="1" noChangeArrowheads="1"/>
          </p:cNvSpPr>
          <p:nvPr>
            <p:ph type="body" idx="1"/>
          </p:nvPr>
        </p:nvSpPr>
        <p:spPr>
          <a:noFill/>
        </p:spPr>
        <p:txBody>
          <a:bodyPr/>
          <a:lstStyle/>
          <a:p>
            <a:pPr eaLnBrk="1" hangingPunct="1"/>
            <a:r>
              <a:rPr lang="zh-CN" altLang="en-US" dirty="0"/>
              <a:t>（</a:t>
            </a:r>
            <a:r>
              <a:rPr lang="en-US" altLang="zh-CN" dirty="0"/>
              <a:t>1</a:t>
            </a:r>
            <a:r>
              <a:rPr lang="zh-CN" altLang="en-US" dirty="0"/>
              <a:t>） </a:t>
            </a:r>
            <a:r>
              <a:rPr lang="en-US" altLang="zh-CN" dirty="0"/>
              <a:t>Crack </a:t>
            </a:r>
          </a:p>
          <a:p>
            <a:pPr eaLnBrk="1" hangingPunct="1"/>
            <a:r>
              <a:rPr lang="en-US" altLang="zh-CN" dirty="0"/>
              <a:t>Crack</a:t>
            </a:r>
            <a:r>
              <a:rPr lang="zh-CN" altLang="en-US" dirty="0"/>
              <a:t>是一个旨在快速定位</a:t>
            </a:r>
            <a:r>
              <a:rPr lang="en-US" altLang="zh-CN" dirty="0"/>
              <a:t>UNIX</a:t>
            </a:r>
            <a:r>
              <a:rPr lang="zh-CN" altLang="en-US" dirty="0"/>
              <a:t>口令弱点的口令破解程序。</a:t>
            </a:r>
            <a:r>
              <a:rPr lang="en-US" altLang="zh-CN" dirty="0"/>
              <a:t>Crack</a:t>
            </a:r>
            <a:r>
              <a:rPr lang="zh-CN" altLang="en-US" dirty="0"/>
              <a:t>使用标准的猜测技术确定口令。它检查口令是否为如下情况之一：和</a:t>
            </a:r>
            <a:r>
              <a:rPr lang="en-US" altLang="zh-CN" dirty="0"/>
              <a:t>user id</a:t>
            </a:r>
            <a:r>
              <a:rPr lang="zh-CN" altLang="en-US" dirty="0"/>
              <a:t>相同、单词</a:t>
            </a:r>
            <a:r>
              <a:rPr lang="en-US" altLang="zh-CN" dirty="0"/>
              <a:t>password</a:t>
            </a:r>
            <a:r>
              <a:rPr lang="zh-CN" altLang="en-US" dirty="0"/>
              <a:t>、数字串、字母串。</a:t>
            </a:r>
            <a:r>
              <a:rPr lang="en-US" altLang="zh-CN" dirty="0"/>
              <a:t>Crack</a:t>
            </a:r>
            <a:r>
              <a:rPr lang="zh-CN" altLang="en-US" dirty="0"/>
              <a:t>通过加密一长串可能的口令，并把结果和用户的加密口令相比较，看其是否匹配。用户的加密口令必须是在运行破解程序之前就已经提供的。 </a:t>
            </a:r>
          </a:p>
          <a:p>
            <a:pPr eaLnBrk="1" hangingPunct="1"/>
            <a:r>
              <a:rPr lang="zh-CN" altLang="en-US" dirty="0"/>
              <a:t>（</a:t>
            </a:r>
            <a:r>
              <a:rPr lang="en-US" altLang="zh-CN" dirty="0"/>
              <a:t>2</a:t>
            </a:r>
            <a:r>
              <a:rPr lang="zh-CN" altLang="en-US" dirty="0"/>
              <a:t>） </a:t>
            </a:r>
            <a:r>
              <a:rPr lang="en-US" altLang="zh-CN" dirty="0"/>
              <a:t>John the Ripper </a:t>
            </a:r>
          </a:p>
          <a:p>
            <a:pPr eaLnBrk="1" hangingPunct="1"/>
            <a:r>
              <a:rPr lang="en-US" altLang="zh-CN" dirty="0"/>
              <a:t>UNIX</a:t>
            </a:r>
            <a:r>
              <a:rPr lang="zh-CN" altLang="en-US" dirty="0"/>
              <a:t>口令破解程序，但也能在</a:t>
            </a:r>
            <a:r>
              <a:rPr lang="en-US" altLang="zh-CN" dirty="0"/>
              <a:t>Windows</a:t>
            </a:r>
            <a:r>
              <a:rPr lang="zh-CN" altLang="en-US" dirty="0"/>
              <a:t>平台运行，功能强大、运行速度快，可进行字典攻击和强行攻击。 </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本</a:t>
            </a:r>
            <a:r>
              <a:rPr lang="en-US" altLang="zh-CN" dirty="0"/>
              <a:t>PPT</a:t>
            </a:r>
            <a:r>
              <a:rPr lang="zh-CN" altLang="en-US" dirty="0"/>
              <a:t>来自：复旦大学，韩伟力，</a:t>
            </a:r>
            <a:r>
              <a:rPr lang="en-US" altLang="zh-CN" dirty="0"/>
              <a:t>201604</a:t>
            </a:r>
            <a:r>
              <a:rPr lang="en-US" altLang="zh-CN" baseline="0" dirty="0"/>
              <a:t> </a:t>
            </a:r>
            <a:r>
              <a:rPr lang="zh-CN" altLang="en-US" baseline="0" dirty="0"/>
              <a:t>上海</a:t>
            </a:r>
            <a:r>
              <a:rPr lang="en-US" altLang="zh-CN" baseline="0" dirty="0"/>
              <a:t>0CON</a:t>
            </a:r>
            <a:r>
              <a:rPr lang="zh-CN" altLang="en-US" baseline="0" dirty="0"/>
              <a:t>会议上的报告“说说口令安全这件事”</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126</a:t>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3"/>
          <p:cNvSpPr>
            <a:spLocks noGrp="1" noChangeArrowheads="1"/>
          </p:cNvSpPr>
          <p:nvPr>
            <p:ph type="dt" sz="quarter" idx="1"/>
          </p:nvPr>
        </p:nvSpPr>
        <p:spPr>
          <a:noFill/>
          <a:ln>
            <a:miter lim="800000"/>
          </a:ln>
        </p:spPr>
        <p:txBody>
          <a:bodyPr/>
          <a:lstStyle/>
          <a:p>
            <a:fld id="{335529DD-41FD-4414-8337-4574CD4496EE}" type="datetime1">
              <a:rPr lang="zh-CN" altLang="en-US">
                <a:ea typeface="宋体" panose="02010600030101010101" pitchFamily="2" charset="-122"/>
              </a:rPr>
              <a:t>2023/5/8</a:t>
            </a:fld>
            <a:endParaRPr lang="en-US" altLang="zh-CN">
              <a:ea typeface="宋体" panose="02010600030101010101" pitchFamily="2" charset="-122"/>
            </a:endParaRPr>
          </a:p>
        </p:txBody>
      </p:sp>
      <p:sp>
        <p:nvSpPr>
          <p:cNvPr id="154627" name="Rectangle 7"/>
          <p:cNvSpPr>
            <a:spLocks noGrp="1" noChangeArrowheads="1"/>
          </p:cNvSpPr>
          <p:nvPr>
            <p:ph type="sldNum" sz="quarter" idx="5"/>
          </p:nvPr>
        </p:nvSpPr>
        <p:spPr>
          <a:noFill/>
          <a:ln>
            <a:miter lim="800000"/>
          </a:ln>
        </p:spPr>
        <p:txBody>
          <a:bodyPr/>
          <a:lstStyle/>
          <a:p>
            <a:fld id="{025B349C-4D4A-4AF8-B02A-4AD1B8703FA0}" type="slidenum">
              <a:rPr lang="en-US" altLang="zh-CN">
                <a:ea typeface="宋体" panose="02010600030101010101" pitchFamily="2" charset="-122"/>
              </a:rPr>
              <a:t>133</a:t>
            </a:fld>
            <a:endParaRPr lang="en-US" altLang="zh-CN">
              <a:ea typeface="宋体" panose="02010600030101010101" pitchFamily="2" charset="-122"/>
            </a:endParaRPr>
          </a:p>
        </p:txBody>
      </p:sp>
      <p:sp>
        <p:nvSpPr>
          <p:cNvPr id="154628" name="Rectangle 2"/>
          <p:cNvSpPr>
            <a:spLocks noGrp="1" noRot="1" noChangeAspect="1" noChangeArrowheads="1" noTextEdit="1"/>
          </p:cNvSpPr>
          <p:nvPr>
            <p:ph type="sldImg"/>
          </p:nvPr>
        </p:nvSpPr>
        <p:spPr/>
      </p:sp>
      <p:sp>
        <p:nvSpPr>
          <p:cNvPr id="154629" name="Rectangle 3"/>
          <p:cNvSpPr>
            <a:spLocks noGrp="1" noChangeArrowheads="1"/>
          </p:cNvSpPr>
          <p:nvPr>
            <p:ph type="body" idx="1"/>
          </p:nvPr>
        </p:nvSpPr>
        <p:spPr>
          <a:noFill/>
        </p:spPr>
        <p:txBody>
          <a:bodyPr/>
          <a:lstStyle/>
          <a:p>
            <a:pPr eaLnBrk="1" hangingPunct="1"/>
            <a:r>
              <a:rPr lang="zh-CN" altLang="en-US"/>
              <a:t>（</a:t>
            </a:r>
            <a:r>
              <a:rPr lang="en-US" altLang="zh-CN"/>
              <a:t>3</a:t>
            </a:r>
            <a:r>
              <a:rPr lang="zh-CN" altLang="en-US"/>
              <a:t>） </a:t>
            </a:r>
            <a:r>
              <a:rPr lang="en-US" altLang="zh-CN"/>
              <a:t>XIT </a:t>
            </a:r>
          </a:p>
          <a:p>
            <a:pPr eaLnBrk="1" hangingPunct="1"/>
            <a:r>
              <a:rPr lang="en-US" altLang="zh-CN"/>
              <a:t>XIT</a:t>
            </a:r>
            <a:r>
              <a:rPr lang="zh-CN" altLang="en-US"/>
              <a:t>是一个执行词典攻击的</a:t>
            </a:r>
            <a:r>
              <a:rPr lang="en-US" altLang="zh-CN"/>
              <a:t>UNIX</a:t>
            </a:r>
            <a:r>
              <a:rPr lang="zh-CN" altLang="en-US"/>
              <a:t>口令破解程序。</a:t>
            </a:r>
            <a:r>
              <a:rPr lang="en-US" altLang="zh-CN"/>
              <a:t>XIT</a:t>
            </a:r>
            <a:r>
              <a:rPr lang="zh-CN" altLang="en-US"/>
              <a:t>的功能有限，因为它只能运行词典攻击，但程序很小、运行很快。 </a:t>
            </a:r>
          </a:p>
          <a:p>
            <a:pPr eaLnBrk="1" hangingPunct="1"/>
            <a:r>
              <a:rPr lang="zh-CN" altLang="en-US"/>
              <a:t>（</a:t>
            </a:r>
            <a:r>
              <a:rPr lang="en-US" altLang="zh-CN"/>
              <a:t>4</a:t>
            </a:r>
            <a:r>
              <a:rPr lang="zh-CN" altLang="en-US"/>
              <a:t>） </a:t>
            </a:r>
            <a:r>
              <a:rPr lang="en-US" altLang="zh-CN"/>
              <a:t>Slurpie </a:t>
            </a:r>
          </a:p>
          <a:p>
            <a:pPr eaLnBrk="1" hangingPunct="1"/>
            <a:r>
              <a:rPr lang="en-US" altLang="zh-CN"/>
              <a:t>Slurpie</a:t>
            </a:r>
            <a:r>
              <a:rPr lang="zh-CN" altLang="en-US"/>
              <a:t>能执行词典攻击和定制的强行攻击，要规定所需要使用的字符数目和字符类型。如，可以能够</a:t>
            </a:r>
            <a:r>
              <a:rPr lang="en-US" altLang="zh-CN"/>
              <a:t>Slurpie</a:t>
            </a:r>
            <a:r>
              <a:rPr lang="zh-CN" altLang="en-US"/>
              <a:t>发起一次攻击，使用</a:t>
            </a:r>
            <a:r>
              <a:rPr lang="en-US" altLang="zh-CN"/>
              <a:t>7</a:t>
            </a:r>
            <a:r>
              <a:rPr lang="zh-CN" altLang="en-US"/>
              <a:t>字符或</a:t>
            </a:r>
            <a:r>
              <a:rPr lang="en-US" altLang="zh-CN"/>
              <a:t>8</a:t>
            </a:r>
            <a:r>
              <a:rPr lang="zh-CN" altLang="en-US"/>
              <a:t>字符、仅使用小写字母口令进行强行攻击。 </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138</a:t>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t>本</a:t>
            </a:r>
            <a:r>
              <a:rPr lang="en-US" altLang="zh-CN" dirty="0"/>
              <a:t>PPT</a:t>
            </a:r>
            <a:r>
              <a:rPr lang="zh-CN" altLang="en-US" dirty="0"/>
              <a:t>来自：复旦大学，韩伟力，</a:t>
            </a:r>
            <a:r>
              <a:rPr lang="en-US" altLang="zh-CN" dirty="0"/>
              <a:t>201604</a:t>
            </a:r>
            <a:r>
              <a:rPr lang="en-US" altLang="zh-CN" baseline="0" dirty="0"/>
              <a:t> </a:t>
            </a:r>
            <a:r>
              <a:rPr lang="zh-CN" altLang="en-US" baseline="0" dirty="0"/>
              <a:t>上海</a:t>
            </a:r>
            <a:r>
              <a:rPr lang="en-US" altLang="zh-CN" baseline="0" dirty="0"/>
              <a:t>0CON</a:t>
            </a:r>
            <a:r>
              <a:rPr lang="zh-CN" altLang="en-US" baseline="0" dirty="0"/>
              <a:t>会议上的报告“说说口令安全这件事”</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140</a:t>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144</a:t>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kumimoji="1" lang="en-US" altLang="zh-CN" sz="1200" kern="1200" dirty="0">
                <a:solidFill>
                  <a:schemeClr val="tx1"/>
                </a:solidFill>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拖库</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本来是数据库领域的术语，指从数据库中导出数据。到了黑客攻击泛滥的今天，它被用来指网站遭到入侵后，黑客窃取其数据库。也称为</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脱库</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 </a:t>
            </a:r>
            <a:endParaRPr kumimoji="1" lang="zh-CN" altLang="zh-CN" sz="1200" kern="1200" dirty="0">
              <a:solidFill>
                <a:schemeClr val="tx1"/>
              </a:solidFill>
              <a:latin typeface="Times New Roman" panose="02020603050405020304" pitchFamily="18" charset="0"/>
              <a:ea typeface="宋体" panose="02010600030101010101" pitchFamily="2" charset="-122"/>
              <a:cs typeface="+mn-cs"/>
            </a:endParaRPr>
          </a:p>
          <a:p>
            <a:r>
              <a:rPr kumimoji="1" lang="en-US" altLang="zh-CN" sz="1200" kern="1200" dirty="0">
                <a:solidFill>
                  <a:schemeClr val="tx1"/>
                </a:solidFill>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拖库</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的通常步骤为：</a:t>
            </a:r>
          </a:p>
          <a:p>
            <a:r>
              <a:rPr kumimoji="1" lang="zh-CN" altLang="zh-CN" sz="1200" kern="1200" dirty="0">
                <a:solidFill>
                  <a:schemeClr val="tx1"/>
                </a:solidFill>
                <a:latin typeface="Times New Roman" panose="02020603050405020304" pitchFamily="18" charset="0"/>
                <a:ea typeface="宋体" panose="02010600030101010101" pitchFamily="2" charset="-122"/>
                <a:cs typeface="+mn-cs"/>
              </a:rPr>
              <a:t>第一，黑客对目标网站进行扫描，查找其存在的漏洞，常见漏洞包括</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SQL</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注入、文件上传漏洞等。</a:t>
            </a:r>
          </a:p>
          <a:p>
            <a:r>
              <a:rPr kumimoji="1" lang="zh-CN" altLang="zh-CN" sz="1200" kern="1200" dirty="0">
                <a:solidFill>
                  <a:schemeClr val="tx1"/>
                </a:solidFill>
                <a:latin typeface="Times New Roman" panose="02020603050405020304" pitchFamily="18" charset="0"/>
                <a:ea typeface="宋体" panose="02010600030101010101" pitchFamily="2" charset="-122"/>
                <a:cs typeface="+mn-cs"/>
              </a:rPr>
              <a:t>第二，通过该漏洞在网站服务器上建立</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后门</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a:t>
            </a:r>
            <a:r>
              <a:rPr kumimoji="1" lang="en-US" altLang="zh-CN" sz="1200" kern="1200" dirty="0" err="1">
                <a:solidFill>
                  <a:schemeClr val="tx1"/>
                </a:solidFill>
                <a:latin typeface="Times New Roman" panose="02020603050405020304" pitchFamily="18" charset="0"/>
                <a:ea typeface="宋体" panose="02010600030101010101" pitchFamily="2" charset="-122"/>
                <a:cs typeface="+mn-cs"/>
              </a:rPr>
              <a:t>webshell</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，通过该后门获取服务器操作系统的权限。</a:t>
            </a:r>
          </a:p>
          <a:p>
            <a:r>
              <a:rPr kumimoji="1" lang="zh-CN" altLang="zh-CN" sz="1200" kern="1200" dirty="0">
                <a:solidFill>
                  <a:schemeClr val="tx1"/>
                </a:solidFill>
                <a:latin typeface="Times New Roman" panose="02020603050405020304" pitchFamily="18" charset="0"/>
                <a:ea typeface="宋体" panose="02010600030101010101" pitchFamily="2" charset="-122"/>
                <a:cs typeface="+mn-cs"/>
              </a:rPr>
              <a:t>第三，利用系统权限直接下载备份数据库，或查找数据库链接，将其导出到本地。</a:t>
            </a:r>
          </a:p>
          <a:p>
            <a:r>
              <a:rPr kumimoji="1" lang="zh-CN" altLang="zh-CN" sz="1200" kern="1200" dirty="0">
                <a:solidFill>
                  <a:schemeClr val="tx1"/>
                </a:solidFill>
                <a:latin typeface="Times New Roman" panose="02020603050405020304" pitchFamily="18" charset="0"/>
                <a:ea typeface="宋体" panose="02010600030101010101" pitchFamily="2" charset="-122"/>
                <a:cs typeface="+mn-cs"/>
              </a:rPr>
              <a:t>在取得大量的用户数据之后，黑客会通过一系列的技术手段和黑色产业链将有价值的用户数据变现，这通常也被称作</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洗库</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 </a:t>
            </a:r>
          </a:p>
          <a:p>
            <a:r>
              <a:rPr kumimoji="1" lang="zh-CN" altLang="zh-CN" sz="1200" kern="1200" dirty="0">
                <a:solidFill>
                  <a:schemeClr val="tx1"/>
                </a:solidFill>
                <a:latin typeface="Times New Roman" panose="02020603050405020304" pitchFamily="18" charset="0"/>
                <a:ea typeface="宋体" panose="02010600030101010101" pitchFamily="2" charset="-122"/>
                <a:cs typeface="+mn-cs"/>
              </a:rPr>
              <a:t>最后黑客将得到的数据在其它网站上进行尝试登陆，叫做</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撞库</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，因为很多用户喜欢使用统一的用户名密码，</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撞库</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也可以使黑客收获颇丰。 </a:t>
            </a:r>
          </a:p>
          <a:p>
            <a:r>
              <a:rPr kumimoji="1" lang="zh-CN" altLang="zh-CN" sz="1200" kern="1200" dirty="0">
                <a:solidFill>
                  <a:schemeClr val="tx1"/>
                </a:solidFill>
                <a:latin typeface="Times New Roman" panose="02020603050405020304" pitchFamily="18" charset="0"/>
                <a:ea typeface="宋体" panose="02010600030101010101" pitchFamily="2" charset="-122"/>
                <a:cs typeface="+mn-cs"/>
              </a:rPr>
              <a:t>拖库：</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2011.12.21</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黑客在网上公开提供</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CSDN</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网站用户数据库下载后，包括人人网、猫扑、多玩等在内的网站部分用户数据库也被传到网上供用户下载。超过</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5000</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万个用户帐号和密码在网上流传</a:t>
            </a:r>
          </a:p>
          <a:p>
            <a:r>
              <a:rPr kumimoji="1" lang="zh-CN" altLang="zh-CN" sz="1200" kern="1200" dirty="0">
                <a:solidFill>
                  <a:schemeClr val="tx1"/>
                </a:solidFill>
                <a:latin typeface="Times New Roman" panose="02020603050405020304" pitchFamily="18" charset="0"/>
                <a:ea typeface="宋体" panose="02010600030101010101" pitchFamily="2" charset="-122"/>
                <a:cs typeface="+mn-cs"/>
              </a:rPr>
              <a:t>撞库：</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2014</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年</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12</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月</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25</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日，</a:t>
            </a:r>
            <a:r>
              <a:rPr kumimoji="1" lang="en-US" altLang="zh-CN" sz="1200" kern="1200" dirty="0">
                <a:solidFill>
                  <a:schemeClr val="tx1"/>
                </a:solidFill>
                <a:latin typeface="Times New Roman" panose="02020603050405020304" pitchFamily="18" charset="0"/>
                <a:ea typeface="宋体" panose="02010600030101010101" pitchFamily="2" charset="-122"/>
                <a:cs typeface="+mn-cs"/>
              </a:rPr>
              <a:t>12306</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网站用户信息在互联网上疯传；</a:t>
            </a:r>
            <a:r>
              <a:rPr kumimoji="1" lang="en-US" altLang="zh-CN" sz="1200" kern="1200" dirty="0" err="1">
                <a:solidFill>
                  <a:schemeClr val="tx1"/>
                </a:solidFill>
                <a:latin typeface="Times New Roman" panose="02020603050405020304" pitchFamily="18" charset="0"/>
                <a:ea typeface="宋体" panose="02010600030101010101" pitchFamily="2" charset="-122"/>
                <a:cs typeface="+mn-cs"/>
              </a:rPr>
              <a:t>iCloud</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艳照门</a:t>
            </a:r>
          </a:p>
          <a:p>
            <a:r>
              <a:rPr kumimoji="1" lang="en-US" altLang="zh-CN" sz="1200" kern="1200" dirty="0">
                <a:solidFill>
                  <a:schemeClr val="tx1"/>
                </a:solidFill>
                <a:latin typeface="Times New Roman" panose="02020603050405020304" pitchFamily="18" charset="0"/>
                <a:ea typeface="宋体" panose="02010600030101010101" pitchFamily="2" charset="-122"/>
                <a:cs typeface="+mn-cs"/>
              </a:rPr>
              <a:t>2015.10.19</a:t>
            </a:r>
            <a:r>
              <a:rPr kumimoji="1" lang="zh-CN" altLang="zh-CN" sz="1200" kern="1200" dirty="0">
                <a:solidFill>
                  <a:schemeClr val="tx1"/>
                </a:solidFill>
                <a:latin typeface="Times New Roman" panose="02020603050405020304" pitchFamily="18" charset="0"/>
                <a:ea typeface="宋体" panose="02010600030101010101" pitchFamily="2" charset="-122"/>
                <a:cs typeface="+mn-cs"/>
              </a:rPr>
              <a:t>：“网易邮箱门”</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146</a:t>
            </a:fld>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https://www.secrss.com/articles/19365</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中国和美国暴露在互联网的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RDP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数量远超其他国家地区。大多数受感染系统都运行</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Windows Server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，也有部分是其他操作系统，例如</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Windows 7</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147</a:t>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https://www.secrss.com/articles/19365</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148</a:t>
            </a:fld>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https://www.secrss.com/articles/28541</a:t>
            </a:r>
            <a:endParaRPr lang="zh-CN" altLang="en-US"/>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t>149</a:t>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知名机构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SANS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今年给出的建议是不必担心复杂度，重要的是长度；不同的账户使用不同的口令；使用口令管理器；尽可能使用多因素认证。其实产品、服务提供者完全可以引入口令质量核查机制，限制用户弱口令的生成和使用。弱口令大致可以分为两类，一类是缺省型</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默认型弱口令，如系统的弱口令、应用的弱口令、设备的弱口令等等；另一类是社会工程学意义上的弱口令，生日、电话号码、单词、姓名、有规律的字符组合等等。弱口令的危害无需多言，但在接二连三地充当了数据泄露的罪魁祸首之后，弱口令仍然神一样的存在。特别在一些隔离网络内，使用默认口令和把口令写入纯文本文件，非常普遍。比如工业生产网络，这种状况更加触目惊心。简单、好记、复用，同样给攻击者或恶意内部人员打开了方便之门。用户必须谨记，攻击者永远比你更加了解你的口令使用心理。</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151</a:t>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要辩证地看待上述策略，不一定全对</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152</a:t>
            </a:fld>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汪定</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155</a:t>
            </a:fld>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Honeywords Project: http://people.csail.mit.edu/rivest/honeywords/</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156</a:t>
            </a:fld>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该节日由</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Intel</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公司于</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2013</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年首次创立，选在每年</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5</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月的第一个星期四，其目的是警示公众使用弱口令的危害并倡导使用强的口令。</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157</a:t>
            </a:fld>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NIST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：多年来，口令安全的一个普遍做法是强制用户每隔</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90</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天或</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180</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天定期更改口令。</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NIST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最新指导建议，不要对个人口令使用强制性的口令更改政策（请注意（此更新的指导不适用于特权凭证），原因之一是用户往往只是重复他们以前使用过的口令。你可以实施策略防止口令重复使用，但用户仍然会找到创造性的方法绕过它。频繁更改口令的另一个结果是，用户更有可能把口令写下来以便跟踪它们。因此，</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NIST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的最佳做法是，仅在潜在威胁或妥协的情况下，才要求员工更改口令。</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159</a:t>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p>
            <a:fld id="{98D00620-6178-46C5-8F20-2517766D17DD}" type="slidenum">
              <a:rPr lang="zh-CN" altLang="en-US"/>
              <a:t>160</a:t>
            </a:fld>
            <a:endParaRPr lang="en-US" altLang="zh-CN"/>
          </a:p>
        </p:txBody>
      </p:sp>
      <p:sp>
        <p:nvSpPr>
          <p:cNvPr id="151555" name="Rectangle 2"/>
          <p:cNvSpPr>
            <a:spLocks noGrp="1" noRot="1" noChangeAspect="1" noChangeArrowheads="1" noTextEdit="1"/>
          </p:cNvSpPr>
          <p:nvPr>
            <p:ph type="sldImg"/>
          </p:nvPr>
        </p:nvSpPr>
        <p:spPr>
          <a:solidFill>
            <a:srgbClr val="FFFFFF"/>
          </a:solidFill>
        </p:spPr>
      </p:sp>
      <p:sp>
        <p:nvSpPr>
          <p:cNvPr id="15155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zh-CN"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密码管理软件是一种能够创建、储存、管理你所有网站、应用的密码的软件。有些管理软件甚至还有填表功能，能够在你访问那些网站时，自动帮你填写用户名和密码。</a:t>
            </a: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因此，使用了密码管理软件，你不用记忆也能够用上安全的密码。</a:t>
            </a:r>
          </a:p>
          <a:p>
            <a:r>
              <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rPr>
              <a:t>密码管理软件如何工作？</a:t>
            </a: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首先，密码管理软件会生成一个很长很复杂并且是独一无二的密码。然后他会把密码储存在加密的文件中，防止黑客物理接触你的电脑或手机之后知道密码。</a:t>
            </a: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这个加密的文件只能通过一个主密码访问。因此你只需要记忆一个主密码就能打开密码管理器获得其他密码了。</a:t>
            </a: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不过为了保证绝对安全，你的主密码起码应该得有</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16</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个字符。</a:t>
            </a: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163</a:t>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https://www.freebuf.com/articles/database/110864.html</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164</a:t>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Keeper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是一款安全易用的密码管理器，支持</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Windows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Mac</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iPhone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iPad</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和</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iPod</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。它采用了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AES 256</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位加密，保管你的密码信息，并且支持两步验证。</a:t>
            </a: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Keeper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还有个比较特色的功能叫做“自毁”，打开这个功能之后，如果主密码输入超过</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5</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次错误，它就会销毁所有密码。不过别担心，</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Keeper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保留的备份记录不会删除。</a:t>
            </a:r>
          </a:p>
          <a:p>
            <a:r>
              <a:rPr lang="en-US" altLang="zh-CN" dirty="0">
                <a:hlinkClick r:id="rId3"/>
              </a:rPr>
              <a:t>https://www.freebuf.com/articles/database/110864.html</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165</a:t>
            </a:fld>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DashLane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是一款新出的密码管理器，但是它对几乎所有平台都提供强大的功能。</a:t>
            </a:r>
          </a:p>
          <a:p>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DashLane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能够在本地用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AES-256</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加密你的个人信息和账号密码，然后同步到它的服务器，这样你就能在任何地方访问你的账号数据库了。</a:t>
            </a:r>
          </a:p>
          <a:p>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DashLane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最好的地方在于它能够自动帮你修改密码，不用你再自己处理了。</a:t>
            </a:r>
          </a:p>
          <a:p>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DashLane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Android</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客户端有两大功能：密码保险箱和自动填表，后者可以把你的密码自动填入到网站中。</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Android</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客户端在使用单个设备时完全免费，而在多个设备上访问则需要购买高级版本。</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lang="en-US" altLang="zh-CN" dirty="0">
                <a:hlinkClick r:id="rId3"/>
              </a:rPr>
              <a:t>https://www.freebuf.com/articles/database/110864.html</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166</a:t>
            </a:fld>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LastPass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是个很出色的密码管理软件，它有拓展，有手机</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app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，有桌面软件，能够支持所有浏览器和操作系统。</a:t>
            </a:r>
          </a:p>
          <a:p>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LastPass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能够加密你的个人信息和账号密码，还提供多种两步验证方式。</a:t>
            </a: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Windows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版的</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LastPass</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 Password Manager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免费使用，如果要使用指纹识别则需要购买高级版。</a:t>
            </a:r>
          </a:p>
          <a:p>
            <a:r>
              <a:rPr lang="en-US" altLang="zh-CN" dirty="0">
                <a:hlinkClick r:id="rId3"/>
              </a:rPr>
              <a:t>https://www.freebuf.com/articles/database/110864.html</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167</a:t>
            </a:fld>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苹果自家的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iCloud Keychain</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也能方便地存储你的密码、</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Wi-Fi</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密码、银行卡号，并能在你的苹果设备上同步。</a:t>
            </a: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iCloud Keychain</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使用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AES-256</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存储密码，并且通过椭圆曲线非对称密码进行加密；它还可以为你生成安全的密码。</a:t>
            </a: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主要缺陷：只支持</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Safari</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浏览器</a:t>
            </a:r>
          </a:p>
          <a:p>
            <a:r>
              <a:rPr lang="en-US" altLang="zh-CN" dirty="0">
                <a:hlinkClick r:id="rId3"/>
              </a:rPr>
              <a:t>https://www.freebuf.com/articles/database/110864.html</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168</a:t>
            </a:fld>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SpiderOak</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Encryptr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密码管理器是一款基于云端的密码管理器，通过</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Crypton</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 JavaScript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框架加密密码，这是一个由</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SpiderOak</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开发的框架，获得了斯诺登的推荐。</a:t>
            </a:r>
          </a:p>
          <a:p>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Encryptr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跨平台、开源并且免费，它使用端对端加密，能够在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Ubuntu</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Debian</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 Linux Mint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等系统运行。</a:t>
            </a:r>
          </a:p>
          <a:p>
            <a:r>
              <a:rPr lang="en-US" altLang="zh-CN" dirty="0">
                <a:hlinkClick r:id="rId3"/>
              </a:rPr>
              <a:t>https://www.freebuf.com/articles/database/110864.html</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169</a:t>
            </a:fld>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1Password</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能够为你生成安全的密码，然后帮你同步到</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Dropbox</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，或者你也可以存储在本地，然后用别的应用来同步。</a:t>
            </a: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最近，</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Android</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版的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1Password</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还增加了指纹解锁功能，能够取代主密码。</a:t>
            </a:r>
          </a:p>
          <a:p>
            <a:r>
              <a:rPr lang="en-US" altLang="zh-CN" dirty="0">
                <a:hlinkClick r:id="rId3"/>
              </a:rPr>
              <a:t>https://www.freebuf.com/articles/database/110864.html</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170</a:t>
            </a:fld>
            <a:endParaRPr lang="en-US"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Clipperz</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是一款免费跨平台的在线密码管理器，不需要你下载额外的软件，它使用一个</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js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书签来进行直接登录，因此，任何支持</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js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的浏览器都可以使用。</a:t>
            </a:r>
          </a:p>
          <a:p>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Clipperz</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也提供了离线版本的管理器，能够让你把密码下载下来放到</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U</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盘里外出时使用。</a:t>
            </a:r>
          </a:p>
          <a:p>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Clipperz</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还提供密码长度检测、</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SSL</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安全连接、一次性密码、密码生成等功能。</a:t>
            </a:r>
          </a:p>
          <a:p>
            <a:r>
              <a:rPr lang="en-US" altLang="zh-CN" dirty="0">
                <a:hlinkClick r:id="rId3"/>
              </a:rPr>
              <a:t>https://www.freebuf.com/articles/database/110864.html</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171</a:t>
            </a:fld>
            <a:endParaRPr lang="en-US"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独立安全评估公司</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(ISE)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Windows 10</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上对</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1Password</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Dashlane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KeePass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和</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LastPass</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进行了安全审计，结果令人担忧。所有这些都将主密码以明文形式保存在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PC</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内存中，这意味着有权访问计算机的黑客可以轻松读取，然后访问存储在密码管理器中的所有数据。主密码是密码管理器用来保护应用程序的密钥，用户在解锁时需要提供密码。</a:t>
            </a: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安全研究人员发现，只要密码管理器本身处于锁定状态，该主密码就会以明文形式保留在设备的内存中。这意味着密码管理器已经启动，解锁，然后出于安全原因自动锁定。</a:t>
            </a:r>
            <a:r>
              <a:rPr lang="en-US" altLang="zh-CN" dirty="0">
                <a:hlinkClick r:id="rId3"/>
              </a:rPr>
              <a:t>http://www.heibai.org/post/979.html</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173</a:t>
            </a:fld>
            <a:endParaRPr lang="en-US"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https://dchest.com/2020/05/25/improving-storage-of-password-encrypted-secrets-in-end-to-end-encrypted-apps/</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174</a:t>
            </a:fld>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https://www.secrss.com/articles/27869</a:t>
            </a: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人机验证服务是突破传统验证码的人机识别产品，通过对用户的行为数据、设备特征与网络数据构建多维度数据分析，可以对风险设备使用、模拟行为、暴力重放等攻击进行综合判决，解决企业账号、活动、交易等关键业务环节存在的欺诈威胁问题。早期的验证码通常是一串非常简单的形状标准的数字，经过长期发展，形式越来越多样化，现在简单的数字英文验证码已经很容易被机器读取破解，复杂的验证码设计得愈发反人类。不过得益于机器学习，尤其是深度学习的进步，很多学者和技术大牛都这方面有了一些研究成果</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176</a:t>
            </a:fld>
            <a:endParaRPr lang="en-US"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https://www.secrss.com/articles/27869</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177</a:t>
            </a:fld>
            <a:endParaRPr lang="en-US"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https://www.secrss.com/articles/27869</a:t>
            </a: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目前，针对</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12306</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验证码破解的大部分方法都是利用深度学习技术对验证码图片进行识别的，其准确率大都超过</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90%</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。这些识别主要用于</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12306</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官网模拟登陆，并进行相应的刷票、抢票等操作。</a:t>
            </a:r>
            <a:endParaRPr lang="en-US" altLang="zh-CN"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178</a:t>
            </a:fld>
            <a:endParaRPr lang="en-US" altLang="zh-CN"/>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https://www.secrss.com/articles/27869</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179</a:t>
            </a:fld>
            <a:endParaRPr lang="en-US"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https://www.secrss.com/articles/27869</a:t>
            </a: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亚马逊验证码智能识别技术详解，</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https://zhuanlan.zhihu.com/p/46603425</a:t>
            </a: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实例解析：</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12306</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验证码破解，</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https://zhuanlan.zhihu.com/p/53329216</a:t>
            </a: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[3] </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Kaggle</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 12306</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验证码数据集，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https://www.kaggle.com/libowei/12306-captcha-image</a:t>
            </a: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[4] 12306</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验证码识别，</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https://github.com/senliuy/12306_crack</a:t>
            </a: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[5] </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Google"s</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 </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reCAPTCHA</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 test has been tricked </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byartificial</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 </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intelligence.https</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://www.wired.co.uk/article/google-captcha-recaptcha</a:t>
            </a: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[6]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淘宝在找回密码时需要向右滑动验证，原理是？</a:t>
            </a:r>
            <a:r>
              <a:rPr kumimoji="1" lang="en-US" altLang="zh-CN" sz="1200" b="0" i="0" kern="1200">
                <a:solidFill>
                  <a:schemeClr val="tx1"/>
                </a:solidFill>
                <a:effectLst/>
                <a:latin typeface="Times New Roman" panose="02020603050405020304" pitchFamily="18" charset="0"/>
                <a:ea typeface="宋体" panose="02010600030101010101" pitchFamily="2" charset="-122"/>
                <a:cs typeface="+mn-cs"/>
              </a:rPr>
              <a:t>https://www.zhihu.com/question/35538123/answer/63302379</a:t>
            </a:r>
          </a:p>
          <a:p>
            <a:endParaRPr lang="en-US" altLang="zh-CN"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t>180</a:t>
            </a:fld>
            <a:endParaRPr lang="en-US" altLang="zh-CN"/>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3"/>
          <p:cNvSpPr>
            <a:spLocks noGrp="1" noChangeArrowheads="1"/>
          </p:cNvSpPr>
          <p:nvPr>
            <p:ph type="dt" sz="quarter" idx="1"/>
          </p:nvPr>
        </p:nvSpPr>
        <p:spPr>
          <a:noFill/>
          <a:ln>
            <a:miter lim="800000"/>
          </a:ln>
        </p:spPr>
        <p:txBody>
          <a:bodyPr/>
          <a:lstStyle/>
          <a:p>
            <a:fld id="{29466D7D-A086-4314-8ADE-9040033F2B06}" type="datetime1">
              <a:rPr lang="zh-CN" altLang="en-US"/>
              <a:t>2023/5/8</a:t>
            </a:fld>
            <a:endParaRPr lang="en-US" altLang="zh-CN"/>
          </a:p>
        </p:txBody>
      </p:sp>
      <p:sp>
        <p:nvSpPr>
          <p:cNvPr id="145411" name="Rectangle 7"/>
          <p:cNvSpPr>
            <a:spLocks noGrp="1" noChangeArrowheads="1"/>
          </p:cNvSpPr>
          <p:nvPr>
            <p:ph type="sldNum" sz="quarter" idx="5"/>
          </p:nvPr>
        </p:nvSpPr>
        <p:spPr>
          <a:noFill/>
          <a:ln>
            <a:miter lim="800000"/>
          </a:ln>
        </p:spPr>
        <p:txBody>
          <a:bodyPr/>
          <a:lstStyle/>
          <a:p>
            <a:fld id="{36B8AE22-4712-4CB6-86C7-4DBF93BC2F5C}" type="slidenum">
              <a:rPr lang="en-US" altLang="zh-CN"/>
              <a:t>188</a:t>
            </a:fld>
            <a:endParaRPr lang="en-US" altLang="zh-CN"/>
          </a:p>
        </p:txBody>
      </p:sp>
      <p:sp>
        <p:nvSpPr>
          <p:cNvPr id="145412" name="Rectangle 2"/>
          <p:cNvSpPr>
            <a:spLocks noGrp="1" noRot="1" noChangeAspect="1" noChangeArrowheads="1" noTextEdit="1"/>
          </p:cNvSpPr>
          <p:nvPr>
            <p:ph type="sldImg"/>
          </p:nvPr>
        </p:nvSpPr>
        <p:spPr>
          <a:ln cap="flat"/>
        </p:spPr>
      </p:sp>
      <p:sp>
        <p:nvSpPr>
          <p:cNvPr id="145413" name="Rectangle 3"/>
          <p:cNvSpPr>
            <a:spLocks noGrp="1" noChangeArrowheads="1"/>
          </p:cNvSpPr>
          <p:nvPr>
            <p:ph type="body" idx="1"/>
          </p:nvPr>
        </p:nvSpPr>
        <p:spPr>
          <a:noFill/>
        </p:spPr>
        <p:txBody>
          <a:bodyPr/>
          <a:lstStyle/>
          <a:p>
            <a:pPr eaLnBrk="1" hangingPunct="1"/>
            <a:endParaRPr lang="zh-CN" altLang="zh-CN">
              <a:latin typeface="宋体" panose="02010600030101010101" pitchFamily="2" charset="-122"/>
              <a:ea typeface="宋体" panose="02010600030101010101" pitchFamily="2" charset="-122"/>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3"/>
          <p:cNvSpPr>
            <a:spLocks noGrp="1" noChangeArrowheads="1"/>
          </p:cNvSpPr>
          <p:nvPr>
            <p:ph type="dt" sz="quarter" idx="1"/>
          </p:nvPr>
        </p:nvSpPr>
        <p:spPr>
          <a:noFill/>
          <a:ln>
            <a:miter lim="800000"/>
          </a:ln>
        </p:spPr>
        <p:txBody>
          <a:bodyPr/>
          <a:lstStyle/>
          <a:p>
            <a:fld id="{FCA4F987-7971-41F7-A781-C63FBFE56949}" type="datetime1">
              <a:rPr lang="zh-CN" altLang="en-US"/>
              <a:t>2023/5/8</a:t>
            </a:fld>
            <a:endParaRPr lang="en-US" altLang="zh-CN"/>
          </a:p>
        </p:txBody>
      </p:sp>
      <p:sp>
        <p:nvSpPr>
          <p:cNvPr id="146435" name="Rectangle 7"/>
          <p:cNvSpPr>
            <a:spLocks noGrp="1" noChangeArrowheads="1"/>
          </p:cNvSpPr>
          <p:nvPr>
            <p:ph type="sldNum" sz="quarter" idx="5"/>
          </p:nvPr>
        </p:nvSpPr>
        <p:spPr>
          <a:noFill/>
          <a:ln>
            <a:miter lim="800000"/>
          </a:ln>
        </p:spPr>
        <p:txBody>
          <a:bodyPr/>
          <a:lstStyle/>
          <a:p>
            <a:fld id="{4DA6A43B-B79D-411B-A8F7-3FF8FF454F7E}" type="slidenum">
              <a:rPr lang="en-US" altLang="zh-CN"/>
              <a:t>193</a:t>
            </a:fld>
            <a:endParaRPr lang="en-US" altLang="zh-CN"/>
          </a:p>
        </p:txBody>
      </p:sp>
      <p:sp>
        <p:nvSpPr>
          <p:cNvPr id="146436" name="Rectangle 2"/>
          <p:cNvSpPr>
            <a:spLocks noGrp="1" noRot="1" noChangeAspect="1" noChangeArrowheads="1" noTextEdit="1"/>
          </p:cNvSpPr>
          <p:nvPr>
            <p:ph type="sldImg"/>
          </p:nvPr>
        </p:nvSpPr>
        <p:spPr/>
      </p:sp>
      <p:sp>
        <p:nvSpPr>
          <p:cNvPr id="146437" name="Rectangle 3"/>
          <p:cNvSpPr>
            <a:spLocks noGrp="1" noChangeArrowheads="1"/>
          </p:cNvSpPr>
          <p:nvPr>
            <p:ph type="body" idx="1"/>
          </p:nvPr>
        </p:nvSpPr>
        <p:spPr>
          <a:noFill/>
        </p:spPr>
        <p:txBody>
          <a:bodyPr/>
          <a:lstStyle/>
          <a:p>
            <a:pPr eaLnBrk="1" hangingPunct="1"/>
            <a:endParaRPr lang="zh-CN" altLang="zh-CN">
              <a:latin typeface="宋体" panose="02010600030101010101" pitchFamily="2" charset="-122"/>
              <a:ea typeface="宋体" panose="02010600030101010101" pitchFamily="2" charset="-122"/>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3"/>
          <p:cNvSpPr>
            <a:spLocks noGrp="1" noChangeArrowheads="1"/>
          </p:cNvSpPr>
          <p:nvPr>
            <p:ph type="dt" sz="quarter" idx="1"/>
          </p:nvPr>
        </p:nvSpPr>
        <p:spPr>
          <a:noFill/>
          <a:ln>
            <a:miter lim="800000"/>
          </a:ln>
        </p:spPr>
        <p:txBody>
          <a:bodyPr/>
          <a:lstStyle/>
          <a:p>
            <a:fld id="{2D0F4E8D-4FB1-49E4-9577-13F9FE5030CE}" type="datetime1">
              <a:rPr lang="zh-CN" altLang="en-US"/>
              <a:t>2023/5/8</a:t>
            </a:fld>
            <a:endParaRPr lang="en-US" altLang="zh-CN"/>
          </a:p>
        </p:txBody>
      </p:sp>
      <p:sp>
        <p:nvSpPr>
          <p:cNvPr id="147459" name="Rectangle 7"/>
          <p:cNvSpPr>
            <a:spLocks noGrp="1" noChangeArrowheads="1"/>
          </p:cNvSpPr>
          <p:nvPr>
            <p:ph type="sldNum" sz="quarter" idx="5"/>
          </p:nvPr>
        </p:nvSpPr>
        <p:spPr>
          <a:noFill/>
          <a:ln>
            <a:miter lim="800000"/>
          </a:ln>
        </p:spPr>
        <p:txBody>
          <a:bodyPr/>
          <a:lstStyle/>
          <a:p>
            <a:fld id="{80152E68-E947-4576-997D-D6E9196C0422}" type="slidenum">
              <a:rPr lang="en-US" altLang="zh-CN"/>
              <a:t>194</a:t>
            </a:fld>
            <a:endParaRPr lang="en-US" altLang="zh-CN"/>
          </a:p>
        </p:txBody>
      </p:sp>
      <p:sp>
        <p:nvSpPr>
          <p:cNvPr id="147460" name="Rectangle 2"/>
          <p:cNvSpPr>
            <a:spLocks noGrp="1" noRot="1" noChangeAspect="1" noChangeArrowheads="1" noTextEdit="1"/>
          </p:cNvSpPr>
          <p:nvPr>
            <p:ph type="sldImg"/>
          </p:nvPr>
        </p:nvSpPr>
        <p:spPr/>
      </p:sp>
      <p:sp>
        <p:nvSpPr>
          <p:cNvPr id="147461" name="Rectangle 3"/>
          <p:cNvSpPr>
            <a:spLocks noGrp="1" noChangeArrowheads="1"/>
          </p:cNvSpPr>
          <p:nvPr>
            <p:ph type="body" idx="1"/>
          </p:nvPr>
        </p:nvSpPr>
        <p:spPr>
          <a:noFill/>
        </p:spPr>
        <p:txBody>
          <a:bodyPr/>
          <a:lstStyle/>
          <a:p>
            <a:pPr eaLnBrk="1" hangingPunct="1"/>
            <a:endParaRPr lang="zh-CN" altLang="zh-CN">
              <a:latin typeface="宋体" panose="02010600030101010101" pitchFamily="2" charset="-122"/>
              <a:ea typeface="宋体" panose="02010600030101010101" pitchFamily="2" charset="-122"/>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69AC8D6-373B-43D9-BEB8-E630AAE90451}" type="slidenum">
              <a:rPr lang="zh-CN" altLang="en-US"/>
              <a:t>197</a:t>
            </a:fld>
            <a:endParaRPr lang="en-US" altLang="zh-CN"/>
          </a:p>
        </p:txBody>
      </p:sp>
      <p:sp>
        <p:nvSpPr>
          <p:cNvPr id="489474" name="Rectangle 2"/>
          <p:cNvSpPr>
            <a:spLocks noGrp="1" noRot="1" noChangeAspect="1" noChangeArrowheads="1" noTextEdit="1"/>
          </p:cNvSpPr>
          <p:nvPr>
            <p:ph type="sldImg"/>
          </p:nvPr>
        </p:nvSpPr>
        <p:spPr/>
      </p:sp>
      <p:sp>
        <p:nvSpPr>
          <p:cNvPr id="489475" name="Rectangle 3"/>
          <p:cNvSpPr>
            <a:spLocks noGrp="1" noChangeArrowheads="1"/>
          </p:cNvSpPr>
          <p:nvPr>
            <p:ph type="body" idx="1"/>
          </p:nvPr>
        </p:nvSpPr>
        <p:spPr/>
        <p:txBody>
          <a:bodyPr/>
          <a:lstStyle/>
          <a:p>
            <a:r>
              <a:rPr lang="en-US" altLang="zh-CN"/>
              <a:t>Cain</a:t>
            </a:r>
            <a:r>
              <a:rPr lang="zh-CN" altLang="en-US"/>
              <a:t>进行口令监听的原理涉及到“网络监听技术</a:t>
            </a:r>
            <a:r>
              <a:rPr lang="en-US" altLang="zh-CN"/>
              <a:t>”</a:t>
            </a:r>
            <a:r>
              <a:rPr lang="zh-CN" altLang="en-US"/>
              <a:t>一讲的内容，所以工具使用的</a:t>
            </a:r>
            <a:r>
              <a:rPr lang="en-US" altLang="zh-CN"/>
              <a:t>ARP</a:t>
            </a:r>
            <a:r>
              <a:rPr lang="zh-CN" altLang="en-US"/>
              <a:t>欺骗配置可以稍加介绍带过，重点介绍</a:t>
            </a:r>
            <a:r>
              <a:rPr lang="en-US" altLang="zh-CN"/>
              <a:t>Cain</a:t>
            </a:r>
            <a:r>
              <a:rPr lang="zh-CN" altLang="en-US"/>
              <a:t>可以监听到的口令类型。</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p:cNvGrpSpPr/>
          <p:nvPr/>
        </p:nvGrpSpPr>
        <p:grpSpPr bwMode="auto">
          <a:xfrm>
            <a:off x="0" y="2438400"/>
            <a:ext cx="9009063" cy="1052513"/>
            <a:chOff x="0" y="1536"/>
            <a:chExt cx="5675" cy="663"/>
          </a:xfrm>
        </p:grpSpPr>
        <p:grpSp>
          <p:nvGrpSpPr>
            <p:cNvPr id="3"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grpSp>
          <p:nvGrpSpPr>
            <p:cNvPr id="4"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1C61395C-8CDD-4FA2-ADB5-FD6889F54024}" type="datetime1">
              <a:rPr lang="zh-CN" altLang="en-US" smtClean="0">
                <a:solidFill>
                  <a:srgbClr val="1C1C1C"/>
                </a:solidFill>
              </a:rPr>
              <a:t>2023/5/8</a:t>
            </a:fld>
            <a:endParaRPr lang="en-US" altLang="zh-CN">
              <a:solidFill>
                <a:srgbClr val="1C1C1C"/>
              </a:solidFill>
            </a:endParaRP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19E74429-26DC-471E-9251-C4807B21DCEF}" type="slidenum">
              <a:rPr lang="en-US" altLang="zh-CN">
                <a:solidFill>
                  <a:srgbClr val="1C1C1C"/>
                </a:solidFill>
              </a:rPr>
              <a:t>‹#›</a:t>
            </a:fld>
            <a:endParaRPr lang="en-US" altLang="zh-CN">
              <a:solidFill>
                <a:srgbClr val="1C1C1C"/>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lnSpc>
                <a:spcPts val="4500"/>
              </a:lnSpc>
              <a:spcBef>
                <a:spcPts val="0"/>
              </a:spcBef>
              <a:defRPr b="0" i="0" baseline="0">
                <a:latin typeface="Times New Roman" panose="02020603050405020304" pitchFamily="18" charset="0"/>
                <a:ea typeface="黑体" panose="02010609060101010101" pitchFamily="49" charset="-122"/>
              </a:defRPr>
            </a:lvl1pPr>
            <a:lvl2pPr>
              <a:lnSpc>
                <a:spcPts val="4500"/>
              </a:lnSpc>
              <a:spcBef>
                <a:spcPts val="0"/>
              </a:spcBef>
              <a:defRPr b="0" i="0" baseline="0">
                <a:latin typeface="Times New Roman" panose="02020603050405020304" pitchFamily="18" charset="0"/>
                <a:ea typeface="黑体" panose="02010609060101010101" pitchFamily="49" charset="-122"/>
              </a:defRPr>
            </a:lvl2pPr>
            <a:lvl3pPr>
              <a:lnSpc>
                <a:spcPts val="4500"/>
              </a:lnSpc>
              <a:spcBef>
                <a:spcPts val="0"/>
              </a:spcBef>
              <a:defRPr b="0" i="0" baseline="0">
                <a:latin typeface="Times New Roman" panose="02020603050405020304" pitchFamily="18" charset="0"/>
                <a:ea typeface="黑体" panose="02010609060101010101" pitchFamily="49" charset="-122"/>
              </a:defRPr>
            </a:lvl3pPr>
            <a:lvl4pPr>
              <a:lnSpc>
                <a:spcPts val="4500"/>
              </a:lnSpc>
              <a:spcBef>
                <a:spcPts val="0"/>
              </a:spcBef>
              <a:defRPr b="0" i="0" baseline="0">
                <a:latin typeface="Times New Roman" panose="02020603050405020304" pitchFamily="18" charset="0"/>
                <a:ea typeface="黑体" panose="02010609060101010101" pitchFamily="49" charset="-122"/>
              </a:defRPr>
            </a:lvl4pPr>
            <a:lvl5pPr>
              <a:lnSpc>
                <a:spcPts val="4500"/>
              </a:lnSpc>
              <a:spcBef>
                <a:spcPts val="0"/>
              </a:spcBef>
              <a:defRPr b="0" i="0" baseline="0">
                <a:latin typeface="Times New Roman" panose="02020603050405020304" pitchFamily="18" charset="0"/>
                <a:ea typeface="黑体" panose="020106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6"/>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fld id="{13EAD5F1-67B5-4A0D-ABC1-AB8E7ABAD35E}" type="datetime1">
              <a:rPr lang="zh-CN" altLang="en-US" smtClean="0">
                <a:solidFill>
                  <a:srgbClr val="000000"/>
                </a:solidFill>
              </a:rPr>
              <a:t>2023/5/8</a:t>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65EB7420-10C5-4439-A879-6C64816B7E29}"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588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12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fld id="{8777064C-0A55-4E07-B965-6C3D3728ABB2}" type="datetime1">
              <a:rPr lang="zh-CN" altLang="en-US" smtClean="0">
                <a:solidFill>
                  <a:srgbClr val="000000"/>
                </a:solidFill>
              </a:rPr>
              <a:t>2023/5/8</a:t>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6B28E056-97FC-4A70-8131-E02F6583BF82}"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p:txBody>
          <a:bodyPr/>
          <a:lstStyle>
            <a:lvl1pPr>
              <a:defRPr/>
            </a:lvl1pPr>
          </a:lstStyle>
          <a:p>
            <a:pPr>
              <a:defRPr/>
            </a:pPr>
            <a:fld id="{E8AED8A2-82FC-4DC1-9863-2A50613A6AE6}" type="datetime1">
              <a:rPr lang="zh-CN" altLang="en-US" smtClean="0">
                <a:solidFill>
                  <a:srgbClr val="000000"/>
                </a:solidFill>
              </a:rPr>
              <a:t>2023/5/8</a:t>
            </a:fld>
            <a:endParaRPr lang="en-US" altLang="zh-CN">
              <a:solidFill>
                <a:srgbClr val="000000"/>
              </a:solidFill>
            </a:endParaRPr>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9" name="Rectangle 13"/>
          <p:cNvSpPr>
            <a:spLocks noGrp="1" noChangeArrowheads="1"/>
          </p:cNvSpPr>
          <p:nvPr>
            <p:ph type="sldNum" sz="quarter" idx="12"/>
          </p:nvPr>
        </p:nvSpPr>
        <p:spPr/>
        <p:txBody>
          <a:bodyPr/>
          <a:lstStyle>
            <a:lvl1pPr>
              <a:defRPr/>
            </a:lvl1pPr>
          </a:lstStyle>
          <a:p>
            <a:pPr>
              <a:defRPr/>
            </a:pPr>
            <a:fld id="{BBFD273C-C71A-40AC-9777-8B20B0D93BC7}"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fld id="{075295FB-9049-4B10-8132-A2704FC040E4}" type="datetime1">
              <a:rPr lang="zh-CN" altLang="en-US" smtClean="0">
                <a:solidFill>
                  <a:srgbClr val="000000"/>
                </a:solidFill>
              </a:rPr>
              <a:t>2023/5/8</a:t>
            </a:fld>
            <a:endParaRPr lang="en-US" altLang="zh-CN">
              <a:solidFill>
                <a:srgbClr val="000000"/>
              </a:solidFill>
            </a:endParaRPr>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2"/>
          </p:nvPr>
        </p:nvSpPr>
        <p:spPr/>
        <p:txBody>
          <a:bodyPr/>
          <a:lstStyle>
            <a:lvl1pPr>
              <a:defRPr/>
            </a:lvl1pPr>
          </a:lstStyle>
          <a:p>
            <a:pPr>
              <a:defRPr/>
            </a:pPr>
            <a:fld id="{3782B63A-4FE1-4D96-8285-FCAE99EA7890}"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fld id="{27E94A6A-DBE8-4CE6-9619-41C62789DE7E}" type="datetime1">
              <a:rPr lang="zh-CN" altLang="en-US" smtClean="0">
                <a:solidFill>
                  <a:srgbClr val="000000"/>
                </a:solidFill>
              </a:rPr>
              <a:t>2023/5/8</a:t>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B733275C-2774-4B25-97E7-7065F970E90C}"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fld id="{00651A7E-C721-4544-8D2F-3546C0565F84}" type="datetime1">
              <a:rPr lang="zh-CN" altLang="en-US" smtClean="0">
                <a:solidFill>
                  <a:srgbClr val="000000"/>
                </a:solidFill>
              </a:rPr>
              <a:t>2023/5/8</a:t>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2C21E245-20D5-4D11-AD9A-5B593160C07A}"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fld id="{CB3E5F7E-5148-4CB2-963A-95C37528F550}" type="datetime1">
              <a:rPr lang="zh-CN" altLang="en-US" smtClean="0">
                <a:solidFill>
                  <a:srgbClr val="000000"/>
                </a:solidFill>
              </a:rPr>
              <a:t>2023/5/8</a:t>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EF68ED92-367B-4CD8-A26C-4E6248EAD48D}"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73875" y="142875"/>
            <a:ext cx="2070100" cy="55260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58813" y="142875"/>
            <a:ext cx="6062662" cy="55260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fld id="{E565DC17-A35B-464B-A9AB-82DCA891CFF2}" type="datetime1">
              <a:rPr lang="zh-CN" altLang="en-US" smtClean="0">
                <a:solidFill>
                  <a:srgbClr val="000000"/>
                </a:solidFill>
              </a:rPr>
              <a:t>2023/5/8</a:t>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CBA975A5-F217-4B48-B315-600F055D9787}" type="slidenum">
              <a:rPr lang="en-US" altLang="zh-CN">
                <a:solidFill>
                  <a:srgbClr val="000000"/>
                </a:solidFill>
              </a:rPr>
              <a:t>‹#›</a:t>
            </a:fld>
            <a:endParaRPr lang="en-US" altLang="zh-CN">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417513" y="439738"/>
            <a:ext cx="438150" cy="474662"/>
          </a:xfrm>
          <a:prstGeom prst="rect">
            <a:avLst/>
          </a:prstGeom>
          <a:solidFill>
            <a:schemeClr val="accent2"/>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5" name="Rectangle 3"/>
          <p:cNvSpPr>
            <a:spLocks noChangeArrowheads="1"/>
          </p:cNvSpPr>
          <p:nvPr/>
        </p:nvSpPr>
        <p:spPr bwMode="ltGray">
          <a:xfrm>
            <a:off x="800100" y="439738"/>
            <a:ext cx="328613" cy="47466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6" name="Rectangle 4"/>
          <p:cNvSpPr>
            <a:spLocks noChangeArrowheads="1"/>
          </p:cNvSpPr>
          <p:nvPr/>
        </p:nvSpPr>
        <p:spPr bwMode="ltGray">
          <a:xfrm>
            <a:off x="541338" y="862013"/>
            <a:ext cx="422275" cy="474662"/>
          </a:xfrm>
          <a:prstGeom prst="rect">
            <a:avLst/>
          </a:prstGeom>
          <a:solidFill>
            <a:schemeClr val="folHlink"/>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7" name="Rectangle 5"/>
          <p:cNvSpPr>
            <a:spLocks noChangeArrowheads="1"/>
          </p:cNvSpPr>
          <p:nvPr/>
        </p:nvSpPr>
        <p:spPr bwMode="ltGray">
          <a:xfrm>
            <a:off x="911225" y="862013"/>
            <a:ext cx="368300" cy="47466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8" name="Rectangle 6"/>
          <p:cNvSpPr>
            <a:spLocks noChangeArrowheads="1"/>
          </p:cNvSpPr>
          <p:nvPr/>
        </p:nvSpPr>
        <p:spPr bwMode="ltGray">
          <a:xfrm>
            <a:off x="127000" y="788988"/>
            <a:ext cx="560388" cy="422275"/>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9" name="Rectangle 7"/>
          <p:cNvSpPr>
            <a:spLocks noChangeArrowheads="1"/>
          </p:cNvSpPr>
          <p:nvPr/>
        </p:nvSpPr>
        <p:spPr bwMode="gray">
          <a:xfrm>
            <a:off x="762000" y="331788"/>
            <a:ext cx="31750" cy="1052512"/>
          </a:xfrm>
          <a:prstGeom prst="rect">
            <a:avLst/>
          </a:prstGeom>
          <a:solidFill>
            <a:schemeClr val="bg2"/>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80" name="Rectangle 8"/>
          <p:cNvSpPr>
            <a:spLocks noChangeArrowheads="1"/>
          </p:cNvSpPr>
          <p:nvPr/>
        </p:nvSpPr>
        <p:spPr bwMode="gray">
          <a:xfrm>
            <a:off x="442913" y="1122363"/>
            <a:ext cx="8226425" cy="3175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1033" name="Rectangle 9"/>
          <p:cNvSpPr>
            <a:spLocks noGrp="1" noChangeArrowheads="1"/>
          </p:cNvSpPr>
          <p:nvPr>
            <p:ph type="title"/>
          </p:nvPr>
        </p:nvSpPr>
        <p:spPr bwMode="auto">
          <a:xfrm>
            <a:off x="1150938" y="142875"/>
            <a:ext cx="7793037" cy="958850"/>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1034" name="Rectangle 10"/>
          <p:cNvSpPr>
            <a:spLocks noGrp="1" noChangeArrowheads="1"/>
          </p:cNvSpPr>
          <p:nvPr>
            <p:ph type="body" idx="1"/>
          </p:nvPr>
        </p:nvSpPr>
        <p:spPr bwMode="auto">
          <a:xfrm>
            <a:off x="658813" y="1554163"/>
            <a:ext cx="7772400" cy="41148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83" name="Rectangle 11"/>
          <p:cNvSpPr>
            <a:spLocks noGrp="1" noChangeArrowheads="1"/>
          </p:cNvSpPr>
          <p:nvPr>
            <p:ph type="dt" sz="half" idx="2"/>
          </p:nvPr>
        </p:nvSpPr>
        <p:spPr bwMode="auto">
          <a:xfrm>
            <a:off x="914400" y="6348413"/>
            <a:ext cx="1905000" cy="457200"/>
          </a:xfrm>
          <a:prstGeom prst="rect">
            <a:avLst/>
          </a:prstGeom>
          <a:noFill/>
          <a:ln w="9525">
            <a:noFill/>
            <a:miter lim="800000"/>
          </a:ln>
          <a:effectLst/>
        </p:spPr>
        <p:txBody>
          <a:bodyPr vert="horz" wrap="square" lIns="91440" tIns="45720" rIns="91440" bIns="45720" numCol="1" anchor="b" anchorCtr="0" compatLnSpc="1"/>
          <a:lstStyle>
            <a:lvl1pPr algn="l">
              <a:defRPr kumimoji="0" sz="1400" b="0">
                <a:ea typeface="宋体" panose="02010600030101010101" pitchFamily="2" charset="-122"/>
              </a:defRPr>
            </a:lvl1pPr>
          </a:lstStyle>
          <a:p>
            <a:pPr>
              <a:defRPr/>
            </a:pPr>
            <a:fld id="{2812D72D-DA04-4C9C-9A6E-C01386CD88CE}" type="datetime1">
              <a:rPr lang="zh-CN" altLang="en-US" smtClean="0">
                <a:solidFill>
                  <a:srgbClr val="000000"/>
                </a:solidFill>
              </a:rPr>
              <a:t>2023/5/8</a:t>
            </a:fld>
            <a:endParaRPr lang="en-US" altLang="zh-CN">
              <a:solidFill>
                <a:srgbClr val="000000"/>
              </a:solidFill>
            </a:endParaRPr>
          </a:p>
        </p:txBody>
      </p:sp>
      <p:sp>
        <p:nvSpPr>
          <p:cNvPr id="3084" name="Rectangle 12"/>
          <p:cNvSpPr>
            <a:spLocks noGrp="1" noChangeArrowheads="1"/>
          </p:cNvSpPr>
          <p:nvPr>
            <p:ph type="ftr" sz="quarter" idx="3"/>
          </p:nvPr>
        </p:nvSpPr>
        <p:spPr bwMode="auto">
          <a:xfrm>
            <a:off x="3352800" y="6348413"/>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400" b="0">
                <a:ea typeface="宋体" panose="02010600030101010101" pitchFamily="2" charset="-122"/>
              </a:defRPr>
            </a:lvl1pPr>
          </a:lstStyle>
          <a:p>
            <a:pPr>
              <a:defRPr/>
            </a:pPr>
            <a:endParaRPr lang="en-US" altLang="zh-CN">
              <a:solidFill>
                <a:srgbClr val="000000"/>
              </a:solidFill>
            </a:endParaRPr>
          </a:p>
        </p:txBody>
      </p:sp>
      <p:sp>
        <p:nvSpPr>
          <p:cNvPr id="3085" name="Rectangle 13"/>
          <p:cNvSpPr>
            <a:spLocks noGrp="1" noChangeArrowheads="1"/>
          </p:cNvSpPr>
          <p:nvPr>
            <p:ph type="sldNum" sz="quarter" idx="4"/>
          </p:nvPr>
        </p:nvSpPr>
        <p:spPr bwMode="auto">
          <a:xfrm>
            <a:off x="6781800" y="6348413"/>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400" b="0">
                <a:ea typeface="宋体" panose="02010600030101010101" pitchFamily="2" charset="-122"/>
              </a:defRPr>
            </a:lvl1pPr>
          </a:lstStyle>
          <a:p>
            <a:pPr>
              <a:defRPr/>
            </a:pPr>
            <a:fld id="{38C58080-A4A9-4607-B318-5D24794E2C9C}" type="slidenum">
              <a:rPr lang="en-US" altLang="zh-CN">
                <a:solidFill>
                  <a:srgbClr val="000000"/>
                </a:solidFill>
              </a:rPr>
              <a:t>‹#›</a:t>
            </a:fld>
            <a:endParaRPr lang="en-US" altLang="zh-CN">
              <a:solidFill>
                <a:srgbClr val="000000"/>
              </a:solidFill>
            </a:endParaRPr>
          </a:p>
        </p:txBody>
      </p:sp>
      <p:sp>
        <p:nvSpPr>
          <p:cNvPr id="3089" name="Rectangle 17"/>
          <p:cNvSpPr>
            <a:spLocks noChangeArrowheads="1"/>
          </p:cNvSpPr>
          <p:nvPr/>
        </p:nvSpPr>
        <p:spPr bwMode="gray">
          <a:xfrm>
            <a:off x="539750" y="6332538"/>
            <a:ext cx="8226425" cy="3175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90" name="Line 18"/>
          <p:cNvSpPr>
            <a:spLocks noChangeShapeType="1"/>
          </p:cNvSpPr>
          <p:nvPr/>
        </p:nvSpPr>
        <p:spPr bwMode="auto">
          <a:xfrm>
            <a:off x="827088" y="6189663"/>
            <a:ext cx="0" cy="503237"/>
          </a:xfrm>
          <a:prstGeom prst="line">
            <a:avLst/>
          </a:prstGeom>
          <a:noFill/>
          <a:ln w="28575">
            <a:solidFill>
              <a:schemeClr val="tx1"/>
            </a:solidFill>
            <a:miter lim="800000"/>
          </a:ln>
          <a:effectLst/>
        </p:spPr>
        <p:txBody>
          <a:bodyPr wrap="none"/>
          <a:lstStyle/>
          <a:p>
            <a:pPr algn="ctr">
              <a:defRPr/>
            </a:pPr>
            <a:endParaRPr lang="zh-CN" altLang="en-US">
              <a:solidFill>
                <a:srgbClr val="000000"/>
              </a:solidFill>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2pPr>
      <a:lvl3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3pPr>
      <a:lvl4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4pPr>
      <a:lvl5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5pPr>
      <a:lvl6pPr marL="4572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6pPr>
      <a:lvl7pPr marL="9144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7pPr>
      <a:lvl8pPr marL="13716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8pPr>
      <a:lvl9pPr marL="18288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9.51cto.com/wyfs02/M00/2B/69/wKioL1OH6rigIz35AAMPAZKfbqA410.jp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3.emf"/><Relationship Id="rId4" Type="http://schemas.openxmlformats.org/officeDocument/2006/relationships/oleObject" Target="../embeddings/oleObject1.bin"/></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0.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8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8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8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8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7.jpeg"/></Relationships>
</file>

<file path=ppt/slides/_rels/slide8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hyperlink" Target="http://www.georgiasoftworks.com/" TargetMode="External"/><Relationship Id="rId2" Type="http://schemas.openxmlformats.org/officeDocument/2006/relationships/hyperlink" Target="http://www.openwall.com/passwdqc" TargetMode="External"/><Relationship Id="rId1" Type="http://schemas.openxmlformats.org/officeDocument/2006/relationships/slideLayout" Target="../slideLayouts/slideLayout2.xml"/><Relationship Id="rId4" Type="http://schemas.openxmlformats.org/officeDocument/2006/relationships/hyperlink" Target="http://ntsecurity.nu/toolbox" TargetMode="Externa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jpeg"/></Relationships>
</file>

<file path=ppt/slides/_rels/slide17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17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84.xml"/><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10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178.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179.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18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13.jpe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endParaRPr lang="zh-CN" altLang="en-US"/>
          </a:p>
        </p:txBody>
      </p:sp>
      <p:sp>
        <p:nvSpPr>
          <p:cNvPr id="4" name="标题 1"/>
          <p:cNvSpPr>
            <a:spLocks noGrp="1"/>
          </p:cNvSpPr>
          <p:nvPr>
            <p:ph type="ctrTitle"/>
          </p:nvPr>
        </p:nvSpPr>
        <p:spPr>
          <a:xfrm>
            <a:off x="899160" y="1419225"/>
            <a:ext cx="7658100" cy="1143000"/>
          </a:xfrm>
        </p:spPr>
        <p:txBody>
          <a:bodyPr/>
          <a:lstStyle/>
          <a:p>
            <a:r>
              <a:rPr lang="zh-CN" altLang="en-US" dirty="0">
                <a:solidFill>
                  <a:schemeClr val="tx1"/>
                </a:solidFill>
              </a:rPr>
              <a:t>第 八 章   身份认证与口令攻击</a:t>
            </a:r>
          </a:p>
        </p:txBody>
      </p:sp>
      <p:pic>
        <p:nvPicPr>
          <p:cNvPr id="5" name="图片 4" descr="渗透测试中的密码扫描与破解技巧">
            <a:hlinkClick r:id="rId2" tgtFrame="&quot;_blank&quo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56815" y="3729990"/>
            <a:ext cx="3811270" cy="22364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ln>
          <a:effectLst/>
        </p:spPr>
        <p:txBody>
          <a:bodyPr wrap="none">
            <a:spAutoFit/>
          </a:bodyPr>
          <a:lstStyle/>
          <a:p>
            <a:endParaRPr lang="zh-CN" altLang="en-US">
              <a:ea typeface="宋体" panose="02010600030101010101" pitchFamily="2" charset="-122"/>
            </a:endParaRPr>
          </a:p>
        </p:txBody>
      </p:sp>
      <p:sp>
        <p:nvSpPr>
          <p:cNvPr id="25" name="AutoShape 4"/>
          <p:cNvSpPr>
            <a:spLocks noChangeArrowheads="1"/>
          </p:cNvSpPr>
          <p:nvPr/>
        </p:nvSpPr>
        <p:spPr bwMode="gray">
          <a:xfrm>
            <a:off x="1157333" y="1611524"/>
            <a:ext cx="755605" cy="653839"/>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26" name="AutoShape 5"/>
          <p:cNvSpPr>
            <a:spLocks noChangeArrowheads="1"/>
          </p:cNvSpPr>
          <p:nvPr/>
        </p:nvSpPr>
        <p:spPr bwMode="gray">
          <a:xfrm>
            <a:off x="1150938" y="1600200"/>
            <a:ext cx="755605" cy="653839"/>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27" name="AutoShape 6"/>
          <p:cNvSpPr>
            <a:spLocks noChangeArrowheads="1"/>
          </p:cNvSpPr>
          <p:nvPr/>
        </p:nvSpPr>
        <p:spPr bwMode="gray">
          <a:xfrm>
            <a:off x="1195212" y="1639588"/>
            <a:ext cx="664106" cy="575063"/>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endParaRPr lang="zh-CN" altLang="en-US"/>
          </a:p>
        </p:txBody>
      </p:sp>
      <p:sp>
        <p:nvSpPr>
          <p:cNvPr id="32" name="Line 7"/>
          <p:cNvSpPr>
            <a:spLocks noChangeShapeType="1"/>
          </p:cNvSpPr>
          <p:nvPr/>
        </p:nvSpPr>
        <p:spPr bwMode="auto">
          <a:xfrm>
            <a:off x="1760538" y="2209800"/>
            <a:ext cx="6175736" cy="4852"/>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33" name="Text Box 8"/>
          <p:cNvSpPr txBox="1">
            <a:spLocks noChangeArrowheads="1"/>
          </p:cNvSpPr>
          <p:nvPr/>
        </p:nvSpPr>
        <p:spPr bwMode="auto">
          <a:xfrm>
            <a:off x="1897196" y="1460711"/>
            <a:ext cx="6039077" cy="701675"/>
          </a:xfrm>
          <a:prstGeom prst="rect">
            <a:avLst/>
          </a:prstGeom>
          <a:solidFill>
            <a:srgbClr val="FF6600"/>
          </a:solidFill>
          <a:ln w="9525" algn="ctr">
            <a:noFill/>
            <a:miter lim="800000"/>
          </a:ln>
          <a:effectLst/>
        </p:spPr>
        <p:txBody>
          <a:bodyPr wrap="square">
            <a:spAutoFit/>
          </a:bodyPr>
          <a:lstStyle>
            <a:defPPr>
              <a:defRPr lang="zh-CN"/>
            </a:defPPr>
            <a:lvl1pPr eaLnBrk="0" hangingPunct="0">
              <a:defRPr sz="4000">
                <a:solidFill>
                  <a:srgbClr val="000000"/>
                </a:solidFill>
                <a:latin typeface="Times New Roman" panose="02020603050405020304" pitchFamily="18" charset="0"/>
                <a:ea typeface="隶书" panose="02010509060101010101" pitchFamily="49" charset="-122"/>
              </a:defRPr>
            </a:lvl1pPr>
          </a:lstStyle>
          <a:p>
            <a:r>
              <a:rPr lang="zh-CN" altLang="en-US" dirty="0"/>
              <a:t>身份认证</a:t>
            </a:r>
          </a:p>
        </p:txBody>
      </p:sp>
      <p:sp>
        <p:nvSpPr>
          <p:cNvPr id="34" name="Text Box 9"/>
          <p:cNvSpPr txBox="1">
            <a:spLocks noChangeArrowheads="1"/>
          </p:cNvSpPr>
          <p:nvPr/>
        </p:nvSpPr>
        <p:spPr bwMode="gray">
          <a:xfrm>
            <a:off x="1347788" y="1698625"/>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p>
        </p:txBody>
      </p:sp>
      <p:grpSp>
        <p:nvGrpSpPr>
          <p:cNvPr id="36" name="Group 11"/>
          <p:cNvGrpSpPr/>
          <p:nvPr/>
        </p:nvGrpSpPr>
        <p:grpSpPr bwMode="auto">
          <a:xfrm>
            <a:off x="1150938" y="2809875"/>
            <a:ext cx="762000" cy="665163"/>
            <a:chOff x="3174" y="2656"/>
            <a:chExt cx="1549" cy="1351"/>
          </a:xfrm>
        </p:grpSpPr>
        <p:sp>
          <p:nvSpPr>
            <p:cNvPr id="40" name="AutoShape 1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1" name="AutoShape 1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2" name="AutoShape 1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37" name="Line 15"/>
          <p:cNvSpPr>
            <a:spLocks noChangeShapeType="1"/>
          </p:cNvSpPr>
          <p:nvPr/>
        </p:nvSpPr>
        <p:spPr bwMode="auto">
          <a:xfrm flipV="1">
            <a:off x="1760537" y="3393426"/>
            <a:ext cx="6175737" cy="2605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38" name="Text Box 16"/>
          <p:cNvSpPr txBox="1">
            <a:spLocks noChangeArrowheads="1"/>
          </p:cNvSpPr>
          <p:nvPr/>
        </p:nvSpPr>
        <p:spPr bwMode="auto">
          <a:xfrm>
            <a:off x="1919333" y="2629904"/>
            <a:ext cx="6016942" cy="707886"/>
          </a:xfrm>
          <a:prstGeom prst="rect">
            <a:avLst/>
          </a:prstGeom>
          <a:noFill/>
          <a:ln w="9525" algn="ctr">
            <a:noFill/>
            <a:miter lim="800000"/>
          </a:ln>
          <a:effectLst/>
        </p:spPr>
        <p:txBody>
          <a:bodyPr wrap="square">
            <a:spAutoFit/>
          </a:bodyPr>
          <a:lstStyle>
            <a:defPPr>
              <a:defRPr lang="zh-CN"/>
            </a:defPPr>
            <a:lvl1pPr eaLnBrk="0" hangingPunct="0">
              <a:defRPr sz="4000">
                <a:solidFill>
                  <a:srgbClr val="000000"/>
                </a:solidFill>
                <a:ea typeface="隶书" panose="02010509060101010101" pitchFamily="49" charset="-122"/>
              </a:defRPr>
            </a:lvl1pPr>
          </a:lstStyle>
          <a:p>
            <a:r>
              <a:rPr lang="zh-CN" altLang="en-US" dirty="0"/>
              <a:t>口令行为规律和口令猜测</a:t>
            </a:r>
          </a:p>
        </p:txBody>
      </p:sp>
      <p:sp>
        <p:nvSpPr>
          <p:cNvPr id="39" name="Text Box 17"/>
          <p:cNvSpPr txBox="1">
            <a:spLocks noChangeArrowheads="1"/>
          </p:cNvSpPr>
          <p:nvPr/>
        </p:nvSpPr>
        <p:spPr bwMode="gray">
          <a:xfrm>
            <a:off x="1347788" y="2908300"/>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p>
        </p:txBody>
      </p:sp>
      <p:sp>
        <p:nvSpPr>
          <p:cNvPr id="44" name="AutoShape 20"/>
          <p:cNvSpPr>
            <a:spLocks noChangeArrowheads="1"/>
          </p:cNvSpPr>
          <p:nvPr/>
        </p:nvSpPr>
        <p:spPr bwMode="gray">
          <a:xfrm>
            <a:off x="1157333" y="4184862"/>
            <a:ext cx="755605" cy="65383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5" name="AutoShape 21"/>
          <p:cNvSpPr>
            <a:spLocks noChangeArrowheads="1"/>
          </p:cNvSpPr>
          <p:nvPr/>
        </p:nvSpPr>
        <p:spPr bwMode="gray">
          <a:xfrm>
            <a:off x="1150938" y="4173538"/>
            <a:ext cx="755605" cy="65383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6" name="AutoShape 22"/>
          <p:cNvSpPr>
            <a:spLocks noChangeArrowheads="1"/>
          </p:cNvSpPr>
          <p:nvPr/>
        </p:nvSpPr>
        <p:spPr bwMode="gray">
          <a:xfrm>
            <a:off x="1195212" y="4212926"/>
            <a:ext cx="664106" cy="575062"/>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endParaRPr lang="zh-CN" altLang="en-US"/>
          </a:p>
        </p:txBody>
      </p:sp>
      <p:sp>
        <p:nvSpPr>
          <p:cNvPr id="47" name="Line 23"/>
          <p:cNvSpPr>
            <a:spLocks noChangeShapeType="1"/>
          </p:cNvSpPr>
          <p:nvPr/>
        </p:nvSpPr>
        <p:spPr bwMode="auto">
          <a:xfrm>
            <a:off x="1760538" y="4783138"/>
            <a:ext cx="6175736" cy="16174"/>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8" name="Text Box 24"/>
          <p:cNvSpPr txBox="1">
            <a:spLocks noChangeArrowheads="1"/>
          </p:cNvSpPr>
          <p:nvPr/>
        </p:nvSpPr>
        <p:spPr bwMode="auto">
          <a:xfrm>
            <a:off x="1912938" y="4054406"/>
            <a:ext cx="5840910" cy="701675"/>
          </a:xfrm>
          <a:prstGeom prst="rect">
            <a:avLst/>
          </a:prstGeom>
          <a:noFill/>
          <a:ln w="9525" algn="ctr">
            <a:noFill/>
            <a:miter lim="800000"/>
          </a:ln>
          <a:effectLst/>
        </p:spPr>
        <p:txBody>
          <a:bodyPr wrap="square">
            <a:spAutoFit/>
          </a:bodyPr>
          <a:lstStyle/>
          <a:p>
            <a:pPr eaLnBrk="0" hangingPunct="0"/>
            <a:r>
              <a:rPr lang="zh-CN" altLang="en-US" sz="4000" b="1" dirty="0">
                <a:solidFill>
                  <a:srgbClr val="000000"/>
                </a:solidFill>
                <a:ea typeface="隶书" panose="02010509060101010101" pitchFamily="49" charset="-122"/>
              </a:rPr>
              <a:t>口令破解</a:t>
            </a:r>
          </a:p>
        </p:txBody>
      </p:sp>
      <p:sp>
        <p:nvSpPr>
          <p:cNvPr id="49" name="Text Box 25"/>
          <p:cNvSpPr txBox="1">
            <a:spLocks noChangeArrowheads="1"/>
          </p:cNvSpPr>
          <p:nvPr/>
        </p:nvSpPr>
        <p:spPr bwMode="gray">
          <a:xfrm>
            <a:off x="1347788" y="42719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p>
        </p:txBody>
      </p:sp>
      <p:grpSp>
        <p:nvGrpSpPr>
          <p:cNvPr id="28" name="Group 11"/>
          <p:cNvGrpSpPr/>
          <p:nvPr/>
        </p:nvGrpSpPr>
        <p:grpSpPr bwMode="auto">
          <a:xfrm>
            <a:off x="1195212" y="5360565"/>
            <a:ext cx="762000" cy="665163"/>
            <a:chOff x="3174" y="2656"/>
            <a:chExt cx="1549" cy="1351"/>
          </a:xfrm>
        </p:grpSpPr>
        <p:sp>
          <p:nvSpPr>
            <p:cNvPr id="29" name="AutoShape 1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30" name="AutoShape 1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31" name="AutoShape 1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50" name="Line 15"/>
          <p:cNvSpPr>
            <a:spLocks noChangeShapeType="1"/>
          </p:cNvSpPr>
          <p:nvPr/>
        </p:nvSpPr>
        <p:spPr bwMode="auto">
          <a:xfrm>
            <a:off x="1804812" y="5970165"/>
            <a:ext cx="6131462" cy="16174"/>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51" name="Text Box 16"/>
          <p:cNvSpPr txBox="1">
            <a:spLocks noChangeArrowheads="1"/>
          </p:cNvSpPr>
          <p:nvPr/>
        </p:nvSpPr>
        <p:spPr bwMode="auto">
          <a:xfrm>
            <a:off x="1941471" y="5212769"/>
            <a:ext cx="5614210" cy="707886"/>
          </a:xfrm>
          <a:prstGeom prst="rect">
            <a:avLst/>
          </a:prstGeom>
          <a:noFill/>
          <a:ln w="9525" algn="ctr">
            <a:noFill/>
            <a:miter lim="800000"/>
          </a:ln>
          <a:effectLst/>
        </p:spPr>
        <p:txBody>
          <a:bodyPr wrap="square">
            <a:spAutoFit/>
          </a:bodyPr>
          <a:lstStyle/>
          <a:p>
            <a:pPr eaLnBrk="0" hangingPunct="0"/>
            <a:r>
              <a:rPr lang="zh-CN" altLang="en-US" sz="4000" dirty="0">
                <a:solidFill>
                  <a:srgbClr val="000000"/>
                </a:solidFill>
                <a:ea typeface="隶书" panose="02010509060101010101" pitchFamily="49" charset="-122"/>
              </a:rPr>
              <a:t>口令防御</a:t>
            </a:r>
            <a:endParaRPr lang="zh-CN" altLang="en-US" sz="4000" b="1" dirty="0">
              <a:solidFill>
                <a:srgbClr val="000000"/>
              </a:solidFill>
              <a:ea typeface="隶书" panose="02010509060101010101" pitchFamily="49" charset="-122"/>
            </a:endParaRPr>
          </a:p>
        </p:txBody>
      </p:sp>
      <p:sp>
        <p:nvSpPr>
          <p:cNvPr id="52" name="Text Box 17"/>
          <p:cNvSpPr txBox="1">
            <a:spLocks noChangeArrowheads="1"/>
          </p:cNvSpPr>
          <p:nvPr/>
        </p:nvSpPr>
        <p:spPr bwMode="gray">
          <a:xfrm>
            <a:off x="1378952" y="5458990"/>
            <a:ext cx="380232" cy="461665"/>
          </a:xfrm>
          <a:prstGeom prst="rect">
            <a:avLst/>
          </a:prstGeom>
          <a:noFill/>
          <a:ln w="9525" algn="ctr">
            <a:noFill/>
            <a:miter lim="800000"/>
          </a:ln>
          <a:effectLst/>
        </p:spPr>
        <p:txBody>
          <a:bodyPr wrap="none">
            <a:spAutoFit/>
          </a:bodyPr>
          <a:lstStyle/>
          <a:p>
            <a:pPr algn="ctr" eaLnBrk="0" hangingPunct="0"/>
            <a:r>
              <a:rPr lang="en-US" altLang="zh-CN" sz="2400" dirty="0">
                <a:solidFill>
                  <a:schemeClr val="bg1"/>
                </a:solidFill>
              </a:rPr>
              <a:t>4</a:t>
            </a:r>
            <a:endParaRPr lang="en-US" altLang="zh-CN" sz="2400" b="1" dirty="0">
              <a:solidFill>
                <a:schemeClr val="bg1"/>
              </a:solidFill>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0930" name="Rectangle 2"/>
          <p:cNvSpPr>
            <a:spLocks noGrp="1" noChangeArrowheads="1"/>
          </p:cNvSpPr>
          <p:nvPr>
            <p:ph type="title"/>
          </p:nvPr>
        </p:nvSpPr>
        <p:spPr/>
        <p:txBody>
          <a:bodyPr/>
          <a:lstStyle/>
          <a:p>
            <a:r>
              <a:rPr lang="zh-CN" altLang="en-US"/>
              <a:t>身份认证</a:t>
            </a:r>
          </a:p>
        </p:txBody>
      </p:sp>
      <p:sp>
        <p:nvSpPr>
          <p:cNvPr id="1660931" name="Rectangle 3"/>
          <p:cNvSpPr>
            <a:spLocks noGrp="1" noChangeArrowheads="1"/>
          </p:cNvSpPr>
          <p:nvPr>
            <p:ph type="body" idx="1"/>
          </p:nvPr>
        </p:nvSpPr>
        <p:spPr>
          <a:xfrm>
            <a:off x="457200" y="1143001"/>
            <a:ext cx="8229600" cy="5212080"/>
          </a:xfrm>
        </p:spPr>
        <p:txBody>
          <a:bodyPr/>
          <a:lstStyle/>
          <a:p>
            <a:pPr>
              <a:lnSpc>
                <a:spcPct val="120000"/>
              </a:lnSpc>
            </a:pPr>
            <a:r>
              <a:rPr lang="zh-CN" altLang="en-US" sz="2400" dirty="0"/>
              <a:t>一个系统的安全性常常依赖于对终端用户身份的正确识别与检查。对计算机系统的访问必须根据访问者的身份施加一定的限制，这些是最基本的安全问题。</a:t>
            </a:r>
          </a:p>
          <a:p>
            <a:pPr>
              <a:lnSpc>
                <a:spcPct val="120000"/>
              </a:lnSpc>
            </a:pPr>
            <a:r>
              <a:rPr lang="zh-CN" altLang="en-US" sz="2400" dirty="0"/>
              <a:t>身份认证一般涉及两方面的内容：识别和验证。</a:t>
            </a:r>
          </a:p>
          <a:p>
            <a:pPr lvl="1">
              <a:lnSpc>
                <a:spcPct val="120000"/>
              </a:lnSpc>
            </a:pPr>
            <a:r>
              <a:rPr lang="zh-CN" altLang="en-US" sz="2400" dirty="0"/>
              <a:t>识别：识别是指要明确</a:t>
            </a:r>
            <a:r>
              <a:rPr lang="zh-CN" altLang="en-US" sz="2400" dirty="0">
                <a:solidFill>
                  <a:srgbClr val="FF0000"/>
                </a:solidFill>
              </a:rPr>
              <a:t>访问者是谁</a:t>
            </a:r>
            <a:r>
              <a:rPr lang="zh-CN" altLang="en-US" sz="2400" dirty="0"/>
              <a:t>，即必须对系统中的每个合法用户都有识别能力。</a:t>
            </a:r>
          </a:p>
          <a:p>
            <a:pPr lvl="2">
              <a:lnSpc>
                <a:spcPct val="120000"/>
              </a:lnSpc>
            </a:pPr>
            <a:r>
              <a:rPr lang="zh-CN" altLang="en-US" dirty="0"/>
              <a:t>要保证识别的有效性，必须保证任意两个不同的用户都不能具有相同的识别符。 </a:t>
            </a:r>
          </a:p>
          <a:p>
            <a:pPr lvl="1">
              <a:lnSpc>
                <a:spcPct val="120000"/>
              </a:lnSpc>
            </a:pPr>
            <a:r>
              <a:rPr lang="zh-CN" altLang="en-US" sz="2400" dirty="0"/>
              <a:t>验证：验证是指在访问者声称自己的身份后</a:t>
            </a:r>
            <a:r>
              <a:rPr lang="en-US" altLang="zh-CN" sz="2400" dirty="0"/>
              <a:t>(</a:t>
            </a:r>
            <a:r>
              <a:rPr lang="zh-CN" altLang="en-US" sz="2400" dirty="0"/>
              <a:t>向系统输入它的识别符</a:t>
            </a:r>
            <a:r>
              <a:rPr lang="en-US" altLang="zh-CN" sz="2400" dirty="0"/>
              <a:t>)</a:t>
            </a:r>
            <a:r>
              <a:rPr lang="zh-CN" altLang="en-US" sz="2400" dirty="0"/>
              <a:t>，系统还必须</a:t>
            </a:r>
            <a:r>
              <a:rPr lang="zh-CN" altLang="en-US" sz="2400" dirty="0">
                <a:solidFill>
                  <a:srgbClr val="FF0000"/>
                </a:solidFill>
              </a:rPr>
              <a:t>对它所声称的身份进行验证</a:t>
            </a:r>
            <a:r>
              <a:rPr lang="zh-CN" altLang="en-US" sz="2400" dirty="0"/>
              <a:t>，以防假冒。</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2978" name="Rectangle 2"/>
          <p:cNvSpPr>
            <a:spLocks noGrp="1" noChangeArrowheads="1"/>
          </p:cNvSpPr>
          <p:nvPr>
            <p:ph type="title"/>
          </p:nvPr>
        </p:nvSpPr>
        <p:spPr/>
        <p:txBody>
          <a:bodyPr/>
          <a:lstStyle/>
          <a:p>
            <a:r>
              <a:rPr lang="zh-CN" altLang="en-US" dirty="0"/>
              <a:t>身份认证</a:t>
            </a:r>
          </a:p>
        </p:txBody>
      </p:sp>
      <p:sp>
        <p:nvSpPr>
          <p:cNvPr id="1662979" name="Rectangle 3"/>
          <p:cNvSpPr>
            <a:spLocks noGrp="1" noChangeArrowheads="1"/>
          </p:cNvSpPr>
          <p:nvPr>
            <p:ph type="body" idx="1"/>
          </p:nvPr>
        </p:nvSpPr>
        <p:spPr>
          <a:xfrm>
            <a:off x="629315" y="1598407"/>
            <a:ext cx="8042735" cy="4551669"/>
          </a:xfrm>
        </p:spPr>
        <p:txBody>
          <a:bodyPr/>
          <a:lstStyle/>
          <a:p>
            <a:r>
              <a:rPr lang="zh-CN" altLang="en-US" dirty="0"/>
              <a:t>个人身份验证方法可以分成四种类型：</a:t>
            </a:r>
          </a:p>
          <a:p>
            <a:pPr lvl="1"/>
            <a:r>
              <a:rPr lang="zh-CN" altLang="en-US" dirty="0"/>
              <a:t>所知：验证他</a:t>
            </a:r>
            <a:r>
              <a:rPr lang="zh-CN" altLang="en-US" dirty="0">
                <a:solidFill>
                  <a:srgbClr val="FF0000"/>
                </a:solidFill>
              </a:rPr>
              <a:t>知道</a:t>
            </a:r>
            <a:r>
              <a:rPr lang="zh-CN" altLang="en-US" dirty="0"/>
              <a:t>什么</a:t>
            </a:r>
            <a:r>
              <a:rPr lang="zh-CN" altLang="zh-CN" dirty="0"/>
              <a:t>，如密码、口令</a:t>
            </a:r>
            <a:endParaRPr lang="zh-CN" altLang="en-US" dirty="0"/>
          </a:p>
          <a:p>
            <a:pPr lvl="1"/>
            <a:r>
              <a:rPr lang="zh-CN" altLang="en-US" dirty="0"/>
              <a:t>所有：验证他</a:t>
            </a:r>
            <a:r>
              <a:rPr lang="zh-CN" altLang="en-US" dirty="0">
                <a:solidFill>
                  <a:srgbClr val="FF0000"/>
                </a:solidFill>
              </a:rPr>
              <a:t>拥有</a:t>
            </a:r>
            <a:r>
              <a:rPr lang="zh-CN" altLang="en-US" dirty="0"/>
              <a:t>什么，如</a:t>
            </a:r>
            <a:r>
              <a:rPr lang="zh-CN" altLang="zh-CN" dirty="0"/>
              <a:t>身份证、护照、信用卡、智能门卡</a:t>
            </a:r>
            <a:endParaRPr lang="en-US" altLang="zh-CN" dirty="0"/>
          </a:p>
          <a:p>
            <a:pPr lvl="1"/>
            <a:r>
              <a:rPr lang="zh-CN" altLang="en-US" dirty="0"/>
              <a:t>所在：验证他在什么</a:t>
            </a:r>
            <a:r>
              <a:rPr lang="zh-CN" altLang="en-US" dirty="0">
                <a:solidFill>
                  <a:srgbClr val="FF0000"/>
                </a:solidFill>
              </a:rPr>
              <a:t>位置</a:t>
            </a:r>
            <a:r>
              <a:rPr lang="zh-CN" altLang="en-US" dirty="0"/>
              <a:t>，如</a:t>
            </a:r>
            <a:r>
              <a:rPr lang="en-US" altLang="zh-CN" dirty="0"/>
              <a:t>IP</a:t>
            </a:r>
            <a:r>
              <a:rPr lang="zh-CN" altLang="en-US" dirty="0"/>
              <a:t>、办公室地址</a:t>
            </a:r>
          </a:p>
          <a:p>
            <a:pPr lvl="1"/>
            <a:r>
              <a:rPr lang="zh-CN" altLang="en-US" dirty="0"/>
              <a:t>用户特征：验证他的</a:t>
            </a:r>
            <a:r>
              <a:rPr lang="zh-CN" altLang="en-US" dirty="0">
                <a:solidFill>
                  <a:srgbClr val="FF0000"/>
                </a:solidFill>
              </a:rPr>
              <a:t>生物特征</a:t>
            </a:r>
            <a:r>
              <a:rPr lang="zh-CN" altLang="en-US" dirty="0"/>
              <a:t>（如指纹、虹膜、</a:t>
            </a:r>
            <a:r>
              <a:rPr lang="en-US" altLang="zh-CN" dirty="0"/>
              <a:t>DNA</a:t>
            </a:r>
            <a:r>
              <a:rPr lang="zh-CN" altLang="en-US" dirty="0"/>
              <a:t>等）、</a:t>
            </a:r>
            <a:r>
              <a:rPr lang="zh-CN" altLang="en-US" dirty="0">
                <a:solidFill>
                  <a:srgbClr val="FF0000"/>
                </a:solidFill>
              </a:rPr>
              <a:t>行为特征</a:t>
            </a:r>
            <a:r>
              <a:rPr lang="zh-CN" altLang="en-US" dirty="0"/>
              <a:t>（如击键、笔迹）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17806" y="1509918"/>
            <a:ext cx="7772400" cy="4114800"/>
          </a:xfrm>
        </p:spPr>
        <p:txBody>
          <a:bodyPr/>
          <a:lstStyle/>
          <a:p>
            <a:r>
              <a:rPr lang="zh-CN" altLang="en-US" dirty="0"/>
              <a:t>五种方式：</a:t>
            </a:r>
            <a:endParaRPr lang="en-US" altLang="zh-CN" dirty="0"/>
          </a:p>
          <a:p>
            <a:pPr lvl="1"/>
            <a:r>
              <a:rPr lang="zh-CN" altLang="en-US" dirty="0"/>
              <a:t>口令认证</a:t>
            </a:r>
            <a:endParaRPr lang="en-US" altLang="zh-CN" dirty="0"/>
          </a:p>
          <a:p>
            <a:pPr lvl="1"/>
            <a:r>
              <a:rPr lang="zh-CN" altLang="en-US" dirty="0"/>
              <a:t>信物认证</a:t>
            </a:r>
            <a:endParaRPr lang="en-US" altLang="zh-CN" dirty="0"/>
          </a:p>
          <a:p>
            <a:pPr lvl="1"/>
            <a:r>
              <a:rPr lang="zh-CN" altLang="en-US" dirty="0"/>
              <a:t>地址认证</a:t>
            </a:r>
            <a:endParaRPr lang="en-US" altLang="zh-CN" dirty="0"/>
          </a:p>
          <a:p>
            <a:pPr lvl="1"/>
            <a:r>
              <a:rPr lang="zh-CN" altLang="en-US" dirty="0"/>
              <a:t>用户特征认证</a:t>
            </a:r>
            <a:endParaRPr lang="en-US" altLang="zh-CN" dirty="0"/>
          </a:p>
          <a:p>
            <a:pPr lvl="1"/>
            <a:r>
              <a:rPr lang="zh-CN" altLang="en-US" dirty="0"/>
              <a:t>密码学认证</a:t>
            </a:r>
            <a:endParaRPr lang="en-US" altLang="zh-CN" dirty="0"/>
          </a:p>
          <a:p>
            <a:endParaRPr lang="zh-CN" altLang="en-US" dirty="0"/>
          </a:p>
        </p:txBody>
      </p:sp>
      <p:sp>
        <p:nvSpPr>
          <p:cNvPr id="3" name="标题 2"/>
          <p:cNvSpPr>
            <a:spLocks noGrp="1"/>
          </p:cNvSpPr>
          <p:nvPr>
            <p:ph type="title"/>
          </p:nvPr>
        </p:nvSpPr>
        <p:spPr/>
        <p:txBody>
          <a:bodyPr/>
          <a:lstStyle/>
          <a:p>
            <a:r>
              <a:rPr lang="zh-CN" altLang="en-US" dirty="0"/>
              <a:t>身份认证</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汪定</a:t>
            </a:r>
            <a:r>
              <a:rPr lang="en-US" altLang="zh-CN" dirty="0"/>
              <a:t>2015</a:t>
            </a:r>
            <a:r>
              <a:rPr lang="zh-CN" altLang="en-US" dirty="0"/>
              <a:t>：口令认证</a:t>
            </a:r>
          </a:p>
        </p:txBody>
      </p:sp>
      <p:pic>
        <p:nvPicPr>
          <p:cNvPr id="4" name="图片 3"/>
          <p:cNvPicPr>
            <a:picLocks noChangeAspect="1"/>
          </p:cNvPicPr>
          <p:nvPr/>
        </p:nvPicPr>
        <p:blipFill>
          <a:blip r:embed="rId3"/>
          <a:stretch>
            <a:fillRect/>
          </a:stretch>
        </p:blipFill>
        <p:spPr>
          <a:xfrm>
            <a:off x="1073150" y="1395413"/>
            <a:ext cx="6943725" cy="4953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汪定</a:t>
            </a:r>
            <a:r>
              <a:rPr lang="en-US" altLang="zh-CN" dirty="0"/>
              <a:t>2015</a:t>
            </a:r>
            <a:r>
              <a:rPr lang="zh-CN" altLang="en-US" dirty="0"/>
              <a:t>：口令认证</a:t>
            </a:r>
          </a:p>
        </p:txBody>
      </p:sp>
      <p:pic>
        <p:nvPicPr>
          <p:cNvPr id="4" name="图片 3"/>
          <p:cNvPicPr>
            <a:picLocks noChangeAspect="1"/>
          </p:cNvPicPr>
          <p:nvPr/>
        </p:nvPicPr>
        <p:blipFill>
          <a:blip r:embed="rId3"/>
          <a:stretch>
            <a:fillRect/>
          </a:stretch>
        </p:blipFill>
        <p:spPr>
          <a:xfrm>
            <a:off x="839788" y="1319212"/>
            <a:ext cx="7410450" cy="48482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汪定</a:t>
            </a:r>
            <a:r>
              <a:rPr lang="en-US" altLang="zh-CN" dirty="0"/>
              <a:t>2015</a:t>
            </a:r>
            <a:r>
              <a:rPr lang="zh-CN" altLang="en-US" dirty="0"/>
              <a:t>：口令认证</a:t>
            </a:r>
          </a:p>
        </p:txBody>
      </p:sp>
      <p:pic>
        <p:nvPicPr>
          <p:cNvPr id="4" name="图片 3"/>
          <p:cNvPicPr>
            <a:picLocks noChangeAspect="1"/>
          </p:cNvPicPr>
          <p:nvPr/>
        </p:nvPicPr>
        <p:blipFill>
          <a:blip r:embed="rId3"/>
          <a:stretch>
            <a:fillRect/>
          </a:stretch>
        </p:blipFill>
        <p:spPr>
          <a:xfrm>
            <a:off x="849313" y="1554163"/>
            <a:ext cx="7391400" cy="49149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汪定</a:t>
            </a:r>
            <a:r>
              <a:rPr lang="en-US" altLang="zh-CN" dirty="0"/>
              <a:t>2015</a:t>
            </a:r>
            <a:r>
              <a:rPr lang="zh-CN" altLang="en-US" dirty="0"/>
              <a:t>：口令认证</a:t>
            </a:r>
          </a:p>
        </p:txBody>
      </p:sp>
      <p:pic>
        <p:nvPicPr>
          <p:cNvPr id="4" name="图片 3"/>
          <p:cNvPicPr>
            <a:picLocks noChangeAspect="1"/>
          </p:cNvPicPr>
          <p:nvPr/>
        </p:nvPicPr>
        <p:blipFill>
          <a:blip r:embed="rId3"/>
          <a:stretch>
            <a:fillRect/>
          </a:stretch>
        </p:blipFill>
        <p:spPr>
          <a:xfrm>
            <a:off x="1151255" y="1196975"/>
            <a:ext cx="6743700" cy="4879975"/>
          </a:xfrm>
          <a:prstGeom prst="rect">
            <a:avLst/>
          </a:prstGeom>
        </p:spPr>
      </p:pic>
      <p:sp>
        <p:nvSpPr>
          <p:cNvPr id="5" name="文本框 4"/>
          <p:cNvSpPr txBox="1"/>
          <p:nvPr/>
        </p:nvSpPr>
        <p:spPr>
          <a:xfrm>
            <a:off x="805180" y="6348095"/>
            <a:ext cx="7435850" cy="368300"/>
          </a:xfrm>
          <a:prstGeom prst="rect">
            <a:avLst/>
          </a:prstGeom>
          <a:noFill/>
        </p:spPr>
        <p:txBody>
          <a:bodyPr wrap="square" rtlCol="0">
            <a:spAutoFit/>
          </a:bodyPr>
          <a:lstStyle/>
          <a:p>
            <a:r>
              <a:rPr lang="zh-CN" altLang="en-US"/>
              <a:t>文本口令具有简洁性、任意性和可更改性</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汪定</a:t>
            </a:r>
            <a:r>
              <a:rPr lang="en-US" altLang="zh-CN" dirty="0"/>
              <a:t>2015</a:t>
            </a:r>
            <a:r>
              <a:rPr lang="zh-CN" altLang="en-US" dirty="0"/>
              <a:t>：口令认证</a:t>
            </a:r>
          </a:p>
        </p:txBody>
      </p:sp>
      <p:pic>
        <p:nvPicPr>
          <p:cNvPr id="4" name="图片 3"/>
          <p:cNvPicPr>
            <a:picLocks noChangeAspect="1"/>
          </p:cNvPicPr>
          <p:nvPr/>
        </p:nvPicPr>
        <p:blipFill>
          <a:blip r:embed="rId3"/>
          <a:stretch>
            <a:fillRect/>
          </a:stretch>
        </p:blipFill>
        <p:spPr>
          <a:xfrm>
            <a:off x="928688" y="1438275"/>
            <a:ext cx="7072312" cy="4230688"/>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181226" y="2943225"/>
            <a:ext cx="5200650" cy="958850"/>
          </a:xfrm>
        </p:spPr>
        <p:txBody>
          <a:bodyPr/>
          <a:lstStyle/>
          <a:p>
            <a:r>
              <a:rPr lang="zh-CN" altLang="en-US" dirty="0">
                <a:solidFill>
                  <a:srgbClr val="C00000"/>
                </a:solidFill>
              </a:rPr>
              <a:t>一、口令认证</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30238" y="1158875"/>
            <a:ext cx="7772400" cy="5113338"/>
          </a:xfrm>
        </p:spPr>
        <p:txBody>
          <a:bodyPr/>
          <a:lstStyle/>
          <a:p>
            <a:r>
              <a:rPr lang="zh-CN" altLang="zh-CN" sz="2400" dirty="0"/>
              <a:t>用户在注册阶段生成用户名和初始口令，系统在其用户文件或数据库中保存用户的信息（用户名和口令）。当用户登录认证时，将自己的用户名和口令上传给服务器，服务器通过查询</a:t>
            </a:r>
            <a:r>
              <a:rPr lang="zh-CN" altLang="en-US" sz="2400" dirty="0"/>
              <a:t>其保存的</a:t>
            </a:r>
            <a:r>
              <a:rPr lang="zh-CN" altLang="zh-CN" sz="2400" dirty="0"/>
              <a:t>用户信息来验证用户上传的认证信息是否和保存的用户信息相匹配。如果匹配则认为用户是合法用户，否则拒绝服务，并将认证结果回传给客户端。用户定期改变口令，以保证安全性。这种口令因其实现简单、使用方便，得到了广泛的应用。</a:t>
            </a:r>
            <a:endParaRPr lang="zh-CN" altLang="en-US" sz="2400" dirty="0"/>
          </a:p>
        </p:txBody>
      </p:sp>
      <p:sp>
        <p:nvSpPr>
          <p:cNvPr id="3" name="标题 2"/>
          <p:cNvSpPr>
            <a:spLocks noGrp="1"/>
          </p:cNvSpPr>
          <p:nvPr>
            <p:ph type="title"/>
          </p:nvPr>
        </p:nvSpPr>
        <p:spPr>
          <a:xfrm>
            <a:off x="1350963" y="200025"/>
            <a:ext cx="6878637" cy="958850"/>
          </a:xfrm>
        </p:spPr>
        <p:txBody>
          <a:bodyPr/>
          <a:lstStyle/>
          <a:p>
            <a:r>
              <a:rPr lang="zh-CN" altLang="en-US" dirty="0"/>
              <a:t>静态口令</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7" name="Rectangle 2"/>
          <p:cNvSpPr>
            <a:spLocks noGrp="1" noChangeArrowheads="1"/>
          </p:cNvSpPr>
          <p:nvPr>
            <p:ph type="title"/>
          </p:nvPr>
        </p:nvSpPr>
        <p:spPr/>
        <p:txBody>
          <a:bodyPr/>
          <a:lstStyle/>
          <a:p>
            <a:pPr eaLnBrk="1" hangingPunct="1"/>
            <a:r>
              <a:rPr lang="zh-CN" altLang="en-US" dirty="0"/>
              <a:t>动态口令</a:t>
            </a:r>
          </a:p>
        </p:txBody>
      </p:sp>
      <p:sp>
        <p:nvSpPr>
          <p:cNvPr id="125958" name="Rectangle 3"/>
          <p:cNvSpPr>
            <a:spLocks noGrp="1" noChangeArrowheads="1"/>
          </p:cNvSpPr>
          <p:nvPr>
            <p:ph type="body" idx="1"/>
          </p:nvPr>
        </p:nvSpPr>
        <p:spPr>
          <a:xfrm>
            <a:off x="611188" y="1316037"/>
            <a:ext cx="7772400" cy="4751387"/>
          </a:xfrm>
        </p:spPr>
        <p:txBody>
          <a:bodyPr/>
          <a:lstStyle/>
          <a:p>
            <a:pPr eaLnBrk="1" hangingPunct="1">
              <a:lnSpc>
                <a:spcPct val="150000"/>
              </a:lnSpc>
            </a:pPr>
            <a:r>
              <a:rPr lang="zh-CN" altLang="en-US" sz="2800" dirty="0"/>
              <a:t>也称为</a:t>
            </a:r>
            <a:r>
              <a:rPr lang="zh-CN" altLang="en-US" sz="2800" dirty="0">
                <a:solidFill>
                  <a:srgbClr val="FF0000"/>
                </a:solidFill>
              </a:rPr>
              <a:t>一次性口令</a:t>
            </a:r>
            <a:r>
              <a:rPr lang="zh-CN" altLang="en-US" sz="2800" dirty="0"/>
              <a:t>，其基本原理：</a:t>
            </a:r>
            <a:r>
              <a:rPr lang="zh-CN" altLang="zh-CN" sz="2800" dirty="0"/>
              <a:t>在用户登录过程中，基于用户口令加入不确定因子，对用户口令和不确定因子进行单向散列函数变换，所得的结果作为认证数据提交给认证服务器。认证服务器接收到用户的认证数据后，把用户的认证数据和自己用同样的散列算法计算出的数值进行比对，从而实现对用户身份的认证。</a:t>
            </a:r>
            <a:endParaRPr lang="zh-CN" altLang="en-US" sz="2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1663" y="1411288"/>
            <a:ext cx="7772400" cy="4114800"/>
          </a:xfrm>
        </p:spPr>
        <p:txBody>
          <a:bodyPr/>
          <a:lstStyle/>
          <a:p>
            <a:pPr>
              <a:lnSpc>
                <a:spcPct val="150000"/>
              </a:lnSpc>
              <a:spcBef>
                <a:spcPts val="0"/>
              </a:spcBef>
            </a:pPr>
            <a:r>
              <a:rPr lang="zh-CN" altLang="zh-CN" sz="2800" dirty="0"/>
              <a:t>动态口令按生成原理可分为</a:t>
            </a:r>
            <a:r>
              <a:rPr lang="zh-CN" altLang="zh-CN" sz="2800" dirty="0">
                <a:solidFill>
                  <a:srgbClr val="FF0000"/>
                </a:solidFill>
              </a:rPr>
              <a:t>非同步</a:t>
            </a:r>
            <a:r>
              <a:rPr lang="zh-CN" altLang="zh-CN" sz="2800" dirty="0"/>
              <a:t>和</a:t>
            </a:r>
            <a:r>
              <a:rPr lang="zh-CN" altLang="zh-CN" sz="2800" dirty="0">
                <a:solidFill>
                  <a:srgbClr val="FF0000"/>
                </a:solidFill>
              </a:rPr>
              <a:t>同步</a:t>
            </a:r>
            <a:r>
              <a:rPr lang="zh-CN" altLang="zh-CN" sz="2800" dirty="0"/>
              <a:t>两种认证技术。</a:t>
            </a:r>
            <a:endParaRPr lang="en-US" altLang="zh-CN" sz="2800" dirty="0"/>
          </a:p>
          <a:p>
            <a:pPr lvl="1">
              <a:lnSpc>
                <a:spcPct val="150000"/>
              </a:lnSpc>
              <a:spcBef>
                <a:spcPts val="0"/>
              </a:spcBef>
            </a:pPr>
            <a:r>
              <a:rPr lang="zh-CN" altLang="zh-CN" sz="2400" dirty="0"/>
              <a:t>非同步认证技术生成的动态口令主要是依据</a:t>
            </a:r>
            <a:r>
              <a:rPr lang="zh-CN" altLang="zh-CN" sz="2400" dirty="0">
                <a:solidFill>
                  <a:srgbClr val="FF0000"/>
                </a:solidFill>
              </a:rPr>
              <a:t>挑战</a:t>
            </a:r>
            <a:r>
              <a:rPr lang="zh-CN" altLang="en-US" sz="2400" dirty="0">
                <a:solidFill>
                  <a:srgbClr val="FF0000"/>
                </a:solidFill>
              </a:rPr>
              <a:t>－响</a:t>
            </a:r>
            <a:r>
              <a:rPr lang="zh-CN" altLang="zh-CN" sz="2400" dirty="0">
                <a:solidFill>
                  <a:srgbClr val="FF0000"/>
                </a:solidFill>
              </a:rPr>
              <a:t>应</a:t>
            </a:r>
            <a:r>
              <a:rPr lang="zh-CN" altLang="zh-CN" sz="2400" dirty="0"/>
              <a:t>原理来实现。</a:t>
            </a:r>
            <a:endParaRPr lang="en-US" altLang="zh-CN" sz="2400" dirty="0"/>
          </a:p>
          <a:p>
            <a:pPr lvl="1">
              <a:lnSpc>
                <a:spcPct val="150000"/>
              </a:lnSpc>
              <a:spcBef>
                <a:spcPts val="0"/>
              </a:spcBef>
            </a:pPr>
            <a:r>
              <a:rPr lang="zh-CN" altLang="zh-CN" sz="2400" dirty="0"/>
              <a:t>同步认证技术包括与时间有关的</a:t>
            </a:r>
            <a:r>
              <a:rPr lang="zh-CN" altLang="zh-CN" sz="2400" dirty="0">
                <a:solidFill>
                  <a:srgbClr val="FF0000"/>
                </a:solidFill>
              </a:rPr>
              <a:t>时钟同步认证</a:t>
            </a:r>
            <a:r>
              <a:rPr lang="zh-CN" altLang="zh-CN" sz="2400" dirty="0"/>
              <a:t>技术和与时间无关的</a:t>
            </a:r>
            <a:r>
              <a:rPr lang="zh-CN" altLang="zh-CN" sz="2400" dirty="0">
                <a:solidFill>
                  <a:srgbClr val="FF0000"/>
                </a:solidFill>
              </a:rPr>
              <a:t>事件同步认证</a:t>
            </a:r>
            <a:r>
              <a:rPr lang="zh-CN" altLang="zh-CN" sz="2400" dirty="0"/>
              <a:t>技术。</a:t>
            </a:r>
          </a:p>
          <a:p>
            <a:pPr>
              <a:lnSpc>
                <a:spcPct val="150000"/>
              </a:lnSpc>
              <a:spcBef>
                <a:spcPts val="0"/>
              </a:spcBef>
            </a:pPr>
            <a:endParaRPr lang="zh-CN" altLang="en-US" sz="2800" dirty="0"/>
          </a:p>
        </p:txBody>
      </p:sp>
      <p:sp>
        <p:nvSpPr>
          <p:cNvPr id="3" name="标题 2"/>
          <p:cNvSpPr>
            <a:spLocks noGrp="1"/>
          </p:cNvSpPr>
          <p:nvPr>
            <p:ph type="title"/>
          </p:nvPr>
        </p:nvSpPr>
        <p:spPr/>
        <p:txBody>
          <a:bodyPr/>
          <a:lstStyle/>
          <a:p>
            <a:r>
              <a:rPr lang="zh-CN" altLang="en-US" dirty="0"/>
              <a:t>动态口令分类</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7" name="Rectangle 2"/>
          <p:cNvSpPr>
            <a:spLocks noGrp="1" noChangeArrowheads="1"/>
          </p:cNvSpPr>
          <p:nvPr>
            <p:ph type="title"/>
          </p:nvPr>
        </p:nvSpPr>
        <p:spPr/>
        <p:txBody>
          <a:bodyPr/>
          <a:lstStyle/>
          <a:p>
            <a:pPr eaLnBrk="1" hangingPunct="1"/>
            <a:r>
              <a:rPr lang="zh-CN" altLang="en-US" dirty="0"/>
              <a:t>动态口令认证过程</a:t>
            </a:r>
          </a:p>
        </p:txBody>
      </p:sp>
      <p:pic>
        <p:nvPicPr>
          <p:cNvPr id="131079" name="Picture 11" descr="图片1"/>
          <p:cNvPicPr>
            <a:picLocks noChangeAspect="1" noChangeArrowheads="1"/>
          </p:cNvPicPr>
          <p:nvPr/>
        </p:nvPicPr>
        <p:blipFill>
          <a:blip r:embed="rId3" cstate="print"/>
          <a:srcRect/>
          <a:stretch>
            <a:fillRect/>
          </a:stretch>
        </p:blipFill>
        <p:spPr bwMode="auto">
          <a:xfrm>
            <a:off x="1908175" y="2159000"/>
            <a:ext cx="5327650" cy="3743325"/>
          </a:xfrm>
          <a:prstGeom prst="rect">
            <a:avLst/>
          </a:prstGeom>
          <a:noFill/>
          <a:ln w="9525">
            <a:noFill/>
            <a:miter lim="800000"/>
            <a:headEnd/>
            <a:tailEnd/>
          </a:ln>
        </p:spPr>
      </p:pic>
      <p:sp>
        <p:nvSpPr>
          <p:cNvPr id="5" name="内容占位符 4"/>
          <p:cNvSpPr>
            <a:spLocks noGrp="1"/>
          </p:cNvSpPr>
          <p:nvPr>
            <p:ph idx="1"/>
          </p:nvPr>
        </p:nvSpPr>
        <p:spPr>
          <a:xfrm>
            <a:off x="687388" y="1411288"/>
            <a:ext cx="7772400" cy="4114800"/>
          </a:xfrm>
        </p:spPr>
        <p:txBody>
          <a:bodyPr/>
          <a:lstStyle/>
          <a:p>
            <a:r>
              <a:rPr lang="zh-CN" altLang="en-US" dirty="0">
                <a:solidFill>
                  <a:srgbClr val="FF0000"/>
                </a:solidFill>
              </a:rPr>
              <a:t>挑战</a:t>
            </a:r>
            <a:r>
              <a:rPr lang="en-US" altLang="zh-CN" dirty="0">
                <a:solidFill>
                  <a:srgbClr val="FF0000"/>
                </a:solidFill>
              </a:rPr>
              <a:t>—</a:t>
            </a:r>
            <a:r>
              <a:rPr lang="zh-CN" altLang="en-US" dirty="0">
                <a:solidFill>
                  <a:srgbClr val="FF0000"/>
                </a:solidFill>
              </a:rPr>
              <a:t>响应</a:t>
            </a:r>
            <a:r>
              <a:rPr lang="zh-CN" altLang="en-US" dirty="0"/>
              <a:t>机制</a:t>
            </a:r>
            <a:endParaRPr lang="en-US" altLang="zh-CN" dirty="0"/>
          </a:p>
          <a:p>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图形口令</a:t>
            </a:r>
          </a:p>
        </p:txBody>
      </p:sp>
      <p:pic>
        <p:nvPicPr>
          <p:cNvPr id="7170" name="Picture 2"/>
          <p:cNvPicPr>
            <a:picLocks noChangeAspect="1" noChangeArrowheads="1"/>
          </p:cNvPicPr>
          <p:nvPr/>
        </p:nvPicPr>
        <p:blipFill>
          <a:blip r:embed="rId3" cstate="print"/>
          <a:srcRect/>
          <a:stretch>
            <a:fillRect/>
          </a:stretch>
        </p:blipFill>
        <p:spPr bwMode="auto">
          <a:xfrm>
            <a:off x="228601" y="1362075"/>
            <a:ext cx="8667750" cy="4633913"/>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图形口令</a:t>
            </a:r>
          </a:p>
        </p:txBody>
      </p:sp>
      <p:pic>
        <p:nvPicPr>
          <p:cNvPr id="8194" name="Picture 2"/>
          <p:cNvPicPr>
            <a:picLocks noChangeAspect="1" noChangeArrowheads="1"/>
          </p:cNvPicPr>
          <p:nvPr/>
        </p:nvPicPr>
        <p:blipFill>
          <a:blip r:embed="rId3" cstate="print"/>
          <a:srcRect/>
          <a:stretch>
            <a:fillRect/>
          </a:stretch>
        </p:blipFill>
        <p:spPr bwMode="auto">
          <a:xfrm>
            <a:off x="228600" y="1190625"/>
            <a:ext cx="8686800" cy="4962526"/>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图形口令</a:t>
            </a:r>
          </a:p>
        </p:txBody>
      </p:sp>
      <p:pic>
        <p:nvPicPr>
          <p:cNvPr id="9218" name="Picture 2"/>
          <p:cNvPicPr>
            <a:picLocks noChangeAspect="1" noChangeArrowheads="1"/>
          </p:cNvPicPr>
          <p:nvPr/>
        </p:nvPicPr>
        <p:blipFill>
          <a:blip r:embed="rId3" cstate="print"/>
          <a:srcRect/>
          <a:stretch>
            <a:fillRect/>
          </a:stretch>
        </p:blipFill>
        <p:spPr bwMode="auto">
          <a:xfrm>
            <a:off x="95250" y="1276350"/>
            <a:ext cx="9010650" cy="493395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181226" y="2943225"/>
            <a:ext cx="5200650" cy="958850"/>
          </a:xfrm>
        </p:spPr>
        <p:txBody>
          <a:bodyPr/>
          <a:lstStyle/>
          <a:p>
            <a:r>
              <a:rPr lang="zh-CN" altLang="en-US" dirty="0">
                <a:solidFill>
                  <a:srgbClr val="C00000"/>
                </a:solidFill>
              </a:rPr>
              <a:t>二、密码学认证</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spcBef>
                <a:spcPts val="0"/>
              </a:spcBef>
            </a:pPr>
            <a:r>
              <a:rPr lang="zh-CN" altLang="zh-CN" dirty="0"/>
              <a:t>常用的密码学认证协议有</a:t>
            </a:r>
            <a:r>
              <a:rPr lang="zh-CN" altLang="zh-CN" dirty="0">
                <a:solidFill>
                  <a:srgbClr val="FF0000"/>
                </a:solidFill>
              </a:rPr>
              <a:t>一次性口令认证</a:t>
            </a:r>
            <a:r>
              <a:rPr lang="zh-CN" altLang="zh-CN" dirty="0"/>
              <a:t>、</a:t>
            </a:r>
            <a:r>
              <a:rPr lang="zh-CN" altLang="zh-CN" dirty="0">
                <a:solidFill>
                  <a:srgbClr val="FF0000"/>
                </a:solidFill>
              </a:rPr>
              <a:t>基于共享密钥的认证</a:t>
            </a:r>
            <a:r>
              <a:rPr lang="zh-CN" altLang="zh-CN" dirty="0"/>
              <a:t>、</a:t>
            </a:r>
            <a:r>
              <a:rPr lang="zh-CN" altLang="zh-CN" dirty="0">
                <a:solidFill>
                  <a:srgbClr val="FF0000"/>
                </a:solidFill>
              </a:rPr>
              <a:t>基于公钥证书的认证</a:t>
            </a:r>
            <a:r>
              <a:rPr lang="zh-CN" altLang="zh-CN" dirty="0"/>
              <a:t>、零知识证明和标识认证等</a:t>
            </a:r>
            <a:endParaRPr lang="zh-CN" altLang="en-US" dirty="0"/>
          </a:p>
        </p:txBody>
      </p:sp>
      <p:sp>
        <p:nvSpPr>
          <p:cNvPr id="3" name="标题 2"/>
          <p:cNvSpPr>
            <a:spLocks noGrp="1"/>
          </p:cNvSpPr>
          <p:nvPr>
            <p:ph type="title"/>
          </p:nvPr>
        </p:nvSpPr>
        <p:spPr/>
        <p:txBody>
          <a:bodyPr/>
          <a:lstStyle/>
          <a:p>
            <a:r>
              <a:rPr lang="zh-CN" altLang="en-US" dirty="0"/>
              <a:t>密码学认证</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213292" y="3343775"/>
            <a:ext cx="4879839" cy="744899"/>
          </a:xfrm>
        </p:spPr>
        <p:txBody>
          <a:bodyPr/>
          <a:lstStyle/>
          <a:p>
            <a:pPr marL="0" indent="0">
              <a:buNone/>
            </a:pPr>
            <a:r>
              <a:rPr lang="zh-CN" altLang="en-US" dirty="0">
                <a:solidFill>
                  <a:srgbClr val="C00000"/>
                </a:solidFill>
              </a:rPr>
              <a:t>（一）一次性口令认证</a:t>
            </a: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68438"/>
            <a:ext cx="7772400" cy="4114800"/>
          </a:xfrm>
        </p:spPr>
        <p:txBody>
          <a:bodyPr/>
          <a:lstStyle/>
          <a:p>
            <a:pPr>
              <a:lnSpc>
                <a:spcPct val="150000"/>
              </a:lnSpc>
              <a:spcBef>
                <a:spcPts val="0"/>
              </a:spcBef>
            </a:pPr>
            <a:r>
              <a:rPr lang="zh-CN" altLang="zh-CN" sz="2800" dirty="0"/>
              <a:t>一次性口令（</a:t>
            </a:r>
            <a:r>
              <a:rPr lang="en-US" altLang="zh-CN" sz="2800" dirty="0"/>
              <a:t>One-Time Password, OTP</a:t>
            </a:r>
            <a:r>
              <a:rPr lang="zh-CN" altLang="zh-CN" sz="2800" dirty="0"/>
              <a:t>）</a:t>
            </a:r>
            <a:r>
              <a:rPr lang="zh-CN" altLang="en-US" sz="2800" dirty="0"/>
              <a:t>，一般</a:t>
            </a:r>
            <a:r>
              <a:rPr lang="zh-CN" altLang="zh-CN" dirty="0"/>
              <a:t>使用</a:t>
            </a:r>
            <a:r>
              <a:rPr lang="zh-CN" altLang="zh-CN" dirty="0">
                <a:solidFill>
                  <a:srgbClr val="FF0000"/>
                </a:solidFill>
              </a:rPr>
              <a:t>双运算因子</a:t>
            </a:r>
            <a:r>
              <a:rPr lang="zh-CN" altLang="zh-CN" dirty="0"/>
              <a:t>来实现</a:t>
            </a:r>
            <a:endParaRPr lang="en-US" altLang="zh-CN" dirty="0"/>
          </a:p>
          <a:p>
            <a:pPr lvl="1"/>
            <a:r>
              <a:rPr lang="zh-CN" altLang="zh-CN" dirty="0">
                <a:solidFill>
                  <a:srgbClr val="FF0000"/>
                </a:solidFill>
              </a:rPr>
              <a:t>固定因子</a:t>
            </a:r>
            <a:r>
              <a:rPr lang="zh-CN" altLang="zh-CN" dirty="0"/>
              <a:t>，即用户的口令或口令散列值</a:t>
            </a:r>
            <a:endParaRPr lang="en-US" altLang="zh-CN" dirty="0"/>
          </a:p>
          <a:p>
            <a:pPr lvl="1"/>
            <a:r>
              <a:rPr lang="zh-CN" altLang="zh-CN" dirty="0">
                <a:solidFill>
                  <a:srgbClr val="FF0000"/>
                </a:solidFill>
              </a:rPr>
              <a:t>动态因子</a:t>
            </a:r>
            <a:r>
              <a:rPr lang="zh-CN" altLang="zh-CN" dirty="0"/>
              <a:t>，每次不一样的因子，如</a:t>
            </a:r>
            <a:r>
              <a:rPr lang="zh-CN" altLang="zh-CN" dirty="0">
                <a:solidFill>
                  <a:srgbClr val="FF0000"/>
                </a:solidFill>
              </a:rPr>
              <a:t>时间</a:t>
            </a:r>
            <a:r>
              <a:rPr lang="zh-CN" altLang="en-US" dirty="0"/>
              <a:t>，</a:t>
            </a:r>
            <a:r>
              <a:rPr lang="zh-CN" altLang="zh-CN" dirty="0">
                <a:solidFill>
                  <a:srgbClr val="FF0000"/>
                </a:solidFill>
              </a:rPr>
              <a:t>事件序列</a:t>
            </a:r>
            <a:r>
              <a:rPr lang="zh-CN" altLang="zh-CN" dirty="0"/>
              <a:t>，</a:t>
            </a:r>
            <a:r>
              <a:rPr lang="zh-CN" altLang="zh-CN" dirty="0">
                <a:solidFill>
                  <a:srgbClr val="FF0000"/>
                </a:solidFill>
              </a:rPr>
              <a:t>挑战</a:t>
            </a:r>
            <a:r>
              <a:rPr lang="en-US" altLang="zh-CN" dirty="0">
                <a:solidFill>
                  <a:srgbClr val="FF0000"/>
                </a:solidFill>
              </a:rPr>
              <a:t>/</a:t>
            </a:r>
            <a:r>
              <a:rPr lang="zh-CN" altLang="zh-CN" dirty="0">
                <a:solidFill>
                  <a:srgbClr val="FF0000"/>
                </a:solidFill>
              </a:rPr>
              <a:t>应答</a:t>
            </a:r>
            <a:r>
              <a:rPr lang="zh-CN" altLang="en-US" dirty="0"/>
              <a:t>（</a:t>
            </a:r>
            <a:r>
              <a:rPr lang="en-US" altLang="zh-CN" dirty="0"/>
              <a:t>challenge/response</a:t>
            </a:r>
            <a:r>
              <a:rPr lang="zh-CN" altLang="en-US" dirty="0"/>
              <a:t>）。</a:t>
            </a:r>
            <a:r>
              <a:rPr lang="zh-CN" altLang="en-US" sz="2400" dirty="0"/>
              <a:t>每种各有优缺点</a:t>
            </a:r>
          </a:p>
        </p:txBody>
      </p:sp>
      <p:sp>
        <p:nvSpPr>
          <p:cNvPr id="3" name="标题 2"/>
          <p:cNvSpPr>
            <a:spLocks noGrp="1"/>
          </p:cNvSpPr>
          <p:nvPr>
            <p:ph type="title"/>
          </p:nvPr>
        </p:nvSpPr>
        <p:spPr/>
        <p:txBody>
          <a:bodyPr/>
          <a:lstStyle/>
          <a:p>
            <a:r>
              <a:rPr lang="zh-CN" altLang="en-US" dirty="0"/>
              <a:t>一次性口令认证</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7" name="Rectangle 2"/>
          <p:cNvSpPr>
            <a:spLocks noGrp="1" noChangeArrowheads="1"/>
          </p:cNvSpPr>
          <p:nvPr>
            <p:ph type="title"/>
          </p:nvPr>
        </p:nvSpPr>
        <p:spPr/>
        <p:txBody>
          <a:bodyPr/>
          <a:lstStyle/>
          <a:p>
            <a:pPr eaLnBrk="1" hangingPunct="1"/>
            <a:r>
              <a:rPr lang="zh-CN" altLang="en-US" dirty="0"/>
              <a:t>动态口令认证过程</a:t>
            </a:r>
          </a:p>
        </p:txBody>
      </p:sp>
      <p:pic>
        <p:nvPicPr>
          <p:cNvPr id="131079" name="Picture 11" descr="图片1"/>
          <p:cNvPicPr>
            <a:picLocks noChangeAspect="1" noChangeArrowheads="1"/>
          </p:cNvPicPr>
          <p:nvPr/>
        </p:nvPicPr>
        <p:blipFill>
          <a:blip r:embed="rId2" cstate="print"/>
          <a:srcRect/>
          <a:stretch>
            <a:fillRect/>
          </a:stretch>
        </p:blipFill>
        <p:spPr bwMode="auto">
          <a:xfrm>
            <a:off x="1908175" y="2159000"/>
            <a:ext cx="5327650" cy="3743325"/>
          </a:xfrm>
          <a:prstGeom prst="rect">
            <a:avLst/>
          </a:prstGeom>
          <a:noFill/>
          <a:ln w="9525">
            <a:noFill/>
            <a:miter lim="800000"/>
            <a:headEnd/>
            <a:tailEnd/>
          </a:ln>
        </p:spPr>
      </p:pic>
      <p:sp>
        <p:nvSpPr>
          <p:cNvPr id="5" name="内容占位符 4"/>
          <p:cNvSpPr>
            <a:spLocks noGrp="1"/>
          </p:cNvSpPr>
          <p:nvPr>
            <p:ph idx="1"/>
          </p:nvPr>
        </p:nvSpPr>
        <p:spPr>
          <a:xfrm>
            <a:off x="687388" y="1411288"/>
            <a:ext cx="7772400" cy="4114800"/>
          </a:xfrm>
        </p:spPr>
        <p:txBody>
          <a:bodyPr/>
          <a:lstStyle/>
          <a:p>
            <a:r>
              <a:rPr lang="zh-CN" altLang="en-US" dirty="0">
                <a:solidFill>
                  <a:srgbClr val="FF0000"/>
                </a:solidFill>
              </a:rPr>
              <a:t>挑战</a:t>
            </a:r>
            <a:r>
              <a:rPr lang="en-US" altLang="zh-CN" dirty="0">
                <a:solidFill>
                  <a:srgbClr val="FF0000"/>
                </a:solidFill>
              </a:rPr>
              <a:t>—</a:t>
            </a:r>
            <a:r>
              <a:rPr lang="zh-CN" altLang="en-US" dirty="0">
                <a:solidFill>
                  <a:srgbClr val="FF0000"/>
                </a:solidFill>
              </a:rPr>
              <a:t>响应</a:t>
            </a:r>
            <a:r>
              <a:rPr lang="zh-CN" altLang="en-US" dirty="0"/>
              <a:t>机制</a:t>
            </a:r>
            <a:endParaRPr lang="en-US" altLang="zh-CN" dirty="0"/>
          </a:p>
          <a:p>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3244" y="1234779"/>
            <a:ext cx="7772400" cy="4114800"/>
          </a:xfrm>
        </p:spPr>
        <p:txBody>
          <a:bodyPr/>
          <a:lstStyle/>
          <a:p>
            <a:r>
              <a:rPr lang="zh-CN" altLang="en-US" dirty="0"/>
              <a:t>一次性口令认证协议</a:t>
            </a:r>
            <a:r>
              <a:rPr lang="en-US" altLang="zh-CN" dirty="0"/>
              <a:t>S/KEY</a:t>
            </a:r>
            <a:r>
              <a:rPr lang="zh-CN" altLang="en-US" dirty="0"/>
              <a:t>：</a:t>
            </a:r>
            <a:r>
              <a:rPr lang="en-US" altLang="zh-CN" dirty="0"/>
              <a:t>1991</a:t>
            </a:r>
            <a:r>
              <a:rPr lang="zh-CN" altLang="zh-CN" dirty="0"/>
              <a:t>年贝尔通信研究中心研制</a:t>
            </a:r>
            <a:endParaRPr lang="zh-CN" altLang="en-US" dirty="0"/>
          </a:p>
        </p:txBody>
      </p:sp>
      <p:sp>
        <p:nvSpPr>
          <p:cNvPr id="3" name="标题 2"/>
          <p:cNvSpPr>
            <a:spLocks noGrp="1"/>
          </p:cNvSpPr>
          <p:nvPr>
            <p:ph type="title"/>
          </p:nvPr>
        </p:nvSpPr>
        <p:spPr/>
        <p:txBody>
          <a:bodyPr/>
          <a:lstStyle/>
          <a:p>
            <a:r>
              <a:rPr lang="en-US" altLang="zh-CN"/>
              <a:t>S/KEY</a:t>
            </a:r>
            <a:endParaRPr lang="zh-CN" altLang="en-US"/>
          </a:p>
        </p:txBody>
      </p:sp>
      <p:grpSp>
        <p:nvGrpSpPr>
          <p:cNvPr id="4" name="组合 3"/>
          <p:cNvGrpSpPr/>
          <p:nvPr/>
        </p:nvGrpSpPr>
        <p:grpSpPr>
          <a:xfrm>
            <a:off x="120733" y="2560105"/>
            <a:ext cx="9193044" cy="3782076"/>
            <a:chOff x="65315" y="412651"/>
            <a:chExt cx="9193044" cy="3782076"/>
          </a:xfrm>
        </p:grpSpPr>
        <p:sp>
          <p:nvSpPr>
            <p:cNvPr id="5" name="文本框 4"/>
            <p:cNvSpPr txBox="1"/>
            <p:nvPr/>
          </p:nvSpPr>
          <p:spPr>
            <a:xfrm>
              <a:off x="65315" y="1070934"/>
              <a:ext cx="1261884" cy="369332"/>
            </a:xfrm>
            <a:prstGeom prst="rect">
              <a:avLst/>
            </a:prstGeom>
            <a:noFill/>
            <a:ln>
              <a:solidFill>
                <a:schemeClr val="tx1"/>
              </a:solidFill>
            </a:ln>
          </p:spPr>
          <p:txBody>
            <a:bodyPr wrap="none" rtlCol="0">
              <a:spAutoFit/>
            </a:bodyPr>
            <a:lstStyle/>
            <a:p>
              <a:r>
                <a:rPr lang="zh-CN" altLang="en-US" dirty="0">
                  <a:latin typeface="Times New Roman" panose="02020603050405020304" pitchFamily="18" charset="0"/>
                  <a:ea typeface="黑体" panose="02010609060101010101" pitchFamily="49" charset="-122"/>
                </a:rPr>
                <a:t>迭代值</a:t>
              </a:r>
              <a:r>
                <a:rPr lang="en-US" altLang="zh-CN" dirty="0">
                  <a:latin typeface="Times New Roman" panose="02020603050405020304" pitchFamily="18" charset="0"/>
                  <a:ea typeface="黑体" panose="02010609060101010101" pitchFamily="49" charset="-122"/>
                </a:rPr>
                <a:t>(IC)</a:t>
              </a:r>
              <a:endParaRPr lang="zh-CN" altLang="en-US" dirty="0">
                <a:latin typeface="Times New Roman" panose="02020603050405020304" pitchFamily="18" charset="0"/>
                <a:ea typeface="黑体" panose="02010609060101010101" pitchFamily="49" charset="-122"/>
              </a:endParaRPr>
            </a:p>
          </p:txBody>
        </p:sp>
        <p:sp>
          <p:nvSpPr>
            <p:cNvPr id="6" name="文本框 5"/>
            <p:cNvSpPr txBox="1"/>
            <p:nvPr/>
          </p:nvSpPr>
          <p:spPr>
            <a:xfrm>
              <a:off x="1416596" y="1070934"/>
              <a:ext cx="1326004" cy="369332"/>
            </a:xfrm>
            <a:prstGeom prst="rect">
              <a:avLst/>
            </a:prstGeom>
            <a:noFill/>
            <a:ln>
              <a:solidFill>
                <a:schemeClr val="tx1"/>
              </a:solidFill>
            </a:ln>
          </p:spPr>
          <p:txBody>
            <a:bodyPr wrap="none" rtlCol="0">
              <a:spAutoFit/>
            </a:bodyPr>
            <a:lstStyle/>
            <a:p>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种子</a:t>
              </a:r>
              <a:r>
                <a:rPr lang="en-US" altLang="zh-CN" dirty="0">
                  <a:latin typeface="Times New Roman" panose="02020603050405020304" pitchFamily="18" charset="0"/>
                  <a:ea typeface="黑体" panose="02010609060101010101" pitchFamily="49" charset="-122"/>
                </a:rPr>
                <a:t>(seed)</a:t>
              </a:r>
              <a:r>
                <a:rPr lang="zh-CN" altLang="en-US" dirty="0">
                  <a:latin typeface="Times New Roman" panose="02020603050405020304" pitchFamily="18" charset="0"/>
                  <a:ea typeface="黑体" panose="02010609060101010101" pitchFamily="49" charset="-122"/>
                </a:rPr>
                <a:t> </a:t>
              </a:r>
            </a:p>
          </p:txBody>
        </p:sp>
        <p:sp>
          <p:nvSpPr>
            <p:cNvPr id="7" name="文本框 6"/>
            <p:cNvSpPr txBox="1"/>
            <p:nvPr/>
          </p:nvSpPr>
          <p:spPr>
            <a:xfrm>
              <a:off x="65315" y="2481162"/>
              <a:ext cx="2157267" cy="369332"/>
            </a:xfrm>
            <a:prstGeom prst="rect">
              <a:avLst/>
            </a:prstGeom>
            <a:noFill/>
            <a:ln>
              <a:solidFill>
                <a:schemeClr val="tx1"/>
              </a:solidFill>
            </a:ln>
          </p:spPr>
          <p:txBody>
            <a:bodyPr wrap="square" rtlCol="0">
              <a:spAutoFit/>
            </a:bodyPr>
            <a:lstStyle/>
            <a:p>
              <a:r>
                <a:rPr lang="zh-CN" altLang="en-US" dirty="0">
                  <a:latin typeface="Times New Roman" panose="02020603050405020304" pitchFamily="18" charset="0"/>
                  <a:ea typeface="黑体" panose="02010609060101010101" pitchFamily="49" charset="-122"/>
                </a:rPr>
                <a:t>         秘密口令    </a:t>
              </a:r>
            </a:p>
          </p:txBody>
        </p:sp>
        <p:grpSp>
          <p:nvGrpSpPr>
            <p:cNvPr id="8" name="组合 7"/>
            <p:cNvGrpSpPr/>
            <p:nvPr/>
          </p:nvGrpSpPr>
          <p:grpSpPr>
            <a:xfrm>
              <a:off x="2899959" y="1453549"/>
              <a:ext cx="640080" cy="540714"/>
              <a:chOff x="2690949" y="2733709"/>
              <a:chExt cx="640080" cy="540714"/>
            </a:xfrm>
          </p:grpSpPr>
          <p:sp>
            <p:nvSpPr>
              <p:cNvPr id="32" name="椭圆 31"/>
              <p:cNvSpPr/>
              <p:nvPr/>
            </p:nvSpPr>
            <p:spPr>
              <a:xfrm>
                <a:off x="2690949" y="2733709"/>
                <a:ext cx="640080" cy="54071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p:cNvCxnSpPr/>
              <p:nvPr/>
            </p:nvCxnSpPr>
            <p:spPr>
              <a:xfrm>
                <a:off x="2899954" y="2847311"/>
                <a:ext cx="0" cy="3135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3111137" y="2847310"/>
                <a:ext cx="0" cy="31350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083053" y="1537453"/>
              <a:ext cx="1415772" cy="369332"/>
            </a:xfrm>
            <a:prstGeom prst="rect">
              <a:avLst/>
            </a:prstGeom>
            <a:noFill/>
            <a:ln>
              <a:solidFill>
                <a:schemeClr val="tx1"/>
              </a:solidFill>
            </a:ln>
          </p:spPr>
          <p:txBody>
            <a:bodyPr wrap="none" rtlCol="0">
              <a:spAutoFit/>
            </a:bodyPr>
            <a:lstStyle/>
            <a:p>
              <a:r>
                <a:rPr lang="zh-CN" altLang="en-US" dirty="0">
                  <a:latin typeface="Times New Roman" panose="02020603050405020304" pitchFamily="18" charset="0"/>
                  <a:ea typeface="黑体" panose="02010609060101010101" pitchFamily="49" charset="-122"/>
                </a:rPr>
                <a:t>  散列函数</a:t>
              </a:r>
              <a:r>
                <a:rPr lang="en-US" altLang="zh-CN" dirty="0">
                  <a:latin typeface="Times New Roman" panose="02020603050405020304" pitchFamily="18" charset="0"/>
                  <a:ea typeface="黑体" panose="02010609060101010101" pitchFamily="49" charset="-122"/>
                </a:rPr>
                <a:t>f</a:t>
              </a:r>
              <a:r>
                <a:rPr lang="zh-CN" altLang="en-US" dirty="0">
                  <a:latin typeface="Times New Roman" panose="02020603050405020304" pitchFamily="18" charset="0"/>
                  <a:ea typeface="黑体" panose="02010609060101010101" pitchFamily="49" charset="-122"/>
                </a:rPr>
                <a:t>  </a:t>
              </a:r>
            </a:p>
          </p:txBody>
        </p:sp>
        <p:sp>
          <p:nvSpPr>
            <p:cNvPr id="10" name="文本框 9"/>
            <p:cNvSpPr txBox="1"/>
            <p:nvPr/>
          </p:nvSpPr>
          <p:spPr>
            <a:xfrm>
              <a:off x="6085071" y="1537453"/>
              <a:ext cx="1140056" cy="369332"/>
            </a:xfrm>
            <a:prstGeom prst="rect">
              <a:avLst/>
            </a:prstGeom>
            <a:noFill/>
            <a:ln>
              <a:solidFill>
                <a:schemeClr val="tx1"/>
              </a:solidFill>
            </a:ln>
          </p:spPr>
          <p:txBody>
            <a:bodyPr wrap="none" rtlCol="0">
              <a:spAutoFit/>
            </a:bodyPr>
            <a:lstStyle/>
            <a:p>
              <a:r>
                <a:rPr lang="zh-CN" altLang="en-US" dirty="0">
                  <a:latin typeface="Times New Roman" panose="02020603050405020304" pitchFamily="18" charset="0"/>
                  <a:ea typeface="黑体" panose="02010609060101010101" pitchFamily="49" charset="-122"/>
                </a:rPr>
                <a:t> </a:t>
              </a:r>
              <a:r>
                <a:rPr lang="en-US" altLang="zh-CN" dirty="0">
                  <a:latin typeface="Times New Roman" panose="02020603050405020304" pitchFamily="18" charset="0"/>
                  <a:ea typeface="黑体" panose="02010609060101010101" pitchFamily="49" charset="-122"/>
                </a:rPr>
                <a:t>64</a:t>
              </a:r>
              <a:r>
                <a:rPr lang="zh-CN" altLang="en-US" dirty="0">
                  <a:latin typeface="Times New Roman" panose="02020603050405020304" pitchFamily="18" charset="0"/>
                  <a:ea typeface="黑体" panose="02010609060101010101" pitchFamily="49" charset="-122"/>
                </a:rPr>
                <a:t>位</a:t>
              </a:r>
              <a:r>
                <a:rPr lang="en-US" altLang="zh-CN" dirty="0">
                  <a:latin typeface="Times New Roman" panose="02020603050405020304" pitchFamily="18" charset="0"/>
                  <a:ea typeface="黑体" panose="02010609060101010101" pitchFamily="49" charset="-122"/>
                </a:rPr>
                <a:t>OTP</a:t>
              </a:r>
              <a:endParaRPr lang="zh-CN" altLang="en-US" dirty="0">
                <a:latin typeface="Times New Roman" panose="02020603050405020304" pitchFamily="18" charset="0"/>
                <a:ea typeface="黑体" panose="02010609060101010101" pitchFamily="49" charset="-122"/>
              </a:endParaRPr>
            </a:p>
          </p:txBody>
        </p:sp>
        <p:sp>
          <p:nvSpPr>
            <p:cNvPr id="11" name="文本框 10"/>
            <p:cNvSpPr txBox="1"/>
            <p:nvPr/>
          </p:nvSpPr>
          <p:spPr>
            <a:xfrm>
              <a:off x="4595946" y="3086731"/>
              <a:ext cx="4172703" cy="369332"/>
            </a:xfrm>
            <a:prstGeom prst="rect">
              <a:avLst/>
            </a:prstGeom>
            <a:noFill/>
            <a:ln>
              <a:solidFill>
                <a:schemeClr val="tx1"/>
              </a:solidFill>
            </a:ln>
          </p:spPr>
          <p:txBody>
            <a:bodyPr wrap="square" rtlCol="0">
              <a:spAutoFit/>
            </a:bodyPr>
            <a:lstStyle/>
            <a:p>
              <a:endParaRPr lang="zh-CN" altLang="en-US" dirty="0">
                <a:latin typeface="Times New Roman" panose="02020603050405020304" pitchFamily="18" charset="0"/>
                <a:ea typeface="黑体" panose="02010609060101010101" pitchFamily="49" charset="-122"/>
              </a:endParaRPr>
            </a:p>
          </p:txBody>
        </p:sp>
        <p:cxnSp>
          <p:nvCxnSpPr>
            <p:cNvPr id="12" name="直接连接符 11"/>
            <p:cNvCxnSpPr/>
            <p:nvPr/>
          </p:nvCxnSpPr>
          <p:spPr>
            <a:xfrm>
              <a:off x="2224760" y="2665828"/>
              <a:ext cx="9952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950373" y="781984"/>
              <a:ext cx="0" cy="3022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950373" y="781984"/>
              <a:ext cx="126962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19999" y="781984"/>
              <a:ext cx="0" cy="6715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222177" y="1994263"/>
              <a:ext cx="0" cy="6715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32" idx="6"/>
              <a:endCxn id="9" idx="1"/>
            </p:cNvCxnSpPr>
            <p:nvPr/>
          </p:nvCxnSpPr>
          <p:spPr>
            <a:xfrm flipV="1">
              <a:off x="3540039" y="1722119"/>
              <a:ext cx="543014" cy="178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5520441" y="1736660"/>
              <a:ext cx="543014" cy="178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5791948" y="1050554"/>
              <a:ext cx="0" cy="6715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811546" y="1050554"/>
              <a:ext cx="198040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3811546" y="1050553"/>
              <a:ext cx="0" cy="671565"/>
            </a:xfrm>
            <a:prstGeom prst="line">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34524" y="412652"/>
              <a:ext cx="0" cy="6715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634524" y="412651"/>
              <a:ext cx="41672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801747" y="412651"/>
              <a:ext cx="0" cy="637902"/>
            </a:xfrm>
            <a:prstGeom prst="line">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8360226" y="3112857"/>
              <a:ext cx="3" cy="36933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左大括号 25"/>
            <p:cNvSpPr/>
            <p:nvPr/>
          </p:nvSpPr>
          <p:spPr>
            <a:xfrm rot="5400000">
              <a:off x="6476590" y="786903"/>
              <a:ext cx="357019" cy="411830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文本框 26"/>
            <p:cNvSpPr txBox="1"/>
            <p:nvPr/>
          </p:nvSpPr>
          <p:spPr>
            <a:xfrm>
              <a:off x="5593363" y="2467000"/>
              <a:ext cx="2519880" cy="369332"/>
            </a:xfrm>
            <a:prstGeom prst="rect">
              <a:avLst/>
            </a:prstGeom>
            <a:noFill/>
            <a:ln>
              <a:noFill/>
            </a:ln>
          </p:spPr>
          <p:txBody>
            <a:bodyPr wrap="square" rtlCol="0">
              <a:spAutoFit/>
            </a:bodyPr>
            <a:lstStyle/>
            <a:p>
              <a:r>
                <a:rPr lang="en-US" altLang="zh-CN" dirty="0">
                  <a:latin typeface="Times New Roman" panose="02020603050405020304" pitchFamily="18" charset="0"/>
                  <a:ea typeface="黑体" panose="02010609060101010101" pitchFamily="49" charset="-122"/>
                </a:rPr>
                <a:t>6 </a:t>
              </a:r>
              <a:r>
                <a:rPr lang="zh-CN" altLang="en-US" dirty="0">
                  <a:latin typeface="Times New Roman" panose="02020603050405020304" pitchFamily="18" charset="0"/>
                  <a:ea typeface="黑体" panose="02010609060101010101" pitchFamily="49" charset="-122"/>
                </a:rPr>
                <a:t>个单词 （每个</a:t>
              </a:r>
              <a:r>
                <a:rPr lang="en-US" altLang="zh-CN" dirty="0">
                  <a:latin typeface="Times New Roman" panose="02020603050405020304" pitchFamily="18" charset="0"/>
                  <a:ea typeface="黑体" panose="02010609060101010101" pitchFamily="49" charset="-122"/>
                </a:rPr>
                <a:t>11</a:t>
              </a:r>
              <a:r>
                <a:rPr lang="zh-CN" altLang="en-US" dirty="0">
                  <a:latin typeface="Times New Roman" panose="02020603050405020304" pitchFamily="18" charset="0"/>
                  <a:ea typeface="黑体" panose="02010609060101010101" pitchFamily="49" charset="-122"/>
                </a:rPr>
                <a:t>位）</a:t>
              </a:r>
            </a:p>
          </p:txBody>
        </p:sp>
        <p:sp>
          <p:nvSpPr>
            <p:cNvPr id="28" name="文本框 27"/>
            <p:cNvSpPr txBox="1"/>
            <p:nvPr/>
          </p:nvSpPr>
          <p:spPr>
            <a:xfrm>
              <a:off x="7849238" y="3825395"/>
              <a:ext cx="1409121" cy="369332"/>
            </a:xfrm>
            <a:prstGeom prst="rect">
              <a:avLst/>
            </a:prstGeom>
            <a:noFill/>
            <a:ln>
              <a:noFill/>
            </a:ln>
          </p:spPr>
          <p:txBody>
            <a:bodyPr wrap="square" rtlCol="0">
              <a:spAutoFit/>
            </a:bodyPr>
            <a:lstStyle/>
            <a:p>
              <a:r>
                <a:rPr lang="en-US" altLang="zh-CN" dirty="0">
                  <a:latin typeface="Times New Roman" panose="02020603050405020304" pitchFamily="18" charset="0"/>
                  <a:ea typeface="黑体" panose="02010609060101010101" pitchFamily="49" charset="-122"/>
                </a:rPr>
                <a:t>2 </a:t>
              </a:r>
              <a:r>
                <a:rPr lang="zh-CN" altLang="en-US" dirty="0">
                  <a:latin typeface="Times New Roman" panose="02020603050405020304" pitchFamily="18" charset="0"/>
                  <a:ea typeface="黑体" panose="02010609060101010101" pitchFamily="49" charset="-122"/>
                </a:rPr>
                <a:t>位检验和</a:t>
              </a:r>
            </a:p>
          </p:txBody>
        </p:sp>
        <p:cxnSp>
          <p:nvCxnSpPr>
            <p:cNvPr id="29" name="直接箭头连接符 28"/>
            <p:cNvCxnSpPr>
              <a:stCxn id="10" idx="2"/>
            </p:cNvCxnSpPr>
            <p:nvPr/>
          </p:nvCxnSpPr>
          <p:spPr>
            <a:xfrm>
              <a:off x="6655099" y="1906785"/>
              <a:ext cx="0" cy="57437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8553798" y="3297523"/>
              <a:ext cx="1" cy="5155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6696236" y="2018331"/>
              <a:ext cx="687935" cy="369332"/>
            </a:xfrm>
            <a:prstGeom prst="rect">
              <a:avLst/>
            </a:prstGeom>
            <a:noFill/>
            <a:ln>
              <a:noFill/>
            </a:ln>
          </p:spPr>
          <p:txBody>
            <a:bodyPr wrap="square" rtlCol="0">
              <a:spAutoFit/>
            </a:bodyPr>
            <a:lstStyle/>
            <a:p>
              <a:r>
                <a:rPr lang="zh-CN" altLang="en-US" dirty="0">
                  <a:latin typeface="Times New Roman" panose="02020603050405020304" pitchFamily="18" charset="0"/>
                  <a:ea typeface="黑体" panose="02010609060101010101" pitchFamily="49" charset="-122"/>
                </a:rPr>
                <a:t>编码</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37139" y="1401764"/>
            <a:ext cx="8506835" cy="4933722"/>
          </a:xfrm>
        </p:spPr>
        <p:txBody>
          <a:bodyPr/>
          <a:lstStyle/>
          <a:p>
            <a:pPr>
              <a:lnSpc>
                <a:spcPts val="4300"/>
              </a:lnSpc>
              <a:spcBef>
                <a:spcPts val="0"/>
              </a:spcBef>
            </a:pPr>
            <a:r>
              <a:rPr lang="zh-CN" altLang="en-US" sz="2800" dirty="0"/>
              <a:t>基本原理</a:t>
            </a:r>
            <a:endParaRPr lang="en-US" altLang="zh-CN" sz="2800" dirty="0"/>
          </a:p>
          <a:p>
            <a:pPr lvl="1">
              <a:lnSpc>
                <a:spcPts val="4300"/>
              </a:lnSpc>
              <a:spcBef>
                <a:spcPts val="0"/>
              </a:spcBef>
            </a:pPr>
            <a:r>
              <a:rPr lang="en-US" altLang="zh-CN" sz="2400" dirty="0"/>
              <a:t>S/KEY</a:t>
            </a:r>
            <a:r>
              <a:rPr lang="zh-CN" altLang="zh-CN" sz="2400" dirty="0"/>
              <a:t>中，服务器产生挑战（</a:t>
            </a:r>
            <a:r>
              <a:rPr lang="en-US" altLang="zh-CN" sz="2400" dirty="0"/>
              <a:t>challenge</a:t>
            </a:r>
            <a:r>
              <a:rPr lang="zh-CN" altLang="zh-CN" sz="2400" dirty="0"/>
              <a:t>）信息。挑战信息由迭代值（</a:t>
            </a:r>
            <a:r>
              <a:rPr lang="en-US" altLang="zh-CN" sz="2400" dirty="0"/>
              <a:t>Iteration Count, IC</a:t>
            </a:r>
            <a:r>
              <a:rPr lang="zh-CN" altLang="zh-CN" sz="2400" dirty="0"/>
              <a:t>）和种子（</a:t>
            </a:r>
            <a:r>
              <a:rPr lang="en-US" altLang="zh-CN" sz="2400" dirty="0"/>
              <a:t>seed</a:t>
            </a:r>
            <a:r>
              <a:rPr lang="zh-CN" altLang="zh-CN" sz="2400" dirty="0"/>
              <a:t>）组成。迭代值，指定散列计算的迭代次数，为</a:t>
            </a:r>
            <a:r>
              <a:rPr lang="en-US" altLang="zh-CN" sz="2400" dirty="0"/>
              <a:t>1~100</a:t>
            </a:r>
            <a:r>
              <a:rPr lang="zh-CN" altLang="zh-CN" sz="2400" dirty="0"/>
              <a:t>之间的数，每执行一次挑战</a:t>
            </a:r>
            <a:r>
              <a:rPr lang="en-US" altLang="zh-CN" sz="2400" dirty="0"/>
              <a:t>/</a:t>
            </a:r>
            <a:r>
              <a:rPr lang="zh-CN" altLang="zh-CN" sz="2400" dirty="0"/>
              <a:t>响应过程，</a:t>
            </a:r>
            <a:r>
              <a:rPr lang="en-US" altLang="zh-CN" sz="2400" dirty="0"/>
              <a:t>IC</a:t>
            </a:r>
            <a:r>
              <a:rPr lang="zh-CN" altLang="zh-CN" sz="2400" dirty="0"/>
              <a:t>减</a:t>
            </a:r>
            <a:r>
              <a:rPr lang="en-US" altLang="zh-CN" sz="2400" dirty="0"/>
              <a:t>1</a:t>
            </a:r>
            <a:r>
              <a:rPr lang="zh-CN" altLang="zh-CN" sz="2400" dirty="0"/>
              <a:t>（当</a:t>
            </a:r>
            <a:r>
              <a:rPr lang="en-US" altLang="zh-CN" sz="2400" dirty="0"/>
              <a:t>IC</a:t>
            </a:r>
            <a:r>
              <a:rPr lang="zh-CN" altLang="zh-CN" sz="2400" dirty="0"/>
              <a:t>为</a:t>
            </a:r>
            <a:r>
              <a:rPr lang="en-US" altLang="zh-CN" sz="2400" dirty="0"/>
              <a:t>1</a:t>
            </a:r>
            <a:r>
              <a:rPr lang="zh-CN" altLang="zh-CN" sz="2400" dirty="0"/>
              <a:t>时，则必须重新进行初始化）。种子由两个字母和</a:t>
            </a:r>
            <a:r>
              <a:rPr lang="en-US" altLang="zh-CN" sz="2400" dirty="0"/>
              <a:t>5</a:t>
            </a:r>
            <a:r>
              <a:rPr lang="zh-CN" altLang="zh-CN" sz="2400" dirty="0"/>
              <a:t>个数字组成。例如，挑战信息“</a:t>
            </a:r>
            <a:r>
              <a:rPr lang="en-US" altLang="zh-CN" sz="2400" dirty="0"/>
              <a:t>05 xa13783</a:t>
            </a:r>
            <a:r>
              <a:rPr lang="zh-CN" altLang="zh-CN" sz="2400" dirty="0"/>
              <a:t>”表示迭代值为</a:t>
            </a:r>
            <a:r>
              <a:rPr lang="en-US" altLang="zh-CN" sz="2400" dirty="0"/>
              <a:t>05</a:t>
            </a:r>
            <a:r>
              <a:rPr lang="zh-CN" altLang="zh-CN" sz="2400" dirty="0"/>
              <a:t>，种子为“</a:t>
            </a:r>
            <a:r>
              <a:rPr lang="en-US" altLang="zh-CN" sz="2400" dirty="0"/>
              <a:t>xa13783</a:t>
            </a:r>
            <a:r>
              <a:rPr lang="zh-CN" altLang="zh-CN" sz="2400" dirty="0"/>
              <a:t>”。客户端收到挑战后，要将秘密口令与种子“</a:t>
            </a:r>
            <a:r>
              <a:rPr lang="en-US" altLang="zh-CN" sz="2400" dirty="0"/>
              <a:t>xa13783</a:t>
            </a:r>
            <a:r>
              <a:rPr lang="zh-CN" altLang="zh-CN" sz="2400" dirty="0"/>
              <a:t>”拼接后，做</a:t>
            </a:r>
            <a:r>
              <a:rPr lang="en-US" altLang="zh-CN" sz="2400" dirty="0"/>
              <a:t>5</a:t>
            </a:r>
            <a:r>
              <a:rPr lang="zh-CN" altLang="zh-CN" sz="2400" dirty="0"/>
              <a:t>次散列运算。</a:t>
            </a:r>
          </a:p>
          <a:p>
            <a:pPr lvl="1">
              <a:lnSpc>
                <a:spcPts val="4300"/>
              </a:lnSpc>
              <a:spcBef>
                <a:spcPts val="0"/>
              </a:spcBef>
            </a:pPr>
            <a:endParaRPr lang="zh-CN" altLang="en-US" sz="2400" dirty="0"/>
          </a:p>
        </p:txBody>
      </p:sp>
      <p:sp>
        <p:nvSpPr>
          <p:cNvPr id="3" name="标题 2"/>
          <p:cNvSpPr>
            <a:spLocks noGrp="1"/>
          </p:cNvSpPr>
          <p:nvPr>
            <p:ph type="title"/>
          </p:nvPr>
        </p:nvSpPr>
        <p:spPr/>
        <p:txBody>
          <a:bodyPr/>
          <a:lstStyle/>
          <a:p>
            <a:r>
              <a:rPr lang="en-US" altLang="zh-CN" dirty="0"/>
              <a:t>S/KEY</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37139" y="1401764"/>
            <a:ext cx="8506835" cy="4933722"/>
          </a:xfrm>
        </p:spPr>
        <p:txBody>
          <a:bodyPr/>
          <a:lstStyle/>
          <a:p>
            <a:pPr>
              <a:lnSpc>
                <a:spcPts val="4300"/>
              </a:lnSpc>
              <a:spcBef>
                <a:spcPts val="0"/>
              </a:spcBef>
            </a:pPr>
            <a:r>
              <a:rPr lang="zh-CN" altLang="en-US" sz="2800" dirty="0"/>
              <a:t>基本原理</a:t>
            </a:r>
            <a:endParaRPr lang="en-US" altLang="zh-CN" sz="2800" dirty="0"/>
          </a:p>
          <a:p>
            <a:pPr lvl="1">
              <a:lnSpc>
                <a:spcPts val="4300"/>
              </a:lnSpc>
              <a:spcBef>
                <a:spcPts val="0"/>
              </a:spcBef>
            </a:pPr>
            <a:r>
              <a:rPr lang="en-US" altLang="zh-CN" sz="2400" dirty="0"/>
              <a:t>S/KEY</a:t>
            </a:r>
            <a:r>
              <a:rPr lang="zh-CN" altLang="en-US" sz="2400" dirty="0"/>
              <a:t>中支持三种散列函数，即</a:t>
            </a:r>
            <a:r>
              <a:rPr lang="en-US" altLang="zh-CN" sz="2400" dirty="0"/>
              <a:t>MD4, MD5</a:t>
            </a:r>
            <a:r>
              <a:rPr lang="zh-CN" altLang="en-US" sz="2400" dirty="0"/>
              <a:t>和</a:t>
            </a:r>
            <a:r>
              <a:rPr lang="en-US" altLang="zh-CN" sz="2400" dirty="0"/>
              <a:t>SHA</a:t>
            </a:r>
            <a:r>
              <a:rPr lang="zh-CN" altLang="en-US" sz="2400" dirty="0"/>
              <a:t>。</a:t>
            </a:r>
            <a:r>
              <a:rPr lang="en-US" altLang="zh-CN" sz="2400" dirty="0"/>
              <a:t>OTP</a:t>
            </a:r>
            <a:r>
              <a:rPr lang="zh-CN" altLang="en-US" sz="2400" dirty="0"/>
              <a:t>服务器将散列函数的固定输出折叠成</a:t>
            </a:r>
            <a:r>
              <a:rPr lang="en-US" altLang="zh-CN" sz="2400" dirty="0"/>
              <a:t>64</a:t>
            </a:r>
            <a:r>
              <a:rPr lang="zh-CN" altLang="en-US" sz="2400" dirty="0"/>
              <a:t>位（</a:t>
            </a:r>
            <a:r>
              <a:rPr lang="en-US" altLang="zh-CN" sz="2400" dirty="0"/>
              <a:t>OTP</a:t>
            </a:r>
            <a:r>
              <a:rPr lang="zh-CN" altLang="en-US" sz="2400" dirty="0"/>
              <a:t>的长度）</a:t>
            </a:r>
            <a:r>
              <a:rPr lang="zh-CN" altLang="zh-CN" sz="2400" dirty="0"/>
              <a:t>。</a:t>
            </a:r>
            <a:r>
              <a:rPr lang="en-US" altLang="zh-CN" sz="2400" dirty="0"/>
              <a:t>64</a:t>
            </a:r>
            <a:r>
              <a:rPr lang="zh-CN" altLang="en-US" sz="2400" dirty="0"/>
              <a:t>位</a:t>
            </a:r>
            <a:r>
              <a:rPr lang="en-US" altLang="zh-CN" sz="2400" dirty="0"/>
              <a:t>OTP</a:t>
            </a:r>
            <a:r>
              <a:rPr lang="zh-CN" altLang="en-US" sz="2400" dirty="0"/>
              <a:t>可以被转换为一个由</a:t>
            </a:r>
            <a:r>
              <a:rPr lang="en-US" altLang="zh-CN" sz="2400" dirty="0"/>
              <a:t>6</a:t>
            </a:r>
            <a:r>
              <a:rPr lang="zh-CN" altLang="en-US" sz="2400" dirty="0"/>
              <a:t>个英文单词组成的短语，每个单词由</a:t>
            </a:r>
            <a:r>
              <a:rPr lang="en-US" altLang="zh-CN" sz="2400" dirty="0"/>
              <a:t>1~4</a:t>
            </a:r>
            <a:r>
              <a:rPr lang="zh-CN" altLang="en-US" sz="2400" dirty="0"/>
              <a:t>个字母组成，被编码成</a:t>
            </a:r>
            <a:r>
              <a:rPr lang="en-US" altLang="zh-CN" sz="2400" dirty="0"/>
              <a:t>11</a:t>
            </a:r>
            <a:r>
              <a:rPr lang="zh-CN" altLang="en-US" sz="2400" dirty="0"/>
              <a:t>位，</a:t>
            </a:r>
            <a:r>
              <a:rPr lang="en-US" altLang="zh-CN" sz="2400" dirty="0"/>
              <a:t>6</a:t>
            </a:r>
            <a:r>
              <a:rPr lang="zh-CN" altLang="en-US" sz="2400" dirty="0"/>
              <a:t>个单词共</a:t>
            </a:r>
            <a:r>
              <a:rPr lang="en-US" altLang="zh-CN" sz="2400" dirty="0"/>
              <a:t>66</a:t>
            </a:r>
            <a:r>
              <a:rPr lang="zh-CN" altLang="en-US" sz="2400" dirty="0"/>
              <a:t>位，其中最后</a:t>
            </a:r>
            <a:r>
              <a:rPr lang="en-US" altLang="zh-CN" sz="2400" dirty="0"/>
              <a:t>2</a:t>
            </a:r>
            <a:r>
              <a:rPr lang="zh-CN" altLang="en-US" sz="2400" dirty="0"/>
              <a:t>位（</a:t>
            </a:r>
            <a:r>
              <a:rPr lang="en-US" altLang="zh-CN" sz="2400" dirty="0"/>
              <a:t>11*6 - 64 = 2</a:t>
            </a:r>
            <a:r>
              <a:rPr lang="zh-CN" altLang="en-US" sz="2400" dirty="0"/>
              <a:t>）用于存储校验和。</a:t>
            </a:r>
          </a:p>
        </p:txBody>
      </p:sp>
      <p:sp>
        <p:nvSpPr>
          <p:cNvPr id="3" name="标题 2"/>
          <p:cNvSpPr>
            <a:spLocks noGrp="1"/>
          </p:cNvSpPr>
          <p:nvPr>
            <p:ph type="title"/>
          </p:nvPr>
        </p:nvSpPr>
        <p:spPr/>
        <p:txBody>
          <a:bodyPr/>
          <a:lstStyle/>
          <a:p>
            <a:r>
              <a:rPr lang="en-US" altLang="zh-CN" dirty="0"/>
              <a:t>S/KEY</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37139" y="1401764"/>
            <a:ext cx="8506835" cy="4933722"/>
          </a:xfrm>
        </p:spPr>
        <p:txBody>
          <a:bodyPr/>
          <a:lstStyle/>
          <a:p>
            <a:pPr>
              <a:lnSpc>
                <a:spcPts val="4300"/>
              </a:lnSpc>
              <a:spcBef>
                <a:spcPts val="0"/>
              </a:spcBef>
            </a:pPr>
            <a:r>
              <a:rPr lang="zh-CN" altLang="en-US" sz="2800" dirty="0"/>
              <a:t>基本原理</a:t>
            </a:r>
            <a:endParaRPr lang="en-US" altLang="zh-CN" sz="2800" dirty="0"/>
          </a:p>
        </p:txBody>
      </p:sp>
      <p:sp>
        <p:nvSpPr>
          <p:cNvPr id="3" name="标题 2"/>
          <p:cNvSpPr>
            <a:spLocks noGrp="1"/>
          </p:cNvSpPr>
          <p:nvPr>
            <p:ph type="title"/>
          </p:nvPr>
        </p:nvSpPr>
        <p:spPr/>
        <p:txBody>
          <a:bodyPr/>
          <a:lstStyle/>
          <a:p>
            <a:r>
              <a:rPr lang="en-US" altLang="zh-CN" dirty="0"/>
              <a:t>S/KEY</a:t>
            </a:r>
            <a:endParaRPr lang="zh-CN" altLang="en-US" dirty="0"/>
          </a:p>
        </p:txBody>
      </p:sp>
      <p:pic>
        <p:nvPicPr>
          <p:cNvPr id="4" name="图片 3"/>
          <p:cNvPicPr>
            <a:picLocks noChangeAspect="1"/>
          </p:cNvPicPr>
          <p:nvPr/>
        </p:nvPicPr>
        <p:blipFill>
          <a:blip r:embed="rId2"/>
          <a:stretch>
            <a:fillRect/>
          </a:stretch>
        </p:blipFill>
        <p:spPr>
          <a:xfrm>
            <a:off x="326571" y="2420620"/>
            <a:ext cx="8343083" cy="2778397"/>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5750" y="1345158"/>
            <a:ext cx="7772400" cy="4114800"/>
          </a:xfrm>
        </p:spPr>
        <p:txBody>
          <a:bodyPr/>
          <a:lstStyle/>
          <a:p>
            <a:r>
              <a:rPr lang="zh-CN" altLang="en-US" sz="2800" dirty="0"/>
              <a:t>安全性分析</a:t>
            </a:r>
            <a:endParaRPr lang="en-US" altLang="zh-CN" sz="2800" dirty="0"/>
          </a:p>
          <a:p>
            <a:pPr lvl="1"/>
            <a:r>
              <a:rPr lang="zh-CN" altLang="zh-CN" sz="2400" dirty="0"/>
              <a:t>用户的秘密口令没有在网络上传输，传输的只是一次性口令，并且一次性口令即使在传输过程中被窃取，也不能再次使用；</a:t>
            </a:r>
            <a:endParaRPr lang="en-US" altLang="zh-CN" sz="2400" dirty="0"/>
          </a:p>
          <a:p>
            <a:pPr lvl="1"/>
            <a:r>
              <a:rPr lang="zh-CN" altLang="zh-CN" sz="2400" dirty="0"/>
              <a:t>客户端和服务器存储的是用户秘密口令的散列值，即使客户端和服务器被攻陷导致口令散列值被窃取，也需破解口令散列才能获得明文口令</a:t>
            </a:r>
            <a:endParaRPr lang="zh-CN" altLang="en-US" sz="2400" dirty="0"/>
          </a:p>
        </p:txBody>
      </p:sp>
      <p:sp>
        <p:nvSpPr>
          <p:cNvPr id="3" name="标题 2"/>
          <p:cNvSpPr>
            <a:spLocks noGrp="1"/>
          </p:cNvSpPr>
          <p:nvPr>
            <p:ph type="title"/>
          </p:nvPr>
        </p:nvSpPr>
        <p:spPr/>
        <p:txBody>
          <a:bodyPr/>
          <a:lstStyle/>
          <a:p>
            <a:r>
              <a:rPr lang="en-US" altLang="zh-CN" dirty="0"/>
              <a:t>S/KEY</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5750" y="1266780"/>
            <a:ext cx="7772400" cy="4951139"/>
          </a:xfrm>
        </p:spPr>
        <p:txBody>
          <a:bodyPr/>
          <a:lstStyle/>
          <a:p>
            <a:pPr>
              <a:lnSpc>
                <a:spcPts val="4200"/>
              </a:lnSpc>
              <a:spcBef>
                <a:spcPts val="0"/>
              </a:spcBef>
            </a:pPr>
            <a:r>
              <a:rPr lang="zh-CN" altLang="en-US" sz="2800" dirty="0"/>
              <a:t>安全性分析</a:t>
            </a:r>
            <a:endParaRPr lang="en-US" altLang="zh-CN" sz="2800" dirty="0"/>
          </a:p>
          <a:p>
            <a:pPr lvl="1">
              <a:lnSpc>
                <a:spcPts val="4200"/>
              </a:lnSpc>
              <a:spcBef>
                <a:spcPts val="0"/>
              </a:spcBef>
            </a:pPr>
            <a:r>
              <a:rPr lang="zh-CN" altLang="en-US" sz="2400" dirty="0"/>
              <a:t>用户登录一定次数后，客户和服务器必须重新初始化口令序列</a:t>
            </a:r>
            <a:r>
              <a:rPr lang="zh-CN" altLang="zh-CN" sz="2400" dirty="0"/>
              <a:t>；</a:t>
            </a:r>
            <a:endParaRPr lang="en-US" altLang="zh-CN" sz="2400" dirty="0"/>
          </a:p>
          <a:p>
            <a:pPr lvl="1">
              <a:lnSpc>
                <a:spcPts val="4200"/>
              </a:lnSpc>
              <a:spcBef>
                <a:spcPts val="0"/>
              </a:spcBef>
            </a:pPr>
            <a:r>
              <a:rPr lang="zh-CN" altLang="en-US" sz="2400" dirty="0"/>
              <a:t>为了防止重放攻击，系统认证服务器具有唯一性，不适合分布式认证</a:t>
            </a:r>
            <a:endParaRPr lang="en-US" altLang="zh-CN" sz="2400" dirty="0"/>
          </a:p>
          <a:p>
            <a:pPr lvl="1">
              <a:lnSpc>
                <a:spcPts val="4200"/>
              </a:lnSpc>
              <a:spcBef>
                <a:spcPts val="0"/>
              </a:spcBef>
            </a:pPr>
            <a:r>
              <a:rPr lang="zh-CN" altLang="en-US" sz="2400" dirty="0"/>
              <a:t>单向认证（即服务器对客户端进行认证），不能保证认证服务器的真实性</a:t>
            </a:r>
            <a:endParaRPr lang="en-US" altLang="zh-CN" sz="2400" dirty="0"/>
          </a:p>
          <a:p>
            <a:pPr lvl="1">
              <a:lnSpc>
                <a:spcPts val="4200"/>
              </a:lnSpc>
              <a:spcBef>
                <a:spcPts val="0"/>
              </a:spcBef>
            </a:pPr>
            <a:r>
              <a:rPr lang="en-US" altLang="zh-CN" sz="2400" dirty="0"/>
              <a:t>S/KEY</a:t>
            </a:r>
            <a:r>
              <a:rPr lang="zh-CN" altLang="en-US" sz="2400" dirty="0"/>
              <a:t>使用的种子和迭代值采用明文传输，攻击者可以利用</a:t>
            </a:r>
            <a:r>
              <a:rPr lang="zh-CN" altLang="en-US" sz="2400" dirty="0">
                <a:solidFill>
                  <a:srgbClr val="FF0000"/>
                </a:solidFill>
              </a:rPr>
              <a:t>小数攻击</a:t>
            </a:r>
            <a:r>
              <a:rPr lang="zh-CN" altLang="en-US" sz="2400" dirty="0"/>
              <a:t>来获取一系列口令冒充合法用户</a:t>
            </a:r>
          </a:p>
        </p:txBody>
      </p:sp>
      <p:sp>
        <p:nvSpPr>
          <p:cNvPr id="3" name="标题 2"/>
          <p:cNvSpPr>
            <a:spLocks noGrp="1"/>
          </p:cNvSpPr>
          <p:nvPr>
            <p:ph type="title"/>
          </p:nvPr>
        </p:nvSpPr>
        <p:spPr/>
        <p:txBody>
          <a:bodyPr/>
          <a:lstStyle/>
          <a:p>
            <a:r>
              <a:rPr lang="en-US" altLang="zh-CN" dirty="0"/>
              <a:t>S/KEY</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小数攻击原理</a:t>
            </a:r>
          </a:p>
        </p:txBody>
      </p:sp>
      <p:sp>
        <p:nvSpPr>
          <p:cNvPr id="3" name="标题 2"/>
          <p:cNvSpPr>
            <a:spLocks noGrp="1"/>
          </p:cNvSpPr>
          <p:nvPr>
            <p:ph type="title"/>
          </p:nvPr>
        </p:nvSpPr>
        <p:spPr/>
        <p:txBody>
          <a:bodyPr/>
          <a:lstStyle/>
          <a:p>
            <a:r>
              <a:rPr lang="en-US" altLang="zh-CN" dirty="0"/>
              <a:t>S/KEY</a:t>
            </a:r>
            <a:endParaRPr lang="zh-CN" altLang="en-US" dirty="0"/>
          </a:p>
        </p:txBody>
      </p:sp>
      <p:pic>
        <p:nvPicPr>
          <p:cNvPr id="4" name="图片 3"/>
          <p:cNvPicPr>
            <a:picLocks noChangeAspect="1"/>
          </p:cNvPicPr>
          <p:nvPr/>
        </p:nvPicPr>
        <p:blipFill>
          <a:blip r:embed="rId3"/>
          <a:stretch>
            <a:fillRect/>
          </a:stretch>
        </p:blipFill>
        <p:spPr>
          <a:xfrm>
            <a:off x="1450446" y="2252133"/>
            <a:ext cx="6189133" cy="361526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49806" y="1371282"/>
            <a:ext cx="8210867" cy="4781323"/>
          </a:xfrm>
        </p:spPr>
        <p:txBody>
          <a:bodyPr/>
          <a:lstStyle/>
          <a:p>
            <a:r>
              <a:rPr lang="zh-CN" altLang="en-US" sz="2800" dirty="0"/>
              <a:t>改进的</a:t>
            </a:r>
            <a:r>
              <a:rPr lang="en-US" altLang="zh-CN" sz="2800" dirty="0"/>
              <a:t>S/KEY</a:t>
            </a:r>
            <a:r>
              <a:rPr lang="zh-CN" altLang="en-US" sz="2800" dirty="0"/>
              <a:t>协议</a:t>
            </a:r>
            <a:endParaRPr lang="en-US" altLang="zh-CN" sz="2800" dirty="0"/>
          </a:p>
          <a:p>
            <a:pPr lvl="1"/>
            <a:r>
              <a:rPr lang="zh-CN" altLang="en-US" sz="2400" dirty="0"/>
              <a:t>核心思想：</a:t>
            </a:r>
            <a:r>
              <a:rPr lang="zh-CN" altLang="en-US" sz="2400" dirty="0">
                <a:solidFill>
                  <a:srgbClr val="FF0000"/>
                </a:solidFill>
              </a:rPr>
              <a:t>不在网络中传输一次性口令散列值。</a:t>
            </a:r>
            <a:r>
              <a:rPr lang="zh-CN" altLang="en-US" sz="2400" dirty="0"/>
              <a:t>使用用户的口令散列对挑战进行散列，并将计算结果发送给服务器。服务器收到后，同样使用服务器保存的用户口令散列对挑战进行散列计算，并与客户端发来的应答进行比较，如果相同则认证通过，否则拒绝</a:t>
            </a:r>
            <a:endParaRPr lang="en-US" altLang="zh-CN" sz="2400" dirty="0"/>
          </a:p>
          <a:p>
            <a:pPr lvl="1"/>
            <a:r>
              <a:rPr lang="en-US" altLang="zh-CN" sz="2400" dirty="0"/>
              <a:t>Windows 2000</a:t>
            </a:r>
            <a:r>
              <a:rPr lang="zh-CN" altLang="zh-CN" sz="2400" dirty="0"/>
              <a:t>及其之后版本中的</a:t>
            </a:r>
            <a:r>
              <a:rPr lang="en-US" altLang="zh-CN" sz="2400" dirty="0"/>
              <a:t>NTLM</a:t>
            </a:r>
            <a:r>
              <a:rPr lang="zh-CN" altLang="zh-CN" sz="2400" dirty="0"/>
              <a:t>认证所实现的挑战</a:t>
            </a:r>
            <a:r>
              <a:rPr lang="en-US" altLang="zh-CN" sz="2400" dirty="0"/>
              <a:t>/</a:t>
            </a:r>
            <a:r>
              <a:rPr lang="zh-CN" altLang="zh-CN" sz="2400" dirty="0"/>
              <a:t>响应机制就使用了这个改进的</a:t>
            </a:r>
            <a:r>
              <a:rPr lang="en-US" altLang="zh-CN" sz="2400" dirty="0"/>
              <a:t>S/KEY</a:t>
            </a:r>
            <a:r>
              <a:rPr lang="zh-CN" altLang="zh-CN" sz="2400" dirty="0"/>
              <a:t>协议</a:t>
            </a:r>
            <a:endParaRPr lang="zh-CN" altLang="en-US" sz="2400" dirty="0"/>
          </a:p>
        </p:txBody>
      </p:sp>
      <p:sp>
        <p:nvSpPr>
          <p:cNvPr id="3" name="标题 2"/>
          <p:cNvSpPr>
            <a:spLocks noGrp="1"/>
          </p:cNvSpPr>
          <p:nvPr>
            <p:ph type="title"/>
          </p:nvPr>
        </p:nvSpPr>
        <p:spPr/>
        <p:txBody>
          <a:bodyPr/>
          <a:lstStyle/>
          <a:p>
            <a:r>
              <a:rPr lang="en-US" altLang="zh-CN" dirty="0"/>
              <a:t>S/KEY</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zh-CN" altLang="en-US" dirty="0"/>
              <a:t>改进的</a:t>
            </a:r>
            <a:r>
              <a:rPr lang="en-US" altLang="zh-CN" dirty="0"/>
              <a:t>S/KEY</a:t>
            </a:r>
            <a:endParaRPr lang="zh-CN" altLang="en-US" dirty="0"/>
          </a:p>
        </p:txBody>
      </p:sp>
      <p:graphicFrame>
        <p:nvGraphicFramePr>
          <p:cNvPr id="4" name="Object 5"/>
          <p:cNvGraphicFramePr>
            <a:graphicFrameLocks noChangeAspect="1"/>
          </p:cNvGraphicFramePr>
          <p:nvPr/>
        </p:nvGraphicFramePr>
        <p:xfrm>
          <a:off x="3157399" y="436033"/>
          <a:ext cx="5621338" cy="5905500"/>
        </p:xfrm>
        <a:graphic>
          <a:graphicData uri="http://schemas.openxmlformats.org/presentationml/2006/ole">
            <mc:AlternateContent xmlns:mc="http://schemas.openxmlformats.org/markup-compatibility/2006">
              <mc:Choice xmlns:v="urn:schemas-microsoft-com:vml" Requires="v">
                <p:oleObj spid="_x0000_s2057" name="Visio" r:id="rId4" imgW="4867275" imgH="5124450" progId="Visio.Drawing.11">
                  <p:embed/>
                </p:oleObj>
              </mc:Choice>
              <mc:Fallback>
                <p:oleObj name="Visio" r:id="rId4" imgW="4867275" imgH="5124450" progId="Visio.Drawing.11">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7399" y="436033"/>
                        <a:ext cx="5621338"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Oval 7"/>
          <p:cNvSpPr>
            <a:spLocks noChangeArrowheads="1"/>
          </p:cNvSpPr>
          <p:nvPr/>
        </p:nvSpPr>
        <p:spPr bwMode="auto">
          <a:xfrm>
            <a:off x="4275793" y="5477933"/>
            <a:ext cx="3384550" cy="863600"/>
          </a:xfrm>
          <a:prstGeom prst="ellipse">
            <a:avLst/>
          </a:pr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tx1"/>
              </a:buClr>
              <a:buFont typeface="Wingdings" panose="05000000000000000000" pitchFamily="2" charset="2"/>
              <a:buChar char="v"/>
              <a:defRPr sz="2800" b="1">
                <a:solidFill>
                  <a:schemeClr val="tx1"/>
                </a:solidFill>
                <a:latin typeface="黑体" panose="02010609060101010101" pitchFamily="49" charset="-122"/>
                <a:ea typeface="黑体" panose="02010609060101010101" pitchFamily="49" charset="-122"/>
              </a:defRPr>
            </a:lvl1pPr>
            <a:lvl2pPr marL="742950" indent="-285750" eaLnBrk="0" hangingPunct="0">
              <a:spcBef>
                <a:spcPct val="20000"/>
              </a:spcBef>
              <a:buClr>
                <a:schemeClr val="tx2"/>
              </a:buClr>
              <a:buFont typeface="Wingdings" panose="05000000000000000000" pitchFamily="2" charset="2"/>
              <a:buChar char="§"/>
              <a:defRPr sz="2800">
                <a:solidFill>
                  <a:schemeClr val="tx1"/>
                </a:solidFill>
                <a:latin typeface="黑体" panose="02010609060101010101" pitchFamily="49" charset="-122"/>
                <a:ea typeface="黑体" panose="02010609060101010101" pitchFamily="49" charset="-122"/>
              </a:defRPr>
            </a:lvl2pPr>
            <a:lvl3pPr marL="1143000" indent="-228600" eaLnBrk="0" hangingPunct="0">
              <a:spcBef>
                <a:spcPct val="20000"/>
              </a:spcBef>
              <a:buClr>
                <a:schemeClr val="hlink"/>
              </a:buClr>
              <a:buChar char="•"/>
              <a:defRPr sz="2400">
                <a:solidFill>
                  <a:schemeClr val="tx1"/>
                </a:solidFill>
                <a:latin typeface="黑体" panose="02010609060101010101" pitchFamily="49" charset="-122"/>
                <a:ea typeface="黑体" panose="02010609060101010101" pitchFamily="49" charset="-122"/>
              </a:defRPr>
            </a:lvl3pPr>
            <a:lvl4pPr marL="1600200" indent="-228600" eaLnBrk="0" hangingPunct="0">
              <a:spcBef>
                <a:spcPct val="20000"/>
              </a:spcBef>
              <a:buChar char="–"/>
              <a:defRPr sz="2000">
                <a:solidFill>
                  <a:schemeClr val="tx1"/>
                </a:solidFill>
                <a:latin typeface="黑体" panose="02010609060101010101" pitchFamily="49" charset="-122"/>
                <a:ea typeface="黑体" panose="02010609060101010101" pitchFamily="49" charset="-122"/>
              </a:defRPr>
            </a:lvl4pPr>
            <a:lvl5pPr marL="2057400" indent="-228600" eaLnBrk="0" hangingPunct="0">
              <a:spcBef>
                <a:spcPct val="20000"/>
              </a:spcBef>
              <a:buChar char="»"/>
              <a:defRPr sz="2000">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黑体" panose="02010609060101010101" pitchFamily="49" charset="-122"/>
                <a:ea typeface="黑体" panose="02010609060101010101" pitchFamily="49" charset="-122"/>
              </a:defRPr>
            </a:lvl9pPr>
          </a:lstStyle>
          <a:p>
            <a:pPr eaLnBrk="1" hangingPunct="1">
              <a:spcBef>
                <a:spcPct val="0"/>
              </a:spcBef>
              <a:buClrTx/>
              <a:buFontTx/>
              <a:buNone/>
            </a:pPr>
            <a:endParaRPr lang="zh-CN" altLang="en-US" sz="1800" b="0">
              <a:latin typeface="Arial" panose="020B0604020202020204" pitchFamily="34" charset="0"/>
              <a:ea typeface="宋体" panose="02010600030101010101" pitchFamily="2" charset="-122"/>
            </a:endParaRPr>
          </a:p>
        </p:txBody>
      </p:sp>
      <p:sp>
        <p:nvSpPr>
          <p:cNvPr id="6" name="文本框 5"/>
          <p:cNvSpPr txBox="1"/>
          <p:nvPr/>
        </p:nvSpPr>
        <p:spPr>
          <a:xfrm>
            <a:off x="5968068" y="6341533"/>
            <a:ext cx="492443" cy="461665"/>
          </a:xfrm>
          <a:prstGeom prst="rect">
            <a:avLst/>
          </a:prstGeom>
          <a:noFill/>
        </p:spPr>
        <p:txBody>
          <a:bodyPr wrap="none" rtlCol="0">
            <a:spAutoFit/>
          </a:bodyPr>
          <a:lstStyle/>
          <a:p>
            <a:r>
              <a:rPr lang="zh-CN" altLang="en-US" sz="2400" b="0" dirty="0">
                <a:solidFill>
                  <a:srgbClr val="FF0000"/>
                </a:solidFill>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55"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1000" fill="hold"/>
                                        <p:tgtEl>
                                          <p:spTgt spid="6"/>
                                        </p:tgtEl>
                                        <p:attrNameLst>
                                          <p:attrName>ppt_w</p:attrName>
                                        </p:attrNameLst>
                                      </p:cBhvr>
                                      <p:tavLst>
                                        <p:tav tm="0">
                                          <p:val>
                                            <p:strVal val="#ppt_w*0.70"/>
                                          </p:val>
                                        </p:tav>
                                        <p:tav tm="100000">
                                          <p:val>
                                            <p:strVal val="#ppt_w"/>
                                          </p:val>
                                        </p:tav>
                                      </p:tavLst>
                                    </p:anim>
                                    <p:anim calcmode="lin" valueType="num">
                                      <p:cBhvr>
                                        <p:cTn id="12" dur="1000" fill="hold"/>
                                        <p:tgtEl>
                                          <p:spTgt spid="6"/>
                                        </p:tgtEl>
                                        <p:attrNameLst>
                                          <p:attrName>ppt_h</p:attrName>
                                        </p:attrNameLst>
                                      </p:cBhvr>
                                      <p:tavLst>
                                        <p:tav tm="0">
                                          <p:val>
                                            <p:strVal val="#ppt_h"/>
                                          </p:val>
                                        </p:tav>
                                        <p:tav tm="100000">
                                          <p:val>
                                            <p:strVal val="#ppt_h"/>
                                          </p:val>
                                        </p:tav>
                                      </p:tavLst>
                                    </p:anim>
                                    <p:animEffect transition="in" filter="fade">
                                      <p:cBhvr>
                                        <p:cTn id="13"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46518" y="1371600"/>
            <a:ext cx="7772400" cy="4114800"/>
          </a:xfrm>
        </p:spPr>
        <p:txBody>
          <a:bodyPr/>
          <a:lstStyle/>
          <a:p>
            <a:r>
              <a:rPr lang="en-US" altLang="zh-CN" dirty="0"/>
              <a:t>Windows NTLM</a:t>
            </a:r>
            <a:endParaRPr lang="zh-CN" altLang="en-US" dirty="0"/>
          </a:p>
        </p:txBody>
      </p:sp>
      <p:sp>
        <p:nvSpPr>
          <p:cNvPr id="3" name="标题 2"/>
          <p:cNvSpPr>
            <a:spLocks noGrp="1"/>
          </p:cNvSpPr>
          <p:nvPr>
            <p:ph type="title"/>
          </p:nvPr>
        </p:nvSpPr>
        <p:spPr/>
        <p:txBody>
          <a:bodyPr/>
          <a:lstStyle/>
          <a:p>
            <a:r>
              <a:rPr lang="zh-CN" altLang="en-US" dirty="0"/>
              <a:t>改进的</a:t>
            </a:r>
            <a:r>
              <a:rPr lang="en-US" altLang="zh-CN" dirty="0"/>
              <a:t>S/KEY</a:t>
            </a:r>
            <a:endParaRPr lang="zh-CN" altLang="en-US" dirty="0"/>
          </a:p>
        </p:txBody>
      </p:sp>
      <p:sp>
        <p:nvSpPr>
          <p:cNvPr id="17" name="文本框 16"/>
          <p:cNvSpPr txBox="1"/>
          <p:nvPr/>
        </p:nvSpPr>
        <p:spPr>
          <a:xfrm>
            <a:off x="4515047" y="3625889"/>
            <a:ext cx="543739" cy="461665"/>
          </a:xfrm>
          <a:prstGeom prst="rect">
            <a:avLst/>
          </a:prstGeom>
          <a:noFill/>
        </p:spPr>
        <p:txBody>
          <a:bodyPr wrap="square" rtlCol="0">
            <a:spAutoFit/>
          </a:bodyPr>
          <a:lstStyle/>
          <a:p>
            <a:r>
              <a:rPr lang="en-US" altLang="zh-CN" sz="2400" b="0" dirty="0">
                <a:latin typeface="Times New Roman" panose="02020603050405020304" pitchFamily="18" charset="0"/>
                <a:cs typeface="Times New Roman" panose="02020603050405020304" pitchFamily="18" charset="0"/>
              </a:rPr>
              <a:t>(2)</a:t>
            </a:r>
            <a:endParaRPr lang="zh-CN" altLang="en-US" sz="2400" b="0" dirty="0">
              <a:latin typeface="Times New Roman" panose="02020603050405020304" pitchFamily="18" charset="0"/>
              <a:cs typeface="Times New Roman" panose="02020603050405020304" pitchFamily="18" charset="0"/>
            </a:endParaRPr>
          </a:p>
        </p:txBody>
      </p:sp>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9800" y="2030154"/>
            <a:ext cx="5394232" cy="4114800"/>
          </a:xfrm>
          <a:prstGeom prst="rect">
            <a:avLst/>
          </a:prstGeom>
          <a:ln>
            <a:solidFill>
              <a:schemeClr val="tx1"/>
            </a:solid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46518" y="1371600"/>
            <a:ext cx="7772400" cy="4114800"/>
          </a:xfrm>
        </p:spPr>
        <p:txBody>
          <a:bodyPr/>
          <a:lstStyle/>
          <a:p>
            <a:r>
              <a:rPr lang="en-US" altLang="zh-CN" dirty="0"/>
              <a:t>Windows NTLM</a:t>
            </a:r>
            <a:endParaRPr lang="zh-CN" altLang="en-US" dirty="0"/>
          </a:p>
        </p:txBody>
      </p:sp>
      <p:sp>
        <p:nvSpPr>
          <p:cNvPr id="3" name="标题 2"/>
          <p:cNvSpPr>
            <a:spLocks noGrp="1"/>
          </p:cNvSpPr>
          <p:nvPr>
            <p:ph type="title"/>
          </p:nvPr>
        </p:nvSpPr>
        <p:spPr/>
        <p:txBody>
          <a:bodyPr/>
          <a:lstStyle/>
          <a:p>
            <a:r>
              <a:rPr lang="zh-CN" altLang="en-US" dirty="0"/>
              <a:t>改进的</a:t>
            </a:r>
            <a:r>
              <a:rPr lang="en-US" altLang="zh-CN" dirty="0"/>
              <a:t>S/KEY</a:t>
            </a:r>
            <a:endParaRPr lang="zh-CN" altLang="en-US" dirty="0"/>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824" y="2140979"/>
            <a:ext cx="3954473" cy="1934357"/>
          </a:xfrm>
          <a:prstGeom prst="rect">
            <a:avLst/>
          </a:prstGeom>
          <a:ln>
            <a:solidFill>
              <a:schemeClr val="tx1"/>
            </a:solidFill>
          </a:ln>
        </p:spPr>
      </p:pic>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00991" y="2120926"/>
            <a:ext cx="3954473" cy="1934357"/>
          </a:xfrm>
          <a:prstGeom prst="rect">
            <a:avLst/>
          </a:prstGeom>
          <a:ln>
            <a:solidFill>
              <a:schemeClr val="tx1"/>
            </a:solidFill>
          </a:ln>
        </p:spPr>
      </p:pic>
      <p:pic>
        <p:nvPicPr>
          <p:cNvPr id="13" name="图片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7823" y="4311893"/>
            <a:ext cx="3954473" cy="1943886"/>
          </a:xfrm>
          <a:prstGeom prst="rect">
            <a:avLst/>
          </a:prstGeom>
          <a:ln>
            <a:solidFill>
              <a:schemeClr val="tx1"/>
            </a:solidFill>
          </a:ln>
        </p:spPr>
      </p:pic>
      <p:pic>
        <p:nvPicPr>
          <p:cNvPr id="15" name="图片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00990" y="4311893"/>
            <a:ext cx="3954473" cy="1943886"/>
          </a:xfrm>
          <a:prstGeom prst="rect">
            <a:avLst/>
          </a:prstGeom>
          <a:ln>
            <a:solidFill>
              <a:schemeClr val="tx1"/>
            </a:solidFill>
          </a:ln>
        </p:spPr>
      </p:pic>
      <p:sp>
        <p:nvSpPr>
          <p:cNvPr id="16" name="文本框 15"/>
          <p:cNvSpPr txBox="1"/>
          <p:nvPr/>
        </p:nvSpPr>
        <p:spPr>
          <a:xfrm>
            <a:off x="317823" y="3613671"/>
            <a:ext cx="543739" cy="461665"/>
          </a:xfrm>
          <a:prstGeom prst="rect">
            <a:avLst/>
          </a:prstGeom>
          <a:noFill/>
        </p:spPr>
        <p:txBody>
          <a:bodyPr wrap="none" rtlCol="0">
            <a:spAutoFit/>
          </a:bodyPr>
          <a:lstStyle/>
          <a:p>
            <a:r>
              <a:rPr lang="en-US" altLang="zh-CN" sz="2400" b="0" dirty="0">
                <a:latin typeface="Times New Roman" panose="02020603050405020304" pitchFamily="18" charset="0"/>
                <a:cs typeface="Times New Roman" panose="02020603050405020304" pitchFamily="18" charset="0"/>
              </a:rPr>
              <a:t>(1)</a:t>
            </a:r>
            <a:endParaRPr lang="zh-CN" altLang="en-US" sz="2400" b="0" dirty="0">
              <a:latin typeface="Times New Roman" panose="02020603050405020304" pitchFamily="18" charset="0"/>
              <a:cs typeface="Times New Roman" panose="02020603050405020304" pitchFamily="18" charset="0"/>
            </a:endParaRPr>
          </a:p>
        </p:txBody>
      </p:sp>
      <p:sp>
        <p:nvSpPr>
          <p:cNvPr id="17" name="文本框 16"/>
          <p:cNvSpPr txBox="1"/>
          <p:nvPr/>
        </p:nvSpPr>
        <p:spPr>
          <a:xfrm>
            <a:off x="4515047" y="3625889"/>
            <a:ext cx="543739" cy="461665"/>
          </a:xfrm>
          <a:prstGeom prst="rect">
            <a:avLst/>
          </a:prstGeom>
          <a:noFill/>
        </p:spPr>
        <p:txBody>
          <a:bodyPr wrap="square" rtlCol="0">
            <a:spAutoFit/>
          </a:bodyPr>
          <a:lstStyle/>
          <a:p>
            <a:r>
              <a:rPr lang="en-US" altLang="zh-CN" sz="2400" b="0" dirty="0">
                <a:latin typeface="Times New Roman" panose="02020603050405020304" pitchFamily="18" charset="0"/>
                <a:cs typeface="Times New Roman" panose="02020603050405020304" pitchFamily="18" charset="0"/>
              </a:rPr>
              <a:t>(2)</a:t>
            </a:r>
            <a:endParaRPr lang="zh-CN" altLang="en-US" sz="2400" b="0" dirty="0">
              <a:latin typeface="Times New Roman" panose="02020603050405020304" pitchFamily="18" charset="0"/>
              <a:cs typeface="Times New Roman" panose="02020603050405020304" pitchFamily="18" charset="0"/>
            </a:endParaRPr>
          </a:p>
        </p:txBody>
      </p:sp>
      <p:sp>
        <p:nvSpPr>
          <p:cNvPr id="18" name="文本框 17"/>
          <p:cNvSpPr txBox="1"/>
          <p:nvPr/>
        </p:nvSpPr>
        <p:spPr>
          <a:xfrm>
            <a:off x="317823" y="5794114"/>
            <a:ext cx="543739" cy="461665"/>
          </a:xfrm>
          <a:prstGeom prst="rect">
            <a:avLst/>
          </a:prstGeom>
          <a:noFill/>
        </p:spPr>
        <p:txBody>
          <a:bodyPr wrap="none" rtlCol="0">
            <a:spAutoFit/>
          </a:bodyPr>
          <a:lstStyle/>
          <a:p>
            <a:r>
              <a:rPr lang="en-US" altLang="zh-CN" sz="2400" b="0" dirty="0">
                <a:latin typeface="Times New Roman" panose="02020603050405020304" pitchFamily="18" charset="0"/>
                <a:cs typeface="Times New Roman" panose="02020603050405020304" pitchFamily="18" charset="0"/>
              </a:rPr>
              <a:t>(3)</a:t>
            </a:r>
            <a:endParaRPr lang="zh-CN" altLang="en-US" sz="2400" b="0" dirty="0">
              <a:latin typeface="Times New Roman" panose="02020603050405020304" pitchFamily="18" charset="0"/>
              <a:cs typeface="Times New Roman" panose="02020603050405020304" pitchFamily="18" charset="0"/>
            </a:endParaRPr>
          </a:p>
        </p:txBody>
      </p:sp>
      <p:sp>
        <p:nvSpPr>
          <p:cNvPr id="19" name="文本框 18"/>
          <p:cNvSpPr txBox="1"/>
          <p:nvPr/>
        </p:nvSpPr>
        <p:spPr>
          <a:xfrm>
            <a:off x="4567288" y="5794114"/>
            <a:ext cx="543739" cy="461665"/>
          </a:xfrm>
          <a:prstGeom prst="rect">
            <a:avLst/>
          </a:prstGeom>
          <a:noFill/>
        </p:spPr>
        <p:txBody>
          <a:bodyPr wrap="none" rtlCol="0">
            <a:spAutoFit/>
          </a:bodyPr>
          <a:lstStyle/>
          <a:p>
            <a:r>
              <a:rPr lang="en-US" altLang="zh-CN" sz="2400" b="0" dirty="0">
                <a:latin typeface="Times New Roman" panose="02020603050405020304" pitchFamily="18" charset="0"/>
                <a:cs typeface="Times New Roman" panose="02020603050405020304" pitchFamily="18" charset="0"/>
              </a:rPr>
              <a:t>(4)</a:t>
            </a:r>
            <a:endParaRPr lang="zh-CN" altLang="en-US" sz="2400"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Windows NTLM</a:t>
            </a:r>
            <a:r>
              <a:rPr lang="zh-CN" altLang="en-US" dirty="0"/>
              <a:t>（另一张参考图）</a:t>
            </a:r>
          </a:p>
          <a:p>
            <a:endParaRPr lang="zh-CN" altLang="en-US" dirty="0"/>
          </a:p>
        </p:txBody>
      </p:sp>
      <p:sp>
        <p:nvSpPr>
          <p:cNvPr id="3" name="标题 2"/>
          <p:cNvSpPr>
            <a:spLocks noGrp="1"/>
          </p:cNvSpPr>
          <p:nvPr>
            <p:ph type="title"/>
          </p:nvPr>
        </p:nvSpPr>
        <p:spPr/>
        <p:txBody>
          <a:bodyPr/>
          <a:lstStyle/>
          <a:p>
            <a:r>
              <a:rPr lang="zh-CN" altLang="en-US" dirty="0"/>
              <a:t>改进的</a:t>
            </a:r>
            <a:r>
              <a:rPr lang="en-US" altLang="zh-CN" dirty="0"/>
              <a:t>S/KEY</a:t>
            </a:r>
            <a:endParaRPr lang="zh-CN" altLang="en-US" dirty="0"/>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6163" y="2339976"/>
            <a:ext cx="5105400" cy="378142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04813" y="1554162"/>
            <a:ext cx="8044920" cy="4389437"/>
          </a:xfrm>
        </p:spPr>
        <p:txBody>
          <a:bodyPr/>
          <a:lstStyle/>
          <a:p>
            <a:r>
              <a:rPr lang="zh-CN" altLang="en-US" dirty="0"/>
              <a:t>安全性分析：</a:t>
            </a:r>
            <a:endParaRPr lang="en-US" altLang="zh-CN" dirty="0"/>
          </a:p>
          <a:p>
            <a:pPr lvl="1"/>
            <a:r>
              <a:rPr lang="zh-CN" altLang="en-US" dirty="0"/>
              <a:t>用户很容易求出正确的一次性口令，采用一次性口令的匹配通过服务器的身份认证；</a:t>
            </a:r>
            <a:endParaRPr lang="en-US" altLang="zh-CN" dirty="0"/>
          </a:p>
          <a:p>
            <a:pPr lvl="1"/>
            <a:r>
              <a:rPr lang="zh-CN" altLang="en-US" dirty="0"/>
              <a:t>攻击者即使截获一次性口令，也不能破解出用户口令散列；</a:t>
            </a:r>
            <a:endParaRPr lang="en-US" altLang="zh-CN" dirty="0"/>
          </a:p>
          <a:p>
            <a:pPr lvl="1"/>
            <a:r>
              <a:rPr lang="zh-CN" altLang="en-US" dirty="0"/>
              <a:t>攻击者不能预测下一次一次性口令，也不能重放成功。 </a:t>
            </a:r>
          </a:p>
          <a:p>
            <a:endParaRPr lang="zh-CN" altLang="en-US" dirty="0"/>
          </a:p>
          <a:p>
            <a:endParaRPr lang="zh-CN" altLang="en-US" dirty="0"/>
          </a:p>
        </p:txBody>
      </p:sp>
      <p:sp>
        <p:nvSpPr>
          <p:cNvPr id="3" name="标题 2"/>
          <p:cNvSpPr>
            <a:spLocks noGrp="1"/>
          </p:cNvSpPr>
          <p:nvPr>
            <p:ph type="title"/>
          </p:nvPr>
        </p:nvSpPr>
        <p:spPr/>
        <p:txBody>
          <a:bodyPr/>
          <a:lstStyle/>
          <a:p>
            <a:r>
              <a:rPr lang="zh-CN" altLang="en-US" dirty="0"/>
              <a:t>改进的</a:t>
            </a:r>
            <a:r>
              <a:rPr lang="en-US" altLang="zh-CN" dirty="0"/>
              <a:t>S/KEY</a:t>
            </a:r>
            <a:r>
              <a:rPr lang="zh-CN" altLang="en-US" dirty="0"/>
              <a:t>协议</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8011" y="1520296"/>
            <a:ext cx="8180387" cy="4389437"/>
          </a:xfrm>
        </p:spPr>
        <p:txBody>
          <a:bodyPr/>
          <a:lstStyle/>
          <a:p>
            <a:r>
              <a:rPr lang="zh-CN" altLang="en-US" dirty="0"/>
              <a:t>安全性分析：</a:t>
            </a:r>
            <a:endParaRPr lang="en-US" altLang="zh-CN" dirty="0"/>
          </a:p>
          <a:p>
            <a:pPr lvl="1"/>
            <a:r>
              <a:rPr lang="zh-CN" altLang="en-US" dirty="0"/>
              <a:t>能够避免监听和重放，但不能防范拦截和修改数据包、会话劫持等攻击。</a:t>
            </a:r>
          </a:p>
          <a:p>
            <a:pPr lvl="1"/>
            <a:r>
              <a:rPr lang="en-US" altLang="zh-CN" dirty="0"/>
              <a:t> </a:t>
            </a:r>
            <a:r>
              <a:rPr lang="zh-CN" altLang="en-US" dirty="0"/>
              <a:t>网络系统的安全仅等同于使用的最弱散列算法的安全强度。</a:t>
            </a:r>
          </a:p>
          <a:p>
            <a:pPr lvl="1"/>
            <a:r>
              <a:rPr lang="en-US" altLang="zh-CN" dirty="0"/>
              <a:t> </a:t>
            </a:r>
            <a:r>
              <a:rPr lang="zh-CN" altLang="en-US" dirty="0"/>
              <a:t>没有完整性保护机制，也无法防范内部攻击。</a:t>
            </a:r>
          </a:p>
          <a:p>
            <a:pPr lvl="1"/>
            <a:r>
              <a:rPr lang="zh-CN" altLang="en-US" dirty="0"/>
              <a:t>不能对服务器的身份进行认证。 </a:t>
            </a:r>
          </a:p>
        </p:txBody>
      </p:sp>
      <p:sp>
        <p:nvSpPr>
          <p:cNvPr id="3" name="标题 2"/>
          <p:cNvSpPr>
            <a:spLocks noGrp="1"/>
          </p:cNvSpPr>
          <p:nvPr>
            <p:ph type="title"/>
          </p:nvPr>
        </p:nvSpPr>
        <p:spPr/>
        <p:txBody>
          <a:bodyPr/>
          <a:lstStyle/>
          <a:p>
            <a:r>
              <a:rPr lang="zh-CN" altLang="en-US" dirty="0"/>
              <a:t>改进的</a:t>
            </a:r>
            <a:r>
              <a:rPr lang="en-US" altLang="zh-CN" dirty="0"/>
              <a:t>S/KEY</a:t>
            </a:r>
            <a:r>
              <a:rPr lang="zh-CN" altLang="en-US" dirty="0"/>
              <a:t>协议</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554480" y="3343775"/>
            <a:ext cx="5538651" cy="744899"/>
          </a:xfrm>
        </p:spPr>
        <p:txBody>
          <a:bodyPr/>
          <a:lstStyle/>
          <a:p>
            <a:pPr marL="0" indent="0">
              <a:buNone/>
            </a:pPr>
            <a:r>
              <a:rPr lang="zh-CN" altLang="en-US" dirty="0">
                <a:solidFill>
                  <a:srgbClr val="C00000"/>
                </a:solidFill>
              </a:rPr>
              <a:t>（二）其于共享密钥的认证</a:t>
            </a: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150938" y="142875"/>
            <a:ext cx="7862433" cy="958850"/>
          </a:xfrm>
        </p:spPr>
        <p:txBody>
          <a:bodyPr/>
          <a:lstStyle/>
          <a:p>
            <a:r>
              <a:rPr lang="en-US" altLang="zh-CN" sz="4000" dirty="0"/>
              <a:t>Needham-Schroeder</a:t>
            </a:r>
            <a:r>
              <a:rPr lang="zh-CN" altLang="zh-CN" sz="4000" dirty="0"/>
              <a:t>双向鉴别协议</a:t>
            </a:r>
            <a:endParaRPr lang="zh-CN" altLang="en-US" sz="4000" dirty="0"/>
          </a:p>
        </p:txBody>
      </p:sp>
      <p:sp>
        <p:nvSpPr>
          <p:cNvPr id="4" name="Rectangle 2"/>
          <p:cNvSpPr>
            <a:spLocks noChangeArrowheads="1"/>
          </p:cNvSpPr>
          <p:nvPr/>
        </p:nvSpPr>
        <p:spPr bwMode="auto">
          <a:xfrm>
            <a:off x="1384663" y="245581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679268" y="1489166"/>
          <a:ext cx="7824651" cy="4637313"/>
        </p:xfrm>
        <a:graphic>
          <a:graphicData uri="http://schemas.openxmlformats.org/presentationml/2006/ole">
            <mc:AlternateContent xmlns:mc="http://schemas.openxmlformats.org/markup-compatibility/2006">
              <mc:Choice xmlns:v="urn:schemas-microsoft-com:vml" Requires="v">
                <p:oleObj spid="_x0000_s1105" r:id="rId3" imgW="6774180" imgH="3701415" progId="Unknown">
                  <p:embed/>
                </p:oleObj>
              </mc:Choice>
              <mc:Fallback>
                <p:oleObj r:id="rId3" imgW="6774180" imgH="3701415" progId="Unknown">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268" y="1489166"/>
                        <a:ext cx="7824651" cy="4637313"/>
                      </a:xfrm>
                      <a:prstGeom prst="rect">
                        <a:avLst/>
                      </a:prstGeom>
                      <a:noFill/>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554162"/>
            <a:ext cx="7772400" cy="4541837"/>
          </a:xfrm>
        </p:spPr>
        <p:txBody>
          <a:bodyPr/>
          <a:lstStyle/>
          <a:p>
            <a:pPr>
              <a:lnSpc>
                <a:spcPct val="150000"/>
              </a:lnSpc>
            </a:pPr>
            <a:r>
              <a:rPr lang="zh-CN" altLang="en-US" dirty="0">
                <a:solidFill>
                  <a:srgbClr val="FF0000"/>
                </a:solidFill>
              </a:rPr>
              <a:t>问题</a:t>
            </a:r>
            <a:r>
              <a:rPr lang="en-US" altLang="zh-CN" dirty="0">
                <a:solidFill>
                  <a:srgbClr val="FF0000"/>
                </a:solidFill>
              </a:rPr>
              <a:t>1</a:t>
            </a:r>
            <a:r>
              <a:rPr lang="zh-CN" altLang="en-US" dirty="0">
                <a:solidFill>
                  <a:srgbClr val="FF0000"/>
                </a:solidFill>
              </a:rPr>
              <a:t>：</a:t>
            </a:r>
            <a:r>
              <a:rPr lang="zh-CN" altLang="zh-CN" dirty="0"/>
              <a:t>执行完上述三个步骤后，</a:t>
            </a:r>
            <a:r>
              <a:rPr lang="en-US" altLang="zh-CN" dirty="0"/>
              <a:t>A</a:t>
            </a:r>
            <a:r>
              <a:rPr lang="zh-CN" altLang="zh-CN" dirty="0"/>
              <a:t>和</a:t>
            </a:r>
            <a:r>
              <a:rPr lang="en-US" altLang="zh-CN" dirty="0"/>
              <a:t>B</a:t>
            </a:r>
            <a:r>
              <a:rPr lang="zh-CN" altLang="zh-CN" dirty="0"/>
              <a:t>已得到了由</a:t>
            </a:r>
            <a:r>
              <a:rPr lang="en-US" altLang="zh-CN" dirty="0"/>
              <a:t>KDC</a:t>
            </a:r>
            <a:r>
              <a:rPr lang="zh-CN" altLang="zh-CN" dirty="0"/>
              <a:t>分配的一次性会话密钥，可用于后续的保密通信</a:t>
            </a:r>
            <a:r>
              <a:rPr lang="zh-CN" altLang="en-US" dirty="0"/>
              <a:t>，为什么还要增加后面两个步骤？</a:t>
            </a:r>
            <a:endParaRPr lang="en-US" altLang="zh-CN" dirty="0"/>
          </a:p>
          <a:p>
            <a:pPr>
              <a:lnSpc>
                <a:spcPct val="150000"/>
              </a:lnSpc>
            </a:pPr>
            <a:r>
              <a:rPr lang="zh-CN" altLang="en-US" dirty="0">
                <a:solidFill>
                  <a:srgbClr val="FF0000"/>
                </a:solidFill>
              </a:rPr>
              <a:t>问题</a:t>
            </a:r>
            <a:r>
              <a:rPr lang="en-US" altLang="zh-CN" dirty="0">
                <a:solidFill>
                  <a:srgbClr val="FF0000"/>
                </a:solidFill>
              </a:rPr>
              <a:t>2</a:t>
            </a:r>
            <a:r>
              <a:rPr lang="zh-CN" altLang="en-US" dirty="0">
                <a:solidFill>
                  <a:srgbClr val="FF0000"/>
                </a:solidFill>
              </a:rPr>
              <a:t>：</a:t>
            </a:r>
            <a:r>
              <a:rPr lang="zh-CN" altLang="en-US" dirty="0"/>
              <a:t>第</a:t>
            </a:r>
            <a:r>
              <a:rPr lang="en-US" altLang="zh-CN" dirty="0"/>
              <a:t>(5)</a:t>
            </a:r>
            <a:r>
              <a:rPr lang="zh-CN" altLang="en-US" dirty="0"/>
              <a:t>步中，为什么要问个题</a:t>
            </a:r>
            <a:r>
              <a:rPr lang="en-US" altLang="zh-CN" dirty="0"/>
              <a:t>f(N</a:t>
            </a:r>
            <a:r>
              <a:rPr lang="en-US" altLang="zh-CN" baseline="-25000" dirty="0"/>
              <a:t>2</a:t>
            </a:r>
            <a:r>
              <a:rPr lang="en-US" altLang="zh-CN" dirty="0"/>
              <a:t>)</a:t>
            </a:r>
            <a:r>
              <a:rPr lang="zh-CN" altLang="en-US" dirty="0"/>
              <a:t>，而不是直接用</a:t>
            </a:r>
            <a:r>
              <a:rPr lang="en-US" altLang="zh-CN" dirty="0"/>
              <a:t>N</a:t>
            </a:r>
            <a:r>
              <a:rPr lang="en-US" altLang="zh-CN" baseline="-25000" dirty="0"/>
              <a:t>2</a:t>
            </a:r>
            <a:r>
              <a:rPr lang="zh-CN" altLang="en-US" dirty="0"/>
              <a:t>？</a:t>
            </a:r>
          </a:p>
        </p:txBody>
      </p:sp>
      <p:sp>
        <p:nvSpPr>
          <p:cNvPr id="3" name="标题 2"/>
          <p:cNvSpPr>
            <a:spLocks noGrp="1"/>
          </p:cNvSpPr>
          <p:nvPr>
            <p:ph type="title"/>
          </p:nvPr>
        </p:nvSpPr>
        <p:spPr/>
        <p:txBody>
          <a:bodyPr/>
          <a:lstStyle/>
          <a:p>
            <a:r>
              <a:rPr lang="en-US" altLang="zh-CN" sz="4000" dirty="0"/>
              <a:t>Needham-Schroeder</a:t>
            </a:r>
            <a:r>
              <a:rPr lang="zh-CN" altLang="en-US" sz="4000" dirty="0"/>
              <a:t>双向鉴别协议</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安全性分析及改进思路</a:t>
            </a:r>
          </a:p>
        </p:txBody>
      </p:sp>
      <p:sp>
        <p:nvSpPr>
          <p:cNvPr id="3" name="标题 2"/>
          <p:cNvSpPr>
            <a:spLocks noGrp="1"/>
          </p:cNvSpPr>
          <p:nvPr>
            <p:ph type="title"/>
          </p:nvPr>
        </p:nvSpPr>
        <p:spPr/>
        <p:txBody>
          <a:bodyPr/>
          <a:lstStyle/>
          <a:p>
            <a:r>
              <a:rPr lang="en-US" altLang="zh-CN" sz="4000" dirty="0"/>
              <a:t>Needham-Schroeder</a:t>
            </a:r>
            <a:r>
              <a:rPr lang="zh-CN" altLang="en-US" sz="4000" dirty="0"/>
              <a:t>双向鉴别协议</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ln>
          <a:effectLst/>
        </p:spPr>
        <p:txBody>
          <a:bodyPr wrap="none">
            <a:spAutoFit/>
          </a:bodyPr>
          <a:lstStyle/>
          <a:p>
            <a:endParaRPr lang="zh-CN" altLang="en-US">
              <a:ea typeface="宋体" panose="02010600030101010101" pitchFamily="2" charset="-122"/>
            </a:endParaRPr>
          </a:p>
        </p:txBody>
      </p:sp>
      <p:sp>
        <p:nvSpPr>
          <p:cNvPr id="25" name="AutoShape 4"/>
          <p:cNvSpPr>
            <a:spLocks noChangeArrowheads="1"/>
          </p:cNvSpPr>
          <p:nvPr/>
        </p:nvSpPr>
        <p:spPr bwMode="gray">
          <a:xfrm>
            <a:off x="1157333" y="1611524"/>
            <a:ext cx="755605" cy="653839"/>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26" name="AutoShape 5"/>
          <p:cNvSpPr>
            <a:spLocks noChangeArrowheads="1"/>
          </p:cNvSpPr>
          <p:nvPr/>
        </p:nvSpPr>
        <p:spPr bwMode="gray">
          <a:xfrm>
            <a:off x="1150938" y="1600200"/>
            <a:ext cx="755605" cy="653839"/>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27" name="AutoShape 6"/>
          <p:cNvSpPr>
            <a:spLocks noChangeArrowheads="1"/>
          </p:cNvSpPr>
          <p:nvPr/>
        </p:nvSpPr>
        <p:spPr bwMode="gray">
          <a:xfrm>
            <a:off x="1195212" y="1639588"/>
            <a:ext cx="664106" cy="575063"/>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endParaRPr lang="zh-CN" altLang="en-US"/>
          </a:p>
        </p:txBody>
      </p:sp>
      <p:sp>
        <p:nvSpPr>
          <p:cNvPr id="32" name="Line 7"/>
          <p:cNvSpPr>
            <a:spLocks noChangeShapeType="1"/>
          </p:cNvSpPr>
          <p:nvPr/>
        </p:nvSpPr>
        <p:spPr bwMode="auto">
          <a:xfrm>
            <a:off x="1760538" y="2209800"/>
            <a:ext cx="6175736" cy="4852"/>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33" name="Text Box 8"/>
          <p:cNvSpPr txBox="1">
            <a:spLocks noChangeArrowheads="1"/>
          </p:cNvSpPr>
          <p:nvPr/>
        </p:nvSpPr>
        <p:spPr bwMode="auto">
          <a:xfrm>
            <a:off x="1897196" y="1460711"/>
            <a:ext cx="6039077" cy="701675"/>
          </a:xfrm>
          <a:prstGeom prst="rect">
            <a:avLst/>
          </a:prstGeom>
          <a:noFill/>
          <a:ln w="9525" algn="ctr">
            <a:noFill/>
            <a:miter lim="800000"/>
          </a:ln>
          <a:effectLst/>
        </p:spPr>
        <p:txBody>
          <a:bodyPr wrap="square">
            <a:spAutoFit/>
          </a:bodyPr>
          <a:lstStyle>
            <a:defPPr>
              <a:defRPr lang="zh-CN"/>
            </a:defPPr>
            <a:lvl1pPr eaLnBrk="0" hangingPunct="0">
              <a:defRPr sz="4000">
                <a:solidFill>
                  <a:srgbClr val="000000"/>
                </a:solidFill>
                <a:ea typeface="隶书" panose="02010509060101010101" pitchFamily="49" charset="-122"/>
              </a:defRPr>
            </a:lvl1pPr>
          </a:lstStyle>
          <a:p>
            <a:r>
              <a:rPr lang="zh-CN" altLang="en-US" dirty="0"/>
              <a:t>身份认证</a:t>
            </a:r>
          </a:p>
        </p:txBody>
      </p:sp>
      <p:sp>
        <p:nvSpPr>
          <p:cNvPr id="34" name="Text Box 9"/>
          <p:cNvSpPr txBox="1">
            <a:spLocks noChangeArrowheads="1"/>
          </p:cNvSpPr>
          <p:nvPr/>
        </p:nvSpPr>
        <p:spPr bwMode="gray">
          <a:xfrm>
            <a:off x="1347788" y="1698625"/>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p>
        </p:txBody>
      </p:sp>
      <p:grpSp>
        <p:nvGrpSpPr>
          <p:cNvPr id="36" name="Group 11"/>
          <p:cNvGrpSpPr/>
          <p:nvPr/>
        </p:nvGrpSpPr>
        <p:grpSpPr bwMode="auto">
          <a:xfrm>
            <a:off x="1150938" y="2809875"/>
            <a:ext cx="762000" cy="665163"/>
            <a:chOff x="3174" y="2656"/>
            <a:chExt cx="1549" cy="1351"/>
          </a:xfrm>
        </p:grpSpPr>
        <p:sp>
          <p:nvSpPr>
            <p:cNvPr id="40" name="AutoShape 1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1" name="AutoShape 1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2" name="AutoShape 1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37" name="Line 15"/>
          <p:cNvSpPr>
            <a:spLocks noChangeShapeType="1"/>
          </p:cNvSpPr>
          <p:nvPr/>
        </p:nvSpPr>
        <p:spPr bwMode="auto">
          <a:xfrm flipV="1">
            <a:off x="1760537" y="3393426"/>
            <a:ext cx="6175737" cy="2605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38" name="Text Box 16"/>
          <p:cNvSpPr txBox="1">
            <a:spLocks noChangeArrowheads="1"/>
          </p:cNvSpPr>
          <p:nvPr/>
        </p:nvSpPr>
        <p:spPr bwMode="auto">
          <a:xfrm>
            <a:off x="1919333" y="2629904"/>
            <a:ext cx="6016942" cy="707886"/>
          </a:xfrm>
          <a:prstGeom prst="rect">
            <a:avLst/>
          </a:prstGeom>
          <a:solidFill>
            <a:srgbClr val="FF6600"/>
          </a:solidFill>
          <a:ln w="9525" algn="ctr">
            <a:noFill/>
            <a:miter lim="800000"/>
          </a:ln>
          <a:effectLst/>
        </p:spPr>
        <p:txBody>
          <a:bodyPr wrap="square">
            <a:spAutoFit/>
          </a:bodyPr>
          <a:lstStyle>
            <a:defPPr>
              <a:defRPr lang="zh-CN"/>
            </a:defPPr>
            <a:lvl1pPr eaLnBrk="0" hangingPunct="0">
              <a:defRPr sz="4000">
                <a:solidFill>
                  <a:srgbClr val="000000"/>
                </a:solidFill>
                <a:latin typeface="Times New Roman" panose="02020603050405020304" pitchFamily="18" charset="0"/>
                <a:ea typeface="隶书" panose="02010509060101010101" pitchFamily="49" charset="-122"/>
              </a:defRPr>
            </a:lvl1pPr>
          </a:lstStyle>
          <a:p>
            <a:r>
              <a:rPr lang="zh-CN" altLang="en-US" dirty="0"/>
              <a:t>口令行为规律和口令猜测</a:t>
            </a:r>
          </a:p>
        </p:txBody>
      </p:sp>
      <p:sp>
        <p:nvSpPr>
          <p:cNvPr id="39" name="Text Box 17"/>
          <p:cNvSpPr txBox="1">
            <a:spLocks noChangeArrowheads="1"/>
          </p:cNvSpPr>
          <p:nvPr/>
        </p:nvSpPr>
        <p:spPr bwMode="gray">
          <a:xfrm>
            <a:off x="1347788" y="2908300"/>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p>
        </p:txBody>
      </p:sp>
      <p:sp>
        <p:nvSpPr>
          <p:cNvPr id="44" name="AutoShape 20"/>
          <p:cNvSpPr>
            <a:spLocks noChangeArrowheads="1"/>
          </p:cNvSpPr>
          <p:nvPr/>
        </p:nvSpPr>
        <p:spPr bwMode="gray">
          <a:xfrm>
            <a:off x="1157333" y="4184862"/>
            <a:ext cx="755605" cy="65383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5" name="AutoShape 21"/>
          <p:cNvSpPr>
            <a:spLocks noChangeArrowheads="1"/>
          </p:cNvSpPr>
          <p:nvPr/>
        </p:nvSpPr>
        <p:spPr bwMode="gray">
          <a:xfrm>
            <a:off x="1150938" y="4173538"/>
            <a:ext cx="755605" cy="65383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6" name="AutoShape 22"/>
          <p:cNvSpPr>
            <a:spLocks noChangeArrowheads="1"/>
          </p:cNvSpPr>
          <p:nvPr/>
        </p:nvSpPr>
        <p:spPr bwMode="gray">
          <a:xfrm>
            <a:off x="1195212" y="4212926"/>
            <a:ext cx="664106" cy="575062"/>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endParaRPr lang="zh-CN" altLang="en-US"/>
          </a:p>
        </p:txBody>
      </p:sp>
      <p:sp>
        <p:nvSpPr>
          <p:cNvPr id="47" name="Line 23"/>
          <p:cNvSpPr>
            <a:spLocks noChangeShapeType="1"/>
          </p:cNvSpPr>
          <p:nvPr/>
        </p:nvSpPr>
        <p:spPr bwMode="auto">
          <a:xfrm>
            <a:off x="1760538" y="4783138"/>
            <a:ext cx="6175736" cy="16174"/>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8" name="Text Box 24"/>
          <p:cNvSpPr txBox="1">
            <a:spLocks noChangeArrowheads="1"/>
          </p:cNvSpPr>
          <p:nvPr/>
        </p:nvSpPr>
        <p:spPr bwMode="auto">
          <a:xfrm>
            <a:off x="1912938" y="4054406"/>
            <a:ext cx="5840910" cy="701675"/>
          </a:xfrm>
          <a:prstGeom prst="rect">
            <a:avLst/>
          </a:prstGeom>
          <a:noFill/>
          <a:ln w="9525" algn="ctr">
            <a:noFill/>
            <a:miter lim="800000"/>
          </a:ln>
          <a:effectLst/>
        </p:spPr>
        <p:txBody>
          <a:bodyPr wrap="square">
            <a:spAutoFit/>
          </a:bodyPr>
          <a:lstStyle/>
          <a:p>
            <a:pPr eaLnBrk="0" hangingPunct="0"/>
            <a:r>
              <a:rPr lang="zh-CN" altLang="en-US" sz="4000" b="1" dirty="0">
                <a:solidFill>
                  <a:srgbClr val="000000"/>
                </a:solidFill>
                <a:ea typeface="隶书" panose="02010509060101010101" pitchFamily="49" charset="-122"/>
              </a:rPr>
              <a:t>口令破解</a:t>
            </a:r>
          </a:p>
        </p:txBody>
      </p:sp>
      <p:sp>
        <p:nvSpPr>
          <p:cNvPr id="49" name="Text Box 25"/>
          <p:cNvSpPr txBox="1">
            <a:spLocks noChangeArrowheads="1"/>
          </p:cNvSpPr>
          <p:nvPr/>
        </p:nvSpPr>
        <p:spPr bwMode="gray">
          <a:xfrm>
            <a:off x="1347788" y="42719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p>
        </p:txBody>
      </p:sp>
      <p:grpSp>
        <p:nvGrpSpPr>
          <p:cNvPr id="28" name="Group 11"/>
          <p:cNvGrpSpPr/>
          <p:nvPr/>
        </p:nvGrpSpPr>
        <p:grpSpPr bwMode="auto">
          <a:xfrm>
            <a:off x="1195212" y="5360565"/>
            <a:ext cx="762000" cy="665163"/>
            <a:chOff x="3174" y="2656"/>
            <a:chExt cx="1549" cy="1351"/>
          </a:xfrm>
        </p:grpSpPr>
        <p:sp>
          <p:nvSpPr>
            <p:cNvPr id="29" name="AutoShape 1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30" name="AutoShape 1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31" name="AutoShape 1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50" name="Line 15"/>
          <p:cNvSpPr>
            <a:spLocks noChangeShapeType="1"/>
          </p:cNvSpPr>
          <p:nvPr/>
        </p:nvSpPr>
        <p:spPr bwMode="auto">
          <a:xfrm>
            <a:off x="1804812" y="5970165"/>
            <a:ext cx="6131462" cy="16174"/>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51" name="Text Box 16"/>
          <p:cNvSpPr txBox="1">
            <a:spLocks noChangeArrowheads="1"/>
          </p:cNvSpPr>
          <p:nvPr/>
        </p:nvSpPr>
        <p:spPr bwMode="auto">
          <a:xfrm>
            <a:off x="1941471" y="5212769"/>
            <a:ext cx="5614210" cy="707886"/>
          </a:xfrm>
          <a:prstGeom prst="rect">
            <a:avLst/>
          </a:prstGeom>
          <a:noFill/>
          <a:ln w="9525" algn="ctr">
            <a:noFill/>
            <a:miter lim="800000"/>
          </a:ln>
          <a:effectLst/>
        </p:spPr>
        <p:txBody>
          <a:bodyPr wrap="square">
            <a:spAutoFit/>
          </a:bodyPr>
          <a:lstStyle/>
          <a:p>
            <a:pPr eaLnBrk="0" hangingPunct="0"/>
            <a:r>
              <a:rPr lang="zh-CN" altLang="en-US" sz="4000" dirty="0">
                <a:solidFill>
                  <a:srgbClr val="000000"/>
                </a:solidFill>
                <a:ea typeface="隶书" panose="02010509060101010101" pitchFamily="49" charset="-122"/>
              </a:rPr>
              <a:t>口令防御</a:t>
            </a:r>
            <a:endParaRPr lang="zh-CN" altLang="en-US" sz="4000" b="1" dirty="0">
              <a:solidFill>
                <a:srgbClr val="000000"/>
              </a:solidFill>
              <a:ea typeface="隶书" panose="02010509060101010101" pitchFamily="49" charset="-122"/>
            </a:endParaRPr>
          </a:p>
        </p:txBody>
      </p:sp>
      <p:sp>
        <p:nvSpPr>
          <p:cNvPr id="52" name="Text Box 17"/>
          <p:cNvSpPr txBox="1">
            <a:spLocks noChangeArrowheads="1"/>
          </p:cNvSpPr>
          <p:nvPr/>
        </p:nvSpPr>
        <p:spPr bwMode="gray">
          <a:xfrm>
            <a:off x="1378952" y="5458990"/>
            <a:ext cx="380232" cy="461665"/>
          </a:xfrm>
          <a:prstGeom prst="rect">
            <a:avLst/>
          </a:prstGeom>
          <a:noFill/>
          <a:ln w="9525" algn="ctr">
            <a:noFill/>
            <a:miter lim="800000"/>
          </a:ln>
          <a:effectLst/>
        </p:spPr>
        <p:txBody>
          <a:bodyPr wrap="none">
            <a:spAutoFit/>
          </a:bodyPr>
          <a:lstStyle/>
          <a:p>
            <a:pPr algn="ctr" eaLnBrk="0" hangingPunct="0"/>
            <a:r>
              <a:rPr lang="en-US" altLang="zh-CN" sz="2400" dirty="0">
                <a:solidFill>
                  <a:schemeClr val="bg1"/>
                </a:solidFill>
              </a:rPr>
              <a:t>4</a:t>
            </a:r>
            <a:endParaRPr lang="en-US" altLang="zh-CN" sz="2400" b="1" dirty="0">
              <a:solidFill>
                <a:schemeClr val="bg1"/>
              </a:solidFill>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从直觉到理论</a:t>
            </a:r>
          </a:p>
        </p:txBody>
      </p:sp>
      <p:sp>
        <p:nvSpPr>
          <p:cNvPr id="3" name="标题 2"/>
          <p:cNvSpPr>
            <a:spLocks noGrp="1"/>
          </p:cNvSpPr>
          <p:nvPr>
            <p:ph type="title"/>
          </p:nvPr>
        </p:nvSpPr>
        <p:spPr/>
        <p:txBody>
          <a:bodyPr/>
          <a:lstStyle/>
          <a:p>
            <a:r>
              <a:rPr lang="zh-CN" altLang="en-US" dirty="0"/>
              <a:t>口令规律</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333" y="1371283"/>
            <a:ext cx="6016307" cy="4114800"/>
          </a:xfrm>
        </p:spPr>
        <p:txBody>
          <a:bodyPr/>
          <a:lstStyle/>
          <a:p>
            <a:r>
              <a:rPr lang="zh-CN" altLang="en-US" dirty="0"/>
              <a:t>口令有什么科学规律吗？</a:t>
            </a:r>
            <a:endParaRPr lang="en-US" altLang="zh-CN" dirty="0"/>
          </a:p>
          <a:p>
            <a:pPr lvl="1"/>
            <a:r>
              <a:rPr lang="zh-CN" altLang="zh-CN" dirty="0"/>
              <a:t>著名口令安全研究专家汪定教授所在团队的研究成果</a:t>
            </a:r>
            <a:endParaRPr lang="zh-CN" altLang="en-US" dirty="0"/>
          </a:p>
        </p:txBody>
      </p:sp>
      <p:sp>
        <p:nvSpPr>
          <p:cNvPr id="3" name="标题 2"/>
          <p:cNvSpPr>
            <a:spLocks noGrp="1"/>
          </p:cNvSpPr>
          <p:nvPr>
            <p:ph type="title"/>
          </p:nvPr>
        </p:nvSpPr>
        <p:spPr/>
        <p:txBody>
          <a:bodyPr/>
          <a:lstStyle/>
          <a:p>
            <a:r>
              <a:rPr lang="zh-CN" altLang="en-US" dirty="0"/>
              <a:t>口令规律</a:t>
            </a:r>
          </a:p>
        </p:txBody>
      </p:sp>
      <p:pic>
        <p:nvPicPr>
          <p:cNvPr id="4" name="图片 3"/>
          <p:cNvPicPr>
            <a:picLocks noChangeAspect="1"/>
          </p:cNvPicPr>
          <p:nvPr/>
        </p:nvPicPr>
        <p:blipFill>
          <a:blip r:embed="rId2"/>
          <a:stretch>
            <a:fillRect/>
          </a:stretch>
        </p:blipFill>
        <p:spPr>
          <a:xfrm>
            <a:off x="628333" y="3428683"/>
            <a:ext cx="8165146" cy="2575560"/>
          </a:xfrm>
          <a:prstGeom prst="rect">
            <a:avLst/>
          </a:prstGeom>
          <a:ln>
            <a:solidFill>
              <a:srgbClr val="FF0000"/>
            </a:solidFill>
          </a:ln>
        </p:spPr>
      </p:pic>
      <p:pic>
        <p:nvPicPr>
          <p:cNvPr id="5" name="图片 4"/>
          <p:cNvPicPr>
            <a:picLocks noChangeAspect="1"/>
          </p:cNvPicPr>
          <p:nvPr/>
        </p:nvPicPr>
        <p:blipFill>
          <a:blip r:embed="rId3"/>
          <a:stretch>
            <a:fillRect/>
          </a:stretch>
        </p:blipFill>
        <p:spPr>
          <a:xfrm>
            <a:off x="6746079" y="1539240"/>
            <a:ext cx="2047399" cy="151082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7700" y="1193165"/>
            <a:ext cx="7772400" cy="4114800"/>
          </a:xfrm>
        </p:spPr>
        <p:txBody>
          <a:bodyPr/>
          <a:lstStyle/>
          <a:p>
            <a:r>
              <a:rPr lang="zh-CN" altLang="zh-CN" sz="2400" dirty="0"/>
              <a:t>文献</a:t>
            </a:r>
            <a:r>
              <a:rPr lang="en-US" altLang="zh-CN" sz="2400" dirty="0"/>
              <a:t>[52]</a:t>
            </a:r>
            <a:r>
              <a:rPr lang="zh-CN" altLang="zh-CN" sz="2400" dirty="0"/>
              <a:t>对</a:t>
            </a:r>
            <a:r>
              <a:rPr lang="en-US" altLang="zh-CN" sz="2400" dirty="0"/>
              <a:t>8</a:t>
            </a:r>
            <a:r>
              <a:rPr lang="zh-CN" altLang="zh-CN" sz="2400" dirty="0"/>
              <a:t>个知名的真实口令集（如表</a:t>
            </a:r>
            <a:r>
              <a:rPr lang="en-US" altLang="zh-CN" sz="2400" dirty="0"/>
              <a:t>8-2</a:t>
            </a:r>
            <a:r>
              <a:rPr lang="zh-CN" altLang="zh-CN" sz="2400" dirty="0"/>
              <a:t>所示）进行了全面系统的分析，总结出</a:t>
            </a:r>
            <a:r>
              <a:rPr lang="en-US" altLang="zh-CN" sz="2400" dirty="0"/>
              <a:t>3</a:t>
            </a:r>
            <a:r>
              <a:rPr lang="zh-CN" altLang="zh-CN" sz="2400" dirty="0"/>
              <a:t>类脆弱口令行为：口令构造的偏好性选择、口令重用、基于个人信息构造口令</a:t>
            </a:r>
            <a:endParaRPr lang="zh-CN" altLang="en-US" sz="2400" dirty="0"/>
          </a:p>
        </p:txBody>
      </p:sp>
      <p:sp>
        <p:nvSpPr>
          <p:cNvPr id="3" name="标题 2"/>
          <p:cNvSpPr>
            <a:spLocks noGrp="1"/>
          </p:cNvSpPr>
          <p:nvPr>
            <p:ph type="title"/>
          </p:nvPr>
        </p:nvSpPr>
        <p:spPr/>
        <p:txBody>
          <a:bodyPr/>
          <a:lstStyle/>
          <a:p>
            <a:r>
              <a:rPr lang="zh-CN" altLang="en-US" dirty="0"/>
              <a:t>脆弱口令行为</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a:xfrm>
            <a:off x="457200" y="2987040"/>
            <a:ext cx="8153400" cy="356615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7700" y="1193165"/>
            <a:ext cx="7772400" cy="4114800"/>
          </a:xfrm>
        </p:spPr>
        <p:txBody>
          <a:bodyPr/>
          <a:lstStyle/>
          <a:p>
            <a:r>
              <a:rPr lang="zh-CN" altLang="en-US" sz="2800" dirty="0"/>
              <a:t>口令构造的偏好性选择：</a:t>
            </a:r>
            <a:r>
              <a:rPr lang="zh-CN" altLang="en-US" sz="2800" dirty="0">
                <a:solidFill>
                  <a:srgbClr val="FF0000"/>
                </a:solidFill>
              </a:rPr>
              <a:t>国民口令</a:t>
            </a:r>
          </a:p>
        </p:txBody>
      </p:sp>
      <p:sp>
        <p:nvSpPr>
          <p:cNvPr id="3" name="标题 2"/>
          <p:cNvSpPr>
            <a:spLocks noGrp="1"/>
          </p:cNvSpPr>
          <p:nvPr>
            <p:ph type="title"/>
          </p:nvPr>
        </p:nvSpPr>
        <p:spPr/>
        <p:txBody>
          <a:bodyPr/>
          <a:lstStyle/>
          <a:p>
            <a:r>
              <a:rPr lang="zh-CN" altLang="en-US" dirty="0"/>
              <a:t>脆弱口令行为</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a:xfrm>
            <a:off x="647700" y="2127250"/>
            <a:ext cx="7644448" cy="390779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7700" y="1193165"/>
            <a:ext cx="7772400" cy="4114800"/>
          </a:xfrm>
        </p:spPr>
        <p:txBody>
          <a:bodyPr/>
          <a:lstStyle/>
          <a:p>
            <a:r>
              <a:rPr lang="zh-CN" altLang="en-US" sz="2800" dirty="0"/>
              <a:t>口令构造的偏好性选择：</a:t>
            </a:r>
            <a:r>
              <a:rPr lang="zh-CN" altLang="en-US" sz="2800" dirty="0">
                <a:solidFill>
                  <a:srgbClr val="FF0000"/>
                </a:solidFill>
              </a:rPr>
              <a:t>国民口令</a:t>
            </a:r>
            <a:endParaRPr lang="en-US" altLang="zh-CN" sz="2800" dirty="0">
              <a:solidFill>
                <a:srgbClr val="FF0000"/>
              </a:solidFill>
            </a:endParaRPr>
          </a:p>
          <a:p>
            <a:pPr lvl="1"/>
            <a:r>
              <a:rPr lang="zh-CN" altLang="zh-CN" dirty="0">
                <a:solidFill>
                  <a:srgbClr val="FF0000"/>
                </a:solidFill>
              </a:rPr>
              <a:t>中文国民口令多为纯数字，而英文国民口令多含有字母</a:t>
            </a:r>
            <a:r>
              <a:rPr lang="zh-CN" altLang="zh-CN" dirty="0"/>
              <a:t>，这体现了语言对口令行为的影响。高达</a:t>
            </a:r>
            <a:r>
              <a:rPr lang="en-US" altLang="zh-CN" dirty="0"/>
              <a:t>1.01%~10.44</a:t>
            </a:r>
            <a:r>
              <a:rPr lang="zh-CN" altLang="zh-CN" dirty="0"/>
              <a:t>的用户选择流行的</a:t>
            </a:r>
            <a:r>
              <a:rPr lang="en-US" altLang="zh-CN" dirty="0"/>
              <a:t>10</a:t>
            </a:r>
            <a:r>
              <a:rPr lang="zh-CN" altLang="zh-CN" dirty="0"/>
              <a:t>个口令，这意味着攻击者只需尝试</a:t>
            </a:r>
            <a:r>
              <a:rPr lang="en-US" altLang="zh-CN" dirty="0"/>
              <a:t>10</a:t>
            </a:r>
            <a:r>
              <a:rPr lang="zh-CN" altLang="zh-CN" dirty="0"/>
              <a:t>个流行的口令，其成功率就会达到</a:t>
            </a:r>
            <a:r>
              <a:rPr lang="en-US" altLang="zh-CN" dirty="0"/>
              <a:t>1.01%~10.44</a:t>
            </a:r>
            <a:endParaRPr lang="zh-CN" altLang="en-US" sz="2400" dirty="0">
              <a:solidFill>
                <a:srgbClr val="FF0000"/>
              </a:solidFill>
            </a:endParaRPr>
          </a:p>
        </p:txBody>
      </p:sp>
      <p:sp>
        <p:nvSpPr>
          <p:cNvPr id="3" name="标题 2"/>
          <p:cNvSpPr>
            <a:spLocks noGrp="1"/>
          </p:cNvSpPr>
          <p:nvPr>
            <p:ph type="title"/>
          </p:nvPr>
        </p:nvSpPr>
        <p:spPr/>
        <p:txBody>
          <a:bodyPr/>
          <a:lstStyle/>
          <a:p>
            <a:r>
              <a:rPr lang="zh-CN" altLang="en-US" dirty="0"/>
              <a:t>脆弱口令行为</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7700" y="1193164"/>
            <a:ext cx="7772400" cy="5055235"/>
          </a:xfrm>
        </p:spPr>
        <p:txBody>
          <a:bodyPr/>
          <a:lstStyle/>
          <a:p>
            <a:r>
              <a:rPr lang="zh-CN" altLang="en-US" sz="2800" dirty="0"/>
              <a:t>口令构造的偏好性选择：</a:t>
            </a:r>
            <a:r>
              <a:rPr lang="zh-CN" altLang="en-US" sz="2800" dirty="0">
                <a:solidFill>
                  <a:srgbClr val="FF0000"/>
                </a:solidFill>
              </a:rPr>
              <a:t>国民口令</a:t>
            </a:r>
            <a:endParaRPr lang="en-US" altLang="zh-CN" sz="2800" dirty="0">
              <a:solidFill>
                <a:srgbClr val="FF0000"/>
              </a:solidFill>
            </a:endParaRPr>
          </a:p>
          <a:p>
            <a:pPr lvl="1"/>
            <a:r>
              <a:rPr lang="zh-CN" altLang="zh-CN" dirty="0">
                <a:solidFill>
                  <a:srgbClr val="FF0000"/>
                </a:solidFill>
              </a:rPr>
              <a:t>英文网民倾向于用某些单词和短语</a:t>
            </a:r>
            <a:r>
              <a:rPr lang="zh-CN" altLang="zh-CN" dirty="0"/>
              <a:t>，有</a:t>
            </a:r>
            <a:r>
              <a:rPr lang="en-US" altLang="zh-CN" dirty="0"/>
              <a:t> 25.88</a:t>
            </a:r>
            <a:r>
              <a:rPr lang="zh-CN" altLang="zh-CN" dirty="0"/>
              <a:t>％的网民会将</a:t>
            </a:r>
            <a:r>
              <a:rPr lang="en-US" altLang="zh-CN" dirty="0"/>
              <a:t>5</a:t>
            </a:r>
            <a:r>
              <a:rPr lang="zh-CN" altLang="zh-CN" dirty="0"/>
              <a:t>个字母以上的单词作为密口令，如</a:t>
            </a:r>
            <a:r>
              <a:rPr lang="en-US" altLang="zh-CN" dirty="0"/>
              <a:t> password</a:t>
            </a:r>
            <a:r>
              <a:rPr lang="zh-CN" altLang="zh-CN" dirty="0"/>
              <a:t>、</a:t>
            </a:r>
            <a:r>
              <a:rPr lang="en-US" altLang="zh-CN" dirty="0" err="1"/>
              <a:t>letmein</a:t>
            </a:r>
            <a:r>
              <a:rPr lang="zh-CN" altLang="zh-CN" dirty="0"/>
              <a:t>（意为“让我登录”）、</a:t>
            </a:r>
            <a:r>
              <a:rPr lang="en-US" altLang="zh-CN" dirty="0"/>
              <a:t>sunshine</a:t>
            </a:r>
            <a:r>
              <a:rPr lang="zh-CN" altLang="zh-CN" dirty="0"/>
              <a:t>、</a:t>
            </a:r>
            <a:r>
              <a:rPr lang="en-US" altLang="zh-CN" dirty="0"/>
              <a:t>princess</a:t>
            </a:r>
            <a:r>
              <a:rPr lang="zh-CN" altLang="zh-CN" dirty="0"/>
              <a:t>，当然也包括“</a:t>
            </a:r>
            <a:r>
              <a:rPr lang="en-US" altLang="zh-CN" dirty="0" err="1"/>
              <a:t>abcdef</a:t>
            </a:r>
            <a:r>
              <a:rPr lang="zh-CN" altLang="zh-CN" dirty="0"/>
              <a:t>”，“</a:t>
            </a:r>
            <a:r>
              <a:rPr lang="en-US" altLang="zh-CN" dirty="0"/>
              <a:t>abc123</a:t>
            </a:r>
            <a:r>
              <a:rPr lang="zh-CN" altLang="zh-CN" dirty="0"/>
              <a:t>”以及“</a:t>
            </a:r>
            <a:r>
              <a:rPr lang="en-US" altLang="zh-CN" dirty="0"/>
              <a:t>123456</a:t>
            </a:r>
            <a:r>
              <a:rPr lang="zh-CN" altLang="zh-CN" dirty="0"/>
              <a:t>”这样的国民口令。而</a:t>
            </a:r>
            <a:r>
              <a:rPr lang="zh-CN" altLang="zh-CN" dirty="0">
                <a:solidFill>
                  <a:srgbClr val="FF0000"/>
                </a:solidFill>
              </a:rPr>
              <a:t>中文网民只有</a:t>
            </a:r>
            <a:r>
              <a:rPr lang="en-US" altLang="zh-CN" dirty="0">
                <a:solidFill>
                  <a:srgbClr val="FF0000"/>
                </a:solidFill>
              </a:rPr>
              <a:t>2.41%</a:t>
            </a:r>
            <a:r>
              <a:rPr lang="zh-CN" altLang="zh-CN" dirty="0">
                <a:solidFill>
                  <a:srgbClr val="FF0000"/>
                </a:solidFill>
              </a:rPr>
              <a:t>使用英文单词作为口令，但他们更喜欢用拼音名字</a:t>
            </a:r>
            <a:r>
              <a:rPr lang="zh-CN" altLang="zh-CN" dirty="0"/>
              <a:t>（</a:t>
            </a:r>
            <a:r>
              <a:rPr lang="en-US" altLang="zh-CN" dirty="0"/>
              <a:t>11.50%</a:t>
            </a:r>
            <a:r>
              <a:rPr lang="zh-CN" altLang="zh-CN" dirty="0"/>
              <a:t>），尤其是全名。</a:t>
            </a:r>
            <a:endParaRPr lang="zh-CN" altLang="en-US" sz="2400" dirty="0">
              <a:solidFill>
                <a:srgbClr val="FF0000"/>
              </a:solidFill>
            </a:endParaRPr>
          </a:p>
        </p:txBody>
      </p:sp>
      <p:sp>
        <p:nvSpPr>
          <p:cNvPr id="3" name="标题 2"/>
          <p:cNvSpPr>
            <a:spLocks noGrp="1"/>
          </p:cNvSpPr>
          <p:nvPr>
            <p:ph type="title"/>
          </p:nvPr>
        </p:nvSpPr>
        <p:spPr/>
        <p:txBody>
          <a:bodyPr/>
          <a:lstStyle/>
          <a:p>
            <a:r>
              <a:rPr lang="zh-CN" altLang="en-US" dirty="0"/>
              <a:t>脆弱口令行为</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7700" y="1193164"/>
            <a:ext cx="7772400" cy="5055235"/>
          </a:xfrm>
        </p:spPr>
        <p:txBody>
          <a:bodyPr/>
          <a:lstStyle/>
          <a:p>
            <a:r>
              <a:rPr lang="zh-CN" altLang="en-US" sz="2800" dirty="0"/>
              <a:t>口令构造的偏好性选择：</a:t>
            </a:r>
            <a:r>
              <a:rPr lang="zh-CN" altLang="en-US" sz="2800" dirty="0">
                <a:solidFill>
                  <a:srgbClr val="FF0000"/>
                </a:solidFill>
              </a:rPr>
              <a:t>国民口令</a:t>
            </a:r>
            <a:endParaRPr lang="en-US" altLang="zh-CN" sz="2800" dirty="0">
              <a:solidFill>
                <a:srgbClr val="FF0000"/>
              </a:solidFill>
            </a:endParaRPr>
          </a:p>
          <a:p>
            <a:pPr lvl="1"/>
            <a:r>
              <a:rPr lang="zh-CN" altLang="zh-CN" dirty="0"/>
              <a:t>一些基于英文字母的所谓“强”密码可能在中文环境中很弱，比如“</a:t>
            </a:r>
            <a:r>
              <a:rPr lang="en-US" altLang="zh-CN" dirty="0"/>
              <a:t>woaini1314</a:t>
            </a:r>
            <a:r>
              <a:rPr lang="zh-CN" altLang="zh-CN" dirty="0"/>
              <a:t>”，这个密码在谷歌、新浪微博等网络平台均被评为强等级，然而中文网络用户很容易猜到这个密码的含义。</a:t>
            </a:r>
            <a:endParaRPr lang="zh-CN" altLang="en-US" sz="2400" dirty="0">
              <a:solidFill>
                <a:srgbClr val="FF0000"/>
              </a:solidFill>
            </a:endParaRPr>
          </a:p>
        </p:txBody>
      </p:sp>
      <p:sp>
        <p:nvSpPr>
          <p:cNvPr id="3" name="标题 2"/>
          <p:cNvSpPr>
            <a:spLocks noGrp="1"/>
          </p:cNvSpPr>
          <p:nvPr>
            <p:ph type="title"/>
          </p:nvPr>
        </p:nvSpPr>
        <p:spPr/>
        <p:txBody>
          <a:bodyPr/>
          <a:lstStyle/>
          <a:p>
            <a:r>
              <a:rPr lang="zh-CN" altLang="en-US" dirty="0"/>
              <a:t>脆弱口令行为</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7700" y="1193164"/>
            <a:ext cx="7772400" cy="5055235"/>
          </a:xfrm>
        </p:spPr>
        <p:txBody>
          <a:bodyPr/>
          <a:lstStyle/>
          <a:p>
            <a:r>
              <a:rPr lang="zh-CN" altLang="en-US" sz="2800" dirty="0"/>
              <a:t>口令构造的偏好性选择：</a:t>
            </a:r>
            <a:r>
              <a:rPr lang="zh-CN" altLang="en-US" sz="2800" dirty="0">
                <a:solidFill>
                  <a:srgbClr val="FF0000"/>
                </a:solidFill>
              </a:rPr>
              <a:t>口令服从</a:t>
            </a:r>
            <a:r>
              <a:rPr lang="en-US" altLang="zh-CN" sz="2800" dirty="0" err="1">
                <a:solidFill>
                  <a:srgbClr val="FF0000"/>
                </a:solidFill>
              </a:rPr>
              <a:t>Zipf</a:t>
            </a:r>
            <a:r>
              <a:rPr lang="zh-CN" altLang="en-US" sz="2800" dirty="0">
                <a:solidFill>
                  <a:srgbClr val="FF0000"/>
                </a:solidFill>
              </a:rPr>
              <a:t>分布</a:t>
            </a:r>
            <a:endParaRPr lang="en-US" altLang="zh-CN" sz="2800" dirty="0">
              <a:solidFill>
                <a:srgbClr val="FF0000"/>
              </a:solidFill>
            </a:endParaRPr>
          </a:p>
          <a:p>
            <a:pPr lvl="1"/>
            <a:endParaRPr lang="zh-CN" altLang="en-US" sz="2400" dirty="0">
              <a:solidFill>
                <a:srgbClr val="FF0000"/>
              </a:solidFill>
            </a:endParaRPr>
          </a:p>
        </p:txBody>
      </p:sp>
      <p:sp>
        <p:nvSpPr>
          <p:cNvPr id="3" name="标题 2"/>
          <p:cNvSpPr>
            <a:spLocks noGrp="1"/>
          </p:cNvSpPr>
          <p:nvPr>
            <p:ph type="title"/>
          </p:nvPr>
        </p:nvSpPr>
        <p:spPr/>
        <p:txBody>
          <a:bodyPr/>
          <a:lstStyle/>
          <a:p>
            <a:r>
              <a:rPr lang="zh-CN" altLang="en-US" dirty="0"/>
              <a:t>脆弱口令行为</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a:xfrm>
            <a:off x="935037" y="2042478"/>
            <a:ext cx="6844983" cy="3779202"/>
          </a:xfrm>
          <a:prstGeom prst="rect">
            <a:avLst/>
          </a:prstGeom>
          <a:noFill/>
          <a:ln>
            <a:noFill/>
          </a:ln>
        </p:spPr>
      </p:pic>
      <p:sp>
        <p:nvSpPr>
          <p:cNvPr id="5" name="矩形 4"/>
          <p:cNvSpPr/>
          <p:nvPr/>
        </p:nvSpPr>
        <p:spPr>
          <a:xfrm>
            <a:off x="1719897" y="5970506"/>
            <a:ext cx="5989320" cy="369332"/>
          </a:xfrm>
          <a:prstGeom prst="rect">
            <a:avLst/>
          </a:prstGeom>
        </p:spPr>
        <p:txBody>
          <a:bodyPr wrap="square">
            <a:spAutoFit/>
          </a:bodyPr>
          <a:lstStyle/>
          <a:p>
            <a:r>
              <a:rPr lang="zh-CN" altLang="zh-CN" kern="100" dirty="0">
                <a:latin typeface="Times New Roman" panose="02020603050405020304" pitchFamily="18" charset="0"/>
                <a:cs typeface="Times New Roman" panose="02020603050405020304" pitchFamily="18" charset="0"/>
              </a:rPr>
              <a:t>图</a:t>
            </a:r>
            <a:r>
              <a:rPr lang="en-US" altLang="zh-CN" kern="100" dirty="0">
                <a:latin typeface="Times New Roman" panose="02020603050405020304" pitchFamily="18" charset="0"/>
              </a:rPr>
              <a:t>8-6 </a:t>
            </a:r>
            <a:r>
              <a:rPr lang="zh-CN" altLang="zh-CN" kern="100" dirty="0">
                <a:latin typeface="Times New Roman" panose="02020603050405020304" pitchFamily="18" charset="0"/>
                <a:cs typeface="Times New Roman" panose="02020603050405020304" pitchFamily="18" charset="0"/>
              </a:rPr>
              <a:t>人类生成的口令服从</a:t>
            </a:r>
            <a:r>
              <a:rPr lang="en-US" altLang="zh-CN" kern="100" dirty="0" err="1">
                <a:latin typeface="Times New Roman" panose="02020603050405020304" pitchFamily="18" charset="0"/>
              </a:rPr>
              <a:t>Zipf</a:t>
            </a:r>
            <a:r>
              <a:rPr lang="zh-CN" altLang="zh-CN" kern="100" dirty="0">
                <a:latin typeface="Times New Roman" panose="02020603050405020304" pitchFamily="18" charset="0"/>
                <a:cs typeface="Times New Roman" panose="02020603050405020304" pitchFamily="18" charset="0"/>
              </a:rPr>
              <a:t>分布（源自文献</a:t>
            </a:r>
            <a:r>
              <a:rPr lang="en-US" altLang="zh-CN" kern="100" dirty="0">
                <a:latin typeface="Times New Roman" panose="02020603050405020304" pitchFamily="18" charset="0"/>
              </a:rPr>
              <a:t>[52]</a:t>
            </a:r>
            <a:r>
              <a:rPr lang="zh-CN" altLang="zh-CN" kern="100" dirty="0">
                <a:latin typeface="Times New Roman" panose="02020603050405020304" pitchFamily="18" charset="0"/>
                <a:cs typeface="Times New Roman" panose="02020603050405020304" pitchFamily="18" charset="0"/>
              </a:rPr>
              <a:t>图</a:t>
            </a:r>
            <a:r>
              <a:rPr lang="en-US" altLang="zh-CN" kern="100" dirty="0">
                <a:latin typeface="Times New Roman" panose="02020603050405020304" pitchFamily="18" charset="0"/>
              </a:rPr>
              <a:t>1</a:t>
            </a:r>
            <a:r>
              <a:rPr lang="zh-CN" altLang="zh-CN" kern="100" dirty="0">
                <a:latin typeface="Times New Roman" panose="02020603050405020304" pitchFamily="18" charset="0"/>
                <a:cs typeface="Times New Roman" panose="02020603050405020304" pitchFamily="18" charset="0"/>
              </a:rPr>
              <a:t>）</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7700" y="1193164"/>
            <a:ext cx="7772400" cy="5055235"/>
          </a:xfrm>
        </p:spPr>
        <p:txBody>
          <a:bodyPr/>
          <a:lstStyle/>
          <a:p>
            <a:r>
              <a:rPr lang="zh-CN" altLang="en-US" sz="2800" dirty="0"/>
              <a:t>口令构造的偏好性选择：</a:t>
            </a:r>
            <a:r>
              <a:rPr lang="zh-CN" altLang="en-US" sz="2800" dirty="0">
                <a:solidFill>
                  <a:srgbClr val="FF0000"/>
                </a:solidFill>
              </a:rPr>
              <a:t>口令字符构成</a:t>
            </a:r>
            <a:endParaRPr lang="en-US" altLang="zh-CN" sz="2800" dirty="0">
              <a:solidFill>
                <a:srgbClr val="FF0000"/>
              </a:solidFill>
            </a:endParaRPr>
          </a:p>
          <a:p>
            <a:pPr lvl="1"/>
            <a:endParaRPr lang="zh-CN" altLang="en-US" sz="2400" dirty="0">
              <a:solidFill>
                <a:srgbClr val="FF0000"/>
              </a:solidFill>
            </a:endParaRPr>
          </a:p>
        </p:txBody>
      </p:sp>
      <p:sp>
        <p:nvSpPr>
          <p:cNvPr id="3" name="标题 2"/>
          <p:cNvSpPr>
            <a:spLocks noGrp="1"/>
          </p:cNvSpPr>
          <p:nvPr>
            <p:ph type="title"/>
          </p:nvPr>
        </p:nvSpPr>
        <p:spPr/>
        <p:txBody>
          <a:bodyPr/>
          <a:lstStyle/>
          <a:p>
            <a:r>
              <a:rPr lang="zh-CN" altLang="en-US" dirty="0"/>
              <a:t>脆弱口令行为</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a:xfrm>
            <a:off x="396240" y="2007552"/>
            <a:ext cx="8275320" cy="3875086"/>
          </a:xfrm>
          <a:prstGeom prst="rect">
            <a:avLst/>
          </a:prstGeom>
          <a:noFill/>
          <a:ln>
            <a:noFill/>
          </a:ln>
        </p:spPr>
      </p:pic>
      <p:sp>
        <p:nvSpPr>
          <p:cNvPr id="6" name="矩形 5"/>
          <p:cNvSpPr/>
          <p:nvPr/>
        </p:nvSpPr>
        <p:spPr>
          <a:xfrm>
            <a:off x="838200" y="5970506"/>
            <a:ext cx="7833360" cy="369332"/>
          </a:xfrm>
          <a:prstGeom prst="rect">
            <a:avLst/>
          </a:prstGeom>
        </p:spPr>
        <p:txBody>
          <a:bodyPr wrap="square">
            <a:spAutoFit/>
          </a:bodyPr>
          <a:lstStyle/>
          <a:p>
            <a:r>
              <a:rPr lang="zh-CN" altLang="zh-CN" kern="100" dirty="0">
                <a:latin typeface="Times New Roman" panose="02020603050405020304" pitchFamily="18" charset="0"/>
                <a:cs typeface="Times New Roman" panose="02020603050405020304" pitchFamily="18" charset="0"/>
              </a:rPr>
              <a:t>表</a:t>
            </a:r>
            <a:r>
              <a:rPr lang="en-US" altLang="zh-CN" kern="100" dirty="0">
                <a:latin typeface="Times New Roman" panose="02020603050405020304" pitchFamily="18" charset="0"/>
              </a:rPr>
              <a:t>8-4 </a:t>
            </a:r>
            <a:r>
              <a:rPr lang="zh-CN" altLang="zh-CN" kern="100" dirty="0">
                <a:latin typeface="Times New Roman" panose="02020603050405020304" pitchFamily="18" charset="0"/>
                <a:cs typeface="Times New Roman" panose="02020603050405020304" pitchFamily="18" charset="0"/>
              </a:rPr>
              <a:t>中英文用户口令的字符组成结构（文献</a:t>
            </a:r>
            <a:r>
              <a:rPr lang="en-US" altLang="zh-CN" kern="100" dirty="0">
                <a:latin typeface="Times New Roman" panose="02020603050405020304" pitchFamily="18" charset="0"/>
              </a:rPr>
              <a:t>[52]</a:t>
            </a:r>
            <a:r>
              <a:rPr lang="zh-CN" altLang="zh-CN" kern="100" dirty="0">
                <a:latin typeface="Times New Roman" panose="02020603050405020304" pitchFamily="18" charset="0"/>
                <a:cs typeface="Times New Roman" panose="02020603050405020304" pitchFamily="18" charset="0"/>
              </a:rPr>
              <a:t>的表</a:t>
            </a:r>
            <a:r>
              <a:rPr lang="en-US" altLang="zh-CN" kern="100" dirty="0">
                <a:latin typeface="Times New Roman" panose="02020603050405020304" pitchFamily="18" charset="0"/>
              </a:rPr>
              <a:t>3</a:t>
            </a:r>
            <a:r>
              <a:rPr lang="zh-CN" altLang="zh-CN" kern="100" dirty="0">
                <a:latin typeface="Times New Roman" panose="02020603050405020304" pitchFamily="18" charset="0"/>
                <a:cs typeface="Times New Roman" panose="02020603050405020304" pitchFamily="18" charset="0"/>
              </a:rPr>
              <a:t>，表中数据单位为</a:t>
            </a:r>
            <a:r>
              <a:rPr lang="en-US" altLang="zh-CN" kern="100" dirty="0">
                <a:latin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7700" y="1193164"/>
            <a:ext cx="7772400" cy="5055235"/>
          </a:xfrm>
        </p:spPr>
        <p:txBody>
          <a:bodyPr/>
          <a:lstStyle/>
          <a:p>
            <a:r>
              <a:rPr lang="zh-CN" altLang="en-US" sz="2800" dirty="0"/>
              <a:t>口令构造的偏好性选择：</a:t>
            </a:r>
            <a:r>
              <a:rPr lang="zh-CN" altLang="en-US" sz="2800" dirty="0">
                <a:solidFill>
                  <a:srgbClr val="FF0000"/>
                </a:solidFill>
              </a:rPr>
              <a:t>口令长度</a:t>
            </a:r>
            <a:endParaRPr lang="zh-CN" altLang="en-US" sz="2400" dirty="0">
              <a:solidFill>
                <a:srgbClr val="FF0000"/>
              </a:solidFill>
            </a:endParaRPr>
          </a:p>
        </p:txBody>
      </p:sp>
      <p:sp>
        <p:nvSpPr>
          <p:cNvPr id="3" name="标题 2"/>
          <p:cNvSpPr>
            <a:spLocks noGrp="1"/>
          </p:cNvSpPr>
          <p:nvPr>
            <p:ph type="title"/>
          </p:nvPr>
        </p:nvSpPr>
        <p:spPr/>
        <p:txBody>
          <a:bodyPr/>
          <a:lstStyle/>
          <a:p>
            <a:r>
              <a:rPr lang="zh-CN" altLang="en-US" dirty="0"/>
              <a:t>脆弱口令行为</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a:xfrm>
            <a:off x="241935" y="1719888"/>
            <a:ext cx="8702040" cy="4206239"/>
          </a:xfrm>
          <a:prstGeom prst="rect">
            <a:avLst/>
          </a:prstGeom>
          <a:noFill/>
          <a:ln>
            <a:noFill/>
          </a:ln>
        </p:spPr>
      </p:pic>
      <p:sp>
        <p:nvSpPr>
          <p:cNvPr id="4" name="矩形 3"/>
          <p:cNvSpPr/>
          <p:nvPr/>
        </p:nvSpPr>
        <p:spPr>
          <a:xfrm>
            <a:off x="647700" y="5926127"/>
            <a:ext cx="8199120" cy="461665"/>
          </a:xfrm>
          <a:prstGeom prst="rect">
            <a:avLst/>
          </a:prstGeom>
        </p:spPr>
        <p:txBody>
          <a:bodyPr wrap="square">
            <a:spAutoFit/>
          </a:bodyPr>
          <a:lstStyle/>
          <a:p>
            <a:pPr indent="228600" algn="ctr">
              <a:spcAft>
                <a:spcPts val="0"/>
              </a:spcAft>
            </a:pPr>
            <a:r>
              <a:rPr lang="zh-CN" altLang="zh-CN" kern="100" dirty="0">
                <a:latin typeface="Times New Roman" panose="02020603050405020304" pitchFamily="18" charset="0"/>
                <a:cs typeface="Times New Roman" panose="02020603050405020304" pitchFamily="18" charset="0"/>
              </a:rPr>
              <a:t>表</a:t>
            </a:r>
            <a:r>
              <a:rPr lang="en-US" altLang="zh-CN" kern="100" dirty="0">
                <a:latin typeface="Times New Roman" panose="02020603050405020304" pitchFamily="18" charset="0"/>
                <a:cs typeface="Times New Roman" panose="02020603050405020304" pitchFamily="18" charset="0"/>
              </a:rPr>
              <a:t>8-5 </a:t>
            </a:r>
            <a:r>
              <a:rPr lang="zh-CN" altLang="zh-CN" kern="100" dirty="0">
                <a:latin typeface="Times New Roman" panose="02020603050405020304" pitchFamily="18" charset="0"/>
                <a:cs typeface="Times New Roman" panose="02020603050405020304" pitchFamily="18" charset="0"/>
              </a:rPr>
              <a:t>中英文用户口令的长度分布（文献</a:t>
            </a:r>
            <a:r>
              <a:rPr lang="en-US" altLang="zh-CN" kern="100" dirty="0">
                <a:latin typeface="Times New Roman" panose="02020603050405020304" pitchFamily="18" charset="0"/>
                <a:cs typeface="Times New Roman" panose="02020603050405020304" pitchFamily="18" charset="0"/>
              </a:rPr>
              <a:t>[52]</a:t>
            </a:r>
            <a:r>
              <a:rPr lang="zh-CN" altLang="zh-CN" kern="100" dirty="0">
                <a:latin typeface="Times New Roman" panose="02020603050405020304" pitchFamily="18" charset="0"/>
                <a:cs typeface="Times New Roman" panose="02020603050405020304" pitchFamily="18" charset="0"/>
              </a:rPr>
              <a:t>的表</a:t>
            </a:r>
            <a:r>
              <a:rPr lang="en-US" altLang="zh-CN" kern="100" dirty="0">
                <a:latin typeface="Times New Roman" panose="02020603050405020304" pitchFamily="18" charset="0"/>
                <a:cs typeface="Times New Roman" panose="02020603050405020304" pitchFamily="18" charset="0"/>
              </a:rPr>
              <a:t>4</a:t>
            </a:r>
            <a:r>
              <a:rPr lang="zh-CN" altLang="zh-CN" kern="100" dirty="0">
                <a:latin typeface="Times New Roman" panose="02020603050405020304" pitchFamily="18" charset="0"/>
                <a:cs typeface="Times New Roman" panose="02020603050405020304" pitchFamily="18" charset="0"/>
              </a:rPr>
              <a:t>，表中数据单位为</a:t>
            </a:r>
            <a:r>
              <a:rPr lang="en-US" altLang="zh-CN" kern="100" dirty="0">
                <a:latin typeface="Times New Roman" panose="02020603050405020304" pitchFamily="18" charset="0"/>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a:t>
            </a:r>
            <a:endParaRPr lang="zh-CN" altLang="zh-CN" sz="2400" kern="100" dirty="0">
              <a:latin typeface="Calibri" panose="020F0502020204030204" pitchFamily="34"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45452" y="1264602"/>
            <a:ext cx="8302308" cy="5075238"/>
          </a:xfrm>
        </p:spPr>
        <p:txBody>
          <a:bodyPr/>
          <a:lstStyle/>
          <a:p>
            <a:pPr>
              <a:lnSpc>
                <a:spcPts val="4000"/>
              </a:lnSpc>
            </a:pPr>
            <a:r>
              <a:rPr lang="zh-CN" altLang="en-US" dirty="0"/>
              <a:t>口令重用：</a:t>
            </a:r>
            <a:endParaRPr lang="en-US" altLang="zh-CN" dirty="0"/>
          </a:p>
          <a:p>
            <a:pPr lvl="1">
              <a:lnSpc>
                <a:spcPts val="4000"/>
              </a:lnSpc>
            </a:pPr>
            <a:r>
              <a:rPr lang="zh-CN" altLang="zh-CN" dirty="0"/>
              <a:t>为了方便记忆，用户不可避免地使用流行密码，</a:t>
            </a:r>
            <a:r>
              <a:rPr lang="zh-CN" altLang="zh-CN" dirty="0">
                <a:solidFill>
                  <a:srgbClr val="FF0000"/>
                </a:solidFill>
              </a:rPr>
              <a:t>在不同网站重复使用同一个密码，同时在密码中嵌入个人相关信息，如姓名和生日</a:t>
            </a:r>
            <a:r>
              <a:rPr lang="zh-CN" altLang="zh-CN" dirty="0"/>
              <a:t>等</a:t>
            </a:r>
            <a:endParaRPr lang="en-US" altLang="zh-CN" dirty="0"/>
          </a:p>
          <a:p>
            <a:pPr lvl="1">
              <a:lnSpc>
                <a:spcPts val="4000"/>
              </a:lnSpc>
            </a:pPr>
            <a:r>
              <a:rPr lang="zh-CN" altLang="zh-CN" dirty="0"/>
              <a:t>长久以来，用户的口令重用被认为是不安全的，所以应当避免。但是，近年的研究发现，面对如此多需要管理的账号，重用口令是用户理智的做法，关键是如何重用口令。</a:t>
            </a:r>
            <a:r>
              <a:rPr lang="zh-CN" altLang="zh-CN" dirty="0">
                <a:solidFill>
                  <a:srgbClr val="FF0000"/>
                </a:solidFill>
              </a:rPr>
              <a:t>只有跨不同安全级（或重要程度）的账户重用口令，才应努力避免的</a:t>
            </a:r>
            <a:endParaRPr lang="zh-CN" altLang="en-US" dirty="0">
              <a:solidFill>
                <a:srgbClr val="FF0000"/>
              </a:solidFill>
            </a:endParaRPr>
          </a:p>
        </p:txBody>
      </p:sp>
      <p:sp>
        <p:nvSpPr>
          <p:cNvPr id="3" name="标题 2"/>
          <p:cNvSpPr>
            <a:spLocks noGrp="1"/>
          </p:cNvSpPr>
          <p:nvPr>
            <p:ph type="title"/>
          </p:nvPr>
        </p:nvSpPr>
        <p:spPr/>
        <p:txBody>
          <a:bodyPr/>
          <a:lstStyle/>
          <a:p>
            <a:r>
              <a:rPr lang="zh-CN" altLang="en-US" dirty="0"/>
              <a:t>脆弱口令行为</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0692" y="1508442"/>
            <a:ext cx="8302308" cy="4724718"/>
          </a:xfrm>
        </p:spPr>
        <p:txBody>
          <a:bodyPr/>
          <a:lstStyle/>
          <a:p>
            <a:pPr>
              <a:lnSpc>
                <a:spcPts val="4000"/>
              </a:lnSpc>
            </a:pPr>
            <a:r>
              <a:rPr lang="zh-CN" altLang="en-US" dirty="0"/>
              <a:t>口令重用：</a:t>
            </a:r>
            <a:endParaRPr lang="en-US" altLang="zh-CN" dirty="0"/>
          </a:p>
          <a:p>
            <a:pPr lvl="1">
              <a:lnSpc>
                <a:spcPts val="4000"/>
              </a:lnSpc>
            </a:pPr>
            <a:r>
              <a:rPr lang="zh-CN" altLang="zh-CN" dirty="0"/>
              <a:t>根据文献</a:t>
            </a:r>
            <a:r>
              <a:rPr lang="en-US" altLang="zh-CN" dirty="0"/>
              <a:t>[52]</a:t>
            </a:r>
            <a:r>
              <a:rPr lang="zh-CN" altLang="zh-CN" dirty="0"/>
              <a:t>给出的结果：</a:t>
            </a:r>
            <a:r>
              <a:rPr lang="zh-CN" altLang="zh-CN" dirty="0">
                <a:solidFill>
                  <a:srgbClr val="FF0000"/>
                </a:solidFill>
              </a:rPr>
              <a:t>只有约</a:t>
            </a:r>
            <a:r>
              <a:rPr lang="en-US" altLang="zh-CN" dirty="0">
                <a:solidFill>
                  <a:srgbClr val="FF0000"/>
                </a:solidFill>
              </a:rPr>
              <a:t>30%</a:t>
            </a:r>
            <a:r>
              <a:rPr lang="zh-CN" altLang="zh-CN" dirty="0">
                <a:solidFill>
                  <a:srgbClr val="FF0000"/>
                </a:solidFill>
              </a:rPr>
              <a:t>的用户重用口令时进行简单修改</a:t>
            </a:r>
            <a:r>
              <a:rPr lang="zh-CN" altLang="zh-CN" dirty="0"/>
              <a:t>（即新旧口令的相似度在</a:t>
            </a:r>
            <a:r>
              <a:rPr lang="en-US" altLang="zh-CN" dirty="0"/>
              <a:t>[0.8, 1]</a:t>
            </a:r>
            <a:r>
              <a:rPr lang="zh-CN" altLang="zh-CN" dirty="0"/>
              <a:t>），绝大用户的新旧口令的相似度小于</a:t>
            </a:r>
            <a:r>
              <a:rPr lang="en-US" altLang="zh-CN" dirty="0"/>
              <a:t>0.8</a:t>
            </a:r>
            <a:r>
              <a:rPr lang="zh-CN" altLang="zh-CN" dirty="0"/>
              <a:t>，也就是进行了比较大的修改；中文用户的口令中，约有</a:t>
            </a:r>
            <a:r>
              <a:rPr lang="en-US" altLang="zh-CN" dirty="0"/>
              <a:t>40%</a:t>
            </a:r>
            <a:r>
              <a:rPr lang="zh-CN" altLang="zh-CN" dirty="0"/>
              <a:t>以上间接重用的口令的相似度在</a:t>
            </a:r>
            <a:r>
              <a:rPr lang="en-US" altLang="zh-CN" dirty="0"/>
              <a:t>[0.7, 1]</a:t>
            </a:r>
            <a:r>
              <a:rPr lang="zh-CN" altLang="zh-CN" dirty="0"/>
              <a:t>之间，而英文口令的这一比例为</a:t>
            </a:r>
            <a:r>
              <a:rPr lang="en-US" altLang="zh-CN" dirty="0"/>
              <a:t>20%</a:t>
            </a:r>
            <a:r>
              <a:rPr lang="zh-CN" altLang="zh-CN" dirty="0"/>
              <a:t>，说明</a:t>
            </a:r>
            <a:r>
              <a:rPr lang="zh-CN" altLang="zh-CN" dirty="0">
                <a:solidFill>
                  <a:srgbClr val="FF0000"/>
                </a:solidFill>
              </a:rPr>
              <a:t>中方用户的口令重用问题更严重</a:t>
            </a:r>
            <a:endParaRPr lang="en-US" altLang="zh-CN" dirty="0">
              <a:solidFill>
                <a:srgbClr val="FF0000"/>
              </a:solidFill>
            </a:endParaRPr>
          </a:p>
        </p:txBody>
      </p:sp>
      <p:sp>
        <p:nvSpPr>
          <p:cNvPr id="3" name="标题 2"/>
          <p:cNvSpPr>
            <a:spLocks noGrp="1"/>
          </p:cNvSpPr>
          <p:nvPr>
            <p:ph type="title"/>
          </p:nvPr>
        </p:nvSpPr>
        <p:spPr/>
        <p:txBody>
          <a:bodyPr/>
          <a:lstStyle/>
          <a:p>
            <a:r>
              <a:rPr lang="zh-CN" altLang="en-US" dirty="0"/>
              <a:t>脆弱口令行为</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14973" y="1310323"/>
            <a:ext cx="8285162" cy="4114800"/>
          </a:xfrm>
        </p:spPr>
        <p:txBody>
          <a:bodyPr/>
          <a:lstStyle/>
          <a:p>
            <a:r>
              <a:rPr lang="zh-CN" altLang="en-US" dirty="0"/>
              <a:t>基于个人信息构造口令</a:t>
            </a:r>
            <a:endParaRPr lang="en-US" altLang="zh-CN" dirty="0"/>
          </a:p>
          <a:p>
            <a:pPr lvl="1"/>
            <a:r>
              <a:rPr lang="zh-CN" altLang="zh-CN" dirty="0"/>
              <a:t>用户在构造时喜欢使用姓名、生日、身份证号、电话号码、电子邮件前缀、地名等个人信息</a:t>
            </a:r>
            <a:endParaRPr lang="zh-CN" altLang="en-US" dirty="0"/>
          </a:p>
        </p:txBody>
      </p:sp>
      <p:sp>
        <p:nvSpPr>
          <p:cNvPr id="3" name="标题 2"/>
          <p:cNvSpPr>
            <a:spLocks noGrp="1"/>
          </p:cNvSpPr>
          <p:nvPr>
            <p:ph type="title"/>
          </p:nvPr>
        </p:nvSpPr>
        <p:spPr/>
        <p:txBody>
          <a:bodyPr/>
          <a:lstStyle/>
          <a:p>
            <a:r>
              <a:rPr lang="zh-CN" altLang="en-US" dirty="0"/>
              <a:t>脆弱口令行为</a:t>
            </a: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1021081" y="3108961"/>
            <a:ext cx="7239000" cy="2971800"/>
          </a:xfrm>
          <a:prstGeom prst="rect">
            <a:avLst/>
          </a:prstGeom>
          <a:noFill/>
          <a:ln>
            <a:noFill/>
          </a:ln>
        </p:spPr>
      </p:pic>
      <p:sp>
        <p:nvSpPr>
          <p:cNvPr id="5" name="矩形 4"/>
          <p:cNvSpPr/>
          <p:nvPr/>
        </p:nvSpPr>
        <p:spPr>
          <a:xfrm>
            <a:off x="805815" y="5970508"/>
            <a:ext cx="7894320" cy="461665"/>
          </a:xfrm>
          <a:prstGeom prst="rect">
            <a:avLst/>
          </a:prstGeom>
        </p:spPr>
        <p:txBody>
          <a:bodyPr wrap="square">
            <a:spAutoFit/>
          </a:bodyPr>
          <a:lstStyle/>
          <a:p>
            <a:pPr indent="228600" algn="ctr">
              <a:spcAft>
                <a:spcPts val="0"/>
              </a:spcAft>
            </a:pPr>
            <a:r>
              <a:rPr lang="zh-CN" altLang="zh-CN" kern="100" dirty="0">
                <a:latin typeface="Times New Roman" panose="02020603050405020304" pitchFamily="18" charset="0"/>
                <a:cs typeface="Times New Roman" panose="02020603050405020304" pitchFamily="18" charset="0"/>
              </a:rPr>
              <a:t>表</a:t>
            </a:r>
            <a:r>
              <a:rPr lang="en-US" altLang="zh-CN" kern="100" dirty="0">
                <a:latin typeface="Times New Roman" panose="02020603050405020304" pitchFamily="18" charset="0"/>
                <a:cs typeface="Times New Roman" panose="02020603050405020304" pitchFamily="18" charset="0"/>
              </a:rPr>
              <a:t>8-6 12306</a:t>
            </a:r>
            <a:r>
              <a:rPr lang="zh-CN" altLang="zh-CN" kern="100" dirty="0">
                <a:latin typeface="Times New Roman" panose="02020603050405020304" pitchFamily="18" charset="0"/>
                <a:cs typeface="Times New Roman" panose="02020603050405020304" pitchFamily="18" charset="0"/>
              </a:rPr>
              <a:t>网站个人信息使用频率（文献</a:t>
            </a:r>
            <a:r>
              <a:rPr lang="en-US" altLang="zh-CN" kern="100" dirty="0">
                <a:latin typeface="Times New Roman" panose="02020603050405020304" pitchFamily="18" charset="0"/>
                <a:cs typeface="Times New Roman" panose="02020603050405020304" pitchFamily="18" charset="0"/>
              </a:rPr>
              <a:t>[52]</a:t>
            </a:r>
            <a:r>
              <a:rPr lang="zh-CN" altLang="zh-CN" kern="100" dirty="0">
                <a:latin typeface="Times New Roman" panose="02020603050405020304" pitchFamily="18" charset="0"/>
                <a:cs typeface="Times New Roman" panose="02020603050405020304" pitchFamily="18" charset="0"/>
              </a:rPr>
              <a:t>的表</a:t>
            </a:r>
            <a:r>
              <a:rPr lang="en-US" altLang="zh-CN" kern="100" dirty="0">
                <a:latin typeface="Times New Roman" panose="02020603050405020304" pitchFamily="18" charset="0"/>
                <a:cs typeface="Times New Roman" panose="02020603050405020304" pitchFamily="18" charset="0"/>
              </a:rPr>
              <a:t>6</a:t>
            </a:r>
            <a:r>
              <a:rPr lang="zh-CN" altLang="zh-CN" kern="100" dirty="0">
                <a:latin typeface="Times New Roman" panose="02020603050405020304" pitchFamily="18" charset="0"/>
                <a:cs typeface="Times New Roman" panose="02020603050405020304" pitchFamily="18" charset="0"/>
              </a:rPr>
              <a:t>，表中数据单位为</a:t>
            </a:r>
            <a:r>
              <a:rPr lang="en-US" altLang="zh-CN" kern="100" dirty="0">
                <a:latin typeface="Times New Roman" panose="02020603050405020304" pitchFamily="18" charset="0"/>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a:t>
            </a:r>
            <a:endParaRPr lang="zh-CN" altLang="zh-CN" sz="2400" kern="100" dirty="0">
              <a:latin typeface="Calibri" panose="020F0502020204030204" pitchFamily="34"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14973" y="1310323"/>
            <a:ext cx="8285162" cy="4114800"/>
          </a:xfrm>
        </p:spPr>
        <p:txBody>
          <a:bodyPr/>
          <a:lstStyle/>
          <a:p>
            <a:r>
              <a:rPr lang="zh-CN" altLang="en-US" dirty="0"/>
              <a:t>基于个人信息构造口令</a:t>
            </a:r>
            <a:endParaRPr lang="en-US" altLang="zh-CN" dirty="0"/>
          </a:p>
          <a:p>
            <a:pPr lvl="1"/>
            <a:r>
              <a:rPr lang="zh-CN" altLang="zh-CN" dirty="0"/>
              <a:t>用户在构造时喜欢使用姓名、生日、身份证号、电话号码、电子邮件前缀、地名等个人信息</a:t>
            </a:r>
            <a:endParaRPr lang="zh-CN" altLang="en-US" dirty="0"/>
          </a:p>
        </p:txBody>
      </p:sp>
      <p:sp>
        <p:nvSpPr>
          <p:cNvPr id="3" name="标题 2"/>
          <p:cNvSpPr>
            <a:spLocks noGrp="1"/>
          </p:cNvSpPr>
          <p:nvPr>
            <p:ph type="title"/>
          </p:nvPr>
        </p:nvSpPr>
        <p:spPr/>
        <p:txBody>
          <a:bodyPr/>
          <a:lstStyle/>
          <a:p>
            <a:r>
              <a:rPr lang="zh-CN" altLang="en-US" dirty="0"/>
              <a:t>脆弱口令行为</a:t>
            </a:r>
          </a:p>
        </p:txBody>
      </p:sp>
      <p:sp>
        <p:nvSpPr>
          <p:cNvPr id="5" name="矩形 4"/>
          <p:cNvSpPr/>
          <p:nvPr/>
        </p:nvSpPr>
        <p:spPr>
          <a:xfrm>
            <a:off x="1263015" y="5924788"/>
            <a:ext cx="6997065" cy="369332"/>
          </a:xfrm>
          <a:prstGeom prst="rect">
            <a:avLst/>
          </a:prstGeom>
        </p:spPr>
        <p:txBody>
          <a:bodyPr wrap="square">
            <a:spAutoFit/>
          </a:bodyPr>
          <a:lstStyle/>
          <a:p>
            <a:r>
              <a:rPr lang="zh-CN" altLang="zh-CN" dirty="0">
                <a:latin typeface="+mn-lt"/>
              </a:rPr>
              <a:t>表</a:t>
            </a:r>
            <a:r>
              <a:rPr lang="en-US" altLang="zh-CN" dirty="0">
                <a:latin typeface="+mn-lt"/>
              </a:rPr>
              <a:t>8-7 </a:t>
            </a:r>
            <a:r>
              <a:rPr lang="zh-CN" altLang="zh-CN" dirty="0">
                <a:latin typeface="+mn-lt"/>
              </a:rPr>
              <a:t>各类姓名的使用频率（文献</a:t>
            </a:r>
            <a:r>
              <a:rPr lang="en-US" altLang="zh-CN" dirty="0">
                <a:latin typeface="+mn-lt"/>
              </a:rPr>
              <a:t>[52]</a:t>
            </a:r>
            <a:r>
              <a:rPr lang="zh-CN" altLang="zh-CN" dirty="0">
                <a:latin typeface="+mn-lt"/>
              </a:rPr>
              <a:t>的表</a:t>
            </a:r>
            <a:r>
              <a:rPr lang="en-US" altLang="zh-CN" dirty="0">
                <a:latin typeface="+mn-lt"/>
              </a:rPr>
              <a:t>7</a:t>
            </a:r>
            <a:r>
              <a:rPr lang="zh-CN" altLang="zh-CN" dirty="0">
                <a:latin typeface="+mn-lt"/>
              </a:rPr>
              <a:t>，表中数据单位为</a:t>
            </a:r>
            <a:r>
              <a:rPr lang="en-US" altLang="zh-CN" dirty="0">
                <a:latin typeface="+mn-lt"/>
              </a:rPr>
              <a:t>%</a:t>
            </a:r>
            <a:r>
              <a:rPr lang="zh-CN" altLang="zh-CN" dirty="0">
                <a:latin typeface="+mn-lt"/>
              </a:rPr>
              <a:t>）</a:t>
            </a:r>
          </a:p>
        </p:txBody>
      </p:sp>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a:xfrm>
            <a:off x="1150938" y="3126382"/>
            <a:ext cx="6738938" cy="2662873"/>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韩伟力</a:t>
            </a:r>
            <a:r>
              <a:rPr lang="en-US" altLang="zh-CN" dirty="0"/>
              <a:t>2016</a:t>
            </a:r>
            <a:r>
              <a:rPr lang="zh-CN" altLang="en-US" dirty="0"/>
              <a:t>：中国人口令特点</a:t>
            </a:r>
          </a:p>
        </p:txBody>
      </p:sp>
      <p:pic>
        <p:nvPicPr>
          <p:cNvPr id="10242" name="Picture 2"/>
          <p:cNvPicPr>
            <a:picLocks noChangeAspect="1" noChangeArrowheads="1"/>
          </p:cNvPicPr>
          <p:nvPr/>
        </p:nvPicPr>
        <p:blipFill>
          <a:blip r:embed="rId3" cstate="print"/>
          <a:srcRect/>
          <a:stretch>
            <a:fillRect/>
          </a:stretch>
        </p:blipFill>
        <p:spPr bwMode="auto">
          <a:xfrm>
            <a:off x="1" y="1552574"/>
            <a:ext cx="9143999" cy="4505325"/>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韩伟力</a:t>
            </a:r>
            <a:r>
              <a:rPr lang="en-US" altLang="zh-CN" dirty="0"/>
              <a:t>2016</a:t>
            </a:r>
            <a:r>
              <a:rPr lang="zh-CN" altLang="en-US" dirty="0"/>
              <a:t>：中国人口令特点</a:t>
            </a:r>
          </a:p>
        </p:txBody>
      </p:sp>
      <p:pic>
        <p:nvPicPr>
          <p:cNvPr id="11266" name="Picture 2"/>
          <p:cNvPicPr>
            <a:picLocks noChangeAspect="1" noChangeArrowheads="1"/>
          </p:cNvPicPr>
          <p:nvPr/>
        </p:nvPicPr>
        <p:blipFill>
          <a:blip r:embed="rId3" cstate="print"/>
          <a:srcRect/>
          <a:stretch>
            <a:fillRect/>
          </a:stretch>
        </p:blipFill>
        <p:spPr bwMode="auto">
          <a:xfrm>
            <a:off x="0" y="1266825"/>
            <a:ext cx="9144000" cy="5000625"/>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韩伟力</a:t>
            </a:r>
            <a:r>
              <a:rPr lang="en-US" altLang="zh-CN" dirty="0"/>
              <a:t>2016</a:t>
            </a:r>
            <a:r>
              <a:rPr lang="zh-CN" altLang="en-US" dirty="0"/>
              <a:t>：中国人口令特点</a:t>
            </a:r>
          </a:p>
        </p:txBody>
      </p:sp>
      <p:pic>
        <p:nvPicPr>
          <p:cNvPr id="12291" name="Picture 3"/>
          <p:cNvPicPr>
            <a:picLocks noChangeAspect="1" noChangeArrowheads="1"/>
          </p:cNvPicPr>
          <p:nvPr/>
        </p:nvPicPr>
        <p:blipFill>
          <a:blip r:embed="rId3" cstate="print"/>
          <a:srcRect/>
          <a:stretch>
            <a:fillRect/>
          </a:stretch>
        </p:blipFill>
        <p:spPr bwMode="auto">
          <a:xfrm>
            <a:off x="0" y="1200150"/>
            <a:ext cx="9144000" cy="2676525"/>
          </a:xfrm>
          <a:prstGeom prst="rect">
            <a:avLst/>
          </a:prstGeom>
          <a:noFill/>
          <a:ln w="9525">
            <a:noFill/>
            <a:miter lim="800000"/>
            <a:headEnd/>
            <a:tailEnd/>
          </a:ln>
          <a:effectLst/>
        </p:spPr>
      </p:pic>
      <p:pic>
        <p:nvPicPr>
          <p:cNvPr id="12292" name="Picture 4"/>
          <p:cNvPicPr>
            <a:picLocks noChangeAspect="1" noChangeArrowheads="1"/>
          </p:cNvPicPr>
          <p:nvPr/>
        </p:nvPicPr>
        <p:blipFill>
          <a:blip r:embed="rId4" cstate="print"/>
          <a:srcRect/>
          <a:stretch>
            <a:fillRect/>
          </a:stretch>
        </p:blipFill>
        <p:spPr bwMode="auto">
          <a:xfrm>
            <a:off x="1028700" y="3871913"/>
            <a:ext cx="8115300" cy="1304925"/>
          </a:xfrm>
          <a:prstGeom prst="rect">
            <a:avLst/>
          </a:prstGeom>
          <a:noFill/>
          <a:ln w="9525">
            <a:noFill/>
            <a:miter lim="800000"/>
            <a:headEnd/>
            <a:tailEnd/>
          </a:ln>
          <a:effectLst/>
        </p:spPr>
      </p:pic>
      <p:pic>
        <p:nvPicPr>
          <p:cNvPr id="12293" name="Picture 5"/>
          <p:cNvPicPr>
            <a:picLocks noChangeAspect="1" noChangeArrowheads="1"/>
          </p:cNvPicPr>
          <p:nvPr/>
        </p:nvPicPr>
        <p:blipFill>
          <a:blip r:embed="rId5" cstate="print"/>
          <a:srcRect/>
          <a:stretch>
            <a:fillRect/>
          </a:stretch>
        </p:blipFill>
        <p:spPr bwMode="auto">
          <a:xfrm>
            <a:off x="1033465" y="5110163"/>
            <a:ext cx="5767385" cy="1152525"/>
          </a:xfrm>
          <a:prstGeom prst="rect">
            <a:avLst/>
          </a:prstGeom>
          <a:noFill/>
          <a:ln w="9525">
            <a:noFill/>
            <a:miter lim="800000"/>
            <a:headEnd/>
            <a:tailEnd/>
          </a:ln>
          <a:effectLst/>
        </p:spPr>
      </p:pic>
      <p:pic>
        <p:nvPicPr>
          <p:cNvPr id="12294" name="Picture 6"/>
          <p:cNvPicPr>
            <a:picLocks noChangeAspect="1" noChangeArrowheads="1"/>
          </p:cNvPicPr>
          <p:nvPr/>
        </p:nvPicPr>
        <p:blipFill>
          <a:blip r:embed="rId6" cstate="print"/>
          <a:srcRect/>
          <a:stretch>
            <a:fillRect/>
          </a:stretch>
        </p:blipFill>
        <p:spPr bwMode="auto">
          <a:xfrm>
            <a:off x="0" y="3867150"/>
            <a:ext cx="1076325" cy="2419350"/>
          </a:xfrm>
          <a:prstGeom prst="rect">
            <a:avLst/>
          </a:prstGeom>
          <a:noFill/>
          <a:ln w="9525">
            <a:noFill/>
            <a:miter lim="800000"/>
            <a:headEnd/>
            <a:tailEnd/>
          </a:ln>
          <a:effectLst/>
        </p:spPr>
      </p:pic>
      <p:pic>
        <p:nvPicPr>
          <p:cNvPr id="12295" name="Picture 7"/>
          <p:cNvPicPr>
            <a:picLocks noChangeAspect="1" noChangeArrowheads="1"/>
          </p:cNvPicPr>
          <p:nvPr/>
        </p:nvPicPr>
        <p:blipFill>
          <a:blip r:embed="rId6" cstate="print"/>
          <a:srcRect/>
          <a:stretch>
            <a:fillRect/>
          </a:stretch>
        </p:blipFill>
        <p:spPr bwMode="auto">
          <a:xfrm>
            <a:off x="6786563" y="5143500"/>
            <a:ext cx="2357437" cy="1123950"/>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If she/he uses letters:</a:t>
            </a:r>
          </a:p>
          <a:p>
            <a:endParaRPr lang="en-US" altLang="zh-CN" dirty="0"/>
          </a:p>
          <a:p>
            <a:endParaRPr lang="en-US" altLang="zh-CN" dirty="0"/>
          </a:p>
          <a:p>
            <a:r>
              <a:rPr lang="en-US" altLang="zh-CN" dirty="0"/>
              <a:t>If she/he uses pinyin</a:t>
            </a:r>
            <a:endParaRPr lang="zh-CN" altLang="en-US" dirty="0"/>
          </a:p>
        </p:txBody>
      </p:sp>
      <p:sp>
        <p:nvSpPr>
          <p:cNvPr id="3" name="标题 2"/>
          <p:cNvSpPr>
            <a:spLocks noGrp="1"/>
          </p:cNvSpPr>
          <p:nvPr>
            <p:ph type="title"/>
          </p:nvPr>
        </p:nvSpPr>
        <p:spPr/>
        <p:txBody>
          <a:bodyPr/>
          <a:lstStyle/>
          <a:p>
            <a:r>
              <a:rPr lang="zh-CN" altLang="en-US" dirty="0"/>
              <a:t>韩伟力</a:t>
            </a:r>
            <a:r>
              <a:rPr lang="en-US" altLang="zh-CN" dirty="0"/>
              <a:t>2016</a:t>
            </a:r>
            <a:r>
              <a:rPr lang="zh-CN" altLang="en-US" dirty="0"/>
              <a:t>：中国人口令特点</a:t>
            </a:r>
          </a:p>
        </p:txBody>
      </p:sp>
      <p:pic>
        <p:nvPicPr>
          <p:cNvPr id="13314" name="Picture 2"/>
          <p:cNvPicPr>
            <a:picLocks noChangeAspect="1" noChangeArrowheads="1"/>
          </p:cNvPicPr>
          <p:nvPr/>
        </p:nvPicPr>
        <p:blipFill>
          <a:blip r:embed="rId3" cstate="print"/>
          <a:srcRect/>
          <a:stretch>
            <a:fillRect/>
          </a:stretch>
        </p:blipFill>
        <p:spPr bwMode="auto">
          <a:xfrm>
            <a:off x="1266825" y="2200274"/>
            <a:ext cx="4857750" cy="704851"/>
          </a:xfrm>
          <a:prstGeom prst="rect">
            <a:avLst/>
          </a:prstGeom>
          <a:noFill/>
          <a:ln w="9525">
            <a:noFill/>
            <a:miter lim="800000"/>
            <a:headEnd/>
            <a:tailEnd/>
          </a:ln>
          <a:effectLst/>
        </p:spPr>
      </p:pic>
      <p:pic>
        <p:nvPicPr>
          <p:cNvPr id="13315" name="Picture 3"/>
          <p:cNvPicPr>
            <a:picLocks noChangeAspect="1" noChangeArrowheads="1"/>
          </p:cNvPicPr>
          <p:nvPr/>
        </p:nvPicPr>
        <p:blipFill>
          <a:blip r:embed="rId4" cstate="print"/>
          <a:srcRect/>
          <a:stretch>
            <a:fillRect/>
          </a:stretch>
        </p:blipFill>
        <p:spPr bwMode="auto">
          <a:xfrm>
            <a:off x="1276349" y="3829050"/>
            <a:ext cx="6515101" cy="1390650"/>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汪定</a:t>
            </a:r>
            <a:r>
              <a:rPr lang="en-US" altLang="zh-CN" dirty="0"/>
              <a:t>2015</a:t>
            </a:r>
            <a:r>
              <a:rPr lang="zh-CN" altLang="en-US" dirty="0"/>
              <a:t>：中国用户口令特征</a:t>
            </a:r>
          </a:p>
        </p:txBody>
      </p:sp>
      <p:pic>
        <p:nvPicPr>
          <p:cNvPr id="4" name="图片 3"/>
          <p:cNvPicPr>
            <a:picLocks noChangeAspect="1"/>
          </p:cNvPicPr>
          <p:nvPr/>
        </p:nvPicPr>
        <p:blipFill>
          <a:blip r:embed="rId3"/>
          <a:stretch>
            <a:fillRect/>
          </a:stretch>
        </p:blipFill>
        <p:spPr>
          <a:xfrm>
            <a:off x="1325563" y="1749426"/>
            <a:ext cx="6438900" cy="437197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汪定</a:t>
            </a:r>
            <a:r>
              <a:rPr lang="en-US" altLang="zh-CN" dirty="0"/>
              <a:t>2015</a:t>
            </a:r>
            <a:r>
              <a:rPr lang="zh-CN" altLang="en-US" dirty="0"/>
              <a:t>：中国用户口令特征</a:t>
            </a:r>
          </a:p>
        </p:txBody>
      </p:sp>
      <p:pic>
        <p:nvPicPr>
          <p:cNvPr id="4" name="图片 3"/>
          <p:cNvPicPr>
            <a:picLocks noChangeAspect="1"/>
          </p:cNvPicPr>
          <p:nvPr/>
        </p:nvPicPr>
        <p:blipFill>
          <a:blip r:embed="rId3"/>
          <a:stretch>
            <a:fillRect/>
          </a:stretch>
        </p:blipFill>
        <p:spPr>
          <a:xfrm>
            <a:off x="1311275" y="1362075"/>
            <a:ext cx="6467475" cy="481965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汪定</a:t>
            </a:r>
            <a:r>
              <a:rPr lang="en-US" altLang="zh-CN" dirty="0"/>
              <a:t>2015</a:t>
            </a:r>
            <a:r>
              <a:rPr lang="zh-CN" altLang="en-US" dirty="0"/>
              <a:t>：中国用户口令特征</a:t>
            </a:r>
          </a:p>
        </p:txBody>
      </p:sp>
      <p:pic>
        <p:nvPicPr>
          <p:cNvPr id="4" name="图片 3"/>
          <p:cNvPicPr>
            <a:picLocks noChangeAspect="1"/>
          </p:cNvPicPr>
          <p:nvPr/>
        </p:nvPicPr>
        <p:blipFill>
          <a:blip r:embed="rId3"/>
          <a:stretch>
            <a:fillRect/>
          </a:stretch>
        </p:blipFill>
        <p:spPr>
          <a:xfrm>
            <a:off x="1352549" y="1554163"/>
            <a:ext cx="6181725" cy="428625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汪定</a:t>
            </a:r>
            <a:r>
              <a:rPr lang="en-US" altLang="zh-CN" dirty="0"/>
              <a:t>2015</a:t>
            </a:r>
            <a:r>
              <a:rPr lang="zh-CN" altLang="en-US" dirty="0"/>
              <a:t>：中国用户口令特征</a:t>
            </a:r>
          </a:p>
        </p:txBody>
      </p:sp>
      <p:pic>
        <p:nvPicPr>
          <p:cNvPr id="4" name="图片 3"/>
          <p:cNvPicPr>
            <a:picLocks noChangeAspect="1"/>
          </p:cNvPicPr>
          <p:nvPr/>
        </p:nvPicPr>
        <p:blipFill>
          <a:blip r:embed="rId3"/>
          <a:stretch>
            <a:fillRect/>
          </a:stretch>
        </p:blipFill>
        <p:spPr>
          <a:xfrm>
            <a:off x="1335088" y="1554163"/>
            <a:ext cx="6419850" cy="435292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汪定</a:t>
            </a:r>
            <a:r>
              <a:rPr lang="en-US" altLang="zh-CN" dirty="0"/>
              <a:t>2015</a:t>
            </a:r>
            <a:r>
              <a:rPr lang="zh-CN" altLang="en-US" dirty="0"/>
              <a:t>：中国用户口令特征</a:t>
            </a:r>
          </a:p>
        </p:txBody>
      </p:sp>
      <p:pic>
        <p:nvPicPr>
          <p:cNvPr id="4" name="图片 3"/>
          <p:cNvPicPr>
            <a:picLocks noChangeAspect="1"/>
          </p:cNvPicPr>
          <p:nvPr/>
        </p:nvPicPr>
        <p:blipFill>
          <a:blip r:embed="rId3"/>
          <a:stretch>
            <a:fillRect/>
          </a:stretch>
        </p:blipFill>
        <p:spPr>
          <a:xfrm>
            <a:off x="1320800" y="1554163"/>
            <a:ext cx="6448425" cy="461962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82613" y="1477963"/>
            <a:ext cx="7772400" cy="4114800"/>
          </a:xfrm>
        </p:spPr>
        <p:txBody>
          <a:bodyPr/>
          <a:lstStyle/>
          <a:p>
            <a:r>
              <a:rPr lang="zh-CN" altLang="zh-CN" sz="2800" dirty="0"/>
              <a:t>根据口令破解过程中是否需要连网，口令猜测算法分为</a:t>
            </a:r>
            <a:r>
              <a:rPr lang="zh-CN" altLang="zh-CN" sz="2800" dirty="0">
                <a:solidFill>
                  <a:srgbClr val="FF0000"/>
                </a:solidFill>
              </a:rPr>
              <a:t>在线破解</a:t>
            </a:r>
            <a:r>
              <a:rPr lang="zh-CN" altLang="zh-CN" sz="2800" dirty="0"/>
              <a:t>（</a:t>
            </a:r>
            <a:r>
              <a:rPr lang="en-US" altLang="zh-CN" sz="2800" dirty="0"/>
              <a:t>Online Guessing</a:t>
            </a:r>
            <a:r>
              <a:rPr lang="zh-CN" altLang="zh-CN" sz="2800" dirty="0"/>
              <a:t>）和</a:t>
            </a:r>
            <a:r>
              <a:rPr lang="zh-CN" altLang="zh-CN" sz="2800" dirty="0">
                <a:solidFill>
                  <a:srgbClr val="FF0000"/>
                </a:solidFill>
              </a:rPr>
              <a:t>离线破解</a:t>
            </a:r>
            <a:r>
              <a:rPr lang="zh-CN" altLang="zh-CN" sz="2800" dirty="0"/>
              <a:t>（</a:t>
            </a:r>
            <a:r>
              <a:rPr lang="en-US" altLang="zh-CN" sz="2800" dirty="0"/>
              <a:t>Offline Guessing</a:t>
            </a:r>
            <a:r>
              <a:rPr lang="zh-CN" altLang="zh-CN" sz="2800" dirty="0"/>
              <a:t>）</a:t>
            </a:r>
            <a:endParaRPr lang="en-US" altLang="zh-CN" sz="2800" dirty="0"/>
          </a:p>
          <a:p>
            <a:r>
              <a:rPr lang="zh-CN" altLang="en-US" sz="2800" dirty="0"/>
              <a:t>根据攻击过程中是否利用用户个人信息，口令猜测算法可以分为</a:t>
            </a:r>
            <a:r>
              <a:rPr lang="zh-CN" altLang="en-US" sz="2800" dirty="0">
                <a:solidFill>
                  <a:srgbClr val="FF0000"/>
                </a:solidFill>
              </a:rPr>
              <a:t>漫步攻击</a:t>
            </a:r>
            <a:r>
              <a:rPr lang="zh-CN" altLang="en-US" sz="2800" dirty="0"/>
              <a:t>（</a:t>
            </a:r>
            <a:r>
              <a:rPr lang="en-US" altLang="zh-CN" sz="2800" dirty="0"/>
              <a:t>Trawling Attacking</a:t>
            </a:r>
            <a:r>
              <a:rPr lang="zh-CN" altLang="en-US" sz="2800" dirty="0"/>
              <a:t>）和</a:t>
            </a:r>
            <a:r>
              <a:rPr lang="zh-CN" altLang="en-US" sz="2800" dirty="0">
                <a:solidFill>
                  <a:srgbClr val="FF0000"/>
                </a:solidFill>
              </a:rPr>
              <a:t>定向攻击</a:t>
            </a:r>
            <a:r>
              <a:rPr lang="zh-CN" altLang="en-US" sz="2800" dirty="0"/>
              <a:t>（</a:t>
            </a:r>
            <a:r>
              <a:rPr lang="en-US" altLang="zh-CN" sz="2800" dirty="0"/>
              <a:t>Targeted Attacking</a:t>
            </a:r>
            <a:r>
              <a:rPr lang="zh-CN" altLang="en-US" sz="2800" dirty="0"/>
              <a:t>）</a:t>
            </a:r>
          </a:p>
        </p:txBody>
      </p:sp>
      <p:sp>
        <p:nvSpPr>
          <p:cNvPr id="3" name="标题 2"/>
          <p:cNvSpPr>
            <a:spLocks noGrp="1"/>
          </p:cNvSpPr>
          <p:nvPr>
            <p:ph type="title"/>
          </p:nvPr>
        </p:nvSpPr>
        <p:spPr/>
        <p:txBody>
          <a:bodyPr/>
          <a:lstStyle/>
          <a:p>
            <a:r>
              <a:rPr lang="zh-CN" altLang="en-US" dirty="0"/>
              <a:t>口令猜测</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漫步攻击</a:t>
            </a:r>
            <a:endParaRPr lang="en-US" altLang="zh-CN" dirty="0"/>
          </a:p>
          <a:p>
            <a:pPr lvl="1"/>
            <a:r>
              <a:rPr lang="zh-CN" altLang="zh-CN" dirty="0"/>
              <a:t>基本思想：不关心攻击对象的信息，而只关注在允许的猜测次数内，猜测出更多的口令。</a:t>
            </a:r>
            <a:r>
              <a:rPr lang="zh-CN" altLang="zh-CN" dirty="0">
                <a:solidFill>
                  <a:srgbClr val="FF0000"/>
                </a:solidFill>
              </a:rPr>
              <a:t>基于</a:t>
            </a:r>
            <a:r>
              <a:rPr lang="en-US" altLang="zh-CN" dirty="0">
                <a:solidFill>
                  <a:srgbClr val="FF0000"/>
                </a:solidFill>
              </a:rPr>
              <a:t>PCFG</a:t>
            </a:r>
            <a:r>
              <a:rPr lang="zh-CN" altLang="zh-CN" dirty="0">
                <a:solidFill>
                  <a:srgbClr val="FF0000"/>
                </a:solidFill>
              </a:rPr>
              <a:t>的算法</a:t>
            </a:r>
            <a:r>
              <a:rPr lang="zh-CN" altLang="zh-CN" dirty="0"/>
              <a:t>和</a:t>
            </a:r>
            <a:r>
              <a:rPr lang="en-US" altLang="zh-CN" dirty="0">
                <a:solidFill>
                  <a:srgbClr val="FF0000"/>
                </a:solidFill>
              </a:rPr>
              <a:t>Markov</a:t>
            </a:r>
            <a:r>
              <a:rPr lang="zh-CN" altLang="zh-CN" dirty="0">
                <a:solidFill>
                  <a:srgbClr val="FF0000"/>
                </a:solidFill>
              </a:rPr>
              <a:t>算法</a:t>
            </a:r>
            <a:r>
              <a:rPr lang="zh-CN" altLang="zh-CN" dirty="0"/>
              <a:t>是目前主流的</a:t>
            </a:r>
            <a:r>
              <a:rPr lang="en-US" altLang="zh-CN" dirty="0"/>
              <a:t>2</a:t>
            </a:r>
            <a:r>
              <a:rPr lang="zh-CN" altLang="zh-CN" dirty="0"/>
              <a:t>种漫步攻击算法</a:t>
            </a:r>
            <a:endParaRPr lang="zh-CN" altLang="en-US" dirty="0"/>
          </a:p>
        </p:txBody>
      </p:sp>
      <p:sp>
        <p:nvSpPr>
          <p:cNvPr id="3" name="标题 2"/>
          <p:cNvSpPr>
            <a:spLocks noGrp="1"/>
          </p:cNvSpPr>
          <p:nvPr>
            <p:ph type="title"/>
          </p:nvPr>
        </p:nvSpPr>
        <p:spPr/>
        <p:txBody>
          <a:bodyPr/>
          <a:lstStyle/>
          <a:p>
            <a:r>
              <a:rPr lang="zh-CN" altLang="en-US" dirty="0"/>
              <a:t>口令猜测</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漫步攻击</a:t>
            </a:r>
            <a:endParaRPr lang="en-US" altLang="zh-CN" dirty="0"/>
          </a:p>
        </p:txBody>
      </p:sp>
      <p:sp>
        <p:nvSpPr>
          <p:cNvPr id="3" name="标题 2"/>
          <p:cNvSpPr>
            <a:spLocks noGrp="1"/>
          </p:cNvSpPr>
          <p:nvPr>
            <p:ph type="title"/>
          </p:nvPr>
        </p:nvSpPr>
        <p:spPr/>
        <p:txBody>
          <a:bodyPr/>
          <a:lstStyle/>
          <a:p>
            <a:r>
              <a:rPr lang="zh-CN" altLang="en-US" dirty="0"/>
              <a:t>口令猜测</a:t>
            </a: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1870710" y="2225041"/>
            <a:ext cx="5348605" cy="3733482"/>
          </a:xfrm>
          <a:prstGeom prst="rect">
            <a:avLst/>
          </a:prstGeom>
          <a:noFill/>
          <a:ln>
            <a:noFill/>
          </a:ln>
        </p:spPr>
      </p:pic>
      <p:sp>
        <p:nvSpPr>
          <p:cNvPr id="5" name="矩形 4"/>
          <p:cNvSpPr/>
          <p:nvPr/>
        </p:nvSpPr>
        <p:spPr>
          <a:xfrm>
            <a:off x="2133600" y="5958523"/>
            <a:ext cx="5349240" cy="369332"/>
          </a:xfrm>
          <a:prstGeom prst="rect">
            <a:avLst/>
          </a:prstGeom>
        </p:spPr>
        <p:txBody>
          <a:bodyPr wrap="square">
            <a:spAutoFit/>
          </a:bodyPr>
          <a:lstStyle/>
          <a:p>
            <a:r>
              <a:rPr lang="zh-CN" altLang="zh-CN" kern="100" dirty="0">
                <a:latin typeface="+mn-lt"/>
                <a:cs typeface="Times New Roman" panose="02020603050405020304" pitchFamily="18" charset="0"/>
              </a:rPr>
              <a:t>图</a:t>
            </a:r>
            <a:r>
              <a:rPr lang="en-US" altLang="zh-CN" kern="100" dirty="0">
                <a:latin typeface="+mn-lt"/>
              </a:rPr>
              <a:t>8-7 PCFG</a:t>
            </a:r>
            <a:r>
              <a:rPr lang="zh-CN" altLang="zh-CN" kern="100" dirty="0">
                <a:latin typeface="+mn-lt"/>
                <a:cs typeface="Times New Roman" panose="02020603050405020304" pitchFamily="18" charset="0"/>
              </a:rPr>
              <a:t>算法的训练过程（文献</a:t>
            </a:r>
            <a:r>
              <a:rPr lang="en-US" altLang="zh-CN" kern="100" dirty="0">
                <a:latin typeface="+mn-lt"/>
              </a:rPr>
              <a:t>[52]</a:t>
            </a:r>
            <a:r>
              <a:rPr lang="zh-CN" altLang="zh-CN" kern="100" dirty="0">
                <a:latin typeface="+mn-lt"/>
                <a:cs typeface="Times New Roman" panose="02020603050405020304" pitchFamily="18" charset="0"/>
              </a:rPr>
              <a:t>的图</a:t>
            </a:r>
            <a:r>
              <a:rPr lang="en-US" altLang="zh-CN" kern="100" dirty="0">
                <a:latin typeface="+mn-lt"/>
              </a:rPr>
              <a:t>5</a:t>
            </a:r>
            <a:r>
              <a:rPr lang="zh-CN" altLang="zh-CN" kern="100" dirty="0">
                <a:latin typeface="+mn-lt"/>
                <a:cs typeface="Times New Roman" panose="02020603050405020304" pitchFamily="18" charset="0"/>
              </a:rPr>
              <a:t>）</a:t>
            </a:r>
            <a:endParaRPr lang="zh-CN" altLang="en-US" dirty="0">
              <a:latin typeface="+mn-l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32243"/>
            <a:ext cx="7772400" cy="4114800"/>
          </a:xfrm>
        </p:spPr>
        <p:txBody>
          <a:bodyPr/>
          <a:lstStyle/>
          <a:p>
            <a:r>
              <a:rPr lang="zh-CN" altLang="en-US" dirty="0"/>
              <a:t>漫步攻击</a:t>
            </a:r>
            <a:endParaRPr lang="en-US" altLang="zh-CN" dirty="0"/>
          </a:p>
          <a:p>
            <a:pPr lvl="1"/>
            <a:r>
              <a:rPr lang="zh-CN" altLang="zh-CN" dirty="0"/>
              <a:t>马尔科夫（</a:t>
            </a:r>
            <a:r>
              <a:rPr lang="en-US" altLang="zh-CN" dirty="0"/>
              <a:t>Markov</a:t>
            </a:r>
            <a:r>
              <a:rPr lang="zh-CN" altLang="zh-CN" dirty="0"/>
              <a:t>）算法是由</a:t>
            </a:r>
            <a:r>
              <a:rPr lang="en-US" altLang="zh-CN" dirty="0"/>
              <a:t>Narayanan</a:t>
            </a:r>
            <a:r>
              <a:rPr lang="zh-CN" altLang="zh-CN" dirty="0"/>
              <a:t>和</a:t>
            </a:r>
            <a:r>
              <a:rPr lang="en-US" altLang="zh-CN" dirty="0" err="1"/>
              <a:t>Shmatikov</a:t>
            </a:r>
            <a:r>
              <a:rPr lang="zh-CN" altLang="zh-CN" dirty="0"/>
              <a:t>等人于</a:t>
            </a:r>
            <a:r>
              <a:rPr lang="en-US" altLang="zh-CN" dirty="0"/>
              <a:t>2005</a:t>
            </a:r>
            <a:r>
              <a:rPr lang="zh-CN" altLang="zh-CN" dirty="0"/>
              <a:t>年提出的一种基于</a:t>
            </a:r>
            <a:r>
              <a:rPr lang="en-US" altLang="zh-CN" dirty="0"/>
              <a:t>Markov</a:t>
            </a:r>
            <a:r>
              <a:rPr lang="zh-CN" altLang="zh-CN" dirty="0"/>
              <a:t>模型的口令猜测算法，算法的核心假设是：</a:t>
            </a:r>
            <a:r>
              <a:rPr lang="zh-CN" altLang="zh-CN" dirty="0">
                <a:solidFill>
                  <a:srgbClr val="FF0000"/>
                </a:solidFill>
              </a:rPr>
              <a:t>用户构造口令从前向后依次进行</a:t>
            </a:r>
            <a:r>
              <a:rPr lang="zh-CN" altLang="zh-CN" dirty="0"/>
              <a:t>。因此，算法对整个口令进行训练，通过从左到右的字符之间的联系来计算口令的概率</a:t>
            </a:r>
            <a:endParaRPr lang="en-US" altLang="zh-CN" dirty="0"/>
          </a:p>
        </p:txBody>
      </p:sp>
      <p:sp>
        <p:nvSpPr>
          <p:cNvPr id="3" name="标题 2"/>
          <p:cNvSpPr>
            <a:spLocks noGrp="1"/>
          </p:cNvSpPr>
          <p:nvPr>
            <p:ph type="title"/>
          </p:nvPr>
        </p:nvSpPr>
        <p:spPr/>
        <p:txBody>
          <a:bodyPr/>
          <a:lstStyle/>
          <a:p>
            <a:r>
              <a:rPr lang="zh-CN" altLang="en-US" dirty="0"/>
              <a:t>口令猜测</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32243"/>
            <a:ext cx="7772400" cy="4114800"/>
          </a:xfrm>
        </p:spPr>
        <p:txBody>
          <a:bodyPr/>
          <a:lstStyle/>
          <a:p>
            <a:r>
              <a:rPr lang="zh-CN" altLang="en-US" dirty="0"/>
              <a:t>漫步攻击</a:t>
            </a:r>
            <a:endParaRPr lang="en-US" altLang="zh-CN" dirty="0"/>
          </a:p>
          <a:p>
            <a:pPr lvl="1"/>
            <a:r>
              <a:rPr lang="zh-CN" altLang="zh-CN" dirty="0"/>
              <a:t>相关测试结果表明，</a:t>
            </a:r>
            <a:r>
              <a:rPr lang="en-US" altLang="zh-CN" dirty="0"/>
              <a:t>PCFG</a:t>
            </a:r>
            <a:r>
              <a:rPr lang="zh-CN" altLang="zh-CN" dirty="0"/>
              <a:t>算法在小猜测次数下（即在线猜测攻击）最优，</a:t>
            </a:r>
            <a:r>
              <a:rPr lang="en-US" altLang="zh-CN" dirty="0"/>
              <a:t>Markov</a:t>
            </a:r>
            <a:r>
              <a:rPr lang="zh-CN" altLang="zh-CN" dirty="0"/>
              <a:t>算法在大猜测次数下（即离线猜测攻击）开始显示优势，</a:t>
            </a:r>
            <a:r>
              <a:rPr lang="en-US" altLang="zh-CN" dirty="0"/>
              <a:t>NLP</a:t>
            </a:r>
            <a:r>
              <a:rPr lang="zh-CN" altLang="zh-CN" dirty="0"/>
              <a:t>攻击效果介于</a:t>
            </a:r>
            <a:r>
              <a:rPr lang="en-US" altLang="zh-CN" dirty="0"/>
              <a:t>PCFG</a:t>
            </a:r>
            <a:r>
              <a:rPr lang="zh-CN" altLang="zh-CN" dirty="0"/>
              <a:t>和</a:t>
            </a:r>
            <a:r>
              <a:rPr lang="en-US" altLang="zh-CN" dirty="0"/>
              <a:t>Markov</a:t>
            </a:r>
            <a:r>
              <a:rPr lang="zh-CN" altLang="zh-CN" dirty="0"/>
              <a:t>之间</a:t>
            </a:r>
            <a:endParaRPr lang="en-US" altLang="zh-CN" dirty="0"/>
          </a:p>
        </p:txBody>
      </p:sp>
      <p:sp>
        <p:nvSpPr>
          <p:cNvPr id="3" name="标题 2"/>
          <p:cNvSpPr>
            <a:spLocks noGrp="1"/>
          </p:cNvSpPr>
          <p:nvPr>
            <p:ph type="title"/>
          </p:nvPr>
        </p:nvSpPr>
        <p:spPr/>
        <p:txBody>
          <a:bodyPr/>
          <a:lstStyle/>
          <a:p>
            <a:r>
              <a:rPr lang="zh-CN" altLang="en-US" dirty="0"/>
              <a:t>口令猜测</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32243"/>
            <a:ext cx="7772400" cy="4114800"/>
          </a:xfrm>
        </p:spPr>
        <p:txBody>
          <a:bodyPr/>
          <a:lstStyle/>
          <a:p>
            <a:r>
              <a:rPr lang="zh-CN" altLang="en-US" dirty="0"/>
              <a:t>漫步攻击</a:t>
            </a:r>
            <a:endParaRPr lang="en-US" altLang="zh-CN" dirty="0"/>
          </a:p>
          <a:p>
            <a:pPr lvl="1"/>
            <a:r>
              <a:rPr lang="zh-CN" altLang="zh-CN" dirty="0"/>
              <a:t>汪定团队的研究显示，中文网民的密码在小猜测次数下（即在线猜测）更弱。</a:t>
            </a:r>
            <a:r>
              <a:rPr lang="zh-CN" altLang="en-US" dirty="0"/>
              <a:t>因此，</a:t>
            </a:r>
            <a:r>
              <a:rPr lang="zh-CN" altLang="zh-CN" dirty="0">
                <a:solidFill>
                  <a:srgbClr val="FF0000"/>
                </a:solidFill>
              </a:rPr>
              <a:t>应针对中文用户采取特别的密码保护措施</a:t>
            </a:r>
            <a:endParaRPr lang="en-US" altLang="zh-CN" dirty="0">
              <a:solidFill>
                <a:srgbClr val="FF0000"/>
              </a:solidFill>
            </a:endParaRPr>
          </a:p>
          <a:p>
            <a:pPr lvl="1"/>
            <a:endParaRPr lang="en-US" altLang="zh-CN" dirty="0"/>
          </a:p>
        </p:txBody>
      </p:sp>
      <p:sp>
        <p:nvSpPr>
          <p:cNvPr id="3" name="标题 2"/>
          <p:cNvSpPr>
            <a:spLocks noGrp="1"/>
          </p:cNvSpPr>
          <p:nvPr>
            <p:ph type="title"/>
          </p:nvPr>
        </p:nvSpPr>
        <p:spPr/>
        <p:txBody>
          <a:bodyPr/>
          <a:lstStyle/>
          <a:p>
            <a:r>
              <a:rPr lang="zh-CN" altLang="en-US" dirty="0"/>
              <a:t>口令猜测</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32242"/>
            <a:ext cx="7772400" cy="4633277"/>
          </a:xfrm>
        </p:spPr>
        <p:txBody>
          <a:bodyPr/>
          <a:lstStyle/>
          <a:p>
            <a:r>
              <a:rPr lang="zh-CN" altLang="en-US" dirty="0"/>
              <a:t>定向攻击</a:t>
            </a:r>
            <a:endParaRPr lang="en-US" altLang="zh-CN" dirty="0"/>
          </a:p>
          <a:p>
            <a:pPr lvl="1"/>
            <a:r>
              <a:rPr lang="zh-CN" altLang="zh-CN" dirty="0"/>
              <a:t>尽可能以最快速度猜测出所给定目标（如网站、个人电脑）的口令。因此，攻击者会</a:t>
            </a:r>
            <a:r>
              <a:rPr lang="zh-CN" altLang="zh-CN" dirty="0">
                <a:solidFill>
                  <a:srgbClr val="FF0000"/>
                </a:solidFill>
              </a:rPr>
              <a:t>利用</a:t>
            </a:r>
            <a:r>
              <a:rPr lang="zh-CN" altLang="zh-CN" dirty="0"/>
              <a:t>与攻击对象相关的个人信息</a:t>
            </a:r>
            <a:r>
              <a:rPr lang="zh-CN" altLang="en-US" dirty="0"/>
              <a:t>（</a:t>
            </a:r>
            <a:r>
              <a:rPr lang="zh-CN" altLang="en-US" dirty="0">
                <a:solidFill>
                  <a:srgbClr val="FF0000"/>
                </a:solidFill>
              </a:rPr>
              <a:t>人口学相关信息</a:t>
            </a:r>
            <a:r>
              <a:rPr lang="zh-CN" altLang="en-US" dirty="0"/>
              <a:t>）</a:t>
            </a:r>
            <a:r>
              <a:rPr lang="zh-CN" altLang="zh-CN" dirty="0"/>
              <a:t>，增强猜测的针对性</a:t>
            </a:r>
            <a:endParaRPr lang="en-US" altLang="zh-CN" dirty="0"/>
          </a:p>
          <a:p>
            <a:pPr lvl="1"/>
            <a:r>
              <a:rPr lang="zh-CN" altLang="zh-CN" dirty="0"/>
              <a:t>除了用户的人口学相关信息外，用户在其他网站或系统中</a:t>
            </a:r>
            <a:r>
              <a:rPr lang="zh-CN" altLang="zh-CN" dirty="0">
                <a:solidFill>
                  <a:srgbClr val="FF0000"/>
                </a:solidFill>
              </a:rPr>
              <a:t>泄露的口令</a:t>
            </a:r>
            <a:r>
              <a:rPr lang="zh-CN" altLang="zh-CN" dirty="0"/>
              <a:t>也可以被攻击者利用来进行定向攻击</a:t>
            </a:r>
            <a:endParaRPr lang="en-US" altLang="zh-CN" dirty="0"/>
          </a:p>
        </p:txBody>
      </p:sp>
      <p:sp>
        <p:nvSpPr>
          <p:cNvPr id="3" name="标题 2"/>
          <p:cNvSpPr>
            <a:spLocks noGrp="1"/>
          </p:cNvSpPr>
          <p:nvPr>
            <p:ph type="title"/>
          </p:nvPr>
        </p:nvSpPr>
        <p:spPr/>
        <p:txBody>
          <a:bodyPr/>
          <a:lstStyle/>
          <a:p>
            <a:r>
              <a:rPr lang="zh-CN" altLang="en-US" dirty="0"/>
              <a:t>口令猜测</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32242"/>
            <a:ext cx="7772400" cy="4618037"/>
          </a:xfrm>
        </p:spPr>
        <p:txBody>
          <a:bodyPr/>
          <a:lstStyle/>
          <a:p>
            <a:r>
              <a:rPr lang="zh-CN" altLang="en-US" dirty="0"/>
              <a:t>定向攻击</a:t>
            </a:r>
            <a:endParaRPr lang="en-US" altLang="zh-CN" dirty="0"/>
          </a:p>
          <a:p>
            <a:pPr lvl="1"/>
            <a:r>
              <a:rPr lang="en-US" altLang="zh-CN" dirty="0"/>
              <a:t>2016</a:t>
            </a:r>
            <a:r>
              <a:rPr lang="zh-CN" altLang="en-US" dirty="0"/>
              <a:t>：</a:t>
            </a:r>
            <a:r>
              <a:rPr lang="zh-CN" altLang="zh-CN" dirty="0"/>
              <a:t>汪定等人首次提出了</a:t>
            </a:r>
            <a:r>
              <a:rPr lang="zh-CN" altLang="zh-CN" dirty="0">
                <a:solidFill>
                  <a:srgbClr val="FF0000"/>
                </a:solidFill>
              </a:rPr>
              <a:t>基于</a:t>
            </a:r>
            <a:r>
              <a:rPr lang="en-US" altLang="zh-CN" dirty="0">
                <a:solidFill>
                  <a:srgbClr val="FF0000"/>
                </a:solidFill>
              </a:rPr>
              <a:t>Markov</a:t>
            </a:r>
            <a:r>
              <a:rPr lang="zh-CN" altLang="zh-CN" dirty="0">
                <a:solidFill>
                  <a:srgbClr val="FF0000"/>
                </a:solidFill>
              </a:rPr>
              <a:t>链的定向攻击猜测算法</a:t>
            </a:r>
            <a:r>
              <a:rPr lang="zh-CN" altLang="zh-CN" dirty="0"/>
              <a:t>：</a:t>
            </a:r>
            <a:r>
              <a:rPr lang="en-US" altLang="zh-CN" dirty="0"/>
              <a:t>Targeted-Markov</a:t>
            </a:r>
            <a:r>
              <a:rPr lang="zh-CN" altLang="zh-CN" dirty="0"/>
              <a:t>算法。该算法的基本思想是：</a:t>
            </a:r>
            <a:r>
              <a:rPr lang="zh-CN" altLang="zh-CN" dirty="0">
                <a:solidFill>
                  <a:srgbClr val="FF0000"/>
                </a:solidFill>
              </a:rPr>
              <a:t>人群中有多少比例使用某种个人信息，那么攻击对象也有同样可能使用该个人信息</a:t>
            </a:r>
            <a:r>
              <a:rPr lang="zh-CN" altLang="en-US" dirty="0">
                <a:solidFill>
                  <a:srgbClr val="FF0000"/>
                </a:solidFill>
              </a:rPr>
              <a:t>。</a:t>
            </a:r>
            <a:r>
              <a:rPr lang="zh-CN" altLang="en-US" dirty="0"/>
              <a:t>将个人信息分为</a:t>
            </a:r>
            <a:r>
              <a:rPr lang="en-US" altLang="zh-CN" dirty="0"/>
              <a:t>6</a:t>
            </a:r>
            <a:r>
              <a:rPr lang="zh-CN" altLang="en-US" dirty="0"/>
              <a:t>大类：</a:t>
            </a:r>
            <a:r>
              <a:rPr lang="zh-CN" altLang="zh-CN" dirty="0"/>
              <a:t>用户名</a:t>
            </a:r>
            <a:r>
              <a:rPr lang="en-US" altLang="zh-CN" dirty="0"/>
              <a:t>A</a:t>
            </a:r>
            <a:r>
              <a:rPr lang="zh-CN" altLang="zh-CN" dirty="0"/>
              <a:t>、邮箱前缀</a:t>
            </a:r>
            <a:r>
              <a:rPr lang="en-US" altLang="zh-CN" dirty="0"/>
              <a:t>E</a:t>
            </a:r>
            <a:r>
              <a:rPr lang="zh-CN" altLang="zh-CN" dirty="0"/>
              <a:t>、姓名</a:t>
            </a:r>
            <a:r>
              <a:rPr lang="en-US" altLang="zh-CN" dirty="0"/>
              <a:t>N</a:t>
            </a:r>
            <a:r>
              <a:rPr lang="zh-CN" altLang="zh-CN" dirty="0"/>
              <a:t>、生日</a:t>
            </a:r>
            <a:r>
              <a:rPr lang="en-US" altLang="zh-CN" dirty="0"/>
              <a:t>B</a:t>
            </a:r>
            <a:r>
              <a:rPr lang="zh-CN" altLang="zh-CN" dirty="0"/>
              <a:t>、手机号</a:t>
            </a:r>
            <a:r>
              <a:rPr lang="en-US" altLang="zh-CN" dirty="0"/>
              <a:t>P</a:t>
            </a:r>
            <a:r>
              <a:rPr lang="zh-CN" altLang="zh-CN" dirty="0"/>
              <a:t>和身份证</a:t>
            </a:r>
            <a:r>
              <a:rPr lang="en-US" altLang="zh-CN" dirty="0"/>
              <a:t>G</a:t>
            </a:r>
          </a:p>
        </p:txBody>
      </p:sp>
      <p:sp>
        <p:nvSpPr>
          <p:cNvPr id="3" name="标题 2"/>
          <p:cNvSpPr>
            <a:spLocks noGrp="1"/>
          </p:cNvSpPr>
          <p:nvPr>
            <p:ph type="title"/>
          </p:nvPr>
        </p:nvSpPr>
        <p:spPr/>
        <p:txBody>
          <a:bodyPr/>
          <a:lstStyle/>
          <a:p>
            <a:r>
              <a:rPr lang="zh-CN" altLang="en-US" dirty="0"/>
              <a:t>口令猜测</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32242"/>
            <a:ext cx="7772400" cy="4618037"/>
          </a:xfrm>
        </p:spPr>
        <p:txBody>
          <a:bodyPr/>
          <a:lstStyle/>
          <a:p>
            <a:r>
              <a:rPr lang="zh-CN" altLang="en-US" dirty="0"/>
              <a:t>定向攻击</a:t>
            </a:r>
            <a:endParaRPr lang="en-US" altLang="zh-CN" dirty="0"/>
          </a:p>
          <a:p>
            <a:pPr lvl="1"/>
            <a:r>
              <a:rPr lang="zh-CN" altLang="en-US" dirty="0">
                <a:solidFill>
                  <a:srgbClr val="FF0000"/>
                </a:solidFill>
              </a:rPr>
              <a:t>基</a:t>
            </a:r>
            <a:r>
              <a:rPr lang="zh-CN" altLang="zh-CN" dirty="0">
                <a:solidFill>
                  <a:srgbClr val="FF0000"/>
                </a:solidFill>
              </a:rPr>
              <a:t>于概率上下文无关文法（</a:t>
            </a:r>
            <a:r>
              <a:rPr lang="en-US" altLang="zh-CN" dirty="0">
                <a:solidFill>
                  <a:srgbClr val="FF0000"/>
                </a:solidFill>
              </a:rPr>
              <a:t>PCFG</a:t>
            </a:r>
            <a:r>
              <a:rPr lang="zh-CN" altLang="zh-CN" dirty="0">
                <a:solidFill>
                  <a:srgbClr val="FF0000"/>
                </a:solidFill>
              </a:rPr>
              <a:t>）的定向攻击猜测算法</a:t>
            </a:r>
            <a:r>
              <a:rPr lang="en-US" altLang="zh-CN" dirty="0"/>
              <a:t>Personal-PCFG</a:t>
            </a:r>
            <a:r>
              <a:rPr lang="zh-CN" altLang="zh-CN" dirty="0"/>
              <a:t>。该算法基于漫步</a:t>
            </a:r>
            <a:r>
              <a:rPr lang="en-US" altLang="zh-CN" dirty="0"/>
              <a:t>PCFG</a:t>
            </a:r>
            <a:r>
              <a:rPr lang="zh-CN" altLang="zh-CN" dirty="0"/>
              <a:t>攻击模型，基本思想与前面介绍的</a:t>
            </a:r>
            <a:r>
              <a:rPr lang="en-US" altLang="zh-CN" dirty="0"/>
              <a:t>PCFG</a:t>
            </a:r>
            <a:r>
              <a:rPr lang="zh-CN" altLang="zh-CN" dirty="0"/>
              <a:t>攻击模型完全相同：</a:t>
            </a:r>
            <a:r>
              <a:rPr lang="zh-CN" altLang="zh-CN" dirty="0">
                <a:solidFill>
                  <a:srgbClr val="FF0000"/>
                </a:solidFill>
              </a:rPr>
              <a:t>将口令按字符类型按长度进行切分</a:t>
            </a:r>
            <a:r>
              <a:rPr lang="zh-CN" altLang="zh-CN" dirty="0"/>
              <a:t>。同</a:t>
            </a:r>
            <a:r>
              <a:rPr lang="en-US" altLang="zh-CN" dirty="0"/>
              <a:t>Targeted-Markov</a:t>
            </a:r>
            <a:r>
              <a:rPr lang="zh-CN" altLang="zh-CN" dirty="0"/>
              <a:t>算法一样，将个人信息也分为</a:t>
            </a:r>
            <a:r>
              <a:rPr lang="en-US" altLang="zh-CN" dirty="0"/>
              <a:t>6</a:t>
            </a:r>
            <a:r>
              <a:rPr lang="zh-CN" altLang="zh-CN" dirty="0"/>
              <a:t>大类</a:t>
            </a:r>
            <a:endParaRPr lang="en-US" altLang="zh-CN" dirty="0"/>
          </a:p>
        </p:txBody>
      </p:sp>
      <p:sp>
        <p:nvSpPr>
          <p:cNvPr id="3" name="标题 2"/>
          <p:cNvSpPr>
            <a:spLocks noGrp="1"/>
          </p:cNvSpPr>
          <p:nvPr>
            <p:ph type="title"/>
          </p:nvPr>
        </p:nvSpPr>
        <p:spPr/>
        <p:txBody>
          <a:bodyPr/>
          <a:lstStyle/>
          <a:p>
            <a:r>
              <a:rPr lang="zh-CN" altLang="en-US" dirty="0"/>
              <a:t>口令猜测</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韩伟力：说说口令安全这件事</a:t>
            </a:r>
          </a:p>
        </p:txBody>
      </p:sp>
      <p:pic>
        <p:nvPicPr>
          <p:cNvPr id="3074" name="Picture 2"/>
          <p:cNvPicPr>
            <a:picLocks noChangeAspect="1" noChangeArrowheads="1"/>
          </p:cNvPicPr>
          <p:nvPr/>
        </p:nvPicPr>
        <p:blipFill>
          <a:blip r:embed="rId3" cstate="print"/>
          <a:srcRect/>
          <a:stretch>
            <a:fillRect/>
          </a:stretch>
        </p:blipFill>
        <p:spPr bwMode="auto">
          <a:xfrm>
            <a:off x="1" y="1276350"/>
            <a:ext cx="9143999" cy="4933950"/>
          </a:xfrm>
          <a:prstGeom prst="rect">
            <a:avLst/>
          </a:prstGeom>
          <a:noFill/>
          <a:ln w="9525">
            <a:noFill/>
            <a:miter lim="800000"/>
            <a:headEnd/>
            <a:tailEnd/>
          </a:ln>
          <a:effec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韩伟力：说说口令安全这件事</a:t>
            </a:r>
          </a:p>
        </p:txBody>
      </p:sp>
      <p:pic>
        <p:nvPicPr>
          <p:cNvPr id="4098" name="Picture 2"/>
          <p:cNvPicPr>
            <a:picLocks noChangeAspect="1" noChangeArrowheads="1"/>
          </p:cNvPicPr>
          <p:nvPr/>
        </p:nvPicPr>
        <p:blipFill>
          <a:blip r:embed="rId3" cstate="print"/>
          <a:srcRect/>
          <a:stretch>
            <a:fillRect/>
          </a:stretch>
        </p:blipFill>
        <p:spPr bwMode="auto">
          <a:xfrm>
            <a:off x="209552" y="1181100"/>
            <a:ext cx="8772524" cy="5038725"/>
          </a:xfrm>
          <a:prstGeom prst="rect">
            <a:avLst/>
          </a:prstGeom>
          <a:noFill/>
          <a:ln w="9525">
            <a:noFill/>
            <a:miter lim="800000"/>
            <a:headEnd/>
            <a:tailEnd/>
          </a:ln>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韩伟力：说说口令安全这件事</a:t>
            </a:r>
          </a:p>
        </p:txBody>
      </p:sp>
      <p:pic>
        <p:nvPicPr>
          <p:cNvPr id="5122" name="Picture 2"/>
          <p:cNvPicPr>
            <a:picLocks noChangeAspect="1" noChangeArrowheads="1"/>
          </p:cNvPicPr>
          <p:nvPr/>
        </p:nvPicPr>
        <p:blipFill>
          <a:blip r:embed="rId3" cstate="print"/>
          <a:srcRect/>
          <a:stretch>
            <a:fillRect/>
          </a:stretch>
        </p:blipFill>
        <p:spPr bwMode="auto">
          <a:xfrm>
            <a:off x="1" y="1171575"/>
            <a:ext cx="9143999" cy="5057775"/>
          </a:xfrm>
          <a:prstGeom prst="rect">
            <a:avLst/>
          </a:prstGeom>
          <a:noFill/>
          <a:ln w="9525">
            <a:noFill/>
            <a:miter lim="800000"/>
            <a:headEnd/>
            <a:tailEnd/>
          </a:ln>
          <a:effec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韩伟力：说说口令安全这件事</a:t>
            </a:r>
          </a:p>
        </p:txBody>
      </p:sp>
      <p:pic>
        <p:nvPicPr>
          <p:cNvPr id="6146" name="Picture 2"/>
          <p:cNvPicPr>
            <a:picLocks noChangeAspect="1" noChangeArrowheads="1"/>
          </p:cNvPicPr>
          <p:nvPr/>
        </p:nvPicPr>
        <p:blipFill>
          <a:blip r:embed="rId3" cstate="print"/>
          <a:srcRect/>
          <a:stretch>
            <a:fillRect/>
          </a:stretch>
        </p:blipFill>
        <p:spPr bwMode="auto">
          <a:xfrm>
            <a:off x="171450" y="1295400"/>
            <a:ext cx="8801100" cy="4962524"/>
          </a:xfrm>
          <a:prstGeom prst="rect">
            <a:avLst/>
          </a:prstGeom>
          <a:noFill/>
          <a:ln w="9525">
            <a:noFill/>
            <a:miter lim="800000"/>
            <a:headEnd/>
            <a:tailEnd/>
          </a:ln>
          <a:effec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374869"/>
            <a:ext cx="7772400" cy="4114800"/>
          </a:xfrm>
        </p:spPr>
        <p:txBody>
          <a:bodyPr/>
          <a:lstStyle/>
          <a:p>
            <a:r>
              <a:rPr lang="zh-CN" altLang="en-US" dirty="0"/>
              <a:t>口令管理公司</a:t>
            </a:r>
            <a:r>
              <a:rPr lang="en-US" altLang="zh-CN" dirty="0" err="1"/>
              <a:t>LastPass</a:t>
            </a:r>
            <a:r>
              <a:rPr lang="zh-CN" altLang="en-US" dirty="0"/>
              <a:t>发布的</a:t>
            </a:r>
            <a:r>
              <a:rPr lang="en-US" altLang="zh-CN" dirty="0"/>
              <a:t>《</a:t>
            </a:r>
            <a:r>
              <a:rPr lang="zh-CN" altLang="en-US" dirty="0"/>
              <a:t>口令心理学</a:t>
            </a:r>
            <a:r>
              <a:rPr lang="en-US" altLang="zh-CN" dirty="0"/>
              <a:t>》</a:t>
            </a:r>
            <a:r>
              <a:rPr lang="zh-CN" altLang="en-US" dirty="0"/>
              <a:t>报告调查了全球</a:t>
            </a:r>
            <a:r>
              <a:rPr lang="en-US" altLang="zh-CN" dirty="0"/>
              <a:t>3250</a:t>
            </a:r>
            <a:r>
              <a:rPr lang="zh-CN" altLang="en-US" dirty="0"/>
              <a:t>名受访者的网络安全行为。该报告表明，人们并没有保护自己免受网络安全风险的影响，尽管人们知道自己应该这样做</a:t>
            </a:r>
          </a:p>
        </p:txBody>
      </p:sp>
      <p:sp>
        <p:nvSpPr>
          <p:cNvPr id="3" name="标题 2"/>
          <p:cNvSpPr>
            <a:spLocks noGrp="1"/>
          </p:cNvSpPr>
          <p:nvPr>
            <p:ph type="title"/>
          </p:nvPr>
        </p:nvSpPr>
        <p:spPr/>
        <p:txBody>
          <a:bodyPr/>
          <a:lstStyle/>
          <a:p>
            <a:r>
              <a:rPr lang="en-US" altLang="zh-CN" dirty="0" err="1"/>
              <a:t>LastPass</a:t>
            </a:r>
            <a:r>
              <a:rPr lang="zh-CN" altLang="en-US" dirty="0"/>
              <a:t>发布的口令心理学</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en-US" altLang="zh-CN" dirty="0" err="1"/>
              <a:t>LastPass</a:t>
            </a:r>
            <a:r>
              <a:rPr lang="zh-CN" altLang="en-US" dirty="0"/>
              <a:t>发布的口令心理学</a:t>
            </a:r>
          </a:p>
        </p:txBody>
      </p:sp>
      <p:pic>
        <p:nvPicPr>
          <p:cNvPr id="4" name="图片 3"/>
          <p:cNvPicPr>
            <a:picLocks noChangeAspect="1"/>
          </p:cNvPicPr>
          <p:nvPr/>
        </p:nvPicPr>
        <p:blipFill>
          <a:blip r:embed="rId3"/>
          <a:stretch>
            <a:fillRect/>
          </a:stretch>
        </p:blipFill>
        <p:spPr>
          <a:xfrm>
            <a:off x="1537445" y="2047643"/>
            <a:ext cx="5741289" cy="565430"/>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70720" y="2927258"/>
            <a:ext cx="4074740" cy="2809034"/>
          </a:xfrm>
          <a:prstGeom prst="rect">
            <a:avLst/>
          </a:prstGeom>
          <a:ln>
            <a:solidFill>
              <a:srgbClr val="3366FF"/>
            </a:solid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05299" y="2483971"/>
            <a:ext cx="5972175" cy="3438525"/>
          </a:xfrm>
        </p:spPr>
      </p:pic>
      <p:sp>
        <p:nvSpPr>
          <p:cNvPr id="3" name="标题 2"/>
          <p:cNvSpPr>
            <a:spLocks noGrp="1"/>
          </p:cNvSpPr>
          <p:nvPr>
            <p:ph type="title"/>
          </p:nvPr>
        </p:nvSpPr>
        <p:spPr/>
        <p:txBody>
          <a:bodyPr/>
          <a:lstStyle/>
          <a:p>
            <a:r>
              <a:rPr lang="en-US" altLang="zh-CN" dirty="0" err="1"/>
              <a:t>LastPass</a:t>
            </a:r>
            <a:r>
              <a:rPr lang="zh-CN" altLang="en-US" dirty="0"/>
              <a:t>发布的口令心理学</a:t>
            </a:r>
          </a:p>
        </p:txBody>
      </p:sp>
      <p:pic>
        <p:nvPicPr>
          <p:cNvPr id="8" name="图片 7"/>
          <p:cNvPicPr>
            <a:picLocks noChangeAspect="1"/>
          </p:cNvPicPr>
          <p:nvPr/>
        </p:nvPicPr>
        <p:blipFill>
          <a:blip r:embed="rId4"/>
          <a:stretch>
            <a:fillRect/>
          </a:stretch>
        </p:blipFill>
        <p:spPr>
          <a:xfrm>
            <a:off x="1545104" y="1545198"/>
            <a:ext cx="5217487" cy="66012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err="1"/>
              <a:t>LastPass</a:t>
            </a:r>
            <a:r>
              <a:rPr lang="zh-CN" altLang="en-US" dirty="0"/>
              <a:t>发布的口令心理学</a:t>
            </a:r>
          </a:p>
        </p:txBody>
      </p:sp>
      <p:pic>
        <p:nvPicPr>
          <p:cNvPr id="2" name="图片 1"/>
          <p:cNvPicPr>
            <a:picLocks noChangeAspect="1"/>
          </p:cNvPicPr>
          <p:nvPr/>
        </p:nvPicPr>
        <p:blipFill>
          <a:blip r:embed="rId3"/>
          <a:stretch>
            <a:fillRect/>
          </a:stretch>
        </p:blipFill>
        <p:spPr>
          <a:xfrm>
            <a:off x="3188353" y="1734950"/>
            <a:ext cx="2298047" cy="649662"/>
          </a:xfrm>
          <a:prstGeom prst="rect">
            <a:avLst/>
          </a:prstGeom>
        </p:spPr>
      </p:pic>
      <p:pic>
        <p:nvPicPr>
          <p:cNvPr id="5" name="图片 4"/>
          <p:cNvPicPr>
            <a:picLocks noChangeAspect="1"/>
          </p:cNvPicPr>
          <p:nvPr/>
        </p:nvPicPr>
        <p:blipFill>
          <a:blip r:embed="rId4"/>
          <a:stretch>
            <a:fillRect/>
          </a:stretch>
        </p:blipFill>
        <p:spPr>
          <a:xfrm>
            <a:off x="1339103" y="2598084"/>
            <a:ext cx="6286500" cy="3562350"/>
          </a:xfrm>
          <a:prstGeom prst="rect">
            <a:avLst/>
          </a:prstGeom>
          <a:ln>
            <a:solidFill>
              <a:srgbClr val="3366FF"/>
            </a:solid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err="1"/>
              <a:t>LastPass</a:t>
            </a:r>
            <a:r>
              <a:rPr lang="zh-CN" altLang="en-US" dirty="0"/>
              <a:t>发布的口令心理学</a:t>
            </a:r>
          </a:p>
        </p:txBody>
      </p:sp>
      <p:pic>
        <p:nvPicPr>
          <p:cNvPr id="4" name="图片 3"/>
          <p:cNvPicPr>
            <a:picLocks noChangeAspect="1"/>
          </p:cNvPicPr>
          <p:nvPr/>
        </p:nvPicPr>
        <p:blipFill>
          <a:blip r:embed="rId3"/>
          <a:stretch>
            <a:fillRect/>
          </a:stretch>
        </p:blipFill>
        <p:spPr>
          <a:xfrm>
            <a:off x="2104744" y="1736071"/>
            <a:ext cx="4301586" cy="594753"/>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7061" y="2671482"/>
            <a:ext cx="6420867" cy="3334871"/>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err="1"/>
              <a:t>LastPass</a:t>
            </a:r>
            <a:r>
              <a:rPr lang="zh-CN" altLang="en-US" dirty="0"/>
              <a:t>发布的口令心理学</a:t>
            </a:r>
          </a:p>
        </p:txBody>
      </p:sp>
      <p:pic>
        <p:nvPicPr>
          <p:cNvPr id="2" name="图片 1"/>
          <p:cNvPicPr>
            <a:picLocks noChangeAspect="1"/>
          </p:cNvPicPr>
          <p:nvPr/>
        </p:nvPicPr>
        <p:blipFill>
          <a:blip r:embed="rId3"/>
          <a:stretch>
            <a:fillRect/>
          </a:stretch>
        </p:blipFill>
        <p:spPr>
          <a:xfrm>
            <a:off x="2138969" y="1744475"/>
            <a:ext cx="4300149" cy="622208"/>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390" y="2528047"/>
            <a:ext cx="6257925" cy="337185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pic>
        <p:nvPicPr>
          <p:cNvPr id="4" name="图片 3"/>
          <p:cNvPicPr>
            <a:picLocks noChangeAspect="1"/>
          </p:cNvPicPr>
          <p:nvPr/>
        </p:nvPicPr>
        <p:blipFill>
          <a:blip r:embed="rId3"/>
          <a:stretch>
            <a:fillRect/>
          </a:stretch>
        </p:blipFill>
        <p:spPr>
          <a:xfrm>
            <a:off x="1599173" y="340099"/>
            <a:ext cx="6076950" cy="1219200"/>
          </a:xfrm>
          <a:prstGeom prst="rect">
            <a:avLst/>
          </a:prstGeom>
          <a:ln>
            <a:solidFill>
              <a:srgbClr val="FF0000"/>
            </a:solidFill>
          </a:ln>
        </p:spPr>
      </p:pic>
      <p:pic>
        <p:nvPicPr>
          <p:cNvPr id="5" name="图片 4"/>
          <p:cNvPicPr>
            <a:picLocks noChangeAspect="1"/>
          </p:cNvPicPr>
          <p:nvPr/>
        </p:nvPicPr>
        <p:blipFill>
          <a:blip r:embed="rId4"/>
          <a:stretch>
            <a:fillRect/>
          </a:stretch>
        </p:blipFill>
        <p:spPr>
          <a:xfrm>
            <a:off x="948112" y="1673225"/>
            <a:ext cx="6877050" cy="4924425"/>
          </a:xfrm>
          <a:prstGeom prst="rect">
            <a:avLst/>
          </a:prstGeom>
          <a:ln>
            <a:solidFill>
              <a:schemeClr val="tx1"/>
            </a:solidFill>
          </a:ln>
        </p:spPr>
      </p:pic>
      <p:pic>
        <p:nvPicPr>
          <p:cNvPr id="6" name="图片 5"/>
          <p:cNvPicPr>
            <a:picLocks noChangeAspect="1"/>
          </p:cNvPicPr>
          <p:nvPr/>
        </p:nvPicPr>
        <p:blipFill>
          <a:blip r:embed="rId5"/>
          <a:stretch>
            <a:fillRect/>
          </a:stretch>
        </p:blipFill>
        <p:spPr>
          <a:xfrm>
            <a:off x="1246748" y="1298949"/>
            <a:ext cx="6429375" cy="4324350"/>
          </a:xfrm>
          <a:prstGeom prst="rect">
            <a:avLst/>
          </a:prstGeom>
          <a:ln>
            <a:solidFill>
              <a:schemeClr val="tx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a:t>内容提纲</a:t>
            </a:r>
            <a:endParaRPr lang="en-US" altLang="zh-CN">
              <a:solidFill>
                <a:schemeClr val="accent1"/>
              </a:solidFill>
            </a:endParaRPr>
          </a:p>
        </p:txBody>
      </p:sp>
      <p:sp>
        <p:nvSpPr>
          <p:cNvPr id="64543" name="Text Box 31"/>
          <p:cNvSpPr txBox="1">
            <a:spLocks noChangeArrowheads="1"/>
          </p:cNvSpPr>
          <p:nvPr/>
        </p:nvSpPr>
        <p:spPr bwMode="auto">
          <a:xfrm>
            <a:off x="1660525" y="722313"/>
            <a:ext cx="184150" cy="366712"/>
          </a:xfrm>
          <a:prstGeom prst="rect">
            <a:avLst/>
          </a:prstGeom>
          <a:noFill/>
          <a:ln w="9525">
            <a:noFill/>
            <a:miter lim="800000"/>
          </a:ln>
          <a:effectLst/>
        </p:spPr>
        <p:txBody>
          <a:bodyPr wrap="none">
            <a:spAutoFit/>
          </a:bodyPr>
          <a:lstStyle/>
          <a:p>
            <a:endParaRPr lang="zh-CN" altLang="en-US">
              <a:ea typeface="宋体" panose="02010600030101010101" pitchFamily="2" charset="-122"/>
            </a:endParaRPr>
          </a:p>
        </p:txBody>
      </p:sp>
      <p:sp>
        <p:nvSpPr>
          <p:cNvPr id="25" name="AutoShape 4"/>
          <p:cNvSpPr>
            <a:spLocks noChangeArrowheads="1"/>
          </p:cNvSpPr>
          <p:nvPr/>
        </p:nvSpPr>
        <p:spPr bwMode="gray">
          <a:xfrm>
            <a:off x="1157333" y="1611524"/>
            <a:ext cx="755605" cy="653839"/>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26" name="AutoShape 5"/>
          <p:cNvSpPr>
            <a:spLocks noChangeArrowheads="1"/>
          </p:cNvSpPr>
          <p:nvPr/>
        </p:nvSpPr>
        <p:spPr bwMode="gray">
          <a:xfrm>
            <a:off x="1150938" y="1600200"/>
            <a:ext cx="755605" cy="653839"/>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27" name="AutoShape 6"/>
          <p:cNvSpPr>
            <a:spLocks noChangeArrowheads="1"/>
          </p:cNvSpPr>
          <p:nvPr/>
        </p:nvSpPr>
        <p:spPr bwMode="gray">
          <a:xfrm>
            <a:off x="1195212" y="1639588"/>
            <a:ext cx="664106" cy="575063"/>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endParaRPr lang="zh-CN" altLang="en-US"/>
          </a:p>
        </p:txBody>
      </p:sp>
      <p:sp>
        <p:nvSpPr>
          <p:cNvPr id="32" name="Line 7"/>
          <p:cNvSpPr>
            <a:spLocks noChangeShapeType="1"/>
          </p:cNvSpPr>
          <p:nvPr/>
        </p:nvSpPr>
        <p:spPr bwMode="auto">
          <a:xfrm>
            <a:off x="1760538" y="2209800"/>
            <a:ext cx="6175736" cy="4852"/>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33" name="Text Box 8"/>
          <p:cNvSpPr txBox="1">
            <a:spLocks noChangeArrowheads="1"/>
          </p:cNvSpPr>
          <p:nvPr/>
        </p:nvSpPr>
        <p:spPr bwMode="auto">
          <a:xfrm>
            <a:off x="1897196" y="1460711"/>
            <a:ext cx="6039077" cy="701675"/>
          </a:xfrm>
          <a:prstGeom prst="rect">
            <a:avLst/>
          </a:prstGeom>
          <a:noFill/>
          <a:ln w="9525" algn="ctr">
            <a:noFill/>
            <a:miter lim="800000"/>
          </a:ln>
          <a:effectLst/>
        </p:spPr>
        <p:txBody>
          <a:bodyPr wrap="square">
            <a:spAutoFit/>
          </a:bodyPr>
          <a:lstStyle>
            <a:defPPr>
              <a:defRPr lang="zh-CN"/>
            </a:defPPr>
            <a:lvl1pPr eaLnBrk="0" hangingPunct="0">
              <a:defRPr sz="4000">
                <a:solidFill>
                  <a:srgbClr val="000000"/>
                </a:solidFill>
                <a:ea typeface="隶书" panose="02010509060101010101" pitchFamily="49" charset="-122"/>
              </a:defRPr>
            </a:lvl1pPr>
          </a:lstStyle>
          <a:p>
            <a:r>
              <a:rPr lang="zh-CN" altLang="en-US" dirty="0"/>
              <a:t>身份认证</a:t>
            </a:r>
          </a:p>
        </p:txBody>
      </p:sp>
      <p:sp>
        <p:nvSpPr>
          <p:cNvPr id="34" name="Text Box 9"/>
          <p:cNvSpPr txBox="1">
            <a:spLocks noChangeArrowheads="1"/>
          </p:cNvSpPr>
          <p:nvPr/>
        </p:nvSpPr>
        <p:spPr bwMode="gray">
          <a:xfrm>
            <a:off x="1347788" y="1698625"/>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p>
        </p:txBody>
      </p:sp>
      <p:grpSp>
        <p:nvGrpSpPr>
          <p:cNvPr id="36" name="Group 11"/>
          <p:cNvGrpSpPr/>
          <p:nvPr/>
        </p:nvGrpSpPr>
        <p:grpSpPr bwMode="auto">
          <a:xfrm>
            <a:off x="1150938" y="2809875"/>
            <a:ext cx="762000" cy="665163"/>
            <a:chOff x="3174" y="2656"/>
            <a:chExt cx="1549" cy="1351"/>
          </a:xfrm>
        </p:grpSpPr>
        <p:sp>
          <p:nvSpPr>
            <p:cNvPr id="40" name="AutoShape 1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1" name="AutoShape 1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2" name="AutoShape 1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37" name="Line 15"/>
          <p:cNvSpPr>
            <a:spLocks noChangeShapeType="1"/>
          </p:cNvSpPr>
          <p:nvPr/>
        </p:nvSpPr>
        <p:spPr bwMode="auto">
          <a:xfrm flipV="1">
            <a:off x="1760537" y="3393426"/>
            <a:ext cx="6175737" cy="2605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38" name="Text Box 16"/>
          <p:cNvSpPr txBox="1">
            <a:spLocks noChangeArrowheads="1"/>
          </p:cNvSpPr>
          <p:nvPr/>
        </p:nvSpPr>
        <p:spPr bwMode="auto">
          <a:xfrm>
            <a:off x="1919333" y="2629904"/>
            <a:ext cx="6016942" cy="707886"/>
          </a:xfrm>
          <a:prstGeom prst="rect">
            <a:avLst/>
          </a:prstGeom>
          <a:noFill/>
          <a:ln w="9525" algn="ctr">
            <a:noFill/>
            <a:miter lim="800000"/>
          </a:ln>
          <a:effectLst/>
        </p:spPr>
        <p:txBody>
          <a:bodyPr wrap="square">
            <a:spAutoFit/>
          </a:bodyPr>
          <a:lstStyle>
            <a:defPPr>
              <a:defRPr lang="zh-CN"/>
            </a:defPPr>
            <a:lvl1pPr eaLnBrk="0" hangingPunct="0">
              <a:defRPr sz="4000">
                <a:solidFill>
                  <a:srgbClr val="000000"/>
                </a:solidFill>
                <a:ea typeface="隶书" panose="02010509060101010101" pitchFamily="49" charset="-122"/>
              </a:defRPr>
            </a:lvl1pPr>
          </a:lstStyle>
          <a:p>
            <a:r>
              <a:rPr lang="zh-CN" altLang="en-US" dirty="0"/>
              <a:t>口令行为规律和口令猜测</a:t>
            </a:r>
          </a:p>
        </p:txBody>
      </p:sp>
      <p:sp>
        <p:nvSpPr>
          <p:cNvPr id="39" name="Text Box 17"/>
          <p:cNvSpPr txBox="1">
            <a:spLocks noChangeArrowheads="1"/>
          </p:cNvSpPr>
          <p:nvPr/>
        </p:nvSpPr>
        <p:spPr bwMode="gray">
          <a:xfrm>
            <a:off x="1347788" y="2908300"/>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p>
        </p:txBody>
      </p:sp>
      <p:sp>
        <p:nvSpPr>
          <p:cNvPr id="44" name="AutoShape 20"/>
          <p:cNvSpPr>
            <a:spLocks noChangeArrowheads="1"/>
          </p:cNvSpPr>
          <p:nvPr/>
        </p:nvSpPr>
        <p:spPr bwMode="gray">
          <a:xfrm>
            <a:off x="1157333" y="4184862"/>
            <a:ext cx="755605" cy="65383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5" name="AutoShape 21"/>
          <p:cNvSpPr>
            <a:spLocks noChangeArrowheads="1"/>
          </p:cNvSpPr>
          <p:nvPr/>
        </p:nvSpPr>
        <p:spPr bwMode="gray">
          <a:xfrm>
            <a:off x="1150938" y="4173538"/>
            <a:ext cx="755605" cy="65383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6" name="AutoShape 22"/>
          <p:cNvSpPr>
            <a:spLocks noChangeArrowheads="1"/>
          </p:cNvSpPr>
          <p:nvPr/>
        </p:nvSpPr>
        <p:spPr bwMode="gray">
          <a:xfrm>
            <a:off x="1195212" y="4212926"/>
            <a:ext cx="664106" cy="575062"/>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endParaRPr lang="zh-CN" altLang="en-US"/>
          </a:p>
        </p:txBody>
      </p:sp>
      <p:sp>
        <p:nvSpPr>
          <p:cNvPr id="47" name="Line 23"/>
          <p:cNvSpPr>
            <a:spLocks noChangeShapeType="1"/>
          </p:cNvSpPr>
          <p:nvPr/>
        </p:nvSpPr>
        <p:spPr bwMode="auto">
          <a:xfrm>
            <a:off x="1760538" y="4783138"/>
            <a:ext cx="6175736" cy="16174"/>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8" name="Text Box 24"/>
          <p:cNvSpPr txBox="1">
            <a:spLocks noChangeArrowheads="1"/>
          </p:cNvSpPr>
          <p:nvPr/>
        </p:nvSpPr>
        <p:spPr bwMode="auto">
          <a:xfrm>
            <a:off x="1912937" y="4054406"/>
            <a:ext cx="6023335" cy="701675"/>
          </a:xfrm>
          <a:prstGeom prst="rect">
            <a:avLst/>
          </a:prstGeom>
          <a:solidFill>
            <a:srgbClr val="FF6600"/>
          </a:solidFill>
          <a:ln w="9525" algn="ctr">
            <a:noFill/>
            <a:miter lim="800000"/>
          </a:ln>
          <a:effectLst/>
        </p:spPr>
        <p:txBody>
          <a:bodyPr wrap="square">
            <a:spAutoFit/>
          </a:bodyPr>
          <a:lstStyle>
            <a:defPPr>
              <a:defRPr lang="zh-CN"/>
            </a:defPPr>
            <a:lvl1pPr eaLnBrk="0" hangingPunct="0">
              <a:defRPr sz="4000">
                <a:solidFill>
                  <a:srgbClr val="000000"/>
                </a:solidFill>
                <a:latin typeface="Times New Roman" panose="02020603050405020304" pitchFamily="18" charset="0"/>
                <a:ea typeface="隶书" panose="02010509060101010101" pitchFamily="49" charset="-122"/>
              </a:defRPr>
            </a:lvl1pPr>
          </a:lstStyle>
          <a:p>
            <a:r>
              <a:rPr lang="zh-CN" altLang="en-US" dirty="0"/>
              <a:t>口令破解</a:t>
            </a:r>
          </a:p>
        </p:txBody>
      </p:sp>
      <p:sp>
        <p:nvSpPr>
          <p:cNvPr id="49" name="Text Box 25"/>
          <p:cNvSpPr txBox="1">
            <a:spLocks noChangeArrowheads="1"/>
          </p:cNvSpPr>
          <p:nvPr/>
        </p:nvSpPr>
        <p:spPr bwMode="gray">
          <a:xfrm>
            <a:off x="1347788" y="42719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p>
        </p:txBody>
      </p:sp>
      <p:grpSp>
        <p:nvGrpSpPr>
          <p:cNvPr id="28" name="Group 11"/>
          <p:cNvGrpSpPr/>
          <p:nvPr/>
        </p:nvGrpSpPr>
        <p:grpSpPr bwMode="auto">
          <a:xfrm>
            <a:off x="1195212" y="5360565"/>
            <a:ext cx="762000" cy="665163"/>
            <a:chOff x="3174" y="2656"/>
            <a:chExt cx="1549" cy="1351"/>
          </a:xfrm>
        </p:grpSpPr>
        <p:sp>
          <p:nvSpPr>
            <p:cNvPr id="29" name="AutoShape 1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30" name="AutoShape 1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31" name="AutoShape 1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50" name="Line 15"/>
          <p:cNvSpPr>
            <a:spLocks noChangeShapeType="1"/>
          </p:cNvSpPr>
          <p:nvPr/>
        </p:nvSpPr>
        <p:spPr bwMode="auto">
          <a:xfrm>
            <a:off x="1804812" y="5970165"/>
            <a:ext cx="6131462" cy="16174"/>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51" name="Text Box 16"/>
          <p:cNvSpPr txBox="1">
            <a:spLocks noChangeArrowheads="1"/>
          </p:cNvSpPr>
          <p:nvPr/>
        </p:nvSpPr>
        <p:spPr bwMode="auto">
          <a:xfrm>
            <a:off x="1941471" y="5212769"/>
            <a:ext cx="5614210" cy="707886"/>
          </a:xfrm>
          <a:prstGeom prst="rect">
            <a:avLst/>
          </a:prstGeom>
          <a:noFill/>
          <a:ln w="9525" algn="ctr">
            <a:noFill/>
            <a:miter lim="800000"/>
          </a:ln>
          <a:effectLst/>
        </p:spPr>
        <p:txBody>
          <a:bodyPr wrap="square">
            <a:spAutoFit/>
          </a:bodyPr>
          <a:lstStyle/>
          <a:p>
            <a:pPr eaLnBrk="0" hangingPunct="0"/>
            <a:r>
              <a:rPr lang="zh-CN" altLang="en-US" sz="4000" dirty="0">
                <a:solidFill>
                  <a:srgbClr val="000000"/>
                </a:solidFill>
                <a:ea typeface="隶书" panose="02010509060101010101" pitchFamily="49" charset="-122"/>
              </a:rPr>
              <a:t>口令防御</a:t>
            </a:r>
            <a:endParaRPr lang="zh-CN" altLang="en-US" sz="4000" b="1" dirty="0">
              <a:solidFill>
                <a:srgbClr val="000000"/>
              </a:solidFill>
              <a:ea typeface="隶书" panose="02010509060101010101" pitchFamily="49" charset="-122"/>
            </a:endParaRPr>
          </a:p>
        </p:txBody>
      </p:sp>
      <p:sp>
        <p:nvSpPr>
          <p:cNvPr id="52" name="Text Box 17"/>
          <p:cNvSpPr txBox="1">
            <a:spLocks noChangeArrowheads="1"/>
          </p:cNvSpPr>
          <p:nvPr/>
        </p:nvSpPr>
        <p:spPr bwMode="gray">
          <a:xfrm>
            <a:off x="1378952" y="5458990"/>
            <a:ext cx="380232" cy="461665"/>
          </a:xfrm>
          <a:prstGeom prst="rect">
            <a:avLst/>
          </a:prstGeom>
          <a:noFill/>
          <a:ln w="9525" algn="ctr">
            <a:noFill/>
            <a:miter lim="800000"/>
          </a:ln>
          <a:effectLst/>
        </p:spPr>
        <p:txBody>
          <a:bodyPr wrap="none">
            <a:spAutoFit/>
          </a:bodyPr>
          <a:lstStyle/>
          <a:p>
            <a:pPr algn="ctr" eaLnBrk="0" hangingPunct="0"/>
            <a:r>
              <a:rPr lang="en-US" altLang="zh-CN" sz="2400" dirty="0">
                <a:solidFill>
                  <a:schemeClr val="bg1"/>
                </a:solidFill>
              </a:rPr>
              <a:t>4</a:t>
            </a:r>
            <a:endParaRPr lang="en-US" altLang="zh-CN" sz="2400" b="1" dirty="0">
              <a:solidFill>
                <a:schemeClr val="bg1"/>
              </a:solidFill>
              <a:ea typeface="宋体" panose="02010600030101010101" pitchFamily="2"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844675" y="3011488"/>
            <a:ext cx="6199187" cy="1303337"/>
          </a:xfrm>
        </p:spPr>
        <p:txBody>
          <a:bodyPr/>
          <a:lstStyle/>
          <a:p>
            <a:pPr marL="0" indent="0">
              <a:buNone/>
            </a:pPr>
            <a:r>
              <a:rPr lang="zh-CN" altLang="en-US" dirty="0">
                <a:solidFill>
                  <a:srgbClr val="FF0000"/>
                </a:solidFill>
              </a:rPr>
              <a:t>一、操作系统口令破解</a:t>
            </a: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a:xfrm>
            <a:off x="962025" y="2565400"/>
            <a:ext cx="7134225" cy="1143000"/>
          </a:xfrm>
          <a:noFill/>
        </p:spPr>
        <p:txBody>
          <a:bodyPr/>
          <a:lstStyle/>
          <a:p>
            <a:r>
              <a:rPr lang="zh-CN" altLang="en-US" b="1" dirty="0">
                <a:solidFill>
                  <a:srgbClr val="0000FF"/>
                </a:solidFill>
              </a:rPr>
              <a:t>（一）</a:t>
            </a:r>
            <a:r>
              <a:rPr lang="en-US" altLang="zh-CN" b="1" dirty="0">
                <a:solidFill>
                  <a:srgbClr val="0000FF"/>
                </a:solidFill>
                <a:latin typeface="Times New Roman" panose="02020603050405020304" pitchFamily="18" charset="0"/>
              </a:rPr>
              <a:t>Windows</a:t>
            </a:r>
            <a:r>
              <a:rPr lang="zh-CN" altLang="en-US" b="1" dirty="0">
                <a:solidFill>
                  <a:srgbClr val="0000FF"/>
                </a:solidFill>
              </a:rPr>
              <a:t>密码破解</a:t>
            </a:r>
            <a:endParaRPr lang="en-US" altLang="zh-CN" b="1" dirty="0">
              <a:solidFill>
                <a:srgbClr val="0000FF"/>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p:cNvSpPr>
            <a:spLocks noGrp="1" noChangeArrowheads="1"/>
          </p:cNvSpPr>
          <p:nvPr>
            <p:ph type="title"/>
          </p:nvPr>
        </p:nvSpPr>
        <p:spPr/>
        <p:txBody>
          <a:bodyPr/>
          <a:lstStyle/>
          <a:p>
            <a:r>
              <a:rPr lang="en-US" altLang="zh-CN">
                <a:latin typeface="Times New Roman" panose="02020603050405020304" pitchFamily="18" charset="0"/>
              </a:rPr>
              <a:t>Windows</a:t>
            </a:r>
            <a:r>
              <a:rPr lang="zh-CN" altLang="en-US"/>
              <a:t>密码</a:t>
            </a:r>
            <a:r>
              <a:rPr lang="zh-CN" altLang="en-US">
                <a:latin typeface="Times New Roman" panose="02020603050405020304" pitchFamily="18" charset="0"/>
              </a:rPr>
              <a:t>：</a:t>
            </a:r>
            <a:r>
              <a:rPr lang="zh-CN" altLang="en-US"/>
              <a:t>安全策略</a:t>
            </a:r>
          </a:p>
        </p:txBody>
      </p:sp>
      <p:sp>
        <p:nvSpPr>
          <p:cNvPr id="460803" name="Rectangle 3"/>
          <p:cNvSpPr>
            <a:spLocks noGrp="1" noChangeArrowheads="1"/>
          </p:cNvSpPr>
          <p:nvPr>
            <p:ph type="body" idx="1"/>
          </p:nvPr>
        </p:nvSpPr>
        <p:spPr>
          <a:xfrm>
            <a:off x="584439" y="1450644"/>
            <a:ext cx="7975121" cy="4637087"/>
          </a:xfrm>
        </p:spPr>
        <p:txBody>
          <a:bodyPr/>
          <a:lstStyle/>
          <a:p>
            <a:r>
              <a:rPr lang="en-US" altLang="zh-CN" sz="2800" dirty="0"/>
              <a:t>Windows</a:t>
            </a:r>
            <a:r>
              <a:rPr lang="zh-CN" altLang="en-US" sz="2800" dirty="0"/>
              <a:t>中的</a:t>
            </a:r>
            <a:r>
              <a:rPr lang="zh-CN" altLang="en-US" sz="2800" dirty="0">
                <a:solidFill>
                  <a:srgbClr val="0000FF"/>
                </a:solidFill>
              </a:rPr>
              <a:t>本地安全授权子系统</a:t>
            </a:r>
            <a:r>
              <a:rPr lang="zh-CN" altLang="en-US" sz="2800" dirty="0"/>
              <a:t>（</a:t>
            </a:r>
            <a:r>
              <a:rPr lang="en-US" altLang="zh-CN" sz="2800" dirty="0"/>
              <a:t>LSASS</a:t>
            </a:r>
            <a:r>
              <a:rPr lang="zh-CN" altLang="en-US" sz="2800" dirty="0"/>
              <a:t>，</a:t>
            </a:r>
            <a:r>
              <a:rPr lang="en-US" altLang="zh-CN" sz="2800" dirty="0"/>
              <a:t>Local Security Authority Subsystem Service</a:t>
            </a:r>
            <a:r>
              <a:rPr lang="zh-CN" altLang="en-US" sz="2800" dirty="0"/>
              <a:t>）负责有关安全方面的功能；</a:t>
            </a:r>
          </a:p>
          <a:p>
            <a:r>
              <a:rPr lang="zh-CN" altLang="en-US" sz="2800" dirty="0"/>
              <a:t>该子系统将用户登录过程中输入的用户名和密码信息发送给</a:t>
            </a:r>
            <a:r>
              <a:rPr lang="zh-CN" altLang="en-US" sz="2800" dirty="0">
                <a:solidFill>
                  <a:srgbClr val="0000FF"/>
                </a:solidFill>
              </a:rPr>
              <a:t>安全帐号管理器</a:t>
            </a:r>
            <a:r>
              <a:rPr lang="zh-CN" altLang="en-US" sz="2800" dirty="0"/>
              <a:t>（</a:t>
            </a:r>
            <a:r>
              <a:rPr lang="en-US" altLang="zh-CN" sz="2800" dirty="0"/>
              <a:t>SAM</a:t>
            </a:r>
            <a:r>
              <a:rPr lang="zh-CN" altLang="en-US" sz="2800" dirty="0"/>
              <a:t>，</a:t>
            </a:r>
            <a:r>
              <a:rPr lang="en-US" altLang="zh-CN" sz="2800" dirty="0"/>
              <a:t>Security Account Manage</a:t>
            </a:r>
            <a:r>
              <a:rPr lang="zh-CN" altLang="en-US" sz="2800" dirty="0"/>
              <a:t>）以决定登录尝试是否合法；</a:t>
            </a:r>
          </a:p>
          <a:p>
            <a:r>
              <a:rPr lang="en-US" altLang="zh-CN" sz="2800" dirty="0"/>
              <a:t>SAM</a:t>
            </a:r>
            <a:r>
              <a:rPr lang="zh-CN" altLang="en-US" sz="2800" dirty="0"/>
              <a:t>中的</a:t>
            </a:r>
            <a:r>
              <a:rPr lang="en-US" altLang="zh-CN" sz="2800" dirty="0">
                <a:solidFill>
                  <a:srgbClr val="0000FF"/>
                </a:solidFill>
              </a:rPr>
              <a:t>SAM</a:t>
            </a:r>
            <a:r>
              <a:rPr lang="zh-CN" altLang="en-US" sz="2800" dirty="0">
                <a:solidFill>
                  <a:srgbClr val="0000FF"/>
                </a:solidFill>
              </a:rPr>
              <a:t>数据库</a:t>
            </a:r>
            <a:r>
              <a:rPr lang="zh-CN" altLang="en-US" sz="2800" dirty="0"/>
              <a:t>（也称为</a:t>
            </a:r>
            <a:r>
              <a:rPr lang="en-US" altLang="zh-CN" sz="2800" dirty="0">
                <a:solidFill>
                  <a:srgbClr val="0000FF"/>
                </a:solidFill>
              </a:rPr>
              <a:t>SAM</a:t>
            </a:r>
            <a:r>
              <a:rPr lang="zh-CN" altLang="en-US" sz="2800" dirty="0">
                <a:solidFill>
                  <a:srgbClr val="0000FF"/>
                </a:solidFill>
              </a:rPr>
              <a:t>文件</a:t>
            </a:r>
            <a:r>
              <a:rPr lang="zh-CN" altLang="en-US" sz="2800" dirty="0"/>
              <a:t>）记录了每一个用户帐号的密码记录。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60803">
                                            <p:txEl>
                                              <p:pRg st="0" end="0"/>
                                            </p:txEl>
                                          </p:spTgt>
                                        </p:tgtEl>
                                        <p:attrNameLst>
                                          <p:attrName>style.visibility</p:attrName>
                                        </p:attrNameLst>
                                      </p:cBhvr>
                                      <p:to>
                                        <p:strVal val="visible"/>
                                      </p:to>
                                    </p:set>
                                    <p:anim calcmode="lin" valueType="num">
                                      <p:cBhvr additive="base">
                                        <p:cTn id="7" dur="500" fill="hold"/>
                                        <p:tgtEl>
                                          <p:spTgt spid="4608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08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0803">
                                            <p:txEl>
                                              <p:pRg st="1" end="1"/>
                                            </p:txEl>
                                          </p:spTgt>
                                        </p:tgtEl>
                                        <p:attrNameLst>
                                          <p:attrName>style.visibility</p:attrName>
                                        </p:attrNameLst>
                                      </p:cBhvr>
                                      <p:to>
                                        <p:strVal val="visible"/>
                                      </p:to>
                                    </p:set>
                                    <p:anim calcmode="lin" valueType="num">
                                      <p:cBhvr additive="base">
                                        <p:cTn id="13" dur="500" fill="hold"/>
                                        <p:tgtEl>
                                          <p:spTgt spid="4608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08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60803">
                                            <p:txEl>
                                              <p:pRg st="2" end="2"/>
                                            </p:txEl>
                                          </p:spTgt>
                                        </p:tgtEl>
                                        <p:attrNameLst>
                                          <p:attrName>style.visibility</p:attrName>
                                        </p:attrNameLst>
                                      </p:cBhvr>
                                      <p:to>
                                        <p:strVal val="visible"/>
                                      </p:to>
                                    </p:set>
                                    <p:anim calcmode="lin" valueType="num">
                                      <p:cBhvr additive="base">
                                        <p:cTn id="19" dur="500" fill="hold"/>
                                        <p:tgtEl>
                                          <p:spTgt spid="4608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080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r>
              <a:rPr lang="en-US" altLang="zh-CN">
                <a:latin typeface="Times New Roman" panose="02020603050405020304" pitchFamily="18" charset="0"/>
              </a:rPr>
              <a:t>Windows</a:t>
            </a:r>
            <a:r>
              <a:rPr lang="zh-CN" altLang="en-US"/>
              <a:t>密码</a:t>
            </a:r>
            <a:r>
              <a:rPr lang="zh-CN" altLang="en-US">
                <a:latin typeface="Times New Roman" panose="02020603050405020304" pitchFamily="18" charset="0"/>
              </a:rPr>
              <a:t>：</a:t>
            </a:r>
            <a:r>
              <a:rPr lang="en-US" altLang="zh-CN">
                <a:latin typeface="Times New Roman" panose="02020603050405020304" pitchFamily="18" charset="0"/>
              </a:rPr>
              <a:t> SAM</a:t>
            </a:r>
            <a:r>
              <a:rPr lang="zh-CN" altLang="en-US">
                <a:latin typeface="Times New Roman" panose="02020603050405020304" pitchFamily="18" charset="0"/>
              </a:rPr>
              <a:t>文件</a:t>
            </a:r>
          </a:p>
        </p:txBody>
      </p:sp>
      <p:pic>
        <p:nvPicPr>
          <p:cNvPr id="461827" name="Picture 3" descr="snap"/>
          <p:cNvPicPr>
            <a:picLocks noChangeAspect="1" noChangeArrowheads="1"/>
          </p:cNvPicPr>
          <p:nvPr/>
        </p:nvPicPr>
        <p:blipFill>
          <a:blip r:embed="rId3" cstate="print"/>
          <a:srcRect/>
          <a:stretch>
            <a:fillRect/>
          </a:stretch>
        </p:blipFill>
        <p:spPr bwMode="auto">
          <a:xfrm>
            <a:off x="944563" y="1222375"/>
            <a:ext cx="7488237" cy="5089525"/>
          </a:xfrm>
          <a:prstGeom prst="rect">
            <a:avLst/>
          </a:prstGeom>
          <a:noFill/>
        </p:spPr>
      </p:pic>
      <p:sp>
        <p:nvSpPr>
          <p:cNvPr id="461829" name="AutoShape 5"/>
          <p:cNvSpPr/>
          <p:nvPr/>
        </p:nvSpPr>
        <p:spPr bwMode="auto">
          <a:xfrm>
            <a:off x="4932363" y="3933825"/>
            <a:ext cx="2303462" cy="433388"/>
          </a:xfrm>
          <a:prstGeom prst="borderCallout1">
            <a:avLst>
              <a:gd name="adj1" fmla="val 26375"/>
              <a:gd name="adj2" fmla="val -3310"/>
              <a:gd name="adj3" fmla="val -45421"/>
              <a:gd name="adj4" fmla="val -51690"/>
            </a:avLst>
          </a:prstGeom>
          <a:solidFill>
            <a:srgbClr val="CCFFFF"/>
          </a:solidFill>
          <a:ln w="9525">
            <a:solidFill>
              <a:srgbClr val="000000"/>
            </a:solidFill>
            <a:miter lim="800000"/>
          </a:ln>
          <a:effectLst/>
        </p:spPr>
        <p:txBody>
          <a:bodyPr anchor="ctr"/>
          <a:lstStyle/>
          <a:p>
            <a:pPr algn="ctr"/>
            <a:r>
              <a:rPr lang="zh-CN" altLang="en-US" b="1">
                <a:solidFill>
                  <a:srgbClr val="000000"/>
                </a:solidFill>
                <a:ea typeface="黑体" panose="02010609060101010101" pitchFamily="49" charset="-122"/>
              </a:rPr>
              <a:t>二进制</a:t>
            </a:r>
            <a:r>
              <a:rPr lang="zh-CN" altLang="en-US" b="1">
                <a:solidFill>
                  <a:srgbClr val="000000"/>
                </a:solidFill>
                <a:ea typeface="宋体" panose="02010600030101010101" pitchFamily="2" charset="-122"/>
              </a:rPr>
              <a:t>形式</a:t>
            </a:r>
            <a:r>
              <a:rPr lang="zh-CN" altLang="en-US" b="1">
                <a:solidFill>
                  <a:srgbClr val="000000"/>
                </a:solidFill>
                <a:ea typeface="黑体" panose="02010609060101010101" pitchFamily="49" charset="-122"/>
              </a:rPr>
              <a:t>存储</a:t>
            </a:r>
          </a:p>
        </p:txBody>
      </p:sp>
      <p:sp>
        <p:nvSpPr>
          <p:cNvPr id="7" name="内容占位符 6"/>
          <p:cNvSpPr>
            <a:spLocks noGrp="1"/>
          </p:cNvSpPr>
          <p:nvPr>
            <p:ph idx="1"/>
          </p:nvPr>
        </p:nvSpPr>
        <p:spPr/>
        <p:txBody>
          <a:bodyPr/>
          <a:lstStyle/>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618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461829"/>
                                        </p:tgtEl>
                                        <p:attrNameLst>
                                          <p:attrName>style.visibility</p:attrName>
                                        </p:attrNameLst>
                                      </p:cBhvr>
                                      <p:to>
                                        <p:strVal val="visible"/>
                                      </p:to>
                                    </p:set>
                                    <p:animEffect transition="in" filter="slide(fromLeft)">
                                      <p:cBhvr>
                                        <p:cTn id="11" dur="500"/>
                                        <p:tgtEl>
                                          <p:spTgt spid="4618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829"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a:xfrm>
            <a:off x="1150938" y="244475"/>
            <a:ext cx="7345362" cy="792163"/>
          </a:xfrm>
        </p:spPr>
        <p:txBody>
          <a:bodyPr/>
          <a:lstStyle/>
          <a:p>
            <a:r>
              <a:rPr lang="en-US" altLang="zh-CN" sz="4000" dirty="0">
                <a:latin typeface="Times New Roman" panose="02020603050405020304" pitchFamily="18" charset="0"/>
              </a:rPr>
              <a:t>Windows</a:t>
            </a:r>
            <a:r>
              <a:rPr lang="zh-CN" altLang="en-US" sz="4000" dirty="0"/>
              <a:t>密码</a:t>
            </a:r>
            <a:r>
              <a:rPr lang="zh-CN" altLang="en-US" sz="4000" dirty="0">
                <a:latin typeface="Times New Roman" panose="02020603050405020304" pitchFamily="18" charset="0"/>
              </a:rPr>
              <a:t>：</a:t>
            </a:r>
            <a:r>
              <a:rPr lang="en-US" altLang="zh-CN" sz="4000" dirty="0">
                <a:latin typeface="Times New Roman" panose="02020603050405020304" pitchFamily="18" charset="0"/>
              </a:rPr>
              <a:t> SAM</a:t>
            </a:r>
            <a:r>
              <a:rPr lang="zh-CN" altLang="en-US" sz="4000" dirty="0"/>
              <a:t>密码表示</a:t>
            </a:r>
            <a:endParaRPr lang="en-US" altLang="zh-CN" sz="4000" dirty="0"/>
          </a:p>
        </p:txBody>
      </p:sp>
      <p:sp>
        <p:nvSpPr>
          <p:cNvPr id="462851" name="Rectangle 3"/>
          <p:cNvSpPr>
            <a:spLocks noGrp="1" noChangeArrowheads="1"/>
          </p:cNvSpPr>
          <p:nvPr>
            <p:ph type="body" idx="1"/>
          </p:nvPr>
        </p:nvSpPr>
        <p:spPr>
          <a:xfrm>
            <a:off x="523875" y="1181100"/>
            <a:ext cx="8229600" cy="1008063"/>
          </a:xfrm>
        </p:spPr>
        <p:txBody>
          <a:bodyPr/>
          <a:lstStyle/>
          <a:p>
            <a:pPr>
              <a:lnSpc>
                <a:spcPct val="105000"/>
              </a:lnSpc>
            </a:pPr>
            <a:r>
              <a:rPr lang="en-US" altLang="zh-CN" sz="2800" dirty="0"/>
              <a:t>SAM</a:t>
            </a:r>
            <a:r>
              <a:rPr lang="zh-CN" altLang="en-US" sz="2800" dirty="0"/>
              <a:t>文件中每个用户帐号有两条密码记录：</a:t>
            </a:r>
            <a:r>
              <a:rPr lang="en-US" altLang="zh-CN" sz="2800" dirty="0"/>
              <a:t>LM</a:t>
            </a:r>
            <a:r>
              <a:rPr lang="zh-CN" altLang="en-US" sz="2800" dirty="0"/>
              <a:t>密码表示和</a:t>
            </a:r>
            <a:r>
              <a:rPr lang="en-US" altLang="zh-CN" sz="2800" dirty="0"/>
              <a:t>NT</a:t>
            </a:r>
            <a:r>
              <a:rPr lang="zh-CN" altLang="en-US" sz="2800" dirty="0"/>
              <a:t>哈希表示。</a:t>
            </a:r>
            <a:endParaRPr lang="en-US" altLang="zh-CN" sz="2800" dirty="0"/>
          </a:p>
        </p:txBody>
      </p:sp>
      <p:sp>
        <p:nvSpPr>
          <p:cNvPr id="462852" name="Rectangle 4"/>
          <p:cNvSpPr>
            <a:spLocks noChangeArrowheads="1"/>
          </p:cNvSpPr>
          <p:nvPr/>
        </p:nvSpPr>
        <p:spPr bwMode="auto">
          <a:xfrm>
            <a:off x="534988" y="3346450"/>
            <a:ext cx="8229600" cy="2997200"/>
          </a:xfrm>
          <a:prstGeom prst="rect">
            <a:avLst/>
          </a:prstGeom>
          <a:noFill/>
          <a:ln w="9525">
            <a:noFill/>
            <a:miter lim="800000"/>
          </a:ln>
          <a:effectLst/>
        </p:spPr>
        <p:txBody>
          <a:bodyPr/>
          <a:lstStyle/>
          <a:p>
            <a:pPr marL="342900" indent="-342900">
              <a:lnSpc>
                <a:spcPct val="105000"/>
              </a:lnSpc>
              <a:spcBef>
                <a:spcPct val="20000"/>
              </a:spcBef>
              <a:spcAft>
                <a:spcPct val="10000"/>
              </a:spcAft>
              <a:buClr>
                <a:srgbClr val="FF0000"/>
              </a:buClr>
              <a:buFont typeface="Wingdings" panose="05000000000000000000" pitchFamily="2" charset="2"/>
              <a:buChar char="v"/>
            </a:pPr>
            <a:r>
              <a:rPr lang="en-US" altLang="zh-CN" sz="2400" b="1" dirty="0">
                <a:solidFill>
                  <a:srgbClr val="000000"/>
                </a:solidFill>
                <a:latin typeface="Times New Roman" panose="02020603050405020304" pitchFamily="18" charset="0"/>
                <a:ea typeface="黑体" panose="02010609060101010101" pitchFamily="49" charset="-122"/>
              </a:rPr>
              <a:t>LM</a:t>
            </a:r>
            <a:r>
              <a:rPr lang="zh-CN" altLang="en-US" sz="2400" b="1" dirty="0">
                <a:solidFill>
                  <a:srgbClr val="000000"/>
                </a:solidFill>
                <a:latin typeface="Times New Roman" panose="02020603050405020304" pitchFamily="18" charset="0"/>
                <a:ea typeface="黑体" panose="02010609060101010101" pitchFamily="49" charset="-122"/>
              </a:rPr>
              <a:t>把长度小于</a:t>
            </a:r>
            <a:r>
              <a:rPr lang="en-US" altLang="zh-CN" sz="2400" b="1" dirty="0">
                <a:solidFill>
                  <a:srgbClr val="000000"/>
                </a:solidFill>
                <a:latin typeface="Times New Roman" panose="02020603050405020304" pitchFamily="18" charset="0"/>
                <a:ea typeface="黑体" panose="02010609060101010101" pitchFamily="49" charset="-122"/>
              </a:rPr>
              <a:t>15</a:t>
            </a:r>
            <a:r>
              <a:rPr lang="zh-CN" altLang="en-US" sz="2400" b="1" dirty="0">
                <a:solidFill>
                  <a:srgbClr val="000000"/>
                </a:solidFill>
                <a:latin typeface="Times New Roman" panose="02020603050405020304" pitchFamily="18" charset="0"/>
                <a:ea typeface="黑体" panose="02010609060101010101" pitchFamily="49" charset="-122"/>
              </a:rPr>
              <a:t>的密码填充空白符调整为</a:t>
            </a:r>
            <a:r>
              <a:rPr lang="en-US" altLang="zh-CN" sz="2400" b="1" dirty="0">
                <a:solidFill>
                  <a:srgbClr val="000000"/>
                </a:solidFill>
                <a:latin typeface="Times New Roman" panose="02020603050405020304" pitchFamily="18" charset="0"/>
                <a:ea typeface="黑体" panose="02010609060101010101" pitchFamily="49" charset="-122"/>
              </a:rPr>
              <a:t>14</a:t>
            </a:r>
            <a:r>
              <a:rPr lang="zh-CN" altLang="en-US" sz="2400" b="1" dirty="0">
                <a:solidFill>
                  <a:srgbClr val="000000"/>
                </a:solidFill>
                <a:latin typeface="Times New Roman" panose="02020603050405020304" pitchFamily="18" charset="0"/>
                <a:ea typeface="黑体" panose="02010609060101010101" pitchFamily="49" charset="-122"/>
              </a:rPr>
              <a:t>个字符，再分割成长</a:t>
            </a:r>
            <a:r>
              <a:rPr lang="en-US" altLang="zh-CN" sz="2400" b="1" dirty="0">
                <a:solidFill>
                  <a:srgbClr val="000000"/>
                </a:solidFill>
                <a:latin typeface="Times New Roman" panose="02020603050405020304" pitchFamily="18" charset="0"/>
                <a:ea typeface="黑体" panose="02010609060101010101" pitchFamily="49" charset="-122"/>
              </a:rPr>
              <a:t>7</a:t>
            </a:r>
            <a:r>
              <a:rPr lang="zh-CN" altLang="en-US" sz="2400" b="1" dirty="0">
                <a:solidFill>
                  <a:srgbClr val="000000"/>
                </a:solidFill>
                <a:latin typeface="Times New Roman" panose="02020603050405020304" pitchFamily="18" charset="0"/>
                <a:ea typeface="黑体" panose="02010609060101010101" pitchFamily="49" charset="-122"/>
              </a:rPr>
              <a:t>字符的两部分，每一部分用作一个十六进制数的</a:t>
            </a:r>
            <a:r>
              <a:rPr lang="en-US" altLang="zh-CN" sz="2400" b="1" dirty="0">
                <a:solidFill>
                  <a:srgbClr val="000000"/>
                </a:solidFill>
                <a:latin typeface="Times New Roman" panose="02020603050405020304" pitchFamily="18" charset="0"/>
                <a:ea typeface="黑体" panose="02010609060101010101" pitchFamily="49" charset="-122"/>
              </a:rPr>
              <a:t>DES</a:t>
            </a:r>
            <a:r>
              <a:rPr lang="zh-CN" altLang="en-US" sz="2400" b="1" dirty="0">
                <a:solidFill>
                  <a:srgbClr val="000000"/>
                </a:solidFill>
                <a:latin typeface="Times New Roman" panose="02020603050405020304" pitchFamily="18" charset="0"/>
                <a:ea typeface="黑体" panose="02010609060101010101" pitchFamily="49" charset="-122"/>
              </a:rPr>
              <a:t>加密的密钥。</a:t>
            </a:r>
            <a:endParaRPr lang="en-US" altLang="zh-CN" sz="2400" b="1" dirty="0">
              <a:solidFill>
                <a:srgbClr val="000000"/>
              </a:solidFill>
              <a:latin typeface="Times New Roman" panose="02020603050405020304" pitchFamily="18" charset="0"/>
              <a:ea typeface="黑体" panose="02010609060101010101" pitchFamily="49" charset="-122"/>
            </a:endParaRPr>
          </a:p>
          <a:p>
            <a:pPr marL="342900" indent="-342900">
              <a:lnSpc>
                <a:spcPct val="105000"/>
              </a:lnSpc>
              <a:spcBef>
                <a:spcPct val="20000"/>
              </a:spcBef>
              <a:spcAft>
                <a:spcPct val="10000"/>
              </a:spcAft>
              <a:buClr>
                <a:srgbClr val="FF0000"/>
              </a:buClr>
              <a:buFont typeface="Wingdings" panose="05000000000000000000" pitchFamily="2" charset="2"/>
              <a:buChar char="v"/>
            </a:pPr>
            <a:r>
              <a:rPr lang="en-US" altLang="zh-CN" sz="2400" b="1" dirty="0">
                <a:solidFill>
                  <a:srgbClr val="000000"/>
                </a:solidFill>
                <a:latin typeface="Times New Roman" panose="02020603050405020304" pitchFamily="18" charset="0"/>
                <a:ea typeface="黑体" panose="02010609060101010101" pitchFamily="49" charset="-122"/>
              </a:rPr>
              <a:t>NT</a:t>
            </a:r>
            <a:r>
              <a:rPr lang="zh-CN" altLang="en-US" sz="2400" b="1" dirty="0">
                <a:solidFill>
                  <a:srgbClr val="000000"/>
                </a:solidFill>
                <a:latin typeface="Times New Roman" panose="02020603050405020304" pitchFamily="18" charset="0"/>
                <a:ea typeface="黑体" panose="02010609060101010101" pitchFamily="49" charset="-122"/>
              </a:rPr>
              <a:t>哈希使用</a:t>
            </a:r>
            <a:r>
              <a:rPr lang="en-US" altLang="zh-CN" sz="2400" b="1" dirty="0">
                <a:solidFill>
                  <a:srgbClr val="000000"/>
                </a:solidFill>
                <a:latin typeface="Times New Roman" panose="02020603050405020304" pitchFamily="18" charset="0"/>
                <a:ea typeface="黑体" panose="02010609060101010101" pitchFamily="49" charset="-122"/>
              </a:rPr>
              <a:t>MD-4</a:t>
            </a:r>
            <a:r>
              <a:rPr lang="zh-CN" altLang="en-US" sz="2400" b="1" dirty="0">
                <a:solidFill>
                  <a:srgbClr val="000000"/>
                </a:solidFill>
                <a:latin typeface="Times New Roman" panose="02020603050405020304" pitchFamily="18" charset="0"/>
                <a:ea typeface="黑体" panose="02010609060101010101" pitchFamily="49" charset="-122"/>
              </a:rPr>
              <a:t>哈希算法三次产生密码的哈希。</a:t>
            </a:r>
          </a:p>
          <a:p>
            <a:pPr marL="342900" indent="-342900">
              <a:lnSpc>
                <a:spcPct val="105000"/>
              </a:lnSpc>
              <a:spcBef>
                <a:spcPct val="20000"/>
              </a:spcBef>
              <a:spcAft>
                <a:spcPct val="10000"/>
              </a:spcAft>
              <a:buClr>
                <a:srgbClr val="FF0000"/>
              </a:buClr>
              <a:buFont typeface="Wingdings" panose="05000000000000000000" pitchFamily="2" charset="2"/>
              <a:buChar char="v"/>
            </a:pPr>
            <a:r>
              <a:rPr lang="en-US" altLang="zh-CN" sz="2400" b="1" dirty="0">
                <a:solidFill>
                  <a:srgbClr val="000000"/>
                </a:solidFill>
                <a:latin typeface="Times New Roman" panose="02020603050405020304" pitchFamily="18" charset="0"/>
                <a:ea typeface="黑体" panose="02010609060101010101" pitchFamily="49" charset="-122"/>
              </a:rPr>
              <a:t>NT</a:t>
            </a:r>
            <a:r>
              <a:rPr lang="zh-CN" altLang="en-US" sz="2400" b="1" dirty="0">
                <a:solidFill>
                  <a:srgbClr val="000000"/>
                </a:solidFill>
                <a:latin typeface="Times New Roman" panose="02020603050405020304" pitchFamily="18" charset="0"/>
                <a:ea typeface="黑体" panose="02010609060101010101" pitchFamily="49" charset="-122"/>
              </a:rPr>
              <a:t>表示比</a:t>
            </a:r>
            <a:r>
              <a:rPr lang="en-US" altLang="zh-CN" sz="2400" b="1" dirty="0">
                <a:solidFill>
                  <a:srgbClr val="000000"/>
                </a:solidFill>
                <a:latin typeface="Times New Roman" panose="02020603050405020304" pitchFamily="18" charset="0"/>
                <a:ea typeface="黑体" panose="02010609060101010101" pitchFamily="49" charset="-122"/>
              </a:rPr>
              <a:t>LM</a:t>
            </a:r>
            <a:r>
              <a:rPr lang="zh-CN" altLang="en-US" sz="2400" b="1" dirty="0">
                <a:solidFill>
                  <a:srgbClr val="000000"/>
                </a:solidFill>
                <a:latin typeface="Times New Roman" panose="02020603050405020304" pitchFamily="18" charset="0"/>
                <a:ea typeface="黑体" panose="02010609060101010101" pitchFamily="49" charset="-122"/>
              </a:rPr>
              <a:t>表示的安全强度大的多：</a:t>
            </a:r>
            <a:r>
              <a:rPr lang="en-US" altLang="zh-CN" sz="2400" b="1" dirty="0">
                <a:solidFill>
                  <a:srgbClr val="000000"/>
                </a:solidFill>
                <a:latin typeface="Times New Roman" panose="02020603050405020304" pitchFamily="18" charset="0"/>
                <a:ea typeface="黑体" panose="02010609060101010101" pitchFamily="49" charset="-122"/>
              </a:rPr>
              <a:t>8</a:t>
            </a:r>
            <a:r>
              <a:rPr lang="zh-CN" altLang="en-US" sz="2400" b="1" dirty="0">
                <a:solidFill>
                  <a:srgbClr val="000000"/>
                </a:solidFill>
                <a:latin typeface="Times New Roman" panose="02020603050405020304" pitchFamily="18" charset="0"/>
                <a:ea typeface="黑体" panose="02010609060101010101" pitchFamily="49" charset="-122"/>
              </a:rPr>
              <a:t>位密码的</a:t>
            </a:r>
            <a:r>
              <a:rPr lang="en-US" altLang="zh-CN" sz="2400" b="1" dirty="0">
                <a:solidFill>
                  <a:srgbClr val="000000"/>
                </a:solidFill>
                <a:latin typeface="Times New Roman" panose="02020603050405020304" pitchFamily="18" charset="0"/>
                <a:ea typeface="黑体" panose="02010609060101010101" pitchFamily="49" charset="-122"/>
              </a:rPr>
              <a:t>NT</a:t>
            </a:r>
            <a:r>
              <a:rPr lang="zh-CN" altLang="en-US" sz="2400" b="1" dirty="0">
                <a:solidFill>
                  <a:srgbClr val="000000"/>
                </a:solidFill>
                <a:latin typeface="Times New Roman" panose="02020603050405020304" pitchFamily="18" charset="0"/>
                <a:ea typeface="黑体" panose="02010609060101010101" pitchFamily="49" charset="-122"/>
              </a:rPr>
              <a:t>哈希破解难度是</a:t>
            </a:r>
            <a:r>
              <a:rPr lang="en-US" altLang="zh-CN" sz="2400" b="1" dirty="0">
                <a:solidFill>
                  <a:srgbClr val="000000"/>
                </a:solidFill>
                <a:latin typeface="Times New Roman" panose="02020603050405020304" pitchFamily="18" charset="0"/>
                <a:ea typeface="黑体" panose="02010609060101010101" pitchFamily="49" charset="-122"/>
              </a:rPr>
              <a:t>LM</a:t>
            </a:r>
            <a:r>
              <a:rPr lang="zh-CN" altLang="en-US" sz="2400" b="1" dirty="0">
                <a:solidFill>
                  <a:srgbClr val="000000"/>
                </a:solidFill>
                <a:latin typeface="Times New Roman" panose="02020603050405020304" pitchFamily="18" charset="0"/>
                <a:ea typeface="黑体" panose="02010609060101010101" pitchFamily="49" charset="-122"/>
              </a:rPr>
              <a:t>的</a:t>
            </a:r>
            <a:r>
              <a:rPr lang="en-US" altLang="zh-CN" sz="2400" b="1" dirty="0">
                <a:solidFill>
                  <a:srgbClr val="000000"/>
                </a:solidFill>
                <a:latin typeface="Times New Roman" panose="02020603050405020304" pitchFamily="18" charset="0"/>
                <a:ea typeface="黑体" panose="02010609060101010101" pitchFamily="49" charset="-122"/>
              </a:rPr>
              <a:t>890</a:t>
            </a:r>
            <a:r>
              <a:rPr lang="zh-CN" altLang="en-US" sz="2400" b="1" dirty="0">
                <a:solidFill>
                  <a:srgbClr val="000000"/>
                </a:solidFill>
                <a:latin typeface="Times New Roman" panose="02020603050405020304" pitchFamily="18" charset="0"/>
                <a:ea typeface="黑体" panose="02010609060101010101" pitchFamily="49" charset="-122"/>
              </a:rPr>
              <a:t>倍</a:t>
            </a:r>
            <a:r>
              <a:rPr lang="zh-CN" altLang="en-US" sz="2400" dirty="0">
                <a:solidFill>
                  <a:srgbClr val="000000"/>
                </a:solidFill>
                <a:latin typeface="Times New Roman" panose="02020603050405020304" pitchFamily="18" charset="0"/>
                <a:ea typeface="黑体" panose="02010609060101010101" pitchFamily="49" charset="-122"/>
              </a:rPr>
              <a:t>。</a:t>
            </a:r>
            <a:endParaRPr lang="en-US" altLang="zh-CN" sz="2400" b="1" dirty="0">
              <a:solidFill>
                <a:srgbClr val="000000"/>
              </a:solidFill>
              <a:latin typeface="Times New Roman" panose="02020603050405020304" pitchFamily="18" charset="0"/>
              <a:ea typeface="黑体" panose="02010609060101010101" pitchFamily="49" charset="-122"/>
            </a:endParaRPr>
          </a:p>
          <a:p>
            <a:pPr marL="342900" indent="-342900">
              <a:lnSpc>
                <a:spcPct val="105000"/>
              </a:lnSpc>
              <a:spcBef>
                <a:spcPct val="20000"/>
              </a:spcBef>
              <a:spcAft>
                <a:spcPct val="10000"/>
              </a:spcAft>
              <a:buClr>
                <a:srgbClr val="FF0000"/>
              </a:buClr>
              <a:buFont typeface="Wingdings" panose="05000000000000000000" pitchFamily="2" charset="2"/>
              <a:buChar char="v"/>
            </a:pPr>
            <a:r>
              <a:rPr lang="en-US" altLang="zh-CN" sz="2400" b="1" dirty="0">
                <a:solidFill>
                  <a:srgbClr val="FF0000"/>
                </a:solidFill>
                <a:latin typeface="Times New Roman" panose="02020603050405020304" pitchFamily="18" charset="0"/>
                <a:ea typeface="黑体" panose="02010609060101010101" pitchFamily="49" charset="-122"/>
              </a:rPr>
              <a:t>Windows 7</a:t>
            </a:r>
            <a:r>
              <a:rPr lang="zh-CN" altLang="en-US" sz="2400" b="1" dirty="0">
                <a:solidFill>
                  <a:srgbClr val="FF0000"/>
                </a:solidFill>
                <a:latin typeface="Times New Roman" panose="02020603050405020304" pitchFamily="18" charset="0"/>
                <a:ea typeface="黑体" panose="02010609060101010101" pitchFamily="49" charset="-122"/>
              </a:rPr>
              <a:t>以后，默认不包含</a:t>
            </a:r>
            <a:r>
              <a:rPr lang="en-US" altLang="zh-CN" sz="2400" b="1" dirty="0">
                <a:solidFill>
                  <a:srgbClr val="FF0000"/>
                </a:solidFill>
                <a:latin typeface="Times New Roman" panose="02020603050405020304" pitchFamily="18" charset="0"/>
                <a:ea typeface="黑体" panose="02010609060101010101" pitchFamily="49" charset="-122"/>
              </a:rPr>
              <a:t>LM</a:t>
            </a:r>
            <a:r>
              <a:rPr lang="zh-CN" altLang="en-US" sz="2400" b="1" dirty="0">
                <a:solidFill>
                  <a:srgbClr val="FF0000"/>
                </a:solidFill>
                <a:latin typeface="Times New Roman" panose="02020603050405020304" pitchFamily="18" charset="0"/>
                <a:ea typeface="黑体" panose="02010609060101010101" pitchFamily="49" charset="-122"/>
              </a:rPr>
              <a:t>密码表示</a:t>
            </a:r>
          </a:p>
        </p:txBody>
      </p:sp>
      <p:sp>
        <p:nvSpPr>
          <p:cNvPr id="462853" name="Text Box 5"/>
          <p:cNvSpPr txBox="1">
            <a:spLocks noChangeArrowheads="1"/>
          </p:cNvSpPr>
          <p:nvPr/>
        </p:nvSpPr>
        <p:spPr bwMode="auto">
          <a:xfrm>
            <a:off x="1111250" y="2251075"/>
            <a:ext cx="7920038" cy="701675"/>
          </a:xfrm>
          <a:prstGeom prst="rect">
            <a:avLst/>
          </a:prstGeom>
          <a:noFill/>
          <a:ln w="9525">
            <a:noFill/>
            <a:miter lim="800000"/>
          </a:ln>
          <a:effectLst/>
        </p:spPr>
        <p:txBody>
          <a:bodyPr>
            <a:spAutoFit/>
          </a:bodyPr>
          <a:lstStyle/>
          <a:p>
            <a:r>
              <a:rPr lang="en-US" altLang="zh-CN" sz="2000" b="1">
                <a:solidFill>
                  <a:srgbClr val="000000"/>
                </a:solidFill>
                <a:ea typeface="宋体" panose="02010600030101010101" pitchFamily="2" charset="-122"/>
              </a:rPr>
              <a:t>susan:1001:1C3A2B6D939A1021AAD3B435B51404EE:E24106942BF38BCF57A6A4B29016EFF6:::</a:t>
            </a:r>
          </a:p>
        </p:txBody>
      </p:sp>
      <p:sp>
        <p:nvSpPr>
          <p:cNvPr id="462854" name="Text Box 6"/>
          <p:cNvSpPr txBox="1">
            <a:spLocks noChangeArrowheads="1"/>
          </p:cNvSpPr>
          <p:nvPr/>
        </p:nvSpPr>
        <p:spPr bwMode="auto">
          <a:xfrm>
            <a:off x="307975" y="2274888"/>
            <a:ext cx="938213" cy="366712"/>
          </a:xfrm>
          <a:prstGeom prst="rect">
            <a:avLst/>
          </a:prstGeom>
          <a:noFill/>
          <a:ln w="9525">
            <a:noFill/>
            <a:miter lim="800000"/>
          </a:ln>
          <a:effectLst/>
        </p:spPr>
        <p:txBody>
          <a:bodyPr wrap="none">
            <a:spAutoFit/>
          </a:bodyPr>
          <a:lstStyle/>
          <a:p>
            <a:r>
              <a:rPr lang="zh-CN" altLang="en-US" b="1">
                <a:solidFill>
                  <a:srgbClr val="0000FF"/>
                </a:solidFill>
                <a:ea typeface="黑体" panose="02010609060101010101" pitchFamily="49" charset="-122"/>
              </a:rPr>
              <a:t>样例： </a:t>
            </a:r>
            <a:endParaRPr lang="en-US" altLang="zh-CN" b="1">
              <a:solidFill>
                <a:srgbClr val="0000FF"/>
              </a:solidFill>
              <a:ea typeface="黑体" panose="02010609060101010101" pitchFamily="49" charset="-122"/>
            </a:endParaRPr>
          </a:p>
        </p:txBody>
      </p:sp>
      <p:sp>
        <p:nvSpPr>
          <p:cNvPr id="462855" name="AutoShape 7"/>
          <p:cNvSpPr/>
          <p:nvPr/>
        </p:nvSpPr>
        <p:spPr bwMode="auto">
          <a:xfrm>
            <a:off x="319088" y="2979738"/>
            <a:ext cx="928687" cy="433387"/>
          </a:xfrm>
          <a:prstGeom prst="borderCallout1">
            <a:avLst>
              <a:gd name="adj1" fmla="val 26375"/>
              <a:gd name="adj2" fmla="val 108204"/>
              <a:gd name="adj3" fmla="val -109157"/>
              <a:gd name="adj4" fmla="val 132477"/>
            </a:avLst>
          </a:prstGeom>
          <a:solidFill>
            <a:srgbClr val="CCFFFF"/>
          </a:solidFill>
          <a:ln w="9525">
            <a:solidFill>
              <a:srgbClr val="000000"/>
            </a:solidFill>
            <a:miter lim="800000"/>
          </a:ln>
          <a:effectLst/>
        </p:spPr>
        <p:txBody>
          <a:bodyPr anchor="ctr"/>
          <a:lstStyle/>
          <a:p>
            <a:pPr algn="ctr"/>
            <a:r>
              <a:rPr lang="zh-CN" altLang="en-US" b="1">
                <a:solidFill>
                  <a:srgbClr val="000000"/>
                </a:solidFill>
                <a:ea typeface="黑体" panose="02010609060101010101" pitchFamily="49" charset="-122"/>
              </a:rPr>
              <a:t>用户名</a:t>
            </a:r>
          </a:p>
        </p:txBody>
      </p:sp>
      <p:sp>
        <p:nvSpPr>
          <p:cNvPr id="462856" name="AutoShape 8"/>
          <p:cNvSpPr/>
          <p:nvPr/>
        </p:nvSpPr>
        <p:spPr bwMode="auto">
          <a:xfrm>
            <a:off x="1441450" y="2979738"/>
            <a:ext cx="649288" cy="433387"/>
          </a:xfrm>
          <a:prstGeom prst="borderCallout1">
            <a:avLst>
              <a:gd name="adj1" fmla="val 26375"/>
              <a:gd name="adj2" fmla="val 111736"/>
              <a:gd name="adj3" fmla="val -109157"/>
              <a:gd name="adj4" fmla="val 146454"/>
            </a:avLst>
          </a:prstGeom>
          <a:solidFill>
            <a:srgbClr val="CCFFFF"/>
          </a:solidFill>
          <a:ln w="9525">
            <a:solidFill>
              <a:srgbClr val="000000"/>
            </a:solidFill>
            <a:miter lim="800000"/>
          </a:ln>
          <a:effectLst/>
        </p:spPr>
        <p:txBody>
          <a:bodyPr anchor="ctr"/>
          <a:lstStyle/>
          <a:p>
            <a:pPr algn="ctr"/>
            <a:r>
              <a:rPr lang="en-US" altLang="zh-CN" b="1">
                <a:solidFill>
                  <a:srgbClr val="000000"/>
                </a:solidFill>
                <a:ea typeface="黑体" panose="02010609060101010101" pitchFamily="49" charset="-122"/>
              </a:rPr>
              <a:t>ID</a:t>
            </a:r>
          </a:p>
        </p:txBody>
      </p:sp>
      <p:sp>
        <p:nvSpPr>
          <p:cNvPr id="462857" name="AutoShape 9"/>
          <p:cNvSpPr/>
          <p:nvPr/>
        </p:nvSpPr>
        <p:spPr bwMode="auto">
          <a:xfrm>
            <a:off x="2406650" y="2979738"/>
            <a:ext cx="1800225" cy="433387"/>
          </a:xfrm>
          <a:prstGeom prst="borderCallout1">
            <a:avLst>
              <a:gd name="adj1" fmla="val 26375"/>
              <a:gd name="adj2" fmla="val 104231"/>
              <a:gd name="adj3" fmla="val -111356"/>
              <a:gd name="adj4" fmla="val 130157"/>
            </a:avLst>
          </a:prstGeom>
          <a:solidFill>
            <a:srgbClr val="CCFFFF"/>
          </a:solidFill>
          <a:ln w="9525">
            <a:solidFill>
              <a:srgbClr val="000000"/>
            </a:solidFill>
            <a:miter lim="800000"/>
          </a:ln>
          <a:effectLst/>
        </p:spPr>
        <p:txBody>
          <a:bodyPr anchor="ctr"/>
          <a:lstStyle/>
          <a:p>
            <a:pPr algn="ctr"/>
            <a:r>
              <a:rPr lang="en-US" altLang="zh-CN" b="1">
                <a:solidFill>
                  <a:srgbClr val="000000"/>
                </a:solidFill>
                <a:ea typeface="黑体" panose="02010609060101010101" pitchFamily="49" charset="-122"/>
              </a:rPr>
              <a:t>LM</a:t>
            </a:r>
            <a:r>
              <a:rPr lang="zh-CN" altLang="en-US" b="1">
                <a:solidFill>
                  <a:srgbClr val="000000"/>
                </a:solidFill>
                <a:ea typeface="黑体" panose="02010609060101010101" pitchFamily="49" charset="-122"/>
              </a:rPr>
              <a:t>密码表示</a:t>
            </a:r>
            <a:endParaRPr lang="en-US" altLang="zh-CN" b="1">
              <a:solidFill>
                <a:srgbClr val="000000"/>
              </a:solidFill>
              <a:ea typeface="黑体" panose="02010609060101010101" pitchFamily="49" charset="-122"/>
            </a:endParaRPr>
          </a:p>
        </p:txBody>
      </p:sp>
      <p:sp>
        <p:nvSpPr>
          <p:cNvPr id="462858" name="AutoShape 10"/>
          <p:cNvSpPr/>
          <p:nvPr/>
        </p:nvSpPr>
        <p:spPr bwMode="auto">
          <a:xfrm>
            <a:off x="5719763" y="2979738"/>
            <a:ext cx="1800225" cy="433387"/>
          </a:xfrm>
          <a:prstGeom prst="borderCallout1">
            <a:avLst>
              <a:gd name="adj1" fmla="val 26375"/>
              <a:gd name="adj2" fmla="val 104231"/>
              <a:gd name="adj3" fmla="val -98167"/>
              <a:gd name="adj4" fmla="val 139681"/>
            </a:avLst>
          </a:prstGeom>
          <a:solidFill>
            <a:srgbClr val="CCFFFF"/>
          </a:solidFill>
          <a:ln w="9525">
            <a:solidFill>
              <a:srgbClr val="000000"/>
            </a:solidFill>
            <a:miter lim="800000"/>
          </a:ln>
          <a:effectLst/>
        </p:spPr>
        <p:txBody>
          <a:bodyPr anchor="ctr"/>
          <a:lstStyle/>
          <a:p>
            <a:pPr algn="ctr"/>
            <a:r>
              <a:rPr lang="en-US" altLang="zh-CN" b="1">
                <a:solidFill>
                  <a:srgbClr val="000000"/>
                </a:solidFill>
                <a:ea typeface="黑体" panose="02010609060101010101" pitchFamily="49" charset="-122"/>
              </a:rPr>
              <a:t>NT</a:t>
            </a:r>
            <a:r>
              <a:rPr lang="zh-CN" altLang="en-US" b="1">
                <a:solidFill>
                  <a:srgbClr val="000000"/>
                </a:solidFill>
                <a:ea typeface="黑体" panose="02010609060101010101" pitchFamily="49" charset="-122"/>
              </a:rPr>
              <a:t>哈希表示</a:t>
            </a:r>
            <a:endParaRPr lang="en-US" altLang="zh-CN" b="1">
              <a:solidFill>
                <a:srgbClr val="00000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62851">
                                            <p:txEl>
                                              <p:pRg st="0" end="0"/>
                                            </p:txEl>
                                          </p:spTgt>
                                        </p:tgtEl>
                                        <p:attrNameLst>
                                          <p:attrName>style.visibility</p:attrName>
                                        </p:attrNameLst>
                                      </p:cBhvr>
                                      <p:to>
                                        <p:strVal val="visible"/>
                                      </p:to>
                                    </p:set>
                                    <p:anim calcmode="lin" valueType="num">
                                      <p:cBhvr additive="base">
                                        <p:cTn id="7" dur="500" fill="hold"/>
                                        <p:tgtEl>
                                          <p:spTgt spid="4628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28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62854"/>
                                        </p:tgtEl>
                                        <p:attrNameLst>
                                          <p:attrName>style.visibility</p:attrName>
                                        </p:attrNameLst>
                                      </p:cBhvr>
                                      <p:to>
                                        <p:strVal val="visible"/>
                                      </p:to>
                                    </p:set>
                                    <p:animEffect transition="in" filter="slide(fromBottom)">
                                      <p:cBhvr>
                                        <p:cTn id="13" dur="500"/>
                                        <p:tgtEl>
                                          <p:spTgt spid="462854"/>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462853"/>
                                        </p:tgtEl>
                                        <p:attrNameLst>
                                          <p:attrName>style.visibility</p:attrName>
                                        </p:attrNameLst>
                                      </p:cBhvr>
                                      <p:to>
                                        <p:strVal val="visible"/>
                                      </p:to>
                                    </p:set>
                                    <p:animEffect transition="in" filter="slide(fromBottom)">
                                      <p:cBhvr>
                                        <p:cTn id="18" dur="500"/>
                                        <p:tgtEl>
                                          <p:spTgt spid="462853"/>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462855"/>
                                        </p:tgtEl>
                                        <p:attrNameLst>
                                          <p:attrName>style.visibility</p:attrName>
                                        </p:attrNameLst>
                                      </p:cBhvr>
                                      <p:to>
                                        <p:strVal val="visible"/>
                                      </p:to>
                                    </p:set>
                                    <p:animEffect transition="in" filter="slide(fromLeft)">
                                      <p:cBhvr>
                                        <p:cTn id="23" dur="500"/>
                                        <p:tgtEl>
                                          <p:spTgt spid="462855"/>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8" fill="hold" grpId="0" nodeType="clickEffect">
                                  <p:stCondLst>
                                    <p:cond delay="0"/>
                                  </p:stCondLst>
                                  <p:childTnLst>
                                    <p:set>
                                      <p:cBhvr>
                                        <p:cTn id="27" dur="1" fill="hold">
                                          <p:stCondLst>
                                            <p:cond delay="0"/>
                                          </p:stCondLst>
                                        </p:cTn>
                                        <p:tgtEl>
                                          <p:spTgt spid="462856"/>
                                        </p:tgtEl>
                                        <p:attrNameLst>
                                          <p:attrName>style.visibility</p:attrName>
                                        </p:attrNameLst>
                                      </p:cBhvr>
                                      <p:to>
                                        <p:strVal val="visible"/>
                                      </p:to>
                                    </p:set>
                                    <p:animEffect transition="in" filter="slide(fromLeft)">
                                      <p:cBhvr>
                                        <p:cTn id="28" dur="500"/>
                                        <p:tgtEl>
                                          <p:spTgt spid="462856"/>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462857"/>
                                        </p:tgtEl>
                                        <p:attrNameLst>
                                          <p:attrName>style.visibility</p:attrName>
                                        </p:attrNameLst>
                                      </p:cBhvr>
                                      <p:to>
                                        <p:strVal val="visible"/>
                                      </p:to>
                                    </p:set>
                                    <p:animEffect transition="in" filter="slide(fromLeft)">
                                      <p:cBhvr>
                                        <p:cTn id="33" dur="500"/>
                                        <p:tgtEl>
                                          <p:spTgt spid="462857"/>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8" fill="hold" grpId="0" nodeType="clickEffect">
                                  <p:stCondLst>
                                    <p:cond delay="0"/>
                                  </p:stCondLst>
                                  <p:childTnLst>
                                    <p:set>
                                      <p:cBhvr>
                                        <p:cTn id="37" dur="1" fill="hold">
                                          <p:stCondLst>
                                            <p:cond delay="0"/>
                                          </p:stCondLst>
                                        </p:cTn>
                                        <p:tgtEl>
                                          <p:spTgt spid="462858"/>
                                        </p:tgtEl>
                                        <p:attrNameLst>
                                          <p:attrName>style.visibility</p:attrName>
                                        </p:attrNameLst>
                                      </p:cBhvr>
                                      <p:to>
                                        <p:strVal val="visible"/>
                                      </p:to>
                                    </p:set>
                                    <p:animEffect transition="in" filter="slide(fromLeft)">
                                      <p:cBhvr>
                                        <p:cTn id="38" dur="500"/>
                                        <p:tgtEl>
                                          <p:spTgt spid="462858"/>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62852">
                                            <p:txEl>
                                              <p:pRg st="0" end="0"/>
                                            </p:txEl>
                                          </p:spTgt>
                                        </p:tgtEl>
                                        <p:attrNameLst>
                                          <p:attrName>style.visibility</p:attrName>
                                        </p:attrNameLst>
                                      </p:cBhvr>
                                      <p:to>
                                        <p:strVal val="visible"/>
                                      </p:to>
                                    </p:set>
                                    <p:anim calcmode="lin" valueType="num">
                                      <p:cBhvr additive="base">
                                        <p:cTn id="43" dur="500" fill="hold"/>
                                        <p:tgtEl>
                                          <p:spTgt spid="462852">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6285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62852">
                                            <p:txEl>
                                              <p:pRg st="1" end="1"/>
                                            </p:txEl>
                                          </p:spTgt>
                                        </p:tgtEl>
                                        <p:attrNameLst>
                                          <p:attrName>style.visibility</p:attrName>
                                        </p:attrNameLst>
                                      </p:cBhvr>
                                      <p:to>
                                        <p:strVal val="visible"/>
                                      </p:to>
                                    </p:set>
                                    <p:anim calcmode="lin" valueType="num">
                                      <p:cBhvr additive="base">
                                        <p:cTn id="49" dur="500" fill="hold"/>
                                        <p:tgtEl>
                                          <p:spTgt spid="462852">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6285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62852">
                                            <p:txEl>
                                              <p:pRg st="2" end="2"/>
                                            </p:txEl>
                                          </p:spTgt>
                                        </p:tgtEl>
                                        <p:attrNameLst>
                                          <p:attrName>style.visibility</p:attrName>
                                        </p:attrNameLst>
                                      </p:cBhvr>
                                      <p:to>
                                        <p:strVal val="visible"/>
                                      </p:to>
                                    </p:set>
                                    <p:anim calcmode="lin" valueType="num">
                                      <p:cBhvr additive="base">
                                        <p:cTn id="55" dur="500" fill="hold"/>
                                        <p:tgtEl>
                                          <p:spTgt spid="462852">
                                            <p:txEl>
                                              <p:pRg st="2" end="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6285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62852">
                                            <p:txEl>
                                              <p:pRg st="3" end="3"/>
                                            </p:txEl>
                                          </p:spTgt>
                                        </p:tgtEl>
                                        <p:attrNameLst>
                                          <p:attrName>style.visibility</p:attrName>
                                        </p:attrNameLst>
                                      </p:cBhvr>
                                      <p:to>
                                        <p:strVal val="visible"/>
                                      </p:to>
                                    </p:set>
                                    <p:anim calcmode="lin" valueType="num">
                                      <p:cBhvr additive="base">
                                        <p:cTn id="61" dur="500" fill="hold"/>
                                        <p:tgtEl>
                                          <p:spTgt spid="462852">
                                            <p:txEl>
                                              <p:pRg st="3" end="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6285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3" grpId="0"/>
      <p:bldP spid="462854" grpId="0"/>
      <p:bldP spid="462855" grpId="0" animBg="1"/>
      <p:bldP spid="462856" grpId="0" animBg="1"/>
      <p:bldP spid="462857" grpId="0" animBg="1"/>
      <p:bldP spid="462858"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2"/>
          <p:cNvSpPr>
            <a:spLocks noGrp="1" noChangeArrowheads="1"/>
          </p:cNvSpPr>
          <p:nvPr>
            <p:ph type="title"/>
          </p:nvPr>
        </p:nvSpPr>
        <p:spPr/>
        <p:txBody>
          <a:bodyPr/>
          <a:lstStyle/>
          <a:p>
            <a:pPr eaLnBrk="1" hangingPunct="1"/>
            <a:r>
              <a:rPr lang="en-US" altLang="zh-CN"/>
              <a:t>Windows</a:t>
            </a:r>
            <a:r>
              <a:rPr lang="zh-CN" altLang="en-US"/>
              <a:t>的口令文件</a:t>
            </a:r>
          </a:p>
        </p:txBody>
      </p:sp>
      <p:sp>
        <p:nvSpPr>
          <p:cNvPr id="47110" name="Rectangle 4"/>
          <p:cNvSpPr>
            <a:spLocks noGrp="1" noChangeArrowheads="1"/>
          </p:cNvSpPr>
          <p:nvPr>
            <p:ph type="body" idx="1"/>
          </p:nvPr>
        </p:nvSpPr>
        <p:spPr/>
        <p:txBody>
          <a:bodyPr/>
          <a:lstStyle/>
          <a:p>
            <a:pPr eaLnBrk="1" hangingPunct="1"/>
            <a:r>
              <a:rPr lang="en-US" altLang="zh-CN"/>
              <a:t>Windows</a:t>
            </a:r>
            <a:r>
              <a:rPr lang="zh-CN" altLang="en-US"/>
              <a:t>对用户账户的安全管理使用了安全账号管理器</a:t>
            </a:r>
            <a:r>
              <a:rPr lang="en-US" altLang="zh-CN"/>
              <a:t>(Security Account Manager</a:t>
            </a:r>
            <a:r>
              <a:rPr lang="zh-CN" altLang="en-US"/>
              <a:t>，简称</a:t>
            </a:r>
            <a:r>
              <a:rPr lang="en-US" altLang="zh-CN"/>
              <a:t>SAM)</a:t>
            </a:r>
            <a:r>
              <a:rPr lang="zh-CN" altLang="en-US"/>
              <a:t>的机制。</a:t>
            </a:r>
          </a:p>
          <a:p>
            <a:pPr eaLnBrk="1" hangingPunct="1"/>
            <a:r>
              <a:rPr lang="en-US" altLang="zh-CN"/>
              <a:t>SAM</a:t>
            </a:r>
            <a:r>
              <a:rPr lang="zh-CN" altLang="en-US"/>
              <a:t>数据库在磁盘上保存在</a:t>
            </a:r>
            <a:r>
              <a:rPr lang="en-US" altLang="zh-CN"/>
              <a:t>%systemroot%system32\config\</a:t>
            </a:r>
            <a:r>
              <a:rPr lang="zh-CN" altLang="en-US"/>
              <a:t>目录下的</a:t>
            </a:r>
            <a:r>
              <a:rPr lang="en-US" altLang="zh-CN"/>
              <a:t>sam</a:t>
            </a:r>
            <a:r>
              <a:rPr lang="zh-CN" altLang="en-US"/>
              <a:t>文件中。</a:t>
            </a:r>
          </a:p>
          <a:p>
            <a:pPr eaLnBrk="1" hangingPunct="1"/>
            <a:r>
              <a:rPr lang="en-US" altLang="zh-CN"/>
              <a:t>SAM</a:t>
            </a:r>
            <a:r>
              <a:rPr lang="zh-CN" altLang="en-US"/>
              <a:t>数据库中包含所有组、帐户的信息，包括密码的</a:t>
            </a:r>
            <a:r>
              <a:rPr lang="en-US" altLang="zh-CN"/>
              <a:t>HASH</a:t>
            </a:r>
            <a:r>
              <a:rPr lang="zh-CN" altLang="en-US"/>
              <a:t>、帐户的</a:t>
            </a:r>
            <a:r>
              <a:rPr lang="en-US" altLang="zh-CN"/>
              <a:t>SID</a:t>
            </a:r>
            <a:r>
              <a:rPr lang="zh-CN" altLang="en-US"/>
              <a:t>等。</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2"/>
          <p:cNvSpPr>
            <a:spLocks noGrp="1" noChangeArrowheads="1"/>
          </p:cNvSpPr>
          <p:nvPr>
            <p:ph type="title"/>
          </p:nvPr>
        </p:nvSpPr>
        <p:spPr/>
        <p:txBody>
          <a:bodyPr/>
          <a:lstStyle/>
          <a:p>
            <a:pPr eaLnBrk="1" hangingPunct="1"/>
            <a:r>
              <a:rPr lang="en-US" altLang="zh-CN"/>
              <a:t>Windows</a:t>
            </a:r>
            <a:r>
              <a:rPr lang="zh-CN" altLang="en-US"/>
              <a:t>的口令文件</a:t>
            </a:r>
            <a:r>
              <a:rPr lang="en-US" altLang="zh-CN"/>
              <a:t>(2)</a:t>
            </a:r>
          </a:p>
        </p:txBody>
      </p:sp>
      <p:sp>
        <p:nvSpPr>
          <p:cNvPr id="48134" name="Rectangle 4"/>
          <p:cNvSpPr>
            <a:spLocks noGrp="1" noChangeArrowheads="1"/>
          </p:cNvSpPr>
          <p:nvPr>
            <p:ph type="body" idx="1"/>
          </p:nvPr>
        </p:nvSpPr>
        <p:spPr/>
        <p:txBody>
          <a:bodyPr/>
          <a:lstStyle/>
          <a:p>
            <a:pPr eaLnBrk="1" hangingPunct="1">
              <a:lnSpc>
                <a:spcPct val="150000"/>
              </a:lnSpc>
            </a:pPr>
            <a:r>
              <a:rPr lang="zh-CN" altLang="en-US" dirty="0"/>
              <a:t>黑客在攻入系统后往往渴望知道更多的秘密，而所有的用户信息都是保存在</a:t>
            </a:r>
            <a:r>
              <a:rPr lang="en-US" altLang="zh-CN" dirty="0"/>
              <a:t>SAM</a:t>
            </a:r>
            <a:r>
              <a:rPr lang="zh-CN" altLang="en-US" dirty="0"/>
              <a:t>文件中，这样，破解</a:t>
            </a:r>
            <a:r>
              <a:rPr lang="en-US" altLang="zh-CN" dirty="0"/>
              <a:t>SAM</a:t>
            </a:r>
            <a:r>
              <a:rPr lang="zh-CN" altLang="en-US" dirty="0"/>
              <a:t>也就是黑客接下来要做的。</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Rectangle 2"/>
          <p:cNvSpPr>
            <a:spLocks noGrp="1" noChangeArrowheads="1"/>
          </p:cNvSpPr>
          <p:nvPr>
            <p:ph type="title"/>
          </p:nvPr>
        </p:nvSpPr>
        <p:spPr/>
        <p:txBody>
          <a:bodyPr/>
          <a:lstStyle/>
          <a:p>
            <a:pPr eaLnBrk="1" hangingPunct="1"/>
            <a:r>
              <a:rPr lang="en-US" altLang="zh-CN"/>
              <a:t>Windows</a:t>
            </a:r>
            <a:r>
              <a:rPr lang="zh-CN" altLang="en-US"/>
              <a:t>的口令文件</a:t>
            </a:r>
            <a:r>
              <a:rPr lang="en-US" altLang="zh-CN"/>
              <a:t>(3)</a:t>
            </a:r>
          </a:p>
        </p:txBody>
      </p:sp>
      <p:sp>
        <p:nvSpPr>
          <p:cNvPr id="49158" name="Rectangle 4"/>
          <p:cNvSpPr>
            <a:spLocks noGrp="1" noChangeArrowheads="1"/>
          </p:cNvSpPr>
          <p:nvPr>
            <p:ph type="body" idx="1"/>
          </p:nvPr>
        </p:nvSpPr>
        <p:spPr>
          <a:xfrm>
            <a:off x="658813" y="1354138"/>
            <a:ext cx="7772400" cy="4924742"/>
          </a:xfrm>
        </p:spPr>
        <p:txBody>
          <a:bodyPr/>
          <a:lstStyle/>
          <a:p>
            <a:pPr eaLnBrk="1" hangingPunct="1">
              <a:lnSpc>
                <a:spcPts val="3800"/>
              </a:lnSpc>
            </a:pPr>
            <a:r>
              <a:rPr lang="zh-CN" altLang="en-US" dirty="0"/>
              <a:t>在对</a:t>
            </a:r>
            <a:r>
              <a:rPr lang="en-US" altLang="zh-CN" dirty="0"/>
              <a:t>SAM</a:t>
            </a:r>
            <a:r>
              <a:rPr lang="zh-CN" altLang="en-US" dirty="0"/>
              <a:t>破解之前，我们首先要获取</a:t>
            </a:r>
            <a:r>
              <a:rPr lang="en-US" altLang="zh-CN" dirty="0"/>
              <a:t>SAM</a:t>
            </a:r>
            <a:r>
              <a:rPr lang="zh-CN" altLang="en-US" dirty="0"/>
              <a:t>文件，登陆</a:t>
            </a:r>
            <a:r>
              <a:rPr lang="en-US" altLang="zh-CN" dirty="0"/>
              <a:t>Windows</a:t>
            </a:r>
            <a:r>
              <a:rPr lang="zh-CN" altLang="en-US" dirty="0"/>
              <a:t>系统后</a:t>
            </a:r>
            <a:r>
              <a:rPr lang="en-US" altLang="zh-CN" dirty="0"/>
              <a:t>SAM</a:t>
            </a:r>
            <a:r>
              <a:rPr lang="zh-CN" altLang="en-US" dirty="0"/>
              <a:t>是被锁死的，我们可以用以下方法获取</a:t>
            </a:r>
            <a:r>
              <a:rPr lang="en-US" altLang="zh-CN" dirty="0"/>
              <a:t>SAM</a:t>
            </a:r>
            <a:r>
              <a:rPr lang="zh-CN" altLang="en-US" dirty="0"/>
              <a:t>文件：</a:t>
            </a:r>
          </a:p>
          <a:p>
            <a:pPr lvl="1" eaLnBrk="1" hangingPunct="1">
              <a:lnSpc>
                <a:spcPts val="3800"/>
              </a:lnSpc>
            </a:pPr>
            <a:r>
              <a:rPr lang="zh-CN" altLang="en-US" dirty="0"/>
              <a:t>引导另一个操作系统：利用</a:t>
            </a:r>
            <a:r>
              <a:rPr lang="en-US" altLang="zh-CN" dirty="0"/>
              <a:t>NTFS DOS</a:t>
            </a:r>
            <a:r>
              <a:rPr lang="zh-CN" altLang="en-US" dirty="0"/>
              <a:t>的系统驱动来获得对</a:t>
            </a:r>
            <a:r>
              <a:rPr lang="en-US" altLang="zh-CN" dirty="0"/>
              <a:t>NTFS</a:t>
            </a:r>
            <a:r>
              <a:rPr lang="zh-CN" altLang="en-US" dirty="0"/>
              <a:t>硬盘的访问权限，抓出</a:t>
            </a:r>
            <a:r>
              <a:rPr lang="en-US" altLang="zh-CN" dirty="0"/>
              <a:t>SAM</a:t>
            </a:r>
            <a:r>
              <a:rPr lang="zh-CN" altLang="en-US" dirty="0"/>
              <a:t>。</a:t>
            </a:r>
          </a:p>
          <a:p>
            <a:pPr lvl="1" eaLnBrk="1" hangingPunct="1">
              <a:lnSpc>
                <a:spcPts val="3800"/>
              </a:lnSpc>
            </a:pPr>
            <a:r>
              <a:rPr lang="zh-CN" altLang="en-US" dirty="0"/>
              <a:t>获取备份</a:t>
            </a:r>
            <a:r>
              <a:rPr lang="en-US" altLang="zh-CN" dirty="0"/>
              <a:t>SAM</a:t>
            </a:r>
            <a:r>
              <a:rPr lang="zh-CN" altLang="en-US" dirty="0"/>
              <a:t>：</a:t>
            </a:r>
            <a:r>
              <a:rPr lang="en-US" altLang="zh-CN" dirty="0"/>
              <a:t>Windows</a:t>
            </a:r>
            <a:r>
              <a:rPr lang="zh-CN" altLang="en-US" dirty="0"/>
              <a:t>会在</a:t>
            </a:r>
            <a:r>
              <a:rPr lang="en-US" altLang="zh-CN" dirty="0"/>
              <a:t>%system root%\repair</a:t>
            </a:r>
            <a:r>
              <a:rPr lang="zh-CN" altLang="en-US" dirty="0"/>
              <a:t>目录中备份一个</a:t>
            </a:r>
            <a:r>
              <a:rPr lang="en-US" altLang="zh-CN" dirty="0"/>
              <a:t>SAM</a:t>
            </a:r>
            <a:r>
              <a:rPr lang="zh-CN" altLang="en-US" dirty="0"/>
              <a:t>文件，多数管理员都会忘记删这些文件。</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2"/>
          <p:cNvSpPr>
            <a:spLocks noGrp="1" noChangeArrowheads="1"/>
          </p:cNvSpPr>
          <p:nvPr>
            <p:ph type="title"/>
          </p:nvPr>
        </p:nvSpPr>
        <p:spPr/>
        <p:txBody>
          <a:bodyPr/>
          <a:lstStyle/>
          <a:p>
            <a:pPr eaLnBrk="1" hangingPunct="1"/>
            <a:r>
              <a:rPr lang="en-US" altLang="zh-CN"/>
              <a:t>Windows</a:t>
            </a:r>
            <a:r>
              <a:rPr lang="zh-CN" altLang="en-US"/>
              <a:t>的口令文件</a:t>
            </a:r>
            <a:r>
              <a:rPr lang="en-US" altLang="zh-CN"/>
              <a:t>(4)</a:t>
            </a:r>
          </a:p>
        </p:txBody>
      </p:sp>
      <p:sp>
        <p:nvSpPr>
          <p:cNvPr id="50182" name="Rectangle 3"/>
          <p:cNvSpPr>
            <a:spLocks noGrp="1" noChangeArrowheads="1"/>
          </p:cNvSpPr>
          <p:nvPr>
            <p:ph type="body" idx="1"/>
          </p:nvPr>
        </p:nvSpPr>
        <p:spPr>
          <a:xfrm>
            <a:off x="536892" y="1569403"/>
            <a:ext cx="8119427" cy="4114800"/>
          </a:xfrm>
        </p:spPr>
        <p:txBody>
          <a:bodyPr/>
          <a:lstStyle/>
          <a:p>
            <a:pPr eaLnBrk="1" hangingPunct="1">
              <a:lnSpc>
                <a:spcPct val="150000"/>
              </a:lnSpc>
            </a:pPr>
            <a:r>
              <a:rPr lang="en-US" altLang="zh-CN" dirty="0"/>
              <a:t>Windows NT</a:t>
            </a:r>
            <a:r>
              <a:rPr lang="zh-CN" altLang="en-US" dirty="0"/>
              <a:t>对同一用户口令采用两套单向散列函数进行运算，即单向</a:t>
            </a:r>
            <a:r>
              <a:rPr lang="en-US" altLang="zh-CN" dirty="0"/>
              <a:t>LM</a:t>
            </a:r>
            <a:r>
              <a:rPr lang="zh-CN" altLang="en-US" dirty="0"/>
              <a:t>散列算法和单向</a:t>
            </a:r>
            <a:r>
              <a:rPr lang="en-US" altLang="zh-CN" dirty="0"/>
              <a:t>NT</a:t>
            </a:r>
            <a:r>
              <a:rPr lang="zh-CN" altLang="en-US" dirty="0"/>
              <a:t>散列算法，两种算法的结果都保存在</a:t>
            </a:r>
            <a:r>
              <a:rPr lang="en-US" altLang="zh-CN" dirty="0"/>
              <a:t>SAM</a:t>
            </a:r>
            <a:r>
              <a:rPr lang="zh-CN" altLang="en-US" dirty="0"/>
              <a:t>文件中。</a:t>
            </a:r>
          </a:p>
          <a:p>
            <a:pPr eaLnBrk="1" hangingPunct="1">
              <a:lnSpc>
                <a:spcPct val="150000"/>
              </a:lnSpc>
            </a:pPr>
            <a:r>
              <a:rPr lang="zh-CN" altLang="en-US" dirty="0"/>
              <a:t>单向</a:t>
            </a:r>
            <a:r>
              <a:rPr lang="en-US" altLang="zh-CN" dirty="0"/>
              <a:t>LM</a:t>
            </a:r>
            <a:r>
              <a:rPr lang="zh-CN" altLang="en-US" dirty="0"/>
              <a:t>散列函数对口令的处理上存在缺陷。</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zh-CN"/>
              <a:t>Windows</a:t>
            </a:r>
            <a:r>
              <a:rPr lang="zh-CN" altLang="en-US"/>
              <a:t>的口令文件</a:t>
            </a:r>
            <a:r>
              <a:rPr lang="en-US" altLang="zh-CN"/>
              <a:t>(5)</a:t>
            </a:r>
            <a:endParaRPr lang="zh-CN" altLang="en-US"/>
          </a:p>
        </p:txBody>
      </p:sp>
      <p:sp>
        <p:nvSpPr>
          <p:cNvPr id="51203" name="Rectangle 3"/>
          <p:cNvSpPr>
            <a:spLocks noGrp="1" noChangeArrowheads="1"/>
          </p:cNvSpPr>
          <p:nvPr>
            <p:ph type="body" idx="1"/>
          </p:nvPr>
        </p:nvSpPr>
        <p:spPr>
          <a:xfrm>
            <a:off x="658813" y="1310323"/>
            <a:ext cx="7772400" cy="4800918"/>
          </a:xfrm>
        </p:spPr>
        <p:txBody>
          <a:bodyPr/>
          <a:lstStyle/>
          <a:p>
            <a:pPr>
              <a:lnSpc>
                <a:spcPct val="100000"/>
              </a:lnSpc>
            </a:pPr>
            <a:r>
              <a:rPr lang="en-US" altLang="zh-CN" sz="2800" dirty="0"/>
              <a:t>LM</a:t>
            </a:r>
            <a:r>
              <a:rPr lang="zh-CN" altLang="en-US" sz="2800" dirty="0"/>
              <a:t>对口令的处理</a:t>
            </a:r>
          </a:p>
          <a:p>
            <a:pPr lvl="1">
              <a:lnSpc>
                <a:spcPct val="100000"/>
              </a:lnSpc>
            </a:pPr>
            <a:r>
              <a:rPr lang="zh-CN" altLang="en-US" sz="2400" dirty="0"/>
              <a:t>首先，将用户口令中的字母都转换成大写字母。如果口令不足</a:t>
            </a:r>
            <a:r>
              <a:rPr lang="en-US" altLang="zh-CN" sz="2400" dirty="0"/>
              <a:t>14</a:t>
            </a:r>
            <a:r>
              <a:rPr lang="zh-CN" altLang="en-US" sz="2400" dirty="0"/>
              <a:t>位，则以</a:t>
            </a:r>
            <a:r>
              <a:rPr lang="en-US" altLang="zh-CN" sz="2400" dirty="0"/>
              <a:t>0</a:t>
            </a:r>
            <a:r>
              <a:rPr lang="zh-CN" altLang="en-US" sz="2400" dirty="0"/>
              <a:t>补足；如果超过</a:t>
            </a:r>
            <a:r>
              <a:rPr lang="en-US" altLang="zh-CN" sz="2400" dirty="0"/>
              <a:t>14</a:t>
            </a:r>
            <a:r>
              <a:rPr lang="zh-CN" altLang="en-US" sz="2400" dirty="0"/>
              <a:t>位，则通过截尾变成</a:t>
            </a:r>
            <a:r>
              <a:rPr lang="en-US" altLang="zh-CN" sz="2400" dirty="0"/>
              <a:t>14</a:t>
            </a:r>
            <a:r>
              <a:rPr lang="zh-CN" altLang="en-US" sz="2400" dirty="0"/>
              <a:t>位。</a:t>
            </a:r>
          </a:p>
          <a:p>
            <a:pPr lvl="1">
              <a:lnSpc>
                <a:spcPct val="100000"/>
              </a:lnSpc>
            </a:pPr>
            <a:r>
              <a:rPr lang="zh-CN" altLang="en-US" sz="2400" dirty="0"/>
              <a:t>然后，将其平均分成两组，每组</a:t>
            </a:r>
            <a:r>
              <a:rPr lang="en-US" altLang="zh-CN" sz="2400" dirty="0"/>
              <a:t>7</a:t>
            </a:r>
            <a:r>
              <a:rPr lang="zh-CN" altLang="en-US" sz="2400" dirty="0"/>
              <a:t>位，分别生成一个奇校验</a:t>
            </a:r>
            <a:r>
              <a:rPr lang="en-US" altLang="zh-CN" sz="2400" dirty="0"/>
              <a:t>DES</a:t>
            </a:r>
            <a:r>
              <a:rPr lang="zh-CN" altLang="en-US" sz="2400" dirty="0"/>
              <a:t>加密字。</a:t>
            </a:r>
          </a:p>
          <a:p>
            <a:pPr lvl="1">
              <a:lnSpc>
                <a:spcPct val="100000"/>
              </a:lnSpc>
            </a:pPr>
            <a:r>
              <a:rPr lang="zh-CN" altLang="en-US" sz="2400" dirty="0"/>
              <a:t>最后，利用一个固定值（已被破解出，以</a:t>
            </a:r>
            <a:r>
              <a:rPr lang="en-US" altLang="zh-CN" sz="2400" dirty="0"/>
              <a:t>16</a:t>
            </a:r>
            <a:r>
              <a:rPr lang="zh-CN" altLang="en-US" sz="2400" dirty="0"/>
              <a:t>进制表示为</a:t>
            </a:r>
            <a:r>
              <a:rPr lang="en-US" altLang="zh-CN" sz="2400" dirty="0"/>
              <a:t>0x4b47532140232425</a:t>
            </a:r>
            <a:r>
              <a:rPr lang="zh-CN" altLang="en-US" sz="2400" dirty="0"/>
              <a:t>）分别加密这两组</a:t>
            </a:r>
            <a:r>
              <a:rPr lang="en-US" altLang="zh-CN" sz="2400" dirty="0"/>
              <a:t>DES</a:t>
            </a:r>
            <a:r>
              <a:rPr lang="zh-CN" altLang="en-US" sz="2400" dirty="0"/>
              <a:t>加密字，将两组结果连接起来形成一个散列函数值。</a:t>
            </a:r>
          </a:p>
          <a:p>
            <a:pPr>
              <a:lnSpc>
                <a:spcPct val="100000"/>
              </a:lnSpc>
            </a:pPr>
            <a:r>
              <a:rPr lang="zh-CN" altLang="en-US" sz="2800" dirty="0"/>
              <a:t>如果一个用户口令为空，则经过这番运算，得到的</a:t>
            </a:r>
            <a:r>
              <a:rPr lang="en-US" altLang="zh-CN" sz="2800" dirty="0"/>
              <a:t>LM</a:t>
            </a:r>
            <a:r>
              <a:rPr lang="zh-CN" altLang="en-US" sz="2800" dirty="0"/>
              <a:t>散列值为：</a:t>
            </a:r>
            <a:r>
              <a:rPr lang="en-US" altLang="zh-CN" sz="2400" dirty="0"/>
              <a:t>AAD3B435B51404EEAAD3B435B51404EE</a:t>
            </a:r>
            <a:endParaRPr lang="zh-CN" altLang="en-US" sz="2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zh-CN"/>
              <a:t>Windows</a:t>
            </a:r>
            <a:r>
              <a:rPr lang="zh-CN" altLang="en-US"/>
              <a:t>的口令文件</a:t>
            </a:r>
            <a:r>
              <a:rPr lang="en-US" altLang="zh-CN"/>
              <a:t>(6)</a:t>
            </a:r>
            <a:endParaRPr lang="zh-CN" altLang="en-US"/>
          </a:p>
        </p:txBody>
      </p:sp>
      <p:sp>
        <p:nvSpPr>
          <p:cNvPr id="52227" name="Rectangle 3"/>
          <p:cNvSpPr>
            <a:spLocks noGrp="1" noChangeArrowheads="1"/>
          </p:cNvSpPr>
          <p:nvPr>
            <p:ph type="body" idx="1"/>
          </p:nvPr>
        </p:nvSpPr>
        <p:spPr>
          <a:xfrm>
            <a:off x="658813" y="1554162"/>
            <a:ext cx="7772400" cy="4724717"/>
          </a:xfrm>
        </p:spPr>
        <p:txBody>
          <a:bodyPr/>
          <a:lstStyle/>
          <a:p>
            <a:pPr>
              <a:lnSpc>
                <a:spcPct val="100000"/>
              </a:lnSpc>
            </a:pPr>
            <a:r>
              <a:rPr lang="zh-CN" altLang="en-US" sz="2400" dirty="0"/>
              <a:t>考虑这样一个口令：</a:t>
            </a:r>
            <a:r>
              <a:rPr lang="en-US" altLang="zh-CN" sz="2400" dirty="0"/>
              <a:t>Af32mRbi9</a:t>
            </a:r>
            <a:r>
              <a:rPr lang="zh-CN" altLang="en-US" sz="2400" dirty="0"/>
              <a:t>，这个口令包含了大写字母、小写字母和数字，并且无规律，可以认为是符合安全要求的一个口令。但经过</a:t>
            </a:r>
            <a:r>
              <a:rPr lang="en-US" altLang="zh-CN" sz="2400" dirty="0"/>
              <a:t>LM</a:t>
            </a:r>
            <a:r>
              <a:rPr lang="zh-CN" altLang="en-US" sz="2400" dirty="0"/>
              <a:t>的处理后，</a:t>
            </a:r>
            <a:r>
              <a:rPr lang="en-US" altLang="zh-CN" sz="2400" dirty="0"/>
              <a:t>Af32mRbi9</a:t>
            </a:r>
            <a:r>
              <a:rPr lang="zh-CN" altLang="en-US" sz="2400" dirty="0"/>
              <a:t>就变成</a:t>
            </a:r>
            <a:r>
              <a:rPr lang="en-US" altLang="zh-CN" sz="2400" dirty="0"/>
              <a:t>AF32MRB</a:t>
            </a:r>
            <a:r>
              <a:rPr lang="zh-CN" altLang="en-US" sz="2400" dirty="0"/>
              <a:t>和</a:t>
            </a:r>
            <a:r>
              <a:rPr lang="en-US" altLang="zh-CN" sz="2400" dirty="0"/>
              <a:t>I900000</a:t>
            </a:r>
            <a:r>
              <a:rPr lang="zh-CN" altLang="en-US" sz="2400" dirty="0"/>
              <a:t>两部分，</a:t>
            </a:r>
            <a:r>
              <a:rPr lang="en-US" altLang="zh-CN" sz="2400" dirty="0"/>
              <a:t>LM</a:t>
            </a:r>
            <a:r>
              <a:rPr lang="zh-CN" altLang="en-US" sz="2400" dirty="0"/>
              <a:t>接下来将对这两部分分别进行加密处理。但这样一来，对口令破解程序来说，难度和运算时间就大大降低了，因为它只要破解两个</a:t>
            </a:r>
            <a:r>
              <a:rPr lang="en-US" altLang="zh-CN" sz="2400" dirty="0"/>
              <a:t>7</a:t>
            </a:r>
            <a:r>
              <a:rPr lang="zh-CN" altLang="en-US" sz="2400" dirty="0"/>
              <a:t>字符的口令，而且不需要测试小写字符情况。</a:t>
            </a:r>
          </a:p>
          <a:p>
            <a:pPr>
              <a:lnSpc>
                <a:spcPct val="100000"/>
              </a:lnSpc>
            </a:pPr>
            <a:r>
              <a:rPr lang="zh-CN" altLang="en-US" sz="2400" dirty="0"/>
              <a:t>对</a:t>
            </a:r>
            <a:r>
              <a:rPr lang="en-US" altLang="zh-CN" sz="2400" dirty="0"/>
              <a:t>Af32mRbi9</a:t>
            </a:r>
            <a:r>
              <a:rPr lang="zh-CN" altLang="en-US" sz="2400" dirty="0"/>
              <a:t>这个口令而言，原有的</a:t>
            </a:r>
            <a:r>
              <a:rPr lang="en-US" altLang="zh-CN" sz="2400" dirty="0"/>
              <a:t>9</a:t>
            </a:r>
            <a:r>
              <a:rPr lang="zh-CN" altLang="en-US" sz="2400" dirty="0"/>
              <a:t>位口令分成了两组，一组</a:t>
            </a:r>
            <a:r>
              <a:rPr lang="en-US" altLang="zh-CN" sz="2400" dirty="0"/>
              <a:t>7</a:t>
            </a:r>
            <a:r>
              <a:rPr lang="zh-CN" altLang="en-US" sz="2400" dirty="0"/>
              <a:t>位，一组</a:t>
            </a:r>
            <a:r>
              <a:rPr lang="en-US" altLang="zh-CN" sz="2400" dirty="0"/>
              <a:t>2</a:t>
            </a:r>
            <a:r>
              <a:rPr lang="zh-CN" altLang="en-US" sz="2400" dirty="0"/>
              <a:t>位，其穷举法组合以数量级的形式减少了！问题的关键点就仅在第一组的</a:t>
            </a:r>
            <a:r>
              <a:rPr lang="en-US" altLang="zh-CN" sz="2400" dirty="0"/>
              <a:t>7</a:t>
            </a:r>
            <a:r>
              <a:rPr lang="zh-CN" altLang="en-US" sz="2400" dirty="0"/>
              <a:t>位字符上了。这对攻击者来说，是再好不过的事情了。</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3" name="Rectangle 2"/>
          <p:cNvSpPr>
            <a:spLocks noGrp="1" noChangeArrowheads="1"/>
          </p:cNvSpPr>
          <p:nvPr>
            <p:ph type="title"/>
          </p:nvPr>
        </p:nvSpPr>
        <p:spPr/>
        <p:txBody>
          <a:bodyPr/>
          <a:lstStyle/>
          <a:p>
            <a:pPr eaLnBrk="1" hangingPunct="1"/>
            <a:r>
              <a:rPr lang="en-US" altLang="zh-CN"/>
              <a:t>Windows</a:t>
            </a:r>
            <a:r>
              <a:rPr lang="zh-CN" altLang="en-US"/>
              <a:t>的口令文件</a:t>
            </a:r>
            <a:r>
              <a:rPr lang="en-US" altLang="zh-CN"/>
              <a:t>(7)</a:t>
            </a:r>
          </a:p>
        </p:txBody>
      </p:sp>
      <p:sp>
        <p:nvSpPr>
          <p:cNvPr id="53254" name="Rectangle 3"/>
          <p:cNvSpPr>
            <a:spLocks noGrp="1" noChangeArrowheads="1"/>
          </p:cNvSpPr>
          <p:nvPr>
            <p:ph type="body" idx="1"/>
          </p:nvPr>
        </p:nvSpPr>
        <p:spPr>
          <a:xfrm>
            <a:off x="539750" y="1362075"/>
            <a:ext cx="7993063" cy="4267200"/>
          </a:xfrm>
        </p:spPr>
        <p:txBody>
          <a:bodyPr/>
          <a:lstStyle/>
          <a:p>
            <a:pPr eaLnBrk="1" hangingPunct="1"/>
            <a:r>
              <a:rPr lang="zh-CN" altLang="en-US" sz="2600" dirty="0"/>
              <a:t>微软在</a:t>
            </a:r>
            <a:r>
              <a:rPr lang="en-US" altLang="zh-CN" sz="2600" dirty="0"/>
              <a:t>win NT4</a:t>
            </a:r>
            <a:r>
              <a:rPr lang="zh-CN" altLang="en-US" sz="2600" dirty="0"/>
              <a:t>的</a:t>
            </a:r>
            <a:r>
              <a:rPr lang="en-US" altLang="zh-CN" sz="2600" dirty="0"/>
              <a:t>SP3</a:t>
            </a:r>
            <a:r>
              <a:rPr lang="zh-CN" altLang="en-US" sz="2600" dirty="0"/>
              <a:t>之后，提供</a:t>
            </a:r>
            <a:r>
              <a:rPr lang="en-US" altLang="zh-CN" sz="2600" dirty="0"/>
              <a:t>syskey.exe</a:t>
            </a:r>
            <a:r>
              <a:rPr lang="zh-CN" altLang="en-US" sz="2600" dirty="0"/>
              <a:t>来进一步加强</a:t>
            </a:r>
            <a:r>
              <a:rPr lang="en-US" altLang="zh-CN" sz="2600" dirty="0"/>
              <a:t>NT</a:t>
            </a:r>
            <a:r>
              <a:rPr lang="zh-CN" altLang="en-US" sz="2600" dirty="0"/>
              <a:t>的口令。</a:t>
            </a:r>
          </a:p>
          <a:p>
            <a:pPr eaLnBrk="1" hangingPunct="1"/>
            <a:r>
              <a:rPr lang="zh-CN" altLang="en-US" sz="2600" dirty="0"/>
              <a:t>当</a:t>
            </a:r>
            <a:r>
              <a:rPr lang="en-US" altLang="zh-CN" sz="2600" dirty="0" err="1"/>
              <a:t>syskey</a:t>
            </a:r>
            <a:r>
              <a:rPr lang="zh-CN" altLang="en-US" sz="2600" dirty="0"/>
              <a:t>被激活，口令信息在存入注册表之前还会进行一次加密处理，以防止轻易破解口令。</a:t>
            </a:r>
          </a:p>
          <a:p>
            <a:pPr eaLnBrk="1" hangingPunct="1"/>
            <a:r>
              <a:rPr lang="zh-CN" altLang="en-US" sz="2600" dirty="0"/>
              <a:t>在命令提示行下输入</a:t>
            </a:r>
            <a:r>
              <a:rPr lang="en-US" altLang="zh-CN" sz="2600" dirty="0" err="1"/>
              <a:t>syskey</a:t>
            </a:r>
            <a:r>
              <a:rPr lang="zh-CN" altLang="en-US" sz="2600" dirty="0"/>
              <a:t>即可配置：</a:t>
            </a:r>
          </a:p>
        </p:txBody>
      </p:sp>
      <p:pic>
        <p:nvPicPr>
          <p:cNvPr id="53255" name="Picture 4" descr="22"/>
          <p:cNvPicPr>
            <a:picLocks noChangeAspect="1" noChangeArrowheads="1"/>
          </p:cNvPicPr>
          <p:nvPr/>
        </p:nvPicPr>
        <p:blipFill>
          <a:blip r:embed="rId2" cstate="print"/>
          <a:srcRect/>
          <a:stretch>
            <a:fillRect/>
          </a:stretch>
        </p:blipFill>
        <p:spPr bwMode="auto">
          <a:xfrm>
            <a:off x="2852738" y="3748088"/>
            <a:ext cx="4175125" cy="2662237"/>
          </a:xfrm>
          <a:prstGeom prst="rect">
            <a:avLst/>
          </a:prstGeom>
          <a:noFill/>
          <a:ln w="9525">
            <a:noFill/>
            <a:miter lim="800000"/>
            <a:headEnd/>
            <a:tailEnd/>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5" name="Rectangle 2"/>
          <p:cNvSpPr>
            <a:spLocks noGrp="1" noChangeArrowheads="1"/>
          </p:cNvSpPr>
          <p:nvPr>
            <p:ph type="title"/>
          </p:nvPr>
        </p:nvSpPr>
        <p:spPr/>
        <p:txBody>
          <a:bodyPr/>
          <a:lstStyle/>
          <a:p>
            <a:pPr eaLnBrk="1" hangingPunct="1"/>
            <a:r>
              <a:rPr lang="en-US" altLang="zh-CN"/>
              <a:t>Windows NT, 2000</a:t>
            </a:r>
            <a:r>
              <a:rPr lang="zh-CN" altLang="en-US"/>
              <a:t>口令攻击</a:t>
            </a:r>
          </a:p>
        </p:txBody>
      </p:sp>
      <p:sp>
        <p:nvSpPr>
          <p:cNvPr id="92166" name="Rectangle 3"/>
          <p:cNvSpPr>
            <a:spLocks noGrp="1" noChangeArrowheads="1"/>
          </p:cNvSpPr>
          <p:nvPr>
            <p:ph type="body" idx="1"/>
          </p:nvPr>
        </p:nvSpPr>
        <p:spPr>
          <a:xfrm>
            <a:off x="658813" y="1554162"/>
            <a:ext cx="7772400" cy="4526597"/>
          </a:xfrm>
        </p:spPr>
        <p:txBody>
          <a:bodyPr/>
          <a:lstStyle/>
          <a:p>
            <a:pPr eaLnBrk="1" hangingPunct="1">
              <a:lnSpc>
                <a:spcPct val="150000"/>
              </a:lnSpc>
            </a:pPr>
            <a:r>
              <a:rPr lang="en-US" altLang="zh-CN" dirty="0"/>
              <a:t>Windows NT</a:t>
            </a:r>
            <a:r>
              <a:rPr lang="zh-CN" altLang="en-US" dirty="0"/>
              <a:t>和</a:t>
            </a:r>
            <a:r>
              <a:rPr lang="en-US" altLang="zh-CN" dirty="0"/>
              <a:t>2000</a:t>
            </a:r>
            <a:r>
              <a:rPr lang="zh-CN" altLang="en-US" dirty="0"/>
              <a:t>的口令攻击很简单。</a:t>
            </a:r>
          </a:p>
          <a:p>
            <a:pPr lvl="1" eaLnBrk="1" hangingPunct="1">
              <a:lnSpc>
                <a:spcPct val="150000"/>
              </a:lnSpc>
            </a:pPr>
            <a:r>
              <a:rPr lang="zh-CN" altLang="en-US" dirty="0"/>
              <a:t>在</a:t>
            </a:r>
            <a:r>
              <a:rPr lang="en-US" altLang="zh-CN" dirty="0"/>
              <a:t>NT</a:t>
            </a:r>
            <a:r>
              <a:rPr lang="zh-CN" altLang="en-US" dirty="0"/>
              <a:t>和</a:t>
            </a:r>
            <a:r>
              <a:rPr lang="en-US" altLang="zh-CN" dirty="0"/>
              <a:t>2000</a:t>
            </a:r>
            <a:r>
              <a:rPr lang="zh-CN" altLang="en-US" dirty="0"/>
              <a:t>的操作系统中，如果从</a:t>
            </a:r>
            <a:r>
              <a:rPr lang="en-US" altLang="zh-CN" dirty="0"/>
              <a:t>DOS</a:t>
            </a:r>
            <a:r>
              <a:rPr lang="zh-CN" altLang="en-US" dirty="0"/>
              <a:t>启动然后删除了</a:t>
            </a:r>
            <a:r>
              <a:rPr lang="en-US" altLang="zh-CN" dirty="0" err="1"/>
              <a:t>sam</a:t>
            </a:r>
            <a:r>
              <a:rPr lang="zh-CN" altLang="en-US" dirty="0"/>
              <a:t>文件，则当系统重新启动时，会默认生成一个</a:t>
            </a:r>
            <a:r>
              <a:rPr lang="en-US" altLang="zh-CN" dirty="0" err="1"/>
              <a:t>sam</a:t>
            </a:r>
            <a:r>
              <a:rPr lang="zh-CN" altLang="en-US" dirty="0"/>
              <a:t>文件，并将管理员密码置为空。这样就能轻松登陆系统了。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9" name="Rectangle 2"/>
          <p:cNvSpPr>
            <a:spLocks noGrp="1" noChangeArrowheads="1"/>
          </p:cNvSpPr>
          <p:nvPr>
            <p:ph type="title"/>
          </p:nvPr>
        </p:nvSpPr>
        <p:spPr/>
        <p:txBody>
          <a:bodyPr/>
          <a:lstStyle/>
          <a:p>
            <a:pPr eaLnBrk="1" hangingPunct="1"/>
            <a:r>
              <a:rPr lang="en-US" altLang="zh-CN"/>
              <a:t>Windows XP, 2003</a:t>
            </a:r>
            <a:r>
              <a:rPr lang="zh-CN" altLang="en-US"/>
              <a:t>口令攻击</a:t>
            </a:r>
          </a:p>
        </p:txBody>
      </p:sp>
      <p:sp>
        <p:nvSpPr>
          <p:cNvPr id="93190" name="Rectangle 3"/>
          <p:cNvSpPr>
            <a:spLocks noGrp="1" noChangeArrowheads="1"/>
          </p:cNvSpPr>
          <p:nvPr>
            <p:ph type="body" idx="1"/>
          </p:nvPr>
        </p:nvSpPr>
        <p:spPr>
          <a:xfrm>
            <a:off x="658813" y="1447482"/>
            <a:ext cx="7772400" cy="4800917"/>
          </a:xfrm>
        </p:spPr>
        <p:txBody>
          <a:bodyPr/>
          <a:lstStyle/>
          <a:p>
            <a:pPr eaLnBrk="1" hangingPunct="1">
              <a:lnSpc>
                <a:spcPts val="4200"/>
              </a:lnSpc>
            </a:pPr>
            <a:r>
              <a:rPr lang="zh-CN" altLang="en-US" dirty="0"/>
              <a:t>用于</a:t>
            </a:r>
            <a:r>
              <a:rPr lang="en-US" altLang="zh-CN" dirty="0"/>
              <a:t>NT</a:t>
            </a:r>
            <a:r>
              <a:rPr lang="zh-CN" altLang="en-US" dirty="0"/>
              <a:t>和</a:t>
            </a:r>
            <a:r>
              <a:rPr lang="en-US" altLang="zh-CN" dirty="0"/>
              <a:t>2000</a:t>
            </a:r>
            <a:r>
              <a:rPr lang="zh-CN" altLang="en-US" dirty="0"/>
              <a:t>的方法对</a:t>
            </a:r>
            <a:r>
              <a:rPr lang="en-US" altLang="zh-CN" dirty="0"/>
              <a:t>XP</a:t>
            </a:r>
            <a:r>
              <a:rPr lang="zh-CN" altLang="en-US" dirty="0"/>
              <a:t>和</a:t>
            </a:r>
            <a:r>
              <a:rPr lang="en-US" altLang="zh-CN" dirty="0"/>
              <a:t>2003</a:t>
            </a:r>
            <a:r>
              <a:rPr lang="zh-CN" altLang="en-US" dirty="0"/>
              <a:t>的系统并不奏效。</a:t>
            </a:r>
          </a:p>
          <a:p>
            <a:pPr eaLnBrk="1" hangingPunct="1">
              <a:lnSpc>
                <a:spcPts val="4200"/>
              </a:lnSpc>
            </a:pPr>
            <a:r>
              <a:rPr lang="zh-CN" altLang="en-US" dirty="0"/>
              <a:t>因为如果不小心删除了</a:t>
            </a:r>
            <a:r>
              <a:rPr lang="en-US" altLang="zh-CN" dirty="0" err="1"/>
              <a:t>sam</a:t>
            </a:r>
            <a:r>
              <a:rPr lang="zh-CN" altLang="en-US" dirty="0"/>
              <a:t>文件，系统将无法启动，除非将备份的</a:t>
            </a:r>
            <a:r>
              <a:rPr lang="en-US" altLang="zh-CN" dirty="0" err="1"/>
              <a:t>sam</a:t>
            </a:r>
            <a:r>
              <a:rPr lang="zh-CN" altLang="en-US" dirty="0"/>
              <a:t>文件</a:t>
            </a:r>
            <a:r>
              <a:rPr lang="en-US" altLang="zh-CN" dirty="0"/>
              <a:t>(</a:t>
            </a:r>
            <a:r>
              <a:rPr lang="zh-CN" altLang="en-US" dirty="0"/>
              <a:t>在</a:t>
            </a:r>
            <a:r>
              <a:rPr lang="en-US" altLang="zh-CN" dirty="0"/>
              <a:t>%</a:t>
            </a:r>
            <a:r>
              <a:rPr lang="en-US" altLang="zh-CN" dirty="0" err="1"/>
              <a:t>SystemRoot</a:t>
            </a:r>
            <a:r>
              <a:rPr lang="en-US" altLang="zh-CN" dirty="0"/>
              <a:t>%\repair</a:t>
            </a:r>
            <a:r>
              <a:rPr lang="zh-CN" altLang="en-US" dirty="0"/>
              <a:t>目录下</a:t>
            </a:r>
            <a:r>
              <a:rPr lang="en-US" altLang="zh-CN" dirty="0"/>
              <a:t>)</a:t>
            </a:r>
            <a:r>
              <a:rPr lang="zh-CN" altLang="en-US" dirty="0"/>
              <a:t>恢复回来。 </a:t>
            </a:r>
          </a:p>
          <a:p>
            <a:pPr eaLnBrk="1" hangingPunct="1">
              <a:lnSpc>
                <a:spcPts val="4200"/>
              </a:lnSpc>
            </a:pPr>
            <a:r>
              <a:rPr lang="zh-CN" altLang="en-US" dirty="0"/>
              <a:t>但是我们知道了上述四种版本的</a:t>
            </a:r>
            <a:r>
              <a:rPr lang="en-US" altLang="zh-CN" dirty="0"/>
              <a:t>Windows</a:t>
            </a:r>
            <a:r>
              <a:rPr lang="zh-CN" altLang="en-US" dirty="0"/>
              <a:t>系统的账户密码是基于</a:t>
            </a:r>
            <a:r>
              <a:rPr lang="en-US" altLang="zh-CN" dirty="0"/>
              <a:t>SAM</a:t>
            </a:r>
            <a:r>
              <a:rPr lang="zh-CN" altLang="en-US" dirty="0"/>
              <a:t>机制的，那么对密码的破解就可以针对</a:t>
            </a:r>
            <a:r>
              <a:rPr lang="en-US" altLang="zh-CN" dirty="0"/>
              <a:t>SAM</a:t>
            </a:r>
            <a:r>
              <a:rPr lang="zh-CN" altLang="en-US" dirty="0"/>
              <a:t>文件进行。 </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3" name="Rectangle 2"/>
          <p:cNvSpPr>
            <a:spLocks noGrp="1" noChangeArrowheads="1"/>
          </p:cNvSpPr>
          <p:nvPr>
            <p:ph type="title"/>
          </p:nvPr>
        </p:nvSpPr>
        <p:spPr/>
        <p:txBody>
          <a:bodyPr/>
          <a:lstStyle/>
          <a:p>
            <a:pPr eaLnBrk="1" hangingPunct="1"/>
            <a:r>
              <a:rPr lang="en-US" altLang="zh-CN" sz="3400"/>
              <a:t>Windows XP, 2003</a:t>
            </a:r>
            <a:r>
              <a:rPr lang="zh-CN" altLang="en-US" sz="3400"/>
              <a:t>口令攻击（</a:t>
            </a:r>
            <a:r>
              <a:rPr lang="en-US" altLang="zh-CN" sz="3400"/>
              <a:t>2</a:t>
            </a:r>
            <a:r>
              <a:rPr lang="zh-CN" altLang="en-US" sz="3400"/>
              <a:t>）</a:t>
            </a:r>
          </a:p>
        </p:txBody>
      </p:sp>
      <p:sp>
        <p:nvSpPr>
          <p:cNvPr id="94214" name="Rectangle 3"/>
          <p:cNvSpPr>
            <a:spLocks noGrp="1" noChangeArrowheads="1"/>
          </p:cNvSpPr>
          <p:nvPr>
            <p:ph type="body" idx="1"/>
          </p:nvPr>
        </p:nvSpPr>
        <p:spPr/>
        <p:txBody>
          <a:bodyPr/>
          <a:lstStyle/>
          <a:p>
            <a:pPr eaLnBrk="1" hangingPunct="1"/>
            <a:r>
              <a:rPr lang="zh-CN" altLang="en-US" dirty="0"/>
              <a:t>攻击方法（同样适用于</a:t>
            </a:r>
            <a:r>
              <a:rPr lang="en-US" altLang="zh-CN" dirty="0"/>
              <a:t>NT</a:t>
            </a:r>
            <a:r>
              <a:rPr lang="zh-CN" altLang="en-US" dirty="0"/>
              <a:t>和</a:t>
            </a:r>
            <a:r>
              <a:rPr lang="en-US" altLang="zh-CN" dirty="0"/>
              <a:t>2000</a:t>
            </a:r>
            <a:r>
              <a:rPr lang="zh-CN" altLang="en-US" dirty="0"/>
              <a:t>系统）</a:t>
            </a:r>
          </a:p>
          <a:p>
            <a:pPr lvl="1" eaLnBrk="1" hangingPunct="1"/>
            <a:r>
              <a:rPr lang="zh-CN" altLang="en-US" dirty="0"/>
              <a:t>提取</a:t>
            </a:r>
            <a:r>
              <a:rPr lang="en-US" altLang="zh-CN" dirty="0"/>
              <a:t>SAM</a:t>
            </a:r>
            <a:r>
              <a:rPr lang="zh-CN" altLang="en-US" dirty="0"/>
              <a:t>文件进行破解</a:t>
            </a:r>
          </a:p>
          <a:p>
            <a:pPr lvl="1" eaLnBrk="1" hangingPunct="1"/>
            <a:r>
              <a:rPr lang="zh-CN" altLang="en-US" dirty="0"/>
              <a:t>用备份的</a:t>
            </a:r>
            <a:r>
              <a:rPr lang="en-US" altLang="zh-CN" dirty="0"/>
              <a:t>SAM</a:t>
            </a:r>
            <a:r>
              <a:rPr lang="zh-CN" altLang="en-US" dirty="0"/>
              <a:t>文件替换当前</a:t>
            </a:r>
            <a:r>
              <a:rPr lang="en-US" altLang="zh-CN" dirty="0"/>
              <a:t>SAM</a:t>
            </a:r>
            <a:r>
              <a:rPr lang="zh-CN" altLang="en-US" dirty="0"/>
              <a:t>文件</a:t>
            </a:r>
          </a:p>
          <a:p>
            <a:pPr lvl="1" eaLnBrk="1" hangingPunct="1"/>
            <a:r>
              <a:rPr lang="zh-CN" altLang="en-US" dirty="0"/>
              <a:t>使用口令修改软件</a:t>
            </a:r>
          </a:p>
          <a:p>
            <a:pPr lvl="1" eaLnBrk="1" hangingPunct="1"/>
            <a:r>
              <a:rPr lang="zh-CN" altLang="en-US" dirty="0"/>
              <a:t>替换屏保程序</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7" name="Rectangle 2"/>
          <p:cNvSpPr>
            <a:spLocks noGrp="1" noChangeArrowheads="1"/>
          </p:cNvSpPr>
          <p:nvPr>
            <p:ph type="title"/>
          </p:nvPr>
        </p:nvSpPr>
        <p:spPr/>
        <p:txBody>
          <a:bodyPr/>
          <a:lstStyle/>
          <a:p>
            <a:pPr eaLnBrk="1" hangingPunct="1"/>
            <a:r>
              <a:rPr lang="zh-CN" altLang="en-US"/>
              <a:t>提取</a:t>
            </a:r>
            <a:r>
              <a:rPr lang="en-US" altLang="zh-CN"/>
              <a:t>SAM</a:t>
            </a:r>
            <a:r>
              <a:rPr lang="zh-CN" altLang="en-US"/>
              <a:t>文件进行破解</a:t>
            </a:r>
          </a:p>
        </p:txBody>
      </p:sp>
      <p:sp>
        <p:nvSpPr>
          <p:cNvPr id="95238" name="Rectangle 3"/>
          <p:cNvSpPr>
            <a:spLocks noGrp="1" noChangeArrowheads="1"/>
          </p:cNvSpPr>
          <p:nvPr>
            <p:ph type="body" idx="1"/>
          </p:nvPr>
        </p:nvSpPr>
        <p:spPr/>
        <p:txBody>
          <a:bodyPr/>
          <a:lstStyle/>
          <a:p>
            <a:pPr eaLnBrk="1" hangingPunct="1">
              <a:lnSpc>
                <a:spcPct val="150000"/>
              </a:lnSpc>
            </a:pPr>
            <a:r>
              <a:rPr lang="zh-CN" altLang="en-US" dirty="0"/>
              <a:t>用</a:t>
            </a:r>
            <a:r>
              <a:rPr lang="en-US" altLang="zh-CN" dirty="0"/>
              <a:t>DOS</a:t>
            </a:r>
            <a:r>
              <a:rPr lang="zh-CN" altLang="en-US" dirty="0"/>
              <a:t>启动盘启动计算机，并把</a:t>
            </a:r>
            <a:r>
              <a:rPr lang="en-US" altLang="zh-CN" dirty="0"/>
              <a:t>SAM</a:t>
            </a:r>
            <a:r>
              <a:rPr lang="zh-CN" altLang="en-US" dirty="0"/>
              <a:t>文件拷贝出来，用软件进行分析破解，则可以得到系统的口令。</a:t>
            </a:r>
          </a:p>
          <a:p>
            <a:pPr eaLnBrk="1" hangingPunct="1"/>
            <a:r>
              <a:rPr lang="zh-CN" altLang="en-US" dirty="0"/>
              <a:t>有很多软件都有分析</a:t>
            </a:r>
            <a:r>
              <a:rPr lang="en-US" altLang="zh-CN" dirty="0"/>
              <a:t>SAM</a:t>
            </a:r>
            <a:r>
              <a:rPr lang="zh-CN" altLang="en-US" dirty="0"/>
              <a:t>文件的功能，如</a:t>
            </a:r>
            <a:r>
              <a:rPr lang="en-US" altLang="zh-CN" dirty="0"/>
              <a:t>L0phtCrack</a:t>
            </a:r>
            <a:r>
              <a:rPr lang="zh-CN" altLang="en-US" dirty="0"/>
              <a:t>，由于</a:t>
            </a:r>
            <a:r>
              <a:rPr lang="en-US" altLang="zh-CN" dirty="0"/>
              <a:t>L0phcrack</a:t>
            </a:r>
            <a:r>
              <a:rPr lang="zh-CN" altLang="en-US" dirty="0"/>
              <a:t>功能强大，密码的破译只是一个迟早的事。 </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1" name="Rectangle 2"/>
          <p:cNvSpPr>
            <a:spLocks noGrp="1" noChangeArrowheads="1"/>
          </p:cNvSpPr>
          <p:nvPr>
            <p:ph type="title"/>
          </p:nvPr>
        </p:nvSpPr>
        <p:spPr/>
        <p:txBody>
          <a:bodyPr/>
          <a:lstStyle/>
          <a:p>
            <a:pPr eaLnBrk="1" hangingPunct="1"/>
            <a:r>
              <a:rPr lang="zh-CN" altLang="en-US" sz="3400"/>
              <a:t>用备份的</a:t>
            </a:r>
            <a:r>
              <a:rPr lang="en-US" altLang="zh-CN" sz="3400"/>
              <a:t>SAM</a:t>
            </a:r>
            <a:r>
              <a:rPr lang="zh-CN" altLang="en-US" sz="3400"/>
              <a:t>文件替换当前</a:t>
            </a:r>
            <a:r>
              <a:rPr lang="en-US" altLang="zh-CN" sz="3400"/>
              <a:t>SAM</a:t>
            </a:r>
            <a:r>
              <a:rPr lang="zh-CN" altLang="en-US" sz="3400"/>
              <a:t>文件</a:t>
            </a:r>
          </a:p>
        </p:txBody>
      </p:sp>
      <p:sp>
        <p:nvSpPr>
          <p:cNvPr id="96262" name="Rectangle 3"/>
          <p:cNvSpPr>
            <a:spLocks noGrp="1" noChangeArrowheads="1"/>
          </p:cNvSpPr>
          <p:nvPr>
            <p:ph type="body" idx="1"/>
          </p:nvPr>
        </p:nvSpPr>
        <p:spPr/>
        <p:txBody>
          <a:bodyPr/>
          <a:lstStyle/>
          <a:p>
            <a:pPr eaLnBrk="1" hangingPunct="1"/>
            <a:r>
              <a:rPr lang="zh-CN" altLang="en-US"/>
              <a:t>攻击者用</a:t>
            </a:r>
            <a:r>
              <a:rPr lang="en-US" altLang="zh-CN"/>
              <a:t>DOS</a:t>
            </a:r>
            <a:r>
              <a:rPr lang="zh-CN" altLang="en-US"/>
              <a:t>启动盘启动后，还可以用</a:t>
            </a:r>
            <a:r>
              <a:rPr lang="en-US" altLang="zh-CN"/>
              <a:t>%SystemRoot%\repair\asm</a:t>
            </a:r>
            <a:r>
              <a:rPr lang="zh-CN" altLang="en-US"/>
              <a:t>覆盖</a:t>
            </a:r>
            <a:r>
              <a:rPr lang="en-US" altLang="zh-CN"/>
              <a:t>%SystemRoot%\system32\config\sam</a:t>
            </a:r>
            <a:r>
              <a:rPr lang="zh-CN" altLang="en-US"/>
              <a:t>，这样系统管理员</a:t>
            </a:r>
            <a:r>
              <a:rPr lang="en-US" altLang="zh-CN"/>
              <a:t>Administrator</a:t>
            </a:r>
            <a:r>
              <a:rPr lang="zh-CN" altLang="en-US"/>
              <a:t>的密码就恢复成安装操作系统时的密码了，而大部分人在安装操作系统时都将初始密码设置为空或者很简单。 </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5" name="Rectangle 2"/>
          <p:cNvSpPr>
            <a:spLocks noGrp="1" noChangeArrowheads="1"/>
          </p:cNvSpPr>
          <p:nvPr>
            <p:ph type="title"/>
          </p:nvPr>
        </p:nvSpPr>
        <p:spPr/>
        <p:txBody>
          <a:bodyPr/>
          <a:lstStyle/>
          <a:p>
            <a:pPr eaLnBrk="1" hangingPunct="1"/>
            <a:r>
              <a:rPr lang="zh-CN" altLang="en-US"/>
              <a:t>使用口令修改软件</a:t>
            </a:r>
          </a:p>
        </p:txBody>
      </p:sp>
      <p:sp>
        <p:nvSpPr>
          <p:cNvPr id="97286" name="Rectangle 3"/>
          <p:cNvSpPr>
            <a:spLocks noGrp="1" noChangeArrowheads="1"/>
          </p:cNvSpPr>
          <p:nvPr>
            <p:ph type="body" idx="1"/>
          </p:nvPr>
        </p:nvSpPr>
        <p:spPr/>
        <p:txBody>
          <a:bodyPr/>
          <a:lstStyle/>
          <a:p>
            <a:pPr eaLnBrk="1" hangingPunct="1">
              <a:lnSpc>
                <a:spcPct val="90000"/>
              </a:lnSpc>
            </a:pPr>
            <a:r>
              <a:rPr lang="zh-CN" altLang="en-US" sz="2600"/>
              <a:t>目前有许多相应的软件可以在不登陆系统的情况下修改系统密码，如</a:t>
            </a:r>
            <a:r>
              <a:rPr lang="en-US" altLang="zh-CN" sz="2600"/>
              <a:t>Passware Kit Enterprise</a:t>
            </a:r>
            <a:r>
              <a:rPr lang="zh-CN" altLang="en-US" sz="2600"/>
              <a:t>这款软件可以自动把</a:t>
            </a:r>
            <a:r>
              <a:rPr lang="en-US" altLang="zh-CN" sz="2600"/>
              <a:t>administrator</a:t>
            </a:r>
            <a:r>
              <a:rPr lang="zh-CN" altLang="en-US" sz="2600"/>
              <a:t>密码修改为</a:t>
            </a:r>
            <a:r>
              <a:rPr lang="en-US" altLang="zh-CN" sz="2600"/>
              <a:t>12345</a:t>
            </a:r>
            <a:r>
              <a:rPr lang="zh-CN" altLang="en-US" sz="2600"/>
              <a:t>。</a:t>
            </a:r>
          </a:p>
          <a:p>
            <a:pPr eaLnBrk="1" hangingPunct="1">
              <a:lnSpc>
                <a:spcPct val="90000"/>
              </a:lnSpc>
            </a:pPr>
            <a:r>
              <a:rPr lang="en-US" altLang="zh-CN" sz="2600"/>
              <a:t>Passware Kit Enterprise</a:t>
            </a:r>
            <a:r>
              <a:rPr lang="zh-CN" altLang="en-US" sz="2600"/>
              <a:t>可以找回多种办公室应用程序档案失去或忘记的密码，包括</a:t>
            </a:r>
            <a:r>
              <a:rPr lang="en-US" altLang="zh-CN" sz="2600"/>
              <a:t>Excel</a:t>
            </a:r>
            <a:r>
              <a:rPr lang="zh-CN" altLang="en-US" sz="2600"/>
              <a:t>、</a:t>
            </a:r>
            <a:r>
              <a:rPr lang="en-US" altLang="zh-CN" sz="2600"/>
              <a:t>Word</a:t>
            </a:r>
            <a:r>
              <a:rPr lang="zh-CN" altLang="en-US" sz="2600"/>
              <a:t>、</a:t>
            </a:r>
            <a:r>
              <a:rPr lang="en-US" altLang="zh-CN" sz="2600"/>
              <a:t>Windows 2003/XP/2K/NT</a:t>
            </a:r>
            <a:r>
              <a:rPr lang="zh-CN" altLang="en-US" sz="2600"/>
              <a:t>、</a:t>
            </a:r>
            <a:r>
              <a:rPr lang="en-US" altLang="zh-CN" sz="2600"/>
              <a:t>Lotus Notes</a:t>
            </a:r>
            <a:r>
              <a:rPr lang="zh-CN" altLang="en-US" sz="2600"/>
              <a:t>、</a:t>
            </a:r>
            <a:r>
              <a:rPr lang="en-US" altLang="zh-CN" sz="2600"/>
              <a:t>RAR</a:t>
            </a:r>
            <a:r>
              <a:rPr lang="zh-CN" altLang="en-US" sz="2600"/>
              <a:t>、 </a:t>
            </a:r>
            <a:r>
              <a:rPr lang="en-US" altLang="zh-CN" sz="2600"/>
              <a:t>WinZip</a:t>
            </a:r>
            <a:r>
              <a:rPr lang="zh-CN" altLang="en-US" sz="2600"/>
              <a:t>、</a:t>
            </a:r>
            <a:r>
              <a:rPr lang="en-US" altLang="zh-CN" sz="2600"/>
              <a:t>Access</a:t>
            </a:r>
            <a:r>
              <a:rPr lang="zh-CN" altLang="en-US" sz="2600"/>
              <a:t>、</a:t>
            </a:r>
            <a:r>
              <a:rPr lang="en-US" altLang="zh-CN" sz="2600"/>
              <a:t>Outlook</a:t>
            </a:r>
            <a:r>
              <a:rPr lang="zh-CN" altLang="en-US" sz="2600"/>
              <a:t>、</a:t>
            </a:r>
            <a:r>
              <a:rPr lang="en-US" altLang="zh-CN" sz="2600"/>
              <a:t>Acrobat</a:t>
            </a:r>
            <a:r>
              <a:rPr lang="zh-CN" altLang="en-US" sz="2600"/>
              <a:t>、</a:t>
            </a:r>
            <a:r>
              <a:rPr lang="en-US" altLang="zh-CN" sz="2600"/>
              <a:t>Quicken</a:t>
            </a:r>
            <a:r>
              <a:rPr lang="zh-CN" altLang="en-US" sz="2600"/>
              <a:t>、</a:t>
            </a:r>
            <a:r>
              <a:rPr lang="en-US" altLang="zh-CN" sz="2600"/>
              <a:t>QuickBooks</a:t>
            </a:r>
            <a:r>
              <a:rPr lang="zh-CN" altLang="en-US" sz="2600"/>
              <a:t>、</a:t>
            </a:r>
            <a:r>
              <a:rPr lang="en-US" altLang="zh-CN" sz="2600"/>
              <a:t>WordPerfect</a:t>
            </a:r>
            <a:r>
              <a:rPr lang="zh-CN" altLang="en-US" sz="2600"/>
              <a:t>以及</a:t>
            </a:r>
            <a:r>
              <a:rPr lang="en-US" altLang="zh-CN" sz="2600"/>
              <a:t>VBA</a:t>
            </a:r>
            <a:r>
              <a:rPr lang="zh-CN" altLang="en-US" sz="2600"/>
              <a:t>，在此我们只需要使用其中的</a:t>
            </a:r>
            <a:r>
              <a:rPr lang="en-US" altLang="zh-CN" sz="2600"/>
              <a:t>Windows KEY</a:t>
            </a:r>
            <a:r>
              <a:rPr lang="zh-CN" altLang="en-US" sz="2600"/>
              <a:t>功能。</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9" name="Rectangle 2"/>
          <p:cNvSpPr>
            <a:spLocks noGrp="1" noChangeArrowheads="1"/>
          </p:cNvSpPr>
          <p:nvPr>
            <p:ph type="title"/>
          </p:nvPr>
        </p:nvSpPr>
        <p:spPr/>
        <p:txBody>
          <a:bodyPr/>
          <a:lstStyle/>
          <a:p>
            <a:pPr eaLnBrk="1" hangingPunct="1"/>
            <a:r>
              <a:rPr lang="zh-CN" altLang="en-US"/>
              <a:t>使用口令修改软件（</a:t>
            </a:r>
            <a:r>
              <a:rPr lang="en-US" altLang="zh-CN"/>
              <a:t>2</a:t>
            </a:r>
            <a:r>
              <a:rPr lang="zh-CN" altLang="en-US"/>
              <a:t>）</a:t>
            </a:r>
          </a:p>
        </p:txBody>
      </p:sp>
      <p:sp>
        <p:nvSpPr>
          <p:cNvPr id="98310" name="Rectangle 3"/>
          <p:cNvSpPr>
            <a:spLocks noGrp="1" noChangeArrowheads="1"/>
          </p:cNvSpPr>
          <p:nvPr>
            <p:ph type="body" idx="1"/>
          </p:nvPr>
        </p:nvSpPr>
        <p:spPr/>
        <p:txBody>
          <a:bodyPr/>
          <a:lstStyle/>
          <a:p>
            <a:pPr eaLnBrk="1" hangingPunct="1"/>
            <a:r>
              <a:rPr lang="en-US" altLang="zh-CN" sz="2600"/>
              <a:t>Windows KEY</a:t>
            </a:r>
            <a:r>
              <a:rPr lang="zh-CN" altLang="en-US" sz="2600"/>
              <a:t>运行后，在软驱中放一张空白软盘，生成一张恢复系统管理员的密码盘，其中共</a:t>
            </a:r>
            <a:r>
              <a:rPr lang="en-US" altLang="zh-CN" sz="2600"/>
              <a:t>3</a:t>
            </a:r>
            <a:r>
              <a:rPr lang="zh-CN" altLang="en-US" sz="2600"/>
              <a:t>个文件，分别是</a:t>
            </a:r>
            <a:r>
              <a:rPr lang="en-US" altLang="zh-CN" sz="2600"/>
              <a:t>Txtsetup.oem</a:t>
            </a:r>
            <a:r>
              <a:rPr lang="zh-CN" altLang="en-US" sz="2600"/>
              <a:t>、</a:t>
            </a:r>
            <a:r>
              <a:rPr lang="en-US" altLang="zh-CN" sz="2600"/>
              <a:t>Winkey.sys</a:t>
            </a:r>
            <a:r>
              <a:rPr lang="zh-CN" altLang="en-US" sz="2600"/>
              <a:t>和</a:t>
            </a:r>
            <a:r>
              <a:rPr lang="en-US" altLang="zh-CN" sz="2600"/>
              <a:t>Winkey.inf</a:t>
            </a:r>
            <a:r>
              <a:rPr lang="zh-CN" altLang="en-US" sz="2600"/>
              <a:t>。</a:t>
            </a:r>
          </a:p>
          <a:p>
            <a:pPr eaLnBrk="1" hangingPunct="1"/>
            <a:r>
              <a:rPr lang="zh-CN" altLang="en-US" sz="2600"/>
              <a:t>现在用</a:t>
            </a:r>
            <a:r>
              <a:rPr lang="en-US" altLang="zh-CN" sz="2600"/>
              <a:t>Windows</a:t>
            </a:r>
            <a:r>
              <a:rPr lang="zh-CN" altLang="en-US" sz="2600"/>
              <a:t>安装光盘启动电脑，启动过程中按</a:t>
            </a:r>
            <a:r>
              <a:rPr lang="en-US" altLang="zh-CN" sz="2600"/>
              <a:t>F6</a:t>
            </a:r>
            <a:r>
              <a:rPr lang="zh-CN" altLang="en-US" sz="2600"/>
              <a:t>键让系统采用第三方驱动程序。此时，放入该软盘就会自动跳到</a:t>
            </a:r>
            <a:r>
              <a:rPr lang="en-US" altLang="zh-CN" sz="2600"/>
              <a:t>Windows KEY</a:t>
            </a:r>
            <a:r>
              <a:rPr lang="zh-CN" altLang="en-US" sz="2600"/>
              <a:t>的界面。这时它会强行把</a:t>
            </a:r>
            <a:r>
              <a:rPr lang="en-US" altLang="zh-CN" sz="2600"/>
              <a:t>Administrator</a:t>
            </a:r>
            <a:r>
              <a:rPr lang="zh-CN" altLang="en-US" sz="2600"/>
              <a:t>的密码换成</a:t>
            </a:r>
            <a:r>
              <a:rPr lang="zh-CN" altLang="en-US" sz="2600">
                <a:latin typeface="Arial" panose="020B0604020202020204" pitchFamily="34" charset="0"/>
              </a:rPr>
              <a:t>“</a:t>
            </a:r>
            <a:r>
              <a:rPr lang="en-US" altLang="zh-CN" sz="2600"/>
              <a:t>12345</a:t>
            </a:r>
            <a:r>
              <a:rPr lang="en-US" altLang="zh-CN" sz="2600">
                <a:latin typeface="Arial" panose="020B0604020202020204" pitchFamily="34" charset="0"/>
              </a:rPr>
              <a:t>”</a:t>
            </a:r>
            <a:r>
              <a:rPr lang="zh-CN" altLang="en-US" sz="2600"/>
              <a:t>。</a:t>
            </a:r>
          </a:p>
          <a:p>
            <a:pPr eaLnBrk="1" hangingPunct="1"/>
            <a:r>
              <a:rPr lang="zh-CN" altLang="en-US" sz="2600"/>
              <a:t>当你重新启动以后，会要求再次修改密码。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3" name="Rectangle 2"/>
          <p:cNvSpPr>
            <a:spLocks noGrp="1" noChangeArrowheads="1"/>
          </p:cNvSpPr>
          <p:nvPr>
            <p:ph type="title"/>
          </p:nvPr>
        </p:nvSpPr>
        <p:spPr/>
        <p:txBody>
          <a:bodyPr/>
          <a:lstStyle/>
          <a:p>
            <a:pPr eaLnBrk="1" hangingPunct="1"/>
            <a:r>
              <a:rPr lang="zh-CN" altLang="en-US"/>
              <a:t>替换屏保程序</a:t>
            </a:r>
          </a:p>
        </p:txBody>
      </p:sp>
      <p:sp>
        <p:nvSpPr>
          <p:cNvPr id="99334" name="Rectangle 3"/>
          <p:cNvSpPr>
            <a:spLocks noGrp="1" noChangeArrowheads="1"/>
          </p:cNvSpPr>
          <p:nvPr>
            <p:ph type="body" idx="1"/>
          </p:nvPr>
        </p:nvSpPr>
        <p:spPr>
          <a:xfrm>
            <a:off x="643573" y="1356043"/>
            <a:ext cx="7772400" cy="4648518"/>
          </a:xfrm>
        </p:spPr>
        <p:txBody>
          <a:bodyPr/>
          <a:lstStyle/>
          <a:p>
            <a:pPr eaLnBrk="1" hangingPunct="1">
              <a:lnSpc>
                <a:spcPct val="150000"/>
              </a:lnSpc>
            </a:pPr>
            <a:r>
              <a:rPr lang="zh-CN" altLang="en-US" dirty="0"/>
              <a:t>这个方法是利用当系统在长时间没有动作时，启动屏幕保护程序的特点。</a:t>
            </a:r>
          </a:p>
          <a:p>
            <a:pPr lvl="1" eaLnBrk="1" hangingPunct="1">
              <a:lnSpc>
                <a:spcPct val="150000"/>
              </a:lnSpc>
            </a:pPr>
            <a:r>
              <a:rPr lang="zh-CN" altLang="en-US" dirty="0"/>
              <a:t>前提：还是需要有一张启动盘，如果系统盘是</a:t>
            </a:r>
            <a:r>
              <a:rPr lang="en-US" altLang="zh-CN" dirty="0"/>
              <a:t>FAT</a:t>
            </a:r>
            <a:r>
              <a:rPr lang="zh-CN" altLang="en-US" dirty="0"/>
              <a:t>格式，则普通的</a:t>
            </a:r>
            <a:r>
              <a:rPr lang="en-US" altLang="zh-CN" dirty="0"/>
              <a:t>DOS</a:t>
            </a:r>
            <a:r>
              <a:rPr lang="zh-CN" altLang="en-US" dirty="0"/>
              <a:t>启动盘就行了；如果是</a:t>
            </a:r>
            <a:r>
              <a:rPr lang="en-US" altLang="zh-CN" dirty="0"/>
              <a:t>NTFS</a:t>
            </a:r>
            <a:r>
              <a:rPr lang="zh-CN" altLang="en-US" dirty="0"/>
              <a:t>格式，则需要一张能够识别</a:t>
            </a:r>
            <a:r>
              <a:rPr lang="en-US" altLang="zh-CN" dirty="0"/>
              <a:t>NTFS</a:t>
            </a:r>
            <a:r>
              <a:rPr lang="zh-CN" altLang="en-US" dirty="0"/>
              <a:t>文件的</a:t>
            </a:r>
            <a:r>
              <a:rPr lang="en-US" altLang="zh-CN" dirty="0"/>
              <a:t>DOS</a:t>
            </a:r>
            <a:r>
              <a:rPr lang="zh-CN" altLang="en-US" dirty="0"/>
              <a:t>启动盘。</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7" name="Rectangle 2"/>
          <p:cNvSpPr>
            <a:spLocks noGrp="1" noChangeArrowheads="1"/>
          </p:cNvSpPr>
          <p:nvPr>
            <p:ph type="title"/>
          </p:nvPr>
        </p:nvSpPr>
        <p:spPr/>
        <p:txBody>
          <a:bodyPr/>
          <a:lstStyle/>
          <a:p>
            <a:pPr eaLnBrk="1" hangingPunct="1"/>
            <a:r>
              <a:rPr lang="zh-CN" altLang="en-US"/>
              <a:t>替换屏保程序（</a:t>
            </a:r>
            <a:r>
              <a:rPr lang="en-US" altLang="zh-CN"/>
              <a:t>2</a:t>
            </a:r>
            <a:r>
              <a:rPr lang="zh-CN" altLang="en-US"/>
              <a:t>）</a:t>
            </a:r>
          </a:p>
        </p:txBody>
      </p:sp>
      <p:sp>
        <p:nvSpPr>
          <p:cNvPr id="100358" name="Rectangle 3"/>
          <p:cNvSpPr>
            <a:spLocks noGrp="1" noChangeArrowheads="1"/>
          </p:cNvSpPr>
          <p:nvPr>
            <p:ph type="body" idx="1"/>
          </p:nvPr>
        </p:nvSpPr>
        <p:spPr>
          <a:xfrm>
            <a:off x="658813" y="1264603"/>
            <a:ext cx="7772400" cy="4846638"/>
          </a:xfrm>
        </p:spPr>
        <p:txBody>
          <a:bodyPr/>
          <a:lstStyle/>
          <a:p>
            <a:pPr eaLnBrk="1" hangingPunct="1"/>
            <a:r>
              <a:rPr lang="zh-CN" altLang="en-US" sz="2600" dirty="0"/>
              <a:t>可以把</a:t>
            </a:r>
            <a:r>
              <a:rPr lang="zh-CN" altLang="en-US" sz="2600" dirty="0">
                <a:latin typeface="Arial" panose="020B0604020202020204" pitchFamily="34" charset="0"/>
              </a:rPr>
              <a:t>“</a:t>
            </a:r>
            <a:r>
              <a:rPr lang="en-US" altLang="zh-CN" sz="2600" dirty="0"/>
              <a:t>%</a:t>
            </a:r>
            <a:r>
              <a:rPr lang="en-US" altLang="zh-CN" sz="2600" dirty="0" err="1"/>
              <a:t>systemroot</a:t>
            </a:r>
            <a:r>
              <a:rPr lang="en-US" altLang="zh-CN" sz="2600" dirty="0"/>
              <a:t>%\system32\</a:t>
            </a:r>
            <a:r>
              <a:rPr lang="en-US" altLang="zh-CN" sz="2600" dirty="0" err="1"/>
              <a:t>logon.scr</a:t>
            </a:r>
            <a:r>
              <a:rPr lang="en-US" altLang="zh-CN" sz="2600" dirty="0">
                <a:latin typeface="Arial" panose="020B0604020202020204" pitchFamily="34" charset="0"/>
              </a:rPr>
              <a:t>”</a:t>
            </a:r>
            <a:r>
              <a:rPr lang="zh-CN" altLang="en-US" sz="2600" dirty="0"/>
              <a:t>替换为</a:t>
            </a:r>
            <a:r>
              <a:rPr lang="zh-CN" altLang="en-US" sz="2600" dirty="0">
                <a:latin typeface="Arial" panose="020B0604020202020204" pitchFamily="34" charset="0"/>
              </a:rPr>
              <a:t>“</a:t>
            </a:r>
            <a:r>
              <a:rPr lang="en-US" altLang="zh-CN" sz="2600" dirty="0"/>
              <a:t>cmd.exe</a:t>
            </a:r>
            <a:r>
              <a:rPr lang="en-US" altLang="zh-CN" sz="2600" dirty="0">
                <a:latin typeface="Arial" panose="020B0604020202020204" pitchFamily="34" charset="0"/>
              </a:rPr>
              <a:t>”</a:t>
            </a:r>
            <a:r>
              <a:rPr lang="zh-CN" altLang="en-US" sz="2600" dirty="0"/>
              <a:t>，然后在系统登陆处等待，过一会，系统就会运行</a:t>
            </a:r>
            <a:r>
              <a:rPr lang="zh-CN" altLang="en-US" sz="2600" dirty="0">
                <a:latin typeface="Arial" panose="020B0604020202020204" pitchFamily="34" charset="0"/>
              </a:rPr>
              <a:t>“</a:t>
            </a:r>
            <a:r>
              <a:rPr lang="en-US" altLang="zh-CN" sz="2600" dirty="0" err="1"/>
              <a:t>logon.scr</a:t>
            </a:r>
            <a:r>
              <a:rPr lang="en-US" altLang="zh-CN" sz="2600" dirty="0">
                <a:latin typeface="Arial" panose="020B0604020202020204" pitchFamily="34" charset="0"/>
              </a:rPr>
              <a:t>”</a:t>
            </a:r>
            <a:r>
              <a:rPr lang="zh-CN" altLang="en-US" sz="2600" dirty="0"/>
              <a:t>这个屏保，因为你替换了屏保文件，所以实际上运行的是</a:t>
            </a:r>
            <a:r>
              <a:rPr lang="zh-CN" altLang="en-US" sz="2600" dirty="0">
                <a:latin typeface="Arial" panose="020B0604020202020204" pitchFamily="34" charset="0"/>
              </a:rPr>
              <a:t>“</a:t>
            </a:r>
            <a:r>
              <a:rPr lang="en-US" altLang="zh-CN" sz="2600" dirty="0"/>
              <a:t>cmd.exe</a:t>
            </a:r>
            <a:r>
              <a:rPr lang="en-US" altLang="zh-CN" sz="2600" dirty="0">
                <a:latin typeface="Arial" panose="020B0604020202020204" pitchFamily="34" charset="0"/>
              </a:rPr>
              <a:t>”</a:t>
            </a:r>
            <a:r>
              <a:rPr lang="zh-CN" altLang="en-US" sz="2600" dirty="0"/>
              <a:t>，并且是</a:t>
            </a:r>
            <a:r>
              <a:rPr lang="zh-CN" altLang="en-US" sz="2600" dirty="0">
                <a:latin typeface="Arial" panose="020B0604020202020204" pitchFamily="34" charset="0"/>
              </a:rPr>
              <a:t>“</a:t>
            </a:r>
            <a:r>
              <a:rPr lang="en-US" altLang="zh-CN" sz="2600" dirty="0" err="1"/>
              <a:t>localsystem</a:t>
            </a:r>
            <a:r>
              <a:rPr lang="en-US" altLang="zh-CN" sz="2600" dirty="0">
                <a:latin typeface="Arial" panose="020B0604020202020204" pitchFamily="34" charset="0"/>
              </a:rPr>
              <a:t>”</a:t>
            </a:r>
            <a:r>
              <a:rPr lang="zh-CN" altLang="en-US" sz="2600" dirty="0"/>
              <a:t>权限，现在就可以破解密码了。</a:t>
            </a:r>
          </a:p>
          <a:p>
            <a:pPr eaLnBrk="1" hangingPunct="1"/>
            <a:r>
              <a:rPr lang="zh-CN" altLang="en-US" sz="2600" dirty="0"/>
              <a:t>最简单的就是在</a:t>
            </a:r>
            <a:r>
              <a:rPr lang="zh-CN" altLang="en-US" sz="2600" dirty="0">
                <a:latin typeface="Arial" panose="020B0604020202020204" pitchFamily="34" charset="0"/>
              </a:rPr>
              <a:t>“</a:t>
            </a:r>
            <a:r>
              <a:rPr lang="en-US" altLang="zh-CN" sz="2600" dirty="0"/>
              <a:t>cmd.exe</a:t>
            </a:r>
            <a:r>
              <a:rPr lang="en-US" altLang="zh-CN" sz="2600" dirty="0">
                <a:latin typeface="Arial" panose="020B0604020202020204" pitchFamily="34" charset="0"/>
              </a:rPr>
              <a:t>”</a:t>
            </a:r>
            <a:r>
              <a:rPr lang="zh-CN" altLang="en-US" sz="2600" dirty="0"/>
              <a:t>里运行</a:t>
            </a:r>
            <a:r>
              <a:rPr lang="zh-CN" altLang="en-US" sz="2600" dirty="0">
                <a:latin typeface="Arial" panose="020B0604020202020204" pitchFamily="34" charset="0"/>
              </a:rPr>
              <a:t>“</a:t>
            </a:r>
            <a:r>
              <a:rPr lang="en-US" altLang="zh-CN" sz="2600" dirty="0"/>
              <a:t>net user administrator</a:t>
            </a:r>
            <a:r>
              <a:rPr lang="en-US" altLang="zh-CN" sz="2600" dirty="0">
                <a:latin typeface="Arial" panose="020B0604020202020204" pitchFamily="34" charset="0"/>
              </a:rPr>
              <a:t>”</a:t>
            </a:r>
            <a:r>
              <a:rPr lang="zh-CN" altLang="en-US" sz="2600" dirty="0"/>
              <a:t>，成功后管理员密码被清空，这样就删除了管理员帐户的密码。</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lstStyle/>
          <a:p>
            <a:r>
              <a:rPr lang="zh-CN" altLang="en-US" dirty="0"/>
              <a:t>工具使用：暴力破解</a:t>
            </a:r>
            <a:r>
              <a:rPr lang="en-US" altLang="zh-CN" dirty="0"/>
              <a:t>+</a:t>
            </a:r>
            <a:r>
              <a:rPr lang="zh-CN" altLang="en-US" dirty="0"/>
              <a:t>字典</a:t>
            </a:r>
          </a:p>
        </p:txBody>
      </p:sp>
      <p:sp>
        <p:nvSpPr>
          <p:cNvPr id="470019" name="Rectangle 3"/>
          <p:cNvSpPr>
            <a:spLocks noGrp="1" noChangeArrowheads="1"/>
          </p:cNvSpPr>
          <p:nvPr>
            <p:ph type="body" idx="1"/>
          </p:nvPr>
        </p:nvSpPr>
        <p:spPr>
          <a:xfrm>
            <a:off x="457200" y="1152525"/>
            <a:ext cx="8229600" cy="1133475"/>
          </a:xfrm>
          <a:noFill/>
        </p:spPr>
        <p:txBody>
          <a:bodyPr/>
          <a:lstStyle/>
          <a:p>
            <a:pPr>
              <a:lnSpc>
                <a:spcPct val="105000"/>
              </a:lnSpc>
            </a:pPr>
            <a:r>
              <a:rPr lang="en-US" altLang="zh-CN" dirty="0" err="1"/>
              <a:t>WMICracker</a:t>
            </a:r>
            <a:r>
              <a:rPr lang="zh-CN" altLang="en-US" dirty="0"/>
              <a:t>：扫描目标主机</a:t>
            </a:r>
            <a:r>
              <a:rPr lang="en-US" altLang="zh-CN" dirty="0"/>
              <a:t>135</a:t>
            </a:r>
            <a:r>
              <a:rPr lang="zh-CN" altLang="en-US" dirty="0"/>
              <a:t>端口</a:t>
            </a:r>
          </a:p>
          <a:p>
            <a:pPr>
              <a:lnSpc>
                <a:spcPct val="105000"/>
              </a:lnSpc>
              <a:buFont typeface="Wingdings" panose="05000000000000000000" pitchFamily="2" charset="2"/>
              <a:buNone/>
            </a:pPr>
            <a:r>
              <a:rPr lang="zh-CN" altLang="en-US" sz="2000" dirty="0"/>
              <a:t>     使用：</a:t>
            </a:r>
            <a:r>
              <a:rPr lang="en-US" altLang="zh-CN" sz="2000" dirty="0" err="1"/>
              <a:t>WMICracker</a:t>
            </a:r>
            <a:r>
              <a:rPr lang="en-US" altLang="zh-CN" sz="2000" dirty="0"/>
              <a:t> &lt;IP&gt; &lt;Username&gt; &lt;Password File&gt;  [Threads]</a:t>
            </a:r>
            <a:endParaRPr lang="zh-CN" altLang="en-US" sz="2000" dirty="0"/>
          </a:p>
        </p:txBody>
      </p:sp>
      <p:pic>
        <p:nvPicPr>
          <p:cNvPr id="470020" name="Picture 4" descr="Untitled-1"/>
          <p:cNvPicPr>
            <a:picLocks noChangeAspect="1" noChangeArrowheads="1"/>
          </p:cNvPicPr>
          <p:nvPr/>
        </p:nvPicPr>
        <p:blipFill>
          <a:blip r:embed="rId3" cstate="print"/>
          <a:srcRect/>
          <a:stretch>
            <a:fillRect/>
          </a:stretch>
        </p:blipFill>
        <p:spPr bwMode="auto">
          <a:xfrm>
            <a:off x="923925" y="2076451"/>
            <a:ext cx="7632700" cy="4219574"/>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70019">
                                            <p:txEl>
                                              <p:pRg st="0" end="0"/>
                                            </p:txEl>
                                          </p:spTgt>
                                        </p:tgtEl>
                                        <p:attrNameLst>
                                          <p:attrName>style.visibility</p:attrName>
                                        </p:attrNameLst>
                                      </p:cBhvr>
                                      <p:to>
                                        <p:strVal val="visible"/>
                                      </p:to>
                                    </p:set>
                                    <p:anim calcmode="lin" valueType="num">
                                      <p:cBhvr additive="base">
                                        <p:cTn id="7" dur="500" fill="hold"/>
                                        <p:tgtEl>
                                          <p:spTgt spid="4700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001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70019">
                                            <p:txEl>
                                              <p:pRg st="1" end="1"/>
                                            </p:txEl>
                                          </p:spTgt>
                                        </p:tgtEl>
                                        <p:attrNameLst>
                                          <p:attrName>style.visibility</p:attrName>
                                        </p:attrNameLst>
                                      </p:cBhvr>
                                      <p:to>
                                        <p:strVal val="visible"/>
                                      </p:to>
                                    </p:set>
                                    <p:anim calcmode="lin" valueType="num">
                                      <p:cBhvr additive="base">
                                        <p:cTn id="11" dur="500" fill="hold"/>
                                        <p:tgtEl>
                                          <p:spTgt spid="47001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700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70020"/>
                                        </p:tgtEl>
                                        <p:attrNameLst>
                                          <p:attrName>style.visibility</p:attrName>
                                        </p:attrNameLst>
                                      </p:cBhvr>
                                      <p:to>
                                        <p:strVal val="visible"/>
                                      </p:to>
                                    </p:set>
                                    <p:anim calcmode="lin" valueType="num">
                                      <p:cBhvr additive="base">
                                        <p:cTn id="17" dur="500" fill="hold"/>
                                        <p:tgtEl>
                                          <p:spTgt spid="470020"/>
                                        </p:tgtEl>
                                        <p:attrNameLst>
                                          <p:attrName>ppt_x</p:attrName>
                                        </p:attrNameLst>
                                      </p:cBhvr>
                                      <p:tavLst>
                                        <p:tav tm="0">
                                          <p:val>
                                            <p:strVal val="#ppt_x"/>
                                          </p:val>
                                        </p:tav>
                                        <p:tav tm="100000">
                                          <p:val>
                                            <p:strVal val="#ppt_x"/>
                                          </p:val>
                                        </p:tav>
                                      </p:tavLst>
                                    </p:anim>
                                    <p:anim calcmode="lin" valueType="num">
                                      <p:cBhvr additive="base">
                                        <p:cTn id="18" dur="500" fill="hold"/>
                                        <p:tgtEl>
                                          <p:spTgt spid="4700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type="title"/>
          </p:nvPr>
        </p:nvSpPr>
        <p:spPr/>
        <p:txBody>
          <a:bodyPr/>
          <a:lstStyle/>
          <a:p>
            <a:r>
              <a:rPr lang="zh-CN" altLang="en-US"/>
              <a:t>工具使用：暴力破解</a:t>
            </a:r>
            <a:r>
              <a:rPr lang="en-US" altLang="zh-CN"/>
              <a:t>+</a:t>
            </a:r>
            <a:r>
              <a:rPr lang="zh-CN" altLang="en-US"/>
              <a:t>字典</a:t>
            </a:r>
          </a:p>
        </p:txBody>
      </p:sp>
      <p:sp>
        <p:nvSpPr>
          <p:cNvPr id="471043" name="Rectangle 3"/>
          <p:cNvSpPr>
            <a:spLocks noGrp="1" noChangeArrowheads="1"/>
          </p:cNvSpPr>
          <p:nvPr>
            <p:ph type="body" idx="1"/>
          </p:nvPr>
        </p:nvSpPr>
        <p:spPr>
          <a:xfrm>
            <a:off x="457200" y="1228725"/>
            <a:ext cx="8229600" cy="1349375"/>
          </a:xfrm>
          <a:noFill/>
        </p:spPr>
        <p:txBody>
          <a:bodyPr/>
          <a:lstStyle/>
          <a:p>
            <a:r>
              <a:rPr lang="en-US" altLang="zh-CN" dirty="0" err="1"/>
              <a:t>SMBCrack</a:t>
            </a:r>
            <a:r>
              <a:rPr lang="zh-CN" altLang="en-US" dirty="0"/>
              <a:t>：使用</a:t>
            </a:r>
            <a:r>
              <a:rPr lang="en-US" altLang="zh-CN" dirty="0"/>
              <a:t>SMB</a:t>
            </a:r>
            <a:r>
              <a:rPr lang="zh-CN" altLang="en-US" dirty="0"/>
              <a:t>协议</a:t>
            </a:r>
          </a:p>
          <a:p>
            <a:pPr>
              <a:buFont typeface="Wingdings" panose="05000000000000000000" pitchFamily="2" charset="2"/>
              <a:buNone/>
            </a:pPr>
            <a:r>
              <a:rPr lang="zh-CN" altLang="en-US" sz="2400" dirty="0"/>
              <a:t>    使用：</a:t>
            </a:r>
            <a:r>
              <a:rPr lang="en-US" altLang="zh-CN" sz="2400" dirty="0" err="1"/>
              <a:t>SMBCrack</a:t>
            </a:r>
            <a:r>
              <a:rPr lang="en-US" altLang="zh-CN" sz="2400" dirty="0"/>
              <a:t> &lt;IP&gt; &lt;Username&gt;  &lt;Password File&gt;</a:t>
            </a:r>
            <a:endParaRPr lang="zh-CN" altLang="en-US" sz="2400" dirty="0"/>
          </a:p>
        </p:txBody>
      </p:sp>
      <p:pic>
        <p:nvPicPr>
          <p:cNvPr id="471044" name="Picture 4" descr="snap"/>
          <p:cNvPicPr>
            <a:picLocks noChangeAspect="1" noChangeArrowheads="1"/>
          </p:cNvPicPr>
          <p:nvPr/>
        </p:nvPicPr>
        <p:blipFill>
          <a:blip r:embed="rId3" cstate="print"/>
          <a:srcRect/>
          <a:stretch>
            <a:fillRect/>
          </a:stretch>
        </p:blipFill>
        <p:spPr bwMode="auto">
          <a:xfrm>
            <a:off x="250825" y="2708275"/>
            <a:ext cx="8748713" cy="329088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71043">
                                            <p:txEl>
                                              <p:pRg st="0" end="0"/>
                                            </p:txEl>
                                          </p:spTgt>
                                        </p:tgtEl>
                                        <p:attrNameLst>
                                          <p:attrName>style.visibility</p:attrName>
                                        </p:attrNameLst>
                                      </p:cBhvr>
                                      <p:to>
                                        <p:strVal val="visible"/>
                                      </p:to>
                                    </p:set>
                                    <p:anim calcmode="lin" valueType="num">
                                      <p:cBhvr additive="base">
                                        <p:cTn id="7" dur="500" fill="hold"/>
                                        <p:tgtEl>
                                          <p:spTgt spid="4710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4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71043">
                                            <p:txEl>
                                              <p:pRg st="1" end="1"/>
                                            </p:txEl>
                                          </p:spTgt>
                                        </p:tgtEl>
                                        <p:attrNameLst>
                                          <p:attrName>style.visibility</p:attrName>
                                        </p:attrNameLst>
                                      </p:cBhvr>
                                      <p:to>
                                        <p:strVal val="visible"/>
                                      </p:to>
                                    </p:set>
                                    <p:anim calcmode="lin" valueType="num">
                                      <p:cBhvr additive="base">
                                        <p:cTn id="11" dur="500" fill="hold"/>
                                        <p:tgtEl>
                                          <p:spTgt spid="47104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710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71044"/>
                                        </p:tgtEl>
                                        <p:attrNameLst>
                                          <p:attrName>style.visibility</p:attrName>
                                        </p:attrNameLst>
                                      </p:cBhvr>
                                      <p:to>
                                        <p:strVal val="visible"/>
                                      </p:to>
                                    </p:set>
                                    <p:anim calcmode="lin" valueType="num">
                                      <p:cBhvr additive="base">
                                        <p:cTn id="17" dur="500" fill="hold"/>
                                        <p:tgtEl>
                                          <p:spTgt spid="471044"/>
                                        </p:tgtEl>
                                        <p:attrNameLst>
                                          <p:attrName>ppt_x</p:attrName>
                                        </p:attrNameLst>
                                      </p:cBhvr>
                                      <p:tavLst>
                                        <p:tav tm="0">
                                          <p:val>
                                            <p:strVal val="#ppt_x"/>
                                          </p:val>
                                        </p:tav>
                                        <p:tav tm="100000">
                                          <p:val>
                                            <p:strVal val="#ppt_x"/>
                                          </p:val>
                                        </p:tav>
                                      </p:tavLst>
                                    </p:anim>
                                    <p:anim calcmode="lin" valueType="num">
                                      <p:cBhvr additive="base">
                                        <p:cTn id="18" dur="500" fill="hold"/>
                                        <p:tgtEl>
                                          <p:spTgt spid="4710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r>
              <a:rPr lang="zh-CN" altLang="en-US"/>
              <a:t>系统口令破解软件</a:t>
            </a:r>
            <a:endParaRPr lang="en-US" altLang="zh-CN"/>
          </a:p>
        </p:txBody>
      </p:sp>
      <p:sp>
        <p:nvSpPr>
          <p:cNvPr id="451587" name="Rectangle 3"/>
          <p:cNvSpPr>
            <a:spLocks noGrp="1" noChangeArrowheads="1"/>
          </p:cNvSpPr>
          <p:nvPr>
            <p:ph type="body" idx="1"/>
          </p:nvPr>
        </p:nvSpPr>
        <p:spPr>
          <a:xfrm>
            <a:off x="601663" y="1266507"/>
            <a:ext cx="7772400" cy="5134293"/>
          </a:xfrm>
        </p:spPr>
        <p:txBody>
          <a:bodyPr/>
          <a:lstStyle/>
          <a:p>
            <a:pPr>
              <a:lnSpc>
                <a:spcPts val="4000"/>
              </a:lnSpc>
            </a:pPr>
            <a:r>
              <a:rPr lang="en-US" altLang="zh-CN" sz="2800" dirty="0">
                <a:solidFill>
                  <a:srgbClr val="0000FF"/>
                </a:solidFill>
              </a:rPr>
              <a:t>Cain</a:t>
            </a:r>
            <a:r>
              <a:rPr lang="zh-CN" altLang="en-US" sz="2800" dirty="0"/>
              <a:t>：集合多种攻击工具的软件。对于</a:t>
            </a:r>
            <a:r>
              <a:rPr lang="en-US" altLang="zh-CN" sz="2800" dirty="0"/>
              <a:t>Windows</a:t>
            </a:r>
            <a:r>
              <a:rPr lang="zh-CN" altLang="en-US" sz="2800" dirty="0"/>
              <a:t>系统，能破解</a:t>
            </a:r>
            <a:r>
              <a:rPr lang="en-US" altLang="zh-CN" sz="2800" dirty="0"/>
              <a:t>LM</a:t>
            </a:r>
            <a:r>
              <a:rPr lang="zh-CN" altLang="en-US" sz="2800" dirty="0"/>
              <a:t>和</a:t>
            </a:r>
            <a:r>
              <a:rPr lang="en-US" altLang="zh-CN" sz="2800" dirty="0"/>
              <a:t>NT</a:t>
            </a:r>
            <a:r>
              <a:rPr lang="zh-CN" altLang="en-US" sz="2800" dirty="0"/>
              <a:t>哈希密码，以及跨网络的</a:t>
            </a:r>
            <a:r>
              <a:rPr lang="en-US" altLang="zh-CN" sz="2800" dirty="0"/>
              <a:t>LM</a:t>
            </a:r>
            <a:r>
              <a:rPr lang="zh-CN" altLang="en-US" sz="2800" dirty="0"/>
              <a:t>、</a:t>
            </a:r>
            <a:r>
              <a:rPr lang="en-US" altLang="zh-CN" sz="2800" dirty="0"/>
              <a:t>NTLM</a:t>
            </a:r>
            <a:r>
              <a:rPr lang="zh-CN" altLang="en-US" sz="2800" dirty="0"/>
              <a:t>挑战</a:t>
            </a:r>
            <a:r>
              <a:rPr lang="en-US" altLang="zh-CN" sz="2800" dirty="0"/>
              <a:t>-</a:t>
            </a:r>
            <a:r>
              <a:rPr lang="zh-CN" altLang="en-US" sz="2800" dirty="0"/>
              <a:t>响应认证；</a:t>
            </a:r>
          </a:p>
          <a:p>
            <a:pPr>
              <a:lnSpc>
                <a:spcPts val="4000"/>
              </a:lnSpc>
            </a:pPr>
            <a:r>
              <a:rPr lang="en-US" altLang="zh-CN" sz="2800" dirty="0">
                <a:solidFill>
                  <a:srgbClr val="0000FF"/>
                </a:solidFill>
              </a:rPr>
              <a:t>PWDUMP4</a:t>
            </a:r>
            <a:r>
              <a:rPr lang="zh-CN" altLang="en-US" sz="2800" dirty="0"/>
              <a:t>：主要用于获取本地或远端</a:t>
            </a:r>
            <a:r>
              <a:rPr lang="en-US" altLang="zh-CN" sz="2800" dirty="0"/>
              <a:t>Windows</a:t>
            </a:r>
            <a:r>
              <a:rPr lang="zh-CN" altLang="en-US" sz="2800" dirty="0"/>
              <a:t>系统的</a:t>
            </a:r>
            <a:r>
              <a:rPr lang="en-US" altLang="zh-CN" sz="2800" dirty="0"/>
              <a:t>SAM</a:t>
            </a:r>
            <a:r>
              <a:rPr lang="zh-CN" altLang="en-US" sz="2800" dirty="0"/>
              <a:t>文件，配合</a:t>
            </a:r>
            <a:r>
              <a:rPr lang="en-US" altLang="zh-CN" sz="2800" dirty="0"/>
              <a:t>LC5</a:t>
            </a:r>
            <a:r>
              <a:rPr lang="zh-CN" altLang="en-US" sz="2800" dirty="0"/>
              <a:t>等破解软件使用；</a:t>
            </a:r>
          </a:p>
          <a:p>
            <a:pPr>
              <a:lnSpc>
                <a:spcPts val="4000"/>
              </a:lnSpc>
            </a:pPr>
            <a:r>
              <a:rPr lang="en-US" altLang="zh-CN" sz="2800" dirty="0">
                <a:solidFill>
                  <a:srgbClr val="0000FF"/>
                </a:solidFill>
              </a:rPr>
              <a:t>LC5</a:t>
            </a:r>
            <a:r>
              <a:rPr lang="zh-CN" altLang="en-US" sz="2800" dirty="0"/>
              <a:t>：</a:t>
            </a:r>
            <a:r>
              <a:rPr lang="en-US" altLang="zh-CN" sz="2800" dirty="0"/>
              <a:t>L0phtCrack</a:t>
            </a:r>
            <a:r>
              <a:rPr lang="zh-CN" altLang="en-US" sz="2800" dirty="0"/>
              <a:t> </a:t>
            </a:r>
            <a:r>
              <a:rPr lang="en-US" altLang="zh-CN" sz="2800" dirty="0"/>
              <a:t>5.04</a:t>
            </a:r>
            <a:r>
              <a:rPr lang="zh-CN" altLang="en-US" sz="2800" dirty="0"/>
              <a:t>，可用于破解</a:t>
            </a:r>
            <a:r>
              <a:rPr lang="en-US" altLang="zh-CN" sz="2800" dirty="0"/>
              <a:t>Windows</a:t>
            </a:r>
            <a:r>
              <a:rPr lang="zh-CN" altLang="en-US" sz="2800" dirty="0"/>
              <a:t>和</a:t>
            </a:r>
            <a:r>
              <a:rPr lang="en-US" altLang="zh-CN" sz="2800" dirty="0"/>
              <a:t>Unix/Linux</a:t>
            </a:r>
            <a:r>
              <a:rPr lang="zh-CN" altLang="en-US" sz="2800" dirty="0"/>
              <a:t>系统密码；</a:t>
            </a:r>
          </a:p>
          <a:p>
            <a:pPr>
              <a:lnSpc>
                <a:spcPts val="4000"/>
              </a:lnSpc>
            </a:pPr>
            <a:r>
              <a:rPr lang="en-US" altLang="zh-CN" sz="2800" dirty="0">
                <a:solidFill>
                  <a:srgbClr val="0000FF"/>
                </a:solidFill>
              </a:rPr>
              <a:t>John the Ripper</a:t>
            </a:r>
            <a:r>
              <a:rPr lang="zh-CN" altLang="en-US" sz="2800" dirty="0"/>
              <a:t>：是</a:t>
            </a:r>
            <a:r>
              <a:rPr lang="en-US" altLang="zh-CN" sz="2800" dirty="0"/>
              <a:t>Unix/Linux</a:t>
            </a:r>
            <a:r>
              <a:rPr lang="zh-CN" altLang="en-US" sz="2800" dirty="0"/>
              <a:t>平台上最好的密码破解软件之一。</a:t>
            </a: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51587">
                                            <p:txEl>
                                              <p:pRg st="0" end="0"/>
                                            </p:txEl>
                                          </p:spTgt>
                                        </p:tgtEl>
                                        <p:attrNameLst>
                                          <p:attrName>style.visibility</p:attrName>
                                        </p:attrNameLst>
                                      </p:cBhvr>
                                      <p:to>
                                        <p:strVal val="visible"/>
                                      </p:to>
                                    </p:set>
                                    <p:anim calcmode="lin" valueType="num">
                                      <p:cBhvr additive="base">
                                        <p:cTn id="7" dur="500" fill="hold"/>
                                        <p:tgtEl>
                                          <p:spTgt spid="4515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15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1587">
                                            <p:txEl>
                                              <p:pRg st="1" end="1"/>
                                            </p:txEl>
                                          </p:spTgt>
                                        </p:tgtEl>
                                        <p:attrNameLst>
                                          <p:attrName>style.visibility</p:attrName>
                                        </p:attrNameLst>
                                      </p:cBhvr>
                                      <p:to>
                                        <p:strVal val="visible"/>
                                      </p:to>
                                    </p:set>
                                    <p:anim calcmode="lin" valueType="num">
                                      <p:cBhvr additive="base">
                                        <p:cTn id="13" dur="500" fill="hold"/>
                                        <p:tgtEl>
                                          <p:spTgt spid="4515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15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51587">
                                            <p:txEl>
                                              <p:pRg st="2" end="2"/>
                                            </p:txEl>
                                          </p:spTgt>
                                        </p:tgtEl>
                                        <p:attrNameLst>
                                          <p:attrName>style.visibility</p:attrName>
                                        </p:attrNameLst>
                                      </p:cBhvr>
                                      <p:to>
                                        <p:strVal val="visible"/>
                                      </p:to>
                                    </p:set>
                                    <p:anim calcmode="lin" valueType="num">
                                      <p:cBhvr additive="base">
                                        <p:cTn id="19" dur="500" fill="hold"/>
                                        <p:tgtEl>
                                          <p:spTgt spid="4515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15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51587">
                                            <p:txEl>
                                              <p:pRg st="3" end="3"/>
                                            </p:txEl>
                                          </p:spTgt>
                                        </p:tgtEl>
                                        <p:attrNameLst>
                                          <p:attrName>style.visibility</p:attrName>
                                        </p:attrNameLst>
                                      </p:cBhvr>
                                      <p:to>
                                        <p:strVal val="visible"/>
                                      </p:to>
                                    </p:set>
                                    <p:anim calcmode="lin" valueType="num">
                                      <p:cBhvr additive="base">
                                        <p:cTn id="25" dur="500" fill="hold"/>
                                        <p:tgtEl>
                                          <p:spTgt spid="4515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5158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p:txBody>
          <a:bodyPr/>
          <a:lstStyle/>
          <a:p>
            <a:r>
              <a:rPr lang="zh-CN" altLang="en-US">
                <a:latin typeface="Times New Roman" panose="02020603050405020304" pitchFamily="18" charset="0"/>
              </a:rPr>
              <a:t>（一）</a:t>
            </a:r>
            <a:r>
              <a:rPr lang="en-US" altLang="zh-CN">
                <a:latin typeface="Times New Roman" panose="02020603050405020304" pitchFamily="18" charset="0"/>
              </a:rPr>
              <a:t>Cain</a:t>
            </a:r>
            <a:r>
              <a:rPr lang="zh-CN" altLang="en-US">
                <a:latin typeface="Times New Roman" panose="02020603050405020304" pitchFamily="18" charset="0"/>
              </a:rPr>
              <a:t>：导入口令文件 </a:t>
            </a:r>
            <a:endParaRPr lang="en-US" altLang="zh-CN">
              <a:latin typeface="Times New Roman" panose="02020603050405020304" pitchFamily="18" charset="0"/>
            </a:endParaRPr>
          </a:p>
        </p:txBody>
      </p:sp>
      <p:pic>
        <p:nvPicPr>
          <p:cNvPr id="452612" name="Picture 4" descr="snap"/>
          <p:cNvPicPr>
            <a:picLocks noChangeAspect="1" noChangeArrowheads="1"/>
          </p:cNvPicPr>
          <p:nvPr/>
        </p:nvPicPr>
        <p:blipFill>
          <a:blip r:embed="rId2" cstate="print"/>
          <a:srcRect/>
          <a:stretch>
            <a:fillRect/>
          </a:stretch>
        </p:blipFill>
        <p:spPr bwMode="auto">
          <a:xfrm>
            <a:off x="322263" y="1146175"/>
            <a:ext cx="8497887" cy="5502275"/>
          </a:xfrm>
          <a:prstGeom prst="rect">
            <a:avLst/>
          </a:prstGeom>
          <a:noFill/>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p:cNvSpPr>
            <a:spLocks noGrp="1" noChangeArrowheads="1"/>
          </p:cNvSpPr>
          <p:nvPr>
            <p:ph type="title"/>
          </p:nvPr>
        </p:nvSpPr>
        <p:spPr/>
        <p:txBody>
          <a:bodyPr/>
          <a:lstStyle/>
          <a:p>
            <a:r>
              <a:rPr lang="zh-CN" altLang="en-US">
                <a:latin typeface="Times New Roman" panose="02020603050405020304" pitchFamily="18" charset="0"/>
              </a:rPr>
              <a:t>（一）</a:t>
            </a:r>
            <a:r>
              <a:rPr lang="en-US" altLang="zh-CN">
                <a:latin typeface="Times New Roman" panose="02020603050405020304" pitchFamily="18" charset="0"/>
              </a:rPr>
              <a:t>Cain</a:t>
            </a:r>
            <a:r>
              <a:rPr lang="zh-CN" altLang="en-US">
                <a:latin typeface="Times New Roman" panose="02020603050405020304" pitchFamily="18" charset="0"/>
              </a:rPr>
              <a:t>：导入口令文件</a:t>
            </a:r>
          </a:p>
        </p:txBody>
      </p:sp>
      <p:pic>
        <p:nvPicPr>
          <p:cNvPr id="443396" name="Picture 4" descr="snap"/>
          <p:cNvPicPr>
            <a:picLocks noChangeAspect="1" noChangeArrowheads="1"/>
          </p:cNvPicPr>
          <p:nvPr/>
        </p:nvPicPr>
        <p:blipFill>
          <a:blip r:embed="rId2" cstate="print"/>
          <a:srcRect/>
          <a:stretch>
            <a:fillRect/>
          </a:stretch>
        </p:blipFill>
        <p:spPr bwMode="auto">
          <a:xfrm>
            <a:off x="0" y="1171575"/>
            <a:ext cx="9144000" cy="5327650"/>
          </a:xfrm>
          <a:prstGeom prst="rect">
            <a:avLst/>
          </a:prstGeom>
          <a:noFill/>
        </p:spPr>
      </p:pic>
      <p:sp>
        <p:nvSpPr>
          <p:cNvPr id="443397" name="AutoShape 5"/>
          <p:cNvSpPr/>
          <p:nvPr/>
        </p:nvSpPr>
        <p:spPr bwMode="auto">
          <a:xfrm>
            <a:off x="1395413" y="4195763"/>
            <a:ext cx="1439862" cy="431800"/>
          </a:xfrm>
          <a:prstGeom prst="borderCallout1">
            <a:avLst>
              <a:gd name="adj1" fmla="val 26472"/>
              <a:gd name="adj2" fmla="val 105292"/>
              <a:gd name="adj3" fmla="val -136028"/>
              <a:gd name="adj4" fmla="val 139028"/>
            </a:avLst>
          </a:prstGeom>
          <a:solidFill>
            <a:srgbClr val="CCFFFF"/>
          </a:solidFill>
          <a:ln w="9525">
            <a:solidFill>
              <a:srgbClr val="000000"/>
            </a:solidFill>
            <a:miter lim="800000"/>
          </a:ln>
          <a:effectLst/>
        </p:spPr>
        <p:txBody>
          <a:bodyPr anchor="ctr"/>
          <a:lstStyle/>
          <a:p>
            <a:pPr algn="ctr"/>
            <a:r>
              <a:rPr lang="en-US" altLang="zh-CN" sz="1600" b="1">
                <a:solidFill>
                  <a:srgbClr val="000000"/>
                </a:solidFill>
                <a:ea typeface="黑体" panose="02010609060101010101" pitchFamily="49" charset="-122"/>
              </a:rPr>
              <a:t>LM</a:t>
            </a:r>
            <a:r>
              <a:rPr lang="zh-CN" altLang="en-US" sz="1600" b="1">
                <a:solidFill>
                  <a:srgbClr val="000000"/>
                </a:solidFill>
                <a:ea typeface="黑体" panose="02010609060101010101" pitchFamily="49" charset="-122"/>
              </a:rPr>
              <a:t>密码 </a:t>
            </a:r>
          </a:p>
        </p:txBody>
      </p:sp>
      <p:sp>
        <p:nvSpPr>
          <p:cNvPr id="443398" name="AutoShape 6"/>
          <p:cNvSpPr/>
          <p:nvPr/>
        </p:nvSpPr>
        <p:spPr bwMode="auto">
          <a:xfrm>
            <a:off x="4448175" y="4124325"/>
            <a:ext cx="1060450" cy="431800"/>
          </a:xfrm>
          <a:prstGeom prst="borderCallout1">
            <a:avLst>
              <a:gd name="adj1" fmla="val 26472"/>
              <a:gd name="adj2" fmla="val -7185"/>
              <a:gd name="adj3" fmla="val -239704"/>
              <a:gd name="adj4" fmla="val -7185"/>
            </a:avLst>
          </a:prstGeom>
          <a:solidFill>
            <a:srgbClr val="CCFFFF"/>
          </a:solidFill>
          <a:ln w="9525">
            <a:solidFill>
              <a:srgbClr val="000000"/>
            </a:solidFill>
            <a:miter lim="800000"/>
          </a:ln>
          <a:effectLst/>
        </p:spPr>
        <p:txBody>
          <a:bodyPr anchor="ctr"/>
          <a:lstStyle/>
          <a:p>
            <a:pPr algn="ctr"/>
            <a:r>
              <a:rPr lang="en-US" altLang="zh-CN" sz="1600" b="1">
                <a:solidFill>
                  <a:srgbClr val="000000"/>
                </a:solidFill>
                <a:ea typeface="黑体" panose="02010609060101010101" pitchFamily="49" charset="-122"/>
              </a:rPr>
              <a:t>NT</a:t>
            </a:r>
            <a:r>
              <a:rPr lang="zh-CN" altLang="en-US" sz="1600" b="1">
                <a:solidFill>
                  <a:srgbClr val="000000"/>
                </a:solidFill>
                <a:ea typeface="黑体" panose="02010609060101010101" pitchFamily="49" charset="-122"/>
              </a:rPr>
              <a:t>密码 </a:t>
            </a:r>
          </a:p>
        </p:txBody>
      </p:sp>
      <p:sp>
        <p:nvSpPr>
          <p:cNvPr id="443399" name="AutoShape 7"/>
          <p:cNvSpPr/>
          <p:nvPr/>
        </p:nvSpPr>
        <p:spPr bwMode="auto">
          <a:xfrm>
            <a:off x="1403350" y="4846638"/>
            <a:ext cx="2305050" cy="717550"/>
          </a:xfrm>
          <a:prstGeom prst="borderCallout1">
            <a:avLst>
              <a:gd name="adj1" fmla="val 15931"/>
              <a:gd name="adj2" fmla="val 103306"/>
              <a:gd name="adj3" fmla="val -262389"/>
              <a:gd name="adj4" fmla="val 110745"/>
            </a:avLst>
          </a:prstGeom>
          <a:solidFill>
            <a:srgbClr val="CCFFFF"/>
          </a:solidFill>
          <a:ln w="9525">
            <a:solidFill>
              <a:srgbClr val="000000"/>
            </a:solidFill>
            <a:miter lim="800000"/>
          </a:ln>
          <a:effectLst/>
        </p:spPr>
        <p:txBody>
          <a:bodyPr anchor="ctr"/>
          <a:lstStyle/>
          <a:p>
            <a:pPr algn="ctr"/>
            <a:r>
              <a:rPr lang="zh-CN" altLang="en-US" sz="1600" b="1">
                <a:solidFill>
                  <a:srgbClr val="000000"/>
                </a:solidFill>
                <a:ea typeface="黑体" panose="02010609060101010101" pitchFamily="49" charset="-122"/>
              </a:rPr>
              <a:t>密码是否小于</a:t>
            </a:r>
            <a:r>
              <a:rPr lang="en-US" altLang="zh-CN" sz="1600" b="1">
                <a:solidFill>
                  <a:srgbClr val="000000"/>
                </a:solidFill>
                <a:ea typeface="黑体" panose="02010609060101010101" pitchFamily="49" charset="-122"/>
              </a:rPr>
              <a:t>8</a:t>
            </a:r>
            <a:r>
              <a:rPr lang="zh-CN" altLang="en-US" sz="1600" b="1">
                <a:solidFill>
                  <a:srgbClr val="000000"/>
                </a:solidFill>
                <a:ea typeface="黑体" panose="02010609060101010101" pitchFamily="49" charset="-122"/>
              </a:rPr>
              <a:t>位，</a:t>
            </a:r>
            <a:r>
              <a:rPr lang="en-US" altLang="zh-CN" sz="1600" b="1">
                <a:solidFill>
                  <a:srgbClr val="000000"/>
                </a:solidFill>
                <a:ea typeface="黑体" panose="02010609060101010101" pitchFamily="49" charset="-122"/>
              </a:rPr>
              <a:t>*</a:t>
            </a:r>
            <a:r>
              <a:rPr lang="zh-CN" altLang="en-US" sz="1600" b="1">
                <a:solidFill>
                  <a:srgbClr val="000000"/>
                </a:solidFill>
                <a:ea typeface="黑体" panose="02010609060101010101" pitchFamily="49" charset="-122"/>
              </a:rPr>
              <a:t>表示小于</a:t>
            </a:r>
            <a:r>
              <a:rPr lang="en-US" altLang="zh-CN" sz="1600" b="1">
                <a:solidFill>
                  <a:srgbClr val="000000"/>
                </a:solidFill>
                <a:ea typeface="黑体" panose="02010609060101010101" pitchFamily="49" charset="-122"/>
              </a:rPr>
              <a:t>8</a:t>
            </a:r>
            <a:r>
              <a:rPr lang="zh-CN" altLang="en-US" sz="1600" b="1">
                <a:solidFill>
                  <a:srgbClr val="000000"/>
                </a:solidFill>
                <a:ea typeface="黑体" panose="02010609060101010101" pitchFamily="49" charset="-122"/>
              </a:rPr>
              <a:t>位，容易破解 </a:t>
            </a:r>
            <a:endParaRPr lang="en-US" altLang="zh-CN" sz="1600" b="1">
              <a:solidFill>
                <a:srgbClr val="000000"/>
              </a:solidFill>
              <a:ea typeface="黑体" panose="02010609060101010101" pitchFamily="49" charset="-122"/>
            </a:endParaRPr>
          </a:p>
        </p:txBody>
      </p:sp>
      <p:sp>
        <p:nvSpPr>
          <p:cNvPr id="443400" name="AutoShape 8"/>
          <p:cNvSpPr/>
          <p:nvPr/>
        </p:nvSpPr>
        <p:spPr bwMode="auto">
          <a:xfrm>
            <a:off x="6300788" y="4124325"/>
            <a:ext cx="1439862" cy="431800"/>
          </a:xfrm>
          <a:prstGeom prst="borderCallout1">
            <a:avLst>
              <a:gd name="adj1" fmla="val 26472"/>
              <a:gd name="adj2" fmla="val -5292"/>
              <a:gd name="adj3" fmla="val -142648"/>
              <a:gd name="adj4" fmla="val -18963"/>
            </a:avLst>
          </a:prstGeom>
          <a:solidFill>
            <a:srgbClr val="CCFFFF"/>
          </a:solidFill>
          <a:ln w="9525">
            <a:solidFill>
              <a:srgbClr val="000000"/>
            </a:solidFill>
            <a:miter lim="800000"/>
          </a:ln>
          <a:effectLst/>
        </p:spPr>
        <p:txBody>
          <a:bodyPr anchor="ctr"/>
          <a:lstStyle/>
          <a:p>
            <a:pPr algn="ctr"/>
            <a:r>
              <a:rPr lang="en-US" altLang="zh-CN" sz="1600" b="1">
                <a:solidFill>
                  <a:srgbClr val="000000"/>
                </a:solidFill>
                <a:ea typeface="黑体" panose="02010609060101010101" pitchFamily="49" charset="-122"/>
              </a:rPr>
              <a:t>LM</a:t>
            </a:r>
            <a:r>
              <a:rPr lang="zh-CN" altLang="en-US" sz="1600" b="1">
                <a:solidFill>
                  <a:srgbClr val="000000"/>
                </a:solidFill>
                <a:ea typeface="黑体" panose="02010609060101010101" pitchFamily="49" charset="-122"/>
              </a:rPr>
              <a:t>密码表示 </a:t>
            </a:r>
          </a:p>
        </p:txBody>
      </p:sp>
      <p:sp>
        <p:nvSpPr>
          <p:cNvPr id="443401" name="AutoShape 9"/>
          <p:cNvSpPr/>
          <p:nvPr/>
        </p:nvSpPr>
        <p:spPr bwMode="auto">
          <a:xfrm>
            <a:off x="7885113" y="4124325"/>
            <a:ext cx="1079500" cy="431800"/>
          </a:xfrm>
          <a:prstGeom prst="borderCallout1">
            <a:avLst>
              <a:gd name="adj1" fmla="val 26472"/>
              <a:gd name="adj2" fmla="val -7060"/>
              <a:gd name="adj3" fmla="val -157722"/>
              <a:gd name="adj4" fmla="val -57796"/>
            </a:avLst>
          </a:prstGeom>
          <a:solidFill>
            <a:srgbClr val="CCFFFF"/>
          </a:solidFill>
          <a:ln w="9525">
            <a:solidFill>
              <a:srgbClr val="000000"/>
            </a:solidFill>
            <a:miter lim="800000"/>
          </a:ln>
          <a:effectLst/>
        </p:spPr>
        <p:txBody>
          <a:bodyPr anchor="ctr"/>
          <a:lstStyle/>
          <a:p>
            <a:pPr algn="ctr"/>
            <a:r>
              <a:rPr lang="en-US" altLang="zh-CN" sz="1600" b="1">
                <a:solidFill>
                  <a:srgbClr val="000000"/>
                </a:solidFill>
                <a:ea typeface="黑体" panose="02010609060101010101" pitchFamily="49" charset="-122"/>
              </a:rPr>
              <a:t>NT</a:t>
            </a:r>
            <a:r>
              <a:rPr lang="zh-CN" altLang="en-US" sz="1600" b="1">
                <a:solidFill>
                  <a:srgbClr val="000000"/>
                </a:solidFill>
                <a:ea typeface="黑体" panose="02010609060101010101" pitchFamily="49" charset="-122"/>
              </a:rPr>
              <a:t>哈希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43397"/>
                                        </p:tgtEl>
                                        <p:attrNameLst>
                                          <p:attrName>style.visibility</p:attrName>
                                        </p:attrNameLst>
                                      </p:cBhvr>
                                      <p:to>
                                        <p:strVal val="visible"/>
                                      </p:to>
                                    </p:set>
                                    <p:animEffect transition="in" filter="slide(fromLeft)">
                                      <p:cBhvr>
                                        <p:cTn id="7" dur="500"/>
                                        <p:tgtEl>
                                          <p:spTgt spid="44339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443398"/>
                                        </p:tgtEl>
                                        <p:attrNameLst>
                                          <p:attrName>style.visibility</p:attrName>
                                        </p:attrNameLst>
                                      </p:cBhvr>
                                      <p:to>
                                        <p:strVal val="visible"/>
                                      </p:to>
                                    </p:set>
                                    <p:animEffect transition="in" filter="slide(fromLeft)">
                                      <p:cBhvr>
                                        <p:cTn id="12" dur="500"/>
                                        <p:tgtEl>
                                          <p:spTgt spid="44339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443399"/>
                                        </p:tgtEl>
                                        <p:attrNameLst>
                                          <p:attrName>style.visibility</p:attrName>
                                        </p:attrNameLst>
                                      </p:cBhvr>
                                      <p:to>
                                        <p:strVal val="visible"/>
                                      </p:to>
                                    </p:set>
                                    <p:animEffect transition="in" filter="slide(fromLeft)">
                                      <p:cBhvr>
                                        <p:cTn id="17" dur="500"/>
                                        <p:tgtEl>
                                          <p:spTgt spid="44339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443400"/>
                                        </p:tgtEl>
                                        <p:attrNameLst>
                                          <p:attrName>style.visibility</p:attrName>
                                        </p:attrNameLst>
                                      </p:cBhvr>
                                      <p:to>
                                        <p:strVal val="visible"/>
                                      </p:to>
                                    </p:set>
                                    <p:animEffect transition="in" filter="slide(fromLeft)">
                                      <p:cBhvr>
                                        <p:cTn id="22" dur="500"/>
                                        <p:tgtEl>
                                          <p:spTgt spid="443400"/>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443401"/>
                                        </p:tgtEl>
                                        <p:attrNameLst>
                                          <p:attrName>style.visibility</p:attrName>
                                        </p:attrNameLst>
                                      </p:cBhvr>
                                      <p:to>
                                        <p:strVal val="visible"/>
                                      </p:to>
                                    </p:set>
                                    <p:animEffect transition="in" filter="slide(fromLeft)">
                                      <p:cBhvr>
                                        <p:cTn id="27" dur="500"/>
                                        <p:tgtEl>
                                          <p:spTgt spid="443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7" grpId="0" animBg="1"/>
      <p:bldP spid="443398" grpId="0" animBg="1"/>
      <p:bldP spid="443399" grpId="0" animBg="1"/>
      <p:bldP spid="443400" grpId="0" animBg="1"/>
      <p:bldP spid="443401"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r>
              <a:rPr lang="zh-CN" altLang="en-US">
                <a:latin typeface="Times New Roman" panose="02020603050405020304" pitchFamily="18" charset="0"/>
              </a:rPr>
              <a:t>（一）</a:t>
            </a:r>
            <a:r>
              <a:rPr lang="en-US" altLang="zh-CN">
                <a:latin typeface="Times New Roman" panose="02020603050405020304" pitchFamily="18" charset="0"/>
              </a:rPr>
              <a:t>Cain</a:t>
            </a:r>
            <a:r>
              <a:rPr lang="zh-CN" altLang="en-US">
                <a:latin typeface="Times New Roman" panose="02020603050405020304" pitchFamily="18" charset="0"/>
              </a:rPr>
              <a:t>：口令破解</a:t>
            </a:r>
            <a:endParaRPr lang="en-US" altLang="zh-CN">
              <a:latin typeface="Times New Roman" panose="02020603050405020304" pitchFamily="18" charset="0"/>
            </a:endParaRPr>
          </a:p>
        </p:txBody>
      </p:sp>
      <p:pic>
        <p:nvPicPr>
          <p:cNvPr id="446468" name="Picture 4" descr="snap"/>
          <p:cNvPicPr>
            <a:picLocks noChangeAspect="1" noChangeArrowheads="1"/>
          </p:cNvPicPr>
          <p:nvPr/>
        </p:nvPicPr>
        <p:blipFill>
          <a:blip r:embed="rId2" cstate="print"/>
          <a:srcRect/>
          <a:stretch>
            <a:fillRect/>
          </a:stretch>
        </p:blipFill>
        <p:spPr bwMode="auto">
          <a:xfrm>
            <a:off x="53975" y="1276350"/>
            <a:ext cx="9097963" cy="5049838"/>
          </a:xfrm>
          <a:prstGeom prst="rect">
            <a:avLst/>
          </a:prstGeom>
          <a:noFill/>
        </p:spPr>
      </p:pic>
      <p:sp>
        <p:nvSpPr>
          <p:cNvPr id="446469" name="AutoShape 5"/>
          <p:cNvSpPr/>
          <p:nvPr/>
        </p:nvSpPr>
        <p:spPr bwMode="auto">
          <a:xfrm>
            <a:off x="5003800" y="2654300"/>
            <a:ext cx="1439863" cy="431800"/>
          </a:xfrm>
          <a:prstGeom prst="borderCallout1">
            <a:avLst>
              <a:gd name="adj1" fmla="val 26472"/>
              <a:gd name="adj2" fmla="val -5292"/>
              <a:gd name="adj3" fmla="val 150736"/>
              <a:gd name="adj4" fmla="val -77398"/>
            </a:avLst>
          </a:prstGeom>
          <a:solidFill>
            <a:srgbClr val="CCFFFF"/>
          </a:solidFill>
          <a:ln w="9525">
            <a:solidFill>
              <a:srgbClr val="000000"/>
            </a:solidFill>
            <a:miter lim="800000"/>
          </a:ln>
          <a:effectLst/>
        </p:spPr>
        <p:txBody>
          <a:bodyPr anchor="ctr"/>
          <a:lstStyle/>
          <a:p>
            <a:pPr algn="ctr"/>
            <a:r>
              <a:rPr lang="zh-CN" altLang="en-US" sz="1600" b="1">
                <a:solidFill>
                  <a:srgbClr val="000000"/>
                </a:solidFill>
                <a:ea typeface="黑体" panose="02010609060101010101" pitchFamily="49" charset="-122"/>
              </a:rPr>
              <a:t>字典破解</a:t>
            </a:r>
            <a:endParaRPr lang="en-US" altLang="zh-CN" sz="1600" b="1">
              <a:solidFill>
                <a:srgbClr val="000000"/>
              </a:solidFill>
              <a:ea typeface="黑体" panose="02010609060101010101" pitchFamily="49" charset="-122"/>
            </a:endParaRPr>
          </a:p>
        </p:txBody>
      </p:sp>
      <p:sp>
        <p:nvSpPr>
          <p:cNvPr id="446470" name="AutoShape 6"/>
          <p:cNvSpPr/>
          <p:nvPr/>
        </p:nvSpPr>
        <p:spPr bwMode="auto">
          <a:xfrm>
            <a:off x="5003800" y="3733800"/>
            <a:ext cx="1439863" cy="431800"/>
          </a:xfrm>
          <a:prstGeom prst="borderCallout1">
            <a:avLst>
              <a:gd name="adj1" fmla="val 26472"/>
              <a:gd name="adj2" fmla="val -5292"/>
              <a:gd name="adj3" fmla="val -32352"/>
              <a:gd name="adj4" fmla="val -90630"/>
            </a:avLst>
          </a:prstGeom>
          <a:solidFill>
            <a:srgbClr val="CCFFFF"/>
          </a:solidFill>
          <a:ln w="9525">
            <a:solidFill>
              <a:srgbClr val="000000"/>
            </a:solidFill>
            <a:miter lim="800000"/>
          </a:ln>
          <a:effectLst/>
        </p:spPr>
        <p:txBody>
          <a:bodyPr anchor="ctr"/>
          <a:lstStyle/>
          <a:p>
            <a:pPr algn="ctr"/>
            <a:r>
              <a:rPr lang="zh-CN" altLang="en-US" sz="1600" b="1">
                <a:solidFill>
                  <a:srgbClr val="000000"/>
                </a:solidFill>
                <a:ea typeface="黑体" panose="02010609060101010101" pitchFamily="49" charset="-122"/>
              </a:rPr>
              <a:t>暴力破解</a:t>
            </a:r>
            <a:endParaRPr lang="en-US" altLang="zh-CN" sz="1600" b="1">
              <a:solidFill>
                <a:srgbClr val="00000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46469"/>
                                        </p:tgtEl>
                                        <p:attrNameLst>
                                          <p:attrName>style.visibility</p:attrName>
                                        </p:attrNameLst>
                                      </p:cBhvr>
                                      <p:to>
                                        <p:strVal val="visible"/>
                                      </p:to>
                                    </p:set>
                                    <p:animEffect transition="in" filter="slide(fromLeft)">
                                      <p:cBhvr>
                                        <p:cTn id="7" dur="500"/>
                                        <p:tgtEl>
                                          <p:spTgt spid="44646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446470"/>
                                        </p:tgtEl>
                                        <p:attrNameLst>
                                          <p:attrName>style.visibility</p:attrName>
                                        </p:attrNameLst>
                                      </p:cBhvr>
                                      <p:to>
                                        <p:strVal val="visible"/>
                                      </p:to>
                                    </p:set>
                                    <p:animEffect transition="in" filter="slide(fromLeft)">
                                      <p:cBhvr>
                                        <p:cTn id="12" dur="500"/>
                                        <p:tgtEl>
                                          <p:spTgt spid="446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69" grpId="0" animBg="1"/>
      <p:bldP spid="446470"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a:xfrm>
            <a:off x="865188" y="158750"/>
            <a:ext cx="7632700" cy="792163"/>
          </a:xfrm>
        </p:spPr>
        <p:txBody>
          <a:bodyPr/>
          <a:lstStyle/>
          <a:p>
            <a:r>
              <a:rPr lang="zh-CN" altLang="en-US" dirty="0">
                <a:latin typeface="Times New Roman" panose="02020603050405020304" pitchFamily="18" charset="0"/>
              </a:rPr>
              <a:t>（二）</a:t>
            </a:r>
            <a:r>
              <a:rPr lang="en-US" altLang="zh-CN" dirty="0">
                <a:latin typeface="Times New Roman" panose="02020603050405020304" pitchFamily="18" charset="0"/>
              </a:rPr>
              <a:t>Pwdump4</a:t>
            </a:r>
            <a:r>
              <a:rPr lang="zh-CN" altLang="en-US" dirty="0">
                <a:latin typeface="Times New Roman" panose="02020603050405020304" pitchFamily="18" charset="0"/>
              </a:rPr>
              <a:t>：获取</a:t>
            </a:r>
            <a:r>
              <a:rPr lang="en-US" altLang="zh-CN" dirty="0">
                <a:latin typeface="Times New Roman" panose="02020603050405020304" pitchFamily="18" charset="0"/>
              </a:rPr>
              <a:t>SAM</a:t>
            </a:r>
          </a:p>
        </p:txBody>
      </p:sp>
      <p:pic>
        <p:nvPicPr>
          <p:cNvPr id="444420" name="Picture 4" descr="snap"/>
          <p:cNvPicPr>
            <a:picLocks noChangeAspect="1" noChangeArrowheads="1"/>
          </p:cNvPicPr>
          <p:nvPr/>
        </p:nvPicPr>
        <p:blipFill>
          <a:blip r:embed="rId2" cstate="print"/>
          <a:srcRect/>
          <a:stretch>
            <a:fillRect/>
          </a:stretch>
        </p:blipFill>
        <p:spPr bwMode="auto">
          <a:xfrm>
            <a:off x="179388" y="1233488"/>
            <a:ext cx="8604250" cy="5148262"/>
          </a:xfrm>
          <a:prstGeom prst="rect">
            <a:avLst/>
          </a:prstGeom>
          <a:noFill/>
        </p:spPr>
      </p:pic>
      <p:sp>
        <p:nvSpPr>
          <p:cNvPr id="444421" name="Rectangle 5"/>
          <p:cNvSpPr>
            <a:spLocks noChangeArrowheads="1"/>
          </p:cNvSpPr>
          <p:nvPr/>
        </p:nvSpPr>
        <p:spPr bwMode="auto">
          <a:xfrm>
            <a:off x="1331913" y="3789363"/>
            <a:ext cx="2232025" cy="287337"/>
          </a:xfrm>
          <a:prstGeom prst="rect">
            <a:avLst/>
          </a:prstGeom>
          <a:noFill/>
          <a:ln w="9525">
            <a:solidFill>
              <a:srgbClr val="FF0000"/>
            </a:solidFill>
            <a:miter lim="800000"/>
          </a:ln>
          <a:effectLst/>
        </p:spPr>
        <p:txBody>
          <a:bodyPr wrap="none" anchor="ctr"/>
          <a:lstStyle/>
          <a:p>
            <a:endParaRPr lang="zh-CN" altLang="en-US"/>
          </a:p>
        </p:txBody>
      </p:sp>
      <p:sp>
        <p:nvSpPr>
          <p:cNvPr id="444422" name="Text Box 6"/>
          <p:cNvSpPr txBox="1">
            <a:spLocks noChangeArrowheads="1"/>
          </p:cNvSpPr>
          <p:nvPr/>
        </p:nvSpPr>
        <p:spPr bwMode="auto">
          <a:xfrm>
            <a:off x="3708400" y="3744913"/>
            <a:ext cx="4095750" cy="366712"/>
          </a:xfrm>
          <a:prstGeom prst="rect">
            <a:avLst/>
          </a:prstGeom>
          <a:noFill/>
          <a:ln w="9525">
            <a:noFill/>
            <a:miter lim="800000"/>
          </a:ln>
          <a:effectLst/>
        </p:spPr>
        <p:txBody>
          <a:bodyPr wrap="none">
            <a:spAutoFit/>
          </a:bodyPr>
          <a:lstStyle/>
          <a:p>
            <a:r>
              <a:rPr lang="zh-CN" altLang="en-US" b="1">
                <a:solidFill>
                  <a:srgbClr val="FF3300"/>
                </a:solidFill>
                <a:ea typeface="宋体" panose="02010600030101010101" pitchFamily="2" charset="-122"/>
              </a:rPr>
              <a:t>将本机的</a:t>
            </a:r>
            <a:r>
              <a:rPr lang="en-US" altLang="zh-CN" b="1">
                <a:solidFill>
                  <a:srgbClr val="FF3300"/>
                </a:solidFill>
                <a:ea typeface="宋体" panose="02010600030101010101" pitchFamily="2" charset="-122"/>
              </a:rPr>
              <a:t>sam</a:t>
            </a:r>
            <a:r>
              <a:rPr lang="zh-CN" altLang="en-US" b="1">
                <a:solidFill>
                  <a:srgbClr val="FF3300"/>
                </a:solidFill>
                <a:ea typeface="宋体" panose="02010600030101010101" pitchFamily="2" charset="-122"/>
              </a:rPr>
              <a:t>信息导出到</a:t>
            </a:r>
            <a:r>
              <a:rPr lang="en-US" altLang="zh-CN" b="1">
                <a:solidFill>
                  <a:srgbClr val="FF3300"/>
                </a:solidFill>
                <a:ea typeface="宋体" panose="02010600030101010101" pitchFamily="2" charset="-122"/>
              </a:rPr>
              <a:t>a.sam</a:t>
            </a:r>
            <a:r>
              <a:rPr lang="zh-CN" altLang="en-US" b="1">
                <a:solidFill>
                  <a:srgbClr val="FF3300"/>
                </a:solidFill>
                <a:ea typeface="宋体" panose="02010600030101010101" pitchFamily="2" charset="-122"/>
              </a:rPr>
              <a:t>文件中</a:t>
            </a:r>
            <a:r>
              <a:rPr lang="zh-CN" altLang="en-US" b="1">
                <a:solidFill>
                  <a:srgbClr val="0000FF"/>
                </a:solidFill>
                <a:ea typeface="宋体" panose="02010600030101010101" pitchFamily="2" charset="-122"/>
              </a:rPr>
              <a:t> </a:t>
            </a:r>
            <a:endParaRPr lang="en-US" altLang="zh-CN" b="1">
              <a:solidFill>
                <a:srgbClr val="0000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44421"/>
                                        </p:tgtEl>
                                        <p:attrNameLst>
                                          <p:attrName>style.visibility</p:attrName>
                                        </p:attrNameLst>
                                      </p:cBhvr>
                                      <p:to>
                                        <p:strVal val="visible"/>
                                      </p:to>
                                    </p:set>
                                    <p:anim calcmode="lin" valueType="num">
                                      <p:cBhvr>
                                        <p:cTn id="7" dur="500" fill="hold"/>
                                        <p:tgtEl>
                                          <p:spTgt spid="444421"/>
                                        </p:tgtEl>
                                        <p:attrNameLst>
                                          <p:attrName>ppt_w</p:attrName>
                                        </p:attrNameLst>
                                      </p:cBhvr>
                                      <p:tavLst>
                                        <p:tav tm="0">
                                          <p:val>
                                            <p:fltVal val="0"/>
                                          </p:val>
                                        </p:tav>
                                        <p:tav tm="100000">
                                          <p:val>
                                            <p:strVal val="#ppt_w"/>
                                          </p:val>
                                        </p:tav>
                                      </p:tavLst>
                                    </p:anim>
                                    <p:anim calcmode="lin" valueType="num">
                                      <p:cBhvr>
                                        <p:cTn id="8" dur="500" fill="hold"/>
                                        <p:tgtEl>
                                          <p:spTgt spid="444421"/>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44422"/>
                                        </p:tgtEl>
                                        <p:attrNameLst>
                                          <p:attrName>style.visibility</p:attrName>
                                        </p:attrNameLst>
                                      </p:cBhvr>
                                      <p:to>
                                        <p:strVal val="visible"/>
                                      </p:to>
                                    </p:set>
                                    <p:anim calcmode="lin" valueType="num">
                                      <p:cBhvr additive="base">
                                        <p:cTn id="13" dur="500" fill="hold"/>
                                        <p:tgtEl>
                                          <p:spTgt spid="444422"/>
                                        </p:tgtEl>
                                        <p:attrNameLst>
                                          <p:attrName>ppt_x</p:attrName>
                                        </p:attrNameLst>
                                      </p:cBhvr>
                                      <p:tavLst>
                                        <p:tav tm="0">
                                          <p:val>
                                            <p:strVal val="1+#ppt_w/2"/>
                                          </p:val>
                                        </p:tav>
                                        <p:tav tm="100000">
                                          <p:val>
                                            <p:strVal val="#ppt_x"/>
                                          </p:val>
                                        </p:tav>
                                      </p:tavLst>
                                    </p:anim>
                                    <p:anim calcmode="lin" valueType="num">
                                      <p:cBhvr additive="base">
                                        <p:cTn id="14" dur="500" fill="hold"/>
                                        <p:tgtEl>
                                          <p:spTgt spid="4444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21" grpId="0" animBg="1"/>
      <p:bldP spid="444422"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p:txBody>
          <a:bodyPr/>
          <a:lstStyle/>
          <a:p>
            <a:r>
              <a:rPr lang="zh-CN" altLang="en-US">
                <a:latin typeface="Times New Roman" panose="02020603050405020304" pitchFamily="18" charset="0"/>
              </a:rPr>
              <a:t>（二）</a:t>
            </a:r>
            <a:r>
              <a:rPr lang="en-US" altLang="zh-CN">
                <a:latin typeface="Times New Roman" panose="02020603050405020304" pitchFamily="18" charset="0"/>
              </a:rPr>
              <a:t>Pwdump4</a:t>
            </a:r>
            <a:r>
              <a:rPr lang="zh-CN" altLang="en-US">
                <a:latin typeface="Times New Roman" panose="02020603050405020304" pitchFamily="18" charset="0"/>
              </a:rPr>
              <a:t>：使用方法</a:t>
            </a:r>
            <a:endParaRPr lang="en-US" altLang="zh-CN">
              <a:latin typeface="Times New Roman" panose="02020603050405020304" pitchFamily="18" charset="0"/>
            </a:endParaRPr>
          </a:p>
        </p:txBody>
      </p:sp>
      <p:sp>
        <p:nvSpPr>
          <p:cNvPr id="455683" name="Rectangle 3"/>
          <p:cNvSpPr>
            <a:spLocks noGrp="1" noChangeArrowheads="1"/>
          </p:cNvSpPr>
          <p:nvPr>
            <p:ph type="body" idx="1"/>
          </p:nvPr>
        </p:nvSpPr>
        <p:spPr>
          <a:xfrm>
            <a:off x="750253" y="1356042"/>
            <a:ext cx="7772400" cy="4831397"/>
          </a:xfrm>
        </p:spPr>
        <p:txBody>
          <a:bodyPr/>
          <a:lstStyle/>
          <a:p>
            <a:pPr>
              <a:lnSpc>
                <a:spcPts val="4200"/>
              </a:lnSpc>
              <a:buFont typeface="Wingdings" panose="05000000000000000000" pitchFamily="2" charset="2"/>
              <a:buNone/>
            </a:pPr>
            <a:r>
              <a:rPr lang="zh-CN" altLang="en-US" dirty="0">
                <a:solidFill>
                  <a:srgbClr val="0000FF"/>
                </a:solidFill>
              </a:rPr>
              <a:t>命令：</a:t>
            </a:r>
          </a:p>
          <a:p>
            <a:pPr>
              <a:lnSpc>
                <a:spcPts val="4200"/>
              </a:lnSpc>
              <a:buFont typeface="Wingdings" panose="05000000000000000000" pitchFamily="2" charset="2"/>
              <a:buNone/>
            </a:pPr>
            <a:r>
              <a:rPr lang="en-US" altLang="zh-CN" dirty="0"/>
              <a:t>    </a:t>
            </a:r>
            <a:r>
              <a:rPr lang="en-US" altLang="zh-CN" sz="2400" dirty="0"/>
              <a:t>PWDUMP4 [Target|/l][/s:share][/o:outputFile] [/u:userName]</a:t>
            </a:r>
          </a:p>
          <a:p>
            <a:pPr>
              <a:lnSpc>
                <a:spcPts val="4200"/>
              </a:lnSpc>
              <a:buFont typeface="Wingdings" panose="05000000000000000000" pitchFamily="2" charset="2"/>
              <a:buNone/>
            </a:pPr>
            <a:r>
              <a:rPr lang="zh-CN" altLang="en-US" dirty="0">
                <a:solidFill>
                  <a:srgbClr val="0000FF"/>
                </a:solidFill>
              </a:rPr>
              <a:t>说明：</a:t>
            </a:r>
            <a:br>
              <a:rPr lang="zh-CN" altLang="en-US" dirty="0">
                <a:solidFill>
                  <a:srgbClr val="0000FF"/>
                </a:solidFill>
              </a:rPr>
            </a:br>
            <a:r>
              <a:rPr lang="en-US" altLang="zh-CN" sz="2400" dirty="0"/>
              <a:t>[Target]</a:t>
            </a:r>
            <a:r>
              <a:rPr lang="zh-CN" altLang="en-US" sz="2400" dirty="0"/>
              <a:t>：标计算机的名称或者</a:t>
            </a:r>
            <a:r>
              <a:rPr lang="en-US" altLang="zh-CN" sz="2400" dirty="0" err="1"/>
              <a:t>ip</a:t>
            </a:r>
            <a:r>
              <a:rPr lang="zh-CN" altLang="en-US" sz="2400" dirty="0"/>
              <a:t>地址</a:t>
            </a:r>
            <a:br>
              <a:rPr lang="zh-CN" altLang="en-US" sz="2400" dirty="0"/>
            </a:br>
            <a:r>
              <a:rPr lang="en-US" altLang="zh-CN" sz="2400" dirty="0"/>
              <a:t>[/l]</a:t>
            </a:r>
            <a:r>
              <a:rPr lang="zh-CN" altLang="en-US" sz="2400" dirty="0"/>
              <a:t>：在本地机器上运行</a:t>
            </a:r>
            <a:br>
              <a:rPr lang="zh-CN" altLang="en-US" sz="2400" dirty="0"/>
            </a:br>
            <a:r>
              <a:rPr lang="en-US" altLang="zh-CN" sz="2400" dirty="0"/>
              <a:t>[/s:share]</a:t>
            </a:r>
            <a:r>
              <a:rPr lang="zh-CN" altLang="en-US" sz="2400" dirty="0"/>
              <a:t>：用来共享文件</a:t>
            </a:r>
            <a:br>
              <a:rPr lang="zh-CN" altLang="en-US" sz="2400" dirty="0"/>
            </a:br>
            <a:r>
              <a:rPr lang="en-US" altLang="zh-CN" sz="2400" dirty="0"/>
              <a:t>[/o:outputFile]</a:t>
            </a:r>
            <a:r>
              <a:rPr lang="zh-CN" altLang="en-US" sz="2400" dirty="0"/>
              <a:t>：将</a:t>
            </a:r>
            <a:r>
              <a:rPr lang="en-US" altLang="zh-CN" sz="2400" dirty="0"/>
              <a:t>SAM</a:t>
            </a:r>
            <a:r>
              <a:rPr lang="zh-CN" altLang="en-US" sz="2400" dirty="0"/>
              <a:t>文件输出到给定的文件中。</a:t>
            </a:r>
            <a:br>
              <a:rPr lang="zh-CN" altLang="en-US" sz="2400" dirty="0"/>
            </a:br>
            <a:r>
              <a:rPr lang="en-US" altLang="zh-CN" sz="2400" dirty="0"/>
              <a:t>[/u:userName]</a:t>
            </a:r>
            <a:r>
              <a:rPr lang="zh-CN" altLang="en-US" sz="2400" dirty="0"/>
              <a:t>：使用用户名和密码登录远程计算机。</a:t>
            </a:r>
            <a:r>
              <a:rPr lang="zh-CN" altLang="en-US" dirty="0"/>
              <a:t/>
            </a:r>
            <a:br>
              <a:rPr lang="zh-CN" altLang="en-US" dirty="0"/>
            </a:b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55683">
                                            <p:txEl>
                                              <p:pRg st="0" end="0"/>
                                            </p:txEl>
                                          </p:spTgt>
                                        </p:tgtEl>
                                        <p:attrNameLst>
                                          <p:attrName>style.visibility</p:attrName>
                                        </p:attrNameLst>
                                      </p:cBhvr>
                                      <p:to>
                                        <p:strVal val="visible"/>
                                      </p:to>
                                    </p:set>
                                    <p:anim calcmode="lin" valueType="num">
                                      <p:cBhvr additive="base">
                                        <p:cTn id="7" dur="500" fill="hold"/>
                                        <p:tgtEl>
                                          <p:spTgt spid="4556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568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55683">
                                            <p:txEl>
                                              <p:pRg st="1" end="1"/>
                                            </p:txEl>
                                          </p:spTgt>
                                        </p:tgtEl>
                                        <p:attrNameLst>
                                          <p:attrName>style.visibility</p:attrName>
                                        </p:attrNameLst>
                                      </p:cBhvr>
                                      <p:to>
                                        <p:strVal val="visible"/>
                                      </p:to>
                                    </p:set>
                                    <p:anim calcmode="lin" valueType="num">
                                      <p:cBhvr additive="base">
                                        <p:cTn id="11" dur="500" fill="hold"/>
                                        <p:tgtEl>
                                          <p:spTgt spid="45568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5568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55683">
                                            <p:txEl>
                                              <p:pRg st="2" end="2"/>
                                            </p:txEl>
                                          </p:spTgt>
                                        </p:tgtEl>
                                        <p:attrNameLst>
                                          <p:attrName>style.visibility</p:attrName>
                                        </p:attrNameLst>
                                      </p:cBhvr>
                                      <p:to>
                                        <p:strVal val="visible"/>
                                      </p:to>
                                    </p:set>
                                    <p:anim calcmode="lin" valueType="num">
                                      <p:cBhvr additive="base">
                                        <p:cTn id="15" dur="500" fill="hold"/>
                                        <p:tgtEl>
                                          <p:spTgt spid="45568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5568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r>
              <a:rPr lang="zh-CN" altLang="en-US">
                <a:latin typeface="Times New Roman" panose="02020603050405020304" pitchFamily="18" charset="0"/>
              </a:rPr>
              <a:t>（三）</a:t>
            </a:r>
            <a:r>
              <a:rPr lang="en-US" altLang="zh-CN">
                <a:latin typeface="Times New Roman" panose="02020603050405020304" pitchFamily="18" charset="0"/>
              </a:rPr>
              <a:t>LC5</a:t>
            </a:r>
            <a:r>
              <a:rPr lang="zh-CN" altLang="en-US">
                <a:latin typeface="Times New Roman" panose="02020603050405020304" pitchFamily="18" charset="0"/>
              </a:rPr>
              <a:t>：导入密码表示</a:t>
            </a:r>
            <a:endParaRPr lang="en-US" altLang="zh-CN">
              <a:latin typeface="Times New Roman" panose="02020603050405020304" pitchFamily="18" charset="0"/>
            </a:endParaRPr>
          </a:p>
        </p:txBody>
      </p:sp>
      <p:pic>
        <p:nvPicPr>
          <p:cNvPr id="447492" name="Picture 4" descr="snap"/>
          <p:cNvPicPr>
            <a:picLocks noChangeAspect="1" noChangeArrowheads="1"/>
          </p:cNvPicPr>
          <p:nvPr/>
        </p:nvPicPr>
        <p:blipFill>
          <a:blip r:embed="rId3" cstate="print"/>
          <a:srcRect/>
          <a:stretch>
            <a:fillRect/>
          </a:stretch>
        </p:blipFill>
        <p:spPr bwMode="auto">
          <a:xfrm>
            <a:off x="0" y="1162051"/>
            <a:ext cx="9144000" cy="5210174"/>
          </a:xfrm>
          <a:prstGeom prst="rect">
            <a:avLst/>
          </a:prstGeom>
          <a:noFill/>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p:txBody>
          <a:bodyPr/>
          <a:lstStyle/>
          <a:p>
            <a:r>
              <a:rPr lang="zh-CN" altLang="en-US">
                <a:latin typeface="Times New Roman" panose="02020603050405020304" pitchFamily="18" charset="0"/>
              </a:rPr>
              <a:t>（三）</a:t>
            </a:r>
            <a:r>
              <a:rPr lang="en-US" altLang="zh-CN">
                <a:latin typeface="Times New Roman" panose="02020603050405020304" pitchFamily="18" charset="0"/>
              </a:rPr>
              <a:t>LC5</a:t>
            </a:r>
            <a:r>
              <a:rPr lang="zh-CN" altLang="en-US">
                <a:latin typeface="Times New Roman" panose="02020603050405020304" pitchFamily="18" charset="0"/>
              </a:rPr>
              <a:t>：密码破解</a:t>
            </a:r>
            <a:endParaRPr lang="en-US" altLang="zh-CN">
              <a:latin typeface="Times New Roman" panose="02020603050405020304" pitchFamily="18" charset="0"/>
            </a:endParaRPr>
          </a:p>
        </p:txBody>
      </p:sp>
      <p:grpSp>
        <p:nvGrpSpPr>
          <p:cNvPr id="10" name="组合 9"/>
          <p:cNvGrpSpPr/>
          <p:nvPr/>
        </p:nvGrpSpPr>
        <p:grpSpPr>
          <a:xfrm>
            <a:off x="14288" y="1209676"/>
            <a:ext cx="9129712" cy="5143500"/>
            <a:chOff x="14288" y="1209676"/>
            <a:chExt cx="9129712" cy="5143500"/>
          </a:xfrm>
        </p:grpSpPr>
        <p:pic>
          <p:nvPicPr>
            <p:cNvPr id="445445" name="Picture 5" descr="snap"/>
            <p:cNvPicPr>
              <a:picLocks noChangeAspect="1" noChangeArrowheads="1"/>
            </p:cNvPicPr>
            <p:nvPr/>
          </p:nvPicPr>
          <p:blipFill>
            <a:blip r:embed="rId2" cstate="print"/>
            <a:srcRect/>
            <a:stretch>
              <a:fillRect/>
            </a:stretch>
          </p:blipFill>
          <p:spPr bwMode="auto">
            <a:xfrm>
              <a:off x="14288" y="1209676"/>
              <a:ext cx="9129712" cy="5143500"/>
            </a:xfrm>
            <a:prstGeom prst="rect">
              <a:avLst/>
            </a:prstGeom>
            <a:noFill/>
          </p:spPr>
        </p:pic>
        <p:sp>
          <p:nvSpPr>
            <p:cNvPr id="445446" name="AutoShape 6"/>
            <p:cNvSpPr/>
            <p:nvPr/>
          </p:nvSpPr>
          <p:spPr bwMode="auto">
            <a:xfrm>
              <a:off x="395288" y="3357563"/>
              <a:ext cx="2305050" cy="717550"/>
            </a:xfrm>
            <a:prstGeom prst="borderCallout1">
              <a:avLst>
                <a:gd name="adj1" fmla="val 2657"/>
                <a:gd name="adj2" fmla="val 98761"/>
                <a:gd name="adj3" fmla="val -116370"/>
                <a:gd name="adj4" fmla="val 108676"/>
              </a:avLst>
            </a:prstGeom>
            <a:solidFill>
              <a:srgbClr val="CCFFFF"/>
            </a:solidFill>
            <a:ln w="9525">
              <a:solidFill>
                <a:srgbClr val="000000"/>
              </a:solidFill>
              <a:miter lim="800000"/>
            </a:ln>
            <a:effectLst/>
          </p:spPr>
          <p:txBody>
            <a:bodyPr anchor="ctr"/>
            <a:lstStyle/>
            <a:p>
              <a:pPr algn="ctr"/>
              <a:r>
                <a:rPr lang="zh-CN" altLang="en-US" sz="1600" b="1" dirty="0">
                  <a:solidFill>
                    <a:srgbClr val="000000"/>
                  </a:solidFill>
                  <a:ea typeface="黑体" panose="02010609060101010101" pitchFamily="49" charset="-122"/>
                </a:rPr>
                <a:t>密码是否小于</a:t>
              </a:r>
              <a:r>
                <a:rPr lang="en-US" altLang="zh-CN" sz="1600" b="1" dirty="0">
                  <a:solidFill>
                    <a:srgbClr val="000000"/>
                  </a:solidFill>
                  <a:ea typeface="黑体" panose="02010609060101010101" pitchFamily="49" charset="-122"/>
                </a:rPr>
                <a:t>8</a:t>
              </a:r>
              <a:r>
                <a:rPr lang="zh-CN" altLang="en-US" sz="1600" b="1" dirty="0">
                  <a:solidFill>
                    <a:srgbClr val="000000"/>
                  </a:solidFill>
                  <a:ea typeface="黑体" panose="02010609060101010101" pitchFamily="49" charset="-122"/>
                </a:rPr>
                <a:t>位，</a:t>
              </a:r>
              <a:r>
                <a:rPr lang="en-US" altLang="zh-CN" sz="1600" b="1" dirty="0">
                  <a:solidFill>
                    <a:srgbClr val="000000"/>
                  </a:solidFill>
                  <a:ea typeface="黑体" panose="02010609060101010101" pitchFamily="49" charset="-122"/>
                </a:rPr>
                <a:t>x</a:t>
              </a:r>
              <a:r>
                <a:rPr lang="zh-CN" altLang="en-US" sz="1600" b="1" dirty="0">
                  <a:solidFill>
                    <a:srgbClr val="000000"/>
                  </a:solidFill>
                  <a:ea typeface="黑体" panose="02010609060101010101" pitchFamily="49" charset="-122"/>
                </a:rPr>
                <a:t>表示小于</a:t>
              </a:r>
              <a:r>
                <a:rPr lang="en-US" altLang="zh-CN" sz="1600" b="1" dirty="0">
                  <a:solidFill>
                    <a:srgbClr val="000000"/>
                  </a:solidFill>
                  <a:ea typeface="黑体" panose="02010609060101010101" pitchFamily="49" charset="-122"/>
                </a:rPr>
                <a:t>8</a:t>
              </a:r>
              <a:r>
                <a:rPr lang="zh-CN" altLang="en-US" sz="1600" b="1" dirty="0">
                  <a:solidFill>
                    <a:srgbClr val="000000"/>
                  </a:solidFill>
                  <a:ea typeface="黑体" panose="02010609060101010101" pitchFamily="49" charset="-122"/>
                </a:rPr>
                <a:t>位，容易破解</a:t>
              </a:r>
              <a:endParaRPr lang="en-US" altLang="zh-CN" sz="1600" b="1" dirty="0">
                <a:solidFill>
                  <a:srgbClr val="000000"/>
                </a:solidFill>
                <a:ea typeface="黑体" panose="02010609060101010101" pitchFamily="49" charset="-122"/>
              </a:endParaRPr>
            </a:p>
          </p:txBody>
        </p:sp>
        <p:sp>
          <p:nvSpPr>
            <p:cNvPr id="445447" name="AutoShape 7"/>
            <p:cNvSpPr/>
            <p:nvPr/>
          </p:nvSpPr>
          <p:spPr bwMode="auto">
            <a:xfrm>
              <a:off x="5292725" y="1628775"/>
              <a:ext cx="1871663" cy="576263"/>
            </a:xfrm>
            <a:prstGeom prst="borderCallout1">
              <a:avLst>
                <a:gd name="adj1" fmla="val 51238"/>
                <a:gd name="adj2" fmla="val 103051"/>
                <a:gd name="adj3" fmla="val 142699"/>
                <a:gd name="adj4" fmla="val 162597"/>
              </a:avLst>
            </a:prstGeom>
            <a:solidFill>
              <a:srgbClr val="CCFFFF"/>
            </a:solidFill>
            <a:ln w="9525">
              <a:solidFill>
                <a:srgbClr val="000000"/>
              </a:solidFill>
              <a:miter lim="800000"/>
            </a:ln>
            <a:effectLst/>
          </p:spPr>
          <p:txBody>
            <a:bodyPr anchor="ctr"/>
            <a:lstStyle/>
            <a:p>
              <a:pPr algn="ctr"/>
              <a:r>
                <a:rPr lang="zh-CN" altLang="en-US" sz="1600" b="1">
                  <a:solidFill>
                    <a:srgbClr val="000000"/>
                  </a:solidFill>
                  <a:ea typeface="黑体" panose="02010609060101010101" pitchFamily="49" charset="-122"/>
                </a:rPr>
                <a:t>字典破解进度</a:t>
              </a:r>
              <a:endParaRPr lang="en-US" altLang="zh-CN" sz="1600" b="1">
                <a:solidFill>
                  <a:srgbClr val="000000"/>
                </a:solidFill>
                <a:ea typeface="黑体" panose="02010609060101010101" pitchFamily="49" charset="-122"/>
              </a:endParaRPr>
            </a:p>
          </p:txBody>
        </p:sp>
        <p:sp>
          <p:nvSpPr>
            <p:cNvPr id="445448" name="AutoShape 8"/>
            <p:cNvSpPr/>
            <p:nvPr/>
          </p:nvSpPr>
          <p:spPr bwMode="auto">
            <a:xfrm>
              <a:off x="5292725" y="2565400"/>
              <a:ext cx="1871663" cy="576263"/>
            </a:xfrm>
            <a:prstGeom prst="borderCallout1">
              <a:avLst>
                <a:gd name="adj1" fmla="val 33056"/>
                <a:gd name="adj2" fmla="val 102033"/>
                <a:gd name="adj3" fmla="val 142699"/>
                <a:gd name="adj4" fmla="val 162597"/>
              </a:avLst>
            </a:prstGeom>
            <a:solidFill>
              <a:srgbClr val="CCFFFF"/>
            </a:solidFill>
            <a:ln w="9525">
              <a:solidFill>
                <a:srgbClr val="000000"/>
              </a:solidFill>
              <a:miter lim="800000"/>
            </a:ln>
            <a:effectLst/>
          </p:spPr>
          <p:txBody>
            <a:bodyPr anchor="ctr"/>
            <a:lstStyle/>
            <a:p>
              <a:pPr algn="ctr"/>
              <a:r>
                <a:rPr lang="zh-CN" altLang="en-US" sz="1600" b="1">
                  <a:solidFill>
                    <a:srgbClr val="000000"/>
                  </a:solidFill>
                  <a:ea typeface="黑体" panose="02010609060101010101" pitchFamily="49" charset="-122"/>
                </a:rPr>
                <a:t>散列表显示</a:t>
              </a:r>
            </a:p>
          </p:txBody>
        </p:sp>
        <p:sp>
          <p:nvSpPr>
            <p:cNvPr id="445449" name="AutoShape 9"/>
            <p:cNvSpPr/>
            <p:nvPr/>
          </p:nvSpPr>
          <p:spPr bwMode="auto">
            <a:xfrm>
              <a:off x="5292725" y="3500438"/>
              <a:ext cx="1871663" cy="576262"/>
            </a:xfrm>
            <a:prstGeom prst="borderCallout1">
              <a:avLst>
                <a:gd name="adj1" fmla="val 47932"/>
                <a:gd name="adj2" fmla="val 99998"/>
                <a:gd name="adj3" fmla="val 142699"/>
                <a:gd name="adj4" fmla="val 162597"/>
              </a:avLst>
            </a:prstGeom>
            <a:solidFill>
              <a:srgbClr val="CCFFFF"/>
            </a:solidFill>
            <a:ln w="9525">
              <a:solidFill>
                <a:srgbClr val="000000"/>
              </a:solidFill>
              <a:miter lim="800000"/>
            </a:ln>
            <a:effectLst/>
          </p:spPr>
          <p:txBody>
            <a:bodyPr anchor="ctr"/>
            <a:lstStyle/>
            <a:p>
              <a:pPr algn="ctr"/>
              <a:r>
                <a:rPr lang="zh-CN" altLang="en-US" sz="1600" b="1">
                  <a:solidFill>
                    <a:srgbClr val="000000"/>
                  </a:solidFill>
                  <a:ea typeface="黑体" panose="02010609060101010101" pitchFamily="49" charset="-122"/>
                </a:rPr>
                <a:t>暴力破解进度</a:t>
              </a:r>
              <a:endParaRPr lang="en-US" altLang="zh-CN" sz="1600" b="1">
                <a:solidFill>
                  <a:srgbClr val="000000"/>
                </a:solidFill>
                <a:ea typeface="黑体" panose="02010609060101010101" pitchFamily="49" charset="-122"/>
              </a:endParaRPr>
            </a:p>
          </p:txBody>
        </p:sp>
        <p:sp>
          <p:nvSpPr>
            <p:cNvPr id="445450" name="AutoShape 10"/>
            <p:cNvSpPr/>
            <p:nvPr/>
          </p:nvSpPr>
          <p:spPr bwMode="auto">
            <a:xfrm>
              <a:off x="5292725" y="5013325"/>
              <a:ext cx="1871663" cy="576263"/>
            </a:xfrm>
            <a:prstGeom prst="borderCallout1">
              <a:avLst>
                <a:gd name="adj1" fmla="val 56197"/>
                <a:gd name="adj2" fmla="val 101016"/>
                <a:gd name="adj3" fmla="val 142699"/>
                <a:gd name="adj4" fmla="val 162597"/>
              </a:avLst>
            </a:prstGeom>
            <a:solidFill>
              <a:srgbClr val="CCFFFF"/>
            </a:solidFill>
            <a:ln w="9525">
              <a:solidFill>
                <a:srgbClr val="000000"/>
              </a:solidFill>
              <a:miter lim="800000"/>
            </a:ln>
            <a:effectLst/>
          </p:spPr>
          <p:txBody>
            <a:bodyPr anchor="ctr"/>
            <a:lstStyle/>
            <a:p>
              <a:pPr algn="ctr"/>
              <a:r>
                <a:rPr lang="zh-CN" altLang="en-US" sz="1600" b="1">
                  <a:solidFill>
                    <a:srgbClr val="000000"/>
                  </a:solidFill>
                  <a:ea typeface="黑体" panose="02010609060101010101" pitchFamily="49" charset="-122"/>
                </a:rPr>
                <a:t>所有用户数和需要破解的用户数</a:t>
              </a:r>
              <a:endParaRPr lang="en-US" altLang="zh-CN" sz="1600" b="1">
                <a:solidFill>
                  <a:srgbClr val="000000"/>
                </a:solidFill>
                <a:ea typeface="黑体" panose="02010609060101010101" pitchFamily="49" charset="-122"/>
              </a:endParaRPr>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a:xfrm>
            <a:off x="962025" y="2565400"/>
            <a:ext cx="7134225" cy="1143000"/>
          </a:xfrm>
          <a:noFill/>
        </p:spPr>
        <p:txBody>
          <a:bodyPr/>
          <a:lstStyle/>
          <a:p>
            <a:r>
              <a:rPr lang="zh-CN" altLang="en-US" b="1" dirty="0">
                <a:solidFill>
                  <a:srgbClr val="0000FF"/>
                </a:solidFill>
              </a:rPr>
              <a:t>（二）</a:t>
            </a:r>
            <a:r>
              <a:rPr lang="en-US" altLang="zh-CN" b="1" dirty="0">
                <a:solidFill>
                  <a:srgbClr val="0000FF"/>
                </a:solidFill>
              </a:rPr>
              <a:t>Unix</a:t>
            </a:r>
            <a:r>
              <a:rPr lang="zh-CN" altLang="en-US" b="1" dirty="0">
                <a:solidFill>
                  <a:srgbClr val="0000FF"/>
                </a:solidFill>
              </a:rPr>
              <a:t>密码破解</a:t>
            </a:r>
            <a:endParaRPr lang="en-US" altLang="zh-CN" b="1" dirty="0">
              <a:solidFill>
                <a:srgbClr val="0000FF"/>
              </a:solidFil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r>
              <a:rPr lang="en-US" altLang="zh-CN">
                <a:latin typeface="Times New Roman" panose="02020603050405020304" pitchFamily="18" charset="0"/>
              </a:rPr>
              <a:t>Unix/Linux</a:t>
            </a:r>
            <a:r>
              <a:rPr lang="zh-CN" altLang="en-US">
                <a:latin typeface="Times New Roman" panose="02020603050405020304" pitchFamily="18" charset="0"/>
              </a:rPr>
              <a:t>系统口令文件</a:t>
            </a:r>
            <a:endParaRPr lang="en-US" altLang="zh-CN">
              <a:latin typeface="Times New Roman" panose="02020603050405020304" pitchFamily="18" charset="0"/>
            </a:endParaRPr>
          </a:p>
        </p:txBody>
      </p:sp>
      <p:sp>
        <p:nvSpPr>
          <p:cNvPr id="465923" name="Rectangle 3"/>
          <p:cNvSpPr>
            <a:spLocks noGrp="1" noChangeArrowheads="1"/>
          </p:cNvSpPr>
          <p:nvPr>
            <p:ph type="body" idx="1"/>
          </p:nvPr>
        </p:nvSpPr>
        <p:spPr>
          <a:xfrm>
            <a:off x="542925" y="1238250"/>
            <a:ext cx="8229600" cy="1133475"/>
          </a:xfrm>
        </p:spPr>
        <p:txBody>
          <a:bodyPr/>
          <a:lstStyle/>
          <a:p>
            <a:r>
              <a:rPr lang="en-US" altLang="zh-CN" sz="2800" dirty="0">
                <a:latin typeface="黑体" panose="02010609060101010101" pitchFamily="49" charset="-122"/>
                <a:ea typeface="黑体" panose="02010609060101010101" pitchFamily="49" charset="-122"/>
              </a:rPr>
              <a:t>Unix/Linux</a:t>
            </a:r>
            <a:r>
              <a:rPr lang="zh-CN" altLang="en-US" sz="2800" dirty="0">
                <a:latin typeface="黑体" panose="02010609060101010101" pitchFamily="49" charset="-122"/>
                <a:ea typeface="黑体" panose="02010609060101010101" pitchFamily="49" charset="-122"/>
              </a:rPr>
              <a:t>系统使用</a:t>
            </a:r>
            <a:r>
              <a:rPr lang="en-US" altLang="zh-CN" sz="2800" dirty="0">
                <a:latin typeface="黑体" panose="02010609060101010101" pitchFamily="49" charset="-122"/>
                <a:ea typeface="黑体" panose="02010609060101010101" pitchFamily="49" charset="-122"/>
              </a:rPr>
              <a:t>/etc/</a:t>
            </a:r>
            <a:r>
              <a:rPr lang="en-US" altLang="zh-CN" sz="2800" dirty="0" err="1">
                <a:latin typeface="黑体" panose="02010609060101010101" pitchFamily="49" charset="-122"/>
                <a:ea typeface="黑体" panose="02010609060101010101" pitchFamily="49" charset="-122"/>
              </a:rPr>
              <a:t>passwd</a:t>
            </a:r>
            <a:r>
              <a:rPr lang="zh-CN" altLang="en-US" sz="2800" dirty="0">
                <a:latin typeface="黑体" panose="02010609060101010101" pitchFamily="49" charset="-122"/>
                <a:ea typeface="黑体" panose="02010609060101010101" pitchFamily="49" charset="-122"/>
              </a:rPr>
              <a:t>文件创建和管理账户。文件存储信息的结构：</a:t>
            </a:r>
            <a:endParaRPr lang="en-US" altLang="zh-CN" sz="2800" dirty="0">
              <a:latin typeface="黑体" panose="02010609060101010101" pitchFamily="49" charset="-122"/>
              <a:ea typeface="黑体" panose="02010609060101010101" pitchFamily="49" charset="-122"/>
            </a:endParaRPr>
          </a:p>
        </p:txBody>
      </p:sp>
      <p:sp>
        <p:nvSpPr>
          <p:cNvPr id="465924" name="Text Box 4"/>
          <p:cNvSpPr txBox="1">
            <a:spLocks noChangeArrowheads="1"/>
          </p:cNvSpPr>
          <p:nvPr/>
        </p:nvSpPr>
        <p:spPr bwMode="auto">
          <a:xfrm>
            <a:off x="179388" y="2205038"/>
            <a:ext cx="1047750" cy="366712"/>
          </a:xfrm>
          <a:prstGeom prst="rect">
            <a:avLst/>
          </a:prstGeom>
          <a:noFill/>
          <a:ln w="9525">
            <a:noFill/>
            <a:miter lim="800000"/>
          </a:ln>
          <a:effectLst/>
        </p:spPr>
        <p:txBody>
          <a:bodyPr>
            <a:spAutoFit/>
          </a:bodyPr>
          <a:lstStyle/>
          <a:p>
            <a:r>
              <a:rPr lang="zh-CN" altLang="en-US" b="1" dirty="0">
                <a:solidFill>
                  <a:srgbClr val="0000FF"/>
                </a:solidFill>
                <a:ea typeface="黑体" panose="02010609060101010101" pitchFamily="49" charset="-122"/>
              </a:rPr>
              <a:t>样例： </a:t>
            </a:r>
            <a:endParaRPr lang="en-US" altLang="zh-CN" b="1" dirty="0">
              <a:solidFill>
                <a:srgbClr val="0000FF"/>
              </a:solidFill>
              <a:ea typeface="黑体" panose="02010609060101010101" pitchFamily="49" charset="-122"/>
            </a:endParaRPr>
          </a:p>
        </p:txBody>
      </p:sp>
      <p:grpSp>
        <p:nvGrpSpPr>
          <p:cNvPr id="18" name="组合 17"/>
          <p:cNvGrpSpPr/>
          <p:nvPr/>
        </p:nvGrpSpPr>
        <p:grpSpPr>
          <a:xfrm>
            <a:off x="1042988" y="2205038"/>
            <a:ext cx="7165975" cy="1079501"/>
            <a:chOff x="1042988" y="2205038"/>
            <a:chExt cx="7165975" cy="1079501"/>
          </a:xfrm>
        </p:grpSpPr>
        <p:sp>
          <p:nvSpPr>
            <p:cNvPr id="465926" name="Text Box 6"/>
            <p:cNvSpPr txBox="1">
              <a:spLocks noChangeArrowheads="1"/>
            </p:cNvSpPr>
            <p:nvPr/>
          </p:nvSpPr>
          <p:spPr bwMode="auto">
            <a:xfrm>
              <a:off x="1042988" y="2205038"/>
              <a:ext cx="6691312" cy="396875"/>
            </a:xfrm>
            <a:prstGeom prst="rect">
              <a:avLst/>
            </a:prstGeom>
            <a:noFill/>
            <a:ln w="9525">
              <a:noFill/>
              <a:miter lim="800000"/>
            </a:ln>
            <a:effectLst/>
          </p:spPr>
          <p:txBody>
            <a:bodyPr wrap="square">
              <a:spAutoFit/>
            </a:bodyPr>
            <a:lstStyle/>
            <a:p>
              <a:r>
                <a:rPr lang="en-US" altLang="zh-CN" sz="2000" b="1" dirty="0" err="1">
                  <a:solidFill>
                    <a:srgbClr val="000000"/>
                  </a:solidFill>
                  <a:ea typeface="宋体" panose="02010600030101010101" pitchFamily="2" charset="-122"/>
                </a:rPr>
                <a:t>alice</a:t>
              </a:r>
              <a:r>
                <a:rPr lang="en-US" altLang="zh-CN" sz="2000" b="1" dirty="0">
                  <a:solidFill>
                    <a:srgbClr val="000000"/>
                  </a:solidFill>
                  <a:ea typeface="宋体" panose="02010600030101010101" pitchFamily="2" charset="-122"/>
                </a:rPr>
                <a:t>:$1$sumys0Ch$ao01LX5MF6U:502:502:alice </a:t>
              </a:r>
            </a:p>
          </p:txBody>
        </p:sp>
        <p:sp>
          <p:nvSpPr>
            <p:cNvPr id="465927" name="Line 7"/>
            <p:cNvSpPr>
              <a:spLocks noChangeShapeType="1"/>
            </p:cNvSpPr>
            <p:nvPr/>
          </p:nvSpPr>
          <p:spPr bwMode="auto">
            <a:xfrm>
              <a:off x="1403351" y="2565401"/>
              <a:ext cx="0" cy="360363"/>
            </a:xfrm>
            <a:prstGeom prst="line">
              <a:avLst/>
            </a:prstGeom>
            <a:noFill/>
            <a:ln w="15875">
              <a:solidFill>
                <a:srgbClr val="000000"/>
              </a:solidFill>
              <a:round/>
            </a:ln>
            <a:effectLst/>
          </p:spPr>
          <p:txBody>
            <a:bodyPr/>
            <a:lstStyle/>
            <a:p>
              <a:endParaRPr lang="zh-CN" altLang="en-US"/>
            </a:p>
          </p:txBody>
        </p:sp>
        <p:sp>
          <p:nvSpPr>
            <p:cNvPr id="465928" name="Text Box 8"/>
            <p:cNvSpPr txBox="1">
              <a:spLocks noChangeArrowheads="1"/>
            </p:cNvSpPr>
            <p:nvPr/>
          </p:nvSpPr>
          <p:spPr bwMode="auto">
            <a:xfrm>
              <a:off x="1114426" y="2917826"/>
              <a:ext cx="708025" cy="366713"/>
            </a:xfrm>
            <a:prstGeom prst="rect">
              <a:avLst/>
            </a:prstGeom>
            <a:noFill/>
            <a:ln w="9525">
              <a:noFill/>
              <a:miter lim="800000"/>
            </a:ln>
            <a:effectLst/>
          </p:spPr>
          <p:txBody>
            <a:bodyPr wrap="none">
              <a:spAutoFit/>
            </a:bodyPr>
            <a:lstStyle/>
            <a:p>
              <a:r>
                <a:rPr lang="zh-CN" altLang="en-US" b="1">
                  <a:solidFill>
                    <a:srgbClr val="0000FF"/>
                  </a:solidFill>
                  <a:ea typeface="黑体" panose="02010609060101010101" pitchFamily="49" charset="-122"/>
                </a:rPr>
                <a:t>帐号</a:t>
              </a:r>
              <a:r>
                <a:rPr lang="zh-CN" altLang="en-US">
                  <a:ea typeface="黑体" panose="02010609060101010101" pitchFamily="49" charset="-122"/>
                </a:rPr>
                <a:t> </a:t>
              </a:r>
            </a:p>
          </p:txBody>
        </p:sp>
        <p:sp>
          <p:nvSpPr>
            <p:cNvPr id="465929" name="Line 9"/>
            <p:cNvSpPr>
              <a:spLocks noChangeShapeType="1"/>
            </p:cNvSpPr>
            <p:nvPr/>
          </p:nvSpPr>
          <p:spPr bwMode="auto">
            <a:xfrm>
              <a:off x="3359151" y="2565401"/>
              <a:ext cx="0" cy="360363"/>
            </a:xfrm>
            <a:prstGeom prst="line">
              <a:avLst/>
            </a:prstGeom>
            <a:noFill/>
            <a:ln w="15875">
              <a:solidFill>
                <a:srgbClr val="000000"/>
              </a:solidFill>
              <a:round/>
            </a:ln>
            <a:effectLst/>
          </p:spPr>
          <p:txBody>
            <a:bodyPr/>
            <a:lstStyle/>
            <a:p>
              <a:endParaRPr lang="zh-CN" altLang="en-US"/>
            </a:p>
          </p:txBody>
        </p:sp>
        <p:sp>
          <p:nvSpPr>
            <p:cNvPr id="465930" name="Text Box 10"/>
            <p:cNvSpPr txBox="1">
              <a:spLocks noChangeArrowheads="1"/>
            </p:cNvSpPr>
            <p:nvPr/>
          </p:nvSpPr>
          <p:spPr bwMode="auto">
            <a:xfrm>
              <a:off x="3070226" y="2917826"/>
              <a:ext cx="708025" cy="366713"/>
            </a:xfrm>
            <a:prstGeom prst="rect">
              <a:avLst/>
            </a:prstGeom>
            <a:noFill/>
            <a:ln w="9525">
              <a:noFill/>
              <a:miter lim="800000"/>
            </a:ln>
            <a:effectLst/>
          </p:spPr>
          <p:txBody>
            <a:bodyPr wrap="none">
              <a:spAutoFit/>
            </a:bodyPr>
            <a:lstStyle/>
            <a:p>
              <a:r>
                <a:rPr lang="zh-CN" altLang="en-US" b="1">
                  <a:solidFill>
                    <a:srgbClr val="0000FF"/>
                  </a:solidFill>
                  <a:ea typeface="黑体" panose="02010609060101010101" pitchFamily="49" charset="-122"/>
                </a:rPr>
                <a:t>密码</a:t>
              </a:r>
              <a:r>
                <a:rPr lang="zh-CN" altLang="en-US">
                  <a:ea typeface="黑体" panose="02010609060101010101" pitchFamily="49" charset="-122"/>
                </a:rPr>
                <a:t> </a:t>
              </a:r>
            </a:p>
          </p:txBody>
        </p:sp>
        <p:sp>
          <p:nvSpPr>
            <p:cNvPr id="465931" name="Line 11"/>
            <p:cNvSpPr>
              <a:spLocks noChangeShapeType="1"/>
            </p:cNvSpPr>
            <p:nvPr/>
          </p:nvSpPr>
          <p:spPr bwMode="auto">
            <a:xfrm>
              <a:off x="5842001" y="2565401"/>
              <a:ext cx="0" cy="360363"/>
            </a:xfrm>
            <a:prstGeom prst="line">
              <a:avLst/>
            </a:prstGeom>
            <a:noFill/>
            <a:ln w="15875">
              <a:solidFill>
                <a:srgbClr val="000000"/>
              </a:solidFill>
              <a:round/>
            </a:ln>
            <a:effectLst/>
          </p:spPr>
          <p:txBody>
            <a:bodyPr/>
            <a:lstStyle/>
            <a:p>
              <a:endParaRPr lang="zh-CN" altLang="en-US"/>
            </a:p>
          </p:txBody>
        </p:sp>
        <p:sp>
          <p:nvSpPr>
            <p:cNvPr id="465932" name="Text Box 12"/>
            <p:cNvSpPr txBox="1">
              <a:spLocks noChangeArrowheads="1"/>
            </p:cNvSpPr>
            <p:nvPr/>
          </p:nvSpPr>
          <p:spPr bwMode="auto">
            <a:xfrm>
              <a:off x="5553076" y="2917826"/>
              <a:ext cx="641350" cy="366713"/>
            </a:xfrm>
            <a:prstGeom prst="rect">
              <a:avLst/>
            </a:prstGeom>
            <a:noFill/>
            <a:ln w="9525">
              <a:noFill/>
              <a:miter lim="800000"/>
            </a:ln>
            <a:effectLst/>
          </p:spPr>
          <p:txBody>
            <a:bodyPr wrap="none">
              <a:spAutoFit/>
            </a:bodyPr>
            <a:lstStyle/>
            <a:p>
              <a:r>
                <a:rPr lang="en-US" altLang="zh-CN" b="1">
                  <a:solidFill>
                    <a:srgbClr val="0000FF"/>
                  </a:solidFill>
                  <a:ea typeface="黑体" panose="02010609060101010101" pitchFamily="49" charset="-122"/>
                </a:rPr>
                <a:t>UID</a:t>
              </a:r>
              <a:r>
                <a:rPr lang="en-US" altLang="zh-CN">
                  <a:ea typeface="黑体" panose="02010609060101010101" pitchFamily="49" charset="-122"/>
                </a:rPr>
                <a:t> </a:t>
              </a:r>
            </a:p>
          </p:txBody>
        </p:sp>
        <p:sp>
          <p:nvSpPr>
            <p:cNvPr id="465933" name="Line 13"/>
            <p:cNvSpPr>
              <a:spLocks noChangeShapeType="1"/>
            </p:cNvSpPr>
            <p:nvPr/>
          </p:nvSpPr>
          <p:spPr bwMode="auto">
            <a:xfrm>
              <a:off x="6535738" y="2565401"/>
              <a:ext cx="0" cy="360363"/>
            </a:xfrm>
            <a:prstGeom prst="line">
              <a:avLst/>
            </a:prstGeom>
            <a:noFill/>
            <a:ln w="15875">
              <a:solidFill>
                <a:srgbClr val="000000"/>
              </a:solidFill>
              <a:round/>
            </a:ln>
            <a:effectLst/>
          </p:spPr>
          <p:txBody>
            <a:bodyPr/>
            <a:lstStyle/>
            <a:p>
              <a:endParaRPr lang="zh-CN" altLang="en-US"/>
            </a:p>
          </p:txBody>
        </p:sp>
        <p:sp>
          <p:nvSpPr>
            <p:cNvPr id="465934" name="Text Box 14"/>
            <p:cNvSpPr txBox="1">
              <a:spLocks noChangeArrowheads="1"/>
            </p:cNvSpPr>
            <p:nvPr/>
          </p:nvSpPr>
          <p:spPr bwMode="auto">
            <a:xfrm>
              <a:off x="6042026" y="2917826"/>
              <a:ext cx="1101725" cy="366713"/>
            </a:xfrm>
            <a:prstGeom prst="rect">
              <a:avLst/>
            </a:prstGeom>
            <a:noFill/>
            <a:ln w="9525">
              <a:noFill/>
              <a:miter lim="800000"/>
            </a:ln>
            <a:effectLst/>
          </p:spPr>
          <p:txBody>
            <a:bodyPr wrap="none">
              <a:spAutoFit/>
            </a:bodyPr>
            <a:lstStyle/>
            <a:p>
              <a:r>
                <a:rPr lang="zh-CN" altLang="en-US" b="1" dirty="0">
                  <a:solidFill>
                    <a:srgbClr val="0000FF"/>
                  </a:solidFill>
                  <a:ea typeface="黑体" panose="02010609060101010101" pitchFamily="49" charset="-122"/>
                </a:rPr>
                <a:t>默认</a:t>
              </a:r>
              <a:r>
                <a:rPr lang="en-US" altLang="zh-CN" b="1" dirty="0">
                  <a:solidFill>
                    <a:srgbClr val="0000FF"/>
                  </a:solidFill>
                  <a:ea typeface="黑体" panose="02010609060101010101" pitchFamily="49" charset="-122"/>
                </a:rPr>
                <a:t>UID</a:t>
              </a:r>
              <a:r>
                <a:rPr lang="en-US" altLang="zh-CN" dirty="0">
                  <a:ea typeface="黑体" panose="02010609060101010101" pitchFamily="49" charset="-122"/>
                </a:rPr>
                <a:t> </a:t>
              </a:r>
            </a:p>
          </p:txBody>
        </p:sp>
        <p:sp>
          <p:nvSpPr>
            <p:cNvPr id="465935" name="Line 15"/>
            <p:cNvSpPr>
              <a:spLocks noChangeShapeType="1"/>
            </p:cNvSpPr>
            <p:nvPr/>
          </p:nvSpPr>
          <p:spPr bwMode="auto">
            <a:xfrm>
              <a:off x="7265988" y="2555876"/>
              <a:ext cx="0" cy="360363"/>
            </a:xfrm>
            <a:prstGeom prst="line">
              <a:avLst/>
            </a:prstGeom>
            <a:noFill/>
            <a:ln w="15875">
              <a:solidFill>
                <a:srgbClr val="000000"/>
              </a:solidFill>
              <a:round/>
            </a:ln>
            <a:effectLst/>
          </p:spPr>
          <p:txBody>
            <a:bodyPr/>
            <a:lstStyle/>
            <a:p>
              <a:endParaRPr lang="zh-CN" altLang="en-US"/>
            </a:p>
          </p:txBody>
        </p:sp>
        <p:sp>
          <p:nvSpPr>
            <p:cNvPr id="465936" name="Text Box 16"/>
            <p:cNvSpPr txBox="1">
              <a:spLocks noChangeArrowheads="1"/>
            </p:cNvSpPr>
            <p:nvPr/>
          </p:nvSpPr>
          <p:spPr bwMode="auto">
            <a:xfrm>
              <a:off x="6977063" y="2908301"/>
              <a:ext cx="1231900" cy="366713"/>
            </a:xfrm>
            <a:prstGeom prst="rect">
              <a:avLst/>
            </a:prstGeom>
            <a:noFill/>
            <a:ln w="9525">
              <a:noFill/>
              <a:miter lim="800000"/>
            </a:ln>
            <a:effectLst/>
          </p:spPr>
          <p:txBody>
            <a:bodyPr wrap="none">
              <a:spAutoFit/>
            </a:bodyPr>
            <a:lstStyle/>
            <a:p>
              <a:r>
                <a:rPr lang="zh-CN" altLang="en-US" b="1">
                  <a:solidFill>
                    <a:srgbClr val="0000FF"/>
                  </a:solidFill>
                  <a:ea typeface="黑体" panose="02010609060101010101" pitchFamily="49" charset="-122"/>
                </a:rPr>
                <a:t>登录目录 </a:t>
              </a:r>
              <a:r>
                <a:rPr lang="en-US" altLang="zh-CN">
                  <a:ea typeface="黑体" panose="02010609060101010101" pitchFamily="49" charset="-122"/>
                </a:rPr>
                <a:t> </a:t>
              </a:r>
            </a:p>
          </p:txBody>
        </p:sp>
      </p:grpSp>
      <p:sp>
        <p:nvSpPr>
          <p:cNvPr id="465937" name="Rectangle 17"/>
          <p:cNvSpPr>
            <a:spLocks noChangeArrowheads="1"/>
          </p:cNvSpPr>
          <p:nvPr/>
        </p:nvSpPr>
        <p:spPr bwMode="auto">
          <a:xfrm>
            <a:off x="696913" y="3267075"/>
            <a:ext cx="8229600" cy="3095625"/>
          </a:xfrm>
          <a:prstGeom prst="rect">
            <a:avLst/>
          </a:prstGeom>
          <a:noFill/>
          <a:ln w="9525">
            <a:noFill/>
            <a:miter lim="800000"/>
          </a:ln>
          <a:effectLst/>
        </p:spPr>
        <p:txBody>
          <a:bodyPr/>
          <a:lstStyle/>
          <a:p>
            <a:pPr marL="342900" indent="-342900">
              <a:lnSpc>
                <a:spcPct val="115000"/>
              </a:lnSpc>
              <a:spcBef>
                <a:spcPct val="20000"/>
              </a:spcBef>
              <a:spcAft>
                <a:spcPct val="10000"/>
              </a:spcAft>
              <a:buClr>
                <a:srgbClr val="FF0000"/>
              </a:buClr>
              <a:buFont typeface="Wingdings" panose="05000000000000000000" pitchFamily="2" charset="2"/>
              <a:buChar char="v"/>
            </a:pPr>
            <a:r>
              <a:rPr lang="zh-CN" altLang="en-US" sz="2800" b="1" dirty="0">
                <a:solidFill>
                  <a:srgbClr val="000000"/>
                </a:solidFill>
                <a:latin typeface="Times New Roman" panose="02020603050405020304" pitchFamily="18" charset="0"/>
                <a:ea typeface="黑体" panose="02010609060101010101" pitchFamily="49" charset="-122"/>
              </a:rPr>
              <a:t>系统中任何用户和进程都可以读取</a:t>
            </a:r>
            <a:r>
              <a:rPr lang="en-US" altLang="zh-CN" sz="2800" b="1" dirty="0">
                <a:solidFill>
                  <a:srgbClr val="000000"/>
                </a:solidFill>
                <a:latin typeface="Times New Roman" panose="02020603050405020304" pitchFamily="18" charset="0"/>
                <a:ea typeface="黑体" panose="02010609060101010101" pitchFamily="49" charset="-122"/>
              </a:rPr>
              <a:t>/etc/</a:t>
            </a:r>
            <a:r>
              <a:rPr lang="en-US" altLang="zh-CN" sz="2800" b="1" dirty="0" err="1">
                <a:solidFill>
                  <a:srgbClr val="000000"/>
                </a:solidFill>
                <a:latin typeface="Times New Roman" panose="02020603050405020304" pitchFamily="18" charset="0"/>
                <a:ea typeface="黑体" panose="02010609060101010101" pitchFamily="49" charset="-122"/>
              </a:rPr>
              <a:t>passwd</a:t>
            </a:r>
            <a:r>
              <a:rPr lang="zh-CN" altLang="en-US" sz="2800" b="1" dirty="0">
                <a:solidFill>
                  <a:srgbClr val="000000"/>
                </a:solidFill>
                <a:latin typeface="Times New Roman" panose="02020603050405020304" pitchFamily="18" charset="0"/>
                <a:ea typeface="黑体" panose="02010609060101010101" pitchFamily="49" charset="-122"/>
              </a:rPr>
              <a:t>文件，安全性不高；</a:t>
            </a:r>
          </a:p>
          <a:p>
            <a:pPr marL="342900" indent="-342900">
              <a:lnSpc>
                <a:spcPct val="115000"/>
              </a:lnSpc>
              <a:spcBef>
                <a:spcPct val="20000"/>
              </a:spcBef>
              <a:spcAft>
                <a:spcPct val="10000"/>
              </a:spcAft>
              <a:buClr>
                <a:srgbClr val="FF0000"/>
              </a:buClr>
              <a:buFont typeface="Wingdings" panose="05000000000000000000" pitchFamily="2" charset="2"/>
              <a:buChar char="v"/>
            </a:pPr>
            <a:r>
              <a:rPr lang="zh-CN" altLang="en-US" sz="2800" b="1" dirty="0">
                <a:solidFill>
                  <a:srgbClr val="000000"/>
                </a:solidFill>
                <a:latin typeface="Times New Roman" panose="02020603050405020304" pitchFamily="18" charset="0"/>
                <a:ea typeface="黑体" panose="02010609060101010101" pitchFamily="49" charset="-122"/>
              </a:rPr>
              <a:t>现在的系统把账户信息和口令密文分开存放，</a:t>
            </a:r>
            <a:r>
              <a:rPr lang="en-US" altLang="zh-CN" sz="2800" b="1" dirty="0">
                <a:solidFill>
                  <a:srgbClr val="000000"/>
                </a:solidFill>
                <a:latin typeface="Times New Roman" panose="02020603050405020304" pitchFamily="18" charset="0"/>
                <a:ea typeface="黑体" panose="02010609060101010101" pitchFamily="49" charset="-122"/>
              </a:rPr>
              <a:t>/etc/</a:t>
            </a:r>
            <a:r>
              <a:rPr lang="en-US" altLang="zh-CN" sz="2800" b="1" dirty="0" err="1">
                <a:solidFill>
                  <a:srgbClr val="000000"/>
                </a:solidFill>
                <a:latin typeface="Times New Roman" panose="02020603050405020304" pitchFamily="18" charset="0"/>
                <a:ea typeface="黑体" panose="02010609060101010101" pitchFamily="49" charset="-122"/>
              </a:rPr>
              <a:t>passwd</a:t>
            </a:r>
            <a:r>
              <a:rPr lang="zh-CN" altLang="en-US" sz="2800" b="1" dirty="0">
                <a:solidFill>
                  <a:srgbClr val="000000"/>
                </a:solidFill>
                <a:latin typeface="Times New Roman" panose="02020603050405020304" pitchFamily="18" charset="0"/>
                <a:ea typeface="黑体" panose="02010609060101010101" pitchFamily="49" charset="-122"/>
              </a:rPr>
              <a:t>文件用于保存账户信息，加密后过的密码保存在</a:t>
            </a:r>
            <a:r>
              <a:rPr lang="en-US" altLang="zh-CN" sz="2800" b="1" dirty="0">
                <a:solidFill>
                  <a:srgbClr val="000000"/>
                </a:solidFill>
                <a:latin typeface="Times New Roman" panose="02020603050405020304" pitchFamily="18" charset="0"/>
                <a:ea typeface="黑体" panose="02010609060101010101" pitchFamily="49" charset="-122"/>
              </a:rPr>
              <a:t>/etc/shadow</a:t>
            </a:r>
            <a:r>
              <a:rPr lang="zh-CN" altLang="en-US" sz="2800" b="1" dirty="0">
                <a:solidFill>
                  <a:srgbClr val="000000"/>
                </a:solidFill>
                <a:latin typeface="Times New Roman" panose="02020603050405020304" pitchFamily="18" charset="0"/>
                <a:ea typeface="黑体" panose="02010609060101010101" pitchFamily="49" charset="-122"/>
              </a:rPr>
              <a:t>或</a:t>
            </a:r>
            <a:r>
              <a:rPr lang="en-US" altLang="zh-CN" sz="2800" b="1" dirty="0">
                <a:solidFill>
                  <a:srgbClr val="000000"/>
                </a:solidFill>
                <a:latin typeface="Times New Roman" panose="02020603050405020304" pitchFamily="18" charset="0"/>
                <a:ea typeface="黑体" panose="02010609060101010101" pitchFamily="49" charset="-122"/>
              </a:rPr>
              <a:t>/etc/secure</a:t>
            </a:r>
            <a:r>
              <a:rPr lang="zh-CN" altLang="en-US" sz="2800" b="1" dirty="0">
                <a:solidFill>
                  <a:srgbClr val="000000"/>
                </a:solidFill>
                <a:latin typeface="Times New Roman" panose="02020603050405020304" pitchFamily="18" charset="0"/>
                <a:ea typeface="黑体" panose="02010609060101010101" pitchFamily="49" charset="-122"/>
              </a:rPr>
              <a:t>这个影子口令文件中，只有</a:t>
            </a:r>
            <a:r>
              <a:rPr lang="en-US" altLang="zh-CN" sz="2800" b="1" dirty="0">
                <a:solidFill>
                  <a:srgbClr val="000000"/>
                </a:solidFill>
                <a:latin typeface="Times New Roman" panose="02020603050405020304" pitchFamily="18" charset="0"/>
                <a:ea typeface="黑体" panose="02010609060101010101" pitchFamily="49" charset="-122"/>
              </a:rPr>
              <a:t>root</a:t>
            </a:r>
            <a:r>
              <a:rPr lang="zh-CN" altLang="en-US" sz="2800" b="1" dirty="0">
                <a:solidFill>
                  <a:srgbClr val="000000"/>
                </a:solidFill>
                <a:latin typeface="Times New Roman" panose="02020603050405020304" pitchFamily="18" charset="0"/>
                <a:ea typeface="黑体" panose="02010609060101010101" pitchFamily="49" charset="-122"/>
              </a:rPr>
              <a:t>用户能够读取。</a:t>
            </a:r>
            <a:endParaRPr lang="en-US" altLang="zh-CN" sz="2800"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65923">
                                            <p:txEl>
                                              <p:pRg st="0" end="0"/>
                                            </p:txEl>
                                          </p:spTgt>
                                        </p:tgtEl>
                                        <p:attrNameLst>
                                          <p:attrName>style.visibility</p:attrName>
                                        </p:attrNameLst>
                                      </p:cBhvr>
                                      <p:to>
                                        <p:strVal val="visible"/>
                                      </p:to>
                                    </p:set>
                                    <p:anim calcmode="lin" valueType="num">
                                      <p:cBhvr additive="base">
                                        <p:cTn id="7" dur="500" fill="hold"/>
                                        <p:tgtEl>
                                          <p:spTgt spid="4659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59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65924"/>
                                        </p:tgtEl>
                                        <p:attrNameLst>
                                          <p:attrName>style.visibility</p:attrName>
                                        </p:attrNameLst>
                                      </p:cBhvr>
                                      <p:to>
                                        <p:strVal val="visible"/>
                                      </p:to>
                                    </p:set>
                                    <p:animEffect transition="in" filter="slide(fromBottom)">
                                      <p:cBhvr>
                                        <p:cTn id="13" dur="500"/>
                                        <p:tgtEl>
                                          <p:spTgt spid="46592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65937">
                                            <p:txEl>
                                              <p:pRg st="0" end="0"/>
                                            </p:txEl>
                                          </p:spTgt>
                                        </p:tgtEl>
                                        <p:attrNameLst>
                                          <p:attrName>style.visibility</p:attrName>
                                        </p:attrNameLst>
                                      </p:cBhvr>
                                      <p:to>
                                        <p:strVal val="visible"/>
                                      </p:to>
                                    </p:set>
                                    <p:anim calcmode="lin" valueType="num">
                                      <p:cBhvr additive="base">
                                        <p:cTn id="18" dur="500" fill="hold"/>
                                        <p:tgtEl>
                                          <p:spTgt spid="465937">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6593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65937">
                                            <p:txEl>
                                              <p:pRg st="1" end="1"/>
                                            </p:txEl>
                                          </p:spTgt>
                                        </p:tgtEl>
                                        <p:attrNameLst>
                                          <p:attrName>style.visibility</p:attrName>
                                        </p:attrNameLst>
                                      </p:cBhvr>
                                      <p:to>
                                        <p:strVal val="visible"/>
                                      </p:to>
                                    </p:set>
                                    <p:anim calcmode="lin" valueType="num">
                                      <p:cBhvr additive="base">
                                        <p:cTn id="24" dur="500" fill="hold"/>
                                        <p:tgtEl>
                                          <p:spTgt spid="465937">
                                            <p:txEl>
                                              <p:pRg st="1" end="1"/>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6593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4"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2"/>
          <p:cNvSpPr>
            <a:spLocks noGrp="1" noChangeArrowheads="1"/>
          </p:cNvSpPr>
          <p:nvPr>
            <p:ph type="title"/>
          </p:nvPr>
        </p:nvSpPr>
        <p:spPr/>
        <p:txBody>
          <a:bodyPr/>
          <a:lstStyle/>
          <a:p>
            <a:pPr eaLnBrk="1" hangingPunct="1"/>
            <a:r>
              <a:rPr lang="en-US" altLang="zh-CN"/>
              <a:t>Unix</a:t>
            </a:r>
            <a:r>
              <a:rPr lang="zh-CN" altLang="en-US"/>
              <a:t>的口令文件</a:t>
            </a:r>
          </a:p>
        </p:txBody>
      </p:sp>
      <p:sp>
        <p:nvSpPr>
          <p:cNvPr id="45062" name="Rectangle 3"/>
          <p:cNvSpPr>
            <a:spLocks noGrp="1" noChangeArrowheads="1"/>
          </p:cNvSpPr>
          <p:nvPr>
            <p:ph type="body" idx="1"/>
          </p:nvPr>
        </p:nvSpPr>
        <p:spPr>
          <a:xfrm>
            <a:off x="765493" y="1310322"/>
            <a:ext cx="7772400" cy="5105717"/>
          </a:xfrm>
        </p:spPr>
        <p:txBody>
          <a:bodyPr/>
          <a:lstStyle/>
          <a:p>
            <a:pPr eaLnBrk="1" hangingPunct="1"/>
            <a:r>
              <a:rPr lang="en-US" altLang="zh-CN" sz="2600" dirty="0"/>
              <a:t>UNIX</a:t>
            </a:r>
            <a:r>
              <a:rPr lang="zh-CN" altLang="en-US" sz="2600" dirty="0"/>
              <a:t>系统用户的口令，本来是经过加密后保存在一个文本文件</a:t>
            </a:r>
            <a:r>
              <a:rPr lang="en-US" altLang="zh-CN" sz="2600" dirty="0" err="1"/>
              <a:t>passwd</a:t>
            </a:r>
            <a:r>
              <a:rPr lang="zh-CN" altLang="en-US" sz="2600" dirty="0"/>
              <a:t>中的，一般存放在</a:t>
            </a:r>
            <a:r>
              <a:rPr lang="en-US" altLang="zh-CN" sz="2600" dirty="0"/>
              <a:t>/etc</a:t>
            </a:r>
            <a:r>
              <a:rPr lang="zh-CN" altLang="en-US" sz="2600" dirty="0"/>
              <a:t>目录下，后来由于安全的需要，把</a:t>
            </a:r>
            <a:r>
              <a:rPr lang="en-US" altLang="zh-CN" sz="2600" dirty="0" err="1"/>
              <a:t>passwd</a:t>
            </a:r>
            <a:r>
              <a:rPr lang="zh-CN" altLang="en-US" sz="2600" dirty="0"/>
              <a:t>文件中与用户口令相关的域提取出来，组织成文件</a:t>
            </a:r>
            <a:r>
              <a:rPr lang="en-US" altLang="zh-CN" sz="2600" dirty="0"/>
              <a:t>shadow</a:t>
            </a:r>
            <a:r>
              <a:rPr lang="zh-CN" altLang="en-US" sz="2600" dirty="0"/>
              <a:t>，并规定只有超级用户才能读取。这种分离工作也称为</a:t>
            </a:r>
            <a:r>
              <a:rPr lang="en-US" altLang="zh-CN" sz="2600" dirty="0">
                <a:solidFill>
                  <a:srgbClr val="FF0000"/>
                </a:solidFill>
              </a:rPr>
              <a:t>shadow</a:t>
            </a:r>
            <a:r>
              <a:rPr lang="zh-CN" altLang="en-US" sz="2600" dirty="0">
                <a:solidFill>
                  <a:srgbClr val="FF0000"/>
                </a:solidFill>
              </a:rPr>
              <a:t>变换</a:t>
            </a:r>
            <a:r>
              <a:rPr lang="zh-CN" altLang="en-US" sz="2600" dirty="0"/>
              <a:t>。因此，在破解口令时，需要做</a:t>
            </a:r>
            <a:r>
              <a:rPr lang="en-US" altLang="zh-CN" sz="2600" dirty="0" err="1">
                <a:solidFill>
                  <a:srgbClr val="FF0000"/>
                </a:solidFill>
              </a:rPr>
              <a:t>UnShadow</a:t>
            </a:r>
            <a:r>
              <a:rPr lang="zh-CN" altLang="en-US" sz="2600" dirty="0">
                <a:solidFill>
                  <a:srgbClr val="FF0000"/>
                </a:solidFill>
              </a:rPr>
              <a:t>变换</a:t>
            </a:r>
            <a:r>
              <a:rPr lang="zh-CN" altLang="en-US" sz="2600" dirty="0"/>
              <a:t>，将</a:t>
            </a:r>
            <a:r>
              <a:rPr lang="en-US" altLang="zh-CN" sz="2600" dirty="0"/>
              <a:t>/etc/</a:t>
            </a:r>
            <a:r>
              <a:rPr lang="en-US" altLang="zh-CN" sz="2600" dirty="0" err="1"/>
              <a:t>passwd</a:t>
            </a:r>
            <a:r>
              <a:rPr lang="zh-CN" altLang="en-US" sz="2600" dirty="0"/>
              <a:t>与</a:t>
            </a:r>
            <a:r>
              <a:rPr lang="en-US" altLang="zh-CN" sz="2600" dirty="0"/>
              <a:t>/etc/shadow</a:t>
            </a:r>
            <a:r>
              <a:rPr lang="zh-CN" altLang="en-US" sz="2600" dirty="0"/>
              <a:t>合并起来。在此基础上才开始进行口令的破解。</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zh-CN"/>
              <a:t>Unix</a:t>
            </a:r>
            <a:r>
              <a:rPr lang="zh-CN" altLang="en-US"/>
              <a:t>的口令文件</a:t>
            </a:r>
          </a:p>
        </p:txBody>
      </p:sp>
      <p:sp>
        <p:nvSpPr>
          <p:cNvPr id="46083" name="Rectangle 3"/>
          <p:cNvSpPr>
            <a:spLocks noGrp="1" noChangeArrowheads="1"/>
          </p:cNvSpPr>
          <p:nvPr>
            <p:ph type="body" idx="1"/>
          </p:nvPr>
        </p:nvSpPr>
        <p:spPr>
          <a:xfrm>
            <a:off x="658812" y="1411287"/>
            <a:ext cx="8058467" cy="4637087"/>
          </a:xfrm>
        </p:spPr>
        <p:txBody>
          <a:bodyPr/>
          <a:lstStyle/>
          <a:p>
            <a:pPr>
              <a:lnSpc>
                <a:spcPct val="100000"/>
              </a:lnSpc>
            </a:pPr>
            <a:r>
              <a:rPr lang="en-US" altLang="zh-CN" sz="2400" dirty="0"/>
              <a:t>/etc/shadow</a:t>
            </a:r>
            <a:r>
              <a:rPr lang="zh-CN" altLang="en-US" sz="2400" dirty="0"/>
              <a:t>文件包含用户的加密后口令相关的信息。每个用户一条记录。格式如下：</a:t>
            </a:r>
            <a:r>
              <a:rPr lang="en-US" altLang="zh-CN" sz="2400" dirty="0" err="1"/>
              <a:t>username:passwd:lastchg:min:max:warn:inactive:expire:flag</a:t>
            </a:r>
            <a:endParaRPr lang="zh-CN" altLang="en-US" sz="2400" dirty="0"/>
          </a:p>
          <a:p>
            <a:pPr lvl="1">
              <a:lnSpc>
                <a:spcPct val="100000"/>
              </a:lnSpc>
            </a:pPr>
            <a:r>
              <a:rPr lang="en-US" altLang="zh-CN" sz="2200" dirty="0"/>
              <a:t>username</a:t>
            </a:r>
            <a:r>
              <a:rPr lang="zh-CN" altLang="en-US" sz="2200" dirty="0"/>
              <a:t>：登录名。</a:t>
            </a:r>
          </a:p>
          <a:p>
            <a:pPr lvl="1">
              <a:lnSpc>
                <a:spcPct val="100000"/>
              </a:lnSpc>
            </a:pPr>
            <a:r>
              <a:rPr lang="en-US" altLang="zh-CN" sz="2200" dirty="0" err="1"/>
              <a:t>passwd</a:t>
            </a:r>
            <a:r>
              <a:rPr lang="zh-CN" altLang="en-US" sz="2200" dirty="0"/>
              <a:t>：经过加密后的口令。</a:t>
            </a:r>
          </a:p>
          <a:p>
            <a:pPr lvl="1">
              <a:lnSpc>
                <a:spcPct val="100000"/>
              </a:lnSpc>
            </a:pPr>
            <a:r>
              <a:rPr lang="en-US" altLang="zh-CN" sz="2200" dirty="0" err="1"/>
              <a:t>lastchg</a:t>
            </a:r>
            <a:r>
              <a:rPr lang="zh-CN" altLang="en-US" sz="2200" dirty="0"/>
              <a:t>：表示从</a:t>
            </a:r>
            <a:r>
              <a:rPr lang="en-US" altLang="zh-CN" sz="2200" dirty="0"/>
              <a:t>1970</a:t>
            </a:r>
            <a:r>
              <a:rPr lang="zh-CN" altLang="en-US" sz="2200" dirty="0"/>
              <a:t>年</a:t>
            </a:r>
            <a:r>
              <a:rPr lang="en-US" altLang="zh-CN" sz="2200" dirty="0"/>
              <a:t>1</a:t>
            </a:r>
            <a:r>
              <a:rPr lang="zh-CN" altLang="en-US" sz="2200" dirty="0"/>
              <a:t>月</a:t>
            </a:r>
            <a:r>
              <a:rPr lang="en-US" altLang="zh-CN" sz="2200" dirty="0"/>
              <a:t>1</a:t>
            </a:r>
            <a:r>
              <a:rPr lang="zh-CN" altLang="en-US" sz="2200" dirty="0"/>
              <a:t>日起到上次更改口令所经过的天数</a:t>
            </a:r>
          </a:p>
          <a:p>
            <a:pPr lvl="1">
              <a:lnSpc>
                <a:spcPct val="100000"/>
              </a:lnSpc>
            </a:pPr>
            <a:r>
              <a:rPr lang="en-US" altLang="zh-CN" sz="2200" dirty="0"/>
              <a:t>min</a:t>
            </a:r>
            <a:r>
              <a:rPr lang="zh-CN" altLang="en-US" sz="2200" dirty="0"/>
              <a:t>：表示两次修改口令之间至少要经过的天数。</a:t>
            </a:r>
          </a:p>
          <a:p>
            <a:pPr lvl="1">
              <a:lnSpc>
                <a:spcPct val="100000"/>
              </a:lnSpc>
            </a:pPr>
            <a:r>
              <a:rPr lang="en-US" altLang="zh-CN" sz="2200" dirty="0"/>
              <a:t>max</a:t>
            </a:r>
            <a:r>
              <a:rPr lang="zh-CN" altLang="en-US" sz="2200" dirty="0"/>
              <a:t>：表示口令的有效期，如为</a:t>
            </a:r>
            <a:r>
              <a:rPr lang="en-US" altLang="zh-CN" sz="2200" dirty="0"/>
              <a:t>99999</a:t>
            </a:r>
            <a:r>
              <a:rPr lang="zh-CN" altLang="en-US" sz="2200" dirty="0"/>
              <a:t>，则表示永不过期。</a:t>
            </a:r>
          </a:p>
          <a:p>
            <a:pPr lvl="1">
              <a:lnSpc>
                <a:spcPct val="100000"/>
              </a:lnSpc>
            </a:pPr>
            <a:r>
              <a:rPr lang="en-US" altLang="zh-CN" sz="2200" dirty="0"/>
              <a:t>warn</a:t>
            </a:r>
            <a:r>
              <a:rPr lang="zh-CN" altLang="en-US" sz="2200" dirty="0"/>
              <a:t>：表示口令失效前多少天内系统向用户发出警告。</a:t>
            </a:r>
          </a:p>
          <a:p>
            <a:pPr lvl="1">
              <a:lnSpc>
                <a:spcPct val="100000"/>
              </a:lnSpc>
            </a:pPr>
            <a:r>
              <a:rPr lang="en-US" altLang="zh-CN" sz="2200" dirty="0"/>
              <a:t>inactive</a:t>
            </a:r>
            <a:r>
              <a:rPr lang="zh-CN" altLang="en-US" sz="2200" dirty="0"/>
              <a:t>：表示禁止登录之前该用户名尚有效的天数。</a:t>
            </a:r>
          </a:p>
          <a:p>
            <a:pPr lvl="1">
              <a:lnSpc>
                <a:spcPct val="100000"/>
              </a:lnSpc>
            </a:pPr>
            <a:r>
              <a:rPr lang="en-US" altLang="zh-CN" sz="2200" dirty="0"/>
              <a:t>expire</a:t>
            </a:r>
            <a:r>
              <a:rPr lang="zh-CN" altLang="en-US" sz="2200" dirty="0"/>
              <a:t>：表示用户被禁止登录的天数。</a:t>
            </a:r>
          </a:p>
          <a:p>
            <a:pPr lvl="1">
              <a:lnSpc>
                <a:spcPct val="100000"/>
              </a:lnSpc>
            </a:pPr>
            <a:r>
              <a:rPr lang="en-US" altLang="zh-CN" sz="2200" dirty="0"/>
              <a:t>flag</a:t>
            </a:r>
            <a:r>
              <a:rPr lang="zh-CN" altLang="en-US" sz="2200" dirty="0"/>
              <a:t>：未使用。</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1" name="Rectangle 2"/>
          <p:cNvSpPr>
            <a:spLocks noGrp="1" noChangeArrowheads="1"/>
          </p:cNvSpPr>
          <p:nvPr>
            <p:ph type="title"/>
          </p:nvPr>
        </p:nvSpPr>
        <p:spPr/>
        <p:txBody>
          <a:bodyPr/>
          <a:lstStyle/>
          <a:p>
            <a:pPr eaLnBrk="1" hangingPunct="1"/>
            <a:r>
              <a:rPr lang="en-US" altLang="zh-CN"/>
              <a:t>Unix</a:t>
            </a:r>
            <a:r>
              <a:rPr lang="zh-CN" altLang="en-US"/>
              <a:t>口令破解程序</a:t>
            </a:r>
          </a:p>
        </p:txBody>
      </p:sp>
      <p:sp>
        <p:nvSpPr>
          <p:cNvPr id="65542" name="Rectangle 3"/>
          <p:cNvSpPr>
            <a:spLocks noGrp="1" noChangeArrowheads="1"/>
          </p:cNvSpPr>
          <p:nvPr>
            <p:ph type="body" idx="1"/>
          </p:nvPr>
        </p:nvSpPr>
        <p:spPr/>
        <p:txBody>
          <a:bodyPr/>
          <a:lstStyle/>
          <a:p>
            <a:pPr eaLnBrk="1" hangingPunct="1"/>
            <a:r>
              <a:rPr lang="en-US" altLang="zh-CN" dirty="0"/>
              <a:t>Crack </a:t>
            </a:r>
          </a:p>
          <a:p>
            <a:pPr eaLnBrk="1" hangingPunct="1"/>
            <a:r>
              <a:rPr lang="en-US" altLang="zh-CN" dirty="0"/>
              <a:t>John the Ripper </a:t>
            </a:r>
          </a:p>
          <a:p>
            <a:pPr eaLnBrk="1" hangingPunct="1"/>
            <a:r>
              <a:rPr lang="en-US" altLang="zh-CN" dirty="0"/>
              <a:t>XIT </a:t>
            </a:r>
          </a:p>
          <a:p>
            <a:pPr eaLnBrk="1" hangingPunct="1"/>
            <a:r>
              <a:rPr lang="en-US" altLang="zh-CN" dirty="0" err="1"/>
              <a:t>Slurpie</a:t>
            </a:r>
            <a:r>
              <a:rPr lang="en-US" altLang="zh-CN" dirty="0"/>
              <a:t> </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5" name="Rectangle 2"/>
          <p:cNvSpPr>
            <a:spLocks noGrp="1" noChangeArrowheads="1"/>
          </p:cNvSpPr>
          <p:nvPr>
            <p:ph type="title"/>
          </p:nvPr>
        </p:nvSpPr>
        <p:spPr/>
        <p:txBody>
          <a:bodyPr/>
          <a:lstStyle/>
          <a:p>
            <a:pPr eaLnBrk="1" hangingPunct="1"/>
            <a:r>
              <a:rPr lang="en-US" altLang="zh-CN" sz="3900"/>
              <a:t>Crack</a:t>
            </a:r>
          </a:p>
        </p:txBody>
      </p:sp>
      <p:sp>
        <p:nvSpPr>
          <p:cNvPr id="66566" name="Rectangle 3"/>
          <p:cNvSpPr>
            <a:spLocks noGrp="1" noChangeArrowheads="1"/>
          </p:cNvSpPr>
          <p:nvPr>
            <p:ph type="body" idx="1"/>
          </p:nvPr>
        </p:nvSpPr>
        <p:spPr>
          <a:xfrm>
            <a:off x="684213" y="1555115"/>
            <a:ext cx="7920037" cy="4321175"/>
          </a:xfrm>
        </p:spPr>
        <p:txBody>
          <a:bodyPr/>
          <a:lstStyle/>
          <a:p>
            <a:pPr eaLnBrk="1" hangingPunct="1">
              <a:lnSpc>
                <a:spcPct val="150000"/>
              </a:lnSpc>
            </a:pPr>
            <a:r>
              <a:rPr lang="en-US" altLang="zh-CN" dirty="0"/>
              <a:t>Crack</a:t>
            </a:r>
            <a:r>
              <a:rPr lang="zh-CN" altLang="en-US" dirty="0"/>
              <a:t>是最著名的</a:t>
            </a:r>
            <a:r>
              <a:rPr lang="en-US" altLang="zh-CN" dirty="0"/>
              <a:t>Unix</a:t>
            </a:r>
            <a:r>
              <a:rPr lang="zh-CN" altLang="en-US" dirty="0"/>
              <a:t>系统上破解</a:t>
            </a:r>
            <a:r>
              <a:rPr lang="en-US" altLang="zh-CN" dirty="0"/>
              <a:t>UNIX</a:t>
            </a:r>
            <a:r>
              <a:rPr lang="zh-CN" altLang="en-US" dirty="0"/>
              <a:t>口令的工具之一，旨在快速定位</a:t>
            </a:r>
            <a:r>
              <a:rPr lang="en-US" altLang="zh-CN" dirty="0"/>
              <a:t>UNIX</a:t>
            </a:r>
            <a:r>
              <a:rPr lang="zh-CN" altLang="en-US" dirty="0"/>
              <a:t>口令弱点的口令破解程序，使用标准的猜测技术确定口令。</a:t>
            </a:r>
          </a:p>
          <a:p>
            <a:pPr lvl="1" eaLnBrk="1" hangingPunct="1">
              <a:lnSpc>
                <a:spcPct val="150000"/>
              </a:lnSpc>
            </a:pPr>
            <a:r>
              <a:rPr lang="zh-CN" altLang="en-US" dirty="0"/>
              <a:t>它检查口令是否为如下情况之一：和</a:t>
            </a:r>
            <a:r>
              <a:rPr lang="en-US" altLang="zh-CN" dirty="0"/>
              <a:t>user id</a:t>
            </a:r>
            <a:r>
              <a:rPr lang="zh-CN" altLang="en-US" dirty="0"/>
              <a:t>相同、单词</a:t>
            </a:r>
            <a:r>
              <a:rPr lang="en-US" altLang="zh-CN" dirty="0"/>
              <a:t>password</a:t>
            </a:r>
            <a:r>
              <a:rPr lang="zh-CN" altLang="en-US" dirty="0"/>
              <a:t>、数字串、字母串。</a:t>
            </a:r>
            <a:endParaRPr lang="en-US" altLang="zh-CN"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9" name="Rectangle 2"/>
          <p:cNvSpPr>
            <a:spLocks noGrp="1" noChangeArrowheads="1"/>
          </p:cNvSpPr>
          <p:nvPr>
            <p:ph type="title"/>
          </p:nvPr>
        </p:nvSpPr>
        <p:spPr/>
        <p:txBody>
          <a:bodyPr/>
          <a:lstStyle/>
          <a:p>
            <a:pPr eaLnBrk="1" hangingPunct="1"/>
            <a:r>
              <a:rPr lang="en-US" altLang="zh-CN" sz="4100"/>
              <a:t>Crack</a:t>
            </a:r>
            <a:r>
              <a:rPr lang="zh-CN" altLang="en-US" sz="4100"/>
              <a:t>工具介绍</a:t>
            </a:r>
          </a:p>
        </p:txBody>
      </p:sp>
      <p:sp>
        <p:nvSpPr>
          <p:cNvPr id="67590" name="Rectangle 3"/>
          <p:cNvSpPr>
            <a:spLocks noGrp="1" noChangeArrowheads="1"/>
          </p:cNvSpPr>
          <p:nvPr>
            <p:ph type="body" idx="1"/>
          </p:nvPr>
        </p:nvSpPr>
        <p:spPr>
          <a:xfrm>
            <a:off x="575628" y="1316038"/>
            <a:ext cx="7848600" cy="5191442"/>
          </a:xfrm>
        </p:spPr>
        <p:txBody>
          <a:bodyPr/>
          <a:lstStyle/>
          <a:p>
            <a:pPr eaLnBrk="1" hangingPunct="1"/>
            <a:r>
              <a:rPr lang="en-US" altLang="zh-CN" sz="2700" dirty="0"/>
              <a:t>Crack </a:t>
            </a:r>
            <a:r>
              <a:rPr lang="zh-CN" altLang="en-US" sz="2700" dirty="0"/>
              <a:t>的工作原理很简单。我们知道</a:t>
            </a:r>
            <a:r>
              <a:rPr lang="en-US" altLang="zh-CN" sz="2700" dirty="0"/>
              <a:t>Unix</a:t>
            </a:r>
            <a:r>
              <a:rPr lang="zh-CN" altLang="en-US" sz="2700" dirty="0"/>
              <a:t>加密口令是不会被解开的，这是因为加密算法是不可逆的。所以，通过生成口令进行加密去匹配原口令密码，或直接从网上截获明文口令。</a:t>
            </a:r>
          </a:p>
          <a:p>
            <a:pPr lvl="1" eaLnBrk="1" hangingPunct="1"/>
            <a:r>
              <a:rPr lang="en-US" altLang="zh-CN" sz="2300" dirty="0"/>
              <a:t>Crack </a:t>
            </a:r>
            <a:r>
              <a:rPr lang="zh-CN" altLang="en-US" sz="2300" dirty="0"/>
              <a:t>程序中包含了几个很大的字典库，进行解破时它会按照一定的规则将字词进行组合，然后对之进行加密，再与要解破的加密口令匹配。所以运行</a:t>
            </a:r>
            <a:r>
              <a:rPr lang="en-US" altLang="zh-CN" sz="2300" dirty="0"/>
              <a:t>Crack</a:t>
            </a:r>
            <a:r>
              <a:rPr lang="zh-CN" altLang="en-US" sz="2300" dirty="0"/>
              <a:t>通常要占用大量的</a:t>
            </a:r>
            <a:r>
              <a:rPr lang="en-US" altLang="zh-CN" sz="2300" dirty="0"/>
              <a:t>CPU</a:t>
            </a:r>
            <a:r>
              <a:rPr lang="zh-CN" altLang="en-US" sz="2300" dirty="0"/>
              <a:t>，并要运行相当长的时间才结束。</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3" name="Rectangle 2"/>
          <p:cNvSpPr>
            <a:spLocks noGrp="1" noChangeArrowheads="1"/>
          </p:cNvSpPr>
          <p:nvPr>
            <p:ph type="title"/>
          </p:nvPr>
        </p:nvSpPr>
        <p:spPr/>
        <p:txBody>
          <a:bodyPr/>
          <a:lstStyle/>
          <a:p>
            <a:pPr eaLnBrk="1" hangingPunct="1"/>
            <a:r>
              <a:rPr lang="en-US" altLang="zh-CN" sz="4100"/>
              <a:t>Crack</a:t>
            </a:r>
            <a:r>
              <a:rPr lang="zh-CN" altLang="en-US" sz="4100"/>
              <a:t>工具介绍</a:t>
            </a:r>
            <a:r>
              <a:rPr lang="en-US" altLang="zh-CN" sz="4100"/>
              <a:t>(2)</a:t>
            </a:r>
          </a:p>
        </p:txBody>
      </p:sp>
      <p:sp>
        <p:nvSpPr>
          <p:cNvPr id="68614" name="Rectangle 3"/>
          <p:cNvSpPr>
            <a:spLocks noGrp="1" noChangeArrowheads="1"/>
          </p:cNvSpPr>
          <p:nvPr>
            <p:ph type="body" idx="1"/>
          </p:nvPr>
        </p:nvSpPr>
        <p:spPr>
          <a:xfrm>
            <a:off x="429894" y="1261428"/>
            <a:ext cx="7860665" cy="4819332"/>
          </a:xfrm>
        </p:spPr>
        <p:txBody>
          <a:bodyPr/>
          <a:lstStyle/>
          <a:p>
            <a:pPr eaLnBrk="1" hangingPunct="1">
              <a:lnSpc>
                <a:spcPts val="4400"/>
              </a:lnSpc>
            </a:pPr>
            <a:r>
              <a:rPr lang="zh-CN" altLang="en-US" sz="2800" dirty="0"/>
              <a:t>以</a:t>
            </a:r>
            <a:r>
              <a:rPr lang="en-US" altLang="zh-CN" sz="2800" dirty="0"/>
              <a:t>Crack5.0</a:t>
            </a:r>
            <a:r>
              <a:rPr lang="zh-CN" altLang="en-US" sz="2800" dirty="0"/>
              <a:t>为例，安装和使用步骤如下：</a:t>
            </a:r>
          </a:p>
          <a:p>
            <a:pPr lvl="1" eaLnBrk="1" hangingPunct="1">
              <a:lnSpc>
                <a:spcPts val="4400"/>
              </a:lnSpc>
            </a:pPr>
            <a:r>
              <a:rPr lang="zh-CN" altLang="en-US" dirty="0"/>
              <a:t>修改</a:t>
            </a:r>
            <a:r>
              <a:rPr lang="en-US" altLang="zh-CN" dirty="0"/>
              <a:t>Crack, </a:t>
            </a:r>
            <a:r>
              <a:rPr lang="zh-CN" altLang="en-US" dirty="0"/>
              <a:t>修改</a:t>
            </a:r>
            <a:r>
              <a:rPr lang="en-US" altLang="zh-CN" dirty="0"/>
              <a:t>CC</a:t>
            </a:r>
            <a:r>
              <a:rPr lang="zh-CN" altLang="en-US" dirty="0"/>
              <a:t>之类的参数。 </a:t>
            </a:r>
          </a:p>
          <a:p>
            <a:pPr lvl="1" eaLnBrk="1" hangingPunct="1">
              <a:lnSpc>
                <a:spcPts val="4400"/>
              </a:lnSpc>
            </a:pPr>
            <a:r>
              <a:rPr lang="zh-CN" altLang="en-US" dirty="0"/>
              <a:t>执行 </a:t>
            </a:r>
            <a:r>
              <a:rPr lang="en-US" altLang="zh-CN" dirty="0"/>
              <a:t>Crack </a:t>
            </a:r>
            <a:r>
              <a:rPr lang="en-US" altLang="zh-CN" dirty="0">
                <a:latin typeface="Arial" panose="020B0604020202020204" pitchFamily="34" charset="0"/>
              </a:rPr>
              <a:t>–</a:t>
            </a:r>
            <a:r>
              <a:rPr lang="en-US" altLang="zh-CN" dirty="0" err="1"/>
              <a:t>makeonly</a:t>
            </a:r>
            <a:r>
              <a:rPr lang="en-US" altLang="zh-CN" dirty="0"/>
              <a:t> </a:t>
            </a:r>
            <a:r>
              <a:rPr lang="zh-CN" altLang="en-US" dirty="0"/>
              <a:t>生成可执行代码。 </a:t>
            </a:r>
          </a:p>
          <a:p>
            <a:pPr lvl="1" eaLnBrk="1" hangingPunct="1">
              <a:lnSpc>
                <a:spcPts val="4400"/>
              </a:lnSpc>
            </a:pPr>
            <a:r>
              <a:rPr lang="zh-CN" altLang="en-US" dirty="0"/>
              <a:t>执行 </a:t>
            </a:r>
            <a:r>
              <a:rPr lang="en-US" altLang="zh-CN" dirty="0"/>
              <a:t>Crack </a:t>
            </a:r>
            <a:r>
              <a:rPr lang="en-US" altLang="zh-CN" dirty="0">
                <a:latin typeface="Arial" panose="020B0604020202020204" pitchFamily="34" charset="0"/>
              </a:rPr>
              <a:t>–</a:t>
            </a:r>
            <a:r>
              <a:rPr lang="en-US" altLang="zh-CN" dirty="0" err="1"/>
              <a:t>makedict</a:t>
            </a:r>
            <a:r>
              <a:rPr lang="en-US" altLang="zh-CN" dirty="0"/>
              <a:t> </a:t>
            </a:r>
            <a:r>
              <a:rPr lang="zh-CN" altLang="en-US" dirty="0"/>
              <a:t>生成字典。</a:t>
            </a:r>
          </a:p>
          <a:p>
            <a:pPr lvl="1" eaLnBrk="1" hangingPunct="1">
              <a:lnSpc>
                <a:spcPts val="4400"/>
              </a:lnSpc>
            </a:pPr>
            <a:r>
              <a:rPr lang="zh-CN" altLang="en-US" dirty="0"/>
              <a:t>执行 </a:t>
            </a:r>
            <a:r>
              <a:rPr lang="en-US" altLang="zh-CN" dirty="0"/>
              <a:t>scripts/shadmrg.sv &gt; </a:t>
            </a:r>
            <a:r>
              <a:rPr lang="en-US" altLang="zh-CN" dirty="0" err="1"/>
              <a:t>passwd</a:t>
            </a:r>
            <a:r>
              <a:rPr lang="en-US" altLang="zh-CN" dirty="0"/>
              <a:t> </a:t>
            </a:r>
            <a:r>
              <a:rPr lang="zh-CN" altLang="en-US" dirty="0"/>
              <a:t>将</a:t>
            </a:r>
            <a:r>
              <a:rPr lang="en-US" altLang="zh-CN" dirty="0"/>
              <a:t>/etc/</a:t>
            </a:r>
            <a:r>
              <a:rPr lang="en-US" altLang="zh-CN" dirty="0" err="1"/>
              <a:t>passwd</a:t>
            </a:r>
            <a:r>
              <a:rPr lang="en-US" altLang="zh-CN" dirty="0"/>
              <a:t> </a:t>
            </a:r>
            <a:r>
              <a:rPr lang="zh-CN" altLang="en-US" dirty="0"/>
              <a:t>和</a:t>
            </a:r>
            <a:r>
              <a:rPr lang="en-US" altLang="zh-CN" dirty="0"/>
              <a:t>/etc/shadow </a:t>
            </a:r>
            <a:r>
              <a:rPr lang="zh-CN" altLang="en-US" dirty="0"/>
              <a:t>文件合并。</a:t>
            </a:r>
          </a:p>
          <a:p>
            <a:pPr lvl="1" eaLnBrk="1" hangingPunct="1">
              <a:lnSpc>
                <a:spcPts val="4400"/>
              </a:lnSpc>
            </a:pPr>
            <a:r>
              <a:rPr lang="zh-CN" altLang="en-US" dirty="0"/>
              <a:t>执行</a:t>
            </a:r>
            <a:r>
              <a:rPr lang="en-US" altLang="zh-CN" dirty="0"/>
              <a:t>Crack </a:t>
            </a:r>
            <a:r>
              <a:rPr lang="en-US" altLang="zh-CN" dirty="0" err="1"/>
              <a:t>passwd</a:t>
            </a:r>
            <a:r>
              <a:rPr lang="en-US" altLang="zh-CN" dirty="0"/>
              <a:t> </a:t>
            </a:r>
            <a:r>
              <a:rPr lang="zh-CN" altLang="en-US" dirty="0"/>
              <a:t>解破</a:t>
            </a:r>
            <a:r>
              <a:rPr lang="en-US" altLang="zh-CN" dirty="0" err="1"/>
              <a:t>passwd</a:t>
            </a:r>
            <a:r>
              <a:rPr lang="zh-CN" altLang="en-US" dirty="0"/>
              <a:t>中的口令。</a:t>
            </a:r>
          </a:p>
          <a:p>
            <a:pPr lvl="1" eaLnBrk="1" hangingPunct="1">
              <a:lnSpc>
                <a:spcPts val="4400"/>
              </a:lnSpc>
            </a:pPr>
            <a:r>
              <a:rPr lang="zh-CN" altLang="en-US" dirty="0"/>
              <a:t>执行 </a:t>
            </a:r>
            <a:r>
              <a:rPr lang="en-US" altLang="zh-CN" dirty="0"/>
              <a:t>./Reporter </a:t>
            </a:r>
            <a:r>
              <a:rPr lang="zh-CN" altLang="en-US" dirty="0"/>
              <a:t>查看解破结果。</a:t>
            </a:r>
          </a:p>
          <a:p>
            <a:pPr eaLnBrk="1" hangingPunct="1">
              <a:lnSpc>
                <a:spcPts val="4400"/>
              </a:lnSpc>
            </a:pPr>
            <a:endParaRPr lang="en-US" altLang="zh-CN"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John The Ripper</a:t>
            </a:r>
            <a:endParaRPr lang="zh-CN" altLang="en-US" dirty="0"/>
          </a:p>
        </p:txBody>
      </p:sp>
      <p:pic>
        <p:nvPicPr>
          <p:cNvPr id="2050" name="Picture 2"/>
          <p:cNvPicPr>
            <a:picLocks noChangeAspect="1" noChangeArrowheads="1"/>
          </p:cNvPicPr>
          <p:nvPr/>
        </p:nvPicPr>
        <p:blipFill>
          <a:blip r:embed="rId3" cstate="print"/>
          <a:srcRect/>
          <a:stretch>
            <a:fillRect/>
          </a:stretch>
        </p:blipFill>
        <p:spPr bwMode="auto">
          <a:xfrm>
            <a:off x="333375" y="1200149"/>
            <a:ext cx="8582025" cy="5086351"/>
          </a:xfrm>
          <a:prstGeom prst="rect">
            <a:avLst/>
          </a:prstGeom>
          <a:noFill/>
          <a:ln w="9525">
            <a:noFill/>
            <a:miter lim="800000"/>
            <a:headEnd/>
            <a:tailEnd/>
          </a:ln>
          <a:effec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7" name="Rectangle 2"/>
          <p:cNvSpPr>
            <a:spLocks noGrp="1" noChangeArrowheads="1"/>
          </p:cNvSpPr>
          <p:nvPr>
            <p:ph type="title"/>
          </p:nvPr>
        </p:nvSpPr>
        <p:spPr/>
        <p:txBody>
          <a:bodyPr/>
          <a:lstStyle/>
          <a:p>
            <a:pPr eaLnBrk="1" hangingPunct="1"/>
            <a:r>
              <a:rPr lang="en-US" altLang="zh-CN"/>
              <a:t>John The Ripper</a:t>
            </a:r>
          </a:p>
        </p:txBody>
      </p:sp>
      <p:sp>
        <p:nvSpPr>
          <p:cNvPr id="69638" name="Rectangle 3"/>
          <p:cNvSpPr>
            <a:spLocks noGrp="1" noChangeArrowheads="1"/>
          </p:cNvSpPr>
          <p:nvPr>
            <p:ph type="body" idx="1"/>
          </p:nvPr>
        </p:nvSpPr>
        <p:spPr/>
        <p:txBody>
          <a:bodyPr/>
          <a:lstStyle/>
          <a:p>
            <a:pPr eaLnBrk="1" hangingPunct="1"/>
            <a:r>
              <a:rPr lang="en-US" altLang="zh-CN" sz="2600" dirty="0"/>
              <a:t>John The Ripper</a:t>
            </a:r>
            <a:r>
              <a:rPr lang="zh-CN" altLang="en-US" sz="2600" dirty="0"/>
              <a:t>这个软件是由著名的黑客组织</a:t>
            </a:r>
            <a:r>
              <a:rPr lang="en-US" altLang="zh-CN" sz="2600" dirty="0"/>
              <a:t>UCF</a:t>
            </a:r>
            <a:r>
              <a:rPr lang="zh-CN" altLang="en-US" sz="2600" dirty="0"/>
              <a:t>编写的，它支持</a:t>
            </a:r>
            <a:r>
              <a:rPr lang="en-US" altLang="zh-CN" sz="2600" dirty="0"/>
              <a:t>UNIX</a:t>
            </a:r>
            <a:r>
              <a:rPr lang="zh-CN" altLang="en-US" sz="2600" dirty="0"/>
              <a:t>、</a:t>
            </a:r>
            <a:r>
              <a:rPr lang="en-US" altLang="zh-CN" sz="2600" dirty="0"/>
              <a:t>DOS</a:t>
            </a:r>
            <a:r>
              <a:rPr lang="zh-CN" altLang="en-US" sz="2600" dirty="0"/>
              <a:t>、</a:t>
            </a:r>
            <a:r>
              <a:rPr lang="en-US" altLang="zh-CN" sz="2600" dirty="0"/>
              <a:t>Windows</a:t>
            </a:r>
            <a:r>
              <a:rPr lang="zh-CN" altLang="en-US" sz="2600" dirty="0"/>
              <a:t>。</a:t>
            </a:r>
          </a:p>
          <a:p>
            <a:pPr eaLnBrk="1" hangingPunct="1"/>
            <a:r>
              <a:rPr lang="zh-CN" altLang="en-US" sz="2600" dirty="0"/>
              <a:t>对于老式的</a:t>
            </a:r>
            <a:r>
              <a:rPr lang="en-US" altLang="zh-CN" sz="2600" dirty="0" err="1"/>
              <a:t>passwd</a:t>
            </a:r>
            <a:r>
              <a:rPr lang="zh-CN" altLang="en-US" sz="2600" dirty="0"/>
              <a:t>文档（没有</a:t>
            </a:r>
            <a:r>
              <a:rPr lang="en-US" altLang="zh-CN" sz="2600" dirty="0"/>
              <a:t>shadow</a:t>
            </a:r>
            <a:r>
              <a:rPr lang="zh-CN" altLang="en-US" sz="2600" dirty="0"/>
              <a:t>），</a:t>
            </a:r>
            <a:r>
              <a:rPr lang="en-US" altLang="zh-CN" sz="2600" dirty="0"/>
              <a:t>John</a:t>
            </a:r>
            <a:r>
              <a:rPr lang="zh-CN" altLang="en-US" sz="2600" dirty="0"/>
              <a:t>可以直接读取并用字典穷举破解。</a:t>
            </a:r>
          </a:p>
          <a:p>
            <a:pPr eaLnBrk="1" hangingPunct="1"/>
            <a:r>
              <a:rPr lang="zh-CN" altLang="en-US" sz="2600" dirty="0"/>
              <a:t>对于现代</a:t>
            </a:r>
            <a:r>
              <a:rPr lang="en-US" altLang="zh-CN" sz="2600" dirty="0"/>
              <a:t>UNIX/Linux</a:t>
            </a:r>
            <a:r>
              <a:rPr lang="zh-CN" altLang="en-US" sz="2600" dirty="0"/>
              <a:t>的</a:t>
            </a:r>
            <a:r>
              <a:rPr lang="en-US" altLang="zh-CN" sz="2600" dirty="0" err="1"/>
              <a:t>passwd+shadow</a:t>
            </a:r>
            <a:r>
              <a:rPr lang="zh-CN" altLang="en-US" sz="2600" dirty="0"/>
              <a:t>的方式，</a:t>
            </a:r>
            <a:r>
              <a:rPr lang="en-US" altLang="zh-CN" sz="2600" dirty="0"/>
              <a:t>John</a:t>
            </a:r>
            <a:r>
              <a:rPr lang="zh-CN" altLang="en-US" sz="2600" dirty="0"/>
              <a:t>提供了</a:t>
            </a:r>
            <a:r>
              <a:rPr lang="en-US" altLang="zh-CN" sz="2600" dirty="0" err="1"/>
              <a:t>unshadow</a:t>
            </a:r>
            <a:r>
              <a:rPr lang="zh-CN" altLang="en-US" sz="2600" dirty="0"/>
              <a:t>程序可以直接把两者合成出老式的</a:t>
            </a:r>
            <a:r>
              <a:rPr lang="en-US" altLang="zh-CN" sz="2600" dirty="0" err="1"/>
              <a:t>passwd</a:t>
            </a:r>
            <a:r>
              <a:rPr lang="zh-CN" altLang="en-US" sz="2600" dirty="0"/>
              <a:t>文件。 </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1" name="Rectangle 2"/>
          <p:cNvSpPr>
            <a:spLocks noGrp="1" noChangeArrowheads="1"/>
          </p:cNvSpPr>
          <p:nvPr>
            <p:ph type="title"/>
          </p:nvPr>
        </p:nvSpPr>
        <p:spPr/>
        <p:txBody>
          <a:bodyPr/>
          <a:lstStyle/>
          <a:p>
            <a:pPr eaLnBrk="1" hangingPunct="1"/>
            <a:r>
              <a:rPr lang="en-US" altLang="zh-CN"/>
              <a:t>John The Ripper(2)</a:t>
            </a:r>
          </a:p>
        </p:txBody>
      </p:sp>
      <p:sp>
        <p:nvSpPr>
          <p:cNvPr id="70662" name="Rectangle 3"/>
          <p:cNvSpPr>
            <a:spLocks noGrp="1" noChangeArrowheads="1"/>
          </p:cNvSpPr>
          <p:nvPr>
            <p:ph type="body" idx="1"/>
          </p:nvPr>
        </p:nvSpPr>
        <p:spPr>
          <a:xfrm>
            <a:off x="611188" y="1352550"/>
            <a:ext cx="7416800" cy="4525963"/>
          </a:xfrm>
        </p:spPr>
        <p:txBody>
          <a:bodyPr/>
          <a:lstStyle/>
          <a:p>
            <a:pPr eaLnBrk="1" hangingPunct="1"/>
            <a:r>
              <a:rPr lang="en-US" altLang="zh-CN" dirty="0"/>
              <a:t>John The Ripper</a:t>
            </a:r>
            <a:r>
              <a:rPr lang="zh-CN" altLang="en-US" dirty="0"/>
              <a:t>有四种破解模式</a:t>
            </a:r>
            <a:r>
              <a:rPr lang="en-US" altLang="zh-CN" dirty="0"/>
              <a:t>:</a:t>
            </a:r>
          </a:p>
          <a:p>
            <a:pPr lvl="1" eaLnBrk="1" hangingPunct="1"/>
            <a:r>
              <a:rPr lang="en-US" altLang="zh-CN" dirty="0">
                <a:latin typeface="Arial" panose="020B0604020202020204" pitchFamily="34" charset="0"/>
              </a:rPr>
              <a:t>“</a:t>
            </a:r>
            <a:r>
              <a:rPr lang="zh-CN" altLang="en-US" dirty="0"/>
              <a:t>字典文件</a:t>
            </a:r>
            <a:r>
              <a:rPr lang="zh-CN" altLang="en-US" dirty="0">
                <a:latin typeface="Arial" panose="020B0604020202020204" pitchFamily="34" charset="0"/>
              </a:rPr>
              <a:t>”</a:t>
            </a:r>
            <a:r>
              <a:rPr lang="zh-CN" altLang="en-US" dirty="0"/>
              <a:t>破解模式</a:t>
            </a:r>
          </a:p>
          <a:p>
            <a:pPr lvl="1" eaLnBrk="1" hangingPunct="1">
              <a:buFont typeface="Wingdings" panose="05000000000000000000" pitchFamily="2" charset="2"/>
              <a:buNone/>
            </a:pPr>
            <a:r>
              <a:rPr lang="zh-CN" altLang="en-US" dirty="0"/>
              <a:t>	（</a:t>
            </a:r>
            <a:r>
              <a:rPr lang="en-US" altLang="zh-CN" dirty="0" err="1"/>
              <a:t>Worldlist</a:t>
            </a:r>
            <a:r>
              <a:rPr lang="en-US" altLang="zh-CN" dirty="0"/>
              <a:t> Mode</a:t>
            </a:r>
            <a:r>
              <a:rPr lang="zh-CN" altLang="en-US" dirty="0"/>
              <a:t>） </a:t>
            </a:r>
          </a:p>
          <a:p>
            <a:pPr lvl="1" eaLnBrk="1" hangingPunct="1"/>
            <a:r>
              <a:rPr lang="zh-CN" altLang="en-US" dirty="0">
                <a:latin typeface="Arial" panose="020B0604020202020204" pitchFamily="34" charset="0"/>
              </a:rPr>
              <a:t>“</a:t>
            </a:r>
            <a:r>
              <a:rPr lang="zh-CN" altLang="en-US" dirty="0"/>
              <a:t>简单</a:t>
            </a:r>
            <a:r>
              <a:rPr lang="zh-CN" altLang="en-US" dirty="0">
                <a:latin typeface="Arial" panose="020B0604020202020204" pitchFamily="34" charset="0"/>
              </a:rPr>
              <a:t>”</a:t>
            </a:r>
            <a:r>
              <a:rPr lang="zh-CN" altLang="en-US" dirty="0"/>
              <a:t>破解模式</a:t>
            </a:r>
          </a:p>
          <a:p>
            <a:pPr lvl="1" eaLnBrk="1" hangingPunct="1">
              <a:buFont typeface="Wingdings" panose="05000000000000000000" pitchFamily="2" charset="2"/>
              <a:buNone/>
            </a:pPr>
            <a:r>
              <a:rPr lang="zh-CN" altLang="en-US" dirty="0"/>
              <a:t>	（</a:t>
            </a:r>
            <a:r>
              <a:rPr lang="en-US" altLang="zh-CN" dirty="0"/>
              <a:t>Single Crack</a:t>
            </a:r>
            <a:r>
              <a:rPr lang="zh-CN" altLang="en-US" dirty="0"/>
              <a:t>） </a:t>
            </a:r>
          </a:p>
          <a:p>
            <a:pPr lvl="1" eaLnBrk="1" hangingPunct="1"/>
            <a:r>
              <a:rPr lang="zh-CN" altLang="en-US" dirty="0">
                <a:latin typeface="Arial" panose="020B0604020202020204" pitchFamily="34" charset="0"/>
              </a:rPr>
              <a:t>“</a:t>
            </a:r>
            <a:r>
              <a:rPr lang="zh-CN" altLang="en-US" dirty="0"/>
              <a:t>增强</a:t>
            </a:r>
            <a:r>
              <a:rPr lang="zh-CN" altLang="en-US" dirty="0">
                <a:latin typeface="Arial" panose="020B0604020202020204" pitchFamily="34" charset="0"/>
              </a:rPr>
              <a:t>”</a:t>
            </a:r>
            <a:r>
              <a:rPr lang="zh-CN" altLang="en-US" dirty="0"/>
              <a:t>破解模式</a:t>
            </a:r>
          </a:p>
          <a:p>
            <a:pPr lvl="1" eaLnBrk="1" hangingPunct="1">
              <a:buFont typeface="Wingdings" panose="05000000000000000000" pitchFamily="2" charset="2"/>
              <a:buNone/>
            </a:pPr>
            <a:r>
              <a:rPr lang="zh-CN" altLang="en-US" dirty="0"/>
              <a:t>	（</a:t>
            </a:r>
            <a:r>
              <a:rPr lang="en-US" altLang="zh-CN" dirty="0"/>
              <a:t>Incremental Mode</a:t>
            </a:r>
            <a:r>
              <a:rPr lang="zh-CN" altLang="en-US" dirty="0"/>
              <a:t>） </a:t>
            </a:r>
          </a:p>
          <a:p>
            <a:pPr lvl="1" eaLnBrk="1" hangingPunct="1"/>
            <a:r>
              <a:rPr lang="zh-CN" altLang="en-US" dirty="0">
                <a:latin typeface="Arial" panose="020B0604020202020204" pitchFamily="34" charset="0"/>
              </a:rPr>
              <a:t>“</a:t>
            </a:r>
            <a:r>
              <a:rPr lang="zh-CN" altLang="en-US" dirty="0"/>
              <a:t>外挂模块</a:t>
            </a:r>
            <a:r>
              <a:rPr lang="zh-CN" altLang="en-US" dirty="0">
                <a:latin typeface="Arial" panose="020B0604020202020204" pitchFamily="34" charset="0"/>
              </a:rPr>
              <a:t>”</a:t>
            </a:r>
            <a:r>
              <a:rPr lang="zh-CN" altLang="en-US" dirty="0"/>
              <a:t>破解模式</a:t>
            </a:r>
          </a:p>
          <a:p>
            <a:pPr lvl="1" eaLnBrk="1" hangingPunct="1">
              <a:buFont typeface="Wingdings" panose="05000000000000000000" pitchFamily="2" charset="2"/>
              <a:buNone/>
            </a:pPr>
            <a:r>
              <a:rPr lang="zh-CN" altLang="en-US" dirty="0"/>
              <a:t>	（</a:t>
            </a:r>
            <a:r>
              <a:rPr lang="en-US" altLang="zh-CN" dirty="0"/>
              <a:t>External Mode</a:t>
            </a:r>
            <a:r>
              <a:rPr lang="zh-CN" altLang="en-US" dirty="0"/>
              <a:t>） </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Grp="1" noChangeArrowheads="1"/>
          </p:cNvSpPr>
          <p:nvPr>
            <p:ph type="title"/>
          </p:nvPr>
        </p:nvSpPr>
        <p:spPr/>
        <p:txBody>
          <a:bodyPr/>
          <a:lstStyle/>
          <a:p>
            <a:pPr eaLnBrk="1" hangingPunct="1"/>
            <a:r>
              <a:rPr lang="en-US" altLang="zh-CN">
                <a:latin typeface="Arial" panose="020B0604020202020204" pitchFamily="34" charset="0"/>
              </a:rPr>
              <a:t>“</a:t>
            </a:r>
            <a:r>
              <a:rPr lang="zh-CN" altLang="en-US"/>
              <a:t>字典文件</a:t>
            </a:r>
            <a:r>
              <a:rPr lang="zh-CN" altLang="en-US">
                <a:latin typeface="Arial" panose="020B0604020202020204" pitchFamily="34" charset="0"/>
              </a:rPr>
              <a:t>”</a:t>
            </a:r>
            <a:r>
              <a:rPr lang="zh-CN" altLang="en-US"/>
              <a:t>破解模式</a:t>
            </a:r>
          </a:p>
        </p:txBody>
      </p:sp>
      <p:sp>
        <p:nvSpPr>
          <p:cNvPr id="71686" name="Rectangle 3"/>
          <p:cNvSpPr>
            <a:spLocks noGrp="1" noChangeArrowheads="1"/>
          </p:cNvSpPr>
          <p:nvPr>
            <p:ph type="body" idx="1"/>
          </p:nvPr>
        </p:nvSpPr>
        <p:spPr/>
        <p:txBody>
          <a:bodyPr/>
          <a:lstStyle/>
          <a:p>
            <a:pPr eaLnBrk="1" hangingPunct="1"/>
            <a:r>
              <a:rPr lang="zh-CN" altLang="en-US" sz="2600" dirty="0"/>
              <a:t>这是</a:t>
            </a:r>
            <a:r>
              <a:rPr lang="en-US" altLang="zh-CN" sz="2600" dirty="0"/>
              <a:t>John</a:t>
            </a:r>
            <a:r>
              <a:rPr lang="zh-CN" altLang="en-US" sz="2600" dirty="0"/>
              <a:t>所支持的破解模式中的最简单的一种，你要做的唯一的工作就是告诉</a:t>
            </a:r>
            <a:r>
              <a:rPr lang="en-US" altLang="zh-CN" sz="2600" dirty="0"/>
              <a:t>John</a:t>
            </a:r>
            <a:r>
              <a:rPr lang="zh-CN" altLang="en-US" sz="2600" dirty="0"/>
              <a:t>字典文件在哪，好让它取出破解。</a:t>
            </a:r>
          </a:p>
          <a:p>
            <a:pPr eaLnBrk="1" hangingPunct="1"/>
            <a:r>
              <a:rPr lang="zh-CN" altLang="en-US" sz="2600" dirty="0"/>
              <a:t>在</a:t>
            </a:r>
            <a:r>
              <a:rPr lang="zh-CN" altLang="en-US" sz="2600" dirty="0">
                <a:latin typeface="Arial" panose="020B0604020202020204" pitchFamily="34" charset="0"/>
              </a:rPr>
              <a:t>“</a:t>
            </a:r>
            <a:r>
              <a:rPr lang="zh-CN" altLang="en-US" sz="2600" dirty="0"/>
              <a:t>字典文件</a:t>
            </a:r>
            <a:r>
              <a:rPr lang="zh-CN" altLang="en-US" sz="2600" dirty="0">
                <a:latin typeface="Arial" panose="020B0604020202020204" pitchFamily="34" charset="0"/>
              </a:rPr>
              <a:t>”</a:t>
            </a:r>
            <a:r>
              <a:rPr lang="zh-CN" altLang="en-US" sz="2600" dirty="0"/>
              <a:t>破解模式里可以使用</a:t>
            </a:r>
            <a:r>
              <a:rPr lang="zh-CN" altLang="en-US" sz="2600" dirty="0">
                <a:latin typeface="Arial" panose="020B0604020202020204" pitchFamily="34" charset="0"/>
              </a:rPr>
              <a:t>“</a:t>
            </a:r>
            <a:r>
              <a:rPr lang="zh-CN" altLang="en-US" sz="2600" dirty="0"/>
              <a:t>字词变化</a:t>
            </a:r>
            <a:r>
              <a:rPr lang="zh-CN" altLang="en-US" sz="2600" dirty="0">
                <a:latin typeface="Arial" panose="020B0604020202020204" pitchFamily="34" charset="0"/>
              </a:rPr>
              <a:t>”</a:t>
            </a:r>
            <a:r>
              <a:rPr lang="zh-CN" altLang="en-US" sz="2600" dirty="0"/>
              <a:t>功能，让这些规则自动的套用在每个读入的单词中，以增加破解的几率。</a:t>
            </a:r>
          </a:p>
          <a:p>
            <a:pPr eaLnBrk="1" hangingPunct="1"/>
            <a:r>
              <a:rPr lang="zh-CN" altLang="en-US" sz="2600" dirty="0"/>
              <a:t>如字典中有单词</a:t>
            </a:r>
            <a:r>
              <a:rPr lang="en-US" altLang="zh-CN" sz="2600" dirty="0"/>
              <a:t>cool</a:t>
            </a:r>
            <a:r>
              <a:rPr lang="zh-CN" altLang="en-US" sz="2600" dirty="0"/>
              <a:t>，则</a:t>
            </a:r>
            <a:r>
              <a:rPr lang="en-US" altLang="zh-CN" sz="2600" dirty="0"/>
              <a:t>John</a:t>
            </a:r>
            <a:r>
              <a:rPr lang="zh-CN" altLang="en-US" sz="2600" dirty="0"/>
              <a:t>还会尝试使用</a:t>
            </a:r>
            <a:r>
              <a:rPr lang="en-US" altLang="zh-CN" sz="2600" dirty="0"/>
              <a:t>cooler</a:t>
            </a:r>
            <a:r>
              <a:rPr lang="zh-CN" altLang="en-US" sz="2600" dirty="0"/>
              <a:t>，</a:t>
            </a:r>
            <a:r>
              <a:rPr lang="en-US" altLang="zh-CN" sz="2600" dirty="0" err="1"/>
              <a:t>coOl,Cool</a:t>
            </a:r>
            <a:r>
              <a:rPr lang="zh-CN" altLang="en-US" sz="2600" dirty="0"/>
              <a:t>等单词进行解密。 </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9" name="Rectangle 2"/>
          <p:cNvSpPr>
            <a:spLocks noGrp="1" noChangeArrowheads="1"/>
          </p:cNvSpPr>
          <p:nvPr>
            <p:ph type="title"/>
          </p:nvPr>
        </p:nvSpPr>
        <p:spPr/>
        <p:txBody>
          <a:bodyPr/>
          <a:lstStyle/>
          <a:p>
            <a:pPr eaLnBrk="1" hangingPunct="1"/>
            <a:r>
              <a:rPr lang="en-US" altLang="zh-CN">
                <a:latin typeface="Arial" panose="020B0604020202020204" pitchFamily="34" charset="0"/>
              </a:rPr>
              <a:t>“</a:t>
            </a:r>
            <a:r>
              <a:rPr lang="zh-CN" altLang="en-US"/>
              <a:t>简单</a:t>
            </a:r>
            <a:r>
              <a:rPr lang="zh-CN" altLang="en-US">
                <a:latin typeface="Arial" panose="020B0604020202020204" pitchFamily="34" charset="0"/>
              </a:rPr>
              <a:t>”</a:t>
            </a:r>
            <a:r>
              <a:rPr lang="zh-CN" altLang="en-US"/>
              <a:t>破解模式</a:t>
            </a:r>
          </a:p>
        </p:txBody>
      </p:sp>
      <p:sp>
        <p:nvSpPr>
          <p:cNvPr id="72710" name="Rectangle 3"/>
          <p:cNvSpPr>
            <a:spLocks noGrp="1" noChangeArrowheads="1"/>
          </p:cNvSpPr>
          <p:nvPr>
            <p:ph type="body" idx="1"/>
          </p:nvPr>
        </p:nvSpPr>
        <p:spPr>
          <a:xfrm>
            <a:off x="597853" y="1401762"/>
            <a:ext cx="7772400" cy="4861877"/>
          </a:xfrm>
        </p:spPr>
        <p:txBody>
          <a:bodyPr/>
          <a:lstStyle/>
          <a:p>
            <a:pPr eaLnBrk="1" hangingPunct="1">
              <a:lnSpc>
                <a:spcPts val="4000"/>
              </a:lnSpc>
            </a:pPr>
            <a:r>
              <a:rPr lang="en-US" altLang="zh-CN" sz="2600" dirty="0">
                <a:latin typeface="Arial" panose="020B0604020202020204" pitchFamily="34" charset="0"/>
              </a:rPr>
              <a:t>“</a:t>
            </a:r>
            <a:r>
              <a:rPr lang="zh-CN" altLang="en-US" sz="2600" dirty="0"/>
              <a:t>简单</a:t>
            </a:r>
            <a:r>
              <a:rPr lang="zh-CN" altLang="en-US" sz="2600" dirty="0">
                <a:latin typeface="Arial" panose="020B0604020202020204" pitchFamily="34" charset="0"/>
              </a:rPr>
              <a:t>”</a:t>
            </a:r>
            <a:r>
              <a:rPr lang="zh-CN" altLang="en-US" sz="2600" dirty="0"/>
              <a:t>破解模式是专门针对</a:t>
            </a:r>
            <a:r>
              <a:rPr lang="zh-CN" altLang="en-US" sz="2600" dirty="0">
                <a:latin typeface="Arial" panose="020B0604020202020204" pitchFamily="34" charset="0"/>
              </a:rPr>
              <a:t>“</a:t>
            </a:r>
            <a:r>
              <a:rPr lang="zh-CN" altLang="en-US" sz="2600" dirty="0"/>
              <a:t>使用账号做密码</a:t>
            </a:r>
            <a:r>
              <a:rPr lang="zh-CN" altLang="en-US" sz="2600" dirty="0">
                <a:latin typeface="Arial" panose="020B0604020202020204" pitchFamily="34" charset="0"/>
              </a:rPr>
              <a:t>”</a:t>
            </a:r>
            <a:r>
              <a:rPr lang="zh-CN" altLang="en-US" sz="2600" dirty="0"/>
              <a:t>的懒人所设计的。</a:t>
            </a:r>
            <a:r>
              <a:rPr lang="zh-CN" altLang="en-US" sz="2600" dirty="0">
                <a:latin typeface="Arial" panose="020B0604020202020204" pitchFamily="34" charset="0"/>
              </a:rPr>
              <a:t>“</a:t>
            </a:r>
            <a:r>
              <a:rPr lang="zh-CN" altLang="en-US" sz="2600" dirty="0"/>
              <a:t>使用账号当做密码</a:t>
            </a:r>
            <a:r>
              <a:rPr lang="zh-CN" altLang="en-US" sz="2600" dirty="0">
                <a:latin typeface="Arial" panose="020B0604020202020204" pitchFamily="34" charset="0"/>
              </a:rPr>
              <a:t>”</a:t>
            </a:r>
            <a:r>
              <a:rPr lang="zh-CN" altLang="en-US" sz="2600" dirty="0"/>
              <a:t>的意思是，如果一个使用者的账号是</a:t>
            </a:r>
            <a:r>
              <a:rPr lang="zh-CN" altLang="en-US" sz="2600" dirty="0">
                <a:latin typeface="Arial" panose="020B0604020202020204" pitchFamily="34" charset="0"/>
              </a:rPr>
              <a:t>“</a:t>
            </a:r>
            <a:r>
              <a:rPr lang="en-US" altLang="zh-CN" sz="2600" dirty="0"/>
              <a:t>John The Ripper</a:t>
            </a:r>
            <a:r>
              <a:rPr lang="en-US" altLang="zh-CN" sz="2600" dirty="0">
                <a:latin typeface="Arial" panose="020B0604020202020204" pitchFamily="34" charset="0"/>
              </a:rPr>
              <a:t>”</a:t>
            </a:r>
            <a:r>
              <a:rPr lang="zh-CN" altLang="en-US" sz="2600" dirty="0"/>
              <a:t>，那么他的密码也会取为</a:t>
            </a:r>
            <a:r>
              <a:rPr lang="zh-CN" altLang="en-US" sz="2600" dirty="0">
                <a:latin typeface="Arial" panose="020B0604020202020204" pitchFamily="34" charset="0"/>
              </a:rPr>
              <a:t>“</a:t>
            </a:r>
            <a:r>
              <a:rPr lang="en-US" altLang="zh-CN" sz="2600" dirty="0"/>
              <a:t>John The Ripper</a:t>
            </a:r>
            <a:r>
              <a:rPr lang="en-US" altLang="zh-CN" sz="2600" dirty="0">
                <a:latin typeface="Arial" panose="020B0604020202020204" pitchFamily="34" charset="0"/>
              </a:rPr>
              <a:t>”</a:t>
            </a:r>
            <a:r>
              <a:rPr lang="zh-CN" altLang="en-US" sz="2600" dirty="0"/>
              <a:t>。</a:t>
            </a:r>
          </a:p>
          <a:p>
            <a:pPr lvl="1" eaLnBrk="1" hangingPunct="1">
              <a:lnSpc>
                <a:spcPts val="4000"/>
              </a:lnSpc>
            </a:pPr>
            <a:r>
              <a:rPr lang="zh-CN" altLang="en-US" sz="2200" dirty="0"/>
              <a:t>在</a:t>
            </a:r>
            <a:r>
              <a:rPr lang="zh-CN" altLang="en-US" sz="2200" dirty="0">
                <a:latin typeface="Arial" panose="020B0604020202020204" pitchFamily="34" charset="0"/>
              </a:rPr>
              <a:t>“</a:t>
            </a:r>
            <a:r>
              <a:rPr lang="zh-CN" altLang="en-US" sz="2200" dirty="0"/>
              <a:t>简单</a:t>
            </a:r>
            <a:r>
              <a:rPr lang="zh-CN" altLang="en-US" sz="2200" dirty="0">
                <a:latin typeface="Arial" panose="020B0604020202020204" pitchFamily="34" charset="0"/>
              </a:rPr>
              <a:t>”</a:t>
            </a:r>
            <a:r>
              <a:rPr lang="zh-CN" altLang="en-US" sz="2200" dirty="0"/>
              <a:t>破解模式里</a:t>
            </a:r>
            <a:r>
              <a:rPr lang="en-US" altLang="zh-CN" sz="2200" dirty="0"/>
              <a:t>John</a:t>
            </a:r>
            <a:r>
              <a:rPr lang="zh-CN" altLang="en-US" sz="2200" dirty="0"/>
              <a:t>会拿密码文件内的</a:t>
            </a:r>
            <a:r>
              <a:rPr lang="zh-CN" altLang="en-US" sz="2200" dirty="0">
                <a:latin typeface="Arial" panose="020B0604020202020204" pitchFamily="34" charset="0"/>
              </a:rPr>
              <a:t>“</a:t>
            </a:r>
            <a:r>
              <a:rPr lang="zh-CN" altLang="en-US" sz="2200" dirty="0"/>
              <a:t>账号</a:t>
            </a:r>
            <a:r>
              <a:rPr lang="zh-CN" altLang="en-US" sz="2200" dirty="0">
                <a:latin typeface="Arial" panose="020B0604020202020204" pitchFamily="34" charset="0"/>
              </a:rPr>
              <a:t>”</a:t>
            </a:r>
            <a:r>
              <a:rPr lang="zh-CN" altLang="en-US" sz="2200" dirty="0"/>
              <a:t>字段等相关信息来破解密码，并且使用多种</a:t>
            </a:r>
            <a:r>
              <a:rPr lang="zh-CN" altLang="en-US" sz="2200" dirty="0">
                <a:latin typeface="Arial" panose="020B0604020202020204" pitchFamily="34" charset="0"/>
              </a:rPr>
              <a:t>“</a:t>
            </a:r>
            <a:r>
              <a:rPr lang="zh-CN" altLang="en-US" sz="2200" dirty="0"/>
              <a:t>字词变化</a:t>
            </a:r>
            <a:r>
              <a:rPr lang="zh-CN" altLang="en-US" sz="2200" dirty="0">
                <a:latin typeface="Arial" panose="020B0604020202020204" pitchFamily="34" charset="0"/>
              </a:rPr>
              <a:t>”</a:t>
            </a:r>
            <a:r>
              <a:rPr lang="zh-CN" altLang="en-US" sz="2200" dirty="0"/>
              <a:t>的规则套用到</a:t>
            </a:r>
            <a:r>
              <a:rPr lang="zh-CN" altLang="en-US" sz="2200" dirty="0">
                <a:latin typeface="Arial" panose="020B0604020202020204" pitchFamily="34" charset="0"/>
              </a:rPr>
              <a:t>“</a:t>
            </a:r>
            <a:r>
              <a:rPr lang="zh-CN" altLang="en-US" sz="2200" dirty="0"/>
              <a:t>账号</a:t>
            </a:r>
            <a:r>
              <a:rPr lang="zh-CN" altLang="en-US" sz="2200" dirty="0">
                <a:latin typeface="Arial" panose="020B0604020202020204" pitchFamily="34" charset="0"/>
              </a:rPr>
              <a:t>”</a:t>
            </a:r>
            <a:r>
              <a:rPr lang="zh-CN" altLang="en-US" sz="2200" dirty="0"/>
              <a:t>内，以增加破解的几率。如账号</a:t>
            </a:r>
            <a:r>
              <a:rPr lang="zh-CN" altLang="en-US" sz="2200" dirty="0">
                <a:latin typeface="Arial" panose="020B0604020202020204" pitchFamily="34" charset="0"/>
              </a:rPr>
              <a:t>“</a:t>
            </a:r>
            <a:r>
              <a:rPr lang="en-US" altLang="zh-CN" sz="2200" dirty="0"/>
              <a:t>John</a:t>
            </a:r>
            <a:r>
              <a:rPr lang="en-US" altLang="zh-CN" sz="2200" dirty="0">
                <a:latin typeface="Arial" panose="020B0604020202020204" pitchFamily="34" charset="0"/>
              </a:rPr>
              <a:t>”</a:t>
            </a:r>
            <a:r>
              <a:rPr lang="en-US" altLang="zh-CN" sz="2200" dirty="0"/>
              <a:t>,</a:t>
            </a:r>
            <a:r>
              <a:rPr lang="zh-CN" altLang="en-US" sz="2200" dirty="0"/>
              <a:t>他会尝试使用</a:t>
            </a:r>
            <a:r>
              <a:rPr lang="en-US" altLang="zh-CN" sz="2200" dirty="0"/>
              <a:t>John</a:t>
            </a:r>
            <a:r>
              <a:rPr lang="zh-CN" altLang="en-US" sz="2200" dirty="0"/>
              <a:t>、</a:t>
            </a:r>
            <a:r>
              <a:rPr lang="en-US" altLang="zh-CN" sz="2200" dirty="0"/>
              <a:t>John0</a:t>
            </a:r>
            <a:r>
              <a:rPr lang="zh-CN" altLang="en-US" sz="2200" dirty="0"/>
              <a:t>、</a:t>
            </a:r>
            <a:r>
              <a:rPr lang="en-US" altLang="zh-CN" sz="2200" dirty="0" err="1"/>
              <a:t>njoh</a:t>
            </a:r>
            <a:r>
              <a:rPr lang="zh-CN" altLang="en-US" sz="2200" dirty="0"/>
              <a:t>、</a:t>
            </a:r>
            <a:r>
              <a:rPr lang="en-US" altLang="zh-CN" sz="2200" dirty="0"/>
              <a:t>j0hn</a:t>
            </a:r>
            <a:r>
              <a:rPr lang="zh-CN" altLang="en-US" sz="2200" dirty="0"/>
              <a:t>等规则变化来尝试密码的可能性。</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3" name="Rectangle 2"/>
          <p:cNvSpPr>
            <a:spLocks noGrp="1" noChangeArrowheads="1"/>
          </p:cNvSpPr>
          <p:nvPr>
            <p:ph type="title"/>
          </p:nvPr>
        </p:nvSpPr>
        <p:spPr/>
        <p:txBody>
          <a:bodyPr/>
          <a:lstStyle/>
          <a:p>
            <a:pPr eaLnBrk="1" hangingPunct="1"/>
            <a:r>
              <a:rPr lang="en-US" altLang="zh-CN">
                <a:latin typeface="Arial" panose="020B0604020202020204" pitchFamily="34" charset="0"/>
              </a:rPr>
              <a:t>“</a:t>
            </a:r>
            <a:r>
              <a:rPr lang="zh-CN" altLang="en-US"/>
              <a:t>增强</a:t>
            </a:r>
            <a:r>
              <a:rPr lang="zh-CN" altLang="en-US">
                <a:latin typeface="Arial" panose="020B0604020202020204" pitchFamily="34" charset="0"/>
              </a:rPr>
              <a:t>”</a:t>
            </a:r>
            <a:r>
              <a:rPr lang="zh-CN" altLang="en-US"/>
              <a:t>破解模式</a:t>
            </a:r>
          </a:p>
        </p:txBody>
      </p:sp>
      <p:sp>
        <p:nvSpPr>
          <p:cNvPr id="73734" name="Rectangle 3"/>
          <p:cNvSpPr>
            <a:spLocks noGrp="1" noChangeArrowheads="1"/>
          </p:cNvSpPr>
          <p:nvPr>
            <p:ph type="body" idx="1"/>
          </p:nvPr>
        </p:nvSpPr>
        <p:spPr>
          <a:xfrm>
            <a:off x="689293" y="1401762"/>
            <a:ext cx="7772400" cy="4709477"/>
          </a:xfrm>
        </p:spPr>
        <p:txBody>
          <a:bodyPr/>
          <a:lstStyle/>
          <a:p>
            <a:pPr eaLnBrk="1" hangingPunct="1"/>
            <a:r>
              <a:rPr lang="zh-CN" altLang="en-US" sz="2600" dirty="0"/>
              <a:t>这是</a:t>
            </a:r>
            <a:r>
              <a:rPr lang="en-US" altLang="zh-CN" sz="2600" dirty="0"/>
              <a:t>John</a:t>
            </a:r>
            <a:r>
              <a:rPr lang="zh-CN" altLang="en-US" sz="2600" dirty="0"/>
              <a:t>里面功能最强大的破解模式，他会自动尝试所有的可能字符组合，然后当做密码来破解。</a:t>
            </a:r>
          </a:p>
          <a:p>
            <a:pPr lvl="1" eaLnBrk="1" hangingPunct="1"/>
            <a:r>
              <a:rPr lang="zh-CN" altLang="en-US" sz="2400" dirty="0"/>
              <a:t>这个破解模式所需要的时间非常的冗长，因为要尝试全部组合字符是非常耗费时间的，所以</a:t>
            </a:r>
            <a:r>
              <a:rPr lang="en-US" altLang="zh-CN" sz="2400" dirty="0"/>
              <a:t>John</a:t>
            </a:r>
            <a:r>
              <a:rPr lang="zh-CN" altLang="en-US" sz="2400" dirty="0"/>
              <a:t>才会定义一些</a:t>
            </a:r>
            <a:r>
              <a:rPr lang="zh-CN" altLang="en-US" sz="2400" dirty="0">
                <a:latin typeface="Arial" panose="020B0604020202020204" pitchFamily="34" charset="0"/>
              </a:rPr>
              <a:t>“</a:t>
            </a:r>
            <a:r>
              <a:rPr lang="zh-CN" altLang="en-US" sz="2400" dirty="0"/>
              <a:t>字符频率表</a:t>
            </a:r>
            <a:r>
              <a:rPr lang="zh-CN" altLang="en-US" sz="2400" dirty="0">
                <a:latin typeface="Arial" panose="020B0604020202020204" pitchFamily="34" charset="0"/>
              </a:rPr>
              <a:t>”</a:t>
            </a:r>
            <a:r>
              <a:rPr lang="zh-CN" altLang="en-US" sz="2400" dirty="0"/>
              <a:t>（</a:t>
            </a:r>
            <a:r>
              <a:rPr lang="en-US" altLang="zh-CN" sz="2400" dirty="0"/>
              <a:t>character frequency tables</a:t>
            </a:r>
            <a:r>
              <a:rPr lang="zh-CN" altLang="en-US" sz="2400" dirty="0"/>
              <a:t>）来帮助破解。</a:t>
            </a:r>
          </a:p>
          <a:p>
            <a:pPr lvl="1" eaLnBrk="1" hangingPunct="1"/>
            <a:r>
              <a:rPr lang="zh-CN" altLang="en-US" sz="2400" dirty="0"/>
              <a:t>简言之，这个破解方法就是暴力法，把所有的密码组合都试一次，来得到正确的结果。 </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7" name="Rectangle 2"/>
          <p:cNvSpPr>
            <a:spLocks noGrp="1" noChangeArrowheads="1"/>
          </p:cNvSpPr>
          <p:nvPr>
            <p:ph type="title"/>
          </p:nvPr>
        </p:nvSpPr>
        <p:spPr/>
        <p:txBody>
          <a:bodyPr/>
          <a:lstStyle/>
          <a:p>
            <a:pPr eaLnBrk="1" hangingPunct="1"/>
            <a:r>
              <a:rPr lang="en-US" altLang="zh-CN">
                <a:latin typeface="Arial" panose="020B0604020202020204" pitchFamily="34" charset="0"/>
              </a:rPr>
              <a:t>“</a:t>
            </a:r>
            <a:r>
              <a:rPr lang="zh-CN" altLang="en-US"/>
              <a:t>外挂模块</a:t>
            </a:r>
            <a:r>
              <a:rPr lang="zh-CN" altLang="en-US">
                <a:latin typeface="Arial" panose="020B0604020202020204" pitchFamily="34" charset="0"/>
              </a:rPr>
              <a:t>”</a:t>
            </a:r>
            <a:r>
              <a:rPr lang="zh-CN" altLang="en-US"/>
              <a:t>破解模式</a:t>
            </a:r>
          </a:p>
        </p:txBody>
      </p:sp>
      <p:sp>
        <p:nvSpPr>
          <p:cNvPr id="74758" name="Rectangle 3"/>
          <p:cNvSpPr>
            <a:spLocks noGrp="1" noChangeArrowheads="1"/>
          </p:cNvSpPr>
          <p:nvPr>
            <p:ph type="body" idx="1"/>
          </p:nvPr>
        </p:nvSpPr>
        <p:spPr>
          <a:xfrm>
            <a:off x="552133" y="1356042"/>
            <a:ext cx="7772400" cy="4663757"/>
          </a:xfrm>
        </p:spPr>
        <p:txBody>
          <a:bodyPr/>
          <a:lstStyle/>
          <a:p>
            <a:pPr eaLnBrk="1" hangingPunct="1">
              <a:lnSpc>
                <a:spcPct val="150000"/>
              </a:lnSpc>
            </a:pPr>
            <a:r>
              <a:rPr lang="zh-CN" altLang="en-US" sz="2800" dirty="0"/>
              <a:t>这个破解模式是让使用者可以自己用</a:t>
            </a:r>
            <a:r>
              <a:rPr lang="en-US" altLang="zh-CN" sz="2800" dirty="0"/>
              <a:t>C</a:t>
            </a:r>
            <a:r>
              <a:rPr lang="zh-CN" altLang="en-US" sz="2800" dirty="0"/>
              <a:t>编写一些</a:t>
            </a:r>
            <a:r>
              <a:rPr lang="zh-CN" altLang="en-US" sz="2800" dirty="0">
                <a:latin typeface="Arial" panose="020B0604020202020204" pitchFamily="34" charset="0"/>
              </a:rPr>
              <a:t>“</a:t>
            </a:r>
            <a:r>
              <a:rPr lang="zh-CN" altLang="en-US" sz="2800" dirty="0"/>
              <a:t>破解模块程序</a:t>
            </a:r>
            <a:r>
              <a:rPr lang="zh-CN" altLang="en-US" sz="2800" dirty="0">
                <a:latin typeface="Arial" panose="020B0604020202020204" pitchFamily="34" charset="0"/>
              </a:rPr>
              <a:t>”</a:t>
            </a:r>
            <a:r>
              <a:rPr lang="zh-CN" altLang="en-US" sz="2800" dirty="0"/>
              <a:t>，然后挂在</a:t>
            </a:r>
            <a:r>
              <a:rPr lang="en-US" altLang="zh-CN" sz="2800" dirty="0"/>
              <a:t>John</a:t>
            </a:r>
            <a:r>
              <a:rPr lang="zh-CN" altLang="en-US" sz="2800" dirty="0"/>
              <a:t>里来使用。</a:t>
            </a:r>
          </a:p>
          <a:p>
            <a:pPr lvl="1" eaLnBrk="1" hangingPunct="1">
              <a:lnSpc>
                <a:spcPct val="150000"/>
              </a:lnSpc>
            </a:pPr>
            <a:r>
              <a:rPr lang="zh-CN" altLang="en-US" dirty="0"/>
              <a:t>其实所谓的</a:t>
            </a:r>
            <a:r>
              <a:rPr lang="zh-CN" altLang="en-US" dirty="0">
                <a:latin typeface="Arial" panose="020B0604020202020204" pitchFamily="34" charset="0"/>
              </a:rPr>
              <a:t>“</a:t>
            </a:r>
            <a:r>
              <a:rPr lang="zh-CN" altLang="en-US" dirty="0"/>
              <a:t>破解模块程序</a:t>
            </a:r>
            <a:r>
              <a:rPr lang="zh-CN" altLang="en-US" dirty="0">
                <a:latin typeface="Arial" panose="020B0604020202020204" pitchFamily="34" charset="0"/>
              </a:rPr>
              <a:t>”</a:t>
            </a:r>
            <a:r>
              <a:rPr lang="zh-CN" altLang="en-US" dirty="0"/>
              <a:t>就是一些用</a:t>
            </a:r>
            <a:r>
              <a:rPr lang="en-US" altLang="zh-CN" dirty="0"/>
              <a:t>C</a:t>
            </a:r>
            <a:r>
              <a:rPr lang="zh-CN" altLang="en-US" dirty="0"/>
              <a:t>语言设计好的函数。他的功能就是产生一些单词来让</a:t>
            </a:r>
            <a:r>
              <a:rPr lang="en-US" altLang="zh-CN" dirty="0"/>
              <a:t>John</a:t>
            </a:r>
            <a:r>
              <a:rPr lang="zh-CN" altLang="en-US" dirty="0"/>
              <a:t>尝试破解。而在执行</a:t>
            </a:r>
            <a:r>
              <a:rPr lang="en-US" altLang="zh-CN" dirty="0"/>
              <a:t>John</a:t>
            </a:r>
            <a:r>
              <a:rPr lang="zh-CN" altLang="en-US" dirty="0"/>
              <a:t>程序时，他在加载这些</a:t>
            </a:r>
            <a:r>
              <a:rPr lang="zh-CN" altLang="en-US" dirty="0">
                <a:latin typeface="Arial" panose="020B0604020202020204" pitchFamily="34" charset="0"/>
              </a:rPr>
              <a:t>“</a:t>
            </a:r>
            <a:r>
              <a:rPr lang="zh-CN" altLang="en-US" dirty="0"/>
              <a:t>破解模块程序</a:t>
            </a:r>
            <a:r>
              <a:rPr lang="zh-CN" altLang="en-US" dirty="0">
                <a:latin typeface="Arial" panose="020B0604020202020204" pitchFamily="34" charset="0"/>
              </a:rPr>
              <a:t>”</a:t>
            </a:r>
            <a:r>
              <a:rPr lang="zh-CN" altLang="en-US" dirty="0"/>
              <a:t>时会自动编译这些</a:t>
            </a:r>
            <a:r>
              <a:rPr lang="en-US" altLang="zh-CN" dirty="0"/>
              <a:t>C</a:t>
            </a:r>
            <a:r>
              <a:rPr lang="zh-CN" altLang="en-US" dirty="0"/>
              <a:t>函数来使用。 </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1" name="Rectangle 2"/>
          <p:cNvSpPr>
            <a:spLocks noGrp="1" noChangeArrowheads="1"/>
          </p:cNvSpPr>
          <p:nvPr>
            <p:ph type="title"/>
          </p:nvPr>
        </p:nvSpPr>
        <p:spPr/>
        <p:txBody>
          <a:bodyPr/>
          <a:lstStyle/>
          <a:p>
            <a:pPr eaLnBrk="1" hangingPunct="1"/>
            <a:r>
              <a:rPr lang="en-US" altLang="zh-CN"/>
              <a:t>XIT</a:t>
            </a:r>
          </a:p>
        </p:txBody>
      </p:sp>
      <p:sp>
        <p:nvSpPr>
          <p:cNvPr id="75782" name="Rectangle 3"/>
          <p:cNvSpPr>
            <a:spLocks noGrp="1" noChangeArrowheads="1"/>
          </p:cNvSpPr>
          <p:nvPr>
            <p:ph type="body" idx="1"/>
          </p:nvPr>
        </p:nvSpPr>
        <p:spPr>
          <a:xfrm>
            <a:off x="631825" y="1816100"/>
            <a:ext cx="7900988" cy="4133850"/>
          </a:xfrm>
        </p:spPr>
        <p:txBody>
          <a:bodyPr/>
          <a:lstStyle/>
          <a:p>
            <a:pPr eaLnBrk="1" hangingPunct="1">
              <a:lnSpc>
                <a:spcPct val="150000"/>
              </a:lnSpc>
            </a:pPr>
            <a:r>
              <a:rPr lang="en-US" altLang="zh-CN" dirty="0"/>
              <a:t> XIT</a:t>
            </a:r>
            <a:r>
              <a:rPr lang="zh-CN" altLang="en-US" dirty="0"/>
              <a:t>是一个执行词典攻击的</a:t>
            </a:r>
            <a:r>
              <a:rPr lang="en-US" altLang="zh-CN" dirty="0"/>
              <a:t>UNIX</a:t>
            </a:r>
            <a:r>
              <a:rPr lang="zh-CN" altLang="en-US" dirty="0"/>
              <a:t>口令破解程序。</a:t>
            </a:r>
            <a:r>
              <a:rPr lang="en-US" altLang="zh-CN" dirty="0"/>
              <a:t>XIT</a:t>
            </a:r>
            <a:r>
              <a:rPr lang="zh-CN" altLang="en-US" dirty="0"/>
              <a:t>的功能有限，因为它只能运行词典攻击，但程序很小、运行很快。</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5" name="Rectangle 2"/>
          <p:cNvSpPr>
            <a:spLocks noGrp="1" noChangeArrowheads="1"/>
          </p:cNvSpPr>
          <p:nvPr>
            <p:ph type="title"/>
          </p:nvPr>
        </p:nvSpPr>
        <p:spPr/>
        <p:txBody>
          <a:bodyPr/>
          <a:lstStyle/>
          <a:p>
            <a:pPr eaLnBrk="1" hangingPunct="1"/>
            <a:r>
              <a:rPr lang="en-US" altLang="zh-CN"/>
              <a:t>Slurpie</a:t>
            </a:r>
          </a:p>
        </p:txBody>
      </p:sp>
      <p:sp>
        <p:nvSpPr>
          <p:cNvPr id="76806" name="Rectangle 3"/>
          <p:cNvSpPr>
            <a:spLocks noGrp="1" noChangeArrowheads="1"/>
          </p:cNvSpPr>
          <p:nvPr>
            <p:ph type="body" idx="1"/>
          </p:nvPr>
        </p:nvSpPr>
        <p:spPr/>
        <p:txBody>
          <a:bodyPr/>
          <a:lstStyle/>
          <a:p>
            <a:pPr eaLnBrk="1" hangingPunct="1">
              <a:lnSpc>
                <a:spcPct val="150000"/>
              </a:lnSpc>
            </a:pPr>
            <a:r>
              <a:rPr lang="en-US" altLang="zh-CN" dirty="0" err="1"/>
              <a:t>Slurpie</a:t>
            </a:r>
            <a:r>
              <a:rPr lang="zh-CN" altLang="en-US" dirty="0"/>
              <a:t>能执行词典攻击和定制的强行攻击，要规定所需要使用的字符数目和字符类型。</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6" name="Rectangle 4"/>
          <p:cNvSpPr>
            <a:spLocks noChangeArrowheads="1"/>
          </p:cNvSpPr>
          <p:nvPr/>
        </p:nvSpPr>
        <p:spPr bwMode="auto">
          <a:xfrm>
            <a:off x="457200" y="2565400"/>
            <a:ext cx="8229600" cy="1143000"/>
          </a:xfrm>
          <a:prstGeom prst="rect">
            <a:avLst/>
          </a:prstGeom>
          <a:noFill/>
          <a:ln w="9525">
            <a:noFill/>
            <a:miter lim="800000"/>
          </a:ln>
          <a:effectLst/>
        </p:spPr>
        <p:txBody>
          <a:bodyPr anchor="ctr"/>
          <a:lstStyle/>
          <a:p>
            <a:pPr algn="ctr"/>
            <a:r>
              <a:rPr lang="zh-CN" altLang="en-US" sz="4400" b="1" dirty="0">
                <a:solidFill>
                  <a:srgbClr val="0000FF"/>
                </a:solidFill>
                <a:ea typeface="宋体" panose="02010600030101010101" pitchFamily="2" charset="-122"/>
              </a:rPr>
              <a:t>（三）密码</a:t>
            </a:r>
            <a:r>
              <a:rPr lang="zh-CN" altLang="en-US" sz="4400" dirty="0">
                <a:solidFill>
                  <a:srgbClr val="0000FF"/>
                </a:solidFill>
              </a:rPr>
              <a:t>哈希值</a:t>
            </a:r>
            <a:r>
              <a:rPr lang="zh-CN" altLang="en-US" sz="4400" b="1" dirty="0">
                <a:solidFill>
                  <a:srgbClr val="0000FF"/>
                </a:solidFill>
                <a:ea typeface="宋体" panose="02010600030101010101" pitchFamily="2" charset="-122"/>
              </a:rPr>
              <a:t>破解</a:t>
            </a:r>
            <a:endParaRPr lang="en-US" altLang="zh-CN" sz="4400" b="1" dirty="0">
              <a:solidFill>
                <a:srgbClr val="0000FF"/>
              </a:solidFill>
              <a:ea typeface="宋体" panose="02010600030101010101" pitchFamily="2" charset="-122"/>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5" name="Rectangle 2"/>
          <p:cNvSpPr>
            <a:spLocks noGrp="1" noChangeArrowheads="1"/>
          </p:cNvSpPr>
          <p:nvPr>
            <p:ph type="title"/>
          </p:nvPr>
        </p:nvSpPr>
        <p:spPr/>
        <p:txBody>
          <a:bodyPr/>
          <a:lstStyle/>
          <a:p>
            <a:pPr eaLnBrk="1" hangingPunct="1"/>
            <a:r>
              <a:rPr lang="en-US" altLang="zh-CN" dirty="0"/>
              <a:t>cmd5</a:t>
            </a:r>
          </a:p>
        </p:txBody>
      </p:sp>
      <p:sp>
        <p:nvSpPr>
          <p:cNvPr id="76806" name="Rectangle 3"/>
          <p:cNvSpPr>
            <a:spLocks noGrp="1" noChangeArrowheads="1"/>
          </p:cNvSpPr>
          <p:nvPr>
            <p:ph type="body" idx="1"/>
          </p:nvPr>
        </p:nvSpPr>
        <p:spPr>
          <a:xfrm>
            <a:off x="592138" y="1335088"/>
            <a:ext cx="7772400" cy="4114800"/>
          </a:xfrm>
        </p:spPr>
        <p:txBody>
          <a:bodyPr/>
          <a:lstStyle/>
          <a:p>
            <a:pPr eaLnBrk="1" hangingPunct="1"/>
            <a:r>
              <a:rPr lang="en-US" altLang="zh-CN" dirty="0"/>
              <a:t>cmd5</a:t>
            </a:r>
            <a:r>
              <a:rPr lang="zh-CN" altLang="zh-CN" dirty="0"/>
              <a:t>（</a:t>
            </a:r>
            <a:r>
              <a:rPr lang="en-US" altLang="zh-CN" dirty="0"/>
              <a:t>http://www.cmd5.com/</a:t>
            </a:r>
            <a:r>
              <a:rPr lang="zh-CN" altLang="zh-CN" dirty="0"/>
              <a:t>）是一个</a:t>
            </a:r>
            <a:r>
              <a:rPr lang="en-US" altLang="zh-CN" dirty="0"/>
              <a:t>MD5</a:t>
            </a:r>
            <a:r>
              <a:rPr lang="zh-CN" altLang="zh-CN" dirty="0"/>
              <a:t>和</a:t>
            </a:r>
            <a:r>
              <a:rPr lang="en-US" altLang="zh-CN" dirty="0"/>
              <a:t>SHA1</a:t>
            </a:r>
            <a:r>
              <a:rPr lang="zh-CN" altLang="zh-CN" dirty="0"/>
              <a:t>散列值在线破解的网站，拥有全世界最大的数据库，完全收录</a:t>
            </a:r>
            <a:r>
              <a:rPr lang="en-US" altLang="zh-CN" dirty="0"/>
              <a:t>1-6</a:t>
            </a:r>
            <a:r>
              <a:rPr lang="zh-CN" altLang="zh-CN" dirty="0"/>
              <a:t>位大小写字母</a:t>
            </a:r>
            <a:r>
              <a:rPr lang="en-US" altLang="zh-CN" dirty="0"/>
              <a:t>+</a:t>
            </a:r>
            <a:r>
              <a:rPr lang="zh-CN" altLang="zh-CN" dirty="0"/>
              <a:t>数字</a:t>
            </a:r>
            <a:r>
              <a:rPr lang="en-US" altLang="zh-CN" dirty="0"/>
              <a:t>+</a:t>
            </a:r>
            <a:r>
              <a:rPr lang="zh-CN" altLang="zh-CN" dirty="0"/>
              <a:t>特殊字符、</a:t>
            </a:r>
            <a:r>
              <a:rPr lang="en-US" altLang="zh-CN" dirty="0"/>
              <a:t>7</a:t>
            </a:r>
            <a:r>
              <a:rPr lang="zh-CN" altLang="zh-CN" dirty="0"/>
              <a:t>位小写字母</a:t>
            </a:r>
            <a:r>
              <a:rPr lang="en-US" altLang="zh-CN" dirty="0"/>
              <a:t>+</a:t>
            </a:r>
            <a:r>
              <a:rPr lang="zh-CN" altLang="zh-CN" dirty="0"/>
              <a:t>数字、</a:t>
            </a:r>
            <a:r>
              <a:rPr lang="en-US" altLang="zh-CN" dirty="0"/>
              <a:t>8</a:t>
            </a:r>
            <a:r>
              <a:rPr lang="zh-CN" altLang="zh-CN" dirty="0"/>
              <a:t>位小写字母和</a:t>
            </a:r>
            <a:r>
              <a:rPr lang="en-US" altLang="zh-CN" dirty="0"/>
              <a:t>8-11</a:t>
            </a:r>
            <a:r>
              <a:rPr lang="zh-CN" altLang="zh-CN" dirty="0"/>
              <a:t>位数字，部分收录了</a:t>
            </a:r>
            <a:r>
              <a:rPr lang="en-US" altLang="zh-CN" dirty="0"/>
              <a:t>8</a:t>
            </a:r>
            <a:r>
              <a:rPr lang="zh-CN" altLang="zh-CN" dirty="0"/>
              <a:t>位小写字母</a:t>
            </a:r>
            <a:r>
              <a:rPr lang="en-US" altLang="zh-CN" dirty="0"/>
              <a:t>+</a:t>
            </a:r>
            <a:r>
              <a:rPr lang="zh-CN" altLang="zh-CN" dirty="0"/>
              <a:t>数字，网站平均破解成功率高达</a:t>
            </a:r>
            <a:r>
              <a:rPr lang="en-US" altLang="zh-CN" dirty="0"/>
              <a:t>95%</a:t>
            </a:r>
            <a:r>
              <a:rPr lang="zh-CN" altLang="zh-CN" dirty="0"/>
              <a:t>。</a:t>
            </a:r>
            <a:endParaRPr lang="zh-CN" altLang="en-US" dirty="0"/>
          </a:p>
        </p:txBody>
      </p:sp>
      <p:pic>
        <p:nvPicPr>
          <p:cNvPr id="1026" name="Picture 2" descr="crack"/>
          <p:cNvPicPr>
            <a:picLocks noChangeAspect="1" noChangeArrowheads="1"/>
          </p:cNvPicPr>
          <p:nvPr/>
        </p:nvPicPr>
        <p:blipFill>
          <a:blip r:embed="rId2" cstate="print"/>
          <a:srcRect/>
          <a:stretch>
            <a:fillRect/>
          </a:stretch>
        </p:blipFill>
        <p:spPr bwMode="auto">
          <a:xfrm>
            <a:off x="1742355" y="2382025"/>
            <a:ext cx="5270500" cy="35718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strVal val="#ppt_w*0.70"/>
                                          </p:val>
                                        </p:tav>
                                        <p:tav tm="100000">
                                          <p:val>
                                            <p:strVal val="#ppt_w"/>
                                          </p:val>
                                        </p:tav>
                                      </p:tavLst>
                                    </p:anim>
                                    <p:anim calcmode="lin" valueType="num">
                                      <p:cBhvr>
                                        <p:cTn id="8" dur="1000" fill="hold"/>
                                        <p:tgtEl>
                                          <p:spTgt spid="1026"/>
                                        </p:tgtEl>
                                        <p:attrNameLst>
                                          <p:attrName>ppt_h</p:attrName>
                                        </p:attrNameLst>
                                      </p:cBhvr>
                                      <p:tavLst>
                                        <p:tav tm="0">
                                          <p:val>
                                            <p:strVal val="#ppt_h"/>
                                          </p:val>
                                        </p:tav>
                                        <p:tav tm="100000">
                                          <p:val>
                                            <p:strVal val="#ppt_h"/>
                                          </p:val>
                                        </p:tav>
                                      </p:tavLst>
                                    </p:anim>
                                    <p:animEffect transition="in" filter="fade">
                                      <p:cBhvr>
                                        <p:cTn id="9" dur="1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9288" y="1316038"/>
            <a:ext cx="7772400" cy="4114800"/>
          </a:xfrm>
        </p:spPr>
        <p:txBody>
          <a:bodyPr/>
          <a:lstStyle/>
          <a:p>
            <a:r>
              <a:rPr lang="en-US" altLang="zh-CN" dirty="0"/>
              <a:t>MD5Crack(http://md5crack.adintr.com)</a:t>
            </a:r>
            <a:r>
              <a:rPr lang="zh-CN" altLang="zh-CN" dirty="0"/>
              <a:t>是一个离线的</a:t>
            </a:r>
            <a:r>
              <a:rPr lang="en-US" altLang="zh-CN" dirty="0"/>
              <a:t>MD5</a:t>
            </a:r>
            <a:r>
              <a:rPr lang="zh-CN" altLang="zh-CN" dirty="0"/>
              <a:t>密码暴力破解软件，具有破解速度快，支持批量破解，保存进度和多线程的特点。</a:t>
            </a:r>
            <a:endParaRPr lang="zh-CN" altLang="en-US" dirty="0"/>
          </a:p>
        </p:txBody>
      </p:sp>
      <p:sp>
        <p:nvSpPr>
          <p:cNvPr id="3" name="标题 2"/>
          <p:cNvSpPr>
            <a:spLocks noGrp="1"/>
          </p:cNvSpPr>
          <p:nvPr>
            <p:ph type="title"/>
          </p:nvPr>
        </p:nvSpPr>
        <p:spPr/>
        <p:txBody>
          <a:bodyPr/>
          <a:lstStyle/>
          <a:p>
            <a:r>
              <a:rPr lang="en-US" altLang="zh-CN" dirty="0"/>
              <a:t>MD5Crack</a:t>
            </a:r>
            <a:endParaRPr lang="zh-CN" altLang="en-US" dirty="0"/>
          </a:p>
        </p:txBody>
      </p:sp>
      <p:pic>
        <p:nvPicPr>
          <p:cNvPr id="2050" name="Picture 2" descr="md5crack"/>
          <p:cNvPicPr>
            <a:picLocks noChangeAspect="1" noChangeArrowheads="1"/>
          </p:cNvPicPr>
          <p:nvPr/>
        </p:nvPicPr>
        <p:blipFill>
          <a:blip r:embed="rId2" cstate="print"/>
          <a:srcRect/>
          <a:stretch>
            <a:fillRect/>
          </a:stretch>
        </p:blipFill>
        <p:spPr bwMode="auto">
          <a:xfrm>
            <a:off x="1897063" y="2161510"/>
            <a:ext cx="5276850" cy="40544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p:cTn id="7" dur="1000" fill="hold"/>
                                        <p:tgtEl>
                                          <p:spTgt spid="2050"/>
                                        </p:tgtEl>
                                        <p:attrNameLst>
                                          <p:attrName>ppt_w</p:attrName>
                                        </p:attrNameLst>
                                      </p:cBhvr>
                                      <p:tavLst>
                                        <p:tav tm="0">
                                          <p:val>
                                            <p:strVal val="#ppt_w*0.70"/>
                                          </p:val>
                                        </p:tav>
                                        <p:tav tm="100000">
                                          <p:val>
                                            <p:strVal val="#ppt_w"/>
                                          </p:val>
                                        </p:tav>
                                      </p:tavLst>
                                    </p:anim>
                                    <p:anim calcmode="lin" valueType="num">
                                      <p:cBhvr>
                                        <p:cTn id="8" dur="1000" fill="hold"/>
                                        <p:tgtEl>
                                          <p:spTgt spid="2050"/>
                                        </p:tgtEl>
                                        <p:attrNameLst>
                                          <p:attrName>ppt_h</p:attrName>
                                        </p:attrNameLst>
                                      </p:cBhvr>
                                      <p:tavLst>
                                        <p:tav tm="0">
                                          <p:val>
                                            <p:strVal val="#ppt_h"/>
                                          </p:val>
                                        </p:tav>
                                        <p:tav tm="100000">
                                          <p:val>
                                            <p:strVal val="#ppt_h"/>
                                          </p:val>
                                        </p:tav>
                                      </p:tavLst>
                                    </p:anim>
                                    <p:animEffect transition="in" filter="fade">
                                      <p:cBhvr>
                                        <p:cTn id="9" dur="1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Bulk SHA1</a:t>
            </a:r>
            <a:r>
              <a:rPr lang="zh-CN" altLang="zh-CN" dirty="0"/>
              <a:t>密码破解器是一个命令行版本的</a:t>
            </a:r>
            <a:r>
              <a:rPr lang="en-US" altLang="zh-CN" dirty="0"/>
              <a:t>SHA1</a:t>
            </a:r>
            <a:r>
              <a:rPr lang="zh-CN" altLang="zh-CN" dirty="0"/>
              <a:t>密码破解工具，它能够自定义密码字典并且一次破解多个哈希值。</a:t>
            </a:r>
            <a:endParaRPr lang="zh-CN" altLang="en-US" dirty="0"/>
          </a:p>
        </p:txBody>
      </p:sp>
      <p:sp>
        <p:nvSpPr>
          <p:cNvPr id="3" name="标题 2"/>
          <p:cNvSpPr>
            <a:spLocks noGrp="1"/>
          </p:cNvSpPr>
          <p:nvPr>
            <p:ph type="title"/>
          </p:nvPr>
        </p:nvSpPr>
        <p:spPr/>
        <p:txBody>
          <a:bodyPr/>
          <a:lstStyle/>
          <a:p>
            <a:r>
              <a:rPr lang="en-US" altLang="zh-CN" dirty="0"/>
              <a:t>Bulk SHA1</a:t>
            </a:r>
            <a:endParaRPr lang="zh-CN" altLang="en-US" dirty="0"/>
          </a:p>
        </p:txBody>
      </p:sp>
      <p:pic>
        <p:nvPicPr>
          <p:cNvPr id="3074" name="Picture 2" descr="sha1crack"/>
          <p:cNvPicPr>
            <a:picLocks noChangeAspect="1" noChangeArrowheads="1"/>
          </p:cNvPicPr>
          <p:nvPr/>
        </p:nvPicPr>
        <p:blipFill>
          <a:blip r:embed="rId3" cstate="print"/>
          <a:srcRect/>
          <a:stretch>
            <a:fillRect/>
          </a:stretch>
        </p:blipFill>
        <p:spPr bwMode="auto">
          <a:xfrm>
            <a:off x="2035027" y="1318216"/>
            <a:ext cx="5270500" cy="51546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p:cTn id="7" dur="1000" fill="hold"/>
                                        <p:tgtEl>
                                          <p:spTgt spid="3074"/>
                                        </p:tgtEl>
                                        <p:attrNameLst>
                                          <p:attrName>ppt_w</p:attrName>
                                        </p:attrNameLst>
                                      </p:cBhvr>
                                      <p:tavLst>
                                        <p:tav tm="0">
                                          <p:val>
                                            <p:strVal val="#ppt_w*0.70"/>
                                          </p:val>
                                        </p:tav>
                                        <p:tav tm="100000">
                                          <p:val>
                                            <p:strVal val="#ppt_w"/>
                                          </p:val>
                                        </p:tav>
                                      </p:tavLst>
                                    </p:anim>
                                    <p:anim calcmode="lin" valueType="num">
                                      <p:cBhvr>
                                        <p:cTn id="8" dur="1000" fill="hold"/>
                                        <p:tgtEl>
                                          <p:spTgt spid="3074"/>
                                        </p:tgtEl>
                                        <p:attrNameLst>
                                          <p:attrName>ppt_h</p:attrName>
                                        </p:attrNameLst>
                                      </p:cBhvr>
                                      <p:tavLst>
                                        <p:tav tm="0">
                                          <p:val>
                                            <p:strVal val="#ppt_h"/>
                                          </p:val>
                                        </p:tav>
                                        <p:tav tm="100000">
                                          <p:val>
                                            <p:strVal val="#ppt_h"/>
                                          </p:val>
                                        </p:tav>
                                      </p:tavLst>
                                    </p:anim>
                                    <p:animEffect transition="in" filter="fade">
                                      <p:cBhvr>
                                        <p:cTn id="9" dur="10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844676" y="3011488"/>
            <a:ext cx="4870450" cy="788987"/>
          </a:xfrm>
        </p:spPr>
        <p:txBody>
          <a:bodyPr/>
          <a:lstStyle/>
          <a:p>
            <a:pPr marL="0" indent="0">
              <a:buNone/>
            </a:pPr>
            <a:r>
              <a:rPr lang="zh-CN" altLang="en-US" dirty="0">
                <a:solidFill>
                  <a:srgbClr val="FF0000"/>
                </a:solidFill>
              </a:rPr>
              <a:t>二、网络应用口令破解</a:t>
            </a: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网络应用口令</a:t>
            </a:r>
          </a:p>
        </p:txBody>
      </p:sp>
      <p:pic>
        <p:nvPicPr>
          <p:cNvPr id="1026" name="Picture 2"/>
          <p:cNvPicPr>
            <a:picLocks noChangeAspect="1" noChangeArrowheads="1"/>
          </p:cNvPicPr>
          <p:nvPr/>
        </p:nvPicPr>
        <p:blipFill>
          <a:blip r:embed="rId3" cstate="print"/>
          <a:srcRect/>
          <a:stretch>
            <a:fillRect/>
          </a:stretch>
        </p:blipFill>
        <p:spPr bwMode="auto">
          <a:xfrm>
            <a:off x="190500" y="1362074"/>
            <a:ext cx="8772525" cy="4905375"/>
          </a:xfrm>
          <a:prstGeom prst="rect">
            <a:avLst/>
          </a:prstGeom>
          <a:noFill/>
          <a:ln w="9525">
            <a:noFill/>
            <a:miter lim="800000"/>
            <a:headEnd/>
            <a:tailEnd/>
          </a:ln>
          <a:effectLst/>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r>
              <a:rPr lang="zh-CN" altLang="en-US" sz="3600"/>
              <a:t>各种网络服务</a:t>
            </a:r>
            <a:r>
              <a:rPr lang="en-US" altLang="zh-CN" sz="3600"/>
              <a:t>/</a:t>
            </a:r>
            <a:r>
              <a:rPr lang="zh-CN" altLang="en-US" sz="3600"/>
              <a:t>应用的口令破解 </a:t>
            </a:r>
          </a:p>
        </p:txBody>
      </p:sp>
      <p:sp>
        <p:nvSpPr>
          <p:cNvPr id="490499" name="Rectangle 3"/>
          <p:cNvSpPr>
            <a:spLocks noGrp="1" noChangeArrowheads="1"/>
          </p:cNvSpPr>
          <p:nvPr>
            <p:ph type="body" idx="1"/>
          </p:nvPr>
        </p:nvSpPr>
        <p:spPr>
          <a:xfrm>
            <a:off x="568326" y="1292226"/>
            <a:ext cx="7772400" cy="4932362"/>
          </a:xfrm>
        </p:spPr>
        <p:txBody>
          <a:bodyPr/>
          <a:lstStyle/>
          <a:p>
            <a:pPr>
              <a:lnSpc>
                <a:spcPts val="3500"/>
              </a:lnSpc>
            </a:pPr>
            <a:r>
              <a:rPr lang="zh-CN" altLang="en-US" sz="2400" dirty="0"/>
              <a:t>通过登录攻击来猜测口令，即通过网络运行一个工具周期性地尝试登录目标系统。</a:t>
            </a:r>
          </a:p>
          <a:p>
            <a:pPr>
              <a:lnSpc>
                <a:spcPts val="3500"/>
              </a:lnSpc>
            </a:pPr>
            <a:r>
              <a:rPr lang="zh-CN" altLang="en-US" sz="2400" dirty="0"/>
              <a:t>推荐的工具：</a:t>
            </a:r>
          </a:p>
          <a:p>
            <a:pPr lvl="1">
              <a:lnSpc>
                <a:spcPts val="3500"/>
              </a:lnSpc>
            </a:pPr>
            <a:r>
              <a:rPr lang="en-US" altLang="zh-CN" sz="2000" dirty="0"/>
              <a:t>Brutus</a:t>
            </a:r>
            <a:r>
              <a:rPr lang="zh-CN" altLang="en-US" sz="2000" dirty="0"/>
              <a:t>：免费软件（</a:t>
            </a:r>
            <a:r>
              <a:rPr lang="en-US" altLang="zh-CN" sz="2000" dirty="0"/>
              <a:t>www.hoobie.net/brutus</a:t>
            </a:r>
            <a:r>
              <a:rPr lang="zh-CN" altLang="en-US" sz="2000" dirty="0"/>
              <a:t>），运行于</a:t>
            </a:r>
            <a:r>
              <a:rPr lang="en-US" altLang="zh-CN" sz="2000" dirty="0"/>
              <a:t>Windows</a:t>
            </a:r>
            <a:r>
              <a:rPr lang="zh-CN" altLang="en-US" sz="2000" dirty="0"/>
              <a:t>平台，支持的协议有基本</a:t>
            </a:r>
            <a:r>
              <a:rPr lang="en-US" altLang="zh-CN" sz="2000" dirty="0"/>
              <a:t>HTTP</a:t>
            </a:r>
            <a:r>
              <a:rPr lang="zh-CN" altLang="en-US" sz="2000" dirty="0"/>
              <a:t>认证、带</a:t>
            </a:r>
            <a:r>
              <a:rPr lang="en-US" altLang="zh-CN" sz="2000" dirty="0"/>
              <a:t>HTML</a:t>
            </a:r>
            <a:r>
              <a:rPr lang="zh-CN" altLang="en-US" sz="2000" dirty="0"/>
              <a:t>表单的</a:t>
            </a:r>
            <a:r>
              <a:rPr lang="en-US" altLang="zh-CN" sz="2000" dirty="0"/>
              <a:t>HTTP</a:t>
            </a:r>
            <a:r>
              <a:rPr lang="zh-CN" altLang="en-US" sz="2000" dirty="0"/>
              <a:t>认证、</a:t>
            </a:r>
            <a:r>
              <a:rPr lang="en-US" altLang="zh-CN" sz="2000" dirty="0"/>
              <a:t>POP3</a:t>
            </a:r>
            <a:r>
              <a:rPr lang="zh-CN" altLang="en-US" sz="2000" dirty="0"/>
              <a:t>、</a:t>
            </a:r>
            <a:r>
              <a:rPr lang="en-US" altLang="zh-CN" sz="2000" dirty="0"/>
              <a:t>FTP</a:t>
            </a:r>
            <a:r>
              <a:rPr lang="zh-CN" altLang="en-US" sz="2000" dirty="0"/>
              <a:t>、</a:t>
            </a:r>
            <a:r>
              <a:rPr lang="en-US" altLang="zh-CN" sz="2000" dirty="0"/>
              <a:t>SMB</a:t>
            </a:r>
            <a:r>
              <a:rPr lang="zh-CN" altLang="en-US" sz="2000" dirty="0"/>
              <a:t>及</a:t>
            </a:r>
            <a:r>
              <a:rPr lang="en-US" altLang="zh-CN" sz="2000" dirty="0"/>
              <a:t>Telnet</a:t>
            </a:r>
            <a:r>
              <a:rPr lang="zh-CN" altLang="en-US" sz="2000" dirty="0"/>
              <a:t>；</a:t>
            </a:r>
          </a:p>
          <a:p>
            <a:pPr lvl="1">
              <a:lnSpc>
                <a:spcPts val="3500"/>
              </a:lnSpc>
            </a:pPr>
            <a:r>
              <a:rPr lang="en-US" altLang="zh-CN" sz="2000" dirty="0"/>
              <a:t>Hydra</a:t>
            </a:r>
            <a:r>
              <a:rPr lang="zh-CN" altLang="en-US" sz="2000" dirty="0"/>
              <a:t>：免费软件（</a:t>
            </a:r>
            <a:r>
              <a:rPr lang="en-US" altLang="zh-CN" sz="2000" dirty="0"/>
              <a:t>http://thc.org/thc-hydra</a:t>
            </a:r>
            <a:r>
              <a:rPr lang="zh-CN" altLang="en-US" sz="2000" dirty="0"/>
              <a:t>），运行于</a:t>
            </a:r>
            <a:r>
              <a:rPr lang="en-US" altLang="zh-CN" sz="2000" dirty="0"/>
              <a:t>Linux/Unix</a:t>
            </a:r>
            <a:r>
              <a:rPr lang="zh-CN" altLang="en-US" sz="2000" dirty="0"/>
              <a:t>平台，支持的协议有 </a:t>
            </a:r>
            <a:r>
              <a:rPr lang="en-US" altLang="zh-CN" sz="2000" dirty="0"/>
              <a:t>Telnet, FTP, HTTP, HTTPS, LADP3, SMB, MS-SQL, MYSQL, POP3, IMAP, NNTP, PCNFS, ICQ, SMTP, SSH2, SNMP, CVS, REXEC, SOCKS5, </a:t>
            </a:r>
            <a:r>
              <a:rPr lang="en-US" altLang="zh-CN" sz="2000" dirty="0" err="1"/>
              <a:t>VNC,and</a:t>
            </a:r>
            <a:r>
              <a:rPr lang="en-US" altLang="zh-CN" sz="2000" dirty="0"/>
              <a:t> VMware-Auth, Cisco auth, Cisco enable, Cisco AAA</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90499">
                                            <p:txEl>
                                              <p:pRg st="0" end="0"/>
                                            </p:txEl>
                                          </p:spTgt>
                                        </p:tgtEl>
                                        <p:attrNameLst>
                                          <p:attrName>style.visibility</p:attrName>
                                        </p:attrNameLst>
                                      </p:cBhvr>
                                      <p:to>
                                        <p:strVal val="visible"/>
                                      </p:to>
                                    </p:set>
                                    <p:anim calcmode="lin" valueType="num">
                                      <p:cBhvr additive="base">
                                        <p:cTn id="7" dur="500" fill="hold"/>
                                        <p:tgtEl>
                                          <p:spTgt spid="4904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04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90499">
                                            <p:txEl>
                                              <p:pRg st="1" end="1"/>
                                            </p:txEl>
                                          </p:spTgt>
                                        </p:tgtEl>
                                        <p:attrNameLst>
                                          <p:attrName>style.visibility</p:attrName>
                                        </p:attrNameLst>
                                      </p:cBhvr>
                                      <p:to>
                                        <p:strVal val="visible"/>
                                      </p:to>
                                    </p:set>
                                    <p:anim calcmode="lin" valueType="num">
                                      <p:cBhvr additive="base">
                                        <p:cTn id="13" dur="500" fill="hold"/>
                                        <p:tgtEl>
                                          <p:spTgt spid="4904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904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90499">
                                            <p:txEl>
                                              <p:pRg st="2" end="2"/>
                                            </p:txEl>
                                          </p:spTgt>
                                        </p:tgtEl>
                                        <p:attrNameLst>
                                          <p:attrName>style.visibility</p:attrName>
                                        </p:attrNameLst>
                                      </p:cBhvr>
                                      <p:to>
                                        <p:strVal val="visible"/>
                                      </p:to>
                                    </p:set>
                                    <p:anim calcmode="lin" valueType="num">
                                      <p:cBhvr additive="base">
                                        <p:cTn id="19" dur="500" fill="hold"/>
                                        <p:tgtEl>
                                          <p:spTgt spid="4904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904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90499">
                                            <p:txEl>
                                              <p:pRg st="3" end="3"/>
                                            </p:txEl>
                                          </p:spTgt>
                                        </p:tgtEl>
                                        <p:attrNameLst>
                                          <p:attrName>style.visibility</p:attrName>
                                        </p:attrNameLst>
                                      </p:cBhvr>
                                      <p:to>
                                        <p:strVal val="visible"/>
                                      </p:to>
                                    </p:set>
                                    <p:anim calcmode="lin" valueType="num">
                                      <p:cBhvr additive="base">
                                        <p:cTn id="25" dur="500" fill="hold"/>
                                        <p:tgtEl>
                                          <p:spTgt spid="4904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9049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p:txBody>
          <a:bodyPr/>
          <a:lstStyle/>
          <a:p>
            <a:r>
              <a:rPr lang="en-US" altLang="zh-CN">
                <a:latin typeface="Times New Roman" panose="02020603050405020304" pitchFamily="18" charset="0"/>
              </a:rPr>
              <a:t>Brutus</a:t>
            </a:r>
            <a:endParaRPr lang="zh-CN" altLang="en-US">
              <a:latin typeface="Times New Roman" panose="02020603050405020304" pitchFamily="18" charset="0"/>
            </a:endParaRPr>
          </a:p>
        </p:txBody>
      </p:sp>
      <p:pic>
        <p:nvPicPr>
          <p:cNvPr id="496644" name="Picture 4" descr="snap4"/>
          <p:cNvPicPr>
            <a:picLocks noChangeAspect="1" noChangeArrowheads="1"/>
          </p:cNvPicPr>
          <p:nvPr/>
        </p:nvPicPr>
        <p:blipFill>
          <a:blip r:embed="rId2" cstate="print"/>
          <a:srcRect/>
          <a:stretch>
            <a:fillRect/>
          </a:stretch>
        </p:blipFill>
        <p:spPr bwMode="auto">
          <a:xfrm>
            <a:off x="977900" y="1176337"/>
            <a:ext cx="7705725" cy="5148263"/>
          </a:xfrm>
          <a:prstGeom prst="rect">
            <a:avLst/>
          </a:prstGeom>
          <a:noFill/>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9" name="Rectangle 2"/>
          <p:cNvSpPr>
            <a:spLocks noGrp="1" noChangeArrowheads="1"/>
          </p:cNvSpPr>
          <p:nvPr>
            <p:ph type="title"/>
          </p:nvPr>
        </p:nvSpPr>
        <p:spPr/>
        <p:txBody>
          <a:bodyPr/>
          <a:lstStyle/>
          <a:p>
            <a:pPr eaLnBrk="1" hangingPunct="1"/>
            <a:r>
              <a:rPr lang="zh-CN" altLang="en-US"/>
              <a:t>远程口令攻击</a:t>
            </a:r>
          </a:p>
        </p:txBody>
      </p:sp>
      <p:sp>
        <p:nvSpPr>
          <p:cNvPr id="103430" name="Rectangle 3"/>
          <p:cNvSpPr>
            <a:spLocks noGrp="1" noChangeArrowheads="1"/>
          </p:cNvSpPr>
          <p:nvPr>
            <p:ph type="body" idx="1"/>
          </p:nvPr>
        </p:nvSpPr>
        <p:spPr/>
        <p:txBody>
          <a:bodyPr/>
          <a:lstStyle/>
          <a:p>
            <a:pPr eaLnBrk="1" hangingPunct="1"/>
            <a:r>
              <a:rPr lang="zh-CN" altLang="en-US" dirty="0"/>
              <a:t>远程口令攻击主要是指网络服务口令攻击，是一种远程在线攻击。</a:t>
            </a:r>
          </a:p>
          <a:p>
            <a:pPr lvl="1" eaLnBrk="1" hangingPunct="1"/>
            <a:r>
              <a:rPr lang="zh-CN" altLang="en-US" dirty="0"/>
              <a:t>许多网络服务，都是通过账号</a:t>
            </a:r>
            <a:r>
              <a:rPr lang="en-US" altLang="zh-CN" dirty="0"/>
              <a:t>/</a:t>
            </a:r>
            <a:r>
              <a:rPr lang="zh-CN" altLang="en-US" dirty="0"/>
              <a:t>口令来认证需要访问该服务的用户，如</a:t>
            </a:r>
            <a:r>
              <a:rPr lang="en-US" altLang="zh-CN" dirty="0"/>
              <a:t>Email</a:t>
            </a:r>
            <a:r>
              <a:rPr lang="zh-CN" altLang="en-US" dirty="0"/>
              <a:t>，</a:t>
            </a:r>
            <a:r>
              <a:rPr lang="en-US" altLang="zh-CN" dirty="0"/>
              <a:t>Telnet</a:t>
            </a:r>
            <a:r>
              <a:rPr lang="zh-CN" altLang="en-US" dirty="0"/>
              <a:t>，</a:t>
            </a:r>
            <a:r>
              <a:rPr lang="en-US" altLang="zh-CN" dirty="0"/>
              <a:t>FTP</a:t>
            </a:r>
            <a:r>
              <a:rPr lang="zh-CN" altLang="en-US" dirty="0"/>
              <a:t>，</a:t>
            </a:r>
            <a:r>
              <a:rPr lang="en-US" altLang="zh-CN" dirty="0"/>
              <a:t>HTTP</a:t>
            </a:r>
            <a:r>
              <a:rPr lang="zh-CN" altLang="en-US" dirty="0"/>
              <a:t>等。</a:t>
            </a:r>
          </a:p>
          <a:p>
            <a:pPr lvl="1" eaLnBrk="1" hangingPunct="1"/>
            <a:r>
              <a:rPr lang="zh-CN" altLang="en-US" dirty="0"/>
              <a:t>可以远程进行穷举字典的方式来猜解口令。</a:t>
            </a:r>
          </a:p>
          <a:p>
            <a:pPr lvl="1" eaLnBrk="1" hangingPunct="1"/>
            <a:r>
              <a:rPr lang="zh-CN" altLang="en-US" dirty="0"/>
              <a:t>破解效率很低，而且容易被记录。</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3" name="Rectangle 2"/>
          <p:cNvSpPr>
            <a:spLocks noGrp="1" noChangeArrowheads="1"/>
          </p:cNvSpPr>
          <p:nvPr>
            <p:ph type="title"/>
          </p:nvPr>
        </p:nvSpPr>
        <p:spPr/>
        <p:txBody>
          <a:bodyPr/>
          <a:lstStyle/>
          <a:p>
            <a:pPr eaLnBrk="1" hangingPunct="1"/>
            <a:r>
              <a:rPr lang="zh-CN" altLang="en-US"/>
              <a:t>远程口令攻击（</a:t>
            </a:r>
            <a:r>
              <a:rPr lang="en-US" altLang="zh-CN"/>
              <a:t>2</a:t>
            </a:r>
            <a:r>
              <a:rPr lang="zh-CN" altLang="en-US"/>
              <a:t>）</a:t>
            </a:r>
          </a:p>
        </p:txBody>
      </p:sp>
      <p:sp>
        <p:nvSpPr>
          <p:cNvPr id="104454" name="Rectangle 3"/>
          <p:cNvSpPr>
            <a:spLocks noGrp="1" noChangeArrowheads="1"/>
          </p:cNvSpPr>
          <p:nvPr>
            <p:ph type="body" idx="1"/>
          </p:nvPr>
        </p:nvSpPr>
        <p:spPr>
          <a:xfrm>
            <a:off x="692151" y="1101725"/>
            <a:ext cx="7772400" cy="5365750"/>
          </a:xfrm>
        </p:spPr>
        <p:txBody>
          <a:bodyPr/>
          <a:lstStyle/>
          <a:p>
            <a:pPr marL="571500" indent="-571500" eaLnBrk="1" hangingPunct="1"/>
            <a:r>
              <a:rPr lang="zh-CN" altLang="en-US" dirty="0"/>
              <a:t>攻击过程大致如下：</a:t>
            </a:r>
          </a:p>
          <a:p>
            <a:pPr marL="967105" lvl="1" indent="-495300" eaLnBrk="1" hangingPunct="1">
              <a:buSzPct val="100000"/>
              <a:buFont typeface="Wingdings" panose="05000000000000000000" pitchFamily="2" charset="2"/>
              <a:buAutoNum type="circleNumDbPlain"/>
            </a:pPr>
            <a:r>
              <a:rPr lang="zh-CN" altLang="en-US" dirty="0"/>
              <a:t>建立与目标网络服务的网络连接。</a:t>
            </a:r>
          </a:p>
          <a:p>
            <a:pPr marL="967105" lvl="1" indent="-495300" eaLnBrk="1" hangingPunct="1">
              <a:buSzPct val="100000"/>
              <a:buFont typeface="Wingdings" panose="05000000000000000000" pitchFamily="2" charset="2"/>
              <a:buAutoNum type="circleNumDbPlain"/>
            </a:pPr>
            <a:r>
              <a:rPr lang="zh-CN" altLang="en-US" dirty="0"/>
              <a:t>选取一个用户列表文件和一个字典文件。</a:t>
            </a:r>
          </a:p>
          <a:p>
            <a:pPr marL="967105" lvl="1" indent="-495300" eaLnBrk="1" hangingPunct="1">
              <a:buSzPct val="100000"/>
              <a:buFont typeface="Wingdings" panose="05000000000000000000" pitchFamily="2" charset="2"/>
              <a:buAutoNum type="circleNumDbPlain"/>
            </a:pPr>
            <a:r>
              <a:rPr lang="zh-CN" altLang="en-US" dirty="0"/>
              <a:t>在用户列表文件和一个字典文件中，选取一组用户和口令，按照网络服务协议规定，将用户名和口令发给目标网络服务端口。</a:t>
            </a:r>
          </a:p>
          <a:p>
            <a:pPr marL="967105" lvl="1" indent="-495300" eaLnBrk="1" hangingPunct="1">
              <a:buSzPct val="100000"/>
              <a:buFont typeface="Wingdings" panose="05000000000000000000" pitchFamily="2" charset="2"/>
              <a:buAutoNum type="circleNumDbPlain"/>
            </a:pPr>
            <a:r>
              <a:rPr lang="zh-CN" altLang="en-US" dirty="0"/>
              <a:t>检测远程服务返回信息，确定口令尝试是否成功。</a:t>
            </a:r>
            <a:endParaRPr lang="en-US" altLang="zh-CN" dirty="0"/>
          </a:p>
          <a:p>
            <a:pPr marL="967105" lvl="1" indent="-495300" eaLnBrk="1" hangingPunct="1">
              <a:buSzPct val="100000"/>
              <a:buFont typeface="Wingdings" panose="05000000000000000000" pitchFamily="2" charset="2"/>
              <a:buAutoNum type="circleNumDbPlain"/>
            </a:pPr>
            <a:r>
              <a:rPr lang="en-US" altLang="zh-CN" dirty="0"/>
              <a:t> </a:t>
            </a:r>
            <a:r>
              <a:rPr lang="zh-CN" altLang="en-US" dirty="0"/>
              <a:t>循环</a:t>
            </a:r>
            <a:r>
              <a:rPr lang="en-US" altLang="zh-CN" dirty="0"/>
              <a:t>2</a:t>
            </a:r>
            <a:r>
              <a:rPr lang="zh-CN" altLang="en-US" dirty="0"/>
              <a:t>到</a:t>
            </a:r>
            <a:r>
              <a:rPr lang="en-US" altLang="zh-CN" dirty="0"/>
              <a:t>4</a:t>
            </a:r>
            <a:r>
              <a:rPr lang="zh-CN" altLang="en-US" dirty="0"/>
              <a:t>步，直到口令破解成功为止。 </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跨域拓展攻击</a:t>
            </a:r>
          </a:p>
        </p:txBody>
      </p:sp>
      <p:pic>
        <p:nvPicPr>
          <p:cNvPr id="4" name="图片 3"/>
          <p:cNvPicPr/>
          <p:nvPr/>
        </p:nvPicPr>
        <p:blipFill>
          <a:blip r:embed="rId2" cstate="print"/>
          <a:srcRect/>
          <a:stretch>
            <a:fillRect/>
          </a:stretch>
        </p:blipFill>
        <p:spPr bwMode="auto">
          <a:xfrm>
            <a:off x="1828800" y="2318702"/>
            <a:ext cx="5486400" cy="2220595"/>
          </a:xfrm>
          <a:prstGeom prst="rect">
            <a:avLst/>
          </a:prstGeom>
          <a:noFill/>
          <a:ln w="9525">
            <a:noFill/>
            <a:miter lim="800000"/>
            <a:headEnd/>
            <a:tailEnd/>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跨域拓展攻击</a:t>
            </a:r>
          </a:p>
        </p:txBody>
      </p:sp>
      <p:pic>
        <p:nvPicPr>
          <p:cNvPr id="1029" name="Picture 5"/>
          <p:cNvPicPr>
            <a:picLocks noChangeAspect="1" noChangeArrowheads="1"/>
          </p:cNvPicPr>
          <p:nvPr/>
        </p:nvPicPr>
        <p:blipFill>
          <a:blip r:embed="rId3" cstate="print"/>
          <a:srcRect/>
          <a:stretch>
            <a:fillRect/>
          </a:stretch>
        </p:blipFill>
        <p:spPr bwMode="auto">
          <a:xfrm>
            <a:off x="676275" y="1095376"/>
            <a:ext cx="7605713" cy="5324475"/>
          </a:xfrm>
          <a:prstGeom prst="rect">
            <a:avLst/>
          </a:prstGeom>
          <a:noFill/>
          <a:ln w="9525">
            <a:noFill/>
            <a:miter lim="800000"/>
            <a:headEnd/>
            <a:tailEnd/>
          </a:ln>
          <a:effectLst/>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RDP</a:t>
            </a:r>
            <a:r>
              <a:rPr lang="zh-CN" altLang="en-US" dirty="0"/>
              <a:t>口令</a:t>
            </a:r>
          </a:p>
        </p:txBody>
      </p:sp>
      <p:pic>
        <p:nvPicPr>
          <p:cNvPr id="4" name="图片 3"/>
          <p:cNvPicPr>
            <a:picLocks noChangeAspect="1"/>
          </p:cNvPicPr>
          <p:nvPr/>
        </p:nvPicPr>
        <p:blipFill>
          <a:blip r:embed="rId3"/>
          <a:stretch>
            <a:fillRect/>
          </a:stretch>
        </p:blipFill>
        <p:spPr>
          <a:xfrm>
            <a:off x="1158875" y="1216025"/>
            <a:ext cx="6772275" cy="4791075"/>
          </a:xfrm>
          <a:prstGeom prst="rect">
            <a:avLst/>
          </a:prstGeom>
          <a:ln>
            <a:solidFill>
              <a:srgbClr val="FF0000"/>
            </a:solidFill>
          </a:ln>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554163"/>
            <a:ext cx="7772400" cy="866308"/>
          </a:xfrm>
        </p:spPr>
        <p:txBody>
          <a:bodyPr/>
          <a:lstStyle/>
          <a:p>
            <a:r>
              <a:rPr lang="en-US" altLang="zh-CN" dirty="0"/>
              <a:t>RDP</a:t>
            </a:r>
            <a:r>
              <a:rPr lang="zh-CN" altLang="en-US" dirty="0"/>
              <a:t>中</a:t>
            </a:r>
            <a:r>
              <a:rPr lang="en-US" altLang="zh-CN" dirty="0"/>
              <a:t>20</a:t>
            </a:r>
            <a:r>
              <a:rPr lang="zh-CN" altLang="en-US" dirty="0"/>
              <a:t>个最常用口令</a:t>
            </a:r>
          </a:p>
        </p:txBody>
      </p:sp>
      <p:sp>
        <p:nvSpPr>
          <p:cNvPr id="3" name="标题 2"/>
          <p:cNvSpPr>
            <a:spLocks noGrp="1"/>
          </p:cNvSpPr>
          <p:nvPr>
            <p:ph type="title"/>
          </p:nvPr>
        </p:nvSpPr>
        <p:spPr/>
        <p:txBody>
          <a:bodyPr/>
          <a:lstStyle/>
          <a:p>
            <a:r>
              <a:rPr lang="en-US" altLang="zh-CN" dirty="0"/>
              <a:t>RDP</a:t>
            </a:r>
            <a:r>
              <a:rPr lang="zh-CN" altLang="en-US" dirty="0"/>
              <a:t>口令</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287" y="2730874"/>
            <a:ext cx="6572250" cy="2400300"/>
          </a:xfrm>
          <a:prstGeom prst="rect">
            <a:avLst/>
          </a:prstGeom>
          <a:ln>
            <a:solidFill>
              <a:srgbClr val="FF0000"/>
            </a:solidFill>
          </a:ln>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弱口令</a:t>
            </a:r>
            <a:r>
              <a:rPr lang="en-US" altLang="zh-CN" dirty="0"/>
              <a:t>admin</a:t>
            </a:r>
            <a:endParaRPr lang="zh-CN" altLang="en-US" dirty="0"/>
          </a:p>
        </p:txBody>
      </p:sp>
      <p:pic>
        <p:nvPicPr>
          <p:cNvPr id="4" name="图片 3"/>
          <p:cNvPicPr>
            <a:picLocks noChangeAspect="1"/>
          </p:cNvPicPr>
          <p:nvPr/>
        </p:nvPicPr>
        <p:blipFill>
          <a:blip r:embed="rId3"/>
          <a:stretch>
            <a:fillRect/>
          </a:stretch>
        </p:blipFill>
        <p:spPr>
          <a:xfrm>
            <a:off x="207573" y="1311664"/>
            <a:ext cx="5657850" cy="1819275"/>
          </a:xfrm>
          <a:prstGeom prst="rect">
            <a:avLst/>
          </a:prstGeom>
          <a:ln>
            <a:solidFill>
              <a:srgbClr val="FF0000"/>
            </a:solidFill>
          </a:ln>
        </p:spPr>
      </p:pic>
      <p:pic>
        <p:nvPicPr>
          <p:cNvPr id="5" name="图片 4"/>
          <p:cNvPicPr>
            <a:picLocks noChangeAspect="1"/>
          </p:cNvPicPr>
          <p:nvPr/>
        </p:nvPicPr>
        <p:blipFill>
          <a:blip r:embed="rId4"/>
          <a:stretch>
            <a:fillRect/>
          </a:stretch>
        </p:blipFill>
        <p:spPr>
          <a:xfrm>
            <a:off x="6097138" y="142875"/>
            <a:ext cx="2877449" cy="1616463"/>
          </a:xfrm>
          <a:prstGeom prst="rect">
            <a:avLst/>
          </a:prstGeom>
        </p:spPr>
      </p:pic>
      <p:pic>
        <p:nvPicPr>
          <p:cNvPr id="6" name="图片 5"/>
          <p:cNvPicPr>
            <a:picLocks noChangeAspect="1"/>
          </p:cNvPicPr>
          <p:nvPr/>
        </p:nvPicPr>
        <p:blipFill>
          <a:blip r:embed="rId5"/>
          <a:stretch>
            <a:fillRect/>
          </a:stretch>
        </p:blipFill>
        <p:spPr>
          <a:xfrm>
            <a:off x="2622729" y="1969277"/>
            <a:ext cx="6485387" cy="4713288"/>
          </a:xfrm>
          <a:prstGeom prst="rect">
            <a:avLst/>
          </a:prstGeom>
          <a:ln>
            <a:solidFill>
              <a:schemeClr val="tx1"/>
            </a:solidFill>
          </a:ln>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r>
              <a:rPr lang="zh-CN" altLang="en-US" sz="4400"/>
              <a:t>内容提要</a:t>
            </a:r>
            <a:endParaRPr lang="en-US" altLang="zh-CN" sz="2800">
              <a:solidFill>
                <a:schemeClr val="accent1"/>
              </a:solidFill>
            </a:endParaRPr>
          </a:p>
        </p:txBody>
      </p:sp>
      <p:grpSp>
        <p:nvGrpSpPr>
          <p:cNvPr id="33" name="Group 3"/>
          <p:cNvGrpSpPr/>
          <p:nvPr/>
        </p:nvGrpSpPr>
        <p:grpSpPr bwMode="auto">
          <a:xfrm>
            <a:off x="1295400" y="1981200"/>
            <a:ext cx="762000" cy="665163"/>
            <a:chOff x="1110" y="2656"/>
            <a:chExt cx="1549" cy="1351"/>
          </a:xfrm>
        </p:grpSpPr>
        <p:sp>
          <p:nvSpPr>
            <p:cNvPr id="34" name="AutoShape 4"/>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35" name="AutoShape 5"/>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36" name="AutoShape 6"/>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endParaRPr lang="zh-CN" altLang="en-US"/>
            </a:p>
          </p:txBody>
        </p:sp>
      </p:grpSp>
      <p:sp>
        <p:nvSpPr>
          <p:cNvPr id="37" name="Line 7"/>
          <p:cNvSpPr>
            <a:spLocks noChangeShapeType="1"/>
          </p:cNvSpPr>
          <p:nvPr/>
        </p:nvSpPr>
        <p:spPr bwMode="auto">
          <a:xfrm>
            <a:off x="1905000" y="2590800"/>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38" name="Text Box 8"/>
          <p:cNvSpPr txBox="1">
            <a:spLocks noChangeArrowheads="1"/>
          </p:cNvSpPr>
          <p:nvPr/>
        </p:nvSpPr>
        <p:spPr bwMode="auto">
          <a:xfrm>
            <a:off x="2166938" y="1828800"/>
            <a:ext cx="4535487" cy="701675"/>
          </a:xfrm>
          <a:prstGeom prst="rect">
            <a:avLst/>
          </a:prstGeom>
          <a:noFill/>
          <a:ln w="9525" algn="ctr">
            <a:noFill/>
            <a:miter lim="800000"/>
          </a:ln>
          <a:effectLst/>
        </p:spPr>
        <p:txBody>
          <a:bodyPr>
            <a:spAutoFit/>
          </a:bodyPr>
          <a:lstStyle/>
          <a:p>
            <a:pPr eaLnBrk="0" hangingPunct="0"/>
            <a:r>
              <a:rPr lang="zh-CN" altLang="en-US" sz="4000" b="1" dirty="0">
                <a:solidFill>
                  <a:srgbClr val="000000"/>
                </a:solidFill>
                <a:latin typeface="Times New Roman" panose="02020603050405020304" pitchFamily="18" charset="0"/>
                <a:ea typeface="隶书" panose="02010509060101010101" pitchFamily="49" charset="-122"/>
              </a:rPr>
              <a:t>口令概述</a:t>
            </a:r>
            <a:endParaRPr lang="zh-CN" altLang="en-US" sz="4000" b="1" dirty="0">
              <a:solidFill>
                <a:srgbClr val="000000"/>
              </a:solidFill>
              <a:ea typeface="隶书" panose="02010509060101010101" pitchFamily="49" charset="-122"/>
            </a:endParaRPr>
          </a:p>
        </p:txBody>
      </p:sp>
      <p:sp>
        <p:nvSpPr>
          <p:cNvPr id="39" name="Text Box 9"/>
          <p:cNvSpPr txBox="1">
            <a:spLocks noChangeArrowheads="1"/>
          </p:cNvSpPr>
          <p:nvPr/>
        </p:nvSpPr>
        <p:spPr bwMode="gray">
          <a:xfrm>
            <a:off x="1492250" y="2079625"/>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1</a:t>
            </a:r>
          </a:p>
        </p:txBody>
      </p:sp>
      <p:grpSp>
        <p:nvGrpSpPr>
          <p:cNvPr id="40" name="Group 34"/>
          <p:cNvGrpSpPr/>
          <p:nvPr/>
        </p:nvGrpSpPr>
        <p:grpSpPr bwMode="auto">
          <a:xfrm>
            <a:off x="1295400" y="3038475"/>
            <a:ext cx="5410200" cy="817563"/>
            <a:chOff x="1152" y="1596"/>
            <a:chExt cx="3408" cy="515"/>
          </a:xfrm>
        </p:grpSpPr>
        <p:grpSp>
          <p:nvGrpSpPr>
            <p:cNvPr id="41" name="Group 11"/>
            <p:cNvGrpSpPr/>
            <p:nvPr/>
          </p:nvGrpSpPr>
          <p:grpSpPr bwMode="auto">
            <a:xfrm>
              <a:off x="1152" y="1692"/>
              <a:ext cx="480" cy="419"/>
              <a:chOff x="3174" y="2656"/>
              <a:chExt cx="1549" cy="1351"/>
            </a:xfrm>
          </p:grpSpPr>
          <p:sp>
            <p:nvSpPr>
              <p:cNvPr id="45" name="AutoShape 1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46" name="AutoShape 1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47" name="AutoShape 1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endParaRPr lang="zh-CN" altLang="en-US"/>
              </a:p>
            </p:txBody>
          </p:sp>
        </p:grpSp>
        <p:sp>
          <p:nvSpPr>
            <p:cNvPr id="42" name="Line 15"/>
            <p:cNvSpPr>
              <a:spLocks noChangeShapeType="1"/>
            </p:cNvSpPr>
            <p:nvPr/>
          </p:nvSpPr>
          <p:spPr bwMode="auto">
            <a:xfrm>
              <a:off x="1536" y="2076"/>
              <a:ext cx="3024"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43" name="Text Box 16"/>
            <p:cNvSpPr txBox="1">
              <a:spLocks noChangeArrowheads="1"/>
            </p:cNvSpPr>
            <p:nvPr/>
          </p:nvSpPr>
          <p:spPr bwMode="auto">
            <a:xfrm>
              <a:off x="1701" y="1596"/>
              <a:ext cx="2853" cy="442"/>
            </a:xfrm>
            <a:prstGeom prst="rect">
              <a:avLst/>
            </a:prstGeom>
            <a:noFill/>
            <a:ln w="9525" algn="ctr">
              <a:noFill/>
              <a:miter lim="800000"/>
            </a:ln>
            <a:effectLst/>
          </p:spPr>
          <p:txBody>
            <a:bodyPr wrap="square">
              <a:spAutoFit/>
            </a:bodyPr>
            <a:lstStyle/>
            <a:p>
              <a:pPr eaLnBrk="0" hangingPunct="0"/>
              <a:r>
                <a:rPr lang="zh-CN" altLang="en-US" sz="4000" b="1" dirty="0">
                  <a:solidFill>
                    <a:srgbClr val="000000"/>
                  </a:solidFill>
                  <a:ea typeface="隶书" panose="02010509060101010101" pitchFamily="49" charset="-122"/>
                </a:rPr>
                <a:t>口令破解 </a:t>
              </a:r>
            </a:p>
          </p:txBody>
        </p:sp>
        <p:sp>
          <p:nvSpPr>
            <p:cNvPr id="44" name="Text Box 17"/>
            <p:cNvSpPr txBox="1">
              <a:spLocks noChangeArrowheads="1"/>
            </p:cNvSpPr>
            <p:nvPr/>
          </p:nvSpPr>
          <p:spPr bwMode="gray">
            <a:xfrm>
              <a:off x="1276" y="1754"/>
              <a:ext cx="223" cy="288"/>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2</a:t>
              </a:r>
            </a:p>
          </p:txBody>
        </p:sp>
      </p:grpSp>
      <p:grpSp>
        <p:nvGrpSpPr>
          <p:cNvPr id="48" name="Group 19"/>
          <p:cNvGrpSpPr/>
          <p:nvPr/>
        </p:nvGrpSpPr>
        <p:grpSpPr bwMode="auto">
          <a:xfrm>
            <a:off x="1295400" y="4554538"/>
            <a:ext cx="762000" cy="665162"/>
            <a:chOff x="1110" y="2656"/>
            <a:chExt cx="1549" cy="1351"/>
          </a:xfrm>
        </p:grpSpPr>
        <p:sp>
          <p:nvSpPr>
            <p:cNvPr id="49" name="AutoShape 20"/>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ln>
            <a:effectLst/>
          </p:spPr>
          <p:txBody>
            <a:bodyPr wrap="none" anchor="ctr"/>
            <a:lstStyle/>
            <a:p>
              <a:endParaRPr lang="zh-CN" altLang="en-US"/>
            </a:p>
          </p:txBody>
        </p:sp>
        <p:sp>
          <p:nvSpPr>
            <p:cNvPr id="50" name="AutoShape 21"/>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ln>
            <a:effectLst/>
          </p:spPr>
          <p:txBody>
            <a:bodyPr wrap="none" anchor="ctr"/>
            <a:lstStyle/>
            <a:p>
              <a:endParaRPr lang="zh-CN" altLang="en-US"/>
            </a:p>
          </p:txBody>
        </p:sp>
        <p:sp>
          <p:nvSpPr>
            <p:cNvPr id="51" name="AutoShape 22"/>
            <p:cNvSpPr>
              <a:spLocks noChangeArrowheads="1"/>
            </p:cNvSpPr>
            <p:nvPr/>
          </p:nvSpPr>
          <p:spPr bwMode="gray">
            <a:xfrm>
              <a:off x="1200" y="2736"/>
              <a:ext cx="1350" cy="1168"/>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endParaRPr lang="zh-CN" altLang="en-US"/>
            </a:p>
          </p:txBody>
        </p:sp>
      </p:grpSp>
      <p:sp>
        <p:nvSpPr>
          <p:cNvPr id="52" name="Line 23"/>
          <p:cNvSpPr>
            <a:spLocks noChangeShapeType="1"/>
          </p:cNvSpPr>
          <p:nvPr/>
        </p:nvSpPr>
        <p:spPr bwMode="auto">
          <a:xfrm>
            <a:off x="1905000" y="5164138"/>
            <a:ext cx="4800600" cy="0"/>
          </a:xfrm>
          <a:prstGeom prst="line">
            <a:avLst/>
          </a:prstGeom>
          <a:noFill/>
          <a:ln w="25400">
            <a:solidFill>
              <a:srgbClr val="C0C0C0"/>
            </a:solidFill>
            <a:prstDash val="sysDot"/>
            <a:round/>
            <a:tailEnd type="oval" w="med" len="med"/>
          </a:ln>
          <a:effectLst/>
        </p:spPr>
        <p:txBody>
          <a:bodyPr wrap="none" anchor="ctr"/>
          <a:lstStyle/>
          <a:p>
            <a:endParaRPr lang="zh-CN" altLang="en-US"/>
          </a:p>
        </p:txBody>
      </p:sp>
      <p:sp>
        <p:nvSpPr>
          <p:cNvPr id="53" name="Text Box 24"/>
          <p:cNvSpPr txBox="1">
            <a:spLocks noChangeArrowheads="1"/>
          </p:cNvSpPr>
          <p:nvPr/>
        </p:nvSpPr>
        <p:spPr bwMode="auto">
          <a:xfrm>
            <a:off x="2166938" y="4402138"/>
            <a:ext cx="4614862" cy="701675"/>
          </a:xfrm>
          <a:prstGeom prst="rect">
            <a:avLst/>
          </a:prstGeom>
          <a:solidFill>
            <a:srgbClr val="FFC000"/>
          </a:solidFill>
          <a:ln w="9525" algn="ctr">
            <a:noFill/>
            <a:miter lim="800000"/>
          </a:ln>
          <a:effectLst/>
        </p:spPr>
        <p:txBody>
          <a:bodyPr wrap="square">
            <a:spAutoFit/>
          </a:bodyPr>
          <a:lstStyle/>
          <a:p>
            <a:pPr eaLnBrk="0" hangingPunct="0"/>
            <a:r>
              <a:rPr lang="zh-CN" altLang="en-US" sz="4000" dirty="0">
                <a:solidFill>
                  <a:srgbClr val="000000"/>
                </a:solidFill>
                <a:latin typeface="Times New Roman" panose="02020603050405020304" pitchFamily="18" charset="0"/>
                <a:ea typeface="隶书" panose="02010509060101010101" pitchFamily="49" charset="-122"/>
              </a:rPr>
              <a:t>口令</a:t>
            </a:r>
            <a:r>
              <a:rPr lang="zh-CN" altLang="en-US" sz="4000" b="1" dirty="0">
                <a:solidFill>
                  <a:srgbClr val="000000"/>
                </a:solidFill>
                <a:ea typeface="隶书" panose="02010509060101010101" pitchFamily="49" charset="-122"/>
              </a:rPr>
              <a:t>安全防御 </a:t>
            </a:r>
          </a:p>
        </p:txBody>
      </p:sp>
      <p:sp>
        <p:nvSpPr>
          <p:cNvPr id="54" name="Text Box 25"/>
          <p:cNvSpPr txBox="1">
            <a:spLocks noChangeArrowheads="1"/>
          </p:cNvSpPr>
          <p:nvPr/>
        </p:nvSpPr>
        <p:spPr bwMode="gray">
          <a:xfrm>
            <a:off x="1492250" y="4652963"/>
            <a:ext cx="354013" cy="457200"/>
          </a:xfrm>
          <a:prstGeom prst="rect">
            <a:avLst/>
          </a:prstGeom>
          <a:noFill/>
          <a:ln w="9525" algn="ctr">
            <a:noFill/>
            <a:miter lim="800000"/>
          </a:ln>
          <a:effectLst/>
        </p:spPr>
        <p:txBody>
          <a:bodyPr wrap="none">
            <a:spAutoFit/>
          </a:bodyPr>
          <a:lstStyle/>
          <a:p>
            <a:pPr algn="ctr" eaLnBrk="0" hangingPunct="0"/>
            <a:r>
              <a:rPr lang="en-US" altLang="zh-CN" sz="2400" b="1">
                <a:solidFill>
                  <a:schemeClr val="bg1"/>
                </a:solidFill>
                <a:ea typeface="宋体" panose="02010600030101010101" pitchFamily="2" charset="-122"/>
              </a:rPr>
              <a:t>3</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r>
              <a:rPr lang="zh-CN" altLang="en-US"/>
              <a:t>（一）强壮的密码策略</a:t>
            </a:r>
          </a:p>
        </p:txBody>
      </p:sp>
      <p:sp>
        <p:nvSpPr>
          <p:cNvPr id="416771" name="Rectangle 3"/>
          <p:cNvSpPr>
            <a:spLocks noGrp="1" noChangeArrowheads="1"/>
          </p:cNvSpPr>
          <p:nvPr>
            <p:ph type="body" idx="1"/>
          </p:nvPr>
        </p:nvSpPr>
        <p:spPr>
          <a:xfrm>
            <a:off x="644526" y="1296989"/>
            <a:ext cx="7772400" cy="5203824"/>
          </a:xfrm>
        </p:spPr>
        <p:txBody>
          <a:bodyPr/>
          <a:lstStyle/>
          <a:p>
            <a:r>
              <a:rPr lang="zh-CN" altLang="en-US" sz="2800" dirty="0"/>
              <a:t>密码要符合复杂性要求</a:t>
            </a:r>
          </a:p>
          <a:p>
            <a:pPr lvl="1"/>
            <a:r>
              <a:rPr lang="zh-CN" altLang="en-US" dirty="0"/>
              <a:t>指定密码最短长度：至少为</a:t>
            </a:r>
            <a:r>
              <a:rPr lang="en-US" altLang="zh-CN" dirty="0"/>
              <a:t>9</a:t>
            </a:r>
            <a:r>
              <a:rPr lang="zh-CN" altLang="en-US" dirty="0"/>
              <a:t>个字符；</a:t>
            </a:r>
          </a:p>
          <a:p>
            <a:pPr lvl="1"/>
            <a:r>
              <a:rPr lang="zh-CN" altLang="en-US" dirty="0"/>
              <a:t>禁止使用字典词汇，应该包含非字母字符；</a:t>
            </a:r>
          </a:p>
          <a:p>
            <a:pPr lvl="1"/>
            <a:r>
              <a:rPr lang="zh-CN" altLang="en-US" dirty="0"/>
              <a:t>少用个信信息。</a:t>
            </a:r>
          </a:p>
          <a:p>
            <a:r>
              <a:rPr lang="zh-CN" altLang="en-US" sz="2800" dirty="0"/>
              <a:t>推荐使用</a:t>
            </a:r>
            <a:r>
              <a:rPr lang="zh-CN" altLang="en-US" sz="2800" dirty="0">
                <a:solidFill>
                  <a:srgbClr val="0000FF"/>
                </a:solidFill>
              </a:rPr>
              <a:t>密码短语</a:t>
            </a:r>
            <a:r>
              <a:rPr lang="zh-CN" altLang="en-US" sz="2800" dirty="0"/>
              <a:t>设置长密码。例如“</a:t>
            </a:r>
            <a:r>
              <a:rPr lang="en-US" altLang="zh-CN" sz="2800" dirty="0"/>
              <a:t>Lee, I think I’ll buy another copy of Counter Hack”</a:t>
            </a:r>
            <a:r>
              <a:rPr lang="zh-CN" altLang="en-US" sz="2800" dirty="0"/>
              <a:t>要比密码“</a:t>
            </a:r>
            <a:r>
              <a:rPr lang="en-US" altLang="zh-CN" sz="2800" dirty="0"/>
              <a:t>#dx92!$X”</a:t>
            </a:r>
            <a:r>
              <a:rPr lang="zh-CN" altLang="en-US" sz="2800" dirty="0"/>
              <a:t>难破解得多！</a:t>
            </a: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16771">
                                            <p:txEl>
                                              <p:pRg st="0" end="0"/>
                                            </p:txEl>
                                          </p:spTgt>
                                        </p:tgtEl>
                                        <p:attrNameLst>
                                          <p:attrName>style.visibility</p:attrName>
                                        </p:attrNameLst>
                                      </p:cBhvr>
                                      <p:to>
                                        <p:strVal val="visible"/>
                                      </p:to>
                                    </p:set>
                                    <p:anim calcmode="lin" valueType="num">
                                      <p:cBhvr additive="base">
                                        <p:cTn id="7" dur="500" fill="hold"/>
                                        <p:tgtEl>
                                          <p:spTgt spid="4167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67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6771">
                                            <p:txEl>
                                              <p:pRg st="1" end="1"/>
                                            </p:txEl>
                                          </p:spTgt>
                                        </p:tgtEl>
                                        <p:attrNameLst>
                                          <p:attrName>style.visibility</p:attrName>
                                        </p:attrNameLst>
                                      </p:cBhvr>
                                      <p:to>
                                        <p:strVal val="visible"/>
                                      </p:to>
                                    </p:set>
                                    <p:anim calcmode="lin" valueType="num">
                                      <p:cBhvr additive="base">
                                        <p:cTn id="13" dur="500" fill="hold"/>
                                        <p:tgtEl>
                                          <p:spTgt spid="4167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67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16771">
                                            <p:txEl>
                                              <p:pRg st="2" end="2"/>
                                            </p:txEl>
                                          </p:spTgt>
                                        </p:tgtEl>
                                        <p:attrNameLst>
                                          <p:attrName>style.visibility</p:attrName>
                                        </p:attrNameLst>
                                      </p:cBhvr>
                                      <p:to>
                                        <p:strVal val="visible"/>
                                      </p:to>
                                    </p:set>
                                    <p:anim calcmode="lin" valueType="num">
                                      <p:cBhvr additive="base">
                                        <p:cTn id="19" dur="500" fill="hold"/>
                                        <p:tgtEl>
                                          <p:spTgt spid="41677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167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16771">
                                            <p:txEl>
                                              <p:pRg st="3" end="3"/>
                                            </p:txEl>
                                          </p:spTgt>
                                        </p:tgtEl>
                                        <p:attrNameLst>
                                          <p:attrName>style.visibility</p:attrName>
                                        </p:attrNameLst>
                                      </p:cBhvr>
                                      <p:to>
                                        <p:strVal val="visible"/>
                                      </p:to>
                                    </p:set>
                                    <p:anim calcmode="lin" valueType="num">
                                      <p:cBhvr additive="base">
                                        <p:cTn id="25" dur="500" fill="hold"/>
                                        <p:tgtEl>
                                          <p:spTgt spid="41677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167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16771">
                                            <p:txEl>
                                              <p:pRg st="4" end="4"/>
                                            </p:txEl>
                                          </p:spTgt>
                                        </p:tgtEl>
                                        <p:attrNameLst>
                                          <p:attrName>style.visibility</p:attrName>
                                        </p:attrNameLst>
                                      </p:cBhvr>
                                      <p:to>
                                        <p:strVal val="visible"/>
                                      </p:to>
                                    </p:set>
                                    <p:anim calcmode="lin" valueType="num">
                                      <p:cBhvr additive="base">
                                        <p:cTn id="31" dur="500" fill="hold"/>
                                        <p:tgtEl>
                                          <p:spTgt spid="41677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1677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r>
              <a:rPr lang="zh-CN" altLang="en-US"/>
              <a:t>（二）用户意识</a:t>
            </a:r>
            <a:endParaRPr lang="en-US" altLang="zh-CN"/>
          </a:p>
        </p:txBody>
      </p:sp>
      <p:sp>
        <p:nvSpPr>
          <p:cNvPr id="418819" name="Rectangle 3"/>
          <p:cNvSpPr>
            <a:spLocks noGrp="1" noChangeArrowheads="1"/>
          </p:cNvSpPr>
          <p:nvPr>
            <p:ph type="body" idx="1"/>
          </p:nvPr>
        </p:nvSpPr>
        <p:spPr>
          <a:xfrm>
            <a:off x="687668" y="1438182"/>
            <a:ext cx="8037512" cy="4694237"/>
          </a:xfrm>
        </p:spPr>
        <p:txBody>
          <a:bodyPr/>
          <a:lstStyle/>
          <a:p>
            <a:pPr>
              <a:spcBef>
                <a:spcPts val="0"/>
              </a:spcBef>
            </a:pPr>
            <a:r>
              <a:rPr lang="zh-CN" altLang="en-US" sz="2800" dirty="0"/>
              <a:t>不要在不同系统上使用同一口令；</a:t>
            </a:r>
          </a:p>
          <a:p>
            <a:pPr>
              <a:spcBef>
                <a:spcPts val="0"/>
              </a:spcBef>
            </a:pPr>
            <a:r>
              <a:rPr lang="zh-CN" altLang="en-US" sz="2800" dirty="0"/>
              <a:t>不要选取显而易见的信息作口令；</a:t>
            </a:r>
          </a:p>
          <a:p>
            <a:pPr>
              <a:spcBef>
                <a:spcPts val="0"/>
              </a:spcBef>
            </a:pPr>
            <a:r>
              <a:rPr lang="zh-CN" altLang="en-US" sz="2800" dirty="0"/>
              <a:t>定期更改口令；</a:t>
            </a:r>
          </a:p>
          <a:p>
            <a:pPr>
              <a:spcBef>
                <a:spcPts val="0"/>
              </a:spcBef>
            </a:pPr>
            <a:r>
              <a:rPr lang="zh-CN" altLang="en-US" sz="2800" dirty="0"/>
              <a:t>不要让人知道、看见自己在输入口令；</a:t>
            </a:r>
          </a:p>
          <a:p>
            <a:pPr>
              <a:spcBef>
                <a:spcPts val="0"/>
              </a:spcBef>
            </a:pPr>
            <a:r>
              <a:rPr lang="zh-CN" altLang="en-US" sz="2800" dirty="0"/>
              <a:t>尽量不要在同一台机器上分配多个用户权限，一旦某个用户具有登录权限，那么他就可能获取该计算机的</a:t>
            </a:r>
            <a:r>
              <a:rPr lang="en-US" altLang="zh-CN" sz="2800" dirty="0"/>
              <a:t>SAM</a:t>
            </a:r>
            <a:r>
              <a:rPr lang="zh-CN" altLang="en-US" sz="2800" dirty="0"/>
              <a:t>信息并分析出所有用户的密码。</a:t>
            </a:r>
            <a:br>
              <a:rPr lang="zh-CN" altLang="en-US" sz="2800" dirty="0"/>
            </a:b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18819">
                                            <p:txEl>
                                              <p:pRg st="0" end="0"/>
                                            </p:txEl>
                                          </p:spTgt>
                                        </p:tgtEl>
                                        <p:attrNameLst>
                                          <p:attrName>style.visibility</p:attrName>
                                        </p:attrNameLst>
                                      </p:cBhvr>
                                      <p:to>
                                        <p:strVal val="visible"/>
                                      </p:to>
                                    </p:set>
                                    <p:anim calcmode="lin" valueType="num">
                                      <p:cBhvr additive="base">
                                        <p:cTn id="7" dur="500" fill="hold"/>
                                        <p:tgtEl>
                                          <p:spTgt spid="4188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88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8819">
                                            <p:txEl>
                                              <p:pRg st="1" end="1"/>
                                            </p:txEl>
                                          </p:spTgt>
                                        </p:tgtEl>
                                        <p:attrNameLst>
                                          <p:attrName>style.visibility</p:attrName>
                                        </p:attrNameLst>
                                      </p:cBhvr>
                                      <p:to>
                                        <p:strVal val="visible"/>
                                      </p:to>
                                    </p:set>
                                    <p:anim calcmode="lin" valueType="num">
                                      <p:cBhvr additive="base">
                                        <p:cTn id="13" dur="500" fill="hold"/>
                                        <p:tgtEl>
                                          <p:spTgt spid="4188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88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18819">
                                            <p:txEl>
                                              <p:pRg st="2" end="2"/>
                                            </p:txEl>
                                          </p:spTgt>
                                        </p:tgtEl>
                                        <p:attrNameLst>
                                          <p:attrName>style.visibility</p:attrName>
                                        </p:attrNameLst>
                                      </p:cBhvr>
                                      <p:to>
                                        <p:strVal val="visible"/>
                                      </p:to>
                                    </p:set>
                                    <p:anim calcmode="lin" valueType="num">
                                      <p:cBhvr additive="base">
                                        <p:cTn id="19" dur="500" fill="hold"/>
                                        <p:tgtEl>
                                          <p:spTgt spid="41881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188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18819">
                                            <p:txEl>
                                              <p:pRg st="3" end="3"/>
                                            </p:txEl>
                                          </p:spTgt>
                                        </p:tgtEl>
                                        <p:attrNameLst>
                                          <p:attrName>style.visibility</p:attrName>
                                        </p:attrNameLst>
                                      </p:cBhvr>
                                      <p:to>
                                        <p:strVal val="visible"/>
                                      </p:to>
                                    </p:set>
                                    <p:anim calcmode="lin" valueType="num">
                                      <p:cBhvr additive="base">
                                        <p:cTn id="25" dur="500" fill="hold"/>
                                        <p:tgtEl>
                                          <p:spTgt spid="41881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188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18819">
                                            <p:txEl>
                                              <p:pRg st="4" end="4"/>
                                            </p:txEl>
                                          </p:spTgt>
                                        </p:tgtEl>
                                        <p:attrNameLst>
                                          <p:attrName>style.visibility</p:attrName>
                                        </p:attrNameLst>
                                      </p:cBhvr>
                                      <p:to>
                                        <p:strVal val="visible"/>
                                      </p:to>
                                    </p:set>
                                    <p:anim calcmode="lin" valueType="num">
                                      <p:cBhvr additive="base">
                                        <p:cTn id="31" dur="500" fill="hold"/>
                                        <p:tgtEl>
                                          <p:spTgt spid="41881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1881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r>
              <a:rPr lang="zh-CN" altLang="en-US"/>
              <a:t>（三）密码过滤软件</a:t>
            </a:r>
            <a:endParaRPr lang="en-US" altLang="zh-CN"/>
          </a:p>
        </p:txBody>
      </p:sp>
      <p:sp>
        <p:nvSpPr>
          <p:cNvPr id="419843" name="Rectangle 3"/>
          <p:cNvSpPr>
            <a:spLocks noGrp="1" noChangeArrowheads="1"/>
          </p:cNvSpPr>
          <p:nvPr>
            <p:ph type="body" idx="1"/>
          </p:nvPr>
        </p:nvSpPr>
        <p:spPr>
          <a:xfrm>
            <a:off x="649288" y="1363663"/>
            <a:ext cx="7772400" cy="4932362"/>
          </a:xfrm>
        </p:spPr>
        <p:txBody>
          <a:bodyPr/>
          <a:lstStyle/>
          <a:p>
            <a:pPr>
              <a:lnSpc>
                <a:spcPts val="3200"/>
              </a:lnSpc>
              <a:spcBef>
                <a:spcPts val="0"/>
              </a:spcBef>
            </a:pPr>
            <a:r>
              <a:rPr lang="zh-CN" altLang="en-US" sz="2800" dirty="0"/>
              <a:t>为确保用户没有选择弱密码，使用密码过滤工具来规范用户使用强壮的密码。</a:t>
            </a:r>
          </a:p>
          <a:p>
            <a:pPr>
              <a:lnSpc>
                <a:spcPts val="3200"/>
              </a:lnSpc>
              <a:spcBef>
                <a:spcPts val="0"/>
              </a:spcBef>
            </a:pPr>
            <a:r>
              <a:rPr lang="zh-CN" altLang="en-US" sz="2800" dirty="0"/>
              <a:t>可选择的密码过滤工具：</a:t>
            </a:r>
            <a:endParaRPr lang="en-US" altLang="zh-CN" sz="2800" dirty="0"/>
          </a:p>
          <a:p>
            <a:pPr lvl="1">
              <a:lnSpc>
                <a:spcPts val="3200"/>
              </a:lnSpc>
              <a:spcBef>
                <a:spcPts val="0"/>
              </a:spcBef>
            </a:pPr>
            <a:r>
              <a:rPr lang="zh-CN" altLang="en-US" dirty="0"/>
              <a:t>可插入认证模块</a:t>
            </a:r>
            <a:r>
              <a:rPr lang="en-US" altLang="zh-CN" dirty="0"/>
              <a:t>PAM</a:t>
            </a:r>
            <a:r>
              <a:rPr lang="zh-CN" altLang="en-US" dirty="0"/>
              <a:t>，</a:t>
            </a:r>
            <a:r>
              <a:rPr lang="en-US" altLang="zh-CN" dirty="0">
                <a:hlinkClick r:id="rId2"/>
              </a:rPr>
              <a:t>www.openwall.com/passwdqc</a:t>
            </a:r>
            <a:r>
              <a:rPr lang="zh-CN" altLang="en-US" dirty="0"/>
              <a:t>，用于</a:t>
            </a:r>
            <a:r>
              <a:rPr lang="en-US" altLang="zh-CN" dirty="0"/>
              <a:t>Linux</a:t>
            </a:r>
            <a:r>
              <a:rPr lang="zh-CN" altLang="en-US" dirty="0"/>
              <a:t>，</a:t>
            </a:r>
            <a:r>
              <a:rPr lang="en-US" altLang="zh-CN" dirty="0"/>
              <a:t>Solaris</a:t>
            </a:r>
            <a:r>
              <a:rPr lang="zh-CN" altLang="en-US" dirty="0"/>
              <a:t>系统；</a:t>
            </a:r>
          </a:p>
          <a:p>
            <a:pPr lvl="1">
              <a:lnSpc>
                <a:spcPts val="3200"/>
              </a:lnSpc>
              <a:spcBef>
                <a:spcPts val="0"/>
              </a:spcBef>
            </a:pPr>
            <a:r>
              <a:rPr lang="en-US" altLang="zh-CN" dirty="0"/>
              <a:t>Password Guardian</a:t>
            </a:r>
            <a:r>
              <a:rPr lang="zh-CN" altLang="en-US" dirty="0"/>
              <a:t>，商业工具，</a:t>
            </a:r>
            <a:r>
              <a:rPr lang="en-US" altLang="zh-CN" dirty="0">
                <a:hlinkClick r:id="rId3"/>
              </a:rPr>
              <a:t>www.georgiasoftworks.com</a:t>
            </a:r>
            <a:r>
              <a:rPr lang="zh-CN" altLang="en-US" dirty="0"/>
              <a:t>，用于</a:t>
            </a:r>
            <a:r>
              <a:rPr lang="en-US" altLang="zh-CN" dirty="0"/>
              <a:t>Windows</a:t>
            </a:r>
            <a:r>
              <a:rPr lang="zh-CN" altLang="en-US" dirty="0"/>
              <a:t>系统；</a:t>
            </a:r>
          </a:p>
          <a:p>
            <a:pPr lvl="1">
              <a:lnSpc>
                <a:spcPts val="3200"/>
              </a:lnSpc>
              <a:spcBef>
                <a:spcPts val="0"/>
              </a:spcBef>
            </a:pPr>
            <a:r>
              <a:rPr lang="en-US" altLang="zh-CN" dirty="0" err="1"/>
              <a:t>Strongpass</a:t>
            </a:r>
            <a:r>
              <a:rPr lang="zh-CN" altLang="en-US" dirty="0"/>
              <a:t>，免费工具，</a:t>
            </a:r>
            <a:r>
              <a:rPr lang="en-US" altLang="zh-CN" dirty="0">
                <a:hlinkClick r:id="rId4"/>
              </a:rPr>
              <a:t>http://ntsecurity.nu/toolbox</a:t>
            </a:r>
            <a:r>
              <a:rPr lang="zh-CN" altLang="en-US" dirty="0"/>
              <a:t>，用于</a:t>
            </a:r>
            <a:r>
              <a:rPr lang="en-US" altLang="zh-CN" dirty="0"/>
              <a:t>Windows</a:t>
            </a:r>
            <a:r>
              <a:rPr lang="zh-CN" altLang="en-US" dirty="0"/>
              <a:t>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19843">
                                            <p:txEl>
                                              <p:pRg st="0" end="0"/>
                                            </p:txEl>
                                          </p:spTgt>
                                        </p:tgtEl>
                                        <p:attrNameLst>
                                          <p:attrName>style.visibility</p:attrName>
                                        </p:attrNameLst>
                                      </p:cBhvr>
                                      <p:to>
                                        <p:strVal val="visible"/>
                                      </p:to>
                                    </p:set>
                                    <p:anim calcmode="lin" valueType="num">
                                      <p:cBhvr additive="base">
                                        <p:cTn id="7" dur="500" fill="hold"/>
                                        <p:tgtEl>
                                          <p:spTgt spid="4198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4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19843">
                                            <p:txEl>
                                              <p:pRg st="1" end="1"/>
                                            </p:txEl>
                                          </p:spTgt>
                                        </p:tgtEl>
                                        <p:attrNameLst>
                                          <p:attrName>style.visibility</p:attrName>
                                        </p:attrNameLst>
                                      </p:cBhvr>
                                      <p:to>
                                        <p:strVal val="visible"/>
                                      </p:to>
                                    </p:set>
                                    <p:anim calcmode="lin" valueType="num">
                                      <p:cBhvr additive="base">
                                        <p:cTn id="11" dur="500" fill="hold"/>
                                        <p:tgtEl>
                                          <p:spTgt spid="41984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198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19843">
                                            <p:txEl>
                                              <p:pRg st="2" end="2"/>
                                            </p:txEl>
                                          </p:spTgt>
                                        </p:tgtEl>
                                        <p:attrNameLst>
                                          <p:attrName>style.visibility</p:attrName>
                                        </p:attrNameLst>
                                      </p:cBhvr>
                                      <p:to>
                                        <p:strVal val="visible"/>
                                      </p:to>
                                    </p:set>
                                    <p:anim calcmode="lin" valueType="num">
                                      <p:cBhvr additive="base">
                                        <p:cTn id="17" dur="500" fill="hold"/>
                                        <p:tgtEl>
                                          <p:spTgt spid="41984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198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19843">
                                            <p:txEl>
                                              <p:pRg st="3" end="3"/>
                                            </p:txEl>
                                          </p:spTgt>
                                        </p:tgtEl>
                                        <p:attrNameLst>
                                          <p:attrName>style.visibility</p:attrName>
                                        </p:attrNameLst>
                                      </p:cBhvr>
                                      <p:to>
                                        <p:strVal val="visible"/>
                                      </p:to>
                                    </p:set>
                                    <p:anim calcmode="lin" valueType="num">
                                      <p:cBhvr additive="base">
                                        <p:cTn id="23" dur="500" fill="hold"/>
                                        <p:tgtEl>
                                          <p:spTgt spid="41984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198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19843">
                                            <p:txEl>
                                              <p:pRg st="4" end="4"/>
                                            </p:txEl>
                                          </p:spTgt>
                                        </p:tgtEl>
                                        <p:attrNameLst>
                                          <p:attrName>style.visibility</p:attrName>
                                        </p:attrNameLst>
                                      </p:cBhvr>
                                      <p:to>
                                        <p:strVal val="visible"/>
                                      </p:to>
                                    </p:set>
                                    <p:anim calcmode="lin" valueType="num">
                                      <p:cBhvr additive="base">
                                        <p:cTn id="29" dur="500" fill="hold"/>
                                        <p:tgtEl>
                                          <p:spTgt spid="41984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1984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r>
              <a:rPr lang="zh-CN" altLang="en-US"/>
              <a:t>（四）保护密码文件</a:t>
            </a:r>
            <a:endParaRPr lang="en-US" altLang="zh-CN"/>
          </a:p>
        </p:txBody>
      </p:sp>
      <p:sp>
        <p:nvSpPr>
          <p:cNvPr id="420867" name="Rectangle 3"/>
          <p:cNvSpPr>
            <a:spLocks noGrp="1" noChangeArrowheads="1"/>
          </p:cNvSpPr>
          <p:nvPr>
            <p:ph type="body" idx="1"/>
          </p:nvPr>
        </p:nvSpPr>
        <p:spPr>
          <a:xfrm>
            <a:off x="506413" y="1268413"/>
            <a:ext cx="8380412" cy="4960937"/>
          </a:xfrm>
        </p:spPr>
        <p:txBody>
          <a:bodyPr/>
          <a:lstStyle/>
          <a:p>
            <a:pPr>
              <a:lnSpc>
                <a:spcPts val="3500"/>
              </a:lnSpc>
              <a:spcBef>
                <a:spcPts val="0"/>
              </a:spcBef>
            </a:pPr>
            <a:r>
              <a:rPr lang="zh-CN" altLang="en-US" sz="2400" dirty="0"/>
              <a:t>在支持密码</a:t>
            </a:r>
            <a:r>
              <a:rPr lang="en-US" altLang="zh-CN" sz="2400" dirty="0"/>
              <a:t>shadow</a:t>
            </a:r>
            <a:r>
              <a:rPr lang="zh-CN" altLang="en-US" sz="2400" dirty="0"/>
              <a:t>的系统中，确保</a:t>
            </a:r>
            <a:r>
              <a:rPr lang="zh-CN" altLang="en-US" sz="2400" dirty="0">
                <a:solidFill>
                  <a:srgbClr val="0000FF"/>
                </a:solidFill>
              </a:rPr>
              <a:t>激活密码</a:t>
            </a:r>
            <a:r>
              <a:rPr lang="en-US" altLang="zh-CN" sz="2400" dirty="0">
                <a:solidFill>
                  <a:srgbClr val="0000FF"/>
                </a:solidFill>
              </a:rPr>
              <a:t>shadow</a:t>
            </a:r>
            <a:r>
              <a:rPr lang="zh-CN" altLang="en-US" sz="2400" dirty="0"/>
              <a:t>。（密码</a:t>
            </a:r>
            <a:r>
              <a:rPr lang="en-US" altLang="zh-CN" sz="2400" dirty="0"/>
              <a:t>shadow</a:t>
            </a:r>
            <a:r>
              <a:rPr lang="zh-CN" altLang="en-US" sz="2400" dirty="0"/>
              <a:t>用来在</a:t>
            </a:r>
            <a:r>
              <a:rPr lang="en-US" altLang="zh-CN" sz="2400" dirty="0"/>
              <a:t>/etc/shadow</a:t>
            </a:r>
            <a:r>
              <a:rPr lang="zh-CN" altLang="en-US" sz="2400" dirty="0"/>
              <a:t>文件中存储密码表示，仅可以让</a:t>
            </a:r>
            <a:r>
              <a:rPr lang="en-US" altLang="zh-CN" sz="2400" dirty="0"/>
              <a:t>root</a:t>
            </a:r>
            <a:r>
              <a:rPr lang="zh-CN" altLang="en-US" sz="2400" dirty="0"/>
              <a:t>读取）；</a:t>
            </a:r>
          </a:p>
          <a:p>
            <a:pPr>
              <a:lnSpc>
                <a:spcPts val="3500"/>
              </a:lnSpc>
              <a:spcBef>
                <a:spcPts val="0"/>
              </a:spcBef>
            </a:pPr>
            <a:r>
              <a:rPr lang="zh-CN" altLang="en-US" sz="2400" dirty="0">
                <a:solidFill>
                  <a:srgbClr val="0000FF"/>
                </a:solidFill>
              </a:rPr>
              <a:t>禁用弱</a:t>
            </a:r>
            <a:r>
              <a:rPr lang="en-US" altLang="zh-CN" sz="2400" dirty="0">
                <a:solidFill>
                  <a:srgbClr val="0000FF"/>
                </a:solidFill>
              </a:rPr>
              <a:t>LM</a:t>
            </a:r>
            <a:r>
              <a:rPr lang="zh-CN" altLang="en-US" sz="2400" dirty="0">
                <a:solidFill>
                  <a:srgbClr val="0000FF"/>
                </a:solidFill>
              </a:rPr>
              <a:t>认证</a:t>
            </a:r>
            <a:r>
              <a:rPr lang="zh-CN" altLang="en-US" sz="2400" dirty="0"/>
              <a:t>。在注册表中定义</a:t>
            </a:r>
            <a:r>
              <a:rPr lang="en-US" altLang="zh-CN" sz="2400" dirty="0"/>
              <a:t>HKEY_LOCAL_MACHINE\SYSTEM\</a:t>
            </a:r>
            <a:r>
              <a:rPr lang="en-US" altLang="zh-CN" sz="2400" dirty="0" err="1"/>
              <a:t>CurrentControlSet</a:t>
            </a:r>
            <a:r>
              <a:rPr lang="en-US" altLang="zh-CN" sz="2400" dirty="0"/>
              <a:t>\Control\</a:t>
            </a:r>
            <a:r>
              <a:rPr lang="en-US" altLang="zh-CN" sz="2400" dirty="0" err="1"/>
              <a:t>Lsa</a:t>
            </a:r>
            <a:r>
              <a:rPr lang="en-US" altLang="zh-CN" sz="2400" dirty="0"/>
              <a:t>\</a:t>
            </a:r>
            <a:r>
              <a:rPr lang="en-US" altLang="zh-CN" sz="2400" dirty="0" err="1"/>
              <a:t>NoLMHash</a:t>
            </a:r>
            <a:r>
              <a:rPr lang="zh-CN" altLang="en-US" sz="2400" dirty="0"/>
              <a:t>来表示丢弃</a:t>
            </a:r>
            <a:r>
              <a:rPr lang="en-US" altLang="zh-CN" sz="2400" dirty="0"/>
              <a:t>LM</a:t>
            </a:r>
            <a:r>
              <a:rPr lang="zh-CN" altLang="en-US" sz="2400" dirty="0"/>
              <a:t>表示；</a:t>
            </a:r>
          </a:p>
          <a:p>
            <a:pPr>
              <a:lnSpc>
                <a:spcPts val="3500"/>
              </a:lnSpc>
              <a:spcBef>
                <a:spcPts val="0"/>
              </a:spcBef>
            </a:pPr>
            <a:r>
              <a:rPr lang="zh-CN" altLang="en-US" sz="2400" dirty="0">
                <a:solidFill>
                  <a:srgbClr val="0000FF"/>
                </a:solidFill>
              </a:rPr>
              <a:t>强制系统发送破解难度更大的</a:t>
            </a:r>
            <a:r>
              <a:rPr lang="en-US" altLang="zh-CN" sz="2400" dirty="0">
                <a:solidFill>
                  <a:srgbClr val="0000FF"/>
                </a:solidFill>
              </a:rPr>
              <a:t>NTLMv2</a:t>
            </a:r>
            <a:r>
              <a:rPr lang="zh-CN" altLang="en-US" sz="2400" dirty="0">
                <a:solidFill>
                  <a:srgbClr val="0000FF"/>
                </a:solidFill>
              </a:rPr>
              <a:t>表示</a:t>
            </a:r>
            <a:r>
              <a:rPr lang="zh-CN" altLang="en-US" sz="2400" dirty="0"/>
              <a:t>。把注册键</a:t>
            </a:r>
            <a:r>
              <a:rPr lang="en-US" altLang="zh-CN" sz="2400" dirty="0"/>
              <a:t>HKEY_LOCAL_MACHINE\SYSTEM\ </a:t>
            </a:r>
            <a:r>
              <a:rPr lang="en-US" altLang="zh-CN" sz="2400" dirty="0" err="1"/>
              <a:t>CurrentControlSet</a:t>
            </a:r>
            <a:r>
              <a:rPr lang="en-US" altLang="zh-CN" sz="2400" dirty="0"/>
              <a:t>\Control\</a:t>
            </a:r>
            <a:r>
              <a:rPr lang="en-US" altLang="zh-CN" sz="2400" dirty="0" err="1"/>
              <a:t>Lsa</a:t>
            </a:r>
            <a:r>
              <a:rPr lang="en-US" altLang="zh-CN" sz="2400" dirty="0"/>
              <a:t>\</a:t>
            </a:r>
            <a:r>
              <a:rPr lang="en-US" altLang="zh-CN" sz="2400" dirty="0" err="1"/>
              <a:t>LMCompatibilityLevel</a:t>
            </a:r>
            <a:r>
              <a:rPr lang="zh-CN" altLang="en-US" sz="2400" dirty="0"/>
              <a:t>置</a:t>
            </a:r>
            <a:r>
              <a:rPr lang="en-US" altLang="zh-CN" sz="2400" dirty="0"/>
              <a:t>3</a:t>
            </a:r>
            <a:endParaRPr lang="zh-CN" altLang="en-US" sz="2400" dirty="0"/>
          </a:p>
          <a:p>
            <a:pPr>
              <a:lnSpc>
                <a:spcPts val="3500"/>
              </a:lnSpc>
              <a:spcBef>
                <a:spcPts val="0"/>
              </a:spcBef>
            </a:pPr>
            <a:r>
              <a:rPr lang="zh-CN" altLang="en-US" sz="2400" dirty="0"/>
              <a:t>使用</a:t>
            </a:r>
            <a:r>
              <a:rPr lang="en-US" altLang="zh-CN" sz="2400" dirty="0"/>
              <a:t>Ntbackup.exe</a:t>
            </a:r>
            <a:r>
              <a:rPr lang="zh-CN" altLang="en-US" sz="2400" dirty="0"/>
              <a:t>等程序进行备份，记得</a:t>
            </a:r>
            <a:r>
              <a:rPr lang="zh-CN" altLang="en-US" sz="2400" dirty="0">
                <a:solidFill>
                  <a:srgbClr val="0000FF"/>
                </a:solidFill>
              </a:rPr>
              <a:t>删除位于</a:t>
            </a:r>
            <a:r>
              <a:rPr lang="en-US" altLang="zh-CN" sz="2400" dirty="0">
                <a:solidFill>
                  <a:srgbClr val="0000FF"/>
                </a:solidFill>
              </a:rPr>
              <a:t>%</a:t>
            </a:r>
            <a:r>
              <a:rPr lang="en-US" altLang="zh-CN" sz="2400" dirty="0" err="1">
                <a:solidFill>
                  <a:srgbClr val="0000FF"/>
                </a:solidFill>
              </a:rPr>
              <a:t>systemroot</a:t>
            </a:r>
            <a:r>
              <a:rPr lang="en-US" altLang="zh-CN" sz="2400" dirty="0">
                <a:solidFill>
                  <a:srgbClr val="0000FF"/>
                </a:solidFill>
              </a:rPr>
              <a:t>%\repair\</a:t>
            </a:r>
            <a:r>
              <a:rPr lang="en-US" altLang="zh-CN" sz="2400" dirty="0" err="1">
                <a:solidFill>
                  <a:srgbClr val="0000FF"/>
                </a:solidFill>
              </a:rPr>
              <a:t>sam._file</a:t>
            </a:r>
            <a:r>
              <a:rPr lang="zh-CN" altLang="en-US" sz="2400" dirty="0">
                <a:solidFill>
                  <a:srgbClr val="0000FF"/>
                </a:solidFill>
              </a:rPr>
              <a:t>文件的拷贝</a:t>
            </a:r>
            <a:r>
              <a:rPr lang="zh-CN" altLang="en-US" sz="2400" dirty="0"/>
              <a:t>。</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20867">
                                            <p:txEl>
                                              <p:pRg st="0" end="0"/>
                                            </p:txEl>
                                          </p:spTgt>
                                        </p:tgtEl>
                                        <p:attrNameLst>
                                          <p:attrName>style.visibility</p:attrName>
                                        </p:attrNameLst>
                                      </p:cBhvr>
                                      <p:to>
                                        <p:strVal val="visible"/>
                                      </p:to>
                                    </p:set>
                                    <p:anim calcmode="lin" valueType="num">
                                      <p:cBhvr additive="base">
                                        <p:cTn id="7" dur="500" fill="hold"/>
                                        <p:tgtEl>
                                          <p:spTgt spid="4208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08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20867">
                                            <p:txEl>
                                              <p:pRg st="1" end="1"/>
                                            </p:txEl>
                                          </p:spTgt>
                                        </p:tgtEl>
                                        <p:attrNameLst>
                                          <p:attrName>style.visibility</p:attrName>
                                        </p:attrNameLst>
                                      </p:cBhvr>
                                      <p:to>
                                        <p:strVal val="visible"/>
                                      </p:to>
                                    </p:set>
                                    <p:anim calcmode="lin" valueType="num">
                                      <p:cBhvr additive="base">
                                        <p:cTn id="13" dur="500" fill="hold"/>
                                        <p:tgtEl>
                                          <p:spTgt spid="4208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208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20867">
                                            <p:txEl>
                                              <p:pRg st="2" end="2"/>
                                            </p:txEl>
                                          </p:spTgt>
                                        </p:tgtEl>
                                        <p:attrNameLst>
                                          <p:attrName>style.visibility</p:attrName>
                                        </p:attrNameLst>
                                      </p:cBhvr>
                                      <p:to>
                                        <p:strVal val="visible"/>
                                      </p:to>
                                    </p:set>
                                    <p:anim calcmode="lin" valueType="num">
                                      <p:cBhvr additive="base">
                                        <p:cTn id="19" dur="500" fill="hold"/>
                                        <p:tgtEl>
                                          <p:spTgt spid="4208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208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20867">
                                            <p:txEl>
                                              <p:pRg st="3" end="3"/>
                                            </p:txEl>
                                          </p:spTgt>
                                        </p:tgtEl>
                                        <p:attrNameLst>
                                          <p:attrName>style.visibility</p:attrName>
                                        </p:attrNameLst>
                                      </p:cBhvr>
                                      <p:to>
                                        <p:strVal val="visible"/>
                                      </p:to>
                                    </p:set>
                                    <p:anim calcmode="lin" valueType="num">
                                      <p:cBhvr additive="base">
                                        <p:cTn id="25" dur="500" fill="hold"/>
                                        <p:tgtEl>
                                          <p:spTgt spid="4208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2086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371282"/>
            <a:ext cx="7772400" cy="4557077"/>
          </a:xfrm>
        </p:spPr>
        <p:txBody>
          <a:bodyPr/>
          <a:lstStyle/>
          <a:p>
            <a:pPr>
              <a:lnSpc>
                <a:spcPct val="150000"/>
              </a:lnSpc>
            </a:pPr>
            <a:r>
              <a:rPr lang="zh-CN" altLang="zh-CN" dirty="0"/>
              <a:t>人类的认知能力有限，我们保护账号的精力也是有限的。一种比较现实可行的做法是根据重要程度把账号分级，</a:t>
            </a:r>
            <a:r>
              <a:rPr lang="zh-CN" altLang="zh-CN" dirty="0">
                <a:solidFill>
                  <a:srgbClr val="FF0000"/>
                </a:solidFill>
              </a:rPr>
              <a:t>将重要的账户进行重点保护，那些不怎么重要的账号就可以用简单的密码设置</a:t>
            </a:r>
            <a:r>
              <a:rPr lang="zh-CN" altLang="zh-CN" dirty="0"/>
              <a:t>，同类账户可以密码重用</a:t>
            </a:r>
            <a:endParaRPr lang="zh-CN" altLang="en-US" dirty="0"/>
          </a:p>
        </p:txBody>
      </p:sp>
      <p:sp>
        <p:nvSpPr>
          <p:cNvPr id="3" name="标题 2"/>
          <p:cNvSpPr>
            <a:spLocks noGrp="1"/>
          </p:cNvSpPr>
          <p:nvPr>
            <p:ph type="title"/>
          </p:nvPr>
        </p:nvSpPr>
        <p:spPr/>
        <p:txBody>
          <a:bodyPr/>
          <a:lstStyle/>
          <a:p>
            <a:r>
              <a:rPr lang="zh-CN" altLang="en-US" dirty="0"/>
              <a:t>（五）</a:t>
            </a:r>
            <a:r>
              <a:rPr lang="zh-CN" altLang="zh-CN" dirty="0"/>
              <a:t>分组分类</a:t>
            </a:r>
            <a:endParaRPr lang="zh-CN" alt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p:txBody>
          <a:bodyPr/>
          <a:lstStyle/>
          <a:p>
            <a:r>
              <a:rPr lang="zh-CN" altLang="en-US" dirty="0"/>
              <a:t>（六）其它</a:t>
            </a:r>
          </a:p>
        </p:txBody>
      </p:sp>
      <p:sp>
        <p:nvSpPr>
          <p:cNvPr id="421891" name="Rectangle 3"/>
          <p:cNvSpPr>
            <a:spLocks noGrp="1" noChangeArrowheads="1"/>
          </p:cNvSpPr>
          <p:nvPr>
            <p:ph type="body" idx="1"/>
          </p:nvPr>
        </p:nvSpPr>
        <p:spPr>
          <a:xfrm>
            <a:off x="761683" y="1101725"/>
            <a:ext cx="7772400" cy="5284788"/>
          </a:xfrm>
        </p:spPr>
        <p:txBody>
          <a:bodyPr/>
          <a:lstStyle/>
          <a:p>
            <a:pPr>
              <a:lnSpc>
                <a:spcPct val="150000"/>
              </a:lnSpc>
              <a:spcBef>
                <a:spcPts val="0"/>
              </a:spcBef>
            </a:pPr>
            <a:r>
              <a:rPr lang="zh-CN" altLang="en-US" sz="2800" dirty="0">
                <a:solidFill>
                  <a:srgbClr val="0000FF"/>
                </a:solidFill>
              </a:rPr>
              <a:t>尽可能使用认证工具而不是口令</a:t>
            </a:r>
            <a:r>
              <a:rPr lang="zh-CN" altLang="en-US" sz="2800" dirty="0"/>
              <a:t>：使用一次性密码令牌或智能卡，或者使用生物特征进行认证，比如指纹或视网膜扫描。</a:t>
            </a:r>
          </a:p>
          <a:p>
            <a:pPr>
              <a:lnSpc>
                <a:spcPct val="150000"/>
              </a:lnSpc>
              <a:spcBef>
                <a:spcPts val="0"/>
              </a:spcBef>
            </a:pPr>
            <a:r>
              <a:rPr lang="zh-CN" altLang="en-US" sz="2800" dirty="0">
                <a:solidFill>
                  <a:srgbClr val="0000FF"/>
                </a:solidFill>
              </a:rPr>
              <a:t>定期进行密码破解测试</a:t>
            </a:r>
            <a:r>
              <a:rPr lang="zh-CN" altLang="en-US" sz="2800" dirty="0"/>
              <a:t>：定制执行密码破解评估，帮助找出弱口令。</a:t>
            </a:r>
          </a:p>
          <a:p>
            <a:pPr>
              <a:lnSpc>
                <a:spcPct val="150000"/>
              </a:lnSpc>
              <a:spcBef>
                <a:spcPts val="0"/>
              </a:spcBef>
            </a:pPr>
            <a:r>
              <a:rPr lang="zh-CN" altLang="en-US" sz="2800" dirty="0"/>
              <a:t>预防主机和网络中的</a:t>
            </a:r>
            <a:r>
              <a:rPr lang="zh-CN" altLang="en-US" sz="2800" dirty="0">
                <a:solidFill>
                  <a:srgbClr val="0000FF"/>
                </a:solidFill>
              </a:rPr>
              <a:t>密码窃取木马</a:t>
            </a:r>
            <a:r>
              <a:rPr lang="zh-CN" altLang="en-US" sz="2800" dirty="0"/>
              <a:t>和</a:t>
            </a:r>
            <a:r>
              <a:rPr lang="zh-CN" altLang="en-US" sz="2800" dirty="0">
                <a:solidFill>
                  <a:srgbClr val="0000FF"/>
                </a:solidFill>
              </a:rPr>
              <a:t>网络监听软件</a:t>
            </a:r>
            <a:r>
              <a:rPr lang="zh-CN" altLang="en-US" sz="2800" dirty="0"/>
              <a:t>。</a:t>
            </a:r>
            <a:endParaRPr lang="en-US" altLang="zh-CN" sz="2800" dirty="0"/>
          </a:p>
          <a:p>
            <a:pPr>
              <a:lnSpc>
                <a:spcPct val="150000"/>
              </a:lnSpc>
              <a:spcBef>
                <a:spcPts val="0"/>
              </a:spcBef>
            </a:pPr>
            <a:r>
              <a:rPr lang="zh-CN" altLang="en-US" sz="2800" dirty="0">
                <a:solidFill>
                  <a:srgbClr val="FF0000"/>
                </a:solidFill>
              </a:rPr>
              <a:t>及早发现密码文件泄露：</a:t>
            </a:r>
            <a:r>
              <a:rPr lang="en-US" altLang="zh-CN" sz="2800" dirty="0">
                <a:solidFill>
                  <a:srgbClr val="FF0000"/>
                </a:solidFill>
              </a:rPr>
              <a:t>Honeywords Project</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21891">
                                            <p:txEl>
                                              <p:pRg st="0" end="0"/>
                                            </p:txEl>
                                          </p:spTgt>
                                        </p:tgtEl>
                                        <p:attrNameLst>
                                          <p:attrName>style.visibility</p:attrName>
                                        </p:attrNameLst>
                                      </p:cBhvr>
                                      <p:to>
                                        <p:strVal val="visible"/>
                                      </p:to>
                                    </p:set>
                                    <p:anim calcmode="lin" valueType="num">
                                      <p:cBhvr additive="base">
                                        <p:cTn id="7" dur="500" fill="hold"/>
                                        <p:tgtEl>
                                          <p:spTgt spid="4218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18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21891">
                                            <p:txEl>
                                              <p:pRg st="1" end="1"/>
                                            </p:txEl>
                                          </p:spTgt>
                                        </p:tgtEl>
                                        <p:attrNameLst>
                                          <p:attrName>style.visibility</p:attrName>
                                        </p:attrNameLst>
                                      </p:cBhvr>
                                      <p:to>
                                        <p:strVal val="visible"/>
                                      </p:to>
                                    </p:set>
                                    <p:anim calcmode="lin" valueType="num">
                                      <p:cBhvr additive="base">
                                        <p:cTn id="13" dur="500" fill="hold"/>
                                        <p:tgtEl>
                                          <p:spTgt spid="4218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218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21891">
                                            <p:txEl>
                                              <p:pRg st="2" end="2"/>
                                            </p:txEl>
                                          </p:spTgt>
                                        </p:tgtEl>
                                        <p:attrNameLst>
                                          <p:attrName>style.visibility</p:attrName>
                                        </p:attrNameLst>
                                      </p:cBhvr>
                                      <p:to>
                                        <p:strVal val="visible"/>
                                      </p:to>
                                    </p:set>
                                    <p:anim calcmode="lin" valueType="num">
                                      <p:cBhvr additive="base">
                                        <p:cTn id="19" dur="500" fill="hold"/>
                                        <p:tgtEl>
                                          <p:spTgt spid="4218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218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21891">
                                            <p:txEl>
                                              <p:pRg st="3" end="3"/>
                                            </p:txEl>
                                          </p:spTgt>
                                        </p:tgtEl>
                                        <p:attrNameLst>
                                          <p:attrName>style.visibility</p:attrName>
                                        </p:attrNameLst>
                                      </p:cBhvr>
                                      <p:to>
                                        <p:strVal val="visible"/>
                                      </p:to>
                                    </p:set>
                                    <p:anim calcmode="lin" valueType="num">
                                      <p:cBhvr additive="base">
                                        <p:cTn id="25" dur="500" fill="hold"/>
                                        <p:tgtEl>
                                          <p:spTgt spid="4218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218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63239" y="622300"/>
            <a:ext cx="3322003" cy="2187625"/>
          </a:xfrm>
        </p:spPr>
      </p:pic>
      <p:sp>
        <p:nvSpPr>
          <p:cNvPr id="3" name="标题 2"/>
          <p:cNvSpPr>
            <a:spLocks noGrp="1"/>
          </p:cNvSpPr>
          <p:nvPr>
            <p:ph type="title"/>
          </p:nvPr>
        </p:nvSpPr>
        <p:spPr/>
        <p:txBody>
          <a:bodyPr/>
          <a:lstStyle/>
          <a:p>
            <a:endParaRPr lang="zh-CN" altLang="en-US" dirty="0"/>
          </a:p>
        </p:txBody>
      </p:sp>
      <p:sp>
        <p:nvSpPr>
          <p:cNvPr id="4" name="矩形 3"/>
          <p:cNvSpPr/>
          <p:nvPr/>
        </p:nvSpPr>
        <p:spPr>
          <a:xfrm>
            <a:off x="1356360" y="2886125"/>
            <a:ext cx="6827520" cy="3139321"/>
          </a:xfrm>
          <a:prstGeom prst="rect">
            <a:avLst/>
          </a:prstGeom>
          <a:solidFill>
            <a:srgbClr val="FFFF00"/>
          </a:solidFill>
          <a:ln>
            <a:solidFill>
              <a:srgbClr val="FF0000"/>
            </a:solidFill>
          </a:ln>
        </p:spPr>
        <p:txBody>
          <a:bodyPr wrap="square">
            <a:spAutoFit/>
          </a:bodyPr>
          <a:lstStyle/>
          <a:p>
            <a:pPr algn="ctr">
              <a:lnSpc>
                <a:spcPct val="150000"/>
              </a:lnSpc>
            </a:pPr>
            <a:r>
              <a:rPr lang="zh-CN" altLang="en-US" sz="4400" dirty="0">
                <a:solidFill>
                  <a:srgbClr val="FF0000"/>
                </a:solidFill>
                <a:latin typeface="Times New Roman" panose="02020603050405020304" pitchFamily="18" charset="0"/>
                <a:ea typeface="华文宋体" panose="02010600040101010101" pitchFamily="2" charset="-122"/>
              </a:rPr>
              <a:t>每年</a:t>
            </a:r>
            <a:r>
              <a:rPr lang="en-US" altLang="zh-CN" sz="4400" dirty="0">
                <a:solidFill>
                  <a:srgbClr val="FF0000"/>
                </a:solidFill>
                <a:latin typeface="Times New Roman" panose="02020603050405020304" pitchFamily="18" charset="0"/>
                <a:ea typeface="华文宋体" panose="02010600040101010101" pitchFamily="2" charset="-122"/>
              </a:rPr>
              <a:t>5</a:t>
            </a:r>
            <a:r>
              <a:rPr lang="zh-CN" altLang="en-US" sz="4400" dirty="0">
                <a:solidFill>
                  <a:srgbClr val="FF0000"/>
                </a:solidFill>
                <a:latin typeface="Times New Roman" panose="02020603050405020304" pitchFamily="18" charset="0"/>
                <a:ea typeface="华文宋体" panose="02010600040101010101" pitchFamily="2" charset="-122"/>
              </a:rPr>
              <a:t>月的第一个星期四</a:t>
            </a:r>
            <a:endParaRPr lang="en-US" altLang="zh-CN" sz="4400" dirty="0">
              <a:solidFill>
                <a:srgbClr val="FF0000"/>
              </a:solidFill>
              <a:latin typeface="Times New Roman" panose="02020603050405020304" pitchFamily="18" charset="0"/>
              <a:ea typeface="华文宋体" panose="02010600040101010101" pitchFamily="2" charset="-122"/>
            </a:endParaRPr>
          </a:p>
          <a:p>
            <a:pPr algn="ctr">
              <a:lnSpc>
                <a:spcPct val="150000"/>
              </a:lnSpc>
            </a:pPr>
            <a:r>
              <a:rPr lang="zh-CN" altLang="en-US" sz="4400" dirty="0">
                <a:solidFill>
                  <a:srgbClr val="FF0000"/>
                </a:solidFill>
                <a:latin typeface="Times New Roman" panose="02020603050405020304" pitchFamily="18" charset="0"/>
                <a:ea typeface="华文宋体" panose="02010600040101010101" pitchFamily="2" charset="-122"/>
              </a:rPr>
              <a:t>  世界口令（密码）日</a:t>
            </a:r>
            <a:endParaRPr lang="en-US" altLang="zh-CN" sz="4400" dirty="0">
              <a:solidFill>
                <a:srgbClr val="FF0000"/>
              </a:solidFill>
              <a:latin typeface="Times New Roman" panose="02020603050405020304" pitchFamily="18" charset="0"/>
              <a:ea typeface="华文宋体" panose="02010600040101010101" pitchFamily="2" charset="-122"/>
            </a:endParaRPr>
          </a:p>
          <a:p>
            <a:pPr algn="ctr">
              <a:lnSpc>
                <a:spcPct val="150000"/>
              </a:lnSpc>
            </a:pPr>
            <a:r>
              <a:rPr lang="zh-CN" altLang="en-US" sz="4400" dirty="0">
                <a:solidFill>
                  <a:srgbClr val="FF0000"/>
                </a:solidFill>
                <a:latin typeface="Times New Roman" panose="02020603050405020304" pitchFamily="18" charset="0"/>
                <a:ea typeface="华文宋体" panose="02010600040101010101" pitchFamily="2" charset="-122"/>
              </a:rPr>
              <a:t>（</a:t>
            </a:r>
            <a:r>
              <a:rPr lang="en-US" altLang="zh-CN" sz="4400" dirty="0">
                <a:solidFill>
                  <a:srgbClr val="FF0000"/>
                </a:solidFill>
                <a:latin typeface="Times New Roman" panose="02020603050405020304" pitchFamily="18" charset="0"/>
                <a:ea typeface="华文宋体" panose="02010600040101010101" pitchFamily="2" charset="-122"/>
              </a:rPr>
              <a:t>World Password Day</a:t>
            </a:r>
            <a:r>
              <a:rPr lang="zh-CN" altLang="en-US" sz="4400" dirty="0">
                <a:solidFill>
                  <a:srgbClr val="FF0000"/>
                </a:solidFill>
                <a:latin typeface="Times New Roman" panose="02020603050405020304" pitchFamily="18" charset="0"/>
                <a:ea typeface="华文宋体" panose="02010600040101010101" pitchFamily="2" charset="-122"/>
              </a:rPr>
              <a:t>）</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zh-CN" altLang="en-US" dirty="0"/>
              <a:t>本章小结</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pPr>
            <a:r>
              <a:rPr lang="zh-CN" altLang="en-US" dirty="0">
                <a:solidFill>
                  <a:srgbClr val="FF0000"/>
                </a:solidFill>
              </a:rPr>
              <a:t>定期更改口令是一个好的口令策略吗？</a:t>
            </a:r>
            <a:endParaRPr lang="en-US" altLang="zh-CN" dirty="0">
              <a:solidFill>
                <a:srgbClr val="FF0000"/>
              </a:solidFill>
            </a:endParaRPr>
          </a:p>
          <a:p>
            <a:pPr>
              <a:lnSpc>
                <a:spcPct val="150000"/>
              </a:lnSpc>
            </a:pPr>
            <a:r>
              <a:rPr lang="zh-CN" altLang="en-US" dirty="0">
                <a:solidFill>
                  <a:srgbClr val="FF0000"/>
                </a:solidFill>
              </a:rPr>
              <a:t>是口令长度重要还是复杂度更重要（长度优先还是复杂度优先）？</a:t>
            </a:r>
          </a:p>
        </p:txBody>
      </p:sp>
      <p:sp>
        <p:nvSpPr>
          <p:cNvPr id="3" name="标题 2"/>
          <p:cNvSpPr>
            <a:spLocks noGrp="1"/>
          </p:cNvSpPr>
          <p:nvPr>
            <p:ph type="title"/>
          </p:nvPr>
        </p:nvSpPr>
        <p:spPr/>
        <p:txBody>
          <a:bodyPr/>
          <a:lstStyle/>
          <a:p>
            <a:r>
              <a:rPr lang="zh-CN" altLang="en-US" dirty="0"/>
              <a:t>讨论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 calcmode="lin" valueType="num">
                                      <p:cBhvr>
                                        <p:cTn id="14" dur="1000" fill="hold"/>
                                        <p:tgtEl>
                                          <p:spTgt spid="2">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2">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p:txBody>
          <a:bodyPr/>
          <a:lstStyle/>
          <a:p>
            <a:pPr eaLnBrk="1" hangingPunct="1"/>
            <a:r>
              <a:rPr lang="zh-CN" altLang="en-US"/>
              <a:t>作业</a:t>
            </a:r>
          </a:p>
        </p:txBody>
      </p:sp>
      <p:sp>
        <p:nvSpPr>
          <p:cNvPr id="95236"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ln>
        </p:spPr>
        <p:txBody>
          <a:bodyPr wrap="none" anchor="ctr"/>
          <a:lstStyle/>
          <a:p>
            <a:endParaRPr lang="zh-CN" altLang="en-US"/>
          </a:p>
        </p:txBody>
      </p:sp>
      <p:sp>
        <p:nvSpPr>
          <p:cNvPr id="95237" name="Rectangle 4"/>
          <p:cNvSpPr>
            <a:spLocks noGrp="1" noChangeArrowheads="1"/>
          </p:cNvSpPr>
          <p:nvPr>
            <p:ph type="body" idx="1"/>
          </p:nvPr>
        </p:nvSpPr>
        <p:spPr>
          <a:xfrm>
            <a:off x="666750" y="1352550"/>
            <a:ext cx="7553325" cy="4705350"/>
          </a:xfrm>
          <a:noFill/>
        </p:spPr>
        <p:txBody>
          <a:bodyPr/>
          <a:lstStyle/>
          <a:p>
            <a:pPr marL="533400" indent="-533400" eaLnBrk="1" hangingPunct="1"/>
            <a:endParaRPr lang="en-US" altLang="zh-CN" sz="28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607720" y="2282391"/>
            <a:ext cx="5586711" cy="2293218"/>
          </a:xfrm>
        </p:spPr>
        <p:txBody>
          <a:bodyPr/>
          <a:lstStyle/>
          <a:p>
            <a:pPr marL="0" indent="0">
              <a:buNone/>
            </a:pPr>
            <a:endParaRPr lang="en-US" altLang="zh-CN" sz="4800" dirty="0">
              <a:solidFill>
                <a:srgbClr val="FF0000"/>
              </a:solidFill>
            </a:endParaRPr>
          </a:p>
          <a:p>
            <a:pPr marL="0" indent="0">
              <a:buNone/>
            </a:pPr>
            <a:r>
              <a:rPr lang="zh-CN" altLang="en-US" sz="4800" dirty="0">
                <a:solidFill>
                  <a:srgbClr val="FF0000"/>
                </a:solidFill>
              </a:rPr>
              <a:t>一、密码管理器</a:t>
            </a:r>
          </a:p>
        </p:txBody>
      </p:sp>
      <p:sp>
        <p:nvSpPr>
          <p:cNvPr id="3" name="标题 2"/>
          <p:cNvSpPr>
            <a:spLocks noGrp="1"/>
          </p:cNvSpPr>
          <p:nvPr>
            <p:ph type="title"/>
          </p:nvPr>
        </p:nvSpPr>
        <p:spPr/>
        <p:txBody>
          <a:bodyPr/>
          <a:lstStyle/>
          <a:p>
            <a:r>
              <a:rPr lang="zh-CN" altLang="en-US" dirty="0"/>
              <a:t>参考资料</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12601" y="1374869"/>
            <a:ext cx="7772400" cy="4114800"/>
          </a:xfrm>
        </p:spPr>
        <p:txBody>
          <a:bodyPr/>
          <a:lstStyle/>
          <a:p>
            <a:r>
              <a:rPr lang="zh-CN" altLang="en-US" dirty="0"/>
              <a:t>一个口令已经很难记忆了，还要我记那么多没有规律的口令（密码）？</a:t>
            </a:r>
          </a:p>
        </p:txBody>
      </p:sp>
      <p:sp>
        <p:nvSpPr>
          <p:cNvPr id="3" name="标题 2"/>
          <p:cNvSpPr>
            <a:spLocks noGrp="1"/>
          </p:cNvSpPr>
          <p:nvPr>
            <p:ph type="title"/>
          </p:nvPr>
        </p:nvSpPr>
        <p:spPr/>
        <p:txBody>
          <a:bodyPr/>
          <a:lstStyle/>
          <a:p>
            <a:r>
              <a:rPr lang="zh-CN" altLang="en-US" dirty="0"/>
              <a:t>密码管理器</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9129" y="2664759"/>
            <a:ext cx="4572000" cy="3429000"/>
          </a:xfrm>
          <a:prstGeom prst="rect">
            <a:avLst/>
          </a:prstGeom>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40394" y="1249363"/>
            <a:ext cx="7772400" cy="4114800"/>
          </a:xfrm>
        </p:spPr>
        <p:txBody>
          <a:bodyPr/>
          <a:lstStyle/>
          <a:p>
            <a:r>
              <a:rPr lang="zh-CN" altLang="en-US" dirty="0"/>
              <a:t>密码管理器</a:t>
            </a:r>
          </a:p>
        </p:txBody>
      </p:sp>
      <p:sp>
        <p:nvSpPr>
          <p:cNvPr id="3" name="标题 2"/>
          <p:cNvSpPr>
            <a:spLocks noGrp="1"/>
          </p:cNvSpPr>
          <p:nvPr>
            <p:ph type="title"/>
          </p:nvPr>
        </p:nvSpPr>
        <p:spPr/>
        <p:txBody>
          <a:bodyPr/>
          <a:lstStyle/>
          <a:p>
            <a:r>
              <a:rPr lang="zh-CN" altLang="en-US" dirty="0"/>
              <a:t>密码管理器</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394" y="1990165"/>
            <a:ext cx="7445097" cy="4318747"/>
          </a:xfrm>
          <a:prstGeom prst="rect">
            <a:avLst/>
          </a:prstGeom>
        </p:spPr>
      </p:pic>
      <p:pic>
        <p:nvPicPr>
          <p:cNvPr id="5" name="图片 4"/>
          <p:cNvPicPr>
            <a:picLocks noChangeAspect="1"/>
          </p:cNvPicPr>
          <p:nvPr/>
        </p:nvPicPr>
        <p:blipFill>
          <a:blip r:embed="rId4"/>
          <a:stretch>
            <a:fillRect/>
          </a:stretch>
        </p:blipFill>
        <p:spPr>
          <a:xfrm>
            <a:off x="1376829" y="2701177"/>
            <a:ext cx="6372225" cy="2495550"/>
          </a:xfrm>
          <a:prstGeom prst="rect">
            <a:avLst/>
          </a:prstGeom>
          <a:ln>
            <a:solidFill>
              <a:srgbClr val="FF000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pPr>
            <a:r>
              <a:rPr lang="zh-CN" altLang="en-US" dirty="0"/>
              <a:t>选择密码管理器需考虑的因素：</a:t>
            </a:r>
            <a:endParaRPr lang="en-US" altLang="zh-CN" dirty="0"/>
          </a:p>
          <a:p>
            <a:pPr lvl="1">
              <a:lnSpc>
                <a:spcPct val="150000"/>
              </a:lnSpc>
            </a:pPr>
            <a:r>
              <a:rPr lang="zh-CN" altLang="en-US" dirty="0"/>
              <a:t>跨平台性</a:t>
            </a:r>
          </a:p>
          <a:p>
            <a:pPr lvl="1">
              <a:lnSpc>
                <a:spcPct val="150000"/>
              </a:lnSpc>
            </a:pPr>
            <a:r>
              <a:rPr lang="zh-CN" altLang="en-US" dirty="0"/>
              <a:t>有零知识模型</a:t>
            </a:r>
          </a:p>
          <a:p>
            <a:pPr lvl="1">
              <a:lnSpc>
                <a:spcPct val="150000"/>
              </a:lnSpc>
            </a:pPr>
            <a:r>
              <a:rPr lang="zh-CN" altLang="en-US" dirty="0"/>
              <a:t>提供两步验证（或多步验证）</a:t>
            </a:r>
          </a:p>
          <a:p>
            <a:pPr>
              <a:lnSpc>
                <a:spcPct val="150000"/>
              </a:lnSpc>
            </a:pPr>
            <a:endParaRPr lang="zh-CN" altLang="en-US" dirty="0"/>
          </a:p>
        </p:txBody>
      </p:sp>
      <p:sp>
        <p:nvSpPr>
          <p:cNvPr id="3" name="标题 2"/>
          <p:cNvSpPr>
            <a:spLocks noGrp="1"/>
          </p:cNvSpPr>
          <p:nvPr>
            <p:ph type="title"/>
          </p:nvPr>
        </p:nvSpPr>
        <p:spPr/>
        <p:txBody>
          <a:bodyPr/>
          <a:lstStyle/>
          <a:p>
            <a:r>
              <a:rPr lang="zh-CN" altLang="en-US" dirty="0"/>
              <a:t>密码管理器</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07520" y="1528891"/>
            <a:ext cx="7772400" cy="4057022"/>
          </a:xfrm>
        </p:spPr>
      </p:pic>
      <p:sp>
        <p:nvSpPr>
          <p:cNvPr id="3" name="标题 2"/>
          <p:cNvSpPr>
            <a:spLocks noGrp="1"/>
          </p:cNvSpPr>
          <p:nvPr>
            <p:ph type="title"/>
          </p:nvPr>
        </p:nvSpPr>
        <p:spPr/>
        <p:txBody>
          <a:bodyPr/>
          <a:lstStyle/>
          <a:p>
            <a:r>
              <a:rPr lang="zh-CN" altLang="en-US" dirty="0"/>
              <a:t>密码管理器</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密码管理器</a:t>
            </a:r>
          </a:p>
        </p:txBody>
      </p:sp>
      <p:pic>
        <p:nvPicPr>
          <p:cNvPr id="5" name="内容占位符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51237" y="1690628"/>
            <a:ext cx="7772400" cy="4057022"/>
          </a:xfrm>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密码管理器</a:t>
            </a:r>
          </a:p>
        </p:txBody>
      </p:sp>
      <p:pic>
        <p:nvPicPr>
          <p:cNvPr id="4" name="内容占位符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94671" y="1744417"/>
            <a:ext cx="7772400" cy="4057022"/>
          </a:xfr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密码管理器</a:t>
            </a:r>
          </a:p>
        </p:txBody>
      </p:sp>
      <p:pic>
        <p:nvPicPr>
          <p:cNvPr id="5" name="内容占位符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94672" y="1852922"/>
            <a:ext cx="7772400" cy="4055165"/>
          </a:xfrm>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密码管理器</a:t>
            </a:r>
          </a:p>
        </p:txBody>
      </p:sp>
      <p:pic>
        <p:nvPicPr>
          <p:cNvPr id="4" name="内容占位符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0883" y="1799133"/>
            <a:ext cx="7772400" cy="4055165"/>
          </a:xfrm>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密码管理器</a:t>
            </a:r>
          </a:p>
        </p:txBody>
      </p:sp>
      <p:pic>
        <p:nvPicPr>
          <p:cNvPr id="5" name="内容占位符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15378" y="1852921"/>
            <a:ext cx="7772400" cy="4055165"/>
          </a:xfr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密码管理器</a:t>
            </a:r>
          </a:p>
        </p:txBody>
      </p:sp>
      <p:pic>
        <p:nvPicPr>
          <p:cNvPr id="4" name="内容占位符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9166" y="1870850"/>
            <a:ext cx="7772400" cy="4055165"/>
          </a:xfrm>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12601" y="1262530"/>
            <a:ext cx="7772400" cy="4114800"/>
          </a:xfrm>
        </p:spPr>
        <p:txBody>
          <a:bodyPr/>
          <a:lstStyle/>
          <a:p>
            <a:r>
              <a:rPr lang="zh-CN" altLang="en-US" dirty="0"/>
              <a:t>密码管理器：你敢用吗？</a:t>
            </a:r>
          </a:p>
        </p:txBody>
      </p:sp>
      <p:sp>
        <p:nvSpPr>
          <p:cNvPr id="3" name="标题 2"/>
          <p:cNvSpPr>
            <a:spLocks noGrp="1"/>
          </p:cNvSpPr>
          <p:nvPr>
            <p:ph type="title"/>
          </p:nvPr>
        </p:nvSpPr>
        <p:spPr/>
        <p:txBody>
          <a:bodyPr/>
          <a:lstStyle/>
          <a:p>
            <a:r>
              <a:rPr lang="zh-CN" altLang="en-US" dirty="0"/>
              <a:t>讨论</a:t>
            </a:r>
          </a:p>
        </p:txBody>
      </p:sp>
      <p:pic>
        <p:nvPicPr>
          <p:cNvPr id="6" name="图片 5"/>
          <p:cNvPicPr>
            <a:picLocks noChangeAspect="1"/>
          </p:cNvPicPr>
          <p:nvPr/>
        </p:nvPicPr>
        <p:blipFill>
          <a:blip r:embed="rId2"/>
          <a:stretch>
            <a:fillRect/>
          </a:stretch>
        </p:blipFill>
        <p:spPr>
          <a:xfrm>
            <a:off x="1150938" y="2185708"/>
            <a:ext cx="5238750" cy="2038350"/>
          </a:xfrm>
          <a:prstGeom prst="rect">
            <a:avLst/>
          </a:prstGeom>
          <a:ln>
            <a:solidFill>
              <a:srgbClr val="FF0000"/>
            </a:solidFill>
          </a:ln>
        </p:spPr>
      </p:pic>
      <p:pic>
        <p:nvPicPr>
          <p:cNvPr id="8" name="图片 7"/>
          <p:cNvPicPr>
            <a:picLocks noChangeAspect="1"/>
          </p:cNvPicPr>
          <p:nvPr/>
        </p:nvPicPr>
        <p:blipFill>
          <a:blip r:embed="rId3"/>
          <a:stretch>
            <a:fillRect/>
          </a:stretch>
        </p:blipFill>
        <p:spPr>
          <a:xfrm>
            <a:off x="408922" y="4479739"/>
            <a:ext cx="6591300" cy="1390650"/>
          </a:xfrm>
          <a:prstGeom prst="rect">
            <a:avLst/>
          </a:prstGeom>
          <a:ln>
            <a:solidFill>
              <a:srgbClr val="FF0000"/>
            </a:solidFill>
          </a:ln>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6180" y="1993433"/>
            <a:ext cx="4762500" cy="4721599"/>
          </a:xfrm>
          <a:prstGeom prst="rect">
            <a:avLst/>
          </a:prstGeom>
          <a:ln>
            <a:solidFill>
              <a:srgbClr val="3366FF"/>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1000" fill="hold"/>
                                        <p:tgtEl>
                                          <p:spTgt spid="8"/>
                                        </p:tgtEl>
                                        <p:attrNameLst>
                                          <p:attrName>ppt_w</p:attrName>
                                        </p:attrNameLst>
                                      </p:cBhvr>
                                      <p:tavLst>
                                        <p:tav tm="0">
                                          <p:val>
                                            <p:strVal val="#ppt_w*0.70"/>
                                          </p:val>
                                        </p:tav>
                                        <p:tav tm="100000">
                                          <p:val>
                                            <p:strVal val="#ppt_w"/>
                                          </p:val>
                                        </p:tav>
                                      </p:tavLst>
                                    </p:anim>
                                    <p:anim calcmode="lin" valueType="num">
                                      <p:cBhvr>
                                        <p:cTn id="15" dur="1000" fill="hold"/>
                                        <p:tgtEl>
                                          <p:spTgt spid="8"/>
                                        </p:tgtEl>
                                        <p:attrNameLst>
                                          <p:attrName>ppt_h</p:attrName>
                                        </p:attrNameLst>
                                      </p:cBhvr>
                                      <p:tavLst>
                                        <p:tav tm="0">
                                          <p:val>
                                            <p:strVal val="#ppt_h"/>
                                          </p:val>
                                        </p:tav>
                                        <p:tav tm="100000">
                                          <p:val>
                                            <p:strVal val="#ppt_h"/>
                                          </p:val>
                                        </p:tav>
                                      </p:tavLst>
                                    </p:anim>
                                    <p:animEffect transition="in" filter="fade">
                                      <p:cBhvr>
                                        <p:cTn id="16" dur="10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1000" fill="hold"/>
                                        <p:tgtEl>
                                          <p:spTgt spid="7"/>
                                        </p:tgtEl>
                                        <p:attrNameLst>
                                          <p:attrName>ppt_w</p:attrName>
                                        </p:attrNameLst>
                                      </p:cBhvr>
                                      <p:tavLst>
                                        <p:tav tm="0">
                                          <p:val>
                                            <p:strVal val="#ppt_w*0.70"/>
                                          </p:val>
                                        </p:tav>
                                        <p:tav tm="100000">
                                          <p:val>
                                            <p:strVal val="#ppt_w"/>
                                          </p:val>
                                        </p:tav>
                                      </p:tavLst>
                                    </p:anim>
                                    <p:anim calcmode="lin" valueType="num">
                                      <p:cBhvr>
                                        <p:cTn id="22" dur="1000" fill="hold"/>
                                        <p:tgtEl>
                                          <p:spTgt spid="7"/>
                                        </p:tgtEl>
                                        <p:attrNameLst>
                                          <p:attrName>ppt_h</p:attrName>
                                        </p:attrNameLst>
                                      </p:cBhvr>
                                      <p:tavLst>
                                        <p:tav tm="0">
                                          <p:val>
                                            <p:strVal val="#ppt_h"/>
                                          </p:val>
                                        </p:tav>
                                        <p:tav tm="100000">
                                          <p:val>
                                            <p:strVal val="#ppt_h"/>
                                          </p:val>
                                        </p:tav>
                                      </p:tavLst>
                                    </p:anim>
                                    <p:animEffect transition="in" filter="fade">
                                      <p:cBhvr>
                                        <p:cTn id="23"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29251" y="4607859"/>
            <a:ext cx="5414231" cy="1721223"/>
          </a:xfrm>
        </p:spPr>
      </p:pic>
      <p:sp>
        <p:nvSpPr>
          <p:cNvPr id="3" name="标题 2"/>
          <p:cNvSpPr>
            <a:spLocks noGrp="1"/>
          </p:cNvSpPr>
          <p:nvPr>
            <p:ph type="title"/>
          </p:nvPr>
        </p:nvSpPr>
        <p:spPr/>
        <p:txBody>
          <a:bodyPr/>
          <a:lstStyle/>
          <a:p>
            <a:r>
              <a:rPr lang="zh-CN" altLang="en-US" dirty="0"/>
              <a:t>讨论</a:t>
            </a:r>
          </a:p>
        </p:txBody>
      </p:sp>
      <p:pic>
        <p:nvPicPr>
          <p:cNvPr id="6" name="图片 5"/>
          <p:cNvPicPr>
            <a:picLocks noChangeAspect="1"/>
          </p:cNvPicPr>
          <p:nvPr/>
        </p:nvPicPr>
        <p:blipFill>
          <a:blip r:embed="rId4"/>
          <a:stretch>
            <a:fillRect/>
          </a:stretch>
        </p:blipFill>
        <p:spPr>
          <a:xfrm>
            <a:off x="1150937" y="2001278"/>
            <a:ext cx="6734175" cy="2762250"/>
          </a:xfrm>
          <a:prstGeom prst="rect">
            <a:avLst/>
          </a:prstGeom>
          <a:ln>
            <a:solidFill>
              <a:srgbClr val="FF0000"/>
            </a:solidFill>
          </a:ln>
        </p:spPr>
      </p:pic>
      <p:sp>
        <p:nvSpPr>
          <p:cNvPr id="7" name="内容占位符 1"/>
          <p:cNvSpPr txBox="1"/>
          <p:nvPr/>
        </p:nvSpPr>
        <p:spPr bwMode="auto">
          <a:xfrm>
            <a:off x="631825" y="1303151"/>
            <a:ext cx="7772400" cy="231859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ts val="4500"/>
              </a:lnSpc>
              <a:spcBef>
                <a:spcPts val="0"/>
              </a:spcBef>
              <a:spcAft>
                <a:spcPct val="0"/>
              </a:spcAft>
              <a:buClr>
                <a:schemeClr val="folHlink"/>
              </a:buClr>
              <a:buSzPct val="60000"/>
              <a:buFont typeface="Wingdings" panose="05000000000000000000" pitchFamily="2" charset="2"/>
              <a:buChar char="n"/>
              <a:defRPr kumimoji="1" sz="3200" b="0" i="0" baseline="0">
                <a:solidFill>
                  <a:schemeClr val="tx1"/>
                </a:solidFill>
                <a:latin typeface="Times New Roman" panose="02020603050405020304" pitchFamily="18" charset="0"/>
                <a:ea typeface="黑体" panose="02010609060101010101" pitchFamily="49" charset="-122"/>
                <a:cs typeface="+mn-cs"/>
              </a:defRPr>
            </a:lvl1pPr>
            <a:lvl2pPr marL="742950" indent="-285750" algn="l" rtl="0" eaLnBrk="0" fontAlgn="base" hangingPunct="0">
              <a:lnSpc>
                <a:spcPts val="4500"/>
              </a:lnSpc>
              <a:spcBef>
                <a:spcPts val="0"/>
              </a:spcBef>
              <a:spcAft>
                <a:spcPct val="0"/>
              </a:spcAft>
              <a:buClr>
                <a:schemeClr val="hlink"/>
              </a:buClr>
              <a:buSzPct val="55000"/>
              <a:buFont typeface="Wingdings" panose="05000000000000000000" pitchFamily="2" charset="2"/>
              <a:buChar char="n"/>
              <a:defRPr kumimoji="1" sz="2800" b="0" i="0" baseline="0">
                <a:solidFill>
                  <a:schemeClr val="tx1"/>
                </a:solidFill>
                <a:latin typeface="Times New Roman" panose="02020603050405020304" pitchFamily="18" charset="0"/>
                <a:ea typeface="黑体" panose="02010609060101010101" pitchFamily="49" charset="-122"/>
              </a:defRPr>
            </a:lvl2pPr>
            <a:lvl3pPr marL="1143000" indent="-228600" algn="l" rtl="0" eaLnBrk="0" fontAlgn="base" hangingPunct="0">
              <a:lnSpc>
                <a:spcPts val="4500"/>
              </a:lnSpc>
              <a:spcBef>
                <a:spcPts val="0"/>
              </a:spcBef>
              <a:spcAft>
                <a:spcPct val="0"/>
              </a:spcAft>
              <a:buClr>
                <a:schemeClr val="folHlink"/>
              </a:buClr>
              <a:buSzPct val="50000"/>
              <a:buFont typeface="Wingdings" panose="05000000000000000000" pitchFamily="2" charset="2"/>
              <a:buChar char="n"/>
              <a:defRPr kumimoji="1" sz="2400" b="0" i="0" baseline="0">
                <a:solidFill>
                  <a:schemeClr val="tx1"/>
                </a:solidFill>
                <a:latin typeface="Times New Roman" panose="02020603050405020304" pitchFamily="18" charset="0"/>
                <a:ea typeface="黑体" panose="02010609060101010101" pitchFamily="49" charset="-122"/>
              </a:defRPr>
            </a:lvl3pPr>
            <a:lvl4pPr marL="1600200" indent="-228600" algn="l" rtl="0" eaLnBrk="0" fontAlgn="base" hangingPunct="0">
              <a:lnSpc>
                <a:spcPts val="4500"/>
              </a:lnSpc>
              <a:spcBef>
                <a:spcPts val="0"/>
              </a:spcBef>
              <a:spcAft>
                <a:spcPct val="0"/>
              </a:spcAft>
              <a:buClr>
                <a:schemeClr val="accent2"/>
              </a:buClr>
              <a:buSzPct val="55000"/>
              <a:buFont typeface="Wingdings" panose="05000000000000000000" pitchFamily="2" charset="2"/>
              <a:buChar char="n"/>
              <a:defRPr kumimoji="1" sz="2000" b="0" i="0" baseline="0">
                <a:solidFill>
                  <a:schemeClr val="tx1"/>
                </a:solidFill>
                <a:latin typeface="Times New Roman" panose="02020603050405020304" pitchFamily="18" charset="0"/>
                <a:ea typeface="黑体" panose="02010609060101010101" pitchFamily="49" charset="-122"/>
              </a:defRPr>
            </a:lvl4pPr>
            <a:lvl5pPr marL="2057400" indent="-228600" algn="l" rtl="0" eaLnBrk="0" fontAlgn="base" hangingPunct="0">
              <a:lnSpc>
                <a:spcPts val="4500"/>
              </a:lnSpc>
              <a:spcBef>
                <a:spcPts val="0"/>
              </a:spcBef>
              <a:spcAft>
                <a:spcPct val="0"/>
              </a:spcAft>
              <a:buClr>
                <a:schemeClr val="accent1"/>
              </a:buClr>
              <a:buSzPct val="50000"/>
              <a:buFont typeface="Wingdings" panose="05000000000000000000" pitchFamily="2" charset="2"/>
              <a:buChar char="n"/>
              <a:defRPr kumimoji="1" sz="2000" b="0" i="0" baseline="0">
                <a:solidFill>
                  <a:schemeClr val="tx1"/>
                </a:solidFill>
                <a:latin typeface="Times New Roman" panose="02020603050405020304" pitchFamily="18" charset="0"/>
                <a:ea typeface="黑体" panose="02010609060101010101" pitchFamily="49"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9pPr>
          </a:lstStyle>
          <a:p>
            <a:r>
              <a:rPr lang="zh-CN" altLang="en-US" kern="0" dirty="0"/>
              <a:t>密码管理器：你敢用吗？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strVal val="#ppt_w*0.70"/>
                                          </p:val>
                                        </p:tav>
                                        <p:tav tm="100000">
                                          <p:val>
                                            <p:strVal val="#ppt_w"/>
                                          </p:val>
                                        </p:tav>
                                      </p:tavLst>
                                    </p:anim>
                                    <p:anim calcmode="lin" valueType="num">
                                      <p:cBhvr>
                                        <p:cTn id="14" dur="1000" fill="hold"/>
                                        <p:tgtEl>
                                          <p:spTgt spid="5"/>
                                        </p:tgtEl>
                                        <p:attrNameLst>
                                          <p:attrName>ppt_h</p:attrName>
                                        </p:attrNameLst>
                                      </p:cBhvr>
                                      <p:tavLst>
                                        <p:tav tm="0">
                                          <p:val>
                                            <p:strVal val="#ppt_h"/>
                                          </p:val>
                                        </p:tav>
                                        <p:tav tm="100000">
                                          <p:val>
                                            <p:strVal val="#ppt_h"/>
                                          </p:val>
                                        </p:tav>
                                      </p:tavLst>
                                    </p:anim>
                                    <p:animEffect transition="in" filter="fade">
                                      <p:cBhvr>
                                        <p:cTn id="1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2" y="1429077"/>
            <a:ext cx="7772400" cy="4114800"/>
          </a:xfrm>
        </p:spPr>
        <p:txBody>
          <a:bodyPr/>
          <a:lstStyle/>
          <a:p>
            <a:r>
              <a:rPr lang="zh-CN" altLang="en-US" dirty="0"/>
              <a:t>密码管理器：你敢用吗？</a:t>
            </a:r>
          </a:p>
          <a:p>
            <a:endParaRPr lang="zh-CN" altLang="en-US" dirty="0"/>
          </a:p>
        </p:txBody>
      </p:sp>
      <p:sp>
        <p:nvSpPr>
          <p:cNvPr id="3" name="标题 2"/>
          <p:cNvSpPr>
            <a:spLocks noGrp="1"/>
          </p:cNvSpPr>
          <p:nvPr>
            <p:ph type="title"/>
          </p:nvPr>
        </p:nvSpPr>
        <p:spPr/>
        <p:txBody>
          <a:bodyPr/>
          <a:lstStyle/>
          <a:p>
            <a:r>
              <a:rPr lang="zh-CN" altLang="en-US" dirty="0"/>
              <a:t>讨论</a:t>
            </a:r>
          </a:p>
        </p:txBody>
      </p:sp>
      <p:pic>
        <p:nvPicPr>
          <p:cNvPr id="5" name="图片 4"/>
          <p:cNvPicPr>
            <a:picLocks noChangeAspect="1"/>
          </p:cNvPicPr>
          <p:nvPr/>
        </p:nvPicPr>
        <p:blipFill>
          <a:blip r:embed="rId3"/>
          <a:stretch>
            <a:fillRect/>
          </a:stretch>
        </p:blipFill>
        <p:spPr>
          <a:xfrm>
            <a:off x="647094" y="2048201"/>
            <a:ext cx="7453313" cy="3370169"/>
          </a:xfrm>
          <a:prstGeom prst="rect">
            <a:avLst/>
          </a:prstGeom>
        </p:spPr>
      </p:pic>
      <p:pic>
        <p:nvPicPr>
          <p:cNvPr id="4" name="图片 3"/>
          <p:cNvPicPr>
            <a:picLocks noChangeAspect="1"/>
          </p:cNvPicPr>
          <p:nvPr/>
        </p:nvPicPr>
        <p:blipFill>
          <a:blip r:embed="rId4"/>
          <a:stretch>
            <a:fillRect/>
          </a:stretch>
        </p:blipFill>
        <p:spPr>
          <a:xfrm>
            <a:off x="647094" y="4975390"/>
            <a:ext cx="8285162" cy="1775012"/>
          </a:xfrm>
          <a:prstGeom prst="rect">
            <a:avLst/>
          </a:prstGeom>
          <a:ln>
            <a:solidFill>
              <a:srgbClr val="FF0000"/>
            </a:solidFill>
          </a:ln>
        </p:spPr>
      </p:pic>
      <p:pic>
        <p:nvPicPr>
          <p:cNvPr id="6" name="图片 5"/>
          <p:cNvPicPr>
            <a:picLocks noChangeAspect="1"/>
          </p:cNvPicPr>
          <p:nvPr/>
        </p:nvPicPr>
        <p:blipFill>
          <a:blip r:embed="rId5"/>
          <a:stretch>
            <a:fillRect/>
          </a:stretch>
        </p:blipFill>
        <p:spPr>
          <a:xfrm>
            <a:off x="6143065" y="2026371"/>
            <a:ext cx="3000935" cy="2731740"/>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150938" y="2282391"/>
            <a:ext cx="6656386" cy="2293218"/>
          </a:xfrm>
        </p:spPr>
        <p:txBody>
          <a:bodyPr/>
          <a:lstStyle/>
          <a:p>
            <a:pPr marL="0" indent="0">
              <a:buNone/>
            </a:pPr>
            <a:endParaRPr lang="en-US" altLang="zh-CN" sz="4800" dirty="0">
              <a:solidFill>
                <a:srgbClr val="FF0000"/>
              </a:solidFill>
            </a:endParaRPr>
          </a:p>
          <a:p>
            <a:pPr marL="0" indent="0">
              <a:buNone/>
            </a:pPr>
            <a:r>
              <a:rPr lang="zh-CN" altLang="en-US" sz="4800" dirty="0">
                <a:solidFill>
                  <a:srgbClr val="FF0000"/>
                </a:solidFill>
              </a:rPr>
              <a:t>二、人机验证绕过技术</a:t>
            </a:r>
          </a:p>
        </p:txBody>
      </p:sp>
      <p:sp>
        <p:nvSpPr>
          <p:cNvPr id="3" name="标题 2"/>
          <p:cNvSpPr>
            <a:spLocks noGrp="1"/>
          </p:cNvSpPr>
          <p:nvPr>
            <p:ph type="title"/>
          </p:nvPr>
        </p:nvSpPr>
        <p:spPr/>
        <p:txBody>
          <a:bodyPr/>
          <a:lstStyle/>
          <a:p>
            <a:r>
              <a:rPr lang="zh-CN" altLang="en-US" dirty="0"/>
              <a:t>参考资料</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扩展：人机验证绕过技术</a:t>
            </a:r>
          </a:p>
        </p:txBody>
      </p:sp>
      <p:pic>
        <p:nvPicPr>
          <p:cNvPr id="4" name="图片 3"/>
          <p:cNvPicPr>
            <a:picLocks noChangeAspect="1"/>
          </p:cNvPicPr>
          <p:nvPr/>
        </p:nvPicPr>
        <p:blipFill>
          <a:blip r:embed="rId3"/>
          <a:stretch>
            <a:fillRect/>
          </a:stretch>
        </p:blipFill>
        <p:spPr>
          <a:xfrm>
            <a:off x="1111250" y="1554163"/>
            <a:ext cx="6867525" cy="4495800"/>
          </a:xfrm>
          <a:prstGeom prst="rect">
            <a:avLst/>
          </a:prstGeom>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扩展：人机验证绕过技术</a:t>
            </a:r>
          </a:p>
        </p:txBody>
      </p:sp>
      <p:pic>
        <p:nvPicPr>
          <p:cNvPr id="5" name="图片 4"/>
          <p:cNvPicPr>
            <a:picLocks noChangeAspect="1"/>
          </p:cNvPicPr>
          <p:nvPr/>
        </p:nvPicPr>
        <p:blipFill>
          <a:blip r:embed="rId3"/>
          <a:stretch>
            <a:fillRect/>
          </a:stretch>
        </p:blipFill>
        <p:spPr>
          <a:xfrm>
            <a:off x="1144588" y="1315850"/>
            <a:ext cx="6800850" cy="4943475"/>
          </a:xfrm>
          <a:prstGeom prst="rect">
            <a:avLst/>
          </a:prstGeom>
          <a:ln>
            <a:solidFill>
              <a:schemeClr val="accent1"/>
            </a:solidFill>
          </a:ln>
        </p:spPr>
      </p:pic>
      <p:pic>
        <p:nvPicPr>
          <p:cNvPr id="6" name="图片 5"/>
          <p:cNvPicPr>
            <a:picLocks noChangeAspect="1"/>
          </p:cNvPicPr>
          <p:nvPr/>
        </p:nvPicPr>
        <p:blipFill>
          <a:blip r:embed="rId4"/>
          <a:stretch>
            <a:fillRect/>
          </a:stretch>
        </p:blipFill>
        <p:spPr>
          <a:xfrm>
            <a:off x="211791" y="2320737"/>
            <a:ext cx="6819900" cy="2933700"/>
          </a:xfrm>
          <a:prstGeom prst="rect">
            <a:avLst/>
          </a:prstGeom>
          <a:ln>
            <a:solidFill>
              <a:srgbClr val="FF000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扩展：人机验证绕过技术</a:t>
            </a:r>
          </a:p>
        </p:txBody>
      </p:sp>
      <p:pic>
        <p:nvPicPr>
          <p:cNvPr id="4" name="图片 3"/>
          <p:cNvPicPr>
            <a:picLocks noChangeAspect="1"/>
          </p:cNvPicPr>
          <p:nvPr/>
        </p:nvPicPr>
        <p:blipFill>
          <a:blip r:embed="rId3"/>
          <a:stretch>
            <a:fillRect/>
          </a:stretch>
        </p:blipFill>
        <p:spPr>
          <a:xfrm>
            <a:off x="987238" y="1554163"/>
            <a:ext cx="6667500" cy="4457700"/>
          </a:xfrm>
          <a:prstGeom prst="rect">
            <a:avLst/>
          </a:prstGeom>
        </p:spPr>
      </p:pic>
      <p:pic>
        <p:nvPicPr>
          <p:cNvPr id="5" name="图片 4"/>
          <p:cNvPicPr>
            <a:picLocks noChangeAspect="1"/>
          </p:cNvPicPr>
          <p:nvPr/>
        </p:nvPicPr>
        <p:blipFill>
          <a:blip r:embed="rId4"/>
          <a:stretch>
            <a:fillRect/>
          </a:stretch>
        </p:blipFill>
        <p:spPr>
          <a:xfrm>
            <a:off x="210763" y="3349998"/>
            <a:ext cx="6800850" cy="1771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扩展：人机验证绕过技术</a:t>
            </a:r>
          </a:p>
        </p:txBody>
      </p:sp>
      <p:pic>
        <p:nvPicPr>
          <p:cNvPr id="4" name="图片 3"/>
          <p:cNvPicPr>
            <a:picLocks noChangeAspect="1"/>
          </p:cNvPicPr>
          <p:nvPr/>
        </p:nvPicPr>
        <p:blipFill>
          <a:blip r:embed="rId3"/>
          <a:stretch>
            <a:fillRect/>
          </a:stretch>
        </p:blipFill>
        <p:spPr>
          <a:xfrm>
            <a:off x="961184" y="1554163"/>
            <a:ext cx="6791325" cy="3867150"/>
          </a:xfrm>
          <a:prstGeom prst="rect">
            <a:avLst/>
          </a:prstGeom>
          <a:ln>
            <a:solidFill>
              <a:srgbClr val="FF0000"/>
            </a:solidFill>
          </a:ln>
        </p:spPr>
      </p:pic>
      <p:pic>
        <p:nvPicPr>
          <p:cNvPr id="5" name="图片 4"/>
          <p:cNvPicPr>
            <a:picLocks noChangeAspect="1"/>
          </p:cNvPicPr>
          <p:nvPr/>
        </p:nvPicPr>
        <p:blipFill>
          <a:blip r:embed="rId4"/>
          <a:stretch>
            <a:fillRect/>
          </a:stretch>
        </p:blipFill>
        <p:spPr>
          <a:xfrm>
            <a:off x="533307" y="2779807"/>
            <a:ext cx="6810375" cy="2124075"/>
          </a:xfrm>
          <a:prstGeom prst="rect">
            <a:avLst/>
          </a:prstGeom>
          <a:ln>
            <a:solidFill>
              <a:schemeClr val="tx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扩展：人机验证绕过技术</a:t>
            </a:r>
          </a:p>
        </p:txBody>
      </p:sp>
      <p:pic>
        <p:nvPicPr>
          <p:cNvPr id="4" name="图片 3"/>
          <p:cNvPicPr>
            <a:picLocks noChangeAspect="1"/>
          </p:cNvPicPr>
          <p:nvPr/>
        </p:nvPicPr>
        <p:blipFill>
          <a:blip r:embed="rId3"/>
          <a:stretch>
            <a:fillRect/>
          </a:stretch>
        </p:blipFill>
        <p:spPr>
          <a:xfrm>
            <a:off x="908516" y="1673225"/>
            <a:ext cx="6753225" cy="3876675"/>
          </a:xfrm>
          <a:prstGeom prst="rect">
            <a:avLst/>
          </a:prstGeom>
          <a:ln>
            <a:solidFill>
              <a:srgbClr val="FF0000"/>
            </a:solidFill>
          </a:ln>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844676" y="3011488"/>
            <a:ext cx="4870450" cy="788987"/>
          </a:xfrm>
        </p:spPr>
        <p:txBody>
          <a:bodyPr/>
          <a:lstStyle/>
          <a:p>
            <a:pPr marL="0" indent="0">
              <a:buNone/>
            </a:pPr>
            <a:r>
              <a:rPr lang="zh-CN" altLang="en-US" dirty="0">
                <a:solidFill>
                  <a:srgbClr val="FF0000"/>
                </a:solidFill>
              </a:rPr>
              <a:t>三、常用文件密码破解</a:t>
            </a:r>
          </a:p>
        </p:txBody>
      </p:sp>
      <p:sp>
        <p:nvSpPr>
          <p:cNvPr id="3" name="标题 2"/>
          <p:cNvSpPr>
            <a:spLocks noGrp="1"/>
          </p:cNvSpPr>
          <p:nvPr>
            <p:ph type="title"/>
          </p:nvPr>
        </p:nvSpPr>
        <p:spPr/>
        <p:txBody>
          <a:bodyPr/>
          <a:lstStyle/>
          <a:p>
            <a:r>
              <a:rPr lang="zh-CN" altLang="en-US" dirty="0"/>
              <a:t>参考资料</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p:cNvSpPr>
            <a:spLocks noGrp="1" noChangeArrowheads="1"/>
          </p:cNvSpPr>
          <p:nvPr>
            <p:ph type="title"/>
          </p:nvPr>
        </p:nvSpPr>
        <p:spPr/>
        <p:txBody>
          <a:bodyPr/>
          <a:lstStyle/>
          <a:p>
            <a:r>
              <a:rPr lang="zh-CN" altLang="en-US">
                <a:latin typeface="Times New Roman" panose="02020603050405020304" pitchFamily="18" charset="0"/>
              </a:rPr>
              <a:t>（</a:t>
            </a:r>
            <a:r>
              <a:rPr lang="en-US" altLang="zh-CN">
                <a:latin typeface="Times New Roman" panose="02020603050405020304" pitchFamily="18" charset="0"/>
              </a:rPr>
              <a:t>1</a:t>
            </a:r>
            <a:r>
              <a:rPr lang="zh-CN" altLang="en-US">
                <a:latin typeface="Times New Roman" panose="02020603050405020304" pitchFamily="18" charset="0"/>
              </a:rPr>
              <a:t>）</a:t>
            </a:r>
            <a:r>
              <a:rPr lang="en-US" altLang="zh-CN">
                <a:latin typeface="Times New Roman" panose="02020603050405020304" pitchFamily="18" charset="0"/>
              </a:rPr>
              <a:t>Office</a:t>
            </a:r>
            <a:r>
              <a:rPr lang="zh-CN" altLang="en-US">
                <a:latin typeface="Times New Roman" panose="02020603050405020304" pitchFamily="18" charset="0"/>
              </a:rPr>
              <a:t>文件口令</a:t>
            </a:r>
            <a:r>
              <a:rPr lang="zh-CN" altLang="en-US"/>
              <a:t>破解</a:t>
            </a:r>
          </a:p>
        </p:txBody>
      </p:sp>
      <p:sp>
        <p:nvSpPr>
          <p:cNvPr id="491523" name="Rectangle 3"/>
          <p:cNvSpPr>
            <a:spLocks noGrp="1" noChangeArrowheads="1"/>
          </p:cNvSpPr>
          <p:nvPr>
            <p:ph type="body" idx="1"/>
          </p:nvPr>
        </p:nvSpPr>
        <p:spPr>
          <a:xfrm>
            <a:off x="447675" y="1200150"/>
            <a:ext cx="8229600" cy="5165725"/>
          </a:xfrm>
        </p:spPr>
        <p:txBody>
          <a:bodyPr/>
          <a:lstStyle/>
          <a:p>
            <a:pPr>
              <a:lnSpc>
                <a:spcPts val="3600"/>
              </a:lnSpc>
              <a:spcBef>
                <a:spcPts val="0"/>
              </a:spcBef>
            </a:pPr>
            <a:r>
              <a:rPr lang="zh-CN" altLang="en-US" sz="2400" dirty="0"/>
              <a:t>推荐软件：</a:t>
            </a:r>
            <a:r>
              <a:rPr lang="en-US" altLang="zh-CN" sz="2400" dirty="0"/>
              <a:t>Advanced Office Password Recovery</a:t>
            </a:r>
            <a:r>
              <a:rPr lang="zh-CN" altLang="en-US" sz="2400" dirty="0"/>
              <a:t>，可破解各类 </a:t>
            </a:r>
            <a:r>
              <a:rPr lang="en-US" altLang="zh-CN" sz="2400" dirty="0"/>
              <a:t>Office </a:t>
            </a:r>
            <a:r>
              <a:rPr lang="zh-CN" altLang="en-US" sz="2400" dirty="0"/>
              <a:t>文档，主要文件格式有：</a:t>
            </a:r>
          </a:p>
          <a:p>
            <a:pPr lvl="1">
              <a:lnSpc>
                <a:spcPts val="3600"/>
              </a:lnSpc>
              <a:spcBef>
                <a:spcPts val="0"/>
              </a:spcBef>
            </a:pPr>
            <a:r>
              <a:rPr lang="en-US" altLang="zh-CN" sz="2000" dirty="0"/>
              <a:t>Microsoft Word</a:t>
            </a:r>
            <a:r>
              <a:rPr lang="zh-CN" altLang="en-US" sz="2000" dirty="0"/>
              <a:t>、</a:t>
            </a:r>
            <a:r>
              <a:rPr lang="en-US" altLang="zh-CN" sz="2000" dirty="0"/>
              <a:t>Excel</a:t>
            </a:r>
            <a:r>
              <a:rPr lang="zh-CN" altLang="en-US" sz="2000" dirty="0"/>
              <a:t>、</a:t>
            </a:r>
            <a:r>
              <a:rPr lang="en-US" altLang="zh-CN" sz="2000" dirty="0"/>
              <a:t>PowerPoint</a:t>
            </a:r>
            <a:r>
              <a:rPr lang="zh-CN" altLang="en-US" sz="2000" dirty="0"/>
              <a:t>、</a:t>
            </a:r>
            <a:r>
              <a:rPr lang="en-US" altLang="zh-CN" sz="2000" dirty="0"/>
              <a:t>Visio</a:t>
            </a:r>
            <a:r>
              <a:rPr lang="zh-CN" altLang="en-US" sz="2000" dirty="0"/>
              <a:t> 文档，</a:t>
            </a:r>
            <a:r>
              <a:rPr lang="en-US" altLang="zh-CN" sz="2000" dirty="0"/>
              <a:t>Access </a:t>
            </a:r>
            <a:r>
              <a:rPr lang="zh-CN" altLang="en-US" sz="2000" dirty="0"/>
              <a:t>数据库</a:t>
            </a:r>
          </a:p>
          <a:p>
            <a:pPr lvl="1">
              <a:lnSpc>
                <a:spcPts val="3600"/>
              </a:lnSpc>
              <a:spcBef>
                <a:spcPts val="0"/>
              </a:spcBef>
            </a:pPr>
            <a:r>
              <a:rPr lang="en-US" altLang="zh-CN" sz="2000" dirty="0"/>
              <a:t>Microsoft Project </a:t>
            </a:r>
            <a:r>
              <a:rPr lang="zh-CN" altLang="en-US" sz="2000" dirty="0"/>
              <a:t>文件</a:t>
            </a:r>
          </a:p>
          <a:p>
            <a:pPr lvl="1">
              <a:lnSpc>
                <a:spcPts val="3600"/>
              </a:lnSpc>
              <a:spcBef>
                <a:spcPts val="0"/>
              </a:spcBef>
            </a:pPr>
            <a:r>
              <a:rPr lang="en-US" altLang="zh-CN" sz="2000" dirty="0"/>
              <a:t>Microsoft OneNote </a:t>
            </a:r>
            <a:r>
              <a:rPr lang="zh-CN" altLang="en-US" sz="2000" dirty="0"/>
              <a:t>文件</a:t>
            </a:r>
          </a:p>
          <a:p>
            <a:pPr lvl="1">
              <a:lnSpc>
                <a:spcPts val="3600"/>
              </a:lnSpc>
              <a:spcBef>
                <a:spcPts val="0"/>
              </a:spcBef>
            </a:pPr>
            <a:r>
              <a:rPr lang="en-US" altLang="zh-CN" sz="2000" dirty="0"/>
              <a:t>Microsoft Outlook </a:t>
            </a:r>
            <a:r>
              <a:rPr lang="zh-CN" altLang="en-US" sz="2000" dirty="0"/>
              <a:t>个人存储文件、 </a:t>
            </a:r>
            <a:r>
              <a:rPr lang="en-US" altLang="zh-CN" sz="2000" dirty="0"/>
              <a:t>Outlook VBA </a:t>
            </a:r>
            <a:r>
              <a:rPr lang="zh-CN" altLang="en-US" sz="2000" dirty="0"/>
              <a:t>宏文件</a:t>
            </a:r>
          </a:p>
          <a:p>
            <a:pPr lvl="1">
              <a:lnSpc>
                <a:spcPts val="3600"/>
              </a:lnSpc>
              <a:spcBef>
                <a:spcPts val="0"/>
              </a:spcBef>
            </a:pPr>
            <a:r>
              <a:rPr lang="en-US" altLang="zh-CN" sz="2000" dirty="0"/>
              <a:t>Microsoft Money </a:t>
            </a:r>
            <a:r>
              <a:rPr lang="zh-CN" altLang="en-US" sz="2000" dirty="0"/>
              <a:t>数据库</a:t>
            </a:r>
          </a:p>
          <a:p>
            <a:pPr lvl="1">
              <a:lnSpc>
                <a:spcPts val="3600"/>
              </a:lnSpc>
              <a:spcBef>
                <a:spcPts val="0"/>
              </a:spcBef>
            </a:pPr>
            <a:r>
              <a:rPr lang="en-US" altLang="zh-CN" sz="2000" dirty="0"/>
              <a:t>Microsoft Schedule+ </a:t>
            </a:r>
            <a:r>
              <a:rPr lang="zh-CN" altLang="en-US" sz="2000" dirty="0"/>
              <a:t>文件</a:t>
            </a:r>
          </a:p>
          <a:p>
            <a:pPr lvl="1">
              <a:lnSpc>
                <a:spcPts val="3600"/>
              </a:lnSpc>
              <a:spcBef>
                <a:spcPts val="0"/>
              </a:spcBef>
            </a:pPr>
            <a:r>
              <a:rPr lang="en-US" altLang="zh-CN" sz="2000" dirty="0"/>
              <a:t>Microsoft Backup </a:t>
            </a:r>
            <a:r>
              <a:rPr lang="zh-CN" altLang="en-US" sz="2000" dirty="0"/>
              <a:t>文件</a:t>
            </a:r>
          </a:p>
          <a:p>
            <a:pPr lvl="1">
              <a:lnSpc>
                <a:spcPts val="3600"/>
              </a:lnSpc>
              <a:spcBef>
                <a:spcPts val="0"/>
              </a:spcBef>
            </a:pPr>
            <a:r>
              <a:rPr lang="en-US" altLang="zh-CN" sz="2000" dirty="0"/>
              <a:t>Microsoft Mail </a:t>
            </a:r>
            <a:r>
              <a:rPr lang="zh-CN" altLang="en-US" sz="2000" dirty="0"/>
              <a:t>文件</a:t>
            </a:r>
          </a:p>
          <a:p>
            <a:pPr lvl="1">
              <a:lnSpc>
                <a:spcPts val="3600"/>
              </a:lnSpc>
              <a:spcBef>
                <a:spcPts val="0"/>
              </a:spcBef>
            </a:pPr>
            <a:r>
              <a:rPr lang="en-US" altLang="zh-CN" sz="2000" dirty="0"/>
              <a:t>Microsoft Pocket Excel </a:t>
            </a:r>
            <a:r>
              <a:rPr lang="zh-CN" altLang="en-US" sz="2000" dirty="0"/>
              <a:t>文件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91523">
                                            <p:txEl>
                                              <p:pRg st="0" end="0"/>
                                            </p:txEl>
                                          </p:spTgt>
                                        </p:tgtEl>
                                        <p:attrNameLst>
                                          <p:attrName>style.visibility</p:attrName>
                                        </p:attrNameLst>
                                      </p:cBhvr>
                                      <p:to>
                                        <p:strVal val="visible"/>
                                      </p:to>
                                    </p:set>
                                    <p:anim calcmode="lin" valueType="num">
                                      <p:cBhvr>
                                        <p:cTn id="7" dur="1000" fill="hold"/>
                                        <p:tgtEl>
                                          <p:spTgt spid="49152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9152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9152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91523">
                                            <p:txEl>
                                              <p:pRg st="1" end="1"/>
                                            </p:txEl>
                                          </p:spTgt>
                                        </p:tgtEl>
                                        <p:attrNameLst>
                                          <p:attrName>style.visibility</p:attrName>
                                        </p:attrNameLst>
                                      </p:cBhvr>
                                      <p:to>
                                        <p:strVal val="visible"/>
                                      </p:to>
                                    </p:set>
                                    <p:anim calcmode="lin" valueType="num">
                                      <p:cBhvr>
                                        <p:cTn id="14" dur="1000" fill="hold"/>
                                        <p:tgtEl>
                                          <p:spTgt spid="49152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49152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491523">
                                            <p:txEl>
                                              <p:pRg st="1" end="1"/>
                                            </p:txEl>
                                          </p:spTgt>
                                        </p:tgtEl>
                                      </p:cBhvr>
                                    </p:animEffect>
                                  </p:childTnLst>
                                </p:cTn>
                              </p:par>
                              <p:par>
                                <p:cTn id="17" presetID="55" presetClass="entr" presetSubtype="0" fill="hold" grpId="0" nodeType="withEffect">
                                  <p:stCondLst>
                                    <p:cond delay="0"/>
                                  </p:stCondLst>
                                  <p:childTnLst>
                                    <p:set>
                                      <p:cBhvr>
                                        <p:cTn id="18" dur="1" fill="hold">
                                          <p:stCondLst>
                                            <p:cond delay="0"/>
                                          </p:stCondLst>
                                        </p:cTn>
                                        <p:tgtEl>
                                          <p:spTgt spid="491523">
                                            <p:txEl>
                                              <p:pRg st="2" end="2"/>
                                            </p:txEl>
                                          </p:spTgt>
                                        </p:tgtEl>
                                        <p:attrNameLst>
                                          <p:attrName>style.visibility</p:attrName>
                                        </p:attrNameLst>
                                      </p:cBhvr>
                                      <p:to>
                                        <p:strVal val="visible"/>
                                      </p:to>
                                    </p:set>
                                    <p:anim calcmode="lin" valueType="num">
                                      <p:cBhvr>
                                        <p:cTn id="19" dur="1000" fill="hold"/>
                                        <p:tgtEl>
                                          <p:spTgt spid="491523">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491523">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491523">
                                            <p:txEl>
                                              <p:pRg st="2" end="2"/>
                                            </p:txEl>
                                          </p:spTgt>
                                        </p:tgtEl>
                                      </p:cBhvr>
                                    </p:animEffect>
                                  </p:childTnLst>
                                </p:cTn>
                              </p:par>
                              <p:par>
                                <p:cTn id="22" presetID="55" presetClass="entr" presetSubtype="0" fill="hold" grpId="0" nodeType="withEffect">
                                  <p:stCondLst>
                                    <p:cond delay="0"/>
                                  </p:stCondLst>
                                  <p:childTnLst>
                                    <p:set>
                                      <p:cBhvr>
                                        <p:cTn id="23" dur="1" fill="hold">
                                          <p:stCondLst>
                                            <p:cond delay="0"/>
                                          </p:stCondLst>
                                        </p:cTn>
                                        <p:tgtEl>
                                          <p:spTgt spid="491523">
                                            <p:txEl>
                                              <p:pRg st="3" end="3"/>
                                            </p:txEl>
                                          </p:spTgt>
                                        </p:tgtEl>
                                        <p:attrNameLst>
                                          <p:attrName>style.visibility</p:attrName>
                                        </p:attrNameLst>
                                      </p:cBhvr>
                                      <p:to>
                                        <p:strVal val="visible"/>
                                      </p:to>
                                    </p:set>
                                    <p:anim calcmode="lin" valueType="num">
                                      <p:cBhvr>
                                        <p:cTn id="24" dur="1000" fill="hold"/>
                                        <p:tgtEl>
                                          <p:spTgt spid="491523">
                                            <p:txEl>
                                              <p:pRg st="3" end="3"/>
                                            </p:txEl>
                                          </p:spTgt>
                                        </p:tgtEl>
                                        <p:attrNameLst>
                                          <p:attrName>ppt_w</p:attrName>
                                        </p:attrNameLst>
                                      </p:cBhvr>
                                      <p:tavLst>
                                        <p:tav tm="0">
                                          <p:val>
                                            <p:strVal val="#ppt_w*0.70"/>
                                          </p:val>
                                        </p:tav>
                                        <p:tav tm="100000">
                                          <p:val>
                                            <p:strVal val="#ppt_w"/>
                                          </p:val>
                                        </p:tav>
                                      </p:tavLst>
                                    </p:anim>
                                    <p:anim calcmode="lin" valueType="num">
                                      <p:cBhvr>
                                        <p:cTn id="25" dur="1000" fill="hold"/>
                                        <p:tgtEl>
                                          <p:spTgt spid="491523">
                                            <p:txEl>
                                              <p:pRg st="3" end="3"/>
                                            </p:txEl>
                                          </p:spTgt>
                                        </p:tgtEl>
                                        <p:attrNameLst>
                                          <p:attrName>ppt_h</p:attrName>
                                        </p:attrNameLst>
                                      </p:cBhvr>
                                      <p:tavLst>
                                        <p:tav tm="0">
                                          <p:val>
                                            <p:strVal val="#ppt_h"/>
                                          </p:val>
                                        </p:tav>
                                        <p:tav tm="100000">
                                          <p:val>
                                            <p:strVal val="#ppt_h"/>
                                          </p:val>
                                        </p:tav>
                                      </p:tavLst>
                                    </p:anim>
                                    <p:animEffect transition="in" filter="fade">
                                      <p:cBhvr>
                                        <p:cTn id="26" dur="1000"/>
                                        <p:tgtEl>
                                          <p:spTgt spid="491523">
                                            <p:txEl>
                                              <p:pRg st="3" end="3"/>
                                            </p:txEl>
                                          </p:spTgt>
                                        </p:tgtEl>
                                      </p:cBhvr>
                                    </p:animEffect>
                                  </p:childTnLst>
                                </p:cTn>
                              </p:par>
                              <p:par>
                                <p:cTn id="27" presetID="55" presetClass="entr" presetSubtype="0" fill="hold" grpId="0" nodeType="withEffect">
                                  <p:stCondLst>
                                    <p:cond delay="0"/>
                                  </p:stCondLst>
                                  <p:childTnLst>
                                    <p:set>
                                      <p:cBhvr>
                                        <p:cTn id="28" dur="1" fill="hold">
                                          <p:stCondLst>
                                            <p:cond delay="0"/>
                                          </p:stCondLst>
                                        </p:cTn>
                                        <p:tgtEl>
                                          <p:spTgt spid="491523">
                                            <p:txEl>
                                              <p:pRg st="4" end="4"/>
                                            </p:txEl>
                                          </p:spTgt>
                                        </p:tgtEl>
                                        <p:attrNameLst>
                                          <p:attrName>style.visibility</p:attrName>
                                        </p:attrNameLst>
                                      </p:cBhvr>
                                      <p:to>
                                        <p:strVal val="visible"/>
                                      </p:to>
                                    </p:set>
                                    <p:anim calcmode="lin" valueType="num">
                                      <p:cBhvr>
                                        <p:cTn id="29" dur="1000" fill="hold"/>
                                        <p:tgtEl>
                                          <p:spTgt spid="491523">
                                            <p:txEl>
                                              <p:pRg st="4" end="4"/>
                                            </p:txEl>
                                          </p:spTgt>
                                        </p:tgtEl>
                                        <p:attrNameLst>
                                          <p:attrName>ppt_w</p:attrName>
                                        </p:attrNameLst>
                                      </p:cBhvr>
                                      <p:tavLst>
                                        <p:tav tm="0">
                                          <p:val>
                                            <p:strVal val="#ppt_w*0.70"/>
                                          </p:val>
                                        </p:tav>
                                        <p:tav tm="100000">
                                          <p:val>
                                            <p:strVal val="#ppt_w"/>
                                          </p:val>
                                        </p:tav>
                                      </p:tavLst>
                                    </p:anim>
                                    <p:anim calcmode="lin" valueType="num">
                                      <p:cBhvr>
                                        <p:cTn id="30" dur="1000" fill="hold"/>
                                        <p:tgtEl>
                                          <p:spTgt spid="491523">
                                            <p:txEl>
                                              <p:pRg st="4" end="4"/>
                                            </p:txEl>
                                          </p:spTgt>
                                        </p:tgtEl>
                                        <p:attrNameLst>
                                          <p:attrName>ppt_h</p:attrName>
                                        </p:attrNameLst>
                                      </p:cBhvr>
                                      <p:tavLst>
                                        <p:tav tm="0">
                                          <p:val>
                                            <p:strVal val="#ppt_h"/>
                                          </p:val>
                                        </p:tav>
                                        <p:tav tm="100000">
                                          <p:val>
                                            <p:strVal val="#ppt_h"/>
                                          </p:val>
                                        </p:tav>
                                      </p:tavLst>
                                    </p:anim>
                                    <p:animEffect transition="in" filter="fade">
                                      <p:cBhvr>
                                        <p:cTn id="31" dur="1000"/>
                                        <p:tgtEl>
                                          <p:spTgt spid="491523">
                                            <p:txEl>
                                              <p:pRg st="4" end="4"/>
                                            </p:txEl>
                                          </p:spTgt>
                                        </p:tgtEl>
                                      </p:cBhvr>
                                    </p:animEffect>
                                  </p:childTnLst>
                                </p:cTn>
                              </p:par>
                              <p:par>
                                <p:cTn id="32" presetID="55" presetClass="entr" presetSubtype="0" fill="hold" grpId="0" nodeType="withEffect">
                                  <p:stCondLst>
                                    <p:cond delay="0"/>
                                  </p:stCondLst>
                                  <p:childTnLst>
                                    <p:set>
                                      <p:cBhvr>
                                        <p:cTn id="33" dur="1" fill="hold">
                                          <p:stCondLst>
                                            <p:cond delay="0"/>
                                          </p:stCondLst>
                                        </p:cTn>
                                        <p:tgtEl>
                                          <p:spTgt spid="491523">
                                            <p:txEl>
                                              <p:pRg st="5" end="5"/>
                                            </p:txEl>
                                          </p:spTgt>
                                        </p:tgtEl>
                                        <p:attrNameLst>
                                          <p:attrName>style.visibility</p:attrName>
                                        </p:attrNameLst>
                                      </p:cBhvr>
                                      <p:to>
                                        <p:strVal val="visible"/>
                                      </p:to>
                                    </p:set>
                                    <p:anim calcmode="lin" valueType="num">
                                      <p:cBhvr>
                                        <p:cTn id="34" dur="1000" fill="hold"/>
                                        <p:tgtEl>
                                          <p:spTgt spid="491523">
                                            <p:txEl>
                                              <p:pRg st="5" end="5"/>
                                            </p:txEl>
                                          </p:spTgt>
                                        </p:tgtEl>
                                        <p:attrNameLst>
                                          <p:attrName>ppt_w</p:attrName>
                                        </p:attrNameLst>
                                      </p:cBhvr>
                                      <p:tavLst>
                                        <p:tav tm="0">
                                          <p:val>
                                            <p:strVal val="#ppt_w*0.70"/>
                                          </p:val>
                                        </p:tav>
                                        <p:tav tm="100000">
                                          <p:val>
                                            <p:strVal val="#ppt_w"/>
                                          </p:val>
                                        </p:tav>
                                      </p:tavLst>
                                    </p:anim>
                                    <p:anim calcmode="lin" valueType="num">
                                      <p:cBhvr>
                                        <p:cTn id="35" dur="1000" fill="hold"/>
                                        <p:tgtEl>
                                          <p:spTgt spid="491523">
                                            <p:txEl>
                                              <p:pRg st="5" end="5"/>
                                            </p:txEl>
                                          </p:spTgt>
                                        </p:tgtEl>
                                        <p:attrNameLst>
                                          <p:attrName>ppt_h</p:attrName>
                                        </p:attrNameLst>
                                      </p:cBhvr>
                                      <p:tavLst>
                                        <p:tav tm="0">
                                          <p:val>
                                            <p:strVal val="#ppt_h"/>
                                          </p:val>
                                        </p:tav>
                                        <p:tav tm="100000">
                                          <p:val>
                                            <p:strVal val="#ppt_h"/>
                                          </p:val>
                                        </p:tav>
                                      </p:tavLst>
                                    </p:anim>
                                    <p:animEffect transition="in" filter="fade">
                                      <p:cBhvr>
                                        <p:cTn id="36" dur="1000"/>
                                        <p:tgtEl>
                                          <p:spTgt spid="491523">
                                            <p:txEl>
                                              <p:pRg st="5" end="5"/>
                                            </p:txEl>
                                          </p:spTgt>
                                        </p:tgtEl>
                                      </p:cBhvr>
                                    </p:animEffect>
                                  </p:childTnLst>
                                </p:cTn>
                              </p:par>
                              <p:par>
                                <p:cTn id="37" presetID="55" presetClass="entr" presetSubtype="0" fill="hold" grpId="0" nodeType="withEffect">
                                  <p:stCondLst>
                                    <p:cond delay="0"/>
                                  </p:stCondLst>
                                  <p:childTnLst>
                                    <p:set>
                                      <p:cBhvr>
                                        <p:cTn id="38" dur="1" fill="hold">
                                          <p:stCondLst>
                                            <p:cond delay="0"/>
                                          </p:stCondLst>
                                        </p:cTn>
                                        <p:tgtEl>
                                          <p:spTgt spid="491523">
                                            <p:txEl>
                                              <p:pRg st="6" end="6"/>
                                            </p:txEl>
                                          </p:spTgt>
                                        </p:tgtEl>
                                        <p:attrNameLst>
                                          <p:attrName>style.visibility</p:attrName>
                                        </p:attrNameLst>
                                      </p:cBhvr>
                                      <p:to>
                                        <p:strVal val="visible"/>
                                      </p:to>
                                    </p:set>
                                    <p:anim calcmode="lin" valueType="num">
                                      <p:cBhvr>
                                        <p:cTn id="39" dur="1000" fill="hold"/>
                                        <p:tgtEl>
                                          <p:spTgt spid="491523">
                                            <p:txEl>
                                              <p:pRg st="6" end="6"/>
                                            </p:txEl>
                                          </p:spTgt>
                                        </p:tgtEl>
                                        <p:attrNameLst>
                                          <p:attrName>ppt_w</p:attrName>
                                        </p:attrNameLst>
                                      </p:cBhvr>
                                      <p:tavLst>
                                        <p:tav tm="0">
                                          <p:val>
                                            <p:strVal val="#ppt_w*0.70"/>
                                          </p:val>
                                        </p:tav>
                                        <p:tav tm="100000">
                                          <p:val>
                                            <p:strVal val="#ppt_w"/>
                                          </p:val>
                                        </p:tav>
                                      </p:tavLst>
                                    </p:anim>
                                    <p:anim calcmode="lin" valueType="num">
                                      <p:cBhvr>
                                        <p:cTn id="40" dur="1000" fill="hold"/>
                                        <p:tgtEl>
                                          <p:spTgt spid="491523">
                                            <p:txEl>
                                              <p:pRg st="6" end="6"/>
                                            </p:txEl>
                                          </p:spTgt>
                                        </p:tgtEl>
                                        <p:attrNameLst>
                                          <p:attrName>ppt_h</p:attrName>
                                        </p:attrNameLst>
                                      </p:cBhvr>
                                      <p:tavLst>
                                        <p:tav tm="0">
                                          <p:val>
                                            <p:strVal val="#ppt_h"/>
                                          </p:val>
                                        </p:tav>
                                        <p:tav tm="100000">
                                          <p:val>
                                            <p:strVal val="#ppt_h"/>
                                          </p:val>
                                        </p:tav>
                                      </p:tavLst>
                                    </p:anim>
                                    <p:animEffect transition="in" filter="fade">
                                      <p:cBhvr>
                                        <p:cTn id="41" dur="1000"/>
                                        <p:tgtEl>
                                          <p:spTgt spid="491523">
                                            <p:txEl>
                                              <p:pRg st="6" end="6"/>
                                            </p:txEl>
                                          </p:spTgt>
                                        </p:tgtEl>
                                      </p:cBhvr>
                                    </p:animEffect>
                                  </p:childTnLst>
                                </p:cTn>
                              </p:par>
                              <p:par>
                                <p:cTn id="42" presetID="55" presetClass="entr" presetSubtype="0" fill="hold" grpId="0" nodeType="withEffect">
                                  <p:stCondLst>
                                    <p:cond delay="0"/>
                                  </p:stCondLst>
                                  <p:childTnLst>
                                    <p:set>
                                      <p:cBhvr>
                                        <p:cTn id="43" dur="1" fill="hold">
                                          <p:stCondLst>
                                            <p:cond delay="0"/>
                                          </p:stCondLst>
                                        </p:cTn>
                                        <p:tgtEl>
                                          <p:spTgt spid="491523">
                                            <p:txEl>
                                              <p:pRg st="7" end="7"/>
                                            </p:txEl>
                                          </p:spTgt>
                                        </p:tgtEl>
                                        <p:attrNameLst>
                                          <p:attrName>style.visibility</p:attrName>
                                        </p:attrNameLst>
                                      </p:cBhvr>
                                      <p:to>
                                        <p:strVal val="visible"/>
                                      </p:to>
                                    </p:set>
                                    <p:anim calcmode="lin" valueType="num">
                                      <p:cBhvr>
                                        <p:cTn id="44" dur="1000" fill="hold"/>
                                        <p:tgtEl>
                                          <p:spTgt spid="491523">
                                            <p:txEl>
                                              <p:pRg st="7" end="7"/>
                                            </p:txEl>
                                          </p:spTgt>
                                        </p:tgtEl>
                                        <p:attrNameLst>
                                          <p:attrName>ppt_w</p:attrName>
                                        </p:attrNameLst>
                                      </p:cBhvr>
                                      <p:tavLst>
                                        <p:tav tm="0">
                                          <p:val>
                                            <p:strVal val="#ppt_w*0.70"/>
                                          </p:val>
                                        </p:tav>
                                        <p:tav tm="100000">
                                          <p:val>
                                            <p:strVal val="#ppt_w"/>
                                          </p:val>
                                        </p:tav>
                                      </p:tavLst>
                                    </p:anim>
                                    <p:anim calcmode="lin" valueType="num">
                                      <p:cBhvr>
                                        <p:cTn id="45" dur="1000" fill="hold"/>
                                        <p:tgtEl>
                                          <p:spTgt spid="491523">
                                            <p:txEl>
                                              <p:pRg st="7" end="7"/>
                                            </p:txEl>
                                          </p:spTgt>
                                        </p:tgtEl>
                                        <p:attrNameLst>
                                          <p:attrName>ppt_h</p:attrName>
                                        </p:attrNameLst>
                                      </p:cBhvr>
                                      <p:tavLst>
                                        <p:tav tm="0">
                                          <p:val>
                                            <p:strVal val="#ppt_h"/>
                                          </p:val>
                                        </p:tav>
                                        <p:tav tm="100000">
                                          <p:val>
                                            <p:strVal val="#ppt_h"/>
                                          </p:val>
                                        </p:tav>
                                      </p:tavLst>
                                    </p:anim>
                                    <p:animEffect transition="in" filter="fade">
                                      <p:cBhvr>
                                        <p:cTn id="46" dur="1000"/>
                                        <p:tgtEl>
                                          <p:spTgt spid="491523">
                                            <p:txEl>
                                              <p:pRg st="7" end="7"/>
                                            </p:txEl>
                                          </p:spTgt>
                                        </p:tgtEl>
                                      </p:cBhvr>
                                    </p:animEffect>
                                  </p:childTnLst>
                                </p:cTn>
                              </p:par>
                              <p:par>
                                <p:cTn id="47" presetID="55" presetClass="entr" presetSubtype="0" fill="hold" grpId="0" nodeType="withEffect">
                                  <p:stCondLst>
                                    <p:cond delay="0"/>
                                  </p:stCondLst>
                                  <p:childTnLst>
                                    <p:set>
                                      <p:cBhvr>
                                        <p:cTn id="48" dur="1" fill="hold">
                                          <p:stCondLst>
                                            <p:cond delay="0"/>
                                          </p:stCondLst>
                                        </p:cTn>
                                        <p:tgtEl>
                                          <p:spTgt spid="491523">
                                            <p:txEl>
                                              <p:pRg st="8" end="8"/>
                                            </p:txEl>
                                          </p:spTgt>
                                        </p:tgtEl>
                                        <p:attrNameLst>
                                          <p:attrName>style.visibility</p:attrName>
                                        </p:attrNameLst>
                                      </p:cBhvr>
                                      <p:to>
                                        <p:strVal val="visible"/>
                                      </p:to>
                                    </p:set>
                                    <p:anim calcmode="lin" valueType="num">
                                      <p:cBhvr>
                                        <p:cTn id="49" dur="1000" fill="hold"/>
                                        <p:tgtEl>
                                          <p:spTgt spid="491523">
                                            <p:txEl>
                                              <p:pRg st="8" end="8"/>
                                            </p:txEl>
                                          </p:spTgt>
                                        </p:tgtEl>
                                        <p:attrNameLst>
                                          <p:attrName>ppt_w</p:attrName>
                                        </p:attrNameLst>
                                      </p:cBhvr>
                                      <p:tavLst>
                                        <p:tav tm="0">
                                          <p:val>
                                            <p:strVal val="#ppt_w*0.70"/>
                                          </p:val>
                                        </p:tav>
                                        <p:tav tm="100000">
                                          <p:val>
                                            <p:strVal val="#ppt_w"/>
                                          </p:val>
                                        </p:tav>
                                      </p:tavLst>
                                    </p:anim>
                                    <p:anim calcmode="lin" valueType="num">
                                      <p:cBhvr>
                                        <p:cTn id="50" dur="1000" fill="hold"/>
                                        <p:tgtEl>
                                          <p:spTgt spid="491523">
                                            <p:txEl>
                                              <p:pRg st="8" end="8"/>
                                            </p:txEl>
                                          </p:spTgt>
                                        </p:tgtEl>
                                        <p:attrNameLst>
                                          <p:attrName>ppt_h</p:attrName>
                                        </p:attrNameLst>
                                      </p:cBhvr>
                                      <p:tavLst>
                                        <p:tav tm="0">
                                          <p:val>
                                            <p:strVal val="#ppt_h"/>
                                          </p:val>
                                        </p:tav>
                                        <p:tav tm="100000">
                                          <p:val>
                                            <p:strVal val="#ppt_h"/>
                                          </p:val>
                                        </p:tav>
                                      </p:tavLst>
                                    </p:anim>
                                    <p:animEffect transition="in" filter="fade">
                                      <p:cBhvr>
                                        <p:cTn id="51" dur="1000"/>
                                        <p:tgtEl>
                                          <p:spTgt spid="491523">
                                            <p:txEl>
                                              <p:pRg st="8" end="8"/>
                                            </p:txEl>
                                          </p:spTgt>
                                        </p:tgtEl>
                                      </p:cBhvr>
                                    </p:animEffect>
                                  </p:childTnLst>
                                </p:cTn>
                              </p:par>
                              <p:par>
                                <p:cTn id="52" presetID="55" presetClass="entr" presetSubtype="0" fill="hold" grpId="0" nodeType="withEffect">
                                  <p:stCondLst>
                                    <p:cond delay="0"/>
                                  </p:stCondLst>
                                  <p:childTnLst>
                                    <p:set>
                                      <p:cBhvr>
                                        <p:cTn id="53" dur="1" fill="hold">
                                          <p:stCondLst>
                                            <p:cond delay="0"/>
                                          </p:stCondLst>
                                        </p:cTn>
                                        <p:tgtEl>
                                          <p:spTgt spid="491523">
                                            <p:txEl>
                                              <p:pRg st="9" end="9"/>
                                            </p:txEl>
                                          </p:spTgt>
                                        </p:tgtEl>
                                        <p:attrNameLst>
                                          <p:attrName>style.visibility</p:attrName>
                                        </p:attrNameLst>
                                      </p:cBhvr>
                                      <p:to>
                                        <p:strVal val="visible"/>
                                      </p:to>
                                    </p:set>
                                    <p:anim calcmode="lin" valueType="num">
                                      <p:cBhvr>
                                        <p:cTn id="54" dur="1000" fill="hold"/>
                                        <p:tgtEl>
                                          <p:spTgt spid="491523">
                                            <p:txEl>
                                              <p:pRg st="9" end="9"/>
                                            </p:txEl>
                                          </p:spTgt>
                                        </p:tgtEl>
                                        <p:attrNameLst>
                                          <p:attrName>ppt_w</p:attrName>
                                        </p:attrNameLst>
                                      </p:cBhvr>
                                      <p:tavLst>
                                        <p:tav tm="0">
                                          <p:val>
                                            <p:strVal val="#ppt_w*0.70"/>
                                          </p:val>
                                        </p:tav>
                                        <p:tav tm="100000">
                                          <p:val>
                                            <p:strVal val="#ppt_w"/>
                                          </p:val>
                                        </p:tav>
                                      </p:tavLst>
                                    </p:anim>
                                    <p:anim calcmode="lin" valueType="num">
                                      <p:cBhvr>
                                        <p:cTn id="55" dur="1000" fill="hold"/>
                                        <p:tgtEl>
                                          <p:spTgt spid="491523">
                                            <p:txEl>
                                              <p:pRg st="9" end="9"/>
                                            </p:txEl>
                                          </p:spTgt>
                                        </p:tgtEl>
                                        <p:attrNameLst>
                                          <p:attrName>ppt_h</p:attrName>
                                        </p:attrNameLst>
                                      </p:cBhvr>
                                      <p:tavLst>
                                        <p:tav tm="0">
                                          <p:val>
                                            <p:strVal val="#ppt_h"/>
                                          </p:val>
                                        </p:tav>
                                        <p:tav tm="100000">
                                          <p:val>
                                            <p:strVal val="#ppt_h"/>
                                          </p:val>
                                        </p:tav>
                                      </p:tavLst>
                                    </p:anim>
                                    <p:animEffect transition="in" filter="fade">
                                      <p:cBhvr>
                                        <p:cTn id="56" dur="1000"/>
                                        <p:tgtEl>
                                          <p:spTgt spid="49152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23" grpId="0" uiExpand="1" build="p"/>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p:txBody>
          <a:bodyPr/>
          <a:lstStyle/>
          <a:p>
            <a:r>
              <a:rPr lang="zh-CN" altLang="en-US">
                <a:latin typeface="Times New Roman" panose="02020603050405020304" pitchFamily="18" charset="0"/>
              </a:rPr>
              <a:t>（</a:t>
            </a:r>
            <a:r>
              <a:rPr lang="en-US" altLang="zh-CN">
                <a:latin typeface="Times New Roman" panose="02020603050405020304" pitchFamily="18" charset="0"/>
              </a:rPr>
              <a:t>1</a:t>
            </a:r>
            <a:r>
              <a:rPr lang="zh-CN" altLang="en-US">
                <a:latin typeface="Times New Roman" panose="02020603050405020304" pitchFamily="18" charset="0"/>
              </a:rPr>
              <a:t>）</a:t>
            </a:r>
            <a:r>
              <a:rPr lang="en-US" altLang="zh-CN">
                <a:latin typeface="Times New Roman" panose="02020603050405020304" pitchFamily="18" charset="0"/>
              </a:rPr>
              <a:t>Office</a:t>
            </a:r>
            <a:r>
              <a:rPr lang="zh-CN" altLang="en-US">
                <a:latin typeface="Times New Roman" panose="02020603050405020304" pitchFamily="18" charset="0"/>
              </a:rPr>
              <a:t>文件口令</a:t>
            </a:r>
            <a:r>
              <a:rPr lang="zh-CN" altLang="en-US"/>
              <a:t>破解</a:t>
            </a:r>
          </a:p>
        </p:txBody>
      </p:sp>
      <p:pic>
        <p:nvPicPr>
          <p:cNvPr id="494596" name="Picture 4" descr="snap1"/>
          <p:cNvPicPr>
            <a:picLocks noChangeAspect="1" noChangeArrowheads="1"/>
          </p:cNvPicPr>
          <p:nvPr/>
        </p:nvPicPr>
        <p:blipFill>
          <a:blip r:embed="rId2" cstate="print"/>
          <a:srcRect/>
          <a:stretch>
            <a:fillRect/>
          </a:stretch>
        </p:blipFill>
        <p:spPr bwMode="auto">
          <a:xfrm>
            <a:off x="1008063" y="1266825"/>
            <a:ext cx="7416800" cy="5019676"/>
          </a:xfrm>
          <a:prstGeom prst="rect">
            <a:avLst/>
          </a:prstGeom>
          <a:noFill/>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p:cNvSpPr>
            <a:spLocks noGrp="1" noChangeArrowheads="1"/>
          </p:cNvSpPr>
          <p:nvPr>
            <p:ph type="title"/>
          </p:nvPr>
        </p:nvSpPr>
        <p:spPr/>
        <p:txBody>
          <a:bodyPr/>
          <a:lstStyle/>
          <a:p>
            <a:r>
              <a:rPr lang="zh-CN" altLang="en-US">
                <a:latin typeface="Times New Roman" panose="02020603050405020304" pitchFamily="18" charset="0"/>
              </a:rPr>
              <a:t>（</a:t>
            </a:r>
            <a:r>
              <a:rPr lang="en-US" altLang="zh-CN">
                <a:latin typeface="Times New Roman" panose="02020603050405020304" pitchFamily="18" charset="0"/>
              </a:rPr>
              <a:t>2</a:t>
            </a:r>
            <a:r>
              <a:rPr lang="zh-CN" altLang="en-US">
                <a:latin typeface="Times New Roman" panose="02020603050405020304" pitchFamily="18" charset="0"/>
              </a:rPr>
              <a:t>）存档文件口令</a:t>
            </a:r>
            <a:r>
              <a:rPr lang="zh-CN" altLang="en-US"/>
              <a:t>破解</a:t>
            </a:r>
          </a:p>
        </p:txBody>
      </p:sp>
      <p:sp>
        <p:nvSpPr>
          <p:cNvPr id="492548" name="Rectangle 4"/>
          <p:cNvSpPr>
            <a:spLocks noGrp="1" noChangeArrowheads="1"/>
          </p:cNvSpPr>
          <p:nvPr>
            <p:ph type="body" idx="1"/>
          </p:nvPr>
        </p:nvSpPr>
        <p:spPr>
          <a:xfrm>
            <a:off x="561975" y="1343026"/>
            <a:ext cx="8229600" cy="4743450"/>
          </a:xfrm>
          <a:noFill/>
        </p:spPr>
        <p:txBody>
          <a:bodyPr/>
          <a:lstStyle/>
          <a:p>
            <a:r>
              <a:rPr lang="zh-CN" altLang="en-US" dirty="0"/>
              <a:t>推荐软件：</a:t>
            </a:r>
            <a:r>
              <a:rPr lang="en-US" altLang="zh-CN" dirty="0"/>
              <a:t>Advanced Archive Password Recovery</a:t>
            </a:r>
            <a:r>
              <a:rPr lang="zh-CN" altLang="en-US" dirty="0"/>
              <a:t>， 可破解各类存档文档，主要文件格式有：</a:t>
            </a:r>
          </a:p>
          <a:p>
            <a:pPr lvl="1"/>
            <a:r>
              <a:rPr lang="en-US" altLang="en-US" dirty="0"/>
              <a:t>ZIP/</a:t>
            </a:r>
            <a:r>
              <a:rPr lang="en-US" altLang="en-US" dirty="0" err="1"/>
              <a:t>PKZip</a:t>
            </a:r>
            <a:r>
              <a:rPr lang="en-US" altLang="en-US" dirty="0"/>
              <a:t>/WinZip</a:t>
            </a:r>
            <a:endParaRPr lang="en-US" altLang="zh-CN" dirty="0"/>
          </a:p>
          <a:p>
            <a:pPr lvl="1"/>
            <a:r>
              <a:rPr lang="en-US" altLang="en-US" dirty="0"/>
              <a:t>ARJ/</a:t>
            </a:r>
            <a:r>
              <a:rPr lang="en-US" altLang="en-US" dirty="0" err="1"/>
              <a:t>WinARJ</a:t>
            </a:r>
            <a:endParaRPr lang="en-US" altLang="zh-CN" dirty="0"/>
          </a:p>
          <a:p>
            <a:pPr lvl="1"/>
            <a:r>
              <a:rPr lang="en-US" altLang="en-US" dirty="0"/>
              <a:t>ACE/</a:t>
            </a:r>
            <a:r>
              <a:rPr lang="en-US" altLang="en-US" dirty="0" err="1"/>
              <a:t>WinACE</a:t>
            </a:r>
            <a:endParaRPr lang="en-US" altLang="zh-CN" dirty="0"/>
          </a:p>
          <a:p>
            <a:pPr lvl="1"/>
            <a:r>
              <a:rPr lang="en-US" altLang="en-US" dirty="0"/>
              <a:t>RAR/</a:t>
            </a:r>
            <a:r>
              <a:rPr lang="en-US" altLang="en-US" dirty="0" err="1"/>
              <a:t>WinRAR</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92548">
                                            <p:txEl>
                                              <p:pRg st="0" end="0"/>
                                            </p:txEl>
                                          </p:spTgt>
                                        </p:tgtEl>
                                        <p:attrNameLst>
                                          <p:attrName>style.visibility</p:attrName>
                                        </p:attrNameLst>
                                      </p:cBhvr>
                                      <p:to>
                                        <p:strVal val="visible"/>
                                      </p:to>
                                    </p:set>
                                    <p:anim calcmode="lin" valueType="num">
                                      <p:cBhvr additive="base">
                                        <p:cTn id="7" dur="500" fill="hold"/>
                                        <p:tgtEl>
                                          <p:spTgt spid="49254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25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92548">
                                            <p:txEl>
                                              <p:pRg st="1" end="1"/>
                                            </p:txEl>
                                          </p:spTgt>
                                        </p:tgtEl>
                                        <p:attrNameLst>
                                          <p:attrName>style.visibility</p:attrName>
                                        </p:attrNameLst>
                                      </p:cBhvr>
                                      <p:to>
                                        <p:strVal val="visible"/>
                                      </p:to>
                                    </p:set>
                                    <p:anim calcmode="lin" valueType="num">
                                      <p:cBhvr additive="base">
                                        <p:cTn id="13" dur="500" fill="hold"/>
                                        <p:tgtEl>
                                          <p:spTgt spid="49254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92548">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92548">
                                            <p:txEl>
                                              <p:pRg st="2" end="2"/>
                                            </p:txEl>
                                          </p:spTgt>
                                        </p:tgtEl>
                                        <p:attrNameLst>
                                          <p:attrName>style.visibility</p:attrName>
                                        </p:attrNameLst>
                                      </p:cBhvr>
                                      <p:to>
                                        <p:strVal val="visible"/>
                                      </p:to>
                                    </p:set>
                                    <p:anim calcmode="lin" valueType="num">
                                      <p:cBhvr additive="base">
                                        <p:cTn id="17" dur="500" fill="hold"/>
                                        <p:tgtEl>
                                          <p:spTgt spid="49254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92548">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92548">
                                            <p:txEl>
                                              <p:pRg st="3" end="3"/>
                                            </p:txEl>
                                          </p:spTgt>
                                        </p:tgtEl>
                                        <p:attrNameLst>
                                          <p:attrName>style.visibility</p:attrName>
                                        </p:attrNameLst>
                                      </p:cBhvr>
                                      <p:to>
                                        <p:strVal val="visible"/>
                                      </p:to>
                                    </p:set>
                                    <p:anim calcmode="lin" valueType="num">
                                      <p:cBhvr additive="base">
                                        <p:cTn id="21" dur="500" fill="hold"/>
                                        <p:tgtEl>
                                          <p:spTgt spid="492548">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92548">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92548">
                                            <p:txEl>
                                              <p:pRg st="4" end="4"/>
                                            </p:txEl>
                                          </p:spTgt>
                                        </p:tgtEl>
                                        <p:attrNameLst>
                                          <p:attrName>style.visibility</p:attrName>
                                        </p:attrNameLst>
                                      </p:cBhvr>
                                      <p:to>
                                        <p:strVal val="visible"/>
                                      </p:to>
                                    </p:set>
                                    <p:anim calcmode="lin" valueType="num">
                                      <p:cBhvr additive="base">
                                        <p:cTn id="25" dur="500" fill="hold"/>
                                        <p:tgtEl>
                                          <p:spTgt spid="49254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9254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p:cNvSpPr>
            <a:spLocks noGrp="1" noChangeArrowheads="1"/>
          </p:cNvSpPr>
          <p:nvPr>
            <p:ph type="title"/>
          </p:nvPr>
        </p:nvSpPr>
        <p:spPr/>
        <p:txBody>
          <a:bodyPr/>
          <a:lstStyle/>
          <a:p>
            <a:r>
              <a:rPr lang="zh-CN" altLang="en-US">
                <a:latin typeface="Times New Roman" panose="02020603050405020304" pitchFamily="18" charset="0"/>
              </a:rPr>
              <a:t>（</a:t>
            </a:r>
            <a:r>
              <a:rPr lang="en-US" altLang="zh-CN">
                <a:latin typeface="Times New Roman" panose="02020603050405020304" pitchFamily="18" charset="0"/>
              </a:rPr>
              <a:t>2</a:t>
            </a:r>
            <a:r>
              <a:rPr lang="zh-CN" altLang="en-US">
                <a:latin typeface="Times New Roman" panose="02020603050405020304" pitchFamily="18" charset="0"/>
              </a:rPr>
              <a:t>）存档文件口令</a:t>
            </a:r>
            <a:r>
              <a:rPr lang="zh-CN" altLang="en-US"/>
              <a:t>破解</a:t>
            </a:r>
          </a:p>
        </p:txBody>
      </p:sp>
      <p:pic>
        <p:nvPicPr>
          <p:cNvPr id="495620" name="Picture 4" descr="snap2"/>
          <p:cNvPicPr>
            <a:picLocks noChangeAspect="1" noChangeArrowheads="1"/>
          </p:cNvPicPr>
          <p:nvPr/>
        </p:nvPicPr>
        <p:blipFill>
          <a:blip r:embed="rId2" cstate="print"/>
          <a:srcRect/>
          <a:stretch>
            <a:fillRect/>
          </a:stretch>
        </p:blipFill>
        <p:spPr bwMode="auto">
          <a:xfrm>
            <a:off x="1557338" y="1179512"/>
            <a:ext cx="5905500" cy="520223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495620"/>
                                        </p:tgtEl>
                                        <p:attrNameLst>
                                          <p:attrName>style.visibility</p:attrName>
                                        </p:attrNameLst>
                                      </p:cBhvr>
                                      <p:to>
                                        <p:strVal val="visible"/>
                                      </p:to>
                                    </p:set>
                                    <p:anim calcmode="lin" valueType="num">
                                      <p:cBhvr>
                                        <p:cTn id="7" dur="1000" fill="hold"/>
                                        <p:tgtEl>
                                          <p:spTgt spid="495620"/>
                                        </p:tgtEl>
                                        <p:attrNameLst>
                                          <p:attrName>ppt_w</p:attrName>
                                        </p:attrNameLst>
                                      </p:cBhvr>
                                      <p:tavLst>
                                        <p:tav tm="0">
                                          <p:val>
                                            <p:strVal val="#ppt_w*0.70"/>
                                          </p:val>
                                        </p:tav>
                                        <p:tav tm="100000">
                                          <p:val>
                                            <p:strVal val="#ppt_w"/>
                                          </p:val>
                                        </p:tav>
                                      </p:tavLst>
                                    </p:anim>
                                    <p:anim calcmode="lin" valueType="num">
                                      <p:cBhvr>
                                        <p:cTn id="8" dur="1000" fill="hold"/>
                                        <p:tgtEl>
                                          <p:spTgt spid="495620"/>
                                        </p:tgtEl>
                                        <p:attrNameLst>
                                          <p:attrName>ppt_h</p:attrName>
                                        </p:attrNameLst>
                                      </p:cBhvr>
                                      <p:tavLst>
                                        <p:tav tm="0">
                                          <p:val>
                                            <p:strVal val="#ppt_h"/>
                                          </p:val>
                                        </p:tav>
                                        <p:tav tm="100000">
                                          <p:val>
                                            <p:strVal val="#ppt_h"/>
                                          </p:val>
                                        </p:tav>
                                      </p:tavLst>
                                    </p:anim>
                                    <p:animEffect transition="in" filter="fade">
                                      <p:cBhvr>
                                        <p:cTn id="9" dur="1000"/>
                                        <p:tgtEl>
                                          <p:spTgt spid="495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p:cNvSpPr>
            <a:spLocks noGrp="1" noChangeArrowheads="1"/>
          </p:cNvSpPr>
          <p:nvPr>
            <p:ph type="title"/>
          </p:nvPr>
        </p:nvSpPr>
        <p:spPr/>
        <p:txBody>
          <a:bodyPr/>
          <a:lstStyle/>
          <a:p>
            <a:r>
              <a:rPr lang="zh-CN" altLang="en-US">
                <a:latin typeface="Times New Roman" panose="02020603050405020304" pitchFamily="18" charset="0"/>
              </a:rPr>
              <a:t>（</a:t>
            </a:r>
            <a:r>
              <a:rPr lang="en-US" altLang="zh-CN">
                <a:latin typeface="Times New Roman" panose="02020603050405020304" pitchFamily="18" charset="0"/>
              </a:rPr>
              <a:t>3</a:t>
            </a:r>
            <a:r>
              <a:rPr lang="zh-CN" altLang="en-US">
                <a:latin typeface="Times New Roman" panose="02020603050405020304" pitchFamily="18" charset="0"/>
              </a:rPr>
              <a:t>）</a:t>
            </a:r>
            <a:r>
              <a:rPr lang="en-US" altLang="zh-CN">
                <a:latin typeface="Times New Roman" panose="02020603050405020304" pitchFamily="18" charset="0"/>
              </a:rPr>
              <a:t>PDF</a:t>
            </a:r>
            <a:r>
              <a:rPr lang="zh-CN" altLang="en-US">
                <a:latin typeface="Times New Roman" panose="02020603050405020304" pitchFamily="18" charset="0"/>
              </a:rPr>
              <a:t>文件口令</a:t>
            </a:r>
            <a:r>
              <a:rPr lang="zh-CN" altLang="en-US"/>
              <a:t>破解</a:t>
            </a:r>
          </a:p>
        </p:txBody>
      </p:sp>
      <p:sp>
        <p:nvSpPr>
          <p:cNvPr id="493572" name="Rectangle 4"/>
          <p:cNvSpPr>
            <a:spLocks noGrp="1" noChangeArrowheads="1"/>
          </p:cNvSpPr>
          <p:nvPr>
            <p:ph type="body" idx="1"/>
          </p:nvPr>
        </p:nvSpPr>
        <p:spPr>
          <a:xfrm>
            <a:off x="658813" y="1430338"/>
            <a:ext cx="7772400" cy="4114800"/>
          </a:xfrm>
          <a:noFill/>
        </p:spPr>
        <p:txBody>
          <a:bodyPr/>
          <a:lstStyle/>
          <a:p>
            <a:r>
              <a:rPr lang="zh-CN" altLang="en-US" dirty="0"/>
              <a:t>推荐软件：</a:t>
            </a:r>
            <a:r>
              <a:rPr lang="en-US" altLang="zh-CN" dirty="0"/>
              <a:t>Advanced PDF Password Recovery</a:t>
            </a:r>
          </a:p>
        </p:txBody>
      </p:sp>
      <p:pic>
        <p:nvPicPr>
          <p:cNvPr id="493573" name="Picture 5" descr="snap3"/>
          <p:cNvPicPr>
            <a:picLocks noChangeAspect="1" noChangeArrowheads="1"/>
          </p:cNvPicPr>
          <p:nvPr/>
        </p:nvPicPr>
        <p:blipFill>
          <a:blip r:embed="rId2" cstate="print"/>
          <a:srcRect/>
          <a:stretch>
            <a:fillRect/>
          </a:stretch>
        </p:blipFill>
        <p:spPr bwMode="auto">
          <a:xfrm>
            <a:off x="1908175" y="1773238"/>
            <a:ext cx="5257800" cy="47879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93572">
                                            <p:txEl>
                                              <p:pRg st="0" end="0"/>
                                            </p:txEl>
                                          </p:spTgt>
                                        </p:tgtEl>
                                        <p:attrNameLst>
                                          <p:attrName>style.visibility</p:attrName>
                                        </p:attrNameLst>
                                      </p:cBhvr>
                                      <p:to>
                                        <p:strVal val="visible"/>
                                      </p:to>
                                    </p:set>
                                    <p:anim calcmode="lin" valueType="num">
                                      <p:cBhvr additive="base">
                                        <p:cTn id="7" dur="500" fill="hold"/>
                                        <p:tgtEl>
                                          <p:spTgt spid="49357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357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93573"/>
                                        </p:tgtEl>
                                        <p:attrNameLst>
                                          <p:attrName>style.visibility</p:attrName>
                                        </p:attrNameLst>
                                      </p:cBhvr>
                                      <p:to>
                                        <p:strVal val="visible"/>
                                      </p:to>
                                    </p:set>
                                    <p:anim calcmode="lin" valueType="num">
                                      <p:cBhvr additive="base">
                                        <p:cTn id="13" dur="500" fill="hold"/>
                                        <p:tgtEl>
                                          <p:spTgt spid="493573"/>
                                        </p:tgtEl>
                                        <p:attrNameLst>
                                          <p:attrName>ppt_x</p:attrName>
                                        </p:attrNameLst>
                                      </p:cBhvr>
                                      <p:tavLst>
                                        <p:tav tm="0">
                                          <p:val>
                                            <p:strVal val="#ppt_x"/>
                                          </p:val>
                                        </p:tav>
                                        <p:tav tm="100000">
                                          <p:val>
                                            <p:strVal val="#ppt_x"/>
                                          </p:val>
                                        </p:tav>
                                      </p:tavLst>
                                    </p:anim>
                                    <p:anim calcmode="lin" valueType="num">
                                      <p:cBhvr additive="base">
                                        <p:cTn id="14" dur="500" fill="hold"/>
                                        <p:tgtEl>
                                          <p:spTgt spid="4935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844675" y="3011488"/>
            <a:ext cx="6199187" cy="1303337"/>
          </a:xfrm>
        </p:spPr>
        <p:txBody>
          <a:bodyPr/>
          <a:lstStyle/>
          <a:p>
            <a:pPr marL="0" indent="0">
              <a:buNone/>
            </a:pPr>
            <a:r>
              <a:rPr lang="zh-CN" altLang="en-US" dirty="0">
                <a:solidFill>
                  <a:srgbClr val="FF0000"/>
                </a:solidFill>
              </a:rPr>
              <a:t>四、其它口令破解方式</a:t>
            </a:r>
          </a:p>
        </p:txBody>
      </p:sp>
      <p:sp>
        <p:nvSpPr>
          <p:cNvPr id="3" name="标题 2"/>
          <p:cNvSpPr>
            <a:spLocks noGrp="1"/>
          </p:cNvSpPr>
          <p:nvPr>
            <p:ph type="title"/>
          </p:nvPr>
        </p:nvSpPr>
        <p:spPr/>
        <p:txBody>
          <a:bodyPr/>
          <a:lstStyle/>
          <a:p>
            <a:r>
              <a:rPr lang="zh-CN" altLang="en-US" dirty="0"/>
              <a:t>参考资料</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9" name="Rectangle 2"/>
          <p:cNvSpPr>
            <a:spLocks noGrp="1" noChangeArrowheads="1"/>
          </p:cNvSpPr>
          <p:nvPr>
            <p:ph type="title"/>
          </p:nvPr>
        </p:nvSpPr>
        <p:spPr>
          <a:noFill/>
        </p:spPr>
        <p:txBody>
          <a:bodyPr lIns="92075" tIns="46038" rIns="92075" bIns="46038" anchor="ctr"/>
          <a:lstStyle/>
          <a:p>
            <a:pPr eaLnBrk="1" hangingPunct="1"/>
            <a:r>
              <a:rPr lang="zh-CN" altLang="en-US" dirty="0"/>
              <a:t>其它的攻击方式</a:t>
            </a:r>
          </a:p>
        </p:txBody>
      </p:sp>
      <p:sp>
        <p:nvSpPr>
          <p:cNvPr id="26630" name="Rectangle 3"/>
          <p:cNvSpPr>
            <a:spLocks noGrp="1" noChangeArrowheads="1"/>
          </p:cNvSpPr>
          <p:nvPr>
            <p:ph type="body" idx="1"/>
          </p:nvPr>
        </p:nvSpPr>
        <p:spPr>
          <a:xfrm>
            <a:off x="525462" y="1258887"/>
            <a:ext cx="8280400" cy="4918075"/>
          </a:xfrm>
          <a:noFill/>
        </p:spPr>
        <p:txBody>
          <a:bodyPr lIns="92075" tIns="46038" rIns="92075" bIns="46038"/>
          <a:lstStyle/>
          <a:p>
            <a:pPr marL="533400" indent="-533400" eaLnBrk="1" hangingPunct="1">
              <a:lnSpc>
                <a:spcPts val="3500"/>
              </a:lnSpc>
              <a:spcBef>
                <a:spcPts val="0"/>
              </a:spcBef>
            </a:pPr>
            <a:r>
              <a:rPr lang="zh-CN" altLang="en-US" sz="2400" dirty="0"/>
              <a:t>口令安全最容易想到的一个威胁就是口令破解，许多公司因此花费大量功夫加强口令的安全性、牢固性、不可破解性，但即使是看似坚不可摧很难破解的口令，还是有一些其它手段可以获取的，类似大开着的“后门”。</a:t>
            </a:r>
            <a:endParaRPr lang="zh-CN" altLang="en-US" dirty="0"/>
          </a:p>
          <a:p>
            <a:pPr marL="914400" lvl="1" indent="-443230" eaLnBrk="1" hangingPunct="1">
              <a:lnSpc>
                <a:spcPts val="3500"/>
              </a:lnSpc>
              <a:spcBef>
                <a:spcPts val="0"/>
              </a:spcBef>
            </a:pPr>
            <a:r>
              <a:rPr lang="zh-CN" altLang="en-US" sz="2000" dirty="0"/>
              <a:t>社会工程学 </a:t>
            </a:r>
          </a:p>
          <a:p>
            <a:pPr marL="914400" lvl="1" indent="-443230" eaLnBrk="1" hangingPunct="1">
              <a:lnSpc>
                <a:spcPts val="3500"/>
              </a:lnSpc>
              <a:spcBef>
                <a:spcPts val="0"/>
              </a:spcBef>
            </a:pPr>
            <a:r>
              <a:rPr lang="zh-CN" altLang="en-US" sz="2000" dirty="0"/>
              <a:t>偷窥</a:t>
            </a:r>
          </a:p>
          <a:p>
            <a:pPr marL="914400" lvl="1" indent="-443230" eaLnBrk="1" hangingPunct="1">
              <a:lnSpc>
                <a:spcPts val="3500"/>
              </a:lnSpc>
              <a:spcBef>
                <a:spcPts val="0"/>
              </a:spcBef>
            </a:pPr>
            <a:r>
              <a:rPr lang="zh-CN" altLang="en-US" sz="2000" dirty="0"/>
              <a:t>搜索垃圾箱</a:t>
            </a:r>
          </a:p>
          <a:p>
            <a:pPr marL="914400" lvl="1" indent="-443230" eaLnBrk="1" hangingPunct="1">
              <a:lnSpc>
                <a:spcPts val="3500"/>
              </a:lnSpc>
              <a:spcBef>
                <a:spcPts val="0"/>
              </a:spcBef>
            </a:pPr>
            <a:r>
              <a:rPr lang="zh-CN" altLang="en-US" sz="2000" dirty="0"/>
              <a:t>口令蠕虫</a:t>
            </a:r>
          </a:p>
          <a:p>
            <a:pPr marL="914400" lvl="1" indent="-443230" eaLnBrk="1" hangingPunct="1">
              <a:lnSpc>
                <a:spcPts val="3500"/>
              </a:lnSpc>
              <a:spcBef>
                <a:spcPts val="0"/>
              </a:spcBef>
            </a:pPr>
            <a:r>
              <a:rPr lang="zh-CN" altLang="en-US" sz="2000" dirty="0"/>
              <a:t>特洛伊木马 </a:t>
            </a:r>
          </a:p>
          <a:p>
            <a:pPr marL="914400" lvl="1" indent="-443230" eaLnBrk="1" hangingPunct="1">
              <a:lnSpc>
                <a:spcPts val="3500"/>
              </a:lnSpc>
              <a:spcBef>
                <a:spcPts val="0"/>
              </a:spcBef>
            </a:pPr>
            <a:r>
              <a:rPr lang="zh-CN" altLang="en-US" sz="2000" dirty="0"/>
              <a:t>网络监听</a:t>
            </a:r>
          </a:p>
          <a:p>
            <a:pPr marL="914400" lvl="1" indent="-443230" eaLnBrk="1" hangingPunct="1">
              <a:lnSpc>
                <a:spcPts val="3500"/>
              </a:lnSpc>
              <a:spcBef>
                <a:spcPts val="0"/>
              </a:spcBef>
            </a:pPr>
            <a:r>
              <a:rPr lang="zh-CN" altLang="en-US" sz="2000" dirty="0"/>
              <a:t>重放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6630">
                                            <p:txEl>
                                              <p:pRg st="0" end="0"/>
                                            </p:txEl>
                                          </p:spTgt>
                                        </p:tgtEl>
                                        <p:attrNameLst>
                                          <p:attrName>style.visibility</p:attrName>
                                        </p:attrNameLst>
                                      </p:cBhvr>
                                      <p:to>
                                        <p:strVal val="visible"/>
                                      </p:to>
                                    </p:set>
                                    <p:anim calcmode="lin" valueType="num">
                                      <p:cBhvr>
                                        <p:cTn id="7" dur="1000" fill="hold"/>
                                        <p:tgtEl>
                                          <p:spTgt spid="26630">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6630">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6630">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6630">
                                            <p:txEl>
                                              <p:pRg st="1" end="1"/>
                                            </p:txEl>
                                          </p:spTgt>
                                        </p:tgtEl>
                                        <p:attrNameLst>
                                          <p:attrName>style.visibility</p:attrName>
                                        </p:attrNameLst>
                                      </p:cBhvr>
                                      <p:to>
                                        <p:strVal val="visible"/>
                                      </p:to>
                                    </p:set>
                                    <p:anim calcmode="lin" valueType="num">
                                      <p:cBhvr>
                                        <p:cTn id="14" dur="1000" fill="hold"/>
                                        <p:tgtEl>
                                          <p:spTgt spid="26630">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26630">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26630">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26630">
                                            <p:txEl>
                                              <p:pRg st="2" end="2"/>
                                            </p:txEl>
                                          </p:spTgt>
                                        </p:tgtEl>
                                        <p:attrNameLst>
                                          <p:attrName>style.visibility</p:attrName>
                                        </p:attrNameLst>
                                      </p:cBhvr>
                                      <p:to>
                                        <p:strVal val="visible"/>
                                      </p:to>
                                    </p:set>
                                    <p:anim calcmode="lin" valueType="num">
                                      <p:cBhvr>
                                        <p:cTn id="21" dur="1000" fill="hold"/>
                                        <p:tgtEl>
                                          <p:spTgt spid="26630">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26630">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26630">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26630">
                                            <p:txEl>
                                              <p:pRg st="3" end="3"/>
                                            </p:txEl>
                                          </p:spTgt>
                                        </p:tgtEl>
                                        <p:attrNameLst>
                                          <p:attrName>style.visibility</p:attrName>
                                        </p:attrNameLst>
                                      </p:cBhvr>
                                      <p:to>
                                        <p:strVal val="visible"/>
                                      </p:to>
                                    </p:set>
                                    <p:anim calcmode="lin" valueType="num">
                                      <p:cBhvr>
                                        <p:cTn id="28" dur="1000" fill="hold"/>
                                        <p:tgtEl>
                                          <p:spTgt spid="26630">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26630">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26630">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26630">
                                            <p:txEl>
                                              <p:pRg st="4" end="4"/>
                                            </p:txEl>
                                          </p:spTgt>
                                        </p:tgtEl>
                                        <p:attrNameLst>
                                          <p:attrName>style.visibility</p:attrName>
                                        </p:attrNameLst>
                                      </p:cBhvr>
                                      <p:to>
                                        <p:strVal val="visible"/>
                                      </p:to>
                                    </p:set>
                                    <p:anim calcmode="lin" valueType="num">
                                      <p:cBhvr>
                                        <p:cTn id="35" dur="1000" fill="hold"/>
                                        <p:tgtEl>
                                          <p:spTgt spid="26630">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26630">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26630">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grpId="0" nodeType="clickEffect">
                                  <p:stCondLst>
                                    <p:cond delay="0"/>
                                  </p:stCondLst>
                                  <p:childTnLst>
                                    <p:set>
                                      <p:cBhvr>
                                        <p:cTn id="41" dur="1" fill="hold">
                                          <p:stCondLst>
                                            <p:cond delay="0"/>
                                          </p:stCondLst>
                                        </p:cTn>
                                        <p:tgtEl>
                                          <p:spTgt spid="26630">
                                            <p:txEl>
                                              <p:pRg st="5" end="5"/>
                                            </p:txEl>
                                          </p:spTgt>
                                        </p:tgtEl>
                                        <p:attrNameLst>
                                          <p:attrName>style.visibility</p:attrName>
                                        </p:attrNameLst>
                                      </p:cBhvr>
                                      <p:to>
                                        <p:strVal val="visible"/>
                                      </p:to>
                                    </p:set>
                                    <p:anim calcmode="lin" valueType="num">
                                      <p:cBhvr>
                                        <p:cTn id="42" dur="1000" fill="hold"/>
                                        <p:tgtEl>
                                          <p:spTgt spid="26630">
                                            <p:txEl>
                                              <p:pRg st="5" end="5"/>
                                            </p:txEl>
                                          </p:spTgt>
                                        </p:tgtEl>
                                        <p:attrNameLst>
                                          <p:attrName>ppt_w</p:attrName>
                                        </p:attrNameLst>
                                      </p:cBhvr>
                                      <p:tavLst>
                                        <p:tav tm="0">
                                          <p:val>
                                            <p:strVal val="#ppt_w*0.70"/>
                                          </p:val>
                                        </p:tav>
                                        <p:tav tm="100000">
                                          <p:val>
                                            <p:strVal val="#ppt_w"/>
                                          </p:val>
                                        </p:tav>
                                      </p:tavLst>
                                    </p:anim>
                                    <p:anim calcmode="lin" valueType="num">
                                      <p:cBhvr>
                                        <p:cTn id="43" dur="1000" fill="hold"/>
                                        <p:tgtEl>
                                          <p:spTgt spid="26630">
                                            <p:txEl>
                                              <p:pRg st="5" end="5"/>
                                            </p:txEl>
                                          </p:spTgt>
                                        </p:tgtEl>
                                        <p:attrNameLst>
                                          <p:attrName>ppt_h</p:attrName>
                                        </p:attrNameLst>
                                      </p:cBhvr>
                                      <p:tavLst>
                                        <p:tav tm="0">
                                          <p:val>
                                            <p:strVal val="#ppt_h"/>
                                          </p:val>
                                        </p:tav>
                                        <p:tav tm="100000">
                                          <p:val>
                                            <p:strVal val="#ppt_h"/>
                                          </p:val>
                                        </p:tav>
                                      </p:tavLst>
                                    </p:anim>
                                    <p:animEffect transition="in" filter="fade">
                                      <p:cBhvr>
                                        <p:cTn id="44" dur="1000"/>
                                        <p:tgtEl>
                                          <p:spTgt spid="26630">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grpId="0" nodeType="clickEffect">
                                  <p:stCondLst>
                                    <p:cond delay="0"/>
                                  </p:stCondLst>
                                  <p:childTnLst>
                                    <p:set>
                                      <p:cBhvr>
                                        <p:cTn id="48" dur="1" fill="hold">
                                          <p:stCondLst>
                                            <p:cond delay="0"/>
                                          </p:stCondLst>
                                        </p:cTn>
                                        <p:tgtEl>
                                          <p:spTgt spid="26630">
                                            <p:txEl>
                                              <p:pRg st="6" end="6"/>
                                            </p:txEl>
                                          </p:spTgt>
                                        </p:tgtEl>
                                        <p:attrNameLst>
                                          <p:attrName>style.visibility</p:attrName>
                                        </p:attrNameLst>
                                      </p:cBhvr>
                                      <p:to>
                                        <p:strVal val="visible"/>
                                      </p:to>
                                    </p:set>
                                    <p:anim calcmode="lin" valueType="num">
                                      <p:cBhvr>
                                        <p:cTn id="49" dur="1000" fill="hold"/>
                                        <p:tgtEl>
                                          <p:spTgt spid="26630">
                                            <p:txEl>
                                              <p:pRg st="6" end="6"/>
                                            </p:txEl>
                                          </p:spTgt>
                                        </p:tgtEl>
                                        <p:attrNameLst>
                                          <p:attrName>ppt_w</p:attrName>
                                        </p:attrNameLst>
                                      </p:cBhvr>
                                      <p:tavLst>
                                        <p:tav tm="0">
                                          <p:val>
                                            <p:strVal val="#ppt_w*0.70"/>
                                          </p:val>
                                        </p:tav>
                                        <p:tav tm="100000">
                                          <p:val>
                                            <p:strVal val="#ppt_w"/>
                                          </p:val>
                                        </p:tav>
                                      </p:tavLst>
                                    </p:anim>
                                    <p:anim calcmode="lin" valueType="num">
                                      <p:cBhvr>
                                        <p:cTn id="50" dur="1000" fill="hold"/>
                                        <p:tgtEl>
                                          <p:spTgt spid="26630">
                                            <p:txEl>
                                              <p:pRg st="6" end="6"/>
                                            </p:txEl>
                                          </p:spTgt>
                                        </p:tgtEl>
                                        <p:attrNameLst>
                                          <p:attrName>ppt_h</p:attrName>
                                        </p:attrNameLst>
                                      </p:cBhvr>
                                      <p:tavLst>
                                        <p:tav tm="0">
                                          <p:val>
                                            <p:strVal val="#ppt_h"/>
                                          </p:val>
                                        </p:tav>
                                        <p:tav tm="100000">
                                          <p:val>
                                            <p:strVal val="#ppt_h"/>
                                          </p:val>
                                        </p:tav>
                                      </p:tavLst>
                                    </p:anim>
                                    <p:animEffect transition="in" filter="fade">
                                      <p:cBhvr>
                                        <p:cTn id="51" dur="1000"/>
                                        <p:tgtEl>
                                          <p:spTgt spid="26630">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5" presetClass="entr" presetSubtype="0" fill="hold" grpId="0" nodeType="clickEffect">
                                  <p:stCondLst>
                                    <p:cond delay="0"/>
                                  </p:stCondLst>
                                  <p:childTnLst>
                                    <p:set>
                                      <p:cBhvr>
                                        <p:cTn id="55" dur="1" fill="hold">
                                          <p:stCondLst>
                                            <p:cond delay="0"/>
                                          </p:stCondLst>
                                        </p:cTn>
                                        <p:tgtEl>
                                          <p:spTgt spid="26630">
                                            <p:txEl>
                                              <p:pRg st="7" end="7"/>
                                            </p:txEl>
                                          </p:spTgt>
                                        </p:tgtEl>
                                        <p:attrNameLst>
                                          <p:attrName>style.visibility</p:attrName>
                                        </p:attrNameLst>
                                      </p:cBhvr>
                                      <p:to>
                                        <p:strVal val="visible"/>
                                      </p:to>
                                    </p:set>
                                    <p:anim calcmode="lin" valueType="num">
                                      <p:cBhvr>
                                        <p:cTn id="56" dur="1000" fill="hold"/>
                                        <p:tgtEl>
                                          <p:spTgt spid="26630">
                                            <p:txEl>
                                              <p:pRg st="7" end="7"/>
                                            </p:txEl>
                                          </p:spTgt>
                                        </p:tgtEl>
                                        <p:attrNameLst>
                                          <p:attrName>ppt_w</p:attrName>
                                        </p:attrNameLst>
                                      </p:cBhvr>
                                      <p:tavLst>
                                        <p:tav tm="0">
                                          <p:val>
                                            <p:strVal val="#ppt_w*0.70"/>
                                          </p:val>
                                        </p:tav>
                                        <p:tav tm="100000">
                                          <p:val>
                                            <p:strVal val="#ppt_w"/>
                                          </p:val>
                                        </p:tav>
                                      </p:tavLst>
                                    </p:anim>
                                    <p:anim calcmode="lin" valueType="num">
                                      <p:cBhvr>
                                        <p:cTn id="57" dur="1000" fill="hold"/>
                                        <p:tgtEl>
                                          <p:spTgt spid="26630">
                                            <p:txEl>
                                              <p:pRg st="7" end="7"/>
                                            </p:txEl>
                                          </p:spTgt>
                                        </p:tgtEl>
                                        <p:attrNameLst>
                                          <p:attrName>ppt_h</p:attrName>
                                        </p:attrNameLst>
                                      </p:cBhvr>
                                      <p:tavLst>
                                        <p:tav tm="0">
                                          <p:val>
                                            <p:strVal val="#ppt_h"/>
                                          </p:val>
                                        </p:tav>
                                        <p:tav tm="100000">
                                          <p:val>
                                            <p:strVal val="#ppt_h"/>
                                          </p:val>
                                        </p:tav>
                                      </p:tavLst>
                                    </p:anim>
                                    <p:animEffect transition="in" filter="fade">
                                      <p:cBhvr>
                                        <p:cTn id="58" dur="1000"/>
                                        <p:tgtEl>
                                          <p:spTgt spid="2663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uiExpand="1" build="p"/>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p:nvPr>
        </p:nvSpPr>
        <p:spPr/>
        <p:txBody>
          <a:bodyPr/>
          <a:lstStyle/>
          <a:p>
            <a:pPr eaLnBrk="1" hangingPunct="1"/>
            <a:r>
              <a:rPr lang="zh-CN" altLang="en-US"/>
              <a:t>社会工程学</a:t>
            </a:r>
          </a:p>
        </p:txBody>
      </p:sp>
      <p:sp>
        <p:nvSpPr>
          <p:cNvPr id="27654" name="Rectangle 3"/>
          <p:cNvSpPr>
            <a:spLocks noGrp="1" noChangeArrowheads="1"/>
          </p:cNvSpPr>
          <p:nvPr>
            <p:ph type="body" idx="1"/>
          </p:nvPr>
        </p:nvSpPr>
        <p:spPr>
          <a:xfrm>
            <a:off x="496888" y="1225549"/>
            <a:ext cx="7561262" cy="5032375"/>
          </a:xfrm>
        </p:spPr>
        <p:txBody>
          <a:bodyPr/>
          <a:lstStyle/>
          <a:p>
            <a:pPr eaLnBrk="1" hangingPunct="1">
              <a:lnSpc>
                <a:spcPts val="3600"/>
              </a:lnSpc>
              <a:spcBef>
                <a:spcPts val="0"/>
              </a:spcBef>
            </a:pPr>
            <a:r>
              <a:rPr lang="zh-CN" altLang="en-US" sz="2400" dirty="0"/>
              <a:t>社会工程学：是一种让人们顺从你的意愿、满足你的欲望的一门艺术与学问，并不直接运用技术手段，而是一种利用人性的弱点、结合心理学知识，通过对人性的理解和人的心理的了解来获得目标系统敏感信息的技术。简单来说，就是欺骗人们去获得本来无法访问的信息。</a:t>
            </a:r>
          </a:p>
          <a:p>
            <a:pPr lvl="1" eaLnBrk="1" hangingPunct="1">
              <a:lnSpc>
                <a:spcPts val="3600"/>
              </a:lnSpc>
              <a:spcBef>
                <a:spcPts val="0"/>
              </a:spcBef>
            </a:pPr>
            <a:r>
              <a:rPr lang="zh-CN" altLang="en-US" sz="2000" dirty="0"/>
              <a:t>在多数的公司里，如果得到信任，就会被允许拥有访问这个公司信息的特权，如雇员、合同方。</a:t>
            </a:r>
          </a:p>
          <a:p>
            <a:pPr lvl="1" eaLnBrk="1" hangingPunct="1">
              <a:lnSpc>
                <a:spcPts val="3600"/>
              </a:lnSpc>
              <a:spcBef>
                <a:spcPts val="0"/>
              </a:spcBef>
            </a:pPr>
            <a:r>
              <a:rPr lang="zh-CN" altLang="en-US" sz="2000" dirty="0"/>
              <a:t>如果攻击者能通过一些方式得到系统可用的访问账号和口令，或使公司内部的某个人确信他是被信任的实体，他就很可能获得系统的访问权限。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7654">
                                            <p:txEl>
                                              <p:pRg st="0" end="0"/>
                                            </p:txEl>
                                          </p:spTgt>
                                        </p:tgtEl>
                                        <p:attrNameLst>
                                          <p:attrName>style.visibility</p:attrName>
                                        </p:attrNameLst>
                                      </p:cBhvr>
                                      <p:to>
                                        <p:strVal val="visible"/>
                                      </p:to>
                                    </p:set>
                                    <p:anim calcmode="lin" valueType="num">
                                      <p:cBhvr>
                                        <p:cTn id="7" dur="1000" fill="hold"/>
                                        <p:tgtEl>
                                          <p:spTgt spid="27654">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7654">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765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7654">
                                            <p:txEl>
                                              <p:pRg st="1" end="1"/>
                                            </p:txEl>
                                          </p:spTgt>
                                        </p:tgtEl>
                                        <p:attrNameLst>
                                          <p:attrName>style.visibility</p:attrName>
                                        </p:attrNameLst>
                                      </p:cBhvr>
                                      <p:to>
                                        <p:strVal val="visible"/>
                                      </p:to>
                                    </p:set>
                                    <p:anim calcmode="lin" valueType="num">
                                      <p:cBhvr>
                                        <p:cTn id="14" dur="1000" fill="hold"/>
                                        <p:tgtEl>
                                          <p:spTgt spid="27654">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27654">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27654">
                                            <p:txEl>
                                              <p:pRg st="1" end="1"/>
                                            </p:txEl>
                                          </p:spTgt>
                                        </p:tgtEl>
                                      </p:cBhvr>
                                    </p:animEffect>
                                  </p:childTnLst>
                                </p:cTn>
                              </p:par>
                              <p:par>
                                <p:cTn id="17" presetID="55" presetClass="entr" presetSubtype="0" fill="hold" grpId="0" nodeType="withEffect">
                                  <p:stCondLst>
                                    <p:cond delay="0"/>
                                  </p:stCondLst>
                                  <p:childTnLst>
                                    <p:set>
                                      <p:cBhvr>
                                        <p:cTn id="18" dur="1" fill="hold">
                                          <p:stCondLst>
                                            <p:cond delay="0"/>
                                          </p:stCondLst>
                                        </p:cTn>
                                        <p:tgtEl>
                                          <p:spTgt spid="27654">
                                            <p:txEl>
                                              <p:pRg st="2" end="2"/>
                                            </p:txEl>
                                          </p:spTgt>
                                        </p:tgtEl>
                                        <p:attrNameLst>
                                          <p:attrName>style.visibility</p:attrName>
                                        </p:attrNameLst>
                                      </p:cBhvr>
                                      <p:to>
                                        <p:strVal val="visible"/>
                                      </p:to>
                                    </p:set>
                                    <p:anim calcmode="lin" valueType="num">
                                      <p:cBhvr>
                                        <p:cTn id="19" dur="1000" fill="hold"/>
                                        <p:tgtEl>
                                          <p:spTgt spid="27654">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27654">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2765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uiExpand="1" build="p"/>
    </p:bldLst>
  </p:timing>
</p:sld>
</file>

<file path=ppt/slides/slide1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a:t>社会工程学</a:t>
            </a:r>
            <a:r>
              <a:rPr lang="en-US" altLang="zh-CN"/>
              <a:t>(2)</a:t>
            </a:r>
          </a:p>
        </p:txBody>
      </p:sp>
      <p:sp>
        <p:nvSpPr>
          <p:cNvPr id="182275" name="Rectangle 3"/>
          <p:cNvSpPr>
            <a:spLocks noGrp="1" noChangeArrowheads="1"/>
          </p:cNvSpPr>
          <p:nvPr>
            <p:ph type="body" idx="1"/>
          </p:nvPr>
        </p:nvSpPr>
        <p:spPr>
          <a:xfrm>
            <a:off x="557213" y="1362075"/>
            <a:ext cx="8001000" cy="4484688"/>
          </a:xfrm>
        </p:spPr>
        <p:txBody>
          <a:bodyPr/>
          <a:lstStyle/>
          <a:p>
            <a:pPr>
              <a:lnSpc>
                <a:spcPts val="2300"/>
              </a:lnSpc>
              <a:spcBef>
                <a:spcPts val="0"/>
              </a:spcBef>
            </a:pPr>
            <a:r>
              <a:rPr lang="zh-CN" altLang="en-US" sz="1900" dirty="0"/>
              <a:t>攻击者：喂，我是大为。我在技术支持中心工作，现在我要对你的系统进行例行维护。</a:t>
            </a:r>
          </a:p>
          <a:p>
            <a:pPr>
              <a:lnSpc>
                <a:spcPts val="2300"/>
              </a:lnSpc>
              <a:spcBef>
                <a:spcPts val="0"/>
              </a:spcBef>
            </a:pPr>
            <a:r>
              <a:rPr lang="zh-CN" altLang="en-US" sz="1900" dirty="0"/>
              <a:t>受骗者：是吗？我从来没有听说支持中心要对我们的系统进行例行维护。</a:t>
            </a:r>
          </a:p>
          <a:p>
            <a:pPr>
              <a:lnSpc>
                <a:spcPts val="2300"/>
              </a:lnSpc>
              <a:spcBef>
                <a:spcPts val="0"/>
              </a:spcBef>
            </a:pPr>
            <a:r>
              <a:rPr lang="zh-CN" altLang="en-US" sz="1900" dirty="0"/>
              <a:t>攻击者：嗯，是这样，上个季度我们才开始做这个工作。我们正在为所有远程用户做例行维护。我刚刚做完北区的所有计算机的维护。实际上，绝大多数用户都说，经过这次维护之后，他们的计算机的速度明显加快了。</a:t>
            </a:r>
          </a:p>
          <a:p>
            <a:pPr>
              <a:lnSpc>
                <a:spcPts val="2300"/>
              </a:lnSpc>
              <a:spcBef>
                <a:spcPts val="0"/>
              </a:spcBef>
            </a:pPr>
            <a:r>
              <a:rPr lang="zh-CN" altLang="en-US" sz="1900" dirty="0"/>
              <a:t>受骗者：是吗？那好，如果其它人的机器速度都加快了，那么我也这样做一下。现在我需要做些什么？</a:t>
            </a:r>
          </a:p>
          <a:p>
            <a:pPr>
              <a:lnSpc>
                <a:spcPts val="2300"/>
              </a:lnSpc>
              <a:spcBef>
                <a:spcPts val="0"/>
              </a:spcBef>
            </a:pPr>
            <a:r>
              <a:rPr lang="zh-CN" altLang="en-US" sz="1900" dirty="0"/>
              <a:t>攻击者：嗯，你不需要做什么。我可以远程地把一切都为你做好，但为了能够这样做，我需要知道你的</a:t>
            </a:r>
            <a:r>
              <a:rPr lang="en-US" altLang="zh-CN" sz="1900" dirty="0"/>
              <a:t>VPN</a:t>
            </a:r>
            <a:r>
              <a:rPr lang="zh-CN" altLang="en-US" sz="1900" dirty="0"/>
              <a:t>用户名和口令。</a:t>
            </a:r>
          </a:p>
          <a:p>
            <a:pPr>
              <a:lnSpc>
                <a:spcPts val="2300"/>
              </a:lnSpc>
              <a:spcBef>
                <a:spcPts val="0"/>
              </a:spcBef>
            </a:pPr>
            <a:r>
              <a:rPr lang="zh-CN" altLang="en-US" sz="1900" dirty="0"/>
              <a:t>受骗者：你真的能够远程地做好这一切？真是太好了。嗯，我的用户名是</a:t>
            </a:r>
            <a:r>
              <a:rPr lang="en-US" altLang="zh-CN" sz="1900" dirty="0" err="1"/>
              <a:t>abc</a:t>
            </a:r>
            <a:r>
              <a:rPr lang="zh-CN" altLang="en-US" sz="1900" dirty="0"/>
              <a:t>，口令是</a:t>
            </a:r>
            <a:r>
              <a:rPr lang="en-US" altLang="zh-CN" sz="1900" dirty="0" err="1"/>
              <a:t>chaodong</a:t>
            </a:r>
            <a:r>
              <a:rPr lang="zh-CN" altLang="en-US" sz="1900" dirty="0"/>
              <a:t>。</a:t>
            </a:r>
          </a:p>
          <a:p>
            <a:pPr>
              <a:lnSpc>
                <a:spcPts val="2300"/>
              </a:lnSpc>
              <a:spcBef>
                <a:spcPts val="0"/>
              </a:spcBef>
            </a:pPr>
            <a:r>
              <a:rPr lang="zh-CN" altLang="en-US" sz="1900" dirty="0"/>
              <a:t>攻击者：太好了。谢谢你的协助。我将以</a:t>
            </a:r>
            <a:r>
              <a:rPr lang="en-US" altLang="zh-CN" sz="1900" dirty="0"/>
              <a:t>VPN</a:t>
            </a:r>
            <a:r>
              <a:rPr lang="zh-CN" altLang="en-US" sz="1900" dirty="0"/>
              <a:t>方式登录到你的计算机，并进行例行维护。这只需要几分钟的时间。</a:t>
            </a:r>
          </a:p>
        </p:txBody>
      </p:sp>
      <p:grpSp>
        <p:nvGrpSpPr>
          <p:cNvPr id="2" name="Group 8"/>
          <p:cNvGrpSpPr/>
          <p:nvPr/>
        </p:nvGrpSpPr>
        <p:grpSpPr bwMode="auto">
          <a:xfrm>
            <a:off x="1571625" y="5157788"/>
            <a:ext cx="6673850" cy="1223962"/>
            <a:chOff x="990" y="3249"/>
            <a:chExt cx="4204" cy="771"/>
          </a:xfrm>
        </p:grpSpPr>
        <p:sp>
          <p:nvSpPr>
            <p:cNvPr id="28677" name="Line 4"/>
            <p:cNvSpPr>
              <a:spLocks noChangeShapeType="1"/>
            </p:cNvSpPr>
            <p:nvPr/>
          </p:nvSpPr>
          <p:spPr bwMode="auto">
            <a:xfrm>
              <a:off x="990" y="3436"/>
              <a:ext cx="1724" cy="0"/>
            </a:xfrm>
            <a:prstGeom prst="line">
              <a:avLst/>
            </a:prstGeom>
            <a:noFill/>
            <a:ln w="28575">
              <a:solidFill>
                <a:srgbClr val="FF0000"/>
              </a:solidFill>
              <a:round/>
              <a:headEnd type="none" w="sm" len="sm"/>
              <a:tailEnd type="none" w="sm" len="sm"/>
            </a:ln>
            <a:effectLst/>
          </p:spPr>
          <p:txBody>
            <a:bodyPr/>
            <a:lstStyle/>
            <a:p>
              <a:endParaRPr lang="zh-CN" altLang="en-US"/>
            </a:p>
          </p:txBody>
        </p:sp>
        <p:sp>
          <p:nvSpPr>
            <p:cNvPr id="28678" name="Oval 6"/>
            <p:cNvSpPr>
              <a:spLocks noChangeArrowheads="1"/>
            </p:cNvSpPr>
            <p:nvPr/>
          </p:nvSpPr>
          <p:spPr bwMode="auto">
            <a:xfrm>
              <a:off x="3742" y="3249"/>
              <a:ext cx="1452" cy="771"/>
            </a:xfrm>
            <a:prstGeom prst="ellipse">
              <a:avLst/>
            </a:prstGeom>
            <a:solidFill>
              <a:schemeClr val="bg1">
                <a:lumMod val="85000"/>
              </a:schemeClr>
            </a:solidFill>
            <a:ln w="12700">
              <a:solidFill>
                <a:srgbClr val="FF0000"/>
              </a:solidFill>
              <a:round/>
              <a:headEnd type="none" w="sm" len="sm"/>
              <a:tailEnd type="none" w="sm" len="sm"/>
            </a:ln>
            <a:effectLst/>
          </p:spPr>
          <p:txBody>
            <a:bodyPr wrap="none" anchor="ctr"/>
            <a:lstStyle/>
            <a:p>
              <a:pPr algn="ctr"/>
              <a:r>
                <a:rPr lang="zh-CN" altLang="en-US" dirty="0">
                  <a:solidFill>
                    <a:srgbClr val="FF0000"/>
                  </a:solidFill>
                </a:rPr>
                <a:t>至此，我们得到</a:t>
              </a:r>
            </a:p>
            <a:p>
              <a:pPr algn="ctr"/>
              <a:r>
                <a:rPr lang="zh-CN" altLang="en-US" dirty="0">
                  <a:solidFill>
                    <a:srgbClr val="FF0000"/>
                  </a:solidFill>
                </a:rPr>
                <a:t>了用户名和密码</a:t>
              </a:r>
            </a:p>
          </p:txBody>
        </p:sp>
        <p:sp>
          <p:nvSpPr>
            <p:cNvPr id="28679" name="Line 7"/>
            <p:cNvSpPr>
              <a:spLocks noChangeShapeType="1"/>
            </p:cNvSpPr>
            <p:nvPr/>
          </p:nvSpPr>
          <p:spPr bwMode="auto">
            <a:xfrm>
              <a:off x="1716" y="3463"/>
              <a:ext cx="1950" cy="227"/>
            </a:xfrm>
            <a:prstGeom prst="line">
              <a:avLst/>
            </a:prstGeom>
            <a:noFill/>
            <a:ln w="12700">
              <a:solidFill>
                <a:srgbClr val="FF0000"/>
              </a:solidFill>
              <a:round/>
              <a:headEnd type="none" w="sm" len="sm"/>
              <a:tailEnd type="triangle" w="sm" len="sm"/>
            </a:ln>
            <a:effec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22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22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22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22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227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227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uiExpand="1" build="p"/>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ChangeArrowheads="1"/>
          </p:cNvSpPr>
          <p:nvPr>
            <p:ph type="title"/>
          </p:nvPr>
        </p:nvSpPr>
        <p:spPr/>
        <p:txBody>
          <a:bodyPr/>
          <a:lstStyle/>
          <a:p>
            <a:pPr eaLnBrk="1" hangingPunct="1"/>
            <a:r>
              <a:rPr lang="zh-CN" altLang="en-US"/>
              <a:t>偷窥</a:t>
            </a:r>
          </a:p>
        </p:txBody>
      </p:sp>
      <p:sp>
        <p:nvSpPr>
          <p:cNvPr id="29702" name="Rectangle 3"/>
          <p:cNvSpPr>
            <a:spLocks noGrp="1" noChangeArrowheads="1"/>
          </p:cNvSpPr>
          <p:nvPr>
            <p:ph type="body" idx="1"/>
          </p:nvPr>
        </p:nvSpPr>
        <p:spPr>
          <a:xfrm>
            <a:off x="430213" y="1317625"/>
            <a:ext cx="8064500" cy="4949825"/>
          </a:xfrm>
        </p:spPr>
        <p:txBody>
          <a:bodyPr/>
          <a:lstStyle/>
          <a:p>
            <a:pPr eaLnBrk="1" hangingPunct="1">
              <a:lnSpc>
                <a:spcPts val="3000"/>
              </a:lnSpc>
              <a:spcBef>
                <a:spcPts val="0"/>
              </a:spcBef>
            </a:pPr>
            <a:r>
              <a:rPr lang="zh-CN" altLang="en-US" sz="2100" dirty="0"/>
              <a:t>得到口令的另一个简单而又可行的方法就是观察别人敲口令，这种办法就叫</a:t>
            </a:r>
            <a:r>
              <a:rPr lang="zh-CN" altLang="en-US" sz="2100" dirty="0">
                <a:solidFill>
                  <a:srgbClr val="FF0000"/>
                </a:solidFill>
              </a:rPr>
              <a:t>偷窥</a:t>
            </a:r>
            <a:r>
              <a:rPr lang="zh-CN" altLang="en-US" sz="2100" dirty="0"/>
              <a:t>。在开放的三维空间，这一点并不难。 有人曾经做过一个</a:t>
            </a:r>
            <a:r>
              <a:rPr lang="zh-CN" altLang="en-US" sz="2100" dirty="0">
                <a:latin typeface="Arial" panose="020B0604020202020204" pitchFamily="34" charset="0"/>
              </a:rPr>
              <a:t>“</a:t>
            </a:r>
            <a:r>
              <a:rPr lang="zh-CN" altLang="en-US" sz="2100" dirty="0"/>
              <a:t>偷窥</a:t>
            </a:r>
            <a:r>
              <a:rPr lang="zh-CN" altLang="en-US" sz="2100" dirty="0">
                <a:latin typeface="Arial" panose="020B0604020202020204" pitchFamily="34" charset="0"/>
              </a:rPr>
              <a:t>”</a:t>
            </a:r>
            <a:r>
              <a:rPr lang="zh-CN" altLang="en-US" sz="2100" dirty="0"/>
              <a:t>的实验：在一个纽约的冬天，他在一个公司后门的入口处停下汽车，当他从汽车里出来的时候身穿长大衣，提着一个似乎很重的箱子，跟在一个正要进入大楼的人的身后。询问那个人是否可以帮他把大门打开，而那个人也照做了，而且并没有询问他是否有徽章，第一步成功，成功地进入了建筑楼内；然后他找到了管理员的工作间，因为他想得到管理员的权限，通过桌子上的一份文件，他得到了管理员的名字，当管理员进来以后，他谎称他们公司正在做一个测试，给管理员电子邮件，想知道他是否有收到。当管理员登陆系统的过程中，他就站在管理员的身后，并成功地偷窥到了管理员的口令，也就偷窥到了系统的管理员权限。 </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ChangeArrowheads="1"/>
          </p:cNvSpPr>
          <p:nvPr>
            <p:ph type="title"/>
          </p:nvPr>
        </p:nvSpPr>
        <p:spPr/>
        <p:txBody>
          <a:bodyPr/>
          <a:lstStyle/>
          <a:p>
            <a:pPr eaLnBrk="1" hangingPunct="1"/>
            <a:r>
              <a:rPr lang="zh-CN" altLang="en-US"/>
              <a:t>搜索垃圾箱</a:t>
            </a:r>
          </a:p>
        </p:txBody>
      </p:sp>
      <p:sp>
        <p:nvSpPr>
          <p:cNvPr id="30726" name="Rectangle 3"/>
          <p:cNvSpPr>
            <a:spLocks noGrp="1" noChangeArrowheads="1"/>
          </p:cNvSpPr>
          <p:nvPr>
            <p:ph type="body" idx="1"/>
          </p:nvPr>
        </p:nvSpPr>
        <p:spPr>
          <a:xfrm>
            <a:off x="620713" y="1373188"/>
            <a:ext cx="7772400" cy="4722812"/>
          </a:xfrm>
        </p:spPr>
        <p:txBody>
          <a:bodyPr/>
          <a:lstStyle/>
          <a:p>
            <a:pPr eaLnBrk="1" hangingPunct="1">
              <a:lnSpc>
                <a:spcPct val="150000"/>
              </a:lnSpc>
              <a:spcBef>
                <a:spcPts val="0"/>
              </a:spcBef>
            </a:pPr>
            <a:r>
              <a:rPr lang="zh-CN" altLang="en-US" sz="2800" dirty="0"/>
              <a:t>有许多的人在丢弃垃圾的时候甚至不把电子邮件、文档、计划和口令撕成两半就丢弃了，更别说粉碎后再丢弃。</a:t>
            </a:r>
          </a:p>
          <a:p>
            <a:pPr eaLnBrk="1" hangingPunct="1">
              <a:lnSpc>
                <a:spcPct val="150000"/>
              </a:lnSpc>
              <a:spcBef>
                <a:spcPts val="0"/>
              </a:spcBef>
            </a:pPr>
            <a:r>
              <a:rPr lang="zh-CN" altLang="en-US" sz="2800" dirty="0"/>
              <a:t>而且许多公司的垃圾都是丢到一个垃圾箱里，大多数清洁工都是在晚上打扫办公室，如果凌晨</a:t>
            </a:r>
            <a:r>
              <a:rPr lang="en-US" altLang="zh-CN" sz="2800" dirty="0"/>
              <a:t>2</a:t>
            </a:r>
            <a:r>
              <a:rPr lang="zh-CN" altLang="en-US" sz="2800" dirty="0"/>
              <a:t>点到一些垃圾箱去找找，会很容易就找出一些相当有用的资料。 </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ChangeArrowheads="1"/>
          </p:cNvSpPr>
          <p:nvPr>
            <p:ph type="title"/>
          </p:nvPr>
        </p:nvSpPr>
        <p:spPr/>
        <p:txBody>
          <a:bodyPr/>
          <a:lstStyle/>
          <a:p>
            <a:pPr eaLnBrk="1" hangingPunct="1"/>
            <a:r>
              <a:rPr lang="zh-CN" altLang="en-US"/>
              <a:t>口令蠕虫</a:t>
            </a:r>
          </a:p>
        </p:txBody>
      </p:sp>
      <p:sp>
        <p:nvSpPr>
          <p:cNvPr id="31750" name="Rectangle 3"/>
          <p:cNvSpPr>
            <a:spLocks noGrp="1" noChangeArrowheads="1"/>
          </p:cNvSpPr>
          <p:nvPr>
            <p:ph type="body" idx="1"/>
          </p:nvPr>
        </p:nvSpPr>
        <p:spPr>
          <a:xfrm>
            <a:off x="449263" y="1454150"/>
            <a:ext cx="7848600" cy="4903787"/>
          </a:xfrm>
        </p:spPr>
        <p:txBody>
          <a:bodyPr/>
          <a:lstStyle/>
          <a:p>
            <a:pPr eaLnBrk="1" hangingPunct="1">
              <a:lnSpc>
                <a:spcPts val="3500"/>
              </a:lnSpc>
              <a:spcBef>
                <a:spcPts val="0"/>
              </a:spcBef>
            </a:pPr>
            <a:r>
              <a:rPr lang="en-US" altLang="zh-CN" sz="2600" dirty="0"/>
              <a:t>2003</a:t>
            </a:r>
            <a:r>
              <a:rPr lang="zh-CN" altLang="en-US" sz="2600" dirty="0"/>
              <a:t>年，</a:t>
            </a:r>
            <a:r>
              <a:rPr lang="zh-CN" altLang="en-US" sz="2600" dirty="0">
                <a:latin typeface="Arial" panose="020B0604020202020204" pitchFamily="34" charset="0"/>
              </a:rPr>
              <a:t>“</a:t>
            </a:r>
            <a:r>
              <a:rPr lang="zh-CN" altLang="en-US" sz="2600" dirty="0"/>
              <a:t>口令蠕虫</a:t>
            </a:r>
            <a:r>
              <a:rPr lang="zh-CN" altLang="en-US" sz="2600" dirty="0">
                <a:latin typeface="Arial" panose="020B0604020202020204" pitchFamily="34" charset="0"/>
              </a:rPr>
              <a:t>”</a:t>
            </a:r>
            <a:r>
              <a:rPr lang="zh-CN" altLang="en-US" sz="2600" dirty="0"/>
              <a:t>突袭我国互联网，它通过一个名为</a:t>
            </a:r>
            <a:r>
              <a:rPr lang="en-US" altLang="zh-CN" sz="2600" dirty="0"/>
              <a:t>dvldr32.exe</a:t>
            </a:r>
            <a:r>
              <a:rPr lang="zh-CN" altLang="en-US" sz="2600" dirty="0"/>
              <a:t>的可执行程序，实施发包进行网络感染操作。数以万计的国内服务器被感染并自动与境外服务器进行连接。</a:t>
            </a:r>
          </a:p>
          <a:p>
            <a:pPr eaLnBrk="1" hangingPunct="1">
              <a:lnSpc>
                <a:spcPts val="3500"/>
              </a:lnSpc>
              <a:spcBef>
                <a:spcPts val="0"/>
              </a:spcBef>
            </a:pPr>
            <a:r>
              <a:rPr lang="zh-CN" altLang="en-US" sz="2600" dirty="0"/>
              <a:t>该</a:t>
            </a:r>
            <a:r>
              <a:rPr lang="zh-CN" altLang="en-US" sz="2600" dirty="0">
                <a:latin typeface="Arial" panose="020B0604020202020204" pitchFamily="34" charset="0"/>
              </a:rPr>
              <a:t>“</a:t>
            </a:r>
            <a:r>
              <a:rPr lang="zh-CN" altLang="en-US" sz="2600" dirty="0"/>
              <a:t>口令蠕虫</a:t>
            </a:r>
            <a:r>
              <a:rPr lang="zh-CN" altLang="en-US" sz="2600" dirty="0">
                <a:latin typeface="Arial" panose="020B0604020202020204" pitchFamily="34" charset="0"/>
              </a:rPr>
              <a:t>”的</a:t>
            </a:r>
            <a:r>
              <a:rPr lang="zh-CN" altLang="en-US" sz="2600" dirty="0"/>
              <a:t>特点如下：</a:t>
            </a:r>
          </a:p>
          <a:p>
            <a:pPr lvl="1" eaLnBrk="1" hangingPunct="1">
              <a:lnSpc>
                <a:spcPts val="3500"/>
              </a:lnSpc>
              <a:spcBef>
                <a:spcPts val="0"/>
              </a:spcBef>
            </a:pPr>
            <a:r>
              <a:rPr lang="zh-CN" altLang="en-US" sz="2200" dirty="0"/>
              <a:t>自带一份口令字典，对网上主机超级用户口令进行基于字典的猜测。一旦猜测口令成功，该蠕虫植入</a:t>
            </a:r>
            <a:r>
              <a:rPr lang="en-US" altLang="zh-CN" sz="2200" dirty="0"/>
              <a:t>7</a:t>
            </a:r>
            <a:r>
              <a:rPr lang="zh-CN" altLang="en-US" sz="2200" dirty="0"/>
              <a:t>个与远程控制和传染相关的程序，立即主动向国外的几个特定服务器联系，并可被远程控制。</a:t>
            </a:r>
          </a:p>
          <a:p>
            <a:pPr lvl="1" eaLnBrk="1" hangingPunct="1">
              <a:lnSpc>
                <a:spcPts val="3500"/>
              </a:lnSpc>
              <a:spcBef>
                <a:spcPts val="0"/>
              </a:spcBef>
            </a:pPr>
            <a:r>
              <a:rPr lang="zh-CN" altLang="en-US" sz="2200" dirty="0"/>
              <a:t>可以实现大规模的自动化口令攻击，扫描流量极大，容易造成网络严重拥塞。 </a:t>
            </a:r>
          </a:p>
        </p:txBody>
      </p:sp>
      <p:pic>
        <p:nvPicPr>
          <p:cNvPr id="210949" name="Picture 5"/>
          <p:cNvPicPr>
            <a:picLocks noChangeAspect="1" noChangeArrowheads="1"/>
          </p:cNvPicPr>
          <p:nvPr/>
        </p:nvPicPr>
        <p:blipFill>
          <a:blip r:embed="rId3" cstate="print"/>
          <a:srcRect/>
          <a:stretch>
            <a:fillRect/>
          </a:stretch>
        </p:blipFill>
        <p:spPr bwMode="auto">
          <a:xfrm>
            <a:off x="7596188" y="144463"/>
            <a:ext cx="1331912" cy="13684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nodeType="withEffect">
                                  <p:stCondLst>
                                    <p:cond delay="0"/>
                                  </p:stCondLst>
                                  <p:childTnLst>
                                    <p:set>
                                      <p:cBhvr>
                                        <p:cTn id="6" dur="1" fill="hold">
                                          <p:stCondLst>
                                            <p:cond delay="0"/>
                                          </p:stCondLst>
                                        </p:cTn>
                                        <p:tgtEl>
                                          <p:spTgt spid="210949"/>
                                        </p:tgtEl>
                                        <p:attrNameLst>
                                          <p:attrName>style.visibility</p:attrName>
                                        </p:attrNameLst>
                                      </p:cBhvr>
                                      <p:to>
                                        <p:strVal val="visible"/>
                                      </p:to>
                                    </p:set>
                                    <p:animEffect transition="in" filter="fade">
                                      <p:cBhvr>
                                        <p:cTn id="7" dur="770" decel="100000"/>
                                        <p:tgtEl>
                                          <p:spTgt spid="210949"/>
                                        </p:tgtEl>
                                      </p:cBhvr>
                                    </p:animEffect>
                                    <p:animScale>
                                      <p:cBhvr>
                                        <p:cTn id="8" dur="770" decel="100000"/>
                                        <p:tgtEl>
                                          <p:spTgt spid="210949"/>
                                        </p:tgtEl>
                                      </p:cBhvr>
                                      <p:from x="10000" y="10000"/>
                                      <p:to x="200000" y="450000"/>
                                    </p:animScale>
                                    <p:animScale>
                                      <p:cBhvr>
                                        <p:cTn id="9" dur="1230" accel="100000" fill="hold">
                                          <p:stCondLst>
                                            <p:cond delay="770"/>
                                          </p:stCondLst>
                                        </p:cTn>
                                        <p:tgtEl>
                                          <p:spTgt spid="210949"/>
                                        </p:tgtEl>
                                      </p:cBhvr>
                                      <p:from x="200000" y="450000"/>
                                      <p:to x="100000" y="100000"/>
                                    </p:animScale>
                                    <p:set>
                                      <p:cBhvr>
                                        <p:cTn id="10" dur="770" fill="hold"/>
                                        <p:tgtEl>
                                          <p:spTgt spid="210949"/>
                                        </p:tgtEl>
                                        <p:attrNameLst>
                                          <p:attrName>ppt_x</p:attrName>
                                        </p:attrNameLst>
                                      </p:cBhvr>
                                      <p:to>
                                        <p:strVal val="(0.5)"/>
                                      </p:to>
                                    </p:set>
                                    <p:anim from="(0.5)" to="(#ppt_x)" calcmode="lin" valueType="num">
                                      <p:cBhvr>
                                        <p:cTn id="11" dur="1230" accel="100000" fill="hold">
                                          <p:stCondLst>
                                            <p:cond delay="770"/>
                                          </p:stCondLst>
                                        </p:cTn>
                                        <p:tgtEl>
                                          <p:spTgt spid="210949"/>
                                        </p:tgtEl>
                                        <p:attrNameLst>
                                          <p:attrName>ppt_x</p:attrName>
                                        </p:attrNameLst>
                                      </p:cBhvr>
                                    </p:anim>
                                    <p:set>
                                      <p:cBhvr>
                                        <p:cTn id="12" dur="770" fill="hold"/>
                                        <p:tgtEl>
                                          <p:spTgt spid="210949"/>
                                        </p:tgtEl>
                                        <p:attrNameLst>
                                          <p:attrName>ppt_y</p:attrName>
                                        </p:attrNameLst>
                                      </p:cBhvr>
                                      <p:to>
                                        <p:strVal val="(#ppt_y+0.4)"/>
                                      </p:to>
                                    </p:set>
                                    <p:anim from="(#ppt_y+0.4)" to="(#ppt_y)" calcmode="lin" valueType="num">
                                      <p:cBhvr>
                                        <p:cTn id="13" dur="1230" accel="100000" fill="hold">
                                          <p:stCondLst>
                                            <p:cond delay="770"/>
                                          </p:stCondLst>
                                        </p:cTn>
                                        <p:tgtEl>
                                          <p:spTgt spid="210949"/>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Grp="1" noChangeArrowheads="1"/>
          </p:cNvSpPr>
          <p:nvPr>
            <p:ph type="title"/>
          </p:nvPr>
        </p:nvSpPr>
        <p:spPr/>
        <p:txBody>
          <a:bodyPr/>
          <a:lstStyle/>
          <a:p>
            <a:pPr eaLnBrk="1" hangingPunct="1"/>
            <a:r>
              <a:rPr lang="zh-CN" altLang="en-US"/>
              <a:t>口令蠕虫（</a:t>
            </a:r>
            <a:r>
              <a:rPr lang="en-US" altLang="zh-CN"/>
              <a:t>2</a:t>
            </a:r>
            <a:r>
              <a:rPr lang="zh-CN" altLang="en-US"/>
              <a:t>）</a:t>
            </a:r>
          </a:p>
        </p:txBody>
      </p:sp>
      <p:sp>
        <p:nvSpPr>
          <p:cNvPr id="32774" name="Rectangle 3"/>
          <p:cNvSpPr>
            <a:spLocks noGrp="1" noChangeArrowheads="1"/>
          </p:cNvSpPr>
          <p:nvPr>
            <p:ph type="body" idx="1"/>
          </p:nvPr>
        </p:nvSpPr>
        <p:spPr>
          <a:xfrm>
            <a:off x="601663" y="1392238"/>
            <a:ext cx="7772400" cy="4684712"/>
          </a:xfrm>
        </p:spPr>
        <p:txBody>
          <a:bodyPr/>
          <a:lstStyle/>
          <a:p>
            <a:pPr eaLnBrk="1" hangingPunct="1">
              <a:lnSpc>
                <a:spcPct val="150000"/>
              </a:lnSpc>
              <a:spcBef>
                <a:spcPts val="0"/>
              </a:spcBef>
            </a:pPr>
            <a:r>
              <a:rPr lang="zh-CN" altLang="en-US" sz="2800" dirty="0"/>
              <a:t>口令攻击是常见的黑客攻击方式，但像</a:t>
            </a:r>
            <a:r>
              <a:rPr lang="zh-CN" altLang="en-US" sz="2800" dirty="0">
                <a:latin typeface="Arial" panose="020B0604020202020204" pitchFamily="34" charset="0"/>
              </a:rPr>
              <a:t>“</a:t>
            </a:r>
            <a:r>
              <a:rPr lang="zh-CN" altLang="en-US" sz="2800" dirty="0"/>
              <a:t>口令蠕虫</a:t>
            </a:r>
            <a:r>
              <a:rPr lang="zh-CN" altLang="en-US" sz="2800" dirty="0">
                <a:latin typeface="Arial" panose="020B0604020202020204" pitchFamily="34" charset="0"/>
              </a:rPr>
              <a:t>”</a:t>
            </a:r>
            <a:r>
              <a:rPr lang="zh-CN" altLang="en-US" sz="2800" dirty="0"/>
              <a:t>这样形成大面积、大规模自动化的网上口令攻击，并致使被攻击系统与国外特定服务器进行连接，是一种新的网络攻击方式。</a:t>
            </a:r>
          </a:p>
          <a:p>
            <a:pPr eaLnBrk="1" hangingPunct="1">
              <a:lnSpc>
                <a:spcPct val="150000"/>
              </a:lnSpc>
              <a:spcBef>
                <a:spcPts val="0"/>
              </a:spcBef>
            </a:pPr>
            <a:r>
              <a:rPr lang="zh-CN" altLang="en-US" sz="2800" dirty="0"/>
              <a:t>与以往利用操作系统或应用系统的技术漏洞进行攻击不同的是，</a:t>
            </a:r>
            <a:r>
              <a:rPr lang="zh-CN" altLang="en-US" sz="2800" dirty="0">
                <a:latin typeface="Arial" panose="020B0604020202020204" pitchFamily="34" charset="0"/>
              </a:rPr>
              <a:t>“</a:t>
            </a:r>
            <a:r>
              <a:rPr lang="zh-CN" altLang="en-US" sz="2800" dirty="0"/>
              <a:t>口令蠕虫</a:t>
            </a:r>
            <a:r>
              <a:rPr lang="zh-CN" altLang="en-US" sz="2800" dirty="0">
                <a:latin typeface="Arial" panose="020B0604020202020204" pitchFamily="34" charset="0"/>
              </a:rPr>
              <a:t>”</a:t>
            </a:r>
            <a:r>
              <a:rPr lang="zh-CN" altLang="en-US" sz="2800" dirty="0"/>
              <a:t>所利用的是网上用户对口令等管理的弱点进行攻击。</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ChangeArrowheads="1"/>
          </p:cNvSpPr>
          <p:nvPr>
            <p:ph type="title"/>
          </p:nvPr>
        </p:nvSpPr>
        <p:spPr/>
        <p:txBody>
          <a:bodyPr/>
          <a:lstStyle/>
          <a:p>
            <a:pPr eaLnBrk="1" hangingPunct="1"/>
            <a:r>
              <a:rPr lang="zh-CN" altLang="en-US"/>
              <a:t>特洛伊木马</a:t>
            </a:r>
          </a:p>
        </p:txBody>
      </p:sp>
      <p:sp>
        <p:nvSpPr>
          <p:cNvPr id="33798" name="Rectangle 4"/>
          <p:cNvSpPr>
            <a:spLocks noGrp="1" noChangeArrowheads="1"/>
          </p:cNvSpPr>
          <p:nvPr>
            <p:ph type="body" idx="1"/>
          </p:nvPr>
        </p:nvSpPr>
        <p:spPr/>
        <p:txBody>
          <a:bodyPr/>
          <a:lstStyle/>
          <a:p>
            <a:pPr eaLnBrk="1" hangingPunct="1">
              <a:lnSpc>
                <a:spcPct val="150000"/>
              </a:lnSpc>
              <a:spcBef>
                <a:spcPts val="0"/>
              </a:spcBef>
            </a:pPr>
            <a:r>
              <a:rPr lang="zh-CN" altLang="en-US" dirty="0"/>
              <a:t>木马可以任意地窥视你整个硬盘中的内容，监听键盘敲击行为等，从而悄无声息地盗走用户的口令。</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ChangeArrowheads="1"/>
          </p:cNvSpPr>
          <p:nvPr>
            <p:ph type="title"/>
          </p:nvPr>
        </p:nvSpPr>
        <p:spPr/>
        <p:txBody>
          <a:bodyPr/>
          <a:lstStyle/>
          <a:p>
            <a:pPr eaLnBrk="1" hangingPunct="1"/>
            <a:r>
              <a:rPr lang="zh-CN" altLang="en-US"/>
              <a:t>网络监听</a:t>
            </a:r>
          </a:p>
        </p:txBody>
      </p:sp>
      <p:sp>
        <p:nvSpPr>
          <p:cNvPr id="34822" name="Rectangle 3"/>
          <p:cNvSpPr>
            <a:spLocks noGrp="1" noChangeArrowheads="1"/>
          </p:cNvSpPr>
          <p:nvPr>
            <p:ph type="body" idx="1"/>
          </p:nvPr>
        </p:nvSpPr>
        <p:spPr>
          <a:xfrm>
            <a:off x="563563" y="1363662"/>
            <a:ext cx="7772400" cy="4751387"/>
          </a:xfrm>
        </p:spPr>
        <p:txBody>
          <a:bodyPr/>
          <a:lstStyle/>
          <a:p>
            <a:pPr eaLnBrk="1" hangingPunct="1">
              <a:lnSpc>
                <a:spcPts val="4400"/>
              </a:lnSpc>
              <a:spcBef>
                <a:spcPts val="0"/>
              </a:spcBef>
            </a:pPr>
            <a:r>
              <a:rPr lang="zh-CN" altLang="en-US" sz="2800" dirty="0"/>
              <a:t>如果口令在网络上明文传输，那么很容易通过网络监听来得到网络上传输的口令。</a:t>
            </a:r>
          </a:p>
          <a:p>
            <a:pPr lvl="1" eaLnBrk="1" hangingPunct="1">
              <a:lnSpc>
                <a:spcPts val="4400"/>
              </a:lnSpc>
              <a:spcBef>
                <a:spcPts val="0"/>
              </a:spcBef>
            </a:pPr>
            <a:r>
              <a:rPr lang="zh-CN" altLang="en-US" dirty="0"/>
              <a:t>如果是在共享是局域网内，用普通的</a:t>
            </a:r>
            <a:r>
              <a:rPr lang="en-US" altLang="zh-CN" dirty="0"/>
              <a:t>Sniffer</a:t>
            </a:r>
            <a:r>
              <a:rPr lang="zh-CN" altLang="en-US" dirty="0"/>
              <a:t>工具就可以嗅探到整个局域网内的数据包。</a:t>
            </a:r>
          </a:p>
          <a:p>
            <a:pPr lvl="1" eaLnBrk="1" hangingPunct="1">
              <a:lnSpc>
                <a:spcPts val="4400"/>
              </a:lnSpc>
              <a:spcBef>
                <a:spcPts val="0"/>
              </a:spcBef>
            </a:pPr>
            <a:r>
              <a:rPr lang="zh-CN" altLang="en-US" dirty="0"/>
              <a:t>如果是在交换式局域网中，可以用</a:t>
            </a:r>
            <a:r>
              <a:rPr lang="en-US" altLang="zh-CN" dirty="0"/>
              <a:t>ARP</a:t>
            </a:r>
            <a:r>
              <a:rPr lang="zh-CN" altLang="en-US" dirty="0"/>
              <a:t>欺骗来监听整个局域网内的数据。</a:t>
            </a:r>
          </a:p>
          <a:p>
            <a:pPr lvl="1" eaLnBrk="1" hangingPunct="1">
              <a:lnSpc>
                <a:spcPts val="4400"/>
              </a:lnSpc>
              <a:spcBef>
                <a:spcPts val="0"/>
              </a:spcBef>
            </a:pPr>
            <a:r>
              <a:rPr lang="zh-CN" altLang="en-US" dirty="0"/>
              <a:t>还可以在网关或者路由器上安装监听软件，从而监听通过网关或者路由器的所有数据包。</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4822">
                                            <p:txEl>
                                              <p:pRg st="0" end="0"/>
                                            </p:txEl>
                                          </p:spTgt>
                                        </p:tgtEl>
                                        <p:attrNameLst>
                                          <p:attrName>style.visibility</p:attrName>
                                        </p:attrNameLst>
                                      </p:cBhvr>
                                      <p:to>
                                        <p:strVal val="visible"/>
                                      </p:to>
                                    </p:set>
                                    <p:animEffect transition="in" filter="blinds(horizontal)">
                                      <p:cBhvr>
                                        <p:cTn id="7" dur="500"/>
                                        <p:tgtEl>
                                          <p:spTgt spid="348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822">
                                            <p:txEl>
                                              <p:pRg st="1" end="1"/>
                                            </p:txEl>
                                          </p:spTgt>
                                        </p:tgtEl>
                                        <p:attrNameLst>
                                          <p:attrName>style.visibility</p:attrName>
                                        </p:attrNameLst>
                                      </p:cBhvr>
                                      <p:to>
                                        <p:strVal val="visible"/>
                                      </p:to>
                                    </p:set>
                                    <p:animEffect transition="in" filter="blinds(horizontal)">
                                      <p:cBhvr>
                                        <p:cTn id="12" dur="500"/>
                                        <p:tgtEl>
                                          <p:spTgt spid="348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4822">
                                            <p:txEl>
                                              <p:pRg st="2" end="2"/>
                                            </p:txEl>
                                          </p:spTgt>
                                        </p:tgtEl>
                                        <p:attrNameLst>
                                          <p:attrName>style.visibility</p:attrName>
                                        </p:attrNameLst>
                                      </p:cBhvr>
                                      <p:to>
                                        <p:strVal val="visible"/>
                                      </p:to>
                                    </p:set>
                                    <p:animEffect transition="in" filter="blinds(horizontal)">
                                      <p:cBhvr>
                                        <p:cTn id="17" dur="500"/>
                                        <p:tgtEl>
                                          <p:spTgt spid="348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822">
                                            <p:txEl>
                                              <p:pRg st="3" end="3"/>
                                            </p:txEl>
                                          </p:spTgt>
                                        </p:tgtEl>
                                        <p:attrNameLst>
                                          <p:attrName>style.visibility</p:attrName>
                                        </p:attrNameLst>
                                      </p:cBhvr>
                                      <p:to>
                                        <p:strVal val="visible"/>
                                      </p:to>
                                    </p:set>
                                    <p:animEffect transition="in" filter="blinds(horizontal)">
                                      <p:cBhvr>
                                        <p:cTn id="22" dur="500"/>
                                        <p:tgtEl>
                                          <p:spTgt spid="348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 grpId="0" uiExpand="1" build="p"/>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r>
              <a:rPr lang="zh-CN" altLang="en-US" dirty="0"/>
              <a:t>口令监听：工具</a:t>
            </a:r>
          </a:p>
        </p:txBody>
      </p:sp>
      <p:pic>
        <p:nvPicPr>
          <p:cNvPr id="488451" name="Picture 3" descr="snap"/>
          <p:cNvPicPr>
            <a:picLocks noChangeAspect="1" noChangeArrowheads="1"/>
          </p:cNvPicPr>
          <p:nvPr/>
        </p:nvPicPr>
        <p:blipFill>
          <a:blip r:embed="rId3" cstate="print"/>
          <a:srcRect/>
          <a:stretch>
            <a:fillRect/>
          </a:stretch>
        </p:blipFill>
        <p:spPr bwMode="auto">
          <a:xfrm>
            <a:off x="142875" y="1300163"/>
            <a:ext cx="8893175" cy="5338762"/>
          </a:xfrm>
          <a:prstGeom prst="rect">
            <a:avLst/>
          </a:prstGeom>
          <a:noFill/>
        </p:spPr>
      </p:pic>
      <p:sp>
        <p:nvSpPr>
          <p:cNvPr id="488452" name="AutoShape 4"/>
          <p:cNvSpPr/>
          <p:nvPr/>
        </p:nvSpPr>
        <p:spPr bwMode="auto">
          <a:xfrm>
            <a:off x="2700338" y="2997200"/>
            <a:ext cx="2663825" cy="719138"/>
          </a:xfrm>
          <a:prstGeom prst="borderCallout1">
            <a:avLst>
              <a:gd name="adj1" fmla="val 15894"/>
              <a:gd name="adj2" fmla="val -2861"/>
              <a:gd name="adj3" fmla="val 128037"/>
              <a:gd name="adj4" fmla="val -38500"/>
            </a:avLst>
          </a:prstGeom>
          <a:solidFill>
            <a:srgbClr val="CCFFFF"/>
          </a:solidFill>
          <a:ln w="9525">
            <a:solidFill>
              <a:srgbClr val="000000"/>
            </a:solidFill>
            <a:miter lim="800000"/>
          </a:ln>
          <a:effectLst/>
        </p:spPr>
        <p:txBody>
          <a:bodyPr anchor="ctr"/>
          <a:lstStyle/>
          <a:p>
            <a:pPr algn="ctr"/>
            <a:r>
              <a:rPr lang="zh-CN" altLang="en-US" b="1">
                <a:solidFill>
                  <a:srgbClr val="000000"/>
                </a:solidFill>
                <a:ea typeface="黑体" panose="02010609060101010101" pitchFamily="49" charset="-122"/>
              </a:rPr>
              <a:t>能够监听的口令类型</a:t>
            </a:r>
            <a:endParaRPr lang="en-US" altLang="zh-CN" b="1">
              <a:solidFill>
                <a:srgbClr val="00000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88452"/>
                                        </p:tgtEl>
                                        <p:attrNameLst>
                                          <p:attrName>style.visibility</p:attrName>
                                        </p:attrNameLst>
                                      </p:cBhvr>
                                      <p:to>
                                        <p:strVal val="visible"/>
                                      </p:to>
                                    </p:set>
                                    <p:animEffect transition="in" filter="slide(fromLeft)">
                                      <p:cBhvr>
                                        <p:cTn id="7" dur="500"/>
                                        <p:tgtEl>
                                          <p:spTgt spid="488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2" grpId="0" animBg="1"/>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ChangeArrowheads="1"/>
          </p:cNvSpPr>
          <p:nvPr>
            <p:ph type="title"/>
          </p:nvPr>
        </p:nvSpPr>
        <p:spPr/>
        <p:txBody>
          <a:bodyPr/>
          <a:lstStyle/>
          <a:p>
            <a:pPr eaLnBrk="1" hangingPunct="1"/>
            <a:r>
              <a:rPr lang="zh-CN" altLang="en-US"/>
              <a:t>重放</a:t>
            </a:r>
          </a:p>
        </p:txBody>
      </p:sp>
      <p:sp>
        <p:nvSpPr>
          <p:cNvPr id="35846" name="Rectangle 3"/>
          <p:cNvSpPr>
            <a:spLocks noGrp="1" noChangeArrowheads="1"/>
          </p:cNvSpPr>
          <p:nvPr>
            <p:ph type="body" idx="1"/>
          </p:nvPr>
        </p:nvSpPr>
        <p:spPr/>
        <p:txBody>
          <a:bodyPr/>
          <a:lstStyle/>
          <a:p>
            <a:pPr eaLnBrk="1" hangingPunct="1">
              <a:lnSpc>
                <a:spcPct val="150000"/>
              </a:lnSpc>
              <a:spcBef>
                <a:spcPts val="0"/>
              </a:spcBef>
            </a:pPr>
            <a:r>
              <a:rPr lang="zh-CN" altLang="en-US" dirty="0"/>
              <a:t>为了防止传输过程中口令被监听，系统可能会对口令进行加密，黑客即使监听到了口令密文，也无法知道口令明文。</a:t>
            </a:r>
          </a:p>
          <a:p>
            <a:pPr eaLnBrk="1" hangingPunct="1">
              <a:lnSpc>
                <a:spcPct val="150000"/>
              </a:lnSpc>
              <a:spcBef>
                <a:spcPts val="0"/>
              </a:spcBef>
            </a:pPr>
            <a:r>
              <a:rPr lang="zh-CN" altLang="en-US" dirty="0"/>
              <a:t>但是黑客可以把截取到的认证信息重放，从而完成用户登陆。</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看输入动作识别口令！</a:t>
            </a:r>
          </a:p>
        </p:txBody>
      </p:sp>
      <p:sp>
        <p:nvSpPr>
          <p:cNvPr id="3" name="标题 2"/>
          <p:cNvSpPr>
            <a:spLocks noGrp="1"/>
          </p:cNvSpPr>
          <p:nvPr>
            <p:ph type="title"/>
          </p:nvPr>
        </p:nvSpPr>
        <p:spPr/>
        <p:txBody>
          <a:bodyPr/>
          <a:lstStyle/>
          <a:p>
            <a:r>
              <a:rPr lang="zh-CN" altLang="en-US" dirty="0"/>
              <a:t>东大：凌振</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kyNzU5YmZhNjU4MzM5ZTNjNzVhNGQwZGQwZWI1YzYifQ=="/>
</p:tagLst>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TotalTime>
  <Words>12346</Words>
  <Application>Microsoft Office PowerPoint</Application>
  <PresentationFormat>全屏显示(4:3)</PresentationFormat>
  <Paragraphs>848</Paragraphs>
  <Slides>199</Slides>
  <Notes>93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199</vt:i4>
      </vt:variant>
    </vt:vector>
  </HeadingPairs>
  <TitlesOfParts>
    <vt:vector size="212" baseType="lpstr">
      <vt:lpstr>黑体</vt:lpstr>
      <vt:lpstr>华文宋体</vt:lpstr>
      <vt:lpstr>楷体_GB2312</vt:lpstr>
      <vt:lpstr>隶书</vt:lpstr>
      <vt:lpstr>宋体</vt:lpstr>
      <vt:lpstr>Arial</vt:lpstr>
      <vt:lpstr>Calibri</vt:lpstr>
      <vt:lpstr>Tahoma</vt:lpstr>
      <vt:lpstr>Times New Roman</vt:lpstr>
      <vt:lpstr>Wingdings</vt:lpstr>
      <vt:lpstr>1_Blends</vt:lpstr>
      <vt:lpstr>Visio</vt:lpstr>
      <vt:lpstr>Unknown</vt:lpstr>
      <vt:lpstr>第 八 章   身份认证与口令攻击</vt:lpstr>
      <vt:lpstr>内容提纲</vt:lpstr>
      <vt:lpstr>身份认证</vt:lpstr>
      <vt:lpstr>身份认证</vt:lpstr>
      <vt:lpstr>身份认证</vt:lpstr>
      <vt:lpstr>汪定2015：口令认证</vt:lpstr>
      <vt:lpstr>汪定2015：口令认证</vt:lpstr>
      <vt:lpstr>汪定2015：口令认证</vt:lpstr>
      <vt:lpstr>汪定2015：口令认证</vt:lpstr>
      <vt:lpstr>汪定2015：口令认证</vt:lpstr>
      <vt:lpstr>一、口令认证</vt:lpstr>
      <vt:lpstr>静态口令</vt:lpstr>
      <vt:lpstr>动态口令</vt:lpstr>
      <vt:lpstr>动态口令分类</vt:lpstr>
      <vt:lpstr>动态口令认证过程</vt:lpstr>
      <vt:lpstr>图形口令</vt:lpstr>
      <vt:lpstr>图形口令</vt:lpstr>
      <vt:lpstr>图形口令</vt:lpstr>
      <vt:lpstr>二、密码学认证</vt:lpstr>
      <vt:lpstr>密码学认证</vt:lpstr>
      <vt:lpstr>PowerPoint 演示文稿</vt:lpstr>
      <vt:lpstr>一次性口令认证</vt:lpstr>
      <vt:lpstr>动态口令认证过程</vt:lpstr>
      <vt:lpstr>S/KEY</vt:lpstr>
      <vt:lpstr>S/KEY</vt:lpstr>
      <vt:lpstr>S/KEY</vt:lpstr>
      <vt:lpstr>S/KEY</vt:lpstr>
      <vt:lpstr>S/KEY</vt:lpstr>
      <vt:lpstr>S/KEY</vt:lpstr>
      <vt:lpstr>S/KEY</vt:lpstr>
      <vt:lpstr>S/KEY</vt:lpstr>
      <vt:lpstr>改进的S/KEY</vt:lpstr>
      <vt:lpstr>改进的S/KEY</vt:lpstr>
      <vt:lpstr>改进的S/KEY</vt:lpstr>
      <vt:lpstr>改进的S/KEY</vt:lpstr>
      <vt:lpstr>改进的S/KEY协议</vt:lpstr>
      <vt:lpstr>改进的S/KEY协议</vt:lpstr>
      <vt:lpstr>PowerPoint 演示文稿</vt:lpstr>
      <vt:lpstr>Needham-Schroeder双向鉴别协议</vt:lpstr>
      <vt:lpstr>Needham-Schroeder双向鉴别协议</vt:lpstr>
      <vt:lpstr>Needham-Schroeder双向鉴别协议</vt:lpstr>
      <vt:lpstr>内容提纲</vt:lpstr>
      <vt:lpstr>口令规律</vt:lpstr>
      <vt:lpstr>口令规律</vt:lpstr>
      <vt:lpstr>脆弱口令行为</vt:lpstr>
      <vt:lpstr>脆弱口令行为</vt:lpstr>
      <vt:lpstr>脆弱口令行为</vt:lpstr>
      <vt:lpstr>脆弱口令行为</vt:lpstr>
      <vt:lpstr>脆弱口令行为</vt:lpstr>
      <vt:lpstr>脆弱口令行为</vt:lpstr>
      <vt:lpstr>脆弱口令行为</vt:lpstr>
      <vt:lpstr>脆弱口令行为</vt:lpstr>
      <vt:lpstr>脆弱口令行为</vt:lpstr>
      <vt:lpstr>脆弱口令行为</vt:lpstr>
      <vt:lpstr>脆弱口令行为</vt:lpstr>
      <vt:lpstr>脆弱口令行为</vt:lpstr>
      <vt:lpstr>韩伟力2016：中国人口令特点</vt:lpstr>
      <vt:lpstr>韩伟力2016：中国人口令特点</vt:lpstr>
      <vt:lpstr>韩伟力2016：中国人口令特点</vt:lpstr>
      <vt:lpstr>韩伟力2016：中国人口令特点</vt:lpstr>
      <vt:lpstr>汪定2015：中国用户口令特征</vt:lpstr>
      <vt:lpstr>汪定2015：中国用户口令特征</vt:lpstr>
      <vt:lpstr>汪定2015：中国用户口令特征</vt:lpstr>
      <vt:lpstr>汪定2015：中国用户口令特征</vt:lpstr>
      <vt:lpstr>汪定2015：中国用户口令特征</vt:lpstr>
      <vt:lpstr>口令猜测</vt:lpstr>
      <vt:lpstr>口令猜测</vt:lpstr>
      <vt:lpstr>口令猜测</vt:lpstr>
      <vt:lpstr>口令猜测</vt:lpstr>
      <vt:lpstr>口令猜测</vt:lpstr>
      <vt:lpstr>口令猜测</vt:lpstr>
      <vt:lpstr>口令猜测</vt:lpstr>
      <vt:lpstr>口令猜测</vt:lpstr>
      <vt:lpstr>口令猜测</vt:lpstr>
      <vt:lpstr>韩伟力：说说口令安全这件事</vt:lpstr>
      <vt:lpstr>韩伟力：说说口令安全这件事</vt:lpstr>
      <vt:lpstr>韩伟力：说说口令安全这件事</vt:lpstr>
      <vt:lpstr>韩伟力：说说口令安全这件事</vt:lpstr>
      <vt:lpstr>LastPass发布的口令心理学</vt:lpstr>
      <vt:lpstr>LastPass发布的口令心理学</vt:lpstr>
      <vt:lpstr>LastPass发布的口令心理学</vt:lpstr>
      <vt:lpstr>LastPass发布的口令心理学</vt:lpstr>
      <vt:lpstr>LastPass发布的口令心理学</vt:lpstr>
      <vt:lpstr>LastPass发布的口令心理学</vt:lpstr>
      <vt:lpstr>PowerPoint 演示文稿</vt:lpstr>
      <vt:lpstr>内容提纲</vt:lpstr>
      <vt:lpstr>PowerPoint 演示文稿</vt:lpstr>
      <vt:lpstr>（一）Windows密码破解</vt:lpstr>
      <vt:lpstr>Windows密码：安全策略</vt:lpstr>
      <vt:lpstr>Windows密码： SAM文件</vt:lpstr>
      <vt:lpstr>Windows密码： SAM密码表示</vt:lpstr>
      <vt:lpstr>Windows的口令文件</vt:lpstr>
      <vt:lpstr>Windows的口令文件(2)</vt:lpstr>
      <vt:lpstr>Windows的口令文件(3)</vt:lpstr>
      <vt:lpstr>Windows的口令文件(4)</vt:lpstr>
      <vt:lpstr>Windows的口令文件(5)</vt:lpstr>
      <vt:lpstr>Windows的口令文件(6)</vt:lpstr>
      <vt:lpstr>Windows的口令文件(7)</vt:lpstr>
      <vt:lpstr>Windows NT, 2000口令攻击</vt:lpstr>
      <vt:lpstr>Windows XP, 2003口令攻击</vt:lpstr>
      <vt:lpstr>Windows XP, 2003口令攻击（2）</vt:lpstr>
      <vt:lpstr>提取SAM文件进行破解</vt:lpstr>
      <vt:lpstr>用备份的SAM文件替换当前SAM文件</vt:lpstr>
      <vt:lpstr>使用口令修改软件</vt:lpstr>
      <vt:lpstr>使用口令修改软件（2）</vt:lpstr>
      <vt:lpstr>替换屏保程序</vt:lpstr>
      <vt:lpstr>替换屏保程序（2）</vt:lpstr>
      <vt:lpstr>工具使用：暴力破解+字典</vt:lpstr>
      <vt:lpstr>工具使用：暴力破解+字典</vt:lpstr>
      <vt:lpstr>系统口令破解软件</vt:lpstr>
      <vt:lpstr>（一）Cain：导入口令文件 </vt:lpstr>
      <vt:lpstr>（一）Cain：导入口令文件</vt:lpstr>
      <vt:lpstr>（一）Cain：口令破解</vt:lpstr>
      <vt:lpstr>（二）Pwdump4：获取SAM</vt:lpstr>
      <vt:lpstr>（二）Pwdump4：使用方法</vt:lpstr>
      <vt:lpstr>（三）LC5：导入密码表示</vt:lpstr>
      <vt:lpstr>（三）LC5：密码破解</vt:lpstr>
      <vt:lpstr>（二）Unix密码破解</vt:lpstr>
      <vt:lpstr>Unix/Linux系统口令文件</vt:lpstr>
      <vt:lpstr>Unix的口令文件</vt:lpstr>
      <vt:lpstr>Unix的口令文件</vt:lpstr>
      <vt:lpstr>Unix口令破解程序</vt:lpstr>
      <vt:lpstr>Crack</vt:lpstr>
      <vt:lpstr>Crack工具介绍</vt:lpstr>
      <vt:lpstr>Crack工具介绍(2)</vt:lpstr>
      <vt:lpstr>John The Ripper</vt:lpstr>
      <vt:lpstr>John The Ripper</vt:lpstr>
      <vt:lpstr>John The Ripper(2)</vt:lpstr>
      <vt:lpstr>“字典文件”破解模式</vt:lpstr>
      <vt:lpstr>“简单”破解模式</vt:lpstr>
      <vt:lpstr>“增强”破解模式</vt:lpstr>
      <vt:lpstr>“外挂模块”破解模式</vt:lpstr>
      <vt:lpstr>XIT</vt:lpstr>
      <vt:lpstr>Slurpie</vt:lpstr>
      <vt:lpstr>PowerPoint 演示文稿</vt:lpstr>
      <vt:lpstr>cmd5</vt:lpstr>
      <vt:lpstr>MD5Crack</vt:lpstr>
      <vt:lpstr>Bulk SHA1</vt:lpstr>
      <vt:lpstr>PowerPoint 演示文稿</vt:lpstr>
      <vt:lpstr>网络应用口令</vt:lpstr>
      <vt:lpstr>各种网络服务/应用的口令破解 </vt:lpstr>
      <vt:lpstr>Brutus</vt:lpstr>
      <vt:lpstr>远程口令攻击</vt:lpstr>
      <vt:lpstr>远程口令攻击（2）</vt:lpstr>
      <vt:lpstr>跨域拓展攻击</vt:lpstr>
      <vt:lpstr>跨域拓展攻击</vt:lpstr>
      <vt:lpstr>RDP口令</vt:lpstr>
      <vt:lpstr>RDP口令</vt:lpstr>
      <vt:lpstr>弱口令admin</vt:lpstr>
      <vt:lpstr>内容提要</vt:lpstr>
      <vt:lpstr>（一）强壮的密码策略</vt:lpstr>
      <vt:lpstr>（二）用户意识</vt:lpstr>
      <vt:lpstr>（三）密码过滤软件</vt:lpstr>
      <vt:lpstr>（四）保护密码文件</vt:lpstr>
      <vt:lpstr>（五）分组分类</vt:lpstr>
      <vt:lpstr>（六）其它</vt:lpstr>
      <vt:lpstr>PowerPoint 演示文稿</vt:lpstr>
      <vt:lpstr>本章小结</vt:lpstr>
      <vt:lpstr>讨论</vt:lpstr>
      <vt:lpstr>作业</vt:lpstr>
      <vt:lpstr>参考资料</vt:lpstr>
      <vt:lpstr>密码管理器</vt:lpstr>
      <vt:lpstr>密码管理器</vt:lpstr>
      <vt:lpstr>密码管理器</vt:lpstr>
      <vt:lpstr>密码管理器</vt:lpstr>
      <vt:lpstr>密码管理器</vt:lpstr>
      <vt:lpstr>密码管理器</vt:lpstr>
      <vt:lpstr>密码管理器</vt:lpstr>
      <vt:lpstr>密码管理器</vt:lpstr>
      <vt:lpstr>密码管理器</vt:lpstr>
      <vt:lpstr>密码管理器</vt:lpstr>
      <vt:lpstr>讨论</vt:lpstr>
      <vt:lpstr>讨论</vt:lpstr>
      <vt:lpstr>讨论</vt:lpstr>
      <vt:lpstr>参考资料</vt:lpstr>
      <vt:lpstr>扩展：人机验证绕过技术</vt:lpstr>
      <vt:lpstr>扩展：人机验证绕过技术</vt:lpstr>
      <vt:lpstr>扩展：人机验证绕过技术</vt:lpstr>
      <vt:lpstr>扩展：人机验证绕过技术</vt:lpstr>
      <vt:lpstr>扩展：人机验证绕过技术</vt:lpstr>
      <vt:lpstr>参考资料</vt:lpstr>
      <vt:lpstr>（1）Office文件口令破解</vt:lpstr>
      <vt:lpstr>（1）Office文件口令破解</vt:lpstr>
      <vt:lpstr>（2）存档文件口令破解</vt:lpstr>
      <vt:lpstr>（2）存档文件口令破解</vt:lpstr>
      <vt:lpstr>（3）PDF文件口令破解</vt:lpstr>
      <vt:lpstr>参考资料</vt:lpstr>
      <vt:lpstr>其它的攻击方式</vt:lpstr>
      <vt:lpstr>社会工程学</vt:lpstr>
      <vt:lpstr>社会工程学(2)</vt:lpstr>
      <vt:lpstr>偷窥</vt:lpstr>
      <vt:lpstr>搜索垃圾箱</vt:lpstr>
      <vt:lpstr>口令蠕虫</vt:lpstr>
      <vt:lpstr>口令蠕虫（2）</vt:lpstr>
      <vt:lpstr>特洛伊木马</vt:lpstr>
      <vt:lpstr>网络监听</vt:lpstr>
      <vt:lpstr>口令监听：工具</vt:lpstr>
      <vt:lpstr>重放</vt:lpstr>
      <vt:lpstr>东大：凌振</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unknown</dc:creator>
  <cp:lastModifiedBy>rlp</cp:lastModifiedBy>
  <cp:revision>1489</cp:revision>
  <dcterms:created xsi:type="dcterms:W3CDTF">2004-07-10T13:16:00Z</dcterms:created>
  <dcterms:modified xsi:type="dcterms:W3CDTF">2023-05-08T07:03:38Z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B3B4B254C9E745988873C70227D54FC4</vt:lpwstr>
  </property>
  <property fmtid="{D5CDD505-2E9C-101B-9397-08002B2CF9AE}" pid="3" name="KSOProductBuildVer">
    <vt:lpwstr>2052-11.1.0.11691</vt:lpwstr>
  </property>
</Properties>
</file>