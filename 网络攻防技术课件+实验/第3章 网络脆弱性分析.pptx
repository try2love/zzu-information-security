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Default Extension="tiff" ContentType="image/tif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659" r:id="rId1"/>
  </p:sldMasterIdLst>
  <p:notesMasterIdLst>
    <p:notesMasterId r:id="rId166"/>
  </p:notesMasterIdLst>
  <p:handoutMasterIdLst>
    <p:handoutMasterId r:id="rId167"/>
  </p:handoutMasterIdLst>
  <p:sldIdLst>
    <p:sldId id="1611" r:id="rId2"/>
    <p:sldId id="1839" r:id="rId3"/>
    <p:sldId id="1840" r:id="rId4"/>
    <p:sldId id="2031" r:id="rId5"/>
    <p:sldId id="2032" r:id="rId6"/>
    <p:sldId id="1612" r:id="rId7"/>
    <p:sldId id="1841" r:id="rId8"/>
    <p:sldId id="1842" r:id="rId9"/>
    <p:sldId id="1843" r:id="rId10"/>
    <p:sldId id="1844" r:id="rId11"/>
    <p:sldId id="1845" r:id="rId12"/>
    <p:sldId id="1846" r:id="rId13"/>
    <p:sldId id="1847" r:id="rId14"/>
    <p:sldId id="1848" r:id="rId15"/>
    <p:sldId id="1849" r:id="rId16"/>
    <p:sldId id="1850" r:id="rId17"/>
    <p:sldId id="1851" r:id="rId18"/>
    <p:sldId id="1852" r:id="rId19"/>
    <p:sldId id="1853" r:id="rId20"/>
    <p:sldId id="1854" r:id="rId21"/>
    <p:sldId id="1855" r:id="rId22"/>
    <p:sldId id="1856" r:id="rId23"/>
    <p:sldId id="1857" r:id="rId24"/>
    <p:sldId id="1858" r:id="rId25"/>
    <p:sldId id="1859" r:id="rId26"/>
    <p:sldId id="1860" r:id="rId27"/>
    <p:sldId id="1861" r:id="rId28"/>
    <p:sldId id="1862" r:id="rId29"/>
    <p:sldId id="1863" r:id="rId30"/>
    <p:sldId id="1966" r:id="rId31"/>
    <p:sldId id="1967" r:id="rId32"/>
    <p:sldId id="1968" r:id="rId33"/>
    <p:sldId id="1969" r:id="rId34"/>
    <p:sldId id="1970" r:id="rId35"/>
    <p:sldId id="1971" r:id="rId36"/>
    <p:sldId id="1964" r:id="rId37"/>
    <p:sldId id="1965" r:id="rId38"/>
    <p:sldId id="1865" r:id="rId39"/>
    <p:sldId id="2048" r:id="rId40"/>
    <p:sldId id="1879" r:id="rId41"/>
    <p:sldId id="1867" r:id="rId42"/>
    <p:sldId id="1871" r:id="rId43"/>
    <p:sldId id="1869" r:id="rId44"/>
    <p:sldId id="1872" r:id="rId45"/>
    <p:sldId id="1873" r:id="rId46"/>
    <p:sldId id="1874" r:id="rId47"/>
    <p:sldId id="1876" r:id="rId48"/>
    <p:sldId id="2014" r:id="rId49"/>
    <p:sldId id="1877" r:id="rId50"/>
    <p:sldId id="2012" r:id="rId51"/>
    <p:sldId id="2013" r:id="rId52"/>
    <p:sldId id="1880" r:id="rId53"/>
    <p:sldId id="1881" r:id="rId54"/>
    <p:sldId id="2038" r:id="rId55"/>
    <p:sldId id="1882" r:id="rId56"/>
    <p:sldId id="1913" r:id="rId57"/>
    <p:sldId id="1914" r:id="rId58"/>
    <p:sldId id="1915" r:id="rId59"/>
    <p:sldId id="2039" r:id="rId60"/>
    <p:sldId id="1916" r:id="rId61"/>
    <p:sldId id="1883" r:id="rId62"/>
    <p:sldId id="1884" r:id="rId63"/>
    <p:sldId id="1885" r:id="rId64"/>
    <p:sldId id="1886" r:id="rId65"/>
    <p:sldId id="1887" r:id="rId66"/>
    <p:sldId id="1888" r:id="rId67"/>
    <p:sldId id="1889" r:id="rId68"/>
    <p:sldId id="1890" r:id="rId69"/>
    <p:sldId id="1891" r:id="rId70"/>
    <p:sldId id="1892" r:id="rId71"/>
    <p:sldId id="1893" r:id="rId72"/>
    <p:sldId id="1894" r:id="rId73"/>
    <p:sldId id="1895" r:id="rId74"/>
    <p:sldId id="1896" r:id="rId75"/>
    <p:sldId id="1897" r:id="rId76"/>
    <p:sldId id="1898" r:id="rId77"/>
    <p:sldId id="1899" r:id="rId78"/>
    <p:sldId id="1900" r:id="rId79"/>
    <p:sldId id="1901" r:id="rId80"/>
    <p:sldId id="1902" r:id="rId81"/>
    <p:sldId id="1903" r:id="rId82"/>
    <p:sldId id="1904" r:id="rId83"/>
    <p:sldId id="1905" r:id="rId84"/>
    <p:sldId id="1906" r:id="rId85"/>
    <p:sldId id="1907" r:id="rId86"/>
    <p:sldId id="1908" r:id="rId87"/>
    <p:sldId id="1909" r:id="rId88"/>
    <p:sldId id="1910" r:id="rId89"/>
    <p:sldId id="2011" r:id="rId90"/>
    <p:sldId id="1911" r:id="rId91"/>
    <p:sldId id="1912" r:id="rId92"/>
    <p:sldId id="1917" r:id="rId93"/>
    <p:sldId id="1918" r:id="rId94"/>
    <p:sldId id="1919" r:id="rId95"/>
    <p:sldId id="1920" r:id="rId96"/>
    <p:sldId id="1921" r:id="rId97"/>
    <p:sldId id="1974" r:id="rId98"/>
    <p:sldId id="2041" r:id="rId99"/>
    <p:sldId id="1976" r:id="rId100"/>
    <p:sldId id="2043" r:id="rId101"/>
    <p:sldId id="2044" r:id="rId102"/>
    <p:sldId id="2045" r:id="rId103"/>
    <p:sldId id="2042" r:id="rId104"/>
    <p:sldId id="1924" r:id="rId105"/>
    <p:sldId id="1925" r:id="rId106"/>
    <p:sldId id="2018" r:id="rId107"/>
    <p:sldId id="2019" r:id="rId108"/>
    <p:sldId id="2020" r:id="rId109"/>
    <p:sldId id="2021" r:id="rId110"/>
    <p:sldId id="2022" r:id="rId111"/>
    <p:sldId id="2023" r:id="rId112"/>
    <p:sldId id="2046" r:id="rId113"/>
    <p:sldId id="2047" r:id="rId114"/>
    <p:sldId id="2016" r:id="rId115"/>
    <p:sldId id="2024" r:id="rId116"/>
    <p:sldId id="1926" r:id="rId117"/>
    <p:sldId id="2025" r:id="rId118"/>
    <p:sldId id="2006" r:id="rId119"/>
    <p:sldId id="2007" r:id="rId120"/>
    <p:sldId id="2008" r:id="rId121"/>
    <p:sldId id="2009" r:id="rId122"/>
    <p:sldId id="1935" r:id="rId123"/>
    <p:sldId id="1936" r:id="rId124"/>
    <p:sldId id="1937" r:id="rId125"/>
    <p:sldId id="1938" r:id="rId126"/>
    <p:sldId id="1939" r:id="rId127"/>
    <p:sldId id="1940" r:id="rId128"/>
    <p:sldId id="1941" r:id="rId129"/>
    <p:sldId id="1942" r:id="rId130"/>
    <p:sldId id="1943" r:id="rId131"/>
    <p:sldId id="1944" r:id="rId132"/>
    <p:sldId id="1945" r:id="rId133"/>
    <p:sldId id="1946" r:id="rId134"/>
    <p:sldId id="1947" r:id="rId135"/>
    <p:sldId id="2026" r:id="rId136"/>
    <p:sldId id="2027" r:id="rId137"/>
    <p:sldId id="2028" r:id="rId138"/>
    <p:sldId id="2029" r:id="rId139"/>
    <p:sldId id="2030" r:id="rId140"/>
    <p:sldId id="1949" r:id="rId141"/>
    <p:sldId id="1950" r:id="rId142"/>
    <p:sldId id="1951" r:id="rId143"/>
    <p:sldId id="1927" r:id="rId144"/>
    <p:sldId id="1928" r:id="rId145"/>
    <p:sldId id="1929" r:id="rId146"/>
    <p:sldId id="1973" r:id="rId147"/>
    <p:sldId id="1930" r:id="rId148"/>
    <p:sldId id="1866" r:id="rId149"/>
    <p:sldId id="1837" r:id="rId150"/>
    <p:sldId id="1952" r:id="rId151"/>
    <p:sldId id="1953" r:id="rId152"/>
    <p:sldId id="1954" r:id="rId153"/>
    <p:sldId id="1956" r:id="rId154"/>
    <p:sldId id="1955" r:id="rId155"/>
    <p:sldId id="1957" r:id="rId156"/>
    <p:sldId id="1959" r:id="rId157"/>
    <p:sldId id="1960" r:id="rId158"/>
    <p:sldId id="2004" r:id="rId159"/>
    <p:sldId id="2005" r:id="rId160"/>
    <p:sldId id="1961" r:id="rId161"/>
    <p:sldId id="1962" r:id="rId162"/>
    <p:sldId id="1963" r:id="rId163"/>
    <p:sldId id="2040" r:id="rId164"/>
    <p:sldId id="2017" r:id="rId165"/>
  </p:sldIdLst>
  <p:sldSz cx="9144000" cy="6858000" type="screen4x3"/>
  <p:notesSz cx="6858000" cy="9144000"/>
  <p:defaultTextStyle>
    <a:defPPr>
      <a:defRPr lang="zh-CN"/>
    </a:defPPr>
    <a:lvl1pPr algn="l" rtl="0" fontAlgn="base">
      <a:spcBef>
        <a:spcPct val="0"/>
      </a:spcBef>
      <a:spcAft>
        <a:spcPct val="0"/>
      </a:spcAft>
      <a:defRPr kumimoji="1" b="1" kern="1200">
        <a:solidFill>
          <a:schemeClr val="tx1"/>
        </a:solidFill>
        <a:latin typeface="Tahoma" pitchFamily="34" charset="0"/>
        <a:ea typeface="宋体" pitchFamily="2" charset="-122"/>
        <a:cs typeface="+mn-cs"/>
      </a:defRPr>
    </a:lvl1pPr>
    <a:lvl2pPr marL="457200" algn="l" rtl="0" fontAlgn="base">
      <a:spcBef>
        <a:spcPct val="0"/>
      </a:spcBef>
      <a:spcAft>
        <a:spcPct val="0"/>
      </a:spcAft>
      <a:defRPr kumimoji="1" b="1" kern="1200">
        <a:solidFill>
          <a:schemeClr val="tx1"/>
        </a:solidFill>
        <a:latin typeface="Tahoma" pitchFamily="34" charset="0"/>
        <a:ea typeface="宋体" pitchFamily="2" charset="-122"/>
        <a:cs typeface="+mn-cs"/>
      </a:defRPr>
    </a:lvl2pPr>
    <a:lvl3pPr marL="914400" algn="l" rtl="0" fontAlgn="base">
      <a:spcBef>
        <a:spcPct val="0"/>
      </a:spcBef>
      <a:spcAft>
        <a:spcPct val="0"/>
      </a:spcAft>
      <a:defRPr kumimoji="1" b="1" kern="1200">
        <a:solidFill>
          <a:schemeClr val="tx1"/>
        </a:solidFill>
        <a:latin typeface="Tahoma" pitchFamily="34" charset="0"/>
        <a:ea typeface="宋体" pitchFamily="2" charset="-122"/>
        <a:cs typeface="+mn-cs"/>
      </a:defRPr>
    </a:lvl3pPr>
    <a:lvl4pPr marL="1371600" algn="l" rtl="0" fontAlgn="base">
      <a:spcBef>
        <a:spcPct val="0"/>
      </a:spcBef>
      <a:spcAft>
        <a:spcPct val="0"/>
      </a:spcAft>
      <a:defRPr kumimoji="1" b="1" kern="1200">
        <a:solidFill>
          <a:schemeClr val="tx1"/>
        </a:solidFill>
        <a:latin typeface="Tahoma" pitchFamily="34" charset="0"/>
        <a:ea typeface="宋体" pitchFamily="2" charset="-122"/>
        <a:cs typeface="+mn-cs"/>
      </a:defRPr>
    </a:lvl4pPr>
    <a:lvl5pPr marL="1828800" algn="l" rtl="0" fontAlgn="base">
      <a:spcBef>
        <a:spcPct val="0"/>
      </a:spcBef>
      <a:spcAft>
        <a:spcPct val="0"/>
      </a:spcAft>
      <a:defRPr kumimoji="1" b="1" kern="1200">
        <a:solidFill>
          <a:schemeClr val="tx1"/>
        </a:solidFill>
        <a:latin typeface="Tahoma" pitchFamily="34" charset="0"/>
        <a:ea typeface="宋体" pitchFamily="2" charset="-122"/>
        <a:cs typeface="+mn-cs"/>
      </a:defRPr>
    </a:lvl5pPr>
    <a:lvl6pPr marL="2286000" algn="l" defTabSz="914400" rtl="0" eaLnBrk="1" latinLnBrk="0" hangingPunct="1">
      <a:defRPr kumimoji="1" b="1" kern="1200">
        <a:solidFill>
          <a:schemeClr val="tx1"/>
        </a:solidFill>
        <a:latin typeface="Tahoma" pitchFamily="34" charset="0"/>
        <a:ea typeface="宋体" pitchFamily="2" charset="-122"/>
        <a:cs typeface="+mn-cs"/>
      </a:defRPr>
    </a:lvl6pPr>
    <a:lvl7pPr marL="2743200" algn="l" defTabSz="914400" rtl="0" eaLnBrk="1" latinLnBrk="0" hangingPunct="1">
      <a:defRPr kumimoji="1" b="1" kern="1200">
        <a:solidFill>
          <a:schemeClr val="tx1"/>
        </a:solidFill>
        <a:latin typeface="Tahoma" pitchFamily="34" charset="0"/>
        <a:ea typeface="宋体" pitchFamily="2" charset="-122"/>
        <a:cs typeface="+mn-cs"/>
      </a:defRPr>
    </a:lvl7pPr>
    <a:lvl8pPr marL="3200400" algn="l" defTabSz="914400" rtl="0" eaLnBrk="1" latinLnBrk="0" hangingPunct="1">
      <a:defRPr kumimoji="1" b="1" kern="1200">
        <a:solidFill>
          <a:schemeClr val="tx1"/>
        </a:solidFill>
        <a:latin typeface="Tahoma" pitchFamily="34" charset="0"/>
        <a:ea typeface="宋体" pitchFamily="2" charset="-122"/>
        <a:cs typeface="+mn-cs"/>
      </a:defRPr>
    </a:lvl8pPr>
    <a:lvl9pPr marL="3657600" algn="l" defTabSz="914400" rtl="0" eaLnBrk="1" latinLnBrk="0" hangingPunct="1">
      <a:defRPr kumimoji="1" b="1" kern="1200">
        <a:solidFill>
          <a:schemeClr val="tx1"/>
        </a:solidFill>
        <a:latin typeface="Tahoma" pitchFamily="34"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AD1ACA"/>
    <a:srgbClr val="FACA00"/>
    <a:srgbClr val="3366FF"/>
    <a:srgbClr val="6699FF"/>
    <a:srgbClr val="000066"/>
    <a:srgbClr val="66FFCC"/>
    <a:srgbClr val="66CCFF"/>
    <a:srgbClr val="029A1B"/>
    <a:srgbClr val="C0C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35" autoAdjust="0"/>
    <p:restoredTop sz="86597" autoAdjust="0"/>
  </p:normalViewPr>
  <p:slideViewPr>
    <p:cSldViewPr snapToGrid="0">
      <p:cViewPr varScale="1">
        <p:scale>
          <a:sx n="99" d="100"/>
          <a:sy n="99" d="100"/>
        </p:scale>
        <p:origin x="1926"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snapToGrid="0">
      <p:cViewPr>
        <p:scale>
          <a:sx n="100" d="100"/>
          <a:sy n="100" d="100"/>
        </p:scale>
        <p:origin x="-2832" y="22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theme" Target="theme/theme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tableStyles" Target="tableStyles.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7.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4.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5.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957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b="0">
                <a:latin typeface="Times New Roman" pitchFamily="18" charset="0"/>
                <a:ea typeface="宋体" charset="-122"/>
              </a:defRPr>
            </a:lvl1pPr>
          </a:lstStyle>
          <a:p>
            <a:pPr>
              <a:defRPr/>
            </a:pPr>
            <a:endParaRPr lang="en-US" altLang="zh-CN"/>
          </a:p>
        </p:txBody>
      </p:sp>
      <p:sp>
        <p:nvSpPr>
          <p:cNvPr id="109571"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latin typeface="Times New Roman" pitchFamily="18" charset="0"/>
                <a:ea typeface="宋体" charset="-122"/>
              </a:defRPr>
            </a:lvl1pPr>
          </a:lstStyle>
          <a:p>
            <a:pPr>
              <a:defRPr/>
            </a:pPr>
            <a:endParaRPr lang="en-US" altLang="zh-CN"/>
          </a:p>
        </p:txBody>
      </p:sp>
      <p:sp>
        <p:nvSpPr>
          <p:cNvPr id="109572"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b="0">
                <a:latin typeface="Times New Roman" pitchFamily="18" charset="0"/>
                <a:ea typeface="宋体" charset="-122"/>
              </a:defRPr>
            </a:lvl1pPr>
          </a:lstStyle>
          <a:p>
            <a:pPr>
              <a:defRPr/>
            </a:pPr>
            <a:endParaRPr lang="en-US" altLang="zh-CN"/>
          </a:p>
        </p:txBody>
      </p:sp>
      <p:sp>
        <p:nvSpPr>
          <p:cNvPr id="109573"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latin typeface="Times New Roman" pitchFamily="18" charset="0"/>
                <a:ea typeface="宋体" charset="-122"/>
              </a:defRPr>
            </a:lvl1pPr>
          </a:lstStyle>
          <a:p>
            <a:pPr>
              <a:defRPr/>
            </a:pPr>
            <a:fld id="{3B4577F0-ED67-4FFE-A316-3B3AEC2EA4D6}"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b="0">
                <a:latin typeface="Times New Roman" pitchFamily="18" charset="0"/>
                <a:ea typeface="宋体" charset="-122"/>
              </a:defRPr>
            </a:lvl1pPr>
          </a:lstStyle>
          <a:p>
            <a:pPr>
              <a:defRPr/>
            </a:pPr>
            <a:endParaRPr lang="en-US" altLang="zh-CN"/>
          </a:p>
        </p:txBody>
      </p:sp>
      <p:sp>
        <p:nvSpPr>
          <p:cNvPr id="4915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latin typeface="Times New Roman" pitchFamily="18" charset="0"/>
                <a:ea typeface="宋体" charset="-122"/>
              </a:defRPr>
            </a:lvl1pPr>
          </a:lstStyle>
          <a:p>
            <a:pPr>
              <a:defRPr/>
            </a:pPr>
            <a:endParaRPr lang="en-US" altLang="zh-CN"/>
          </a:p>
        </p:txBody>
      </p:sp>
      <p:sp>
        <p:nvSpPr>
          <p:cNvPr id="11162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4915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915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b="0">
                <a:latin typeface="Times New Roman" pitchFamily="18" charset="0"/>
                <a:ea typeface="宋体" charset="-122"/>
              </a:defRPr>
            </a:lvl1pPr>
          </a:lstStyle>
          <a:p>
            <a:pPr>
              <a:defRPr/>
            </a:pPr>
            <a:endParaRPr lang="en-US" altLang="zh-CN"/>
          </a:p>
        </p:txBody>
      </p:sp>
      <p:sp>
        <p:nvSpPr>
          <p:cNvPr id="4915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latin typeface="Times New Roman" pitchFamily="18" charset="0"/>
                <a:ea typeface="宋体" charset="-122"/>
              </a:defRPr>
            </a:lvl1pPr>
          </a:lstStyle>
          <a:p>
            <a:pPr>
              <a:defRPr/>
            </a:pPr>
            <a:fld id="{E46A9642-FD4A-45CC-9F4F-8E10AB9AB4AA}"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security.tencent.com/index.php/blog/msg/147" TargetMode="External"/><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3" Type="http://schemas.openxmlformats.org/officeDocument/2006/relationships/hyperlink" Target="https://www.sohu.com/a/385948355_465914" TargetMode="External"/><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3" Type="http://schemas.openxmlformats.org/officeDocument/2006/relationships/hyperlink" Target="https://mp.weixin.qq.com/s/XCEQzYJ_qUOAdwlOQ_UrIA" TargetMode="External"/><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3" Type="http://schemas.openxmlformats.org/officeDocument/2006/relationships/hyperlink" Target="https://mp.weixin.qq.com/s/XCEQzYJ_qUOAdwlOQ_UrIA" TargetMode="External"/><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3" Type="http://schemas.openxmlformats.org/officeDocument/2006/relationships/hyperlink" Target="https://mp.weixin.qq.com/s/XCEQzYJ_qUOAdwlOQ_UrIA" TargetMode="External"/><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3" Type="http://schemas.openxmlformats.org/officeDocument/2006/relationships/hyperlink" Target="https://mp.weixin.qq.com/s/XCEQzYJ_qUOAdwlOQ_UrIA" TargetMode="External"/><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3" Type="http://schemas.openxmlformats.org/officeDocument/2006/relationships/hyperlink" Target="https://mp.weixin.qq.com/s/XCEQzYJ_qUOAdwlOQ_UrIA" TargetMode="External"/><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3" Type="http://schemas.openxmlformats.org/officeDocument/2006/relationships/hyperlink" Target="https://mp.weixin.qq.com/s/XCEQzYJ_qUOAdwlOQ_UrIA" TargetMode="External"/><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3" Type="http://schemas.openxmlformats.org/officeDocument/2006/relationships/hyperlink" Target="https://mp.weixin.qq.com/s/XCEQzYJ_qUOAdwlOQ_UrIA" TargetMode="External"/><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3" Type="http://schemas.openxmlformats.org/officeDocument/2006/relationships/hyperlink" Target="https://www.secrss.com/articles/18363" TargetMode="External"/><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3" Type="http://schemas.openxmlformats.org/officeDocument/2006/relationships/hyperlink" Target="https://www.secrss.com/articles/18363" TargetMode="External"/><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3" Type="http://schemas.openxmlformats.org/officeDocument/2006/relationships/hyperlink" Target="https://www.secrss.com/articles/18363" TargetMode="External"/><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3" Type="http://schemas.openxmlformats.org/officeDocument/2006/relationships/hyperlink" Target="http://www.laozuo.org/tag/lets-encrypt" TargetMode="External"/><Relationship Id="rId2" Type="http://schemas.openxmlformats.org/officeDocument/2006/relationships/slide" Target="../slides/slide138.xml"/><Relationship Id="rId1" Type="http://schemas.openxmlformats.org/officeDocument/2006/relationships/notesMaster" Target="../notesMasters/notesMaster1.xml"/><Relationship Id="rId5" Type="http://schemas.openxmlformats.org/officeDocument/2006/relationships/hyperlink" Target="http://www.laozuo.org/tag/lets-encrypt%e5%85%8d%e8%b4%b9ssl" TargetMode="External"/><Relationship Id="rId4" Type="http://schemas.openxmlformats.org/officeDocument/2006/relationships/hyperlink" Target="https://letsencrypt.org/" TargetMode="External"/></Relationships>
</file>

<file path=ppt/notesSlides/_rels/notesSlide59.xml.rels><?xml version="1.0" encoding="UTF-8" standalone="yes"?>
<Relationships xmlns="http://schemas.openxmlformats.org/package/2006/relationships"><Relationship Id="rId3" Type="http://schemas.openxmlformats.org/officeDocument/2006/relationships/hyperlink" Target="https://www.secrss.com/articles/18363" TargetMode="External"/><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3" Type="http://schemas.openxmlformats.org/officeDocument/2006/relationships/hyperlink" Target="https://www.secrss.com/articles/19363" TargetMode="External"/><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Rot="1" noChangeAspect="1" noChangeArrowheads="1" noTextEdit="1"/>
          </p:cNvSpPr>
          <p:nvPr>
            <p:ph type="sldImg"/>
          </p:nvPr>
        </p:nvSpPr>
        <p:spPr>
          <a:ln/>
        </p:spPr>
      </p:sp>
      <p:sp>
        <p:nvSpPr>
          <p:cNvPr id="114691" name="Rectangle 3"/>
          <p:cNvSpPr>
            <a:spLocks noGrp="1" noChangeArrowheads="1"/>
          </p:cNvSpPr>
          <p:nvPr>
            <p:ph type="body" idx="1"/>
          </p:nvPr>
        </p:nvSpPr>
        <p:spPr>
          <a:noFill/>
          <a:ln/>
        </p:spPr>
        <p:txBody>
          <a:bodyPr/>
          <a:lstStyle/>
          <a:p>
            <a:endParaRPr lang="zh-CN" altLang="en-US" dirty="0"/>
          </a:p>
        </p:txBody>
      </p:sp>
    </p:spTree>
    <p:extLst>
      <p:ext uri="{BB962C8B-B14F-4D97-AF65-F5344CB8AC3E}">
        <p14:creationId xmlns:p14="http://schemas.microsoft.com/office/powerpoint/2010/main" val="22184915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Rot="1" noChangeAspect="1" noChangeArrowheads="1" noTextEdit="1"/>
          </p:cNvSpPr>
          <p:nvPr>
            <p:ph type="sldImg"/>
          </p:nvPr>
        </p:nvSpPr>
        <p:spPr>
          <a:ln/>
        </p:spPr>
      </p:sp>
      <p:sp>
        <p:nvSpPr>
          <p:cNvPr id="114691" name="Rectangle 3"/>
          <p:cNvSpPr>
            <a:spLocks noGrp="1" noChangeArrowheads="1"/>
          </p:cNvSpPr>
          <p:nvPr>
            <p:ph type="body" idx="1"/>
          </p:nvPr>
        </p:nvSpPr>
        <p:spPr>
          <a:noFill/>
          <a:ln/>
        </p:spPr>
        <p:txBody>
          <a:bodyPr/>
          <a:lstStyle/>
          <a:p>
            <a:endParaRPr lang="zh-CN" altLang="en-US" dirty="0"/>
          </a:p>
        </p:txBody>
      </p:sp>
    </p:spTree>
    <p:extLst>
      <p:ext uri="{BB962C8B-B14F-4D97-AF65-F5344CB8AC3E}">
        <p14:creationId xmlns:p14="http://schemas.microsoft.com/office/powerpoint/2010/main" val="19121829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Rot="1" noChangeAspect="1" noChangeArrowheads="1" noTextEdit="1"/>
          </p:cNvSpPr>
          <p:nvPr>
            <p:ph type="sldImg"/>
          </p:nvPr>
        </p:nvSpPr>
        <p:spPr>
          <a:ln/>
        </p:spPr>
      </p:sp>
      <p:sp>
        <p:nvSpPr>
          <p:cNvPr id="114691" name="Rectangle 3"/>
          <p:cNvSpPr>
            <a:spLocks noGrp="1" noChangeArrowheads="1"/>
          </p:cNvSpPr>
          <p:nvPr>
            <p:ph type="body" idx="1"/>
          </p:nvPr>
        </p:nvSpPr>
        <p:spPr>
          <a:noFill/>
          <a:ln/>
        </p:spPr>
        <p:txBody>
          <a:bodyPr/>
          <a:lstStyle/>
          <a:p>
            <a:endParaRPr lang="zh-CN" altLang="en-US" dirty="0"/>
          </a:p>
        </p:txBody>
      </p:sp>
    </p:spTree>
    <p:extLst>
      <p:ext uri="{BB962C8B-B14F-4D97-AF65-F5344CB8AC3E}">
        <p14:creationId xmlns:p14="http://schemas.microsoft.com/office/powerpoint/2010/main" val="15643202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p:txBody>
          <a:bodyPr/>
          <a:lstStyle/>
          <a:p>
            <a:pPr>
              <a:defRPr/>
            </a:pPr>
            <a:fld id="{9FD54D0F-DE20-458F-9711-211063689A02}" type="slidenum">
              <a:rPr lang="zh-CN" altLang="en-US" smtClean="0"/>
              <a:pPr>
                <a:defRPr/>
              </a:pPr>
              <a:t>6</a:t>
            </a:fld>
            <a:endParaRPr lang="en-US" altLang="zh-CN"/>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noFill/>
          <a:ln/>
        </p:spPr>
        <p:txBody>
          <a:bodyPr/>
          <a:lstStyle/>
          <a:p>
            <a:pPr eaLnBrk="1" hangingPunct="1"/>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p:txBody>
          <a:bodyPr/>
          <a:lstStyle/>
          <a:p>
            <a:pPr>
              <a:defRPr/>
            </a:pPr>
            <a:fld id="{9FD54D0F-DE20-458F-9711-211063689A02}" type="slidenum">
              <a:rPr lang="zh-CN" altLang="en-US" smtClean="0"/>
              <a:pPr>
                <a:defRPr/>
              </a:pPr>
              <a:t>16</a:t>
            </a:fld>
            <a:endParaRPr lang="en-US" altLang="zh-CN"/>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noFill/>
          <a:ln/>
        </p:spPr>
        <p:txBody>
          <a:bodyPr/>
          <a:lstStyle/>
          <a:p>
            <a:pPr eaLnBrk="1" hangingPunct="1"/>
            <a:endParaRPr lang="zh-CN" altLang="en-US"/>
          </a:p>
        </p:txBody>
      </p:sp>
    </p:spTree>
    <p:extLst>
      <p:ext uri="{BB962C8B-B14F-4D97-AF65-F5344CB8AC3E}">
        <p14:creationId xmlns:p14="http://schemas.microsoft.com/office/powerpoint/2010/main" val="12696637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Rot="1" noChangeAspect="1" noChangeArrowheads="1" noTextEdit="1"/>
          </p:cNvSpPr>
          <p:nvPr>
            <p:ph type="sldImg"/>
          </p:nvPr>
        </p:nvSpPr>
        <p:spPr>
          <a:ln/>
        </p:spPr>
      </p:sp>
      <p:sp>
        <p:nvSpPr>
          <p:cNvPr id="119811" name="Rectangle 3"/>
          <p:cNvSpPr>
            <a:spLocks noGrp="1" noChangeArrowheads="1"/>
          </p:cNvSpPr>
          <p:nvPr>
            <p:ph type="body" idx="1"/>
          </p:nvPr>
        </p:nvSpPr>
        <p:spPr>
          <a:noFill/>
          <a:ln/>
        </p:spPr>
        <p:txBody>
          <a:bodyPr/>
          <a:lstStyle/>
          <a:p>
            <a:r>
              <a:rPr lang="zh-CN" altLang="en-US" dirty="0"/>
              <a:t>数据量太大，无法保存</a:t>
            </a:r>
          </a:p>
        </p:txBody>
      </p:sp>
    </p:spTree>
    <p:extLst>
      <p:ext uri="{BB962C8B-B14F-4D97-AF65-F5344CB8AC3E}">
        <p14:creationId xmlns:p14="http://schemas.microsoft.com/office/powerpoint/2010/main" val="14702548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Rot="1" noChangeAspect="1" noChangeArrowheads="1" noTextEdit="1"/>
          </p:cNvSpPr>
          <p:nvPr>
            <p:ph type="sldImg"/>
          </p:nvPr>
        </p:nvSpPr>
        <p:spPr>
          <a:ln/>
        </p:spPr>
      </p:sp>
      <p:sp>
        <p:nvSpPr>
          <p:cNvPr id="120835" name="Rectangle 3"/>
          <p:cNvSpPr>
            <a:spLocks noGrp="1" noChangeArrowheads="1"/>
          </p:cNvSpPr>
          <p:nvPr>
            <p:ph type="body" idx="1"/>
          </p:nvPr>
        </p:nvSpPr>
        <p:spPr>
          <a:noFill/>
          <a:ln/>
        </p:spPr>
        <p:txBody>
          <a:bodyPr/>
          <a:lstStyle/>
          <a:p>
            <a:r>
              <a:rPr lang="en-US" altLang="zh-CN"/>
              <a:t>2008.10</a:t>
            </a:r>
            <a:r>
              <a:rPr lang="zh-CN" altLang="en-US"/>
              <a:t>月初韩国著名影星崔真实自杀身亡，原因之一是受不了网络流言的压力，事件发生后，韩国开始讨论互联网实名制的立法问题。</a:t>
            </a:r>
          </a:p>
          <a:p>
            <a:r>
              <a:rPr lang="zh-CN" altLang="en-US"/>
              <a:t>“在互联网上，没有人知道你是一条狗。”</a:t>
            </a:r>
            <a:r>
              <a:rPr lang="en-US" altLang="zh-CN"/>
              <a:t>20</a:t>
            </a:r>
            <a:r>
              <a:rPr lang="zh-CN" altLang="en-US"/>
              <a:t>年前，美国</a:t>
            </a:r>
            <a:r>
              <a:rPr lang="en-US" altLang="zh-CN"/>
              <a:t>《</a:t>
            </a:r>
            <a:r>
              <a:rPr lang="zh-CN" altLang="en-US"/>
              <a:t>纽约客</a:t>
            </a:r>
            <a:r>
              <a:rPr lang="en-US" altLang="zh-CN"/>
              <a:t>》</a:t>
            </a:r>
            <a:r>
              <a:rPr lang="zh-CN" altLang="en-US"/>
              <a:t>杂志以黑色幽默方式直指网络虚拟化之弊。</a:t>
            </a:r>
          </a:p>
        </p:txBody>
      </p:sp>
    </p:spTree>
    <p:extLst>
      <p:ext uri="{BB962C8B-B14F-4D97-AF65-F5344CB8AC3E}">
        <p14:creationId xmlns:p14="http://schemas.microsoft.com/office/powerpoint/2010/main" val="11144568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Rot="1" noChangeAspect="1" noChangeArrowheads="1" noTextEdit="1"/>
          </p:cNvSpPr>
          <p:nvPr>
            <p:ph type="sldImg"/>
          </p:nvPr>
        </p:nvSpPr>
        <p:spPr>
          <a:ln/>
        </p:spPr>
      </p:sp>
      <p:sp>
        <p:nvSpPr>
          <p:cNvPr id="121859" name="Rectangle 3"/>
          <p:cNvSpPr>
            <a:spLocks noGrp="1" noChangeArrowheads="1"/>
          </p:cNvSpPr>
          <p:nvPr>
            <p:ph type="body" idx="1"/>
          </p:nvPr>
        </p:nvSpPr>
        <p:spPr>
          <a:noFill/>
          <a:ln/>
        </p:spPr>
        <p:txBody>
          <a:bodyPr/>
          <a:lstStyle/>
          <a:p>
            <a:r>
              <a:rPr lang="en-US" altLang="zh-CN"/>
              <a:t>2008.10</a:t>
            </a:r>
            <a:r>
              <a:rPr lang="zh-CN" altLang="en-US"/>
              <a:t>月初韩国著名影星崔真实自杀身亡，原因之一是受不了网络流言的压力，事件发生后，韩国开始讨论互联网实名制的立法问题。</a:t>
            </a:r>
          </a:p>
          <a:p>
            <a:r>
              <a:rPr lang="zh-CN" altLang="en-US"/>
              <a:t>“在互联网上，没有人知道你是一条狗。”</a:t>
            </a:r>
            <a:r>
              <a:rPr lang="en-US" altLang="zh-CN"/>
              <a:t>20</a:t>
            </a:r>
            <a:r>
              <a:rPr lang="zh-CN" altLang="en-US"/>
              <a:t>年前，美国</a:t>
            </a:r>
            <a:r>
              <a:rPr lang="en-US" altLang="zh-CN"/>
              <a:t>《</a:t>
            </a:r>
            <a:r>
              <a:rPr lang="zh-CN" altLang="en-US"/>
              <a:t>纽约客</a:t>
            </a:r>
            <a:r>
              <a:rPr lang="en-US" altLang="zh-CN"/>
              <a:t>》</a:t>
            </a:r>
            <a:r>
              <a:rPr lang="zh-CN" altLang="en-US"/>
              <a:t>杂志以黑色幽默方式直指网络虚拟化之弊。</a:t>
            </a:r>
          </a:p>
        </p:txBody>
      </p:sp>
    </p:spTree>
    <p:extLst>
      <p:ext uri="{BB962C8B-B14F-4D97-AF65-F5344CB8AC3E}">
        <p14:creationId xmlns:p14="http://schemas.microsoft.com/office/powerpoint/2010/main" val="19309401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Rot="1" noChangeAspect="1" noChangeArrowheads="1" noTextEdit="1"/>
          </p:cNvSpPr>
          <p:nvPr>
            <p:ph type="sldImg"/>
          </p:nvPr>
        </p:nvSpPr>
        <p:spPr>
          <a:ln/>
        </p:spPr>
      </p:sp>
      <p:sp>
        <p:nvSpPr>
          <p:cNvPr id="122883" name="Rectangle 3"/>
          <p:cNvSpPr>
            <a:spLocks noGrp="1" noChangeArrowheads="1"/>
          </p:cNvSpPr>
          <p:nvPr>
            <p:ph type="body" idx="1"/>
          </p:nvPr>
        </p:nvSpPr>
        <p:spPr>
          <a:noFill/>
          <a:ln/>
        </p:spPr>
        <p:txBody>
          <a:bodyPr/>
          <a:lstStyle/>
          <a:p>
            <a:r>
              <a:rPr lang="en-US" altLang="zh-CN"/>
              <a:t>2008.10</a:t>
            </a:r>
            <a:r>
              <a:rPr lang="zh-CN" altLang="en-US"/>
              <a:t>月初韩国著名影星崔真实自杀身亡，原因之一是受不了网络流言的压力，事件发生后，韩国开始讨论互联网实名制的立法问题。</a:t>
            </a:r>
          </a:p>
          <a:p>
            <a:r>
              <a:rPr lang="zh-CN" altLang="en-US"/>
              <a:t>“在互联网上，没有人知道你是一条狗。”</a:t>
            </a:r>
            <a:r>
              <a:rPr lang="en-US" altLang="zh-CN"/>
              <a:t>20</a:t>
            </a:r>
            <a:r>
              <a:rPr lang="zh-CN" altLang="en-US"/>
              <a:t>年前，美国</a:t>
            </a:r>
            <a:r>
              <a:rPr lang="en-US" altLang="zh-CN"/>
              <a:t>《</a:t>
            </a:r>
            <a:r>
              <a:rPr lang="zh-CN" altLang="en-US"/>
              <a:t>纽约客</a:t>
            </a:r>
            <a:r>
              <a:rPr lang="en-US" altLang="zh-CN"/>
              <a:t>》</a:t>
            </a:r>
            <a:r>
              <a:rPr lang="zh-CN" altLang="en-US"/>
              <a:t>杂志以黑色幽默方式直指网络虚拟化之弊。</a:t>
            </a:r>
          </a:p>
        </p:txBody>
      </p:sp>
    </p:spTree>
    <p:extLst>
      <p:ext uri="{BB962C8B-B14F-4D97-AF65-F5344CB8AC3E}">
        <p14:creationId xmlns:p14="http://schemas.microsoft.com/office/powerpoint/2010/main" val="27039729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From </a:t>
            </a:r>
            <a:r>
              <a:rPr lang="zh-CN" altLang="en-US" dirty="0"/>
              <a:t>段海新教授的学术报告“中间盒子</a:t>
            </a:r>
            <a:r>
              <a:rPr lang="en-US" altLang="zh-CN" dirty="0"/>
              <a:t>-</a:t>
            </a:r>
            <a:r>
              <a:rPr lang="zh-CN" altLang="en-US" dirty="0"/>
              <a:t>祝福还是诅咒”</a:t>
            </a:r>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28</a:t>
            </a:fld>
            <a:endParaRPr lang="en-US" altLang="zh-CN"/>
          </a:p>
        </p:txBody>
      </p:sp>
    </p:spTree>
    <p:extLst>
      <p:ext uri="{BB962C8B-B14F-4D97-AF65-F5344CB8AC3E}">
        <p14:creationId xmlns:p14="http://schemas.microsoft.com/office/powerpoint/2010/main" val="41437018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t>From </a:t>
            </a:r>
            <a:r>
              <a:rPr lang="zh-CN" altLang="en-US" dirty="0"/>
              <a:t>段海新教授的学术报告“中间盒子</a:t>
            </a:r>
            <a:r>
              <a:rPr lang="en-US" altLang="zh-CN" dirty="0"/>
              <a:t>-</a:t>
            </a:r>
            <a:r>
              <a:rPr lang="zh-CN" altLang="en-US" dirty="0"/>
              <a:t>祝福还是诅咒”</a:t>
            </a:r>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29</a:t>
            </a:fld>
            <a:endParaRPr lang="en-US" altLang="zh-CN"/>
          </a:p>
        </p:txBody>
      </p:sp>
    </p:spTree>
    <p:extLst>
      <p:ext uri="{BB962C8B-B14F-4D97-AF65-F5344CB8AC3E}">
        <p14:creationId xmlns:p14="http://schemas.microsoft.com/office/powerpoint/2010/main" val="24318980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郑晓峰：</a:t>
            </a:r>
            <a:r>
              <a:rPr kumimoji="1" lang="zh-CN" altLang="en-US" sz="1200" b="0" i="0" u="none" strike="noStrike" kern="1200" baseline="0" dirty="0">
                <a:solidFill>
                  <a:schemeClr val="tx1"/>
                </a:solidFill>
                <a:latin typeface="Times New Roman" pitchFamily="18" charset="0"/>
                <a:ea typeface="宋体" charset="-122"/>
                <a:cs typeface="+mn-cs"/>
              </a:rPr>
              <a:t>在</a:t>
            </a:r>
            <a:r>
              <a:rPr kumimoji="1" lang="en-US" altLang="zh-CN" sz="1200" b="0" i="0" u="none" strike="noStrike" kern="1200" baseline="0" dirty="0">
                <a:solidFill>
                  <a:schemeClr val="tx1"/>
                </a:solidFill>
                <a:latin typeface="Times New Roman" pitchFamily="18" charset="0"/>
                <a:ea typeface="宋体" charset="-122"/>
                <a:cs typeface="+mn-cs"/>
              </a:rPr>
              <a:t>inforsec2019</a:t>
            </a:r>
            <a:r>
              <a:rPr kumimoji="1" lang="zh-CN" altLang="en-US" sz="1200" b="0" i="0" u="none" strike="noStrike" kern="1200" baseline="0" dirty="0">
                <a:solidFill>
                  <a:schemeClr val="tx1"/>
                </a:solidFill>
                <a:latin typeface="Times New Roman" pitchFamily="18" charset="0"/>
                <a:ea typeface="宋体" charset="-122"/>
                <a:cs typeface="+mn-cs"/>
              </a:rPr>
              <a:t>年会上的报告“端到端安全协议的威胁、演进和部署”</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30</a:t>
            </a:fld>
            <a:endParaRPr lang="en-US" altLang="zh-CN"/>
          </a:p>
        </p:txBody>
      </p:sp>
    </p:spTree>
    <p:extLst>
      <p:ext uri="{BB962C8B-B14F-4D97-AF65-F5344CB8AC3E}">
        <p14:creationId xmlns:p14="http://schemas.microsoft.com/office/powerpoint/2010/main" val="37457179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郑晓峰：</a:t>
            </a:r>
            <a:r>
              <a:rPr kumimoji="1" lang="zh-CN" altLang="en-US" sz="1200" b="0" i="0" u="none" strike="noStrike" kern="1200" baseline="0" dirty="0">
                <a:solidFill>
                  <a:schemeClr val="tx1"/>
                </a:solidFill>
                <a:latin typeface="Times New Roman" pitchFamily="18" charset="0"/>
                <a:ea typeface="宋体" charset="-122"/>
                <a:cs typeface="+mn-cs"/>
              </a:rPr>
              <a:t>在</a:t>
            </a:r>
            <a:r>
              <a:rPr kumimoji="1" lang="en-US" altLang="zh-CN" sz="1200" b="0" i="0" u="none" strike="noStrike" kern="1200" baseline="0" dirty="0">
                <a:solidFill>
                  <a:schemeClr val="tx1"/>
                </a:solidFill>
                <a:latin typeface="Times New Roman" pitchFamily="18" charset="0"/>
                <a:ea typeface="宋体" charset="-122"/>
                <a:cs typeface="+mn-cs"/>
              </a:rPr>
              <a:t>inforsec2019</a:t>
            </a:r>
            <a:r>
              <a:rPr kumimoji="1" lang="zh-CN" altLang="en-US" sz="1200" b="0" i="0" u="none" strike="noStrike" kern="1200" baseline="0" dirty="0">
                <a:solidFill>
                  <a:schemeClr val="tx1"/>
                </a:solidFill>
                <a:latin typeface="Times New Roman" pitchFamily="18" charset="0"/>
                <a:ea typeface="宋体" charset="-122"/>
                <a:cs typeface="+mn-cs"/>
              </a:rPr>
              <a:t>年会上的报告“端到端安全协议的威胁、演进和部署”</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31</a:t>
            </a:fld>
            <a:endParaRPr lang="en-US" altLang="zh-CN"/>
          </a:p>
        </p:txBody>
      </p:sp>
    </p:spTree>
    <p:extLst>
      <p:ext uri="{BB962C8B-B14F-4D97-AF65-F5344CB8AC3E}">
        <p14:creationId xmlns:p14="http://schemas.microsoft.com/office/powerpoint/2010/main" val="32151594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郑晓峰：</a:t>
            </a:r>
            <a:r>
              <a:rPr kumimoji="1" lang="zh-CN" altLang="en-US" sz="1200" b="0" i="0" u="none" strike="noStrike" kern="1200" baseline="0" dirty="0">
                <a:solidFill>
                  <a:schemeClr val="tx1"/>
                </a:solidFill>
                <a:latin typeface="Times New Roman" pitchFamily="18" charset="0"/>
                <a:ea typeface="宋体" charset="-122"/>
                <a:cs typeface="+mn-cs"/>
              </a:rPr>
              <a:t>在</a:t>
            </a:r>
            <a:r>
              <a:rPr kumimoji="1" lang="en-US" altLang="zh-CN" sz="1200" b="0" i="0" u="none" strike="noStrike" kern="1200" baseline="0" dirty="0">
                <a:solidFill>
                  <a:schemeClr val="tx1"/>
                </a:solidFill>
                <a:latin typeface="Times New Roman" pitchFamily="18" charset="0"/>
                <a:ea typeface="宋体" charset="-122"/>
                <a:cs typeface="+mn-cs"/>
              </a:rPr>
              <a:t>inforsec2019</a:t>
            </a:r>
            <a:r>
              <a:rPr kumimoji="1" lang="zh-CN" altLang="en-US" sz="1200" b="0" i="0" u="none" strike="noStrike" kern="1200" baseline="0" dirty="0">
                <a:solidFill>
                  <a:schemeClr val="tx1"/>
                </a:solidFill>
                <a:latin typeface="Times New Roman" pitchFamily="18" charset="0"/>
                <a:ea typeface="宋体" charset="-122"/>
                <a:cs typeface="+mn-cs"/>
              </a:rPr>
              <a:t>年会上的报告“端到端安全协议的威胁、演进和部署”</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32</a:t>
            </a:fld>
            <a:endParaRPr lang="en-US" altLang="zh-CN"/>
          </a:p>
        </p:txBody>
      </p:sp>
    </p:spTree>
    <p:extLst>
      <p:ext uri="{BB962C8B-B14F-4D97-AF65-F5344CB8AC3E}">
        <p14:creationId xmlns:p14="http://schemas.microsoft.com/office/powerpoint/2010/main" val="23091044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清华大学段海新教授的学术报告：端到端通信中的中间盒子</a:t>
            </a:r>
            <a:r>
              <a:rPr lang="en-US" altLang="zh-CN" dirty="0"/>
              <a:t>—</a:t>
            </a:r>
            <a:r>
              <a:rPr lang="zh-CN" altLang="en-US" dirty="0"/>
              <a:t>祝福还是诅咒？</a:t>
            </a:r>
          </a:p>
          <a:p>
            <a:r>
              <a:rPr lang="en-US" altLang="zh-CN" dirty="0" smtClean="0"/>
              <a:t>https://</a:t>
            </a:r>
            <a:r>
              <a:rPr lang="en-US" altLang="zh-CN" dirty="0" smtClean="0"/>
              <a:t>zhuanlan.zhihu.com/p/41393672</a:t>
            </a:r>
          </a:p>
          <a:p>
            <a:r>
              <a:rPr lang="en-US" altLang="zh-CN" smtClean="0"/>
              <a:t>https://www.secrss.com/articles/4323</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33</a:t>
            </a:fld>
            <a:endParaRPr lang="en-US" altLang="zh-CN"/>
          </a:p>
        </p:txBody>
      </p:sp>
    </p:spTree>
    <p:extLst>
      <p:ext uri="{BB962C8B-B14F-4D97-AF65-F5344CB8AC3E}">
        <p14:creationId xmlns:p14="http://schemas.microsoft.com/office/powerpoint/2010/main" val="15883706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清华大学段海新教授的学术报告：端到端通信中的中间盒子</a:t>
            </a:r>
            <a:r>
              <a:rPr lang="en-US" altLang="zh-CN" dirty="0"/>
              <a:t>—</a:t>
            </a:r>
            <a:r>
              <a:rPr lang="zh-CN" altLang="en-US" dirty="0"/>
              <a:t>祝福还是诅咒？</a:t>
            </a:r>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34</a:t>
            </a:fld>
            <a:endParaRPr lang="en-US" altLang="zh-CN"/>
          </a:p>
        </p:txBody>
      </p:sp>
    </p:spTree>
    <p:extLst>
      <p:ext uri="{BB962C8B-B14F-4D97-AF65-F5344CB8AC3E}">
        <p14:creationId xmlns:p14="http://schemas.microsoft.com/office/powerpoint/2010/main" val="28644076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清华大学段海新教授的学术报告：端到端通信中的中间盒子</a:t>
            </a:r>
            <a:r>
              <a:rPr lang="en-US" altLang="zh-CN" dirty="0"/>
              <a:t>—</a:t>
            </a:r>
            <a:r>
              <a:rPr lang="zh-CN" altLang="en-US" dirty="0"/>
              <a:t>祝福还是诅咒？</a:t>
            </a:r>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35</a:t>
            </a:fld>
            <a:endParaRPr lang="en-US" altLang="zh-CN"/>
          </a:p>
        </p:txBody>
      </p:sp>
    </p:spTree>
    <p:extLst>
      <p:ext uri="{BB962C8B-B14F-4D97-AF65-F5344CB8AC3E}">
        <p14:creationId xmlns:p14="http://schemas.microsoft.com/office/powerpoint/2010/main" val="39738109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清华大学段海新教授的学术报告：端到端通信中的中间盒子</a:t>
            </a:r>
            <a:r>
              <a:rPr lang="en-US" altLang="zh-CN" dirty="0"/>
              <a:t>—</a:t>
            </a:r>
            <a:r>
              <a:rPr lang="zh-CN" altLang="en-US" dirty="0"/>
              <a:t>祝福还是诅咒？</a:t>
            </a:r>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36</a:t>
            </a:fld>
            <a:endParaRPr lang="en-US" altLang="zh-CN"/>
          </a:p>
        </p:txBody>
      </p:sp>
    </p:spTree>
    <p:extLst>
      <p:ext uri="{BB962C8B-B14F-4D97-AF65-F5344CB8AC3E}">
        <p14:creationId xmlns:p14="http://schemas.microsoft.com/office/powerpoint/2010/main" val="38748938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清华大学段海新教授的学术报告：端到端通信中的中间盒子</a:t>
            </a:r>
            <a:r>
              <a:rPr lang="en-US" altLang="zh-CN" dirty="0"/>
              <a:t>—</a:t>
            </a:r>
            <a:r>
              <a:rPr lang="zh-CN" altLang="en-US" dirty="0"/>
              <a:t>祝福还是诅咒？</a:t>
            </a:r>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37</a:t>
            </a:fld>
            <a:endParaRPr lang="en-US" altLang="zh-CN"/>
          </a:p>
        </p:txBody>
      </p:sp>
    </p:spTree>
    <p:extLst>
      <p:ext uri="{BB962C8B-B14F-4D97-AF65-F5344CB8AC3E}">
        <p14:creationId xmlns:p14="http://schemas.microsoft.com/office/powerpoint/2010/main" val="20761793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p:txBody>
          <a:bodyPr/>
          <a:lstStyle/>
          <a:p>
            <a:pPr>
              <a:defRPr/>
            </a:pPr>
            <a:fld id="{9FD54D0F-DE20-458F-9711-211063689A02}" type="slidenum">
              <a:rPr lang="zh-CN" altLang="en-US" smtClean="0"/>
              <a:pPr>
                <a:defRPr/>
              </a:pPr>
              <a:t>38</a:t>
            </a:fld>
            <a:endParaRPr lang="en-US" altLang="zh-CN"/>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noFill/>
          <a:ln/>
        </p:spPr>
        <p:txBody>
          <a:bodyPr/>
          <a:lstStyle/>
          <a:p>
            <a:pPr eaLnBrk="1" hangingPunct="1"/>
            <a:endParaRPr lang="zh-CN" altLang="en-US"/>
          </a:p>
        </p:txBody>
      </p:sp>
    </p:spTree>
    <p:extLst>
      <p:ext uri="{BB962C8B-B14F-4D97-AF65-F5344CB8AC3E}">
        <p14:creationId xmlns:p14="http://schemas.microsoft.com/office/powerpoint/2010/main" val="12966513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注意</a:t>
            </a:r>
            <a:r>
              <a:rPr lang="en-US" altLang="zh-CN" dirty="0"/>
              <a:t>IPsec</a:t>
            </a:r>
            <a:r>
              <a:rPr lang="zh-CN" altLang="en-US" dirty="0"/>
              <a:t>的缩写，不是</a:t>
            </a:r>
            <a:r>
              <a:rPr lang="en-US" altLang="zh-CN" dirty="0"/>
              <a:t>IPSec</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44</a:t>
            </a:fld>
            <a:endParaRPr lang="en-US" altLang="zh-CN"/>
          </a:p>
        </p:txBody>
      </p:sp>
    </p:spTree>
    <p:extLst>
      <p:ext uri="{BB962C8B-B14F-4D97-AF65-F5344CB8AC3E}">
        <p14:creationId xmlns:p14="http://schemas.microsoft.com/office/powerpoint/2010/main" val="37689425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45</a:t>
            </a:fld>
            <a:endParaRPr lang="en-US" altLang="zh-CN"/>
          </a:p>
        </p:txBody>
      </p:sp>
    </p:spTree>
    <p:extLst>
      <p:ext uri="{BB962C8B-B14F-4D97-AF65-F5344CB8AC3E}">
        <p14:creationId xmlns:p14="http://schemas.microsoft.com/office/powerpoint/2010/main" val="14944997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48</a:t>
            </a:fld>
            <a:endParaRPr lang="en-US" altLang="zh-CN"/>
          </a:p>
        </p:txBody>
      </p:sp>
    </p:spTree>
    <p:extLst>
      <p:ext uri="{BB962C8B-B14F-4D97-AF65-F5344CB8AC3E}">
        <p14:creationId xmlns:p14="http://schemas.microsoft.com/office/powerpoint/2010/main" val="36769174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hlinkClick r:id="rId3"/>
              </a:rPr>
              <a:t>https://security.tencent.com/index.php/blog/msg/147</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51</a:t>
            </a:fld>
            <a:endParaRPr lang="en-US" altLang="zh-CN"/>
          </a:p>
        </p:txBody>
      </p:sp>
    </p:spTree>
    <p:extLst>
      <p:ext uri="{BB962C8B-B14F-4D97-AF65-F5344CB8AC3E}">
        <p14:creationId xmlns:p14="http://schemas.microsoft.com/office/powerpoint/2010/main" val="38405277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60</a:t>
            </a:fld>
            <a:endParaRPr lang="en-US" altLang="zh-CN"/>
          </a:p>
        </p:txBody>
      </p:sp>
    </p:spTree>
    <p:extLst>
      <p:ext uri="{BB962C8B-B14F-4D97-AF65-F5344CB8AC3E}">
        <p14:creationId xmlns:p14="http://schemas.microsoft.com/office/powerpoint/2010/main" val="354091759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zh-CN" sz="1200" kern="1200" dirty="0">
                <a:solidFill>
                  <a:schemeClr val="tx1"/>
                </a:solidFill>
                <a:effectLst/>
                <a:latin typeface="Times New Roman" pitchFamily="18" charset="0"/>
                <a:ea typeface="宋体" charset="-122"/>
                <a:cs typeface="+mn-cs"/>
              </a:rPr>
              <a:t>图</a:t>
            </a:r>
            <a:r>
              <a:rPr kumimoji="1" lang="en-US" altLang="zh-CN" sz="1200" kern="1200" dirty="0">
                <a:solidFill>
                  <a:schemeClr val="tx1"/>
                </a:solidFill>
                <a:effectLst/>
                <a:latin typeface="Times New Roman" pitchFamily="18" charset="0"/>
                <a:ea typeface="宋体" charset="-122"/>
                <a:cs typeface="+mn-cs"/>
              </a:rPr>
              <a:t>6-19  BGP</a:t>
            </a:r>
            <a:r>
              <a:rPr kumimoji="1" lang="zh-CN" altLang="zh-CN" sz="1200" kern="1200" dirty="0">
                <a:solidFill>
                  <a:schemeClr val="tx1"/>
                </a:solidFill>
                <a:effectLst/>
                <a:latin typeface="Times New Roman" pitchFamily="18" charset="0"/>
                <a:ea typeface="宋体" charset="-122"/>
                <a:cs typeface="+mn-cs"/>
              </a:rPr>
              <a:t>发言人和自治系统</a:t>
            </a:r>
            <a:r>
              <a:rPr kumimoji="1" lang="en-US" altLang="zh-CN" sz="1200" kern="1200" dirty="0">
                <a:solidFill>
                  <a:schemeClr val="tx1"/>
                </a:solidFill>
                <a:effectLst/>
                <a:latin typeface="Times New Roman" pitchFamily="18" charset="0"/>
                <a:ea typeface="宋体" charset="-122"/>
                <a:cs typeface="+mn-cs"/>
              </a:rPr>
              <a:t>AS</a:t>
            </a:r>
            <a:r>
              <a:rPr kumimoji="1" lang="zh-CN" altLang="zh-CN" sz="1200" kern="1200" dirty="0">
                <a:solidFill>
                  <a:schemeClr val="tx1"/>
                </a:solidFill>
                <a:effectLst/>
                <a:latin typeface="Times New Roman" pitchFamily="18" charset="0"/>
                <a:ea typeface="宋体" charset="-122"/>
                <a:cs typeface="+mn-cs"/>
              </a:rPr>
              <a:t>的关系</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82</a:t>
            </a:fld>
            <a:endParaRPr lang="en-US" altLang="zh-CN"/>
          </a:p>
        </p:txBody>
      </p:sp>
    </p:spTree>
    <p:extLst>
      <p:ext uri="{BB962C8B-B14F-4D97-AF65-F5344CB8AC3E}">
        <p14:creationId xmlns:p14="http://schemas.microsoft.com/office/powerpoint/2010/main" val="425719654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85</a:t>
            </a:fld>
            <a:endParaRPr lang="en-US" altLang="zh-CN"/>
          </a:p>
        </p:txBody>
      </p:sp>
    </p:spTree>
    <p:extLst>
      <p:ext uri="{BB962C8B-B14F-4D97-AF65-F5344CB8AC3E}">
        <p14:creationId xmlns:p14="http://schemas.microsoft.com/office/powerpoint/2010/main" val="193718109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zh-CN" sz="1200" kern="1200" dirty="0">
                <a:solidFill>
                  <a:schemeClr val="tx1"/>
                </a:solidFill>
                <a:effectLst/>
                <a:latin typeface="Times New Roman" pitchFamily="18" charset="0"/>
                <a:ea typeface="宋体" charset="-122"/>
                <a:cs typeface="+mn-cs"/>
              </a:rPr>
              <a:t>对于数字大炮，现有的</a:t>
            </a:r>
            <a:r>
              <a:rPr kumimoji="1" lang="en-US" altLang="zh-CN" sz="1200" kern="1200" dirty="0">
                <a:solidFill>
                  <a:schemeClr val="tx1"/>
                </a:solidFill>
                <a:effectLst/>
                <a:latin typeface="Times New Roman" pitchFamily="18" charset="0"/>
                <a:ea typeface="宋体" charset="-122"/>
                <a:cs typeface="+mn-cs"/>
              </a:rPr>
              <a:t>BGP</a:t>
            </a:r>
            <a:r>
              <a:rPr kumimoji="1" lang="zh-CN" altLang="zh-CN" sz="1200" kern="1200" dirty="0">
                <a:solidFill>
                  <a:schemeClr val="tx1"/>
                </a:solidFill>
                <a:effectLst/>
                <a:latin typeface="Times New Roman" pitchFamily="18" charset="0"/>
                <a:ea typeface="宋体" charset="-122"/>
                <a:cs typeface="+mn-cs"/>
              </a:rPr>
              <a:t>内置故障保护措施几乎无能为力</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86</a:t>
            </a:fld>
            <a:endParaRPr lang="en-US" altLang="zh-CN"/>
          </a:p>
        </p:txBody>
      </p:sp>
    </p:spTree>
    <p:extLst>
      <p:ext uri="{BB962C8B-B14F-4D97-AF65-F5344CB8AC3E}">
        <p14:creationId xmlns:p14="http://schemas.microsoft.com/office/powerpoint/2010/main" val="210833939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hlinkClick r:id="rId3"/>
              </a:rPr>
              <a:t>https://www.sohu.com/a/385948355_465914</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89</a:t>
            </a:fld>
            <a:endParaRPr lang="en-US" altLang="zh-CN"/>
          </a:p>
        </p:txBody>
      </p:sp>
    </p:spTree>
    <p:extLst>
      <p:ext uri="{BB962C8B-B14F-4D97-AF65-F5344CB8AC3E}">
        <p14:creationId xmlns:p14="http://schemas.microsoft.com/office/powerpoint/2010/main" val="405777432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sz="1200" b="0" i="0" kern="1200" dirty="0">
                <a:solidFill>
                  <a:schemeClr val="tx1"/>
                </a:solidFill>
                <a:effectLst/>
                <a:latin typeface="Times New Roman" pitchFamily="18" charset="0"/>
                <a:ea typeface="宋体" charset="-122"/>
                <a:cs typeface="+mn-cs"/>
              </a:rPr>
              <a:t>2017</a:t>
            </a:r>
            <a:r>
              <a:rPr kumimoji="1" lang="zh-CN" altLang="en-US" sz="1200" b="0" i="0" kern="1200" dirty="0">
                <a:solidFill>
                  <a:schemeClr val="tx1"/>
                </a:solidFill>
                <a:effectLst/>
                <a:latin typeface="Times New Roman" pitchFamily="18" charset="0"/>
                <a:ea typeface="宋体" charset="-122"/>
                <a:cs typeface="+mn-cs"/>
              </a:rPr>
              <a:t>年</a:t>
            </a:r>
            <a:r>
              <a:rPr kumimoji="1" lang="en-US" altLang="zh-CN" sz="1200" b="0" i="0" kern="1200" dirty="0">
                <a:solidFill>
                  <a:schemeClr val="tx1"/>
                </a:solidFill>
                <a:effectLst/>
                <a:latin typeface="Times New Roman" pitchFamily="18" charset="0"/>
                <a:ea typeface="宋体" charset="-122"/>
                <a:cs typeface="+mn-cs"/>
              </a:rPr>
              <a:t>10</a:t>
            </a:r>
            <a:r>
              <a:rPr kumimoji="1" lang="zh-CN" altLang="en-US" sz="1200" b="0" i="0" kern="1200" dirty="0">
                <a:solidFill>
                  <a:schemeClr val="tx1"/>
                </a:solidFill>
                <a:effectLst/>
                <a:latin typeface="Times New Roman" pitchFamily="18" charset="0"/>
                <a:ea typeface="宋体" charset="-122"/>
                <a:cs typeface="+mn-cs"/>
              </a:rPr>
              <a:t>月，美国国家标准技术研究所与美国国土安全部科学与技术理事会共同启动了一个名为安全域间路由（</a:t>
            </a:r>
            <a:r>
              <a:rPr kumimoji="1" lang="en-US" altLang="zh-CN" sz="1200" b="0" i="0" kern="1200" dirty="0">
                <a:solidFill>
                  <a:schemeClr val="tx1"/>
                </a:solidFill>
                <a:effectLst/>
                <a:latin typeface="Times New Roman" pitchFamily="18" charset="0"/>
                <a:ea typeface="宋体" charset="-122"/>
                <a:cs typeface="+mn-cs"/>
              </a:rPr>
              <a:t>SIDR</a:t>
            </a:r>
            <a:r>
              <a:rPr kumimoji="1" lang="zh-CN" altLang="en-US" sz="1200" b="0" i="0" kern="1200" dirty="0">
                <a:solidFill>
                  <a:schemeClr val="tx1"/>
                </a:solidFill>
                <a:effectLst/>
                <a:latin typeface="Times New Roman" pitchFamily="18" charset="0"/>
                <a:ea typeface="宋体" charset="-122"/>
                <a:cs typeface="+mn-cs"/>
              </a:rPr>
              <a:t>）的联合项目，明确提出应对 </a:t>
            </a:r>
            <a:r>
              <a:rPr kumimoji="1" lang="en-US" altLang="zh-CN" sz="1200" b="0" i="0" kern="1200" dirty="0">
                <a:solidFill>
                  <a:schemeClr val="tx1"/>
                </a:solidFill>
                <a:effectLst/>
                <a:latin typeface="Times New Roman" pitchFamily="18" charset="0"/>
                <a:ea typeface="宋体" charset="-122"/>
                <a:cs typeface="+mn-cs"/>
              </a:rPr>
              <a:t>BGP </a:t>
            </a:r>
            <a:r>
              <a:rPr kumimoji="1" lang="zh-CN" altLang="en-US" sz="1200" b="0" i="0" kern="1200" dirty="0">
                <a:solidFill>
                  <a:schemeClr val="tx1"/>
                </a:solidFill>
                <a:effectLst/>
                <a:latin typeface="Times New Roman" pitchFamily="18" charset="0"/>
                <a:ea typeface="宋体" charset="-122"/>
                <a:cs typeface="+mn-cs"/>
              </a:rPr>
              <a:t>协议进行保护以抵御此类攻击威胁。</a:t>
            </a:r>
          </a:p>
          <a:p>
            <a:r>
              <a:rPr kumimoji="1" lang="en-US" altLang="zh-CN" sz="1200" b="0" i="0" kern="1200" dirty="0">
                <a:solidFill>
                  <a:schemeClr val="tx1"/>
                </a:solidFill>
                <a:effectLst/>
                <a:latin typeface="Times New Roman" pitchFamily="18" charset="0"/>
                <a:ea typeface="宋体" charset="-122"/>
                <a:cs typeface="+mn-cs"/>
              </a:rPr>
              <a:t>NIST </a:t>
            </a:r>
            <a:r>
              <a:rPr kumimoji="1" lang="zh-CN" altLang="en-US" sz="1200" b="0" i="0" kern="1200" dirty="0">
                <a:solidFill>
                  <a:schemeClr val="tx1"/>
                </a:solidFill>
                <a:effectLst/>
                <a:latin typeface="Times New Roman" pitchFamily="18" charset="0"/>
                <a:ea typeface="宋体" charset="-122"/>
                <a:cs typeface="+mn-cs"/>
              </a:rPr>
              <a:t>下辖国家网络安全卓越中心在当时的一份声明中指出，“我们的主要目标，在于利用加密方法确保路由数据沿网络间的授权路径进行传播。”</a:t>
            </a:r>
          </a:p>
          <a:p>
            <a:r>
              <a:rPr kumimoji="1" lang="zh-CN" altLang="en-US" sz="1200" b="0" i="0" kern="1200" dirty="0">
                <a:solidFill>
                  <a:schemeClr val="tx1"/>
                </a:solidFill>
                <a:effectLst/>
                <a:latin typeface="Times New Roman" pitchFamily="18" charset="0"/>
                <a:ea typeface="宋体" charset="-122"/>
                <a:cs typeface="+mn-cs"/>
              </a:rPr>
              <a:t>“</a:t>
            </a:r>
            <a:r>
              <a:rPr kumimoji="1" lang="en-US" altLang="zh-CN" sz="1200" b="0" i="0" kern="1200" dirty="0">
                <a:solidFill>
                  <a:schemeClr val="tx1"/>
                </a:solidFill>
                <a:effectLst/>
                <a:latin typeface="Times New Roman" pitchFamily="18" charset="0"/>
                <a:ea typeface="宋体" charset="-122"/>
                <a:cs typeface="+mn-cs"/>
              </a:rPr>
              <a:t>IETF SIDR ”</a:t>
            </a:r>
            <a:r>
              <a:rPr kumimoji="1" lang="zh-CN" altLang="en-US" sz="1200" b="0" i="0" kern="1200" dirty="0">
                <a:solidFill>
                  <a:schemeClr val="tx1"/>
                </a:solidFill>
                <a:effectLst/>
                <a:latin typeface="Times New Roman" pitchFamily="18" charset="0"/>
                <a:ea typeface="宋体" charset="-122"/>
                <a:cs typeface="+mn-cs"/>
              </a:rPr>
              <a:t>项目主要分为三个基本组成部分：</a:t>
            </a:r>
          </a:p>
          <a:p>
            <a:r>
              <a:rPr kumimoji="1" lang="zh-CN" altLang="en-US" sz="1200" b="0" i="0" kern="1200" dirty="0">
                <a:solidFill>
                  <a:schemeClr val="tx1"/>
                </a:solidFill>
                <a:effectLst/>
                <a:latin typeface="Times New Roman" pitchFamily="18" charset="0"/>
                <a:ea typeface="宋体" charset="-122"/>
                <a:cs typeface="+mn-cs"/>
              </a:rPr>
              <a:t>第一：资源公钥基础设施（简称</a:t>
            </a:r>
            <a:r>
              <a:rPr kumimoji="1" lang="en-US" altLang="zh-CN" sz="1200" b="0" i="0" kern="1200" dirty="0">
                <a:solidFill>
                  <a:schemeClr val="tx1"/>
                </a:solidFill>
                <a:effectLst/>
                <a:latin typeface="Times New Roman" pitchFamily="18" charset="0"/>
                <a:ea typeface="宋体" charset="-122"/>
                <a:cs typeface="+mn-cs"/>
              </a:rPr>
              <a:t>RPKI</a:t>
            </a:r>
            <a:r>
              <a:rPr kumimoji="1" lang="zh-CN" altLang="en-US" sz="1200" b="0" i="0" kern="1200" dirty="0">
                <a:solidFill>
                  <a:schemeClr val="tx1"/>
                </a:solidFill>
                <a:effectLst/>
                <a:latin typeface="Times New Roman" pitchFamily="18" charset="0"/>
                <a:ea typeface="宋体" charset="-122"/>
                <a:cs typeface="+mn-cs"/>
              </a:rPr>
              <a:t>），负责为互联网地址持有方</a:t>
            </a:r>
            <a:r>
              <a:rPr kumimoji="1" lang="en-US" altLang="zh-CN" sz="1200" b="0" i="0" kern="1200" dirty="0">
                <a:solidFill>
                  <a:schemeClr val="tx1"/>
                </a:solidFill>
                <a:effectLst/>
                <a:latin typeface="Times New Roman" pitchFamily="18" charset="0"/>
                <a:ea typeface="宋体" charset="-122"/>
                <a:cs typeface="+mn-cs"/>
              </a:rPr>
              <a:t>——</a:t>
            </a:r>
            <a:r>
              <a:rPr kumimoji="1" lang="zh-CN" altLang="en-US" sz="1200" b="0" i="0" kern="1200" dirty="0">
                <a:solidFill>
                  <a:schemeClr val="tx1"/>
                </a:solidFill>
                <a:effectLst/>
                <a:latin typeface="Times New Roman" pitchFamily="18" charset="0"/>
                <a:ea typeface="宋体" charset="-122"/>
                <a:cs typeface="+mn-cs"/>
              </a:rPr>
              <a:t>通常为企业或云服务供应商</a:t>
            </a:r>
            <a:r>
              <a:rPr kumimoji="1" lang="en-US" altLang="zh-CN" sz="1200" b="0" i="0" kern="1200" dirty="0">
                <a:solidFill>
                  <a:schemeClr val="tx1"/>
                </a:solidFill>
                <a:effectLst/>
                <a:latin typeface="Times New Roman" pitchFamily="18" charset="0"/>
                <a:ea typeface="宋体" charset="-122"/>
                <a:cs typeface="+mn-cs"/>
              </a:rPr>
              <a:t>——</a:t>
            </a:r>
            <a:r>
              <a:rPr kumimoji="1" lang="zh-CN" altLang="en-US" sz="1200" b="0" i="0" kern="1200" dirty="0">
                <a:solidFill>
                  <a:schemeClr val="tx1"/>
                </a:solidFill>
                <a:effectLst/>
                <a:latin typeface="Times New Roman" pitchFamily="18" charset="0"/>
                <a:ea typeface="宋体" charset="-122"/>
                <a:cs typeface="+mn-cs"/>
              </a:rPr>
              <a:t>提供控制能力，用以规定哪些网络能够与其地址块进行直接连接；</a:t>
            </a:r>
          </a:p>
          <a:p>
            <a:r>
              <a:rPr kumimoji="1" lang="zh-CN" altLang="en-US" sz="1200" b="0" i="0" kern="1200" dirty="0">
                <a:solidFill>
                  <a:schemeClr val="tx1"/>
                </a:solidFill>
                <a:effectLst/>
                <a:latin typeface="Times New Roman" pitchFamily="18" charset="0"/>
                <a:ea typeface="宋体" charset="-122"/>
                <a:cs typeface="+mn-cs"/>
              </a:rPr>
              <a:t>其二： </a:t>
            </a:r>
            <a:r>
              <a:rPr kumimoji="1" lang="en-US" altLang="zh-CN" sz="1200" b="0" i="0" kern="1200" dirty="0">
                <a:solidFill>
                  <a:schemeClr val="tx1"/>
                </a:solidFill>
                <a:effectLst/>
                <a:latin typeface="Times New Roman" pitchFamily="18" charset="0"/>
                <a:ea typeface="宋体" charset="-122"/>
                <a:cs typeface="+mn-cs"/>
              </a:rPr>
              <a:t>BGP </a:t>
            </a:r>
            <a:r>
              <a:rPr kumimoji="1" lang="zh-CN" altLang="en-US" sz="1200" b="0" i="0" kern="1200" dirty="0">
                <a:solidFill>
                  <a:schemeClr val="tx1"/>
                </a:solidFill>
                <a:effectLst/>
                <a:latin typeface="Times New Roman" pitchFamily="18" charset="0"/>
                <a:ea typeface="宋体" charset="-122"/>
                <a:cs typeface="+mn-cs"/>
              </a:rPr>
              <a:t>来源验证机制，允许路由器利用 </a:t>
            </a:r>
            <a:r>
              <a:rPr kumimoji="1" lang="en-US" altLang="zh-CN" sz="1200" b="0" i="0" kern="1200" dirty="0">
                <a:solidFill>
                  <a:schemeClr val="tx1"/>
                </a:solidFill>
                <a:effectLst/>
                <a:latin typeface="Times New Roman" pitchFamily="18" charset="0"/>
                <a:ea typeface="宋体" charset="-122"/>
                <a:cs typeface="+mn-cs"/>
              </a:rPr>
              <a:t>RPKI </a:t>
            </a:r>
            <a:r>
              <a:rPr kumimoji="1" lang="zh-CN" altLang="en-US" sz="1200" b="0" i="0" kern="1200" dirty="0">
                <a:solidFill>
                  <a:schemeClr val="tx1"/>
                </a:solidFill>
                <a:effectLst/>
                <a:latin typeface="Times New Roman" pitchFamily="18" charset="0"/>
                <a:ea typeface="宋体" charset="-122"/>
                <a:cs typeface="+mn-cs"/>
              </a:rPr>
              <a:t>信息对未经授权的 </a:t>
            </a:r>
            <a:r>
              <a:rPr kumimoji="1" lang="en-US" altLang="zh-CN" sz="1200" b="0" i="0" kern="1200" dirty="0">
                <a:solidFill>
                  <a:schemeClr val="tx1"/>
                </a:solidFill>
                <a:effectLst/>
                <a:latin typeface="Times New Roman" pitchFamily="18" charset="0"/>
                <a:ea typeface="宋体" charset="-122"/>
                <a:cs typeface="+mn-cs"/>
              </a:rPr>
              <a:t>BGP </a:t>
            </a:r>
            <a:r>
              <a:rPr kumimoji="1" lang="zh-CN" altLang="en-US" sz="1200" b="0" i="0" kern="1200" dirty="0">
                <a:solidFill>
                  <a:schemeClr val="tx1"/>
                </a:solidFill>
                <a:effectLst/>
                <a:latin typeface="Times New Roman" pitchFamily="18" charset="0"/>
                <a:ea typeface="宋体" charset="-122"/>
                <a:cs typeface="+mn-cs"/>
              </a:rPr>
              <a:t>路由通告进行过滤，从而确保恶意方无法轻松将流量劫持至特定目的地；</a:t>
            </a:r>
          </a:p>
          <a:p>
            <a:r>
              <a:rPr kumimoji="1" lang="zh-CN" altLang="en-US" sz="1200" b="0" i="0" kern="1200" dirty="0">
                <a:solidFill>
                  <a:schemeClr val="tx1"/>
                </a:solidFill>
                <a:effectLst/>
                <a:latin typeface="Times New Roman" pitchFamily="18" charset="0"/>
                <a:ea typeface="宋体" charset="-122"/>
                <a:cs typeface="+mn-cs"/>
              </a:rPr>
              <a:t>第三： </a:t>
            </a:r>
            <a:r>
              <a:rPr kumimoji="1" lang="en-US" altLang="zh-CN" sz="1200" b="0" i="0" kern="1200" dirty="0">
                <a:solidFill>
                  <a:schemeClr val="tx1"/>
                </a:solidFill>
                <a:effectLst/>
                <a:latin typeface="Times New Roman" pitchFamily="18" charset="0"/>
                <a:ea typeface="宋体" charset="-122"/>
                <a:cs typeface="+mn-cs"/>
              </a:rPr>
              <a:t>BGP </a:t>
            </a:r>
            <a:r>
              <a:rPr kumimoji="1" lang="zh-CN" altLang="en-US" sz="1200" b="0" i="0" kern="1200" dirty="0">
                <a:solidFill>
                  <a:schemeClr val="tx1"/>
                </a:solidFill>
                <a:effectLst/>
                <a:latin typeface="Times New Roman" pitchFamily="18" charset="0"/>
                <a:ea typeface="宋体" charset="-122"/>
                <a:cs typeface="+mn-cs"/>
              </a:rPr>
              <a:t>路径验证（简称</a:t>
            </a:r>
            <a:r>
              <a:rPr kumimoji="1" lang="en-US" altLang="zh-CN" sz="1200" b="0" i="0" kern="1200" dirty="0" err="1">
                <a:solidFill>
                  <a:schemeClr val="tx1"/>
                </a:solidFill>
                <a:effectLst/>
                <a:latin typeface="Times New Roman" pitchFamily="18" charset="0"/>
                <a:ea typeface="宋体" charset="-122"/>
                <a:cs typeface="+mn-cs"/>
              </a:rPr>
              <a:t>GBPsec</a:t>
            </a:r>
            <a:r>
              <a:rPr kumimoji="1" lang="zh-CN" altLang="en-US" sz="1200" b="0" i="0" kern="1200" dirty="0">
                <a:solidFill>
                  <a:schemeClr val="tx1"/>
                </a:solidFill>
                <a:effectLst/>
                <a:latin typeface="Times New Roman" pitchFamily="18" charset="0"/>
                <a:ea typeface="宋体" charset="-122"/>
                <a:cs typeface="+mn-cs"/>
              </a:rPr>
              <a:t>），即</a:t>
            </a:r>
            <a:r>
              <a:rPr kumimoji="1" lang="en-US" altLang="zh-CN" sz="1200" b="0" i="0" kern="1200" dirty="0">
                <a:solidFill>
                  <a:schemeClr val="tx1"/>
                </a:solidFill>
                <a:effectLst/>
                <a:latin typeface="Times New Roman" pitchFamily="18" charset="0"/>
                <a:ea typeface="宋体" charset="-122"/>
                <a:cs typeface="+mn-cs"/>
              </a:rPr>
              <a:t>IETF</a:t>
            </a:r>
            <a:r>
              <a:rPr kumimoji="1" lang="zh-CN" altLang="en-US" sz="1200" b="0" i="0" kern="1200" dirty="0">
                <a:solidFill>
                  <a:schemeClr val="tx1"/>
                </a:solidFill>
                <a:effectLst/>
                <a:latin typeface="Times New Roman" pitchFamily="18" charset="0"/>
                <a:ea typeface="宋体" charset="-122"/>
                <a:cs typeface="+mn-cs"/>
              </a:rPr>
              <a:t>刚刚发布的标准草案（</a:t>
            </a:r>
            <a:r>
              <a:rPr kumimoji="1" lang="en-US" altLang="zh-CN" sz="1200" b="0" i="0" kern="1200" dirty="0">
                <a:solidFill>
                  <a:schemeClr val="tx1"/>
                </a:solidFill>
                <a:effectLst/>
                <a:latin typeface="Times New Roman" pitchFamily="18" charset="0"/>
                <a:ea typeface="宋体" charset="-122"/>
                <a:cs typeface="+mn-cs"/>
              </a:rPr>
              <a:t>RFC 8205</a:t>
            </a:r>
            <a:r>
              <a:rPr kumimoji="1" lang="zh-CN" altLang="en-US" sz="1200" b="0" i="0" kern="1200" dirty="0">
                <a:solidFill>
                  <a:schemeClr val="tx1"/>
                </a:solidFill>
                <a:effectLst/>
                <a:latin typeface="Times New Roman" pitchFamily="18" charset="0"/>
                <a:ea typeface="宋体" charset="-122"/>
                <a:cs typeface="+mn-cs"/>
              </a:rPr>
              <a:t>至</a:t>
            </a:r>
            <a:r>
              <a:rPr kumimoji="1" lang="en-US" altLang="zh-CN" sz="1200" b="0" i="0" kern="1200" dirty="0">
                <a:solidFill>
                  <a:schemeClr val="tx1"/>
                </a:solidFill>
                <a:effectLst/>
                <a:latin typeface="Times New Roman" pitchFamily="18" charset="0"/>
                <a:ea typeface="宋体" charset="-122"/>
                <a:cs typeface="+mn-cs"/>
              </a:rPr>
              <a:t>8210</a:t>
            </a:r>
            <a:r>
              <a:rPr kumimoji="1" lang="zh-CN" altLang="en-US" sz="1200" b="0" i="0" kern="1200" dirty="0">
                <a:solidFill>
                  <a:schemeClr val="tx1"/>
                </a:solidFill>
                <a:effectLst/>
                <a:latin typeface="Times New Roman" pitchFamily="18" charset="0"/>
                <a:ea typeface="宋体" charset="-122"/>
                <a:cs typeface="+mn-cs"/>
              </a:rPr>
              <a:t>）中描述的内容。”</a:t>
            </a:r>
          </a:p>
          <a:p>
            <a:r>
              <a:rPr kumimoji="1" lang="zh-CN" altLang="en-US" sz="1200" b="0" i="0" kern="1200" dirty="0">
                <a:solidFill>
                  <a:schemeClr val="tx1"/>
                </a:solidFill>
                <a:effectLst/>
                <a:latin typeface="Times New Roman" pitchFamily="18" charset="0"/>
                <a:ea typeface="宋体" charset="-122"/>
                <a:cs typeface="+mn-cs"/>
              </a:rPr>
              <a:t>备注：</a:t>
            </a:r>
            <a:r>
              <a:rPr kumimoji="1" lang="en-US" altLang="zh-CN" sz="1200" b="0" i="0" kern="1200" dirty="0">
                <a:solidFill>
                  <a:schemeClr val="tx1"/>
                </a:solidFill>
                <a:effectLst/>
                <a:latin typeface="Times New Roman" pitchFamily="18" charset="0"/>
                <a:ea typeface="宋体" charset="-122"/>
                <a:cs typeface="+mn-cs"/>
              </a:rPr>
              <a:t>RPKI </a:t>
            </a:r>
            <a:r>
              <a:rPr kumimoji="1" lang="zh-CN" altLang="en-US" sz="1200" b="0" i="0" kern="1200" dirty="0">
                <a:solidFill>
                  <a:schemeClr val="tx1"/>
                </a:solidFill>
                <a:effectLst/>
                <a:latin typeface="Times New Roman" pitchFamily="18" charset="0"/>
                <a:ea typeface="宋体" charset="-122"/>
                <a:cs typeface="+mn-cs"/>
              </a:rPr>
              <a:t>为 </a:t>
            </a:r>
            <a:r>
              <a:rPr kumimoji="1" lang="en-US" altLang="zh-CN" sz="1200" b="0" i="0" kern="1200" dirty="0">
                <a:solidFill>
                  <a:schemeClr val="tx1"/>
                </a:solidFill>
                <a:effectLst/>
                <a:latin typeface="Times New Roman" pitchFamily="18" charset="0"/>
                <a:ea typeface="宋体" charset="-122"/>
                <a:cs typeface="+mn-cs"/>
              </a:rPr>
              <a:t>IETF </a:t>
            </a:r>
            <a:r>
              <a:rPr kumimoji="1" lang="zh-CN" altLang="en-US" sz="1200" b="0" i="0" kern="1200" dirty="0">
                <a:solidFill>
                  <a:schemeClr val="tx1"/>
                </a:solidFill>
                <a:effectLst/>
                <a:latin typeface="Times New Roman" pitchFamily="18" charset="0"/>
                <a:ea typeface="宋体" charset="-122"/>
                <a:cs typeface="+mn-cs"/>
              </a:rPr>
              <a:t>下辖 </a:t>
            </a:r>
            <a:r>
              <a:rPr kumimoji="1" lang="en-US" altLang="zh-CN" sz="1200" b="0" i="0" kern="1200" dirty="0">
                <a:solidFill>
                  <a:schemeClr val="tx1"/>
                </a:solidFill>
                <a:effectLst/>
                <a:latin typeface="Times New Roman" pitchFamily="18" charset="0"/>
                <a:ea typeface="宋体" charset="-122"/>
                <a:cs typeface="+mn-cs"/>
              </a:rPr>
              <a:t>SIDR </a:t>
            </a:r>
            <a:r>
              <a:rPr kumimoji="1" lang="zh-CN" altLang="en-US" sz="1200" b="0" i="0" kern="1200" dirty="0">
                <a:solidFill>
                  <a:schemeClr val="tx1"/>
                </a:solidFill>
                <a:effectLst/>
                <a:latin typeface="Times New Roman" pitchFamily="18" charset="0"/>
                <a:ea typeface="宋体" charset="-122"/>
                <a:cs typeface="+mn-cs"/>
              </a:rPr>
              <a:t>工作组的产品，</a:t>
            </a:r>
            <a:r>
              <a:rPr kumimoji="1" lang="en-US" altLang="zh-CN" sz="1200" b="0" i="0" kern="1200" dirty="0">
                <a:solidFill>
                  <a:schemeClr val="tx1"/>
                </a:solidFill>
                <a:effectLst/>
                <a:latin typeface="Times New Roman" pitchFamily="18" charset="0"/>
                <a:ea typeface="宋体" charset="-122"/>
                <a:cs typeface="+mn-cs"/>
              </a:rPr>
              <a:t>NIST </a:t>
            </a:r>
            <a:r>
              <a:rPr kumimoji="1" lang="zh-CN" altLang="en-US" sz="1200" b="0" i="0" kern="1200" dirty="0">
                <a:solidFill>
                  <a:schemeClr val="tx1"/>
                </a:solidFill>
                <a:effectLst/>
                <a:latin typeface="Times New Roman" pitchFamily="18" charset="0"/>
                <a:ea typeface="宋体" charset="-122"/>
                <a:cs typeface="+mn-cs"/>
              </a:rPr>
              <a:t>与 </a:t>
            </a:r>
            <a:r>
              <a:rPr kumimoji="1" lang="en-US" altLang="zh-CN" sz="1200" b="0" i="0" kern="1200" dirty="0">
                <a:solidFill>
                  <a:schemeClr val="tx1"/>
                </a:solidFill>
                <a:effectLst/>
                <a:latin typeface="Times New Roman" pitchFamily="18" charset="0"/>
                <a:ea typeface="宋体" charset="-122"/>
                <a:cs typeface="+mn-cs"/>
              </a:rPr>
              <a:t>DHS </a:t>
            </a:r>
            <a:r>
              <a:rPr kumimoji="1" lang="zh-CN" altLang="en-US" sz="1200" b="0" i="0" kern="1200" dirty="0">
                <a:solidFill>
                  <a:schemeClr val="tx1"/>
                </a:solidFill>
                <a:effectLst/>
                <a:latin typeface="Times New Roman" pitchFamily="18" charset="0"/>
                <a:ea typeface="宋体" charset="-122"/>
                <a:cs typeface="+mn-cs"/>
              </a:rPr>
              <a:t>只是参与其中，但目前 </a:t>
            </a:r>
            <a:r>
              <a:rPr kumimoji="1" lang="en-US" altLang="zh-CN" sz="1200" b="0" i="0" kern="1200" dirty="0">
                <a:solidFill>
                  <a:schemeClr val="tx1"/>
                </a:solidFill>
                <a:effectLst/>
                <a:latin typeface="Times New Roman" pitchFamily="18" charset="0"/>
                <a:ea typeface="宋体" charset="-122"/>
                <a:cs typeface="+mn-cs"/>
              </a:rPr>
              <a:t>RPKI </a:t>
            </a:r>
            <a:r>
              <a:rPr kumimoji="1" lang="zh-CN" altLang="en-US" sz="1200" b="0" i="0" kern="1200" dirty="0">
                <a:solidFill>
                  <a:schemeClr val="tx1"/>
                </a:solidFill>
                <a:effectLst/>
                <a:latin typeface="Times New Roman" pitchFamily="18" charset="0"/>
                <a:ea typeface="宋体" charset="-122"/>
                <a:cs typeface="+mn-cs"/>
              </a:rPr>
              <a:t>被纳入 </a:t>
            </a:r>
            <a:r>
              <a:rPr kumimoji="1" lang="en-US" altLang="zh-CN" sz="1200" b="0" i="0" kern="1200" dirty="0">
                <a:solidFill>
                  <a:schemeClr val="tx1"/>
                </a:solidFill>
                <a:effectLst/>
                <a:latin typeface="Times New Roman" pitchFamily="18" charset="0"/>
                <a:ea typeface="宋体" charset="-122"/>
                <a:cs typeface="+mn-cs"/>
              </a:rPr>
              <a:t>NIST </a:t>
            </a:r>
            <a:r>
              <a:rPr kumimoji="1" lang="zh-CN" altLang="en-US" sz="1200" b="0" i="0" kern="1200" dirty="0">
                <a:solidFill>
                  <a:schemeClr val="tx1"/>
                </a:solidFill>
                <a:effectLst/>
                <a:latin typeface="Times New Roman" pitchFamily="18" charset="0"/>
                <a:ea typeface="宋体" charset="-122"/>
                <a:cs typeface="+mn-cs"/>
              </a:rPr>
              <a:t>与 </a:t>
            </a:r>
            <a:r>
              <a:rPr kumimoji="1" lang="en-US" altLang="zh-CN" sz="1200" b="0" i="0" kern="1200" dirty="0">
                <a:solidFill>
                  <a:schemeClr val="tx1"/>
                </a:solidFill>
                <a:effectLst/>
                <a:latin typeface="Times New Roman" pitchFamily="18" charset="0"/>
                <a:ea typeface="宋体" charset="-122"/>
                <a:cs typeface="+mn-cs"/>
              </a:rPr>
              <a:t>DHS </a:t>
            </a:r>
            <a:r>
              <a:rPr kumimoji="1" lang="zh-CN" altLang="en-US" sz="1200" b="0" i="0" kern="1200" dirty="0">
                <a:solidFill>
                  <a:schemeClr val="tx1"/>
                </a:solidFill>
                <a:effectLst/>
                <a:latin typeface="Times New Roman" pitchFamily="18" charset="0"/>
                <a:ea typeface="宋体" charset="-122"/>
                <a:cs typeface="+mn-cs"/>
              </a:rPr>
              <a:t>的 </a:t>
            </a:r>
            <a:r>
              <a:rPr kumimoji="1" lang="en-US" altLang="zh-CN" sz="1200" b="0" i="0" kern="1200" dirty="0">
                <a:solidFill>
                  <a:schemeClr val="tx1"/>
                </a:solidFill>
                <a:effectLst/>
                <a:latin typeface="Times New Roman" pitchFamily="18" charset="0"/>
                <a:ea typeface="宋体" charset="-122"/>
                <a:cs typeface="+mn-cs"/>
              </a:rPr>
              <a:t>SIDR </a:t>
            </a:r>
            <a:r>
              <a:rPr kumimoji="1" lang="zh-CN" altLang="en-US" sz="1200" b="0" i="0" kern="1200" dirty="0">
                <a:solidFill>
                  <a:schemeClr val="tx1"/>
                </a:solidFill>
                <a:effectLst/>
                <a:latin typeface="Times New Roman" pitchFamily="18" charset="0"/>
                <a:ea typeface="宋体" charset="-122"/>
                <a:cs typeface="+mn-cs"/>
              </a:rPr>
              <a:t>项目之内。</a:t>
            </a:r>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91</a:t>
            </a:fld>
            <a:endParaRPr lang="en-US" altLang="zh-CN"/>
          </a:p>
        </p:txBody>
      </p:sp>
    </p:spTree>
    <p:extLst>
      <p:ext uri="{BB962C8B-B14F-4D97-AF65-F5344CB8AC3E}">
        <p14:creationId xmlns:p14="http://schemas.microsoft.com/office/powerpoint/2010/main" val="273059763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94</a:t>
            </a:fld>
            <a:endParaRPr lang="en-US" altLang="zh-CN"/>
          </a:p>
        </p:txBody>
      </p:sp>
    </p:spTree>
    <p:extLst>
      <p:ext uri="{BB962C8B-B14F-4D97-AF65-F5344CB8AC3E}">
        <p14:creationId xmlns:p14="http://schemas.microsoft.com/office/powerpoint/2010/main" val="55584030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sz="1200" b="1" i="0" kern="1200" dirty="0">
                <a:solidFill>
                  <a:schemeClr val="tx1"/>
                </a:solidFill>
                <a:effectLst/>
                <a:latin typeface="Times New Roman" pitchFamily="18" charset="0"/>
                <a:ea typeface="宋体" charset="-122"/>
                <a:cs typeface="+mn-cs"/>
              </a:rPr>
              <a:t>Where Are You Taking Me? Behavioral Analysis of Open DNS Resolvers.</a:t>
            </a:r>
            <a:r>
              <a:rPr lang="en-US" altLang="zh-CN" dirty="0"/>
              <a:t/>
            </a:r>
            <a:br>
              <a:rPr lang="en-US" altLang="zh-CN" dirty="0"/>
            </a:br>
            <a:r>
              <a:rPr kumimoji="1" lang="en-US" altLang="zh-CN" sz="1200" b="0" i="0" kern="1200" dirty="0">
                <a:solidFill>
                  <a:schemeClr val="tx1"/>
                </a:solidFill>
                <a:effectLst/>
                <a:latin typeface="Times New Roman" pitchFamily="18" charset="0"/>
                <a:ea typeface="宋体" charset="-122"/>
                <a:cs typeface="+mn-cs"/>
              </a:rPr>
              <a:t>J. Park, A. </a:t>
            </a:r>
            <a:r>
              <a:rPr kumimoji="1" lang="en-US" altLang="zh-CN" sz="1200" b="0" i="0" kern="1200" dirty="0" err="1">
                <a:solidFill>
                  <a:schemeClr val="tx1"/>
                </a:solidFill>
                <a:effectLst/>
                <a:latin typeface="Times New Roman" pitchFamily="18" charset="0"/>
                <a:ea typeface="宋体" charset="-122"/>
                <a:cs typeface="+mn-cs"/>
              </a:rPr>
              <a:t>Khormali</a:t>
            </a:r>
            <a:r>
              <a:rPr kumimoji="1" lang="en-US" altLang="zh-CN" sz="1200" b="0" i="0" kern="1200" dirty="0">
                <a:solidFill>
                  <a:schemeClr val="tx1"/>
                </a:solidFill>
                <a:effectLst/>
                <a:latin typeface="Times New Roman" pitchFamily="18" charset="0"/>
                <a:ea typeface="宋体" charset="-122"/>
                <a:cs typeface="+mn-cs"/>
              </a:rPr>
              <a:t>, M. </a:t>
            </a:r>
            <a:r>
              <a:rPr kumimoji="1" lang="en-US" altLang="zh-CN" sz="1200" b="0" i="0" kern="1200" dirty="0" err="1">
                <a:solidFill>
                  <a:schemeClr val="tx1"/>
                </a:solidFill>
                <a:effectLst/>
                <a:latin typeface="Times New Roman" pitchFamily="18" charset="0"/>
                <a:ea typeface="宋体" charset="-122"/>
                <a:cs typeface="+mn-cs"/>
              </a:rPr>
              <a:t>Mohaisen</a:t>
            </a:r>
            <a:r>
              <a:rPr kumimoji="1" lang="en-US" altLang="zh-CN" sz="1200" b="0" i="0" kern="1200" dirty="0">
                <a:solidFill>
                  <a:schemeClr val="tx1"/>
                </a:solidFill>
                <a:effectLst/>
                <a:latin typeface="Times New Roman" pitchFamily="18" charset="0"/>
                <a:ea typeface="宋体" charset="-122"/>
                <a:cs typeface="+mn-cs"/>
              </a:rPr>
              <a:t>, A. </a:t>
            </a:r>
            <a:r>
              <a:rPr kumimoji="1" lang="en-US" altLang="zh-CN" sz="1200" b="0" i="0" kern="1200" dirty="0" err="1">
                <a:solidFill>
                  <a:schemeClr val="tx1"/>
                </a:solidFill>
                <a:effectLst/>
                <a:latin typeface="Times New Roman" pitchFamily="18" charset="0"/>
                <a:ea typeface="宋体" charset="-122"/>
                <a:cs typeface="+mn-cs"/>
              </a:rPr>
              <a:t>Mohaisen</a:t>
            </a:r>
            <a:r>
              <a:rPr kumimoji="1" lang="en-US" altLang="zh-CN" sz="1200" b="0" i="0" kern="1200" dirty="0">
                <a:solidFill>
                  <a:schemeClr val="tx1"/>
                </a:solidFill>
                <a:effectLst/>
                <a:latin typeface="Times New Roman" pitchFamily="18" charset="0"/>
                <a:ea typeface="宋体" charset="-122"/>
                <a:cs typeface="+mn-cs"/>
              </a:rPr>
              <a:t>.</a:t>
            </a:r>
            <a:r>
              <a:rPr lang="en-US" altLang="zh-CN" dirty="0"/>
              <a:t/>
            </a:r>
            <a:br>
              <a:rPr lang="en-US" altLang="zh-CN" dirty="0"/>
            </a:br>
            <a:r>
              <a:rPr kumimoji="1" lang="en-US" altLang="zh-CN" sz="1200" b="0" i="0" kern="1200" dirty="0">
                <a:solidFill>
                  <a:schemeClr val="tx1"/>
                </a:solidFill>
                <a:effectLst/>
                <a:latin typeface="Times New Roman" pitchFamily="18" charset="0"/>
                <a:ea typeface="宋体" charset="-122"/>
                <a:cs typeface="+mn-cs"/>
              </a:rPr>
              <a:t>IEEE International Conference on Dependable Systems and Networks (</a:t>
            </a:r>
            <a:r>
              <a:rPr kumimoji="1" lang="en-US" altLang="zh-CN" sz="1200" b="1" i="0" kern="1200" dirty="0">
                <a:solidFill>
                  <a:schemeClr val="tx1"/>
                </a:solidFill>
                <a:effectLst/>
                <a:latin typeface="Times New Roman" pitchFamily="18" charset="0"/>
                <a:ea typeface="宋体" charset="-122"/>
                <a:cs typeface="+mn-cs"/>
              </a:rPr>
              <a:t>IEEE DSN 2019</a:t>
            </a:r>
            <a:r>
              <a:rPr kumimoji="1" lang="en-US" altLang="zh-CN" sz="1200" b="0" i="0" kern="1200" dirty="0">
                <a:solidFill>
                  <a:schemeClr val="tx1"/>
                </a:solidFill>
                <a:effectLst/>
                <a:latin typeface="Times New Roman" pitchFamily="18" charset="0"/>
                <a:ea typeface="宋体" charset="-122"/>
                <a:cs typeface="+mn-cs"/>
              </a:rPr>
              <a:t>)</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106</a:t>
            </a:fld>
            <a:endParaRPr lang="en-US" altLang="zh-CN"/>
          </a:p>
        </p:txBody>
      </p:sp>
    </p:spTree>
    <p:extLst>
      <p:ext uri="{BB962C8B-B14F-4D97-AF65-F5344CB8AC3E}">
        <p14:creationId xmlns:p14="http://schemas.microsoft.com/office/powerpoint/2010/main" val="214259297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zh-CN" sz="1200" b="0" i="0" kern="1200" dirty="0">
                <a:solidFill>
                  <a:schemeClr val="tx1"/>
                </a:solidFill>
                <a:effectLst/>
                <a:latin typeface="Times New Roman" pitchFamily="18" charset="0"/>
                <a:ea typeface="宋体" charset="-122"/>
                <a:cs typeface="+mn-cs"/>
              </a:rPr>
              <a:t>ICANN CTO: </a:t>
            </a:r>
            <a:r>
              <a:rPr kumimoji="1" lang="zh-CN" altLang="en-US" sz="1200" b="0" i="0" kern="1200" dirty="0">
                <a:solidFill>
                  <a:schemeClr val="tx1"/>
                </a:solidFill>
                <a:effectLst/>
                <a:latin typeface="Times New Roman" pitchFamily="18" charset="0"/>
                <a:ea typeface="宋体" charset="-122"/>
                <a:cs typeface="+mn-cs"/>
              </a:rPr>
              <a:t>域名根服务器系统概述 </a:t>
            </a:r>
            <a:r>
              <a:rPr kumimoji="1" lang="en-US" altLang="zh-CN" sz="1200" b="0" i="0" kern="1200" dirty="0">
                <a:solidFill>
                  <a:schemeClr val="tx1"/>
                </a:solidFill>
                <a:effectLst/>
                <a:latin typeface="Times New Roman" pitchFamily="18" charset="0"/>
                <a:ea typeface="宋体" charset="-122"/>
                <a:cs typeface="+mn-cs"/>
              </a:rPr>
              <a:t>2020.6</a:t>
            </a:r>
            <a:endParaRPr kumimoji="1" lang="zh-CN" altLang="en-US" sz="1200" b="0" i="0" kern="1200" dirty="0">
              <a:solidFill>
                <a:schemeClr val="tx1"/>
              </a:solidFill>
              <a:effectLst/>
              <a:latin typeface="Times New Roman" pitchFamily="18" charset="0"/>
              <a:ea typeface="宋体" charset="-122"/>
              <a:cs typeface="+mn-cs"/>
            </a:endParaRPr>
          </a:p>
          <a:p>
            <a:r>
              <a:rPr lang="en-US" altLang="zh-CN" dirty="0">
                <a:hlinkClick r:id="rId3"/>
              </a:rPr>
              <a:t>https://mp.weixin.qq.com/s/XCEQzYJ_qUOAdwlOQ_UrIA</a:t>
            </a:r>
            <a:endParaRPr lang="en-US" altLang="zh-CN" dirty="0"/>
          </a:p>
          <a:p>
            <a:r>
              <a:rPr kumimoji="1" lang="zh-CN" altLang="en-US" sz="1200" b="0" i="0" kern="1200" dirty="0">
                <a:solidFill>
                  <a:schemeClr val="tx1"/>
                </a:solidFill>
                <a:effectLst/>
                <a:latin typeface="Times New Roman" pitchFamily="18" charset="0"/>
                <a:ea typeface="宋体" charset="-122"/>
                <a:cs typeface="+mn-cs"/>
              </a:rPr>
              <a:t>在浏览器导航栏中键入网站的域名或单击 </a:t>
            </a:r>
            <a:r>
              <a:rPr kumimoji="1" lang="en-US" altLang="zh-CN" sz="1200" b="0" i="0" kern="1200" dirty="0">
                <a:solidFill>
                  <a:schemeClr val="tx1"/>
                </a:solidFill>
                <a:effectLst/>
                <a:latin typeface="Times New Roman" pitchFamily="18" charset="0"/>
                <a:ea typeface="宋体" charset="-122"/>
                <a:cs typeface="+mn-cs"/>
              </a:rPr>
              <a:t>URL </a:t>
            </a:r>
            <a:r>
              <a:rPr kumimoji="1" lang="zh-CN" altLang="en-US" sz="1200" b="0" i="0" kern="1200" dirty="0">
                <a:solidFill>
                  <a:schemeClr val="tx1"/>
                </a:solidFill>
                <a:effectLst/>
                <a:latin typeface="Times New Roman" pitchFamily="18" charset="0"/>
                <a:ea typeface="宋体" charset="-122"/>
                <a:cs typeface="+mn-cs"/>
              </a:rPr>
              <a:t>链接后，浏览器将启动 </a:t>
            </a:r>
            <a:r>
              <a:rPr kumimoji="1" lang="en-US" altLang="zh-CN" sz="1200" b="0" i="0" kern="1200" dirty="0">
                <a:solidFill>
                  <a:schemeClr val="tx1"/>
                </a:solidFill>
                <a:effectLst/>
                <a:latin typeface="Times New Roman" pitchFamily="18" charset="0"/>
                <a:ea typeface="宋体" charset="-122"/>
                <a:cs typeface="+mn-cs"/>
              </a:rPr>
              <a:t>DNS </a:t>
            </a:r>
            <a:r>
              <a:rPr kumimoji="1" lang="zh-CN" altLang="en-US" sz="1200" b="0" i="0" kern="1200" dirty="0">
                <a:solidFill>
                  <a:schemeClr val="tx1"/>
                </a:solidFill>
                <a:effectLst/>
                <a:latin typeface="Times New Roman" pitchFamily="18" charset="0"/>
                <a:ea typeface="宋体" charset="-122"/>
                <a:cs typeface="+mn-cs"/>
              </a:rPr>
              <a:t>解析过程来查找这些 </a:t>
            </a:r>
            <a:r>
              <a:rPr kumimoji="1" lang="en-US" altLang="zh-CN" sz="1200" b="0" i="0" kern="1200" dirty="0">
                <a:solidFill>
                  <a:schemeClr val="tx1"/>
                </a:solidFill>
                <a:effectLst/>
                <a:latin typeface="Times New Roman" pitchFamily="18" charset="0"/>
                <a:ea typeface="宋体" charset="-122"/>
                <a:cs typeface="+mn-cs"/>
              </a:rPr>
              <a:t>IP </a:t>
            </a:r>
            <a:r>
              <a:rPr kumimoji="1" lang="zh-CN" altLang="en-US" sz="1200" b="0" i="0" kern="1200" dirty="0">
                <a:solidFill>
                  <a:schemeClr val="tx1"/>
                </a:solidFill>
                <a:effectLst/>
                <a:latin typeface="Times New Roman" pitchFamily="18" charset="0"/>
                <a:ea typeface="宋体" charset="-122"/>
                <a:cs typeface="+mn-cs"/>
              </a:rPr>
              <a:t>地址。</a:t>
            </a:r>
          </a:p>
          <a:p>
            <a:r>
              <a:rPr kumimoji="1" lang="zh-CN" altLang="en-US" sz="1200" b="0" i="0" kern="1200" dirty="0">
                <a:solidFill>
                  <a:schemeClr val="tx1"/>
                </a:solidFill>
                <a:effectLst/>
                <a:latin typeface="Times New Roman" pitchFamily="18" charset="0"/>
                <a:ea typeface="宋体" charset="-122"/>
                <a:cs typeface="+mn-cs"/>
              </a:rPr>
              <a:t/>
            </a:r>
            <a:br>
              <a:rPr kumimoji="1" lang="zh-CN" altLang="en-US" sz="1200" b="0" i="0" kern="1200" dirty="0">
                <a:solidFill>
                  <a:schemeClr val="tx1"/>
                </a:solidFill>
                <a:effectLst/>
                <a:latin typeface="Times New Roman" pitchFamily="18" charset="0"/>
                <a:ea typeface="宋体" charset="-122"/>
                <a:cs typeface="+mn-cs"/>
              </a:rPr>
            </a:br>
            <a:endParaRPr kumimoji="1" lang="zh-CN" altLang="en-US" sz="1200" b="0" i="0" kern="1200" dirty="0">
              <a:solidFill>
                <a:schemeClr val="tx1"/>
              </a:solidFill>
              <a:effectLst/>
              <a:latin typeface="Times New Roman" pitchFamily="18" charset="0"/>
              <a:ea typeface="宋体" charset="-122"/>
              <a:cs typeface="+mn-cs"/>
            </a:endParaRPr>
          </a:p>
          <a:p>
            <a:r>
              <a:rPr kumimoji="1" lang="zh-CN" altLang="en-US" sz="1200" b="0" i="0" kern="1200" dirty="0">
                <a:solidFill>
                  <a:schemeClr val="tx1"/>
                </a:solidFill>
                <a:effectLst/>
                <a:latin typeface="Times New Roman" pitchFamily="18" charset="0"/>
                <a:ea typeface="宋体" charset="-122"/>
                <a:cs typeface="+mn-cs"/>
              </a:rPr>
              <a:t>浏览器会向“解析器”</a:t>
            </a:r>
            <a:r>
              <a:rPr kumimoji="1" lang="en-US" altLang="zh-CN" sz="1200" b="0" i="0" kern="1200" dirty="0">
                <a:solidFill>
                  <a:schemeClr val="tx1"/>
                </a:solidFill>
                <a:effectLst/>
                <a:latin typeface="Times New Roman" pitchFamily="18" charset="0"/>
                <a:ea typeface="宋体" charset="-122"/>
                <a:cs typeface="+mn-cs"/>
              </a:rPr>
              <a:t>(resolver)</a:t>
            </a:r>
            <a:r>
              <a:rPr kumimoji="1" lang="zh-CN" altLang="en-US" sz="1200" b="0" i="0" kern="1200" dirty="0">
                <a:solidFill>
                  <a:schemeClr val="tx1"/>
                </a:solidFill>
                <a:effectLst/>
                <a:latin typeface="Times New Roman" pitchFamily="18" charset="0"/>
                <a:ea typeface="宋体" charset="-122"/>
                <a:cs typeface="+mn-cs"/>
              </a:rPr>
              <a:t>发送一个查询，解析器是实施 </a:t>
            </a:r>
            <a:r>
              <a:rPr kumimoji="1" lang="en-US" altLang="zh-CN" sz="1200" b="0" i="0" kern="1200" dirty="0">
                <a:solidFill>
                  <a:schemeClr val="tx1"/>
                </a:solidFill>
                <a:effectLst/>
                <a:latin typeface="Times New Roman" pitchFamily="18" charset="0"/>
                <a:ea typeface="宋体" charset="-122"/>
                <a:cs typeface="+mn-cs"/>
              </a:rPr>
              <a:t>DNS </a:t>
            </a:r>
            <a:r>
              <a:rPr kumimoji="1" lang="zh-CN" altLang="en-US" sz="1200" b="0" i="0" kern="1200" dirty="0">
                <a:solidFill>
                  <a:schemeClr val="tx1"/>
                </a:solidFill>
                <a:effectLst/>
                <a:latin typeface="Times New Roman" pitchFamily="18" charset="0"/>
                <a:ea typeface="宋体" charset="-122"/>
                <a:cs typeface="+mn-cs"/>
              </a:rPr>
              <a:t>解析过程的软件。解析器会在本地保留以前查询过的问题的答案副本（称为缓存），因此，解析器也许已经能够响应浏览器，而无需执行进一步操作。但是，如果缓存中没有答案，则解析器会显示一条消息，说明在本地缓存中没有答案时，如何执行完整的 </a:t>
            </a:r>
            <a:r>
              <a:rPr kumimoji="1" lang="en-US" altLang="zh-CN" sz="1200" b="0" i="0" kern="1200" dirty="0">
                <a:solidFill>
                  <a:schemeClr val="tx1"/>
                </a:solidFill>
                <a:effectLst/>
                <a:latin typeface="Times New Roman" pitchFamily="18" charset="0"/>
                <a:ea typeface="宋体" charset="-122"/>
                <a:cs typeface="+mn-cs"/>
              </a:rPr>
              <a:t>DNS </a:t>
            </a:r>
            <a:r>
              <a:rPr kumimoji="1" lang="zh-CN" altLang="en-US" sz="1200" b="0" i="0" kern="1200" dirty="0">
                <a:solidFill>
                  <a:schemeClr val="tx1"/>
                </a:solidFill>
                <a:effectLst/>
                <a:latin typeface="Times New Roman" pitchFamily="18" charset="0"/>
                <a:ea typeface="宋体" charset="-122"/>
                <a:cs typeface="+mn-cs"/>
              </a:rPr>
              <a:t>解析过程。具体步骤如下所示：</a:t>
            </a:r>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107</a:t>
            </a:fld>
            <a:endParaRPr lang="en-US" altLang="zh-CN"/>
          </a:p>
        </p:txBody>
      </p:sp>
    </p:spTree>
    <p:extLst>
      <p:ext uri="{BB962C8B-B14F-4D97-AF65-F5344CB8AC3E}">
        <p14:creationId xmlns:p14="http://schemas.microsoft.com/office/powerpoint/2010/main" val="272937674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zh-CN" sz="1200" b="0" i="0" kern="1200" dirty="0">
                <a:solidFill>
                  <a:schemeClr val="tx1"/>
                </a:solidFill>
                <a:effectLst/>
                <a:latin typeface="Times New Roman" pitchFamily="18" charset="0"/>
                <a:ea typeface="宋体" charset="-122"/>
                <a:cs typeface="+mn-cs"/>
              </a:rPr>
              <a:t>ICANN CTO: </a:t>
            </a:r>
            <a:r>
              <a:rPr kumimoji="1" lang="zh-CN" altLang="en-US" sz="1200" b="0" i="0" kern="1200" dirty="0">
                <a:solidFill>
                  <a:schemeClr val="tx1"/>
                </a:solidFill>
                <a:effectLst/>
                <a:latin typeface="Times New Roman" pitchFamily="18" charset="0"/>
                <a:ea typeface="宋体" charset="-122"/>
                <a:cs typeface="+mn-cs"/>
              </a:rPr>
              <a:t>域名根服务器系统概述 </a:t>
            </a:r>
            <a:r>
              <a:rPr kumimoji="1" lang="en-US" altLang="zh-CN" sz="1200" b="0" i="0" kern="1200" dirty="0">
                <a:solidFill>
                  <a:schemeClr val="tx1"/>
                </a:solidFill>
                <a:effectLst/>
                <a:latin typeface="Times New Roman" pitchFamily="18" charset="0"/>
                <a:ea typeface="宋体" charset="-122"/>
                <a:cs typeface="+mn-cs"/>
              </a:rPr>
              <a:t>2020.6</a:t>
            </a:r>
            <a:endParaRPr kumimoji="1" lang="zh-CN" altLang="en-US" sz="1200" b="0" i="0" kern="1200" dirty="0">
              <a:solidFill>
                <a:schemeClr val="tx1"/>
              </a:solidFill>
              <a:effectLst/>
              <a:latin typeface="Times New Roman" pitchFamily="18" charset="0"/>
              <a:ea typeface="宋体" charset="-122"/>
              <a:cs typeface="+mn-cs"/>
            </a:endParaRPr>
          </a:p>
          <a:p>
            <a:r>
              <a:rPr lang="en-US" altLang="zh-CN" dirty="0">
                <a:hlinkClick r:id="rId3"/>
              </a:rPr>
              <a:t>https://mp.weixin.qq.com/s/XCEQzYJ_qUOAdwlOQ_UrIA</a:t>
            </a:r>
            <a:endParaRPr lang="en-US" altLang="zh-CN" dirty="0"/>
          </a:p>
          <a:p>
            <a:endParaRPr kumimoji="1" lang="en-US" altLang="zh-CN" sz="1200" b="0" i="0" kern="1200" dirty="0">
              <a:solidFill>
                <a:schemeClr val="tx1"/>
              </a:solidFill>
              <a:effectLst/>
              <a:latin typeface="Times New Roman" pitchFamily="18" charset="0"/>
              <a:ea typeface="宋体" charset="-122"/>
              <a:cs typeface="+mn-cs"/>
            </a:endParaRPr>
          </a:p>
          <a:p>
            <a:r>
              <a:rPr kumimoji="1" lang="zh-CN" altLang="en-US" sz="1200" b="1" i="0" kern="1200" dirty="0">
                <a:solidFill>
                  <a:schemeClr val="tx1"/>
                </a:solidFill>
                <a:effectLst/>
                <a:latin typeface="Times New Roman" pitchFamily="18" charset="0"/>
                <a:ea typeface="宋体" charset="-122"/>
                <a:cs typeface="+mn-cs"/>
              </a:rPr>
              <a:t>第一步</a:t>
            </a:r>
            <a:r>
              <a:rPr kumimoji="1" lang="en-US" altLang="zh-CN" sz="1200" b="0" i="0" kern="1200" dirty="0">
                <a:solidFill>
                  <a:schemeClr val="tx1"/>
                </a:solidFill>
                <a:effectLst/>
                <a:latin typeface="Times New Roman" pitchFamily="18" charset="0"/>
                <a:ea typeface="宋体" charset="-122"/>
                <a:cs typeface="+mn-cs"/>
              </a:rPr>
              <a:t>【</a:t>
            </a:r>
            <a:r>
              <a:rPr kumimoji="1" lang="zh-CN" altLang="en-US" sz="1200" b="0" i="0" kern="1200" dirty="0">
                <a:solidFill>
                  <a:schemeClr val="tx1"/>
                </a:solidFill>
                <a:effectLst/>
                <a:latin typeface="Times New Roman" pitchFamily="18" charset="0"/>
                <a:ea typeface="宋体" charset="-122"/>
                <a:cs typeface="+mn-cs"/>
              </a:rPr>
              <a:t>注释</a:t>
            </a:r>
            <a:r>
              <a:rPr kumimoji="1" lang="en-US" altLang="zh-CN" sz="1200" b="0" i="0" kern="1200" dirty="0">
                <a:solidFill>
                  <a:schemeClr val="tx1"/>
                </a:solidFill>
                <a:effectLst/>
                <a:latin typeface="Times New Roman" pitchFamily="18" charset="0"/>
                <a:ea typeface="宋体" charset="-122"/>
                <a:cs typeface="+mn-cs"/>
              </a:rPr>
              <a:t>1】</a:t>
            </a:r>
            <a:r>
              <a:rPr kumimoji="1" lang="zh-CN" altLang="en-US" sz="1200" b="0" i="0" kern="1200" dirty="0">
                <a:solidFill>
                  <a:schemeClr val="tx1"/>
                </a:solidFill>
                <a:effectLst/>
                <a:latin typeface="Times New Roman" pitchFamily="18" charset="0"/>
                <a:ea typeface="宋体" charset="-122"/>
                <a:cs typeface="+mn-cs"/>
              </a:rPr>
              <a:t>，向 </a:t>
            </a:r>
            <a:r>
              <a:rPr kumimoji="1" lang="en-US" altLang="zh-CN" sz="1200" b="0" i="0" kern="1200" dirty="0">
                <a:solidFill>
                  <a:schemeClr val="tx1"/>
                </a:solidFill>
                <a:effectLst/>
                <a:latin typeface="Times New Roman" pitchFamily="18" charset="0"/>
                <a:ea typeface="宋体" charset="-122"/>
                <a:cs typeface="+mn-cs"/>
              </a:rPr>
              <a:t>13 </a:t>
            </a:r>
            <a:r>
              <a:rPr kumimoji="1" lang="zh-CN" altLang="en-US" sz="1200" b="0" i="0" kern="1200" dirty="0">
                <a:solidFill>
                  <a:schemeClr val="tx1"/>
                </a:solidFill>
                <a:effectLst/>
                <a:latin typeface="Times New Roman" pitchFamily="18" charset="0"/>
                <a:ea typeface="宋体" charset="-122"/>
                <a:cs typeface="+mn-cs"/>
              </a:rPr>
              <a:t>个根服务器</a:t>
            </a:r>
            <a:r>
              <a:rPr kumimoji="1" lang="en-US" altLang="zh-CN" sz="1200" b="0" i="0" kern="1200" dirty="0">
                <a:solidFill>
                  <a:schemeClr val="tx1"/>
                </a:solidFill>
                <a:effectLst/>
                <a:latin typeface="Times New Roman" pitchFamily="18" charset="0"/>
                <a:ea typeface="宋体" charset="-122"/>
                <a:cs typeface="+mn-cs"/>
              </a:rPr>
              <a:t>【</a:t>
            </a:r>
            <a:r>
              <a:rPr kumimoji="1" lang="zh-CN" altLang="en-US" sz="1200" b="0" i="0" kern="1200" dirty="0">
                <a:solidFill>
                  <a:schemeClr val="tx1"/>
                </a:solidFill>
                <a:effectLst/>
                <a:latin typeface="Times New Roman" pitchFamily="18" charset="0"/>
                <a:ea typeface="宋体" charset="-122"/>
                <a:cs typeface="+mn-cs"/>
              </a:rPr>
              <a:t>注释</a:t>
            </a:r>
            <a:r>
              <a:rPr kumimoji="1" lang="en-US" altLang="zh-CN" sz="1200" b="0" i="0" kern="1200" dirty="0">
                <a:solidFill>
                  <a:schemeClr val="tx1"/>
                </a:solidFill>
                <a:effectLst/>
                <a:latin typeface="Times New Roman" pitchFamily="18" charset="0"/>
                <a:ea typeface="宋体" charset="-122"/>
                <a:cs typeface="+mn-cs"/>
              </a:rPr>
              <a:t>2】</a:t>
            </a:r>
            <a:r>
              <a:rPr kumimoji="1" lang="zh-CN" altLang="en-US" sz="1200" b="0" i="0" kern="1200" dirty="0">
                <a:solidFill>
                  <a:schemeClr val="tx1"/>
                </a:solidFill>
                <a:effectLst/>
                <a:latin typeface="Times New Roman" pitchFamily="18" charset="0"/>
                <a:ea typeface="宋体" charset="-122"/>
                <a:cs typeface="+mn-cs"/>
              </a:rPr>
              <a:t>中的任意一个根服务器发送包含网站域名</a:t>
            </a:r>
            <a:r>
              <a:rPr kumimoji="1" lang="en-US" altLang="zh-CN" sz="1200" b="0" i="0" kern="1200" dirty="0">
                <a:solidFill>
                  <a:schemeClr val="tx1"/>
                </a:solidFill>
                <a:effectLst/>
                <a:latin typeface="Times New Roman" pitchFamily="18" charset="0"/>
                <a:ea typeface="宋体" charset="-122"/>
                <a:cs typeface="+mn-cs"/>
              </a:rPr>
              <a:t>【</a:t>
            </a:r>
            <a:r>
              <a:rPr kumimoji="1" lang="zh-CN" altLang="en-US" sz="1200" b="0" i="0" kern="1200" dirty="0">
                <a:solidFill>
                  <a:schemeClr val="tx1"/>
                </a:solidFill>
                <a:effectLst/>
                <a:latin typeface="Times New Roman" pitchFamily="18" charset="0"/>
                <a:ea typeface="宋体" charset="-122"/>
                <a:cs typeface="+mn-cs"/>
              </a:rPr>
              <a:t>注释</a:t>
            </a:r>
            <a:r>
              <a:rPr kumimoji="1" lang="en-US" altLang="zh-CN" sz="1200" b="0" i="0" kern="1200" dirty="0">
                <a:solidFill>
                  <a:schemeClr val="tx1"/>
                </a:solidFill>
                <a:effectLst/>
                <a:latin typeface="Times New Roman" pitchFamily="18" charset="0"/>
                <a:ea typeface="宋体" charset="-122"/>
                <a:cs typeface="+mn-cs"/>
              </a:rPr>
              <a:t>3】</a:t>
            </a:r>
            <a:r>
              <a:rPr kumimoji="1" lang="zh-CN" altLang="en-US" sz="1200" b="0" i="0" kern="1200" dirty="0">
                <a:solidFill>
                  <a:schemeClr val="tx1"/>
                </a:solidFill>
                <a:effectLst/>
                <a:latin typeface="Times New Roman" pitchFamily="18" charset="0"/>
                <a:ea typeface="宋体" charset="-122"/>
                <a:cs typeface="+mn-cs"/>
              </a:rPr>
              <a:t>的查询，询问该网站对应的 </a:t>
            </a:r>
            <a:r>
              <a:rPr kumimoji="1" lang="en-US" altLang="zh-CN" sz="1200" b="0" i="0" kern="1200" dirty="0">
                <a:solidFill>
                  <a:schemeClr val="tx1"/>
                </a:solidFill>
                <a:effectLst/>
                <a:latin typeface="Times New Roman" pitchFamily="18" charset="0"/>
                <a:ea typeface="宋体" charset="-122"/>
                <a:cs typeface="+mn-cs"/>
              </a:rPr>
              <a:t>IP </a:t>
            </a:r>
            <a:r>
              <a:rPr kumimoji="1" lang="zh-CN" altLang="en-US" sz="1200" b="0" i="0" kern="1200" dirty="0">
                <a:solidFill>
                  <a:schemeClr val="tx1"/>
                </a:solidFill>
                <a:effectLst/>
                <a:latin typeface="Times New Roman" pitchFamily="18" charset="0"/>
                <a:ea typeface="宋体" charset="-122"/>
                <a:cs typeface="+mn-cs"/>
              </a:rPr>
              <a:t>地址。然而，根服务器只包含顶级域 </a:t>
            </a:r>
            <a:r>
              <a:rPr kumimoji="1" lang="en-US" altLang="zh-CN" sz="1200" b="0" i="0" kern="1200" dirty="0">
                <a:solidFill>
                  <a:schemeClr val="tx1"/>
                </a:solidFill>
                <a:effectLst/>
                <a:latin typeface="Times New Roman" pitchFamily="18" charset="0"/>
                <a:ea typeface="宋体" charset="-122"/>
                <a:cs typeface="+mn-cs"/>
              </a:rPr>
              <a:t>(TLD) </a:t>
            </a:r>
            <a:r>
              <a:rPr kumimoji="1" lang="zh-CN" altLang="en-US" sz="1200" b="0" i="0" kern="1200" dirty="0">
                <a:solidFill>
                  <a:schemeClr val="tx1"/>
                </a:solidFill>
                <a:effectLst/>
                <a:latin typeface="Times New Roman" pitchFamily="18" charset="0"/>
                <a:ea typeface="宋体" charset="-122"/>
                <a:cs typeface="+mn-cs"/>
              </a:rPr>
              <a:t>的相关信息，特别是顶级域的列表信息和保存这些顶级域下二级域名内容的域名服务器的信息。收到查询请求的根服务器会返回一个“引荐”（</a:t>
            </a:r>
            <a:r>
              <a:rPr kumimoji="1" lang="en-US" altLang="zh-CN" sz="1200" b="0" i="0" kern="1200" dirty="0">
                <a:solidFill>
                  <a:schemeClr val="tx1"/>
                </a:solidFill>
                <a:effectLst/>
                <a:latin typeface="Times New Roman" pitchFamily="18" charset="0"/>
                <a:ea typeface="宋体" charset="-122"/>
                <a:cs typeface="+mn-cs"/>
              </a:rPr>
              <a:t>referral</a:t>
            </a:r>
            <a:r>
              <a:rPr kumimoji="1" lang="zh-CN" altLang="en-US" sz="1200" b="0" i="0" kern="1200" dirty="0">
                <a:solidFill>
                  <a:schemeClr val="tx1"/>
                </a:solidFill>
                <a:effectLst/>
                <a:latin typeface="Times New Roman" pitchFamily="18" charset="0"/>
                <a:ea typeface="宋体" charset="-122"/>
                <a:cs typeface="+mn-cs"/>
              </a:rPr>
              <a:t>）作为响应，此引荐就是一个列出网站域名 </a:t>
            </a:r>
            <a:r>
              <a:rPr kumimoji="1" lang="en-US" altLang="zh-CN" sz="1200" b="0" i="0" kern="1200" dirty="0">
                <a:solidFill>
                  <a:schemeClr val="tx1"/>
                </a:solidFill>
                <a:effectLst/>
                <a:latin typeface="Times New Roman" pitchFamily="18" charset="0"/>
                <a:ea typeface="宋体" charset="-122"/>
                <a:cs typeface="+mn-cs"/>
              </a:rPr>
              <a:t>TLD </a:t>
            </a:r>
            <a:r>
              <a:rPr kumimoji="1" lang="zh-CN" altLang="en-US" sz="1200" b="0" i="0" kern="1200" dirty="0">
                <a:solidFill>
                  <a:schemeClr val="tx1"/>
                </a:solidFill>
                <a:effectLst/>
                <a:latin typeface="Times New Roman" pitchFamily="18" charset="0"/>
                <a:ea typeface="宋体" charset="-122"/>
                <a:cs typeface="+mn-cs"/>
              </a:rPr>
              <a:t>的名称服务器（</a:t>
            </a:r>
            <a:r>
              <a:rPr kumimoji="1" lang="en-US" altLang="zh-CN" sz="1200" b="0" i="0" kern="1200" dirty="0">
                <a:solidFill>
                  <a:schemeClr val="tx1"/>
                </a:solidFill>
                <a:effectLst/>
                <a:latin typeface="Times New Roman" pitchFamily="18" charset="0"/>
                <a:ea typeface="宋体" charset="-122"/>
                <a:cs typeface="+mn-cs"/>
              </a:rPr>
              <a:t>name server</a:t>
            </a:r>
            <a:r>
              <a:rPr kumimoji="1" lang="zh-CN" altLang="en-US" sz="1200" b="0" i="0" kern="1200" dirty="0">
                <a:solidFill>
                  <a:schemeClr val="tx1"/>
                </a:solidFill>
                <a:effectLst/>
                <a:latin typeface="Times New Roman" pitchFamily="18" charset="0"/>
                <a:ea typeface="宋体" charset="-122"/>
                <a:cs typeface="+mn-cs"/>
              </a:rPr>
              <a:t>）的列表。例如，如果您尝试访问网站 </a:t>
            </a:r>
            <a:r>
              <a:rPr kumimoji="1" lang="en-US" altLang="zh-CN" sz="1200" b="0" i="0" kern="1200" dirty="0">
                <a:solidFill>
                  <a:schemeClr val="tx1"/>
                </a:solidFill>
                <a:effectLst/>
                <a:latin typeface="Times New Roman" pitchFamily="18" charset="0"/>
                <a:ea typeface="宋体" charset="-122"/>
                <a:cs typeface="+mn-cs"/>
              </a:rPr>
              <a:t>www.example.com</a:t>
            </a:r>
            <a:r>
              <a:rPr kumimoji="1" lang="zh-CN" altLang="en-US" sz="1200" b="0" i="0" kern="1200" dirty="0">
                <a:solidFill>
                  <a:schemeClr val="tx1"/>
                </a:solidFill>
                <a:effectLst/>
                <a:latin typeface="Times New Roman" pitchFamily="18" charset="0"/>
                <a:ea typeface="宋体" charset="-122"/>
                <a:cs typeface="+mn-cs"/>
              </a:rPr>
              <a:t>，您的解析器将向其中一个根服务器发送一个查询，询问该域名的 </a:t>
            </a:r>
            <a:r>
              <a:rPr kumimoji="1" lang="en-US" altLang="zh-CN" sz="1200" b="0" i="0" kern="1200" dirty="0">
                <a:solidFill>
                  <a:schemeClr val="tx1"/>
                </a:solidFill>
                <a:effectLst/>
                <a:latin typeface="Times New Roman" pitchFamily="18" charset="0"/>
                <a:ea typeface="宋体" charset="-122"/>
                <a:cs typeface="+mn-cs"/>
              </a:rPr>
              <a:t>IP </a:t>
            </a:r>
            <a:r>
              <a:rPr kumimoji="1" lang="zh-CN" altLang="en-US" sz="1200" b="0" i="0" kern="1200" dirty="0">
                <a:solidFill>
                  <a:schemeClr val="tx1"/>
                </a:solidFill>
                <a:effectLst/>
                <a:latin typeface="Times New Roman" pitchFamily="18" charset="0"/>
                <a:ea typeface="宋体" charset="-122"/>
                <a:cs typeface="+mn-cs"/>
              </a:rPr>
              <a:t>地址，此时，根服务器将返回一个列出了 “</a:t>
            </a:r>
            <a:r>
              <a:rPr kumimoji="1" lang="en-US" altLang="zh-CN" sz="1200" b="0" i="0" kern="1200" dirty="0">
                <a:solidFill>
                  <a:schemeClr val="tx1"/>
                </a:solidFill>
                <a:effectLst/>
                <a:latin typeface="Times New Roman" pitchFamily="18" charset="0"/>
                <a:ea typeface="宋体" charset="-122"/>
                <a:cs typeface="+mn-cs"/>
              </a:rPr>
              <a:t>.com”</a:t>
            </a:r>
            <a:r>
              <a:rPr kumimoji="1" lang="zh-CN" altLang="en-US" sz="1200" b="0" i="0" kern="1200" dirty="0">
                <a:solidFill>
                  <a:schemeClr val="tx1"/>
                </a:solidFill>
                <a:effectLst/>
                <a:latin typeface="Times New Roman" pitchFamily="18" charset="0"/>
                <a:ea typeface="宋体" charset="-122"/>
                <a:cs typeface="+mn-cs"/>
              </a:rPr>
              <a:t>（我们示例中的 </a:t>
            </a:r>
            <a:r>
              <a:rPr kumimoji="1" lang="en-US" altLang="zh-CN" sz="1200" b="0" i="0" kern="1200" dirty="0">
                <a:solidFill>
                  <a:schemeClr val="tx1"/>
                </a:solidFill>
                <a:effectLst/>
                <a:latin typeface="Times New Roman" pitchFamily="18" charset="0"/>
                <a:ea typeface="宋体" charset="-122"/>
                <a:cs typeface="+mn-cs"/>
              </a:rPr>
              <a:t>TLD</a:t>
            </a:r>
            <a:r>
              <a:rPr kumimoji="1" lang="zh-CN" altLang="en-US" sz="1200" b="0" i="0" kern="1200" dirty="0">
                <a:solidFill>
                  <a:schemeClr val="tx1"/>
                </a:solidFill>
                <a:effectLst/>
                <a:latin typeface="Times New Roman" pitchFamily="18" charset="0"/>
                <a:ea typeface="宋体" charset="-122"/>
                <a:cs typeface="+mn-cs"/>
              </a:rPr>
              <a:t>）的所有名称服务器的列表。</a:t>
            </a:r>
            <a:endParaRPr kumimoji="1" lang="en-US" altLang="zh-CN" sz="1200" b="0" i="0" kern="1200" dirty="0">
              <a:solidFill>
                <a:schemeClr val="tx1"/>
              </a:solidFill>
              <a:effectLst/>
              <a:latin typeface="Times New Roman" pitchFamily="18" charset="0"/>
              <a:ea typeface="宋体" charset="-122"/>
              <a:cs typeface="+mn-cs"/>
            </a:endParaRPr>
          </a:p>
          <a:p>
            <a:endParaRPr kumimoji="1" lang="en-US" altLang="zh-CN" sz="1200" b="0" i="0" kern="1200" dirty="0">
              <a:solidFill>
                <a:schemeClr val="tx1"/>
              </a:solidFill>
              <a:effectLst/>
              <a:latin typeface="Times New Roman" pitchFamily="18" charset="0"/>
              <a:ea typeface="宋体" charset="-122"/>
              <a:cs typeface="+mn-cs"/>
            </a:endParaRPr>
          </a:p>
          <a:p>
            <a:r>
              <a:rPr kumimoji="1" lang="zh-CN" altLang="en-US" sz="1200" b="0" i="0" kern="1200" dirty="0">
                <a:solidFill>
                  <a:schemeClr val="tx1"/>
                </a:solidFill>
                <a:effectLst/>
                <a:latin typeface="Times New Roman" pitchFamily="18" charset="0"/>
                <a:ea typeface="宋体" charset="-122"/>
                <a:cs typeface="+mn-cs"/>
              </a:rPr>
              <a:t>注</a:t>
            </a:r>
            <a:r>
              <a:rPr kumimoji="1" lang="en-US" altLang="zh-CN" sz="1200" b="0" i="0" kern="1200" dirty="0">
                <a:solidFill>
                  <a:schemeClr val="tx1"/>
                </a:solidFill>
                <a:effectLst/>
                <a:latin typeface="Times New Roman" pitchFamily="18" charset="0"/>
                <a:ea typeface="宋体" charset="-122"/>
                <a:cs typeface="+mn-cs"/>
              </a:rPr>
              <a:t>1 </a:t>
            </a:r>
            <a:r>
              <a:rPr kumimoji="1" lang="zh-CN" altLang="en-US" sz="1200" b="0" i="0" kern="1200" dirty="0">
                <a:solidFill>
                  <a:schemeClr val="tx1"/>
                </a:solidFill>
                <a:effectLst/>
                <a:latin typeface="Times New Roman" pitchFamily="18" charset="0"/>
                <a:ea typeface="宋体" charset="-122"/>
                <a:cs typeface="+mn-cs"/>
              </a:rPr>
              <a:t>从技术上来讲，准确地说，在大多数情况下，在执行此步骤之前还需要完成以下步骤：解析器启动后，它（通常）会读取一个预配置文件（称为“根提示”</a:t>
            </a:r>
            <a:r>
              <a:rPr kumimoji="1" lang="en-US" altLang="zh-CN" sz="1200" b="0" i="0" kern="1200" dirty="0">
                <a:solidFill>
                  <a:schemeClr val="tx1"/>
                </a:solidFill>
                <a:effectLst/>
                <a:latin typeface="Times New Roman" pitchFamily="18" charset="0"/>
                <a:ea typeface="宋体" charset="-122"/>
                <a:cs typeface="+mn-cs"/>
              </a:rPr>
              <a:t>【root hint】</a:t>
            </a:r>
            <a:r>
              <a:rPr kumimoji="1" lang="zh-CN" altLang="en-US" sz="1200" b="0" i="0" kern="1200" dirty="0">
                <a:solidFill>
                  <a:schemeClr val="tx1"/>
                </a:solidFill>
                <a:effectLst/>
                <a:latin typeface="Times New Roman" pitchFamily="18" charset="0"/>
                <a:ea typeface="宋体" charset="-122"/>
                <a:cs typeface="+mn-cs"/>
              </a:rPr>
              <a:t>文件），该文件拥有 </a:t>
            </a:r>
            <a:r>
              <a:rPr kumimoji="1" lang="en-US" altLang="zh-CN" sz="1200" b="0" i="0" kern="1200" dirty="0">
                <a:solidFill>
                  <a:schemeClr val="tx1"/>
                </a:solidFill>
                <a:effectLst/>
                <a:latin typeface="Times New Roman" pitchFamily="18" charset="0"/>
                <a:ea typeface="宋体" charset="-122"/>
                <a:cs typeface="+mn-cs"/>
              </a:rPr>
              <a:t>13 </a:t>
            </a:r>
            <a:r>
              <a:rPr kumimoji="1" lang="zh-CN" altLang="en-US" sz="1200" b="0" i="0" kern="1200" dirty="0">
                <a:solidFill>
                  <a:schemeClr val="tx1"/>
                </a:solidFill>
                <a:effectLst/>
                <a:latin typeface="Times New Roman" pitchFamily="18" charset="0"/>
                <a:ea typeface="宋体" charset="-122"/>
                <a:cs typeface="+mn-cs"/>
              </a:rPr>
              <a:t>个根服务器的</a:t>
            </a:r>
            <a:r>
              <a:rPr kumimoji="1" lang="en-US" altLang="zh-CN" sz="1200" b="0" i="0" kern="1200" dirty="0">
                <a:solidFill>
                  <a:schemeClr val="tx1"/>
                </a:solidFill>
                <a:effectLst/>
                <a:latin typeface="Times New Roman" pitchFamily="18" charset="0"/>
                <a:ea typeface="宋体" charset="-122"/>
                <a:cs typeface="+mn-cs"/>
              </a:rPr>
              <a:t>26</a:t>
            </a:r>
            <a:r>
              <a:rPr kumimoji="1" lang="zh-CN" altLang="en-US" sz="1200" b="0" i="0" kern="1200" dirty="0">
                <a:solidFill>
                  <a:schemeClr val="tx1"/>
                </a:solidFill>
                <a:effectLst/>
                <a:latin typeface="Times New Roman" pitchFamily="18" charset="0"/>
                <a:ea typeface="宋体" charset="-122"/>
                <a:cs typeface="+mn-cs"/>
              </a:rPr>
              <a:t>个 </a:t>
            </a:r>
            <a:r>
              <a:rPr kumimoji="1" lang="en-US" altLang="zh-CN" sz="1200" b="0" i="0" kern="1200" dirty="0">
                <a:solidFill>
                  <a:schemeClr val="tx1"/>
                </a:solidFill>
                <a:effectLst/>
                <a:latin typeface="Times New Roman" pitchFamily="18" charset="0"/>
                <a:ea typeface="宋体" charset="-122"/>
                <a:cs typeface="+mn-cs"/>
              </a:rPr>
              <a:t>IP </a:t>
            </a:r>
            <a:r>
              <a:rPr kumimoji="1" lang="zh-CN" altLang="en-US" sz="1200" b="0" i="0" kern="1200" dirty="0">
                <a:solidFill>
                  <a:schemeClr val="tx1"/>
                </a:solidFill>
                <a:effectLst/>
                <a:latin typeface="Times New Roman" pitchFamily="18" charset="0"/>
                <a:ea typeface="宋体" charset="-122"/>
                <a:cs typeface="+mn-cs"/>
              </a:rPr>
              <a:t>地址（</a:t>
            </a:r>
            <a:r>
              <a:rPr kumimoji="1" lang="en-US" altLang="zh-CN" sz="1200" b="0" i="0" kern="1200" dirty="0">
                <a:solidFill>
                  <a:schemeClr val="tx1"/>
                </a:solidFill>
                <a:effectLst/>
                <a:latin typeface="Times New Roman" pitchFamily="18" charset="0"/>
                <a:ea typeface="宋体" charset="-122"/>
                <a:cs typeface="+mn-cs"/>
              </a:rPr>
              <a:t>13 </a:t>
            </a:r>
            <a:r>
              <a:rPr kumimoji="1" lang="zh-CN" altLang="en-US" sz="1200" b="0" i="0" kern="1200" dirty="0">
                <a:solidFill>
                  <a:schemeClr val="tx1"/>
                </a:solidFill>
                <a:effectLst/>
                <a:latin typeface="Times New Roman" pitchFamily="18" charset="0"/>
                <a:ea typeface="宋体" charset="-122"/>
                <a:cs typeface="+mn-cs"/>
              </a:rPr>
              <a:t>个 </a:t>
            </a:r>
            <a:r>
              <a:rPr kumimoji="1" lang="en-US" altLang="zh-CN" sz="1200" b="0" i="0" kern="1200" dirty="0">
                <a:solidFill>
                  <a:schemeClr val="tx1"/>
                </a:solidFill>
                <a:effectLst/>
                <a:latin typeface="Times New Roman" pitchFamily="18" charset="0"/>
                <a:ea typeface="宋体" charset="-122"/>
                <a:cs typeface="+mn-cs"/>
              </a:rPr>
              <a:t>IPv4 </a:t>
            </a:r>
            <a:r>
              <a:rPr kumimoji="1" lang="zh-CN" altLang="en-US" sz="1200" b="0" i="0" kern="1200" dirty="0">
                <a:solidFill>
                  <a:schemeClr val="tx1"/>
                </a:solidFill>
                <a:effectLst/>
                <a:latin typeface="Times New Roman" pitchFamily="18" charset="0"/>
                <a:ea typeface="宋体" charset="-122"/>
                <a:cs typeface="+mn-cs"/>
              </a:rPr>
              <a:t>地址和</a:t>
            </a:r>
            <a:r>
              <a:rPr kumimoji="1" lang="en-US" altLang="zh-CN" sz="1200" b="0" i="0" kern="1200" dirty="0">
                <a:solidFill>
                  <a:schemeClr val="tx1"/>
                </a:solidFill>
                <a:effectLst/>
                <a:latin typeface="Times New Roman" pitchFamily="18" charset="0"/>
                <a:ea typeface="宋体" charset="-122"/>
                <a:cs typeface="+mn-cs"/>
              </a:rPr>
              <a:t>13 </a:t>
            </a:r>
            <a:r>
              <a:rPr kumimoji="1" lang="zh-CN" altLang="en-US" sz="1200" b="0" i="0" kern="1200" dirty="0">
                <a:solidFill>
                  <a:schemeClr val="tx1"/>
                </a:solidFill>
                <a:effectLst/>
                <a:latin typeface="Times New Roman" pitchFamily="18" charset="0"/>
                <a:ea typeface="宋体" charset="-122"/>
                <a:cs typeface="+mn-cs"/>
              </a:rPr>
              <a:t>个 </a:t>
            </a:r>
            <a:r>
              <a:rPr kumimoji="1" lang="en-US" altLang="zh-CN" sz="1200" b="0" i="0" kern="1200" dirty="0">
                <a:solidFill>
                  <a:schemeClr val="tx1"/>
                </a:solidFill>
                <a:effectLst/>
                <a:latin typeface="Times New Roman" pitchFamily="18" charset="0"/>
                <a:ea typeface="宋体" charset="-122"/>
                <a:cs typeface="+mn-cs"/>
              </a:rPr>
              <a:t>IPv6 </a:t>
            </a:r>
            <a:r>
              <a:rPr kumimoji="1" lang="zh-CN" altLang="en-US" sz="1200" b="0" i="0" kern="1200" dirty="0">
                <a:solidFill>
                  <a:schemeClr val="tx1"/>
                </a:solidFill>
                <a:effectLst/>
                <a:latin typeface="Times New Roman" pitchFamily="18" charset="0"/>
                <a:ea typeface="宋体" charset="-122"/>
                <a:cs typeface="+mn-cs"/>
              </a:rPr>
              <a:t>地址）。读取该文件后，解析器会向其中一个地址发送查询，以查看根服务器的地址是否已发生更改。这一步称为“启动查询”，说明了解析器如何获得关于根服务器的最新信息。</a:t>
            </a:r>
            <a:endParaRPr kumimoji="1" lang="en-US" altLang="zh-CN" sz="1200" b="0" i="0" kern="1200" dirty="0">
              <a:solidFill>
                <a:schemeClr val="tx1"/>
              </a:solidFill>
              <a:effectLst/>
              <a:latin typeface="Times New Roman" pitchFamily="18" charset="0"/>
              <a:ea typeface="宋体" charset="-122"/>
              <a:cs typeface="+mn-cs"/>
            </a:endParaRPr>
          </a:p>
          <a:p>
            <a:r>
              <a:rPr kumimoji="1" lang="zh-CN" altLang="en-US" sz="1200" b="0" i="0" kern="1200" dirty="0">
                <a:solidFill>
                  <a:schemeClr val="tx1"/>
                </a:solidFill>
                <a:effectLst/>
                <a:latin typeface="Times New Roman" pitchFamily="18" charset="0"/>
                <a:ea typeface="宋体" charset="-122"/>
                <a:cs typeface="+mn-cs"/>
              </a:rPr>
              <a:t>注</a:t>
            </a:r>
            <a:r>
              <a:rPr kumimoji="1" lang="en-US" altLang="zh-CN" sz="1200" b="0" i="0" kern="1200" dirty="0">
                <a:solidFill>
                  <a:schemeClr val="tx1"/>
                </a:solidFill>
                <a:effectLst/>
                <a:latin typeface="Times New Roman" pitchFamily="18" charset="0"/>
                <a:ea typeface="宋体" charset="-122"/>
                <a:cs typeface="+mn-cs"/>
              </a:rPr>
              <a:t>2 </a:t>
            </a:r>
            <a:r>
              <a:rPr kumimoji="1" lang="zh-CN" altLang="en-US" sz="1200" b="0" i="0" kern="1200" dirty="0">
                <a:solidFill>
                  <a:schemeClr val="tx1"/>
                </a:solidFill>
                <a:effectLst/>
                <a:latin typeface="Times New Roman" pitchFamily="18" charset="0"/>
                <a:ea typeface="宋体" charset="-122"/>
                <a:cs typeface="+mn-cs"/>
              </a:rPr>
              <a:t> “名称服务器”（</a:t>
            </a:r>
            <a:r>
              <a:rPr kumimoji="1" lang="en-US" altLang="zh-CN" sz="1200" b="0" i="0" kern="1200" dirty="0">
                <a:solidFill>
                  <a:schemeClr val="tx1"/>
                </a:solidFill>
                <a:effectLst/>
                <a:latin typeface="Times New Roman" pitchFamily="18" charset="0"/>
                <a:ea typeface="宋体" charset="-122"/>
                <a:cs typeface="+mn-cs"/>
              </a:rPr>
              <a:t>name server</a:t>
            </a:r>
            <a:r>
              <a:rPr kumimoji="1" lang="zh-CN" altLang="en-US" sz="1200" b="0" i="0" kern="1200" dirty="0">
                <a:solidFill>
                  <a:schemeClr val="tx1"/>
                </a:solidFill>
                <a:effectLst/>
                <a:latin typeface="Times New Roman" pitchFamily="18" charset="0"/>
                <a:ea typeface="宋体" charset="-122"/>
                <a:cs typeface="+mn-cs"/>
              </a:rPr>
              <a:t>）是计算机上响应域名系统查询的软件。根名称服务器（ </a:t>
            </a:r>
            <a:r>
              <a:rPr kumimoji="1" lang="en-US" altLang="zh-CN" sz="1200" b="0" i="0" kern="1200" dirty="0">
                <a:solidFill>
                  <a:schemeClr val="tx1"/>
                </a:solidFill>
                <a:effectLst/>
                <a:latin typeface="Times New Roman" pitchFamily="18" charset="0"/>
                <a:ea typeface="宋体" charset="-122"/>
                <a:cs typeface="+mn-cs"/>
              </a:rPr>
              <a:t>root name server</a:t>
            </a:r>
            <a:r>
              <a:rPr kumimoji="1" lang="zh-CN" altLang="en-US" sz="1200" b="0" i="0" kern="1200" dirty="0">
                <a:solidFill>
                  <a:schemeClr val="tx1"/>
                </a:solidFill>
                <a:effectLst/>
                <a:latin typeface="Times New Roman" pitchFamily="18" charset="0"/>
                <a:ea typeface="宋体" charset="-122"/>
                <a:cs typeface="+mn-cs"/>
              </a:rPr>
              <a:t>）通常简称为根服务器（</a:t>
            </a:r>
            <a:r>
              <a:rPr kumimoji="1" lang="en-US" altLang="zh-CN" sz="1200" b="0" i="0" kern="1200" dirty="0">
                <a:solidFill>
                  <a:schemeClr val="tx1"/>
                </a:solidFill>
                <a:effectLst/>
                <a:latin typeface="Times New Roman" pitchFamily="18" charset="0"/>
                <a:ea typeface="宋体" charset="-122"/>
                <a:cs typeface="+mn-cs"/>
              </a:rPr>
              <a:t>root server</a:t>
            </a:r>
            <a:r>
              <a:rPr kumimoji="1" lang="zh-CN" altLang="en-US" sz="1200" b="0" i="0" kern="1200" dirty="0">
                <a:solidFill>
                  <a:schemeClr val="tx1"/>
                </a:solidFill>
                <a:effectLst/>
                <a:latin typeface="Times New Roman" pitchFamily="18" charset="0"/>
                <a:ea typeface="宋体" charset="-122"/>
                <a:cs typeface="+mn-cs"/>
              </a:rPr>
              <a:t>），尽管一个“根服务器”实际上是由多台计算机组成（稍后进行详细介绍）。有一点容易混淆，那就是解析器（</a:t>
            </a:r>
            <a:r>
              <a:rPr kumimoji="1" lang="en-US" altLang="zh-CN" sz="1200" b="0" i="0" kern="1200" dirty="0">
                <a:solidFill>
                  <a:schemeClr val="tx1"/>
                </a:solidFill>
                <a:effectLst/>
                <a:latin typeface="Times New Roman" pitchFamily="18" charset="0"/>
                <a:ea typeface="宋体" charset="-122"/>
                <a:cs typeface="+mn-cs"/>
              </a:rPr>
              <a:t>resolver</a:t>
            </a:r>
            <a:r>
              <a:rPr kumimoji="1" lang="zh-CN" altLang="en-US" sz="1200" b="0" i="0" kern="1200" dirty="0">
                <a:solidFill>
                  <a:schemeClr val="tx1"/>
                </a:solidFill>
                <a:effectLst/>
                <a:latin typeface="Times New Roman" pitchFamily="18" charset="0"/>
                <a:ea typeface="宋体" charset="-122"/>
                <a:cs typeface="+mn-cs"/>
              </a:rPr>
              <a:t>）通常也被称为名称服务器，特别是在家庭路由器和各种配置文件中。但是在本文中，我们始终将它们称为解析器。</a:t>
            </a:r>
            <a:br>
              <a:rPr kumimoji="1" lang="zh-CN" altLang="en-US" sz="1200" b="0" i="0" kern="1200" dirty="0">
                <a:solidFill>
                  <a:schemeClr val="tx1"/>
                </a:solidFill>
                <a:effectLst/>
                <a:latin typeface="Times New Roman" pitchFamily="18" charset="0"/>
                <a:ea typeface="宋体" charset="-122"/>
                <a:cs typeface="+mn-cs"/>
              </a:rPr>
            </a:br>
            <a:r>
              <a:rPr kumimoji="1" lang="zh-CN" altLang="en-US" sz="1200" b="0" i="0" kern="1200" dirty="0">
                <a:solidFill>
                  <a:schemeClr val="tx1"/>
                </a:solidFill>
                <a:effectLst/>
                <a:latin typeface="Times New Roman" pitchFamily="18" charset="0"/>
                <a:ea typeface="宋体" charset="-122"/>
                <a:cs typeface="+mn-cs"/>
              </a:rPr>
              <a:t>注</a:t>
            </a:r>
            <a:r>
              <a:rPr kumimoji="1" lang="en-US" altLang="zh-CN" sz="1200" b="0" i="0" kern="1200" dirty="0">
                <a:solidFill>
                  <a:schemeClr val="tx1"/>
                </a:solidFill>
                <a:effectLst/>
                <a:latin typeface="Times New Roman" pitchFamily="18" charset="0"/>
                <a:ea typeface="宋体" charset="-122"/>
                <a:cs typeface="+mn-cs"/>
              </a:rPr>
              <a:t>3</a:t>
            </a:r>
            <a:r>
              <a:rPr kumimoji="1" lang="zh-CN" altLang="en-US" sz="1200" b="0" i="0" kern="1200" dirty="0">
                <a:solidFill>
                  <a:schemeClr val="tx1"/>
                </a:solidFill>
                <a:effectLst/>
                <a:latin typeface="Times New Roman" pitchFamily="18" charset="0"/>
                <a:ea typeface="宋体" charset="-122"/>
                <a:cs typeface="+mn-cs"/>
              </a:rPr>
              <a:t> 最近发布了一项名为“查询域名最小化”的标准（请参见 </a:t>
            </a:r>
            <a:r>
              <a:rPr kumimoji="1" lang="en-US" altLang="zh-CN" sz="1200" b="0" i="0" kern="1200" dirty="0">
                <a:solidFill>
                  <a:schemeClr val="tx1"/>
                </a:solidFill>
                <a:effectLst/>
                <a:latin typeface="Times New Roman" pitchFamily="18" charset="0"/>
                <a:ea typeface="宋体" charset="-122"/>
                <a:cs typeface="+mn-cs"/>
              </a:rPr>
              <a:t>RFC 7816</a:t>
            </a:r>
            <a:r>
              <a:rPr kumimoji="1" lang="zh-CN" altLang="en-US" sz="1200" b="0" i="0" kern="1200" dirty="0">
                <a:solidFill>
                  <a:schemeClr val="tx1"/>
                </a:solidFill>
                <a:effectLst/>
                <a:latin typeface="Times New Roman" pitchFamily="18" charset="0"/>
                <a:ea typeface="宋体" charset="-122"/>
                <a:cs typeface="+mn-cs"/>
              </a:rPr>
              <a:t>），该标准建议：为了提高隐私保护力度，解析器应只发送与所查询的名称服务器相关的域名部分，例如，只向根服务器发送关于 </a:t>
            </a:r>
            <a:r>
              <a:rPr kumimoji="1" lang="en-US" altLang="zh-CN" sz="1200" b="0" i="0" kern="1200" dirty="0">
                <a:solidFill>
                  <a:schemeClr val="tx1"/>
                </a:solidFill>
                <a:effectLst/>
                <a:latin typeface="Times New Roman" pitchFamily="18" charset="0"/>
                <a:ea typeface="宋体" charset="-122"/>
                <a:cs typeface="+mn-cs"/>
              </a:rPr>
              <a:t>TLD </a:t>
            </a:r>
            <a:r>
              <a:rPr kumimoji="1" lang="zh-CN" altLang="en-US" sz="1200" b="0" i="0" kern="1200" dirty="0">
                <a:solidFill>
                  <a:schemeClr val="tx1"/>
                </a:solidFill>
                <a:effectLst/>
                <a:latin typeface="Times New Roman" pitchFamily="18" charset="0"/>
                <a:ea typeface="宋体" charset="-122"/>
                <a:cs typeface="+mn-cs"/>
              </a:rPr>
              <a:t>名称服务器的查询，向 </a:t>
            </a:r>
            <a:r>
              <a:rPr kumimoji="1" lang="en-US" altLang="zh-CN" sz="1200" b="0" i="0" kern="1200" dirty="0">
                <a:solidFill>
                  <a:schemeClr val="tx1"/>
                </a:solidFill>
                <a:effectLst/>
                <a:latin typeface="Times New Roman" pitchFamily="18" charset="0"/>
                <a:ea typeface="宋体" charset="-122"/>
                <a:cs typeface="+mn-cs"/>
              </a:rPr>
              <a:t>TLD </a:t>
            </a:r>
            <a:r>
              <a:rPr kumimoji="1" lang="zh-CN" altLang="en-US" sz="1200" b="0" i="0" kern="1200" dirty="0">
                <a:solidFill>
                  <a:schemeClr val="tx1"/>
                </a:solidFill>
                <a:effectLst/>
                <a:latin typeface="Times New Roman" pitchFamily="18" charset="0"/>
                <a:ea typeface="宋体" charset="-122"/>
                <a:cs typeface="+mn-cs"/>
              </a:rPr>
              <a:t>名称服务器发送有关二级域名的查询等等。</a:t>
            </a:r>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108</a:t>
            </a:fld>
            <a:endParaRPr lang="en-US" altLang="zh-CN"/>
          </a:p>
        </p:txBody>
      </p:sp>
    </p:spTree>
    <p:extLst>
      <p:ext uri="{BB962C8B-B14F-4D97-AF65-F5344CB8AC3E}">
        <p14:creationId xmlns:p14="http://schemas.microsoft.com/office/powerpoint/2010/main" val="75388483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zh-CN" sz="1200" b="0" i="0" kern="1200" dirty="0">
                <a:solidFill>
                  <a:schemeClr val="tx1"/>
                </a:solidFill>
                <a:effectLst/>
                <a:latin typeface="Times New Roman" pitchFamily="18" charset="0"/>
                <a:ea typeface="宋体" charset="-122"/>
                <a:cs typeface="+mn-cs"/>
              </a:rPr>
              <a:t>ICANN CTO: </a:t>
            </a:r>
            <a:r>
              <a:rPr kumimoji="1" lang="zh-CN" altLang="en-US" sz="1200" b="0" i="0" kern="1200" dirty="0">
                <a:solidFill>
                  <a:schemeClr val="tx1"/>
                </a:solidFill>
                <a:effectLst/>
                <a:latin typeface="Times New Roman" pitchFamily="18" charset="0"/>
                <a:ea typeface="宋体" charset="-122"/>
                <a:cs typeface="+mn-cs"/>
              </a:rPr>
              <a:t>域名根服务器系统概述 </a:t>
            </a:r>
            <a:r>
              <a:rPr kumimoji="1" lang="en-US" altLang="zh-CN" sz="1200" b="0" i="0" kern="1200" dirty="0">
                <a:solidFill>
                  <a:schemeClr val="tx1"/>
                </a:solidFill>
                <a:effectLst/>
                <a:latin typeface="Times New Roman" pitchFamily="18" charset="0"/>
                <a:ea typeface="宋体" charset="-122"/>
                <a:cs typeface="+mn-cs"/>
              </a:rPr>
              <a:t>2020.6</a:t>
            </a:r>
            <a:endParaRPr kumimoji="1" lang="zh-CN" altLang="en-US" sz="1200" b="0" i="0" kern="1200" dirty="0">
              <a:solidFill>
                <a:schemeClr val="tx1"/>
              </a:solidFill>
              <a:effectLst/>
              <a:latin typeface="Times New Roman" pitchFamily="18" charset="0"/>
              <a:ea typeface="宋体" charset="-122"/>
              <a:cs typeface="+mn-cs"/>
            </a:endParaRPr>
          </a:p>
          <a:p>
            <a:r>
              <a:rPr lang="en-US" altLang="zh-CN" dirty="0">
                <a:hlinkClick r:id="rId3"/>
              </a:rPr>
              <a:t>https://mp.weixin.qq.com/s/XCEQzYJ_qUOAdwlOQ_UrIA</a:t>
            </a:r>
            <a:endParaRPr lang="en-US" altLang="zh-CN" dirty="0"/>
          </a:p>
          <a:p>
            <a:endParaRPr kumimoji="1" lang="en-US" altLang="zh-CN" sz="1200" b="0" i="0" kern="1200" dirty="0">
              <a:solidFill>
                <a:schemeClr val="tx1"/>
              </a:solidFill>
              <a:effectLst/>
              <a:latin typeface="Times New Roman" pitchFamily="18" charset="0"/>
              <a:ea typeface="宋体" charset="-122"/>
              <a:cs typeface="+mn-cs"/>
            </a:endParaRPr>
          </a:p>
          <a:p>
            <a:r>
              <a:rPr kumimoji="1" lang="zh-CN" altLang="en-US" sz="1200" b="1" i="0" kern="1200" dirty="0">
                <a:solidFill>
                  <a:schemeClr val="tx1"/>
                </a:solidFill>
                <a:effectLst/>
                <a:latin typeface="Times New Roman" pitchFamily="18" charset="0"/>
                <a:ea typeface="宋体" charset="-122"/>
                <a:cs typeface="+mn-cs"/>
              </a:rPr>
              <a:t>第一步</a:t>
            </a:r>
            <a:r>
              <a:rPr kumimoji="1" lang="en-US" altLang="zh-CN" sz="1200" b="0" i="0" kern="1200" dirty="0">
                <a:solidFill>
                  <a:schemeClr val="tx1"/>
                </a:solidFill>
                <a:effectLst/>
                <a:latin typeface="Times New Roman" pitchFamily="18" charset="0"/>
                <a:ea typeface="宋体" charset="-122"/>
                <a:cs typeface="+mn-cs"/>
              </a:rPr>
              <a:t>【</a:t>
            </a:r>
            <a:r>
              <a:rPr kumimoji="1" lang="zh-CN" altLang="en-US" sz="1200" b="0" i="0" kern="1200" dirty="0">
                <a:solidFill>
                  <a:schemeClr val="tx1"/>
                </a:solidFill>
                <a:effectLst/>
                <a:latin typeface="Times New Roman" pitchFamily="18" charset="0"/>
                <a:ea typeface="宋体" charset="-122"/>
                <a:cs typeface="+mn-cs"/>
              </a:rPr>
              <a:t>注释</a:t>
            </a:r>
            <a:r>
              <a:rPr kumimoji="1" lang="en-US" altLang="zh-CN" sz="1200" b="0" i="0" kern="1200" dirty="0">
                <a:solidFill>
                  <a:schemeClr val="tx1"/>
                </a:solidFill>
                <a:effectLst/>
                <a:latin typeface="Times New Roman" pitchFamily="18" charset="0"/>
                <a:ea typeface="宋体" charset="-122"/>
                <a:cs typeface="+mn-cs"/>
              </a:rPr>
              <a:t>1】</a:t>
            </a:r>
            <a:r>
              <a:rPr kumimoji="1" lang="zh-CN" altLang="en-US" sz="1200" b="0" i="0" kern="1200" dirty="0">
                <a:solidFill>
                  <a:schemeClr val="tx1"/>
                </a:solidFill>
                <a:effectLst/>
                <a:latin typeface="Times New Roman" pitchFamily="18" charset="0"/>
                <a:ea typeface="宋体" charset="-122"/>
                <a:cs typeface="+mn-cs"/>
              </a:rPr>
              <a:t>，向 </a:t>
            </a:r>
            <a:r>
              <a:rPr kumimoji="1" lang="en-US" altLang="zh-CN" sz="1200" b="0" i="0" kern="1200" dirty="0">
                <a:solidFill>
                  <a:schemeClr val="tx1"/>
                </a:solidFill>
                <a:effectLst/>
                <a:latin typeface="Times New Roman" pitchFamily="18" charset="0"/>
                <a:ea typeface="宋体" charset="-122"/>
                <a:cs typeface="+mn-cs"/>
              </a:rPr>
              <a:t>13 </a:t>
            </a:r>
            <a:r>
              <a:rPr kumimoji="1" lang="zh-CN" altLang="en-US" sz="1200" b="0" i="0" kern="1200" dirty="0">
                <a:solidFill>
                  <a:schemeClr val="tx1"/>
                </a:solidFill>
                <a:effectLst/>
                <a:latin typeface="Times New Roman" pitchFamily="18" charset="0"/>
                <a:ea typeface="宋体" charset="-122"/>
                <a:cs typeface="+mn-cs"/>
              </a:rPr>
              <a:t>个根服务器</a:t>
            </a:r>
            <a:r>
              <a:rPr kumimoji="1" lang="en-US" altLang="zh-CN" sz="1200" b="0" i="0" kern="1200" dirty="0">
                <a:solidFill>
                  <a:schemeClr val="tx1"/>
                </a:solidFill>
                <a:effectLst/>
                <a:latin typeface="Times New Roman" pitchFamily="18" charset="0"/>
                <a:ea typeface="宋体" charset="-122"/>
                <a:cs typeface="+mn-cs"/>
              </a:rPr>
              <a:t>【</a:t>
            </a:r>
            <a:r>
              <a:rPr kumimoji="1" lang="zh-CN" altLang="en-US" sz="1200" b="0" i="0" kern="1200" dirty="0">
                <a:solidFill>
                  <a:schemeClr val="tx1"/>
                </a:solidFill>
                <a:effectLst/>
                <a:latin typeface="Times New Roman" pitchFamily="18" charset="0"/>
                <a:ea typeface="宋体" charset="-122"/>
                <a:cs typeface="+mn-cs"/>
              </a:rPr>
              <a:t>注释</a:t>
            </a:r>
            <a:r>
              <a:rPr kumimoji="1" lang="en-US" altLang="zh-CN" sz="1200" b="0" i="0" kern="1200" dirty="0">
                <a:solidFill>
                  <a:schemeClr val="tx1"/>
                </a:solidFill>
                <a:effectLst/>
                <a:latin typeface="Times New Roman" pitchFamily="18" charset="0"/>
                <a:ea typeface="宋体" charset="-122"/>
                <a:cs typeface="+mn-cs"/>
              </a:rPr>
              <a:t>2】</a:t>
            </a:r>
            <a:r>
              <a:rPr kumimoji="1" lang="zh-CN" altLang="en-US" sz="1200" b="0" i="0" kern="1200" dirty="0">
                <a:solidFill>
                  <a:schemeClr val="tx1"/>
                </a:solidFill>
                <a:effectLst/>
                <a:latin typeface="Times New Roman" pitchFamily="18" charset="0"/>
                <a:ea typeface="宋体" charset="-122"/>
                <a:cs typeface="+mn-cs"/>
              </a:rPr>
              <a:t>中的任意一个根服务器发送包含网站域名</a:t>
            </a:r>
            <a:r>
              <a:rPr kumimoji="1" lang="en-US" altLang="zh-CN" sz="1200" b="0" i="0" kern="1200" dirty="0">
                <a:solidFill>
                  <a:schemeClr val="tx1"/>
                </a:solidFill>
                <a:effectLst/>
                <a:latin typeface="Times New Roman" pitchFamily="18" charset="0"/>
                <a:ea typeface="宋体" charset="-122"/>
                <a:cs typeface="+mn-cs"/>
              </a:rPr>
              <a:t>【</a:t>
            </a:r>
            <a:r>
              <a:rPr kumimoji="1" lang="zh-CN" altLang="en-US" sz="1200" b="0" i="0" kern="1200" dirty="0">
                <a:solidFill>
                  <a:schemeClr val="tx1"/>
                </a:solidFill>
                <a:effectLst/>
                <a:latin typeface="Times New Roman" pitchFamily="18" charset="0"/>
                <a:ea typeface="宋体" charset="-122"/>
                <a:cs typeface="+mn-cs"/>
              </a:rPr>
              <a:t>注释</a:t>
            </a:r>
            <a:r>
              <a:rPr kumimoji="1" lang="en-US" altLang="zh-CN" sz="1200" b="0" i="0" kern="1200" dirty="0">
                <a:solidFill>
                  <a:schemeClr val="tx1"/>
                </a:solidFill>
                <a:effectLst/>
                <a:latin typeface="Times New Roman" pitchFamily="18" charset="0"/>
                <a:ea typeface="宋体" charset="-122"/>
                <a:cs typeface="+mn-cs"/>
              </a:rPr>
              <a:t>3】</a:t>
            </a:r>
            <a:r>
              <a:rPr kumimoji="1" lang="zh-CN" altLang="en-US" sz="1200" b="0" i="0" kern="1200" dirty="0">
                <a:solidFill>
                  <a:schemeClr val="tx1"/>
                </a:solidFill>
                <a:effectLst/>
                <a:latin typeface="Times New Roman" pitchFamily="18" charset="0"/>
                <a:ea typeface="宋体" charset="-122"/>
                <a:cs typeface="+mn-cs"/>
              </a:rPr>
              <a:t>的查询，询问该网站对应的 </a:t>
            </a:r>
            <a:r>
              <a:rPr kumimoji="1" lang="en-US" altLang="zh-CN" sz="1200" b="0" i="0" kern="1200" dirty="0">
                <a:solidFill>
                  <a:schemeClr val="tx1"/>
                </a:solidFill>
                <a:effectLst/>
                <a:latin typeface="Times New Roman" pitchFamily="18" charset="0"/>
                <a:ea typeface="宋体" charset="-122"/>
                <a:cs typeface="+mn-cs"/>
              </a:rPr>
              <a:t>IP </a:t>
            </a:r>
            <a:r>
              <a:rPr kumimoji="1" lang="zh-CN" altLang="en-US" sz="1200" b="0" i="0" kern="1200" dirty="0">
                <a:solidFill>
                  <a:schemeClr val="tx1"/>
                </a:solidFill>
                <a:effectLst/>
                <a:latin typeface="Times New Roman" pitchFamily="18" charset="0"/>
                <a:ea typeface="宋体" charset="-122"/>
                <a:cs typeface="+mn-cs"/>
              </a:rPr>
              <a:t>地址。然而，根服务器只包含顶级域 </a:t>
            </a:r>
            <a:r>
              <a:rPr kumimoji="1" lang="en-US" altLang="zh-CN" sz="1200" b="0" i="0" kern="1200" dirty="0">
                <a:solidFill>
                  <a:schemeClr val="tx1"/>
                </a:solidFill>
                <a:effectLst/>
                <a:latin typeface="Times New Roman" pitchFamily="18" charset="0"/>
                <a:ea typeface="宋体" charset="-122"/>
                <a:cs typeface="+mn-cs"/>
              </a:rPr>
              <a:t>(TLD) </a:t>
            </a:r>
            <a:r>
              <a:rPr kumimoji="1" lang="zh-CN" altLang="en-US" sz="1200" b="0" i="0" kern="1200" dirty="0">
                <a:solidFill>
                  <a:schemeClr val="tx1"/>
                </a:solidFill>
                <a:effectLst/>
                <a:latin typeface="Times New Roman" pitchFamily="18" charset="0"/>
                <a:ea typeface="宋体" charset="-122"/>
                <a:cs typeface="+mn-cs"/>
              </a:rPr>
              <a:t>的相关信息，特别是顶级域的列表信息和保存这些顶级域下二级域名内容的域名服务器的信息。收到查询请求的根服务器会返回一个“引荐”（</a:t>
            </a:r>
            <a:r>
              <a:rPr kumimoji="1" lang="en-US" altLang="zh-CN" sz="1200" b="0" i="0" kern="1200" dirty="0">
                <a:solidFill>
                  <a:schemeClr val="tx1"/>
                </a:solidFill>
                <a:effectLst/>
                <a:latin typeface="Times New Roman" pitchFamily="18" charset="0"/>
                <a:ea typeface="宋体" charset="-122"/>
                <a:cs typeface="+mn-cs"/>
              </a:rPr>
              <a:t>referral</a:t>
            </a:r>
            <a:r>
              <a:rPr kumimoji="1" lang="zh-CN" altLang="en-US" sz="1200" b="0" i="0" kern="1200" dirty="0">
                <a:solidFill>
                  <a:schemeClr val="tx1"/>
                </a:solidFill>
                <a:effectLst/>
                <a:latin typeface="Times New Roman" pitchFamily="18" charset="0"/>
                <a:ea typeface="宋体" charset="-122"/>
                <a:cs typeface="+mn-cs"/>
              </a:rPr>
              <a:t>）作为响应，此引荐就是一个列出网站域名 </a:t>
            </a:r>
            <a:r>
              <a:rPr kumimoji="1" lang="en-US" altLang="zh-CN" sz="1200" b="0" i="0" kern="1200" dirty="0">
                <a:solidFill>
                  <a:schemeClr val="tx1"/>
                </a:solidFill>
                <a:effectLst/>
                <a:latin typeface="Times New Roman" pitchFamily="18" charset="0"/>
                <a:ea typeface="宋体" charset="-122"/>
                <a:cs typeface="+mn-cs"/>
              </a:rPr>
              <a:t>TLD </a:t>
            </a:r>
            <a:r>
              <a:rPr kumimoji="1" lang="zh-CN" altLang="en-US" sz="1200" b="0" i="0" kern="1200" dirty="0">
                <a:solidFill>
                  <a:schemeClr val="tx1"/>
                </a:solidFill>
                <a:effectLst/>
                <a:latin typeface="Times New Roman" pitchFamily="18" charset="0"/>
                <a:ea typeface="宋体" charset="-122"/>
                <a:cs typeface="+mn-cs"/>
              </a:rPr>
              <a:t>的名称服务器（</a:t>
            </a:r>
            <a:r>
              <a:rPr kumimoji="1" lang="en-US" altLang="zh-CN" sz="1200" b="0" i="0" kern="1200" dirty="0">
                <a:solidFill>
                  <a:schemeClr val="tx1"/>
                </a:solidFill>
                <a:effectLst/>
                <a:latin typeface="Times New Roman" pitchFamily="18" charset="0"/>
                <a:ea typeface="宋体" charset="-122"/>
                <a:cs typeface="+mn-cs"/>
              </a:rPr>
              <a:t>name server</a:t>
            </a:r>
            <a:r>
              <a:rPr kumimoji="1" lang="zh-CN" altLang="en-US" sz="1200" b="0" i="0" kern="1200" dirty="0">
                <a:solidFill>
                  <a:schemeClr val="tx1"/>
                </a:solidFill>
                <a:effectLst/>
                <a:latin typeface="Times New Roman" pitchFamily="18" charset="0"/>
                <a:ea typeface="宋体" charset="-122"/>
                <a:cs typeface="+mn-cs"/>
              </a:rPr>
              <a:t>）的列表。例如，如果您尝试访问网站 </a:t>
            </a:r>
            <a:r>
              <a:rPr kumimoji="1" lang="en-US" altLang="zh-CN" sz="1200" b="0" i="0" kern="1200" dirty="0">
                <a:solidFill>
                  <a:schemeClr val="tx1"/>
                </a:solidFill>
                <a:effectLst/>
                <a:latin typeface="Times New Roman" pitchFamily="18" charset="0"/>
                <a:ea typeface="宋体" charset="-122"/>
                <a:cs typeface="+mn-cs"/>
              </a:rPr>
              <a:t>www.example.com</a:t>
            </a:r>
            <a:r>
              <a:rPr kumimoji="1" lang="zh-CN" altLang="en-US" sz="1200" b="0" i="0" kern="1200" dirty="0">
                <a:solidFill>
                  <a:schemeClr val="tx1"/>
                </a:solidFill>
                <a:effectLst/>
                <a:latin typeface="Times New Roman" pitchFamily="18" charset="0"/>
                <a:ea typeface="宋体" charset="-122"/>
                <a:cs typeface="+mn-cs"/>
              </a:rPr>
              <a:t>，您的解析器将向其中一个根服务器发送一个查询，询问该域名的 </a:t>
            </a:r>
            <a:r>
              <a:rPr kumimoji="1" lang="en-US" altLang="zh-CN" sz="1200" b="0" i="0" kern="1200" dirty="0">
                <a:solidFill>
                  <a:schemeClr val="tx1"/>
                </a:solidFill>
                <a:effectLst/>
                <a:latin typeface="Times New Roman" pitchFamily="18" charset="0"/>
                <a:ea typeface="宋体" charset="-122"/>
                <a:cs typeface="+mn-cs"/>
              </a:rPr>
              <a:t>IP </a:t>
            </a:r>
            <a:r>
              <a:rPr kumimoji="1" lang="zh-CN" altLang="en-US" sz="1200" b="0" i="0" kern="1200" dirty="0">
                <a:solidFill>
                  <a:schemeClr val="tx1"/>
                </a:solidFill>
                <a:effectLst/>
                <a:latin typeface="Times New Roman" pitchFamily="18" charset="0"/>
                <a:ea typeface="宋体" charset="-122"/>
                <a:cs typeface="+mn-cs"/>
              </a:rPr>
              <a:t>地址，此时，根服务器将返回一个列出了 “</a:t>
            </a:r>
            <a:r>
              <a:rPr kumimoji="1" lang="en-US" altLang="zh-CN" sz="1200" b="0" i="0" kern="1200" dirty="0">
                <a:solidFill>
                  <a:schemeClr val="tx1"/>
                </a:solidFill>
                <a:effectLst/>
                <a:latin typeface="Times New Roman" pitchFamily="18" charset="0"/>
                <a:ea typeface="宋体" charset="-122"/>
                <a:cs typeface="+mn-cs"/>
              </a:rPr>
              <a:t>.com”</a:t>
            </a:r>
            <a:r>
              <a:rPr kumimoji="1" lang="zh-CN" altLang="en-US" sz="1200" b="0" i="0" kern="1200" dirty="0">
                <a:solidFill>
                  <a:schemeClr val="tx1"/>
                </a:solidFill>
                <a:effectLst/>
                <a:latin typeface="Times New Roman" pitchFamily="18" charset="0"/>
                <a:ea typeface="宋体" charset="-122"/>
                <a:cs typeface="+mn-cs"/>
              </a:rPr>
              <a:t>（我们示例中的 </a:t>
            </a:r>
            <a:r>
              <a:rPr kumimoji="1" lang="en-US" altLang="zh-CN" sz="1200" b="0" i="0" kern="1200" dirty="0">
                <a:solidFill>
                  <a:schemeClr val="tx1"/>
                </a:solidFill>
                <a:effectLst/>
                <a:latin typeface="Times New Roman" pitchFamily="18" charset="0"/>
                <a:ea typeface="宋体" charset="-122"/>
                <a:cs typeface="+mn-cs"/>
              </a:rPr>
              <a:t>TLD</a:t>
            </a:r>
            <a:r>
              <a:rPr kumimoji="1" lang="zh-CN" altLang="en-US" sz="1200" b="0" i="0" kern="1200" dirty="0">
                <a:solidFill>
                  <a:schemeClr val="tx1"/>
                </a:solidFill>
                <a:effectLst/>
                <a:latin typeface="Times New Roman" pitchFamily="18" charset="0"/>
                <a:ea typeface="宋体" charset="-122"/>
                <a:cs typeface="+mn-cs"/>
              </a:rPr>
              <a:t>）的所有名称服务器的列表。</a:t>
            </a:r>
            <a:endParaRPr kumimoji="1" lang="en-US" altLang="zh-CN" sz="1200" b="0" i="0" kern="1200" dirty="0">
              <a:solidFill>
                <a:schemeClr val="tx1"/>
              </a:solidFill>
              <a:effectLst/>
              <a:latin typeface="Times New Roman" pitchFamily="18" charset="0"/>
              <a:ea typeface="宋体" charset="-122"/>
              <a:cs typeface="+mn-cs"/>
            </a:endParaRPr>
          </a:p>
          <a:p>
            <a:endParaRPr kumimoji="1" lang="en-US" altLang="zh-CN" sz="1200" b="0" i="0" kern="1200" dirty="0">
              <a:solidFill>
                <a:schemeClr val="tx1"/>
              </a:solidFill>
              <a:effectLst/>
              <a:latin typeface="Times New Roman" pitchFamily="18" charset="0"/>
              <a:ea typeface="宋体" charset="-122"/>
              <a:cs typeface="+mn-cs"/>
            </a:endParaRPr>
          </a:p>
          <a:p>
            <a:r>
              <a:rPr kumimoji="1" lang="zh-CN" altLang="en-US" sz="1200" b="0" i="0" kern="1200" dirty="0">
                <a:solidFill>
                  <a:schemeClr val="tx1"/>
                </a:solidFill>
                <a:effectLst/>
                <a:latin typeface="Times New Roman" pitchFamily="18" charset="0"/>
                <a:ea typeface="宋体" charset="-122"/>
                <a:cs typeface="+mn-cs"/>
              </a:rPr>
              <a:t>注</a:t>
            </a:r>
            <a:r>
              <a:rPr kumimoji="1" lang="en-US" altLang="zh-CN" sz="1200" b="0" i="0" kern="1200" dirty="0">
                <a:solidFill>
                  <a:schemeClr val="tx1"/>
                </a:solidFill>
                <a:effectLst/>
                <a:latin typeface="Times New Roman" pitchFamily="18" charset="0"/>
                <a:ea typeface="宋体" charset="-122"/>
                <a:cs typeface="+mn-cs"/>
              </a:rPr>
              <a:t>1 </a:t>
            </a:r>
            <a:r>
              <a:rPr kumimoji="1" lang="zh-CN" altLang="en-US" sz="1200" b="0" i="0" kern="1200" dirty="0">
                <a:solidFill>
                  <a:schemeClr val="tx1"/>
                </a:solidFill>
                <a:effectLst/>
                <a:latin typeface="Times New Roman" pitchFamily="18" charset="0"/>
                <a:ea typeface="宋体" charset="-122"/>
                <a:cs typeface="+mn-cs"/>
              </a:rPr>
              <a:t>从技术上来讲，准确地说，在大多数情况下，在执行此步骤之前还需要完成以下步骤：解析器启动后，它（通常）会读取一个预配置文件（称为“根提示”</a:t>
            </a:r>
            <a:r>
              <a:rPr kumimoji="1" lang="en-US" altLang="zh-CN" sz="1200" b="0" i="0" kern="1200" dirty="0">
                <a:solidFill>
                  <a:schemeClr val="tx1"/>
                </a:solidFill>
                <a:effectLst/>
                <a:latin typeface="Times New Roman" pitchFamily="18" charset="0"/>
                <a:ea typeface="宋体" charset="-122"/>
                <a:cs typeface="+mn-cs"/>
              </a:rPr>
              <a:t>【root hint】</a:t>
            </a:r>
            <a:r>
              <a:rPr kumimoji="1" lang="zh-CN" altLang="en-US" sz="1200" b="0" i="0" kern="1200" dirty="0">
                <a:solidFill>
                  <a:schemeClr val="tx1"/>
                </a:solidFill>
                <a:effectLst/>
                <a:latin typeface="Times New Roman" pitchFamily="18" charset="0"/>
                <a:ea typeface="宋体" charset="-122"/>
                <a:cs typeface="+mn-cs"/>
              </a:rPr>
              <a:t>文件），该文件拥有 </a:t>
            </a:r>
            <a:r>
              <a:rPr kumimoji="1" lang="en-US" altLang="zh-CN" sz="1200" b="0" i="0" kern="1200" dirty="0">
                <a:solidFill>
                  <a:schemeClr val="tx1"/>
                </a:solidFill>
                <a:effectLst/>
                <a:latin typeface="Times New Roman" pitchFamily="18" charset="0"/>
                <a:ea typeface="宋体" charset="-122"/>
                <a:cs typeface="+mn-cs"/>
              </a:rPr>
              <a:t>13 </a:t>
            </a:r>
            <a:r>
              <a:rPr kumimoji="1" lang="zh-CN" altLang="en-US" sz="1200" b="0" i="0" kern="1200" dirty="0">
                <a:solidFill>
                  <a:schemeClr val="tx1"/>
                </a:solidFill>
                <a:effectLst/>
                <a:latin typeface="Times New Roman" pitchFamily="18" charset="0"/>
                <a:ea typeface="宋体" charset="-122"/>
                <a:cs typeface="+mn-cs"/>
              </a:rPr>
              <a:t>个根服务器的</a:t>
            </a:r>
            <a:r>
              <a:rPr kumimoji="1" lang="en-US" altLang="zh-CN" sz="1200" b="0" i="0" kern="1200" dirty="0">
                <a:solidFill>
                  <a:schemeClr val="tx1"/>
                </a:solidFill>
                <a:effectLst/>
                <a:latin typeface="Times New Roman" pitchFamily="18" charset="0"/>
                <a:ea typeface="宋体" charset="-122"/>
                <a:cs typeface="+mn-cs"/>
              </a:rPr>
              <a:t>26</a:t>
            </a:r>
            <a:r>
              <a:rPr kumimoji="1" lang="zh-CN" altLang="en-US" sz="1200" b="0" i="0" kern="1200" dirty="0">
                <a:solidFill>
                  <a:schemeClr val="tx1"/>
                </a:solidFill>
                <a:effectLst/>
                <a:latin typeface="Times New Roman" pitchFamily="18" charset="0"/>
                <a:ea typeface="宋体" charset="-122"/>
                <a:cs typeface="+mn-cs"/>
              </a:rPr>
              <a:t>个 </a:t>
            </a:r>
            <a:r>
              <a:rPr kumimoji="1" lang="en-US" altLang="zh-CN" sz="1200" b="0" i="0" kern="1200" dirty="0">
                <a:solidFill>
                  <a:schemeClr val="tx1"/>
                </a:solidFill>
                <a:effectLst/>
                <a:latin typeface="Times New Roman" pitchFamily="18" charset="0"/>
                <a:ea typeface="宋体" charset="-122"/>
                <a:cs typeface="+mn-cs"/>
              </a:rPr>
              <a:t>IP </a:t>
            </a:r>
            <a:r>
              <a:rPr kumimoji="1" lang="zh-CN" altLang="en-US" sz="1200" b="0" i="0" kern="1200" dirty="0">
                <a:solidFill>
                  <a:schemeClr val="tx1"/>
                </a:solidFill>
                <a:effectLst/>
                <a:latin typeface="Times New Roman" pitchFamily="18" charset="0"/>
                <a:ea typeface="宋体" charset="-122"/>
                <a:cs typeface="+mn-cs"/>
              </a:rPr>
              <a:t>地址（</a:t>
            </a:r>
            <a:r>
              <a:rPr kumimoji="1" lang="en-US" altLang="zh-CN" sz="1200" b="0" i="0" kern="1200" dirty="0">
                <a:solidFill>
                  <a:schemeClr val="tx1"/>
                </a:solidFill>
                <a:effectLst/>
                <a:latin typeface="Times New Roman" pitchFamily="18" charset="0"/>
                <a:ea typeface="宋体" charset="-122"/>
                <a:cs typeface="+mn-cs"/>
              </a:rPr>
              <a:t>13 </a:t>
            </a:r>
            <a:r>
              <a:rPr kumimoji="1" lang="zh-CN" altLang="en-US" sz="1200" b="0" i="0" kern="1200" dirty="0">
                <a:solidFill>
                  <a:schemeClr val="tx1"/>
                </a:solidFill>
                <a:effectLst/>
                <a:latin typeface="Times New Roman" pitchFamily="18" charset="0"/>
                <a:ea typeface="宋体" charset="-122"/>
                <a:cs typeface="+mn-cs"/>
              </a:rPr>
              <a:t>个 </a:t>
            </a:r>
            <a:r>
              <a:rPr kumimoji="1" lang="en-US" altLang="zh-CN" sz="1200" b="0" i="0" kern="1200" dirty="0">
                <a:solidFill>
                  <a:schemeClr val="tx1"/>
                </a:solidFill>
                <a:effectLst/>
                <a:latin typeface="Times New Roman" pitchFamily="18" charset="0"/>
                <a:ea typeface="宋体" charset="-122"/>
                <a:cs typeface="+mn-cs"/>
              </a:rPr>
              <a:t>IPv4 </a:t>
            </a:r>
            <a:r>
              <a:rPr kumimoji="1" lang="zh-CN" altLang="en-US" sz="1200" b="0" i="0" kern="1200" dirty="0">
                <a:solidFill>
                  <a:schemeClr val="tx1"/>
                </a:solidFill>
                <a:effectLst/>
                <a:latin typeface="Times New Roman" pitchFamily="18" charset="0"/>
                <a:ea typeface="宋体" charset="-122"/>
                <a:cs typeface="+mn-cs"/>
              </a:rPr>
              <a:t>地址和</a:t>
            </a:r>
            <a:r>
              <a:rPr kumimoji="1" lang="en-US" altLang="zh-CN" sz="1200" b="0" i="0" kern="1200" dirty="0">
                <a:solidFill>
                  <a:schemeClr val="tx1"/>
                </a:solidFill>
                <a:effectLst/>
                <a:latin typeface="Times New Roman" pitchFamily="18" charset="0"/>
                <a:ea typeface="宋体" charset="-122"/>
                <a:cs typeface="+mn-cs"/>
              </a:rPr>
              <a:t>13 </a:t>
            </a:r>
            <a:r>
              <a:rPr kumimoji="1" lang="zh-CN" altLang="en-US" sz="1200" b="0" i="0" kern="1200" dirty="0">
                <a:solidFill>
                  <a:schemeClr val="tx1"/>
                </a:solidFill>
                <a:effectLst/>
                <a:latin typeface="Times New Roman" pitchFamily="18" charset="0"/>
                <a:ea typeface="宋体" charset="-122"/>
                <a:cs typeface="+mn-cs"/>
              </a:rPr>
              <a:t>个 </a:t>
            </a:r>
            <a:r>
              <a:rPr kumimoji="1" lang="en-US" altLang="zh-CN" sz="1200" b="0" i="0" kern="1200" dirty="0">
                <a:solidFill>
                  <a:schemeClr val="tx1"/>
                </a:solidFill>
                <a:effectLst/>
                <a:latin typeface="Times New Roman" pitchFamily="18" charset="0"/>
                <a:ea typeface="宋体" charset="-122"/>
                <a:cs typeface="+mn-cs"/>
              </a:rPr>
              <a:t>IPv6 </a:t>
            </a:r>
            <a:r>
              <a:rPr kumimoji="1" lang="zh-CN" altLang="en-US" sz="1200" b="0" i="0" kern="1200" dirty="0">
                <a:solidFill>
                  <a:schemeClr val="tx1"/>
                </a:solidFill>
                <a:effectLst/>
                <a:latin typeface="Times New Roman" pitchFamily="18" charset="0"/>
                <a:ea typeface="宋体" charset="-122"/>
                <a:cs typeface="+mn-cs"/>
              </a:rPr>
              <a:t>地址）。读取该文件后，解析器会向其中一个地址发送查询，以查看根服务器的地址是否已发生更改。这一步称为“启动查询”，说明了解析器如何获得关于根服务器的最新信息。</a:t>
            </a:r>
            <a:endParaRPr kumimoji="1" lang="en-US" altLang="zh-CN" sz="1200" b="0" i="0" kern="1200" dirty="0">
              <a:solidFill>
                <a:schemeClr val="tx1"/>
              </a:solidFill>
              <a:effectLst/>
              <a:latin typeface="Times New Roman" pitchFamily="18" charset="0"/>
              <a:ea typeface="宋体" charset="-122"/>
              <a:cs typeface="+mn-cs"/>
            </a:endParaRPr>
          </a:p>
          <a:p>
            <a:r>
              <a:rPr kumimoji="1" lang="zh-CN" altLang="en-US" sz="1200" b="0" i="0" kern="1200" dirty="0">
                <a:solidFill>
                  <a:schemeClr val="tx1"/>
                </a:solidFill>
                <a:effectLst/>
                <a:latin typeface="Times New Roman" pitchFamily="18" charset="0"/>
                <a:ea typeface="宋体" charset="-122"/>
                <a:cs typeface="+mn-cs"/>
              </a:rPr>
              <a:t>注</a:t>
            </a:r>
            <a:r>
              <a:rPr kumimoji="1" lang="en-US" altLang="zh-CN" sz="1200" b="0" i="0" kern="1200" dirty="0">
                <a:solidFill>
                  <a:schemeClr val="tx1"/>
                </a:solidFill>
                <a:effectLst/>
                <a:latin typeface="Times New Roman" pitchFamily="18" charset="0"/>
                <a:ea typeface="宋体" charset="-122"/>
                <a:cs typeface="+mn-cs"/>
              </a:rPr>
              <a:t>2 </a:t>
            </a:r>
            <a:r>
              <a:rPr kumimoji="1" lang="zh-CN" altLang="en-US" sz="1200" b="0" i="0" kern="1200" dirty="0">
                <a:solidFill>
                  <a:schemeClr val="tx1"/>
                </a:solidFill>
                <a:effectLst/>
                <a:latin typeface="Times New Roman" pitchFamily="18" charset="0"/>
                <a:ea typeface="宋体" charset="-122"/>
                <a:cs typeface="+mn-cs"/>
              </a:rPr>
              <a:t> “名称服务器”（</a:t>
            </a:r>
            <a:r>
              <a:rPr kumimoji="1" lang="en-US" altLang="zh-CN" sz="1200" b="0" i="0" kern="1200" dirty="0">
                <a:solidFill>
                  <a:schemeClr val="tx1"/>
                </a:solidFill>
                <a:effectLst/>
                <a:latin typeface="Times New Roman" pitchFamily="18" charset="0"/>
                <a:ea typeface="宋体" charset="-122"/>
                <a:cs typeface="+mn-cs"/>
              </a:rPr>
              <a:t>name server</a:t>
            </a:r>
            <a:r>
              <a:rPr kumimoji="1" lang="zh-CN" altLang="en-US" sz="1200" b="0" i="0" kern="1200" dirty="0">
                <a:solidFill>
                  <a:schemeClr val="tx1"/>
                </a:solidFill>
                <a:effectLst/>
                <a:latin typeface="Times New Roman" pitchFamily="18" charset="0"/>
                <a:ea typeface="宋体" charset="-122"/>
                <a:cs typeface="+mn-cs"/>
              </a:rPr>
              <a:t>）是计算机上响应域名系统查询的软件。根名称服务器（ </a:t>
            </a:r>
            <a:r>
              <a:rPr kumimoji="1" lang="en-US" altLang="zh-CN" sz="1200" b="0" i="0" kern="1200" dirty="0">
                <a:solidFill>
                  <a:schemeClr val="tx1"/>
                </a:solidFill>
                <a:effectLst/>
                <a:latin typeface="Times New Roman" pitchFamily="18" charset="0"/>
                <a:ea typeface="宋体" charset="-122"/>
                <a:cs typeface="+mn-cs"/>
              </a:rPr>
              <a:t>root name server</a:t>
            </a:r>
            <a:r>
              <a:rPr kumimoji="1" lang="zh-CN" altLang="en-US" sz="1200" b="0" i="0" kern="1200" dirty="0">
                <a:solidFill>
                  <a:schemeClr val="tx1"/>
                </a:solidFill>
                <a:effectLst/>
                <a:latin typeface="Times New Roman" pitchFamily="18" charset="0"/>
                <a:ea typeface="宋体" charset="-122"/>
                <a:cs typeface="+mn-cs"/>
              </a:rPr>
              <a:t>）通常简称为根服务器（</a:t>
            </a:r>
            <a:r>
              <a:rPr kumimoji="1" lang="en-US" altLang="zh-CN" sz="1200" b="0" i="0" kern="1200" dirty="0">
                <a:solidFill>
                  <a:schemeClr val="tx1"/>
                </a:solidFill>
                <a:effectLst/>
                <a:latin typeface="Times New Roman" pitchFamily="18" charset="0"/>
                <a:ea typeface="宋体" charset="-122"/>
                <a:cs typeface="+mn-cs"/>
              </a:rPr>
              <a:t>root server</a:t>
            </a:r>
            <a:r>
              <a:rPr kumimoji="1" lang="zh-CN" altLang="en-US" sz="1200" b="0" i="0" kern="1200" dirty="0">
                <a:solidFill>
                  <a:schemeClr val="tx1"/>
                </a:solidFill>
                <a:effectLst/>
                <a:latin typeface="Times New Roman" pitchFamily="18" charset="0"/>
                <a:ea typeface="宋体" charset="-122"/>
                <a:cs typeface="+mn-cs"/>
              </a:rPr>
              <a:t>），尽管一个“根服务器”实际上是由多台计算机组成（稍后进行详细介绍）。有一点容易混淆，那就是解析器（</a:t>
            </a:r>
            <a:r>
              <a:rPr kumimoji="1" lang="en-US" altLang="zh-CN" sz="1200" b="0" i="0" kern="1200" dirty="0">
                <a:solidFill>
                  <a:schemeClr val="tx1"/>
                </a:solidFill>
                <a:effectLst/>
                <a:latin typeface="Times New Roman" pitchFamily="18" charset="0"/>
                <a:ea typeface="宋体" charset="-122"/>
                <a:cs typeface="+mn-cs"/>
              </a:rPr>
              <a:t>resolver</a:t>
            </a:r>
            <a:r>
              <a:rPr kumimoji="1" lang="zh-CN" altLang="en-US" sz="1200" b="0" i="0" kern="1200" dirty="0">
                <a:solidFill>
                  <a:schemeClr val="tx1"/>
                </a:solidFill>
                <a:effectLst/>
                <a:latin typeface="Times New Roman" pitchFamily="18" charset="0"/>
                <a:ea typeface="宋体" charset="-122"/>
                <a:cs typeface="+mn-cs"/>
              </a:rPr>
              <a:t>）通常也被称为名称服务器，特别是在家庭路由器和各种配置文件中。但是在本文中，我们始终将它们称为解析器。</a:t>
            </a:r>
            <a:br>
              <a:rPr kumimoji="1" lang="zh-CN" altLang="en-US" sz="1200" b="0" i="0" kern="1200" dirty="0">
                <a:solidFill>
                  <a:schemeClr val="tx1"/>
                </a:solidFill>
                <a:effectLst/>
                <a:latin typeface="Times New Roman" pitchFamily="18" charset="0"/>
                <a:ea typeface="宋体" charset="-122"/>
                <a:cs typeface="+mn-cs"/>
              </a:rPr>
            </a:br>
            <a:r>
              <a:rPr kumimoji="1" lang="zh-CN" altLang="en-US" sz="1200" b="0" i="0" kern="1200" dirty="0">
                <a:solidFill>
                  <a:schemeClr val="tx1"/>
                </a:solidFill>
                <a:effectLst/>
                <a:latin typeface="Times New Roman" pitchFamily="18" charset="0"/>
                <a:ea typeface="宋体" charset="-122"/>
                <a:cs typeface="+mn-cs"/>
              </a:rPr>
              <a:t>注</a:t>
            </a:r>
            <a:r>
              <a:rPr kumimoji="1" lang="en-US" altLang="zh-CN" sz="1200" b="0" i="0" kern="1200" dirty="0">
                <a:solidFill>
                  <a:schemeClr val="tx1"/>
                </a:solidFill>
                <a:effectLst/>
                <a:latin typeface="Times New Roman" pitchFamily="18" charset="0"/>
                <a:ea typeface="宋体" charset="-122"/>
                <a:cs typeface="+mn-cs"/>
              </a:rPr>
              <a:t>3</a:t>
            </a:r>
            <a:r>
              <a:rPr kumimoji="1" lang="zh-CN" altLang="en-US" sz="1200" b="0" i="0" kern="1200" dirty="0">
                <a:solidFill>
                  <a:schemeClr val="tx1"/>
                </a:solidFill>
                <a:effectLst/>
                <a:latin typeface="Times New Roman" pitchFamily="18" charset="0"/>
                <a:ea typeface="宋体" charset="-122"/>
                <a:cs typeface="+mn-cs"/>
              </a:rPr>
              <a:t> 最近发布了一项名为“查询域名最小化”的标准（请参见 </a:t>
            </a:r>
            <a:r>
              <a:rPr kumimoji="1" lang="en-US" altLang="zh-CN" sz="1200" b="0" i="0" kern="1200" dirty="0">
                <a:solidFill>
                  <a:schemeClr val="tx1"/>
                </a:solidFill>
                <a:effectLst/>
                <a:latin typeface="Times New Roman" pitchFamily="18" charset="0"/>
                <a:ea typeface="宋体" charset="-122"/>
                <a:cs typeface="+mn-cs"/>
              </a:rPr>
              <a:t>RFC 7816</a:t>
            </a:r>
            <a:r>
              <a:rPr kumimoji="1" lang="zh-CN" altLang="en-US" sz="1200" b="0" i="0" kern="1200" dirty="0">
                <a:solidFill>
                  <a:schemeClr val="tx1"/>
                </a:solidFill>
                <a:effectLst/>
                <a:latin typeface="Times New Roman" pitchFamily="18" charset="0"/>
                <a:ea typeface="宋体" charset="-122"/>
                <a:cs typeface="+mn-cs"/>
              </a:rPr>
              <a:t>），该标准建议：为了提高隐私保护力度，解析器应只发送与所查询的名称服务器相关的域名部分，例如，只向根服务器发送关于 </a:t>
            </a:r>
            <a:r>
              <a:rPr kumimoji="1" lang="en-US" altLang="zh-CN" sz="1200" b="0" i="0" kern="1200" dirty="0">
                <a:solidFill>
                  <a:schemeClr val="tx1"/>
                </a:solidFill>
                <a:effectLst/>
                <a:latin typeface="Times New Roman" pitchFamily="18" charset="0"/>
                <a:ea typeface="宋体" charset="-122"/>
                <a:cs typeface="+mn-cs"/>
              </a:rPr>
              <a:t>TLD </a:t>
            </a:r>
            <a:r>
              <a:rPr kumimoji="1" lang="zh-CN" altLang="en-US" sz="1200" b="0" i="0" kern="1200" dirty="0">
                <a:solidFill>
                  <a:schemeClr val="tx1"/>
                </a:solidFill>
                <a:effectLst/>
                <a:latin typeface="Times New Roman" pitchFamily="18" charset="0"/>
                <a:ea typeface="宋体" charset="-122"/>
                <a:cs typeface="+mn-cs"/>
              </a:rPr>
              <a:t>名称服务器的查询，向 </a:t>
            </a:r>
            <a:r>
              <a:rPr kumimoji="1" lang="en-US" altLang="zh-CN" sz="1200" b="0" i="0" kern="1200" dirty="0">
                <a:solidFill>
                  <a:schemeClr val="tx1"/>
                </a:solidFill>
                <a:effectLst/>
                <a:latin typeface="Times New Roman" pitchFamily="18" charset="0"/>
                <a:ea typeface="宋体" charset="-122"/>
                <a:cs typeface="+mn-cs"/>
              </a:rPr>
              <a:t>TLD </a:t>
            </a:r>
            <a:r>
              <a:rPr kumimoji="1" lang="zh-CN" altLang="en-US" sz="1200" b="0" i="0" kern="1200" dirty="0">
                <a:solidFill>
                  <a:schemeClr val="tx1"/>
                </a:solidFill>
                <a:effectLst/>
                <a:latin typeface="Times New Roman" pitchFamily="18" charset="0"/>
                <a:ea typeface="宋体" charset="-122"/>
                <a:cs typeface="+mn-cs"/>
              </a:rPr>
              <a:t>名称服务器发送有关二级域名的查询等等。</a:t>
            </a:r>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109</a:t>
            </a:fld>
            <a:endParaRPr lang="en-US" altLang="zh-CN"/>
          </a:p>
        </p:txBody>
      </p:sp>
    </p:spTree>
    <p:extLst>
      <p:ext uri="{BB962C8B-B14F-4D97-AF65-F5344CB8AC3E}">
        <p14:creationId xmlns:p14="http://schemas.microsoft.com/office/powerpoint/2010/main" val="113614814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zh-CN" sz="1200" b="0" i="0" kern="1200" dirty="0">
                <a:solidFill>
                  <a:schemeClr val="tx1"/>
                </a:solidFill>
                <a:effectLst/>
                <a:latin typeface="Times New Roman" pitchFamily="18" charset="0"/>
                <a:ea typeface="宋体" charset="-122"/>
                <a:cs typeface="+mn-cs"/>
              </a:rPr>
              <a:t>ICANN CTO: </a:t>
            </a:r>
            <a:r>
              <a:rPr kumimoji="1" lang="zh-CN" altLang="en-US" sz="1200" b="0" i="0" kern="1200" dirty="0">
                <a:solidFill>
                  <a:schemeClr val="tx1"/>
                </a:solidFill>
                <a:effectLst/>
                <a:latin typeface="Times New Roman" pitchFamily="18" charset="0"/>
                <a:ea typeface="宋体" charset="-122"/>
                <a:cs typeface="+mn-cs"/>
              </a:rPr>
              <a:t>域名根服务器系统概述 </a:t>
            </a:r>
            <a:r>
              <a:rPr kumimoji="1" lang="en-US" altLang="zh-CN" sz="1200" b="0" i="0" kern="1200" dirty="0">
                <a:solidFill>
                  <a:schemeClr val="tx1"/>
                </a:solidFill>
                <a:effectLst/>
                <a:latin typeface="Times New Roman" pitchFamily="18" charset="0"/>
                <a:ea typeface="宋体" charset="-122"/>
                <a:cs typeface="+mn-cs"/>
              </a:rPr>
              <a:t>2020.6</a:t>
            </a:r>
            <a:endParaRPr kumimoji="1" lang="zh-CN" altLang="en-US" sz="1200" b="0" i="0" kern="1200" dirty="0">
              <a:solidFill>
                <a:schemeClr val="tx1"/>
              </a:solidFill>
              <a:effectLst/>
              <a:latin typeface="Times New Roman" pitchFamily="18" charset="0"/>
              <a:ea typeface="宋体" charset="-122"/>
              <a:cs typeface="+mn-cs"/>
            </a:endParaRPr>
          </a:p>
          <a:p>
            <a:r>
              <a:rPr lang="en-US" altLang="zh-CN" dirty="0">
                <a:hlinkClick r:id="rId3"/>
              </a:rPr>
              <a:t>https://mp.weixin.qq.com/s/XCEQzYJ_qUOAdwlOQ_UrIA</a:t>
            </a:r>
            <a:endParaRPr lang="en-US" altLang="zh-CN" dirty="0"/>
          </a:p>
          <a:p>
            <a:endParaRPr kumimoji="1" lang="en-US" altLang="zh-CN" sz="1200" b="0" i="0" kern="1200" dirty="0">
              <a:solidFill>
                <a:schemeClr val="tx1"/>
              </a:solidFill>
              <a:effectLst/>
              <a:latin typeface="Times New Roman" pitchFamily="18" charset="0"/>
              <a:ea typeface="宋体" charset="-122"/>
              <a:cs typeface="+mn-cs"/>
            </a:endParaRPr>
          </a:p>
          <a:p>
            <a:r>
              <a:rPr kumimoji="1" lang="zh-CN" altLang="en-US" sz="1200" b="1" i="0" kern="1200" dirty="0">
                <a:solidFill>
                  <a:schemeClr val="tx1"/>
                </a:solidFill>
                <a:effectLst/>
                <a:latin typeface="Times New Roman" pitchFamily="18" charset="0"/>
                <a:ea typeface="宋体" charset="-122"/>
                <a:cs typeface="+mn-cs"/>
              </a:rPr>
              <a:t>第一步</a:t>
            </a:r>
            <a:r>
              <a:rPr kumimoji="1" lang="en-US" altLang="zh-CN" sz="1200" b="0" i="0" kern="1200" dirty="0">
                <a:solidFill>
                  <a:schemeClr val="tx1"/>
                </a:solidFill>
                <a:effectLst/>
                <a:latin typeface="Times New Roman" pitchFamily="18" charset="0"/>
                <a:ea typeface="宋体" charset="-122"/>
                <a:cs typeface="+mn-cs"/>
              </a:rPr>
              <a:t>【</a:t>
            </a:r>
            <a:r>
              <a:rPr kumimoji="1" lang="zh-CN" altLang="en-US" sz="1200" b="0" i="0" kern="1200" dirty="0">
                <a:solidFill>
                  <a:schemeClr val="tx1"/>
                </a:solidFill>
                <a:effectLst/>
                <a:latin typeface="Times New Roman" pitchFamily="18" charset="0"/>
                <a:ea typeface="宋体" charset="-122"/>
                <a:cs typeface="+mn-cs"/>
              </a:rPr>
              <a:t>注释</a:t>
            </a:r>
            <a:r>
              <a:rPr kumimoji="1" lang="en-US" altLang="zh-CN" sz="1200" b="0" i="0" kern="1200" dirty="0">
                <a:solidFill>
                  <a:schemeClr val="tx1"/>
                </a:solidFill>
                <a:effectLst/>
                <a:latin typeface="Times New Roman" pitchFamily="18" charset="0"/>
                <a:ea typeface="宋体" charset="-122"/>
                <a:cs typeface="+mn-cs"/>
              </a:rPr>
              <a:t>1】</a:t>
            </a:r>
            <a:r>
              <a:rPr kumimoji="1" lang="zh-CN" altLang="en-US" sz="1200" b="0" i="0" kern="1200" dirty="0">
                <a:solidFill>
                  <a:schemeClr val="tx1"/>
                </a:solidFill>
                <a:effectLst/>
                <a:latin typeface="Times New Roman" pitchFamily="18" charset="0"/>
                <a:ea typeface="宋体" charset="-122"/>
                <a:cs typeface="+mn-cs"/>
              </a:rPr>
              <a:t>，向 </a:t>
            </a:r>
            <a:r>
              <a:rPr kumimoji="1" lang="en-US" altLang="zh-CN" sz="1200" b="0" i="0" kern="1200" dirty="0">
                <a:solidFill>
                  <a:schemeClr val="tx1"/>
                </a:solidFill>
                <a:effectLst/>
                <a:latin typeface="Times New Roman" pitchFamily="18" charset="0"/>
                <a:ea typeface="宋体" charset="-122"/>
                <a:cs typeface="+mn-cs"/>
              </a:rPr>
              <a:t>13 </a:t>
            </a:r>
            <a:r>
              <a:rPr kumimoji="1" lang="zh-CN" altLang="en-US" sz="1200" b="0" i="0" kern="1200" dirty="0">
                <a:solidFill>
                  <a:schemeClr val="tx1"/>
                </a:solidFill>
                <a:effectLst/>
                <a:latin typeface="Times New Roman" pitchFamily="18" charset="0"/>
                <a:ea typeface="宋体" charset="-122"/>
                <a:cs typeface="+mn-cs"/>
              </a:rPr>
              <a:t>个根服务器</a:t>
            </a:r>
            <a:r>
              <a:rPr kumimoji="1" lang="en-US" altLang="zh-CN" sz="1200" b="0" i="0" kern="1200" dirty="0">
                <a:solidFill>
                  <a:schemeClr val="tx1"/>
                </a:solidFill>
                <a:effectLst/>
                <a:latin typeface="Times New Roman" pitchFamily="18" charset="0"/>
                <a:ea typeface="宋体" charset="-122"/>
                <a:cs typeface="+mn-cs"/>
              </a:rPr>
              <a:t>【</a:t>
            </a:r>
            <a:r>
              <a:rPr kumimoji="1" lang="zh-CN" altLang="en-US" sz="1200" b="0" i="0" kern="1200" dirty="0">
                <a:solidFill>
                  <a:schemeClr val="tx1"/>
                </a:solidFill>
                <a:effectLst/>
                <a:latin typeface="Times New Roman" pitchFamily="18" charset="0"/>
                <a:ea typeface="宋体" charset="-122"/>
                <a:cs typeface="+mn-cs"/>
              </a:rPr>
              <a:t>注释</a:t>
            </a:r>
            <a:r>
              <a:rPr kumimoji="1" lang="en-US" altLang="zh-CN" sz="1200" b="0" i="0" kern="1200" dirty="0">
                <a:solidFill>
                  <a:schemeClr val="tx1"/>
                </a:solidFill>
                <a:effectLst/>
                <a:latin typeface="Times New Roman" pitchFamily="18" charset="0"/>
                <a:ea typeface="宋体" charset="-122"/>
                <a:cs typeface="+mn-cs"/>
              </a:rPr>
              <a:t>2】</a:t>
            </a:r>
            <a:r>
              <a:rPr kumimoji="1" lang="zh-CN" altLang="en-US" sz="1200" b="0" i="0" kern="1200" dirty="0">
                <a:solidFill>
                  <a:schemeClr val="tx1"/>
                </a:solidFill>
                <a:effectLst/>
                <a:latin typeface="Times New Roman" pitchFamily="18" charset="0"/>
                <a:ea typeface="宋体" charset="-122"/>
                <a:cs typeface="+mn-cs"/>
              </a:rPr>
              <a:t>中的任意一个根服务器发送包含网站域名</a:t>
            </a:r>
            <a:r>
              <a:rPr kumimoji="1" lang="en-US" altLang="zh-CN" sz="1200" b="0" i="0" kern="1200" dirty="0">
                <a:solidFill>
                  <a:schemeClr val="tx1"/>
                </a:solidFill>
                <a:effectLst/>
                <a:latin typeface="Times New Roman" pitchFamily="18" charset="0"/>
                <a:ea typeface="宋体" charset="-122"/>
                <a:cs typeface="+mn-cs"/>
              </a:rPr>
              <a:t>【</a:t>
            </a:r>
            <a:r>
              <a:rPr kumimoji="1" lang="zh-CN" altLang="en-US" sz="1200" b="0" i="0" kern="1200" dirty="0">
                <a:solidFill>
                  <a:schemeClr val="tx1"/>
                </a:solidFill>
                <a:effectLst/>
                <a:latin typeface="Times New Roman" pitchFamily="18" charset="0"/>
                <a:ea typeface="宋体" charset="-122"/>
                <a:cs typeface="+mn-cs"/>
              </a:rPr>
              <a:t>注释</a:t>
            </a:r>
            <a:r>
              <a:rPr kumimoji="1" lang="en-US" altLang="zh-CN" sz="1200" b="0" i="0" kern="1200" dirty="0">
                <a:solidFill>
                  <a:schemeClr val="tx1"/>
                </a:solidFill>
                <a:effectLst/>
                <a:latin typeface="Times New Roman" pitchFamily="18" charset="0"/>
                <a:ea typeface="宋体" charset="-122"/>
                <a:cs typeface="+mn-cs"/>
              </a:rPr>
              <a:t>3】</a:t>
            </a:r>
            <a:r>
              <a:rPr kumimoji="1" lang="zh-CN" altLang="en-US" sz="1200" b="0" i="0" kern="1200" dirty="0">
                <a:solidFill>
                  <a:schemeClr val="tx1"/>
                </a:solidFill>
                <a:effectLst/>
                <a:latin typeface="Times New Roman" pitchFamily="18" charset="0"/>
                <a:ea typeface="宋体" charset="-122"/>
                <a:cs typeface="+mn-cs"/>
              </a:rPr>
              <a:t>的查询，询问该网站对应的 </a:t>
            </a:r>
            <a:r>
              <a:rPr kumimoji="1" lang="en-US" altLang="zh-CN" sz="1200" b="0" i="0" kern="1200" dirty="0">
                <a:solidFill>
                  <a:schemeClr val="tx1"/>
                </a:solidFill>
                <a:effectLst/>
                <a:latin typeface="Times New Roman" pitchFamily="18" charset="0"/>
                <a:ea typeface="宋体" charset="-122"/>
                <a:cs typeface="+mn-cs"/>
              </a:rPr>
              <a:t>IP </a:t>
            </a:r>
            <a:r>
              <a:rPr kumimoji="1" lang="zh-CN" altLang="en-US" sz="1200" b="0" i="0" kern="1200" dirty="0">
                <a:solidFill>
                  <a:schemeClr val="tx1"/>
                </a:solidFill>
                <a:effectLst/>
                <a:latin typeface="Times New Roman" pitchFamily="18" charset="0"/>
                <a:ea typeface="宋体" charset="-122"/>
                <a:cs typeface="+mn-cs"/>
              </a:rPr>
              <a:t>地址。然而，根服务器只包含顶级域 </a:t>
            </a:r>
            <a:r>
              <a:rPr kumimoji="1" lang="en-US" altLang="zh-CN" sz="1200" b="0" i="0" kern="1200" dirty="0">
                <a:solidFill>
                  <a:schemeClr val="tx1"/>
                </a:solidFill>
                <a:effectLst/>
                <a:latin typeface="Times New Roman" pitchFamily="18" charset="0"/>
                <a:ea typeface="宋体" charset="-122"/>
                <a:cs typeface="+mn-cs"/>
              </a:rPr>
              <a:t>(TLD) </a:t>
            </a:r>
            <a:r>
              <a:rPr kumimoji="1" lang="zh-CN" altLang="en-US" sz="1200" b="0" i="0" kern="1200" dirty="0">
                <a:solidFill>
                  <a:schemeClr val="tx1"/>
                </a:solidFill>
                <a:effectLst/>
                <a:latin typeface="Times New Roman" pitchFamily="18" charset="0"/>
                <a:ea typeface="宋体" charset="-122"/>
                <a:cs typeface="+mn-cs"/>
              </a:rPr>
              <a:t>的相关信息，特别是顶级域的列表信息和保存这些顶级域下二级域名内容的域名服务器的信息。收到查询请求的根服务器会返回一个“引荐”（</a:t>
            </a:r>
            <a:r>
              <a:rPr kumimoji="1" lang="en-US" altLang="zh-CN" sz="1200" b="0" i="0" kern="1200" dirty="0">
                <a:solidFill>
                  <a:schemeClr val="tx1"/>
                </a:solidFill>
                <a:effectLst/>
                <a:latin typeface="Times New Roman" pitchFamily="18" charset="0"/>
                <a:ea typeface="宋体" charset="-122"/>
                <a:cs typeface="+mn-cs"/>
              </a:rPr>
              <a:t>referral</a:t>
            </a:r>
            <a:r>
              <a:rPr kumimoji="1" lang="zh-CN" altLang="en-US" sz="1200" b="0" i="0" kern="1200" dirty="0">
                <a:solidFill>
                  <a:schemeClr val="tx1"/>
                </a:solidFill>
                <a:effectLst/>
                <a:latin typeface="Times New Roman" pitchFamily="18" charset="0"/>
                <a:ea typeface="宋体" charset="-122"/>
                <a:cs typeface="+mn-cs"/>
              </a:rPr>
              <a:t>）作为响应，此引荐就是一个列出网站域名 </a:t>
            </a:r>
            <a:r>
              <a:rPr kumimoji="1" lang="en-US" altLang="zh-CN" sz="1200" b="0" i="0" kern="1200" dirty="0">
                <a:solidFill>
                  <a:schemeClr val="tx1"/>
                </a:solidFill>
                <a:effectLst/>
                <a:latin typeface="Times New Roman" pitchFamily="18" charset="0"/>
                <a:ea typeface="宋体" charset="-122"/>
                <a:cs typeface="+mn-cs"/>
              </a:rPr>
              <a:t>TLD </a:t>
            </a:r>
            <a:r>
              <a:rPr kumimoji="1" lang="zh-CN" altLang="en-US" sz="1200" b="0" i="0" kern="1200" dirty="0">
                <a:solidFill>
                  <a:schemeClr val="tx1"/>
                </a:solidFill>
                <a:effectLst/>
                <a:latin typeface="Times New Roman" pitchFamily="18" charset="0"/>
                <a:ea typeface="宋体" charset="-122"/>
                <a:cs typeface="+mn-cs"/>
              </a:rPr>
              <a:t>的名称服务器（</a:t>
            </a:r>
            <a:r>
              <a:rPr kumimoji="1" lang="en-US" altLang="zh-CN" sz="1200" b="0" i="0" kern="1200" dirty="0">
                <a:solidFill>
                  <a:schemeClr val="tx1"/>
                </a:solidFill>
                <a:effectLst/>
                <a:latin typeface="Times New Roman" pitchFamily="18" charset="0"/>
                <a:ea typeface="宋体" charset="-122"/>
                <a:cs typeface="+mn-cs"/>
              </a:rPr>
              <a:t>name server</a:t>
            </a:r>
            <a:r>
              <a:rPr kumimoji="1" lang="zh-CN" altLang="en-US" sz="1200" b="0" i="0" kern="1200" dirty="0">
                <a:solidFill>
                  <a:schemeClr val="tx1"/>
                </a:solidFill>
                <a:effectLst/>
                <a:latin typeface="Times New Roman" pitchFamily="18" charset="0"/>
                <a:ea typeface="宋体" charset="-122"/>
                <a:cs typeface="+mn-cs"/>
              </a:rPr>
              <a:t>）的列表。例如，如果您尝试访问网站 </a:t>
            </a:r>
            <a:r>
              <a:rPr kumimoji="1" lang="en-US" altLang="zh-CN" sz="1200" b="0" i="0" kern="1200" dirty="0">
                <a:solidFill>
                  <a:schemeClr val="tx1"/>
                </a:solidFill>
                <a:effectLst/>
                <a:latin typeface="Times New Roman" pitchFamily="18" charset="0"/>
                <a:ea typeface="宋体" charset="-122"/>
                <a:cs typeface="+mn-cs"/>
              </a:rPr>
              <a:t>www.example.com</a:t>
            </a:r>
            <a:r>
              <a:rPr kumimoji="1" lang="zh-CN" altLang="en-US" sz="1200" b="0" i="0" kern="1200" dirty="0">
                <a:solidFill>
                  <a:schemeClr val="tx1"/>
                </a:solidFill>
                <a:effectLst/>
                <a:latin typeface="Times New Roman" pitchFamily="18" charset="0"/>
                <a:ea typeface="宋体" charset="-122"/>
                <a:cs typeface="+mn-cs"/>
              </a:rPr>
              <a:t>，您的解析器将向其中一个根服务器发送一个查询，询问该域名的 </a:t>
            </a:r>
            <a:r>
              <a:rPr kumimoji="1" lang="en-US" altLang="zh-CN" sz="1200" b="0" i="0" kern="1200" dirty="0">
                <a:solidFill>
                  <a:schemeClr val="tx1"/>
                </a:solidFill>
                <a:effectLst/>
                <a:latin typeface="Times New Roman" pitchFamily="18" charset="0"/>
                <a:ea typeface="宋体" charset="-122"/>
                <a:cs typeface="+mn-cs"/>
              </a:rPr>
              <a:t>IP </a:t>
            </a:r>
            <a:r>
              <a:rPr kumimoji="1" lang="zh-CN" altLang="en-US" sz="1200" b="0" i="0" kern="1200" dirty="0">
                <a:solidFill>
                  <a:schemeClr val="tx1"/>
                </a:solidFill>
                <a:effectLst/>
                <a:latin typeface="Times New Roman" pitchFamily="18" charset="0"/>
                <a:ea typeface="宋体" charset="-122"/>
                <a:cs typeface="+mn-cs"/>
              </a:rPr>
              <a:t>地址，此时，根服务器将返回一个列出了 “</a:t>
            </a:r>
            <a:r>
              <a:rPr kumimoji="1" lang="en-US" altLang="zh-CN" sz="1200" b="0" i="0" kern="1200" dirty="0">
                <a:solidFill>
                  <a:schemeClr val="tx1"/>
                </a:solidFill>
                <a:effectLst/>
                <a:latin typeface="Times New Roman" pitchFamily="18" charset="0"/>
                <a:ea typeface="宋体" charset="-122"/>
                <a:cs typeface="+mn-cs"/>
              </a:rPr>
              <a:t>.com”</a:t>
            </a:r>
            <a:r>
              <a:rPr kumimoji="1" lang="zh-CN" altLang="en-US" sz="1200" b="0" i="0" kern="1200" dirty="0">
                <a:solidFill>
                  <a:schemeClr val="tx1"/>
                </a:solidFill>
                <a:effectLst/>
                <a:latin typeface="Times New Roman" pitchFamily="18" charset="0"/>
                <a:ea typeface="宋体" charset="-122"/>
                <a:cs typeface="+mn-cs"/>
              </a:rPr>
              <a:t>（我们示例中的 </a:t>
            </a:r>
            <a:r>
              <a:rPr kumimoji="1" lang="en-US" altLang="zh-CN" sz="1200" b="0" i="0" kern="1200" dirty="0">
                <a:solidFill>
                  <a:schemeClr val="tx1"/>
                </a:solidFill>
                <a:effectLst/>
                <a:latin typeface="Times New Roman" pitchFamily="18" charset="0"/>
                <a:ea typeface="宋体" charset="-122"/>
                <a:cs typeface="+mn-cs"/>
              </a:rPr>
              <a:t>TLD</a:t>
            </a:r>
            <a:r>
              <a:rPr kumimoji="1" lang="zh-CN" altLang="en-US" sz="1200" b="0" i="0" kern="1200" dirty="0">
                <a:solidFill>
                  <a:schemeClr val="tx1"/>
                </a:solidFill>
                <a:effectLst/>
                <a:latin typeface="Times New Roman" pitchFamily="18" charset="0"/>
                <a:ea typeface="宋体" charset="-122"/>
                <a:cs typeface="+mn-cs"/>
              </a:rPr>
              <a:t>）的所有名称服务器的列表。</a:t>
            </a:r>
            <a:endParaRPr kumimoji="1" lang="en-US" altLang="zh-CN" sz="1200" b="0" i="0" kern="1200" dirty="0">
              <a:solidFill>
                <a:schemeClr val="tx1"/>
              </a:solidFill>
              <a:effectLst/>
              <a:latin typeface="Times New Roman" pitchFamily="18" charset="0"/>
              <a:ea typeface="宋体" charset="-122"/>
              <a:cs typeface="+mn-cs"/>
            </a:endParaRPr>
          </a:p>
          <a:p>
            <a:endParaRPr kumimoji="1" lang="en-US" altLang="zh-CN" sz="1200" b="0" i="0" kern="1200" dirty="0">
              <a:solidFill>
                <a:schemeClr val="tx1"/>
              </a:solidFill>
              <a:effectLst/>
              <a:latin typeface="Times New Roman" pitchFamily="18" charset="0"/>
              <a:ea typeface="宋体" charset="-122"/>
              <a:cs typeface="+mn-cs"/>
            </a:endParaRPr>
          </a:p>
          <a:p>
            <a:r>
              <a:rPr kumimoji="1" lang="zh-CN" altLang="en-US" sz="1200" b="0" i="0" kern="1200" dirty="0">
                <a:solidFill>
                  <a:schemeClr val="tx1"/>
                </a:solidFill>
                <a:effectLst/>
                <a:latin typeface="Times New Roman" pitchFamily="18" charset="0"/>
                <a:ea typeface="宋体" charset="-122"/>
                <a:cs typeface="+mn-cs"/>
              </a:rPr>
              <a:t>注</a:t>
            </a:r>
            <a:r>
              <a:rPr kumimoji="1" lang="en-US" altLang="zh-CN" sz="1200" b="0" i="0" kern="1200" dirty="0">
                <a:solidFill>
                  <a:schemeClr val="tx1"/>
                </a:solidFill>
                <a:effectLst/>
                <a:latin typeface="Times New Roman" pitchFamily="18" charset="0"/>
                <a:ea typeface="宋体" charset="-122"/>
                <a:cs typeface="+mn-cs"/>
              </a:rPr>
              <a:t>1 </a:t>
            </a:r>
            <a:r>
              <a:rPr kumimoji="1" lang="zh-CN" altLang="en-US" sz="1200" b="0" i="0" kern="1200" dirty="0">
                <a:solidFill>
                  <a:schemeClr val="tx1"/>
                </a:solidFill>
                <a:effectLst/>
                <a:latin typeface="Times New Roman" pitchFamily="18" charset="0"/>
                <a:ea typeface="宋体" charset="-122"/>
                <a:cs typeface="+mn-cs"/>
              </a:rPr>
              <a:t>从技术上来讲，准确地说，在大多数情况下，在执行此步骤之前还需要完成以下步骤：解析器启动后，它（通常）会读取一个预配置文件（称为“根提示”</a:t>
            </a:r>
            <a:r>
              <a:rPr kumimoji="1" lang="en-US" altLang="zh-CN" sz="1200" b="0" i="0" kern="1200" dirty="0">
                <a:solidFill>
                  <a:schemeClr val="tx1"/>
                </a:solidFill>
                <a:effectLst/>
                <a:latin typeface="Times New Roman" pitchFamily="18" charset="0"/>
                <a:ea typeface="宋体" charset="-122"/>
                <a:cs typeface="+mn-cs"/>
              </a:rPr>
              <a:t>【root hint】</a:t>
            </a:r>
            <a:r>
              <a:rPr kumimoji="1" lang="zh-CN" altLang="en-US" sz="1200" b="0" i="0" kern="1200" dirty="0">
                <a:solidFill>
                  <a:schemeClr val="tx1"/>
                </a:solidFill>
                <a:effectLst/>
                <a:latin typeface="Times New Roman" pitchFamily="18" charset="0"/>
                <a:ea typeface="宋体" charset="-122"/>
                <a:cs typeface="+mn-cs"/>
              </a:rPr>
              <a:t>文件），该文件拥有 </a:t>
            </a:r>
            <a:r>
              <a:rPr kumimoji="1" lang="en-US" altLang="zh-CN" sz="1200" b="0" i="0" kern="1200" dirty="0">
                <a:solidFill>
                  <a:schemeClr val="tx1"/>
                </a:solidFill>
                <a:effectLst/>
                <a:latin typeface="Times New Roman" pitchFamily="18" charset="0"/>
                <a:ea typeface="宋体" charset="-122"/>
                <a:cs typeface="+mn-cs"/>
              </a:rPr>
              <a:t>13 </a:t>
            </a:r>
            <a:r>
              <a:rPr kumimoji="1" lang="zh-CN" altLang="en-US" sz="1200" b="0" i="0" kern="1200" dirty="0">
                <a:solidFill>
                  <a:schemeClr val="tx1"/>
                </a:solidFill>
                <a:effectLst/>
                <a:latin typeface="Times New Roman" pitchFamily="18" charset="0"/>
                <a:ea typeface="宋体" charset="-122"/>
                <a:cs typeface="+mn-cs"/>
              </a:rPr>
              <a:t>个根服务器的</a:t>
            </a:r>
            <a:r>
              <a:rPr kumimoji="1" lang="en-US" altLang="zh-CN" sz="1200" b="0" i="0" kern="1200" dirty="0">
                <a:solidFill>
                  <a:schemeClr val="tx1"/>
                </a:solidFill>
                <a:effectLst/>
                <a:latin typeface="Times New Roman" pitchFamily="18" charset="0"/>
                <a:ea typeface="宋体" charset="-122"/>
                <a:cs typeface="+mn-cs"/>
              </a:rPr>
              <a:t>26</a:t>
            </a:r>
            <a:r>
              <a:rPr kumimoji="1" lang="zh-CN" altLang="en-US" sz="1200" b="0" i="0" kern="1200" dirty="0">
                <a:solidFill>
                  <a:schemeClr val="tx1"/>
                </a:solidFill>
                <a:effectLst/>
                <a:latin typeface="Times New Roman" pitchFamily="18" charset="0"/>
                <a:ea typeface="宋体" charset="-122"/>
                <a:cs typeface="+mn-cs"/>
              </a:rPr>
              <a:t>个 </a:t>
            </a:r>
            <a:r>
              <a:rPr kumimoji="1" lang="en-US" altLang="zh-CN" sz="1200" b="0" i="0" kern="1200" dirty="0">
                <a:solidFill>
                  <a:schemeClr val="tx1"/>
                </a:solidFill>
                <a:effectLst/>
                <a:latin typeface="Times New Roman" pitchFamily="18" charset="0"/>
                <a:ea typeface="宋体" charset="-122"/>
                <a:cs typeface="+mn-cs"/>
              </a:rPr>
              <a:t>IP </a:t>
            </a:r>
            <a:r>
              <a:rPr kumimoji="1" lang="zh-CN" altLang="en-US" sz="1200" b="0" i="0" kern="1200" dirty="0">
                <a:solidFill>
                  <a:schemeClr val="tx1"/>
                </a:solidFill>
                <a:effectLst/>
                <a:latin typeface="Times New Roman" pitchFamily="18" charset="0"/>
                <a:ea typeface="宋体" charset="-122"/>
                <a:cs typeface="+mn-cs"/>
              </a:rPr>
              <a:t>地址（</a:t>
            </a:r>
            <a:r>
              <a:rPr kumimoji="1" lang="en-US" altLang="zh-CN" sz="1200" b="0" i="0" kern="1200" dirty="0">
                <a:solidFill>
                  <a:schemeClr val="tx1"/>
                </a:solidFill>
                <a:effectLst/>
                <a:latin typeface="Times New Roman" pitchFamily="18" charset="0"/>
                <a:ea typeface="宋体" charset="-122"/>
                <a:cs typeface="+mn-cs"/>
              </a:rPr>
              <a:t>13 </a:t>
            </a:r>
            <a:r>
              <a:rPr kumimoji="1" lang="zh-CN" altLang="en-US" sz="1200" b="0" i="0" kern="1200" dirty="0">
                <a:solidFill>
                  <a:schemeClr val="tx1"/>
                </a:solidFill>
                <a:effectLst/>
                <a:latin typeface="Times New Roman" pitchFamily="18" charset="0"/>
                <a:ea typeface="宋体" charset="-122"/>
                <a:cs typeface="+mn-cs"/>
              </a:rPr>
              <a:t>个 </a:t>
            </a:r>
            <a:r>
              <a:rPr kumimoji="1" lang="en-US" altLang="zh-CN" sz="1200" b="0" i="0" kern="1200" dirty="0">
                <a:solidFill>
                  <a:schemeClr val="tx1"/>
                </a:solidFill>
                <a:effectLst/>
                <a:latin typeface="Times New Roman" pitchFamily="18" charset="0"/>
                <a:ea typeface="宋体" charset="-122"/>
                <a:cs typeface="+mn-cs"/>
              </a:rPr>
              <a:t>IPv4 </a:t>
            </a:r>
            <a:r>
              <a:rPr kumimoji="1" lang="zh-CN" altLang="en-US" sz="1200" b="0" i="0" kern="1200" dirty="0">
                <a:solidFill>
                  <a:schemeClr val="tx1"/>
                </a:solidFill>
                <a:effectLst/>
                <a:latin typeface="Times New Roman" pitchFamily="18" charset="0"/>
                <a:ea typeface="宋体" charset="-122"/>
                <a:cs typeface="+mn-cs"/>
              </a:rPr>
              <a:t>地址和</a:t>
            </a:r>
            <a:r>
              <a:rPr kumimoji="1" lang="en-US" altLang="zh-CN" sz="1200" b="0" i="0" kern="1200" dirty="0">
                <a:solidFill>
                  <a:schemeClr val="tx1"/>
                </a:solidFill>
                <a:effectLst/>
                <a:latin typeface="Times New Roman" pitchFamily="18" charset="0"/>
                <a:ea typeface="宋体" charset="-122"/>
                <a:cs typeface="+mn-cs"/>
              </a:rPr>
              <a:t>13 </a:t>
            </a:r>
            <a:r>
              <a:rPr kumimoji="1" lang="zh-CN" altLang="en-US" sz="1200" b="0" i="0" kern="1200" dirty="0">
                <a:solidFill>
                  <a:schemeClr val="tx1"/>
                </a:solidFill>
                <a:effectLst/>
                <a:latin typeface="Times New Roman" pitchFamily="18" charset="0"/>
                <a:ea typeface="宋体" charset="-122"/>
                <a:cs typeface="+mn-cs"/>
              </a:rPr>
              <a:t>个 </a:t>
            </a:r>
            <a:r>
              <a:rPr kumimoji="1" lang="en-US" altLang="zh-CN" sz="1200" b="0" i="0" kern="1200" dirty="0">
                <a:solidFill>
                  <a:schemeClr val="tx1"/>
                </a:solidFill>
                <a:effectLst/>
                <a:latin typeface="Times New Roman" pitchFamily="18" charset="0"/>
                <a:ea typeface="宋体" charset="-122"/>
                <a:cs typeface="+mn-cs"/>
              </a:rPr>
              <a:t>IPv6 </a:t>
            </a:r>
            <a:r>
              <a:rPr kumimoji="1" lang="zh-CN" altLang="en-US" sz="1200" b="0" i="0" kern="1200" dirty="0">
                <a:solidFill>
                  <a:schemeClr val="tx1"/>
                </a:solidFill>
                <a:effectLst/>
                <a:latin typeface="Times New Roman" pitchFamily="18" charset="0"/>
                <a:ea typeface="宋体" charset="-122"/>
                <a:cs typeface="+mn-cs"/>
              </a:rPr>
              <a:t>地址）。读取该文件后，解析器会向其中一个地址发送查询，以查看根服务器的地址是否已发生更改。这一步称为“启动查询”，说明了解析器如何获得关于根服务器的最新信息。</a:t>
            </a:r>
            <a:endParaRPr kumimoji="1" lang="en-US" altLang="zh-CN" sz="1200" b="0" i="0" kern="1200" dirty="0">
              <a:solidFill>
                <a:schemeClr val="tx1"/>
              </a:solidFill>
              <a:effectLst/>
              <a:latin typeface="Times New Roman" pitchFamily="18" charset="0"/>
              <a:ea typeface="宋体" charset="-122"/>
              <a:cs typeface="+mn-cs"/>
            </a:endParaRPr>
          </a:p>
          <a:p>
            <a:r>
              <a:rPr kumimoji="1" lang="zh-CN" altLang="en-US" sz="1200" b="0" i="0" kern="1200" dirty="0">
                <a:solidFill>
                  <a:schemeClr val="tx1"/>
                </a:solidFill>
                <a:effectLst/>
                <a:latin typeface="Times New Roman" pitchFamily="18" charset="0"/>
                <a:ea typeface="宋体" charset="-122"/>
                <a:cs typeface="+mn-cs"/>
              </a:rPr>
              <a:t>注</a:t>
            </a:r>
            <a:r>
              <a:rPr kumimoji="1" lang="en-US" altLang="zh-CN" sz="1200" b="0" i="0" kern="1200" dirty="0">
                <a:solidFill>
                  <a:schemeClr val="tx1"/>
                </a:solidFill>
                <a:effectLst/>
                <a:latin typeface="Times New Roman" pitchFamily="18" charset="0"/>
                <a:ea typeface="宋体" charset="-122"/>
                <a:cs typeface="+mn-cs"/>
              </a:rPr>
              <a:t>2 </a:t>
            </a:r>
            <a:r>
              <a:rPr kumimoji="1" lang="zh-CN" altLang="en-US" sz="1200" b="0" i="0" kern="1200" dirty="0">
                <a:solidFill>
                  <a:schemeClr val="tx1"/>
                </a:solidFill>
                <a:effectLst/>
                <a:latin typeface="Times New Roman" pitchFamily="18" charset="0"/>
                <a:ea typeface="宋体" charset="-122"/>
                <a:cs typeface="+mn-cs"/>
              </a:rPr>
              <a:t> “名称服务器”（</a:t>
            </a:r>
            <a:r>
              <a:rPr kumimoji="1" lang="en-US" altLang="zh-CN" sz="1200" b="0" i="0" kern="1200" dirty="0">
                <a:solidFill>
                  <a:schemeClr val="tx1"/>
                </a:solidFill>
                <a:effectLst/>
                <a:latin typeface="Times New Roman" pitchFamily="18" charset="0"/>
                <a:ea typeface="宋体" charset="-122"/>
                <a:cs typeface="+mn-cs"/>
              </a:rPr>
              <a:t>name server</a:t>
            </a:r>
            <a:r>
              <a:rPr kumimoji="1" lang="zh-CN" altLang="en-US" sz="1200" b="0" i="0" kern="1200" dirty="0">
                <a:solidFill>
                  <a:schemeClr val="tx1"/>
                </a:solidFill>
                <a:effectLst/>
                <a:latin typeface="Times New Roman" pitchFamily="18" charset="0"/>
                <a:ea typeface="宋体" charset="-122"/>
                <a:cs typeface="+mn-cs"/>
              </a:rPr>
              <a:t>）是计算机上响应域名系统查询的软件。根名称服务器（ </a:t>
            </a:r>
            <a:r>
              <a:rPr kumimoji="1" lang="en-US" altLang="zh-CN" sz="1200" b="0" i="0" kern="1200" dirty="0">
                <a:solidFill>
                  <a:schemeClr val="tx1"/>
                </a:solidFill>
                <a:effectLst/>
                <a:latin typeface="Times New Roman" pitchFamily="18" charset="0"/>
                <a:ea typeface="宋体" charset="-122"/>
                <a:cs typeface="+mn-cs"/>
              </a:rPr>
              <a:t>root name server</a:t>
            </a:r>
            <a:r>
              <a:rPr kumimoji="1" lang="zh-CN" altLang="en-US" sz="1200" b="0" i="0" kern="1200" dirty="0">
                <a:solidFill>
                  <a:schemeClr val="tx1"/>
                </a:solidFill>
                <a:effectLst/>
                <a:latin typeface="Times New Roman" pitchFamily="18" charset="0"/>
                <a:ea typeface="宋体" charset="-122"/>
                <a:cs typeface="+mn-cs"/>
              </a:rPr>
              <a:t>）通常简称为根服务器（</a:t>
            </a:r>
            <a:r>
              <a:rPr kumimoji="1" lang="en-US" altLang="zh-CN" sz="1200" b="0" i="0" kern="1200" dirty="0">
                <a:solidFill>
                  <a:schemeClr val="tx1"/>
                </a:solidFill>
                <a:effectLst/>
                <a:latin typeface="Times New Roman" pitchFamily="18" charset="0"/>
                <a:ea typeface="宋体" charset="-122"/>
                <a:cs typeface="+mn-cs"/>
              </a:rPr>
              <a:t>root server</a:t>
            </a:r>
            <a:r>
              <a:rPr kumimoji="1" lang="zh-CN" altLang="en-US" sz="1200" b="0" i="0" kern="1200" dirty="0">
                <a:solidFill>
                  <a:schemeClr val="tx1"/>
                </a:solidFill>
                <a:effectLst/>
                <a:latin typeface="Times New Roman" pitchFamily="18" charset="0"/>
                <a:ea typeface="宋体" charset="-122"/>
                <a:cs typeface="+mn-cs"/>
              </a:rPr>
              <a:t>），尽管一个“根服务器”实际上是由多台计算机组成（稍后进行详细介绍）。有一点容易混淆，那就是解析器（</a:t>
            </a:r>
            <a:r>
              <a:rPr kumimoji="1" lang="en-US" altLang="zh-CN" sz="1200" b="0" i="0" kern="1200" dirty="0">
                <a:solidFill>
                  <a:schemeClr val="tx1"/>
                </a:solidFill>
                <a:effectLst/>
                <a:latin typeface="Times New Roman" pitchFamily="18" charset="0"/>
                <a:ea typeface="宋体" charset="-122"/>
                <a:cs typeface="+mn-cs"/>
              </a:rPr>
              <a:t>resolver</a:t>
            </a:r>
            <a:r>
              <a:rPr kumimoji="1" lang="zh-CN" altLang="en-US" sz="1200" b="0" i="0" kern="1200" dirty="0">
                <a:solidFill>
                  <a:schemeClr val="tx1"/>
                </a:solidFill>
                <a:effectLst/>
                <a:latin typeface="Times New Roman" pitchFamily="18" charset="0"/>
                <a:ea typeface="宋体" charset="-122"/>
                <a:cs typeface="+mn-cs"/>
              </a:rPr>
              <a:t>）通常也被称为名称服务器，特别是在家庭路由器和各种配置文件中。但是在本文中，我们始终将它们称为解析器。</a:t>
            </a:r>
            <a:br>
              <a:rPr kumimoji="1" lang="zh-CN" altLang="en-US" sz="1200" b="0" i="0" kern="1200" dirty="0">
                <a:solidFill>
                  <a:schemeClr val="tx1"/>
                </a:solidFill>
                <a:effectLst/>
                <a:latin typeface="Times New Roman" pitchFamily="18" charset="0"/>
                <a:ea typeface="宋体" charset="-122"/>
                <a:cs typeface="+mn-cs"/>
              </a:rPr>
            </a:br>
            <a:r>
              <a:rPr kumimoji="1" lang="zh-CN" altLang="en-US" sz="1200" b="0" i="0" kern="1200" dirty="0">
                <a:solidFill>
                  <a:schemeClr val="tx1"/>
                </a:solidFill>
                <a:effectLst/>
                <a:latin typeface="Times New Roman" pitchFamily="18" charset="0"/>
                <a:ea typeface="宋体" charset="-122"/>
                <a:cs typeface="+mn-cs"/>
              </a:rPr>
              <a:t>注</a:t>
            </a:r>
            <a:r>
              <a:rPr kumimoji="1" lang="en-US" altLang="zh-CN" sz="1200" b="0" i="0" kern="1200" dirty="0">
                <a:solidFill>
                  <a:schemeClr val="tx1"/>
                </a:solidFill>
                <a:effectLst/>
                <a:latin typeface="Times New Roman" pitchFamily="18" charset="0"/>
                <a:ea typeface="宋体" charset="-122"/>
                <a:cs typeface="+mn-cs"/>
              </a:rPr>
              <a:t>3</a:t>
            </a:r>
            <a:r>
              <a:rPr kumimoji="1" lang="zh-CN" altLang="en-US" sz="1200" b="0" i="0" kern="1200" dirty="0">
                <a:solidFill>
                  <a:schemeClr val="tx1"/>
                </a:solidFill>
                <a:effectLst/>
                <a:latin typeface="Times New Roman" pitchFamily="18" charset="0"/>
                <a:ea typeface="宋体" charset="-122"/>
                <a:cs typeface="+mn-cs"/>
              </a:rPr>
              <a:t> 最近发布了一项名为“查询域名最小化”的标准（请参见 </a:t>
            </a:r>
            <a:r>
              <a:rPr kumimoji="1" lang="en-US" altLang="zh-CN" sz="1200" b="0" i="0" kern="1200" dirty="0">
                <a:solidFill>
                  <a:schemeClr val="tx1"/>
                </a:solidFill>
                <a:effectLst/>
                <a:latin typeface="Times New Roman" pitchFamily="18" charset="0"/>
                <a:ea typeface="宋体" charset="-122"/>
                <a:cs typeface="+mn-cs"/>
              </a:rPr>
              <a:t>RFC 7816</a:t>
            </a:r>
            <a:r>
              <a:rPr kumimoji="1" lang="zh-CN" altLang="en-US" sz="1200" b="0" i="0" kern="1200" dirty="0">
                <a:solidFill>
                  <a:schemeClr val="tx1"/>
                </a:solidFill>
                <a:effectLst/>
                <a:latin typeface="Times New Roman" pitchFamily="18" charset="0"/>
                <a:ea typeface="宋体" charset="-122"/>
                <a:cs typeface="+mn-cs"/>
              </a:rPr>
              <a:t>），该标准建议：为了提高隐私保护力度，解析器应只发送与所查询的名称服务器相关的域名部分，例如，只向根服务器发送关于 </a:t>
            </a:r>
            <a:r>
              <a:rPr kumimoji="1" lang="en-US" altLang="zh-CN" sz="1200" b="0" i="0" kern="1200" dirty="0">
                <a:solidFill>
                  <a:schemeClr val="tx1"/>
                </a:solidFill>
                <a:effectLst/>
                <a:latin typeface="Times New Roman" pitchFamily="18" charset="0"/>
                <a:ea typeface="宋体" charset="-122"/>
                <a:cs typeface="+mn-cs"/>
              </a:rPr>
              <a:t>TLD </a:t>
            </a:r>
            <a:r>
              <a:rPr kumimoji="1" lang="zh-CN" altLang="en-US" sz="1200" b="0" i="0" kern="1200" dirty="0">
                <a:solidFill>
                  <a:schemeClr val="tx1"/>
                </a:solidFill>
                <a:effectLst/>
                <a:latin typeface="Times New Roman" pitchFamily="18" charset="0"/>
                <a:ea typeface="宋体" charset="-122"/>
                <a:cs typeface="+mn-cs"/>
              </a:rPr>
              <a:t>名称服务器的查询，向 </a:t>
            </a:r>
            <a:r>
              <a:rPr kumimoji="1" lang="en-US" altLang="zh-CN" sz="1200" b="0" i="0" kern="1200" dirty="0">
                <a:solidFill>
                  <a:schemeClr val="tx1"/>
                </a:solidFill>
                <a:effectLst/>
                <a:latin typeface="Times New Roman" pitchFamily="18" charset="0"/>
                <a:ea typeface="宋体" charset="-122"/>
                <a:cs typeface="+mn-cs"/>
              </a:rPr>
              <a:t>TLD </a:t>
            </a:r>
            <a:r>
              <a:rPr kumimoji="1" lang="zh-CN" altLang="en-US" sz="1200" b="0" i="0" kern="1200" dirty="0">
                <a:solidFill>
                  <a:schemeClr val="tx1"/>
                </a:solidFill>
                <a:effectLst/>
                <a:latin typeface="Times New Roman" pitchFamily="18" charset="0"/>
                <a:ea typeface="宋体" charset="-122"/>
                <a:cs typeface="+mn-cs"/>
              </a:rPr>
              <a:t>名称服务器发送有关二级域名的查询等等。</a:t>
            </a:r>
            <a:endParaRPr kumimoji="1" lang="en-US" altLang="zh-CN" sz="1200" b="0" i="0" kern="1200" dirty="0">
              <a:solidFill>
                <a:schemeClr val="tx1"/>
              </a:solidFill>
              <a:effectLst/>
              <a:latin typeface="Times New Roman" pitchFamily="18" charset="0"/>
              <a:ea typeface="宋体" charset="-122"/>
              <a:cs typeface="+mn-cs"/>
            </a:endParaRPr>
          </a:p>
          <a:p>
            <a:endParaRPr kumimoji="1" lang="en-US" altLang="zh-CN" sz="1200" b="0" i="0" kern="1200" dirty="0">
              <a:solidFill>
                <a:schemeClr val="tx1"/>
              </a:solidFill>
              <a:effectLst/>
              <a:latin typeface="Times New Roman" pitchFamily="18" charset="0"/>
              <a:ea typeface="宋体" charset="-122"/>
              <a:cs typeface="+mn-cs"/>
            </a:endParaRPr>
          </a:p>
          <a:p>
            <a:r>
              <a:rPr kumimoji="1" lang="zh-CN" altLang="en-US" sz="1200" b="0" i="0" kern="1200" dirty="0">
                <a:solidFill>
                  <a:schemeClr val="tx1"/>
                </a:solidFill>
                <a:effectLst/>
                <a:latin typeface="Times New Roman" pitchFamily="18" charset="0"/>
                <a:ea typeface="宋体" charset="-122"/>
                <a:cs typeface="+mn-cs"/>
              </a:rPr>
              <a:t>显然，每个步骤都需要花费一些时间，但根据前文所述，如果本地已有缓存的答案，则可以加快响应速度：在将查询发送到域名服务器之前，解析器会检查其本地缓存，查看最近是否提出过相同的查询。如果提出过相同的查询，则返回上次查询时收到的响应。如果没提出过，当域名服务器返回答案时，解析器会将这个答案保存在本地缓存中，并且会在将查询发送到域名服务器之前查看该缓存。该缓存对于 </a:t>
            </a:r>
            <a:r>
              <a:rPr kumimoji="1" lang="en-US" altLang="zh-CN" sz="1200" b="0" i="0" kern="1200" dirty="0">
                <a:solidFill>
                  <a:schemeClr val="tx1"/>
                </a:solidFill>
                <a:effectLst/>
                <a:latin typeface="Times New Roman" pitchFamily="18" charset="0"/>
                <a:ea typeface="宋体" charset="-122"/>
                <a:cs typeface="+mn-cs"/>
              </a:rPr>
              <a:t>DNS </a:t>
            </a:r>
            <a:r>
              <a:rPr kumimoji="1" lang="zh-CN" altLang="en-US" sz="1200" b="0" i="0" kern="1200" dirty="0">
                <a:solidFill>
                  <a:schemeClr val="tx1"/>
                </a:solidFill>
                <a:effectLst/>
                <a:latin typeface="Times New Roman" pitchFamily="18" charset="0"/>
                <a:ea typeface="宋体" charset="-122"/>
                <a:cs typeface="+mn-cs"/>
              </a:rPr>
              <a:t>实现可扩展性至关重要。更为复杂的是，如果启用了域名系统安全扩展 </a:t>
            </a:r>
            <a:r>
              <a:rPr kumimoji="1" lang="en-US" altLang="zh-CN" sz="1200" b="0" i="0" kern="1200" dirty="0">
                <a:solidFill>
                  <a:schemeClr val="tx1"/>
                </a:solidFill>
                <a:effectLst/>
                <a:latin typeface="Times New Roman" pitchFamily="18" charset="0"/>
                <a:ea typeface="宋体" charset="-122"/>
                <a:cs typeface="+mn-cs"/>
              </a:rPr>
              <a:t>(DNSSEC)</a:t>
            </a:r>
            <a:r>
              <a:rPr kumimoji="1" lang="zh-CN" altLang="en-US" sz="1200" b="0" i="0" kern="1200" dirty="0">
                <a:solidFill>
                  <a:schemeClr val="tx1"/>
                </a:solidFill>
                <a:effectLst/>
                <a:latin typeface="Times New Roman" pitchFamily="18" charset="0"/>
                <a:ea typeface="宋体" charset="-122"/>
                <a:cs typeface="+mn-cs"/>
              </a:rPr>
              <a:t>，解析器会检查所收到的数据的加密签名，以确认数据没有被攻击者修改</a:t>
            </a:r>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110</a:t>
            </a:fld>
            <a:endParaRPr lang="en-US" altLang="zh-CN"/>
          </a:p>
        </p:txBody>
      </p:sp>
    </p:spTree>
    <p:extLst>
      <p:ext uri="{BB962C8B-B14F-4D97-AF65-F5344CB8AC3E}">
        <p14:creationId xmlns:p14="http://schemas.microsoft.com/office/powerpoint/2010/main" val="374536592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zh-CN" sz="1200" b="0" i="0" kern="1200" dirty="0">
                <a:solidFill>
                  <a:schemeClr val="tx1"/>
                </a:solidFill>
                <a:effectLst/>
                <a:latin typeface="Times New Roman" pitchFamily="18" charset="0"/>
                <a:ea typeface="宋体" charset="-122"/>
                <a:cs typeface="+mn-cs"/>
              </a:rPr>
              <a:t>ICANN CTO: </a:t>
            </a:r>
            <a:r>
              <a:rPr kumimoji="1" lang="zh-CN" altLang="en-US" sz="1200" b="0" i="0" kern="1200" dirty="0">
                <a:solidFill>
                  <a:schemeClr val="tx1"/>
                </a:solidFill>
                <a:effectLst/>
                <a:latin typeface="Times New Roman" pitchFamily="18" charset="0"/>
                <a:ea typeface="宋体" charset="-122"/>
                <a:cs typeface="+mn-cs"/>
              </a:rPr>
              <a:t>域名根服务器系统概述 </a:t>
            </a:r>
            <a:r>
              <a:rPr kumimoji="1" lang="en-US" altLang="zh-CN" sz="1200" b="0" i="0" kern="1200" dirty="0">
                <a:solidFill>
                  <a:schemeClr val="tx1"/>
                </a:solidFill>
                <a:effectLst/>
                <a:latin typeface="Times New Roman" pitchFamily="18" charset="0"/>
                <a:ea typeface="宋体" charset="-122"/>
                <a:cs typeface="+mn-cs"/>
              </a:rPr>
              <a:t>2020.6</a:t>
            </a:r>
            <a:endParaRPr kumimoji="1" lang="zh-CN" altLang="en-US" sz="1200" b="0" i="0" kern="1200" dirty="0">
              <a:solidFill>
                <a:schemeClr val="tx1"/>
              </a:solidFill>
              <a:effectLst/>
              <a:latin typeface="Times New Roman" pitchFamily="18" charset="0"/>
              <a:ea typeface="宋体" charset="-122"/>
              <a:cs typeface="+mn-cs"/>
            </a:endParaRPr>
          </a:p>
          <a:p>
            <a:r>
              <a:rPr lang="en-US" altLang="zh-CN" dirty="0">
                <a:hlinkClick r:id="rId3"/>
              </a:rPr>
              <a:t>https://mp.weixin.qq.com/s/XCEQzYJ_qUOAdwlOQ_UrIA</a:t>
            </a:r>
            <a:endParaRPr lang="en-US" altLang="zh-CN" dirty="0"/>
          </a:p>
          <a:p>
            <a:endParaRPr kumimoji="1" lang="en-US" altLang="zh-CN" sz="1200" b="0" i="0" kern="1200" dirty="0">
              <a:solidFill>
                <a:schemeClr val="tx1"/>
              </a:solidFill>
              <a:effectLst/>
              <a:latin typeface="Times New Roman" pitchFamily="18" charset="0"/>
              <a:ea typeface="宋体" charset="-122"/>
              <a:cs typeface="+mn-cs"/>
            </a:endParaRPr>
          </a:p>
          <a:p>
            <a:r>
              <a:rPr kumimoji="1" lang="zh-CN" altLang="en-US" sz="1200" b="0" i="0" kern="1200" dirty="0">
                <a:solidFill>
                  <a:schemeClr val="tx1"/>
                </a:solidFill>
                <a:effectLst/>
                <a:latin typeface="Times New Roman" pitchFamily="18" charset="0"/>
                <a:ea typeface="宋体" charset="-122"/>
                <a:cs typeface="+mn-cs"/>
              </a:rPr>
              <a:t>综上所述，根服务器的作用（主要作用是对解析过程中的第一步做出响应）非常有限。尽管如此，根服务器对互联网的正常运营仍然至关重要。如果不能获得根服务器提供的初始“引荐”响应，就不可能在互联网上查找任何域名</a:t>
            </a:r>
            <a:r>
              <a:rPr kumimoji="1" lang="en-US" altLang="zh-CN" sz="1200" b="0" i="0" kern="1200" dirty="0">
                <a:solidFill>
                  <a:schemeClr val="tx1"/>
                </a:solidFill>
                <a:effectLst/>
                <a:latin typeface="Times New Roman" pitchFamily="18" charset="0"/>
                <a:ea typeface="宋体" charset="-122"/>
                <a:cs typeface="+mn-cs"/>
              </a:rPr>
              <a:t>【</a:t>
            </a:r>
            <a:r>
              <a:rPr kumimoji="1" lang="zh-CN" altLang="en-US" sz="1200" b="0" i="0" kern="1200" dirty="0">
                <a:solidFill>
                  <a:schemeClr val="tx1"/>
                </a:solidFill>
                <a:effectLst/>
                <a:latin typeface="Times New Roman" pitchFamily="18" charset="0"/>
                <a:ea typeface="宋体" charset="-122"/>
                <a:cs typeface="+mn-cs"/>
              </a:rPr>
              <a:t>注释</a:t>
            </a:r>
            <a:r>
              <a:rPr kumimoji="1" lang="en-US" altLang="zh-CN" sz="1200" b="0" i="0" kern="1200" dirty="0">
                <a:solidFill>
                  <a:schemeClr val="tx1"/>
                </a:solidFill>
                <a:effectLst/>
                <a:latin typeface="Times New Roman" pitchFamily="18" charset="0"/>
                <a:ea typeface="宋体" charset="-122"/>
                <a:cs typeface="+mn-cs"/>
              </a:rPr>
              <a:t>4】</a:t>
            </a:r>
            <a:r>
              <a:rPr kumimoji="1" lang="zh-CN" altLang="en-US" sz="1200" b="0" i="0" kern="1200" dirty="0">
                <a:solidFill>
                  <a:schemeClr val="tx1"/>
                </a:solidFill>
                <a:effectLst/>
                <a:latin typeface="Times New Roman" pitchFamily="18" charset="0"/>
                <a:ea typeface="宋体" charset="-122"/>
                <a:cs typeface="+mn-cs"/>
              </a:rPr>
              <a:t>。</a:t>
            </a:r>
            <a:br>
              <a:rPr kumimoji="1" lang="zh-CN" altLang="en-US" sz="1200" b="0" i="0" kern="1200" dirty="0">
                <a:solidFill>
                  <a:schemeClr val="tx1"/>
                </a:solidFill>
                <a:effectLst/>
                <a:latin typeface="Times New Roman" pitchFamily="18" charset="0"/>
                <a:ea typeface="宋体" charset="-122"/>
                <a:cs typeface="+mn-cs"/>
              </a:rPr>
            </a:br>
            <a:endParaRPr kumimoji="1" lang="zh-CN" altLang="en-US" sz="1200" b="0" i="0" kern="1200" dirty="0">
              <a:solidFill>
                <a:schemeClr val="tx1"/>
              </a:solidFill>
              <a:effectLst/>
              <a:latin typeface="Times New Roman" pitchFamily="18" charset="0"/>
              <a:ea typeface="宋体" charset="-122"/>
              <a:cs typeface="+mn-cs"/>
            </a:endParaRPr>
          </a:p>
          <a:p>
            <a:r>
              <a:rPr kumimoji="1" lang="zh-CN" altLang="en-US" sz="1200" b="0" i="0" kern="1200" dirty="0">
                <a:solidFill>
                  <a:schemeClr val="tx1"/>
                </a:solidFill>
                <a:effectLst/>
                <a:latin typeface="Times New Roman" pitchFamily="18" charset="0"/>
                <a:ea typeface="宋体" charset="-122"/>
                <a:cs typeface="+mn-cs"/>
              </a:rPr>
              <a:t>根服务器系统（</a:t>
            </a:r>
            <a:r>
              <a:rPr kumimoji="1" lang="en-US" altLang="zh-CN" sz="1200" b="0" i="0" kern="1200" dirty="0">
                <a:solidFill>
                  <a:schemeClr val="tx1"/>
                </a:solidFill>
                <a:effectLst/>
                <a:latin typeface="Times New Roman" pitchFamily="18" charset="0"/>
                <a:ea typeface="宋体" charset="-122"/>
                <a:cs typeface="+mn-cs"/>
              </a:rPr>
              <a:t>root server system</a:t>
            </a:r>
            <a:r>
              <a:rPr kumimoji="1" lang="zh-CN" altLang="en-US" sz="1200" b="0" i="0" kern="1200" dirty="0">
                <a:solidFill>
                  <a:schemeClr val="tx1"/>
                </a:solidFill>
                <a:effectLst/>
                <a:latin typeface="Times New Roman" pitchFamily="18" charset="0"/>
                <a:ea typeface="宋体" charset="-122"/>
                <a:cs typeface="+mn-cs"/>
              </a:rPr>
              <a:t>）由 </a:t>
            </a:r>
            <a:r>
              <a:rPr kumimoji="1" lang="en-US" altLang="zh-CN" sz="1200" b="0" i="0" kern="1200" dirty="0">
                <a:solidFill>
                  <a:schemeClr val="tx1"/>
                </a:solidFill>
                <a:effectLst/>
                <a:latin typeface="Times New Roman" pitchFamily="18" charset="0"/>
                <a:ea typeface="宋体" charset="-122"/>
                <a:cs typeface="+mn-cs"/>
              </a:rPr>
              <a:t>1000 </a:t>
            </a:r>
            <a:r>
              <a:rPr kumimoji="1" lang="zh-CN" altLang="en-US" sz="1200" b="0" i="0" kern="1200" dirty="0">
                <a:solidFill>
                  <a:schemeClr val="tx1"/>
                </a:solidFill>
                <a:effectLst/>
                <a:latin typeface="Times New Roman" pitchFamily="18" charset="0"/>
                <a:ea typeface="宋体" charset="-122"/>
                <a:cs typeface="+mn-cs"/>
              </a:rPr>
              <a:t>多台单独的计算机（称为</a:t>
            </a:r>
            <a:r>
              <a:rPr kumimoji="1" lang="zh-CN" altLang="en-US" sz="1200" b="1" i="0" kern="1200" dirty="0">
                <a:solidFill>
                  <a:schemeClr val="tx1"/>
                </a:solidFill>
                <a:effectLst/>
                <a:latin typeface="Times New Roman" pitchFamily="18" charset="0"/>
                <a:ea typeface="宋体" charset="-122"/>
                <a:cs typeface="+mn-cs"/>
              </a:rPr>
              <a:t>根服务器“节点”</a:t>
            </a:r>
            <a:r>
              <a:rPr kumimoji="1" lang="en-US" altLang="zh-CN" sz="1200" b="1" i="0" kern="1200" dirty="0">
                <a:solidFill>
                  <a:schemeClr val="tx1"/>
                </a:solidFill>
                <a:effectLst/>
                <a:latin typeface="Times New Roman" pitchFamily="18" charset="0"/>
                <a:ea typeface="宋体" charset="-122"/>
                <a:cs typeface="+mn-cs"/>
              </a:rPr>
              <a:t>【instance】</a:t>
            </a:r>
            <a:r>
              <a:rPr kumimoji="1" lang="zh-CN" altLang="en-US" sz="1200" b="0" i="0" kern="1200" dirty="0">
                <a:solidFill>
                  <a:schemeClr val="tx1"/>
                </a:solidFill>
                <a:effectLst/>
                <a:latin typeface="Times New Roman" pitchFamily="18" charset="0"/>
                <a:ea typeface="宋体" charset="-122"/>
                <a:cs typeface="+mn-cs"/>
              </a:rPr>
              <a:t>）组成，这些计算机会保留 </a:t>
            </a:r>
            <a:r>
              <a:rPr kumimoji="1" lang="en-US" altLang="zh-CN" sz="1200" b="0" i="0" kern="1200" dirty="0">
                <a:solidFill>
                  <a:schemeClr val="tx1"/>
                </a:solidFill>
                <a:effectLst/>
                <a:latin typeface="Times New Roman" pitchFamily="18" charset="0"/>
                <a:ea typeface="宋体" charset="-122"/>
                <a:cs typeface="+mn-cs"/>
              </a:rPr>
              <a:t>DNS </a:t>
            </a:r>
            <a:r>
              <a:rPr kumimoji="1" lang="zh-CN" altLang="en-US" sz="1200" b="0" i="0" kern="1200" dirty="0">
                <a:solidFill>
                  <a:schemeClr val="tx1"/>
                </a:solidFill>
                <a:effectLst/>
                <a:latin typeface="Times New Roman" pitchFamily="18" charset="0"/>
                <a:ea typeface="宋体" charset="-122"/>
                <a:cs typeface="+mn-cs"/>
              </a:rPr>
              <a:t>的根数据。如前所述，这些节点通过引荐顶级域的名称服务器来响应来自互联网解析器的查询。</a:t>
            </a:r>
          </a:p>
          <a:p>
            <a:r>
              <a:rPr kumimoji="1" lang="zh-CN" altLang="en-US" sz="1200" b="0" i="0" kern="1200" dirty="0">
                <a:solidFill>
                  <a:schemeClr val="tx1"/>
                </a:solidFill>
                <a:effectLst/>
                <a:latin typeface="Times New Roman" pitchFamily="18" charset="0"/>
                <a:ea typeface="宋体" charset="-122"/>
                <a:cs typeface="+mn-cs"/>
              </a:rPr>
              <a:t/>
            </a:r>
            <a:br>
              <a:rPr kumimoji="1" lang="zh-CN" altLang="en-US" sz="1200" b="0" i="0" kern="1200" dirty="0">
                <a:solidFill>
                  <a:schemeClr val="tx1"/>
                </a:solidFill>
                <a:effectLst/>
                <a:latin typeface="Times New Roman" pitchFamily="18" charset="0"/>
                <a:ea typeface="宋体" charset="-122"/>
                <a:cs typeface="+mn-cs"/>
              </a:rPr>
            </a:br>
            <a:r>
              <a:rPr kumimoji="1" lang="zh-CN" altLang="en-US" sz="1200" b="0" i="0" kern="1200" dirty="0">
                <a:solidFill>
                  <a:schemeClr val="tx1"/>
                </a:solidFill>
                <a:effectLst/>
                <a:latin typeface="Times New Roman" pitchFamily="18" charset="0"/>
                <a:ea typeface="宋体" charset="-122"/>
                <a:cs typeface="+mn-cs"/>
              </a:rPr>
              <a:t>称为</a:t>
            </a:r>
            <a:r>
              <a:rPr kumimoji="1" lang="zh-CN" altLang="en-US" sz="1200" b="1" i="0" kern="1200" dirty="0">
                <a:solidFill>
                  <a:schemeClr val="tx1"/>
                </a:solidFill>
                <a:effectLst/>
                <a:latin typeface="Times New Roman" pitchFamily="18" charset="0"/>
                <a:ea typeface="宋体" charset="-122"/>
                <a:cs typeface="+mn-cs"/>
              </a:rPr>
              <a:t>“根服务器运营商”（</a:t>
            </a:r>
            <a:r>
              <a:rPr kumimoji="1" lang="en-US" altLang="zh-CN" sz="1200" b="1" i="0" kern="1200" dirty="0">
                <a:solidFill>
                  <a:schemeClr val="tx1"/>
                </a:solidFill>
                <a:effectLst/>
                <a:latin typeface="Times New Roman" pitchFamily="18" charset="0"/>
                <a:ea typeface="宋体" charset="-122"/>
                <a:cs typeface="+mn-cs"/>
              </a:rPr>
              <a:t>root server operators</a:t>
            </a:r>
            <a:r>
              <a:rPr kumimoji="1" lang="zh-CN" altLang="en-US" sz="1200" b="1" i="0" kern="1200" dirty="0">
                <a:solidFill>
                  <a:schemeClr val="tx1"/>
                </a:solidFill>
                <a:effectLst/>
                <a:latin typeface="Times New Roman" pitchFamily="18" charset="0"/>
                <a:ea typeface="宋体" charset="-122"/>
                <a:cs typeface="+mn-cs"/>
              </a:rPr>
              <a:t>）</a:t>
            </a:r>
            <a:r>
              <a:rPr kumimoji="1" lang="zh-CN" altLang="en-US" sz="1200" b="0" i="0" kern="1200" dirty="0">
                <a:solidFill>
                  <a:schemeClr val="tx1"/>
                </a:solidFill>
                <a:effectLst/>
                <a:latin typeface="Times New Roman" pitchFamily="18" charset="0"/>
                <a:ea typeface="宋体" charset="-122"/>
                <a:cs typeface="+mn-cs"/>
              </a:rPr>
              <a:t>的 </a:t>
            </a:r>
            <a:r>
              <a:rPr kumimoji="1" lang="en-US" altLang="zh-CN" sz="1200" b="0" i="0" kern="1200" dirty="0">
                <a:solidFill>
                  <a:schemeClr val="tx1"/>
                </a:solidFill>
                <a:effectLst/>
                <a:latin typeface="Times New Roman" pitchFamily="18" charset="0"/>
                <a:ea typeface="宋体" charset="-122"/>
                <a:cs typeface="+mn-cs"/>
              </a:rPr>
              <a:t>12 </a:t>
            </a:r>
            <a:r>
              <a:rPr kumimoji="1" lang="zh-CN" altLang="en-US" sz="1200" b="0" i="0" kern="1200" dirty="0">
                <a:solidFill>
                  <a:schemeClr val="tx1"/>
                </a:solidFill>
                <a:effectLst/>
                <a:latin typeface="Times New Roman" pitchFamily="18" charset="0"/>
                <a:ea typeface="宋体" charset="-122"/>
                <a:cs typeface="+mn-cs"/>
              </a:rPr>
              <a:t>个组织负责管理</a:t>
            </a:r>
            <a:r>
              <a:rPr kumimoji="1" lang="en-US" altLang="zh-CN" sz="1200" b="0" i="0" kern="1200" dirty="0">
                <a:solidFill>
                  <a:schemeClr val="tx1"/>
                </a:solidFill>
                <a:effectLst/>
                <a:latin typeface="Times New Roman" pitchFamily="18" charset="0"/>
                <a:ea typeface="宋体" charset="-122"/>
                <a:cs typeface="+mn-cs"/>
              </a:rPr>
              <a:t>13 </a:t>
            </a:r>
            <a:r>
              <a:rPr kumimoji="1" lang="zh-CN" altLang="en-US" sz="1200" b="0" i="0" kern="1200" dirty="0">
                <a:solidFill>
                  <a:schemeClr val="tx1"/>
                </a:solidFill>
                <a:effectLst/>
                <a:latin typeface="Times New Roman" pitchFamily="18" charset="0"/>
                <a:ea typeface="宋体" charset="-122"/>
                <a:cs typeface="+mn-cs"/>
              </a:rPr>
              <a:t>个</a:t>
            </a:r>
            <a:r>
              <a:rPr kumimoji="1" lang="zh-CN" altLang="en-US" sz="1200" b="1" i="0" kern="1200" dirty="0">
                <a:solidFill>
                  <a:schemeClr val="tx1"/>
                </a:solidFill>
                <a:effectLst/>
                <a:latin typeface="Times New Roman" pitchFamily="18" charset="0"/>
                <a:ea typeface="宋体" charset="-122"/>
                <a:cs typeface="+mn-cs"/>
              </a:rPr>
              <a:t>根服务器“标识”（</a:t>
            </a:r>
            <a:r>
              <a:rPr kumimoji="1" lang="en-US" altLang="zh-CN" sz="1200" b="1" i="0" kern="1200" dirty="0">
                <a:solidFill>
                  <a:schemeClr val="tx1"/>
                </a:solidFill>
                <a:effectLst/>
                <a:latin typeface="Times New Roman" pitchFamily="18" charset="0"/>
                <a:ea typeface="宋体" charset="-122"/>
                <a:cs typeface="+mn-cs"/>
              </a:rPr>
              <a:t>identifiers</a:t>
            </a:r>
            <a:r>
              <a:rPr kumimoji="1" lang="zh-CN" altLang="en-US" sz="1200" b="1" i="0" kern="1200" dirty="0">
                <a:solidFill>
                  <a:schemeClr val="tx1"/>
                </a:solidFill>
                <a:effectLst/>
                <a:latin typeface="Times New Roman" pitchFamily="18" charset="0"/>
                <a:ea typeface="宋体" charset="-122"/>
                <a:cs typeface="+mn-cs"/>
              </a:rPr>
              <a:t>）</a:t>
            </a:r>
            <a:r>
              <a:rPr kumimoji="1" lang="en-US" altLang="zh-CN" sz="1200" b="0" i="0" kern="1200" dirty="0">
                <a:solidFill>
                  <a:schemeClr val="tx1"/>
                </a:solidFill>
                <a:effectLst/>
                <a:latin typeface="Times New Roman" pitchFamily="18" charset="0"/>
                <a:ea typeface="宋体" charset="-122"/>
                <a:cs typeface="+mn-cs"/>
              </a:rPr>
              <a:t>【</a:t>
            </a:r>
            <a:r>
              <a:rPr kumimoji="1" lang="zh-CN" altLang="en-US" sz="1200" b="0" i="0" kern="1200" dirty="0">
                <a:solidFill>
                  <a:schemeClr val="tx1"/>
                </a:solidFill>
                <a:effectLst/>
                <a:latin typeface="Times New Roman" pitchFamily="18" charset="0"/>
                <a:ea typeface="宋体" charset="-122"/>
                <a:cs typeface="+mn-cs"/>
              </a:rPr>
              <a:t>注释</a:t>
            </a:r>
            <a:r>
              <a:rPr kumimoji="1" lang="en-US" altLang="zh-CN" sz="1200" b="0" i="0" kern="1200" dirty="0">
                <a:solidFill>
                  <a:schemeClr val="tx1"/>
                </a:solidFill>
                <a:effectLst/>
                <a:latin typeface="Times New Roman" pitchFamily="18" charset="0"/>
                <a:ea typeface="宋体" charset="-122"/>
                <a:cs typeface="+mn-cs"/>
              </a:rPr>
              <a:t>5】</a:t>
            </a:r>
            <a:r>
              <a:rPr kumimoji="1" lang="zh-CN" altLang="en-US" sz="1200" b="0" i="0" kern="1200" dirty="0">
                <a:solidFill>
                  <a:schemeClr val="tx1"/>
                </a:solidFill>
                <a:effectLst/>
                <a:latin typeface="Times New Roman" pitchFamily="18" charset="0"/>
                <a:ea typeface="宋体" charset="-122"/>
                <a:cs typeface="+mn-cs"/>
              </a:rPr>
              <a:t>，每个标识在 </a:t>
            </a:r>
            <a:r>
              <a:rPr kumimoji="1" lang="en-US" altLang="zh-CN" sz="1200" b="0" i="0" kern="1200" dirty="0">
                <a:solidFill>
                  <a:schemeClr val="tx1"/>
                </a:solidFill>
                <a:effectLst/>
                <a:latin typeface="Times New Roman" pitchFamily="18" charset="0"/>
                <a:ea typeface="宋体" charset="-122"/>
                <a:cs typeface="+mn-cs"/>
              </a:rPr>
              <a:t>root-server.net </a:t>
            </a:r>
            <a:r>
              <a:rPr kumimoji="1" lang="zh-CN" altLang="en-US" sz="1200" b="0" i="0" kern="1200" dirty="0">
                <a:solidFill>
                  <a:schemeClr val="tx1"/>
                </a:solidFill>
                <a:effectLst/>
                <a:latin typeface="Times New Roman" pitchFamily="18" charset="0"/>
                <a:ea typeface="宋体" charset="-122"/>
                <a:cs typeface="+mn-cs"/>
              </a:rPr>
              <a:t>域内用字母 </a:t>
            </a:r>
            <a:r>
              <a:rPr kumimoji="1" lang="en-US" altLang="zh-CN" sz="1200" b="0" i="0" kern="1200" dirty="0">
                <a:solidFill>
                  <a:schemeClr val="tx1"/>
                </a:solidFill>
                <a:effectLst/>
                <a:latin typeface="Times New Roman" pitchFamily="18" charset="0"/>
                <a:ea typeface="宋体" charset="-122"/>
                <a:cs typeface="+mn-cs"/>
              </a:rPr>
              <a:t>a </a:t>
            </a:r>
            <a:r>
              <a:rPr kumimoji="1" lang="zh-CN" altLang="en-US" sz="1200" b="0" i="0" kern="1200" dirty="0">
                <a:solidFill>
                  <a:schemeClr val="tx1"/>
                </a:solidFill>
                <a:effectLst/>
                <a:latin typeface="Times New Roman" pitchFamily="18" charset="0"/>
                <a:ea typeface="宋体" charset="-122"/>
                <a:cs typeface="+mn-cs"/>
              </a:rPr>
              <a:t>到 </a:t>
            </a:r>
            <a:r>
              <a:rPr kumimoji="1" lang="en-US" altLang="zh-CN" sz="1200" b="0" i="0" kern="1200" dirty="0">
                <a:solidFill>
                  <a:schemeClr val="tx1"/>
                </a:solidFill>
                <a:effectLst/>
                <a:latin typeface="Times New Roman" pitchFamily="18" charset="0"/>
                <a:ea typeface="宋体" charset="-122"/>
                <a:cs typeface="+mn-cs"/>
              </a:rPr>
              <a:t>m </a:t>
            </a:r>
            <a:r>
              <a:rPr kumimoji="1" lang="zh-CN" altLang="en-US" sz="1200" b="0" i="0" kern="1200" dirty="0">
                <a:solidFill>
                  <a:schemeClr val="tx1"/>
                </a:solidFill>
                <a:effectLst/>
                <a:latin typeface="Times New Roman" pitchFamily="18" charset="0"/>
                <a:ea typeface="宋体" charset="-122"/>
                <a:cs typeface="+mn-cs"/>
              </a:rPr>
              <a:t>命名，即从 </a:t>
            </a:r>
            <a:r>
              <a:rPr kumimoji="1" lang="en-US" altLang="zh-CN" sz="1200" b="0" i="0" kern="1200" dirty="0">
                <a:solidFill>
                  <a:schemeClr val="tx1"/>
                </a:solidFill>
                <a:effectLst/>
                <a:latin typeface="Times New Roman" pitchFamily="18" charset="0"/>
                <a:ea typeface="宋体" charset="-122"/>
                <a:cs typeface="+mn-cs"/>
              </a:rPr>
              <a:t>a.root-servers.net </a:t>
            </a:r>
            <a:r>
              <a:rPr kumimoji="1" lang="zh-CN" altLang="en-US" sz="1200" b="0" i="0" kern="1200" dirty="0">
                <a:solidFill>
                  <a:schemeClr val="tx1"/>
                </a:solidFill>
                <a:effectLst/>
                <a:latin typeface="Times New Roman" pitchFamily="18" charset="0"/>
                <a:ea typeface="宋体" charset="-122"/>
                <a:cs typeface="+mn-cs"/>
              </a:rPr>
              <a:t>到 </a:t>
            </a:r>
            <a:r>
              <a:rPr kumimoji="1" lang="en-US" altLang="zh-CN" sz="1200" b="0" i="0" kern="1200" dirty="0">
                <a:solidFill>
                  <a:schemeClr val="tx1"/>
                </a:solidFill>
                <a:effectLst/>
                <a:latin typeface="Times New Roman" pitchFamily="18" charset="0"/>
                <a:ea typeface="宋体" charset="-122"/>
                <a:cs typeface="+mn-cs"/>
              </a:rPr>
              <a:t>m.root-servers.net</a:t>
            </a:r>
            <a:r>
              <a:rPr kumimoji="1" lang="zh-CN" altLang="en-US" sz="1200" b="0" i="0" kern="1200" dirty="0">
                <a:solidFill>
                  <a:schemeClr val="tx1"/>
                </a:solidFill>
                <a:effectLst/>
                <a:latin typeface="Times New Roman" pitchFamily="18" charset="0"/>
                <a:ea typeface="宋体" charset="-122"/>
                <a:cs typeface="+mn-cs"/>
              </a:rPr>
              <a:t>。在这些根服务器标识（称为根服务）中，每个标识都有两个与之关联的唯一</a:t>
            </a:r>
            <a:r>
              <a:rPr kumimoji="1" lang="en-US" altLang="zh-CN" sz="1200" b="0" i="0" kern="1200" dirty="0">
                <a:solidFill>
                  <a:schemeClr val="tx1"/>
                </a:solidFill>
                <a:effectLst/>
                <a:latin typeface="Times New Roman" pitchFamily="18" charset="0"/>
                <a:ea typeface="宋体" charset="-122"/>
                <a:cs typeface="+mn-cs"/>
              </a:rPr>
              <a:t>IP </a:t>
            </a:r>
            <a:r>
              <a:rPr kumimoji="1" lang="zh-CN" altLang="en-US" sz="1200" b="0" i="0" kern="1200" dirty="0">
                <a:solidFill>
                  <a:schemeClr val="tx1"/>
                </a:solidFill>
                <a:effectLst/>
                <a:latin typeface="Times New Roman" pitchFamily="18" charset="0"/>
                <a:ea typeface="宋体" charset="-122"/>
                <a:cs typeface="+mn-cs"/>
              </a:rPr>
              <a:t>地址：一个 </a:t>
            </a:r>
            <a:r>
              <a:rPr kumimoji="1" lang="en-US" altLang="zh-CN" sz="1200" b="0" i="0" kern="1200" dirty="0">
                <a:solidFill>
                  <a:schemeClr val="tx1"/>
                </a:solidFill>
                <a:effectLst/>
                <a:latin typeface="Times New Roman" pitchFamily="18" charset="0"/>
                <a:ea typeface="宋体" charset="-122"/>
                <a:cs typeface="+mn-cs"/>
              </a:rPr>
              <a:t>IPv4 </a:t>
            </a:r>
            <a:r>
              <a:rPr kumimoji="1" lang="zh-CN" altLang="en-US" sz="1200" b="0" i="0" kern="1200" dirty="0">
                <a:solidFill>
                  <a:schemeClr val="tx1"/>
                </a:solidFill>
                <a:effectLst/>
                <a:latin typeface="Times New Roman" pitchFamily="18" charset="0"/>
                <a:ea typeface="宋体" charset="-122"/>
                <a:cs typeface="+mn-cs"/>
              </a:rPr>
              <a:t>地址和一个 </a:t>
            </a:r>
            <a:r>
              <a:rPr kumimoji="1" lang="en-US" altLang="zh-CN" sz="1200" b="0" i="0" kern="1200" dirty="0">
                <a:solidFill>
                  <a:schemeClr val="tx1"/>
                </a:solidFill>
                <a:effectLst/>
                <a:latin typeface="Times New Roman" pitchFamily="18" charset="0"/>
                <a:ea typeface="宋体" charset="-122"/>
                <a:cs typeface="+mn-cs"/>
              </a:rPr>
              <a:t>IPv6 </a:t>
            </a:r>
            <a:r>
              <a:rPr kumimoji="1" lang="zh-CN" altLang="en-US" sz="1200" b="0" i="0" kern="1200" dirty="0">
                <a:solidFill>
                  <a:schemeClr val="tx1"/>
                </a:solidFill>
                <a:effectLst/>
                <a:latin typeface="Times New Roman" pitchFamily="18" charset="0"/>
                <a:ea typeface="宋体" charset="-122"/>
                <a:cs typeface="+mn-cs"/>
              </a:rPr>
              <a:t>地址。这 些 </a:t>
            </a:r>
            <a:r>
              <a:rPr kumimoji="1" lang="en-US" altLang="zh-CN" sz="1200" b="0" i="0" kern="1200" dirty="0">
                <a:solidFill>
                  <a:schemeClr val="tx1"/>
                </a:solidFill>
                <a:effectLst/>
                <a:latin typeface="Times New Roman" pitchFamily="18" charset="0"/>
                <a:ea typeface="宋体" charset="-122"/>
                <a:cs typeface="+mn-cs"/>
              </a:rPr>
              <a:t>IP </a:t>
            </a:r>
            <a:r>
              <a:rPr kumimoji="1" lang="zh-CN" altLang="en-US" sz="1200" b="0" i="0" kern="1200" dirty="0">
                <a:solidFill>
                  <a:schemeClr val="tx1"/>
                </a:solidFill>
                <a:effectLst/>
                <a:latin typeface="Times New Roman" pitchFamily="18" charset="0"/>
                <a:ea typeface="宋体" charset="-122"/>
                <a:cs typeface="+mn-cs"/>
              </a:rPr>
              <a:t>地址已预置在互联网上的所有解析器中，因此，这些解析器能够找到要提出查询的根服务。根服务每天会收到超过 </a:t>
            </a:r>
            <a:r>
              <a:rPr kumimoji="1" lang="en-US" altLang="zh-CN" sz="1200" b="0" i="0" kern="1200" dirty="0">
                <a:solidFill>
                  <a:schemeClr val="tx1"/>
                </a:solidFill>
                <a:effectLst/>
                <a:latin typeface="Times New Roman" pitchFamily="18" charset="0"/>
                <a:ea typeface="宋体" charset="-122"/>
                <a:cs typeface="+mn-cs"/>
              </a:rPr>
              <a:t>700 </a:t>
            </a:r>
            <a:r>
              <a:rPr kumimoji="1" lang="zh-CN" altLang="en-US" sz="1200" b="0" i="0" kern="1200" dirty="0">
                <a:solidFill>
                  <a:schemeClr val="tx1"/>
                </a:solidFill>
                <a:effectLst/>
                <a:latin typeface="Times New Roman" pitchFamily="18" charset="0"/>
                <a:ea typeface="宋体" charset="-122"/>
                <a:cs typeface="+mn-cs"/>
              </a:rPr>
              <a:t>亿次的海量查询。 </a:t>
            </a:r>
          </a:p>
          <a:p>
            <a:r>
              <a:rPr kumimoji="1" lang="zh-CN" altLang="en-US" sz="1200" b="0" i="0" kern="1200" dirty="0">
                <a:solidFill>
                  <a:schemeClr val="tx1"/>
                </a:solidFill>
                <a:effectLst/>
                <a:latin typeface="Times New Roman" pitchFamily="18" charset="0"/>
                <a:ea typeface="宋体" charset="-122"/>
                <a:cs typeface="+mn-cs"/>
              </a:rPr>
              <a:t/>
            </a:r>
            <a:br>
              <a:rPr kumimoji="1" lang="zh-CN" altLang="en-US" sz="1200" b="0" i="0" kern="1200" dirty="0">
                <a:solidFill>
                  <a:schemeClr val="tx1"/>
                </a:solidFill>
                <a:effectLst/>
                <a:latin typeface="Times New Roman" pitchFamily="18" charset="0"/>
                <a:ea typeface="宋体" charset="-122"/>
                <a:cs typeface="+mn-cs"/>
              </a:rPr>
            </a:br>
            <a:endParaRPr kumimoji="1" lang="zh-CN" altLang="en-US" sz="1200" b="0" i="0" kern="1200" dirty="0">
              <a:solidFill>
                <a:schemeClr val="tx1"/>
              </a:solidFill>
              <a:effectLst/>
              <a:latin typeface="Times New Roman" pitchFamily="18" charset="0"/>
              <a:ea typeface="宋体" charset="-122"/>
              <a:cs typeface="+mn-cs"/>
            </a:endParaRPr>
          </a:p>
          <a:p>
            <a:r>
              <a:rPr kumimoji="1" lang="zh-CN" altLang="en-US" sz="1200" b="0" i="0" kern="1200" dirty="0">
                <a:solidFill>
                  <a:schemeClr val="tx1"/>
                </a:solidFill>
                <a:effectLst/>
                <a:latin typeface="Times New Roman" pitchFamily="18" charset="0"/>
                <a:ea typeface="宋体" charset="-122"/>
                <a:cs typeface="+mn-cs"/>
              </a:rPr>
              <a:t>这</a:t>
            </a:r>
            <a:r>
              <a:rPr kumimoji="1" lang="en-US" altLang="zh-CN" sz="1200" b="0" i="0" kern="1200" dirty="0">
                <a:solidFill>
                  <a:schemeClr val="tx1"/>
                </a:solidFill>
                <a:effectLst/>
                <a:latin typeface="Times New Roman" pitchFamily="18" charset="0"/>
                <a:ea typeface="宋体" charset="-122"/>
                <a:cs typeface="+mn-cs"/>
              </a:rPr>
              <a:t>13</a:t>
            </a:r>
            <a:r>
              <a:rPr kumimoji="1" lang="zh-CN" altLang="en-US" sz="1200" b="0" i="0" kern="1200" dirty="0">
                <a:solidFill>
                  <a:schemeClr val="tx1"/>
                </a:solidFill>
                <a:effectLst/>
                <a:latin typeface="Times New Roman" pitchFamily="18" charset="0"/>
                <a:ea typeface="宋体" charset="-122"/>
                <a:cs typeface="+mn-cs"/>
              </a:rPr>
              <a:t>个根服务会对它们收到的查询作出以下响应：或者返回在根区（</a:t>
            </a:r>
            <a:r>
              <a:rPr kumimoji="1" lang="en-US" altLang="zh-CN" sz="1200" b="0" i="0" kern="1200" dirty="0">
                <a:solidFill>
                  <a:schemeClr val="tx1"/>
                </a:solidFill>
                <a:effectLst/>
                <a:latin typeface="Times New Roman" pitchFamily="18" charset="0"/>
                <a:ea typeface="宋体" charset="-122"/>
                <a:cs typeface="+mn-cs"/>
              </a:rPr>
              <a:t>root zone</a:t>
            </a:r>
            <a:r>
              <a:rPr kumimoji="1" lang="zh-CN" altLang="en-US" sz="1200" b="0" i="0" kern="1200" dirty="0">
                <a:solidFill>
                  <a:schemeClr val="tx1"/>
                </a:solidFill>
                <a:effectLst/>
                <a:latin typeface="Times New Roman" pitchFamily="18" charset="0"/>
                <a:ea typeface="宋体" charset="-122"/>
                <a:cs typeface="+mn-cs"/>
              </a:rPr>
              <a:t>，由 </a:t>
            </a:r>
            <a:r>
              <a:rPr kumimoji="1" lang="en-US" altLang="zh-CN" sz="1200" b="0" i="0" kern="1200" dirty="0">
                <a:solidFill>
                  <a:schemeClr val="tx1"/>
                </a:solidFill>
                <a:effectLst/>
                <a:latin typeface="Times New Roman" pitchFamily="18" charset="0"/>
                <a:ea typeface="宋体" charset="-122"/>
                <a:cs typeface="+mn-cs"/>
              </a:rPr>
              <a:t>ICANN </a:t>
            </a:r>
            <a:r>
              <a:rPr kumimoji="1" lang="zh-CN" altLang="en-US" sz="1200" b="0" i="0" kern="1200" dirty="0">
                <a:solidFill>
                  <a:schemeClr val="tx1"/>
                </a:solidFill>
                <a:effectLst/>
                <a:latin typeface="Times New Roman" pitchFamily="18" charset="0"/>
                <a:ea typeface="宋体" charset="-122"/>
                <a:cs typeface="+mn-cs"/>
              </a:rPr>
              <a:t>运营的 </a:t>
            </a:r>
            <a:r>
              <a:rPr kumimoji="1" lang="en-US" altLang="zh-CN" sz="1200" b="0" i="0" kern="1200" dirty="0">
                <a:solidFill>
                  <a:schemeClr val="tx1"/>
                </a:solidFill>
                <a:effectLst/>
                <a:latin typeface="Times New Roman" pitchFamily="18" charset="0"/>
                <a:ea typeface="宋体" charset="-122"/>
                <a:cs typeface="+mn-cs"/>
              </a:rPr>
              <a:t>IANA </a:t>
            </a:r>
            <a:r>
              <a:rPr kumimoji="1" lang="zh-CN" altLang="en-US" sz="1200" b="0" i="0" kern="1200" dirty="0">
                <a:solidFill>
                  <a:schemeClr val="tx1"/>
                </a:solidFill>
                <a:effectLst/>
                <a:latin typeface="Times New Roman" pitchFamily="18" charset="0"/>
                <a:ea typeface="宋体" charset="-122"/>
                <a:cs typeface="+mn-cs"/>
              </a:rPr>
              <a:t>职能负责管理）中找到的信息；或者当被查询的 </a:t>
            </a:r>
            <a:r>
              <a:rPr kumimoji="1" lang="en-US" altLang="zh-CN" sz="1200" b="0" i="0" kern="1200" dirty="0">
                <a:solidFill>
                  <a:schemeClr val="tx1"/>
                </a:solidFill>
                <a:effectLst/>
                <a:latin typeface="Times New Roman" pitchFamily="18" charset="0"/>
                <a:ea typeface="宋体" charset="-122"/>
                <a:cs typeface="+mn-cs"/>
              </a:rPr>
              <a:t>TLD </a:t>
            </a:r>
            <a:r>
              <a:rPr kumimoji="1" lang="zh-CN" altLang="en-US" sz="1200" b="0" i="0" kern="1200" dirty="0">
                <a:solidFill>
                  <a:schemeClr val="tx1"/>
                </a:solidFill>
                <a:effectLst/>
                <a:latin typeface="Times New Roman" pitchFamily="18" charset="0"/>
                <a:ea typeface="宋体" charset="-122"/>
                <a:cs typeface="+mn-cs"/>
              </a:rPr>
              <a:t>没有被授权时，会显示一条消息表明该域名不存在。</a:t>
            </a:r>
            <a:r>
              <a:rPr kumimoji="1" lang="zh-CN" altLang="en-US" sz="1200" b="1" i="0" kern="1200" dirty="0">
                <a:solidFill>
                  <a:schemeClr val="tx1"/>
                </a:solidFill>
                <a:effectLst/>
                <a:latin typeface="Times New Roman" pitchFamily="18" charset="0"/>
                <a:ea typeface="宋体" charset="-122"/>
                <a:cs typeface="+mn-cs"/>
              </a:rPr>
              <a:t>此信息受 </a:t>
            </a:r>
            <a:r>
              <a:rPr kumimoji="1" lang="en-US" altLang="zh-CN" sz="1200" b="1" i="0" kern="1200" dirty="0">
                <a:solidFill>
                  <a:schemeClr val="tx1"/>
                </a:solidFill>
                <a:effectLst/>
                <a:latin typeface="Times New Roman" pitchFamily="18" charset="0"/>
                <a:ea typeface="宋体" charset="-122"/>
                <a:cs typeface="+mn-cs"/>
              </a:rPr>
              <a:t>DNSSEC </a:t>
            </a:r>
            <a:r>
              <a:rPr kumimoji="1" lang="zh-CN" altLang="en-US" sz="1200" b="1" i="0" kern="1200" dirty="0">
                <a:solidFill>
                  <a:schemeClr val="tx1"/>
                </a:solidFill>
                <a:effectLst/>
                <a:latin typeface="Times New Roman" pitchFamily="18" charset="0"/>
                <a:ea typeface="宋体" charset="-122"/>
                <a:cs typeface="+mn-cs"/>
              </a:rPr>
              <a:t>保护：任何人对数据进行任何修改都会导致启用了 </a:t>
            </a:r>
            <a:r>
              <a:rPr kumimoji="1" lang="en-US" altLang="zh-CN" sz="1200" b="1" i="0" kern="1200" dirty="0">
                <a:solidFill>
                  <a:schemeClr val="tx1"/>
                </a:solidFill>
                <a:effectLst/>
                <a:latin typeface="Times New Roman" pitchFamily="18" charset="0"/>
                <a:ea typeface="宋体" charset="-122"/>
                <a:cs typeface="+mn-cs"/>
              </a:rPr>
              <a:t>DNSSEC </a:t>
            </a:r>
            <a:r>
              <a:rPr kumimoji="1" lang="zh-CN" altLang="en-US" sz="1200" b="1" i="0" kern="1200" dirty="0">
                <a:solidFill>
                  <a:schemeClr val="tx1"/>
                </a:solidFill>
                <a:effectLst/>
                <a:latin typeface="Times New Roman" pitchFamily="18" charset="0"/>
                <a:ea typeface="宋体" charset="-122"/>
                <a:cs typeface="+mn-cs"/>
              </a:rPr>
              <a:t>的解析器忽略响应，从而防止根区被修改或出现试图在响应中插入不真实信息的攻击。</a:t>
            </a:r>
            <a:r>
              <a:rPr kumimoji="1" lang="zh-CN" altLang="en-US" sz="1200" b="0" i="0" kern="1200" dirty="0">
                <a:solidFill>
                  <a:schemeClr val="tx1"/>
                </a:solidFill>
                <a:effectLst/>
                <a:latin typeface="Times New Roman" pitchFamily="18" charset="0"/>
                <a:ea typeface="宋体" charset="-122"/>
                <a:cs typeface="+mn-cs"/>
              </a:rPr>
              <a:t> </a:t>
            </a:r>
          </a:p>
          <a:p>
            <a:r>
              <a:rPr kumimoji="1" lang="zh-CN" altLang="en-US" sz="1200" b="0" i="0" kern="1200" dirty="0">
                <a:solidFill>
                  <a:schemeClr val="tx1"/>
                </a:solidFill>
                <a:effectLst/>
                <a:latin typeface="Times New Roman" pitchFamily="18" charset="0"/>
                <a:ea typeface="宋体" charset="-122"/>
                <a:cs typeface="+mn-cs"/>
              </a:rPr>
              <a:t/>
            </a:r>
            <a:br>
              <a:rPr kumimoji="1" lang="zh-CN" altLang="en-US" sz="1200" b="0" i="0" kern="1200" dirty="0">
                <a:solidFill>
                  <a:schemeClr val="tx1"/>
                </a:solidFill>
                <a:effectLst/>
                <a:latin typeface="Times New Roman" pitchFamily="18" charset="0"/>
                <a:ea typeface="宋体" charset="-122"/>
                <a:cs typeface="+mn-cs"/>
              </a:rPr>
            </a:br>
            <a:endParaRPr kumimoji="1" lang="zh-CN" altLang="en-US" sz="1200" b="0" i="0" kern="1200" dirty="0">
              <a:solidFill>
                <a:schemeClr val="tx1"/>
              </a:solidFill>
              <a:effectLst/>
              <a:latin typeface="Times New Roman" pitchFamily="18" charset="0"/>
              <a:ea typeface="宋体" charset="-122"/>
              <a:cs typeface="+mn-cs"/>
            </a:endParaRPr>
          </a:p>
          <a:p>
            <a:r>
              <a:rPr kumimoji="1" lang="zh-CN" altLang="en-US" sz="1200" b="0" i="0" kern="1200" dirty="0">
                <a:solidFill>
                  <a:schemeClr val="tx1"/>
                </a:solidFill>
                <a:effectLst/>
                <a:latin typeface="Times New Roman" pitchFamily="18" charset="0"/>
                <a:ea typeface="宋体" charset="-122"/>
                <a:cs typeface="+mn-cs"/>
              </a:rPr>
              <a:t>根服务器系统必须具有弹性，因为该系统必须能够对大量连续的查询请求做出响应，同时，还要确保能够抵御各种网络攻击。根服务器运营商通过使用一种名为“</a:t>
            </a:r>
            <a:r>
              <a:rPr kumimoji="1" lang="zh-CN" altLang="en-US" sz="1200" b="1" i="0" kern="1200" dirty="0">
                <a:solidFill>
                  <a:schemeClr val="tx1"/>
                </a:solidFill>
                <a:effectLst/>
                <a:latin typeface="Times New Roman" pitchFamily="18" charset="0"/>
                <a:ea typeface="宋体" charset="-122"/>
                <a:cs typeface="+mn-cs"/>
              </a:rPr>
              <a:t>任播”（</a:t>
            </a:r>
            <a:r>
              <a:rPr kumimoji="1" lang="en-US" altLang="zh-CN" sz="1200" b="1" i="0" kern="1200" dirty="0" err="1">
                <a:solidFill>
                  <a:schemeClr val="tx1"/>
                </a:solidFill>
                <a:effectLst/>
                <a:latin typeface="Times New Roman" pitchFamily="18" charset="0"/>
                <a:ea typeface="宋体" charset="-122"/>
                <a:cs typeface="+mn-cs"/>
              </a:rPr>
              <a:t>anycast</a:t>
            </a:r>
            <a:r>
              <a:rPr kumimoji="1" lang="zh-CN" altLang="en-US" sz="1200" b="1" i="0" kern="1200" dirty="0">
                <a:solidFill>
                  <a:schemeClr val="tx1"/>
                </a:solidFill>
                <a:effectLst/>
                <a:latin typeface="Times New Roman" pitchFamily="18" charset="0"/>
                <a:ea typeface="宋体" charset="-122"/>
                <a:cs typeface="+mn-cs"/>
              </a:rPr>
              <a:t>）</a:t>
            </a:r>
            <a:r>
              <a:rPr kumimoji="1" lang="zh-CN" altLang="en-US" sz="1200" b="0" i="0" kern="1200" dirty="0">
                <a:solidFill>
                  <a:schemeClr val="tx1"/>
                </a:solidFill>
                <a:effectLst/>
                <a:latin typeface="Times New Roman" pitchFamily="18" charset="0"/>
                <a:ea typeface="宋体" charset="-122"/>
                <a:cs typeface="+mn-cs"/>
              </a:rPr>
              <a:t>的路由技术在全球范围内分布根服务器节点，从而满足了这种弹性要求。任播路由允许整个互联网上的计算机使用相同的 </a:t>
            </a:r>
            <a:r>
              <a:rPr kumimoji="1" lang="en-US" altLang="zh-CN" sz="1200" b="0" i="0" kern="1200" dirty="0">
                <a:solidFill>
                  <a:schemeClr val="tx1"/>
                </a:solidFill>
                <a:effectLst/>
                <a:latin typeface="Times New Roman" pitchFamily="18" charset="0"/>
                <a:ea typeface="宋体" charset="-122"/>
                <a:cs typeface="+mn-cs"/>
              </a:rPr>
              <a:t>IP </a:t>
            </a:r>
            <a:r>
              <a:rPr kumimoji="1" lang="zh-CN" altLang="en-US" sz="1200" b="0" i="0" kern="1200" dirty="0">
                <a:solidFill>
                  <a:schemeClr val="tx1"/>
                </a:solidFill>
                <a:effectLst/>
                <a:latin typeface="Times New Roman" pitchFamily="18" charset="0"/>
                <a:ea typeface="宋体" charset="-122"/>
                <a:cs typeface="+mn-cs"/>
              </a:rPr>
              <a:t>地址来提供相同的响应，从而能够在数百个不同的城市和国家</a:t>
            </a:r>
            <a:r>
              <a:rPr kumimoji="1" lang="en-US" altLang="zh-CN" sz="1200" b="0" i="0" kern="1200" dirty="0">
                <a:solidFill>
                  <a:schemeClr val="tx1"/>
                </a:solidFill>
                <a:effectLst/>
                <a:latin typeface="Times New Roman" pitchFamily="18" charset="0"/>
                <a:ea typeface="宋体" charset="-122"/>
                <a:cs typeface="+mn-cs"/>
              </a:rPr>
              <a:t>/</a:t>
            </a:r>
            <a:r>
              <a:rPr kumimoji="1" lang="zh-CN" altLang="en-US" sz="1200" b="0" i="0" kern="1200" dirty="0">
                <a:solidFill>
                  <a:schemeClr val="tx1"/>
                </a:solidFill>
                <a:effectLst/>
                <a:latin typeface="Times New Roman" pitchFamily="18" charset="0"/>
                <a:ea typeface="宋体" charset="-122"/>
                <a:cs typeface="+mn-cs"/>
              </a:rPr>
              <a:t>地区部署根服务器节点。如今，全世界范围内已广泛部署大量根服务器节点，因此，根服务器系统已极具弹性。有关根服务器节点分布情况的更多信息，请访问 </a:t>
            </a:r>
            <a:r>
              <a:rPr kumimoji="1" lang="en-US" altLang="zh-CN" sz="1200" b="0" i="0" kern="1200" dirty="0">
                <a:solidFill>
                  <a:schemeClr val="tx1"/>
                </a:solidFill>
                <a:effectLst/>
                <a:latin typeface="Times New Roman" pitchFamily="18" charset="0"/>
                <a:ea typeface="宋体" charset="-122"/>
                <a:cs typeface="+mn-cs"/>
              </a:rPr>
              <a:t>https://root-servers.org</a:t>
            </a:r>
            <a:r>
              <a:rPr kumimoji="1" lang="zh-CN" altLang="en-US" sz="1200" b="0" i="0" kern="1200" dirty="0">
                <a:solidFill>
                  <a:schemeClr val="tx1"/>
                </a:solidFill>
                <a:effectLst/>
                <a:latin typeface="Times New Roman" pitchFamily="18" charset="0"/>
                <a:ea typeface="宋体" charset="-122"/>
                <a:cs typeface="+mn-cs"/>
              </a:rPr>
              <a:t>。</a:t>
            </a:r>
          </a:p>
          <a:p>
            <a:r>
              <a:rPr kumimoji="1" lang="zh-CN" altLang="en-US" sz="1200" b="0" i="0" kern="1200" dirty="0">
                <a:solidFill>
                  <a:schemeClr val="tx1"/>
                </a:solidFill>
                <a:effectLst/>
                <a:latin typeface="Times New Roman" pitchFamily="18" charset="0"/>
                <a:ea typeface="宋体" charset="-122"/>
                <a:cs typeface="+mn-cs"/>
              </a:rPr>
              <a:t/>
            </a:r>
            <a:br>
              <a:rPr kumimoji="1" lang="zh-CN" altLang="en-US" sz="1200" b="0" i="0" kern="1200" dirty="0">
                <a:solidFill>
                  <a:schemeClr val="tx1"/>
                </a:solidFill>
                <a:effectLst/>
                <a:latin typeface="Times New Roman" pitchFamily="18" charset="0"/>
                <a:ea typeface="宋体" charset="-122"/>
                <a:cs typeface="+mn-cs"/>
              </a:rPr>
            </a:br>
            <a:endParaRPr kumimoji="1" lang="zh-CN" altLang="en-US" sz="1200" b="0" i="0" kern="1200" dirty="0">
              <a:solidFill>
                <a:schemeClr val="tx1"/>
              </a:solidFill>
              <a:effectLst/>
              <a:latin typeface="Times New Roman" pitchFamily="18" charset="0"/>
              <a:ea typeface="宋体" charset="-122"/>
              <a:cs typeface="+mn-cs"/>
            </a:endParaRPr>
          </a:p>
          <a:p>
            <a:r>
              <a:rPr kumimoji="1" lang="zh-CN" altLang="en-US" sz="1200" b="0" i="0" kern="1200" dirty="0">
                <a:solidFill>
                  <a:schemeClr val="tx1"/>
                </a:solidFill>
                <a:effectLst/>
                <a:latin typeface="Times New Roman" pitchFamily="18" charset="0"/>
                <a:ea typeface="宋体" charset="-122"/>
                <a:cs typeface="+mn-cs"/>
              </a:rPr>
              <a:t>注</a:t>
            </a:r>
            <a:r>
              <a:rPr kumimoji="1" lang="en-US" altLang="zh-CN" sz="1200" b="0" i="0" kern="1200" dirty="0">
                <a:solidFill>
                  <a:schemeClr val="tx1"/>
                </a:solidFill>
                <a:effectLst/>
                <a:latin typeface="Times New Roman" pitchFamily="18" charset="0"/>
                <a:ea typeface="宋体" charset="-122"/>
                <a:cs typeface="+mn-cs"/>
              </a:rPr>
              <a:t>4</a:t>
            </a:r>
            <a:r>
              <a:rPr kumimoji="1" lang="zh-CN" altLang="en-US" sz="1200" b="0" i="0" kern="1200" dirty="0">
                <a:solidFill>
                  <a:schemeClr val="tx1"/>
                </a:solidFill>
                <a:effectLst/>
                <a:latin typeface="Times New Roman" pitchFamily="18" charset="0"/>
                <a:ea typeface="宋体" charset="-122"/>
                <a:cs typeface="+mn-cs"/>
              </a:rPr>
              <a:t> 一些网络运营商利用</a:t>
            </a:r>
            <a:r>
              <a:rPr kumimoji="1" lang="en-US" altLang="zh-CN" sz="1200" b="0" i="0" kern="1200" dirty="0">
                <a:solidFill>
                  <a:schemeClr val="tx1"/>
                </a:solidFill>
                <a:effectLst/>
                <a:latin typeface="Times New Roman" pitchFamily="18" charset="0"/>
                <a:ea typeface="宋体" charset="-122"/>
                <a:cs typeface="+mn-cs"/>
              </a:rPr>
              <a:t>RFC 7706 (https://tools.ietf.org/html/rfc7706) </a:t>
            </a:r>
            <a:r>
              <a:rPr kumimoji="1" lang="zh-CN" altLang="en-US" sz="1200" b="0" i="0" kern="1200" dirty="0">
                <a:solidFill>
                  <a:schemeClr val="tx1"/>
                </a:solidFill>
                <a:effectLst/>
                <a:latin typeface="Times New Roman" pitchFamily="18" charset="0"/>
                <a:ea typeface="宋体" charset="-122"/>
                <a:cs typeface="+mn-cs"/>
              </a:rPr>
              <a:t>中记录的技术或类似技术创建根区文件的本地副本，这样他们的解析器就不需要向根服务器发送查询。然而，这类技术并未得到广泛应用，本文档未涵盖相关内容。 </a:t>
            </a:r>
          </a:p>
          <a:p>
            <a:r>
              <a:rPr kumimoji="1" lang="zh-CN" altLang="en-US" sz="1200" b="0" i="0" kern="1200" dirty="0">
                <a:solidFill>
                  <a:schemeClr val="tx1"/>
                </a:solidFill>
                <a:effectLst/>
                <a:latin typeface="Times New Roman" pitchFamily="18" charset="0"/>
                <a:ea typeface="宋体" charset="-122"/>
                <a:cs typeface="+mn-cs"/>
              </a:rPr>
              <a:t>注</a:t>
            </a:r>
            <a:r>
              <a:rPr kumimoji="1" lang="en-US" altLang="zh-CN" sz="1200" b="0" i="0" kern="1200" dirty="0">
                <a:solidFill>
                  <a:schemeClr val="tx1"/>
                </a:solidFill>
                <a:effectLst/>
                <a:latin typeface="Times New Roman" pitchFamily="18" charset="0"/>
                <a:ea typeface="宋体" charset="-122"/>
                <a:cs typeface="+mn-cs"/>
              </a:rPr>
              <a:t>5</a:t>
            </a:r>
            <a:r>
              <a:rPr kumimoji="1" lang="zh-CN" altLang="en-US" sz="1200" b="0" i="0" kern="1200" dirty="0">
                <a:solidFill>
                  <a:schemeClr val="tx1"/>
                </a:solidFill>
                <a:effectLst/>
                <a:latin typeface="Times New Roman" pitchFamily="18" charset="0"/>
                <a:ea typeface="宋体" charset="-122"/>
                <a:cs typeface="+mn-cs"/>
              </a:rPr>
              <a:t>（主要）由于历史原因，一个组织负责管理两个标识。</a:t>
            </a:r>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111</a:t>
            </a:fld>
            <a:endParaRPr lang="en-US" altLang="zh-CN"/>
          </a:p>
        </p:txBody>
      </p:sp>
    </p:spTree>
    <p:extLst>
      <p:ext uri="{BB962C8B-B14F-4D97-AF65-F5344CB8AC3E}">
        <p14:creationId xmlns:p14="http://schemas.microsoft.com/office/powerpoint/2010/main" val="68491570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zh-CN" sz="1200" b="0" i="0" kern="1200" dirty="0">
                <a:solidFill>
                  <a:schemeClr val="tx1"/>
                </a:solidFill>
                <a:effectLst/>
                <a:latin typeface="Times New Roman" pitchFamily="18" charset="0"/>
                <a:ea typeface="宋体" charset="-122"/>
                <a:cs typeface="+mn-cs"/>
              </a:rPr>
              <a:t>ICANN CTO: </a:t>
            </a:r>
            <a:r>
              <a:rPr kumimoji="1" lang="zh-CN" altLang="en-US" sz="1200" b="0" i="0" kern="1200" dirty="0">
                <a:solidFill>
                  <a:schemeClr val="tx1"/>
                </a:solidFill>
                <a:effectLst/>
                <a:latin typeface="Times New Roman" pitchFamily="18" charset="0"/>
                <a:ea typeface="宋体" charset="-122"/>
                <a:cs typeface="+mn-cs"/>
              </a:rPr>
              <a:t>域名根服务器系统概述 </a:t>
            </a:r>
            <a:r>
              <a:rPr kumimoji="1" lang="en-US" altLang="zh-CN" sz="1200" b="0" i="0" kern="1200" dirty="0">
                <a:solidFill>
                  <a:schemeClr val="tx1"/>
                </a:solidFill>
                <a:effectLst/>
                <a:latin typeface="Times New Roman" pitchFamily="18" charset="0"/>
                <a:ea typeface="宋体" charset="-122"/>
                <a:cs typeface="+mn-cs"/>
              </a:rPr>
              <a:t>2020.6</a:t>
            </a:r>
            <a:endParaRPr kumimoji="1" lang="zh-CN" altLang="en-US" sz="1200" b="0" i="0" kern="1200" dirty="0">
              <a:solidFill>
                <a:schemeClr val="tx1"/>
              </a:solidFill>
              <a:effectLst/>
              <a:latin typeface="Times New Roman" pitchFamily="18" charset="0"/>
              <a:ea typeface="宋体" charset="-122"/>
              <a:cs typeface="+mn-cs"/>
            </a:endParaRPr>
          </a:p>
          <a:p>
            <a:r>
              <a:rPr lang="en-US" altLang="zh-CN" dirty="0">
                <a:hlinkClick r:id="rId3"/>
              </a:rPr>
              <a:t>https://mp.weixin.qq.com/s/XCEQzYJ_qUOAdwlOQ_UrIA</a:t>
            </a:r>
            <a:endParaRPr lang="en-US" altLang="zh-CN" dirty="0"/>
          </a:p>
          <a:p>
            <a:endParaRPr kumimoji="1" lang="en-US" altLang="zh-CN" sz="1200" b="0" i="0" kern="1200" dirty="0">
              <a:solidFill>
                <a:schemeClr val="tx1"/>
              </a:solidFill>
              <a:effectLst/>
              <a:latin typeface="Times New Roman" pitchFamily="18" charset="0"/>
              <a:ea typeface="宋体" charset="-122"/>
              <a:cs typeface="+mn-cs"/>
            </a:endParaRPr>
          </a:p>
          <a:p>
            <a:r>
              <a:rPr kumimoji="1" lang="zh-CN" altLang="en-US" sz="1200" b="0" i="0" kern="1200" dirty="0">
                <a:solidFill>
                  <a:schemeClr val="tx1"/>
                </a:solidFill>
                <a:effectLst/>
                <a:latin typeface="Times New Roman" pitchFamily="18" charset="0"/>
                <a:ea typeface="宋体" charset="-122"/>
                <a:cs typeface="+mn-cs"/>
              </a:rPr>
              <a:t>综上所述，根服务器的作用（主要作用是对解析过程中的第一步做出响应）非常有限。尽管如此，根服务器对互联网的正常运营仍然至关重要。如果不能获得根服务器提供的初始“引荐”响应，就不可能在互联网上查找任何域名</a:t>
            </a:r>
            <a:r>
              <a:rPr kumimoji="1" lang="en-US" altLang="zh-CN" sz="1200" b="0" i="0" kern="1200" dirty="0">
                <a:solidFill>
                  <a:schemeClr val="tx1"/>
                </a:solidFill>
                <a:effectLst/>
                <a:latin typeface="Times New Roman" pitchFamily="18" charset="0"/>
                <a:ea typeface="宋体" charset="-122"/>
                <a:cs typeface="+mn-cs"/>
              </a:rPr>
              <a:t>【</a:t>
            </a:r>
            <a:r>
              <a:rPr kumimoji="1" lang="zh-CN" altLang="en-US" sz="1200" b="0" i="0" kern="1200" dirty="0">
                <a:solidFill>
                  <a:schemeClr val="tx1"/>
                </a:solidFill>
                <a:effectLst/>
                <a:latin typeface="Times New Roman" pitchFamily="18" charset="0"/>
                <a:ea typeface="宋体" charset="-122"/>
                <a:cs typeface="+mn-cs"/>
              </a:rPr>
              <a:t>注释</a:t>
            </a:r>
            <a:r>
              <a:rPr kumimoji="1" lang="en-US" altLang="zh-CN" sz="1200" b="0" i="0" kern="1200" dirty="0">
                <a:solidFill>
                  <a:schemeClr val="tx1"/>
                </a:solidFill>
                <a:effectLst/>
                <a:latin typeface="Times New Roman" pitchFamily="18" charset="0"/>
                <a:ea typeface="宋体" charset="-122"/>
                <a:cs typeface="+mn-cs"/>
              </a:rPr>
              <a:t>4】</a:t>
            </a:r>
            <a:r>
              <a:rPr kumimoji="1" lang="zh-CN" altLang="en-US" sz="1200" b="0" i="0" kern="1200" dirty="0">
                <a:solidFill>
                  <a:schemeClr val="tx1"/>
                </a:solidFill>
                <a:effectLst/>
                <a:latin typeface="Times New Roman" pitchFamily="18" charset="0"/>
                <a:ea typeface="宋体" charset="-122"/>
                <a:cs typeface="+mn-cs"/>
              </a:rPr>
              <a:t>。</a:t>
            </a:r>
            <a:br>
              <a:rPr kumimoji="1" lang="zh-CN" altLang="en-US" sz="1200" b="0" i="0" kern="1200" dirty="0">
                <a:solidFill>
                  <a:schemeClr val="tx1"/>
                </a:solidFill>
                <a:effectLst/>
                <a:latin typeface="Times New Roman" pitchFamily="18" charset="0"/>
                <a:ea typeface="宋体" charset="-122"/>
                <a:cs typeface="+mn-cs"/>
              </a:rPr>
            </a:br>
            <a:endParaRPr kumimoji="1" lang="zh-CN" altLang="en-US" sz="1200" b="0" i="0" kern="1200" dirty="0">
              <a:solidFill>
                <a:schemeClr val="tx1"/>
              </a:solidFill>
              <a:effectLst/>
              <a:latin typeface="Times New Roman" pitchFamily="18" charset="0"/>
              <a:ea typeface="宋体" charset="-122"/>
              <a:cs typeface="+mn-cs"/>
            </a:endParaRPr>
          </a:p>
          <a:p>
            <a:r>
              <a:rPr kumimoji="1" lang="zh-CN" altLang="en-US" sz="1200" b="0" i="0" kern="1200" dirty="0">
                <a:solidFill>
                  <a:schemeClr val="tx1"/>
                </a:solidFill>
                <a:effectLst/>
                <a:latin typeface="Times New Roman" pitchFamily="18" charset="0"/>
                <a:ea typeface="宋体" charset="-122"/>
                <a:cs typeface="+mn-cs"/>
              </a:rPr>
              <a:t>根服务器系统（</a:t>
            </a:r>
            <a:r>
              <a:rPr kumimoji="1" lang="en-US" altLang="zh-CN" sz="1200" b="0" i="0" kern="1200" dirty="0">
                <a:solidFill>
                  <a:schemeClr val="tx1"/>
                </a:solidFill>
                <a:effectLst/>
                <a:latin typeface="Times New Roman" pitchFamily="18" charset="0"/>
                <a:ea typeface="宋体" charset="-122"/>
                <a:cs typeface="+mn-cs"/>
              </a:rPr>
              <a:t>root server system</a:t>
            </a:r>
            <a:r>
              <a:rPr kumimoji="1" lang="zh-CN" altLang="en-US" sz="1200" b="0" i="0" kern="1200" dirty="0">
                <a:solidFill>
                  <a:schemeClr val="tx1"/>
                </a:solidFill>
                <a:effectLst/>
                <a:latin typeface="Times New Roman" pitchFamily="18" charset="0"/>
                <a:ea typeface="宋体" charset="-122"/>
                <a:cs typeface="+mn-cs"/>
              </a:rPr>
              <a:t>）由 </a:t>
            </a:r>
            <a:r>
              <a:rPr kumimoji="1" lang="en-US" altLang="zh-CN" sz="1200" b="0" i="0" kern="1200" dirty="0">
                <a:solidFill>
                  <a:schemeClr val="tx1"/>
                </a:solidFill>
                <a:effectLst/>
                <a:latin typeface="Times New Roman" pitchFamily="18" charset="0"/>
                <a:ea typeface="宋体" charset="-122"/>
                <a:cs typeface="+mn-cs"/>
              </a:rPr>
              <a:t>1000 </a:t>
            </a:r>
            <a:r>
              <a:rPr kumimoji="1" lang="zh-CN" altLang="en-US" sz="1200" b="0" i="0" kern="1200" dirty="0">
                <a:solidFill>
                  <a:schemeClr val="tx1"/>
                </a:solidFill>
                <a:effectLst/>
                <a:latin typeface="Times New Roman" pitchFamily="18" charset="0"/>
                <a:ea typeface="宋体" charset="-122"/>
                <a:cs typeface="+mn-cs"/>
              </a:rPr>
              <a:t>多台单独的计算机（称为</a:t>
            </a:r>
            <a:r>
              <a:rPr kumimoji="1" lang="zh-CN" altLang="en-US" sz="1200" b="1" i="0" kern="1200" dirty="0">
                <a:solidFill>
                  <a:schemeClr val="tx1"/>
                </a:solidFill>
                <a:effectLst/>
                <a:latin typeface="Times New Roman" pitchFamily="18" charset="0"/>
                <a:ea typeface="宋体" charset="-122"/>
                <a:cs typeface="+mn-cs"/>
              </a:rPr>
              <a:t>根服务器“节点”</a:t>
            </a:r>
            <a:r>
              <a:rPr kumimoji="1" lang="en-US" altLang="zh-CN" sz="1200" b="1" i="0" kern="1200" dirty="0">
                <a:solidFill>
                  <a:schemeClr val="tx1"/>
                </a:solidFill>
                <a:effectLst/>
                <a:latin typeface="Times New Roman" pitchFamily="18" charset="0"/>
                <a:ea typeface="宋体" charset="-122"/>
                <a:cs typeface="+mn-cs"/>
              </a:rPr>
              <a:t>【instance】</a:t>
            </a:r>
            <a:r>
              <a:rPr kumimoji="1" lang="zh-CN" altLang="en-US" sz="1200" b="0" i="0" kern="1200" dirty="0">
                <a:solidFill>
                  <a:schemeClr val="tx1"/>
                </a:solidFill>
                <a:effectLst/>
                <a:latin typeface="Times New Roman" pitchFamily="18" charset="0"/>
                <a:ea typeface="宋体" charset="-122"/>
                <a:cs typeface="+mn-cs"/>
              </a:rPr>
              <a:t>）组成，这些计算机会保留 </a:t>
            </a:r>
            <a:r>
              <a:rPr kumimoji="1" lang="en-US" altLang="zh-CN" sz="1200" b="0" i="0" kern="1200" dirty="0">
                <a:solidFill>
                  <a:schemeClr val="tx1"/>
                </a:solidFill>
                <a:effectLst/>
                <a:latin typeface="Times New Roman" pitchFamily="18" charset="0"/>
                <a:ea typeface="宋体" charset="-122"/>
                <a:cs typeface="+mn-cs"/>
              </a:rPr>
              <a:t>DNS </a:t>
            </a:r>
            <a:r>
              <a:rPr kumimoji="1" lang="zh-CN" altLang="en-US" sz="1200" b="0" i="0" kern="1200" dirty="0">
                <a:solidFill>
                  <a:schemeClr val="tx1"/>
                </a:solidFill>
                <a:effectLst/>
                <a:latin typeface="Times New Roman" pitchFamily="18" charset="0"/>
                <a:ea typeface="宋体" charset="-122"/>
                <a:cs typeface="+mn-cs"/>
              </a:rPr>
              <a:t>的根数据。如前所述，这些节点通过引荐顶级域的名称服务器来响应来自互联网解析器的查询。</a:t>
            </a:r>
          </a:p>
          <a:p>
            <a:r>
              <a:rPr kumimoji="1" lang="zh-CN" altLang="en-US" sz="1200" b="0" i="0" kern="1200" dirty="0">
                <a:solidFill>
                  <a:schemeClr val="tx1"/>
                </a:solidFill>
                <a:effectLst/>
                <a:latin typeface="Times New Roman" pitchFamily="18" charset="0"/>
                <a:ea typeface="宋体" charset="-122"/>
                <a:cs typeface="+mn-cs"/>
              </a:rPr>
              <a:t/>
            </a:r>
            <a:br>
              <a:rPr kumimoji="1" lang="zh-CN" altLang="en-US" sz="1200" b="0" i="0" kern="1200" dirty="0">
                <a:solidFill>
                  <a:schemeClr val="tx1"/>
                </a:solidFill>
                <a:effectLst/>
                <a:latin typeface="Times New Roman" pitchFamily="18" charset="0"/>
                <a:ea typeface="宋体" charset="-122"/>
                <a:cs typeface="+mn-cs"/>
              </a:rPr>
            </a:br>
            <a:r>
              <a:rPr kumimoji="1" lang="zh-CN" altLang="en-US" sz="1200" b="0" i="0" kern="1200" dirty="0">
                <a:solidFill>
                  <a:schemeClr val="tx1"/>
                </a:solidFill>
                <a:effectLst/>
                <a:latin typeface="Times New Roman" pitchFamily="18" charset="0"/>
                <a:ea typeface="宋体" charset="-122"/>
                <a:cs typeface="+mn-cs"/>
              </a:rPr>
              <a:t>称为</a:t>
            </a:r>
            <a:r>
              <a:rPr kumimoji="1" lang="zh-CN" altLang="en-US" sz="1200" b="1" i="0" kern="1200" dirty="0">
                <a:solidFill>
                  <a:schemeClr val="tx1"/>
                </a:solidFill>
                <a:effectLst/>
                <a:latin typeface="Times New Roman" pitchFamily="18" charset="0"/>
                <a:ea typeface="宋体" charset="-122"/>
                <a:cs typeface="+mn-cs"/>
              </a:rPr>
              <a:t>“根服务器运营商”（</a:t>
            </a:r>
            <a:r>
              <a:rPr kumimoji="1" lang="en-US" altLang="zh-CN" sz="1200" b="1" i="0" kern="1200" dirty="0">
                <a:solidFill>
                  <a:schemeClr val="tx1"/>
                </a:solidFill>
                <a:effectLst/>
                <a:latin typeface="Times New Roman" pitchFamily="18" charset="0"/>
                <a:ea typeface="宋体" charset="-122"/>
                <a:cs typeface="+mn-cs"/>
              </a:rPr>
              <a:t>root server operators</a:t>
            </a:r>
            <a:r>
              <a:rPr kumimoji="1" lang="zh-CN" altLang="en-US" sz="1200" b="1" i="0" kern="1200" dirty="0">
                <a:solidFill>
                  <a:schemeClr val="tx1"/>
                </a:solidFill>
                <a:effectLst/>
                <a:latin typeface="Times New Roman" pitchFamily="18" charset="0"/>
                <a:ea typeface="宋体" charset="-122"/>
                <a:cs typeface="+mn-cs"/>
              </a:rPr>
              <a:t>）</a:t>
            </a:r>
            <a:r>
              <a:rPr kumimoji="1" lang="zh-CN" altLang="en-US" sz="1200" b="0" i="0" kern="1200" dirty="0">
                <a:solidFill>
                  <a:schemeClr val="tx1"/>
                </a:solidFill>
                <a:effectLst/>
                <a:latin typeface="Times New Roman" pitchFamily="18" charset="0"/>
                <a:ea typeface="宋体" charset="-122"/>
                <a:cs typeface="+mn-cs"/>
              </a:rPr>
              <a:t>的 </a:t>
            </a:r>
            <a:r>
              <a:rPr kumimoji="1" lang="en-US" altLang="zh-CN" sz="1200" b="0" i="0" kern="1200" dirty="0">
                <a:solidFill>
                  <a:schemeClr val="tx1"/>
                </a:solidFill>
                <a:effectLst/>
                <a:latin typeface="Times New Roman" pitchFamily="18" charset="0"/>
                <a:ea typeface="宋体" charset="-122"/>
                <a:cs typeface="+mn-cs"/>
              </a:rPr>
              <a:t>12 </a:t>
            </a:r>
            <a:r>
              <a:rPr kumimoji="1" lang="zh-CN" altLang="en-US" sz="1200" b="0" i="0" kern="1200" dirty="0">
                <a:solidFill>
                  <a:schemeClr val="tx1"/>
                </a:solidFill>
                <a:effectLst/>
                <a:latin typeface="Times New Roman" pitchFamily="18" charset="0"/>
                <a:ea typeface="宋体" charset="-122"/>
                <a:cs typeface="+mn-cs"/>
              </a:rPr>
              <a:t>个组织负责管理</a:t>
            </a:r>
            <a:r>
              <a:rPr kumimoji="1" lang="en-US" altLang="zh-CN" sz="1200" b="0" i="0" kern="1200" dirty="0">
                <a:solidFill>
                  <a:schemeClr val="tx1"/>
                </a:solidFill>
                <a:effectLst/>
                <a:latin typeface="Times New Roman" pitchFamily="18" charset="0"/>
                <a:ea typeface="宋体" charset="-122"/>
                <a:cs typeface="+mn-cs"/>
              </a:rPr>
              <a:t>13 </a:t>
            </a:r>
            <a:r>
              <a:rPr kumimoji="1" lang="zh-CN" altLang="en-US" sz="1200" b="0" i="0" kern="1200" dirty="0">
                <a:solidFill>
                  <a:schemeClr val="tx1"/>
                </a:solidFill>
                <a:effectLst/>
                <a:latin typeface="Times New Roman" pitchFamily="18" charset="0"/>
                <a:ea typeface="宋体" charset="-122"/>
                <a:cs typeface="+mn-cs"/>
              </a:rPr>
              <a:t>个</a:t>
            </a:r>
            <a:r>
              <a:rPr kumimoji="1" lang="zh-CN" altLang="en-US" sz="1200" b="1" i="0" kern="1200" dirty="0">
                <a:solidFill>
                  <a:schemeClr val="tx1"/>
                </a:solidFill>
                <a:effectLst/>
                <a:latin typeface="Times New Roman" pitchFamily="18" charset="0"/>
                <a:ea typeface="宋体" charset="-122"/>
                <a:cs typeface="+mn-cs"/>
              </a:rPr>
              <a:t>根服务器“标识”（</a:t>
            </a:r>
            <a:r>
              <a:rPr kumimoji="1" lang="en-US" altLang="zh-CN" sz="1200" b="1" i="0" kern="1200" dirty="0">
                <a:solidFill>
                  <a:schemeClr val="tx1"/>
                </a:solidFill>
                <a:effectLst/>
                <a:latin typeface="Times New Roman" pitchFamily="18" charset="0"/>
                <a:ea typeface="宋体" charset="-122"/>
                <a:cs typeface="+mn-cs"/>
              </a:rPr>
              <a:t>identifiers</a:t>
            </a:r>
            <a:r>
              <a:rPr kumimoji="1" lang="zh-CN" altLang="en-US" sz="1200" b="1" i="0" kern="1200" dirty="0">
                <a:solidFill>
                  <a:schemeClr val="tx1"/>
                </a:solidFill>
                <a:effectLst/>
                <a:latin typeface="Times New Roman" pitchFamily="18" charset="0"/>
                <a:ea typeface="宋体" charset="-122"/>
                <a:cs typeface="+mn-cs"/>
              </a:rPr>
              <a:t>）</a:t>
            </a:r>
            <a:r>
              <a:rPr kumimoji="1" lang="en-US" altLang="zh-CN" sz="1200" b="0" i="0" kern="1200" dirty="0">
                <a:solidFill>
                  <a:schemeClr val="tx1"/>
                </a:solidFill>
                <a:effectLst/>
                <a:latin typeface="Times New Roman" pitchFamily="18" charset="0"/>
                <a:ea typeface="宋体" charset="-122"/>
                <a:cs typeface="+mn-cs"/>
              </a:rPr>
              <a:t>【</a:t>
            </a:r>
            <a:r>
              <a:rPr kumimoji="1" lang="zh-CN" altLang="en-US" sz="1200" b="0" i="0" kern="1200" dirty="0">
                <a:solidFill>
                  <a:schemeClr val="tx1"/>
                </a:solidFill>
                <a:effectLst/>
                <a:latin typeface="Times New Roman" pitchFamily="18" charset="0"/>
                <a:ea typeface="宋体" charset="-122"/>
                <a:cs typeface="+mn-cs"/>
              </a:rPr>
              <a:t>注释</a:t>
            </a:r>
            <a:r>
              <a:rPr kumimoji="1" lang="en-US" altLang="zh-CN" sz="1200" b="0" i="0" kern="1200" dirty="0">
                <a:solidFill>
                  <a:schemeClr val="tx1"/>
                </a:solidFill>
                <a:effectLst/>
                <a:latin typeface="Times New Roman" pitchFamily="18" charset="0"/>
                <a:ea typeface="宋体" charset="-122"/>
                <a:cs typeface="+mn-cs"/>
              </a:rPr>
              <a:t>5】</a:t>
            </a:r>
            <a:r>
              <a:rPr kumimoji="1" lang="zh-CN" altLang="en-US" sz="1200" b="0" i="0" kern="1200" dirty="0">
                <a:solidFill>
                  <a:schemeClr val="tx1"/>
                </a:solidFill>
                <a:effectLst/>
                <a:latin typeface="Times New Roman" pitchFamily="18" charset="0"/>
                <a:ea typeface="宋体" charset="-122"/>
                <a:cs typeface="+mn-cs"/>
              </a:rPr>
              <a:t>，每个标识在 </a:t>
            </a:r>
            <a:r>
              <a:rPr kumimoji="1" lang="en-US" altLang="zh-CN" sz="1200" b="0" i="0" kern="1200" dirty="0">
                <a:solidFill>
                  <a:schemeClr val="tx1"/>
                </a:solidFill>
                <a:effectLst/>
                <a:latin typeface="Times New Roman" pitchFamily="18" charset="0"/>
                <a:ea typeface="宋体" charset="-122"/>
                <a:cs typeface="+mn-cs"/>
              </a:rPr>
              <a:t>root-server.net </a:t>
            </a:r>
            <a:r>
              <a:rPr kumimoji="1" lang="zh-CN" altLang="en-US" sz="1200" b="0" i="0" kern="1200" dirty="0">
                <a:solidFill>
                  <a:schemeClr val="tx1"/>
                </a:solidFill>
                <a:effectLst/>
                <a:latin typeface="Times New Roman" pitchFamily="18" charset="0"/>
                <a:ea typeface="宋体" charset="-122"/>
                <a:cs typeface="+mn-cs"/>
              </a:rPr>
              <a:t>域内用字母 </a:t>
            </a:r>
            <a:r>
              <a:rPr kumimoji="1" lang="en-US" altLang="zh-CN" sz="1200" b="0" i="0" kern="1200" dirty="0">
                <a:solidFill>
                  <a:schemeClr val="tx1"/>
                </a:solidFill>
                <a:effectLst/>
                <a:latin typeface="Times New Roman" pitchFamily="18" charset="0"/>
                <a:ea typeface="宋体" charset="-122"/>
                <a:cs typeface="+mn-cs"/>
              </a:rPr>
              <a:t>a </a:t>
            </a:r>
            <a:r>
              <a:rPr kumimoji="1" lang="zh-CN" altLang="en-US" sz="1200" b="0" i="0" kern="1200" dirty="0">
                <a:solidFill>
                  <a:schemeClr val="tx1"/>
                </a:solidFill>
                <a:effectLst/>
                <a:latin typeface="Times New Roman" pitchFamily="18" charset="0"/>
                <a:ea typeface="宋体" charset="-122"/>
                <a:cs typeface="+mn-cs"/>
              </a:rPr>
              <a:t>到 </a:t>
            </a:r>
            <a:r>
              <a:rPr kumimoji="1" lang="en-US" altLang="zh-CN" sz="1200" b="0" i="0" kern="1200" dirty="0">
                <a:solidFill>
                  <a:schemeClr val="tx1"/>
                </a:solidFill>
                <a:effectLst/>
                <a:latin typeface="Times New Roman" pitchFamily="18" charset="0"/>
                <a:ea typeface="宋体" charset="-122"/>
                <a:cs typeface="+mn-cs"/>
              </a:rPr>
              <a:t>m </a:t>
            </a:r>
            <a:r>
              <a:rPr kumimoji="1" lang="zh-CN" altLang="en-US" sz="1200" b="0" i="0" kern="1200" dirty="0">
                <a:solidFill>
                  <a:schemeClr val="tx1"/>
                </a:solidFill>
                <a:effectLst/>
                <a:latin typeface="Times New Roman" pitchFamily="18" charset="0"/>
                <a:ea typeface="宋体" charset="-122"/>
                <a:cs typeface="+mn-cs"/>
              </a:rPr>
              <a:t>命名，即从 </a:t>
            </a:r>
            <a:r>
              <a:rPr kumimoji="1" lang="en-US" altLang="zh-CN" sz="1200" b="0" i="0" kern="1200" dirty="0">
                <a:solidFill>
                  <a:schemeClr val="tx1"/>
                </a:solidFill>
                <a:effectLst/>
                <a:latin typeface="Times New Roman" pitchFamily="18" charset="0"/>
                <a:ea typeface="宋体" charset="-122"/>
                <a:cs typeface="+mn-cs"/>
              </a:rPr>
              <a:t>a.root-servers.net </a:t>
            </a:r>
            <a:r>
              <a:rPr kumimoji="1" lang="zh-CN" altLang="en-US" sz="1200" b="0" i="0" kern="1200" dirty="0">
                <a:solidFill>
                  <a:schemeClr val="tx1"/>
                </a:solidFill>
                <a:effectLst/>
                <a:latin typeface="Times New Roman" pitchFamily="18" charset="0"/>
                <a:ea typeface="宋体" charset="-122"/>
                <a:cs typeface="+mn-cs"/>
              </a:rPr>
              <a:t>到 </a:t>
            </a:r>
            <a:r>
              <a:rPr kumimoji="1" lang="en-US" altLang="zh-CN" sz="1200" b="0" i="0" kern="1200" dirty="0">
                <a:solidFill>
                  <a:schemeClr val="tx1"/>
                </a:solidFill>
                <a:effectLst/>
                <a:latin typeface="Times New Roman" pitchFamily="18" charset="0"/>
                <a:ea typeface="宋体" charset="-122"/>
                <a:cs typeface="+mn-cs"/>
              </a:rPr>
              <a:t>m.root-servers.net</a:t>
            </a:r>
            <a:r>
              <a:rPr kumimoji="1" lang="zh-CN" altLang="en-US" sz="1200" b="0" i="0" kern="1200" dirty="0">
                <a:solidFill>
                  <a:schemeClr val="tx1"/>
                </a:solidFill>
                <a:effectLst/>
                <a:latin typeface="Times New Roman" pitchFamily="18" charset="0"/>
                <a:ea typeface="宋体" charset="-122"/>
                <a:cs typeface="+mn-cs"/>
              </a:rPr>
              <a:t>。在这些根服务器标识（称为根服务）中，每个标识都有两个与之关联的唯一</a:t>
            </a:r>
            <a:r>
              <a:rPr kumimoji="1" lang="en-US" altLang="zh-CN" sz="1200" b="0" i="0" kern="1200" dirty="0">
                <a:solidFill>
                  <a:schemeClr val="tx1"/>
                </a:solidFill>
                <a:effectLst/>
                <a:latin typeface="Times New Roman" pitchFamily="18" charset="0"/>
                <a:ea typeface="宋体" charset="-122"/>
                <a:cs typeface="+mn-cs"/>
              </a:rPr>
              <a:t>IP </a:t>
            </a:r>
            <a:r>
              <a:rPr kumimoji="1" lang="zh-CN" altLang="en-US" sz="1200" b="0" i="0" kern="1200" dirty="0">
                <a:solidFill>
                  <a:schemeClr val="tx1"/>
                </a:solidFill>
                <a:effectLst/>
                <a:latin typeface="Times New Roman" pitchFamily="18" charset="0"/>
                <a:ea typeface="宋体" charset="-122"/>
                <a:cs typeface="+mn-cs"/>
              </a:rPr>
              <a:t>地址：一个 </a:t>
            </a:r>
            <a:r>
              <a:rPr kumimoji="1" lang="en-US" altLang="zh-CN" sz="1200" b="0" i="0" kern="1200" dirty="0">
                <a:solidFill>
                  <a:schemeClr val="tx1"/>
                </a:solidFill>
                <a:effectLst/>
                <a:latin typeface="Times New Roman" pitchFamily="18" charset="0"/>
                <a:ea typeface="宋体" charset="-122"/>
                <a:cs typeface="+mn-cs"/>
              </a:rPr>
              <a:t>IPv4 </a:t>
            </a:r>
            <a:r>
              <a:rPr kumimoji="1" lang="zh-CN" altLang="en-US" sz="1200" b="0" i="0" kern="1200" dirty="0">
                <a:solidFill>
                  <a:schemeClr val="tx1"/>
                </a:solidFill>
                <a:effectLst/>
                <a:latin typeface="Times New Roman" pitchFamily="18" charset="0"/>
                <a:ea typeface="宋体" charset="-122"/>
                <a:cs typeface="+mn-cs"/>
              </a:rPr>
              <a:t>地址和一个 </a:t>
            </a:r>
            <a:r>
              <a:rPr kumimoji="1" lang="en-US" altLang="zh-CN" sz="1200" b="0" i="0" kern="1200" dirty="0">
                <a:solidFill>
                  <a:schemeClr val="tx1"/>
                </a:solidFill>
                <a:effectLst/>
                <a:latin typeface="Times New Roman" pitchFamily="18" charset="0"/>
                <a:ea typeface="宋体" charset="-122"/>
                <a:cs typeface="+mn-cs"/>
              </a:rPr>
              <a:t>IPv6 </a:t>
            </a:r>
            <a:r>
              <a:rPr kumimoji="1" lang="zh-CN" altLang="en-US" sz="1200" b="0" i="0" kern="1200" dirty="0">
                <a:solidFill>
                  <a:schemeClr val="tx1"/>
                </a:solidFill>
                <a:effectLst/>
                <a:latin typeface="Times New Roman" pitchFamily="18" charset="0"/>
                <a:ea typeface="宋体" charset="-122"/>
                <a:cs typeface="+mn-cs"/>
              </a:rPr>
              <a:t>地址。这 些 </a:t>
            </a:r>
            <a:r>
              <a:rPr kumimoji="1" lang="en-US" altLang="zh-CN" sz="1200" b="0" i="0" kern="1200" dirty="0">
                <a:solidFill>
                  <a:schemeClr val="tx1"/>
                </a:solidFill>
                <a:effectLst/>
                <a:latin typeface="Times New Roman" pitchFamily="18" charset="0"/>
                <a:ea typeface="宋体" charset="-122"/>
                <a:cs typeface="+mn-cs"/>
              </a:rPr>
              <a:t>IP </a:t>
            </a:r>
            <a:r>
              <a:rPr kumimoji="1" lang="zh-CN" altLang="en-US" sz="1200" b="0" i="0" kern="1200" dirty="0">
                <a:solidFill>
                  <a:schemeClr val="tx1"/>
                </a:solidFill>
                <a:effectLst/>
                <a:latin typeface="Times New Roman" pitchFamily="18" charset="0"/>
                <a:ea typeface="宋体" charset="-122"/>
                <a:cs typeface="+mn-cs"/>
              </a:rPr>
              <a:t>地址已预置在互联网上的所有解析器中，因此，这些解析器能够找到要提出查询的根服务。根服务每天会收到超过 </a:t>
            </a:r>
            <a:r>
              <a:rPr kumimoji="1" lang="en-US" altLang="zh-CN" sz="1200" b="0" i="0" kern="1200" dirty="0">
                <a:solidFill>
                  <a:schemeClr val="tx1"/>
                </a:solidFill>
                <a:effectLst/>
                <a:latin typeface="Times New Roman" pitchFamily="18" charset="0"/>
                <a:ea typeface="宋体" charset="-122"/>
                <a:cs typeface="+mn-cs"/>
              </a:rPr>
              <a:t>700 </a:t>
            </a:r>
            <a:r>
              <a:rPr kumimoji="1" lang="zh-CN" altLang="en-US" sz="1200" b="0" i="0" kern="1200" dirty="0">
                <a:solidFill>
                  <a:schemeClr val="tx1"/>
                </a:solidFill>
                <a:effectLst/>
                <a:latin typeface="Times New Roman" pitchFamily="18" charset="0"/>
                <a:ea typeface="宋体" charset="-122"/>
                <a:cs typeface="+mn-cs"/>
              </a:rPr>
              <a:t>亿次的海量查询。 </a:t>
            </a:r>
          </a:p>
          <a:p>
            <a:r>
              <a:rPr kumimoji="1" lang="zh-CN" altLang="en-US" sz="1200" b="0" i="0" kern="1200" dirty="0">
                <a:solidFill>
                  <a:schemeClr val="tx1"/>
                </a:solidFill>
                <a:effectLst/>
                <a:latin typeface="Times New Roman" pitchFamily="18" charset="0"/>
                <a:ea typeface="宋体" charset="-122"/>
                <a:cs typeface="+mn-cs"/>
              </a:rPr>
              <a:t/>
            </a:r>
            <a:br>
              <a:rPr kumimoji="1" lang="zh-CN" altLang="en-US" sz="1200" b="0" i="0" kern="1200" dirty="0">
                <a:solidFill>
                  <a:schemeClr val="tx1"/>
                </a:solidFill>
                <a:effectLst/>
                <a:latin typeface="Times New Roman" pitchFamily="18" charset="0"/>
                <a:ea typeface="宋体" charset="-122"/>
                <a:cs typeface="+mn-cs"/>
              </a:rPr>
            </a:br>
            <a:endParaRPr kumimoji="1" lang="zh-CN" altLang="en-US" sz="1200" b="0" i="0" kern="1200" dirty="0">
              <a:solidFill>
                <a:schemeClr val="tx1"/>
              </a:solidFill>
              <a:effectLst/>
              <a:latin typeface="Times New Roman" pitchFamily="18" charset="0"/>
              <a:ea typeface="宋体" charset="-122"/>
              <a:cs typeface="+mn-cs"/>
            </a:endParaRPr>
          </a:p>
          <a:p>
            <a:r>
              <a:rPr kumimoji="1" lang="zh-CN" altLang="en-US" sz="1200" b="0" i="0" kern="1200" dirty="0">
                <a:solidFill>
                  <a:schemeClr val="tx1"/>
                </a:solidFill>
                <a:effectLst/>
                <a:latin typeface="Times New Roman" pitchFamily="18" charset="0"/>
                <a:ea typeface="宋体" charset="-122"/>
                <a:cs typeface="+mn-cs"/>
              </a:rPr>
              <a:t>这</a:t>
            </a:r>
            <a:r>
              <a:rPr kumimoji="1" lang="en-US" altLang="zh-CN" sz="1200" b="0" i="0" kern="1200" dirty="0">
                <a:solidFill>
                  <a:schemeClr val="tx1"/>
                </a:solidFill>
                <a:effectLst/>
                <a:latin typeface="Times New Roman" pitchFamily="18" charset="0"/>
                <a:ea typeface="宋体" charset="-122"/>
                <a:cs typeface="+mn-cs"/>
              </a:rPr>
              <a:t>13</a:t>
            </a:r>
            <a:r>
              <a:rPr kumimoji="1" lang="zh-CN" altLang="en-US" sz="1200" b="0" i="0" kern="1200" dirty="0">
                <a:solidFill>
                  <a:schemeClr val="tx1"/>
                </a:solidFill>
                <a:effectLst/>
                <a:latin typeface="Times New Roman" pitchFamily="18" charset="0"/>
                <a:ea typeface="宋体" charset="-122"/>
                <a:cs typeface="+mn-cs"/>
              </a:rPr>
              <a:t>个根服务会对它们收到的查询作出以下响应：或者返回在根区（</a:t>
            </a:r>
            <a:r>
              <a:rPr kumimoji="1" lang="en-US" altLang="zh-CN" sz="1200" b="0" i="0" kern="1200" dirty="0">
                <a:solidFill>
                  <a:schemeClr val="tx1"/>
                </a:solidFill>
                <a:effectLst/>
                <a:latin typeface="Times New Roman" pitchFamily="18" charset="0"/>
                <a:ea typeface="宋体" charset="-122"/>
                <a:cs typeface="+mn-cs"/>
              </a:rPr>
              <a:t>root zone</a:t>
            </a:r>
            <a:r>
              <a:rPr kumimoji="1" lang="zh-CN" altLang="en-US" sz="1200" b="0" i="0" kern="1200" dirty="0">
                <a:solidFill>
                  <a:schemeClr val="tx1"/>
                </a:solidFill>
                <a:effectLst/>
                <a:latin typeface="Times New Roman" pitchFamily="18" charset="0"/>
                <a:ea typeface="宋体" charset="-122"/>
                <a:cs typeface="+mn-cs"/>
              </a:rPr>
              <a:t>，由 </a:t>
            </a:r>
            <a:r>
              <a:rPr kumimoji="1" lang="en-US" altLang="zh-CN" sz="1200" b="0" i="0" kern="1200" dirty="0">
                <a:solidFill>
                  <a:schemeClr val="tx1"/>
                </a:solidFill>
                <a:effectLst/>
                <a:latin typeface="Times New Roman" pitchFamily="18" charset="0"/>
                <a:ea typeface="宋体" charset="-122"/>
                <a:cs typeface="+mn-cs"/>
              </a:rPr>
              <a:t>ICANN </a:t>
            </a:r>
            <a:r>
              <a:rPr kumimoji="1" lang="zh-CN" altLang="en-US" sz="1200" b="0" i="0" kern="1200" dirty="0">
                <a:solidFill>
                  <a:schemeClr val="tx1"/>
                </a:solidFill>
                <a:effectLst/>
                <a:latin typeface="Times New Roman" pitchFamily="18" charset="0"/>
                <a:ea typeface="宋体" charset="-122"/>
                <a:cs typeface="+mn-cs"/>
              </a:rPr>
              <a:t>运营的 </a:t>
            </a:r>
            <a:r>
              <a:rPr kumimoji="1" lang="en-US" altLang="zh-CN" sz="1200" b="0" i="0" kern="1200" dirty="0">
                <a:solidFill>
                  <a:schemeClr val="tx1"/>
                </a:solidFill>
                <a:effectLst/>
                <a:latin typeface="Times New Roman" pitchFamily="18" charset="0"/>
                <a:ea typeface="宋体" charset="-122"/>
                <a:cs typeface="+mn-cs"/>
              </a:rPr>
              <a:t>IANA </a:t>
            </a:r>
            <a:r>
              <a:rPr kumimoji="1" lang="zh-CN" altLang="en-US" sz="1200" b="0" i="0" kern="1200" dirty="0">
                <a:solidFill>
                  <a:schemeClr val="tx1"/>
                </a:solidFill>
                <a:effectLst/>
                <a:latin typeface="Times New Roman" pitchFamily="18" charset="0"/>
                <a:ea typeface="宋体" charset="-122"/>
                <a:cs typeface="+mn-cs"/>
              </a:rPr>
              <a:t>职能负责管理）中找到的信息；或者当被查询的 </a:t>
            </a:r>
            <a:r>
              <a:rPr kumimoji="1" lang="en-US" altLang="zh-CN" sz="1200" b="0" i="0" kern="1200" dirty="0">
                <a:solidFill>
                  <a:schemeClr val="tx1"/>
                </a:solidFill>
                <a:effectLst/>
                <a:latin typeface="Times New Roman" pitchFamily="18" charset="0"/>
                <a:ea typeface="宋体" charset="-122"/>
                <a:cs typeface="+mn-cs"/>
              </a:rPr>
              <a:t>TLD </a:t>
            </a:r>
            <a:r>
              <a:rPr kumimoji="1" lang="zh-CN" altLang="en-US" sz="1200" b="0" i="0" kern="1200" dirty="0">
                <a:solidFill>
                  <a:schemeClr val="tx1"/>
                </a:solidFill>
                <a:effectLst/>
                <a:latin typeface="Times New Roman" pitchFamily="18" charset="0"/>
                <a:ea typeface="宋体" charset="-122"/>
                <a:cs typeface="+mn-cs"/>
              </a:rPr>
              <a:t>没有被授权时，会显示一条消息表明该域名不存在。</a:t>
            </a:r>
            <a:r>
              <a:rPr kumimoji="1" lang="zh-CN" altLang="en-US" sz="1200" b="1" i="0" kern="1200" dirty="0">
                <a:solidFill>
                  <a:schemeClr val="tx1"/>
                </a:solidFill>
                <a:effectLst/>
                <a:latin typeface="Times New Roman" pitchFamily="18" charset="0"/>
                <a:ea typeface="宋体" charset="-122"/>
                <a:cs typeface="+mn-cs"/>
              </a:rPr>
              <a:t>此信息受 </a:t>
            </a:r>
            <a:r>
              <a:rPr kumimoji="1" lang="en-US" altLang="zh-CN" sz="1200" b="1" i="0" kern="1200" dirty="0">
                <a:solidFill>
                  <a:schemeClr val="tx1"/>
                </a:solidFill>
                <a:effectLst/>
                <a:latin typeface="Times New Roman" pitchFamily="18" charset="0"/>
                <a:ea typeface="宋体" charset="-122"/>
                <a:cs typeface="+mn-cs"/>
              </a:rPr>
              <a:t>DNSSEC </a:t>
            </a:r>
            <a:r>
              <a:rPr kumimoji="1" lang="zh-CN" altLang="en-US" sz="1200" b="1" i="0" kern="1200" dirty="0">
                <a:solidFill>
                  <a:schemeClr val="tx1"/>
                </a:solidFill>
                <a:effectLst/>
                <a:latin typeface="Times New Roman" pitchFamily="18" charset="0"/>
                <a:ea typeface="宋体" charset="-122"/>
                <a:cs typeface="+mn-cs"/>
              </a:rPr>
              <a:t>保护：任何人对数据进行任何修改都会导致启用了 </a:t>
            </a:r>
            <a:r>
              <a:rPr kumimoji="1" lang="en-US" altLang="zh-CN" sz="1200" b="1" i="0" kern="1200" dirty="0">
                <a:solidFill>
                  <a:schemeClr val="tx1"/>
                </a:solidFill>
                <a:effectLst/>
                <a:latin typeface="Times New Roman" pitchFamily="18" charset="0"/>
                <a:ea typeface="宋体" charset="-122"/>
                <a:cs typeface="+mn-cs"/>
              </a:rPr>
              <a:t>DNSSEC </a:t>
            </a:r>
            <a:r>
              <a:rPr kumimoji="1" lang="zh-CN" altLang="en-US" sz="1200" b="1" i="0" kern="1200" dirty="0">
                <a:solidFill>
                  <a:schemeClr val="tx1"/>
                </a:solidFill>
                <a:effectLst/>
                <a:latin typeface="Times New Roman" pitchFamily="18" charset="0"/>
                <a:ea typeface="宋体" charset="-122"/>
                <a:cs typeface="+mn-cs"/>
              </a:rPr>
              <a:t>的解析器忽略响应，从而防止根区被修改或出现试图在响应中插入不真实信息的攻击。</a:t>
            </a:r>
            <a:r>
              <a:rPr kumimoji="1" lang="zh-CN" altLang="en-US" sz="1200" b="0" i="0" kern="1200" dirty="0">
                <a:solidFill>
                  <a:schemeClr val="tx1"/>
                </a:solidFill>
                <a:effectLst/>
                <a:latin typeface="Times New Roman" pitchFamily="18" charset="0"/>
                <a:ea typeface="宋体" charset="-122"/>
                <a:cs typeface="+mn-cs"/>
              </a:rPr>
              <a:t> </a:t>
            </a:r>
          </a:p>
          <a:p>
            <a:r>
              <a:rPr kumimoji="1" lang="zh-CN" altLang="en-US" sz="1200" b="0" i="0" kern="1200" dirty="0">
                <a:solidFill>
                  <a:schemeClr val="tx1"/>
                </a:solidFill>
                <a:effectLst/>
                <a:latin typeface="Times New Roman" pitchFamily="18" charset="0"/>
                <a:ea typeface="宋体" charset="-122"/>
                <a:cs typeface="+mn-cs"/>
              </a:rPr>
              <a:t/>
            </a:r>
            <a:br>
              <a:rPr kumimoji="1" lang="zh-CN" altLang="en-US" sz="1200" b="0" i="0" kern="1200" dirty="0">
                <a:solidFill>
                  <a:schemeClr val="tx1"/>
                </a:solidFill>
                <a:effectLst/>
                <a:latin typeface="Times New Roman" pitchFamily="18" charset="0"/>
                <a:ea typeface="宋体" charset="-122"/>
                <a:cs typeface="+mn-cs"/>
              </a:rPr>
            </a:br>
            <a:endParaRPr kumimoji="1" lang="zh-CN" altLang="en-US" sz="1200" b="0" i="0" kern="1200" dirty="0">
              <a:solidFill>
                <a:schemeClr val="tx1"/>
              </a:solidFill>
              <a:effectLst/>
              <a:latin typeface="Times New Roman" pitchFamily="18" charset="0"/>
              <a:ea typeface="宋体" charset="-122"/>
              <a:cs typeface="+mn-cs"/>
            </a:endParaRPr>
          </a:p>
          <a:p>
            <a:r>
              <a:rPr kumimoji="1" lang="zh-CN" altLang="en-US" sz="1200" b="0" i="0" kern="1200" dirty="0">
                <a:solidFill>
                  <a:schemeClr val="tx1"/>
                </a:solidFill>
                <a:effectLst/>
                <a:latin typeface="Times New Roman" pitchFamily="18" charset="0"/>
                <a:ea typeface="宋体" charset="-122"/>
                <a:cs typeface="+mn-cs"/>
              </a:rPr>
              <a:t>根服务器系统必须具有弹性，因为该系统必须能够对大量连续的查询请求做出响应，同时，还要确保能够抵御各种网络攻击。根服务器运营商通过使用一种名为“</a:t>
            </a:r>
            <a:r>
              <a:rPr kumimoji="1" lang="zh-CN" altLang="en-US" sz="1200" b="1" i="0" kern="1200" dirty="0">
                <a:solidFill>
                  <a:schemeClr val="tx1"/>
                </a:solidFill>
                <a:effectLst/>
                <a:latin typeface="Times New Roman" pitchFamily="18" charset="0"/>
                <a:ea typeface="宋体" charset="-122"/>
                <a:cs typeface="+mn-cs"/>
              </a:rPr>
              <a:t>任播”（</a:t>
            </a:r>
            <a:r>
              <a:rPr kumimoji="1" lang="en-US" altLang="zh-CN" sz="1200" b="1" i="0" kern="1200" dirty="0" err="1">
                <a:solidFill>
                  <a:schemeClr val="tx1"/>
                </a:solidFill>
                <a:effectLst/>
                <a:latin typeface="Times New Roman" pitchFamily="18" charset="0"/>
                <a:ea typeface="宋体" charset="-122"/>
                <a:cs typeface="+mn-cs"/>
              </a:rPr>
              <a:t>anycast</a:t>
            </a:r>
            <a:r>
              <a:rPr kumimoji="1" lang="zh-CN" altLang="en-US" sz="1200" b="1" i="0" kern="1200" dirty="0">
                <a:solidFill>
                  <a:schemeClr val="tx1"/>
                </a:solidFill>
                <a:effectLst/>
                <a:latin typeface="Times New Roman" pitchFamily="18" charset="0"/>
                <a:ea typeface="宋体" charset="-122"/>
                <a:cs typeface="+mn-cs"/>
              </a:rPr>
              <a:t>）</a:t>
            </a:r>
            <a:r>
              <a:rPr kumimoji="1" lang="zh-CN" altLang="en-US" sz="1200" b="0" i="0" kern="1200" dirty="0">
                <a:solidFill>
                  <a:schemeClr val="tx1"/>
                </a:solidFill>
                <a:effectLst/>
                <a:latin typeface="Times New Roman" pitchFamily="18" charset="0"/>
                <a:ea typeface="宋体" charset="-122"/>
                <a:cs typeface="+mn-cs"/>
              </a:rPr>
              <a:t>的路由技术在全球范围内分布根服务器节点，从而满足了这种弹性要求。任播路由允许整个互联网上的计算机使用相同的 </a:t>
            </a:r>
            <a:r>
              <a:rPr kumimoji="1" lang="en-US" altLang="zh-CN" sz="1200" b="0" i="0" kern="1200" dirty="0">
                <a:solidFill>
                  <a:schemeClr val="tx1"/>
                </a:solidFill>
                <a:effectLst/>
                <a:latin typeface="Times New Roman" pitchFamily="18" charset="0"/>
                <a:ea typeface="宋体" charset="-122"/>
                <a:cs typeface="+mn-cs"/>
              </a:rPr>
              <a:t>IP </a:t>
            </a:r>
            <a:r>
              <a:rPr kumimoji="1" lang="zh-CN" altLang="en-US" sz="1200" b="0" i="0" kern="1200" dirty="0">
                <a:solidFill>
                  <a:schemeClr val="tx1"/>
                </a:solidFill>
                <a:effectLst/>
                <a:latin typeface="Times New Roman" pitchFamily="18" charset="0"/>
                <a:ea typeface="宋体" charset="-122"/>
                <a:cs typeface="+mn-cs"/>
              </a:rPr>
              <a:t>地址来提供相同的响应，从而能够在数百个不同的城市和国家</a:t>
            </a:r>
            <a:r>
              <a:rPr kumimoji="1" lang="en-US" altLang="zh-CN" sz="1200" b="0" i="0" kern="1200" dirty="0">
                <a:solidFill>
                  <a:schemeClr val="tx1"/>
                </a:solidFill>
                <a:effectLst/>
                <a:latin typeface="Times New Roman" pitchFamily="18" charset="0"/>
                <a:ea typeface="宋体" charset="-122"/>
                <a:cs typeface="+mn-cs"/>
              </a:rPr>
              <a:t>/</a:t>
            </a:r>
            <a:r>
              <a:rPr kumimoji="1" lang="zh-CN" altLang="en-US" sz="1200" b="0" i="0" kern="1200" dirty="0">
                <a:solidFill>
                  <a:schemeClr val="tx1"/>
                </a:solidFill>
                <a:effectLst/>
                <a:latin typeface="Times New Roman" pitchFamily="18" charset="0"/>
                <a:ea typeface="宋体" charset="-122"/>
                <a:cs typeface="+mn-cs"/>
              </a:rPr>
              <a:t>地区部署根服务器节点。如今，全世界范围内已广泛部署大量根服务器节点，因此，根服务器系统已极具弹性。有关根服务器节点分布情况的更多信息，请访问 </a:t>
            </a:r>
            <a:r>
              <a:rPr kumimoji="1" lang="en-US" altLang="zh-CN" sz="1200" b="0" i="0" kern="1200" dirty="0">
                <a:solidFill>
                  <a:schemeClr val="tx1"/>
                </a:solidFill>
                <a:effectLst/>
                <a:latin typeface="Times New Roman" pitchFamily="18" charset="0"/>
                <a:ea typeface="宋体" charset="-122"/>
                <a:cs typeface="+mn-cs"/>
              </a:rPr>
              <a:t>https://root-servers.org</a:t>
            </a:r>
            <a:r>
              <a:rPr kumimoji="1" lang="zh-CN" altLang="en-US" sz="1200" b="0" i="0" kern="1200" dirty="0">
                <a:solidFill>
                  <a:schemeClr val="tx1"/>
                </a:solidFill>
                <a:effectLst/>
                <a:latin typeface="Times New Roman" pitchFamily="18" charset="0"/>
                <a:ea typeface="宋体" charset="-122"/>
                <a:cs typeface="+mn-cs"/>
              </a:rPr>
              <a:t>。</a:t>
            </a:r>
          </a:p>
          <a:p>
            <a:r>
              <a:rPr kumimoji="1" lang="zh-CN" altLang="en-US" sz="1200" b="0" i="0" kern="1200" dirty="0">
                <a:solidFill>
                  <a:schemeClr val="tx1"/>
                </a:solidFill>
                <a:effectLst/>
                <a:latin typeface="Times New Roman" pitchFamily="18" charset="0"/>
                <a:ea typeface="宋体" charset="-122"/>
                <a:cs typeface="+mn-cs"/>
              </a:rPr>
              <a:t/>
            </a:r>
            <a:br>
              <a:rPr kumimoji="1" lang="zh-CN" altLang="en-US" sz="1200" b="0" i="0" kern="1200" dirty="0">
                <a:solidFill>
                  <a:schemeClr val="tx1"/>
                </a:solidFill>
                <a:effectLst/>
                <a:latin typeface="Times New Roman" pitchFamily="18" charset="0"/>
                <a:ea typeface="宋体" charset="-122"/>
                <a:cs typeface="+mn-cs"/>
              </a:rPr>
            </a:br>
            <a:endParaRPr kumimoji="1" lang="zh-CN" altLang="en-US" sz="1200" b="0" i="0" kern="1200" dirty="0">
              <a:solidFill>
                <a:schemeClr val="tx1"/>
              </a:solidFill>
              <a:effectLst/>
              <a:latin typeface="Times New Roman" pitchFamily="18" charset="0"/>
              <a:ea typeface="宋体" charset="-122"/>
              <a:cs typeface="+mn-cs"/>
            </a:endParaRPr>
          </a:p>
          <a:p>
            <a:r>
              <a:rPr kumimoji="1" lang="zh-CN" altLang="en-US" sz="1200" b="0" i="0" kern="1200" dirty="0">
                <a:solidFill>
                  <a:schemeClr val="tx1"/>
                </a:solidFill>
                <a:effectLst/>
                <a:latin typeface="Times New Roman" pitchFamily="18" charset="0"/>
                <a:ea typeface="宋体" charset="-122"/>
                <a:cs typeface="+mn-cs"/>
              </a:rPr>
              <a:t>注</a:t>
            </a:r>
            <a:r>
              <a:rPr kumimoji="1" lang="en-US" altLang="zh-CN" sz="1200" b="0" i="0" kern="1200" dirty="0">
                <a:solidFill>
                  <a:schemeClr val="tx1"/>
                </a:solidFill>
                <a:effectLst/>
                <a:latin typeface="Times New Roman" pitchFamily="18" charset="0"/>
                <a:ea typeface="宋体" charset="-122"/>
                <a:cs typeface="+mn-cs"/>
              </a:rPr>
              <a:t>4</a:t>
            </a:r>
            <a:r>
              <a:rPr kumimoji="1" lang="zh-CN" altLang="en-US" sz="1200" b="0" i="0" kern="1200" dirty="0">
                <a:solidFill>
                  <a:schemeClr val="tx1"/>
                </a:solidFill>
                <a:effectLst/>
                <a:latin typeface="Times New Roman" pitchFamily="18" charset="0"/>
                <a:ea typeface="宋体" charset="-122"/>
                <a:cs typeface="+mn-cs"/>
              </a:rPr>
              <a:t> 一些网络运营商利用</a:t>
            </a:r>
            <a:r>
              <a:rPr kumimoji="1" lang="en-US" altLang="zh-CN" sz="1200" b="0" i="0" kern="1200" dirty="0">
                <a:solidFill>
                  <a:schemeClr val="tx1"/>
                </a:solidFill>
                <a:effectLst/>
                <a:latin typeface="Times New Roman" pitchFamily="18" charset="0"/>
                <a:ea typeface="宋体" charset="-122"/>
                <a:cs typeface="+mn-cs"/>
              </a:rPr>
              <a:t>RFC 7706 (https://tools.ietf.org/html/rfc7706) </a:t>
            </a:r>
            <a:r>
              <a:rPr kumimoji="1" lang="zh-CN" altLang="en-US" sz="1200" b="0" i="0" kern="1200" dirty="0">
                <a:solidFill>
                  <a:schemeClr val="tx1"/>
                </a:solidFill>
                <a:effectLst/>
                <a:latin typeface="Times New Roman" pitchFamily="18" charset="0"/>
                <a:ea typeface="宋体" charset="-122"/>
                <a:cs typeface="+mn-cs"/>
              </a:rPr>
              <a:t>中记录的技术或类似技术创建根区文件的本地副本，这样他们的解析器就不需要向根服务器发送查询。然而，这类技术并未得到广泛应用，本文档未涵盖相关内容。 </a:t>
            </a:r>
          </a:p>
          <a:p>
            <a:r>
              <a:rPr kumimoji="1" lang="zh-CN" altLang="en-US" sz="1200" b="0" i="0" kern="1200" dirty="0">
                <a:solidFill>
                  <a:schemeClr val="tx1"/>
                </a:solidFill>
                <a:effectLst/>
                <a:latin typeface="Times New Roman" pitchFamily="18" charset="0"/>
                <a:ea typeface="宋体" charset="-122"/>
                <a:cs typeface="+mn-cs"/>
              </a:rPr>
              <a:t>注</a:t>
            </a:r>
            <a:r>
              <a:rPr kumimoji="1" lang="en-US" altLang="zh-CN" sz="1200" b="0" i="0" kern="1200" dirty="0">
                <a:solidFill>
                  <a:schemeClr val="tx1"/>
                </a:solidFill>
                <a:effectLst/>
                <a:latin typeface="Times New Roman" pitchFamily="18" charset="0"/>
                <a:ea typeface="宋体" charset="-122"/>
                <a:cs typeface="+mn-cs"/>
              </a:rPr>
              <a:t>5</a:t>
            </a:r>
            <a:r>
              <a:rPr kumimoji="1" lang="zh-CN" altLang="en-US" sz="1200" b="0" i="0" kern="1200" dirty="0">
                <a:solidFill>
                  <a:schemeClr val="tx1"/>
                </a:solidFill>
                <a:effectLst/>
                <a:latin typeface="Times New Roman" pitchFamily="18" charset="0"/>
                <a:ea typeface="宋体" charset="-122"/>
                <a:cs typeface="+mn-cs"/>
              </a:rPr>
              <a:t>（主要）由于历史原因，一个组织负责管理两个标识。</a:t>
            </a:r>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112</a:t>
            </a:fld>
            <a:endParaRPr lang="en-US" altLang="zh-CN"/>
          </a:p>
        </p:txBody>
      </p:sp>
    </p:spTree>
    <p:extLst>
      <p:ext uri="{BB962C8B-B14F-4D97-AF65-F5344CB8AC3E}">
        <p14:creationId xmlns:p14="http://schemas.microsoft.com/office/powerpoint/2010/main" val="152791212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zh-CN" sz="1200" b="0" i="0" kern="1200" dirty="0">
                <a:solidFill>
                  <a:schemeClr val="tx1"/>
                </a:solidFill>
                <a:effectLst/>
                <a:latin typeface="Times New Roman" pitchFamily="18" charset="0"/>
                <a:ea typeface="宋体" charset="-122"/>
                <a:cs typeface="+mn-cs"/>
              </a:rPr>
              <a:t>ICANN CTO: </a:t>
            </a:r>
            <a:r>
              <a:rPr kumimoji="1" lang="zh-CN" altLang="en-US" sz="1200" b="0" i="0" kern="1200" dirty="0">
                <a:solidFill>
                  <a:schemeClr val="tx1"/>
                </a:solidFill>
                <a:effectLst/>
                <a:latin typeface="Times New Roman" pitchFamily="18" charset="0"/>
                <a:ea typeface="宋体" charset="-122"/>
                <a:cs typeface="+mn-cs"/>
              </a:rPr>
              <a:t>域名根服务器系统概述 </a:t>
            </a:r>
            <a:r>
              <a:rPr kumimoji="1" lang="en-US" altLang="zh-CN" sz="1200" b="0" i="0" kern="1200" dirty="0">
                <a:solidFill>
                  <a:schemeClr val="tx1"/>
                </a:solidFill>
                <a:effectLst/>
                <a:latin typeface="Times New Roman" pitchFamily="18" charset="0"/>
                <a:ea typeface="宋体" charset="-122"/>
                <a:cs typeface="+mn-cs"/>
              </a:rPr>
              <a:t>2020.6</a:t>
            </a:r>
            <a:endParaRPr kumimoji="1" lang="zh-CN" altLang="en-US" sz="1200" b="0" i="0" kern="1200" dirty="0">
              <a:solidFill>
                <a:schemeClr val="tx1"/>
              </a:solidFill>
              <a:effectLst/>
              <a:latin typeface="Times New Roman" pitchFamily="18" charset="0"/>
              <a:ea typeface="宋体" charset="-122"/>
              <a:cs typeface="+mn-cs"/>
            </a:endParaRPr>
          </a:p>
          <a:p>
            <a:r>
              <a:rPr lang="en-US" altLang="zh-CN" dirty="0">
                <a:hlinkClick r:id="rId3"/>
              </a:rPr>
              <a:t>https://mp.weixin.qq.com/s/XCEQzYJ_qUOAdwlOQ_UrIA</a:t>
            </a:r>
            <a:endParaRPr lang="en-US" altLang="zh-CN" dirty="0"/>
          </a:p>
          <a:p>
            <a:endParaRPr kumimoji="1" lang="en-US" altLang="zh-CN" sz="1200" b="0" i="0" kern="1200" dirty="0">
              <a:solidFill>
                <a:schemeClr val="tx1"/>
              </a:solidFill>
              <a:effectLst/>
              <a:latin typeface="Times New Roman" pitchFamily="18" charset="0"/>
              <a:ea typeface="宋体" charset="-122"/>
              <a:cs typeface="+mn-cs"/>
            </a:endParaRPr>
          </a:p>
          <a:p>
            <a:r>
              <a:rPr kumimoji="1" lang="zh-CN" altLang="en-US" sz="1200" b="0" i="0" kern="1200" dirty="0">
                <a:solidFill>
                  <a:schemeClr val="tx1"/>
                </a:solidFill>
                <a:effectLst/>
                <a:latin typeface="Times New Roman" pitchFamily="18" charset="0"/>
                <a:ea typeface="宋体" charset="-122"/>
                <a:cs typeface="+mn-cs"/>
              </a:rPr>
              <a:t>综上所述，根服务器的作用（主要作用是对解析过程中的第一步做出响应）非常有限。尽管如此，根服务器对互联网的正常运营仍然至关重要。如果不能获得根服务器提供的初始“引荐”响应，就不可能在互联网上查找任何域名</a:t>
            </a:r>
            <a:r>
              <a:rPr kumimoji="1" lang="en-US" altLang="zh-CN" sz="1200" b="0" i="0" kern="1200" dirty="0">
                <a:solidFill>
                  <a:schemeClr val="tx1"/>
                </a:solidFill>
                <a:effectLst/>
                <a:latin typeface="Times New Roman" pitchFamily="18" charset="0"/>
                <a:ea typeface="宋体" charset="-122"/>
                <a:cs typeface="+mn-cs"/>
              </a:rPr>
              <a:t>【</a:t>
            </a:r>
            <a:r>
              <a:rPr kumimoji="1" lang="zh-CN" altLang="en-US" sz="1200" b="0" i="0" kern="1200" dirty="0">
                <a:solidFill>
                  <a:schemeClr val="tx1"/>
                </a:solidFill>
                <a:effectLst/>
                <a:latin typeface="Times New Roman" pitchFamily="18" charset="0"/>
                <a:ea typeface="宋体" charset="-122"/>
                <a:cs typeface="+mn-cs"/>
              </a:rPr>
              <a:t>注释</a:t>
            </a:r>
            <a:r>
              <a:rPr kumimoji="1" lang="en-US" altLang="zh-CN" sz="1200" b="0" i="0" kern="1200" dirty="0">
                <a:solidFill>
                  <a:schemeClr val="tx1"/>
                </a:solidFill>
                <a:effectLst/>
                <a:latin typeface="Times New Roman" pitchFamily="18" charset="0"/>
                <a:ea typeface="宋体" charset="-122"/>
                <a:cs typeface="+mn-cs"/>
              </a:rPr>
              <a:t>4】</a:t>
            </a:r>
            <a:r>
              <a:rPr kumimoji="1" lang="zh-CN" altLang="en-US" sz="1200" b="0" i="0" kern="1200" dirty="0">
                <a:solidFill>
                  <a:schemeClr val="tx1"/>
                </a:solidFill>
                <a:effectLst/>
                <a:latin typeface="Times New Roman" pitchFamily="18" charset="0"/>
                <a:ea typeface="宋体" charset="-122"/>
                <a:cs typeface="+mn-cs"/>
              </a:rPr>
              <a:t>。</a:t>
            </a:r>
            <a:br>
              <a:rPr kumimoji="1" lang="zh-CN" altLang="en-US" sz="1200" b="0" i="0" kern="1200" dirty="0">
                <a:solidFill>
                  <a:schemeClr val="tx1"/>
                </a:solidFill>
                <a:effectLst/>
                <a:latin typeface="Times New Roman" pitchFamily="18" charset="0"/>
                <a:ea typeface="宋体" charset="-122"/>
                <a:cs typeface="+mn-cs"/>
              </a:rPr>
            </a:br>
            <a:endParaRPr kumimoji="1" lang="zh-CN" altLang="en-US" sz="1200" b="0" i="0" kern="1200" dirty="0">
              <a:solidFill>
                <a:schemeClr val="tx1"/>
              </a:solidFill>
              <a:effectLst/>
              <a:latin typeface="Times New Roman" pitchFamily="18" charset="0"/>
              <a:ea typeface="宋体" charset="-122"/>
              <a:cs typeface="+mn-cs"/>
            </a:endParaRPr>
          </a:p>
          <a:p>
            <a:r>
              <a:rPr kumimoji="1" lang="zh-CN" altLang="en-US" sz="1200" b="0" i="0" kern="1200" dirty="0">
                <a:solidFill>
                  <a:schemeClr val="tx1"/>
                </a:solidFill>
                <a:effectLst/>
                <a:latin typeface="Times New Roman" pitchFamily="18" charset="0"/>
                <a:ea typeface="宋体" charset="-122"/>
                <a:cs typeface="+mn-cs"/>
              </a:rPr>
              <a:t>根服务器系统（</a:t>
            </a:r>
            <a:r>
              <a:rPr kumimoji="1" lang="en-US" altLang="zh-CN" sz="1200" b="0" i="0" kern="1200" dirty="0">
                <a:solidFill>
                  <a:schemeClr val="tx1"/>
                </a:solidFill>
                <a:effectLst/>
                <a:latin typeface="Times New Roman" pitchFamily="18" charset="0"/>
                <a:ea typeface="宋体" charset="-122"/>
                <a:cs typeface="+mn-cs"/>
              </a:rPr>
              <a:t>root server system</a:t>
            </a:r>
            <a:r>
              <a:rPr kumimoji="1" lang="zh-CN" altLang="en-US" sz="1200" b="0" i="0" kern="1200" dirty="0">
                <a:solidFill>
                  <a:schemeClr val="tx1"/>
                </a:solidFill>
                <a:effectLst/>
                <a:latin typeface="Times New Roman" pitchFamily="18" charset="0"/>
                <a:ea typeface="宋体" charset="-122"/>
                <a:cs typeface="+mn-cs"/>
              </a:rPr>
              <a:t>）由 </a:t>
            </a:r>
            <a:r>
              <a:rPr kumimoji="1" lang="en-US" altLang="zh-CN" sz="1200" b="0" i="0" kern="1200" dirty="0">
                <a:solidFill>
                  <a:schemeClr val="tx1"/>
                </a:solidFill>
                <a:effectLst/>
                <a:latin typeface="Times New Roman" pitchFamily="18" charset="0"/>
                <a:ea typeface="宋体" charset="-122"/>
                <a:cs typeface="+mn-cs"/>
              </a:rPr>
              <a:t>1000 </a:t>
            </a:r>
            <a:r>
              <a:rPr kumimoji="1" lang="zh-CN" altLang="en-US" sz="1200" b="0" i="0" kern="1200" dirty="0">
                <a:solidFill>
                  <a:schemeClr val="tx1"/>
                </a:solidFill>
                <a:effectLst/>
                <a:latin typeface="Times New Roman" pitchFamily="18" charset="0"/>
                <a:ea typeface="宋体" charset="-122"/>
                <a:cs typeface="+mn-cs"/>
              </a:rPr>
              <a:t>多台单独的计算机（称为</a:t>
            </a:r>
            <a:r>
              <a:rPr kumimoji="1" lang="zh-CN" altLang="en-US" sz="1200" b="1" i="0" kern="1200" dirty="0">
                <a:solidFill>
                  <a:schemeClr val="tx1"/>
                </a:solidFill>
                <a:effectLst/>
                <a:latin typeface="Times New Roman" pitchFamily="18" charset="0"/>
                <a:ea typeface="宋体" charset="-122"/>
                <a:cs typeface="+mn-cs"/>
              </a:rPr>
              <a:t>根服务器“节点”</a:t>
            </a:r>
            <a:r>
              <a:rPr kumimoji="1" lang="en-US" altLang="zh-CN" sz="1200" b="1" i="0" kern="1200" dirty="0">
                <a:solidFill>
                  <a:schemeClr val="tx1"/>
                </a:solidFill>
                <a:effectLst/>
                <a:latin typeface="Times New Roman" pitchFamily="18" charset="0"/>
                <a:ea typeface="宋体" charset="-122"/>
                <a:cs typeface="+mn-cs"/>
              </a:rPr>
              <a:t>【instance】</a:t>
            </a:r>
            <a:r>
              <a:rPr kumimoji="1" lang="zh-CN" altLang="en-US" sz="1200" b="0" i="0" kern="1200" dirty="0">
                <a:solidFill>
                  <a:schemeClr val="tx1"/>
                </a:solidFill>
                <a:effectLst/>
                <a:latin typeface="Times New Roman" pitchFamily="18" charset="0"/>
                <a:ea typeface="宋体" charset="-122"/>
                <a:cs typeface="+mn-cs"/>
              </a:rPr>
              <a:t>）组成，这些计算机会保留 </a:t>
            </a:r>
            <a:r>
              <a:rPr kumimoji="1" lang="en-US" altLang="zh-CN" sz="1200" b="0" i="0" kern="1200" dirty="0">
                <a:solidFill>
                  <a:schemeClr val="tx1"/>
                </a:solidFill>
                <a:effectLst/>
                <a:latin typeface="Times New Roman" pitchFamily="18" charset="0"/>
                <a:ea typeface="宋体" charset="-122"/>
                <a:cs typeface="+mn-cs"/>
              </a:rPr>
              <a:t>DNS </a:t>
            </a:r>
            <a:r>
              <a:rPr kumimoji="1" lang="zh-CN" altLang="en-US" sz="1200" b="0" i="0" kern="1200" dirty="0">
                <a:solidFill>
                  <a:schemeClr val="tx1"/>
                </a:solidFill>
                <a:effectLst/>
                <a:latin typeface="Times New Roman" pitchFamily="18" charset="0"/>
                <a:ea typeface="宋体" charset="-122"/>
                <a:cs typeface="+mn-cs"/>
              </a:rPr>
              <a:t>的根数据。如前所述，这些节点通过引荐顶级域的名称服务器来响应来自互联网解析器的查询。</a:t>
            </a:r>
          </a:p>
          <a:p>
            <a:r>
              <a:rPr kumimoji="1" lang="zh-CN" altLang="en-US" sz="1200" b="0" i="0" kern="1200" dirty="0">
                <a:solidFill>
                  <a:schemeClr val="tx1"/>
                </a:solidFill>
                <a:effectLst/>
                <a:latin typeface="Times New Roman" pitchFamily="18" charset="0"/>
                <a:ea typeface="宋体" charset="-122"/>
                <a:cs typeface="+mn-cs"/>
              </a:rPr>
              <a:t/>
            </a:r>
            <a:br>
              <a:rPr kumimoji="1" lang="zh-CN" altLang="en-US" sz="1200" b="0" i="0" kern="1200" dirty="0">
                <a:solidFill>
                  <a:schemeClr val="tx1"/>
                </a:solidFill>
                <a:effectLst/>
                <a:latin typeface="Times New Roman" pitchFamily="18" charset="0"/>
                <a:ea typeface="宋体" charset="-122"/>
                <a:cs typeface="+mn-cs"/>
              </a:rPr>
            </a:br>
            <a:r>
              <a:rPr kumimoji="1" lang="zh-CN" altLang="en-US" sz="1200" b="0" i="0" kern="1200" dirty="0">
                <a:solidFill>
                  <a:schemeClr val="tx1"/>
                </a:solidFill>
                <a:effectLst/>
                <a:latin typeface="Times New Roman" pitchFamily="18" charset="0"/>
                <a:ea typeface="宋体" charset="-122"/>
                <a:cs typeface="+mn-cs"/>
              </a:rPr>
              <a:t>称为</a:t>
            </a:r>
            <a:r>
              <a:rPr kumimoji="1" lang="zh-CN" altLang="en-US" sz="1200" b="1" i="0" kern="1200" dirty="0">
                <a:solidFill>
                  <a:schemeClr val="tx1"/>
                </a:solidFill>
                <a:effectLst/>
                <a:latin typeface="Times New Roman" pitchFamily="18" charset="0"/>
                <a:ea typeface="宋体" charset="-122"/>
                <a:cs typeface="+mn-cs"/>
              </a:rPr>
              <a:t>“根服务器运营商”（</a:t>
            </a:r>
            <a:r>
              <a:rPr kumimoji="1" lang="en-US" altLang="zh-CN" sz="1200" b="1" i="0" kern="1200" dirty="0">
                <a:solidFill>
                  <a:schemeClr val="tx1"/>
                </a:solidFill>
                <a:effectLst/>
                <a:latin typeface="Times New Roman" pitchFamily="18" charset="0"/>
                <a:ea typeface="宋体" charset="-122"/>
                <a:cs typeface="+mn-cs"/>
              </a:rPr>
              <a:t>root server operators</a:t>
            </a:r>
            <a:r>
              <a:rPr kumimoji="1" lang="zh-CN" altLang="en-US" sz="1200" b="1" i="0" kern="1200" dirty="0">
                <a:solidFill>
                  <a:schemeClr val="tx1"/>
                </a:solidFill>
                <a:effectLst/>
                <a:latin typeface="Times New Roman" pitchFamily="18" charset="0"/>
                <a:ea typeface="宋体" charset="-122"/>
                <a:cs typeface="+mn-cs"/>
              </a:rPr>
              <a:t>）</a:t>
            </a:r>
            <a:r>
              <a:rPr kumimoji="1" lang="zh-CN" altLang="en-US" sz="1200" b="0" i="0" kern="1200" dirty="0">
                <a:solidFill>
                  <a:schemeClr val="tx1"/>
                </a:solidFill>
                <a:effectLst/>
                <a:latin typeface="Times New Roman" pitchFamily="18" charset="0"/>
                <a:ea typeface="宋体" charset="-122"/>
                <a:cs typeface="+mn-cs"/>
              </a:rPr>
              <a:t>的 </a:t>
            </a:r>
            <a:r>
              <a:rPr kumimoji="1" lang="en-US" altLang="zh-CN" sz="1200" b="0" i="0" kern="1200" dirty="0">
                <a:solidFill>
                  <a:schemeClr val="tx1"/>
                </a:solidFill>
                <a:effectLst/>
                <a:latin typeface="Times New Roman" pitchFamily="18" charset="0"/>
                <a:ea typeface="宋体" charset="-122"/>
                <a:cs typeface="+mn-cs"/>
              </a:rPr>
              <a:t>12 </a:t>
            </a:r>
            <a:r>
              <a:rPr kumimoji="1" lang="zh-CN" altLang="en-US" sz="1200" b="0" i="0" kern="1200" dirty="0">
                <a:solidFill>
                  <a:schemeClr val="tx1"/>
                </a:solidFill>
                <a:effectLst/>
                <a:latin typeface="Times New Roman" pitchFamily="18" charset="0"/>
                <a:ea typeface="宋体" charset="-122"/>
                <a:cs typeface="+mn-cs"/>
              </a:rPr>
              <a:t>个组织负责管理</a:t>
            </a:r>
            <a:r>
              <a:rPr kumimoji="1" lang="en-US" altLang="zh-CN" sz="1200" b="0" i="0" kern="1200" dirty="0">
                <a:solidFill>
                  <a:schemeClr val="tx1"/>
                </a:solidFill>
                <a:effectLst/>
                <a:latin typeface="Times New Roman" pitchFamily="18" charset="0"/>
                <a:ea typeface="宋体" charset="-122"/>
                <a:cs typeface="+mn-cs"/>
              </a:rPr>
              <a:t>13 </a:t>
            </a:r>
            <a:r>
              <a:rPr kumimoji="1" lang="zh-CN" altLang="en-US" sz="1200" b="0" i="0" kern="1200" dirty="0">
                <a:solidFill>
                  <a:schemeClr val="tx1"/>
                </a:solidFill>
                <a:effectLst/>
                <a:latin typeface="Times New Roman" pitchFamily="18" charset="0"/>
                <a:ea typeface="宋体" charset="-122"/>
                <a:cs typeface="+mn-cs"/>
              </a:rPr>
              <a:t>个</a:t>
            </a:r>
            <a:r>
              <a:rPr kumimoji="1" lang="zh-CN" altLang="en-US" sz="1200" b="1" i="0" kern="1200" dirty="0">
                <a:solidFill>
                  <a:schemeClr val="tx1"/>
                </a:solidFill>
                <a:effectLst/>
                <a:latin typeface="Times New Roman" pitchFamily="18" charset="0"/>
                <a:ea typeface="宋体" charset="-122"/>
                <a:cs typeface="+mn-cs"/>
              </a:rPr>
              <a:t>根服务器“标识”（</a:t>
            </a:r>
            <a:r>
              <a:rPr kumimoji="1" lang="en-US" altLang="zh-CN" sz="1200" b="1" i="0" kern="1200" dirty="0">
                <a:solidFill>
                  <a:schemeClr val="tx1"/>
                </a:solidFill>
                <a:effectLst/>
                <a:latin typeface="Times New Roman" pitchFamily="18" charset="0"/>
                <a:ea typeface="宋体" charset="-122"/>
                <a:cs typeface="+mn-cs"/>
              </a:rPr>
              <a:t>identifiers</a:t>
            </a:r>
            <a:r>
              <a:rPr kumimoji="1" lang="zh-CN" altLang="en-US" sz="1200" b="1" i="0" kern="1200" dirty="0">
                <a:solidFill>
                  <a:schemeClr val="tx1"/>
                </a:solidFill>
                <a:effectLst/>
                <a:latin typeface="Times New Roman" pitchFamily="18" charset="0"/>
                <a:ea typeface="宋体" charset="-122"/>
                <a:cs typeface="+mn-cs"/>
              </a:rPr>
              <a:t>）</a:t>
            </a:r>
            <a:r>
              <a:rPr kumimoji="1" lang="en-US" altLang="zh-CN" sz="1200" b="0" i="0" kern="1200" dirty="0">
                <a:solidFill>
                  <a:schemeClr val="tx1"/>
                </a:solidFill>
                <a:effectLst/>
                <a:latin typeface="Times New Roman" pitchFamily="18" charset="0"/>
                <a:ea typeface="宋体" charset="-122"/>
                <a:cs typeface="+mn-cs"/>
              </a:rPr>
              <a:t>【</a:t>
            </a:r>
            <a:r>
              <a:rPr kumimoji="1" lang="zh-CN" altLang="en-US" sz="1200" b="0" i="0" kern="1200" dirty="0">
                <a:solidFill>
                  <a:schemeClr val="tx1"/>
                </a:solidFill>
                <a:effectLst/>
                <a:latin typeface="Times New Roman" pitchFamily="18" charset="0"/>
                <a:ea typeface="宋体" charset="-122"/>
                <a:cs typeface="+mn-cs"/>
              </a:rPr>
              <a:t>注释</a:t>
            </a:r>
            <a:r>
              <a:rPr kumimoji="1" lang="en-US" altLang="zh-CN" sz="1200" b="0" i="0" kern="1200" dirty="0">
                <a:solidFill>
                  <a:schemeClr val="tx1"/>
                </a:solidFill>
                <a:effectLst/>
                <a:latin typeface="Times New Roman" pitchFamily="18" charset="0"/>
                <a:ea typeface="宋体" charset="-122"/>
                <a:cs typeface="+mn-cs"/>
              </a:rPr>
              <a:t>5】</a:t>
            </a:r>
            <a:r>
              <a:rPr kumimoji="1" lang="zh-CN" altLang="en-US" sz="1200" b="0" i="0" kern="1200" dirty="0">
                <a:solidFill>
                  <a:schemeClr val="tx1"/>
                </a:solidFill>
                <a:effectLst/>
                <a:latin typeface="Times New Roman" pitchFamily="18" charset="0"/>
                <a:ea typeface="宋体" charset="-122"/>
                <a:cs typeface="+mn-cs"/>
              </a:rPr>
              <a:t>，每个标识在 </a:t>
            </a:r>
            <a:r>
              <a:rPr kumimoji="1" lang="en-US" altLang="zh-CN" sz="1200" b="0" i="0" kern="1200" dirty="0">
                <a:solidFill>
                  <a:schemeClr val="tx1"/>
                </a:solidFill>
                <a:effectLst/>
                <a:latin typeface="Times New Roman" pitchFamily="18" charset="0"/>
                <a:ea typeface="宋体" charset="-122"/>
                <a:cs typeface="+mn-cs"/>
              </a:rPr>
              <a:t>root-server.net </a:t>
            </a:r>
            <a:r>
              <a:rPr kumimoji="1" lang="zh-CN" altLang="en-US" sz="1200" b="0" i="0" kern="1200" dirty="0">
                <a:solidFill>
                  <a:schemeClr val="tx1"/>
                </a:solidFill>
                <a:effectLst/>
                <a:latin typeface="Times New Roman" pitchFamily="18" charset="0"/>
                <a:ea typeface="宋体" charset="-122"/>
                <a:cs typeface="+mn-cs"/>
              </a:rPr>
              <a:t>域内用字母 </a:t>
            </a:r>
            <a:r>
              <a:rPr kumimoji="1" lang="en-US" altLang="zh-CN" sz="1200" b="0" i="0" kern="1200" dirty="0">
                <a:solidFill>
                  <a:schemeClr val="tx1"/>
                </a:solidFill>
                <a:effectLst/>
                <a:latin typeface="Times New Roman" pitchFamily="18" charset="0"/>
                <a:ea typeface="宋体" charset="-122"/>
                <a:cs typeface="+mn-cs"/>
              </a:rPr>
              <a:t>a </a:t>
            </a:r>
            <a:r>
              <a:rPr kumimoji="1" lang="zh-CN" altLang="en-US" sz="1200" b="0" i="0" kern="1200" dirty="0">
                <a:solidFill>
                  <a:schemeClr val="tx1"/>
                </a:solidFill>
                <a:effectLst/>
                <a:latin typeface="Times New Roman" pitchFamily="18" charset="0"/>
                <a:ea typeface="宋体" charset="-122"/>
                <a:cs typeface="+mn-cs"/>
              </a:rPr>
              <a:t>到 </a:t>
            </a:r>
            <a:r>
              <a:rPr kumimoji="1" lang="en-US" altLang="zh-CN" sz="1200" b="0" i="0" kern="1200" dirty="0">
                <a:solidFill>
                  <a:schemeClr val="tx1"/>
                </a:solidFill>
                <a:effectLst/>
                <a:latin typeface="Times New Roman" pitchFamily="18" charset="0"/>
                <a:ea typeface="宋体" charset="-122"/>
                <a:cs typeface="+mn-cs"/>
              </a:rPr>
              <a:t>m </a:t>
            </a:r>
            <a:r>
              <a:rPr kumimoji="1" lang="zh-CN" altLang="en-US" sz="1200" b="0" i="0" kern="1200" dirty="0">
                <a:solidFill>
                  <a:schemeClr val="tx1"/>
                </a:solidFill>
                <a:effectLst/>
                <a:latin typeface="Times New Roman" pitchFamily="18" charset="0"/>
                <a:ea typeface="宋体" charset="-122"/>
                <a:cs typeface="+mn-cs"/>
              </a:rPr>
              <a:t>命名，即从 </a:t>
            </a:r>
            <a:r>
              <a:rPr kumimoji="1" lang="en-US" altLang="zh-CN" sz="1200" b="0" i="0" kern="1200" dirty="0">
                <a:solidFill>
                  <a:schemeClr val="tx1"/>
                </a:solidFill>
                <a:effectLst/>
                <a:latin typeface="Times New Roman" pitchFamily="18" charset="0"/>
                <a:ea typeface="宋体" charset="-122"/>
                <a:cs typeface="+mn-cs"/>
              </a:rPr>
              <a:t>a.root-servers.net </a:t>
            </a:r>
            <a:r>
              <a:rPr kumimoji="1" lang="zh-CN" altLang="en-US" sz="1200" b="0" i="0" kern="1200" dirty="0">
                <a:solidFill>
                  <a:schemeClr val="tx1"/>
                </a:solidFill>
                <a:effectLst/>
                <a:latin typeface="Times New Roman" pitchFamily="18" charset="0"/>
                <a:ea typeface="宋体" charset="-122"/>
                <a:cs typeface="+mn-cs"/>
              </a:rPr>
              <a:t>到 </a:t>
            </a:r>
            <a:r>
              <a:rPr kumimoji="1" lang="en-US" altLang="zh-CN" sz="1200" b="0" i="0" kern="1200" dirty="0">
                <a:solidFill>
                  <a:schemeClr val="tx1"/>
                </a:solidFill>
                <a:effectLst/>
                <a:latin typeface="Times New Roman" pitchFamily="18" charset="0"/>
                <a:ea typeface="宋体" charset="-122"/>
                <a:cs typeface="+mn-cs"/>
              </a:rPr>
              <a:t>m.root-servers.net</a:t>
            </a:r>
            <a:r>
              <a:rPr kumimoji="1" lang="zh-CN" altLang="en-US" sz="1200" b="0" i="0" kern="1200" dirty="0">
                <a:solidFill>
                  <a:schemeClr val="tx1"/>
                </a:solidFill>
                <a:effectLst/>
                <a:latin typeface="Times New Roman" pitchFamily="18" charset="0"/>
                <a:ea typeface="宋体" charset="-122"/>
                <a:cs typeface="+mn-cs"/>
              </a:rPr>
              <a:t>。在这些根服务器标识（称为根服务）中，每个标识都有两个与之关联的唯一</a:t>
            </a:r>
            <a:r>
              <a:rPr kumimoji="1" lang="en-US" altLang="zh-CN" sz="1200" b="0" i="0" kern="1200" dirty="0">
                <a:solidFill>
                  <a:schemeClr val="tx1"/>
                </a:solidFill>
                <a:effectLst/>
                <a:latin typeface="Times New Roman" pitchFamily="18" charset="0"/>
                <a:ea typeface="宋体" charset="-122"/>
                <a:cs typeface="+mn-cs"/>
              </a:rPr>
              <a:t>IP </a:t>
            </a:r>
            <a:r>
              <a:rPr kumimoji="1" lang="zh-CN" altLang="en-US" sz="1200" b="0" i="0" kern="1200" dirty="0">
                <a:solidFill>
                  <a:schemeClr val="tx1"/>
                </a:solidFill>
                <a:effectLst/>
                <a:latin typeface="Times New Roman" pitchFamily="18" charset="0"/>
                <a:ea typeface="宋体" charset="-122"/>
                <a:cs typeface="+mn-cs"/>
              </a:rPr>
              <a:t>地址：一个 </a:t>
            </a:r>
            <a:r>
              <a:rPr kumimoji="1" lang="en-US" altLang="zh-CN" sz="1200" b="0" i="0" kern="1200" dirty="0">
                <a:solidFill>
                  <a:schemeClr val="tx1"/>
                </a:solidFill>
                <a:effectLst/>
                <a:latin typeface="Times New Roman" pitchFamily="18" charset="0"/>
                <a:ea typeface="宋体" charset="-122"/>
                <a:cs typeface="+mn-cs"/>
              </a:rPr>
              <a:t>IPv4 </a:t>
            </a:r>
            <a:r>
              <a:rPr kumimoji="1" lang="zh-CN" altLang="en-US" sz="1200" b="0" i="0" kern="1200" dirty="0">
                <a:solidFill>
                  <a:schemeClr val="tx1"/>
                </a:solidFill>
                <a:effectLst/>
                <a:latin typeface="Times New Roman" pitchFamily="18" charset="0"/>
                <a:ea typeface="宋体" charset="-122"/>
                <a:cs typeface="+mn-cs"/>
              </a:rPr>
              <a:t>地址和一个 </a:t>
            </a:r>
            <a:r>
              <a:rPr kumimoji="1" lang="en-US" altLang="zh-CN" sz="1200" b="0" i="0" kern="1200" dirty="0">
                <a:solidFill>
                  <a:schemeClr val="tx1"/>
                </a:solidFill>
                <a:effectLst/>
                <a:latin typeface="Times New Roman" pitchFamily="18" charset="0"/>
                <a:ea typeface="宋体" charset="-122"/>
                <a:cs typeface="+mn-cs"/>
              </a:rPr>
              <a:t>IPv6 </a:t>
            </a:r>
            <a:r>
              <a:rPr kumimoji="1" lang="zh-CN" altLang="en-US" sz="1200" b="0" i="0" kern="1200" dirty="0">
                <a:solidFill>
                  <a:schemeClr val="tx1"/>
                </a:solidFill>
                <a:effectLst/>
                <a:latin typeface="Times New Roman" pitchFamily="18" charset="0"/>
                <a:ea typeface="宋体" charset="-122"/>
                <a:cs typeface="+mn-cs"/>
              </a:rPr>
              <a:t>地址。这 些 </a:t>
            </a:r>
            <a:r>
              <a:rPr kumimoji="1" lang="en-US" altLang="zh-CN" sz="1200" b="0" i="0" kern="1200" dirty="0">
                <a:solidFill>
                  <a:schemeClr val="tx1"/>
                </a:solidFill>
                <a:effectLst/>
                <a:latin typeface="Times New Roman" pitchFamily="18" charset="0"/>
                <a:ea typeface="宋体" charset="-122"/>
                <a:cs typeface="+mn-cs"/>
              </a:rPr>
              <a:t>IP </a:t>
            </a:r>
            <a:r>
              <a:rPr kumimoji="1" lang="zh-CN" altLang="en-US" sz="1200" b="0" i="0" kern="1200" dirty="0">
                <a:solidFill>
                  <a:schemeClr val="tx1"/>
                </a:solidFill>
                <a:effectLst/>
                <a:latin typeface="Times New Roman" pitchFamily="18" charset="0"/>
                <a:ea typeface="宋体" charset="-122"/>
                <a:cs typeface="+mn-cs"/>
              </a:rPr>
              <a:t>地址已预置在互联网上的所有解析器中，因此，这些解析器能够找到要提出查询的根服务。根服务每天会收到超过 </a:t>
            </a:r>
            <a:r>
              <a:rPr kumimoji="1" lang="en-US" altLang="zh-CN" sz="1200" b="0" i="0" kern="1200" dirty="0">
                <a:solidFill>
                  <a:schemeClr val="tx1"/>
                </a:solidFill>
                <a:effectLst/>
                <a:latin typeface="Times New Roman" pitchFamily="18" charset="0"/>
                <a:ea typeface="宋体" charset="-122"/>
                <a:cs typeface="+mn-cs"/>
              </a:rPr>
              <a:t>700 </a:t>
            </a:r>
            <a:r>
              <a:rPr kumimoji="1" lang="zh-CN" altLang="en-US" sz="1200" b="0" i="0" kern="1200" dirty="0">
                <a:solidFill>
                  <a:schemeClr val="tx1"/>
                </a:solidFill>
                <a:effectLst/>
                <a:latin typeface="Times New Roman" pitchFamily="18" charset="0"/>
                <a:ea typeface="宋体" charset="-122"/>
                <a:cs typeface="+mn-cs"/>
              </a:rPr>
              <a:t>亿次的海量查询。 </a:t>
            </a:r>
          </a:p>
          <a:p>
            <a:r>
              <a:rPr kumimoji="1" lang="zh-CN" altLang="en-US" sz="1200" b="0" i="0" kern="1200" dirty="0">
                <a:solidFill>
                  <a:schemeClr val="tx1"/>
                </a:solidFill>
                <a:effectLst/>
                <a:latin typeface="Times New Roman" pitchFamily="18" charset="0"/>
                <a:ea typeface="宋体" charset="-122"/>
                <a:cs typeface="+mn-cs"/>
              </a:rPr>
              <a:t/>
            </a:r>
            <a:br>
              <a:rPr kumimoji="1" lang="zh-CN" altLang="en-US" sz="1200" b="0" i="0" kern="1200" dirty="0">
                <a:solidFill>
                  <a:schemeClr val="tx1"/>
                </a:solidFill>
                <a:effectLst/>
                <a:latin typeface="Times New Roman" pitchFamily="18" charset="0"/>
                <a:ea typeface="宋体" charset="-122"/>
                <a:cs typeface="+mn-cs"/>
              </a:rPr>
            </a:br>
            <a:endParaRPr kumimoji="1" lang="zh-CN" altLang="en-US" sz="1200" b="0" i="0" kern="1200" dirty="0">
              <a:solidFill>
                <a:schemeClr val="tx1"/>
              </a:solidFill>
              <a:effectLst/>
              <a:latin typeface="Times New Roman" pitchFamily="18" charset="0"/>
              <a:ea typeface="宋体" charset="-122"/>
              <a:cs typeface="+mn-cs"/>
            </a:endParaRPr>
          </a:p>
          <a:p>
            <a:r>
              <a:rPr kumimoji="1" lang="zh-CN" altLang="en-US" sz="1200" b="0" i="0" kern="1200" dirty="0">
                <a:solidFill>
                  <a:schemeClr val="tx1"/>
                </a:solidFill>
                <a:effectLst/>
                <a:latin typeface="Times New Roman" pitchFamily="18" charset="0"/>
                <a:ea typeface="宋体" charset="-122"/>
                <a:cs typeface="+mn-cs"/>
              </a:rPr>
              <a:t>这</a:t>
            </a:r>
            <a:r>
              <a:rPr kumimoji="1" lang="en-US" altLang="zh-CN" sz="1200" b="0" i="0" kern="1200" dirty="0">
                <a:solidFill>
                  <a:schemeClr val="tx1"/>
                </a:solidFill>
                <a:effectLst/>
                <a:latin typeface="Times New Roman" pitchFamily="18" charset="0"/>
                <a:ea typeface="宋体" charset="-122"/>
                <a:cs typeface="+mn-cs"/>
              </a:rPr>
              <a:t>13</a:t>
            </a:r>
            <a:r>
              <a:rPr kumimoji="1" lang="zh-CN" altLang="en-US" sz="1200" b="0" i="0" kern="1200" dirty="0">
                <a:solidFill>
                  <a:schemeClr val="tx1"/>
                </a:solidFill>
                <a:effectLst/>
                <a:latin typeface="Times New Roman" pitchFamily="18" charset="0"/>
                <a:ea typeface="宋体" charset="-122"/>
                <a:cs typeface="+mn-cs"/>
              </a:rPr>
              <a:t>个根服务会对它们收到的查询作出以下响应：或者返回在根区（</a:t>
            </a:r>
            <a:r>
              <a:rPr kumimoji="1" lang="en-US" altLang="zh-CN" sz="1200" b="0" i="0" kern="1200" dirty="0">
                <a:solidFill>
                  <a:schemeClr val="tx1"/>
                </a:solidFill>
                <a:effectLst/>
                <a:latin typeface="Times New Roman" pitchFamily="18" charset="0"/>
                <a:ea typeface="宋体" charset="-122"/>
                <a:cs typeface="+mn-cs"/>
              </a:rPr>
              <a:t>root zone</a:t>
            </a:r>
            <a:r>
              <a:rPr kumimoji="1" lang="zh-CN" altLang="en-US" sz="1200" b="0" i="0" kern="1200" dirty="0">
                <a:solidFill>
                  <a:schemeClr val="tx1"/>
                </a:solidFill>
                <a:effectLst/>
                <a:latin typeface="Times New Roman" pitchFamily="18" charset="0"/>
                <a:ea typeface="宋体" charset="-122"/>
                <a:cs typeface="+mn-cs"/>
              </a:rPr>
              <a:t>，由 </a:t>
            </a:r>
            <a:r>
              <a:rPr kumimoji="1" lang="en-US" altLang="zh-CN" sz="1200" b="0" i="0" kern="1200" dirty="0">
                <a:solidFill>
                  <a:schemeClr val="tx1"/>
                </a:solidFill>
                <a:effectLst/>
                <a:latin typeface="Times New Roman" pitchFamily="18" charset="0"/>
                <a:ea typeface="宋体" charset="-122"/>
                <a:cs typeface="+mn-cs"/>
              </a:rPr>
              <a:t>ICANN </a:t>
            </a:r>
            <a:r>
              <a:rPr kumimoji="1" lang="zh-CN" altLang="en-US" sz="1200" b="0" i="0" kern="1200" dirty="0">
                <a:solidFill>
                  <a:schemeClr val="tx1"/>
                </a:solidFill>
                <a:effectLst/>
                <a:latin typeface="Times New Roman" pitchFamily="18" charset="0"/>
                <a:ea typeface="宋体" charset="-122"/>
                <a:cs typeface="+mn-cs"/>
              </a:rPr>
              <a:t>运营的 </a:t>
            </a:r>
            <a:r>
              <a:rPr kumimoji="1" lang="en-US" altLang="zh-CN" sz="1200" b="0" i="0" kern="1200" dirty="0">
                <a:solidFill>
                  <a:schemeClr val="tx1"/>
                </a:solidFill>
                <a:effectLst/>
                <a:latin typeface="Times New Roman" pitchFamily="18" charset="0"/>
                <a:ea typeface="宋体" charset="-122"/>
                <a:cs typeface="+mn-cs"/>
              </a:rPr>
              <a:t>IANA </a:t>
            </a:r>
            <a:r>
              <a:rPr kumimoji="1" lang="zh-CN" altLang="en-US" sz="1200" b="0" i="0" kern="1200" dirty="0">
                <a:solidFill>
                  <a:schemeClr val="tx1"/>
                </a:solidFill>
                <a:effectLst/>
                <a:latin typeface="Times New Roman" pitchFamily="18" charset="0"/>
                <a:ea typeface="宋体" charset="-122"/>
                <a:cs typeface="+mn-cs"/>
              </a:rPr>
              <a:t>职能负责管理）中找到的信息；或者当被查询的 </a:t>
            </a:r>
            <a:r>
              <a:rPr kumimoji="1" lang="en-US" altLang="zh-CN" sz="1200" b="0" i="0" kern="1200" dirty="0">
                <a:solidFill>
                  <a:schemeClr val="tx1"/>
                </a:solidFill>
                <a:effectLst/>
                <a:latin typeface="Times New Roman" pitchFamily="18" charset="0"/>
                <a:ea typeface="宋体" charset="-122"/>
                <a:cs typeface="+mn-cs"/>
              </a:rPr>
              <a:t>TLD </a:t>
            </a:r>
            <a:r>
              <a:rPr kumimoji="1" lang="zh-CN" altLang="en-US" sz="1200" b="0" i="0" kern="1200" dirty="0">
                <a:solidFill>
                  <a:schemeClr val="tx1"/>
                </a:solidFill>
                <a:effectLst/>
                <a:latin typeface="Times New Roman" pitchFamily="18" charset="0"/>
                <a:ea typeface="宋体" charset="-122"/>
                <a:cs typeface="+mn-cs"/>
              </a:rPr>
              <a:t>没有被授权时，会显示一条消息表明该域名不存在。</a:t>
            </a:r>
            <a:r>
              <a:rPr kumimoji="1" lang="zh-CN" altLang="en-US" sz="1200" b="1" i="0" kern="1200" dirty="0">
                <a:solidFill>
                  <a:schemeClr val="tx1"/>
                </a:solidFill>
                <a:effectLst/>
                <a:latin typeface="Times New Roman" pitchFamily="18" charset="0"/>
                <a:ea typeface="宋体" charset="-122"/>
                <a:cs typeface="+mn-cs"/>
              </a:rPr>
              <a:t>此信息受 </a:t>
            </a:r>
            <a:r>
              <a:rPr kumimoji="1" lang="en-US" altLang="zh-CN" sz="1200" b="1" i="0" kern="1200" dirty="0">
                <a:solidFill>
                  <a:schemeClr val="tx1"/>
                </a:solidFill>
                <a:effectLst/>
                <a:latin typeface="Times New Roman" pitchFamily="18" charset="0"/>
                <a:ea typeface="宋体" charset="-122"/>
                <a:cs typeface="+mn-cs"/>
              </a:rPr>
              <a:t>DNSSEC </a:t>
            </a:r>
            <a:r>
              <a:rPr kumimoji="1" lang="zh-CN" altLang="en-US" sz="1200" b="1" i="0" kern="1200" dirty="0">
                <a:solidFill>
                  <a:schemeClr val="tx1"/>
                </a:solidFill>
                <a:effectLst/>
                <a:latin typeface="Times New Roman" pitchFamily="18" charset="0"/>
                <a:ea typeface="宋体" charset="-122"/>
                <a:cs typeface="+mn-cs"/>
              </a:rPr>
              <a:t>保护：任何人对数据进行任何修改都会导致启用了 </a:t>
            </a:r>
            <a:r>
              <a:rPr kumimoji="1" lang="en-US" altLang="zh-CN" sz="1200" b="1" i="0" kern="1200" dirty="0">
                <a:solidFill>
                  <a:schemeClr val="tx1"/>
                </a:solidFill>
                <a:effectLst/>
                <a:latin typeface="Times New Roman" pitchFamily="18" charset="0"/>
                <a:ea typeface="宋体" charset="-122"/>
                <a:cs typeface="+mn-cs"/>
              </a:rPr>
              <a:t>DNSSEC </a:t>
            </a:r>
            <a:r>
              <a:rPr kumimoji="1" lang="zh-CN" altLang="en-US" sz="1200" b="1" i="0" kern="1200" dirty="0">
                <a:solidFill>
                  <a:schemeClr val="tx1"/>
                </a:solidFill>
                <a:effectLst/>
                <a:latin typeface="Times New Roman" pitchFamily="18" charset="0"/>
                <a:ea typeface="宋体" charset="-122"/>
                <a:cs typeface="+mn-cs"/>
              </a:rPr>
              <a:t>的解析器忽略响应，从而防止根区被修改或出现试图在响应中插入不真实信息的攻击。</a:t>
            </a:r>
            <a:r>
              <a:rPr kumimoji="1" lang="zh-CN" altLang="en-US" sz="1200" b="0" i="0" kern="1200" dirty="0">
                <a:solidFill>
                  <a:schemeClr val="tx1"/>
                </a:solidFill>
                <a:effectLst/>
                <a:latin typeface="Times New Roman" pitchFamily="18" charset="0"/>
                <a:ea typeface="宋体" charset="-122"/>
                <a:cs typeface="+mn-cs"/>
              </a:rPr>
              <a:t> </a:t>
            </a:r>
          </a:p>
          <a:p>
            <a:r>
              <a:rPr kumimoji="1" lang="zh-CN" altLang="en-US" sz="1200" b="0" i="0" kern="1200" dirty="0">
                <a:solidFill>
                  <a:schemeClr val="tx1"/>
                </a:solidFill>
                <a:effectLst/>
                <a:latin typeface="Times New Roman" pitchFamily="18" charset="0"/>
                <a:ea typeface="宋体" charset="-122"/>
                <a:cs typeface="+mn-cs"/>
              </a:rPr>
              <a:t/>
            </a:r>
            <a:br>
              <a:rPr kumimoji="1" lang="zh-CN" altLang="en-US" sz="1200" b="0" i="0" kern="1200" dirty="0">
                <a:solidFill>
                  <a:schemeClr val="tx1"/>
                </a:solidFill>
                <a:effectLst/>
                <a:latin typeface="Times New Roman" pitchFamily="18" charset="0"/>
                <a:ea typeface="宋体" charset="-122"/>
                <a:cs typeface="+mn-cs"/>
              </a:rPr>
            </a:br>
            <a:endParaRPr kumimoji="1" lang="zh-CN" altLang="en-US" sz="1200" b="0" i="0" kern="1200" dirty="0">
              <a:solidFill>
                <a:schemeClr val="tx1"/>
              </a:solidFill>
              <a:effectLst/>
              <a:latin typeface="Times New Roman" pitchFamily="18" charset="0"/>
              <a:ea typeface="宋体" charset="-122"/>
              <a:cs typeface="+mn-cs"/>
            </a:endParaRPr>
          </a:p>
          <a:p>
            <a:r>
              <a:rPr kumimoji="1" lang="zh-CN" altLang="en-US" sz="1200" b="0" i="0" kern="1200" dirty="0">
                <a:solidFill>
                  <a:schemeClr val="tx1"/>
                </a:solidFill>
                <a:effectLst/>
                <a:latin typeface="Times New Roman" pitchFamily="18" charset="0"/>
                <a:ea typeface="宋体" charset="-122"/>
                <a:cs typeface="+mn-cs"/>
              </a:rPr>
              <a:t>根服务器系统必须具有弹性，因为该系统必须能够对大量连续的查询请求做出响应，同时，还要确保能够抵御各种网络攻击。根服务器运营商通过使用一种名为“</a:t>
            </a:r>
            <a:r>
              <a:rPr kumimoji="1" lang="zh-CN" altLang="en-US" sz="1200" b="1" i="0" kern="1200" dirty="0">
                <a:solidFill>
                  <a:schemeClr val="tx1"/>
                </a:solidFill>
                <a:effectLst/>
                <a:latin typeface="Times New Roman" pitchFamily="18" charset="0"/>
                <a:ea typeface="宋体" charset="-122"/>
                <a:cs typeface="+mn-cs"/>
              </a:rPr>
              <a:t>任播”（</a:t>
            </a:r>
            <a:r>
              <a:rPr kumimoji="1" lang="en-US" altLang="zh-CN" sz="1200" b="1" i="0" kern="1200" dirty="0" err="1">
                <a:solidFill>
                  <a:schemeClr val="tx1"/>
                </a:solidFill>
                <a:effectLst/>
                <a:latin typeface="Times New Roman" pitchFamily="18" charset="0"/>
                <a:ea typeface="宋体" charset="-122"/>
                <a:cs typeface="+mn-cs"/>
              </a:rPr>
              <a:t>anycast</a:t>
            </a:r>
            <a:r>
              <a:rPr kumimoji="1" lang="zh-CN" altLang="en-US" sz="1200" b="1" i="0" kern="1200" dirty="0">
                <a:solidFill>
                  <a:schemeClr val="tx1"/>
                </a:solidFill>
                <a:effectLst/>
                <a:latin typeface="Times New Roman" pitchFamily="18" charset="0"/>
                <a:ea typeface="宋体" charset="-122"/>
                <a:cs typeface="+mn-cs"/>
              </a:rPr>
              <a:t>）</a:t>
            </a:r>
            <a:r>
              <a:rPr kumimoji="1" lang="zh-CN" altLang="en-US" sz="1200" b="0" i="0" kern="1200" dirty="0">
                <a:solidFill>
                  <a:schemeClr val="tx1"/>
                </a:solidFill>
                <a:effectLst/>
                <a:latin typeface="Times New Roman" pitchFamily="18" charset="0"/>
                <a:ea typeface="宋体" charset="-122"/>
                <a:cs typeface="+mn-cs"/>
              </a:rPr>
              <a:t>的路由技术在全球范围内分布根服务器节点，从而满足了这种弹性要求。任播路由允许整个互联网上的计算机使用相同的 </a:t>
            </a:r>
            <a:r>
              <a:rPr kumimoji="1" lang="en-US" altLang="zh-CN" sz="1200" b="0" i="0" kern="1200" dirty="0">
                <a:solidFill>
                  <a:schemeClr val="tx1"/>
                </a:solidFill>
                <a:effectLst/>
                <a:latin typeface="Times New Roman" pitchFamily="18" charset="0"/>
                <a:ea typeface="宋体" charset="-122"/>
                <a:cs typeface="+mn-cs"/>
              </a:rPr>
              <a:t>IP </a:t>
            </a:r>
            <a:r>
              <a:rPr kumimoji="1" lang="zh-CN" altLang="en-US" sz="1200" b="0" i="0" kern="1200" dirty="0">
                <a:solidFill>
                  <a:schemeClr val="tx1"/>
                </a:solidFill>
                <a:effectLst/>
                <a:latin typeface="Times New Roman" pitchFamily="18" charset="0"/>
                <a:ea typeface="宋体" charset="-122"/>
                <a:cs typeface="+mn-cs"/>
              </a:rPr>
              <a:t>地址来提供相同的响应，从而能够在数百个不同的城市和国家</a:t>
            </a:r>
            <a:r>
              <a:rPr kumimoji="1" lang="en-US" altLang="zh-CN" sz="1200" b="0" i="0" kern="1200" dirty="0">
                <a:solidFill>
                  <a:schemeClr val="tx1"/>
                </a:solidFill>
                <a:effectLst/>
                <a:latin typeface="Times New Roman" pitchFamily="18" charset="0"/>
                <a:ea typeface="宋体" charset="-122"/>
                <a:cs typeface="+mn-cs"/>
              </a:rPr>
              <a:t>/</a:t>
            </a:r>
            <a:r>
              <a:rPr kumimoji="1" lang="zh-CN" altLang="en-US" sz="1200" b="0" i="0" kern="1200" dirty="0">
                <a:solidFill>
                  <a:schemeClr val="tx1"/>
                </a:solidFill>
                <a:effectLst/>
                <a:latin typeface="Times New Roman" pitchFamily="18" charset="0"/>
                <a:ea typeface="宋体" charset="-122"/>
                <a:cs typeface="+mn-cs"/>
              </a:rPr>
              <a:t>地区部署根服务器节点。如今，全世界范围内已广泛部署大量根服务器节点，因此，根服务器系统已极具弹性。有关根服务器节点分布情况的更多信息，请访问 </a:t>
            </a:r>
            <a:r>
              <a:rPr kumimoji="1" lang="en-US" altLang="zh-CN" sz="1200" b="0" i="0" kern="1200" dirty="0">
                <a:solidFill>
                  <a:schemeClr val="tx1"/>
                </a:solidFill>
                <a:effectLst/>
                <a:latin typeface="Times New Roman" pitchFamily="18" charset="0"/>
                <a:ea typeface="宋体" charset="-122"/>
                <a:cs typeface="+mn-cs"/>
              </a:rPr>
              <a:t>https://root-servers.org</a:t>
            </a:r>
            <a:r>
              <a:rPr kumimoji="1" lang="zh-CN" altLang="en-US" sz="1200" b="0" i="0" kern="1200" dirty="0">
                <a:solidFill>
                  <a:schemeClr val="tx1"/>
                </a:solidFill>
                <a:effectLst/>
                <a:latin typeface="Times New Roman" pitchFamily="18" charset="0"/>
                <a:ea typeface="宋体" charset="-122"/>
                <a:cs typeface="+mn-cs"/>
              </a:rPr>
              <a:t>。</a:t>
            </a:r>
          </a:p>
          <a:p>
            <a:r>
              <a:rPr kumimoji="1" lang="zh-CN" altLang="en-US" sz="1200" b="0" i="0" kern="1200" dirty="0">
                <a:solidFill>
                  <a:schemeClr val="tx1"/>
                </a:solidFill>
                <a:effectLst/>
                <a:latin typeface="Times New Roman" pitchFamily="18" charset="0"/>
                <a:ea typeface="宋体" charset="-122"/>
                <a:cs typeface="+mn-cs"/>
              </a:rPr>
              <a:t/>
            </a:r>
            <a:br>
              <a:rPr kumimoji="1" lang="zh-CN" altLang="en-US" sz="1200" b="0" i="0" kern="1200" dirty="0">
                <a:solidFill>
                  <a:schemeClr val="tx1"/>
                </a:solidFill>
                <a:effectLst/>
                <a:latin typeface="Times New Roman" pitchFamily="18" charset="0"/>
                <a:ea typeface="宋体" charset="-122"/>
                <a:cs typeface="+mn-cs"/>
              </a:rPr>
            </a:br>
            <a:endParaRPr kumimoji="1" lang="zh-CN" altLang="en-US" sz="1200" b="0" i="0" kern="1200" dirty="0">
              <a:solidFill>
                <a:schemeClr val="tx1"/>
              </a:solidFill>
              <a:effectLst/>
              <a:latin typeface="Times New Roman" pitchFamily="18" charset="0"/>
              <a:ea typeface="宋体" charset="-122"/>
              <a:cs typeface="+mn-cs"/>
            </a:endParaRPr>
          </a:p>
          <a:p>
            <a:r>
              <a:rPr kumimoji="1" lang="zh-CN" altLang="en-US" sz="1200" b="0" i="0" kern="1200" dirty="0">
                <a:solidFill>
                  <a:schemeClr val="tx1"/>
                </a:solidFill>
                <a:effectLst/>
                <a:latin typeface="Times New Roman" pitchFamily="18" charset="0"/>
                <a:ea typeface="宋体" charset="-122"/>
                <a:cs typeface="+mn-cs"/>
              </a:rPr>
              <a:t>注</a:t>
            </a:r>
            <a:r>
              <a:rPr kumimoji="1" lang="en-US" altLang="zh-CN" sz="1200" b="0" i="0" kern="1200" dirty="0">
                <a:solidFill>
                  <a:schemeClr val="tx1"/>
                </a:solidFill>
                <a:effectLst/>
                <a:latin typeface="Times New Roman" pitchFamily="18" charset="0"/>
                <a:ea typeface="宋体" charset="-122"/>
                <a:cs typeface="+mn-cs"/>
              </a:rPr>
              <a:t>4</a:t>
            </a:r>
            <a:r>
              <a:rPr kumimoji="1" lang="zh-CN" altLang="en-US" sz="1200" b="0" i="0" kern="1200" dirty="0">
                <a:solidFill>
                  <a:schemeClr val="tx1"/>
                </a:solidFill>
                <a:effectLst/>
                <a:latin typeface="Times New Roman" pitchFamily="18" charset="0"/>
                <a:ea typeface="宋体" charset="-122"/>
                <a:cs typeface="+mn-cs"/>
              </a:rPr>
              <a:t> 一些网络运营商利用</a:t>
            </a:r>
            <a:r>
              <a:rPr kumimoji="1" lang="en-US" altLang="zh-CN" sz="1200" b="0" i="0" kern="1200" dirty="0">
                <a:solidFill>
                  <a:schemeClr val="tx1"/>
                </a:solidFill>
                <a:effectLst/>
                <a:latin typeface="Times New Roman" pitchFamily="18" charset="0"/>
                <a:ea typeface="宋体" charset="-122"/>
                <a:cs typeface="+mn-cs"/>
              </a:rPr>
              <a:t>RFC 7706 (https://tools.ietf.org/html/rfc7706) </a:t>
            </a:r>
            <a:r>
              <a:rPr kumimoji="1" lang="zh-CN" altLang="en-US" sz="1200" b="0" i="0" kern="1200" dirty="0">
                <a:solidFill>
                  <a:schemeClr val="tx1"/>
                </a:solidFill>
                <a:effectLst/>
                <a:latin typeface="Times New Roman" pitchFamily="18" charset="0"/>
                <a:ea typeface="宋体" charset="-122"/>
                <a:cs typeface="+mn-cs"/>
              </a:rPr>
              <a:t>中记录的技术或类似技术创建根区文件的本地副本，这样他们的解析器就不需要向根服务器发送查询。然而，这类技术并未得到广泛应用，本文档未涵盖相关内容。 </a:t>
            </a:r>
          </a:p>
          <a:p>
            <a:r>
              <a:rPr kumimoji="1" lang="zh-CN" altLang="en-US" sz="1200" b="0" i="0" kern="1200" dirty="0">
                <a:solidFill>
                  <a:schemeClr val="tx1"/>
                </a:solidFill>
                <a:effectLst/>
                <a:latin typeface="Times New Roman" pitchFamily="18" charset="0"/>
                <a:ea typeface="宋体" charset="-122"/>
                <a:cs typeface="+mn-cs"/>
              </a:rPr>
              <a:t>注</a:t>
            </a:r>
            <a:r>
              <a:rPr kumimoji="1" lang="en-US" altLang="zh-CN" sz="1200" b="0" i="0" kern="1200" dirty="0">
                <a:solidFill>
                  <a:schemeClr val="tx1"/>
                </a:solidFill>
                <a:effectLst/>
                <a:latin typeface="Times New Roman" pitchFamily="18" charset="0"/>
                <a:ea typeface="宋体" charset="-122"/>
                <a:cs typeface="+mn-cs"/>
              </a:rPr>
              <a:t>5</a:t>
            </a:r>
            <a:r>
              <a:rPr kumimoji="1" lang="zh-CN" altLang="en-US" sz="1200" b="0" i="0" kern="1200" dirty="0">
                <a:solidFill>
                  <a:schemeClr val="tx1"/>
                </a:solidFill>
                <a:effectLst/>
                <a:latin typeface="Times New Roman" pitchFamily="18" charset="0"/>
                <a:ea typeface="宋体" charset="-122"/>
                <a:cs typeface="+mn-cs"/>
              </a:rPr>
              <a:t>（主要）由于历史原因，一个组织负责管理两个标识。</a:t>
            </a:r>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113</a:t>
            </a:fld>
            <a:endParaRPr lang="en-US" altLang="zh-CN"/>
          </a:p>
        </p:txBody>
      </p:sp>
    </p:spTree>
    <p:extLst>
      <p:ext uri="{BB962C8B-B14F-4D97-AF65-F5344CB8AC3E}">
        <p14:creationId xmlns:p14="http://schemas.microsoft.com/office/powerpoint/2010/main" val="333380929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2020</a:t>
            </a:r>
            <a:r>
              <a:rPr lang="zh-CN" altLang="en-US" dirty="0"/>
              <a:t>北京安全大会</a:t>
            </a:r>
            <a:r>
              <a:rPr lang="en-US" altLang="zh-CN" dirty="0"/>
              <a:t>BSC2020</a:t>
            </a:r>
          </a:p>
          <a:p>
            <a:r>
              <a:rPr kumimoji="1" lang="zh-CN" altLang="en-US" sz="1200" b="0" i="0" kern="1200" dirty="0">
                <a:solidFill>
                  <a:schemeClr val="tx1"/>
                </a:solidFill>
                <a:effectLst/>
                <a:latin typeface="Times New Roman" pitchFamily="18" charset="0"/>
                <a:ea typeface="宋体" charset="-122"/>
                <a:cs typeface="+mn-cs"/>
              </a:rPr>
              <a:t>论</a:t>
            </a:r>
            <a:r>
              <a:rPr kumimoji="1" lang="en-US" altLang="zh-CN" sz="1200" b="0" i="0" kern="1200" dirty="0">
                <a:solidFill>
                  <a:schemeClr val="tx1"/>
                </a:solidFill>
                <a:effectLst/>
                <a:latin typeface="Times New Roman" pitchFamily="18" charset="0"/>
                <a:ea typeface="宋体" charset="-122"/>
                <a:cs typeface="+mn-cs"/>
              </a:rPr>
              <a:t>DNS</a:t>
            </a:r>
            <a:r>
              <a:rPr kumimoji="1" lang="zh-CN" altLang="en-US" sz="1200" b="0" i="0" kern="1200">
                <a:solidFill>
                  <a:schemeClr val="tx1"/>
                </a:solidFill>
                <a:effectLst/>
                <a:latin typeface="Times New Roman" pitchFamily="18" charset="0"/>
                <a:ea typeface="宋体" charset="-122"/>
                <a:cs typeface="+mn-cs"/>
              </a:rPr>
              <a:t>生态系统安全， </a:t>
            </a:r>
            <a:r>
              <a:rPr kumimoji="1" lang="en-US" altLang="zh-CN" sz="1200" b="0" i="0" kern="1200">
                <a:solidFill>
                  <a:schemeClr val="tx1"/>
                </a:solidFill>
                <a:effectLst/>
                <a:latin typeface="Times New Roman" pitchFamily="18" charset="0"/>
                <a:ea typeface="宋体" charset="-122"/>
                <a:cs typeface="+mn-cs"/>
              </a:rPr>
              <a:t>David </a:t>
            </a:r>
            <a:r>
              <a:rPr kumimoji="1" lang="en-US" altLang="zh-CN" sz="1200" b="0" i="0" kern="1200" dirty="0">
                <a:solidFill>
                  <a:schemeClr val="tx1"/>
                </a:solidFill>
                <a:effectLst/>
                <a:latin typeface="Times New Roman" pitchFamily="18" charset="0"/>
                <a:ea typeface="宋体" charset="-122"/>
                <a:cs typeface="+mn-cs"/>
              </a:rPr>
              <a:t>Conrad ICANN</a:t>
            </a:r>
            <a:r>
              <a:rPr kumimoji="1" lang="zh-CN" altLang="en-US" sz="1200" b="0" i="0" kern="1200" dirty="0">
                <a:solidFill>
                  <a:schemeClr val="tx1"/>
                </a:solidFill>
                <a:effectLst/>
                <a:latin typeface="Times New Roman" pitchFamily="18" charset="0"/>
                <a:ea typeface="宋体" charset="-122"/>
                <a:cs typeface="+mn-cs"/>
              </a:rPr>
              <a:t>首席技术官</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115</a:t>
            </a:fld>
            <a:endParaRPr lang="en-US" altLang="zh-CN"/>
          </a:p>
        </p:txBody>
      </p:sp>
    </p:spTree>
    <p:extLst>
      <p:ext uri="{BB962C8B-B14F-4D97-AF65-F5344CB8AC3E}">
        <p14:creationId xmlns:p14="http://schemas.microsoft.com/office/powerpoint/2010/main" val="257194690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段海新，</a:t>
            </a:r>
            <a:r>
              <a:rPr lang="en-US" altLang="zh-CN" dirty="0"/>
              <a:t>BSC2020</a:t>
            </a:r>
            <a:r>
              <a:rPr lang="zh-CN" altLang="en-US" dirty="0"/>
              <a:t>大会。</a:t>
            </a:r>
            <a:endParaRPr lang="en-US" altLang="zh-CN" dirty="0"/>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117</a:t>
            </a:fld>
            <a:endParaRPr lang="en-US" altLang="zh-CN"/>
          </a:p>
        </p:txBody>
      </p:sp>
    </p:spTree>
    <p:extLst>
      <p:ext uri="{BB962C8B-B14F-4D97-AF65-F5344CB8AC3E}">
        <p14:creationId xmlns:p14="http://schemas.microsoft.com/office/powerpoint/2010/main" val="374692211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PPT</a:t>
            </a:r>
            <a:r>
              <a:rPr lang="zh-CN" altLang="en-US" dirty="0"/>
              <a:t>部分来自段海新教授团队成员郑晓峰在</a:t>
            </a:r>
            <a:r>
              <a:rPr lang="en-US" altLang="zh-CN" dirty="0"/>
              <a:t>Inforsec2019</a:t>
            </a:r>
            <a:r>
              <a:rPr lang="zh-CN" altLang="en-US" dirty="0"/>
              <a:t>年会上的学术报告（</a:t>
            </a:r>
            <a:r>
              <a:rPr kumimoji="1" lang="zh-CN" altLang="en-US" sz="1200" b="0" i="0" u="none" strike="noStrike" kern="1200" baseline="0" dirty="0">
                <a:solidFill>
                  <a:schemeClr val="tx1"/>
                </a:solidFill>
                <a:latin typeface="Times New Roman" pitchFamily="18" charset="0"/>
                <a:ea typeface="宋体" charset="-122"/>
                <a:cs typeface="+mn-cs"/>
              </a:rPr>
              <a:t>  端到端安全协议的威胁、演进和部署）</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118</a:t>
            </a:fld>
            <a:endParaRPr lang="en-US" altLang="zh-CN"/>
          </a:p>
        </p:txBody>
      </p:sp>
    </p:spTree>
    <p:extLst>
      <p:ext uri="{BB962C8B-B14F-4D97-AF65-F5344CB8AC3E}">
        <p14:creationId xmlns:p14="http://schemas.microsoft.com/office/powerpoint/2010/main" val="394716962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转发服务污染的困境</a:t>
            </a:r>
            <a:r>
              <a:rPr lang="en-US" altLang="zh-CN" dirty="0"/>
              <a:t>——</a:t>
            </a:r>
            <a:r>
              <a:rPr lang="zh-CN" altLang="en-US" dirty="0"/>
              <a:t>针对</a:t>
            </a:r>
            <a:r>
              <a:rPr lang="en-US" altLang="zh-CN" dirty="0"/>
              <a:t>DNS</a:t>
            </a:r>
            <a:r>
              <a:rPr lang="zh-CN" altLang="en-US" dirty="0"/>
              <a:t>转发设备的缓存污染攻击</a:t>
            </a:r>
            <a:endParaRPr lang="en-US" altLang="zh-CN" dirty="0"/>
          </a:p>
          <a:p>
            <a:r>
              <a:rPr kumimoji="1" lang="zh-CN" altLang="en-US" sz="1200" b="0" i="0" kern="1200" dirty="0">
                <a:solidFill>
                  <a:schemeClr val="tx1"/>
                </a:solidFill>
                <a:effectLst/>
                <a:latin typeface="Times New Roman" pitchFamily="18" charset="0"/>
                <a:ea typeface="宋体" charset="-122"/>
                <a:cs typeface="+mn-cs"/>
              </a:rPr>
              <a:t>据了解，这项研究历时两年，初期成果曾参加过</a:t>
            </a:r>
            <a:r>
              <a:rPr kumimoji="1" lang="en-US" altLang="zh-CN" sz="1200" b="0" i="0" kern="1200" dirty="0">
                <a:solidFill>
                  <a:schemeClr val="tx1"/>
                </a:solidFill>
                <a:effectLst/>
                <a:latin typeface="Times New Roman" pitchFamily="18" charset="0"/>
                <a:ea typeface="宋体" charset="-122"/>
                <a:cs typeface="+mn-cs"/>
              </a:rPr>
              <a:t>2018</a:t>
            </a:r>
            <a:r>
              <a:rPr kumimoji="1" lang="zh-CN" altLang="en-US" sz="1200" b="0" i="0" kern="1200" dirty="0">
                <a:solidFill>
                  <a:schemeClr val="tx1"/>
                </a:solidFill>
                <a:effectLst/>
                <a:latin typeface="Times New Roman" pitchFamily="18" charset="0"/>
                <a:ea typeface="宋体" charset="-122"/>
                <a:cs typeface="+mn-cs"/>
              </a:rPr>
              <a:t>年</a:t>
            </a:r>
            <a:r>
              <a:rPr kumimoji="1" lang="en-US" altLang="zh-CN" sz="1200" b="0" i="0" kern="1200" dirty="0" err="1">
                <a:solidFill>
                  <a:schemeClr val="tx1"/>
                </a:solidFill>
                <a:effectLst/>
                <a:latin typeface="Times New Roman" pitchFamily="18" charset="0"/>
                <a:ea typeface="宋体" charset="-122"/>
                <a:cs typeface="+mn-cs"/>
              </a:rPr>
              <a:t>GeekPwn</a:t>
            </a:r>
            <a:r>
              <a:rPr kumimoji="1" lang="en-US" altLang="zh-CN" sz="1200" b="0" i="0" kern="1200" dirty="0">
                <a:solidFill>
                  <a:schemeClr val="tx1"/>
                </a:solidFill>
                <a:effectLst/>
                <a:latin typeface="Times New Roman" pitchFamily="18" charset="0"/>
                <a:ea typeface="宋体" charset="-122"/>
                <a:cs typeface="+mn-cs"/>
              </a:rPr>
              <a:t> </a:t>
            </a:r>
            <a:r>
              <a:rPr kumimoji="1" lang="zh-CN" altLang="en-US" sz="1200" b="0" i="0" kern="1200" dirty="0">
                <a:solidFill>
                  <a:schemeClr val="tx1"/>
                </a:solidFill>
                <a:effectLst/>
                <a:latin typeface="Times New Roman" pitchFamily="18" charset="0"/>
                <a:ea typeface="宋体" charset="-122"/>
                <a:cs typeface="+mn-cs"/>
              </a:rPr>
              <a:t>漏洞挖掘竞赛并获得</a:t>
            </a:r>
            <a:r>
              <a:rPr kumimoji="1" lang="en-US" altLang="zh-CN" sz="1200" b="0" i="0" kern="1200" dirty="0">
                <a:solidFill>
                  <a:schemeClr val="tx1"/>
                </a:solidFill>
                <a:effectLst/>
                <a:latin typeface="Times New Roman" pitchFamily="18" charset="0"/>
                <a:ea typeface="宋体" charset="-122"/>
                <a:cs typeface="+mn-cs"/>
              </a:rPr>
              <a:t>25</a:t>
            </a:r>
            <a:r>
              <a:rPr kumimoji="1" lang="zh-CN" altLang="en-US" sz="1200" b="0" i="0" kern="1200" dirty="0">
                <a:solidFill>
                  <a:schemeClr val="tx1"/>
                </a:solidFill>
                <a:effectLst/>
                <a:latin typeface="Times New Roman" pitchFamily="18" charset="0"/>
                <a:ea typeface="宋体" charset="-122"/>
                <a:cs typeface="+mn-cs"/>
              </a:rPr>
              <a:t>万大奖。当时在主持人蒋昌建和全场观众的见证下，劫持了比赛现场的</a:t>
            </a:r>
            <a:r>
              <a:rPr kumimoji="1" lang="en-US" altLang="zh-CN" sz="1200" b="0" i="0" kern="1200" dirty="0">
                <a:solidFill>
                  <a:schemeClr val="tx1"/>
                </a:solidFill>
                <a:effectLst/>
                <a:latin typeface="Times New Roman" pitchFamily="18" charset="0"/>
                <a:ea typeface="宋体" charset="-122"/>
                <a:cs typeface="+mn-cs"/>
              </a:rPr>
              <a:t>Wi-Fi</a:t>
            </a:r>
            <a:r>
              <a:rPr kumimoji="1" lang="zh-CN" altLang="en-US" sz="1200" b="0" i="0" kern="1200" dirty="0">
                <a:solidFill>
                  <a:schemeClr val="tx1"/>
                </a:solidFill>
                <a:effectLst/>
                <a:latin typeface="Times New Roman" pitchFamily="18" charset="0"/>
                <a:ea typeface="宋体" charset="-122"/>
                <a:cs typeface="+mn-cs"/>
              </a:rPr>
              <a:t>路由器，并通过路由器上的域名污染实现了中间人攻击（进而可以实现用户名窃取、恶意代码注入等攻击）</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120</a:t>
            </a:fld>
            <a:endParaRPr lang="en-US" altLang="zh-CN"/>
          </a:p>
        </p:txBody>
      </p:sp>
    </p:spTree>
    <p:extLst>
      <p:ext uri="{BB962C8B-B14F-4D97-AF65-F5344CB8AC3E}">
        <p14:creationId xmlns:p14="http://schemas.microsoft.com/office/powerpoint/2010/main" val="383628555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t>PPT</a:t>
            </a:r>
            <a:r>
              <a:rPr lang="zh-CN" altLang="en-US" dirty="0"/>
              <a:t>部分来自段海新教授团队成员郑晓峰在</a:t>
            </a:r>
            <a:r>
              <a:rPr lang="en-US" altLang="zh-CN" dirty="0"/>
              <a:t>Inforsec2019</a:t>
            </a:r>
            <a:r>
              <a:rPr lang="zh-CN" altLang="en-US"/>
              <a:t>年会上的学术报告（</a:t>
            </a:r>
            <a:r>
              <a:rPr kumimoji="1" lang="zh-CN" altLang="en-US" sz="1200" b="0" i="0" u="none" strike="noStrike" kern="1200" baseline="0">
                <a:solidFill>
                  <a:schemeClr val="tx1"/>
                </a:solidFill>
                <a:latin typeface="Times New Roman" pitchFamily="18" charset="0"/>
                <a:ea typeface="宋体" charset="-122"/>
                <a:cs typeface="+mn-cs"/>
              </a:rPr>
              <a:t>  端到端安全协议的威胁、演进和部署）</a:t>
            </a:r>
            <a:endParaRPr lang="zh-CN" altLang="en-US"/>
          </a:p>
          <a:p>
            <a:endParaRPr lang="zh-CN" altLang="en-US"/>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121</a:t>
            </a:fld>
            <a:endParaRPr lang="en-US" altLang="zh-CN"/>
          </a:p>
        </p:txBody>
      </p:sp>
    </p:spTree>
    <p:extLst>
      <p:ext uri="{BB962C8B-B14F-4D97-AF65-F5344CB8AC3E}">
        <p14:creationId xmlns:p14="http://schemas.microsoft.com/office/powerpoint/2010/main" val="283377905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清华段海新教授论文</a:t>
            </a:r>
            <a:r>
              <a:rPr kumimoji="1" lang="en-US" altLang="zh-CN" sz="1200" kern="1200" dirty="0">
                <a:solidFill>
                  <a:schemeClr val="tx1"/>
                </a:solidFill>
                <a:effectLst/>
                <a:latin typeface="Times New Roman" pitchFamily="18" charset="0"/>
                <a:ea typeface="宋体" charset="-122"/>
                <a:cs typeface="+mn-cs"/>
              </a:rPr>
              <a:t>[42] </a:t>
            </a:r>
            <a:r>
              <a:rPr kumimoji="1" lang="en-US" altLang="zh-CN" sz="1200" kern="1200" dirty="0" err="1">
                <a:solidFill>
                  <a:schemeClr val="tx1"/>
                </a:solidFill>
                <a:effectLst/>
                <a:latin typeface="Times New Roman" pitchFamily="18" charset="0"/>
                <a:ea typeface="宋体" charset="-122"/>
                <a:cs typeface="+mn-cs"/>
              </a:rPr>
              <a:t>Baojun</a:t>
            </a:r>
            <a:r>
              <a:rPr kumimoji="1" lang="en-US" altLang="zh-CN" sz="1200" kern="1200" dirty="0">
                <a:solidFill>
                  <a:schemeClr val="tx1"/>
                </a:solidFill>
                <a:effectLst/>
                <a:latin typeface="Times New Roman" pitchFamily="18" charset="0"/>
                <a:ea typeface="宋体" charset="-122"/>
                <a:cs typeface="+mn-cs"/>
              </a:rPr>
              <a:t> Liu, </a:t>
            </a:r>
            <a:r>
              <a:rPr kumimoji="1" lang="en-US" altLang="zh-CN" sz="1200" kern="1200" dirty="0" err="1">
                <a:solidFill>
                  <a:schemeClr val="tx1"/>
                </a:solidFill>
                <a:effectLst/>
                <a:latin typeface="Times New Roman" pitchFamily="18" charset="0"/>
                <a:ea typeface="宋体" charset="-122"/>
                <a:cs typeface="+mn-cs"/>
              </a:rPr>
              <a:t>Chaoyi</a:t>
            </a:r>
            <a:r>
              <a:rPr kumimoji="1" lang="en-US" altLang="zh-CN" sz="1200" kern="1200" dirty="0">
                <a:solidFill>
                  <a:schemeClr val="tx1"/>
                </a:solidFill>
                <a:effectLst/>
                <a:latin typeface="Times New Roman" pitchFamily="18" charset="0"/>
                <a:ea typeface="宋体" charset="-122"/>
                <a:cs typeface="+mn-cs"/>
              </a:rPr>
              <a:t> Lu, </a:t>
            </a:r>
            <a:r>
              <a:rPr kumimoji="1" lang="en-US" altLang="zh-CN" sz="1200" kern="1200" dirty="0" err="1">
                <a:solidFill>
                  <a:schemeClr val="tx1"/>
                </a:solidFill>
                <a:effectLst/>
                <a:latin typeface="Times New Roman" pitchFamily="18" charset="0"/>
                <a:ea typeface="宋体" charset="-122"/>
                <a:cs typeface="+mn-cs"/>
              </a:rPr>
              <a:t>HaixinDuan</a:t>
            </a:r>
            <a:r>
              <a:rPr kumimoji="1" lang="en-US" altLang="zh-CN" sz="1200" kern="1200" dirty="0">
                <a:solidFill>
                  <a:schemeClr val="tx1"/>
                </a:solidFill>
                <a:effectLst/>
                <a:latin typeface="Times New Roman" pitchFamily="18" charset="0"/>
                <a:ea typeface="宋体" charset="-122"/>
                <a:cs typeface="+mn-cs"/>
              </a:rPr>
              <a:t>, etc. Who Is Answering My </a:t>
            </a:r>
            <a:r>
              <a:rPr kumimoji="1" lang="en-US" altLang="zh-CN" sz="1200" kern="1200" dirty="0" err="1">
                <a:solidFill>
                  <a:schemeClr val="tx1"/>
                </a:solidFill>
                <a:effectLst/>
                <a:latin typeface="Times New Roman" pitchFamily="18" charset="0"/>
                <a:ea typeface="宋体" charset="-122"/>
                <a:cs typeface="+mn-cs"/>
              </a:rPr>
              <a:t>Queries?Understanding</a:t>
            </a:r>
            <a:r>
              <a:rPr kumimoji="1" lang="en-US" altLang="zh-CN" sz="1200" kern="1200" dirty="0">
                <a:solidFill>
                  <a:schemeClr val="tx1"/>
                </a:solidFill>
                <a:effectLst/>
                <a:latin typeface="Times New Roman" pitchFamily="18" charset="0"/>
                <a:ea typeface="宋体" charset="-122"/>
                <a:cs typeface="+mn-cs"/>
              </a:rPr>
              <a:t> and Characterizing Hidden Interception of the DNS Resolution Path [C]. // USENIX Security 2018, Aug. 15–17, 2018, BALTIMORE, MD, USA. </a:t>
            </a:r>
            <a:endParaRPr kumimoji="1" lang="zh-CN" altLang="zh-CN" sz="1200" kern="1200" dirty="0">
              <a:solidFill>
                <a:schemeClr val="tx1"/>
              </a:solidFill>
              <a:effectLst/>
              <a:latin typeface="Times New Roman" pitchFamily="18" charset="0"/>
              <a:ea typeface="宋体"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t>PPT</a:t>
            </a:r>
            <a:r>
              <a:rPr lang="zh-CN" altLang="en-US" dirty="0"/>
              <a:t>部分来自刘保君在</a:t>
            </a:r>
            <a:r>
              <a:rPr lang="en-US" altLang="zh-CN" dirty="0"/>
              <a:t>Inforsec2019</a:t>
            </a:r>
            <a:r>
              <a:rPr lang="zh-CN" altLang="en-US" dirty="0"/>
              <a:t>年会上的学术报告（</a:t>
            </a:r>
            <a:r>
              <a:rPr kumimoji="1" lang="zh-CN" altLang="en-US" sz="1200" b="0" i="0" u="none" strike="noStrike" kern="1200" baseline="0" dirty="0">
                <a:solidFill>
                  <a:schemeClr val="tx1"/>
                </a:solidFill>
                <a:latin typeface="Times New Roman" pitchFamily="18" charset="0"/>
                <a:ea typeface="宋体" charset="-122"/>
                <a:cs typeface="+mn-cs"/>
              </a:rPr>
              <a:t> 谁劫持了我的</a:t>
            </a:r>
            <a:r>
              <a:rPr kumimoji="1" lang="en-US" altLang="zh-CN" sz="1200" b="0" i="0" u="none" strike="noStrike" kern="1200" baseline="0" dirty="0">
                <a:solidFill>
                  <a:schemeClr val="tx1"/>
                </a:solidFill>
                <a:latin typeface="Times New Roman" pitchFamily="18" charset="0"/>
                <a:ea typeface="宋体" charset="-122"/>
                <a:cs typeface="+mn-cs"/>
              </a:rPr>
              <a:t>DNS</a:t>
            </a:r>
            <a:r>
              <a:rPr kumimoji="1" lang="zh-CN" altLang="en-US" sz="1200" b="0" i="0" u="none" strike="noStrike" kern="1200" baseline="0" dirty="0">
                <a:solidFill>
                  <a:schemeClr val="tx1"/>
                </a:solidFill>
                <a:latin typeface="Times New Roman" pitchFamily="18" charset="0"/>
                <a:ea typeface="宋体" charset="-122"/>
                <a:cs typeface="+mn-cs"/>
              </a:rPr>
              <a:t>：全球域名解析路径劫持测量与分析），报告内容为上述论文</a:t>
            </a:r>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123</a:t>
            </a:fld>
            <a:endParaRPr lang="en-US" altLang="zh-CN"/>
          </a:p>
        </p:txBody>
      </p:sp>
    </p:spTree>
    <p:extLst>
      <p:ext uri="{BB962C8B-B14F-4D97-AF65-F5344CB8AC3E}">
        <p14:creationId xmlns:p14="http://schemas.microsoft.com/office/powerpoint/2010/main" val="30934216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清华段海新教授论文</a:t>
            </a:r>
            <a:r>
              <a:rPr kumimoji="1" lang="en-US" altLang="zh-CN" sz="1200" kern="1200" dirty="0">
                <a:solidFill>
                  <a:schemeClr val="tx1"/>
                </a:solidFill>
                <a:effectLst/>
                <a:latin typeface="Times New Roman" pitchFamily="18" charset="0"/>
                <a:ea typeface="宋体" charset="-122"/>
                <a:cs typeface="+mn-cs"/>
              </a:rPr>
              <a:t>[42] </a:t>
            </a:r>
            <a:r>
              <a:rPr kumimoji="1" lang="en-US" altLang="zh-CN" sz="1200" kern="1200" dirty="0" err="1">
                <a:solidFill>
                  <a:schemeClr val="tx1"/>
                </a:solidFill>
                <a:effectLst/>
                <a:latin typeface="Times New Roman" pitchFamily="18" charset="0"/>
                <a:ea typeface="宋体" charset="-122"/>
                <a:cs typeface="+mn-cs"/>
              </a:rPr>
              <a:t>Baojun</a:t>
            </a:r>
            <a:r>
              <a:rPr kumimoji="1" lang="en-US" altLang="zh-CN" sz="1200" kern="1200" dirty="0">
                <a:solidFill>
                  <a:schemeClr val="tx1"/>
                </a:solidFill>
                <a:effectLst/>
                <a:latin typeface="Times New Roman" pitchFamily="18" charset="0"/>
                <a:ea typeface="宋体" charset="-122"/>
                <a:cs typeface="+mn-cs"/>
              </a:rPr>
              <a:t> Liu, </a:t>
            </a:r>
            <a:r>
              <a:rPr kumimoji="1" lang="en-US" altLang="zh-CN" sz="1200" kern="1200" dirty="0" err="1">
                <a:solidFill>
                  <a:schemeClr val="tx1"/>
                </a:solidFill>
                <a:effectLst/>
                <a:latin typeface="Times New Roman" pitchFamily="18" charset="0"/>
                <a:ea typeface="宋体" charset="-122"/>
                <a:cs typeface="+mn-cs"/>
              </a:rPr>
              <a:t>Chaoyi</a:t>
            </a:r>
            <a:r>
              <a:rPr kumimoji="1" lang="en-US" altLang="zh-CN" sz="1200" kern="1200" dirty="0">
                <a:solidFill>
                  <a:schemeClr val="tx1"/>
                </a:solidFill>
                <a:effectLst/>
                <a:latin typeface="Times New Roman" pitchFamily="18" charset="0"/>
                <a:ea typeface="宋体" charset="-122"/>
                <a:cs typeface="+mn-cs"/>
              </a:rPr>
              <a:t> Lu, </a:t>
            </a:r>
            <a:r>
              <a:rPr kumimoji="1" lang="en-US" altLang="zh-CN" sz="1200" kern="1200" dirty="0" err="1">
                <a:solidFill>
                  <a:schemeClr val="tx1"/>
                </a:solidFill>
                <a:effectLst/>
                <a:latin typeface="Times New Roman" pitchFamily="18" charset="0"/>
                <a:ea typeface="宋体" charset="-122"/>
                <a:cs typeface="+mn-cs"/>
              </a:rPr>
              <a:t>HaixinDuan</a:t>
            </a:r>
            <a:r>
              <a:rPr kumimoji="1" lang="en-US" altLang="zh-CN" sz="1200" kern="1200" dirty="0">
                <a:solidFill>
                  <a:schemeClr val="tx1"/>
                </a:solidFill>
                <a:effectLst/>
                <a:latin typeface="Times New Roman" pitchFamily="18" charset="0"/>
                <a:ea typeface="宋体" charset="-122"/>
                <a:cs typeface="+mn-cs"/>
              </a:rPr>
              <a:t>, etc. Who Is Answering My </a:t>
            </a:r>
            <a:r>
              <a:rPr kumimoji="1" lang="en-US" altLang="zh-CN" sz="1200" kern="1200" dirty="0" err="1">
                <a:solidFill>
                  <a:schemeClr val="tx1"/>
                </a:solidFill>
                <a:effectLst/>
                <a:latin typeface="Times New Roman" pitchFamily="18" charset="0"/>
                <a:ea typeface="宋体" charset="-122"/>
                <a:cs typeface="+mn-cs"/>
              </a:rPr>
              <a:t>Queries?Understanding</a:t>
            </a:r>
            <a:r>
              <a:rPr kumimoji="1" lang="en-US" altLang="zh-CN" sz="1200" kern="1200" dirty="0">
                <a:solidFill>
                  <a:schemeClr val="tx1"/>
                </a:solidFill>
                <a:effectLst/>
                <a:latin typeface="Times New Roman" pitchFamily="18" charset="0"/>
                <a:ea typeface="宋体" charset="-122"/>
                <a:cs typeface="+mn-cs"/>
              </a:rPr>
              <a:t> and Characterizing Hidden Interception of the DNS Resolution Path [C]. // USENIX Security 2018, Aug. 15–17, 2018, BALTIMORE, MD, USA. </a:t>
            </a:r>
            <a:endParaRPr kumimoji="1" lang="zh-CN" altLang="zh-CN" sz="1200" kern="1200" dirty="0">
              <a:solidFill>
                <a:schemeClr val="tx1"/>
              </a:solidFill>
              <a:effectLst/>
              <a:latin typeface="Times New Roman" pitchFamily="18" charset="0"/>
              <a:ea typeface="宋体"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t>PPT</a:t>
            </a:r>
            <a:r>
              <a:rPr lang="zh-CN" altLang="en-US" dirty="0"/>
              <a:t>部分来自刘保君在</a:t>
            </a:r>
            <a:r>
              <a:rPr lang="en-US" altLang="zh-CN" dirty="0"/>
              <a:t>Inforsec2019</a:t>
            </a:r>
            <a:r>
              <a:rPr lang="zh-CN" altLang="en-US" dirty="0"/>
              <a:t>年会上的学术报告（</a:t>
            </a:r>
            <a:r>
              <a:rPr kumimoji="1" lang="zh-CN" altLang="en-US" sz="1200" b="0" i="0" u="none" strike="noStrike" kern="1200" baseline="0" dirty="0">
                <a:solidFill>
                  <a:schemeClr val="tx1"/>
                </a:solidFill>
                <a:latin typeface="Times New Roman" pitchFamily="18" charset="0"/>
                <a:ea typeface="宋体" charset="-122"/>
                <a:cs typeface="+mn-cs"/>
              </a:rPr>
              <a:t> 谁劫持了我的</a:t>
            </a:r>
            <a:r>
              <a:rPr kumimoji="1" lang="en-US" altLang="zh-CN" sz="1200" b="0" i="0" u="none" strike="noStrike" kern="1200" baseline="0" dirty="0">
                <a:solidFill>
                  <a:schemeClr val="tx1"/>
                </a:solidFill>
                <a:latin typeface="Times New Roman" pitchFamily="18" charset="0"/>
                <a:ea typeface="宋体" charset="-122"/>
                <a:cs typeface="+mn-cs"/>
              </a:rPr>
              <a:t>DNS</a:t>
            </a:r>
            <a:r>
              <a:rPr kumimoji="1" lang="zh-CN" altLang="en-US" sz="1200" b="0" i="0" u="none" strike="noStrike" kern="1200" baseline="0" dirty="0">
                <a:solidFill>
                  <a:schemeClr val="tx1"/>
                </a:solidFill>
                <a:latin typeface="Times New Roman" pitchFamily="18" charset="0"/>
                <a:ea typeface="宋体" charset="-122"/>
                <a:cs typeface="+mn-cs"/>
              </a:rPr>
              <a:t>：全球域名解析路径劫持测量与分析），报告内容为上述论文</a:t>
            </a:r>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124</a:t>
            </a:fld>
            <a:endParaRPr lang="en-US" altLang="zh-CN"/>
          </a:p>
        </p:txBody>
      </p:sp>
    </p:spTree>
    <p:extLst>
      <p:ext uri="{BB962C8B-B14F-4D97-AF65-F5344CB8AC3E}">
        <p14:creationId xmlns:p14="http://schemas.microsoft.com/office/powerpoint/2010/main" val="131789735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清华段海新教授论文</a:t>
            </a:r>
            <a:r>
              <a:rPr kumimoji="1" lang="en-US" altLang="zh-CN" sz="1200" kern="1200" dirty="0">
                <a:solidFill>
                  <a:schemeClr val="tx1"/>
                </a:solidFill>
                <a:effectLst/>
                <a:latin typeface="Times New Roman" pitchFamily="18" charset="0"/>
                <a:ea typeface="宋体" charset="-122"/>
                <a:cs typeface="+mn-cs"/>
              </a:rPr>
              <a:t>[42] </a:t>
            </a:r>
            <a:r>
              <a:rPr kumimoji="1" lang="en-US" altLang="zh-CN" sz="1200" kern="1200" dirty="0" err="1">
                <a:solidFill>
                  <a:schemeClr val="tx1"/>
                </a:solidFill>
                <a:effectLst/>
                <a:latin typeface="Times New Roman" pitchFamily="18" charset="0"/>
                <a:ea typeface="宋体" charset="-122"/>
                <a:cs typeface="+mn-cs"/>
              </a:rPr>
              <a:t>Baojun</a:t>
            </a:r>
            <a:r>
              <a:rPr kumimoji="1" lang="en-US" altLang="zh-CN" sz="1200" kern="1200" dirty="0">
                <a:solidFill>
                  <a:schemeClr val="tx1"/>
                </a:solidFill>
                <a:effectLst/>
                <a:latin typeface="Times New Roman" pitchFamily="18" charset="0"/>
                <a:ea typeface="宋体" charset="-122"/>
                <a:cs typeface="+mn-cs"/>
              </a:rPr>
              <a:t> Liu, </a:t>
            </a:r>
            <a:r>
              <a:rPr kumimoji="1" lang="en-US" altLang="zh-CN" sz="1200" kern="1200" dirty="0" err="1">
                <a:solidFill>
                  <a:schemeClr val="tx1"/>
                </a:solidFill>
                <a:effectLst/>
                <a:latin typeface="Times New Roman" pitchFamily="18" charset="0"/>
                <a:ea typeface="宋体" charset="-122"/>
                <a:cs typeface="+mn-cs"/>
              </a:rPr>
              <a:t>Chaoyi</a:t>
            </a:r>
            <a:r>
              <a:rPr kumimoji="1" lang="en-US" altLang="zh-CN" sz="1200" kern="1200" dirty="0">
                <a:solidFill>
                  <a:schemeClr val="tx1"/>
                </a:solidFill>
                <a:effectLst/>
                <a:latin typeface="Times New Roman" pitchFamily="18" charset="0"/>
                <a:ea typeface="宋体" charset="-122"/>
                <a:cs typeface="+mn-cs"/>
              </a:rPr>
              <a:t> Lu, </a:t>
            </a:r>
            <a:r>
              <a:rPr kumimoji="1" lang="en-US" altLang="zh-CN" sz="1200" kern="1200" dirty="0" err="1">
                <a:solidFill>
                  <a:schemeClr val="tx1"/>
                </a:solidFill>
                <a:effectLst/>
                <a:latin typeface="Times New Roman" pitchFamily="18" charset="0"/>
                <a:ea typeface="宋体" charset="-122"/>
                <a:cs typeface="+mn-cs"/>
              </a:rPr>
              <a:t>HaixinDuan</a:t>
            </a:r>
            <a:r>
              <a:rPr kumimoji="1" lang="en-US" altLang="zh-CN" sz="1200" kern="1200" dirty="0">
                <a:solidFill>
                  <a:schemeClr val="tx1"/>
                </a:solidFill>
                <a:effectLst/>
                <a:latin typeface="Times New Roman" pitchFamily="18" charset="0"/>
                <a:ea typeface="宋体" charset="-122"/>
                <a:cs typeface="+mn-cs"/>
              </a:rPr>
              <a:t>, etc. Who Is Answering My </a:t>
            </a:r>
            <a:r>
              <a:rPr kumimoji="1" lang="en-US" altLang="zh-CN" sz="1200" kern="1200" dirty="0" err="1">
                <a:solidFill>
                  <a:schemeClr val="tx1"/>
                </a:solidFill>
                <a:effectLst/>
                <a:latin typeface="Times New Roman" pitchFamily="18" charset="0"/>
                <a:ea typeface="宋体" charset="-122"/>
                <a:cs typeface="+mn-cs"/>
              </a:rPr>
              <a:t>Queries?Understanding</a:t>
            </a:r>
            <a:r>
              <a:rPr kumimoji="1" lang="en-US" altLang="zh-CN" sz="1200" kern="1200" dirty="0">
                <a:solidFill>
                  <a:schemeClr val="tx1"/>
                </a:solidFill>
                <a:effectLst/>
                <a:latin typeface="Times New Roman" pitchFamily="18" charset="0"/>
                <a:ea typeface="宋体" charset="-122"/>
                <a:cs typeface="+mn-cs"/>
              </a:rPr>
              <a:t> and Characterizing Hidden Interception of the DNS Resolution Path [C]. // USENIX Security 2018, Aug. 15–17, 2018, BALTIMORE, MD, USA. </a:t>
            </a:r>
            <a:endParaRPr kumimoji="1" lang="zh-CN" altLang="zh-CN" sz="1200" kern="1200" dirty="0">
              <a:solidFill>
                <a:schemeClr val="tx1"/>
              </a:solidFill>
              <a:effectLst/>
              <a:latin typeface="Times New Roman" pitchFamily="18" charset="0"/>
              <a:ea typeface="宋体"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t>PPT</a:t>
            </a:r>
            <a:r>
              <a:rPr lang="zh-CN" altLang="en-US" dirty="0"/>
              <a:t>部分来自刘保君在</a:t>
            </a:r>
            <a:r>
              <a:rPr lang="en-US" altLang="zh-CN" dirty="0"/>
              <a:t>Inforsec2019</a:t>
            </a:r>
            <a:r>
              <a:rPr lang="zh-CN" altLang="en-US" dirty="0"/>
              <a:t>年会上的学术报告（</a:t>
            </a:r>
            <a:r>
              <a:rPr kumimoji="1" lang="zh-CN" altLang="en-US" sz="1200" b="0" i="0" u="none" strike="noStrike" kern="1200" baseline="0" dirty="0">
                <a:solidFill>
                  <a:schemeClr val="tx1"/>
                </a:solidFill>
                <a:latin typeface="Times New Roman" pitchFamily="18" charset="0"/>
                <a:ea typeface="宋体" charset="-122"/>
                <a:cs typeface="+mn-cs"/>
              </a:rPr>
              <a:t> 谁劫持了我的</a:t>
            </a:r>
            <a:r>
              <a:rPr kumimoji="1" lang="en-US" altLang="zh-CN" sz="1200" b="0" i="0" u="none" strike="noStrike" kern="1200" baseline="0" dirty="0">
                <a:solidFill>
                  <a:schemeClr val="tx1"/>
                </a:solidFill>
                <a:latin typeface="Times New Roman" pitchFamily="18" charset="0"/>
                <a:ea typeface="宋体" charset="-122"/>
                <a:cs typeface="+mn-cs"/>
              </a:rPr>
              <a:t>DNS</a:t>
            </a:r>
            <a:r>
              <a:rPr kumimoji="1" lang="zh-CN" altLang="en-US" sz="1200" b="0" i="0" u="none" strike="noStrike" kern="1200" baseline="0" dirty="0">
                <a:solidFill>
                  <a:schemeClr val="tx1"/>
                </a:solidFill>
                <a:latin typeface="Times New Roman" pitchFamily="18" charset="0"/>
                <a:ea typeface="宋体" charset="-122"/>
                <a:cs typeface="+mn-cs"/>
              </a:rPr>
              <a:t>：全球域名解析路径劫持测量与分析），报告内容为上述论文</a:t>
            </a:r>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125</a:t>
            </a:fld>
            <a:endParaRPr lang="en-US" altLang="zh-CN"/>
          </a:p>
        </p:txBody>
      </p:sp>
    </p:spTree>
    <p:extLst>
      <p:ext uri="{BB962C8B-B14F-4D97-AF65-F5344CB8AC3E}">
        <p14:creationId xmlns:p14="http://schemas.microsoft.com/office/powerpoint/2010/main" val="233250452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PPT</a:t>
            </a:r>
            <a:r>
              <a:rPr lang="zh-CN" altLang="en-US" dirty="0"/>
              <a:t>部分来自段海新教授团队成员郑晓峰在</a:t>
            </a:r>
            <a:r>
              <a:rPr lang="en-US" altLang="zh-CN" dirty="0"/>
              <a:t>Inforsec2019</a:t>
            </a:r>
            <a:r>
              <a:rPr lang="zh-CN" altLang="en-US" dirty="0"/>
              <a:t>年会上的学术报告（</a:t>
            </a:r>
            <a:r>
              <a:rPr kumimoji="1" lang="zh-CN" altLang="en-US" sz="1200" b="0" i="0" u="none" strike="noStrike" kern="1200" baseline="0" dirty="0">
                <a:solidFill>
                  <a:schemeClr val="tx1"/>
                </a:solidFill>
                <a:latin typeface="Times New Roman" pitchFamily="18" charset="0"/>
                <a:ea typeface="宋体" charset="-122"/>
                <a:cs typeface="+mn-cs"/>
              </a:rPr>
              <a:t>  端到端安全协议的威胁、演进和部署）</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126</a:t>
            </a:fld>
            <a:endParaRPr lang="en-US" altLang="zh-CN"/>
          </a:p>
        </p:txBody>
      </p:sp>
    </p:spTree>
    <p:extLst>
      <p:ext uri="{BB962C8B-B14F-4D97-AF65-F5344CB8AC3E}">
        <p14:creationId xmlns:p14="http://schemas.microsoft.com/office/powerpoint/2010/main" val="46308969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清华段海新教授论文</a:t>
            </a:r>
            <a:r>
              <a:rPr kumimoji="1" lang="en-US" altLang="zh-CN" sz="1200" kern="1200" dirty="0">
                <a:solidFill>
                  <a:schemeClr val="tx1"/>
                </a:solidFill>
                <a:effectLst/>
                <a:latin typeface="Times New Roman" pitchFamily="18" charset="0"/>
                <a:ea typeface="宋体" charset="-122"/>
                <a:cs typeface="+mn-cs"/>
              </a:rPr>
              <a:t>[42] </a:t>
            </a:r>
            <a:r>
              <a:rPr kumimoji="1" lang="en-US" altLang="zh-CN" sz="1200" kern="1200" dirty="0" err="1">
                <a:solidFill>
                  <a:schemeClr val="tx1"/>
                </a:solidFill>
                <a:effectLst/>
                <a:latin typeface="Times New Roman" pitchFamily="18" charset="0"/>
                <a:ea typeface="宋体" charset="-122"/>
                <a:cs typeface="+mn-cs"/>
              </a:rPr>
              <a:t>Baojun</a:t>
            </a:r>
            <a:r>
              <a:rPr kumimoji="1" lang="en-US" altLang="zh-CN" sz="1200" kern="1200" dirty="0">
                <a:solidFill>
                  <a:schemeClr val="tx1"/>
                </a:solidFill>
                <a:effectLst/>
                <a:latin typeface="Times New Roman" pitchFamily="18" charset="0"/>
                <a:ea typeface="宋体" charset="-122"/>
                <a:cs typeface="+mn-cs"/>
              </a:rPr>
              <a:t> Liu, </a:t>
            </a:r>
            <a:r>
              <a:rPr kumimoji="1" lang="en-US" altLang="zh-CN" sz="1200" kern="1200" dirty="0" err="1">
                <a:solidFill>
                  <a:schemeClr val="tx1"/>
                </a:solidFill>
                <a:effectLst/>
                <a:latin typeface="Times New Roman" pitchFamily="18" charset="0"/>
                <a:ea typeface="宋体" charset="-122"/>
                <a:cs typeface="+mn-cs"/>
              </a:rPr>
              <a:t>Chaoyi</a:t>
            </a:r>
            <a:r>
              <a:rPr kumimoji="1" lang="en-US" altLang="zh-CN" sz="1200" kern="1200" dirty="0">
                <a:solidFill>
                  <a:schemeClr val="tx1"/>
                </a:solidFill>
                <a:effectLst/>
                <a:latin typeface="Times New Roman" pitchFamily="18" charset="0"/>
                <a:ea typeface="宋体" charset="-122"/>
                <a:cs typeface="+mn-cs"/>
              </a:rPr>
              <a:t> Lu, </a:t>
            </a:r>
            <a:r>
              <a:rPr kumimoji="1" lang="en-US" altLang="zh-CN" sz="1200" kern="1200" dirty="0" err="1">
                <a:solidFill>
                  <a:schemeClr val="tx1"/>
                </a:solidFill>
                <a:effectLst/>
                <a:latin typeface="Times New Roman" pitchFamily="18" charset="0"/>
                <a:ea typeface="宋体" charset="-122"/>
                <a:cs typeface="+mn-cs"/>
              </a:rPr>
              <a:t>HaixinDuan</a:t>
            </a:r>
            <a:r>
              <a:rPr kumimoji="1" lang="en-US" altLang="zh-CN" sz="1200" kern="1200" dirty="0">
                <a:solidFill>
                  <a:schemeClr val="tx1"/>
                </a:solidFill>
                <a:effectLst/>
                <a:latin typeface="Times New Roman" pitchFamily="18" charset="0"/>
                <a:ea typeface="宋体" charset="-122"/>
                <a:cs typeface="+mn-cs"/>
              </a:rPr>
              <a:t>, etc. Who Is Answering My </a:t>
            </a:r>
            <a:r>
              <a:rPr kumimoji="1" lang="en-US" altLang="zh-CN" sz="1200" kern="1200" dirty="0" err="1">
                <a:solidFill>
                  <a:schemeClr val="tx1"/>
                </a:solidFill>
                <a:effectLst/>
                <a:latin typeface="Times New Roman" pitchFamily="18" charset="0"/>
                <a:ea typeface="宋体" charset="-122"/>
                <a:cs typeface="+mn-cs"/>
              </a:rPr>
              <a:t>Queries?Understanding</a:t>
            </a:r>
            <a:r>
              <a:rPr kumimoji="1" lang="en-US" altLang="zh-CN" sz="1200" kern="1200" dirty="0">
                <a:solidFill>
                  <a:schemeClr val="tx1"/>
                </a:solidFill>
                <a:effectLst/>
                <a:latin typeface="Times New Roman" pitchFamily="18" charset="0"/>
                <a:ea typeface="宋体" charset="-122"/>
                <a:cs typeface="+mn-cs"/>
              </a:rPr>
              <a:t> and Characterizing Hidden Interception of the DNS Resolution Path [C]. // USENIX Security 2018, Aug. 15–17, 2018, BALTIMORE, MD, USA. </a:t>
            </a:r>
            <a:endParaRPr kumimoji="1" lang="zh-CN" altLang="zh-CN" sz="1200" kern="1200" dirty="0">
              <a:solidFill>
                <a:schemeClr val="tx1"/>
              </a:solidFill>
              <a:effectLst/>
              <a:latin typeface="Times New Roman" pitchFamily="18" charset="0"/>
              <a:ea typeface="宋体"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t>PPT</a:t>
            </a:r>
            <a:r>
              <a:rPr lang="zh-CN" altLang="en-US" dirty="0"/>
              <a:t>部分来自刘保君在</a:t>
            </a:r>
            <a:r>
              <a:rPr lang="en-US" altLang="zh-CN" dirty="0"/>
              <a:t>Inforsec2019</a:t>
            </a:r>
            <a:r>
              <a:rPr lang="zh-CN" altLang="en-US" dirty="0"/>
              <a:t>年会上的学术报告（</a:t>
            </a:r>
            <a:r>
              <a:rPr kumimoji="1" lang="zh-CN" altLang="en-US" sz="1200" b="0" i="0" u="none" strike="noStrike" kern="1200" baseline="0" dirty="0">
                <a:solidFill>
                  <a:schemeClr val="tx1"/>
                </a:solidFill>
                <a:latin typeface="Times New Roman" pitchFamily="18" charset="0"/>
                <a:ea typeface="宋体" charset="-122"/>
                <a:cs typeface="+mn-cs"/>
              </a:rPr>
              <a:t> 谁劫持了我的</a:t>
            </a:r>
            <a:r>
              <a:rPr kumimoji="1" lang="en-US" altLang="zh-CN" sz="1200" b="0" i="0" u="none" strike="noStrike" kern="1200" baseline="0" dirty="0">
                <a:solidFill>
                  <a:schemeClr val="tx1"/>
                </a:solidFill>
                <a:latin typeface="Times New Roman" pitchFamily="18" charset="0"/>
                <a:ea typeface="宋体" charset="-122"/>
                <a:cs typeface="+mn-cs"/>
              </a:rPr>
              <a:t>DNS</a:t>
            </a:r>
            <a:r>
              <a:rPr kumimoji="1" lang="zh-CN" altLang="en-US" sz="1200" b="0" i="0" u="none" strike="noStrike" kern="1200" baseline="0" dirty="0">
                <a:solidFill>
                  <a:schemeClr val="tx1"/>
                </a:solidFill>
                <a:latin typeface="Times New Roman" pitchFamily="18" charset="0"/>
                <a:ea typeface="宋体" charset="-122"/>
                <a:cs typeface="+mn-cs"/>
              </a:rPr>
              <a:t>：全球域名解析路径劫持测量与分析），报告内容为上述论文</a:t>
            </a:r>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127</a:t>
            </a:fld>
            <a:endParaRPr lang="en-US" altLang="zh-CN"/>
          </a:p>
        </p:txBody>
      </p:sp>
    </p:spTree>
    <p:extLst>
      <p:ext uri="{BB962C8B-B14F-4D97-AF65-F5344CB8AC3E}">
        <p14:creationId xmlns:p14="http://schemas.microsoft.com/office/powerpoint/2010/main" val="112994212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清华段海新教授论文</a:t>
            </a:r>
            <a:r>
              <a:rPr kumimoji="1" lang="en-US" altLang="zh-CN" sz="1200" kern="1200" dirty="0">
                <a:solidFill>
                  <a:schemeClr val="tx1"/>
                </a:solidFill>
                <a:effectLst/>
                <a:latin typeface="Times New Roman" pitchFamily="18" charset="0"/>
                <a:ea typeface="宋体" charset="-122"/>
                <a:cs typeface="+mn-cs"/>
              </a:rPr>
              <a:t>[42] </a:t>
            </a:r>
            <a:r>
              <a:rPr kumimoji="1" lang="en-US" altLang="zh-CN" sz="1200" kern="1200" dirty="0" err="1">
                <a:solidFill>
                  <a:schemeClr val="tx1"/>
                </a:solidFill>
                <a:effectLst/>
                <a:latin typeface="Times New Roman" pitchFamily="18" charset="0"/>
                <a:ea typeface="宋体" charset="-122"/>
                <a:cs typeface="+mn-cs"/>
              </a:rPr>
              <a:t>Baojun</a:t>
            </a:r>
            <a:r>
              <a:rPr kumimoji="1" lang="en-US" altLang="zh-CN" sz="1200" kern="1200" dirty="0">
                <a:solidFill>
                  <a:schemeClr val="tx1"/>
                </a:solidFill>
                <a:effectLst/>
                <a:latin typeface="Times New Roman" pitchFamily="18" charset="0"/>
                <a:ea typeface="宋体" charset="-122"/>
                <a:cs typeface="+mn-cs"/>
              </a:rPr>
              <a:t> Liu, </a:t>
            </a:r>
            <a:r>
              <a:rPr kumimoji="1" lang="en-US" altLang="zh-CN" sz="1200" kern="1200" dirty="0" err="1">
                <a:solidFill>
                  <a:schemeClr val="tx1"/>
                </a:solidFill>
                <a:effectLst/>
                <a:latin typeface="Times New Roman" pitchFamily="18" charset="0"/>
                <a:ea typeface="宋体" charset="-122"/>
                <a:cs typeface="+mn-cs"/>
              </a:rPr>
              <a:t>Chaoyi</a:t>
            </a:r>
            <a:r>
              <a:rPr kumimoji="1" lang="en-US" altLang="zh-CN" sz="1200" kern="1200" dirty="0">
                <a:solidFill>
                  <a:schemeClr val="tx1"/>
                </a:solidFill>
                <a:effectLst/>
                <a:latin typeface="Times New Roman" pitchFamily="18" charset="0"/>
                <a:ea typeface="宋体" charset="-122"/>
                <a:cs typeface="+mn-cs"/>
              </a:rPr>
              <a:t> Lu, </a:t>
            </a:r>
            <a:r>
              <a:rPr kumimoji="1" lang="en-US" altLang="zh-CN" sz="1200" kern="1200" dirty="0" err="1">
                <a:solidFill>
                  <a:schemeClr val="tx1"/>
                </a:solidFill>
                <a:effectLst/>
                <a:latin typeface="Times New Roman" pitchFamily="18" charset="0"/>
                <a:ea typeface="宋体" charset="-122"/>
                <a:cs typeface="+mn-cs"/>
              </a:rPr>
              <a:t>HaixinDuan</a:t>
            </a:r>
            <a:r>
              <a:rPr kumimoji="1" lang="en-US" altLang="zh-CN" sz="1200" kern="1200" dirty="0">
                <a:solidFill>
                  <a:schemeClr val="tx1"/>
                </a:solidFill>
                <a:effectLst/>
                <a:latin typeface="Times New Roman" pitchFamily="18" charset="0"/>
                <a:ea typeface="宋体" charset="-122"/>
                <a:cs typeface="+mn-cs"/>
              </a:rPr>
              <a:t>, etc. Who Is Answering My </a:t>
            </a:r>
            <a:r>
              <a:rPr kumimoji="1" lang="en-US" altLang="zh-CN" sz="1200" kern="1200" dirty="0" err="1">
                <a:solidFill>
                  <a:schemeClr val="tx1"/>
                </a:solidFill>
                <a:effectLst/>
                <a:latin typeface="Times New Roman" pitchFamily="18" charset="0"/>
                <a:ea typeface="宋体" charset="-122"/>
                <a:cs typeface="+mn-cs"/>
              </a:rPr>
              <a:t>Queries?Understanding</a:t>
            </a:r>
            <a:r>
              <a:rPr kumimoji="1" lang="en-US" altLang="zh-CN" sz="1200" kern="1200" dirty="0">
                <a:solidFill>
                  <a:schemeClr val="tx1"/>
                </a:solidFill>
                <a:effectLst/>
                <a:latin typeface="Times New Roman" pitchFamily="18" charset="0"/>
                <a:ea typeface="宋体" charset="-122"/>
                <a:cs typeface="+mn-cs"/>
              </a:rPr>
              <a:t> and Characterizing Hidden Interception of the DNS Resolution Path [C]. // USENIX Security 2018, Aug. 15–17, 2018, BALTIMORE, MD, USA. </a:t>
            </a:r>
            <a:endParaRPr kumimoji="1" lang="zh-CN" altLang="zh-CN" sz="1200" kern="1200" dirty="0">
              <a:solidFill>
                <a:schemeClr val="tx1"/>
              </a:solidFill>
              <a:effectLst/>
              <a:latin typeface="Times New Roman" pitchFamily="18" charset="0"/>
              <a:ea typeface="宋体"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t>PPT</a:t>
            </a:r>
            <a:r>
              <a:rPr lang="zh-CN" altLang="en-US" dirty="0"/>
              <a:t>部分来自刘保君在</a:t>
            </a:r>
            <a:r>
              <a:rPr lang="en-US" altLang="zh-CN" dirty="0"/>
              <a:t>Inforsec2019</a:t>
            </a:r>
            <a:r>
              <a:rPr lang="zh-CN" altLang="en-US" dirty="0"/>
              <a:t>年会上的学术报告（</a:t>
            </a:r>
            <a:r>
              <a:rPr kumimoji="1" lang="zh-CN" altLang="en-US" sz="1200" b="0" i="0" u="none" strike="noStrike" kern="1200" baseline="0" dirty="0">
                <a:solidFill>
                  <a:schemeClr val="tx1"/>
                </a:solidFill>
                <a:latin typeface="Times New Roman" pitchFamily="18" charset="0"/>
                <a:ea typeface="宋体" charset="-122"/>
                <a:cs typeface="+mn-cs"/>
              </a:rPr>
              <a:t> 谁劫持了我的</a:t>
            </a:r>
            <a:r>
              <a:rPr kumimoji="1" lang="en-US" altLang="zh-CN" sz="1200" b="0" i="0" u="none" strike="noStrike" kern="1200" baseline="0" dirty="0">
                <a:solidFill>
                  <a:schemeClr val="tx1"/>
                </a:solidFill>
                <a:latin typeface="Times New Roman" pitchFamily="18" charset="0"/>
                <a:ea typeface="宋体" charset="-122"/>
                <a:cs typeface="+mn-cs"/>
              </a:rPr>
              <a:t>DNS</a:t>
            </a:r>
            <a:r>
              <a:rPr kumimoji="1" lang="zh-CN" altLang="en-US" sz="1200" b="0" i="0" u="none" strike="noStrike" kern="1200" baseline="0" dirty="0">
                <a:solidFill>
                  <a:schemeClr val="tx1"/>
                </a:solidFill>
                <a:latin typeface="Times New Roman" pitchFamily="18" charset="0"/>
                <a:ea typeface="宋体" charset="-122"/>
                <a:cs typeface="+mn-cs"/>
              </a:rPr>
              <a:t>：全球域名解析路径劫持测量与分析），报告内容为上述论文</a:t>
            </a:r>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128</a:t>
            </a:fld>
            <a:endParaRPr lang="en-US" altLang="zh-CN"/>
          </a:p>
        </p:txBody>
      </p:sp>
    </p:spTree>
    <p:extLst>
      <p:ext uri="{BB962C8B-B14F-4D97-AF65-F5344CB8AC3E}">
        <p14:creationId xmlns:p14="http://schemas.microsoft.com/office/powerpoint/2010/main" val="423283350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清华段海新教授论文</a:t>
            </a:r>
            <a:r>
              <a:rPr kumimoji="1" lang="en-US" altLang="zh-CN" sz="1200" kern="1200" dirty="0">
                <a:solidFill>
                  <a:schemeClr val="tx1"/>
                </a:solidFill>
                <a:effectLst/>
                <a:latin typeface="Times New Roman" pitchFamily="18" charset="0"/>
                <a:ea typeface="宋体" charset="-122"/>
                <a:cs typeface="+mn-cs"/>
              </a:rPr>
              <a:t>[42] </a:t>
            </a:r>
            <a:r>
              <a:rPr kumimoji="1" lang="en-US" altLang="zh-CN" sz="1200" kern="1200" dirty="0" err="1">
                <a:solidFill>
                  <a:schemeClr val="tx1"/>
                </a:solidFill>
                <a:effectLst/>
                <a:latin typeface="Times New Roman" pitchFamily="18" charset="0"/>
                <a:ea typeface="宋体" charset="-122"/>
                <a:cs typeface="+mn-cs"/>
              </a:rPr>
              <a:t>Baojun</a:t>
            </a:r>
            <a:r>
              <a:rPr kumimoji="1" lang="en-US" altLang="zh-CN" sz="1200" kern="1200" dirty="0">
                <a:solidFill>
                  <a:schemeClr val="tx1"/>
                </a:solidFill>
                <a:effectLst/>
                <a:latin typeface="Times New Roman" pitchFamily="18" charset="0"/>
                <a:ea typeface="宋体" charset="-122"/>
                <a:cs typeface="+mn-cs"/>
              </a:rPr>
              <a:t> Liu, </a:t>
            </a:r>
            <a:r>
              <a:rPr kumimoji="1" lang="en-US" altLang="zh-CN" sz="1200" kern="1200" dirty="0" err="1">
                <a:solidFill>
                  <a:schemeClr val="tx1"/>
                </a:solidFill>
                <a:effectLst/>
                <a:latin typeface="Times New Roman" pitchFamily="18" charset="0"/>
                <a:ea typeface="宋体" charset="-122"/>
                <a:cs typeface="+mn-cs"/>
              </a:rPr>
              <a:t>Chaoyi</a:t>
            </a:r>
            <a:r>
              <a:rPr kumimoji="1" lang="en-US" altLang="zh-CN" sz="1200" kern="1200" dirty="0">
                <a:solidFill>
                  <a:schemeClr val="tx1"/>
                </a:solidFill>
                <a:effectLst/>
                <a:latin typeface="Times New Roman" pitchFamily="18" charset="0"/>
                <a:ea typeface="宋体" charset="-122"/>
                <a:cs typeface="+mn-cs"/>
              </a:rPr>
              <a:t> Lu, </a:t>
            </a:r>
            <a:r>
              <a:rPr kumimoji="1" lang="en-US" altLang="zh-CN" sz="1200" kern="1200" dirty="0" err="1">
                <a:solidFill>
                  <a:schemeClr val="tx1"/>
                </a:solidFill>
                <a:effectLst/>
                <a:latin typeface="Times New Roman" pitchFamily="18" charset="0"/>
                <a:ea typeface="宋体" charset="-122"/>
                <a:cs typeface="+mn-cs"/>
              </a:rPr>
              <a:t>HaixinDuan</a:t>
            </a:r>
            <a:r>
              <a:rPr kumimoji="1" lang="en-US" altLang="zh-CN" sz="1200" kern="1200" dirty="0">
                <a:solidFill>
                  <a:schemeClr val="tx1"/>
                </a:solidFill>
                <a:effectLst/>
                <a:latin typeface="Times New Roman" pitchFamily="18" charset="0"/>
                <a:ea typeface="宋体" charset="-122"/>
                <a:cs typeface="+mn-cs"/>
              </a:rPr>
              <a:t>, etc. Who Is Answering My </a:t>
            </a:r>
            <a:r>
              <a:rPr kumimoji="1" lang="en-US" altLang="zh-CN" sz="1200" kern="1200" dirty="0" err="1">
                <a:solidFill>
                  <a:schemeClr val="tx1"/>
                </a:solidFill>
                <a:effectLst/>
                <a:latin typeface="Times New Roman" pitchFamily="18" charset="0"/>
                <a:ea typeface="宋体" charset="-122"/>
                <a:cs typeface="+mn-cs"/>
              </a:rPr>
              <a:t>Queries?Understanding</a:t>
            </a:r>
            <a:r>
              <a:rPr kumimoji="1" lang="en-US" altLang="zh-CN" sz="1200" kern="1200" dirty="0">
                <a:solidFill>
                  <a:schemeClr val="tx1"/>
                </a:solidFill>
                <a:effectLst/>
                <a:latin typeface="Times New Roman" pitchFamily="18" charset="0"/>
                <a:ea typeface="宋体" charset="-122"/>
                <a:cs typeface="+mn-cs"/>
              </a:rPr>
              <a:t> and Characterizing Hidden Interception of the DNS Resolution Path [C]. // USENIX Security 2018, Aug. 15–17, 2018, BALTIMORE, MD, USA. </a:t>
            </a:r>
            <a:endParaRPr kumimoji="1" lang="zh-CN" altLang="zh-CN" sz="1200" kern="1200" dirty="0">
              <a:solidFill>
                <a:schemeClr val="tx1"/>
              </a:solidFill>
              <a:effectLst/>
              <a:latin typeface="Times New Roman" pitchFamily="18" charset="0"/>
              <a:ea typeface="宋体"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t>PPT</a:t>
            </a:r>
            <a:r>
              <a:rPr lang="zh-CN" altLang="en-US" dirty="0"/>
              <a:t>部分来自刘保君在</a:t>
            </a:r>
            <a:r>
              <a:rPr lang="en-US" altLang="zh-CN" dirty="0"/>
              <a:t>Inforsec2019</a:t>
            </a:r>
            <a:r>
              <a:rPr lang="zh-CN" altLang="en-US" dirty="0"/>
              <a:t>年会上的学术报告（</a:t>
            </a:r>
            <a:r>
              <a:rPr kumimoji="1" lang="zh-CN" altLang="en-US" sz="1200" b="0" i="0" u="none" strike="noStrike" kern="1200" baseline="0" dirty="0">
                <a:solidFill>
                  <a:schemeClr val="tx1"/>
                </a:solidFill>
                <a:latin typeface="Times New Roman" pitchFamily="18" charset="0"/>
                <a:ea typeface="宋体" charset="-122"/>
                <a:cs typeface="+mn-cs"/>
              </a:rPr>
              <a:t> 谁劫持了我的</a:t>
            </a:r>
            <a:r>
              <a:rPr kumimoji="1" lang="en-US" altLang="zh-CN" sz="1200" b="0" i="0" u="none" strike="noStrike" kern="1200" baseline="0" dirty="0">
                <a:solidFill>
                  <a:schemeClr val="tx1"/>
                </a:solidFill>
                <a:latin typeface="Times New Roman" pitchFamily="18" charset="0"/>
                <a:ea typeface="宋体" charset="-122"/>
                <a:cs typeface="+mn-cs"/>
              </a:rPr>
              <a:t>DNS</a:t>
            </a:r>
            <a:r>
              <a:rPr kumimoji="1" lang="zh-CN" altLang="en-US" sz="1200" b="0" i="0" u="none" strike="noStrike" kern="1200" baseline="0" dirty="0">
                <a:solidFill>
                  <a:schemeClr val="tx1"/>
                </a:solidFill>
                <a:latin typeface="Times New Roman" pitchFamily="18" charset="0"/>
                <a:ea typeface="宋体" charset="-122"/>
                <a:cs typeface="+mn-cs"/>
              </a:rPr>
              <a:t>：全球域名解析路径劫持测量与分析），报告内容为上述论文</a:t>
            </a:r>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129</a:t>
            </a:fld>
            <a:endParaRPr lang="en-US" altLang="zh-CN"/>
          </a:p>
        </p:txBody>
      </p:sp>
    </p:spTree>
    <p:extLst>
      <p:ext uri="{BB962C8B-B14F-4D97-AF65-F5344CB8AC3E}">
        <p14:creationId xmlns:p14="http://schemas.microsoft.com/office/powerpoint/2010/main" val="280740718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清华段海新教授论文</a:t>
            </a:r>
            <a:r>
              <a:rPr kumimoji="1" lang="en-US" altLang="zh-CN" sz="1200" kern="1200" dirty="0">
                <a:solidFill>
                  <a:schemeClr val="tx1"/>
                </a:solidFill>
                <a:effectLst/>
                <a:latin typeface="Times New Roman" pitchFamily="18" charset="0"/>
                <a:ea typeface="宋体" charset="-122"/>
                <a:cs typeface="+mn-cs"/>
              </a:rPr>
              <a:t>[42] </a:t>
            </a:r>
            <a:r>
              <a:rPr kumimoji="1" lang="en-US" altLang="zh-CN" sz="1200" kern="1200" dirty="0" err="1">
                <a:solidFill>
                  <a:schemeClr val="tx1"/>
                </a:solidFill>
                <a:effectLst/>
                <a:latin typeface="Times New Roman" pitchFamily="18" charset="0"/>
                <a:ea typeface="宋体" charset="-122"/>
                <a:cs typeface="+mn-cs"/>
              </a:rPr>
              <a:t>Baojun</a:t>
            </a:r>
            <a:r>
              <a:rPr kumimoji="1" lang="en-US" altLang="zh-CN" sz="1200" kern="1200" dirty="0">
                <a:solidFill>
                  <a:schemeClr val="tx1"/>
                </a:solidFill>
                <a:effectLst/>
                <a:latin typeface="Times New Roman" pitchFamily="18" charset="0"/>
                <a:ea typeface="宋体" charset="-122"/>
                <a:cs typeface="+mn-cs"/>
              </a:rPr>
              <a:t> Liu, </a:t>
            </a:r>
            <a:r>
              <a:rPr kumimoji="1" lang="en-US" altLang="zh-CN" sz="1200" kern="1200" dirty="0" err="1">
                <a:solidFill>
                  <a:schemeClr val="tx1"/>
                </a:solidFill>
                <a:effectLst/>
                <a:latin typeface="Times New Roman" pitchFamily="18" charset="0"/>
                <a:ea typeface="宋体" charset="-122"/>
                <a:cs typeface="+mn-cs"/>
              </a:rPr>
              <a:t>Chaoyi</a:t>
            </a:r>
            <a:r>
              <a:rPr kumimoji="1" lang="en-US" altLang="zh-CN" sz="1200" kern="1200" dirty="0">
                <a:solidFill>
                  <a:schemeClr val="tx1"/>
                </a:solidFill>
                <a:effectLst/>
                <a:latin typeface="Times New Roman" pitchFamily="18" charset="0"/>
                <a:ea typeface="宋体" charset="-122"/>
                <a:cs typeface="+mn-cs"/>
              </a:rPr>
              <a:t> Lu, </a:t>
            </a:r>
            <a:r>
              <a:rPr kumimoji="1" lang="en-US" altLang="zh-CN" sz="1200" kern="1200" dirty="0" err="1">
                <a:solidFill>
                  <a:schemeClr val="tx1"/>
                </a:solidFill>
                <a:effectLst/>
                <a:latin typeface="Times New Roman" pitchFamily="18" charset="0"/>
                <a:ea typeface="宋体" charset="-122"/>
                <a:cs typeface="+mn-cs"/>
              </a:rPr>
              <a:t>HaixinDuan</a:t>
            </a:r>
            <a:r>
              <a:rPr kumimoji="1" lang="en-US" altLang="zh-CN" sz="1200" kern="1200" dirty="0">
                <a:solidFill>
                  <a:schemeClr val="tx1"/>
                </a:solidFill>
                <a:effectLst/>
                <a:latin typeface="Times New Roman" pitchFamily="18" charset="0"/>
                <a:ea typeface="宋体" charset="-122"/>
                <a:cs typeface="+mn-cs"/>
              </a:rPr>
              <a:t>, etc. Who Is Answering My </a:t>
            </a:r>
            <a:r>
              <a:rPr kumimoji="1" lang="en-US" altLang="zh-CN" sz="1200" kern="1200" dirty="0" err="1">
                <a:solidFill>
                  <a:schemeClr val="tx1"/>
                </a:solidFill>
                <a:effectLst/>
                <a:latin typeface="Times New Roman" pitchFamily="18" charset="0"/>
                <a:ea typeface="宋体" charset="-122"/>
                <a:cs typeface="+mn-cs"/>
              </a:rPr>
              <a:t>Queries?Understanding</a:t>
            </a:r>
            <a:r>
              <a:rPr kumimoji="1" lang="en-US" altLang="zh-CN" sz="1200" kern="1200" dirty="0">
                <a:solidFill>
                  <a:schemeClr val="tx1"/>
                </a:solidFill>
                <a:effectLst/>
                <a:latin typeface="Times New Roman" pitchFamily="18" charset="0"/>
                <a:ea typeface="宋体" charset="-122"/>
                <a:cs typeface="+mn-cs"/>
              </a:rPr>
              <a:t> and Characterizing Hidden Interception of the DNS Resolution Path [C]. // USENIX Security 2018, Aug. 15–17, 2018, BALTIMORE, MD, USA. </a:t>
            </a:r>
            <a:endParaRPr kumimoji="1" lang="zh-CN" altLang="zh-CN" sz="1200" kern="1200" dirty="0">
              <a:solidFill>
                <a:schemeClr val="tx1"/>
              </a:solidFill>
              <a:effectLst/>
              <a:latin typeface="Times New Roman" pitchFamily="18" charset="0"/>
              <a:ea typeface="宋体"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t>PPT</a:t>
            </a:r>
            <a:r>
              <a:rPr lang="zh-CN" altLang="en-US" dirty="0"/>
              <a:t>部分来自刘保君在</a:t>
            </a:r>
            <a:r>
              <a:rPr lang="en-US" altLang="zh-CN" dirty="0"/>
              <a:t>Inforsec2019</a:t>
            </a:r>
            <a:r>
              <a:rPr lang="zh-CN" altLang="en-US" dirty="0"/>
              <a:t>年会上的学术报告（</a:t>
            </a:r>
            <a:r>
              <a:rPr kumimoji="1" lang="zh-CN" altLang="en-US" sz="1200" b="0" i="0" u="none" strike="noStrike" kern="1200" baseline="0" dirty="0">
                <a:solidFill>
                  <a:schemeClr val="tx1"/>
                </a:solidFill>
                <a:latin typeface="Times New Roman" pitchFamily="18" charset="0"/>
                <a:ea typeface="宋体" charset="-122"/>
                <a:cs typeface="+mn-cs"/>
              </a:rPr>
              <a:t> 谁劫持了我的</a:t>
            </a:r>
            <a:r>
              <a:rPr kumimoji="1" lang="en-US" altLang="zh-CN" sz="1200" b="0" i="0" u="none" strike="noStrike" kern="1200" baseline="0" dirty="0">
                <a:solidFill>
                  <a:schemeClr val="tx1"/>
                </a:solidFill>
                <a:latin typeface="Times New Roman" pitchFamily="18" charset="0"/>
                <a:ea typeface="宋体" charset="-122"/>
                <a:cs typeface="+mn-cs"/>
              </a:rPr>
              <a:t>DNS</a:t>
            </a:r>
            <a:r>
              <a:rPr kumimoji="1" lang="zh-CN" altLang="en-US" sz="1200" b="0" i="0" u="none" strike="noStrike" kern="1200" baseline="0" dirty="0">
                <a:solidFill>
                  <a:schemeClr val="tx1"/>
                </a:solidFill>
                <a:latin typeface="Times New Roman" pitchFamily="18" charset="0"/>
                <a:ea typeface="宋体" charset="-122"/>
                <a:cs typeface="+mn-cs"/>
              </a:rPr>
              <a:t>：全球域名解析路径劫持测量与分析），报告内容为上述论文</a:t>
            </a:r>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130</a:t>
            </a:fld>
            <a:endParaRPr lang="en-US" altLang="zh-CN"/>
          </a:p>
        </p:txBody>
      </p:sp>
    </p:spTree>
    <p:extLst>
      <p:ext uri="{BB962C8B-B14F-4D97-AF65-F5344CB8AC3E}">
        <p14:creationId xmlns:p14="http://schemas.microsoft.com/office/powerpoint/2010/main" val="114426831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清华段海新教授论文</a:t>
            </a:r>
            <a:r>
              <a:rPr kumimoji="1" lang="en-US" altLang="zh-CN" sz="1200" kern="1200" dirty="0">
                <a:solidFill>
                  <a:schemeClr val="tx1"/>
                </a:solidFill>
                <a:effectLst/>
                <a:latin typeface="Times New Roman" pitchFamily="18" charset="0"/>
                <a:ea typeface="宋体" charset="-122"/>
                <a:cs typeface="+mn-cs"/>
              </a:rPr>
              <a:t>[42] </a:t>
            </a:r>
            <a:r>
              <a:rPr kumimoji="1" lang="en-US" altLang="zh-CN" sz="1200" kern="1200" dirty="0" err="1">
                <a:solidFill>
                  <a:schemeClr val="tx1"/>
                </a:solidFill>
                <a:effectLst/>
                <a:latin typeface="Times New Roman" pitchFamily="18" charset="0"/>
                <a:ea typeface="宋体" charset="-122"/>
                <a:cs typeface="+mn-cs"/>
              </a:rPr>
              <a:t>Baojun</a:t>
            </a:r>
            <a:r>
              <a:rPr kumimoji="1" lang="en-US" altLang="zh-CN" sz="1200" kern="1200" dirty="0">
                <a:solidFill>
                  <a:schemeClr val="tx1"/>
                </a:solidFill>
                <a:effectLst/>
                <a:latin typeface="Times New Roman" pitchFamily="18" charset="0"/>
                <a:ea typeface="宋体" charset="-122"/>
                <a:cs typeface="+mn-cs"/>
              </a:rPr>
              <a:t> Liu, </a:t>
            </a:r>
            <a:r>
              <a:rPr kumimoji="1" lang="en-US" altLang="zh-CN" sz="1200" kern="1200" dirty="0" err="1">
                <a:solidFill>
                  <a:schemeClr val="tx1"/>
                </a:solidFill>
                <a:effectLst/>
                <a:latin typeface="Times New Roman" pitchFamily="18" charset="0"/>
                <a:ea typeface="宋体" charset="-122"/>
                <a:cs typeface="+mn-cs"/>
              </a:rPr>
              <a:t>Chaoyi</a:t>
            </a:r>
            <a:r>
              <a:rPr kumimoji="1" lang="en-US" altLang="zh-CN" sz="1200" kern="1200" dirty="0">
                <a:solidFill>
                  <a:schemeClr val="tx1"/>
                </a:solidFill>
                <a:effectLst/>
                <a:latin typeface="Times New Roman" pitchFamily="18" charset="0"/>
                <a:ea typeface="宋体" charset="-122"/>
                <a:cs typeface="+mn-cs"/>
              </a:rPr>
              <a:t> Lu, </a:t>
            </a:r>
            <a:r>
              <a:rPr kumimoji="1" lang="en-US" altLang="zh-CN" sz="1200" kern="1200" dirty="0" err="1">
                <a:solidFill>
                  <a:schemeClr val="tx1"/>
                </a:solidFill>
                <a:effectLst/>
                <a:latin typeface="Times New Roman" pitchFamily="18" charset="0"/>
                <a:ea typeface="宋体" charset="-122"/>
                <a:cs typeface="+mn-cs"/>
              </a:rPr>
              <a:t>HaixinDuan</a:t>
            </a:r>
            <a:r>
              <a:rPr kumimoji="1" lang="en-US" altLang="zh-CN" sz="1200" kern="1200" dirty="0">
                <a:solidFill>
                  <a:schemeClr val="tx1"/>
                </a:solidFill>
                <a:effectLst/>
                <a:latin typeface="Times New Roman" pitchFamily="18" charset="0"/>
                <a:ea typeface="宋体" charset="-122"/>
                <a:cs typeface="+mn-cs"/>
              </a:rPr>
              <a:t>, etc. Who Is Answering My </a:t>
            </a:r>
            <a:r>
              <a:rPr kumimoji="1" lang="en-US" altLang="zh-CN" sz="1200" kern="1200" dirty="0" err="1">
                <a:solidFill>
                  <a:schemeClr val="tx1"/>
                </a:solidFill>
                <a:effectLst/>
                <a:latin typeface="Times New Roman" pitchFamily="18" charset="0"/>
                <a:ea typeface="宋体" charset="-122"/>
                <a:cs typeface="+mn-cs"/>
              </a:rPr>
              <a:t>Queries?Understanding</a:t>
            </a:r>
            <a:r>
              <a:rPr kumimoji="1" lang="en-US" altLang="zh-CN" sz="1200" kern="1200" dirty="0">
                <a:solidFill>
                  <a:schemeClr val="tx1"/>
                </a:solidFill>
                <a:effectLst/>
                <a:latin typeface="Times New Roman" pitchFamily="18" charset="0"/>
                <a:ea typeface="宋体" charset="-122"/>
                <a:cs typeface="+mn-cs"/>
              </a:rPr>
              <a:t> and Characterizing Hidden Interception of the DNS Resolution Path [C]. // USENIX Security 2018, Aug. 15–17, 2018, BALTIMORE, MD, USA. </a:t>
            </a:r>
            <a:endParaRPr kumimoji="1" lang="zh-CN" altLang="zh-CN" sz="1200" kern="1200" dirty="0">
              <a:solidFill>
                <a:schemeClr val="tx1"/>
              </a:solidFill>
              <a:effectLst/>
              <a:latin typeface="Times New Roman" pitchFamily="18" charset="0"/>
              <a:ea typeface="宋体" charset="-122"/>
              <a:cs typeface="+mn-cs"/>
            </a:endParaRPr>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131</a:t>
            </a:fld>
            <a:endParaRPr lang="en-US" altLang="zh-CN"/>
          </a:p>
        </p:txBody>
      </p:sp>
    </p:spTree>
    <p:extLst>
      <p:ext uri="{BB962C8B-B14F-4D97-AF65-F5344CB8AC3E}">
        <p14:creationId xmlns:p14="http://schemas.microsoft.com/office/powerpoint/2010/main" val="197073544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奇安信发布的</a:t>
            </a:r>
            <a:r>
              <a:rPr lang="en-US" altLang="zh-CN" dirty="0"/>
              <a:t>《</a:t>
            </a:r>
            <a:r>
              <a:rPr lang="zh-CN" altLang="en-US" dirty="0"/>
              <a:t>全球高级可持续威胁（</a:t>
            </a:r>
            <a:r>
              <a:rPr lang="en-US" altLang="zh-CN" dirty="0"/>
              <a:t>APT</a:t>
            </a:r>
            <a:r>
              <a:rPr lang="zh-CN" altLang="en-US" dirty="0"/>
              <a:t>） </a:t>
            </a:r>
            <a:r>
              <a:rPr lang="en-US" altLang="zh-CN" dirty="0"/>
              <a:t>2019 </a:t>
            </a:r>
            <a:r>
              <a:rPr lang="zh-CN" altLang="en-US" dirty="0"/>
              <a:t>报告</a:t>
            </a:r>
            <a:r>
              <a:rPr lang="en-US" altLang="zh-CN"/>
              <a:t>》</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132</a:t>
            </a:fld>
            <a:endParaRPr lang="en-US" altLang="zh-CN"/>
          </a:p>
        </p:txBody>
      </p:sp>
    </p:spTree>
    <p:extLst>
      <p:ext uri="{BB962C8B-B14F-4D97-AF65-F5344CB8AC3E}">
        <p14:creationId xmlns:p14="http://schemas.microsoft.com/office/powerpoint/2010/main" val="386704992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hlinkClick r:id="rId3"/>
              </a:rPr>
              <a:t>https://www.secrss.com/articles/18363</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135</a:t>
            </a:fld>
            <a:endParaRPr lang="en-US" altLang="zh-CN"/>
          </a:p>
        </p:txBody>
      </p:sp>
    </p:spTree>
    <p:extLst>
      <p:ext uri="{BB962C8B-B14F-4D97-AF65-F5344CB8AC3E}">
        <p14:creationId xmlns:p14="http://schemas.microsoft.com/office/powerpoint/2010/main" val="258320764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hlinkClick r:id="rId3"/>
              </a:rPr>
              <a:t>https://www.secrss.com/articles/18363</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136</a:t>
            </a:fld>
            <a:endParaRPr lang="en-US" altLang="zh-CN"/>
          </a:p>
        </p:txBody>
      </p:sp>
    </p:spTree>
    <p:extLst>
      <p:ext uri="{BB962C8B-B14F-4D97-AF65-F5344CB8AC3E}">
        <p14:creationId xmlns:p14="http://schemas.microsoft.com/office/powerpoint/2010/main" val="111457179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hlinkClick r:id="rId3"/>
              </a:rPr>
              <a:t>https://www.secrss.com/articles/18363</a:t>
            </a:r>
            <a:endParaRPr lang="en-US" altLang="zh-CN" dirty="0"/>
          </a:p>
          <a:p>
            <a:r>
              <a:rPr kumimoji="1" lang="zh-CN" altLang="en-US" sz="1200" b="0" i="0" kern="1200" dirty="0">
                <a:solidFill>
                  <a:schemeClr val="tx1"/>
                </a:solidFill>
                <a:effectLst/>
                <a:latin typeface="Times New Roman" pitchFamily="18" charset="0"/>
                <a:ea typeface="宋体" charset="-122"/>
                <a:cs typeface="+mn-cs"/>
              </a:rPr>
              <a:t>其中一个被改的客户是</a:t>
            </a:r>
            <a:r>
              <a:rPr kumimoji="1" lang="en-US" altLang="zh-CN" sz="1200" b="0" i="0" kern="1200" dirty="0">
                <a:solidFill>
                  <a:schemeClr val="tx1"/>
                </a:solidFill>
                <a:effectLst/>
                <a:latin typeface="Times New Roman" pitchFamily="18" charset="0"/>
                <a:ea typeface="宋体" charset="-122"/>
                <a:cs typeface="+mn-cs"/>
              </a:rPr>
              <a:t>Escrow.com </a:t>
            </a:r>
            <a:r>
              <a:rPr kumimoji="1" lang="zh-CN" altLang="en-US" sz="1200" b="0" i="0" kern="1200" dirty="0">
                <a:solidFill>
                  <a:schemeClr val="tx1"/>
                </a:solidFill>
                <a:effectLst/>
                <a:latin typeface="Times New Roman" pitchFamily="18" charset="0"/>
                <a:ea typeface="宋体" charset="-122"/>
                <a:cs typeface="+mn-cs"/>
              </a:rPr>
              <a:t>，一家帮助人们安全地在线进行各种交易的代理网站（讽刺的是，代理域名销售是其业务的重要组成部分）。从星期一晚上</a:t>
            </a:r>
            <a:r>
              <a:rPr kumimoji="1" lang="en-US" altLang="zh-CN" sz="1200" b="0" i="0" kern="1200" dirty="0">
                <a:solidFill>
                  <a:schemeClr val="tx1"/>
                </a:solidFill>
                <a:effectLst/>
                <a:latin typeface="Times New Roman" pitchFamily="18" charset="0"/>
                <a:ea typeface="宋体" charset="-122"/>
                <a:cs typeface="+mn-cs"/>
              </a:rPr>
              <a:t>5:00 </a:t>
            </a:r>
            <a:r>
              <a:rPr kumimoji="1" lang="zh-CN" altLang="en-US" sz="1200" b="0" i="0" kern="1200" dirty="0">
                <a:solidFill>
                  <a:schemeClr val="tx1"/>
                </a:solidFill>
                <a:effectLst/>
                <a:latin typeface="Times New Roman" pitchFamily="18" charset="0"/>
                <a:ea typeface="宋体" charset="-122"/>
                <a:cs typeface="+mn-cs"/>
              </a:rPr>
              <a:t>开始大约两个小时，</a:t>
            </a:r>
            <a:r>
              <a:rPr kumimoji="1" lang="en-US" altLang="zh-CN" sz="1200" b="0" i="0" kern="1200" dirty="0">
                <a:solidFill>
                  <a:schemeClr val="tx1"/>
                </a:solidFill>
                <a:effectLst/>
                <a:latin typeface="Times New Roman" pitchFamily="18" charset="0"/>
                <a:ea typeface="宋体" charset="-122"/>
                <a:cs typeface="+mn-cs"/>
              </a:rPr>
              <a:t>Escrow.com</a:t>
            </a:r>
            <a:r>
              <a:rPr kumimoji="1" lang="zh-CN" altLang="en-US" sz="1200" b="0" i="0" kern="1200" dirty="0">
                <a:solidFill>
                  <a:schemeClr val="tx1"/>
                </a:solidFill>
                <a:effectLst/>
                <a:latin typeface="Times New Roman" pitchFamily="18" charset="0"/>
                <a:ea typeface="宋体" charset="-122"/>
                <a:cs typeface="+mn-cs"/>
              </a:rPr>
              <a:t>的网站看起来完全不同：其首页被纯文本形式的粗略消息取代。</a:t>
            </a:r>
            <a:endParaRPr kumimoji="1" lang="en-US" altLang="zh-CN" sz="1200" b="0" i="0" kern="1200" dirty="0">
              <a:solidFill>
                <a:schemeClr val="tx1"/>
              </a:solidFill>
              <a:effectLst/>
              <a:latin typeface="Times New Roman" pitchFamily="18" charset="0"/>
              <a:ea typeface="宋体" charset="-122"/>
              <a:cs typeface="+mn-cs"/>
            </a:endParaRPr>
          </a:p>
          <a:p>
            <a:r>
              <a:rPr kumimoji="1" lang="zh-CN" altLang="en-US" sz="1200" b="0" i="0" kern="1200" dirty="0">
                <a:solidFill>
                  <a:schemeClr val="tx1"/>
                </a:solidFill>
                <a:effectLst/>
                <a:latin typeface="Times New Roman" pitchFamily="18" charset="0"/>
                <a:ea typeface="宋体" charset="-122"/>
                <a:cs typeface="+mn-cs"/>
              </a:rPr>
              <a:t>通过查看</a:t>
            </a:r>
            <a:r>
              <a:rPr kumimoji="1" lang="en-US" altLang="zh-CN" sz="1200" b="0" i="0" kern="1200" dirty="0">
                <a:solidFill>
                  <a:schemeClr val="tx1"/>
                </a:solidFill>
                <a:effectLst/>
                <a:latin typeface="Times New Roman" pitchFamily="18" charset="0"/>
                <a:ea typeface="宋体" charset="-122"/>
                <a:cs typeface="+mn-cs"/>
              </a:rPr>
              <a:t>escrow.com</a:t>
            </a:r>
            <a:r>
              <a:rPr kumimoji="1" lang="zh-CN" altLang="en-US" sz="1200" b="0" i="0" kern="1200" dirty="0">
                <a:solidFill>
                  <a:schemeClr val="tx1"/>
                </a:solidFill>
                <a:effectLst/>
                <a:latin typeface="Times New Roman" pitchFamily="18" charset="0"/>
                <a:ea typeface="宋体" charset="-122"/>
                <a:cs typeface="+mn-cs"/>
              </a:rPr>
              <a:t>的域名系统（</a:t>
            </a:r>
            <a:r>
              <a:rPr kumimoji="1" lang="en-US" altLang="zh-CN" sz="1200" b="0" i="0" kern="1200" dirty="0">
                <a:solidFill>
                  <a:schemeClr val="tx1"/>
                </a:solidFill>
                <a:effectLst/>
                <a:latin typeface="Times New Roman" pitchFamily="18" charset="0"/>
                <a:ea typeface="宋体" charset="-122"/>
                <a:cs typeface="+mn-cs"/>
              </a:rPr>
              <a:t>DNS</a:t>
            </a:r>
            <a:r>
              <a:rPr kumimoji="1" lang="zh-CN" altLang="en-US" sz="1200" b="0" i="0" kern="1200" dirty="0">
                <a:solidFill>
                  <a:schemeClr val="tx1"/>
                </a:solidFill>
                <a:effectLst/>
                <a:latin typeface="Times New Roman" pitchFamily="18" charset="0"/>
                <a:ea typeface="宋体" charset="-122"/>
                <a:cs typeface="+mn-cs"/>
              </a:rPr>
              <a:t>）记录，可以看到它们指向的是马来西亚的</a:t>
            </a:r>
            <a:r>
              <a:rPr kumimoji="1" lang="en-US" altLang="zh-CN" sz="1200" b="0" i="0" kern="1200" dirty="0">
                <a:solidFill>
                  <a:schemeClr val="tx1"/>
                </a:solidFill>
                <a:effectLst/>
                <a:latin typeface="Times New Roman" pitchFamily="18" charset="0"/>
                <a:ea typeface="宋体" charset="-122"/>
                <a:cs typeface="+mn-cs"/>
              </a:rPr>
              <a:t>Internet</a:t>
            </a:r>
            <a:r>
              <a:rPr kumimoji="1" lang="zh-CN" altLang="en-US" sz="1200" b="0" i="0" kern="1200" dirty="0">
                <a:solidFill>
                  <a:schemeClr val="tx1"/>
                </a:solidFill>
                <a:effectLst/>
                <a:latin typeface="Times New Roman" pitchFamily="18" charset="0"/>
                <a:ea typeface="宋体" charset="-122"/>
                <a:cs typeface="+mn-cs"/>
              </a:rPr>
              <a:t>地址</a:t>
            </a:r>
            <a:r>
              <a:rPr kumimoji="1" lang="en-US" altLang="zh-CN" sz="1200" b="0" i="0" kern="1200" dirty="0">
                <a:solidFill>
                  <a:schemeClr val="tx1"/>
                </a:solidFill>
                <a:effectLst/>
                <a:latin typeface="Times New Roman" pitchFamily="18" charset="0"/>
                <a:ea typeface="宋体" charset="-122"/>
                <a:cs typeface="+mn-cs"/>
              </a:rPr>
              <a:t>-111.90.149.49</a:t>
            </a:r>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137</a:t>
            </a:fld>
            <a:endParaRPr lang="en-US" altLang="zh-CN"/>
          </a:p>
        </p:txBody>
      </p:sp>
    </p:spTree>
    <p:extLst>
      <p:ext uri="{BB962C8B-B14F-4D97-AF65-F5344CB8AC3E}">
        <p14:creationId xmlns:p14="http://schemas.microsoft.com/office/powerpoint/2010/main" val="429335679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sz="1200" b="0" i="0" u="none" strike="noStrike" kern="1200" dirty="0">
                <a:solidFill>
                  <a:schemeClr val="tx1"/>
                </a:solidFill>
                <a:effectLst/>
                <a:latin typeface="Times New Roman" pitchFamily="18" charset="0"/>
                <a:ea typeface="宋体" charset="-122"/>
                <a:cs typeface="+mn-cs"/>
                <a:hlinkClick r:id="rId3" tooltip="View all posts in Let's Encrypt"/>
              </a:rPr>
              <a:t>Let's Encrypt</a:t>
            </a:r>
            <a:r>
              <a:rPr kumimoji="1" lang="en-US" altLang="zh-CN" sz="1200" b="0" i="0" u="none" strike="noStrike" kern="1200" dirty="0">
                <a:solidFill>
                  <a:schemeClr val="tx1"/>
                </a:solidFill>
                <a:effectLst/>
                <a:latin typeface="Times New Roman" pitchFamily="18" charset="0"/>
                <a:ea typeface="宋体" charset="-122"/>
                <a:cs typeface="+mn-cs"/>
              </a:rPr>
              <a:t>(</a:t>
            </a:r>
            <a:r>
              <a:rPr lang="en-US" altLang="zh-CN" dirty="0">
                <a:hlinkClick r:id="rId4"/>
              </a:rPr>
              <a:t>https://letsencrypt.org/</a:t>
            </a:r>
            <a:r>
              <a:rPr kumimoji="1" lang="en-US" altLang="zh-CN" sz="1200" b="0" i="0" u="none" strike="noStrike" kern="1200" dirty="0">
                <a:solidFill>
                  <a:schemeClr val="tx1"/>
                </a:solidFill>
                <a:effectLst/>
                <a:latin typeface="Times New Roman" pitchFamily="18" charset="0"/>
                <a:ea typeface="宋体" charset="-122"/>
                <a:cs typeface="+mn-cs"/>
              </a:rPr>
              <a:t>)</a:t>
            </a:r>
            <a:r>
              <a:rPr kumimoji="1" lang="zh-CN" altLang="en-US" sz="1200" b="0" i="0" kern="1200" dirty="0">
                <a:solidFill>
                  <a:schemeClr val="tx1"/>
                </a:solidFill>
                <a:effectLst/>
                <a:latin typeface="Times New Roman" pitchFamily="18" charset="0"/>
                <a:ea typeface="宋体" charset="-122"/>
                <a:cs typeface="+mn-cs"/>
              </a:rPr>
              <a:t>作为一个公共且免费</a:t>
            </a:r>
            <a:r>
              <a:rPr kumimoji="1" lang="en-US" altLang="zh-CN" sz="1200" b="0" i="0" kern="1200" dirty="0">
                <a:solidFill>
                  <a:schemeClr val="tx1"/>
                </a:solidFill>
                <a:effectLst/>
                <a:latin typeface="Times New Roman" pitchFamily="18" charset="0"/>
                <a:ea typeface="宋体" charset="-122"/>
                <a:cs typeface="+mn-cs"/>
              </a:rPr>
              <a:t>SSL</a:t>
            </a:r>
            <a:r>
              <a:rPr kumimoji="1" lang="zh-CN" altLang="en-US" sz="1200" b="0" i="0" kern="1200" dirty="0">
                <a:solidFill>
                  <a:schemeClr val="tx1"/>
                </a:solidFill>
                <a:effectLst/>
                <a:latin typeface="Times New Roman" pitchFamily="18" charset="0"/>
                <a:ea typeface="宋体" charset="-122"/>
                <a:cs typeface="+mn-cs"/>
              </a:rPr>
              <a:t>的项目逐渐被广大用户传播和使用，是由</a:t>
            </a:r>
            <a:r>
              <a:rPr kumimoji="1" lang="en-US" altLang="zh-CN" sz="1200" b="0" i="0" kern="1200" dirty="0">
                <a:solidFill>
                  <a:schemeClr val="tx1"/>
                </a:solidFill>
                <a:effectLst/>
                <a:latin typeface="Times New Roman" pitchFamily="18" charset="0"/>
                <a:ea typeface="宋体" charset="-122"/>
                <a:cs typeface="+mn-cs"/>
              </a:rPr>
              <a:t>Mozilla</a:t>
            </a:r>
            <a:r>
              <a:rPr kumimoji="1" lang="zh-CN" altLang="en-US" sz="1200" b="0" i="0" kern="1200" dirty="0">
                <a:solidFill>
                  <a:schemeClr val="tx1"/>
                </a:solidFill>
                <a:effectLst/>
                <a:latin typeface="Times New Roman" pitchFamily="18" charset="0"/>
                <a:ea typeface="宋体" charset="-122"/>
                <a:cs typeface="+mn-cs"/>
              </a:rPr>
              <a:t>、</a:t>
            </a:r>
            <a:r>
              <a:rPr kumimoji="1" lang="en-US" altLang="zh-CN" sz="1200" b="0" i="0" kern="1200" dirty="0">
                <a:solidFill>
                  <a:schemeClr val="tx1"/>
                </a:solidFill>
                <a:effectLst/>
                <a:latin typeface="Times New Roman" pitchFamily="18" charset="0"/>
                <a:ea typeface="宋体" charset="-122"/>
                <a:cs typeface="+mn-cs"/>
              </a:rPr>
              <a:t>Cisco</a:t>
            </a:r>
            <a:r>
              <a:rPr kumimoji="1" lang="zh-CN" altLang="en-US" sz="1200" b="0" i="0" kern="1200" dirty="0">
                <a:solidFill>
                  <a:schemeClr val="tx1"/>
                </a:solidFill>
                <a:effectLst/>
                <a:latin typeface="Times New Roman" pitchFamily="18" charset="0"/>
                <a:ea typeface="宋体" charset="-122"/>
                <a:cs typeface="+mn-cs"/>
              </a:rPr>
              <a:t>、</a:t>
            </a:r>
            <a:r>
              <a:rPr kumimoji="1" lang="en-US" altLang="zh-CN" sz="1200" b="0" i="0" kern="1200" dirty="0">
                <a:solidFill>
                  <a:schemeClr val="tx1"/>
                </a:solidFill>
                <a:effectLst/>
                <a:latin typeface="Times New Roman" pitchFamily="18" charset="0"/>
                <a:ea typeface="宋体" charset="-122"/>
                <a:cs typeface="+mn-cs"/>
              </a:rPr>
              <a:t>Akamai</a:t>
            </a:r>
            <a:r>
              <a:rPr kumimoji="1" lang="zh-CN" altLang="en-US" sz="1200" b="0" i="0" kern="1200" dirty="0">
                <a:solidFill>
                  <a:schemeClr val="tx1"/>
                </a:solidFill>
                <a:effectLst/>
                <a:latin typeface="Times New Roman" pitchFamily="18" charset="0"/>
                <a:ea typeface="宋体" charset="-122"/>
                <a:cs typeface="+mn-cs"/>
              </a:rPr>
              <a:t>、</a:t>
            </a:r>
            <a:r>
              <a:rPr kumimoji="1" lang="en-US" altLang="zh-CN" sz="1200" b="0" i="0" kern="1200" dirty="0" err="1">
                <a:solidFill>
                  <a:schemeClr val="tx1"/>
                </a:solidFill>
                <a:effectLst/>
                <a:latin typeface="Times New Roman" pitchFamily="18" charset="0"/>
                <a:ea typeface="宋体" charset="-122"/>
                <a:cs typeface="+mn-cs"/>
              </a:rPr>
              <a:t>IdenTrust</a:t>
            </a:r>
            <a:r>
              <a:rPr kumimoji="1" lang="zh-CN" altLang="en-US" sz="1200" b="0" i="0" kern="1200" dirty="0">
                <a:solidFill>
                  <a:schemeClr val="tx1"/>
                </a:solidFill>
                <a:effectLst/>
                <a:latin typeface="Times New Roman" pitchFamily="18" charset="0"/>
                <a:ea typeface="宋体" charset="-122"/>
                <a:cs typeface="+mn-cs"/>
              </a:rPr>
              <a:t>、</a:t>
            </a:r>
            <a:r>
              <a:rPr kumimoji="1" lang="en-US" altLang="zh-CN" sz="1200" b="0" i="0" kern="1200" dirty="0">
                <a:solidFill>
                  <a:schemeClr val="tx1"/>
                </a:solidFill>
                <a:effectLst/>
                <a:latin typeface="Times New Roman" pitchFamily="18" charset="0"/>
                <a:ea typeface="宋体" charset="-122"/>
                <a:cs typeface="+mn-cs"/>
              </a:rPr>
              <a:t>EFF</a:t>
            </a:r>
            <a:r>
              <a:rPr kumimoji="1" lang="zh-CN" altLang="en-US" sz="1200" b="0" i="0" kern="1200" dirty="0">
                <a:solidFill>
                  <a:schemeClr val="tx1"/>
                </a:solidFill>
                <a:effectLst/>
                <a:latin typeface="Times New Roman" pitchFamily="18" charset="0"/>
                <a:ea typeface="宋体" charset="-122"/>
                <a:cs typeface="+mn-cs"/>
              </a:rPr>
              <a:t>等组织人员发起，主要的目的也是为了推进网站从</a:t>
            </a:r>
            <a:r>
              <a:rPr kumimoji="1" lang="en-US" altLang="zh-CN" sz="1200" b="0" i="0" kern="1200" dirty="0">
                <a:solidFill>
                  <a:schemeClr val="tx1"/>
                </a:solidFill>
                <a:effectLst/>
                <a:latin typeface="Times New Roman" pitchFamily="18" charset="0"/>
                <a:ea typeface="宋体" charset="-122"/>
                <a:cs typeface="+mn-cs"/>
              </a:rPr>
              <a:t>HTTP</a:t>
            </a:r>
            <a:r>
              <a:rPr kumimoji="1" lang="zh-CN" altLang="en-US" sz="1200" b="0" i="0" kern="1200" dirty="0">
                <a:solidFill>
                  <a:schemeClr val="tx1"/>
                </a:solidFill>
                <a:effectLst/>
                <a:latin typeface="Times New Roman" pitchFamily="18" charset="0"/>
                <a:ea typeface="宋体" charset="-122"/>
                <a:cs typeface="+mn-cs"/>
              </a:rPr>
              <a:t>向</a:t>
            </a:r>
            <a:r>
              <a:rPr kumimoji="1" lang="en-US" altLang="zh-CN" sz="1200" b="0" i="0" kern="1200" dirty="0">
                <a:solidFill>
                  <a:schemeClr val="tx1"/>
                </a:solidFill>
                <a:effectLst/>
                <a:latin typeface="Times New Roman" pitchFamily="18" charset="0"/>
                <a:ea typeface="宋体" charset="-122"/>
                <a:cs typeface="+mn-cs"/>
              </a:rPr>
              <a:t>HTTPS</a:t>
            </a:r>
            <a:r>
              <a:rPr kumimoji="1" lang="zh-CN" altLang="en-US" sz="1200" b="0" i="0" kern="1200" dirty="0">
                <a:solidFill>
                  <a:schemeClr val="tx1"/>
                </a:solidFill>
                <a:effectLst/>
                <a:latin typeface="Times New Roman" pitchFamily="18" charset="0"/>
                <a:ea typeface="宋体" charset="-122"/>
                <a:cs typeface="+mn-cs"/>
              </a:rPr>
              <a:t>过度的进程，目前已经有越来越多的商家加入和赞助支持。</a:t>
            </a:r>
          </a:p>
          <a:p>
            <a:r>
              <a:rPr kumimoji="1" lang="en-US" altLang="zh-CN" sz="1200" b="0" i="0" u="none" strike="noStrike" kern="1200" dirty="0">
                <a:solidFill>
                  <a:schemeClr val="tx1"/>
                </a:solidFill>
                <a:effectLst/>
                <a:latin typeface="Times New Roman" pitchFamily="18" charset="0"/>
                <a:ea typeface="宋体" charset="-122"/>
                <a:cs typeface="+mn-cs"/>
                <a:hlinkClick r:id="rId5" tooltip="View all posts in Let's Encrypt免费SSL"/>
              </a:rPr>
              <a:t>Let's Encrypt</a:t>
            </a:r>
            <a:r>
              <a:rPr kumimoji="1" lang="zh-CN" altLang="en-US" sz="1200" b="0" i="0" u="none" strike="noStrike" kern="1200" dirty="0">
                <a:solidFill>
                  <a:schemeClr val="tx1"/>
                </a:solidFill>
                <a:effectLst/>
                <a:latin typeface="Times New Roman" pitchFamily="18" charset="0"/>
                <a:ea typeface="宋体" charset="-122"/>
                <a:cs typeface="+mn-cs"/>
                <a:hlinkClick r:id="rId5" tooltip="View all posts in Let's Encrypt免费SSL"/>
              </a:rPr>
              <a:t>免费</a:t>
            </a:r>
            <a:r>
              <a:rPr kumimoji="1" lang="en-US" altLang="zh-CN" sz="1200" b="0" i="0" u="none" strike="noStrike" kern="1200" dirty="0">
                <a:solidFill>
                  <a:schemeClr val="tx1"/>
                </a:solidFill>
                <a:effectLst/>
                <a:latin typeface="Times New Roman" pitchFamily="18" charset="0"/>
                <a:ea typeface="宋体" charset="-122"/>
                <a:cs typeface="+mn-cs"/>
                <a:hlinkClick r:id="rId5" tooltip="View all posts in Let's Encrypt免费SSL"/>
              </a:rPr>
              <a:t>SSL</a:t>
            </a:r>
            <a:r>
              <a:rPr kumimoji="1" lang="zh-CN" altLang="en-US" sz="1200" b="0" i="0" kern="1200" dirty="0">
                <a:solidFill>
                  <a:schemeClr val="tx1"/>
                </a:solidFill>
                <a:effectLst/>
                <a:latin typeface="Times New Roman" pitchFamily="18" charset="0"/>
                <a:ea typeface="宋体" charset="-122"/>
                <a:cs typeface="+mn-cs"/>
              </a:rPr>
              <a:t>证书的出现，也会对传统提供付费</a:t>
            </a:r>
            <a:r>
              <a:rPr kumimoji="1" lang="en-US" altLang="zh-CN" sz="1200" b="0" i="0" kern="1200" dirty="0">
                <a:solidFill>
                  <a:schemeClr val="tx1"/>
                </a:solidFill>
                <a:effectLst/>
                <a:latin typeface="Times New Roman" pitchFamily="18" charset="0"/>
                <a:ea typeface="宋体" charset="-122"/>
                <a:cs typeface="+mn-cs"/>
              </a:rPr>
              <a:t>SSL</a:t>
            </a:r>
            <a:r>
              <a:rPr kumimoji="1" lang="zh-CN" altLang="en-US" sz="1200" b="0" i="0" kern="1200" dirty="0">
                <a:solidFill>
                  <a:schemeClr val="tx1"/>
                </a:solidFill>
                <a:effectLst/>
                <a:latin typeface="Times New Roman" pitchFamily="18" charset="0"/>
                <a:ea typeface="宋体" charset="-122"/>
                <a:cs typeface="+mn-cs"/>
              </a:rPr>
              <a:t>证书服务的商家有不小的打击。到目前为止，</a:t>
            </a:r>
            <a:r>
              <a:rPr kumimoji="1" lang="en-US" altLang="zh-CN" sz="1200" b="0" i="0" u="none" strike="noStrike" kern="1200" dirty="0">
                <a:solidFill>
                  <a:schemeClr val="tx1"/>
                </a:solidFill>
                <a:effectLst/>
                <a:latin typeface="Times New Roman" pitchFamily="18" charset="0"/>
                <a:ea typeface="宋体" charset="-122"/>
                <a:cs typeface="+mn-cs"/>
                <a:hlinkClick r:id="rId3" tooltip="View all posts in Let's Encrypt"/>
              </a:rPr>
              <a:t>Let's Encrypt</a:t>
            </a:r>
            <a:r>
              <a:rPr kumimoji="1" lang="zh-CN" altLang="en-US" sz="1200" b="0" i="0" kern="1200" dirty="0">
                <a:solidFill>
                  <a:schemeClr val="tx1"/>
                </a:solidFill>
                <a:effectLst/>
                <a:latin typeface="Times New Roman" pitchFamily="18" charset="0"/>
                <a:ea typeface="宋体" charset="-122"/>
                <a:cs typeface="+mn-cs"/>
              </a:rPr>
              <a:t>获得</a:t>
            </a:r>
            <a:r>
              <a:rPr kumimoji="1" lang="en-US" altLang="zh-CN" sz="1200" b="0" i="0" kern="1200" dirty="0" err="1">
                <a:solidFill>
                  <a:schemeClr val="tx1"/>
                </a:solidFill>
                <a:effectLst/>
                <a:latin typeface="Times New Roman" pitchFamily="18" charset="0"/>
                <a:ea typeface="宋体" charset="-122"/>
                <a:cs typeface="+mn-cs"/>
              </a:rPr>
              <a:t>IdenTrust</a:t>
            </a:r>
            <a:r>
              <a:rPr kumimoji="1" lang="zh-CN" altLang="en-US" sz="1200" b="0" i="0" kern="1200" dirty="0">
                <a:solidFill>
                  <a:schemeClr val="tx1"/>
                </a:solidFill>
                <a:effectLst/>
                <a:latin typeface="Times New Roman" pitchFamily="18" charset="0"/>
                <a:ea typeface="宋体" charset="-122"/>
                <a:cs typeface="+mn-cs"/>
              </a:rPr>
              <a:t>交叉签名，这就是说可以应用且支持包括</a:t>
            </a:r>
            <a:r>
              <a:rPr kumimoji="1" lang="en-US" altLang="zh-CN" sz="1200" b="0" i="0" kern="1200" dirty="0" err="1">
                <a:solidFill>
                  <a:schemeClr val="tx1"/>
                </a:solidFill>
                <a:effectLst/>
                <a:latin typeface="Times New Roman" pitchFamily="18" charset="0"/>
                <a:ea typeface="宋体" charset="-122"/>
                <a:cs typeface="+mn-cs"/>
              </a:rPr>
              <a:t>FireFox</a:t>
            </a:r>
            <a:r>
              <a:rPr kumimoji="1" lang="zh-CN" altLang="en-US" sz="1200" b="0" i="0" kern="1200" dirty="0">
                <a:solidFill>
                  <a:schemeClr val="tx1"/>
                </a:solidFill>
                <a:effectLst/>
                <a:latin typeface="Times New Roman" pitchFamily="18" charset="0"/>
                <a:ea typeface="宋体" charset="-122"/>
                <a:cs typeface="+mn-cs"/>
              </a:rPr>
              <a:t>、</a:t>
            </a:r>
            <a:r>
              <a:rPr kumimoji="1" lang="en-US" altLang="zh-CN" sz="1200" b="0" i="0" kern="1200" dirty="0">
                <a:solidFill>
                  <a:schemeClr val="tx1"/>
                </a:solidFill>
                <a:effectLst/>
                <a:latin typeface="Times New Roman" pitchFamily="18" charset="0"/>
                <a:ea typeface="宋体" charset="-122"/>
                <a:cs typeface="+mn-cs"/>
              </a:rPr>
              <a:t>Chrome</a:t>
            </a:r>
            <a:r>
              <a:rPr kumimoji="1" lang="zh-CN" altLang="en-US" sz="1200" b="0" i="0" kern="1200" dirty="0">
                <a:solidFill>
                  <a:schemeClr val="tx1"/>
                </a:solidFill>
                <a:effectLst/>
                <a:latin typeface="Times New Roman" pitchFamily="18" charset="0"/>
                <a:ea typeface="宋体" charset="-122"/>
                <a:cs typeface="+mn-cs"/>
              </a:rPr>
              <a:t>在内的主流浏览器的兼容和支持，虽然目前是公测阶段，但是也有不少的用户在自有网站项目中正式使用起来。</a:t>
            </a:r>
          </a:p>
          <a:p>
            <a:r>
              <a:rPr kumimoji="1" lang="zh-CN" altLang="en-US" sz="1200" b="0" i="0" kern="1200" dirty="0">
                <a:solidFill>
                  <a:schemeClr val="tx1"/>
                </a:solidFill>
                <a:effectLst/>
                <a:latin typeface="Times New Roman" pitchFamily="18" charset="0"/>
                <a:ea typeface="宋体" charset="-122"/>
                <a:cs typeface="+mn-cs"/>
              </a:rPr>
              <a:t>虽然目前</a:t>
            </a:r>
            <a:r>
              <a:rPr kumimoji="1" lang="en-US" altLang="zh-CN" sz="1200" b="0" i="0" kern="1200" dirty="0">
                <a:solidFill>
                  <a:schemeClr val="tx1"/>
                </a:solidFill>
                <a:effectLst/>
                <a:latin typeface="Times New Roman" pitchFamily="18" charset="0"/>
                <a:ea typeface="宋体" charset="-122"/>
                <a:cs typeface="+mn-cs"/>
              </a:rPr>
              <a:t>Let's Encrypt</a:t>
            </a:r>
            <a:r>
              <a:rPr kumimoji="1" lang="zh-CN" altLang="en-US" sz="1200" b="0" i="0" kern="1200" dirty="0">
                <a:solidFill>
                  <a:schemeClr val="tx1"/>
                </a:solidFill>
                <a:effectLst/>
                <a:latin typeface="Times New Roman" pitchFamily="18" charset="0"/>
                <a:ea typeface="宋体" charset="-122"/>
                <a:cs typeface="+mn-cs"/>
              </a:rPr>
              <a:t>免费</a:t>
            </a:r>
            <a:r>
              <a:rPr kumimoji="1" lang="en-US" altLang="zh-CN" sz="1200" b="0" i="0" kern="1200" dirty="0">
                <a:solidFill>
                  <a:schemeClr val="tx1"/>
                </a:solidFill>
                <a:effectLst/>
                <a:latin typeface="Times New Roman" pitchFamily="18" charset="0"/>
                <a:ea typeface="宋体" charset="-122"/>
                <a:cs typeface="+mn-cs"/>
              </a:rPr>
              <a:t>SSL</a:t>
            </a:r>
            <a:r>
              <a:rPr kumimoji="1" lang="zh-CN" altLang="en-US" sz="1200" b="0" i="0" kern="1200" dirty="0">
                <a:solidFill>
                  <a:schemeClr val="tx1"/>
                </a:solidFill>
                <a:effectLst/>
                <a:latin typeface="Times New Roman" pitchFamily="18" charset="0"/>
                <a:ea typeface="宋体" charset="-122"/>
                <a:cs typeface="+mn-cs"/>
              </a:rPr>
              <a:t>证书默认是</a:t>
            </a:r>
            <a:r>
              <a:rPr kumimoji="1" lang="en-US" altLang="zh-CN" sz="1200" b="0" i="0" kern="1200" dirty="0">
                <a:solidFill>
                  <a:schemeClr val="tx1"/>
                </a:solidFill>
                <a:effectLst/>
                <a:latin typeface="Times New Roman" pitchFamily="18" charset="0"/>
                <a:ea typeface="宋体" charset="-122"/>
                <a:cs typeface="+mn-cs"/>
              </a:rPr>
              <a:t>90</a:t>
            </a:r>
            <a:r>
              <a:rPr kumimoji="1" lang="zh-CN" altLang="en-US" sz="1200" b="0" i="0" kern="1200" dirty="0">
                <a:solidFill>
                  <a:schemeClr val="tx1"/>
                </a:solidFill>
                <a:effectLst/>
                <a:latin typeface="Times New Roman" pitchFamily="18" charset="0"/>
                <a:ea typeface="宋体" charset="-122"/>
                <a:cs typeface="+mn-cs"/>
              </a:rPr>
              <a:t>天有效期，但是我们也可以到期自动续约，不影响我们的尝试和使用。</a:t>
            </a:r>
            <a:endParaRPr kumimoji="1" lang="en-US" altLang="zh-CN" sz="1200" b="0" i="0" kern="1200" dirty="0">
              <a:solidFill>
                <a:schemeClr val="tx1"/>
              </a:solidFill>
              <a:effectLst/>
              <a:latin typeface="Times New Roman" pitchFamily="18" charset="0"/>
              <a:ea typeface="宋体"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题外话，</a:t>
            </a:r>
            <a:r>
              <a:rPr lang="en-US" altLang="zh-CN" dirty="0">
                <a:solidFill>
                  <a:srgbClr val="FF0000"/>
                </a:solidFill>
              </a:rPr>
              <a:t>Let’s Encrypt</a:t>
            </a:r>
            <a:r>
              <a:rPr lang="zh-CN" altLang="en-US" dirty="0">
                <a:solidFill>
                  <a:srgbClr val="FF0000"/>
                </a:solidFill>
              </a:rPr>
              <a:t>证书已经被黑客用的极度泛滥了</a:t>
            </a:r>
          </a:p>
          <a:p>
            <a:endParaRPr kumimoji="1" lang="zh-CN" altLang="en-US" sz="1200" b="0" i="0" kern="1200" dirty="0">
              <a:solidFill>
                <a:schemeClr val="tx1"/>
              </a:solidFill>
              <a:effectLst/>
              <a:latin typeface="Times New Roman" pitchFamily="18" charset="0"/>
              <a:ea typeface="宋体" charset="-122"/>
              <a:cs typeface="+mn-cs"/>
            </a:endParaRPr>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138</a:t>
            </a:fld>
            <a:endParaRPr lang="en-US" altLang="zh-CN"/>
          </a:p>
        </p:txBody>
      </p:sp>
    </p:spTree>
    <p:extLst>
      <p:ext uri="{BB962C8B-B14F-4D97-AF65-F5344CB8AC3E}">
        <p14:creationId xmlns:p14="http://schemas.microsoft.com/office/powerpoint/2010/main" val="372559040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hlinkClick r:id="rId3"/>
              </a:rPr>
              <a:t>https://www.secrss.com/articles/18363</a:t>
            </a:r>
            <a:endParaRPr lang="en-US" altLang="zh-CN" dirty="0"/>
          </a:p>
          <a:p>
            <a:r>
              <a:rPr kumimoji="1" lang="zh-CN" altLang="en-US" sz="1200" b="0" i="0" kern="1200" dirty="0">
                <a:solidFill>
                  <a:schemeClr val="tx1"/>
                </a:solidFill>
                <a:effectLst/>
                <a:latin typeface="Times New Roman" pitchFamily="18" charset="0"/>
                <a:ea typeface="宋体" charset="-122"/>
                <a:cs typeface="+mn-cs"/>
              </a:rPr>
              <a:t>其中一个被改的客户是</a:t>
            </a:r>
            <a:r>
              <a:rPr kumimoji="1" lang="en-US" altLang="zh-CN" sz="1200" b="0" i="0" kern="1200" dirty="0">
                <a:solidFill>
                  <a:schemeClr val="tx1"/>
                </a:solidFill>
                <a:effectLst/>
                <a:latin typeface="Times New Roman" pitchFamily="18" charset="0"/>
                <a:ea typeface="宋体" charset="-122"/>
                <a:cs typeface="+mn-cs"/>
              </a:rPr>
              <a:t>Escrow.com </a:t>
            </a:r>
            <a:r>
              <a:rPr kumimoji="1" lang="zh-CN" altLang="en-US" sz="1200" b="0" i="0" kern="1200" dirty="0">
                <a:solidFill>
                  <a:schemeClr val="tx1"/>
                </a:solidFill>
                <a:effectLst/>
                <a:latin typeface="Times New Roman" pitchFamily="18" charset="0"/>
                <a:ea typeface="宋体" charset="-122"/>
                <a:cs typeface="+mn-cs"/>
              </a:rPr>
              <a:t>，一家帮助人们安全地在线进行各种交易的代理网站（讽刺的是，代理域名销售是其业务的重要组成部分）。从星期一晚上</a:t>
            </a:r>
            <a:r>
              <a:rPr kumimoji="1" lang="en-US" altLang="zh-CN" sz="1200" b="0" i="0" kern="1200" dirty="0">
                <a:solidFill>
                  <a:schemeClr val="tx1"/>
                </a:solidFill>
                <a:effectLst/>
                <a:latin typeface="Times New Roman" pitchFamily="18" charset="0"/>
                <a:ea typeface="宋体" charset="-122"/>
                <a:cs typeface="+mn-cs"/>
              </a:rPr>
              <a:t>5:00 </a:t>
            </a:r>
            <a:r>
              <a:rPr kumimoji="1" lang="zh-CN" altLang="en-US" sz="1200" b="0" i="0" kern="1200" dirty="0">
                <a:solidFill>
                  <a:schemeClr val="tx1"/>
                </a:solidFill>
                <a:effectLst/>
                <a:latin typeface="Times New Roman" pitchFamily="18" charset="0"/>
                <a:ea typeface="宋体" charset="-122"/>
                <a:cs typeface="+mn-cs"/>
              </a:rPr>
              <a:t>开始大约两个小时，</a:t>
            </a:r>
            <a:r>
              <a:rPr kumimoji="1" lang="en-US" altLang="zh-CN" sz="1200" b="0" i="0" kern="1200" dirty="0">
                <a:solidFill>
                  <a:schemeClr val="tx1"/>
                </a:solidFill>
                <a:effectLst/>
                <a:latin typeface="Times New Roman" pitchFamily="18" charset="0"/>
                <a:ea typeface="宋体" charset="-122"/>
                <a:cs typeface="+mn-cs"/>
              </a:rPr>
              <a:t>Escrow.com</a:t>
            </a:r>
            <a:r>
              <a:rPr kumimoji="1" lang="zh-CN" altLang="en-US" sz="1200" b="0" i="0" kern="1200" dirty="0">
                <a:solidFill>
                  <a:schemeClr val="tx1"/>
                </a:solidFill>
                <a:effectLst/>
                <a:latin typeface="Times New Roman" pitchFamily="18" charset="0"/>
                <a:ea typeface="宋体" charset="-122"/>
                <a:cs typeface="+mn-cs"/>
              </a:rPr>
              <a:t>的网站看起来完全不同：其首页被纯文本形式的粗略消息取代。</a:t>
            </a:r>
            <a:endParaRPr kumimoji="1" lang="en-US" altLang="zh-CN" sz="1200" b="0" i="0" kern="1200" dirty="0">
              <a:solidFill>
                <a:schemeClr val="tx1"/>
              </a:solidFill>
              <a:effectLst/>
              <a:latin typeface="Times New Roman" pitchFamily="18" charset="0"/>
              <a:ea typeface="宋体" charset="-122"/>
              <a:cs typeface="+mn-cs"/>
            </a:endParaRPr>
          </a:p>
          <a:p>
            <a:r>
              <a:rPr kumimoji="1" lang="zh-CN" altLang="en-US" sz="1200" b="0" i="0" kern="1200" dirty="0">
                <a:solidFill>
                  <a:schemeClr val="tx1"/>
                </a:solidFill>
                <a:effectLst/>
                <a:latin typeface="Times New Roman" pitchFamily="18" charset="0"/>
                <a:ea typeface="宋体" charset="-122"/>
                <a:cs typeface="+mn-cs"/>
              </a:rPr>
              <a:t>通过查看</a:t>
            </a:r>
            <a:r>
              <a:rPr kumimoji="1" lang="en-US" altLang="zh-CN" sz="1200" b="0" i="0" kern="1200" dirty="0">
                <a:solidFill>
                  <a:schemeClr val="tx1"/>
                </a:solidFill>
                <a:effectLst/>
                <a:latin typeface="Times New Roman" pitchFamily="18" charset="0"/>
                <a:ea typeface="宋体" charset="-122"/>
                <a:cs typeface="+mn-cs"/>
              </a:rPr>
              <a:t>escrow.com</a:t>
            </a:r>
            <a:r>
              <a:rPr kumimoji="1" lang="zh-CN" altLang="en-US" sz="1200" b="0" i="0" kern="1200" dirty="0">
                <a:solidFill>
                  <a:schemeClr val="tx1"/>
                </a:solidFill>
                <a:effectLst/>
                <a:latin typeface="Times New Roman" pitchFamily="18" charset="0"/>
                <a:ea typeface="宋体" charset="-122"/>
                <a:cs typeface="+mn-cs"/>
              </a:rPr>
              <a:t>的域名系统（</a:t>
            </a:r>
            <a:r>
              <a:rPr kumimoji="1" lang="en-US" altLang="zh-CN" sz="1200" b="0" i="0" kern="1200" dirty="0">
                <a:solidFill>
                  <a:schemeClr val="tx1"/>
                </a:solidFill>
                <a:effectLst/>
                <a:latin typeface="Times New Roman" pitchFamily="18" charset="0"/>
                <a:ea typeface="宋体" charset="-122"/>
                <a:cs typeface="+mn-cs"/>
              </a:rPr>
              <a:t>DNS</a:t>
            </a:r>
            <a:r>
              <a:rPr kumimoji="1" lang="zh-CN" altLang="en-US" sz="1200" b="0" i="0" kern="1200" dirty="0">
                <a:solidFill>
                  <a:schemeClr val="tx1"/>
                </a:solidFill>
                <a:effectLst/>
                <a:latin typeface="Times New Roman" pitchFamily="18" charset="0"/>
                <a:ea typeface="宋体" charset="-122"/>
                <a:cs typeface="+mn-cs"/>
              </a:rPr>
              <a:t>）记录，可以看到它们指向的是马来西亚的</a:t>
            </a:r>
            <a:r>
              <a:rPr kumimoji="1" lang="en-US" altLang="zh-CN" sz="1200" b="0" i="0" kern="1200" dirty="0">
                <a:solidFill>
                  <a:schemeClr val="tx1"/>
                </a:solidFill>
                <a:effectLst/>
                <a:latin typeface="Times New Roman" pitchFamily="18" charset="0"/>
                <a:ea typeface="宋体" charset="-122"/>
                <a:cs typeface="+mn-cs"/>
              </a:rPr>
              <a:t>Internet</a:t>
            </a:r>
            <a:r>
              <a:rPr kumimoji="1" lang="zh-CN" altLang="en-US" sz="1200" b="0" i="0" kern="1200" dirty="0">
                <a:solidFill>
                  <a:schemeClr val="tx1"/>
                </a:solidFill>
                <a:effectLst/>
                <a:latin typeface="Times New Roman" pitchFamily="18" charset="0"/>
                <a:ea typeface="宋体" charset="-122"/>
                <a:cs typeface="+mn-cs"/>
              </a:rPr>
              <a:t>地址</a:t>
            </a:r>
            <a:r>
              <a:rPr kumimoji="1" lang="en-US" altLang="zh-CN" sz="1200" b="0" i="0" kern="1200" dirty="0">
                <a:solidFill>
                  <a:schemeClr val="tx1"/>
                </a:solidFill>
                <a:effectLst/>
                <a:latin typeface="Times New Roman" pitchFamily="18" charset="0"/>
                <a:ea typeface="宋体" charset="-122"/>
                <a:cs typeface="+mn-cs"/>
              </a:rPr>
              <a:t>-111.90.149.49</a:t>
            </a:r>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139</a:t>
            </a:fld>
            <a:endParaRPr lang="en-US" altLang="zh-CN"/>
          </a:p>
        </p:txBody>
      </p:sp>
    </p:spTree>
    <p:extLst>
      <p:ext uri="{BB962C8B-B14F-4D97-AF65-F5344CB8AC3E}">
        <p14:creationId xmlns:p14="http://schemas.microsoft.com/office/powerpoint/2010/main" val="84910014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en-US" dirty="0"/>
              <a:t>段海新教授：域名空间治理与域名协议安全的演进， </a:t>
            </a:r>
            <a:r>
              <a:rPr kumimoji="1" lang="en-US" altLang="zh-CN" dirty="0"/>
              <a:t>2019</a:t>
            </a:r>
            <a:r>
              <a:rPr kumimoji="1" lang="zh-CN" altLang="en-US" dirty="0"/>
              <a:t>北京网络安全大会报告</a:t>
            </a:r>
            <a:endParaRPr kumimoji="1" lang="en-US" altLang="zh-CN" dirty="0"/>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142</a:t>
            </a:fld>
            <a:endParaRPr lang="en-US" altLang="zh-CN"/>
          </a:p>
        </p:txBody>
      </p:sp>
    </p:spTree>
    <p:extLst>
      <p:ext uri="{BB962C8B-B14F-4D97-AF65-F5344CB8AC3E}">
        <p14:creationId xmlns:p14="http://schemas.microsoft.com/office/powerpoint/2010/main" val="246940920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p:txBody>
          <a:bodyPr/>
          <a:lstStyle/>
          <a:p>
            <a:pPr>
              <a:defRPr/>
            </a:pPr>
            <a:fld id="{9FD54D0F-DE20-458F-9711-211063689A02}" type="slidenum">
              <a:rPr lang="zh-CN" altLang="en-US" smtClean="0"/>
              <a:pPr>
                <a:defRPr/>
              </a:pPr>
              <a:t>148</a:t>
            </a:fld>
            <a:endParaRPr lang="en-US" altLang="zh-CN"/>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noFill/>
          <a:ln/>
        </p:spPr>
        <p:txBody>
          <a:bodyPr/>
          <a:lstStyle/>
          <a:p>
            <a:pPr eaLnBrk="1" hangingPunct="1"/>
            <a:endParaRPr lang="zh-CN" altLang="en-US"/>
          </a:p>
        </p:txBody>
      </p:sp>
    </p:spTree>
    <p:extLst>
      <p:ext uri="{BB962C8B-B14F-4D97-AF65-F5344CB8AC3E}">
        <p14:creationId xmlns:p14="http://schemas.microsoft.com/office/powerpoint/2010/main" val="195839298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sz="1200" kern="1200" dirty="0">
                <a:solidFill>
                  <a:schemeClr val="tx1"/>
                </a:solidFill>
                <a:effectLst/>
                <a:latin typeface="Times New Roman" pitchFamily="18" charset="0"/>
                <a:ea typeface="宋体" charset="-122"/>
                <a:cs typeface="+mn-cs"/>
              </a:rPr>
              <a:t>2018</a:t>
            </a:r>
            <a:r>
              <a:rPr kumimoji="1" lang="zh-CN" altLang="zh-CN" sz="1200" kern="1200" dirty="0">
                <a:solidFill>
                  <a:schemeClr val="tx1"/>
                </a:solidFill>
                <a:effectLst/>
                <a:latin typeface="Times New Roman" pitchFamily="18" charset="0"/>
                <a:ea typeface="宋体" charset="-122"/>
                <a:cs typeface="+mn-cs"/>
              </a:rPr>
              <a:t>年</a:t>
            </a:r>
            <a:r>
              <a:rPr kumimoji="1" lang="en-US" altLang="zh-CN" sz="1200" kern="1200" dirty="0">
                <a:solidFill>
                  <a:schemeClr val="tx1"/>
                </a:solidFill>
                <a:effectLst/>
                <a:latin typeface="Times New Roman" pitchFamily="18" charset="0"/>
                <a:ea typeface="宋体" charset="-122"/>
                <a:cs typeface="+mn-cs"/>
              </a:rPr>
              <a:t>1</a:t>
            </a:r>
            <a:r>
              <a:rPr kumimoji="1" lang="zh-CN" altLang="zh-CN" sz="1200" kern="1200" dirty="0">
                <a:solidFill>
                  <a:schemeClr val="tx1"/>
                </a:solidFill>
                <a:effectLst/>
                <a:latin typeface="Times New Roman" pitchFamily="18" charset="0"/>
                <a:ea typeface="宋体" charset="-122"/>
                <a:cs typeface="+mn-cs"/>
              </a:rPr>
              <a:t>月，</a:t>
            </a:r>
            <a:r>
              <a:rPr kumimoji="1" lang="en-US" altLang="zh-CN" sz="1200" kern="1200" dirty="0">
                <a:solidFill>
                  <a:schemeClr val="tx1"/>
                </a:solidFill>
                <a:effectLst/>
                <a:latin typeface="Times New Roman" pitchFamily="18" charset="0"/>
                <a:ea typeface="宋体" charset="-122"/>
                <a:cs typeface="+mn-cs"/>
              </a:rPr>
              <a:t>Google</a:t>
            </a:r>
            <a:r>
              <a:rPr kumimoji="1" lang="zh-CN" altLang="zh-CN" sz="1200" kern="1200" dirty="0">
                <a:solidFill>
                  <a:schemeClr val="tx1"/>
                </a:solidFill>
                <a:effectLst/>
                <a:latin typeface="Times New Roman" pitchFamily="18" charset="0"/>
                <a:ea typeface="宋体" charset="-122"/>
                <a:cs typeface="+mn-cs"/>
              </a:rPr>
              <a:t>安全团队</a:t>
            </a:r>
            <a:r>
              <a:rPr kumimoji="1" lang="en-US" altLang="zh-CN" sz="1200" kern="1200" dirty="0">
                <a:solidFill>
                  <a:schemeClr val="tx1"/>
                </a:solidFill>
                <a:effectLst/>
                <a:latin typeface="Times New Roman" pitchFamily="18" charset="0"/>
                <a:ea typeface="宋体" charset="-122"/>
                <a:cs typeface="+mn-cs"/>
              </a:rPr>
              <a:t>Project Zero</a:t>
            </a:r>
            <a:r>
              <a:rPr kumimoji="1" lang="zh-CN" altLang="zh-CN" sz="1200" kern="1200" dirty="0">
                <a:solidFill>
                  <a:schemeClr val="tx1"/>
                </a:solidFill>
                <a:effectLst/>
                <a:latin typeface="Times New Roman" pitchFamily="18" charset="0"/>
                <a:ea typeface="宋体" charset="-122"/>
                <a:cs typeface="+mn-cs"/>
              </a:rPr>
              <a:t>公布了两个与</a:t>
            </a:r>
            <a:r>
              <a:rPr kumimoji="1" lang="en-US" altLang="zh-CN" sz="1200" kern="1200" dirty="0">
                <a:solidFill>
                  <a:schemeClr val="tx1"/>
                </a:solidFill>
                <a:effectLst/>
                <a:latin typeface="Times New Roman" pitchFamily="18" charset="0"/>
                <a:ea typeface="宋体" charset="-122"/>
                <a:cs typeface="+mn-cs"/>
              </a:rPr>
              <a:t>CPU</a:t>
            </a:r>
            <a:r>
              <a:rPr kumimoji="1" lang="zh-CN" altLang="zh-CN" sz="1200" kern="1200" dirty="0">
                <a:solidFill>
                  <a:schemeClr val="tx1"/>
                </a:solidFill>
                <a:effectLst/>
                <a:latin typeface="Times New Roman" pitchFamily="18" charset="0"/>
                <a:ea typeface="宋体" charset="-122"/>
                <a:cs typeface="+mn-cs"/>
              </a:rPr>
              <a:t>有关的高危漏洞：</a:t>
            </a:r>
            <a:r>
              <a:rPr kumimoji="1" lang="en-US" altLang="zh-CN" sz="1200" kern="1200" dirty="0">
                <a:solidFill>
                  <a:schemeClr val="tx1"/>
                </a:solidFill>
                <a:effectLst/>
                <a:latin typeface="Times New Roman" pitchFamily="18" charset="0"/>
                <a:ea typeface="宋体" charset="-122"/>
                <a:cs typeface="+mn-cs"/>
              </a:rPr>
              <a:t>Meltdown</a:t>
            </a:r>
            <a:r>
              <a:rPr kumimoji="1" lang="zh-CN" altLang="zh-CN" sz="1200" kern="1200" dirty="0">
                <a:solidFill>
                  <a:schemeClr val="tx1"/>
                </a:solidFill>
                <a:effectLst/>
                <a:latin typeface="Times New Roman" pitchFamily="18" charset="0"/>
                <a:ea typeface="宋体" charset="-122"/>
                <a:cs typeface="+mn-cs"/>
              </a:rPr>
              <a:t>（熔毁）和</a:t>
            </a:r>
            <a:r>
              <a:rPr kumimoji="1" lang="en-US" altLang="zh-CN" sz="1200" kern="1200" dirty="0">
                <a:solidFill>
                  <a:schemeClr val="tx1"/>
                </a:solidFill>
                <a:effectLst/>
                <a:latin typeface="Times New Roman" pitchFamily="18" charset="0"/>
                <a:ea typeface="宋体" charset="-122"/>
                <a:cs typeface="+mn-cs"/>
              </a:rPr>
              <a:t>Specter</a:t>
            </a:r>
            <a:r>
              <a:rPr kumimoji="1" lang="zh-CN" altLang="zh-CN" sz="1200" kern="1200" dirty="0">
                <a:solidFill>
                  <a:schemeClr val="tx1"/>
                </a:solidFill>
                <a:effectLst/>
                <a:latin typeface="Times New Roman" pitchFamily="18" charset="0"/>
                <a:ea typeface="宋体" charset="-122"/>
                <a:cs typeface="+mn-cs"/>
              </a:rPr>
              <a:t>（幽灵），称其几乎影响到了市面上所有的微处理器</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150</a:t>
            </a:fld>
            <a:endParaRPr lang="en-US" altLang="zh-CN"/>
          </a:p>
        </p:txBody>
      </p:sp>
    </p:spTree>
    <p:extLst>
      <p:ext uri="{BB962C8B-B14F-4D97-AF65-F5344CB8AC3E}">
        <p14:creationId xmlns:p14="http://schemas.microsoft.com/office/powerpoint/2010/main" val="157757199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Rot="1" noChangeAspect="1" noChangeArrowheads="1" noTextEdit="1"/>
          </p:cNvSpPr>
          <p:nvPr>
            <p:ph type="sldImg"/>
          </p:nvPr>
        </p:nvSpPr>
        <p:spPr>
          <a:ln/>
        </p:spPr>
      </p:sp>
      <p:sp>
        <p:nvSpPr>
          <p:cNvPr id="115715" name="Rectangle 3"/>
          <p:cNvSpPr>
            <a:spLocks noGrp="1" noChangeArrowheads="1"/>
          </p:cNvSpPr>
          <p:nvPr>
            <p:ph type="body" idx="1"/>
          </p:nvPr>
        </p:nvSpPr>
        <p:spPr>
          <a:noFill/>
          <a:ln/>
        </p:spPr>
        <p:txBody>
          <a:bodyPr/>
          <a:lstStyle/>
          <a:p>
            <a:endParaRPr lang="zh-CN" altLang="en-US"/>
          </a:p>
        </p:txBody>
      </p:sp>
    </p:spTree>
    <p:extLst>
      <p:ext uri="{BB962C8B-B14F-4D97-AF65-F5344CB8AC3E}">
        <p14:creationId xmlns:p14="http://schemas.microsoft.com/office/powerpoint/2010/main" val="129776444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Rot="1" noChangeAspect="1" noChangeArrowheads="1" noTextEdit="1"/>
          </p:cNvSpPr>
          <p:nvPr>
            <p:ph type="sldImg"/>
          </p:nvPr>
        </p:nvSpPr>
        <p:spPr>
          <a:ln/>
        </p:spPr>
      </p:sp>
      <p:sp>
        <p:nvSpPr>
          <p:cNvPr id="116739" name="Rectangle 3"/>
          <p:cNvSpPr>
            <a:spLocks noGrp="1" noChangeArrowheads="1"/>
          </p:cNvSpPr>
          <p:nvPr>
            <p:ph type="body" idx="1"/>
          </p:nvPr>
        </p:nvSpPr>
        <p:spPr>
          <a:noFill/>
          <a:ln/>
        </p:spPr>
        <p:txBody>
          <a:bodyPr/>
          <a:lstStyle/>
          <a:p>
            <a:r>
              <a:rPr lang="en-US" altLang="zh-CN"/>
              <a:t>Windows</a:t>
            </a:r>
            <a:r>
              <a:rPr lang="zh-CN" altLang="en-US"/>
              <a:t>的安全漏洞多就是一个典型例子</a:t>
            </a:r>
          </a:p>
        </p:txBody>
      </p:sp>
    </p:spTree>
    <p:extLst>
      <p:ext uri="{BB962C8B-B14F-4D97-AF65-F5344CB8AC3E}">
        <p14:creationId xmlns:p14="http://schemas.microsoft.com/office/powerpoint/2010/main" val="192331586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Rot="1" noChangeAspect="1" noChangeArrowheads="1" noTextEdit="1"/>
          </p:cNvSpPr>
          <p:nvPr>
            <p:ph type="sldImg"/>
          </p:nvPr>
        </p:nvSpPr>
        <p:spPr>
          <a:ln/>
        </p:spPr>
      </p:sp>
      <p:sp>
        <p:nvSpPr>
          <p:cNvPr id="116739" name="Rectangle 3"/>
          <p:cNvSpPr>
            <a:spLocks noGrp="1" noChangeArrowheads="1"/>
          </p:cNvSpPr>
          <p:nvPr>
            <p:ph type="body" idx="1"/>
          </p:nvPr>
        </p:nvSpPr>
        <p:spPr>
          <a:noFill/>
          <a:ln/>
        </p:spPr>
        <p:txBody>
          <a:bodyPr/>
          <a:lstStyle/>
          <a:p>
            <a:r>
              <a:rPr lang="zh-CN" altLang="en-US" dirty="0"/>
              <a:t>开源软件的大量应用，导致开源软件中的安全漏洞广泛传播</a:t>
            </a:r>
          </a:p>
        </p:txBody>
      </p:sp>
    </p:spTree>
    <p:extLst>
      <p:ext uri="{BB962C8B-B14F-4D97-AF65-F5344CB8AC3E}">
        <p14:creationId xmlns:p14="http://schemas.microsoft.com/office/powerpoint/2010/main" val="311597358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Rot="1" noChangeAspect="1" noChangeArrowheads="1" noTextEdit="1"/>
          </p:cNvSpPr>
          <p:nvPr>
            <p:ph type="sldImg"/>
          </p:nvPr>
        </p:nvSpPr>
        <p:spPr>
          <a:ln/>
        </p:spPr>
      </p:sp>
      <p:sp>
        <p:nvSpPr>
          <p:cNvPr id="116739" name="Rectangle 3"/>
          <p:cNvSpPr>
            <a:spLocks noGrp="1" noChangeArrowheads="1"/>
          </p:cNvSpPr>
          <p:nvPr>
            <p:ph type="body" idx="1"/>
          </p:nvPr>
        </p:nvSpPr>
        <p:spPr>
          <a:noFill/>
          <a:ln/>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开源软件的大量应用，导致开源软件中的安全漏洞广泛传播</a:t>
            </a:r>
          </a:p>
          <a:p>
            <a:endParaRPr lang="zh-CN" altLang="en-US" dirty="0"/>
          </a:p>
        </p:txBody>
      </p:sp>
    </p:spTree>
    <p:extLst>
      <p:ext uri="{BB962C8B-B14F-4D97-AF65-F5344CB8AC3E}">
        <p14:creationId xmlns:p14="http://schemas.microsoft.com/office/powerpoint/2010/main" val="66664795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Rot="1" noChangeAspect="1" noChangeArrowheads="1" noTextEdit="1"/>
          </p:cNvSpPr>
          <p:nvPr>
            <p:ph type="sldImg"/>
          </p:nvPr>
        </p:nvSpPr>
        <p:spPr>
          <a:ln/>
        </p:spPr>
      </p:sp>
      <p:sp>
        <p:nvSpPr>
          <p:cNvPr id="117763" name="Rectangle 3"/>
          <p:cNvSpPr>
            <a:spLocks noGrp="1" noChangeArrowheads="1"/>
          </p:cNvSpPr>
          <p:nvPr>
            <p:ph type="body" idx="1"/>
          </p:nvPr>
        </p:nvSpPr>
        <p:spPr>
          <a:noFill/>
          <a:ln/>
        </p:spPr>
        <p:txBody>
          <a:bodyPr/>
          <a:lstStyle/>
          <a:p>
            <a:r>
              <a:rPr lang="en-US" altLang="zh-CN"/>
              <a:t>Windows</a:t>
            </a:r>
            <a:r>
              <a:rPr lang="zh-CN" altLang="en-US"/>
              <a:t>的安全漏洞多就是一个典型例子</a:t>
            </a:r>
          </a:p>
        </p:txBody>
      </p:sp>
    </p:spTree>
    <p:extLst>
      <p:ext uri="{BB962C8B-B14F-4D97-AF65-F5344CB8AC3E}">
        <p14:creationId xmlns:p14="http://schemas.microsoft.com/office/powerpoint/2010/main" val="215950780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Rot="1" noChangeAspect="1" noChangeArrowheads="1" noTextEdit="1"/>
          </p:cNvSpPr>
          <p:nvPr>
            <p:ph type="sldImg"/>
          </p:nvPr>
        </p:nvSpPr>
        <p:spPr>
          <a:ln/>
        </p:spPr>
      </p:sp>
      <p:sp>
        <p:nvSpPr>
          <p:cNvPr id="118787" name="Rectangle 3"/>
          <p:cNvSpPr>
            <a:spLocks noGrp="1" noChangeArrowheads="1"/>
          </p:cNvSpPr>
          <p:nvPr>
            <p:ph type="body" idx="1"/>
          </p:nvPr>
        </p:nvSpPr>
        <p:spPr>
          <a:noFill/>
          <a:ln/>
        </p:spPr>
        <p:txBody>
          <a:bodyPr/>
          <a:lstStyle/>
          <a:p>
            <a:endParaRPr lang="zh-CN" altLang="en-US" dirty="0"/>
          </a:p>
        </p:txBody>
      </p:sp>
    </p:spTree>
    <p:extLst>
      <p:ext uri="{BB962C8B-B14F-4D97-AF65-F5344CB8AC3E}">
        <p14:creationId xmlns:p14="http://schemas.microsoft.com/office/powerpoint/2010/main" val="35556762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Rot="1" noChangeAspect="1" noChangeArrowheads="1" noTextEdit="1"/>
          </p:cNvSpPr>
          <p:nvPr>
            <p:ph type="sldImg"/>
          </p:nvPr>
        </p:nvSpPr>
        <p:spPr>
          <a:ln/>
        </p:spPr>
      </p:sp>
      <p:sp>
        <p:nvSpPr>
          <p:cNvPr id="118787" name="Rectangle 3"/>
          <p:cNvSpPr>
            <a:spLocks noGrp="1" noChangeArrowheads="1"/>
          </p:cNvSpPr>
          <p:nvPr>
            <p:ph type="body" idx="1"/>
          </p:nvPr>
        </p:nvSpPr>
        <p:spPr>
          <a:noFill/>
          <a:ln/>
        </p:spPr>
        <p:txBody>
          <a:bodyPr/>
          <a:lstStyle/>
          <a:p>
            <a:endParaRPr lang="zh-CN" altLang="en-US" dirty="0"/>
          </a:p>
        </p:txBody>
      </p:sp>
    </p:spTree>
    <p:extLst>
      <p:ext uri="{BB962C8B-B14F-4D97-AF65-F5344CB8AC3E}">
        <p14:creationId xmlns:p14="http://schemas.microsoft.com/office/powerpoint/2010/main" val="190100777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Rot="1" noChangeAspect="1" noChangeArrowheads="1" noTextEdit="1"/>
          </p:cNvSpPr>
          <p:nvPr>
            <p:ph type="sldImg"/>
          </p:nvPr>
        </p:nvSpPr>
        <p:spPr/>
      </p:sp>
      <p:sp>
        <p:nvSpPr>
          <p:cNvPr id="114691" name="Rectangle 3"/>
          <p:cNvSpPr>
            <a:spLocks noGrp="1" noChangeArrowheads="1"/>
          </p:cNvSpPr>
          <p:nvPr>
            <p:ph type="body" idx="1"/>
          </p:nvPr>
        </p:nvSpPr>
        <p:spPr>
          <a:noFill/>
        </p:spPr>
        <p:txBody>
          <a:bodyPr/>
          <a:lstStyle/>
          <a:p>
            <a:r>
              <a:rPr lang="zh-CN" altLang="en-US" smtClean="0"/>
              <a:t>讲到软件组件和网络与通信协议时，引出下面详细介绍安全漏洞</a:t>
            </a:r>
          </a:p>
        </p:txBody>
      </p:sp>
    </p:spTree>
    <p:extLst>
      <p:ext uri="{BB962C8B-B14F-4D97-AF65-F5344CB8AC3E}">
        <p14:creationId xmlns:p14="http://schemas.microsoft.com/office/powerpoint/2010/main" val="105335910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hlinkClick r:id="rId3"/>
              </a:rPr>
              <a:t>https://www.secrss.com/articles/19363</a:t>
            </a:r>
            <a:endParaRPr lang="en-US" altLang="zh-CN" dirty="0"/>
          </a:p>
          <a:p>
            <a:r>
              <a:rPr kumimoji="1" lang="zh-CN" altLang="en-US" sz="1200" b="0" i="0" kern="1200" dirty="0">
                <a:solidFill>
                  <a:schemeClr val="tx1"/>
                </a:solidFill>
                <a:effectLst/>
                <a:latin typeface="Times New Roman" pitchFamily="18" charset="0"/>
                <a:ea typeface="宋体" charset="-122"/>
                <a:cs typeface="+mn-cs"/>
              </a:rPr>
              <a:t>在防御者有机会做出回应下发安装补丁之前，攻击者一直在努力利用新发现的漏洞。</a:t>
            </a:r>
            <a:r>
              <a:rPr kumimoji="1" lang="en-US" altLang="zh-CN" sz="1200" b="0" i="0" kern="1200" dirty="0">
                <a:solidFill>
                  <a:schemeClr val="tx1"/>
                </a:solidFill>
                <a:effectLst/>
                <a:latin typeface="Times New Roman" pitchFamily="18" charset="0"/>
                <a:ea typeface="宋体" charset="-122"/>
                <a:cs typeface="+mn-cs"/>
              </a:rPr>
              <a:t>FireEye </a:t>
            </a:r>
            <a:r>
              <a:rPr kumimoji="1" lang="en-US" altLang="zh-CN" sz="1200" b="0" i="0" kern="1200" dirty="0" err="1">
                <a:solidFill>
                  <a:schemeClr val="tx1"/>
                </a:solidFill>
                <a:effectLst/>
                <a:latin typeface="Times New Roman" pitchFamily="18" charset="0"/>
                <a:ea typeface="宋体" charset="-122"/>
                <a:cs typeface="+mn-cs"/>
              </a:rPr>
              <a:t>Mandiant</a:t>
            </a:r>
            <a:r>
              <a:rPr kumimoji="1" lang="zh-CN" altLang="en-US" sz="1200" b="0" i="0" kern="1200" dirty="0">
                <a:solidFill>
                  <a:schemeClr val="tx1"/>
                </a:solidFill>
                <a:effectLst/>
                <a:latin typeface="Times New Roman" pitchFamily="18" charset="0"/>
                <a:ea typeface="宋体" charset="-122"/>
                <a:cs typeface="+mn-cs"/>
              </a:rPr>
              <a:t>威胁情报部门针对</a:t>
            </a:r>
            <a:r>
              <a:rPr kumimoji="1" lang="en-US" altLang="zh-CN" sz="1200" b="0" i="0" kern="1200" dirty="0">
                <a:solidFill>
                  <a:schemeClr val="tx1"/>
                </a:solidFill>
                <a:effectLst/>
                <a:latin typeface="Times New Roman" pitchFamily="18" charset="0"/>
                <a:ea typeface="宋体" charset="-122"/>
                <a:cs typeface="+mn-cs"/>
              </a:rPr>
              <a:t>2018</a:t>
            </a:r>
            <a:r>
              <a:rPr kumimoji="1" lang="zh-CN" altLang="en-US" sz="1200" b="0" i="0" kern="1200" dirty="0">
                <a:solidFill>
                  <a:schemeClr val="tx1"/>
                </a:solidFill>
                <a:effectLst/>
                <a:latin typeface="Times New Roman" pitchFamily="18" charset="0"/>
                <a:ea typeface="宋体" charset="-122"/>
                <a:cs typeface="+mn-cs"/>
              </a:rPr>
              <a:t>年和</a:t>
            </a:r>
            <a:r>
              <a:rPr kumimoji="1" lang="en-US" altLang="zh-CN" sz="1200" b="0" i="0" kern="1200" dirty="0">
                <a:solidFill>
                  <a:schemeClr val="tx1"/>
                </a:solidFill>
                <a:effectLst/>
                <a:latin typeface="Times New Roman" pitchFamily="18" charset="0"/>
                <a:ea typeface="宋体" charset="-122"/>
                <a:cs typeface="+mn-cs"/>
              </a:rPr>
              <a:t>2019</a:t>
            </a:r>
            <a:r>
              <a:rPr kumimoji="1" lang="zh-CN" altLang="en-US" sz="1200" b="0" i="0" kern="1200" dirty="0">
                <a:solidFill>
                  <a:schemeClr val="tx1"/>
                </a:solidFill>
                <a:effectLst/>
                <a:latin typeface="Times New Roman" pitchFamily="18" charset="0"/>
                <a:ea typeface="宋体" charset="-122"/>
                <a:cs typeface="+mn-cs"/>
              </a:rPr>
              <a:t>年所利用的漏洞进行的研究表明，大多数野外利用都发生在补丁发布之前或补丁可用后的几天内。</a:t>
            </a:r>
            <a:endParaRPr kumimoji="1" lang="en-US" altLang="zh-CN" sz="1200" b="0" i="0" kern="1200" dirty="0">
              <a:solidFill>
                <a:schemeClr val="tx1"/>
              </a:solidFill>
              <a:effectLst/>
              <a:latin typeface="Times New Roman" pitchFamily="18" charset="0"/>
              <a:ea typeface="宋体" charset="-122"/>
              <a:cs typeface="+mn-cs"/>
            </a:endParaRPr>
          </a:p>
          <a:p>
            <a:r>
              <a:rPr kumimoji="1" lang="zh-CN" altLang="en-US" sz="1200" b="0" i="0" kern="1200" dirty="0">
                <a:solidFill>
                  <a:schemeClr val="tx1"/>
                </a:solidFill>
                <a:effectLst/>
                <a:latin typeface="Times New Roman" pitchFamily="18" charset="0"/>
                <a:ea typeface="宋体" charset="-122"/>
                <a:cs typeface="+mn-cs"/>
              </a:rPr>
              <a:t>图</a:t>
            </a:r>
            <a:r>
              <a:rPr kumimoji="1" lang="en-US" altLang="zh-CN" sz="1200" b="0" i="0" kern="1200" dirty="0">
                <a:solidFill>
                  <a:schemeClr val="tx1"/>
                </a:solidFill>
                <a:effectLst/>
                <a:latin typeface="Times New Roman" pitchFamily="18" charset="0"/>
                <a:ea typeface="宋体" charset="-122"/>
                <a:cs typeface="+mn-cs"/>
              </a:rPr>
              <a:t>2</a:t>
            </a:r>
            <a:r>
              <a:rPr kumimoji="1" lang="zh-CN" altLang="en-US" sz="1200" b="0" i="0" kern="1200" dirty="0">
                <a:solidFill>
                  <a:schemeClr val="tx1"/>
                </a:solidFill>
                <a:effectLst/>
                <a:latin typeface="Times New Roman" pitchFamily="18" charset="0"/>
                <a:ea typeface="宋体" charset="-122"/>
                <a:cs typeface="+mn-cs"/>
              </a:rPr>
              <a:t>说明了从提供修补程序到发现每个漏洞的首次利用日期之间的天数。我们相信这些数字是保守的估计，因为我们依赖于首次报告的与特定日期关联的漏洞的利用。</a:t>
            </a:r>
            <a:endParaRPr kumimoji="1" lang="en-US" altLang="zh-CN" sz="1200" b="0" i="0" kern="1200" dirty="0">
              <a:solidFill>
                <a:schemeClr val="tx1"/>
              </a:solidFill>
              <a:effectLst/>
              <a:latin typeface="Times New Roman" pitchFamily="18" charset="0"/>
              <a:ea typeface="宋体" charset="-122"/>
              <a:cs typeface="+mn-cs"/>
            </a:endParaRPr>
          </a:p>
          <a:p>
            <a:r>
              <a:rPr kumimoji="1" lang="zh-CN" altLang="en-US" sz="1200" b="0" i="0" kern="1200" dirty="0">
                <a:solidFill>
                  <a:schemeClr val="tx1"/>
                </a:solidFill>
                <a:effectLst/>
                <a:latin typeface="Times New Roman" pitchFamily="18" charset="0"/>
                <a:ea typeface="宋体" charset="-122"/>
                <a:cs typeface="+mn-cs"/>
              </a:rPr>
              <a:t>漏洞披露与补丁发布之间的平均时间约为</a:t>
            </a:r>
            <a:r>
              <a:rPr kumimoji="1" lang="en-US" altLang="zh-CN" sz="1200" b="0" i="0" kern="1200" dirty="0">
                <a:solidFill>
                  <a:schemeClr val="tx1"/>
                </a:solidFill>
                <a:effectLst/>
                <a:latin typeface="Times New Roman" pitchFamily="18" charset="0"/>
                <a:ea typeface="宋体" charset="-122"/>
                <a:cs typeface="+mn-cs"/>
              </a:rPr>
              <a:t>9</a:t>
            </a:r>
            <a:r>
              <a:rPr kumimoji="1" lang="zh-CN" altLang="en-US" sz="1200" b="0" i="0" kern="1200" dirty="0">
                <a:solidFill>
                  <a:schemeClr val="tx1"/>
                </a:solidFill>
                <a:effectLst/>
                <a:latin typeface="Times New Roman" pitchFamily="18" charset="0"/>
                <a:ea typeface="宋体" charset="-122"/>
                <a:cs typeface="+mn-cs"/>
              </a:rPr>
              <a:t>天。</a:t>
            </a:r>
            <a:r>
              <a:rPr kumimoji="1" lang="en-US" altLang="zh-CN" sz="1200" b="0" i="0" kern="1200" dirty="0">
                <a:solidFill>
                  <a:schemeClr val="tx1"/>
                </a:solidFill>
                <a:effectLst/>
                <a:latin typeface="Times New Roman" pitchFamily="18" charset="0"/>
                <a:ea typeface="宋体" charset="-122"/>
                <a:cs typeface="+mn-cs"/>
              </a:rPr>
              <a:t>CVE-2019-0863</a:t>
            </a:r>
            <a:r>
              <a:rPr kumimoji="1" lang="zh-CN" altLang="en-US" sz="1200" b="0" i="0" kern="1200" dirty="0">
                <a:solidFill>
                  <a:schemeClr val="tx1"/>
                </a:solidFill>
                <a:effectLst/>
                <a:latin typeface="Times New Roman" pitchFamily="18" charset="0"/>
                <a:ea typeface="宋体" charset="-122"/>
                <a:cs typeface="+mn-cs"/>
              </a:rPr>
              <a:t>是</a:t>
            </a:r>
            <a:r>
              <a:rPr kumimoji="1" lang="en-US" altLang="zh-CN" sz="1200" b="0" i="0" kern="1200" dirty="0">
                <a:solidFill>
                  <a:schemeClr val="tx1"/>
                </a:solidFill>
                <a:effectLst/>
                <a:latin typeface="Times New Roman" pitchFamily="18" charset="0"/>
                <a:ea typeface="宋体" charset="-122"/>
                <a:cs typeface="+mn-cs"/>
              </a:rPr>
              <a:t>Microsoft Windows</a:t>
            </a:r>
            <a:r>
              <a:rPr kumimoji="1" lang="zh-CN" altLang="en-US" sz="1200" b="0" i="0" kern="1200" dirty="0">
                <a:solidFill>
                  <a:schemeClr val="tx1"/>
                </a:solidFill>
                <a:effectLst/>
                <a:latin typeface="Times New Roman" pitchFamily="18" charset="0"/>
                <a:ea typeface="宋体" charset="-122"/>
                <a:cs typeface="+mn-cs"/>
              </a:rPr>
              <a:t>服务器漏洞，该漏洞于</a:t>
            </a:r>
            <a:r>
              <a:rPr kumimoji="1" lang="en-US" altLang="zh-CN" sz="1200" b="0" i="0" kern="1200" dirty="0">
                <a:solidFill>
                  <a:schemeClr val="tx1"/>
                </a:solidFill>
                <a:effectLst/>
                <a:latin typeface="Times New Roman" pitchFamily="18" charset="0"/>
                <a:ea typeface="宋体" charset="-122"/>
                <a:cs typeface="+mn-cs"/>
              </a:rPr>
              <a:t>2018</a:t>
            </a:r>
            <a:r>
              <a:rPr kumimoji="1" lang="zh-CN" altLang="en-US" sz="1200" b="0" i="0" kern="1200" dirty="0">
                <a:solidFill>
                  <a:schemeClr val="tx1"/>
                </a:solidFill>
                <a:effectLst/>
                <a:latin typeface="Times New Roman" pitchFamily="18" charset="0"/>
                <a:ea typeface="宋体" charset="-122"/>
                <a:cs typeface="+mn-cs"/>
              </a:rPr>
              <a:t>年</a:t>
            </a:r>
            <a:r>
              <a:rPr kumimoji="1" lang="en-US" altLang="zh-CN" sz="1200" b="0" i="0" kern="1200" dirty="0">
                <a:solidFill>
                  <a:schemeClr val="tx1"/>
                </a:solidFill>
                <a:effectLst/>
                <a:latin typeface="Times New Roman" pitchFamily="18" charset="0"/>
                <a:ea typeface="宋体" charset="-122"/>
                <a:cs typeface="+mn-cs"/>
              </a:rPr>
              <a:t>12</a:t>
            </a:r>
            <a:r>
              <a:rPr kumimoji="1" lang="zh-CN" altLang="en-US" sz="1200" b="0" i="0" kern="1200" dirty="0">
                <a:solidFill>
                  <a:schemeClr val="tx1"/>
                </a:solidFill>
                <a:effectLst/>
                <a:latin typeface="Times New Roman" pitchFamily="18" charset="0"/>
                <a:ea typeface="宋体" charset="-122"/>
                <a:cs typeface="+mn-cs"/>
              </a:rPr>
              <a:t>月披露，直到</a:t>
            </a:r>
            <a:r>
              <a:rPr kumimoji="1" lang="en-US" altLang="zh-CN" sz="1200" b="0" i="0" kern="1200" dirty="0">
                <a:solidFill>
                  <a:schemeClr val="tx1"/>
                </a:solidFill>
                <a:effectLst/>
                <a:latin typeface="Times New Roman" pitchFamily="18" charset="0"/>
                <a:ea typeface="宋体" charset="-122"/>
                <a:cs typeface="+mn-cs"/>
              </a:rPr>
              <a:t>2019</a:t>
            </a:r>
            <a:r>
              <a:rPr kumimoji="1" lang="zh-CN" altLang="en-US" sz="1200" b="0" i="0" kern="1200" dirty="0">
                <a:solidFill>
                  <a:schemeClr val="tx1"/>
                </a:solidFill>
                <a:effectLst/>
                <a:latin typeface="Times New Roman" pitchFamily="18" charset="0"/>
                <a:ea typeface="宋体" charset="-122"/>
                <a:cs typeface="+mn-cs"/>
              </a:rPr>
              <a:t>年</a:t>
            </a:r>
            <a:r>
              <a:rPr kumimoji="1" lang="en-US" altLang="zh-CN" sz="1200" b="0" i="0" kern="1200" dirty="0">
                <a:solidFill>
                  <a:schemeClr val="tx1"/>
                </a:solidFill>
                <a:effectLst/>
                <a:latin typeface="Times New Roman" pitchFamily="18" charset="0"/>
                <a:ea typeface="宋体" charset="-122"/>
                <a:cs typeface="+mn-cs"/>
              </a:rPr>
              <a:t>5</a:t>
            </a:r>
            <a:r>
              <a:rPr kumimoji="1" lang="zh-CN" altLang="en-US" sz="1200" b="0" i="0" kern="1200" dirty="0">
                <a:solidFill>
                  <a:schemeClr val="tx1"/>
                </a:solidFill>
                <a:effectLst/>
                <a:latin typeface="Times New Roman" pitchFamily="18" charset="0"/>
                <a:ea typeface="宋体" charset="-122"/>
                <a:cs typeface="+mn-cs"/>
              </a:rPr>
              <a:t>月的</a:t>
            </a:r>
            <a:r>
              <a:rPr kumimoji="1" lang="en-US" altLang="zh-CN" sz="1200" b="0" i="0" kern="1200" dirty="0">
                <a:solidFill>
                  <a:schemeClr val="tx1"/>
                </a:solidFill>
                <a:effectLst/>
                <a:latin typeface="Times New Roman" pitchFamily="18" charset="0"/>
                <a:ea typeface="宋体" charset="-122"/>
                <a:cs typeface="+mn-cs"/>
              </a:rPr>
              <a:t>5</a:t>
            </a:r>
            <a:r>
              <a:rPr kumimoji="1" lang="zh-CN" altLang="en-US" sz="1200" b="0" i="0" kern="1200" dirty="0">
                <a:solidFill>
                  <a:schemeClr val="tx1"/>
                </a:solidFill>
                <a:effectLst/>
                <a:latin typeface="Times New Roman" pitchFamily="18" charset="0"/>
                <a:ea typeface="宋体" charset="-122"/>
                <a:cs typeface="+mn-cs"/>
              </a:rPr>
              <a:t>个月后才得到修复。在</a:t>
            </a:r>
            <a:r>
              <a:rPr kumimoji="1" lang="en-US" altLang="zh-CN" sz="1200" b="0" i="0" kern="1200" dirty="0">
                <a:solidFill>
                  <a:schemeClr val="tx1"/>
                </a:solidFill>
                <a:effectLst/>
                <a:latin typeface="Times New Roman" pitchFamily="18" charset="0"/>
                <a:ea typeface="宋体" charset="-122"/>
                <a:cs typeface="+mn-cs"/>
              </a:rPr>
              <a:t>59</a:t>
            </a:r>
            <a:r>
              <a:rPr kumimoji="1" lang="zh-CN" altLang="en-US" sz="1200" b="0" i="0" kern="1200" dirty="0">
                <a:solidFill>
                  <a:schemeClr val="tx1"/>
                </a:solidFill>
                <a:effectLst/>
                <a:latin typeface="Times New Roman" pitchFamily="18" charset="0"/>
                <a:ea typeface="宋体" charset="-122"/>
                <a:cs typeface="+mn-cs"/>
              </a:rPr>
              <a:t>％的情况下，漏洞被披露的当天就发布了补丁。这些度量标准与观察到的攻击者利用活动的速度相结合，突出了负责任的公开披露漏洞的重要性，因为它可以为防御者提供成功修补易受攻击的系统所需的时间窗口。</a:t>
            </a:r>
          </a:p>
          <a:p>
            <a:r>
              <a:rPr kumimoji="1" lang="zh-CN" altLang="en-US" sz="1200" b="0" i="0" kern="1200" dirty="0">
                <a:solidFill>
                  <a:schemeClr val="tx1"/>
                </a:solidFill>
                <a:effectLst/>
                <a:latin typeface="Times New Roman" pitchFamily="18" charset="0"/>
                <a:ea typeface="宋体" charset="-122"/>
                <a:cs typeface="+mn-cs"/>
              </a:rPr>
              <a:t>尽管观察到的大多数漏洞都是</a:t>
            </a:r>
            <a:r>
              <a:rPr kumimoji="1" lang="en-US" altLang="zh-CN" sz="1200" b="0" i="0" kern="1200" dirty="0">
                <a:solidFill>
                  <a:schemeClr val="tx1"/>
                </a:solidFill>
                <a:effectLst/>
                <a:latin typeface="Times New Roman" pitchFamily="18" charset="0"/>
                <a:ea typeface="宋体" charset="-122"/>
                <a:cs typeface="+mn-cs"/>
              </a:rPr>
              <a:t>0-day </a:t>
            </a:r>
            <a:r>
              <a:rPr kumimoji="1" lang="zh-CN" altLang="en-US" sz="1200" b="0" i="0" kern="1200" dirty="0">
                <a:solidFill>
                  <a:schemeClr val="tx1"/>
                </a:solidFill>
                <a:effectLst/>
                <a:latin typeface="Times New Roman" pitchFamily="18" charset="0"/>
                <a:ea typeface="宋体" charset="-122"/>
                <a:cs typeface="+mn-cs"/>
              </a:rPr>
              <a:t>漏洞，但发布补丁程序后，有</a:t>
            </a:r>
            <a:r>
              <a:rPr kumimoji="1" lang="en-US" altLang="zh-CN" sz="1200" b="0" i="0" kern="1200" dirty="0">
                <a:solidFill>
                  <a:schemeClr val="tx1"/>
                </a:solidFill>
                <a:effectLst/>
                <a:latin typeface="Times New Roman" pitchFamily="18" charset="0"/>
                <a:ea typeface="宋体" charset="-122"/>
                <a:cs typeface="+mn-cs"/>
              </a:rPr>
              <a:t>42</a:t>
            </a:r>
            <a:r>
              <a:rPr kumimoji="1" lang="zh-CN" altLang="en-US" sz="1200" b="0" i="0" kern="1200" dirty="0">
                <a:solidFill>
                  <a:schemeClr val="tx1"/>
                </a:solidFill>
                <a:effectLst/>
                <a:latin typeface="Times New Roman" pitchFamily="18" charset="0"/>
                <a:ea typeface="宋体" charset="-122"/>
                <a:cs typeface="+mn-cs"/>
              </a:rPr>
              <a:t>％的漏洞被利用了。对于这些非</a:t>
            </a:r>
            <a:r>
              <a:rPr kumimoji="1" lang="en-US" altLang="zh-CN" sz="1200" b="0" i="0" kern="1200" dirty="0">
                <a:solidFill>
                  <a:schemeClr val="tx1"/>
                </a:solidFill>
                <a:effectLst/>
                <a:latin typeface="Times New Roman" pitchFamily="18" charset="0"/>
                <a:ea typeface="宋体" charset="-122"/>
                <a:cs typeface="+mn-cs"/>
              </a:rPr>
              <a:t>0-day</a:t>
            </a:r>
            <a:r>
              <a:rPr kumimoji="1" lang="zh-CN" altLang="en-US" sz="1200" b="0" i="0" kern="1200" dirty="0">
                <a:solidFill>
                  <a:schemeClr val="tx1"/>
                </a:solidFill>
                <a:effectLst/>
                <a:latin typeface="Times New Roman" pitchFamily="18" charset="0"/>
                <a:ea typeface="宋体" charset="-122"/>
                <a:cs typeface="+mn-cs"/>
              </a:rPr>
              <a:t>漏洞，在补丁发布到首次发现攻击者利用实例之间，时间窗口很小（通常只有几小时或几天）。</a:t>
            </a:r>
            <a:endParaRPr kumimoji="1" lang="en-US" altLang="zh-CN" sz="1200" b="0" i="0" kern="1200" dirty="0">
              <a:solidFill>
                <a:schemeClr val="tx1"/>
              </a:solidFill>
              <a:effectLst/>
              <a:latin typeface="Times New Roman" pitchFamily="18" charset="0"/>
              <a:ea typeface="宋体" charset="-122"/>
              <a:cs typeface="+mn-cs"/>
            </a:endParaRPr>
          </a:p>
          <a:p>
            <a:endParaRPr kumimoji="1" lang="en-US" altLang="zh-CN" sz="1200" b="0" i="0" kern="1200" dirty="0">
              <a:solidFill>
                <a:schemeClr val="tx1"/>
              </a:solidFill>
              <a:effectLst/>
              <a:latin typeface="Times New Roman" pitchFamily="18" charset="0"/>
              <a:ea typeface="宋体" charset="-122"/>
              <a:cs typeface="+mn-cs"/>
            </a:endParaRPr>
          </a:p>
          <a:p>
            <a:r>
              <a:rPr kumimoji="1" lang="en-US" altLang="zh-CN" sz="1200" b="0" i="0" kern="1200" dirty="0">
                <a:solidFill>
                  <a:schemeClr val="tx1"/>
                </a:solidFill>
                <a:effectLst/>
                <a:latin typeface="Times New Roman" pitchFamily="18" charset="0"/>
                <a:ea typeface="宋体" charset="-122"/>
                <a:cs typeface="+mn-cs"/>
              </a:rPr>
              <a:t>2018</a:t>
            </a:r>
            <a:r>
              <a:rPr kumimoji="1" lang="zh-CN" altLang="en-US" sz="1200" b="0" i="0" kern="1200" dirty="0">
                <a:solidFill>
                  <a:schemeClr val="tx1"/>
                </a:solidFill>
                <a:effectLst/>
                <a:latin typeface="Times New Roman" pitchFamily="18" charset="0"/>
                <a:ea typeface="宋体" charset="-122"/>
                <a:cs typeface="+mn-cs"/>
              </a:rPr>
              <a:t>年第一季度至</a:t>
            </a:r>
            <a:r>
              <a:rPr kumimoji="1" lang="en-US" altLang="zh-CN" sz="1200" b="0" i="0" kern="1200" dirty="0">
                <a:solidFill>
                  <a:schemeClr val="tx1"/>
                </a:solidFill>
                <a:effectLst/>
                <a:latin typeface="Times New Roman" pitchFamily="18" charset="0"/>
                <a:ea typeface="宋体" charset="-122"/>
                <a:cs typeface="+mn-cs"/>
              </a:rPr>
              <a:t>2019</a:t>
            </a:r>
            <a:r>
              <a:rPr kumimoji="1" lang="zh-CN" altLang="en-US" sz="1200" b="0" i="0" kern="1200">
                <a:solidFill>
                  <a:schemeClr val="tx1"/>
                </a:solidFill>
                <a:effectLst/>
                <a:latin typeface="Times New Roman" pitchFamily="18" charset="0"/>
                <a:ea typeface="宋体" charset="-122"/>
                <a:cs typeface="+mn-cs"/>
              </a:rPr>
              <a:t>年第三季度按供应商利用的漏洞</a:t>
            </a:r>
            <a:endParaRPr kumimoji="1" lang="zh-CN" altLang="en-US" sz="1200" b="0" i="0" kern="1200" dirty="0">
              <a:solidFill>
                <a:schemeClr val="tx1"/>
              </a:solidFill>
              <a:effectLst/>
              <a:latin typeface="Times New Roman" pitchFamily="18" charset="0"/>
              <a:ea typeface="宋体" charset="-122"/>
              <a:cs typeface="+mn-cs"/>
            </a:endParaRPr>
          </a:p>
          <a:p>
            <a:endParaRPr kumimoji="1" lang="zh-CN" altLang="en-US" sz="1200" b="0" i="0" kern="1200" dirty="0">
              <a:solidFill>
                <a:schemeClr val="tx1"/>
              </a:solidFill>
              <a:effectLst/>
              <a:latin typeface="Times New Roman" pitchFamily="18" charset="0"/>
              <a:ea typeface="宋体" charset="-122"/>
              <a:cs typeface="+mn-cs"/>
            </a:endParaRPr>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164</a:t>
            </a:fld>
            <a:endParaRPr lang="en-US" altLang="zh-CN"/>
          </a:p>
        </p:txBody>
      </p:sp>
    </p:spTree>
    <p:extLst>
      <p:ext uri="{BB962C8B-B14F-4D97-AF65-F5344CB8AC3E}">
        <p14:creationId xmlns:p14="http://schemas.microsoft.com/office/powerpoint/2010/main" val="20689130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2" name="Group 2"/>
          <p:cNvGrpSpPr>
            <a:grpSpLocks/>
          </p:cNvGrpSpPr>
          <p:nvPr/>
        </p:nvGrpSpPr>
        <p:grpSpPr bwMode="auto">
          <a:xfrm>
            <a:off x="0" y="2438400"/>
            <a:ext cx="9009063" cy="1052513"/>
            <a:chOff x="0" y="1536"/>
            <a:chExt cx="5675" cy="663"/>
          </a:xfrm>
        </p:grpSpPr>
        <p:grpSp>
          <p:nvGrpSpPr>
            <p:cNvPr id="3" name="Group 3"/>
            <p:cNvGrpSpPr>
              <a:grpSpLocks/>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w="9525">
                <a:noFill/>
                <a:miter lim="800000"/>
                <a:headEnd/>
                <a:tailEnd/>
              </a:ln>
              <a:effectLst/>
            </p:spPr>
            <p:txBody>
              <a:bodyPr wrap="none" anchor="ctr"/>
              <a:lstStyle/>
              <a:p>
                <a:pPr algn="ctr">
                  <a:defRPr/>
                </a:pPr>
                <a:endParaRPr lang="zh-CN" altLang="en-US">
                  <a:solidFill>
                    <a:srgbClr val="000000"/>
                  </a:solidFill>
                  <a:ea typeface="宋体" charset="-122"/>
                </a:endParaRPr>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a:defRPr/>
                </a:pPr>
                <a:endParaRPr lang="zh-CN" altLang="en-US">
                  <a:solidFill>
                    <a:srgbClr val="000000"/>
                  </a:solidFill>
                  <a:ea typeface="宋体" charset="-122"/>
                </a:endParaRPr>
              </a:p>
            </p:txBody>
          </p:sp>
        </p:grpSp>
        <p:grpSp>
          <p:nvGrpSpPr>
            <p:cNvPr id="4" name="Group 6"/>
            <p:cNvGrpSpPr>
              <a:grpSpLocks/>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w="9525">
                <a:noFill/>
                <a:miter lim="800000"/>
                <a:headEnd/>
                <a:tailEnd/>
              </a:ln>
              <a:effectLst/>
            </p:spPr>
            <p:txBody>
              <a:bodyPr wrap="none" anchor="ctr"/>
              <a:lstStyle/>
              <a:p>
                <a:pPr algn="ctr">
                  <a:defRPr/>
                </a:pPr>
                <a:endParaRPr lang="zh-CN" altLang="en-US">
                  <a:solidFill>
                    <a:srgbClr val="000000"/>
                  </a:solidFill>
                  <a:ea typeface="宋体" charset="-122"/>
                </a:endParaRPr>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a:defRPr/>
                </a:pPr>
                <a:endParaRPr lang="zh-CN" altLang="en-US">
                  <a:solidFill>
                    <a:srgbClr val="000000"/>
                  </a:solidFill>
                  <a:ea typeface="宋体" charset="-122"/>
                </a:endParaRPr>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a:defRPr/>
              </a:pPr>
              <a:endParaRPr lang="zh-CN" altLang="en-US">
                <a:solidFill>
                  <a:srgbClr val="000000"/>
                </a:solidFill>
                <a:ea typeface="宋体" charset="-122"/>
              </a:endParaRPr>
            </a:p>
          </p:txBody>
        </p:sp>
        <p:sp>
          <p:nvSpPr>
            <p:cNvPr id="8" name="Rectangle 10"/>
            <p:cNvSpPr>
              <a:spLocks noChangeArrowheads="1"/>
            </p:cNvSpPr>
            <p:nvPr/>
          </p:nvSpPr>
          <p:spPr bwMode="auto">
            <a:xfrm>
              <a:off x="400" y="1536"/>
              <a:ext cx="20" cy="663"/>
            </a:xfrm>
            <a:prstGeom prst="rect">
              <a:avLst/>
            </a:prstGeom>
            <a:solidFill>
              <a:schemeClr val="bg2"/>
            </a:solidFill>
            <a:ln w="9525">
              <a:noFill/>
              <a:miter lim="800000"/>
              <a:headEnd/>
              <a:tailEnd/>
            </a:ln>
            <a:effectLst/>
          </p:spPr>
          <p:txBody>
            <a:bodyPr wrap="none" anchor="ctr"/>
            <a:lstStyle/>
            <a:p>
              <a:pPr algn="ctr">
                <a:defRPr/>
              </a:pPr>
              <a:endParaRPr lang="zh-CN" altLang="en-US">
                <a:solidFill>
                  <a:srgbClr val="000000"/>
                </a:solidFill>
                <a:ea typeface="宋体" charset="-122"/>
              </a:endParaRPr>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a:defRPr/>
              </a:pPr>
              <a:endParaRPr lang="zh-CN" altLang="en-US">
                <a:solidFill>
                  <a:srgbClr val="000000"/>
                </a:solidFill>
                <a:ea typeface="宋体" charset="-122"/>
              </a:endParaRPr>
            </a:p>
          </p:txBody>
        </p:sp>
      </p:grpSp>
      <p:sp>
        <p:nvSpPr>
          <p:cNvPr id="4108" name="Rectangle 12"/>
          <p:cNvSpPr>
            <a:spLocks noGrp="1" noChangeArrowheads="1"/>
          </p:cNvSpPr>
          <p:nvPr>
            <p:ph type="ctrTitle"/>
          </p:nvPr>
        </p:nvSpPr>
        <p:spPr>
          <a:xfrm>
            <a:off x="990600" y="1828800"/>
            <a:ext cx="7772400" cy="1143000"/>
          </a:xfrm>
        </p:spPr>
        <p:txBody>
          <a:bodyPr/>
          <a:lstStyle>
            <a:lvl1pPr>
              <a:defRPr/>
            </a:lvl1pPr>
          </a:lstStyle>
          <a:p>
            <a:r>
              <a:rPr lang="zh-CN" altLang="en-US"/>
              <a:t>单击此处编辑母版标题样式</a:t>
            </a:r>
          </a:p>
        </p:txBody>
      </p:sp>
      <p:sp>
        <p:nvSpPr>
          <p:cNvPr id="4109"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zh-CN" altLang="en-US"/>
              <a:t>单击此处编辑母版副标题样式</a:t>
            </a:r>
          </a:p>
        </p:txBody>
      </p:sp>
      <p:sp>
        <p:nvSpPr>
          <p:cNvPr id="14" name="Rectangle 14"/>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fld id="{1C61395C-8CDD-4FA2-ADB5-FD6889F54024}" type="datetime1">
              <a:rPr lang="zh-CN" altLang="en-US" smtClean="0">
                <a:solidFill>
                  <a:srgbClr val="1C1C1C"/>
                </a:solidFill>
              </a:rPr>
              <a:pPr>
                <a:defRPr/>
              </a:pPr>
              <a:t>2023/3/14</a:t>
            </a:fld>
            <a:endParaRPr lang="en-US" altLang="zh-CN">
              <a:solidFill>
                <a:srgbClr val="1C1C1C"/>
              </a:solidFill>
            </a:endParaRPr>
          </a:p>
        </p:txBody>
      </p:sp>
      <p:sp>
        <p:nvSpPr>
          <p:cNvPr id="15" name="Rectangle 15"/>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US" altLang="zh-CN">
              <a:solidFill>
                <a:srgbClr val="1C1C1C"/>
              </a:solidFill>
            </a:endParaRPr>
          </a:p>
        </p:txBody>
      </p:sp>
      <p:sp>
        <p:nvSpPr>
          <p:cNvPr id="16" name="Rectangle 16"/>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pPr>
              <a:defRPr/>
            </a:pPr>
            <a:fld id="{19E74429-26DC-471E-9251-C4807B21DCEF}" type="slidenum">
              <a:rPr lang="en-US" altLang="zh-CN">
                <a:solidFill>
                  <a:srgbClr val="1C1C1C"/>
                </a:solidFill>
              </a:rPr>
              <a:pPr>
                <a:defRPr/>
              </a:pPr>
              <a:t>‹#›</a:t>
            </a:fld>
            <a:endParaRPr lang="en-US" altLang="zh-CN">
              <a:solidFill>
                <a:srgbClr val="1C1C1C"/>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lvl1pPr>
              <a:lnSpc>
                <a:spcPts val="4500"/>
              </a:lnSpc>
              <a:defRPr b="0" baseline="0">
                <a:latin typeface="Times New Roman" panose="02020603050405020304" pitchFamily="18" charset="0"/>
                <a:ea typeface="黑体" panose="02010609060101010101" pitchFamily="49" charset="-122"/>
              </a:defRPr>
            </a:lvl1pPr>
            <a:lvl2pPr>
              <a:lnSpc>
                <a:spcPts val="4500"/>
              </a:lnSpc>
              <a:defRPr b="0" baseline="0">
                <a:latin typeface="Times New Roman" panose="02020603050405020304" pitchFamily="18" charset="0"/>
                <a:ea typeface="黑体" panose="02010609060101010101" pitchFamily="49" charset="-122"/>
              </a:defRPr>
            </a:lvl2pPr>
            <a:lvl3pPr>
              <a:lnSpc>
                <a:spcPts val="4500"/>
              </a:lnSpc>
              <a:defRPr b="0" baseline="0">
                <a:latin typeface="Times New Roman" panose="02020603050405020304" pitchFamily="18" charset="0"/>
                <a:ea typeface="黑体" panose="02010609060101010101" pitchFamily="49" charset="-122"/>
              </a:defRPr>
            </a:lvl3pPr>
            <a:lvl4pPr>
              <a:lnSpc>
                <a:spcPts val="4500"/>
              </a:lnSpc>
              <a:defRPr b="0" baseline="0">
                <a:latin typeface="Times New Roman" panose="02020603050405020304" pitchFamily="18" charset="0"/>
                <a:ea typeface="黑体" panose="02010609060101010101" pitchFamily="49" charset="-122"/>
              </a:defRPr>
            </a:lvl4pPr>
            <a:lvl5pPr>
              <a:lnSpc>
                <a:spcPts val="4500"/>
              </a:lnSpc>
              <a:defRPr b="0" baseline="0">
                <a:latin typeface="Times New Roman" panose="02020603050405020304" pitchFamily="18" charset="0"/>
                <a:ea typeface="黑体" panose="02010609060101010101" pitchFamily="49"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标题 6"/>
          <p:cNvSpPr>
            <a:spLocks noGrp="1"/>
          </p:cNvSpPr>
          <p:nvPr>
            <p:ph type="title"/>
          </p:nvPr>
        </p:nvSpPr>
        <p:spPr/>
        <p:txBody>
          <a:bodyPr/>
          <a:lstStyle/>
          <a:p>
            <a:r>
              <a:rPr lang="zh-CN" altLang="en-US"/>
              <a:t>单击此处编辑母版标题样式</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11"/>
          <p:cNvSpPr>
            <a:spLocks noGrp="1" noChangeArrowheads="1"/>
          </p:cNvSpPr>
          <p:nvPr>
            <p:ph type="dt" sz="half" idx="10"/>
          </p:nvPr>
        </p:nvSpPr>
        <p:spPr>
          <a:ln/>
        </p:spPr>
        <p:txBody>
          <a:bodyPr/>
          <a:lstStyle>
            <a:lvl1pPr>
              <a:defRPr/>
            </a:lvl1pPr>
          </a:lstStyle>
          <a:p>
            <a:pPr>
              <a:defRPr/>
            </a:pPr>
            <a:fld id="{13EAD5F1-67B5-4A0D-ABC1-AB8E7ABAD35E}" type="datetime1">
              <a:rPr lang="zh-CN" altLang="en-US" smtClean="0">
                <a:solidFill>
                  <a:srgbClr val="000000"/>
                </a:solidFill>
              </a:rPr>
              <a:pPr>
                <a:defRPr/>
              </a:pPr>
              <a:t>2023/3/14</a:t>
            </a:fld>
            <a:endParaRPr lang="en-US" altLang="zh-CN">
              <a:solidFill>
                <a:srgbClr val="000000"/>
              </a:solidFill>
            </a:endParaRPr>
          </a:p>
        </p:txBody>
      </p:sp>
      <p:sp>
        <p:nvSpPr>
          <p:cNvPr id="5" name="Rectangle 12"/>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13"/>
          <p:cNvSpPr>
            <a:spLocks noGrp="1" noChangeArrowheads="1"/>
          </p:cNvSpPr>
          <p:nvPr>
            <p:ph type="sldNum" sz="quarter" idx="12"/>
          </p:nvPr>
        </p:nvSpPr>
        <p:spPr>
          <a:ln/>
        </p:spPr>
        <p:txBody>
          <a:bodyPr/>
          <a:lstStyle>
            <a:lvl1pPr>
              <a:defRPr/>
            </a:lvl1pPr>
          </a:lstStyle>
          <a:p>
            <a:pPr>
              <a:defRPr/>
            </a:pPr>
            <a:fld id="{65EB7420-10C5-4439-A879-6C64816B7E29}" type="slidenum">
              <a:rPr lang="en-US" altLang="zh-CN">
                <a:solidFill>
                  <a:srgbClr val="000000"/>
                </a:solidFill>
              </a:rPr>
              <a:pPr>
                <a:defRPr/>
              </a:pPr>
              <a:t>‹#›</a:t>
            </a:fld>
            <a:endParaRPr lang="en-US" altLang="zh-CN">
              <a:solidFill>
                <a:srgbClr val="000000"/>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58813" y="155416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21213" y="155416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1"/>
          <p:cNvSpPr>
            <a:spLocks noGrp="1" noChangeArrowheads="1"/>
          </p:cNvSpPr>
          <p:nvPr>
            <p:ph type="dt" sz="half" idx="10"/>
          </p:nvPr>
        </p:nvSpPr>
        <p:spPr>
          <a:ln/>
        </p:spPr>
        <p:txBody>
          <a:bodyPr/>
          <a:lstStyle>
            <a:lvl1pPr>
              <a:defRPr/>
            </a:lvl1pPr>
          </a:lstStyle>
          <a:p>
            <a:pPr>
              <a:defRPr/>
            </a:pPr>
            <a:fld id="{8777064C-0A55-4E07-B965-6C3D3728ABB2}" type="datetime1">
              <a:rPr lang="zh-CN" altLang="en-US" smtClean="0">
                <a:solidFill>
                  <a:srgbClr val="000000"/>
                </a:solidFill>
              </a:rPr>
              <a:pPr>
                <a:defRPr/>
              </a:pPr>
              <a:t>2023/3/14</a:t>
            </a:fld>
            <a:endParaRPr lang="en-US" altLang="zh-CN">
              <a:solidFill>
                <a:srgbClr val="000000"/>
              </a:solidFill>
            </a:endParaRPr>
          </a:p>
        </p:txBody>
      </p:sp>
      <p:sp>
        <p:nvSpPr>
          <p:cNvPr id="6" name="Rectangle 12"/>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13"/>
          <p:cNvSpPr>
            <a:spLocks noGrp="1" noChangeArrowheads="1"/>
          </p:cNvSpPr>
          <p:nvPr>
            <p:ph type="sldNum" sz="quarter" idx="12"/>
          </p:nvPr>
        </p:nvSpPr>
        <p:spPr>
          <a:ln/>
        </p:spPr>
        <p:txBody>
          <a:bodyPr/>
          <a:lstStyle>
            <a:lvl1pPr>
              <a:defRPr/>
            </a:lvl1pPr>
          </a:lstStyle>
          <a:p>
            <a:pPr>
              <a:defRPr/>
            </a:pPr>
            <a:fld id="{6B28E056-97FC-4A70-8131-E02F6583BF82}" type="slidenum">
              <a:rPr lang="en-US" altLang="zh-CN">
                <a:solidFill>
                  <a:srgbClr val="000000"/>
                </a:solidFill>
              </a:rPr>
              <a:pPr>
                <a:defRPr/>
              </a:pPr>
              <a:t>‹#›</a:t>
            </a:fld>
            <a:endParaRPr lang="en-US" altLang="zh-CN">
              <a:solidFill>
                <a:srgbClr val="000000"/>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1"/>
          <p:cNvSpPr>
            <a:spLocks noGrp="1" noChangeArrowheads="1"/>
          </p:cNvSpPr>
          <p:nvPr>
            <p:ph type="dt" sz="half" idx="10"/>
          </p:nvPr>
        </p:nvSpPr>
        <p:spPr>
          <a:ln/>
        </p:spPr>
        <p:txBody>
          <a:bodyPr/>
          <a:lstStyle>
            <a:lvl1pPr>
              <a:defRPr/>
            </a:lvl1pPr>
          </a:lstStyle>
          <a:p>
            <a:pPr>
              <a:defRPr/>
            </a:pPr>
            <a:fld id="{E8AED8A2-82FC-4DC1-9863-2A50613A6AE6}" type="datetime1">
              <a:rPr lang="zh-CN" altLang="en-US" smtClean="0">
                <a:solidFill>
                  <a:srgbClr val="000000"/>
                </a:solidFill>
              </a:rPr>
              <a:pPr>
                <a:defRPr/>
              </a:pPr>
              <a:t>2023/3/14</a:t>
            </a:fld>
            <a:endParaRPr lang="en-US" altLang="zh-CN">
              <a:solidFill>
                <a:srgbClr val="000000"/>
              </a:solidFill>
            </a:endParaRPr>
          </a:p>
        </p:txBody>
      </p:sp>
      <p:sp>
        <p:nvSpPr>
          <p:cNvPr id="8" name="Rectangle 12"/>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9" name="Rectangle 13"/>
          <p:cNvSpPr>
            <a:spLocks noGrp="1" noChangeArrowheads="1"/>
          </p:cNvSpPr>
          <p:nvPr>
            <p:ph type="sldNum" sz="quarter" idx="12"/>
          </p:nvPr>
        </p:nvSpPr>
        <p:spPr>
          <a:ln/>
        </p:spPr>
        <p:txBody>
          <a:bodyPr/>
          <a:lstStyle>
            <a:lvl1pPr>
              <a:defRPr/>
            </a:lvl1pPr>
          </a:lstStyle>
          <a:p>
            <a:pPr>
              <a:defRPr/>
            </a:pPr>
            <a:fld id="{BBFD273C-C71A-40AC-9777-8B20B0D93BC7}" type="slidenum">
              <a:rPr lang="en-US" altLang="zh-CN">
                <a:solidFill>
                  <a:srgbClr val="000000"/>
                </a:solidFill>
              </a:rPr>
              <a:pPr>
                <a:defRPr/>
              </a:pPr>
              <a:t>‹#›</a:t>
            </a:fld>
            <a:endParaRPr lang="en-US" altLang="zh-CN">
              <a:solidFill>
                <a:srgbClr val="000000"/>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1"/>
          <p:cNvSpPr>
            <a:spLocks noGrp="1" noChangeArrowheads="1"/>
          </p:cNvSpPr>
          <p:nvPr>
            <p:ph type="dt" sz="half" idx="10"/>
          </p:nvPr>
        </p:nvSpPr>
        <p:spPr>
          <a:ln/>
        </p:spPr>
        <p:txBody>
          <a:bodyPr/>
          <a:lstStyle>
            <a:lvl1pPr>
              <a:defRPr/>
            </a:lvl1pPr>
          </a:lstStyle>
          <a:p>
            <a:pPr>
              <a:defRPr/>
            </a:pPr>
            <a:fld id="{075295FB-9049-4B10-8132-A2704FC040E4}" type="datetime1">
              <a:rPr lang="zh-CN" altLang="en-US" smtClean="0">
                <a:solidFill>
                  <a:srgbClr val="000000"/>
                </a:solidFill>
              </a:rPr>
              <a:pPr>
                <a:defRPr/>
              </a:pPr>
              <a:t>2023/3/14</a:t>
            </a:fld>
            <a:endParaRPr lang="en-US" altLang="zh-CN">
              <a:solidFill>
                <a:srgbClr val="000000"/>
              </a:solidFill>
            </a:endParaRPr>
          </a:p>
        </p:txBody>
      </p:sp>
      <p:sp>
        <p:nvSpPr>
          <p:cNvPr id="4" name="Rectangle 12"/>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5" name="Rectangle 13"/>
          <p:cNvSpPr>
            <a:spLocks noGrp="1" noChangeArrowheads="1"/>
          </p:cNvSpPr>
          <p:nvPr>
            <p:ph type="sldNum" sz="quarter" idx="12"/>
          </p:nvPr>
        </p:nvSpPr>
        <p:spPr>
          <a:ln/>
        </p:spPr>
        <p:txBody>
          <a:bodyPr/>
          <a:lstStyle>
            <a:lvl1pPr>
              <a:defRPr/>
            </a:lvl1pPr>
          </a:lstStyle>
          <a:p>
            <a:pPr>
              <a:defRPr/>
            </a:pPr>
            <a:fld id="{3782B63A-4FE1-4D96-8285-FCAE99EA7890}" type="slidenum">
              <a:rPr lang="en-US" altLang="zh-CN">
                <a:solidFill>
                  <a:srgbClr val="000000"/>
                </a:solidFill>
              </a:rPr>
              <a:pPr>
                <a:defRPr/>
              </a:pPr>
              <a:t>‹#›</a:t>
            </a:fld>
            <a:endParaRPr lang="en-US" altLang="zh-CN">
              <a:solidFill>
                <a:srgbClr val="000000"/>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1"/>
          <p:cNvSpPr>
            <a:spLocks noGrp="1" noChangeArrowheads="1"/>
          </p:cNvSpPr>
          <p:nvPr>
            <p:ph type="dt" sz="half" idx="10"/>
          </p:nvPr>
        </p:nvSpPr>
        <p:spPr>
          <a:ln/>
        </p:spPr>
        <p:txBody>
          <a:bodyPr/>
          <a:lstStyle>
            <a:lvl1pPr>
              <a:defRPr/>
            </a:lvl1pPr>
          </a:lstStyle>
          <a:p>
            <a:pPr>
              <a:defRPr/>
            </a:pPr>
            <a:fld id="{27E94A6A-DBE8-4CE6-9619-41C62789DE7E}" type="datetime1">
              <a:rPr lang="zh-CN" altLang="en-US" smtClean="0">
                <a:solidFill>
                  <a:srgbClr val="000000"/>
                </a:solidFill>
              </a:rPr>
              <a:pPr>
                <a:defRPr/>
              </a:pPr>
              <a:t>2023/3/14</a:t>
            </a:fld>
            <a:endParaRPr lang="en-US" altLang="zh-CN">
              <a:solidFill>
                <a:srgbClr val="000000"/>
              </a:solidFill>
            </a:endParaRPr>
          </a:p>
        </p:txBody>
      </p:sp>
      <p:sp>
        <p:nvSpPr>
          <p:cNvPr id="6" name="Rectangle 12"/>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13"/>
          <p:cNvSpPr>
            <a:spLocks noGrp="1" noChangeArrowheads="1"/>
          </p:cNvSpPr>
          <p:nvPr>
            <p:ph type="sldNum" sz="quarter" idx="12"/>
          </p:nvPr>
        </p:nvSpPr>
        <p:spPr>
          <a:ln/>
        </p:spPr>
        <p:txBody>
          <a:bodyPr/>
          <a:lstStyle>
            <a:lvl1pPr>
              <a:defRPr/>
            </a:lvl1pPr>
          </a:lstStyle>
          <a:p>
            <a:pPr>
              <a:defRPr/>
            </a:pPr>
            <a:fld id="{B733275C-2774-4B25-97E7-7065F970E90C}" type="slidenum">
              <a:rPr lang="en-US" altLang="zh-CN">
                <a:solidFill>
                  <a:srgbClr val="000000"/>
                </a:solidFill>
              </a:rPr>
              <a:pPr>
                <a:defRPr/>
              </a:pPr>
              <a:t>‹#›</a:t>
            </a:fld>
            <a:endParaRPr lang="en-US" altLang="zh-CN">
              <a:solidFill>
                <a:srgbClr val="000000"/>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1"/>
          <p:cNvSpPr>
            <a:spLocks noGrp="1" noChangeArrowheads="1"/>
          </p:cNvSpPr>
          <p:nvPr>
            <p:ph type="dt" sz="half" idx="10"/>
          </p:nvPr>
        </p:nvSpPr>
        <p:spPr>
          <a:ln/>
        </p:spPr>
        <p:txBody>
          <a:bodyPr/>
          <a:lstStyle>
            <a:lvl1pPr>
              <a:defRPr/>
            </a:lvl1pPr>
          </a:lstStyle>
          <a:p>
            <a:pPr>
              <a:defRPr/>
            </a:pPr>
            <a:fld id="{00651A7E-C721-4544-8D2F-3546C0565F84}" type="datetime1">
              <a:rPr lang="zh-CN" altLang="en-US" smtClean="0">
                <a:solidFill>
                  <a:srgbClr val="000000"/>
                </a:solidFill>
              </a:rPr>
              <a:pPr>
                <a:defRPr/>
              </a:pPr>
              <a:t>2023/3/14</a:t>
            </a:fld>
            <a:endParaRPr lang="en-US" altLang="zh-CN">
              <a:solidFill>
                <a:srgbClr val="000000"/>
              </a:solidFill>
            </a:endParaRPr>
          </a:p>
        </p:txBody>
      </p:sp>
      <p:sp>
        <p:nvSpPr>
          <p:cNvPr id="6" name="Rectangle 12"/>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13"/>
          <p:cNvSpPr>
            <a:spLocks noGrp="1" noChangeArrowheads="1"/>
          </p:cNvSpPr>
          <p:nvPr>
            <p:ph type="sldNum" sz="quarter" idx="12"/>
          </p:nvPr>
        </p:nvSpPr>
        <p:spPr>
          <a:ln/>
        </p:spPr>
        <p:txBody>
          <a:bodyPr/>
          <a:lstStyle>
            <a:lvl1pPr>
              <a:defRPr/>
            </a:lvl1pPr>
          </a:lstStyle>
          <a:p>
            <a:pPr>
              <a:defRPr/>
            </a:pPr>
            <a:fld id="{2C21E245-20D5-4D11-AD9A-5B593160C07A}" type="slidenum">
              <a:rPr lang="en-US" altLang="zh-CN">
                <a:solidFill>
                  <a:srgbClr val="000000"/>
                </a:solidFill>
              </a:rPr>
              <a:pPr>
                <a:defRPr/>
              </a:pPr>
              <a:t>‹#›</a:t>
            </a:fld>
            <a:endParaRPr lang="en-US" altLang="zh-CN">
              <a:solidFill>
                <a:srgbClr val="000000"/>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p:cNvSpPr>
            <a:spLocks noGrp="1" noChangeArrowheads="1"/>
          </p:cNvSpPr>
          <p:nvPr>
            <p:ph type="dt" sz="half" idx="10"/>
          </p:nvPr>
        </p:nvSpPr>
        <p:spPr>
          <a:ln/>
        </p:spPr>
        <p:txBody>
          <a:bodyPr/>
          <a:lstStyle>
            <a:lvl1pPr>
              <a:defRPr/>
            </a:lvl1pPr>
          </a:lstStyle>
          <a:p>
            <a:pPr>
              <a:defRPr/>
            </a:pPr>
            <a:fld id="{CB3E5F7E-5148-4CB2-963A-95C37528F550}" type="datetime1">
              <a:rPr lang="zh-CN" altLang="en-US" smtClean="0">
                <a:solidFill>
                  <a:srgbClr val="000000"/>
                </a:solidFill>
              </a:rPr>
              <a:pPr>
                <a:defRPr/>
              </a:pPr>
              <a:t>2023/3/14</a:t>
            </a:fld>
            <a:endParaRPr lang="en-US" altLang="zh-CN">
              <a:solidFill>
                <a:srgbClr val="000000"/>
              </a:solidFill>
            </a:endParaRPr>
          </a:p>
        </p:txBody>
      </p:sp>
      <p:sp>
        <p:nvSpPr>
          <p:cNvPr id="5" name="Rectangle 12"/>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13"/>
          <p:cNvSpPr>
            <a:spLocks noGrp="1" noChangeArrowheads="1"/>
          </p:cNvSpPr>
          <p:nvPr>
            <p:ph type="sldNum" sz="quarter" idx="12"/>
          </p:nvPr>
        </p:nvSpPr>
        <p:spPr>
          <a:ln/>
        </p:spPr>
        <p:txBody>
          <a:bodyPr/>
          <a:lstStyle>
            <a:lvl1pPr>
              <a:defRPr/>
            </a:lvl1pPr>
          </a:lstStyle>
          <a:p>
            <a:pPr>
              <a:defRPr/>
            </a:pPr>
            <a:fld id="{EF68ED92-367B-4CD8-A26C-4E6248EAD48D}" type="slidenum">
              <a:rPr lang="en-US" altLang="zh-CN">
                <a:solidFill>
                  <a:srgbClr val="000000"/>
                </a:solidFill>
              </a:rPr>
              <a:pPr>
                <a:defRPr/>
              </a:pPr>
              <a:t>‹#›</a:t>
            </a:fld>
            <a:endParaRPr lang="en-US" altLang="zh-CN">
              <a:solidFill>
                <a:srgbClr val="000000"/>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73875" y="142875"/>
            <a:ext cx="2070100" cy="552608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58813" y="142875"/>
            <a:ext cx="6062662" cy="552608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p:cNvSpPr>
            <a:spLocks noGrp="1" noChangeArrowheads="1"/>
          </p:cNvSpPr>
          <p:nvPr>
            <p:ph type="dt" sz="half" idx="10"/>
          </p:nvPr>
        </p:nvSpPr>
        <p:spPr>
          <a:ln/>
        </p:spPr>
        <p:txBody>
          <a:bodyPr/>
          <a:lstStyle>
            <a:lvl1pPr>
              <a:defRPr/>
            </a:lvl1pPr>
          </a:lstStyle>
          <a:p>
            <a:pPr>
              <a:defRPr/>
            </a:pPr>
            <a:fld id="{E565DC17-A35B-464B-A9AB-82DCA891CFF2}" type="datetime1">
              <a:rPr lang="zh-CN" altLang="en-US" smtClean="0">
                <a:solidFill>
                  <a:srgbClr val="000000"/>
                </a:solidFill>
              </a:rPr>
              <a:pPr>
                <a:defRPr/>
              </a:pPr>
              <a:t>2023/3/14</a:t>
            </a:fld>
            <a:endParaRPr lang="en-US" altLang="zh-CN">
              <a:solidFill>
                <a:srgbClr val="000000"/>
              </a:solidFill>
            </a:endParaRPr>
          </a:p>
        </p:txBody>
      </p:sp>
      <p:sp>
        <p:nvSpPr>
          <p:cNvPr id="5" name="Rectangle 12"/>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13"/>
          <p:cNvSpPr>
            <a:spLocks noGrp="1" noChangeArrowheads="1"/>
          </p:cNvSpPr>
          <p:nvPr>
            <p:ph type="sldNum" sz="quarter" idx="12"/>
          </p:nvPr>
        </p:nvSpPr>
        <p:spPr>
          <a:ln/>
        </p:spPr>
        <p:txBody>
          <a:bodyPr/>
          <a:lstStyle>
            <a:lvl1pPr>
              <a:defRPr/>
            </a:lvl1pPr>
          </a:lstStyle>
          <a:p>
            <a:pPr>
              <a:defRPr/>
            </a:pPr>
            <a:fld id="{CBA975A5-F217-4B48-B315-600F055D9787}" type="slidenum">
              <a:rPr lang="en-US" altLang="zh-CN">
                <a:solidFill>
                  <a:srgbClr val="000000"/>
                </a:solidFill>
              </a:rPr>
              <a:pPr>
                <a:defRPr/>
              </a:pPr>
              <a:t>‹#›</a:t>
            </a:fld>
            <a:endParaRPr lang="en-US" altLang="zh-CN">
              <a:solidFill>
                <a:srgbClr val="000000"/>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ltGray">
          <a:xfrm>
            <a:off x="417513" y="439738"/>
            <a:ext cx="438150" cy="474662"/>
          </a:xfrm>
          <a:prstGeom prst="rect">
            <a:avLst/>
          </a:prstGeom>
          <a:solidFill>
            <a:schemeClr val="accent2"/>
          </a:solidFill>
          <a:ln w="9525">
            <a:noFill/>
            <a:miter lim="800000"/>
            <a:headEnd/>
            <a:tailEnd/>
          </a:ln>
          <a:effectLst/>
        </p:spPr>
        <p:txBody>
          <a:bodyPr wrap="none" anchor="ctr"/>
          <a:lstStyle/>
          <a:p>
            <a:pPr algn="ctr">
              <a:defRPr/>
            </a:pPr>
            <a:endParaRPr lang="zh-CN" altLang="zh-CN" sz="2400" b="0">
              <a:solidFill>
                <a:srgbClr val="000000"/>
              </a:solidFill>
              <a:ea typeface="宋体" charset="-122"/>
            </a:endParaRPr>
          </a:p>
        </p:txBody>
      </p:sp>
      <p:sp>
        <p:nvSpPr>
          <p:cNvPr id="3075" name="Rectangle 3"/>
          <p:cNvSpPr>
            <a:spLocks noChangeArrowheads="1"/>
          </p:cNvSpPr>
          <p:nvPr/>
        </p:nvSpPr>
        <p:spPr bwMode="ltGray">
          <a:xfrm>
            <a:off x="800100" y="439738"/>
            <a:ext cx="328613" cy="474662"/>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a:defRPr/>
            </a:pPr>
            <a:endParaRPr lang="zh-CN" altLang="zh-CN" sz="2400" b="0">
              <a:solidFill>
                <a:srgbClr val="000000"/>
              </a:solidFill>
              <a:ea typeface="宋体" charset="-122"/>
            </a:endParaRPr>
          </a:p>
        </p:txBody>
      </p:sp>
      <p:sp>
        <p:nvSpPr>
          <p:cNvPr id="3076" name="Rectangle 4"/>
          <p:cNvSpPr>
            <a:spLocks noChangeArrowheads="1"/>
          </p:cNvSpPr>
          <p:nvPr/>
        </p:nvSpPr>
        <p:spPr bwMode="ltGray">
          <a:xfrm>
            <a:off x="541338" y="862013"/>
            <a:ext cx="422275" cy="474662"/>
          </a:xfrm>
          <a:prstGeom prst="rect">
            <a:avLst/>
          </a:prstGeom>
          <a:solidFill>
            <a:schemeClr val="folHlink"/>
          </a:solidFill>
          <a:ln w="9525">
            <a:noFill/>
            <a:miter lim="800000"/>
            <a:headEnd/>
            <a:tailEnd/>
          </a:ln>
          <a:effectLst/>
        </p:spPr>
        <p:txBody>
          <a:bodyPr wrap="none" anchor="ctr"/>
          <a:lstStyle/>
          <a:p>
            <a:pPr algn="ctr">
              <a:defRPr/>
            </a:pPr>
            <a:endParaRPr lang="zh-CN" altLang="zh-CN" sz="2400" b="0">
              <a:solidFill>
                <a:srgbClr val="000000"/>
              </a:solidFill>
              <a:ea typeface="宋体" charset="-122"/>
            </a:endParaRPr>
          </a:p>
        </p:txBody>
      </p:sp>
      <p:sp>
        <p:nvSpPr>
          <p:cNvPr id="3077" name="Rectangle 5"/>
          <p:cNvSpPr>
            <a:spLocks noChangeArrowheads="1"/>
          </p:cNvSpPr>
          <p:nvPr/>
        </p:nvSpPr>
        <p:spPr bwMode="ltGray">
          <a:xfrm>
            <a:off x="911225" y="862013"/>
            <a:ext cx="368300" cy="474662"/>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a:defRPr/>
            </a:pPr>
            <a:endParaRPr lang="zh-CN" altLang="zh-CN" sz="2400" b="0">
              <a:solidFill>
                <a:srgbClr val="000000"/>
              </a:solidFill>
              <a:ea typeface="宋体" charset="-122"/>
            </a:endParaRPr>
          </a:p>
        </p:txBody>
      </p:sp>
      <p:sp>
        <p:nvSpPr>
          <p:cNvPr id="3078" name="Rectangle 6"/>
          <p:cNvSpPr>
            <a:spLocks noChangeArrowheads="1"/>
          </p:cNvSpPr>
          <p:nvPr/>
        </p:nvSpPr>
        <p:spPr bwMode="ltGray">
          <a:xfrm>
            <a:off x="127000" y="788988"/>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a:defRPr/>
            </a:pPr>
            <a:endParaRPr lang="zh-CN" altLang="zh-CN" sz="2400" b="0">
              <a:solidFill>
                <a:srgbClr val="000000"/>
              </a:solidFill>
              <a:ea typeface="宋体" charset="-122"/>
            </a:endParaRPr>
          </a:p>
        </p:txBody>
      </p:sp>
      <p:sp>
        <p:nvSpPr>
          <p:cNvPr id="3079" name="Rectangle 7"/>
          <p:cNvSpPr>
            <a:spLocks noChangeArrowheads="1"/>
          </p:cNvSpPr>
          <p:nvPr/>
        </p:nvSpPr>
        <p:spPr bwMode="gray">
          <a:xfrm>
            <a:off x="762000" y="331788"/>
            <a:ext cx="31750" cy="1052512"/>
          </a:xfrm>
          <a:prstGeom prst="rect">
            <a:avLst/>
          </a:prstGeom>
          <a:solidFill>
            <a:schemeClr val="bg2"/>
          </a:solidFill>
          <a:ln w="9525">
            <a:noFill/>
            <a:miter lim="800000"/>
            <a:headEnd/>
            <a:tailEnd/>
          </a:ln>
          <a:effectLst/>
        </p:spPr>
        <p:txBody>
          <a:bodyPr wrap="none" anchor="ctr"/>
          <a:lstStyle/>
          <a:p>
            <a:pPr algn="ctr">
              <a:defRPr/>
            </a:pPr>
            <a:endParaRPr lang="zh-CN" altLang="zh-CN" sz="2400" b="0">
              <a:solidFill>
                <a:srgbClr val="000000"/>
              </a:solidFill>
              <a:ea typeface="宋体" charset="-122"/>
            </a:endParaRPr>
          </a:p>
        </p:txBody>
      </p:sp>
      <p:sp>
        <p:nvSpPr>
          <p:cNvPr id="3080" name="Rectangle 8"/>
          <p:cNvSpPr>
            <a:spLocks noChangeArrowheads="1"/>
          </p:cNvSpPr>
          <p:nvPr/>
        </p:nvSpPr>
        <p:spPr bwMode="gray">
          <a:xfrm>
            <a:off x="442913" y="1122363"/>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a:defRPr/>
            </a:pPr>
            <a:endParaRPr lang="zh-CN" altLang="zh-CN" sz="2400" b="0">
              <a:solidFill>
                <a:srgbClr val="000000"/>
              </a:solidFill>
              <a:ea typeface="宋体" charset="-122"/>
            </a:endParaRPr>
          </a:p>
        </p:txBody>
      </p:sp>
      <p:sp>
        <p:nvSpPr>
          <p:cNvPr id="1033" name="Rectangle 9"/>
          <p:cNvSpPr>
            <a:spLocks noGrp="1" noChangeArrowheads="1"/>
          </p:cNvSpPr>
          <p:nvPr>
            <p:ph type="title"/>
          </p:nvPr>
        </p:nvSpPr>
        <p:spPr bwMode="auto">
          <a:xfrm>
            <a:off x="1150938" y="142875"/>
            <a:ext cx="7793037" cy="95885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34" name="Rectangle 10"/>
          <p:cNvSpPr>
            <a:spLocks noGrp="1" noChangeArrowheads="1"/>
          </p:cNvSpPr>
          <p:nvPr>
            <p:ph type="body" idx="1"/>
          </p:nvPr>
        </p:nvSpPr>
        <p:spPr bwMode="auto">
          <a:xfrm>
            <a:off x="658813" y="1554163"/>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083" name="Rectangle 11"/>
          <p:cNvSpPr>
            <a:spLocks noGrp="1" noChangeArrowheads="1"/>
          </p:cNvSpPr>
          <p:nvPr>
            <p:ph type="dt" sz="half" idx="2"/>
          </p:nvPr>
        </p:nvSpPr>
        <p:spPr bwMode="auto">
          <a:xfrm>
            <a:off x="914400" y="6348413"/>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kumimoji="0" sz="1400" b="0">
                <a:ea typeface="宋体" charset="-122"/>
              </a:defRPr>
            </a:lvl1pPr>
          </a:lstStyle>
          <a:p>
            <a:pPr>
              <a:defRPr/>
            </a:pPr>
            <a:fld id="{2812D72D-DA04-4C9C-9A6E-C01386CD88CE}" type="datetime1">
              <a:rPr lang="zh-CN" altLang="en-US" smtClean="0">
                <a:solidFill>
                  <a:srgbClr val="000000"/>
                </a:solidFill>
              </a:rPr>
              <a:pPr>
                <a:defRPr/>
              </a:pPr>
              <a:t>2023/3/14</a:t>
            </a:fld>
            <a:endParaRPr lang="en-US" altLang="zh-CN">
              <a:solidFill>
                <a:srgbClr val="000000"/>
              </a:solidFill>
            </a:endParaRPr>
          </a:p>
        </p:txBody>
      </p:sp>
      <p:sp>
        <p:nvSpPr>
          <p:cNvPr id="3084" name="Rectangle 12"/>
          <p:cNvSpPr>
            <a:spLocks noGrp="1" noChangeArrowheads="1"/>
          </p:cNvSpPr>
          <p:nvPr>
            <p:ph type="ftr" sz="quarter" idx="3"/>
          </p:nvPr>
        </p:nvSpPr>
        <p:spPr bwMode="auto">
          <a:xfrm>
            <a:off x="3352800" y="6348413"/>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kumimoji="0" sz="1400" b="0">
                <a:ea typeface="宋体" charset="-122"/>
              </a:defRPr>
            </a:lvl1pPr>
          </a:lstStyle>
          <a:p>
            <a:pPr>
              <a:defRPr/>
            </a:pPr>
            <a:endParaRPr lang="en-US" altLang="zh-CN">
              <a:solidFill>
                <a:srgbClr val="000000"/>
              </a:solidFill>
            </a:endParaRPr>
          </a:p>
        </p:txBody>
      </p:sp>
      <p:sp>
        <p:nvSpPr>
          <p:cNvPr id="3085" name="Rectangle 13"/>
          <p:cNvSpPr>
            <a:spLocks noGrp="1" noChangeArrowheads="1"/>
          </p:cNvSpPr>
          <p:nvPr>
            <p:ph type="sldNum" sz="quarter" idx="4"/>
          </p:nvPr>
        </p:nvSpPr>
        <p:spPr bwMode="auto">
          <a:xfrm>
            <a:off x="6781800" y="6348413"/>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kumimoji="0" sz="1400" b="0">
                <a:ea typeface="宋体" charset="-122"/>
              </a:defRPr>
            </a:lvl1pPr>
          </a:lstStyle>
          <a:p>
            <a:pPr>
              <a:defRPr/>
            </a:pPr>
            <a:fld id="{38C58080-A4A9-4607-B318-5D24794E2C9C}" type="slidenum">
              <a:rPr lang="en-US" altLang="zh-CN">
                <a:solidFill>
                  <a:srgbClr val="000000"/>
                </a:solidFill>
              </a:rPr>
              <a:pPr>
                <a:defRPr/>
              </a:pPr>
              <a:t>‹#›</a:t>
            </a:fld>
            <a:endParaRPr lang="en-US" altLang="zh-CN">
              <a:solidFill>
                <a:srgbClr val="000000"/>
              </a:solidFill>
            </a:endParaRPr>
          </a:p>
        </p:txBody>
      </p:sp>
      <p:sp>
        <p:nvSpPr>
          <p:cNvPr id="3089" name="Rectangle 17"/>
          <p:cNvSpPr>
            <a:spLocks noChangeArrowheads="1"/>
          </p:cNvSpPr>
          <p:nvPr/>
        </p:nvSpPr>
        <p:spPr bwMode="gray">
          <a:xfrm>
            <a:off x="539750" y="6332538"/>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a:defRPr/>
            </a:pPr>
            <a:endParaRPr lang="zh-CN" altLang="zh-CN" sz="2400" b="0">
              <a:solidFill>
                <a:srgbClr val="000000"/>
              </a:solidFill>
              <a:ea typeface="宋体" charset="-122"/>
            </a:endParaRPr>
          </a:p>
        </p:txBody>
      </p:sp>
      <p:sp>
        <p:nvSpPr>
          <p:cNvPr id="3090" name="Line 18"/>
          <p:cNvSpPr>
            <a:spLocks noChangeShapeType="1"/>
          </p:cNvSpPr>
          <p:nvPr/>
        </p:nvSpPr>
        <p:spPr bwMode="auto">
          <a:xfrm>
            <a:off x="827088" y="6189663"/>
            <a:ext cx="0" cy="503237"/>
          </a:xfrm>
          <a:prstGeom prst="line">
            <a:avLst/>
          </a:prstGeom>
          <a:noFill/>
          <a:ln w="28575">
            <a:solidFill>
              <a:schemeClr val="tx1"/>
            </a:solidFill>
            <a:miter lim="800000"/>
            <a:headEnd/>
            <a:tailEnd/>
          </a:ln>
          <a:effectLst/>
        </p:spPr>
        <p:txBody>
          <a:bodyPr wrap="none"/>
          <a:lstStyle/>
          <a:p>
            <a:pPr algn="ctr">
              <a:defRPr/>
            </a:pPr>
            <a:endParaRPr lang="zh-CN" altLang="en-US">
              <a:solidFill>
                <a:srgbClr val="000000"/>
              </a:solidFill>
              <a:ea typeface="宋体" charset="-122"/>
            </a:endParaRPr>
          </a:p>
        </p:txBody>
      </p:sp>
    </p:spTree>
  </p:cSld>
  <p:clrMap bg1="lt1" tx1="dk1" bg2="lt2" tx2="dk2" accent1="accent1" accent2="accent2" accent3="accent3" accent4="accent4" accent5="accent5" accent6="accent6" hlink="hlink" folHlink="folHlink"/>
  <p:sldLayoutIdLst>
    <p:sldLayoutId id="2147484660" r:id="rId1"/>
    <p:sldLayoutId id="2147484661" r:id="rId2"/>
    <p:sldLayoutId id="2147484662" r:id="rId3"/>
    <p:sldLayoutId id="2147484663" r:id="rId4"/>
    <p:sldLayoutId id="2147484664" r:id="rId5"/>
    <p:sldLayoutId id="2147484665" r:id="rId6"/>
    <p:sldLayoutId id="2147484666" r:id="rId7"/>
    <p:sldLayoutId id="2147484667" r:id="rId8"/>
    <p:sldLayoutId id="2147484668" r:id="rId9"/>
    <p:sldLayoutId id="2147484669" r:id="rId10"/>
    <p:sldLayoutId id="2147484670" r:id="rId11"/>
  </p:sldLayoutIdLst>
  <p:hf hdr="0" ftr="0" dt="0"/>
  <p:txStyles>
    <p:title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Times New Roman" pitchFamily="18" charset="0"/>
          <a:ea typeface="楷体_GB2312" pitchFamily="49" charset="-122"/>
        </a:defRPr>
      </a:lvl2pPr>
      <a:lvl3pPr algn="l" rtl="0" eaLnBrk="0" fontAlgn="base" hangingPunct="0">
        <a:spcBef>
          <a:spcPct val="0"/>
        </a:spcBef>
        <a:spcAft>
          <a:spcPct val="0"/>
        </a:spcAft>
        <a:defRPr kumimoji="1" sz="4400" b="1">
          <a:solidFill>
            <a:schemeClr val="tx2"/>
          </a:solidFill>
          <a:latin typeface="Times New Roman" pitchFamily="18" charset="0"/>
          <a:ea typeface="楷体_GB2312" pitchFamily="49" charset="-122"/>
        </a:defRPr>
      </a:lvl3pPr>
      <a:lvl4pPr algn="l" rtl="0" eaLnBrk="0" fontAlgn="base" hangingPunct="0">
        <a:spcBef>
          <a:spcPct val="0"/>
        </a:spcBef>
        <a:spcAft>
          <a:spcPct val="0"/>
        </a:spcAft>
        <a:defRPr kumimoji="1" sz="4400" b="1">
          <a:solidFill>
            <a:schemeClr val="tx2"/>
          </a:solidFill>
          <a:latin typeface="Times New Roman" pitchFamily="18" charset="0"/>
          <a:ea typeface="楷体_GB2312" pitchFamily="49" charset="-122"/>
        </a:defRPr>
      </a:lvl4pPr>
      <a:lvl5pPr algn="l" rtl="0" eaLnBrk="0" fontAlgn="base" hangingPunct="0">
        <a:spcBef>
          <a:spcPct val="0"/>
        </a:spcBef>
        <a:spcAft>
          <a:spcPct val="0"/>
        </a:spcAft>
        <a:defRPr kumimoji="1" sz="4400" b="1">
          <a:solidFill>
            <a:schemeClr val="tx2"/>
          </a:solidFill>
          <a:latin typeface="Times New Roman" pitchFamily="18" charset="0"/>
          <a:ea typeface="楷体_GB2312" pitchFamily="49" charset="-122"/>
        </a:defRPr>
      </a:lvl5pPr>
      <a:lvl6pPr marL="457200" algn="l" rtl="0" fontAlgn="base">
        <a:spcBef>
          <a:spcPct val="0"/>
        </a:spcBef>
        <a:spcAft>
          <a:spcPct val="0"/>
        </a:spcAft>
        <a:defRPr kumimoji="1" sz="4400" b="1">
          <a:solidFill>
            <a:schemeClr val="tx2"/>
          </a:solidFill>
          <a:latin typeface="Times New Roman" pitchFamily="18" charset="0"/>
          <a:ea typeface="楷体_GB2312" pitchFamily="49" charset="-122"/>
        </a:defRPr>
      </a:lvl6pPr>
      <a:lvl7pPr marL="914400" algn="l" rtl="0" fontAlgn="base">
        <a:spcBef>
          <a:spcPct val="0"/>
        </a:spcBef>
        <a:spcAft>
          <a:spcPct val="0"/>
        </a:spcAft>
        <a:defRPr kumimoji="1" sz="4400" b="1">
          <a:solidFill>
            <a:schemeClr val="tx2"/>
          </a:solidFill>
          <a:latin typeface="Times New Roman" pitchFamily="18" charset="0"/>
          <a:ea typeface="楷体_GB2312" pitchFamily="49" charset="-122"/>
        </a:defRPr>
      </a:lvl7pPr>
      <a:lvl8pPr marL="1371600" algn="l" rtl="0" fontAlgn="base">
        <a:spcBef>
          <a:spcPct val="0"/>
        </a:spcBef>
        <a:spcAft>
          <a:spcPct val="0"/>
        </a:spcAft>
        <a:defRPr kumimoji="1" sz="4400" b="1">
          <a:solidFill>
            <a:schemeClr val="tx2"/>
          </a:solidFill>
          <a:latin typeface="Times New Roman" pitchFamily="18" charset="0"/>
          <a:ea typeface="楷体_GB2312" pitchFamily="49" charset="-122"/>
        </a:defRPr>
      </a:lvl8pPr>
      <a:lvl9pPr marL="1828800" algn="l" rtl="0" fontAlgn="base">
        <a:spcBef>
          <a:spcPct val="0"/>
        </a:spcBef>
        <a:spcAft>
          <a:spcPct val="0"/>
        </a:spcAft>
        <a:defRPr kumimoji="1" sz="4400" b="1">
          <a:solidFill>
            <a:schemeClr val="tx2"/>
          </a:solidFill>
          <a:latin typeface="Times New Roman" pitchFamily="18" charset="0"/>
          <a:ea typeface="楷体_GB2312" pitchFamily="49" charset="-122"/>
        </a:defRPr>
      </a:lvl9pPr>
    </p:titleStyle>
    <p:bodyStyle>
      <a:lvl1pPr marL="342900" indent="-342900" algn="l" rtl="0" eaLnBrk="0" fontAlgn="base" hangingPunct="0">
        <a:spcBef>
          <a:spcPct val="20000"/>
        </a:spcBef>
        <a:spcAft>
          <a:spcPct val="0"/>
        </a:spcAft>
        <a:buClr>
          <a:schemeClr val="folHlink"/>
        </a:buClr>
        <a:buSzPct val="60000"/>
        <a:buFont typeface="Wingdings" pitchFamily="2" charset="2"/>
        <a:buChar char="n"/>
        <a:defRPr kumimoji="1"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kumimoji="1" sz="2800" b="1">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kumimoji="1" sz="2400" b="1">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kumimoji="1" sz="2000" b="1">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kumimoji="1" sz="2000" b="1">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kumimoji="1" sz="2000" b="1">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kumimoji="1" sz="2000" b="1">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kumimoji="1" sz="2000" b="1">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kumimoji="1"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blog.csdn.net/m0_60571990/article/details/128377409"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blog.csdn.net/Hardworking666/article/details/122392364"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9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11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45.wmf"/></Relationships>
</file>

<file path=ppt/slides/_rels/slide11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47.emf"/></Relationships>
</file>

<file path=ppt/slides/_rels/slide11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2.xml"/><Relationship Id="rId1"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image" Target="../media/image50.png"/></Relationships>
</file>

<file path=ppt/slides/_rels/slide11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55.tiff"/><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50.xml"/><Relationship Id="rId1" Type="http://schemas.openxmlformats.org/officeDocument/2006/relationships/slideLayout" Target="../slideLayouts/slideLayout2.xml"/><Relationship Id="rId5" Type="http://schemas.openxmlformats.org/officeDocument/2006/relationships/image" Target="../media/image63.png"/><Relationship Id="rId4" Type="http://schemas.openxmlformats.org/officeDocument/2006/relationships/image" Target="../media/image62.png"/></Relationships>
</file>

<file path=ppt/slides/_rels/slide129.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64.emf"/><Relationship Id="rId4" Type="http://schemas.openxmlformats.org/officeDocument/2006/relationships/oleObject" Target="../embeddings/oleObject3.bin"/></Relationships>
</file>

<file path=ppt/slides/_rels/slide130.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65.emf"/><Relationship Id="rId4" Type="http://schemas.openxmlformats.org/officeDocument/2006/relationships/oleObject" Target="../embeddings/oleObject4.bin"/></Relationships>
</file>

<file path=ppt/slides/_rels/slide13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138.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74.jpe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65.xml"/><Relationship Id="rId1" Type="http://schemas.openxmlformats.org/officeDocument/2006/relationships/slideLayout" Target="../slideLayouts/slideLayout2.xml"/><Relationship Id="rId4" Type="http://schemas.openxmlformats.org/officeDocument/2006/relationships/image" Target="../media/image80.png"/></Relationships>
</file>

<file path=ppt/slides/_rels/slide159.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66.xml"/><Relationship Id="rId1" Type="http://schemas.openxmlformats.org/officeDocument/2006/relationships/slideLayout" Target="../slideLayouts/slideLayout2.xml"/><Relationship Id="rId4" Type="http://schemas.openxmlformats.org/officeDocument/2006/relationships/image" Target="../media/image79.png"/></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70.xml"/><Relationship Id="rId1" Type="http://schemas.openxmlformats.org/officeDocument/2006/relationships/slideLayout" Target="../slideLayouts/slideLayout2.xml"/><Relationship Id="rId4" Type="http://schemas.openxmlformats.org/officeDocument/2006/relationships/image" Target="../media/image83.png"/></Relationships>
</file>

<file path=ppt/slides/_rels/slide164.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71.xml"/><Relationship Id="rId1" Type="http://schemas.openxmlformats.org/officeDocument/2006/relationships/slideLayout" Target="../slideLayouts/slideLayout2.xml"/><Relationship Id="rId5" Type="http://schemas.openxmlformats.org/officeDocument/2006/relationships/image" Target="../media/image86.png"/><Relationship Id="rId4" Type="http://schemas.openxmlformats.org/officeDocument/2006/relationships/image" Target="../media/image8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标题 1"/>
          <p:cNvSpPr>
            <a:spLocks noGrp="1"/>
          </p:cNvSpPr>
          <p:nvPr>
            <p:ph type="ctrTitle"/>
          </p:nvPr>
        </p:nvSpPr>
        <p:spPr>
          <a:xfrm>
            <a:off x="923139" y="1489586"/>
            <a:ext cx="7055738" cy="869369"/>
          </a:xfrm>
        </p:spPr>
        <p:txBody>
          <a:bodyPr/>
          <a:lstStyle/>
          <a:p>
            <a:r>
              <a:rPr lang="zh-CN" altLang="en-US" dirty="0">
                <a:solidFill>
                  <a:schemeClr val="tx1"/>
                </a:solidFill>
              </a:rPr>
              <a:t>第 三 章    网络脆弱性分析</a:t>
            </a:r>
          </a:p>
        </p:txBody>
      </p:sp>
      <p:pic>
        <p:nvPicPr>
          <p:cNvPr id="4" name="图片 3"/>
          <p:cNvPicPr>
            <a:picLocks noChangeAspect="1"/>
          </p:cNvPicPr>
          <p:nvPr/>
        </p:nvPicPr>
        <p:blipFill>
          <a:blip r:embed="rId2"/>
          <a:stretch>
            <a:fillRect/>
          </a:stretch>
        </p:blipFill>
        <p:spPr>
          <a:xfrm>
            <a:off x="2524278" y="3668969"/>
            <a:ext cx="3800475" cy="2381250"/>
          </a:xfrm>
          <a:prstGeom prst="rect">
            <a:avLst/>
          </a:prstGeom>
          <a:ln w="28575">
            <a:solidFill>
              <a:srgbClr val="FF0000"/>
            </a:solidFill>
            <a:prstDash val="dashDot"/>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1232207" y="313916"/>
            <a:ext cx="6985000" cy="792163"/>
          </a:xfrm>
        </p:spPr>
        <p:txBody>
          <a:bodyPr/>
          <a:lstStyle/>
          <a:p>
            <a:r>
              <a:rPr lang="zh-CN" altLang="en-US" dirty="0"/>
              <a:t>威胁网络安全的主要因素</a:t>
            </a:r>
            <a:endParaRPr lang="en-US" altLang="zh-CN" dirty="0"/>
          </a:p>
        </p:txBody>
      </p:sp>
      <p:sp>
        <p:nvSpPr>
          <p:cNvPr id="107523" name="Rectangle 3"/>
          <p:cNvSpPr>
            <a:spLocks noGrp="1" noChangeArrowheads="1"/>
          </p:cNvSpPr>
          <p:nvPr>
            <p:ph type="body" idx="1"/>
          </p:nvPr>
        </p:nvSpPr>
        <p:spPr>
          <a:xfrm>
            <a:off x="680576" y="1329608"/>
            <a:ext cx="7763798" cy="4997450"/>
          </a:xfrm>
        </p:spPr>
        <p:txBody>
          <a:bodyPr/>
          <a:lstStyle/>
          <a:p>
            <a:pPr>
              <a:lnSpc>
                <a:spcPts val="3500"/>
              </a:lnSpc>
              <a:spcBef>
                <a:spcPts val="0"/>
              </a:spcBef>
            </a:pPr>
            <a:r>
              <a:rPr lang="zh-CN" altLang="en-US" sz="2400" dirty="0"/>
              <a:t>广义上的网络安全概念</a:t>
            </a:r>
          </a:p>
          <a:p>
            <a:pPr>
              <a:lnSpc>
                <a:spcPts val="3500"/>
              </a:lnSpc>
              <a:spcBef>
                <a:spcPts val="0"/>
              </a:spcBef>
            </a:pPr>
            <a:r>
              <a:rPr lang="zh-CN" altLang="en-US" sz="2400" dirty="0"/>
              <a:t>威胁因素</a:t>
            </a:r>
          </a:p>
          <a:p>
            <a:pPr lvl="1">
              <a:lnSpc>
                <a:spcPts val="3500"/>
              </a:lnSpc>
              <a:spcBef>
                <a:spcPts val="0"/>
              </a:spcBef>
            </a:pPr>
            <a:r>
              <a:rPr lang="zh-CN" altLang="en-US" sz="2400" dirty="0"/>
              <a:t>环境和灾害因素</a:t>
            </a:r>
          </a:p>
          <a:p>
            <a:pPr lvl="2">
              <a:lnSpc>
                <a:spcPts val="3500"/>
              </a:lnSpc>
              <a:spcBef>
                <a:spcPts val="0"/>
              </a:spcBef>
            </a:pPr>
            <a:r>
              <a:rPr lang="zh-CN" altLang="en-US" dirty="0">
                <a:solidFill>
                  <a:srgbClr val="000000"/>
                </a:solidFill>
              </a:rPr>
              <a:t>温度、湿度、供电、火灾、水灾、地震、静电、灰尘、雷电、强电磁场、电磁脉冲等，均会破坏数据和影响信息系统的正常工作</a:t>
            </a:r>
          </a:p>
          <a:p>
            <a:pPr lvl="1">
              <a:lnSpc>
                <a:spcPts val="3500"/>
              </a:lnSpc>
              <a:spcBef>
                <a:spcPts val="0"/>
              </a:spcBef>
            </a:pPr>
            <a:r>
              <a:rPr lang="zh-CN" altLang="en-US" sz="2400" dirty="0"/>
              <a:t>人为因素：多数安全事件是由于人员的疏忽、恶意程序、黑客的主动攻击造成的</a:t>
            </a:r>
          </a:p>
          <a:p>
            <a:pPr lvl="2">
              <a:lnSpc>
                <a:spcPts val="3500"/>
              </a:lnSpc>
              <a:spcBef>
                <a:spcPts val="0"/>
              </a:spcBef>
            </a:pPr>
            <a:r>
              <a:rPr lang="zh-CN" altLang="en-US" dirty="0">
                <a:solidFill>
                  <a:srgbClr val="000000"/>
                </a:solidFill>
              </a:rPr>
              <a:t>有意：人为的恶意攻击、违纪、违法和犯罪</a:t>
            </a:r>
          </a:p>
          <a:p>
            <a:pPr lvl="2">
              <a:lnSpc>
                <a:spcPts val="3500"/>
              </a:lnSpc>
              <a:spcBef>
                <a:spcPts val="0"/>
              </a:spcBef>
            </a:pPr>
            <a:r>
              <a:rPr lang="zh-CN" altLang="en-US" dirty="0">
                <a:solidFill>
                  <a:srgbClr val="000000"/>
                </a:solidFill>
              </a:rPr>
              <a:t>无意：工作疏忽造成失误（配置不当等），会对系统造成严重的不良后果</a:t>
            </a:r>
          </a:p>
        </p:txBody>
      </p:sp>
    </p:spTree>
    <p:extLst>
      <p:ext uri="{BB962C8B-B14F-4D97-AF65-F5344CB8AC3E}">
        <p14:creationId xmlns:p14="http://schemas.microsoft.com/office/powerpoint/2010/main" val="1902164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107523">
                                            <p:txEl>
                                              <p:pRg st="0" end="0"/>
                                            </p:txEl>
                                          </p:spTgt>
                                        </p:tgtEl>
                                        <p:attrNameLst>
                                          <p:attrName>style.visibility</p:attrName>
                                        </p:attrNameLst>
                                      </p:cBhvr>
                                      <p:to>
                                        <p:strVal val="visible"/>
                                      </p:to>
                                    </p:set>
                                    <p:anim calcmode="lin" valueType="num">
                                      <p:cBhvr>
                                        <p:cTn id="7" dur="1000" fill="hold"/>
                                        <p:tgtEl>
                                          <p:spTgt spid="107523">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107523">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10752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107523">
                                            <p:txEl>
                                              <p:pRg st="1" end="1"/>
                                            </p:txEl>
                                          </p:spTgt>
                                        </p:tgtEl>
                                        <p:attrNameLst>
                                          <p:attrName>style.visibility</p:attrName>
                                        </p:attrNameLst>
                                      </p:cBhvr>
                                      <p:to>
                                        <p:strVal val="visible"/>
                                      </p:to>
                                    </p:set>
                                    <p:anim calcmode="lin" valueType="num">
                                      <p:cBhvr>
                                        <p:cTn id="14" dur="1000" fill="hold"/>
                                        <p:tgtEl>
                                          <p:spTgt spid="107523">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107523">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107523">
                                            <p:txEl>
                                              <p:pRg st="1" end="1"/>
                                            </p:txEl>
                                          </p:spTgt>
                                        </p:tgtEl>
                                      </p:cBhvr>
                                    </p:animEffect>
                                  </p:childTnLst>
                                </p:cTn>
                              </p:par>
                            </p:childTnLst>
                          </p:cTn>
                        </p:par>
                        <p:par>
                          <p:cTn id="17" fill="hold">
                            <p:stCondLst>
                              <p:cond delay="1000"/>
                            </p:stCondLst>
                            <p:childTnLst>
                              <p:par>
                                <p:cTn id="18" presetID="55" presetClass="entr" presetSubtype="0" fill="hold" grpId="0" nodeType="afterEffect">
                                  <p:stCondLst>
                                    <p:cond delay="0"/>
                                  </p:stCondLst>
                                  <p:childTnLst>
                                    <p:set>
                                      <p:cBhvr>
                                        <p:cTn id="19" dur="1" fill="hold">
                                          <p:stCondLst>
                                            <p:cond delay="0"/>
                                          </p:stCondLst>
                                        </p:cTn>
                                        <p:tgtEl>
                                          <p:spTgt spid="107523">
                                            <p:txEl>
                                              <p:pRg st="2" end="2"/>
                                            </p:txEl>
                                          </p:spTgt>
                                        </p:tgtEl>
                                        <p:attrNameLst>
                                          <p:attrName>style.visibility</p:attrName>
                                        </p:attrNameLst>
                                      </p:cBhvr>
                                      <p:to>
                                        <p:strVal val="visible"/>
                                      </p:to>
                                    </p:set>
                                    <p:anim calcmode="lin" valueType="num">
                                      <p:cBhvr>
                                        <p:cTn id="20" dur="1000" fill="hold"/>
                                        <p:tgtEl>
                                          <p:spTgt spid="107523">
                                            <p:txEl>
                                              <p:pRg st="2" end="2"/>
                                            </p:txEl>
                                          </p:spTgt>
                                        </p:tgtEl>
                                        <p:attrNameLst>
                                          <p:attrName>ppt_w</p:attrName>
                                        </p:attrNameLst>
                                      </p:cBhvr>
                                      <p:tavLst>
                                        <p:tav tm="0">
                                          <p:val>
                                            <p:strVal val="#ppt_w*0.70"/>
                                          </p:val>
                                        </p:tav>
                                        <p:tav tm="100000">
                                          <p:val>
                                            <p:strVal val="#ppt_w"/>
                                          </p:val>
                                        </p:tav>
                                      </p:tavLst>
                                    </p:anim>
                                    <p:anim calcmode="lin" valueType="num">
                                      <p:cBhvr>
                                        <p:cTn id="21" dur="1000" fill="hold"/>
                                        <p:tgtEl>
                                          <p:spTgt spid="107523">
                                            <p:txEl>
                                              <p:pRg st="2" end="2"/>
                                            </p:txEl>
                                          </p:spTgt>
                                        </p:tgtEl>
                                        <p:attrNameLst>
                                          <p:attrName>ppt_h</p:attrName>
                                        </p:attrNameLst>
                                      </p:cBhvr>
                                      <p:tavLst>
                                        <p:tav tm="0">
                                          <p:val>
                                            <p:strVal val="#ppt_h"/>
                                          </p:val>
                                        </p:tav>
                                        <p:tav tm="100000">
                                          <p:val>
                                            <p:strVal val="#ppt_h"/>
                                          </p:val>
                                        </p:tav>
                                      </p:tavLst>
                                    </p:anim>
                                    <p:animEffect transition="in" filter="fade">
                                      <p:cBhvr>
                                        <p:cTn id="22" dur="1000"/>
                                        <p:tgtEl>
                                          <p:spTgt spid="107523">
                                            <p:txEl>
                                              <p:pRg st="2" end="2"/>
                                            </p:txEl>
                                          </p:spTgt>
                                        </p:tgtEl>
                                      </p:cBhvr>
                                    </p:animEffect>
                                  </p:childTnLst>
                                </p:cTn>
                              </p:par>
                            </p:childTnLst>
                          </p:cTn>
                        </p:par>
                        <p:par>
                          <p:cTn id="23" fill="hold">
                            <p:stCondLst>
                              <p:cond delay="2000"/>
                            </p:stCondLst>
                            <p:childTnLst>
                              <p:par>
                                <p:cTn id="24" presetID="55" presetClass="entr" presetSubtype="0" fill="hold" grpId="0" nodeType="afterEffect">
                                  <p:stCondLst>
                                    <p:cond delay="0"/>
                                  </p:stCondLst>
                                  <p:childTnLst>
                                    <p:set>
                                      <p:cBhvr>
                                        <p:cTn id="25" dur="1" fill="hold">
                                          <p:stCondLst>
                                            <p:cond delay="0"/>
                                          </p:stCondLst>
                                        </p:cTn>
                                        <p:tgtEl>
                                          <p:spTgt spid="107523">
                                            <p:txEl>
                                              <p:pRg st="3" end="3"/>
                                            </p:txEl>
                                          </p:spTgt>
                                        </p:tgtEl>
                                        <p:attrNameLst>
                                          <p:attrName>style.visibility</p:attrName>
                                        </p:attrNameLst>
                                      </p:cBhvr>
                                      <p:to>
                                        <p:strVal val="visible"/>
                                      </p:to>
                                    </p:set>
                                    <p:anim calcmode="lin" valueType="num">
                                      <p:cBhvr>
                                        <p:cTn id="26" dur="1000" fill="hold"/>
                                        <p:tgtEl>
                                          <p:spTgt spid="107523">
                                            <p:txEl>
                                              <p:pRg st="3" end="3"/>
                                            </p:txEl>
                                          </p:spTgt>
                                        </p:tgtEl>
                                        <p:attrNameLst>
                                          <p:attrName>ppt_w</p:attrName>
                                        </p:attrNameLst>
                                      </p:cBhvr>
                                      <p:tavLst>
                                        <p:tav tm="0">
                                          <p:val>
                                            <p:strVal val="#ppt_w*0.70"/>
                                          </p:val>
                                        </p:tav>
                                        <p:tav tm="100000">
                                          <p:val>
                                            <p:strVal val="#ppt_w"/>
                                          </p:val>
                                        </p:tav>
                                      </p:tavLst>
                                    </p:anim>
                                    <p:anim calcmode="lin" valueType="num">
                                      <p:cBhvr>
                                        <p:cTn id="27" dur="1000" fill="hold"/>
                                        <p:tgtEl>
                                          <p:spTgt spid="107523">
                                            <p:txEl>
                                              <p:pRg st="3" end="3"/>
                                            </p:txEl>
                                          </p:spTgt>
                                        </p:tgtEl>
                                        <p:attrNameLst>
                                          <p:attrName>ppt_h</p:attrName>
                                        </p:attrNameLst>
                                      </p:cBhvr>
                                      <p:tavLst>
                                        <p:tav tm="0">
                                          <p:val>
                                            <p:strVal val="#ppt_h"/>
                                          </p:val>
                                        </p:tav>
                                        <p:tav tm="100000">
                                          <p:val>
                                            <p:strVal val="#ppt_h"/>
                                          </p:val>
                                        </p:tav>
                                      </p:tavLst>
                                    </p:anim>
                                    <p:animEffect transition="in" filter="fade">
                                      <p:cBhvr>
                                        <p:cTn id="28" dur="1000"/>
                                        <p:tgtEl>
                                          <p:spTgt spid="107523">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55" presetClass="entr" presetSubtype="0" fill="hold" grpId="0" nodeType="clickEffect">
                                  <p:stCondLst>
                                    <p:cond delay="0"/>
                                  </p:stCondLst>
                                  <p:childTnLst>
                                    <p:set>
                                      <p:cBhvr>
                                        <p:cTn id="32" dur="1" fill="hold">
                                          <p:stCondLst>
                                            <p:cond delay="0"/>
                                          </p:stCondLst>
                                        </p:cTn>
                                        <p:tgtEl>
                                          <p:spTgt spid="107523">
                                            <p:txEl>
                                              <p:pRg st="4" end="4"/>
                                            </p:txEl>
                                          </p:spTgt>
                                        </p:tgtEl>
                                        <p:attrNameLst>
                                          <p:attrName>style.visibility</p:attrName>
                                        </p:attrNameLst>
                                      </p:cBhvr>
                                      <p:to>
                                        <p:strVal val="visible"/>
                                      </p:to>
                                    </p:set>
                                    <p:anim calcmode="lin" valueType="num">
                                      <p:cBhvr>
                                        <p:cTn id="33" dur="1000" fill="hold"/>
                                        <p:tgtEl>
                                          <p:spTgt spid="107523">
                                            <p:txEl>
                                              <p:pRg st="4" end="4"/>
                                            </p:txEl>
                                          </p:spTgt>
                                        </p:tgtEl>
                                        <p:attrNameLst>
                                          <p:attrName>ppt_w</p:attrName>
                                        </p:attrNameLst>
                                      </p:cBhvr>
                                      <p:tavLst>
                                        <p:tav tm="0">
                                          <p:val>
                                            <p:strVal val="#ppt_w*0.70"/>
                                          </p:val>
                                        </p:tav>
                                        <p:tav tm="100000">
                                          <p:val>
                                            <p:strVal val="#ppt_w"/>
                                          </p:val>
                                        </p:tav>
                                      </p:tavLst>
                                    </p:anim>
                                    <p:anim calcmode="lin" valueType="num">
                                      <p:cBhvr>
                                        <p:cTn id="34" dur="1000" fill="hold"/>
                                        <p:tgtEl>
                                          <p:spTgt spid="107523">
                                            <p:txEl>
                                              <p:pRg st="4" end="4"/>
                                            </p:txEl>
                                          </p:spTgt>
                                        </p:tgtEl>
                                        <p:attrNameLst>
                                          <p:attrName>ppt_h</p:attrName>
                                        </p:attrNameLst>
                                      </p:cBhvr>
                                      <p:tavLst>
                                        <p:tav tm="0">
                                          <p:val>
                                            <p:strVal val="#ppt_h"/>
                                          </p:val>
                                        </p:tav>
                                        <p:tav tm="100000">
                                          <p:val>
                                            <p:strVal val="#ppt_h"/>
                                          </p:val>
                                        </p:tav>
                                      </p:tavLst>
                                    </p:anim>
                                    <p:animEffect transition="in" filter="fade">
                                      <p:cBhvr>
                                        <p:cTn id="35" dur="1000"/>
                                        <p:tgtEl>
                                          <p:spTgt spid="107523">
                                            <p:txEl>
                                              <p:pRg st="4" end="4"/>
                                            </p:txEl>
                                          </p:spTgt>
                                        </p:tgtEl>
                                      </p:cBhvr>
                                    </p:animEffect>
                                  </p:childTnLst>
                                </p:cTn>
                              </p:par>
                            </p:childTnLst>
                          </p:cTn>
                        </p:par>
                        <p:par>
                          <p:cTn id="36" fill="hold">
                            <p:stCondLst>
                              <p:cond delay="1000"/>
                            </p:stCondLst>
                            <p:childTnLst>
                              <p:par>
                                <p:cTn id="37" presetID="55" presetClass="entr" presetSubtype="0" fill="hold" grpId="0" nodeType="afterEffect">
                                  <p:stCondLst>
                                    <p:cond delay="0"/>
                                  </p:stCondLst>
                                  <p:childTnLst>
                                    <p:set>
                                      <p:cBhvr>
                                        <p:cTn id="38" dur="1" fill="hold">
                                          <p:stCondLst>
                                            <p:cond delay="0"/>
                                          </p:stCondLst>
                                        </p:cTn>
                                        <p:tgtEl>
                                          <p:spTgt spid="107523">
                                            <p:txEl>
                                              <p:pRg st="5" end="5"/>
                                            </p:txEl>
                                          </p:spTgt>
                                        </p:tgtEl>
                                        <p:attrNameLst>
                                          <p:attrName>style.visibility</p:attrName>
                                        </p:attrNameLst>
                                      </p:cBhvr>
                                      <p:to>
                                        <p:strVal val="visible"/>
                                      </p:to>
                                    </p:set>
                                    <p:anim calcmode="lin" valueType="num">
                                      <p:cBhvr>
                                        <p:cTn id="39" dur="1000" fill="hold"/>
                                        <p:tgtEl>
                                          <p:spTgt spid="107523">
                                            <p:txEl>
                                              <p:pRg st="5" end="5"/>
                                            </p:txEl>
                                          </p:spTgt>
                                        </p:tgtEl>
                                        <p:attrNameLst>
                                          <p:attrName>ppt_w</p:attrName>
                                        </p:attrNameLst>
                                      </p:cBhvr>
                                      <p:tavLst>
                                        <p:tav tm="0">
                                          <p:val>
                                            <p:strVal val="#ppt_w*0.70"/>
                                          </p:val>
                                        </p:tav>
                                        <p:tav tm="100000">
                                          <p:val>
                                            <p:strVal val="#ppt_w"/>
                                          </p:val>
                                        </p:tav>
                                      </p:tavLst>
                                    </p:anim>
                                    <p:anim calcmode="lin" valueType="num">
                                      <p:cBhvr>
                                        <p:cTn id="40" dur="1000" fill="hold"/>
                                        <p:tgtEl>
                                          <p:spTgt spid="107523">
                                            <p:txEl>
                                              <p:pRg st="5" end="5"/>
                                            </p:txEl>
                                          </p:spTgt>
                                        </p:tgtEl>
                                        <p:attrNameLst>
                                          <p:attrName>ppt_h</p:attrName>
                                        </p:attrNameLst>
                                      </p:cBhvr>
                                      <p:tavLst>
                                        <p:tav tm="0">
                                          <p:val>
                                            <p:strVal val="#ppt_h"/>
                                          </p:val>
                                        </p:tav>
                                        <p:tav tm="100000">
                                          <p:val>
                                            <p:strVal val="#ppt_h"/>
                                          </p:val>
                                        </p:tav>
                                      </p:tavLst>
                                    </p:anim>
                                    <p:animEffect transition="in" filter="fade">
                                      <p:cBhvr>
                                        <p:cTn id="41" dur="1000"/>
                                        <p:tgtEl>
                                          <p:spTgt spid="107523">
                                            <p:txEl>
                                              <p:pRg st="5" end="5"/>
                                            </p:txEl>
                                          </p:spTgt>
                                        </p:tgtEl>
                                      </p:cBhvr>
                                    </p:animEffect>
                                  </p:childTnLst>
                                </p:cTn>
                              </p:par>
                            </p:childTnLst>
                          </p:cTn>
                        </p:par>
                        <p:par>
                          <p:cTn id="42" fill="hold">
                            <p:stCondLst>
                              <p:cond delay="2000"/>
                            </p:stCondLst>
                            <p:childTnLst>
                              <p:par>
                                <p:cTn id="43" presetID="55" presetClass="entr" presetSubtype="0" fill="hold" grpId="0" nodeType="afterEffect">
                                  <p:stCondLst>
                                    <p:cond delay="0"/>
                                  </p:stCondLst>
                                  <p:childTnLst>
                                    <p:set>
                                      <p:cBhvr>
                                        <p:cTn id="44" dur="1" fill="hold">
                                          <p:stCondLst>
                                            <p:cond delay="0"/>
                                          </p:stCondLst>
                                        </p:cTn>
                                        <p:tgtEl>
                                          <p:spTgt spid="107523">
                                            <p:txEl>
                                              <p:pRg st="6" end="6"/>
                                            </p:txEl>
                                          </p:spTgt>
                                        </p:tgtEl>
                                        <p:attrNameLst>
                                          <p:attrName>style.visibility</p:attrName>
                                        </p:attrNameLst>
                                      </p:cBhvr>
                                      <p:to>
                                        <p:strVal val="visible"/>
                                      </p:to>
                                    </p:set>
                                    <p:anim calcmode="lin" valueType="num">
                                      <p:cBhvr>
                                        <p:cTn id="45" dur="1000" fill="hold"/>
                                        <p:tgtEl>
                                          <p:spTgt spid="107523">
                                            <p:txEl>
                                              <p:pRg st="6" end="6"/>
                                            </p:txEl>
                                          </p:spTgt>
                                        </p:tgtEl>
                                        <p:attrNameLst>
                                          <p:attrName>ppt_w</p:attrName>
                                        </p:attrNameLst>
                                      </p:cBhvr>
                                      <p:tavLst>
                                        <p:tav tm="0">
                                          <p:val>
                                            <p:strVal val="#ppt_w*0.70"/>
                                          </p:val>
                                        </p:tav>
                                        <p:tav tm="100000">
                                          <p:val>
                                            <p:strVal val="#ppt_w"/>
                                          </p:val>
                                        </p:tav>
                                      </p:tavLst>
                                    </p:anim>
                                    <p:anim calcmode="lin" valueType="num">
                                      <p:cBhvr>
                                        <p:cTn id="46" dur="1000" fill="hold"/>
                                        <p:tgtEl>
                                          <p:spTgt spid="107523">
                                            <p:txEl>
                                              <p:pRg st="6" end="6"/>
                                            </p:txEl>
                                          </p:spTgt>
                                        </p:tgtEl>
                                        <p:attrNameLst>
                                          <p:attrName>ppt_h</p:attrName>
                                        </p:attrNameLst>
                                      </p:cBhvr>
                                      <p:tavLst>
                                        <p:tav tm="0">
                                          <p:val>
                                            <p:strVal val="#ppt_h"/>
                                          </p:val>
                                        </p:tav>
                                        <p:tav tm="100000">
                                          <p:val>
                                            <p:strVal val="#ppt_h"/>
                                          </p:val>
                                        </p:tav>
                                      </p:tavLst>
                                    </p:anim>
                                    <p:animEffect transition="in" filter="fade">
                                      <p:cBhvr>
                                        <p:cTn id="47" dur="1000"/>
                                        <p:tgtEl>
                                          <p:spTgt spid="10752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1259860" y="269670"/>
            <a:ext cx="6985000" cy="792163"/>
          </a:xfrm>
        </p:spPr>
        <p:txBody>
          <a:bodyPr/>
          <a:lstStyle/>
          <a:p>
            <a:r>
              <a:rPr lang="zh-CN" altLang="en-US" dirty="0"/>
              <a:t>威胁网络安全的主要因素</a:t>
            </a:r>
            <a:endParaRPr lang="en-US" altLang="zh-CN" dirty="0"/>
          </a:p>
        </p:txBody>
      </p:sp>
      <p:sp>
        <p:nvSpPr>
          <p:cNvPr id="108547" name="Rectangle 3"/>
          <p:cNvSpPr>
            <a:spLocks noGrp="1" noChangeArrowheads="1"/>
          </p:cNvSpPr>
          <p:nvPr>
            <p:ph type="body" idx="1"/>
          </p:nvPr>
        </p:nvSpPr>
        <p:spPr>
          <a:xfrm>
            <a:off x="504825" y="1177413"/>
            <a:ext cx="8229600" cy="4857750"/>
          </a:xfrm>
        </p:spPr>
        <p:txBody>
          <a:bodyPr/>
          <a:lstStyle/>
          <a:p>
            <a:pPr>
              <a:spcBef>
                <a:spcPts val="0"/>
              </a:spcBef>
            </a:pPr>
            <a:r>
              <a:rPr lang="zh-CN" altLang="en-US" dirty="0"/>
              <a:t>威胁因素</a:t>
            </a:r>
            <a:r>
              <a:rPr lang="en-US" altLang="zh-CN" dirty="0"/>
              <a:t>(</a:t>
            </a:r>
            <a:r>
              <a:rPr lang="en-US" altLang="zh-CN" dirty="0">
                <a:solidFill>
                  <a:srgbClr val="FF3300"/>
                </a:solidFill>
              </a:rPr>
              <a:t>Cont</a:t>
            </a:r>
            <a:r>
              <a:rPr lang="en-US" altLang="zh-CN" dirty="0"/>
              <a:t>.)</a:t>
            </a:r>
          </a:p>
          <a:p>
            <a:pPr lvl="1">
              <a:spcBef>
                <a:spcPts val="0"/>
              </a:spcBef>
            </a:pPr>
            <a:r>
              <a:rPr lang="zh-CN" altLang="en-US" dirty="0"/>
              <a:t>系统自身因素</a:t>
            </a:r>
          </a:p>
          <a:p>
            <a:pPr lvl="2">
              <a:spcBef>
                <a:spcPts val="0"/>
              </a:spcBef>
            </a:pPr>
            <a:r>
              <a:rPr lang="en-US" altLang="zh-CN" dirty="0" smtClean="0">
                <a:solidFill>
                  <a:srgbClr val="000000"/>
                </a:solidFill>
              </a:rPr>
              <a:t>1</a:t>
            </a:r>
            <a:r>
              <a:rPr lang="zh-CN" altLang="en-US" dirty="0" smtClean="0">
                <a:solidFill>
                  <a:srgbClr val="000000"/>
                </a:solidFill>
              </a:rPr>
              <a:t>、计算机系统</a:t>
            </a:r>
            <a:r>
              <a:rPr lang="zh-CN" altLang="en-US" dirty="0">
                <a:solidFill>
                  <a:srgbClr val="000000"/>
                </a:solidFill>
              </a:rPr>
              <a:t>硬件系统的</a:t>
            </a:r>
            <a:r>
              <a:rPr lang="zh-CN" altLang="en-US" dirty="0" smtClean="0">
                <a:solidFill>
                  <a:srgbClr val="000000"/>
                </a:solidFill>
              </a:rPr>
              <a:t>故障：</a:t>
            </a:r>
            <a:r>
              <a:rPr lang="en-US" altLang="zh-CN" sz="2000" dirty="0"/>
              <a:t>2018</a:t>
            </a:r>
            <a:r>
              <a:rPr lang="zh-CN" altLang="en-US" sz="2000" dirty="0"/>
              <a:t>年</a:t>
            </a:r>
            <a:r>
              <a:rPr lang="en-US" altLang="zh-CN" sz="2000" dirty="0"/>
              <a:t>1</a:t>
            </a:r>
            <a:r>
              <a:rPr lang="zh-CN" altLang="en-US" sz="2000" dirty="0"/>
              <a:t>月</a:t>
            </a:r>
            <a:r>
              <a:rPr lang="en-US" altLang="zh-CN" sz="2000" dirty="0"/>
              <a:t>Google</a:t>
            </a:r>
            <a:r>
              <a:rPr lang="zh-CN" altLang="en-US" sz="2000" dirty="0"/>
              <a:t>旗下的</a:t>
            </a:r>
            <a:r>
              <a:rPr lang="en-US" altLang="zh-CN" sz="2000" dirty="0"/>
              <a:t>Project Zero</a:t>
            </a:r>
            <a:r>
              <a:rPr lang="zh-CN" altLang="en-US" sz="2000" dirty="0"/>
              <a:t>团队披露了一些由</a:t>
            </a:r>
            <a:r>
              <a:rPr lang="en-US" altLang="zh-CN" sz="2000" dirty="0"/>
              <a:t>CPU“</a:t>
            </a:r>
            <a:r>
              <a:rPr lang="zh-CN" altLang="en-US" sz="2000" dirty="0"/>
              <a:t>预测执行”（</a:t>
            </a:r>
            <a:r>
              <a:rPr lang="en-US" altLang="zh-CN" sz="2000" dirty="0"/>
              <a:t>Speculative Execution</a:t>
            </a:r>
            <a:r>
              <a:rPr lang="zh-CN" altLang="en-US" sz="2000" dirty="0"/>
              <a:t>）引发的芯片级漏洞，“</a:t>
            </a:r>
            <a:r>
              <a:rPr lang="en-US" altLang="zh-CN" sz="2000" dirty="0" err="1"/>
              <a:t>Spectre</a:t>
            </a:r>
            <a:r>
              <a:rPr lang="zh-CN" altLang="en-US" sz="2000" dirty="0"/>
              <a:t>（幽灵）</a:t>
            </a:r>
            <a:r>
              <a:rPr lang="en-US" altLang="zh-CN" sz="2000" dirty="0"/>
              <a:t>”</a:t>
            </a:r>
            <a:r>
              <a:rPr lang="zh-CN" altLang="en-US" sz="2000" dirty="0"/>
              <a:t>（变体</a:t>
            </a:r>
            <a:r>
              <a:rPr lang="en-US" altLang="zh-CN" sz="2000" dirty="0"/>
              <a:t>1</a:t>
            </a:r>
            <a:r>
              <a:rPr lang="zh-CN" altLang="en-US" sz="2000" dirty="0"/>
              <a:t>和变体</a:t>
            </a:r>
            <a:r>
              <a:rPr lang="en-US" altLang="zh-CN" sz="2000" dirty="0"/>
              <a:t>2</a:t>
            </a:r>
            <a:r>
              <a:rPr lang="zh-CN" altLang="en-US" sz="2000" dirty="0"/>
              <a:t>：</a:t>
            </a:r>
            <a:r>
              <a:rPr lang="en-US" altLang="zh-CN" sz="2000" dirty="0"/>
              <a:t>CVE-2017-5753</a:t>
            </a:r>
            <a:r>
              <a:rPr lang="zh-CN" altLang="en-US" sz="2000" dirty="0"/>
              <a:t>和</a:t>
            </a:r>
            <a:r>
              <a:rPr lang="en-US" altLang="zh-CN" sz="2000" dirty="0"/>
              <a:t>CVE-2017-5715</a:t>
            </a:r>
            <a:r>
              <a:rPr lang="zh-CN" altLang="en-US" sz="2000" dirty="0"/>
              <a:t>）和“</a:t>
            </a:r>
            <a:r>
              <a:rPr lang="en-US" altLang="zh-CN" sz="2000" dirty="0"/>
              <a:t>Meltdown</a:t>
            </a:r>
            <a:r>
              <a:rPr lang="zh-CN" altLang="en-US" sz="2000" dirty="0"/>
              <a:t>（熔断）</a:t>
            </a:r>
            <a:r>
              <a:rPr lang="en-US" altLang="zh-CN" sz="2000" dirty="0"/>
              <a:t>”</a:t>
            </a:r>
            <a:r>
              <a:rPr lang="zh-CN" altLang="en-US" sz="2000" dirty="0"/>
              <a:t>（变体</a:t>
            </a:r>
            <a:r>
              <a:rPr lang="en-US" altLang="zh-CN" sz="2000" dirty="0"/>
              <a:t>3</a:t>
            </a:r>
            <a:r>
              <a:rPr lang="zh-CN" altLang="en-US" sz="2000" dirty="0"/>
              <a:t>：</a:t>
            </a:r>
            <a:r>
              <a:rPr lang="en-US" altLang="zh-CN" sz="2000" dirty="0"/>
              <a:t>CVE-2017-5754</a:t>
            </a:r>
            <a:r>
              <a:rPr lang="zh-CN" altLang="en-US" sz="2000" dirty="0"/>
              <a:t>），这三个漏洞都是先天性质的架构设计缺陷导致的，可以让非特权用户访问到系统内存从而读取敏感信息</a:t>
            </a:r>
            <a:endParaRPr lang="en-US" altLang="zh-CN" sz="2000" dirty="0">
              <a:solidFill>
                <a:srgbClr val="000000"/>
              </a:solidFill>
            </a:endParaRPr>
          </a:p>
          <a:p>
            <a:pPr lvl="2">
              <a:spcBef>
                <a:spcPts val="0"/>
              </a:spcBef>
            </a:pPr>
            <a:endParaRPr lang="zh-CN" altLang="en-US" dirty="0">
              <a:solidFill>
                <a:srgbClr val="000000"/>
              </a:solidFill>
            </a:endParaRPr>
          </a:p>
          <a:p>
            <a:pPr lvl="2">
              <a:spcBef>
                <a:spcPts val="0"/>
              </a:spcBef>
            </a:pPr>
            <a:r>
              <a:rPr lang="zh-CN" altLang="en-US" dirty="0">
                <a:solidFill>
                  <a:srgbClr val="000000"/>
                </a:solidFill>
              </a:rPr>
              <a:t>软件：操作系统、支撑软件和应用软件</a:t>
            </a:r>
          </a:p>
          <a:p>
            <a:pPr lvl="2">
              <a:spcBef>
                <a:spcPts val="0"/>
              </a:spcBef>
            </a:pPr>
            <a:r>
              <a:rPr lang="zh-CN" altLang="en-US" dirty="0">
                <a:solidFill>
                  <a:srgbClr val="000000"/>
                </a:solidFill>
              </a:rPr>
              <a:t>网络和通信协议</a:t>
            </a:r>
          </a:p>
          <a:p>
            <a:pPr>
              <a:spcBef>
                <a:spcPts val="0"/>
              </a:spcBef>
            </a:pPr>
            <a:r>
              <a:rPr lang="zh-CN" altLang="en-US" dirty="0"/>
              <a:t>系统自身的脆弱和不足是造成信息系统安全问题的内部根源，攻击者正是利用系统的脆弱性使各种威胁变成现实</a:t>
            </a:r>
          </a:p>
        </p:txBody>
      </p:sp>
    </p:spTree>
    <p:extLst>
      <p:ext uri="{BB962C8B-B14F-4D97-AF65-F5344CB8AC3E}">
        <p14:creationId xmlns:p14="http://schemas.microsoft.com/office/powerpoint/2010/main" val="1017644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108547">
                                            <p:txEl>
                                              <p:pRg st="0" end="0"/>
                                            </p:txEl>
                                          </p:spTgt>
                                        </p:tgtEl>
                                        <p:attrNameLst>
                                          <p:attrName>style.visibility</p:attrName>
                                        </p:attrNameLst>
                                      </p:cBhvr>
                                      <p:to>
                                        <p:strVal val="visible"/>
                                      </p:to>
                                    </p:set>
                                    <p:anim calcmode="lin" valueType="num">
                                      <p:cBhvr>
                                        <p:cTn id="7" dur="1000" fill="hold"/>
                                        <p:tgtEl>
                                          <p:spTgt spid="108547">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108547">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108547">
                                            <p:txEl>
                                              <p:pRg st="0" end="0"/>
                                            </p:txEl>
                                          </p:spTgt>
                                        </p:tgtEl>
                                      </p:cBhvr>
                                    </p:animEffect>
                                  </p:childTnLst>
                                </p:cTn>
                              </p:par>
                            </p:childTnLst>
                          </p:cTn>
                        </p:par>
                        <p:par>
                          <p:cTn id="10" fill="hold">
                            <p:stCondLst>
                              <p:cond delay="1000"/>
                            </p:stCondLst>
                            <p:childTnLst>
                              <p:par>
                                <p:cTn id="11" presetID="55" presetClass="entr" presetSubtype="0" fill="hold" grpId="0" nodeType="afterEffect">
                                  <p:stCondLst>
                                    <p:cond delay="0"/>
                                  </p:stCondLst>
                                  <p:childTnLst>
                                    <p:set>
                                      <p:cBhvr>
                                        <p:cTn id="12" dur="1" fill="hold">
                                          <p:stCondLst>
                                            <p:cond delay="0"/>
                                          </p:stCondLst>
                                        </p:cTn>
                                        <p:tgtEl>
                                          <p:spTgt spid="108547">
                                            <p:txEl>
                                              <p:pRg st="1" end="1"/>
                                            </p:txEl>
                                          </p:spTgt>
                                        </p:tgtEl>
                                        <p:attrNameLst>
                                          <p:attrName>style.visibility</p:attrName>
                                        </p:attrNameLst>
                                      </p:cBhvr>
                                      <p:to>
                                        <p:strVal val="visible"/>
                                      </p:to>
                                    </p:set>
                                    <p:anim calcmode="lin" valueType="num">
                                      <p:cBhvr>
                                        <p:cTn id="13" dur="1000" fill="hold"/>
                                        <p:tgtEl>
                                          <p:spTgt spid="108547">
                                            <p:txEl>
                                              <p:pRg st="1" end="1"/>
                                            </p:txEl>
                                          </p:spTgt>
                                        </p:tgtEl>
                                        <p:attrNameLst>
                                          <p:attrName>ppt_w</p:attrName>
                                        </p:attrNameLst>
                                      </p:cBhvr>
                                      <p:tavLst>
                                        <p:tav tm="0">
                                          <p:val>
                                            <p:strVal val="#ppt_w*0.70"/>
                                          </p:val>
                                        </p:tav>
                                        <p:tav tm="100000">
                                          <p:val>
                                            <p:strVal val="#ppt_w"/>
                                          </p:val>
                                        </p:tav>
                                      </p:tavLst>
                                    </p:anim>
                                    <p:anim calcmode="lin" valueType="num">
                                      <p:cBhvr>
                                        <p:cTn id="14" dur="1000" fill="hold"/>
                                        <p:tgtEl>
                                          <p:spTgt spid="108547">
                                            <p:txEl>
                                              <p:pRg st="1" end="1"/>
                                            </p:txEl>
                                          </p:spTgt>
                                        </p:tgtEl>
                                        <p:attrNameLst>
                                          <p:attrName>ppt_h</p:attrName>
                                        </p:attrNameLst>
                                      </p:cBhvr>
                                      <p:tavLst>
                                        <p:tav tm="0">
                                          <p:val>
                                            <p:strVal val="#ppt_h"/>
                                          </p:val>
                                        </p:tav>
                                        <p:tav tm="100000">
                                          <p:val>
                                            <p:strVal val="#ppt_h"/>
                                          </p:val>
                                        </p:tav>
                                      </p:tavLst>
                                    </p:anim>
                                    <p:animEffect transition="in" filter="fade">
                                      <p:cBhvr>
                                        <p:cTn id="15" dur="1000"/>
                                        <p:tgtEl>
                                          <p:spTgt spid="108547">
                                            <p:txEl>
                                              <p:pRg st="1" end="1"/>
                                            </p:txEl>
                                          </p:spTgt>
                                        </p:tgtEl>
                                      </p:cBhvr>
                                    </p:animEffect>
                                  </p:childTnLst>
                                </p:cTn>
                              </p:par>
                              <p:par>
                                <p:cTn id="16" presetID="55" presetClass="entr" presetSubtype="0" fill="hold" grpId="0" nodeType="withEffect">
                                  <p:stCondLst>
                                    <p:cond delay="0"/>
                                  </p:stCondLst>
                                  <p:childTnLst>
                                    <p:set>
                                      <p:cBhvr>
                                        <p:cTn id="17" dur="1" fill="hold">
                                          <p:stCondLst>
                                            <p:cond delay="0"/>
                                          </p:stCondLst>
                                        </p:cTn>
                                        <p:tgtEl>
                                          <p:spTgt spid="108547">
                                            <p:txEl>
                                              <p:pRg st="2" end="2"/>
                                            </p:txEl>
                                          </p:spTgt>
                                        </p:tgtEl>
                                        <p:attrNameLst>
                                          <p:attrName>style.visibility</p:attrName>
                                        </p:attrNameLst>
                                      </p:cBhvr>
                                      <p:to>
                                        <p:strVal val="visible"/>
                                      </p:to>
                                    </p:set>
                                    <p:anim calcmode="lin" valueType="num">
                                      <p:cBhvr>
                                        <p:cTn id="18" dur="1000" fill="hold"/>
                                        <p:tgtEl>
                                          <p:spTgt spid="108547">
                                            <p:txEl>
                                              <p:pRg st="2" end="2"/>
                                            </p:txEl>
                                          </p:spTgt>
                                        </p:tgtEl>
                                        <p:attrNameLst>
                                          <p:attrName>ppt_w</p:attrName>
                                        </p:attrNameLst>
                                      </p:cBhvr>
                                      <p:tavLst>
                                        <p:tav tm="0">
                                          <p:val>
                                            <p:strVal val="#ppt_w*0.70"/>
                                          </p:val>
                                        </p:tav>
                                        <p:tav tm="100000">
                                          <p:val>
                                            <p:strVal val="#ppt_w"/>
                                          </p:val>
                                        </p:tav>
                                      </p:tavLst>
                                    </p:anim>
                                    <p:anim calcmode="lin" valueType="num">
                                      <p:cBhvr>
                                        <p:cTn id="19" dur="1000" fill="hold"/>
                                        <p:tgtEl>
                                          <p:spTgt spid="108547">
                                            <p:txEl>
                                              <p:pRg st="2" end="2"/>
                                            </p:txEl>
                                          </p:spTgt>
                                        </p:tgtEl>
                                        <p:attrNameLst>
                                          <p:attrName>ppt_h</p:attrName>
                                        </p:attrNameLst>
                                      </p:cBhvr>
                                      <p:tavLst>
                                        <p:tav tm="0">
                                          <p:val>
                                            <p:strVal val="#ppt_h"/>
                                          </p:val>
                                        </p:tav>
                                        <p:tav tm="100000">
                                          <p:val>
                                            <p:strVal val="#ppt_h"/>
                                          </p:val>
                                        </p:tav>
                                      </p:tavLst>
                                    </p:anim>
                                    <p:animEffect transition="in" filter="fade">
                                      <p:cBhvr>
                                        <p:cTn id="20" dur="1000"/>
                                        <p:tgtEl>
                                          <p:spTgt spid="108547">
                                            <p:txEl>
                                              <p:pRg st="2" end="2"/>
                                            </p:txEl>
                                          </p:spTgt>
                                        </p:tgtEl>
                                      </p:cBhvr>
                                    </p:animEffect>
                                  </p:childTnLst>
                                </p:cTn>
                              </p:par>
                            </p:childTnLst>
                          </p:cTn>
                        </p:par>
                        <p:par>
                          <p:cTn id="21" fill="hold">
                            <p:stCondLst>
                              <p:cond delay="2000"/>
                            </p:stCondLst>
                            <p:childTnLst>
                              <p:par>
                                <p:cTn id="22" presetID="55" presetClass="entr" presetSubtype="0" fill="hold" grpId="0" nodeType="afterEffect">
                                  <p:stCondLst>
                                    <p:cond delay="0"/>
                                  </p:stCondLst>
                                  <p:childTnLst>
                                    <p:set>
                                      <p:cBhvr>
                                        <p:cTn id="23" dur="1" fill="hold">
                                          <p:stCondLst>
                                            <p:cond delay="0"/>
                                          </p:stCondLst>
                                        </p:cTn>
                                        <p:tgtEl>
                                          <p:spTgt spid="108547">
                                            <p:txEl>
                                              <p:pRg st="4" end="4"/>
                                            </p:txEl>
                                          </p:spTgt>
                                        </p:tgtEl>
                                        <p:attrNameLst>
                                          <p:attrName>style.visibility</p:attrName>
                                        </p:attrNameLst>
                                      </p:cBhvr>
                                      <p:to>
                                        <p:strVal val="visible"/>
                                      </p:to>
                                    </p:set>
                                    <p:anim calcmode="lin" valueType="num">
                                      <p:cBhvr>
                                        <p:cTn id="24" dur="1000" fill="hold"/>
                                        <p:tgtEl>
                                          <p:spTgt spid="108547">
                                            <p:txEl>
                                              <p:pRg st="4" end="4"/>
                                            </p:txEl>
                                          </p:spTgt>
                                        </p:tgtEl>
                                        <p:attrNameLst>
                                          <p:attrName>ppt_w</p:attrName>
                                        </p:attrNameLst>
                                      </p:cBhvr>
                                      <p:tavLst>
                                        <p:tav tm="0">
                                          <p:val>
                                            <p:strVal val="#ppt_w*0.70"/>
                                          </p:val>
                                        </p:tav>
                                        <p:tav tm="100000">
                                          <p:val>
                                            <p:strVal val="#ppt_w"/>
                                          </p:val>
                                        </p:tav>
                                      </p:tavLst>
                                    </p:anim>
                                    <p:anim calcmode="lin" valueType="num">
                                      <p:cBhvr>
                                        <p:cTn id="25" dur="1000" fill="hold"/>
                                        <p:tgtEl>
                                          <p:spTgt spid="108547">
                                            <p:txEl>
                                              <p:pRg st="4" end="4"/>
                                            </p:txEl>
                                          </p:spTgt>
                                        </p:tgtEl>
                                        <p:attrNameLst>
                                          <p:attrName>ppt_h</p:attrName>
                                        </p:attrNameLst>
                                      </p:cBhvr>
                                      <p:tavLst>
                                        <p:tav tm="0">
                                          <p:val>
                                            <p:strVal val="#ppt_h"/>
                                          </p:val>
                                        </p:tav>
                                        <p:tav tm="100000">
                                          <p:val>
                                            <p:strVal val="#ppt_h"/>
                                          </p:val>
                                        </p:tav>
                                      </p:tavLst>
                                    </p:anim>
                                    <p:animEffect transition="in" filter="fade">
                                      <p:cBhvr>
                                        <p:cTn id="26" dur="1000"/>
                                        <p:tgtEl>
                                          <p:spTgt spid="108547">
                                            <p:txEl>
                                              <p:pRg st="4" end="4"/>
                                            </p:txEl>
                                          </p:spTgt>
                                        </p:tgtEl>
                                      </p:cBhvr>
                                    </p:animEffect>
                                  </p:childTnLst>
                                </p:cTn>
                              </p:par>
                            </p:childTnLst>
                          </p:cTn>
                        </p:par>
                        <p:par>
                          <p:cTn id="27" fill="hold">
                            <p:stCondLst>
                              <p:cond delay="3000"/>
                            </p:stCondLst>
                            <p:childTnLst>
                              <p:par>
                                <p:cTn id="28" presetID="55" presetClass="entr" presetSubtype="0" fill="hold" grpId="0" nodeType="afterEffect">
                                  <p:stCondLst>
                                    <p:cond delay="0"/>
                                  </p:stCondLst>
                                  <p:childTnLst>
                                    <p:set>
                                      <p:cBhvr>
                                        <p:cTn id="29" dur="1" fill="hold">
                                          <p:stCondLst>
                                            <p:cond delay="0"/>
                                          </p:stCondLst>
                                        </p:cTn>
                                        <p:tgtEl>
                                          <p:spTgt spid="108547">
                                            <p:txEl>
                                              <p:pRg st="5" end="5"/>
                                            </p:txEl>
                                          </p:spTgt>
                                        </p:tgtEl>
                                        <p:attrNameLst>
                                          <p:attrName>style.visibility</p:attrName>
                                        </p:attrNameLst>
                                      </p:cBhvr>
                                      <p:to>
                                        <p:strVal val="visible"/>
                                      </p:to>
                                    </p:set>
                                    <p:anim calcmode="lin" valueType="num">
                                      <p:cBhvr>
                                        <p:cTn id="30" dur="1000" fill="hold"/>
                                        <p:tgtEl>
                                          <p:spTgt spid="108547">
                                            <p:txEl>
                                              <p:pRg st="5" end="5"/>
                                            </p:txEl>
                                          </p:spTgt>
                                        </p:tgtEl>
                                        <p:attrNameLst>
                                          <p:attrName>ppt_w</p:attrName>
                                        </p:attrNameLst>
                                      </p:cBhvr>
                                      <p:tavLst>
                                        <p:tav tm="0">
                                          <p:val>
                                            <p:strVal val="#ppt_w*0.70"/>
                                          </p:val>
                                        </p:tav>
                                        <p:tav tm="100000">
                                          <p:val>
                                            <p:strVal val="#ppt_w"/>
                                          </p:val>
                                        </p:tav>
                                      </p:tavLst>
                                    </p:anim>
                                    <p:anim calcmode="lin" valueType="num">
                                      <p:cBhvr>
                                        <p:cTn id="31" dur="1000" fill="hold"/>
                                        <p:tgtEl>
                                          <p:spTgt spid="108547">
                                            <p:txEl>
                                              <p:pRg st="5" end="5"/>
                                            </p:txEl>
                                          </p:spTgt>
                                        </p:tgtEl>
                                        <p:attrNameLst>
                                          <p:attrName>ppt_h</p:attrName>
                                        </p:attrNameLst>
                                      </p:cBhvr>
                                      <p:tavLst>
                                        <p:tav tm="0">
                                          <p:val>
                                            <p:strVal val="#ppt_h"/>
                                          </p:val>
                                        </p:tav>
                                        <p:tav tm="100000">
                                          <p:val>
                                            <p:strVal val="#ppt_h"/>
                                          </p:val>
                                        </p:tav>
                                      </p:tavLst>
                                    </p:anim>
                                    <p:animEffect transition="in" filter="fade">
                                      <p:cBhvr>
                                        <p:cTn id="32" dur="1000"/>
                                        <p:tgtEl>
                                          <p:spTgt spid="10854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5" presetClass="entr" presetSubtype="0" fill="hold" grpId="0" nodeType="clickEffect">
                                  <p:stCondLst>
                                    <p:cond delay="0"/>
                                  </p:stCondLst>
                                  <p:childTnLst>
                                    <p:set>
                                      <p:cBhvr>
                                        <p:cTn id="36" dur="1" fill="hold">
                                          <p:stCondLst>
                                            <p:cond delay="0"/>
                                          </p:stCondLst>
                                        </p:cTn>
                                        <p:tgtEl>
                                          <p:spTgt spid="108547">
                                            <p:txEl>
                                              <p:pRg st="6" end="6"/>
                                            </p:txEl>
                                          </p:spTgt>
                                        </p:tgtEl>
                                        <p:attrNameLst>
                                          <p:attrName>style.visibility</p:attrName>
                                        </p:attrNameLst>
                                      </p:cBhvr>
                                      <p:to>
                                        <p:strVal val="visible"/>
                                      </p:to>
                                    </p:set>
                                    <p:anim calcmode="lin" valueType="num">
                                      <p:cBhvr>
                                        <p:cTn id="37" dur="1000" fill="hold"/>
                                        <p:tgtEl>
                                          <p:spTgt spid="108547">
                                            <p:txEl>
                                              <p:pRg st="6" end="6"/>
                                            </p:txEl>
                                          </p:spTgt>
                                        </p:tgtEl>
                                        <p:attrNameLst>
                                          <p:attrName>ppt_w</p:attrName>
                                        </p:attrNameLst>
                                      </p:cBhvr>
                                      <p:tavLst>
                                        <p:tav tm="0">
                                          <p:val>
                                            <p:strVal val="#ppt_w*0.70"/>
                                          </p:val>
                                        </p:tav>
                                        <p:tav tm="100000">
                                          <p:val>
                                            <p:strVal val="#ppt_w"/>
                                          </p:val>
                                        </p:tav>
                                      </p:tavLst>
                                    </p:anim>
                                    <p:anim calcmode="lin" valueType="num">
                                      <p:cBhvr>
                                        <p:cTn id="38" dur="1000" fill="hold"/>
                                        <p:tgtEl>
                                          <p:spTgt spid="108547">
                                            <p:txEl>
                                              <p:pRg st="6" end="6"/>
                                            </p:txEl>
                                          </p:spTgt>
                                        </p:tgtEl>
                                        <p:attrNameLst>
                                          <p:attrName>ppt_h</p:attrName>
                                        </p:attrNameLst>
                                      </p:cBhvr>
                                      <p:tavLst>
                                        <p:tav tm="0">
                                          <p:val>
                                            <p:strVal val="#ppt_h"/>
                                          </p:val>
                                        </p:tav>
                                        <p:tav tm="100000">
                                          <p:val>
                                            <p:strVal val="#ppt_h"/>
                                          </p:val>
                                        </p:tav>
                                      </p:tavLst>
                                    </p:anim>
                                    <p:animEffect transition="in" filter="fade">
                                      <p:cBhvr>
                                        <p:cTn id="39" dur="1000"/>
                                        <p:tgtEl>
                                          <p:spTgt spid="10854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7"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1259860" y="269670"/>
            <a:ext cx="6985000" cy="792163"/>
          </a:xfrm>
        </p:spPr>
        <p:txBody>
          <a:bodyPr/>
          <a:lstStyle/>
          <a:p>
            <a:r>
              <a:rPr lang="zh-CN" altLang="en-US" dirty="0"/>
              <a:t>威胁网络安全的主要因素</a:t>
            </a:r>
            <a:endParaRPr lang="en-US" altLang="zh-CN" dirty="0"/>
          </a:p>
        </p:txBody>
      </p:sp>
      <p:sp>
        <p:nvSpPr>
          <p:cNvPr id="108547" name="Rectangle 3"/>
          <p:cNvSpPr>
            <a:spLocks noGrp="1" noChangeArrowheads="1"/>
          </p:cNvSpPr>
          <p:nvPr>
            <p:ph type="body" idx="1"/>
          </p:nvPr>
        </p:nvSpPr>
        <p:spPr>
          <a:xfrm>
            <a:off x="504825" y="1177413"/>
            <a:ext cx="8229600" cy="4857750"/>
          </a:xfrm>
        </p:spPr>
        <p:txBody>
          <a:bodyPr/>
          <a:lstStyle/>
          <a:p>
            <a:pPr>
              <a:spcBef>
                <a:spcPts val="0"/>
              </a:spcBef>
            </a:pPr>
            <a:r>
              <a:rPr lang="zh-CN" altLang="en-US" dirty="0"/>
              <a:t>威胁因素</a:t>
            </a:r>
            <a:r>
              <a:rPr lang="en-US" altLang="zh-CN" dirty="0"/>
              <a:t>(</a:t>
            </a:r>
            <a:r>
              <a:rPr lang="en-US" altLang="zh-CN" dirty="0">
                <a:solidFill>
                  <a:srgbClr val="FF3300"/>
                </a:solidFill>
              </a:rPr>
              <a:t>Cont</a:t>
            </a:r>
            <a:r>
              <a:rPr lang="en-US" altLang="zh-CN" dirty="0"/>
              <a:t>.)</a:t>
            </a:r>
          </a:p>
          <a:p>
            <a:pPr lvl="1">
              <a:spcBef>
                <a:spcPts val="0"/>
              </a:spcBef>
            </a:pPr>
            <a:r>
              <a:rPr lang="zh-CN" altLang="en-US" dirty="0"/>
              <a:t>系统自身因素</a:t>
            </a:r>
          </a:p>
          <a:p>
            <a:pPr lvl="2">
              <a:spcBef>
                <a:spcPts val="0"/>
              </a:spcBef>
            </a:pPr>
            <a:r>
              <a:rPr lang="en-US" altLang="zh-CN" dirty="0" smtClean="0">
                <a:solidFill>
                  <a:srgbClr val="000000"/>
                </a:solidFill>
              </a:rPr>
              <a:t>2</a:t>
            </a:r>
            <a:r>
              <a:rPr lang="zh-CN" altLang="en-US" dirty="0" smtClean="0">
                <a:solidFill>
                  <a:srgbClr val="000000"/>
                </a:solidFill>
              </a:rPr>
              <a:t>、软件</a:t>
            </a:r>
            <a:r>
              <a:rPr lang="zh-CN" altLang="en-US" dirty="0">
                <a:solidFill>
                  <a:srgbClr val="000000"/>
                </a:solidFill>
              </a:rPr>
              <a:t>：操作系统、支撑软件和应用软件</a:t>
            </a:r>
            <a:r>
              <a:rPr lang="zh-CN" altLang="en-US" dirty="0" smtClean="0">
                <a:solidFill>
                  <a:srgbClr val="000000"/>
                </a:solidFill>
              </a:rPr>
              <a:t>，各</a:t>
            </a:r>
            <a:r>
              <a:rPr lang="zh-CN" altLang="en-US" dirty="0">
                <a:solidFill>
                  <a:srgbClr val="000000"/>
                </a:solidFill>
              </a:rPr>
              <a:t>软件越来越复杂，代码规模越来越庞大，不管是开发者开发软件时的疏忽，还是编程者安全知识的局限，均可能导致软件漏洞问题</a:t>
            </a:r>
            <a:r>
              <a:rPr lang="zh-CN" altLang="en-US" dirty="0" smtClean="0">
                <a:solidFill>
                  <a:srgbClr val="000000"/>
                </a:solidFill>
              </a:rPr>
              <a:t>。</a:t>
            </a:r>
            <a:endParaRPr lang="zh-CN" altLang="en-US" dirty="0">
              <a:solidFill>
                <a:srgbClr val="000000"/>
              </a:solidFill>
            </a:endParaRPr>
          </a:p>
          <a:p>
            <a:pPr lvl="2">
              <a:spcBef>
                <a:spcPts val="0"/>
              </a:spcBef>
            </a:pPr>
            <a:r>
              <a:rPr lang="en-US" altLang="zh-CN" dirty="0" smtClean="0">
                <a:solidFill>
                  <a:srgbClr val="000000"/>
                </a:solidFill>
              </a:rPr>
              <a:t>3</a:t>
            </a:r>
            <a:r>
              <a:rPr lang="zh-CN" altLang="en-US" dirty="0" smtClean="0">
                <a:solidFill>
                  <a:srgbClr val="000000"/>
                </a:solidFill>
              </a:rPr>
              <a:t>、网络</a:t>
            </a:r>
            <a:r>
              <a:rPr lang="zh-CN" altLang="en-US" dirty="0">
                <a:solidFill>
                  <a:srgbClr val="000000"/>
                </a:solidFill>
              </a:rPr>
              <a:t>和通信协议：设计之初重点考虑网络互联问题，缺乏认证、加密等安全</a:t>
            </a:r>
            <a:r>
              <a:rPr lang="zh-CN" altLang="en-US" dirty="0" smtClean="0">
                <a:solidFill>
                  <a:srgbClr val="000000"/>
                </a:solidFill>
              </a:rPr>
              <a:t>机制</a:t>
            </a:r>
            <a:endParaRPr lang="en-US" altLang="zh-CN" dirty="0" smtClean="0">
              <a:solidFill>
                <a:srgbClr val="000000"/>
              </a:solidFill>
            </a:endParaRPr>
          </a:p>
          <a:p>
            <a:pPr marL="914400" lvl="2" indent="0">
              <a:spcBef>
                <a:spcPts val="0"/>
              </a:spcBef>
              <a:buNone/>
            </a:pPr>
            <a:r>
              <a:rPr lang="en-US" altLang="zh-CN" sz="1600" b="1" dirty="0"/>
              <a:t>2022</a:t>
            </a:r>
            <a:r>
              <a:rPr lang="zh-CN" altLang="en-US" sz="1600" b="1" dirty="0"/>
              <a:t>年漏洞事件</a:t>
            </a:r>
            <a:r>
              <a:rPr lang="zh-CN" altLang="en-US" sz="1600" b="1" dirty="0" smtClean="0"/>
              <a:t>盘点</a:t>
            </a:r>
            <a:r>
              <a:rPr lang="en-US" altLang="zh-CN" sz="1600" dirty="0" smtClean="0">
                <a:solidFill>
                  <a:srgbClr val="000000"/>
                </a:solidFill>
                <a:hlinkClick r:id="rId3"/>
              </a:rPr>
              <a:t>https://blog.csdn.net/m0_60571990/article/details/128377409</a:t>
            </a:r>
            <a:endParaRPr lang="en-US" altLang="zh-CN" sz="1600" dirty="0" smtClean="0">
              <a:solidFill>
                <a:srgbClr val="000000"/>
              </a:solidFill>
            </a:endParaRPr>
          </a:p>
          <a:p>
            <a:pPr marL="914400" lvl="2" indent="0">
              <a:lnSpc>
                <a:spcPct val="100000"/>
              </a:lnSpc>
              <a:spcBef>
                <a:spcPts val="0"/>
              </a:spcBef>
              <a:buNone/>
            </a:pPr>
            <a:r>
              <a:rPr lang="en-US" altLang="zh-CN" sz="1600" b="1" dirty="0" smtClean="0">
                <a:solidFill>
                  <a:srgbClr val="000000"/>
                </a:solidFill>
              </a:rPr>
              <a:t>CNVD</a:t>
            </a:r>
            <a:r>
              <a:rPr lang="zh-CN" altLang="en-US" sz="1600" b="1" dirty="0" smtClean="0">
                <a:solidFill>
                  <a:srgbClr val="000000"/>
                </a:solidFill>
              </a:rPr>
              <a:t>、</a:t>
            </a:r>
            <a:r>
              <a:rPr lang="en-US" altLang="zh-CN" sz="1600" b="1" dirty="0" smtClean="0">
                <a:solidFill>
                  <a:srgbClr val="000000"/>
                </a:solidFill>
              </a:rPr>
              <a:t>CNNVD</a:t>
            </a:r>
            <a:r>
              <a:rPr lang="zh-CN" altLang="en-US" sz="1600" b="1" dirty="0" smtClean="0">
                <a:solidFill>
                  <a:srgbClr val="000000"/>
                </a:solidFill>
              </a:rPr>
              <a:t>、</a:t>
            </a:r>
            <a:r>
              <a:rPr lang="en-US" altLang="zh-CN" sz="1600" b="1" dirty="0" smtClean="0">
                <a:solidFill>
                  <a:srgbClr val="000000"/>
                </a:solidFill>
              </a:rPr>
              <a:t>CICSVD</a:t>
            </a:r>
            <a:r>
              <a:rPr lang="zh-CN" altLang="en-US" sz="1600" b="1" dirty="0" smtClean="0">
                <a:solidFill>
                  <a:srgbClr val="000000"/>
                </a:solidFill>
              </a:rPr>
              <a:t>、</a:t>
            </a:r>
            <a:r>
              <a:rPr lang="en-US" altLang="zh-CN" sz="1600" b="1" dirty="0" smtClean="0">
                <a:solidFill>
                  <a:srgbClr val="000000"/>
                </a:solidFill>
              </a:rPr>
              <a:t>NVD</a:t>
            </a:r>
            <a:r>
              <a:rPr lang="zh-CN" altLang="en-US" sz="1600" b="1" dirty="0" smtClean="0">
                <a:solidFill>
                  <a:srgbClr val="000000"/>
                </a:solidFill>
              </a:rPr>
              <a:t>、</a:t>
            </a:r>
            <a:r>
              <a:rPr lang="en-US" altLang="zh-CN" sz="1600" b="1" dirty="0" smtClean="0">
                <a:solidFill>
                  <a:srgbClr val="000000"/>
                </a:solidFill>
              </a:rPr>
              <a:t>CVE</a:t>
            </a:r>
            <a:r>
              <a:rPr lang="zh-CN" altLang="en-US" sz="1600" b="1" dirty="0" smtClean="0">
                <a:solidFill>
                  <a:srgbClr val="000000"/>
                </a:solidFill>
              </a:rPr>
              <a:t>等区别与联系详解</a:t>
            </a:r>
            <a:r>
              <a:rPr lang="en-US" altLang="zh-CN" sz="1600" dirty="0" smtClean="0">
                <a:solidFill>
                  <a:srgbClr val="000000"/>
                </a:solidFill>
                <a:hlinkClick r:id="rId4"/>
              </a:rPr>
              <a:t>https://blog.csdn.net/Hardworking666/article/details/122392364</a:t>
            </a:r>
            <a:endParaRPr lang="en-US" altLang="zh-CN" sz="1600" dirty="0" smtClean="0">
              <a:solidFill>
                <a:srgbClr val="000000"/>
              </a:solidFill>
            </a:endParaRPr>
          </a:p>
          <a:p>
            <a:pPr marL="914400" lvl="2" indent="0">
              <a:spcBef>
                <a:spcPts val="0"/>
              </a:spcBef>
              <a:buNone/>
            </a:pPr>
            <a:endParaRPr lang="zh-CN" altLang="en-US" sz="1600" dirty="0">
              <a:solidFill>
                <a:srgbClr val="000000"/>
              </a:solidFill>
            </a:endParaRPr>
          </a:p>
        </p:txBody>
      </p:sp>
    </p:spTree>
    <p:extLst>
      <p:ext uri="{BB962C8B-B14F-4D97-AF65-F5344CB8AC3E}">
        <p14:creationId xmlns:p14="http://schemas.microsoft.com/office/powerpoint/2010/main" val="140632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108547">
                                            <p:txEl>
                                              <p:pRg st="0" end="0"/>
                                            </p:txEl>
                                          </p:spTgt>
                                        </p:tgtEl>
                                        <p:attrNameLst>
                                          <p:attrName>style.visibility</p:attrName>
                                        </p:attrNameLst>
                                      </p:cBhvr>
                                      <p:to>
                                        <p:strVal val="visible"/>
                                      </p:to>
                                    </p:set>
                                    <p:anim calcmode="lin" valueType="num">
                                      <p:cBhvr>
                                        <p:cTn id="7" dur="1000" fill="hold"/>
                                        <p:tgtEl>
                                          <p:spTgt spid="108547">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108547">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108547">
                                            <p:txEl>
                                              <p:pRg st="0" end="0"/>
                                            </p:txEl>
                                          </p:spTgt>
                                        </p:tgtEl>
                                      </p:cBhvr>
                                    </p:animEffect>
                                  </p:childTnLst>
                                </p:cTn>
                              </p:par>
                            </p:childTnLst>
                          </p:cTn>
                        </p:par>
                        <p:par>
                          <p:cTn id="10" fill="hold">
                            <p:stCondLst>
                              <p:cond delay="1000"/>
                            </p:stCondLst>
                            <p:childTnLst>
                              <p:par>
                                <p:cTn id="11" presetID="55" presetClass="entr" presetSubtype="0" fill="hold" grpId="0" nodeType="afterEffect">
                                  <p:stCondLst>
                                    <p:cond delay="0"/>
                                  </p:stCondLst>
                                  <p:childTnLst>
                                    <p:set>
                                      <p:cBhvr>
                                        <p:cTn id="12" dur="1" fill="hold">
                                          <p:stCondLst>
                                            <p:cond delay="0"/>
                                          </p:stCondLst>
                                        </p:cTn>
                                        <p:tgtEl>
                                          <p:spTgt spid="108547">
                                            <p:txEl>
                                              <p:pRg st="1" end="1"/>
                                            </p:txEl>
                                          </p:spTgt>
                                        </p:tgtEl>
                                        <p:attrNameLst>
                                          <p:attrName>style.visibility</p:attrName>
                                        </p:attrNameLst>
                                      </p:cBhvr>
                                      <p:to>
                                        <p:strVal val="visible"/>
                                      </p:to>
                                    </p:set>
                                    <p:anim calcmode="lin" valueType="num">
                                      <p:cBhvr>
                                        <p:cTn id="13" dur="1000" fill="hold"/>
                                        <p:tgtEl>
                                          <p:spTgt spid="108547">
                                            <p:txEl>
                                              <p:pRg st="1" end="1"/>
                                            </p:txEl>
                                          </p:spTgt>
                                        </p:tgtEl>
                                        <p:attrNameLst>
                                          <p:attrName>ppt_w</p:attrName>
                                        </p:attrNameLst>
                                      </p:cBhvr>
                                      <p:tavLst>
                                        <p:tav tm="0">
                                          <p:val>
                                            <p:strVal val="#ppt_w*0.70"/>
                                          </p:val>
                                        </p:tav>
                                        <p:tav tm="100000">
                                          <p:val>
                                            <p:strVal val="#ppt_w"/>
                                          </p:val>
                                        </p:tav>
                                      </p:tavLst>
                                    </p:anim>
                                    <p:anim calcmode="lin" valueType="num">
                                      <p:cBhvr>
                                        <p:cTn id="14" dur="1000" fill="hold"/>
                                        <p:tgtEl>
                                          <p:spTgt spid="108547">
                                            <p:txEl>
                                              <p:pRg st="1" end="1"/>
                                            </p:txEl>
                                          </p:spTgt>
                                        </p:tgtEl>
                                        <p:attrNameLst>
                                          <p:attrName>ppt_h</p:attrName>
                                        </p:attrNameLst>
                                      </p:cBhvr>
                                      <p:tavLst>
                                        <p:tav tm="0">
                                          <p:val>
                                            <p:strVal val="#ppt_h"/>
                                          </p:val>
                                        </p:tav>
                                        <p:tav tm="100000">
                                          <p:val>
                                            <p:strVal val="#ppt_h"/>
                                          </p:val>
                                        </p:tav>
                                      </p:tavLst>
                                    </p:anim>
                                    <p:animEffect transition="in" filter="fade">
                                      <p:cBhvr>
                                        <p:cTn id="15" dur="1000"/>
                                        <p:tgtEl>
                                          <p:spTgt spid="108547">
                                            <p:txEl>
                                              <p:pRg st="1" end="1"/>
                                            </p:txEl>
                                          </p:spTgt>
                                        </p:tgtEl>
                                      </p:cBhvr>
                                    </p:animEffect>
                                  </p:childTnLst>
                                </p:cTn>
                              </p:par>
                              <p:par>
                                <p:cTn id="16" presetID="55" presetClass="entr" presetSubtype="0" fill="hold" grpId="0" nodeType="withEffect">
                                  <p:stCondLst>
                                    <p:cond delay="0"/>
                                  </p:stCondLst>
                                  <p:childTnLst>
                                    <p:set>
                                      <p:cBhvr>
                                        <p:cTn id="17" dur="1" fill="hold">
                                          <p:stCondLst>
                                            <p:cond delay="0"/>
                                          </p:stCondLst>
                                        </p:cTn>
                                        <p:tgtEl>
                                          <p:spTgt spid="108547">
                                            <p:txEl>
                                              <p:pRg st="2" end="2"/>
                                            </p:txEl>
                                          </p:spTgt>
                                        </p:tgtEl>
                                        <p:attrNameLst>
                                          <p:attrName>style.visibility</p:attrName>
                                        </p:attrNameLst>
                                      </p:cBhvr>
                                      <p:to>
                                        <p:strVal val="visible"/>
                                      </p:to>
                                    </p:set>
                                    <p:anim calcmode="lin" valueType="num">
                                      <p:cBhvr>
                                        <p:cTn id="18" dur="1000" fill="hold"/>
                                        <p:tgtEl>
                                          <p:spTgt spid="108547">
                                            <p:txEl>
                                              <p:pRg st="2" end="2"/>
                                            </p:txEl>
                                          </p:spTgt>
                                        </p:tgtEl>
                                        <p:attrNameLst>
                                          <p:attrName>ppt_w</p:attrName>
                                        </p:attrNameLst>
                                      </p:cBhvr>
                                      <p:tavLst>
                                        <p:tav tm="0">
                                          <p:val>
                                            <p:strVal val="#ppt_w*0.70"/>
                                          </p:val>
                                        </p:tav>
                                        <p:tav tm="100000">
                                          <p:val>
                                            <p:strVal val="#ppt_w"/>
                                          </p:val>
                                        </p:tav>
                                      </p:tavLst>
                                    </p:anim>
                                    <p:anim calcmode="lin" valueType="num">
                                      <p:cBhvr>
                                        <p:cTn id="19" dur="1000" fill="hold"/>
                                        <p:tgtEl>
                                          <p:spTgt spid="108547">
                                            <p:txEl>
                                              <p:pRg st="2" end="2"/>
                                            </p:txEl>
                                          </p:spTgt>
                                        </p:tgtEl>
                                        <p:attrNameLst>
                                          <p:attrName>ppt_h</p:attrName>
                                        </p:attrNameLst>
                                      </p:cBhvr>
                                      <p:tavLst>
                                        <p:tav tm="0">
                                          <p:val>
                                            <p:strVal val="#ppt_h"/>
                                          </p:val>
                                        </p:tav>
                                        <p:tav tm="100000">
                                          <p:val>
                                            <p:strVal val="#ppt_h"/>
                                          </p:val>
                                        </p:tav>
                                      </p:tavLst>
                                    </p:anim>
                                    <p:animEffect transition="in" filter="fade">
                                      <p:cBhvr>
                                        <p:cTn id="20" dur="1000"/>
                                        <p:tgtEl>
                                          <p:spTgt spid="108547">
                                            <p:txEl>
                                              <p:pRg st="2" end="2"/>
                                            </p:txEl>
                                          </p:spTgt>
                                        </p:tgtEl>
                                      </p:cBhvr>
                                    </p:animEffect>
                                  </p:childTnLst>
                                </p:cTn>
                              </p:par>
                              <p:par>
                                <p:cTn id="21" presetID="55" presetClass="entr" presetSubtype="0" fill="hold" grpId="0" nodeType="withEffect">
                                  <p:stCondLst>
                                    <p:cond delay="0"/>
                                  </p:stCondLst>
                                  <p:childTnLst>
                                    <p:set>
                                      <p:cBhvr>
                                        <p:cTn id="22" dur="1" fill="hold">
                                          <p:stCondLst>
                                            <p:cond delay="0"/>
                                          </p:stCondLst>
                                        </p:cTn>
                                        <p:tgtEl>
                                          <p:spTgt spid="108547">
                                            <p:txEl>
                                              <p:pRg st="3" end="3"/>
                                            </p:txEl>
                                          </p:spTgt>
                                        </p:tgtEl>
                                        <p:attrNameLst>
                                          <p:attrName>style.visibility</p:attrName>
                                        </p:attrNameLst>
                                      </p:cBhvr>
                                      <p:to>
                                        <p:strVal val="visible"/>
                                      </p:to>
                                    </p:set>
                                    <p:anim calcmode="lin" valueType="num">
                                      <p:cBhvr>
                                        <p:cTn id="23" dur="1000" fill="hold"/>
                                        <p:tgtEl>
                                          <p:spTgt spid="108547">
                                            <p:txEl>
                                              <p:pRg st="3" end="3"/>
                                            </p:txEl>
                                          </p:spTgt>
                                        </p:tgtEl>
                                        <p:attrNameLst>
                                          <p:attrName>ppt_w</p:attrName>
                                        </p:attrNameLst>
                                      </p:cBhvr>
                                      <p:tavLst>
                                        <p:tav tm="0">
                                          <p:val>
                                            <p:strVal val="#ppt_w*0.70"/>
                                          </p:val>
                                        </p:tav>
                                        <p:tav tm="100000">
                                          <p:val>
                                            <p:strVal val="#ppt_w"/>
                                          </p:val>
                                        </p:tav>
                                      </p:tavLst>
                                    </p:anim>
                                    <p:anim calcmode="lin" valueType="num">
                                      <p:cBhvr>
                                        <p:cTn id="24" dur="1000" fill="hold"/>
                                        <p:tgtEl>
                                          <p:spTgt spid="108547">
                                            <p:txEl>
                                              <p:pRg st="3" end="3"/>
                                            </p:txEl>
                                          </p:spTgt>
                                        </p:tgtEl>
                                        <p:attrNameLst>
                                          <p:attrName>ppt_h</p:attrName>
                                        </p:attrNameLst>
                                      </p:cBhvr>
                                      <p:tavLst>
                                        <p:tav tm="0">
                                          <p:val>
                                            <p:strVal val="#ppt_h"/>
                                          </p:val>
                                        </p:tav>
                                        <p:tav tm="100000">
                                          <p:val>
                                            <p:strVal val="#ppt_h"/>
                                          </p:val>
                                        </p:tav>
                                      </p:tavLst>
                                    </p:anim>
                                    <p:animEffect transition="in" filter="fade">
                                      <p:cBhvr>
                                        <p:cTn id="25" dur="1000"/>
                                        <p:tgtEl>
                                          <p:spTgt spid="108547">
                                            <p:txEl>
                                              <p:pRg st="3" end="3"/>
                                            </p:txEl>
                                          </p:spTgt>
                                        </p:tgtEl>
                                      </p:cBhvr>
                                    </p:animEffect>
                                  </p:childTnLst>
                                </p:cTn>
                              </p:par>
                              <p:par>
                                <p:cTn id="26" presetID="55" presetClass="entr" presetSubtype="0" fill="hold" grpId="0" nodeType="withEffect">
                                  <p:stCondLst>
                                    <p:cond delay="0"/>
                                  </p:stCondLst>
                                  <p:childTnLst>
                                    <p:set>
                                      <p:cBhvr>
                                        <p:cTn id="27" dur="1" fill="hold">
                                          <p:stCondLst>
                                            <p:cond delay="0"/>
                                          </p:stCondLst>
                                        </p:cTn>
                                        <p:tgtEl>
                                          <p:spTgt spid="108547">
                                            <p:txEl>
                                              <p:pRg st="4" end="4"/>
                                            </p:txEl>
                                          </p:spTgt>
                                        </p:tgtEl>
                                        <p:attrNameLst>
                                          <p:attrName>style.visibility</p:attrName>
                                        </p:attrNameLst>
                                      </p:cBhvr>
                                      <p:to>
                                        <p:strVal val="visible"/>
                                      </p:to>
                                    </p:set>
                                    <p:anim calcmode="lin" valueType="num">
                                      <p:cBhvr>
                                        <p:cTn id="28" dur="1000" fill="hold"/>
                                        <p:tgtEl>
                                          <p:spTgt spid="108547">
                                            <p:txEl>
                                              <p:pRg st="4" end="4"/>
                                            </p:txEl>
                                          </p:spTgt>
                                        </p:tgtEl>
                                        <p:attrNameLst>
                                          <p:attrName>ppt_w</p:attrName>
                                        </p:attrNameLst>
                                      </p:cBhvr>
                                      <p:tavLst>
                                        <p:tav tm="0">
                                          <p:val>
                                            <p:strVal val="#ppt_w*0.70"/>
                                          </p:val>
                                        </p:tav>
                                        <p:tav tm="100000">
                                          <p:val>
                                            <p:strVal val="#ppt_w"/>
                                          </p:val>
                                        </p:tav>
                                      </p:tavLst>
                                    </p:anim>
                                    <p:anim calcmode="lin" valueType="num">
                                      <p:cBhvr>
                                        <p:cTn id="29" dur="1000" fill="hold"/>
                                        <p:tgtEl>
                                          <p:spTgt spid="108547">
                                            <p:txEl>
                                              <p:pRg st="4" end="4"/>
                                            </p:txEl>
                                          </p:spTgt>
                                        </p:tgtEl>
                                        <p:attrNameLst>
                                          <p:attrName>ppt_h</p:attrName>
                                        </p:attrNameLst>
                                      </p:cBhvr>
                                      <p:tavLst>
                                        <p:tav tm="0">
                                          <p:val>
                                            <p:strVal val="#ppt_h"/>
                                          </p:val>
                                        </p:tav>
                                        <p:tav tm="100000">
                                          <p:val>
                                            <p:strVal val="#ppt_h"/>
                                          </p:val>
                                        </p:tav>
                                      </p:tavLst>
                                    </p:anim>
                                    <p:animEffect transition="in" filter="fade">
                                      <p:cBhvr>
                                        <p:cTn id="30" dur="1000"/>
                                        <p:tgtEl>
                                          <p:spTgt spid="108547">
                                            <p:txEl>
                                              <p:pRg st="4" end="4"/>
                                            </p:txEl>
                                          </p:spTgt>
                                        </p:tgtEl>
                                      </p:cBhvr>
                                    </p:animEffect>
                                  </p:childTnLst>
                                </p:cTn>
                              </p:par>
                              <p:par>
                                <p:cTn id="31" presetID="55" presetClass="entr" presetSubtype="0" fill="hold" grpId="0" nodeType="withEffect">
                                  <p:stCondLst>
                                    <p:cond delay="0"/>
                                  </p:stCondLst>
                                  <p:childTnLst>
                                    <p:set>
                                      <p:cBhvr>
                                        <p:cTn id="32" dur="1" fill="hold">
                                          <p:stCondLst>
                                            <p:cond delay="0"/>
                                          </p:stCondLst>
                                        </p:cTn>
                                        <p:tgtEl>
                                          <p:spTgt spid="108547">
                                            <p:txEl>
                                              <p:pRg st="5" end="5"/>
                                            </p:txEl>
                                          </p:spTgt>
                                        </p:tgtEl>
                                        <p:attrNameLst>
                                          <p:attrName>style.visibility</p:attrName>
                                        </p:attrNameLst>
                                      </p:cBhvr>
                                      <p:to>
                                        <p:strVal val="visible"/>
                                      </p:to>
                                    </p:set>
                                    <p:anim calcmode="lin" valueType="num">
                                      <p:cBhvr>
                                        <p:cTn id="33" dur="1000" fill="hold"/>
                                        <p:tgtEl>
                                          <p:spTgt spid="108547">
                                            <p:txEl>
                                              <p:pRg st="5" end="5"/>
                                            </p:txEl>
                                          </p:spTgt>
                                        </p:tgtEl>
                                        <p:attrNameLst>
                                          <p:attrName>ppt_w</p:attrName>
                                        </p:attrNameLst>
                                      </p:cBhvr>
                                      <p:tavLst>
                                        <p:tav tm="0">
                                          <p:val>
                                            <p:strVal val="#ppt_w*0.70"/>
                                          </p:val>
                                        </p:tav>
                                        <p:tav tm="100000">
                                          <p:val>
                                            <p:strVal val="#ppt_w"/>
                                          </p:val>
                                        </p:tav>
                                      </p:tavLst>
                                    </p:anim>
                                    <p:anim calcmode="lin" valueType="num">
                                      <p:cBhvr>
                                        <p:cTn id="34" dur="1000" fill="hold"/>
                                        <p:tgtEl>
                                          <p:spTgt spid="108547">
                                            <p:txEl>
                                              <p:pRg st="5" end="5"/>
                                            </p:txEl>
                                          </p:spTgt>
                                        </p:tgtEl>
                                        <p:attrNameLst>
                                          <p:attrName>ppt_h</p:attrName>
                                        </p:attrNameLst>
                                      </p:cBhvr>
                                      <p:tavLst>
                                        <p:tav tm="0">
                                          <p:val>
                                            <p:strVal val="#ppt_h"/>
                                          </p:val>
                                        </p:tav>
                                        <p:tav tm="100000">
                                          <p:val>
                                            <p:strVal val="#ppt_h"/>
                                          </p:val>
                                        </p:tav>
                                      </p:tavLst>
                                    </p:anim>
                                    <p:animEffect transition="in" filter="fade">
                                      <p:cBhvr>
                                        <p:cTn id="35" dur="1000"/>
                                        <p:tgtEl>
                                          <p:spTgt spid="10854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7"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1259860" y="269670"/>
            <a:ext cx="6985000" cy="792163"/>
          </a:xfrm>
        </p:spPr>
        <p:txBody>
          <a:bodyPr/>
          <a:lstStyle/>
          <a:p>
            <a:r>
              <a:rPr lang="zh-CN" altLang="en-US" dirty="0"/>
              <a:t>威胁网络安全的主要因素</a:t>
            </a:r>
            <a:endParaRPr lang="en-US" altLang="zh-CN" dirty="0"/>
          </a:p>
        </p:txBody>
      </p:sp>
      <p:sp>
        <p:nvSpPr>
          <p:cNvPr id="108547" name="Rectangle 3"/>
          <p:cNvSpPr>
            <a:spLocks noGrp="1" noChangeArrowheads="1"/>
          </p:cNvSpPr>
          <p:nvPr>
            <p:ph type="body" idx="1"/>
          </p:nvPr>
        </p:nvSpPr>
        <p:spPr>
          <a:xfrm>
            <a:off x="504825" y="1177413"/>
            <a:ext cx="8229600" cy="4857750"/>
          </a:xfrm>
        </p:spPr>
        <p:txBody>
          <a:bodyPr/>
          <a:lstStyle/>
          <a:p>
            <a:pPr>
              <a:spcBef>
                <a:spcPts val="0"/>
              </a:spcBef>
            </a:pPr>
            <a:r>
              <a:rPr lang="zh-CN" altLang="en-US" dirty="0"/>
              <a:t>威胁因素</a:t>
            </a:r>
            <a:r>
              <a:rPr lang="en-US" altLang="zh-CN" dirty="0"/>
              <a:t>(</a:t>
            </a:r>
            <a:r>
              <a:rPr lang="en-US" altLang="zh-CN" dirty="0">
                <a:solidFill>
                  <a:srgbClr val="FF3300"/>
                </a:solidFill>
              </a:rPr>
              <a:t>Cont</a:t>
            </a:r>
            <a:r>
              <a:rPr lang="en-US" altLang="zh-CN" dirty="0"/>
              <a:t>.)</a:t>
            </a:r>
          </a:p>
          <a:p>
            <a:pPr lvl="1">
              <a:spcBef>
                <a:spcPts val="0"/>
              </a:spcBef>
            </a:pPr>
            <a:r>
              <a:rPr lang="zh-CN" altLang="en-US" dirty="0"/>
              <a:t>系统自身因素</a:t>
            </a:r>
          </a:p>
          <a:p>
            <a:pPr lvl="1">
              <a:spcBef>
                <a:spcPts val="0"/>
              </a:spcBef>
            </a:pPr>
            <a:r>
              <a:rPr lang="zh-CN" altLang="en-US" dirty="0" smtClean="0"/>
              <a:t>总之，系统</a:t>
            </a:r>
            <a:r>
              <a:rPr lang="zh-CN" altLang="en-US" dirty="0"/>
              <a:t>自身的脆弱和不足是造成信息系统安全问题的内部根源，攻击者正是利用系统的脆弱性使各种威胁变成现实</a:t>
            </a:r>
          </a:p>
        </p:txBody>
      </p:sp>
    </p:spTree>
    <p:extLst>
      <p:ext uri="{BB962C8B-B14F-4D97-AF65-F5344CB8AC3E}">
        <p14:creationId xmlns:p14="http://schemas.microsoft.com/office/powerpoint/2010/main" val="1205601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108547">
                                            <p:txEl>
                                              <p:pRg st="0" end="0"/>
                                            </p:txEl>
                                          </p:spTgt>
                                        </p:tgtEl>
                                        <p:attrNameLst>
                                          <p:attrName>style.visibility</p:attrName>
                                        </p:attrNameLst>
                                      </p:cBhvr>
                                      <p:to>
                                        <p:strVal val="visible"/>
                                      </p:to>
                                    </p:set>
                                    <p:anim calcmode="lin" valueType="num">
                                      <p:cBhvr>
                                        <p:cTn id="7" dur="1000" fill="hold"/>
                                        <p:tgtEl>
                                          <p:spTgt spid="108547">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108547">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108547">
                                            <p:txEl>
                                              <p:pRg st="0" end="0"/>
                                            </p:txEl>
                                          </p:spTgt>
                                        </p:tgtEl>
                                      </p:cBhvr>
                                    </p:animEffect>
                                  </p:childTnLst>
                                </p:cTn>
                              </p:par>
                            </p:childTnLst>
                          </p:cTn>
                        </p:par>
                        <p:par>
                          <p:cTn id="10" fill="hold">
                            <p:stCondLst>
                              <p:cond delay="1000"/>
                            </p:stCondLst>
                            <p:childTnLst>
                              <p:par>
                                <p:cTn id="11" presetID="55" presetClass="entr" presetSubtype="0" fill="hold" grpId="0" nodeType="afterEffect">
                                  <p:stCondLst>
                                    <p:cond delay="0"/>
                                  </p:stCondLst>
                                  <p:childTnLst>
                                    <p:set>
                                      <p:cBhvr>
                                        <p:cTn id="12" dur="1" fill="hold">
                                          <p:stCondLst>
                                            <p:cond delay="0"/>
                                          </p:stCondLst>
                                        </p:cTn>
                                        <p:tgtEl>
                                          <p:spTgt spid="108547">
                                            <p:txEl>
                                              <p:pRg st="1" end="1"/>
                                            </p:txEl>
                                          </p:spTgt>
                                        </p:tgtEl>
                                        <p:attrNameLst>
                                          <p:attrName>style.visibility</p:attrName>
                                        </p:attrNameLst>
                                      </p:cBhvr>
                                      <p:to>
                                        <p:strVal val="visible"/>
                                      </p:to>
                                    </p:set>
                                    <p:anim calcmode="lin" valueType="num">
                                      <p:cBhvr>
                                        <p:cTn id="13" dur="1000" fill="hold"/>
                                        <p:tgtEl>
                                          <p:spTgt spid="108547">
                                            <p:txEl>
                                              <p:pRg st="1" end="1"/>
                                            </p:txEl>
                                          </p:spTgt>
                                        </p:tgtEl>
                                        <p:attrNameLst>
                                          <p:attrName>ppt_w</p:attrName>
                                        </p:attrNameLst>
                                      </p:cBhvr>
                                      <p:tavLst>
                                        <p:tav tm="0">
                                          <p:val>
                                            <p:strVal val="#ppt_w*0.70"/>
                                          </p:val>
                                        </p:tav>
                                        <p:tav tm="100000">
                                          <p:val>
                                            <p:strVal val="#ppt_w"/>
                                          </p:val>
                                        </p:tav>
                                      </p:tavLst>
                                    </p:anim>
                                    <p:anim calcmode="lin" valueType="num">
                                      <p:cBhvr>
                                        <p:cTn id="14" dur="1000" fill="hold"/>
                                        <p:tgtEl>
                                          <p:spTgt spid="108547">
                                            <p:txEl>
                                              <p:pRg st="1" end="1"/>
                                            </p:txEl>
                                          </p:spTgt>
                                        </p:tgtEl>
                                        <p:attrNameLst>
                                          <p:attrName>ppt_h</p:attrName>
                                        </p:attrNameLst>
                                      </p:cBhvr>
                                      <p:tavLst>
                                        <p:tav tm="0">
                                          <p:val>
                                            <p:strVal val="#ppt_h"/>
                                          </p:val>
                                        </p:tav>
                                        <p:tav tm="100000">
                                          <p:val>
                                            <p:strVal val="#ppt_h"/>
                                          </p:val>
                                        </p:tav>
                                      </p:tavLst>
                                    </p:anim>
                                    <p:animEffect transition="in" filter="fade">
                                      <p:cBhvr>
                                        <p:cTn id="15" dur="1000"/>
                                        <p:tgtEl>
                                          <p:spTgt spid="108547">
                                            <p:txEl>
                                              <p:pRg st="1" end="1"/>
                                            </p:txEl>
                                          </p:spTgt>
                                        </p:tgtEl>
                                      </p:cBhvr>
                                    </p:animEffect>
                                  </p:childTnLst>
                                </p:cTn>
                              </p:par>
                              <p:par>
                                <p:cTn id="16" presetID="55" presetClass="entr" presetSubtype="0" fill="hold" grpId="0" nodeType="withEffect">
                                  <p:stCondLst>
                                    <p:cond delay="0"/>
                                  </p:stCondLst>
                                  <p:childTnLst>
                                    <p:set>
                                      <p:cBhvr>
                                        <p:cTn id="17" dur="1" fill="hold">
                                          <p:stCondLst>
                                            <p:cond delay="0"/>
                                          </p:stCondLst>
                                        </p:cTn>
                                        <p:tgtEl>
                                          <p:spTgt spid="108547">
                                            <p:txEl>
                                              <p:pRg st="2" end="2"/>
                                            </p:txEl>
                                          </p:spTgt>
                                        </p:tgtEl>
                                        <p:attrNameLst>
                                          <p:attrName>style.visibility</p:attrName>
                                        </p:attrNameLst>
                                      </p:cBhvr>
                                      <p:to>
                                        <p:strVal val="visible"/>
                                      </p:to>
                                    </p:set>
                                    <p:anim calcmode="lin" valueType="num">
                                      <p:cBhvr>
                                        <p:cTn id="18" dur="1000" fill="hold"/>
                                        <p:tgtEl>
                                          <p:spTgt spid="108547">
                                            <p:txEl>
                                              <p:pRg st="2" end="2"/>
                                            </p:txEl>
                                          </p:spTgt>
                                        </p:tgtEl>
                                        <p:attrNameLst>
                                          <p:attrName>ppt_w</p:attrName>
                                        </p:attrNameLst>
                                      </p:cBhvr>
                                      <p:tavLst>
                                        <p:tav tm="0">
                                          <p:val>
                                            <p:strVal val="#ppt_w*0.70"/>
                                          </p:val>
                                        </p:tav>
                                        <p:tav tm="100000">
                                          <p:val>
                                            <p:strVal val="#ppt_w"/>
                                          </p:val>
                                        </p:tav>
                                      </p:tavLst>
                                    </p:anim>
                                    <p:anim calcmode="lin" valueType="num">
                                      <p:cBhvr>
                                        <p:cTn id="19" dur="1000" fill="hold"/>
                                        <p:tgtEl>
                                          <p:spTgt spid="108547">
                                            <p:txEl>
                                              <p:pRg st="2" end="2"/>
                                            </p:txEl>
                                          </p:spTgt>
                                        </p:tgtEl>
                                        <p:attrNameLst>
                                          <p:attrName>ppt_h</p:attrName>
                                        </p:attrNameLst>
                                      </p:cBhvr>
                                      <p:tavLst>
                                        <p:tav tm="0">
                                          <p:val>
                                            <p:strVal val="#ppt_h"/>
                                          </p:val>
                                        </p:tav>
                                        <p:tav tm="100000">
                                          <p:val>
                                            <p:strVal val="#ppt_h"/>
                                          </p:val>
                                        </p:tav>
                                      </p:tavLst>
                                    </p:anim>
                                    <p:animEffect transition="in" filter="fade">
                                      <p:cBhvr>
                                        <p:cTn id="20" dur="1000"/>
                                        <p:tgtEl>
                                          <p:spTgt spid="10854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7"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zh-CN" altLang="en-US"/>
              <a:t>内容提纲</a:t>
            </a:r>
            <a:endParaRPr lang="en-US" altLang="zh-CN">
              <a:solidFill>
                <a:schemeClr val="accent1"/>
              </a:solidFill>
            </a:endParaRPr>
          </a:p>
        </p:txBody>
      </p:sp>
      <p:sp>
        <p:nvSpPr>
          <p:cNvPr id="30723" name="Text Box 3"/>
          <p:cNvSpPr txBox="1">
            <a:spLocks noChangeArrowheads="1"/>
          </p:cNvSpPr>
          <p:nvPr/>
        </p:nvSpPr>
        <p:spPr bwMode="auto">
          <a:xfrm>
            <a:off x="1660525" y="722313"/>
            <a:ext cx="184150" cy="366712"/>
          </a:xfrm>
          <a:prstGeom prst="rect">
            <a:avLst/>
          </a:prstGeom>
          <a:noFill/>
          <a:ln w="9525">
            <a:noFill/>
            <a:miter lim="800000"/>
            <a:headEnd/>
            <a:tailEnd/>
          </a:ln>
        </p:spPr>
        <p:txBody>
          <a:bodyPr wrap="none">
            <a:spAutoFit/>
          </a:bodyPr>
          <a:lstStyle/>
          <a:p>
            <a:endParaRPr lang="zh-CN" altLang="en-US">
              <a:ea typeface="宋体" charset="-122"/>
            </a:endParaRPr>
          </a:p>
        </p:txBody>
      </p:sp>
      <p:sp>
        <p:nvSpPr>
          <p:cNvPr id="30724" name="Line 4"/>
          <p:cNvSpPr>
            <a:spLocks noChangeShapeType="1"/>
          </p:cNvSpPr>
          <p:nvPr/>
        </p:nvSpPr>
        <p:spPr bwMode="gray">
          <a:xfrm>
            <a:off x="1252538" y="3382750"/>
            <a:ext cx="6167437" cy="7937"/>
          </a:xfrm>
          <a:prstGeom prst="line">
            <a:avLst/>
          </a:prstGeom>
          <a:noFill/>
          <a:ln w="25400">
            <a:solidFill>
              <a:srgbClr val="C0C0C0"/>
            </a:solidFill>
            <a:prstDash val="sysDot"/>
            <a:round/>
            <a:headEnd/>
            <a:tailEnd type="oval" w="med" len="med"/>
          </a:ln>
        </p:spPr>
        <p:txBody>
          <a:bodyPr wrap="none" anchor="ctr"/>
          <a:lstStyle/>
          <a:p>
            <a:endParaRPr lang="zh-CN" altLang="en-US"/>
          </a:p>
        </p:txBody>
      </p:sp>
      <p:sp>
        <p:nvSpPr>
          <p:cNvPr id="30725" name="Rectangle 5"/>
          <p:cNvSpPr>
            <a:spLocks noChangeArrowheads="1"/>
          </p:cNvSpPr>
          <p:nvPr/>
        </p:nvSpPr>
        <p:spPr bwMode="gray">
          <a:xfrm rot="3419336">
            <a:off x="979487" y="2806488"/>
            <a:ext cx="479425" cy="520700"/>
          </a:xfrm>
          <a:prstGeom prst="rect">
            <a:avLst/>
          </a:prstGeom>
          <a:solidFill>
            <a:srgbClr val="9369E7"/>
          </a:solidFill>
          <a:ln w="9525">
            <a:miter lim="800000"/>
            <a:headEnd/>
            <a:tailEnd/>
          </a:ln>
          <a:scene3d>
            <a:camera prst="legacyPerspectiveFront">
              <a:rot lat="0" lon="1500000" rev="0"/>
            </a:camera>
            <a:lightRig rig="legacyFlat4" dir="b"/>
          </a:scene3d>
          <a:sp3d extrusionH="430200" prstMaterial="legacyMatte">
            <a:bevelT w="13500" h="13500" prst="angle"/>
            <a:bevelB w="13500" h="13500" prst="angle"/>
            <a:extrusionClr>
              <a:srgbClr val="9369E7"/>
            </a:extrusionClr>
          </a:sp3d>
        </p:spPr>
        <p:txBody>
          <a:bodyPr wrap="none" anchor="ctr">
            <a:flatTx/>
          </a:bodyPr>
          <a:lstStyle/>
          <a:p>
            <a:endParaRPr lang="zh-CN" altLang="en-US"/>
          </a:p>
        </p:txBody>
      </p:sp>
      <p:sp>
        <p:nvSpPr>
          <p:cNvPr id="30726" name="Text Box 6"/>
          <p:cNvSpPr txBox="1">
            <a:spLocks noChangeArrowheads="1"/>
          </p:cNvSpPr>
          <p:nvPr/>
        </p:nvSpPr>
        <p:spPr bwMode="gray">
          <a:xfrm>
            <a:off x="1785938" y="2769975"/>
            <a:ext cx="5346700" cy="579437"/>
          </a:xfrm>
          <a:prstGeom prst="rect">
            <a:avLst/>
          </a:prstGeom>
          <a:noFill/>
          <a:ln w="9525" algn="ctr">
            <a:noFill/>
            <a:miter lim="800000"/>
            <a:headEnd/>
            <a:tailEnd/>
          </a:ln>
        </p:spPr>
        <p:txBody>
          <a:bodyPr>
            <a:spAutoFit/>
          </a:bodyPr>
          <a:lstStyle/>
          <a:p>
            <a:pPr eaLnBrk="0" hangingPunct="0"/>
            <a:r>
              <a:rPr lang="zh-CN" altLang="en-US" sz="3200" b="1" dirty="0">
                <a:solidFill>
                  <a:srgbClr val="000000"/>
                </a:solidFill>
              </a:rPr>
              <a:t>网络体系结构的脆弱性</a:t>
            </a:r>
          </a:p>
        </p:txBody>
      </p:sp>
      <p:sp>
        <p:nvSpPr>
          <p:cNvPr id="30727" name="Text Box 7"/>
          <p:cNvSpPr txBox="1">
            <a:spLocks noChangeArrowheads="1"/>
          </p:cNvSpPr>
          <p:nvPr/>
        </p:nvSpPr>
        <p:spPr bwMode="gray">
          <a:xfrm>
            <a:off x="1057275" y="2838237"/>
            <a:ext cx="354013" cy="457200"/>
          </a:xfrm>
          <a:prstGeom prst="rect">
            <a:avLst/>
          </a:prstGeom>
          <a:noFill/>
          <a:ln w="9525" algn="ctr">
            <a:noFill/>
            <a:miter lim="800000"/>
            <a:headEnd/>
            <a:tailEnd/>
          </a:ln>
        </p:spPr>
        <p:txBody>
          <a:bodyPr wrap="none">
            <a:spAutoFit/>
          </a:bodyPr>
          <a:lstStyle/>
          <a:p>
            <a:pPr algn="ctr" eaLnBrk="0" hangingPunct="0"/>
            <a:r>
              <a:rPr lang="en-US" altLang="zh-CN" sz="2400" b="1">
                <a:solidFill>
                  <a:schemeClr val="bg1"/>
                </a:solidFill>
                <a:ea typeface="宋体" charset="-122"/>
              </a:rPr>
              <a:t>2</a:t>
            </a:r>
          </a:p>
        </p:txBody>
      </p:sp>
      <p:sp>
        <p:nvSpPr>
          <p:cNvPr id="30728" name="Rectangle 8"/>
          <p:cNvSpPr>
            <a:spLocks noChangeArrowheads="1"/>
          </p:cNvSpPr>
          <p:nvPr/>
        </p:nvSpPr>
        <p:spPr bwMode="gray">
          <a:xfrm rot="3419336">
            <a:off x="973137" y="3884896"/>
            <a:ext cx="479425" cy="520700"/>
          </a:xfrm>
          <a:prstGeom prst="rect">
            <a:avLst/>
          </a:prstGeom>
          <a:solidFill>
            <a:srgbClr val="669900"/>
          </a:solidFill>
          <a:ln w="9525">
            <a:miter lim="800000"/>
            <a:headEnd/>
            <a:tailEnd/>
          </a:ln>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p>
        </p:txBody>
      </p:sp>
      <p:sp>
        <p:nvSpPr>
          <p:cNvPr id="30729" name="Text Box 9"/>
          <p:cNvSpPr txBox="1">
            <a:spLocks noChangeArrowheads="1"/>
          </p:cNvSpPr>
          <p:nvPr/>
        </p:nvSpPr>
        <p:spPr bwMode="gray">
          <a:xfrm>
            <a:off x="1779588" y="3848383"/>
            <a:ext cx="5497512" cy="579438"/>
          </a:xfrm>
          <a:prstGeom prst="rect">
            <a:avLst/>
          </a:prstGeom>
          <a:noFill/>
          <a:ln w="9525" algn="ctr">
            <a:noFill/>
            <a:miter lim="800000"/>
            <a:headEnd/>
            <a:tailEnd/>
          </a:ln>
        </p:spPr>
        <p:txBody>
          <a:bodyPr>
            <a:spAutoFit/>
          </a:bodyPr>
          <a:lstStyle/>
          <a:p>
            <a:pPr eaLnBrk="0" hangingPunct="0"/>
            <a:r>
              <a:rPr lang="zh-CN" altLang="en-US" sz="3200" dirty="0">
                <a:solidFill>
                  <a:srgbClr val="000000"/>
                </a:solidFill>
                <a:latin typeface="Times New Roman" panose="02020603050405020304" pitchFamily="18" charset="0"/>
                <a:cs typeface="Times New Roman" panose="02020603050405020304" pitchFamily="18" charset="0"/>
              </a:rPr>
              <a:t>典型网络协议的脆弱性</a:t>
            </a:r>
            <a:endParaRPr lang="zh-CN" altLang="en-US" sz="3200" b="1" dirty="0">
              <a:solidFill>
                <a:srgbClr val="000000"/>
              </a:solidFill>
              <a:latin typeface="Times New Roman" panose="02020603050405020304" pitchFamily="18" charset="0"/>
              <a:cs typeface="Times New Roman" panose="02020603050405020304" pitchFamily="18" charset="0"/>
            </a:endParaRPr>
          </a:p>
        </p:txBody>
      </p:sp>
      <p:sp>
        <p:nvSpPr>
          <p:cNvPr id="30730" name="Text Box 10"/>
          <p:cNvSpPr txBox="1">
            <a:spLocks noChangeArrowheads="1"/>
          </p:cNvSpPr>
          <p:nvPr/>
        </p:nvSpPr>
        <p:spPr bwMode="gray">
          <a:xfrm>
            <a:off x="1050925" y="3916646"/>
            <a:ext cx="354013" cy="457200"/>
          </a:xfrm>
          <a:prstGeom prst="rect">
            <a:avLst/>
          </a:prstGeom>
          <a:noFill/>
          <a:ln w="9525" algn="ctr">
            <a:noFill/>
            <a:miter lim="800000"/>
            <a:headEnd/>
            <a:tailEnd/>
          </a:ln>
        </p:spPr>
        <p:txBody>
          <a:bodyPr wrap="none">
            <a:spAutoFit/>
          </a:bodyPr>
          <a:lstStyle/>
          <a:p>
            <a:pPr algn="ctr" eaLnBrk="0" hangingPunct="0"/>
            <a:r>
              <a:rPr lang="en-US" altLang="zh-CN" sz="2400" b="1">
                <a:solidFill>
                  <a:schemeClr val="bg1"/>
                </a:solidFill>
                <a:ea typeface="宋体" charset="-122"/>
              </a:rPr>
              <a:t>3</a:t>
            </a:r>
          </a:p>
        </p:txBody>
      </p:sp>
      <p:sp>
        <p:nvSpPr>
          <p:cNvPr id="30731" name="Line 11"/>
          <p:cNvSpPr>
            <a:spLocks noChangeShapeType="1"/>
          </p:cNvSpPr>
          <p:nvPr/>
        </p:nvSpPr>
        <p:spPr bwMode="gray">
          <a:xfrm>
            <a:off x="1252538" y="4470683"/>
            <a:ext cx="6167437" cy="7938"/>
          </a:xfrm>
          <a:prstGeom prst="line">
            <a:avLst/>
          </a:prstGeom>
          <a:noFill/>
          <a:ln w="25400">
            <a:solidFill>
              <a:srgbClr val="C0C0C0"/>
            </a:solidFill>
            <a:prstDash val="sysDot"/>
            <a:round/>
            <a:headEnd/>
            <a:tailEnd type="oval" w="med" len="med"/>
          </a:ln>
        </p:spPr>
        <p:txBody>
          <a:bodyPr wrap="none" anchor="ctr"/>
          <a:lstStyle/>
          <a:p>
            <a:endParaRPr lang="zh-CN" altLang="en-US"/>
          </a:p>
        </p:txBody>
      </p:sp>
      <p:sp>
        <p:nvSpPr>
          <p:cNvPr id="30732" name="Rectangle 12"/>
          <p:cNvSpPr>
            <a:spLocks noChangeArrowheads="1"/>
          </p:cNvSpPr>
          <p:nvPr/>
        </p:nvSpPr>
        <p:spPr bwMode="gray">
          <a:xfrm rot="3419336">
            <a:off x="987425" y="4933469"/>
            <a:ext cx="479425" cy="520700"/>
          </a:xfrm>
          <a:prstGeom prst="rect">
            <a:avLst/>
          </a:prstGeom>
          <a:solidFill>
            <a:srgbClr val="9369E7"/>
          </a:solidFill>
          <a:ln w="9525">
            <a:miter lim="800000"/>
            <a:headEnd/>
            <a:tailEnd/>
          </a:ln>
          <a:scene3d>
            <a:camera prst="legacyPerspectiveFront">
              <a:rot lat="0" lon="1500000" rev="0"/>
            </a:camera>
            <a:lightRig rig="legacyFlat4" dir="b"/>
          </a:scene3d>
          <a:sp3d extrusionH="430200" prstMaterial="legacyMatte">
            <a:bevelT w="13500" h="13500" prst="angle"/>
            <a:bevelB w="13500" h="13500" prst="angle"/>
            <a:extrusionClr>
              <a:srgbClr val="9369E7"/>
            </a:extrusionClr>
          </a:sp3d>
        </p:spPr>
        <p:txBody>
          <a:bodyPr wrap="none" anchor="ctr">
            <a:flatTx/>
          </a:bodyPr>
          <a:lstStyle/>
          <a:p>
            <a:endParaRPr lang="zh-CN" altLang="en-US"/>
          </a:p>
        </p:txBody>
      </p:sp>
      <p:sp>
        <p:nvSpPr>
          <p:cNvPr id="30733" name="Text Box 13"/>
          <p:cNvSpPr txBox="1">
            <a:spLocks noChangeArrowheads="1"/>
          </p:cNvSpPr>
          <p:nvPr/>
        </p:nvSpPr>
        <p:spPr bwMode="gray">
          <a:xfrm>
            <a:off x="1785938" y="4912381"/>
            <a:ext cx="5634036" cy="579438"/>
          </a:xfrm>
          <a:prstGeom prst="rect">
            <a:avLst/>
          </a:prstGeom>
          <a:noFill/>
          <a:ln w="9525" algn="ctr">
            <a:noFill/>
            <a:miter lim="800000"/>
            <a:headEnd/>
            <a:tailEnd/>
          </a:ln>
        </p:spPr>
        <p:txBody>
          <a:bodyPr wrap="square">
            <a:spAutoFit/>
          </a:bodyPr>
          <a:lstStyle/>
          <a:p>
            <a:pPr eaLnBrk="0" hangingPunct="0"/>
            <a:r>
              <a:rPr lang="zh-CN" altLang="en-US" sz="3200" dirty="0">
                <a:solidFill>
                  <a:srgbClr val="000000"/>
                </a:solidFill>
              </a:rPr>
              <a:t>计算机系统安全分析</a:t>
            </a:r>
            <a:endParaRPr lang="zh-CN" altLang="en-US" sz="3200" b="1" dirty="0">
              <a:solidFill>
                <a:srgbClr val="000000"/>
              </a:solidFill>
            </a:endParaRPr>
          </a:p>
        </p:txBody>
      </p:sp>
      <p:sp>
        <p:nvSpPr>
          <p:cNvPr id="30734" name="Text Box 14"/>
          <p:cNvSpPr txBox="1">
            <a:spLocks noChangeArrowheads="1"/>
          </p:cNvSpPr>
          <p:nvPr/>
        </p:nvSpPr>
        <p:spPr bwMode="gray">
          <a:xfrm>
            <a:off x="1041400" y="4974744"/>
            <a:ext cx="355600" cy="461962"/>
          </a:xfrm>
          <a:prstGeom prst="rect">
            <a:avLst/>
          </a:prstGeom>
          <a:noFill/>
          <a:ln w="9525" algn="ctr">
            <a:noFill/>
            <a:miter lim="800000"/>
            <a:headEnd/>
            <a:tailEnd/>
          </a:ln>
        </p:spPr>
        <p:txBody>
          <a:bodyPr wrap="none">
            <a:spAutoFit/>
          </a:bodyPr>
          <a:lstStyle/>
          <a:p>
            <a:pPr algn="ctr" eaLnBrk="0" hangingPunct="0"/>
            <a:r>
              <a:rPr lang="en-US" altLang="zh-CN" sz="2400" b="1">
                <a:solidFill>
                  <a:schemeClr val="bg1"/>
                </a:solidFill>
                <a:ea typeface="宋体" charset="-122"/>
              </a:rPr>
              <a:t>4</a:t>
            </a:r>
          </a:p>
        </p:txBody>
      </p:sp>
      <p:sp>
        <p:nvSpPr>
          <p:cNvPr id="30735" name="Line 15"/>
          <p:cNvSpPr>
            <a:spLocks noChangeShapeType="1"/>
          </p:cNvSpPr>
          <p:nvPr/>
        </p:nvSpPr>
        <p:spPr bwMode="gray">
          <a:xfrm>
            <a:off x="1262063" y="5542619"/>
            <a:ext cx="6167437" cy="7938"/>
          </a:xfrm>
          <a:prstGeom prst="line">
            <a:avLst/>
          </a:prstGeom>
          <a:noFill/>
          <a:ln w="25400">
            <a:solidFill>
              <a:srgbClr val="C0C0C0"/>
            </a:solidFill>
            <a:prstDash val="sysDot"/>
            <a:round/>
            <a:headEnd/>
            <a:tailEnd type="oval" w="med" len="med"/>
          </a:ln>
        </p:spPr>
        <p:txBody>
          <a:bodyPr wrap="none" anchor="ctr"/>
          <a:lstStyle/>
          <a:p>
            <a:endParaRPr lang="zh-CN" altLang="en-US"/>
          </a:p>
        </p:txBody>
      </p:sp>
      <p:sp>
        <p:nvSpPr>
          <p:cNvPr id="30736" name="Rectangle 16"/>
          <p:cNvSpPr>
            <a:spLocks noChangeArrowheads="1"/>
          </p:cNvSpPr>
          <p:nvPr/>
        </p:nvSpPr>
        <p:spPr bwMode="gray">
          <a:xfrm rot="3419336">
            <a:off x="979487" y="1764832"/>
            <a:ext cx="479425" cy="520700"/>
          </a:xfrm>
          <a:prstGeom prst="rect">
            <a:avLst/>
          </a:prstGeom>
          <a:solidFill>
            <a:srgbClr val="669900"/>
          </a:solidFill>
          <a:ln w="9525">
            <a:miter lim="800000"/>
            <a:headEnd/>
            <a:tailEnd/>
          </a:ln>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p>
        </p:txBody>
      </p:sp>
      <p:sp>
        <p:nvSpPr>
          <p:cNvPr id="30737" name="Text Box 17"/>
          <p:cNvSpPr txBox="1">
            <a:spLocks noChangeArrowheads="1"/>
          </p:cNvSpPr>
          <p:nvPr/>
        </p:nvSpPr>
        <p:spPr bwMode="gray">
          <a:xfrm>
            <a:off x="1785937" y="1728319"/>
            <a:ext cx="5634037" cy="579438"/>
          </a:xfrm>
          <a:prstGeom prst="rect">
            <a:avLst/>
          </a:prstGeom>
          <a:solidFill>
            <a:srgbClr val="FF6600"/>
          </a:solidFill>
          <a:ln w="9525" algn="ctr">
            <a:noFill/>
            <a:miter lim="800000"/>
            <a:headEnd/>
            <a:tailEnd/>
          </a:ln>
        </p:spPr>
        <p:txBody>
          <a:bodyPr wrap="square">
            <a:spAutoFit/>
          </a:bodyPr>
          <a:lstStyle/>
          <a:p>
            <a:pPr eaLnBrk="0" hangingPunct="0"/>
            <a:r>
              <a:rPr lang="zh-CN" altLang="en-US" sz="3200" dirty="0">
                <a:solidFill>
                  <a:srgbClr val="000000"/>
                </a:solidFill>
                <a:latin typeface="Times New Roman" panose="02020603050405020304" pitchFamily="18" charset="0"/>
                <a:ea typeface="黑体" panose="02010609060101010101" pitchFamily="49" charset="-122"/>
              </a:rPr>
              <a:t>计算机网络概述</a:t>
            </a:r>
            <a:endParaRPr lang="zh-CN" altLang="en-US" sz="3200" b="1" dirty="0">
              <a:solidFill>
                <a:srgbClr val="000000"/>
              </a:solidFill>
              <a:latin typeface="Times New Roman" panose="02020603050405020304" pitchFamily="18" charset="0"/>
              <a:ea typeface="黑体" panose="02010609060101010101" pitchFamily="49" charset="-122"/>
            </a:endParaRPr>
          </a:p>
        </p:txBody>
      </p:sp>
      <p:sp>
        <p:nvSpPr>
          <p:cNvPr id="30738" name="Text Box 18"/>
          <p:cNvSpPr txBox="1">
            <a:spLocks noChangeArrowheads="1"/>
          </p:cNvSpPr>
          <p:nvPr/>
        </p:nvSpPr>
        <p:spPr bwMode="gray">
          <a:xfrm>
            <a:off x="1057275" y="1796582"/>
            <a:ext cx="354013" cy="457200"/>
          </a:xfrm>
          <a:prstGeom prst="rect">
            <a:avLst/>
          </a:prstGeom>
          <a:noFill/>
          <a:ln w="9525" algn="ctr">
            <a:noFill/>
            <a:miter lim="800000"/>
            <a:headEnd/>
            <a:tailEnd/>
          </a:ln>
        </p:spPr>
        <p:txBody>
          <a:bodyPr wrap="none">
            <a:spAutoFit/>
          </a:bodyPr>
          <a:lstStyle/>
          <a:p>
            <a:pPr algn="ctr" eaLnBrk="0" hangingPunct="0"/>
            <a:r>
              <a:rPr lang="en-US" altLang="zh-CN" sz="2400" b="1">
                <a:solidFill>
                  <a:schemeClr val="bg1"/>
                </a:solidFill>
                <a:ea typeface="宋体" charset="-122"/>
              </a:rPr>
              <a:t>1</a:t>
            </a:r>
          </a:p>
        </p:txBody>
      </p:sp>
      <p:sp>
        <p:nvSpPr>
          <p:cNvPr id="30739" name="Line 19"/>
          <p:cNvSpPr>
            <a:spLocks noChangeShapeType="1"/>
          </p:cNvSpPr>
          <p:nvPr/>
        </p:nvSpPr>
        <p:spPr bwMode="gray">
          <a:xfrm>
            <a:off x="1252538" y="2386467"/>
            <a:ext cx="6167437" cy="7938"/>
          </a:xfrm>
          <a:prstGeom prst="line">
            <a:avLst/>
          </a:prstGeom>
          <a:noFill/>
          <a:ln w="25400">
            <a:solidFill>
              <a:srgbClr val="C0C0C0"/>
            </a:solidFill>
            <a:prstDash val="sysDot"/>
            <a:round/>
            <a:headEnd/>
            <a:tailEnd type="oval" w="med" len="med"/>
          </a:ln>
        </p:spPr>
        <p:txBody>
          <a:bodyPr wrap="none" anchor="ctr"/>
          <a:lstStyle/>
          <a:p>
            <a:endParaRPr lang="zh-CN" alt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64220" y="1475336"/>
            <a:ext cx="7772400" cy="4114800"/>
          </a:xfrm>
        </p:spPr>
        <p:txBody>
          <a:bodyPr/>
          <a:lstStyle/>
          <a:p>
            <a:r>
              <a:rPr lang="zh-CN" altLang="en-US" b="0" dirty="0"/>
              <a:t>计算机网络：由</a:t>
            </a:r>
            <a:r>
              <a:rPr lang="zh-CN" altLang="en-US" b="0" dirty="0">
                <a:solidFill>
                  <a:srgbClr val="FF0000"/>
                </a:solidFill>
              </a:rPr>
              <a:t>通信信道</a:t>
            </a:r>
            <a:r>
              <a:rPr lang="zh-CN" altLang="en-US" b="0" dirty="0"/>
              <a:t>连接的</a:t>
            </a:r>
            <a:r>
              <a:rPr lang="zh-CN" altLang="en-US" b="0" dirty="0">
                <a:solidFill>
                  <a:srgbClr val="FF0000"/>
                </a:solidFill>
              </a:rPr>
              <a:t>主机</a:t>
            </a:r>
            <a:r>
              <a:rPr lang="zh-CN" altLang="en-US" b="0" dirty="0"/>
              <a:t>和</a:t>
            </a:r>
            <a:r>
              <a:rPr lang="zh-CN" altLang="en-US" b="0" dirty="0">
                <a:solidFill>
                  <a:srgbClr val="FF0000"/>
                </a:solidFill>
              </a:rPr>
              <a:t>网络设备</a:t>
            </a:r>
            <a:r>
              <a:rPr lang="zh-CN" altLang="en-US" b="0" dirty="0"/>
              <a:t>的集合，以方便用户共享资源和相互通信</a:t>
            </a:r>
            <a:endParaRPr lang="en-US" altLang="zh-CN" b="0" dirty="0"/>
          </a:p>
          <a:p>
            <a:pPr lvl="1"/>
            <a:r>
              <a:rPr lang="zh-CN" altLang="en-US" b="0" dirty="0"/>
              <a:t>主机：计算机和非计算机设备</a:t>
            </a:r>
            <a:endParaRPr lang="en-US" altLang="zh-CN" b="0" dirty="0"/>
          </a:p>
          <a:p>
            <a:pPr lvl="1"/>
            <a:r>
              <a:rPr lang="zh-CN" altLang="en-US" b="0" dirty="0"/>
              <a:t>信道：有线与无线</a:t>
            </a:r>
            <a:endParaRPr lang="en-US" altLang="zh-CN" b="0" dirty="0"/>
          </a:p>
          <a:p>
            <a:pPr lvl="1"/>
            <a:r>
              <a:rPr lang="zh-CN" altLang="en-US" b="0" dirty="0"/>
              <a:t>网络设备：集线器、交换机、路由器等</a:t>
            </a:r>
          </a:p>
        </p:txBody>
      </p:sp>
      <p:sp>
        <p:nvSpPr>
          <p:cNvPr id="3" name="标题 2"/>
          <p:cNvSpPr>
            <a:spLocks noGrp="1"/>
          </p:cNvSpPr>
          <p:nvPr>
            <p:ph type="title"/>
          </p:nvPr>
        </p:nvSpPr>
        <p:spPr/>
        <p:txBody>
          <a:bodyPr/>
          <a:lstStyle/>
          <a:p>
            <a:r>
              <a:rPr lang="zh-CN" altLang="en-US" dirty="0"/>
              <a:t>计算机网络</a:t>
            </a:r>
          </a:p>
        </p:txBody>
      </p:sp>
    </p:spTree>
    <p:extLst>
      <p:ext uri="{BB962C8B-B14F-4D97-AF65-F5344CB8AC3E}">
        <p14:creationId xmlns:p14="http://schemas.microsoft.com/office/powerpoint/2010/main" val="25054759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64220" y="1475336"/>
            <a:ext cx="7772400" cy="4114800"/>
          </a:xfrm>
        </p:spPr>
        <p:txBody>
          <a:bodyPr/>
          <a:lstStyle/>
          <a:p>
            <a:r>
              <a:rPr lang="zh-CN" altLang="en-US" b="0" dirty="0"/>
              <a:t>计算机网络：由</a:t>
            </a:r>
            <a:r>
              <a:rPr lang="zh-CN" altLang="en-US" b="0" dirty="0">
                <a:solidFill>
                  <a:srgbClr val="FF0000"/>
                </a:solidFill>
              </a:rPr>
              <a:t>通信信道</a:t>
            </a:r>
            <a:r>
              <a:rPr lang="zh-CN" altLang="en-US" b="0" dirty="0"/>
              <a:t>连接的</a:t>
            </a:r>
            <a:r>
              <a:rPr lang="zh-CN" altLang="en-US" b="0" dirty="0">
                <a:solidFill>
                  <a:srgbClr val="FF0000"/>
                </a:solidFill>
              </a:rPr>
              <a:t>主机</a:t>
            </a:r>
            <a:r>
              <a:rPr lang="zh-CN" altLang="en-US" b="0" dirty="0"/>
              <a:t>和</a:t>
            </a:r>
            <a:r>
              <a:rPr lang="zh-CN" altLang="en-US" b="0" dirty="0">
                <a:solidFill>
                  <a:srgbClr val="FF0000"/>
                </a:solidFill>
              </a:rPr>
              <a:t>网络设备</a:t>
            </a:r>
            <a:r>
              <a:rPr lang="zh-CN" altLang="en-US" b="0" dirty="0"/>
              <a:t>的集合，以方便用户共享资源和相互通信</a:t>
            </a:r>
            <a:endParaRPr lang="en-US" altLang="zh-CN" b="0" dirty="0"/>
          </a:p>
          <a:p>
            <a:pPr lvl="1"/>
            <a:r>
              <a:rPr lang="zh-CN" altLang="en-US" b="0" dirty="0"/>
              <a:t>互联网（</a:t>
            </a:r>
            <a:r>
              <a:rPr lang="en-US" altLang="zh-CN" dirty="0"/>
              <a:t>internet</a:t>
            </a:r>
            <a:r>
              <a:rPr lang="zh-CN" altLang="zh-CN" dirty="0"/>
              <a:t>或</a:t>
            </a:r>
            <a:r>
              <a:rPr lang="en-US" altLang="zh-CN" dirty="0"/>
              <a:t>internetwork</a:t>
            </a:r>
            <a:r>
              <a:rPr lang="zh-CN" altLang="en-US" b="0" dirty="0"/>
              <a:t>）</a:t>
            </a:r>
            <a:endParaRPr lang="en-US" altLang="zh-CN" b="0" dirty="0"/>
          </a:p>
          <a:p>
            <a:pPr lvl="1"/>
            <a:r>
              <a:rPr lang="zh-CN" altLang="en-US" b="0" dirty="0"/>
              <a:t>因特网（</a:t>
            </a:r>
            <a:r>
              <a:rPr lang="en-US" altLang="zh-CN" b="0" dirty="0"/>
              <a:t>Internet</a:t>
            </a:r>
            <a:r>
              <a:rPr lang="zh-CN" altLang="en-US" b="0" dirty="0"/>
              <a:t>）</a:t>
            </a:r>
          </a:p>
        </p:txBody>
      </p:sp>
      <p:sp>
        <p:nvSpPr>
          <p:cNvPr id="3" name="标题 2"/>
          <p:cNvSpPr>
            <a:spLocks noGrp="1"/>
          </p:cNvSpPr>
          <p:nvPr>
            <p:ph type="title"/>
          </p:nvPr>
        </p:nvSpPr>
        <p:spPr/>
        <p:txBody>
          <a:bodyPr/>
          <a:lstStyle/>
          <a:p>
            <a:r>
              <a:rPr lang="zh-CN" altLang="en-US" dirty="0"/>
              <a:t>计算机网络</a:t>
            </a:r>
          </a:p>
        </p:txBody>
      </p:sp>
    </p:spTree>
    <p:extLst>
      <p:ext uri="{BB962C8B-B14F-4D97-AF65-F5344CB8AC3E}">
        <p14:creationId xmlns:p14="http://schemas.microsoft.com/office/powerpoint/2010/main" val="25019892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zh-CN" b="0" dirty="0"/>
              <a:t>因特网</a:t>
            </a:r>
            <a:r>
              <a:rPr lang="zh-CN" altLang="en-US" b="0" dirty="0"/>
              <a:t>：</a:t>
            </a:r>
            <a:r>
              <a:rPr lang="zh-CN" altLang="zh-CN" b="0" dirty="0"/>
              <a:t>多层次</a:t>
            </a:r>
            <a:r>
              <a:rPr lang="en-US" altLang="zh-CN" b="0" dirty="0"/>
              <a:t>ISP</a:t>
            </a:r>
            <a:r>
              <a:rPr lang="zh-CN" altLang="zh-CN" b="0" dirty="0"/>
              <a:t>结构的网络</a:t>
            </a:r>
            <a:endParaRPr lang="zh-CN" altLang="en-US" b="0" dirty="0"/>
          </a:p>
        </p:txBody>
      </p:sp>
      <p:sp>
        <p:nvSpPr>
          <p:cNvPr id="3" name="标题 2"/>
          <p:cNvSpPr>
            <a:spLocks noGrp="1"/>
          </p:cNvSpPr>
          <p:nvPr>
            <p:ph type="title"/>
          </p:nvPr>
        </p:nvSpPr>
        <p:spPr/>
        <p:txBody>
          <a:bodyPr/>
          <a:lstStyle/>
          <a:p>
            <a:r>
              <a:rPr lang="zh-CN" altLang="en-US" dirty="0"/>
              <a:t>计算机网络结构和组成</a:t>
            </a:r>
          </a:p>
        </p:txBody>
      </p:sp>
    </p:spTree>
    <p:extLst>
      <p:ext uri="{BB962C8B-B14F-4D97-AF65-F5344CB8AC3E}">
        <p14:creationId xmlns:p14="http://schemas.microsoft.com/office/powerpoint/2010/main" val="3171744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endParaRPr lang="zh-CN" altLang="en-US"/>
          </a:p>
        </p:txBody>
      </p:sp>
      <p:sp>
        <p:nvSpPr>
          <p:cNvPr id="4" name="矩形 3"/>
          <p:cNvSpPr/>
          <p:nvPr/>
        </p:nvSpPr>
        <p:spPr bwMode="auto">
          <a:xfrm>
            <a:off x="0" y="0"/>
            <a:ext cx="9144000" cy="6731876"/>
          </a:xfrm>
          <a:prstGeom prst="rect">
            <a:avLst/>
          </a:prstGeom>
          <a:solidFill>
            <a:schemeClr val="bg1"/>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a:ln>
                <a:noFill/>
              </a:ln>
              <a:solidFill>
                <a:schemeClr val="tx1"/>
              </a:solidFill>
              <a:effectLst/>
              <a:latin typeface="Tahoma" pitchFamily="34" charset="0"/>
              <a:ea typeface="宋体" charset="-122"/>
            </a:endParaRPr>
          </a:p>
        </p:txBody>
      </p:sp>
      <p:grpSp>
        <p:nvGrpSpPr>
          <p:cNvPr id="5" name="组合 4"/>
          <p:cNvGrpSpPr/>
          <p:nvPr/>
        </p:nvGrpSpPr>
        <p:grpSpPr>
          <a:xfrm>
            <a:off x="274638" y="356822"/>
            <a:ext cx="8540750" cy="6018231"/>
            <a:chOff x="395288" y="53975"/>
            <a:chExt cx="8540750" cy="6018231"/>
          </a:xfrm>
        </p:grpSpPr>
        <p:grpSp>
          <p:nvGrpSpPr>
            <p:cNvPr id="6" name="组合 5"/>
            <p:cNvGrpSpPr/>
            <p:nvPr/>
          </p:nvGrpSpPr>
          <p:grpSpPr>
            <a:xfrm>
              <a:off x="395288" y="53975"/>
              <a:ext cx="8540750" cy="6018231"/>
              <a:chOff x="395288" y="53975"/>
              <a:chExt cx="8540750" cy="6018231"/>
            </a:xfrm>
          </p:grpSpPr>
          <p:sp>
            <p:nvSpPr>
              <p:cNvPr id="8" name="Oval 120"/>
              <p:cNvSpPr>
                <a:spLocks noChangeArrowheads="1"/>
              </p:cNvSpPr>
              <p:nvPr/>
            </p:nvSpPr>
            <p:spPr bwMode="auto">
              <a:xfrm>
                <a:off x="395288" y="53975"/>
                <a:ext cx="8540750" cy="4989513"/>
              </a:xfrm>
              <a:prstGeom prst="ellipse">
                <a:avLst/>
              </a:prstGeom>
              <a:noFill/>
              <a:ln w="9525">
                <a:solidFill>
                  <a:schemeClr val="tx1"/>
                </a:solidFill>
                <a:prstDash val="dash"/>
                <a:round/>
                <a:headEnd/>
                <a:tailEnd/>
              </a:ln>
              <a:effectLst/>
            </p:spPr>
            <p:txBody>
              <a:bodyPr wrap="none" anchor="ctr"/>
              <a:lstStyle/>
              <a:p>
                <a:pPr algn="ctr"/>
                <a:endParaRPr lang="zh-CN" altLang="zh-CN" sz="1600"/>
              </a:p>
            </p:txBody>
          </p:sp>
          <p:sp>
            <p:nvSpPr>
              <p:cNvPr id="9" name="Oval 4"/>
              <p:cNvSpPr>
                <a:spLocks noChangeArrowheads="1"/>
              </p:cNvSpPr>
              <p:nvPr/>
            </p:nvSpPr>
            <p:spPr bwMode="auto">
              <a:xfrm>
                <a:off x="1403350" y="623888"/>
                <a:ext cx="6313488" cy="3667125"/>
              </a:xfrm>
              <a:prstGeom prst="ellipse">
                <a:avLst/>
              </a:prstGeom>
              <a:noFill/>
              <a:ln w="9525">
                <a:solidFill>
                  <a:schemeClr val="tx1"/>
                </a:solidFill>
                <a:prstDash val="dash"/>
                <a:round/>
                <a:headEnd/>
                <a:tailEnd/>
              </a:ln>
            </p:spPr>
            <p:txBody>
              <a:bodyPr wrap="none" anchor="ctr"/>
              <a:lstStyle/>
              <a:p>
                <a:endParaRPr lang="zh-CN" altLang="en-US" sz="1600"/>
              </a:p>
            </p:txBody>
          </p:sp>
          <p:sp>
            <p:nvSpPr>
              <p:cNvPr id="10" name="Oval 5"/>
              <p:cNvSpPr>
                <a:spLocks noChangeArrowheads="1"/>
              </p:cNvSpPr>
              <p:nvPr/>
            </p:nvSpPr>
            <p:spPr bwMode="auto">
              <a:xfrm>
                <a:off x="2555875" y="1268413"/>
                <a:ext cx="3816350" cy="2303462"/>
              </a:xfrm>
              <a:prstGeom prst="ellipse">
                <a:avLst/>
              </a:prstGeom>
              <a:noFill/>
              <a:ln w="9525">
                <a:solidFill>
                  <a:schemeClr val="tx1"/>
                </a:solidFill>
                <a:prstDash val="dash"/>
                <a:round/>
                <a:headEnd/>
                <a:tailEnd/>
              </a:ln>
            </p:spPr>
            <p:txBody>
              <a:bodyPr wrap="none" anchor="ctr"/>
              <a:lstStyle/>
              <a:p>
                <a:endParaRPr lang="zh-CN" altLang="en-US" sz="1600"/>
              </a:p>
            </p:txBody>
          </p:sp>
          <p:sp>
            <p:nvSpPr>
              <p:cNvPr id="11" name="Line 7"/>
              <p:cNvSpPr>
                <a:spLocks noChangeShapeType="1"/>
              </p:cNvSpPr>
              <p:nvPr/>
            </p:nvSpPr>
            <p:spPr bwMode="auto">
              <a:xfrm flipV="1">
                <a:off x="4572000" y="2132013"/>
                <a:ext cx="647700" cy="503237"/>
              </a:xfrm>
              <a:prstGeom prst="line">
                <a:avLst/>
              </a:prstGeom>
              <a:noFill/>
              <a:ln w="28575">
                <a:solidFill>
                  <a:schemeClr val="tx1"/>
                </a:solidFill>
                <a:round/>
                <a:headEnd/>
                <a:tailEnd/>
              </a:ln>
            </p:spPr>
            <p:txBody>
              <a:bodyPr/>
              <a:lstStyle/>
              <a:p>
                <a:endParaRPr lang="zh-CN" altLang="en-US" sz="1600"/>
              </a:p>
            </p:txBody>
          </p:sp>
          <p:sp>
            <p:nvSpPr>
              <p:cNvPr id="12" name="Line 9"/>
              <p:cNvSpPr>
                <a:spLocks noChangeShapeType="1"/>
              </p:cNvSpPr>
              <p:nvPr/>
            </p:nvSpPr>
            <p:spPr bwMode="auto">
              <a:xfrm flipH="1" flipV="1">
                <a:off x="6553200" y="4376738"/>
                <a:ext cx="1763713" cy="779462"/>
              </a:xfrm>
              <a:prstGeom prst="line">
                <a:avLst/>
              </a:prstGeom>
              <a:noFill/>
              <a:ln w="9525">
                <a:solidFill>
                  <a:schemeClr val="tx1"/>
                </a:solidFill>
                <a:round/>
                <a:headEnd/>
                <a:tailEnd/>
              </a:ln>
            </p:spPr>
            <p:txBody>
              <a:bodyPr/>
              <a:lstStyle/>
              <a:p>
                <a:endParaRPr lang="zh-CN" altLang="en-US" sz="1600"/>
              </a:p>
            </p:txBody>
          </p:sp>
          <p:sp>
            <p:nvSpPr>
              <p:cNvPr id="13" name="Line 10"/>
              <p:cNvSpPr>
                <a:spLocks noChangeShapeType="1"/>
              </p:cNvSpPr>
              <p:nvPr/>
            </p:nvSpPr>
            <p:spPr bwMode="auto">
              <a:xfrm>
                <a:off x="2362200" y="4300538"/>
                <a:ext cx="193675" cy="855662"/>
              </a:xfrm>
              <a:prstGeom prst="line">
                <a:avLst/>
              </a:prstGeom>
              <a:noFill/>
              <a:ln w="9525">
                <a:solidFill>
                  <a:schemeClr val="tx1"/>
                </a:solidFill>
                <a:round/>
                <a:headEnd/>
                <a:tailEnd/>
              </a:ln>
            </p:spPr>
            <p:txBody>
              <a:bodyPr/>
              <a:lstStyle/>
              <a:p>
                <a:endParaRPr lang="zh-CN" altLang="en-US" sz="1600"/>
              </a:p>
            </p:txBody>
          </p:sp>
          <p:sp>
            <p:nvSpPr>
              <p:cNvPr id="14" name="Line 11"/>
              <p:cNvSpPr>
                <a:spLocks noChangeShapeType="1"/>
              </p:cNvSpPr>
              <p:nvPr/>
            </p:nvSpPr>
            <p:spPr bwMode="auto">
              <a:xfrm>
                <a:off x="3429000" y="4376738"/>
                <a:ext cx="350838" cy="923925"/>
              </a:xfrm>
              <a:prstGeom prst="line">
                <a:avLst/>
              </a:prstGeom>
              <a:noFill/>
              <a:ln w="9525">
                <a:solidFill>
                  <a:schemeClr val="tx1"/>
                </a:solidFill>
                <a:round/>
                <a:headEnd/>
                <a:tailEnd/>
              </a:ln>
            </p:spPr>
            <p:txBody>
              <a:bodyPr/>
              <a:lstStyle/>
              <a:p>
                <a:endParaRPr lang="zh-CN" altLang="en-US" sz="1600"/>
              </a:p>
            </p:txBody>
          </p:sp>
          <p:sp>
            <p:nvSpPr>
              <p:cNvPr id="15" name="Line 12"/>
              <p:cNvSpPr>
                <a:spLocks noChangeShapeType="1"/>
              </p:cNvSpPr>
              <p:nvPr/>
            </p:nvSpPr>
            <p:spPr bwMode="auto">
              <a:xfrm flipH="1">
                <a:off x="6084888" y="4376738"/>
                <a:ext cx="239712" cy="779462"/>
              </a:xfrm>
              <a:prstGeom prst="line">
                <a:avLst/>
              </a:prstGeom>
              <a:noFill/>
              <a:ln w="9525">
                <a:solidFill>
                  <a:schemeClr val="tx1"/>
                </a:solidFill>
                <a:round/>
                <a:headEnd/>
                <a:tailEnd/>
              </a:ln>
            </p:spPr>
            <p:txBody>
              <a:bodyPr/>
              <a:lstStyle/>
              <a:p>
                <a:endParaRPr lang="zh-CN" altLang="en-US" sz="1600"/>
              </a:p>
            </p:txBody>
          </p:sp>
          <p:sp>
            <p:nvSpPr>
              <p:cNvPr id="16" name="Line 13"/>
              <p:cNvSpPr>
                <a:spLocks noChangeShapeType="1"/>
              </p:cNvSpPr>
              <p:nvPr/>
            </p:nvSpPr>
            <p:spPr bwMode="auto">
              <a:xfrm>
                <a:off x="6477000" y="4376738"/>
                <a:ext cx="615950" cy="708025"/>
              </a:xfrm>
              <a:prstGeom prst="line">
                <a:avLst/>
              </a:prstGeom>
              <a:noFill/>
              <a:ln w="9525">
                <a:solidFill>
                  <a:schemeClr val="tx1"/>
                </a:solidFill>
                <a:round/>
                <a:headEnd/>
                <a:tailEnd/>
              </a:ln>
            </p:spPr>
            <p:txBody>
              <a:bodyPr/>
              <a:lstStyle/>
              <a:p>
                <a:endParaRPr lang="zh-CN" altLang="en-US" sz="1600"/>
              </a:p>
            </p:txBody>
          </p:sp>
          <p:sp>
            <p:nvSpPr>
              <p:cNvPr id="17" name="Line 14"/>
              <p:cNvSpPr>
                <a:spLocks noChangeShapeType="1"/>
              </p:cNvSpPr>
              <p:nvPr/>
            </p:nvSpPr>
            <p:spPr bwMode="auto">
              <a:xfrm>
                <a:off x="2916238" y="3787775"/>
                <a:ext cx="576262" cy="720725"/>
              </a:xfrm>
              <a:prstGeom prst="line">
                <a:avLst/>
              </a:prstGeom>
              <a:noFill/>
              <a:ln w="9525">
                <a:solidFill>
                  <a:schemeClr val="tx1"/>
                </a:solidFill>
                <a:round/>
                <a:headEnd/>
                <a:tailEnd/>
              </a:ln>
            </p:spPr>
            <p:txBody>
              <a:bodyPr/>
              <a:lstStyle/>
              <a:p>
                <a:endParaRPr lang="zh-CN" altLang="en-US" sz="1600"/>
              </a:p>
            </p:txBody>
          </p:sp>
          <p:sp>
            <p:nvSpPr>
              <p:cNvPr id="18" name="Line 15"/>
              <p:cNvSpPr>
                <a:spLocks noChangeShapeType="1"/>
              </p:cNvSpPr>
              <p:nvPr/>
            </p:nvSpPr>
            <p:spPr bwMode="auto">
              <a:xfrm flipH="1">
                <a:off x="2235200" y="3652838"/>
                <a:ext cx="635000" cy="520700"/>
              </a:xfrm>
              <a:prstGeom prst="line">
                <a:avLst/>
              </a:prstGeom>
              <a:noFill/>
              <a:ln w="9525">
                <a:solidFill>
                  <a:schemeClr val="tx1"/>
                </a:solidFill>
                <a:round/>
                <a:headEnd/>
                <a:tailEnd/>
              </a:ln>
            </p:spPr>
            <p:txBody>
              <a:bodyPr/>
              <a:lstStyle/>
              <a:p>
                <a:endParaRPr lang="zh-CN" altLang="en-US" sz="1600"/>
              </a:p>
            </p:txBody>
          </p:sp>
          <p:sp>
            <p:nvSpPr>
              <p:cNvPr id="19" name="Line 16"/>
              <p:cNvSpPr>
                <a:spLocks noChangeShapeType="1"/>
              </p:cNvSpPr>
              <p:nvPr/>
            </p:nvSpPr>
            <p:spPr bwMode="auto">
              <a:xfrm>
                <a:off x="6011863" y="2852738"/>
                <a:ext cx="936625" cy="142875"/>
              </a:xfrm>
              <a:prstGeom prst="line">
                <a:avLst/>
              </a:prstGeom>
              <a:noFill/>
              <a:ln w="9525">
                <a:solidFill>
                  <a:schemeClr val="tx1"/>
                </a:solidFill>
                <a:round/>
                <a:headEnd/>
                <a:tailEnd/>
              </a:ln>
            </p:spPr>
            <p:txBody>
              <a:bodyPr/>
              <a:lstStyle/>
              <a:p>
                <a:endParaRPr lang="zh-CN" altLang="en-US" sz="1600"/>
              </a:p>
            </p:txBody>
          </p:sp>
          <p:sp>
            <p:nvSpPr>
              <p:cNvPr id="20" name="Line 17"/>
              <p:cNvSpPr>
                <a:spLocks noChangeShapeType="1"/>
              </p:cNvSpPr>
              <p:nvPr/>
            </p:nvSpPr>
            <p:spPr bwMode="auto">
              <a:xfrm flipH="1" flipV="1">
                <a:off x="5891213" y="3690938"/>
                <a:ext cx="446087" cy="685800"/>
              </a:xfrm>
              <a:prstGeom prst="line">
                <a:avLst/>
              </a:prstGeom>
              <a:noFill/>
              <a:ln w="9525">
                <a:solidFill>
                  <a:schemeClr val="tx1"/>
                </a:solidFill>
                <a:round/>
                <a:headEnd/>
                <a:tailEnd/>
              </a:ln>
            </p:spPr>
            <p:txBody>
              <a:bodyPr/>
              <a:lstStyle/>
              <a:p>
                <a:endParaRPr lang="zh-CN" altLang="en-US" sz="1600"/>
              </a:p>
            </p:txBody>
          </p:sp>
          <p:sp>
            <p:nvSpPr>
              <p:cNvPr id="21" name="Line 18"/>
              <p:cNvSpPr>
                <a:spLocks noChangeShapeType="1"/>
              </p:cNvSpPr>
              <p:nvPr/>
            </p:nvSpPr>
            <p:spPr bwMode="auto">
              <a:xfrm flipV="1">
                <a:off x="5076825" y="3690938"/>
                <a:ext cx="714375" cy="889000"/>
              </a:xfrm>
              <a:prstGeom prst="line">
                <a:avLst/>
              </a:prstGeom>
              <a:noFill/>
              <a:ln w="9525">
                <a:solidFill>
                  <a:schemeClr val="tx1"/>
                </a:solidFill>
                <a:round/>
                <a:headEnd/>
                <a:tailEnd/>
              </a:ln>
            </p:spPr>
            <p:txBody>
              <a:bodyPr/>
              <a:lstStyle/>
              <a:p>
                <a:endParaRPr lang="zh-CN" altLang="en-US" sz="1600"/>
              </a:p>
            </p:txBody>
          </p:sp>
          <p:sp>
            <p:nvSpPr>
              <p:cNvPr id="22" name="Line 19"/>
              <p:cNvSpPr>
                <a:spLocks noChangeShapeType="1"/>
              </p:cNvSpPr>
              <p:nvPr/>
            </p:nvSpPr>
            <p:spPr bwMode="auto">
              <a:xfrm>
                <a:off x="2627313" y="1701800"/>
                <a:ext cx="647700" cy="142875"/>
              </a:xfrm>
              <a:prstGeom prst="line">
                <a:avLst/>
              </a:prstGeom>
              <a:noFill/>
              <a:ln w="9525">
                <a:solidFill>
                  <a:schemeClr val="tx1"/>
                </a:solidFill>
                <a:round/>
                <a:headEnd/>
                <a:tailEnd/>
              </a:ln>
            </p:spPr>
            <p:txBody>
              <a:bodyPr/>
              <a:lstStyle/>
              <a:p>
                <a:endParaRPr lang="zh-CN" altLang="en-US" sz="1600"/>
              </a:p>
            </p:txBody>
          </p:sp>
          <p:sp>
            <p:nvSpPr>
              <p:cNvPr id="23" name="Line 20"/>
              <p:cNvSpPr>
                <a:spLocks noChangeShapeType="1"/>
              </p:cNvSpPr>
              <p:nvPr/>
            </p:nvSpPr>
            <p:spPr bwMode="auto">
              <a:xfrm flipH="1">
                <a:off x="5437188" y="1341438"/>
                <a:ext cx="647700" cy="503237"/>
              </a:xfrm>
              <a:prstGeom prst="line">
                <a:avLst/>
              </a:prstGeom>
              <a:noFill/>
              <a:ln w="9525">
                <a:solidFill>
                  <a:schemeClr val="tx1"/>
                </a:solidFill>
                <a:round/>
                <a:headEnd/>
                <a:tailEnd/>
              </a:ln>
            </p:spPr>
            <p:txBody>
              <a:bodyPr/>
              <a:lstStyle/>
              <a:p>
                <a:endParaRPr lang="zh-CN" altLang="en-US" sz="1600"/>
              </a:p>
            </p:txBody>
          </p:sp>
          <p:sp>
            <p:nvSpPr>
              <p:cNvPr id="24" name="Line 21"/>
              <p:cNvSpPr>
                <a:spLocks noChangeShapeType="1"/>
              </p:cNvSpPr>
              <p:nvPr/>
            </p:nvSpPr>
            <p:spPr bwMode="auto">
              <a:xfrm flipH="1">
                <a:off x="5894388" y="2132013"/>
                <a:ext cx="838200" cy="720725"/>
              </a:xfrm>
              <a:prstGeom prst="line">
                <a:avLst/>
              </a:prstGeom>
              <a:noFill/>
              <a:ln w="9525">
                <a:solidFill>
                  <a:schemeClr val="tx1"/>
                </a:solidFill>
                <a:round/>
                <a:headEnd/>
                <a:tailEnd/>
              </a:ln>
            </p:spPr>
            <p:txBody>
              <a:bodyPr/>
              <a:lstStyle/>
              <a:p>
                <a:endParaRPr lang="zh-CN" altLang="en-US" sz="1600"/>
              </a:p>
            </p:txBody>
          </p:sp>
          <p:sp>
            <p:nvSpPr>
              <p:cNvPr id="25" name="Line 22"/>
              <p:cNvSpPr>
                <a:spLocks noChangeShapeType="1"/>
              </p:cNvSpPr>
              <p:nvPr/>
            </p:nvSpPr>
            <p:spPr bwMode="auto">
              <a:xfrm>
                <a:off x="3305175" y="2981325"/>
                <a:ext cx="1981205" cy="616269"/>
              </a:xfrm>
              <a:prstGeom prst="line">
                <a:avLst/>
              </a:prstGeom>
              <a:noFill/>
              <a:ln w="9525">
                <a:solidFill>
                  <a:schemeClr val="tx1"/>
                </a:solidFill>
                <a:round/>
                <a:headEnd/>
                <a:tailEnd/>
              </a:ln>
            </p:spPr>
            <p:txBody>
              <a:bodyPr/>
              <a:lstStyle/>
              <a:p>
                <a:endParaRPr lang="zh-CN" altLang="en-US" sz="1600"/>
              </a:p>
            </p:txBody>
          </p:sp>
          <p:sp>
            <p:nvSpPr>
              <p:cNvPr id="26" name="Line 24"/>
              <p:cNvSpPr>
                <a:spLocks noChangeShapeType="1"/>
              </p:cNvSpPr>
              <p:nvPr/>
            </p:nvSpPr>
            <p:spPr bwMode="auto">
              <a:xfrm>
                <a:off x="4786314" y="2819718"/>
                <a:ext cx="1073149" cy="45719"/>
              </a:xfrm>
              <a:prstGeom prst="line">
                <a:avLst/>
              </a:prstGeom>
              <a:noFill/>
              <a:ln w="9525">
                <a:solidFill>
                  <a:schemeClr val="tx1"/>
                </a:solidFill>
                <a:round/>
                <a:headEnd/>
                <a:tailEnd/>
              </a:ln>
            </p:spPr>
            <p:txBody>
              <a:bodyPr/>
              <a:lstStyle/>
              <a:p>
                <a:endParaRPr lang="zh-CN" altLang="en-US" sz="1600"/>
              </a:p>
            </p:txBody>
          </p:sp>
          <p:sp>
            <p:nvSpPr>
              <p:cNvPr id="27" name="Line 26"/>
              <p:cNvSpPr>
                <a:spLocks noChangeShapeType="1"/>
              </p:cNvSpPr>
              <p:nvPr/>
            </p:nvSpPr>
            <p:spPr bwMode="auto">
              <a:xfrm flipV="1">
                <a:off x="3162300" y="2779713"/>
                <a:ext cx="688975" cy="73025"/>
              </a:xfrm>
              <a:prstGeom prst="line">
                <a:avLst/>
              </a:prstGeom>
              <a:noFill/>
              <a:ln w="9525">
                <a:solidFill>
                  <a:schemeClr val="tx1"/>
                </a:solidFill>
                <a:round/>
                <a:headEnd/>
                <a:tailEnd/>
              </a:ln>
            </p:spPr>
            <p:txBody>
              <a:bodyPr/>
              <a:lstStyle/>
              <a:p>
                <a:endParaRPr lang="zh-CN" altLang="en-US" sz="1600"/>
              </a:p>
            </p:txBody>
          </p:sp>
          <p:sp>
            <p:nvSpPr>
              <p:cNvPr id="28" name="Line 28"/>
              <p:cNvSpPr>
                <a:spLocks noChangeShapeType="1"/>
              </p:cNvSpPr>
              <p:nvPr/>
            </p:nvSpPr>
            <p:spPr bwMode="auto">
              <a:xfrm>
                <a:off x="4356100" y="3211513"/>
                <a:ext cx="0" cy="576262"/>
              </a:xfrm>
              <a:prstGeom prst="line">
                <a:avLst/>
              </a:prstGeom>
              <a:noFill/>
              <a:ln w="9525">
                <a:solidFill>
                  <a:schemeClr val="tx1"/>
                </a:solidFill>
                <a:round/>
                <a:headEnd/>
                <a:tailEnd/>
              </a:ln>
            </p:spPr>
            <p:txBody>
              <a:bodyPr/>
              <a:lstStyle/>
              <a:p>
                <a:endParaRPr lang="zh-CN" altLang="en-US" sz="1600"/>
              </a:p>
            </p:txBody>
          </p:sp>
          <p:sp>
            <p:nvSpPr>
              <p:cNvPr id="29" name="Line 29"/>
              <p:cNvSpPr>
                <a:spLocks noChangeShapeType="1"/>
              </p:cNvSpPr>
              <p:nvPr/>
            </p:nvSpPr>
            <p:spPr bwMode="auto">
              <a:xfrm flipV="1">
                <a:off x="1187450" y="4300538"/>
                <a:ext cx="946150" cy="855662"/>
              </a:xfrm>
              <a:prstGeom prst="line">
                <a:avLst/>
              </a:prstGeom>
              <a:noFill/>
              <a:ln w="9525">
                <a:solidFill>
                  <a:schemeClr val="tx1"/>
                </a:solidFill>
                <a:round/>
                <a:headEnd/>
                <a:tailEnd/>
              </a:ln>
            </p:spPr>
            <p:txBody>
              <a:bodyPr/>
              <a:lstStyle/>
              <a:p>
                <a:endParaRPr lang="zh-CN" altLang="en-US" sz="1600"/>
              </a:p>
            </p:txBody>
          </p:sp>
          <p:sp>
            <p:nvSpPr>
              <p:cNvPr id="30" name="Line 30"/>
              <p:cNvSpPr>
                <a:spLocks noChangeShapeType="1"/>
              </p:cNvSpPr>
              <p:nvPr/>
            </p:nvSpPr>
            <p:spPr bwMode="auto">
              <a:xfrm flipH="1">
                <a:off x="2971800" y="2878138"/>
                <a:ext cx="114300" cy="660400"/>
              </a:xfrm>
              <a:prstGeom prst="line">
                <a:avLst/>
              </a:prstGeom>
              <a:noFill/>
              <a:ln w="9525">
                <a:solidFill>
                  <a:schemeClr val="tx1"/>
                </a:solidFill>
                <a:round/>
                <a:headEnd/>
                <a:tailEnd/>
              </a:ln>
            </p:spPr>
            <p:txBody>
              <a:bodyPr/>
              <a:lstStyle/>
              <a:p>
                <a:endParaRPr lang="zh-CN" altLang="en-US" sz="1600"/>
              </a:p>
            </p:txBody>
          </p:sp>
          <p:sp>
            <p:nvSpPr>
              <p:cNvPr id="31" name="Oval 32"/>
              <p:cNvSpPr>
                <a:spLocks noChangeArrowheads="1"/>
              </p:cNvSpPr>
              <p:nvPr/>
            </p:nvSpPr>
            <p:spPr bwMode="auto">
              <a:xfrm>
                <a:off x="3714744" y="2500306"/>
                <a:ext cx="1079500" cy="685800"/>
              </a:xfrm>
              <a:prstGeom prst="ellipse">
                <a:avLst/>
              </a:prstGeom>
              <a:solidFill>
                <a:srgbClr val="EAEAEA"/>
              </a:solidFill>
              <a:ln w="19050">
                <a:solidFill>
                  <a:schemeClr val="tx1"/>
                </a:solidFill>
                <a:round/>
                <a:headEnd/>
                <a:tailEnd/>
              </a:ln>
              <a:effectLst>
                <a:outerShdw dist="35921" dir="2700000" algn="ctr" rotWithShape="0">
                  <a:schemeClr val="bg2"/>
                </a:outerShdw>
              </a:effectLst>
            </p:spPr>
            <p:txBody>
              <a:bodyPr wrap="none" anchor="ctr"/>
              <a:lstStyle/>
              <a:p>
                <a:pPr algn="ctr">
                  <a:defRPr/>
                </a:pPr>
                <a:r>
                  <a:rPr kumimoji="1" lang="zh-CN" altLang="en-US" sz="1600">
                    <a:latin typeface="Times New Roman" pitchFamily="18" charset="0"/>
                    <a:ea typeface="宋体" pitchFamily="2" charset="-122"/>
                  </a:rPr>
                  <a:t>第一层 </a:t>
                </a:r>
                <a:r>
                  <a:rPr kumimoji="1" lang="en-US" altLang="zh-CN" sz="1600">
                    <a:latin typeface="Times New Roman" pitchFamily="18" charset="0"/>
                    <a:ea typeface="宋体" pitchFamily="2" charset="-122"/>
                  </a:rPr>
                  <a:t>ISP</a:t>
                </a:r>
              </a:p>
            </p:txBody>
          </p:sp>
          <p:sp>
            <p:nvSpPr>
              <p:cNvPr id="32" name="Oval 33"/>
              <p:cNvSpPr>
                <a:spLocks noChangeArrowheads="1"/>
              </p:cNvSpPr>
              <p:nvPr/>
            </p:nvSpPr>
            <p:spPr bwMode="auto">
              <a:xfrm>
                <a:off x="3851275" y="3714752"/>
                <a:ext cx="965200" cy="504823"/>
              </a:xfrm>
              <a:prstGeom prst="ellipse">
                <a:avLst/>
              </a:prstGeom>
              <a:solidFill>
                <a:schemeClr val="bg1"/>
              </a:solidFill>
              <a:ln w="9525">
                <a:solidFill>
                  <a:schemeClr val="tx1"/>
                </a:solidFill>
                <a:round/>
                <a:headEnd/>
                <a:tailEnd/>
              </a:ln>
              <a:effectLst>
                <a:outerShdw dist="35921" dir="2700000" algn="ctr" rotWithShape="0">
                  <a:schemeClr val="bg2"/>
                </a:outerShdw>
              </a:effectLst>
            </p:spPr>
            <p:txBody>
              <a:bodyPr wrap="none" anchor="ctr"/>
              <a:lstStyle/>
              <a:p>
                <a:pPr algn="ctr">
                  <a:defRPr/>
                </a:pPr>
                <a:r>
                  <a:rPr kumimoji="1" lang="zh-CN" altLang="en-US" sz="1600" dirty="0">
                    <a:latin typeface="Times New Roman" pitchFamily="18" charset="0"/>
                    <a:ea typeface="宋体" pitchFamily="2" charset="-122"/>
                  </a:rPr>
                  <a:t>大公司</a:t>
                </a:r>
              </a:p>
            </p:txBody>
          </p:sp>
          <p:sp>
            <p:nvSpPr>
              <p:cNvPr id="33" name="Oval 34"/>
              <p:cNvSpPr>
                <a:spLocks noChangeArrowheads="1"/>
              </p:cNvSpPr>
              <p:nvPr/>
            </p:nvSpPr>
            <p:spPr bwMode="auto">
              <a:xfrm>
                <a:off x="1765300" y="4003675"/>
                <a:ext cx="946150" cy="436563"/>
              </a:xfrm>
              <a:prstGeom prst="ellipse">
                <a:avLst/>
              </a:prstGeom>
              <a:solidFill>
                <a:srgbClr val="EAEAEA"/>
              </a:solidFill>
              <a:ln w="9525">
                <a:noFill/>
                <a:round/>
                <a:headEnd/>
                <a:tailEnd/>
              </a:ln>
              <a:effectLst>
                <a:outerShdw dist="35921" dir="2700000" algn="ctr" rotWithShape="0">
                  <a:schemeClr val="bg2"/>
                </a:outerShdw>
              </a:effectLst>
            </p:spPr>
            <p:txBody>
              <a:bodyPr wrap="none" anchor="ctr"/>
              <a:lstStyle/>
              <a:p>
                <a:pPr algn="ctr">
                  <a:defRPr/>
                </a:pPr>
                <a:r>
                  <a:rPr kumimoji="1" lang="zh-CN" altLang="en-US" sz="1600">
                    <a:latin typeface="Times New Roman" pitchFamily="18" charset="0"/>
                    <a:ea typeface="宋体" pitchFamily="2" charset="-122"/>
                  </a:rPr>
                  <a:t>本地 </a:t>
                </a:r>
                <a:r>
                  <a:rPr kumimoji="1" lang="en-US" altLang="zh-CN" sz="1600">
                    <a:latin typeface="Times New Roman" pitchFamily="18" charset="0"/>
                    <a:ea typeface="宋体" pitchFamily="2" charset="-122"/>
                  </a:rPr>
                  <a:t>ISP</a:t>
                </a:r>
              </a:p>
            </p:txBody>
          </p:sp>
          <p:sp>
            <p:nvSpPr>
              <p:cNvPr id="34" name="Oval 35"/>
              <p:cNvSpPr>
                <a:spLocks noChangeArrowheads="1"/>
              </p:cNvSpPr>
              <p:nvPr/>
            </p:nvSpPr>
            <p:spPr bwMode="auto">
              <a:xfrm>
                <a:off x="1981200" y="1341438"/>
                <a:ext cx="935038" cy="576262"/>
              </a:xfrm>
              <a:prstGeom prst="ellipse">
                <a:avLst/>
              </a:prstGeom>
              <a:solidFill>
                <a:schemeClr val="bg1"/>
              </a:solidFill>
              <a:ln w="9525">
                <a:solidFill>
                  <a:schemeClr val="tx1"/>
                </a:solidFill>
                <a:round/>
                <a:headEnd/>
                <a:tailEnd/>
              </a:ln>
              <a:effectLst>
                <a:outerShdw dist="35921" dir="2700000" algn="ctr" rotWithShape="0">
                  <a:schemeClr val="bg2"/>
                </a:outerShdw>
              </a:effectLst>
            </p:spPr>
            <p:txBody>
              <a:bodyPr wrap="none" anchor="ctr"/>
              <a:lstStyle/>
              <a:p>
                <a:pPr algn="ctr">
                  <a:defRPr/>
                </a:pPr>
                <a:r>
                  <a:rPr kumimoji="1" lang="zh-CN" altLang="en-US" sz="1600">
                    <a:latin typeface="Times New Roman" pitchFamily="18" charset="0"/>
                    <a:ea typeface="宋体" pitchFamily="2" charset="-122"/>
                  </a:rPr>
                  <a:t>大公司</a:t>
                </a:r>
              </a:p>
            </p:txBody>
          </p:sp>
          <p:sp>
            <p:nvSpPr>
              <p:cNvPr id="35" name="Oval 36"/>
              <p:cNvSpPr>
                <a:spLocks noChangeArrowheads="1"/>
              </p:cNvSpPr>
              <p:nvPr/>
            </p:nvSpPr>
            <p:spPr bwMode="auto">
              <a:xfrm>
                <a:off x="5724525" y="1100138"/>
                <a:ext cx="863600" cy="457200"/>
              </a:xfrm>
              <a:prstGeom prst="ellipse">
                <a:avLst/>
              </a:prstGeom>
              <a:solidFill>
                <a:schemeClr val="bg1"/>
              </a:solidFill>
              <a:ln w="9525">
                <a:solidFill>
                  <a:schemeClr val="tx1"/>
                </a:solidFill>
                <a:round/>
                <a:headEnd/>
                <a:tailEnd/>
              </a:ln>
              <a:effectLst>
                <a:outerShdw dist="35921" dir="2700000" algn="ctr" rotWithShape="0">
                  <a:schemeClr val="bg2"/>
                </a:outerShdw>
              </a:effectLst>
            </p:spPr>
            <p:txBody>
              <a:bodyPr wrap="none" anchor="ctr"/>
              <a:lstStyle/>
              <a:p>
                <a:pPr algn="ctr">
                  <a:defRPr/>
                </a:pPr>
                <a:r>
                  <a:rPr kumimoji="1" lang="zh-CN" altLang="en-US" sz="1600">
                    <a:latin typeface="Times New Roman" pitchFamily="18" charset="0"/>
                    <a:ea typeface="宋体" pitchFamily="2" charset="-122"/>
                  </a:rPr>
                  <a:t>大公司</a:t>
                </a:r>
              </a:p>
            </p:txBody>
          </p:sp>
          <p:sp>
            <p:nvSpPr>
              <p:cNvPr id="36" name="Oval 37"/>
              <p:cNvSpPr>
                <a:spLocks noChangeArrowheads="1"/>
              </p:cNvSpPr>
              <p:nvPr/>
            </p:nvSpPr>
            <p:spPr bwMode="auto">
              <a:xfrm>
                <a:off x="4643438" y="4437063"/>
                <a:ext cx="947737" cy="457200"/>
              </a:xfrm>
              <a:prstGeom prst="ellipse">
                <a:avLst/>
              </a:prstGeom>
              <a:solidFill>
                <a:schemeClr val="bg1"/>
              </a:solidFill>
              <a:ln w="9525">
                <a:solidFill>
                  <a:schemeClr val="tx1"/>
                </a:solidFill>
                <a:round/>
                <a:headEnd/>
                <a:tailEnd/>
              </a:ln>
              <a:effectLst>
                <a:outerShdw dist="35921" dir="2700000" algn="ctr" rotWithShape="0">
                  <a:schemeClr val="bg2"/>
                </a:outerShdw>
              </a:effectLst>
            </p:spPr>
            <p:txBody>
              <a:bodyPr wrap="none" anchor="ctr"/>
              <a:lstStyle/>
              <a:p>
                <a:pPr algn="ctr">
                  <a:defRPr/>
                </a:pPr>
                <a:r>
                  <a:rPr kumimoji="1" lang="zh-CN" altLang="en-US" sz="1600">
                    <a:latin typeface="Times New Roman" pitchFamily="18" charset="0"/>
                    <a:ea typeface="宋体" pitchFamily="2" charset="-122"/>
                  </a:rPr>
                  <a:t>公司</a:t>
                </a:r>
              </a:p>
            </p:txBody>
          </p:sp>
          <p:sp>
            <p:nvSpPr>
              <p:cNvPr id="37" name="Oval 38"/>
              <p:cNvSpPr>
                <a:spLocks noChangeArrowheads="1"/>
              </p:cNvSpPr>
              <p:nvPr/>
            </p:nvSpPr>
            <p:spPr bwMode="auto">
              <a:xfrm>
                <a:off x="3049588" y="4338638"/>
                <a:ext cx="946150" cy="385762"/>
              </a:xfrm>
              <a:prstGeom prst="ellipse">
                <a:avLst/>
              </a:prstGeom>
              <a:solidFill>
                <a:srgbClr val="EAEAEA"/>
              </a:solidFill>
              <a:ln w="9525">
                <a:noFill/>
                <a:round/>
                <a:headEnd/>
                <a:tailEnd/>
              </a:ln>
              <a:effectLst>
                <a:outerShdw dist="35921" dir="2700000" algn="ctr" rotWithShape="0">
                  <a:schemeClr val="bg2"/>
                </a:outerShdw>
              </a:effectLst>
            </p:spPr>
            <p:txBody>
              <a:bodyPr wrap="none" anchor="ctr"/>
              <a:lstStyle/>
              <a:p>
                <a:pPr algn="ctr">
                  <a:defRPr/>
                </a:pPr>
                <a:r>
                  <a:rPr kumimoji="1" lang="zh-CN" altLang="en-US" sz="1600">
                    <a:latin typeface="Times New Roman" pitchFamily="18" charset="0"/>
                    <a:ea typeface="宋体" pitchFamily="2" charset="-122"/>
                  </a:rPr>
                  <a:t>本地 </a:t>
                </a:r>
                <a:r>
                  <a:rPr kumimoji="1" lang="en-US" altLang="zh-CN" sz="1600">
                    <a:latin typeface="Times New Roman" pitchFamily="18" charset="0"/>
                    <a:ea typeface="宋体" pitchFamily="2" charset="-122"/>
                  </a:rPr>
                  <a:t>ISP</a:t>
                </a:r>
              </a:p>
            </p:txBody>
          </p:sp>
          <p:sp>
            <p:nvSpPr>
              <p:cNvPr id="38" name="Oval 39"/>
              <p:cNvSpPr>
                <a:spLocks noChangeArrowheads="1"/>
              </p:cNvSpPr>
              <p:nvPr/>
            </p:nvSpPr>
            <p:spPr bwMode="auto">
              <a:xfrm>
                <a:off x="5867400" y="4198938"/>
                <a:ext cx="946150" cy="381000"/>
              </a:xfrm>
              <a:prstGeom prst="ellipse">
                <a:avLst/>
              </a:prstGeom>
              <a:solidFill>
                <a:srgbClr val="EAEAEA"/>
              </a:solidFill>
              <a:ln w="9525">
                <a:noFill/>
                <a:round/>
                <a:headEnd/>
                <a:tailEnd/>
              </a:ln>
              <a:effectLst>
                <a:outerShdw dist="35921" dir="2700000" algn="ctr" rotWithShape="0">
                  <a:schemeClr val="bg2"/>
                </a:outerShdw>
              </a:effectLst>
            </p:spPr>
            <p:txBody>
              <a:bodyPr wrap="none" anchor="ctr"/>
              <a:lstStyle/>
              <a:p>
                <a:pPr algn="ctr">
                  <a:defRPr/>
                </a:pPr>
                <a:r>
                  <a:rPr kumimoji="1" lang="zh-CN" altLang="en-US" sz="1600">
                    <a:latin typeface="Times New Roman" pitchFamily="18" charset="0"/>
                    <a:ea typeface="宋体" pitchFamily="2" charset="-122"/>
                  </a:rPr>
                  <a:t>本地 </a:t>
                </a:r>
                <a:r>
                  <a:rPr kumimoji="1" lang="en-US" altLang="zh-CN" sz="1600">
                    <a:latin typeface="Times New Roman" pitchFamily="18" charset="0"/>
                    <a:ea typeface="宋体" pitchFamily="2" charset="-122"/>
                  </a:rPr>
                  <a:t>ISP</a:t>
                </a:r>
              </a:p>
            </p:txBody>
          </p:sp>
          <p:grpSp>
            <p:nvGrpSpPr>
              <p:cNvPr id="39" name="Group 40"/>
              <p:cNvGrpSpPr>
                <a:grpSpLocks/>
              </p:cNvGrpSpPr>
              <p:nvPr/>
            </p:nvGrpSpPr>
            <p:grpSpPr bwMode="auto">
              <a:xfrm>
                <a:off x="2195513" y="4983163"/>
                <a:ext cx="838200" cy="533400"/>
                <a:chOff x="1200" y="2688"/>
                <a:chExt cx="528" cy="336"/>
              </a:xfrm>
            </p:grpSpPr>
            <p:grpSp>
              <p:nvGrpSpPr>
                <p:cNvPr id="138" name="Group 41"/>
                <p:cNvGrpSpPr>
                  <a:grpSpLocks/>
                </p:cNvGrpSpPr>
                <p:nvPr/>
              </p:nvGrpSpPr>
              <p:grpSpPr bwMode="auto">
                <a:xfrm>
                  <a:off x="1200" y="2688"/>
                  <a:ext cx="528" cy="336"/>
                  <a:chOff x="2949" y="196"/>
                  <a:chExt cx="941" cy="598"/>
                </a:xfrm>
              </p:grpSpPr>
              <p:sp>
                <p:nvSpPr>
                  <p:cNvPr id="140" name="Oval 42"/>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endParaRPr lang="zh-CN" altLang="en-US" sz="1600"/>
                  </a:p>
                </p:txBody>
              </p:sp>
              <p:sp>
                <p:nvSpPr>
                  <p:cNvPr id="141" name="Oval 43"/>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endParaRPr lang="zh-CN" altLang="en-US" sz="1600"/>
                  </a:p>
                </p:txBody>
              </p:sp>
              <p:sp>
                <p:nvSpPr>
                  <p:cNvPr id="142" name="Oval 44"/>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endParaRPr lang="zh-CN" altLang="en-US" sz="1600"/>
                  </a:p>
                </p:txBody>
              </p:sp>
              <p:sp>
                <p:nvSpPr>
                  <p:cNvPr id="143" name="Oval 45"/>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endParaRPr lang="zh-CN" altLang="en-US" sz="1600"/>
                  </a:p>
                </p:txBody>
              </p:sp>
              <p:sp>
                <p:nvSpPr>
                  <p:cNvPr id="144" name="Oval 46"/>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endParaRPr lang="zh-CN" altLang="en-US" sz="1600"/>
                  </a:p>
                </p:txBody>
              </p:sp>
              <p:sp>
                <p:nvSpPr>
                  <p:cNvPr id="145" name="Oval 47"/>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endParaRPr lang="zh-CN" altLang="en-US" sz="1600"/>
                  </a:p>
                </p:txBody>
              </p:sp>
              <p:sp>
                <p:nvSpPr>
                  <p:cNvPr id="146" name="Oval 48"/>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endParaRPr lang="zh-CN" altLang="en-US" sz="1600"/>
                  </a:p>
                </p:txBody>
              </p:sp>
              <p:sp>
                <p:nvSpPr>
                  <p:cNvPr id="147" name="Oval 49"/>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endParaRPr lang="zh-CN" altLang="en-US" sz="1600"/>
                  </a:p>
                </p:txBody>
              </p:sp>
              <p:sp>
                <p:nvSpPr>
                  <p:cNvPr id="148" name="Freeform 50"/>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w="12700" cap="rnd">
                    <a:noFill/>
                    <a:round/>
                    <a:headEnd/>
                    <a:tailEnd/>
                  </a:ln>
                </p:spPr>
                <p:txBody>
                  <a:bodyPr/>
                  <a:lstStyle/>
                  <a:p>
                    <a:endParaRPr lang="zh-CN" altLang="en-US" sz="1600"/>
                  </a:p>
                </p:txBody>
              </p:sp>
              <p:sp>
                <p:nvSpPr>
                  <p:cNvPr id="149" name="Freeform 51"/>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w="12700" cap="rnd">
                    <a:noFill/>
                    <a:round/>
                    <a:headEnd/>
                    <a:tailEnd/>
                  </a:ln>
                </p:spPr>
                <p:txBody>
                  <a:bodyPr/>
                  <a:lstStyle/>
                  <a:p>
                    <a:endParaRPr lang="zh-CN" altLang="en-US" sz="1600"/>
                  </a:p>
                </p:txBody>
              </p:sp>
              <p:sp>
                <p:nvSpPr>
                  <p:cNvPr id="150" name="Freeform 52"/>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w="12700" cap="rnd">
                    <a:noFill/>
                    <a:round/>
                    <a:headEnd/>
                    <a:tailEnd/>
                  </a:ln>
                </p:spPr>
                <p:txBody>
                  <a:bodyPr/>
                  <a:lstStyle/>
                  <a:p>
                    <a:endParaRPr lang="zh-CN" altLang="en-US" sz="1600"/>
                  </a:p>
                </p:txBody>
              </p:sp>
            </p:grpSp>
            <p:sp>
              <p:nvSpPr>
                <p:cNvPr id="139" name="Text Box 53"/>
                <p:cNvSpPr txBox="1">
                  <a:spLocks noChangeArrowheads="1"/>
                </p:cNvSpPr>
                <p:nvPr/>
              </p:nvSpPr>
              <p:spPr bwMode="auto">
                <a:xfrm>
                  <a:off x="1218" y="2737"/>
                  <a:ext cx="504" cy="213"/>
                </a:xfrm>
                <a:prstGeom prst="rect">
                  <a:avLst/>
                </a:prstGeom>
                <a:noFill/>
                <a:ln w="9525">
                  <a:noFill/>
                  <a:miter lim="800000"/>
                  <a:headEnd/>
                  <a:tailEnd/>
                </a:ln>
              </p:spPr>
              <p:txBody>
                <a:bodyPr wrap="none">
                  <a:spAutoFit/>
                </a:bodyPr>
                <a:lstStyle/>
                <a:p>
                  <a:r>
                    <a:rPr kumimoji="1" lang="zh-CN" altLang="en-US" sz="1600">
                      <a:latin typeface="Times New Roman" pitchFamily="18" charset="0"/>
                    </a:rPr>
                    <a:t>校园网</a:t>
                  </a:r>
                </a:p>
              </p:txBody>
            </p:sp>
          </p:grpSp>
          <p:grpSp>
            <p:nvGrpSpPr>
              <p:cNvPr id="40" name="Group 54"/>
              <p:cNvGrpSpPr>
                <a:grpSpLocks/>
              </p:cNvGrpSpPr>
              <p:nvPr/>
            </p:nvGrpSpPr>
            <p:grpSpPr bwMode="auto">
              <a:xfrm>
                <a:off x="3336926" y="5054600"/>
                <a:ext cx="849313" cy="533400"/>
                <a:chOff x="1193" y="2688"/>
                <a:chExt cx="535" cy="336"/>
              </a:xfrm>
            </p:grpSpPr>
            <p:grpSp>
              <p:nvGrpSpPr>
                <p:cNvPr id="125" name="Group 55"/>
                <p:cNvGrpSpPr>
                  <a:grpSpLocks/>
                </p:cNvGrpSpPr>
                <p:nvPr/>
              </p:nvGrpSpPr>
              <p:grpSpPr bwMode="auto">
                <a:xfrm>
                  <a:off x="1200" y="2688"/>
                  <a:ext cx="528" cy="336"/>
                  <a:chOff x="2949" y="196"/>
                  <a:chExt cx="941" cy="598"/>
                </a:xfrm>
              </p:grpSpPr>
              <p:sp>
                <p:nvSpPr>
                  <p:cNvPr id="127" name="Oval 56"/>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endParaRPr lang="zh-CN" altLang="en-US" sz="1600"/>
                  </a:p>
                </p:txBody>
              </p:sp>
              <p:sp>
                <p:nvSpPr>
                  <p:cNvPr id="128" name="Oval 57"/>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endParaRPr lang="zh-CN" altLang="en-US" sz="1600"/>
                  </a:p>
                </p:txBody>
              </p:sp>
              <p:sp>
                <p:nvSpPr>
                  <p:cNvPr id="129" name="Oval 58"/>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endParaRPr lang="zh-CN" altLang="en-US" sz="1600"/>
                  </a:p>
                </p:txBody>
              </p:sp>
              <p:sp>
                <p:nvSpPr>
                  <p:cNvPr id="130" name="Oval 59"/>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endParaRPr lang="zh-CN" altLang="en-US" sz="1600"/>
                  </a:p>
                </p:txBody>
              </p:sp>
              <p:sp>
                <p:nvSpPr>
                  <p:cNvPr id="131" name="Oval 60"/>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endParaRPr lang="zh-CN" altLang="en-US" sz="1600"/>
                  </a:p>
                </p:txBody>
              </p:sp>
              <p:sp>
                <p:nvSpPr>
                  <p:cNvPr id="132" name="Oval 61"/>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endParaRPr lang="zh-CN" altLang="en-US" sz="1600"/>
                  </a:p>
                </p:txBody>
              </p:sp>
              <p:sp>
                <p:nvSpPr>
                  <p:cNvPr id="133" name="Oval 62"/>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endParaRPr lang="zh-CN" altLang="en-US" sz="1600"/>
                  </a:p>
                </p:txBody>
              </p:sp>
              <p:sp>
                <p:nvSpPr>
                  <p:cNvPr id="134" name="Oval 63"/>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endParaRPr lang="zh-CN" altLang="en-US" sz="1600"/>
                  </a:p>
                </p:txBody>
              </p:sp>
              <p:sp>
                <p:nvSpPr>
                  <p:cNvPr id="135" name="Freeform 64"/>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w="12700" cap="rnd">
                    <a:noFill/>
                    <a:round/>
                    <a:headEnd/>
                    <a:tailEnd/>
                  </a:ln>
                </p:spPr>
                <p:txBody>
                  <a:bodyPr/>
                  <a:lstStyle/>
                  <a:p>
                    <a:endParaRPr lang="zh-CN" altLang="en-US" sz="1600"/>
                  </a:p>
                </p:txBody>
              </p:sp>
              <p:sp>
                <p:nvSpPr>
                  <p:cNvPr id="136" name="Freeform 65"/>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w="12700" cap="rnd">
                    <a:noFill/>
                    <a:round/>
                    <a:headEnd/>
                    <a:tailEnd/>
                  </a:ln>
                </p:spPr>
                <p:txBody>
                  <a:bodyPr/>
                  <a:lstStyle/>
                  <a:p>
                    <a:endParaRPr lang="zh-CN" altLang="en-US" sz="1600"/>
                  </a:p>
                </p:txBody>
              </p:sp>
              <p:sp>
                <p:nvSpPr>
                  <p:cNvPr id="137" name="Freeform 66"/>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w="12700" cap="rnd">
                    <a:noFill/>
                    <a:round/>
                    <a:headEnd/>
                    <a:tailEnd/>
                  </a:ln>
                </p:spPr>
                <p:txBody>
                  <a:bodyPr/>
                  <a:lstStyle/>
                  <a:p>
                    <a:endParaRPr lang="zh-CN" altLang="en-US" sz="1600"/>
                  </a:p>
                </p:txBody>
              </p:sp>
            </p:grpSp>
            <p:sp>
              <p:nvSpPr>
                <p:cNvPr id="126" name="Text Box 67"/>
                <p:cNvSpPr txBox="1">
                  <a:spLocks noChangeArrowheads="1"/>
                </p:cNvSpPr>
                <p:nvPr/>
              </p:nvSpPr>
              <p:spPr bwMode="auto">
                <a:xfrm>
                  <a:off x="1193" y="2737"/>
                  <a:ext cx="504" cy="213"/>
                </a:xfrm>
                <a:prstGeom prst="rect">
                  <a:avLst/>
                </a:prstGeom>
                <a:noFill/>
                <a:ln w="9525">
                  <a:noFill/>
                  <a:miter lim="800000"/>
                  <a:headEnd/>
                  <a:tailEnd/>
                </a:ln>
              </p:spPr>
              <p:txBody>
                <a:bodyPr wrap="none">
                  <a:spAutoFit/>
                </a:bodyPr>
                <a:lstStyle/>
                <a:p>
                  <a:r>
                    <a:rPr kumimoji="1" lang="zh-CN" altLang="en-US" sz="1600" dirty="0">
                      <a:latin typeface="Times New Roman" pitchFamily="18" charset="0"/>
                    </a:rPr>
                    <a:t>局域网</a:t>
                  </a:r>
                </a:p>
              </p:txBody>
            </p:sp>
          </p:grpSp>
          <p:grpSp>
            <p:nvGrpSpPr>
              <p:cNvPr id="41" name="Group 68"/>
              <p:cNvGrpSpPr>
                <a:grpSpLocks/>
              </p:cNvGrpSpPr>
              <p:nvPr/>
            </p:nvGrpSpPr>
            <p:grpSpPr bwMode="auto">
              <a:xfrm>
                <a:off x="5638800" y="5054600"/>
                <a:ext cx="838200" cy="533400"/>
                <a:chOff x="1200" y="2688"/>
                <a:chExt cx="528" cy="336"/>
              </a:xfrm>
            </p:grpSpPr>
            <p:grpSp>
              <p:nvGrpSpPr>
                <p:cNvPr id="112" name="Group 69"/>
                <p:cNvGrpSpPr>
                  <a:grpSpLocks/>
                </p:cNvGrpSpPr>
                <p:nvPr/>
              </p:nvGrpSpPr>
              <p:grpSpPr bwMode="auto">
                <a:xfrm>
                  <a:off x="1200" y="2688"/>
                  <a:ext cx="528" cy="336"/>
                  <a:chOff x="2949" y="196"/>
                  <a:chExt cx="941" cy="598"/>
                </a:xfrm>
              </p:grpSpPr>
              <p:sp>
                <p:nvSpPr>
                  <p:cNvPr id="114" name="Oval 70"/>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endParaRPr lang="zh-CN" altLang="en-US" sz="1600"/>
                  </a:p>
                </p:txBody>
              </p:sp>
              <p:sp>
                <p:nvSpPr>
                  <p:cNvPr id="115" name="Oval 71"/>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endParaRPr lang="zh-CN" altLang="en-US" sz="1600"/>
                  </a:p>
                </p:txBody>
              </p:sp>
              <p:sp>
                <p:nvSpPr>
                  <p:cNvPr id="116" name="Oval 72"/>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endParaRPr lang="zh-CN" altLang="en-US" sz="1600"/>
                  </a:p>
                </p:txBody>
              </p:sp>
              <p:sp>
                <p:nvSpPr>
                  <p:cNvPr id="117" name="Oval 73"/>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endParaRPr lang="zh-CN" altLang="en-US" sz="1600"/>
                  </a:p>
                </p:txBody>
              </p:sp>
              <p:sp>
                <p:nvSpPr>
                  <p:cNvPr id="118" name="Oval 74"/>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endParaRPr lang="zh-CN" altLang="en-US" sz="1600"/>
                  </a:p>
                </p:txBody>
              </p:sp>
              <p:sp>
                <p:nvSpPr>
                  <p:cNvPr id="119" name="Oval 75"/>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endParaRPr lang="zh-CN" altLang="en-US" sz="1600"/>
                  </a:p>
                </p:txBody>
              </p:sp>
              <p:sp>
                <p:nvSpPr>
                  <p:cNvPr id="120" name="Oval 76"/>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endParaRPr lang="zh-CN" altLang="en-US" sz="1600"/>
                  </a:p>
                </p:txBody>
              </p:sp>
              <p:sp>
                <p:nvSpPr>
                  <p:cNvPr id="121" name="Oval 77"/>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endParaRPr lang="zh-CN" altLang="en-US" sz="1600"/>
                  </a:p>
                </p:txBody>
              </p:sp>
              <p:sp>
                <p:nvSpPr>
                  <p:cNvPr id="122" name="Freeform 78"/>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w="12700" cap="rnd">
                    <a:noFill/>
                    <a:round/>
                    <a:headEnd/>
                    <a:tailEnd/>
                  </a:ln>
                </p:spPr>
                <p:txBody>
                  <a:bodyPr/>
                  <a:lstStyle/>
                  <a:p>
                    <a:endParaRPr lang="zh-CN" altLang="en-US" sz="1600"/>
                  </a:p>
                </p:txBody>
              </p:sp>
              <p:sp>
                <p:nvSpPr>
                  <p:cNvPr id="123" name="Freeform 79"/>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w="12700" cap="rnd">
                    <a:noFill/>
                    <a:round/>
                    <a:headEnd/>
                    <a:tailEnd/>
                  </a:ln>
                </p:spPr>
                <p:txBody>
                  <a:bodyPr/>
                  <a:lstStyle/>
                  <a:p>
                    <a:endParaRPr lang="zh-CN" altLang="en-US" sz="1600"/>
                  </a:p>
                </p:txBody>
              </p:sp>
              <p:sp>
                <p:nvSpPr>
                  <p:cNvPr id="124" name="Freeform 80"/>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w="12700" cap="rnd">
                    <a:noFill/>
                    <a:round/>
                    <a:headEnd/>
                    <a:tailEnd/>
                  </a:ln>
                </p:spPr>
                <p:txBody>
                  <a:bodyPr/>
                  <a:lstStyle/>
                  <a:p>
                    <a:endParaRPr lang="zh-CN" altLang="en-US" sz="1600"/>
                  </a:p>
                </p:txBody>
              </p:sp>
            </p:grpSp>
            <p:sp>
              <p:nvSpPr>
                <p:cNvPr id="113" name="Text Box 81"/>
                <p:cNvSpPr txBox="1">
                  <a:spLocks noChangeArrowheads="1"/>
                </p:cNvSpPr>
                <p:nvPr/>
              </p:nvSpPr>
              <p:spPr bwMode="auto">
                <a:xfrm>
                  <a:off x="1200" y="2737"/>
                  <a:ext cx="504" cy="213"/>
                </a:xfrm>
                <a:prstGeom prst="rect">
                  <a:avLst/>
                </a:prstGeom>
                <a:noFill/>
                <a:ln w="9525">
                  <a:noFill/>
                  <a:miter lim="800000"/>
                  <a:headEnd/>
                  <a:tailEnd/>
                </a:ln>
              </p:spPr>
              <p:txBody>
                <a:bodyPr wrap="none">
                  <a:spAutoFit/>
                </a:bodyPr>
                <a:lstStyle/>
                <a:p>
                  <a:r>
                    <a:rPr kumimoji="1" lang="zh-CN" altLang="en-US" sz="1600" dirty="0">
                      <a:latin typeface="Times New Roman" pitchFamily="18" charset="0"/>
                    </a:rPr>
                    <a:t>局域网</a:t>
                  </a:r>
                </a:p>
              </p:txBody>
            </p:sp>
          </p:grpSp>
          <p:grpSp>
            <p:nvGrpSpPr>
              <p:cNvPr id="42" name="Group 82"/>
              <p:cNvGrpSpPr>
                <a:grpSpLocks/>
              </p:cNvGrpSpPr>
              <p:nvPr/>
            </p:nvGrpSpPr>
            <p:grpSpPr bwMode="auto">
              <a:xfrm>
                <a:off x="6757988" y="4911725"/>
                <a:ext cx="838200" cy="533400"/>
                <a:chOff x="1200" y="2688"/>
                <a:chExt cx="528" cy="336"/>
              </a:xfrm>
            </p:grpSpPr>
            <p:grpSp>
              <p:nvGrpSpPr>
                <p:cNvPr id="99" name="Group 83"/>
                <p:cNvGrpSpPr>
                  <a:grpSpLocks/>
                </p:cNvGrpSpPr>
                <p:nvPr/>
              </p:nvGrpSpPr>
              <p:grpSpPr bwMode="auto">
                <a:xfrm>
                  <a:off x="1200" y="2688"/>
                  <a:ext cx="528" cy="336"/>
                  <a:chOff x="2949" y="196"/>
                  <a:chExt cx="941" cy="598"/>
                </a:xfrm>
              </p:grpSpPr>
              <p:sp>
                <p:nvSpPr>
                  <p:cNvPr id="101" name="Oval 84"/>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endParaRPr lang="zh-CN" altLang="en-US" sz="1600"/>
                  </a:p>
                </p:txBody>
              </p:sp>
              <p:sp>
                <p:nvSpPr>
                  <p:cNvPr id="102" name="Oval 85"/>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endParaRPr lang="zh-CN" altLang="en-US" sz="1600"/>
                  </a:p>
                </p:txBody>
              </p:sp>
              <p:sp>
                <p:nvSpPr>
                  <p:cNvPr id="103" name="Oval 86"/>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endParaRPr lang="zh-CN" altLang="en-US" sz="1600"/>
                  </a:p>
                </p:txBody>
              </p:sp>
              <p:sp>
                <p:nvSpPr>
                  <p:cNvPr id="104" name="Oval 87"/>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endParaRPr lang="zh-CN" altLang="en-US" sz="1600"/>
                  </a:p>
                </p:txBody>
              </p:sp>
              <p:sp>
                <p:nvSpPr>
                  <p:cNvPr id="105" name="Oval 88"/>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endParaRPr lang="zh-CN" altLang="en-US" sz="1600"/>
                  </a:p>
                </p:txBody>
              </p:sp>
              <p:sp>
                <p:nvSpPr>
                  <p:cNvPr id="106" name="Oval 89"/>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endParaRPr lang="zh-CN" altLang="en-US" sz="1600"/>
                  </a:p>
                </p:txBody>
              </p:sp>
              <p:sp>
                <p:nvSpPr>
                  <p:cNvPr id="107" name="Oval 90"/>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endParaRPr lang="zh-CN" altLang="en-US" sz="1600"/>
                  </a:p>
                </p:txBody>
              </p:sp>
              <p:sp>
                <p:nvSpPr>
                  <p:cNvPr id="108" name="Oval 91"/>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endParaRPr lang="zh-CN" altLang="en-US" sz="1600"/>
                  </a:p>
                </p:txBody>
              </p:sp>
              <p:sp>
                <p:nvSpPr>
                  <p:cNvPr id="109" name="Freeform 92"/>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w="12700" cap="rnd">
                    <a:noFill/>
                    <a:round/>
                    <a:headEnd/>
                    <a:tailEnd/>
                  </a:ln>
                </p:spPr>
                <p:txBody>
                  <a:bodyPr/>
                  <a:lstStyle/>
                  <a:p>
                    <a:endParaRPr lang="zh-CN" altLang="en-US" sz="1600"/>
                  </a:p>
                </p:txBody>
              </p:sp>
              <p:sp>
                <p:nvSpPr>
                  <p:cNvPr id="110" name="Freeform 93"/>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w="12700" cap="rnd">
                    <a:noFill/>
                    <a:round/>
                    <a:headEnd/>
                    <a:tailEnd/>
                  </a:ln>
                </p:spPr>
                <p:txBody>
                  <a:bodyPr/>
                  <a:lstStyle/>
                  <a:p>
                    <a:endParaRPr lang="zh-CN" altLang="en-US" sz="1600"/>
                  </a:p>
                </p:txBody>
              </p:sp>
              <p:sp>
                <p:nvSpPr>
                  <p:cNvPr id="111" name="Freeform 94"/>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w="12700" cap="rnd">
                    <a:noFill/>
                    <a:round/>
                    <a:headEnd/>
                    <a:tailEnd/>
                  </a:ln>
                </p:spPr>
                <p:txBody>
                  <a:bodyPr/>
                  <a:lstStyle/>
                  <a:p>
                    <a:endParaRPr lang="zh-CN" altLang="en-US" sz="1600"/>
                  </a:p>
                </p:txBody>
              </p:sp>
            </p:grpSp>
            <p:sp>
              <p:nvSpPr>
                <p:cNvPr id="100" name="Text Box 95"/>
                <p:cNvSpPr txBox="1">
                  <a:spLocks noChangeArrowheads="1"/>
                </p:cNvSpPr>
                <p:nvPr/>
              </p:nvSpPr>
              <p:spPr bwMode="auto">
                <a:xfrm>
                  <a:off x="1218" y="2737"/>
                  <a:ext cx="504" cy="213"/>
                </a:xfrm>
                <a:prstGeom prst="rect">
                  <a:avLst/>
                </a:prstGeom>
                <a:noFill/>
                <a:ln w="9525">
                  <a:noFill/>
                  <a:miter lim="800000"/>
                  <a:headEnd/>
                  <a:tailEnd/>
                </a:ln>
              </p:spPr>
              <p:txBody>
                <a:bodyPr wrap="none">
                  <a:spAutoFit/>
                </a:bodyPr>
                <a:lstStyle/>
                <a:p>
                  <a:r>
                    <a:rPr kumimoji="1" lang="zh-CN" altLang="en-US" sz="1600" dirty="0">
                      <a:latin typeface="Times New Roman" pitchFamily="18" charset="0"/>
                    </a:rPr>
                    <a:t>局域网</a:t>
                  </a:r>
                </a:p>
              </p:txBody>
            </p:sp>
          </p:grpSp>
          <p:sp>
            <p:nvSpPr>
              <p:cNvPr id="43" name="Line 96"/>
              <p:cNvSpPr>
                <a:spLocks noChangeShapeType="1"/>
              </p:cNvSpPr>
              <p:nvPr/>
            </p:nvSpPr>
            <p:spPr bwMode="auto">
              <a:xfrm>
                <a:off x="7308850" y="2995613"/>
                <a:ext cx="935038" cy="217487"/>
              </a:xfrm>
              <a:prstGeom prst="line">
                <a:avLst/>
              </a:prstGeom>
              <a:noFill/>
              <a:ln w="9525">
                <a:solidFill>
                  <a:schemeClr val="tx1"/>
                </a:solidFill>
                <a:round/>
                <a:headEnd/>
                <a:tailEnd/>
              </a:ln>
            </p:spPr>
            <p:txBody>
              <a:bodyPr/>
              <a:lstStyle/>
              <a:p>
                <a:endParaRPr lang="zh-CN" altLang="en-US" sz="1600"/>
              </a:p>
            </p:txBody>
          </p:sp>
          <p:sp>
            <p:nvSpPr>
              <p:cNvPr id="44" name="Line 97"/>
              <p:cNvSpPr>
                <a:spLocks noChangeShapeType="1"/>
              </p:cNvSpPr>
              <p:nvPr/>
            </p:nvSpPr>
            <p:spPr bwMode="auto">
              <a:xfrm>
                <a:off x="7092950" y="3068638"/>
                <a:ext cx="358775" cy="865187"/>
              </a:xfrm>
              <a:prstGeom prst="line">
                <a:avLst/>
              </a:prstGeom>
              <a:noFill/>
              <a:ln w="9525">
                <a:solidFill>
                  <a:schemeClr val="tx1"/>
                </a:solidFill>
                <a:round/>
                <a:headEnd/>
                <a:tailEnd/>
              </a:ln>
            </p:spPr>
            <p:txBody>
              <a:bodyPr/>
              <a:lstStyle/>
              <a:p>
                <a:endParaRPr lang="zh-CN" altLang="en-US" sz="1600"/>
              </a:p>
            </p:txBody>
          </p:sp>
          <p:pic>
            <p:nvPicPr>
              <p:cNvPr id="45" name="Picture 98"/>
              <p:cNvPicPr>
                <a:picLocks noChangeArrowheads="1"/>
              </p:cNvPicPr>
              <p:nvPr/>
            </p:nvPicPr>
            <p:blipFill>
              <a:blip r:embed="rId2" cstate="print"/>
              <a:srcRect/>
              <a:stretch>
                <a:fillRect/>
              </a:stretch>
            </p:blipFill>
            <p:spPr bwMode="auto">
              <a:xfrm>
                <a:off x="919163" y="4833938"/>
                <a:ext cx="409575" cy="412750"/>
              </a:xfrm>
              <a:prstGeom prst="rect">
                <a:avLst/>
              </a:prstGeom>
              <a:noFill/>
              <a:ln w="9525">
                <a:noFill/>
                <a:miter lim="800000"/>
                <a:headEnd/>
                <a:tailEnd/>
              </a:ln>
            </p:spPr>
          </p:pic>
          <p:sp>
            <p:nvSpPr>
              <p:cNvPr id="46" name="Oval 99"/>
              <p:cNvSpPr>
                <a:spLocks noChangeArrowheads="1"/>
              </p:cNvSpPr>
              <p:nvPr/>
            </p:nvSpPr>
            <p:spPr bwMode="auto">
              <a:xfrm>
                <a:off x="6443663" y="2708275"/>
                <a:ext cx="1058862" cy="533400"/>
              </a:xfrm>
              <a:prstGeom prst="ellipse">
                <a:avLst/>
              </a:prstGeom>
              <a:solidFill>
                <a:schemeClr val="bg1"/>
              </a:solidFill>
              <a:ln w="9525">
                <a:solidFill>
                  <a:schemeClr val="tx1"/>
                </a:solidFill>
                <a:round/>
                <a:headEnd/>
                <a:tailEnd/>
              </a:ln>
              <a:effectLst>
                <a:outerShdw dist="35921" dir="2700000" algn="ctr" rotWithShape="0">
                  <a:schemeClr val="bg2"/>
                </a:outerShdw>
              </a:effectLst>
            </p:spPr>
            <p:txBody>
              <a:bodyPr wrap="none" anchor="ctr"/>
              <a:lstStyle/>
              <a:p>
                <a:pPr algn="ctr">
                  <a:defRPr/>
                </a:pPr>
                <a:r>
                  <a:rPr kumimoji="1" lang="zh-CN" altLang="en-US" sz="1600">
                    <a:latin typeface="Times New Roman" pitchFamily="18" charset="0"/>
                    <a:ea typeface="宋体" pitchFamily="2" charset="-122"/>
                  </a:rPr>
                  <a:t>第二层 </a:t>
                </a:r>
                <a:r>
                  <a:rPr kumimoji="1" lang="en-US" altLang="zh-CN" sz="1600">
                    <a:latin typeface="Times New Roman" pitchFamily="18" charset="0"/>
                    <a:ea typeface="宋体" pitchFamily="2" charset="-122"/>
                  </a:rPr>
                  <a:t>ISP</a:t>
                </a:r>
              </a:p>
            </p:txBody>
          </p:sp>
          <p:sp>
            <p:nvSpPr>
              <p:cNvPr id="47" name="Line 100"/>
              <p:cNvSpPr>
                <a:spLocks noChangeShapeType="1"/>
              </p:cNvSpPr>
              <p:nvPr/>
            </p:nvSpPr>
            <p:spPr bwMode="auto">
              <a:xfrm>
                <a:off x="2268538" y="2708275"/>
                <a:ext cx="790575" cy="144463"/>
              </a:xfrm>
              <a:prstGeom prst="line">
                <a:avLst/>
              </a:prstGeom>
              <a:noFill/>
              <a:ln w="9525">
                <a:solidFill>
                  <a:schemeClr val="tx1"/>
                </a:solidFill>
                <a:round/>
                <a:headEnd/>
                <a:tailEnd/>
              </a:ln>
            </p:spPr>
            <p:txBody>
              <a:bodyPr/>
              <a:lstStyle/>
              <a:p>
                <a:endParaRPr lang="zh-CN" altLang="en-US" sz="1600"/>
              </a:p>
            </p:txBody>
          </p:sp>
          <p:sp>
            <p:nvSpPr>
              <p:cNvPr id="48" name="Oval 101"/>
              <p:cNvSpPr>
                <a:spLocks noChangeArrowheads="1"/>
              </p:cNvSpPr>
              <p:nvPr/>
            </p:nvSpPr>
            <p:spPr bwMode="auto">
              <a:xfrm>
                <a:off x="5292725" y="3309938"/>
                <a:ext cx="1031875" cy="533400"/>
              </a:xfrm>
              <a:prstGeom prst="ellipse">
                <a:avLst/>
              </a:prstGeom>
              <a:solidFill>
                <a:schemeClr val="bg1"/>
              </a:solidFill>
              <a:ln w="9525">
                <a:solidFill>
                  <a:schemeClr val="tx1"/>
                </a:solidFill>
                <a:round/>
                <a:headEnd/>
                <a:tailEnd/>
              </a:ln>
              <a:effectLst>
                <a:outerShdw dist="35921" dir="2700000" algn="ctr" rotWithShape="0">
                  <a:schemeClr val="bg2"/>
                </a:outerShdw>
              </a:effectLst>
            </p:spPr>
            <p:txBody>
              <a:bodyPr wrap="none" anchor="ctr"/>
              <a:lstStyle/>
              <a:p>
                <a:pPr algn="ctr">
                  <a:defRPr/>
                </a:pPr>
                <a:r>
                  <a:rPr kumimoji="1" lang="zh-CN" altLang="en-US" sz="1600">
                    <a:latin typeface="Times New Roman" pitchFamily="18" charset="0"/>
                    <a:ea typeface="宋体" pitchFamily="2" charset="-122"/>
                  </a:rPr>
                  <a:t>第二层 </a:t>
                </a:r>
                <a:r>
                  <a:rPr kumimoji="1" lang="en-US" altLang="zh-CN" sz="1600">
                    <a:latin typeface="Times New Roman" pitchFamily="18" charset="0"/>
                    <a:ea typeface="宋体" pitchFamily="2" charset="-122"/>
                  </a:rPr>
                  <a:t>ISP</a:t>
                </a:r>
              </a:p>
            </p:txBody>
          </p:sp>
          <p:sp>
            <p:nvSpPr>
              <p:cNvPr id="49" name="Oval 102"/>
              <p:cNvSpPr>
                <a:spLocks noChangeArrowheads="1"/>
              </p:cNvSpPr>
              <p:nvPr/>
            </p:nvSpPr>
            <p:spPr bwMode="auto">
              <a:xfrm>
                <a:off x="2819400" y="2547938"/>
                <a:ext cx="533400" cy="533400"/>
              </a:xfrm>
              <a:prstGeom prst="ellipse">
                <a:avLst/>
              </a:prstGeom>
              <a:solidFill>
                <a:schemeClr val="bg1"/>
              </a:solidFill>
              <a:ln w="19050">
                <a:solidFill>
                  <a:schemeClr val="tx1"/>
                </a:solidFill>
                <a:round/>
                <a:headEnd/>
                <a:tailEnd/>
              </a:ln>
              <a:effectLst>
                <a:outerShdw dist="35921" dir="2700000" algn="ctr" rotWithShape="0">
                  <a:schemeClr val="bg2"/>
                </a:outerShdw>
              </a:effectLst>
            </p:spPr>
            <p:txBody>
              <a:bodyPr wrap="none" anchor="ctr"/>
              <a:lstStyle/>
              <a:p>
                <a:pPr algn="ctr">
                  <a:defRPr/>
                </a:pPr>
                <a:r>
                  <a:rPr kumimoji="1" lang="en-US" altLang="zh-CN" sz="1600" dirty="0">
                    <a:latin typeface="Times New Roman" pitchFamily="18" charset="0"/>
                    <a:ea typeface="宋体" pitchFamily="2" charset="-122"/>
                  </a:rPr>
                  <a:t>IXP</a:t>
                </a:r>
              </a:p>
            </p:txBody>
          </p:sp>
          <p:sp>
            <p:nvSpPr>
              <p:cNvPr id="50" name="Oval 103"/>
              <p:cNvSpPr>
                <a:spLocks noChangeArrowheads="1"/>
              </p:cNvSpPr>
              <p:nvPr/>
            </p:nvSpPr>
            <p:spPr bwMode="auto">
              <a:xfrm>
                <a:off x="5638800" y="2547938"/>
                <a:ext cx="533400" cy="533400"/>
              </a:xfrm>
              <a:prstGeom prst="ellipse">
                <a:avLst/>
              </a:prstGeom>
              <a:solidFill>
                <a:schemeClr val="bg1"/>
              </a:solidFill>
              <a:ln w="19050">
                <a:solidFill>
                  <a:schemeClr val="tx1"/>
                </a:solidFill>
                <a:round/>
                <a:headEnd/>
                <a:tailEnd/>
              </a:ln>
              <a:effectLst>
                <a:outerShdw dist="35921" dir="2700000" algn="ctr" rotWithShape="0">
                  <a:schemeClr val="bg2"/>
                </a:outerShdw>
              </a:effectLst>
            </p:spPr>
            <p:txBody>
              <a:bodyPr wrap="none" anchor="ctr"/>
              <a:lstStyle/>
              <a:p>
                <a:pPr algn="ctr">
                  <a:defRPr/>
                </a:pPr>
                <a:r>
                  <a:rPr kumimoji="1" lang="en-US" altLang="zh-CN" sz="1600" dirty="0">
                    <a:latin typeface="Times New Roman" pitchFamily="18" charset="0"/>
                    <a:ea typeface="宋体" pitchFamily="2" charset="-122"/>
                  </a:rPr>
                  <a:t>IXP</a:t>
                </a:r>
              </a:p>
            </p:txBody>
          </p:sp>
          <p:pic>
            <p:nvPicPr>
              <p:cNvPr id="51" name="Picture 105"/>
              <p:cNvPicPr>
                <a:picLocks noChangeArrowheads="1"/>
              </p:cNvPicPr>
              <p:nvPr/>
            </p:nvPicPr>
            <p:blipFill>
              <a:blip r:embed="rId2" cstate="print"/>
              <a:srcRect/>
              <a:stretch>
                <a:fillRect/>
              </a:stretch>
            </p:blipFill>
            <p:spPr bwMode="auto">
              <a:xfrm>
                <a:off x="8248650" y="4833938"/>
                <a:ext cx="409575" cy="412750"/>
              </a:xfrm>
              <a:prstGeom prst="rect">
                <a:avLst/>
              </a:prstGeom>
              <a:noFill/>
              <a:ln w="9525">
                <a:noFill/>
                <a:miter lim="800000"/>
                <a:headEnd/>
                <a:tailEnd/>
              </a:ln>
            </p:spPr>
          </p:pic>
          <p:sp>
            <p:nvSpPr>
              <p:cNvPr id="52" name="Line 109"/>
              <p:cNvSpPr>
                <a:spLocks noChangeShapeType="1"/>
              </p:cNvSpPr>
              <p:nvPr/>
            </p:nvSpPr>
            <p:spPr bwMode="auto">
              <a:xfrm>
                <a:off x="3851275" y="1844675"/>
                <a:ext cx="1152525" cy="71438"/>
              </a:xfrm>
              <a:prstGeom prst="line">
                <a:avLst/>
              </a:prstGeom>
              <a:noFill/>
              <a:ln w="28575">
                <a:solidFill>
                  <a:schemeClr val="tx1"/>
                </a:solidFill>
                <a:round/>
                <a:headEnd/>
                <a:tailEnd/>
              </a:ln>
            </p:spPr>
            <p:txBody>
              <a:bodyPr/>
              <a:lstStyle/>
              <a:p>
                <a:endParaRPr lang="zh-CN" altLang="en-US" sz="1600"/>
              </a:p>
            </p:txBody>
          </p:sp>
          <p:sp>
            <p:nvSpPr>
              <p:cNvPr id="53" name="Line 110"/>
              <p:cNvSpPr>
                <a:spLocks noChangeShapeType="1"/>
              </p:cNvSpPr>
              <p:nvPr/>
            </p:nvSpPr>
            <p:spPr bwMode="auto">
              <a:xfrm>
                <a:off x="3492500" y="1987550"/>
                <a:ext cx="574675" cy="504825"/>
              </a:xfrm>
              <a:prstGeom prst="line">
                <a:avLst/>
              </a:prstGeom>
              <a:noFill/>
              <a:ln w="28575">
                <a:solidFill>
                  <a:schemeClr val="tx1"/>
                </a:solidFill>
                <a:round/>
                <a:headEnd/>
                <a:tailEnd/>
              </a:ln>
            </p:spPr>
            <p:txBody>
              <a:bodyPr/>
              <a:lstStyle/>
              <a:p>
                <a:endParaRPr lang="zh-CN" altLang="en-US" sz="1600"/>
              </a:p>
            </p:txBody>
          </p:sp>
          <p:sp>
            <p:nvSpPr>
              <p:cNvPr id="54" name="Oval 111"/>
              <p:cNvSpPr>
                <a:spLocks noChangeArrowheads="1"/>
              </p:cNvSpPr>
              <p:nvPr/>
            </p:nvSpPr>
            <p:spPr bwMode="auto">
              <a:xfrm>
                <a:off x="4860925" y="1700213"/>
                <a:ext cx="1079500" cy="685800"/>
              </a:xfrm>
              <a:prstGeom prst="ellipse">
                <a:avLst/>
              </a:prstGeom>
              <a:solidFill>
                <a:srgbClr val="EAEAEA"/>
              </a:solidFill>
              <a:ln w="19050">
                <a:solidFill>
                  <a:schemeClr val="tx1"/>
                </a:solidFill>
                <a:round/>
                <a:headEnd/>
                <a:tailEnd/>
              </a:ln>
              <a:effectLst>
                <a:outerShdw dist="35921" dir="2700000" algn="ctr" rotWithShape="0">
                  <a:schemeClr val="bg2"/>
                </a:outerShdw>
              </a:effectLst>
            </p:spPr>
            <p:txBody>
              <a:bodyPr wrap="none" anchor="ctr"/>
              <a:lstStyle/>
              <a:p>
                <a:pPr algn="ctr">
                  <a:defRPr/>
                </a:pPr>
                <a:r>
                  <a:rPr kumimoji="1" lang="zh-CN" altLang="en-US" sz="1600">
                    <a:latin typeface="Times New Roman" pitchFamily="18" charset="0"/>
                    <a:ea typeface="宋体" pitchFamily="2" charset="-122"/>
                  </a:rPr>
                  <a:t>第一层 </a:t>
                </a:r>
                <a:r>
                  <a:rPr kumimoji="1" lang="en-US" altLang="zh-CN" sz="1600">
                    <a:latin typeface="Times New Roman" pitchFamily="18" charset="0"/>
                    <a:ea typeface="宋体" pitchFamily="2" charset="-122"/>
                  </a:rPr>
                  <a:t>ISP</a:t>
                </a:r>
              </a:p>
            </p:txBody>
          </p:sp>
          <p:sp>
            <p:nvSpPr>
              <p:cNvPr id="55" name="Oval 112"/>
              <p:cNvSpPr>
                <a:spLocks noChangeArrowheads="1"/>
              </p:cNvSpPr>
              <p:nvPr/>
            </p:nvSpPr>
            <p:spPr bwMode="auto">
              <a:xfrm>
                <a:off x="2433638" y="3355975"/>
                <a:ext cx="1058862" cy="533400"/>
              </a:xfrm>
              <a:prstGeom prst="ellipse">
                <a:avLst/>
              </a:prstGeom>
              <a:solidFill>
                <a:schemeClr val="bg1"/>
              </a:solidFill>
              <a:ln w="9525">
                <a:solidFill>
                  <a:schemeClr val="tx1"/>
                </a:solidFill>
                <a:round/>
                <a:headEnd/>
                <a:tailEnd/>
              </a:ln>
              <a:effectLst>
                <a:outerShdw dist="35921" dir="2700000" algn="ctr" rotWithShape="0">
                  <a:schemeClr val="bg2"/>
                </a:outerShdw>
              </a:effectLst>
            </p:spPr>
            <p:txBody>
              <a:bodyPr wrap="none" anchor="ctr"/>
              <a:lstStyle/>
              <a:p>
                <a:pPr algn="ctr">
                  <a:defRPr/>
                </a:pPr>
                <a:r>
                  <a:rPr kumimoji="1" lang="zh-CN" altLang="en-US" sz="1600">
                    <a:latin typeface="Times New Roman" pitchFamily="18" charset="0"/>
                    <a:ea typeface="宋体" pitchFamily="2" charset="-122"/>
                  </a:rPr>
                  <a:t>第二层 </a:t>
                </a:r>
                <a:r>
                  <a:rPr kumimoji="1" lang="en-US" altLang="zh-CN" sz="1600">
                    <a:latin typeface="Times New Roman" pitchFamily="18" charset="0"/>
                    <a:ea typeface="宋体" pitchFamily="2" charset="-122"/>
                  </a:rPr>
                  <a:t>ISP</a:t>
                </a:r>
              </a:p>
            </p:txBody>
          </p:sp>
          <p:sp>
            <p:nvSpPr>
              <p:cNvPr id="56" name="Oval 114"/>
              <p:cNvSpPr>
                <a:spLocks noChangeArrowheads="1"/>
              </p:cNvSpPr>
              <p:nvPr/>
            </p:nvSpPr>
            <p:spPr bwMode="auto">
              <a:xfrm>
                <a:off x="7812088" y="3068638"/>
                <a:ext cx="946150" cy="381000"/>
              </a:xfrm>
              <a:prstGeom prst="ellipse">
                <a:avLst/>
              </a:prstGeom>
              <a:solidFill>
                <a:srgbClr val="EAEAEA"/>
              </a:solidFill>
              <a:ln w="9525">
                <a:noFill/>
                <a:round/>
                <a:headEnd/>
                <a:tailEnd/>
              </a:ln>
              <a:effectLst>
                <a:outerShdw dist="35921" dir="2700000" algn="ctr" rotWithShape="0">
                  <a:schemeClr val="bg2"/>
                </a:outerShdw>
              </a:effectLst>
            </p:spPr>
            <p:txBody>
              <a:bodyPr wrap="none" anchor="ctr"/>
              <a:lstStyle/>
              <a:p>
                <a:pPr algn="ctr">
                  <a:defRPr/>
                </a:pPr>
                <a:r>
                  <a:rPr kumimoji="1" lang="zh-CN" altLang="en-US" sz="1600">
                    <a:latin typeface="Times New Roman" pitchFamily="18" charset="0"/>
                    <a:ea typeface="宋体" pitchFamily="2" charset="-122"/>
                  </a:rPr>
                  <a:t>本地 </a:t>
                </a:r>
                <a:r>
                  <a:rPr kumimoji="1" lang="en-US" altLang="zh-CN" sz="1600">
                    <a:latin typeface="Times New Roman" pitchFamily="18" charset="0"/>
                    <a:ea typeface="宋体" pitchFamily="2" charset="-122"/>
                  </a:rPr>
                  <a:t>ISP</a:t>
                </a:r>
              </a:p>
            </p:txBody>
          </p:sp>
          <p:sp>
            <p:nvSpPr>
              <p:cNvPr id="57" name="Oval 115"/>
              <p:cNvSpPr>
                <a:spLocks noChangeArrowheads="1"/>
              </p:cNvSpPr>
              <p:nvPr/>
            </p:nvSpPr>
            <p:spPr bwMode="auto">
              <a:xfrm>
                <a:off x="6948488" y="3716338"/>
                <a:ext cx="946150" cy="381000"/>
              </a:xfrm>
              <a:prstGeom prst="ellipse">
                <a:avLst/>
              </a:prstGeom>
              <a:solidFill>
                <a:srgbClr val="EAEAEA"/>
              </a:solidFill>
              <a:ln w="9525">
                <a:noFill/>
                <a:round/>
                <a:headEnd/>
                <a:tailEnd/>
              </a:ln>
              <a:effectLst>
                <a:outerShdw dist="35921" dir="2700000" algn="ctr" rotWithShape="0">
                  <a:schemeClr val="bg2"/>
                </a:outerShdw>
              </a:effectLst>
            </p:spPr>
            <p:txBody>
              <a:bodyPr wrap="none" anchor="ctr"/>
              <a:lstStyle/>
              <a:p>
                <a:pPr algn="ctr">
                  <a:defRPr/>
                </a:pPr>
                <a:r>
                  <a:rPr kumimoji="1" lang="zh-CN" altLang="en-US" sz="1600">
                    <a:latin typeface="Times New Roman" pitchFamily="18" charset="0"/>
                    <a:ea typeface="宋体" pitchFamily="2" charset="-122"/>
                  </a:rPr>
                  <a:t>本地 </a:t>
                </a:r>
                <a:r>
                  <a:rPr kumimoji="1" lang="en-US" altLang="zh-CN" sz="1600">
                    <a:latin typeface="Times New Roman" pitchFamily="18" charset="0"/>
                    <a:ea typeface="宋体" pitchFamily="2" charset="-122"/>
                  </a:rPr>
                  <a:t>ISP</a:t>
                </a:r>
              </a:p>
            </p:txBody>
          </p:sp>
          <p:sp>
            <p:nvSpPr>
              <p:cNvPr id="58" name="Line 116"/>
              <p:cNvSpPr>
                <a:spLocks noChangeShapeType="1"/>
              </p:cNvSpPr>
              <p:nvPr/>
            </p:nvSpPr>
            <p:spPr bwMode="auto">
              <a:xfrm flipH="1">
                <a:off x="6948488" y="981075"/>
                <a:ext cx="287337" cy="1008063"/>
              </a:xfrm>
              <a:prstGeom prst="line">
                <a:avLst/>
              </a:prstGeom>
              <a:noFill/>
              <a:ln w="9525">
                <a:solidFill>
                  <a:schemeClr val="tx1"/>
                </a:solidFill>
                <a:round/>
                <a:headEnd/>
                <a:tailEnd/>
              </a:ln>
            </p:spPr>
            <p:txBody>
              <a:bodyPr/>
              <a:lstStyle/>
              <a:p>
                <a:endParaRPr lang="zh-CN" altLang="en-US" sz="1600"/>
              </a:p>
            </p:txBody>
          </p:sp>
          <p:sp>
            <p:nvSpPr>
              <p:cNvPr id="59" name="Line 117"/>
              <p:cNvSpPr>
                <a:spLocks noChangeShapeType="1"/>
              </p:cNvSpPr>
              <p:nvPr/>
            </p:nvSpPr>
            <p:spPr bwMode="auto">
              <a:xfrm flipV="1">
                <a:off x="7019925" y="1484313"/>
                <a:ext cx="720725" cy="431800"/>
              </a:xfrm>
              <a:prstGeom prst="line">
                <a:avLst/>
              </a:prstGeom>
              <a:noFill/>
              <a:ln w="9525">
                <a:solidFill>
                  <a:schemeClr val="tx1"/>
                </a:solidFill>
                <a:round/>
                <a:headEnd/>
                <a:tailEnd/>
              </a:ln>
            </p:spPr>
            <p:txBody>
              <a:bodyPr/>
              <a:lstStyle/>
              <a:p>
                <a:endParaRPr lang="zh-CN" altLang="en-US" sz="1600"/>
              </a:p>
            </p:txBody>
          </p:sp>
          <p:sp>
            <p:nvSpPr>
              <p:cNvPr id="60" name="Oval 118"/>
              <p:cNvSpPr>
                <a:spLocks noChangeArrowheads="1"/>
              </p:cNvSpPr>
              <p:nvPr/>
            </p:nvSpPr>
            <p:spPr bwMode="auto">
              <a:xfrm>
                <a:off x="7308850" y="1339850"/>
                <a:ext cx="946150" cy="381000"/>
              </a:xfrm>
              <a:prstGeom prst="ellipse">
                <a:avLst/>
              </a:prstGeom>
              <a:solidFill>
                <a:srgbClr val="EAEAEA"/>
              </a:solidFill>
              <a:ln w="9525">
                <a:noFill/>
                <a:round/>
                <a:headEnd/>
                <a:tailEnd/>
              </a:ln>
              <a:effectLst>
                <a:outerShdw dist="35921" dir="2700000" algn="ctr" rotWithShape="0">
                  <a:schemeClr val="bg2"/>
                </a:outerShdw>
              </a:effectLst>
            </p:spPr>
            <p:txBody>
              <a:bodyPr wrap="none" anchor="ctr"/>
              <a:lstStyle/>
              <a:p>
                <a:pPr algn="ctr">
                  <a:defRPr/>
                </a:pPr>
                <a:r>
                  <a:rPr kumimoji="1" lang="zh-CN" altLang="en-US" sz="1600">
                    <a:latin typeface="Times New Roman" pitchFamily="18" charset="0"/>
                    <a:ea typeface="宋体" pitchFamily="2" charset="-122"/>
                  </a:rPr>
                  <a:t>本地 </a:t>
                </a:r>
                <a:r>
                  <a:rPr kumimoji="1" lang="en-US" altLang="zh-CN" sz="1600">
                    <a:latin typeface="Times New Roman" pitchFamily="18" charset="0"/>
                    <a:ea typeface="宋体" pitchFamily="2" charset="-122"/>
                  </a:rPr>
                  <a:t>ISP</a:t>
                </a:r>
              </a:p>
            </p:txBody>
          </p:sp>
          <p:sp>
            <p:nvSpPr>
              <p:cNvPr id="61" name="Oval 119"/>
              <p:cNvSpPr>
                <a:spLocks noChangeArrowheads="1"/>
              </p:cNvSpPr>
              <p:nvPr/>
            </p:nvSpPr>
            <p:spPr bwMode="auto">
              <a:xfrm>
                <a:off x="6794500" y="815975"/>
                <a:ext cx="946150" cy="381000"/>
              </a:xfrm>
              <a:prstGeom prst="ellipse">
                <a:avLst/>
              </a:prstGeom>
              <a:solidFill>
                <a:srgbClr val="EAEAEA"/>
              </a:solidFill>
              <a:ln w="9525">
                <a:noFill/>
                <a:round/>
                <a:headEnd/>
                <a:tailEnd/>
              </a:ln>
              <a:effectLst>
                <a:outerShdw dist="35921" dir="2700000" algn="ctr" rotWithShape="0">
                  <a:schemeClr val="bg2"/>
                </a:outerShdw>
              </a:effectLst>
            </p:spPr>
            <p:txBody>
              <a:bodyPr wrap="none" anchor="ctr"/>
              <a:lstStyle/>
              <a:p>
                <a:pPr algn="ctr">
                  <a:defRPr/>
                </a:pPr>
                <a:r>
                  <a:rPr kumimoji="1" lang="zh-CN" altLang="en-US" sz="1600">
                    <a:latin typeface="Times New Roman" pitchFamily="18" charset="0"/>
                    <a:ea typeface="宋体" pitchFamily="2" charset="-122"/>
                  </a:rPr>
                  <a:t>本地 </a:t>
                </a:r>
                <a:r>
                  <a:rPr kumimoji="1" lang="en-US" altLang="zh-CN" sz="1600">
                    <a:latin typeface="Times New Roman" pitchFamily="18" charset="0"/>
                    <a:ea typeface="宋体" pitchFamily="2" charset="-122"/>
                  </a:rPr>
                  <a:t>ISP</a:t>
                </a:r>
              </a:p>
            </p:txBody>
          </p:sp>
          <p:sp>
            <p:nvSpPr>
              <p:cNvPr id="62" name="Line 121"/>
              <p:cNvSpPr>
                <a:spLocks noChangeShapeType="1"/>
              </p:cNvSpPr>
              <p:nvPr/>
            </p:nvSpPr>
            <p:spPr bwMode="auto">
              <a:xfrm>
                <a:off x="3348038" y="1196975"/>
                <a:ext cx="215900" cy="647700"/>
              </a:xfrm>
              <a:prstGeom prst="line">
                <a:avLst/>
              </a:prstGeom>
              <a:noFill/>
              <a:ln w="9525">
                <a:solidFill>
                  <a:schemeClr val="tx1"/>
                </a:solidFill>
                <a:round/>
                <a:headEnd/>
                <a:tailEnd/>
              </a:ln>
            </p:spPr>
            <p:txBody>
              <a:bodyPr/>
              <a:lstStyle/>
              <a:p>
                <a:endParaRPr lang="zh-CN" altLang="en-US" sz="1600"/>
              </a:p>
            </p:txBody>
          </p:sp>
          <p:sp>
            <p:nvSpPr>
              <p:cNvPr id="63" name="Oval 122"/>
              <p:cNvSpPr>
                <a:spLocks noChangeArrowheads="1"/>
              </p:cNvSpPr>
              <p:nvPr/>
            </p:nvSpPr>
            <p:spPr bwMode="auto">
              <a:xfrm>
                <a:off x="2987675" y="1662113"/>
                <a:ext cx="1079500" cy="685800"/>
              </a:xfrm>
              <a:prstGeom prst="ellipse">
                <a:avLst/>
              </a:prstGeom>
              <a:solidFill>
                <a:srgbClr val="EAEAEA"/>
              </a:solidFill>
              <a:ln w="19050">
                <a:solidFill>
                  <a:schemeClr val="tx1"/>
                </a:solidFill>
                <a:round/>
                <a:headEnd/>
                <a:tailEnd/>
              </a:ln>
              <a:effectLst>
                <a:outerShdw dist="35921" dir="2700000" algn="ctr" rotWithShape="0">
                  <a:schemeClr val="bg2"/>
                </a:outerShdw>
              </a:effectLst>
            </p:spPr>
            <p:txBody>
              <a:bodyPr wrap="none" anchor="ctr"/>
              <a:lstStyle/>
              <a:p>
                <a:pPr algn="ctr">
                  <a:defRPr/>
                </a:pPr>
                <a:r>
                  <a:rPr kumimoji="1" lang="zh-CN" altLang="en-US" sz="1600" dirty="0">
                    <a:latin typeface="Times New Roman" pitchFamily="18" charset="0"/>
                    <a:ea typeface="宋体" pitchFamily="2" charset="-122"/>
                  </a:rPr>
                  <a:t>第一层 </a:t>
                </a:r>
                <a:r>
                  <a:rPr kumimoji="1" lang="en-US" altLang="zh-CN" sz="1600" dirty="0">
                    <a:latin typeface="Times New Roman" pitchFamily="18" charset="0"/>
                    <a:ea typeface="宋体" pitchFamily="2" charset="-122"/>
                  </a:rPr>
                  <a:t>ISP</a:t>
                </a:r>
              </a:p>
            </p:txBody>
          </p:sp>
          <p:sp>
            <p:nvSpPr>
              <p:cNvPr id="64" name="Text Box 123"/>
              <p:cNvSpPr txBox="1">
                <a:spLocks noChangeArrowheads="1"/>
              </p:cNvSpPr>
              <p:nvPr/>
            </p:nvSpPr>
            <p:spPr bwMode="auto">
              <a:xfrm>
                <a:off x="4140200" y="1228725"/>
                <a:ext cx="800219" cy="338554"/>
              </a:xfrm>
              <a:prstGeom prst="rect">
                <a:avLst/>
              </a:prstGeom>
              <a:noFill/>
              <a:ln w="9525">
                <a:noFill/>
                <a:miter lim="800000"/>
                <a:headEnd/>
                <a:tailEnd/>
              </a:ln>
            </p:spPr>
            <p:txBody>
              <a:bodyPr wrap="none">
                <a:spAutoFit/>
              </a:bodyPr>
              <a:lstStyle/>
              <a:p>
                <a:r>
                  <a:rPr kumimoji="1" lang="zh-CN" altLang="en-US" sz="1600">
                    <a:latin typeface="Times New Roman" pitchFamily="18" charset="0"/>
                  </a:rPr>
                  <a:t>第一层</a:t>
                </a:r>
              </a:p>
            </p:txBody>
          </p:sp>
          <p:sp>
            <p:nvSpPr>
              <p:cNvPr id="65" name="Text Box 124"/>
              <p:cNvSpPr txBox="1">
                <a:spLocks noChangeArrowheads="1"/>
              </p:cNvSpPr>
              <p:nvPr/>
            </p:nvSpPr>
            <p:spPr bwMode="auto">
              <a:xfrm>
                <a:off x="4425950" y="665163"/>
                <a:ext cx="800219" cy="338554"/>
              </a:xfrm>
              <a:prstGeom prst="rect">
                <a:avLst/>
              </a:prstGeom>
              <a:noFill/>
              <a:ln w="9525">
                <a:noFill/>
                <a:miter lim="800000"/>
                <a:headEnd/>
                <a:tailEnd/>
              </a:ln>
            </p:spPr>
            <p:txBody>
              <a:bodyPr wrap="none">
                <a:spAutoFit/>
              </a:bodyPr>
              <a:lstStyle/>
              <a:p>
                <a:r>
                  <a:rPr kumimoji="1" lang="zh-CN" altLang="en-US" sz="1600">
                    <a:latin typeface="Times New Roman" pitchFamily="18" charset="0"/>
                  </a:rPr>
                  <a:t>第二层</a:t>
                </a:r>
              </a:p>
            </p:txBody>
          </p:sp>
          <p:sp>
            <p:nvSpPr>
              <p:cNvPr id="66" name="Text Box 125"/>
              <p:cNvSpPr txBox="1">
                <a:spLocks noChangeArrowheads="1"/>
              </p:cNvSpPr>
              <p:nvPr/>
            </p:nvSpPr>
            <p:spPr bwMode="auto">
              <a:xfrm>
                <a:off x="4572000" y="161925"/>
                <a:ext cx="800219" cy="338554"/>
              </a:xfrm>
              <a:prstGeom prst="rect">
                <a:avLst/>
              </a:prstGeom>
              <a:noFill/>
              <a:ln w="9525">
                <a:noFill/>
                <a:miter lim="800000"/>
                <a:headEnd/>
                <a:tailEnd/>
              </a:ln>
            </p:spPr>
            <p:txBody>
              <a:bodyPr wrap="none">
                <a:spAutoFit/>
              </a:bodyPr>
              <a:lstStyle/>
              <a:p>
                <a:r>
                  <a:rPr kumimoji="1" lang="zh-CN" altLang="en-US" sz="1600">
                    <a:latin typeface="Times New Roman" pitchFamily="18" charset="0"/>
                  </a:rPr>
                  <a:t>第三层</a:t>
                </a:r>
              </a:p>
            </p:txBody>
          </p:sp>
          <p:sp>
            <p:nvSpPr>
              <p:cNvPr id="67" name="Line 126"/>
              <p:cNvSpPr>
                <a:spLocks noChangeShapeType="1"/>
              </p:cNvSpPr>
              <p:nvPr/>
            </p:nvSpPr>
            <p:spPr bwMode="auto">
              <a:xfrm>
                <a:off x="7019925" y="2060575"/>
                <a:ext cx="1152525" cy="360363"/>
              </a:xfrm>
              <a:prstGeom prst="line">
                <a:avLst/>
              </a:prstGeom>
              <a:noFill/>
              <a:ln w="9525">
                <a:solidFill>
                  <a:schemeClr val="tx1"/>
                </a:solidFill>
                <a:round/>
                <a:headEnd/>
                <a:tailEnd/>
              </a:ln>
            </p:spPr>
            <p:txBody>
              <a:bodyPr/>
              <a:lstStyle/>
              <a:p>
                <a:endParaRPr lang="zh-CN" altLang="en-US" sz="1600"/>
              </a:p>
            </p:txBody>
          </p:sp>
          <p:sp>
            <p:nvSpPr>
              <p:cNvPr id="68" name="Oval 127"/>
              <p:cNvSpPr>
                <a:spLocks noChangeArrowheads="1"/>
              </p:cNvSpPr>
              <p:nvPr/>
            </p:nvSpPr>
            <p:spPr bwMode="auto">
              <a:xfrm>
                <a:off x="7885113" y="2205038"/>
                <a:ext cx="946150" cy="381000"/>
              </a:xfrm>
              <a:prstGeom prst="ellipse">
                <a:avLst/>
              </a:prstGeom>
              <a:solidFill>
                <a:srgbClr val="EAEAEA"/>
              </a:solidFill>
              <a:ln w="9525">
                <a:noFill/>
                <a:round/>
                <a:headEnd/>
                <a:tailEnd/>
              </a:ln>
              <a:effectLst>
                <a:outerShdw dist="35921" dir="2700000" algn="ctr" rotWithShape="0">
                  <a:schemeClr val="bg2"/>
                </a:outerShdw>
              </a:effectLst>
            </p:spPr>
            <p:txBody>
              <a:bodyPr wrap="none" anchor="ctr"/>
              <a:lstStyle/>
              <a:p>
                <a:pPr algn="ctr">
                  <a:defRPr/>
                </a:pPr>
                <a:r>
                  <a:rPr kumimoji="1" lang="zh-CN" altLang="en-US" sz="1600">
                    <a:latin typeface="Times New Roman" pitchFamily="18" charset="0"/>
                    <a:ea typeface="宋体" pitchFamily="2" charset="-122"/>
                  </a:rPr>
                  <a:t>本地 </a:t>
                </a:r>
                <a:r>
                  <a:rPr kumimoji="1" lang="en-US" altLang="zh-CN" sz="1600">
                    <a:latin typeface="Times New Roman" pitchFamily="18" charset="0"/>
                    <a:ea typeface="宋体" pitchFamily="2" charset="-122"/>
                  </a:rPr>
                  <a:t>ISP</a:t>
                </a:r>
              </a:p>
            </p:txBody>
          </p:sp>
          <p:sp>
            <p:nvSpPr>
              <p:cNvPr id="69" name="Line 128"/>
              <p:cNvSpPr>
                <a:spLocks noChangeShapeType="1"/>
              </p:cNvSpPr>
              <p:nvPr/>
            </p:nvSpPr>
            <p:spPr bwMode="auto">
              <a:xfrm>
                <a:off x="2268538" y="836613"/>
                <a:ext cx="863600" cy="288925"/>
              </a:xfrm>
              <a:prstGeom prst="line">
                <a:avLst/>
              </a:prstGeom>
              <a:noFill/>
              <a:ln w="9525">
                <a:solidFill>
                  <a:schemeClr val="tx1"/>
                </a:solidFill>
                <a:round/>
                <a:headEnd/>
                <a:tailEnd/>
              </a:ln>
            </p:spPr>
            <p:txBody>
              <a:bodyPr/>
              <a:lstStyle/>
              <a:p>
                <a:endParaRPr lang="zh-CN" altLang="en-US" sz="1600"/>
              </a:p>
            </p:txBody>
          </p:sp>
          <p:sp>
            <p:nvSpPr>
              <p:cNvPr id="70" name="Line 129"/>
              <p:cNvSpPr>
                <a:spLocks noChangeShapeType="1"/>
              </p:cNvSpPr>
              <p:nvPr/>
            </p:nvSpPr>
            <p:spPr bwMode="auto">
              <a:xfrm flipH="1">
                <a:off x="3348038" y="404813"/>
                <a:ext cx="144462" cy="720725"/>
              </a:xfrm>
              <a:prstGeom prst="line">
                <a:avLst/>
              </a:prstGeom>
              <a:noFill/>
              <a:ln w="9525">
                <a:solidFill>
                  <a:schemeClr val="tx1"/>
                </a:solidFill>
                <a:round/>
                <a:headEnd/>
                <a:tailEnd/>
              </a:ln>
            </p:spPr>
            <p:txBody>
              <a:bodyPr/>
              <a:lstStyle/>
              <a:p>
                <a:endParaRPr lang="zh-CN" altLang="en-US" sz="1600"/>
              </a:p>
            </p:txBody>
          </p:sp>
          <p:sp>
            <p:nvSpPr>
              <p:cNvPr id="71" name="Oval 130"/>
              <p:cNvSpPr>
                <a:spLocks noChangeArrowheads="1"/>
              </p:cNvSpPr>
              <p:nvPr/>
            </p:nvSpPr>
            <p:spPr bwMode="auto">
              <a:xfrm>
                <a:off x="2700338" y="879475"/>
                <a:ext cx="1058862" cy="533400"/>
              </a:xfrm>
              <a:prstGeom prst="ellipse">
                <a:avLst/>
              </a:prstGeom>
              <a:solidFill>
                <a:schemeClr val="bg1"/>
              </a:solidFill>
              <a:ln w="9525">
                <a:solidFill>
                  <a:schemeClr val="tx1"/>
                </a:solidFill>
                <a:round/>
                <a:headEnd/>
                <a:tailEnd/>
              </a:ln>
              <a:effectLst>
                <a:outerShdw dist="35921" dir="2700000" algn="ctr" rotWithShape="0">
                  <a:schemeClr val="bg2"/>
                </a:outerShdw>
              </a:effectLst>
            </p:spPr>
            <p:txBody>
              <a:bodyPr wrap="none" anchor="ctr"/>
              <a:lstStyle/>
              <a:p>
                <a:pPr algn="ctr">
                  <a:defRPr/>
                </a:pPr>
                <a:r>
                  <a:rPr kumimoji="1" lang="zh-CN" altLang="en-US" sz="1600">
                    <a:latin typeface="Times New Roman" pitchFamily="18" charset="0"/>
                    <a:ea typeface="宋体" pitchFamily="2" charset="-122"/>
                  </a:rPr>
                  <a:t>第二层 </a:t>
                </a:r>
                <a:r>
                  <a:rPr kumimoji="1" lang="en-US" altLang="zh-CN" sz="1600">
                    <a:latin typeface="Times New Roman" pitchFamily="18" charset="0"/>
                    <a:ea typeface="宋体" pitchFamily="2" charset="-122"/>
                  </a:rPr>
                  <a:t>ISP</a:t>
                </a:r>
              </a:p>
            </p:txBody>
          </p:sp>
          <p:sp>
            <p:nvSpPr>
              <p:cNvPr id="72" name="Oval 131"/>
              <p:cNvSpPr>
                <a:spLocks noChangeArrowheads="1"/>
              </p:cNvSpPr>
              <p:nvPr/>
            </p:nvSpPr>
            <p:spPr bwMode="auto">
              <a:xfrm>
                <a:off x="2987675" y="188913"/>
                <a:ext cx="946150" cy="436562"/>
              </a:xfrm>
              <a:prstGeom prst="ellipse">
                <a:avLst/>
              </a:prstGeom>
              <a:solidFill>
                <a:srgbClr val="EAEAEA"/>
              </a:solidFill>
              <a:ln w="9525">
                <a:noFill/>
                <a:round/>
                <a:headEnd/>
                <a:tailEnd/>
              </a:ln>
              <a:effectLst>
                <a:outerShdw dist="35921" dir="2700000" algn="ctr" rotWithShape="0">
                  <a:schemeClr val="bg2"/>
                </a:outerShdw>
              </a:effectLst>
            </p:spPr>
            <p:txBody>
              <a:bodyPr wrap="none" anchor="ctr"/>
              <a:lstStyle/>
              <a:p>
                <a:pPr algn="ctr">
                  <a:defRPr/>
                </a:pPr>
                <a:r>
                  <a:rPr kumimoji="1" lang="zh-CN" altLang="en-US" sz="1600">
                    <a:latin typeface="Times New Roman" pitchFamily="18" charset="0"/>
                    <a:ea typeface="宋体" pitchFamily="2" charset="-122"/>
                  </a:rPr>
                  <a:t>本地 </a:t>
                </a:r>
                <a:r>
                  <a:rPr kumimoji="1" lang="en-US" altLang="zh-CN" sz="1600">
                    <a:latin typeface="Times New Roman" pitchFamily="18" charset="0"/>
                    <a:ea typeface="宋体" pitchFamily="2" charset="-122"/>
                  </a:rPr>
                  <a:t>ISP</a:t>
                </a:r>
              </a:p>
            </p:txBody>
          </p:sp>
          <p:sp>
            <p:nvSpPr>
              <p:cNvPr id="73" name="Oval 132"/>
              <p:cNvSpPr>
                <a:spLocks noChangeArrowheads="1"/>
              </p:cNvSpPr>
              <p:nvPr/>
            </p:nvSpPr>
            <p:spPr bwMode="auto">
              <a:xfrm>
                <a:off x="1692275" y="620713"/>
                <a:ext cx="946150" cy="436562"/>
              </a:xfrm>
              <a:prstGeom prst="ellipse">
                <a:avLst/>
              </a:prstGeom>
              <a:solidFill>
                <a:srgbClr val="EAEAEA"/>
              </a:solidFill>
              <a:ln w="9525">
                <a:noFill/>
                <a:round/>
                <a:headEnd/>
                <a:tailEnd/>
              </a:ln>
              <a:effectLst>
                <a:outerShdw dist="35921" dir="2700000" algn="ctr" rotWithShape="0">
                  <a:schemeClr val="bg2"/>
                </a:outerShdw>
              </a:effectLst>
            </p:spPr>
            <p:txBody>
              <a:bodyPr wrap="none" anchor="ctr"/>
              <a:lstStyle/>
              <a:p>
                <a:pPr algn="ctr">
                  <a:defRPr/>
                </a:pPr>
                <a:r>
                  <a:rPr kumimoji="1" lang="zh-CN" altLang="en-US" sz="1600">
                    <a:latin typeface="Times New Roman" pitchFamily="18" charset="0"/>
                    <a:ea typeface="宋体" pitchFamily="2" charset="-122"/>
                  </a:rPr>
                  <a:t>本地 </a:t>
                </a:r>
                <a:r>
                  <a:rPr kumimoji="1" lang="en-US" altLang="zh-CN" sz="1600">
                    <a:latin typeface="Times New Roman" pitchFamily="18" charset="0"/>
                    <a:ea typeface="宋体" pitchFamily="2" charset="-122"/>
                  </a:rPr>
                  <a:t>ISP</a:t>
                </a:r>
              </a:p>
            </p:txBody>
          </p:sp>
          <p:sp>
            <p:nvSpPr>
              <p:cNvPr id="74" name="Line 133"/>
              <p:cNvSpPr>
                <a:spLocks noChangeShapeType="1"/>
              </p:cNvSpPr>
              <p:nvPr/>
            </p:nvSpPr>
            <p:spPr bwMode="auto">
              <a:xfrm>
                <a:off x="1116013" y="2349500"/>
                <a:ext cx="792162" cy="287338"/>
              </a:xfrm>
              <a:prstGeom prst="line">
                <a:avLst/>
              </a:prstGeom>
              <a:noFill/>
              <a:ln w="9525">
                <a:solidFill>
                  <a:schemeClr val="tx1"/>
                </a:solidFill>
                <a:round/>
                <a:headEnd/>
                <a:tailEnd/>
              </a:ln>
            </p:spPr>
            <p:txBody>
              <a:bodyPr/>
              <a:lstStyle/>
              <a:p>
                <a:endParaRPr lang="zh-CN" altLang="en-US" sz="1600"/>
              </a:p>
            </p:txBody>
          </p:sp>
          <p:sp>
            <p:nvSpPr>
              <p:cNvPr id="75" name="Line 134"/>
              <p:cNvSpPr>
                <a:spLocks noChangeShapeType="1"/>
              </p:cNvSpPr>
              <p:nvPr/>
            </p:nvSpPr>
            <p:spPr bwMode="auto">
              <a:xfrm flipV="1">
                <a:off x="1116013" y="2708275"/>
                <a:ext cx="863600" cy="433388"/>
              </a:xfrm>
              <a:prstGeom prst="line">
                <a:avLst/>
              </a:prstGeom>
              <a:noFill/>
              <a:ln w="9525">
                <a:solidFill>
                  <a:schemeClr val="tx1"/>
                </a:solidFill>
                <a:round/>
                <a:headEnd/>
                <a:tailEnd/>
              </a:ln>
            </p:spPr>
            <p:txBody>
              <a:bodyPr/>
              <a:lstStyle/>
              <a:p>
                <a:endParaRPr lang="zh-CN" altLang="en-US" sz="1600"/>
              </a:p>
            </p:txBody>
          </p:sp>
          <p:sp>
            <p:nvSpPr>
              <p:cNvPr id="76" name="Oval 135"/>
              <p:cNvSpPr>
                <a:spLocks noChangeArrowheads="1"/>
              </p:cNvSpPr>
              <p:nvPr/>
            </p:nvSpPr>
            <p:spPr bwMode="auto">
              <a:xfrm>
                <a:off x="468313" y="2060575"/>
                <a:ext cx="946150" cy="436563"/>
              </a:xfrm>
              <a:prstGeom prst="ellipse">
                <a:avLst/>
              </a:prstGeom>
              <a:solidFill>
                <a:srgbClr val="EAEAEA"/>
              </a:solidFill>
              <a:ln w="9525">
                <a:noFill/>
                <a:round/>
                <a:headEnd/>
                <a:tailEnd/>
              </a:ln>
              <a:effectLst>
                <a:outerShdw dist="35921" dir="2700000" algn="ctr" rotWithShape="0">
                  <a:schemeClr val="bg2"/>
                </a:outerShdw>
              </a:effectLst>
            </p:spPr>
            <p:txBody>
              <a:bodyPr wrap="none" anchor="ctr"/>
              <a:lstStyle/>
              <a:p>
                <a:pPr algn="ctr">
                  <a:defRPr/>
                </a:pPr>
                <a:r>
                  <a:rPr kumimoji="1" lang="zh-CN" altLang="en-US" sz="1600">
                    <a:latin typeface="Times New Roman" pitchFamily="18" charset="0"/>
                    <a:ea typeface="宋体" pitchFamily="2" charset="-122"/>
                  </a:rPr>
                  <a:t>本地 </a:t>
                </a:r>
                <a:r>
                  <a:rPr kumimoji="1" lang="en-US" altLang="zh-CN" sz="1600">
                    <a:latin typeface="Times New Roman" pitchFamily="18" charset="0"/>
                    <a:ea typeface="宋体" pitchFamily="2" charset="-122"/>
                  </a:rPr>
                  <a:t>ISP</a:t>
                </a:r>
              </a:p>
            </p:txBody>
          </p:sp>
          <p:sp>
            <p:nvSpPr>
              <p:cNvPr id="77" name="Oval 136"/>
              <p:cNvSpPr>
                <a:spLocks noChangeArrowheads="1"/>
              </p:cNvSpPr>
              <p:nvPr/>
            </p:nvSpPr>
            <p:spPr bwMode="auto">
              <a:xfrm>
                <a:off x="539750" y="2924175"/>
                <a:ext cx="946150" cy="436563"/>
              </a:xfrm>
              <a:prstGeom prst="ellipse">
                <a:avLst/>
              </a:prstGeom>
              <a:solidFill>
                <a:srgbClr val="EAEAEA"/>
              </a:solidFill>
              <a:ln w="9525">
                <a:noFill/>
                <a:round/>
                <a:headEnd/>
                <a:tailEnd/>
              </a:ln>
              <a:effectLst>
                <a:outerShdw dist="35921" dir="2700000" algn="ctr" rotWithShape="0">
                  <a:schemeClr val="bg2"/>
                </a:outerShdw>
              </a:effectLst>
            </p:spPr>
            <p:txBody>
              <a:bodyPr wrap="none" anchor="ctr"/>
              <a:lstStyle/>
              <a:p>
                <a:pPr algn="ctr">
                  <a:defRPr/>
                </a:pPr>
                <a:r>
                  <a:rPr kumimoji="1" lang="zh-CN" altLang="en-US" sz="1600">
                    <a:latin typeface="Times New Roman" pitchFamily="18" charset="0"/>
                    <a:ea typeface="宋体" pitchFamily="2" charset="-122"/>
                  </a:rPr>
                  <a:t>本地 </a:t>
                </a:r>
                <a:r>
                  <a:rPr kumimoji="1" lang="en-US" altLang="zh-CN" sz="1600">
                    <a:latin typeface="Times New Roman" pitchFamily="18" charset="0"/>
                    <a:ea typeface="宋体" pitchFamily="2" charset="-122"/>
                  </a:rPr>
                  <a:t>ISP</a:t>
                </a:r>
              </a:p>
            </p:txBody>
          </p:sp>
          <p:sp>
            <p:nvSpPr>
              <p:cNvPr id="78" name="Line 137"/>
              <p:cNvSpPr>
                <a:spLocks noChangeShapeType="1"/>
              </p:cNvSpPr>
              <p:nvPr/>
            </p:nvSpPr>
            <p:spPr bwMode="auto">
              <a:xfrm>
                <a:off x="1258888" y="1628775"/>
                <a:ext cx="720725" cy="1008063"/>
              </a:xfrm>
              <a:prstGeom prst="line">
                <a:avLst/>
              </a:prstGeom>
              <a:noFill/>
              <a:ln w="9525">
                <a:solidFill>
                  <a:schemeClr val="tx1"/>
                </a:solidFill>
                <a:round/>
                <a:headEnd/>
                <a:tailEnd/>
              </a:ln>
            </p:spPr>
            <p:txBody>
              <a:bodyPr/>
              <a:lstStyle/>
              <a:p>
                <a:endParaRPr lang="zh-CN" altLang="en-US" sz="1600"/>
              </a:p>
            </p:txBody>
          </p:sp>
          <p:sp>
            <p:nvSpPr>
              <p:cNvPr id="79" name="Oval 138"/>
              <p:cNvSpPr>
                <a:spLocks noChangeArrowheads="1"/>
              </p:cNvSpPr>
              <p:nvPr/>
            </p:nvSpPr>
            <p:spPr bwMode="auto">
              <a:xfrm>
                <a:off x="1476375" y="2420938"/>
                <a:ext cx="1058863" cy="533400"/>
              </a:xfrm>
              <a:prstGeom prst="ellipse">
                <a:avLst/>
              </a:prstGeom>
              <a:solidFill>
                <a:schemeClr val="bg1"/>
              </a:solidFill>
              <a:ln w="9525">
                <a:solidFill>
                  <a:schemeClr val="tx1"/>
                </a:solidFill>
                <a:round/>
                <a:headEnd/>
                <a:tailEnd/>
              </a:ln>
              <a:effectLst>
                <a:outerShdw dist="35921" dir="2700000" algn="ctr" rotWithShape="0">
                  <a:schemeClr val="bg2"/>
                </a:outerShdw>
              </a:effectLst>
            </p:spPr>
            <p:txBody>
              <a:bodyPr wrap="none" anchor="ctr"/>
              <a:lstStyle/>
              <a:p>
                <a:pPr algn="ctr">
                  <a:defRPr/>
                </a:pPr>
                <a:r>
                  <a:rPr kumimoji="1" lang="zh-CN" altLang="en-US" sz="1600">
                    <a:latin typeface="Times New Roman" pitchFamily="18" charset="0"/>
                    <a:ea typeface="宋体" pitchFamily="2" charset="-122"/>
                  </a:rPr>
                  <a:t>第二层 </a:t>
                </a:r>
                <a:r>
                  <a:rPr kumimoji="1" lang="en-US" altLang="zh-CN" sz="1600">
                    <a:latin typeface="Times New Roman" pitchFamily="18" charset="0"/>
                    <a:ea typeface="宋体" pitchFamily="2" charset="-122"/>
                  </a:rPr>
                  <a:t>ISP</a:t>
                </a:r>
              </a:p>
            </p:txBody>
          </p:sp>
          <p:sp>
            <p:nvSpPr>
              <p:cNvPr id="80" name="Oval 139"/>
              <p:cNvSpPr>
                <a:spLocks noChangeArrowheads="1"/>
              </p:cNvSpPr>
              <p:nvPr/>
            </p:nvSpPr>
            <p:spPr bwMode="auto">
              <a:xfrm>
                <a:off x="755650" y="1336675"/>
                <a:ext cx="946150" cy="436563"/>
              </a:xfrm>
              <a:prstGeom prst="ellipse">
                <a:avLst/>
              </a:prstGeom>
              <a:solidFill>
                <a:srgbClr val="EAEAEA"/>
              </a:solidFill>
              <a:ln w="9525">
                <a:noFill/>
                <a:round/>
                <a:headEnd/>
                <a:tailEnd/>
              </a:ln>
              <a:effectLst>
                <a:outerShdw dist="35921" dir="2700000" algn="ctr" rotWithShape="0">
                  <a:schemeClr val="bg2"/>
                </a:outerShdw>
              </a:effectLst>
            </p:spPr>
            <p:txBody>
              <a:bodyPr wrap="none" anchor="ctr"/>
              <a:lstStyle/>
              <a:p>
                <a:pPr algn="ctr">
                  <a:defRPr/>
                </a:pPr>
                <a:r>
                  <a:rPr kumimoji="1" lang="zh-CN" altLang="en-US" sz="1600">
                    <a:latin typeface="Times New Roman" pitchFamily="18" charset="0"/>
                    <a:ea typeface="宋体" pitchFamily="2" charset="-122"/>
                  </a:rPr>
                  <a:t>本地 </a:t>
                </a:r>
                <a:r>
                  <a:rPr kumimoji="1" lang="en-US" altLang="zh-CN" sz="1600">
                    <a:latin typeface="Times New Roman" pitchFamily="18" charset="0"/>
                    <a:ea typeface="宋体" pitchFamily="2" charset="-122"/>
                  </a:rPr>
                  <a:t>ISP</a:t>
                </a:r>
              </a:p>
            </p:txBody>
          </p:sp>
          <p:sp>
            <p:nvSpPr>
              <p:cNvPr id="81" name="Line 140"/>
              <p:cNvSpPr>
                <a:spLocks noChangeShapeType="1"/>
              </p:cNvSpPr>
              <p:nvPr/>
            </p:nvSpPr>
            <p:spPr bwMode="auto">
              <a:xfrm>
                <a:off x="6443663" y="620713"/>
                <a:ext cx="433387" cy="1439862"/>
              </a:xfrm>
              <a:prstGeom prst="line">
                <a:avLst/>
              </a:prstGeom>
              <a:noFill/>
              <a:ln w="9525">
                <a:solidFill>
                  <a:schemeClr val="tx1"/>
                </a:solidFill>
                <a:round/>
                <a:headEnd/>
                <a:tailEnd/>
              </a:ln>
            </p:spPr>
            <p:txBody>
              <a:bodyPr/>
              <a:lstStyle/>
              <a:p>
                <a:endParaRPr lang="zh-CN" altLang="en-US" sz="1600"/>
              </a:p>
            </p:txBody>
          </p:sp>
          <p:sp>
            <p:nvSpPr>
              <p:cNvPr id="82" name="Oval 141"/>
              <p:cNvSpPr>
                <a:spLocks noChangeArrowheads="1"/>
              </p:cNvSpPr>
              <p:nvPr/>
            </p:nvSpPr>
            <p:spPr bwMode="auto">
              <a:xfrm>
                <a:off x="5940425" y="404813"/>
                <a:ext cx="946150" cy="381000"/>
              </a:xfrm>
              <a:prstGeom prst="ellipse">
                <a:avLst/>
              </a:prstGeom>
              <a:solidFill>
                <a:srgbClr val="EAEAEA"/>
              </a:solidFill>
              <a:ln w="9525">
                <a:noFill/>
                <a:round/>
                <a:headEnd/>
                <a:tailEnd/>
              </a:ln>
              <a:effectLst>
                <a:outerShdw dist="35921" dir="2700000" algn="ctr" rotWithShape="0">
                  <a:schemeClr val="bg2"/>
                </a:outerShdw>
              </a:effectLst>
            </p:spPr>
            <p:txBody>
              <a:bodyPr wrap="none" anchor="ctr"/>
              <a:lstStyle/>
              <a:p>
                <a:pPr algn="ctr">
                  <a:defRPr/>
                </a:pPr>
                <a:r>
                  <a:rPr kumimoji="1" lang="zh-CN" altLang="en-US" sz="1600">
                    <a:latin typeface="Times New Roman" pitchFamily="18" charset="0"/>
                    <a:ea typeface="宋体" pitchFamily="2" charset="-122"/>
                  </a:rPr>
                  <a:t>本地 </a:t>
                </a:r>
                <a:r>
                  <a:rPr kumimoji="1" lang="en-US" altLang="zh-CN" sz="1600">
                    <a:latin typeface="Times New Roman" pitchFamily="18" charset="0"/>
                    <a:ea typeface="宋体" pitchFamily="2" charset="-122"/>
                  </a:rPr>
                  <a:t>ISP</a:t>
                </a:r>
              </a:p>
            </p:txBody>
          </p:sp>
          <p:sp>
            <p:nvSpPr>
              <p:cNvPr id="83" name="Oval 142"/>
              <p:cNvSpPr>
                <a:spLocks noChangeArrowheads="1"/>
              </p:cNvSpPr>
              <p:nvPr/>
            </p:nvSpPr>
            <p:spPr bwMode="auto">
              <a:xfrm>
                <a:off x="6372225" y="1771650"/>
                <a:ext cx="1058863" cy="533400"/>
              </a:xfrm>
              <a:prstGeom prst="ellipse">
                <a:avLst/>
              </a:prstGeom>
              <a:solidFill>
                <a:schemeClr val="bg1"/>
              </a:solidFill>
              <a:ln w="9525">
                <a:solidFill>
                  <a:schemeClr val="tx1"/>
                </a:solidFill>
                <a:round/>
                <a:headEnd/>
                <a:tailEnd/>
              </a:ln>
              <a:effectLst>
                <a:outerShdw dist="35921" dir="2700000" algn="ctr" rotWithShape="0">
                  <a:schemeClr val="bg2"/>
                </a:outerShdw>
              </a:effectLst>
            </p:spPr>
            <p:txBody>
              <a:bodyPr wrap="none" anchor="ctr"/>
              <a:lstStyle/>
              <a:p>
                <a:pPr algn="ctr">
                  <a:defRPr/>
                </a:pPr>
                <a:r>
                  <a:rPr kumimoji="1" lang="zh-CN" altLang="en-US" sz="1600">
                    <a:latin typeface="Times New Roman" pitchFamily="18" charset="0"/>
                    <a:ea typeface="宋体" pitchFamily="2" charset="-122"/>
                  </a:rPr>
                  <a:t>第二层 </a:t>
                </a:r>
                <a:r>
                  <a:rPr kumimoji="1" lang="en-US" altLang="zh-CN" sz="1600">
                    <a:latin typeface="Times New Roman" pitchFamily="18" charset="0"/>
                    <a:ea typeface="宋体" pitchFamily="2" charset="-122"/>
                  </a:rPr>
                  <a:t>ISP</a:t>
                </a:r>
              </a:p>
            </p:txBody>
          </p:sp>
          <p:pic>
            <p:nvPicPr>
              <p:cNvPr id="84" name="Picture 98"/>
              <p:cNvPicPr>
                <a:picLocks noChangeArrowheads="1"/>
              </p:cNvPicPr>
              <p:nvPr/>
            </p:nvPicPr>
            <p:blipFill>
              <a:blip r:embed="rId2" cstate="print"/>
              <a:srcRect/>
              <a:stretch>
                <a:fillRect/>
              </a:stretch>
            </p:blipFill>
            <p:spPr bwMode="auto">
              <a:xfrm>
                <a:off x="3571869" y="5519338"/>
                <a:ext cx="357190" cy="269874"/>
              </a:xfrm>
              <a:prstGeom prst="rect">
                <a:avLst/>
              </a:prstGeom>
              <a:noFill/>
              <a:ln w="9525">
                <a:noFill/>
                <a:miter lim="800000"/>
                <a:headEnd/>
                <a:tailEnd/>
              </a:ln>
            </p:spPr>
          </p:pic>
          <p:sp>
            <p:nvSpPr>
              <p:cNvPr id="85" name="TextBox 141"/>
              <p:cNvSpPr txBox="1"/>
              <p:nvPr/>
            </p:nvSpPr>
            <p:spPr>
              <a:xfrm>
                <a:off x="3357554" y="5733652"/>
                <a:ext cx="1005403" cy="338554"/>
              </a:xfrm>
              <a:prstGeom prst="rect">
                <a:avLst/>
              </a:prstGeom>
              <a:noFill/>
            </p:spPr>
            <p:txBody>
              <a:bodyPr wrap="none" rtlCol="0">
                <a:spAutoFit/>
              </a:bodyPr>
              <a:lstStyle/>
              <a:p>
                <a:r>
                  <a:rPr lang="zh-CN" altLang="en-US" sz="1600" dirty="0"/>
                  <a:t>企业用户</a:t>
                </a:r>
              </a:p>
            </p:txBody>
          </p:sp>
          <p:pic>
            <p:nvPicPr>
              <p:cNvPr id="86" name="Picture 98"/>
              <p:cNvPicPr>
                <a:picLocks noChangeArrowheads="1"/>
              </p:cNvPicPr>
              <p:nvPr/>
            </p:nvPicPr>
            <p:blipFill>
              <a:blip r:embed="rId2" cstate="print"/>
              <a:srcRect/>
              <a:stretch>
                <a:fillRect/>
              </a:stretch>
            </p:blipFill>
            <p:spPr bwMode="auto">
              <a:xfrm>
                <a:off x="5495424" y="5357826"/>
                <a:ext cx="357190" cy="269874"/>
              </a:xfrm>
              <a:prstGeom prst="rect">
                <a:avLst/>
              </a:prstGeom>
              <a:noFill/>
              <a:ln w="9525">
                <a:noFill/>
                <a:miter lim="800000"/>
                <a:headEnd/>
                <a:tailEnd/>
              </a:ln>
            </p:spPr>
          </p:pic>
          <p:sp>
            <p:nvSpPr>
              <p:cNvPr id="87" name="TextBox 143"/>
              <p:cNvSpPr txBox="1"/>
              <p:nvPr/>
            </p:nvSpPr>
            <p:spPr>
              <a:xfrm>
                <a:off x="5281109" y="5572140"/>
                <a:ext cx="1005403" cy="338554"/>
              </a:xfrm>
              <a:prstGeom prst="rect">
                <a:avLst/>
              </a:prstGeom>
              <a:noFill/>
            </p:spPr>
            <p:txBody>
              <a:bodyPr wrap="none" rtlCol="0">
                <a:spAutoFit/>
              </a:bodyPr>
              <a:lstStyle/>
              <a:p>
                <a:r>
                  <a:rPr lang="zh-CN" altLang="en-US" sz="1600" dirty="0"/>
                  <a:t>住宅用户</a:t>
                </a:r>
              </a:p>
            </p:txBody>
          </p:sp>
          <p:pic>
            <p:nvPicPr>
              <p:cNvPr id="88" name="Picture 98"/>
              <p:cNvPicPr>
                <a:picLocks noChangeArrowheads="1"/>
              </p:cNvPicPr>
              <p:nvPr/>
            </p:nvPicPr>
            <p:blipFill>
              <a:blip r:embed="rId2" cstate="print"/>
              <a:srcRect/>
              <a:stretch>
                <a:fillRect/>
              </a:stretch>
            </p:blipFill>
            <p:spPr bwMode="auto">
              <a:xfrm>
                <a:off x="6781308" y="5357826"/>
                <a:ext cx="357190" cy="269874"/>
              </a:xfrm>
              <a:prstGeom prst="rect">
                <a:avLst/>
              </a:prstGeom>
              <a:noFill/>
              <a:ln w="9525">
                <a:noFill/>
                <a:miter lim="800000"/>
                <a:headEnd/>
                <a:tailEnd/>
              </a:ln>
            </p:spPr>
          </p:pic>
          <p:sp>
            <p:nvSpPr>
              <p:cNvPr id="89" name="TextBox 145"/>
              <p:cNvSpPr txBox="1"/>
              <p:nvPr/>
            </p:nvSpPr>
            <p:spPr>
              <a:xfrm>
                <a:off x="6566993" y="5572140"/>
                <a:ext cx="1005403" cy="338554"/>
              </a:xfrm>
              <a:prstGeom prst="rect">
                <a:avLst/>
              </a:prstGeom>
              <a:noFill/>
            </p:spPr>
            <p:txBody>
              <a:bodyPr wrap="none" rtlCol="0">
                <a:spAutoFit/>
              </a:bodyPr>
              <a:lstStyle/>
              <a:p>
                <a:r>
                  <a:rPr lang="zh-CN" altLang="en-US" sz="1600" dirty="0"/>
                  <a:t>单位用户</a:t>
                </a:r>
              </a:p>
            </p:txBody>
          </p:sp>
          <p:sp>
            <p:nvSpPr>
              <p:cNvPr id="90" name="TextBox 146"/>
              <p:cNvSpPr txBox="1"/>
              <p:nvPr/>
            </p:nvSpPr>
            <p:spPr>
              <a:xfrm>
                <a:off x="8072462" y="5214950"/>
                <a:ext cx="731290" cy="338554"/>
              </a:xfrm>
              <a:prstGeom prst="rect">
                <a:avLst/>
              </a:prstGeom>
              <a:noFill/>
            </p:spPr>
            <p:txBody>
              <a:bodyPr wrap="none" rtlCol="0">
                <a:spAutoFit/>
              </a:bodyPr>
              <a:lstStyle/>
              <a:p>
                <a:r>
                  <a:rPr lang="zh-CN" altLang="en-US" sz="1600" dirty="0"/>
                  <a:t>主机</a:t>
                </a:r>
                <a:r>
                  <a:rPr lang="en-US" altLang="zh-CN" sz="1600" dirty="0"/>
                  <a:t>B</a:t>
                </a:r>
                <a:endParaRPr lang="zh-CN" altLang="en-US" sz="1600" dirty="0"/>
              </a:p>
            </p:txBody>
          </p:sp>
          <p:sp>
            <p:nvSpPr>
              <p:cNvPr id="91" name="TextBox 147"/>
              <p:cNvSpPr txBox="1"/>
              <p:nvPr/>
            </p:nvSpPr>
            <p:spPr>
              <a:xfrm>
                <a:off x="714348" y="5214950"/>
                <a:ext cx="731290" cy="338554"/>
              </a:xfrm>
              <a:prstGeom prst="rect">
                <a:avLst/>
              </a:prstGeom>
              <a:noFill/>
            </p:spPr>
            <p:txBody>
              <a:bodyPr wrap="none" rtlCol="0">
                <a:spAutoFit/>
              </a:bodyPr>
              <a:lstStyle/>
              <a:p>
                <a:r>
                  <a:rPr lang="zh-CN" altLang="en-US" sz="1600" dirty="0"/>
                  <a:t>主机</a:t>
                </a:r>
                <a:r>
                  <a:rPr lang="en-US" altLang="zh-CN" sz="1600" dirty="0"/>
                  <a:t>A</a:t>
                </a:r>
                <a:endParaRPr lang="zh-CN" altLang="en-US" sz="1600" dirty="0"/>
              </a:p>
            </p:txBody>
          </p:sp>
          <p:pic>
            <p:nvPicPr>
              <p:cNvPr id="92" name="Picture 98"/>
              <p:cNvPicPr>
                <a:picLocks noChangeArrowheads="1"/>
              </p:cNvPicPr>
              <p:nvPr/>
            </p:nvPicPr>
            <p:blipFill>
              <a:blip r:embed="rId2" cstate="print"/>
              <a:srcRect/>
              <a:stretch>
                <a:fillRect/>
              </a:stretch>
            </p:blipFill>
            <p:spPr bwMode="auto">
              <a:xfrm>
                <a:off x="2357423" y="5429264"/>
                <a:ext cx="357190" cy="269874"/>
              </a:xfrm>
              <a:prstGeom prst="rect">
                <a:avLst/>
              </a:prstGeom>
              <a:noFill/>
              <a:ln w="9525">
                <a:noFill/>
                <a:miter lim="800000"/>
                <a:headEnd/>
                <a:tailEnd/>
              </a:ln>
            </p:spPr>
          </p:pic>
          <p:sp>
            <p:nvSpPr>
              <p:cNvPr id="93" name="TextBox 149"/>
              <p:cNvSpPr txBox="1"/>
              <p:nvPr/>
            </p:nvSpPr>
            <p:spPr>
              <a:xfrm>
                <a:off x="2143108" y="5643578"/>
                <a:ext cx="1005403" cy="338554"/>
              </a:xfrm>
              <a:prstGeom prst="rect">
                <a:avLst/>
              </a:prstGeom>
              <a:noFill/>
            </p:spPr>
            <p:txBody>
              <a:bodyPr wrap="none" rtlCol="0">
                <a:spAutoFit/>
              </a:bodyPr>
              <a:lstStyle/>
              <a:p>
                <a:r>
                  <a:rPr lang="zh-CN" altLang="en-US" sz="1600" dirty="0"/>
                  <a:t>校园用户</a:t>
                </a:r>
              </a:p>
            </p:txBody>
          </p:sp>
          <p:sp>
            <p:nvSpPr>
              <p:cNvPr id="94" name="Line 24"/>
              <p:cNvSpPr>
                <a:spLocks noChangeShapeType="1"/>
              </p:cNvSpPr>
              <p:nvPr/>
            </p:nvSpPr>
            <p:spPr bwMode="auto">
              <a:xfrm>
                <a:off x="5929323" y="2071678"/>
                <a:ext cx="500066" cy="45719"/>
              </a:xfrm>
              <a:prstGeom prst="line">
                <a:avLst/>
              </a:prstGeom>
              <a:noFill/>
              <a:ln w="9525">
                <a:solidFill>
                  <a:schemeClr val="tx1"/>
                </a:solidFill>
                <a:round/>
                <a:headEnd/>
                <a:tailEnd/>
              </a:ln>
            </p:spPr>
            <p:txBody>
              <a:bodyPr/>
              <a:lstStyle/>
              <a:p>
                <a:endParaRPr lang="zh-CN" altLang="en-US" sz="1600"/>
              </a:p>
            </p:txBody>
          </p:sp>
          <p:sp>
            <p:nvSpPr>
              <p:cNvPr id="95" name="Line 24"/>
              <p:cNvSpPr>
                <a:spLocks noChangeShapeType="1"/>
              </p:cNvSpPr>
              <p:nvPr/>
            </p:nvSpPr>
            <p:spPr bwMode="auto">
              <a:xfrm>
                <a:off x="5857884" y="2214554"/>
                <a:ext cx="858835" cy="545785"/>
              </a:xfrm>
              <a:prstGeom prst="line">
                <a:avLst/>
              </a:prstGeom>
              <a:noFill/>
              <a:ln w="9525">
                <a:solidFill>
                  <a:schemeClr val="tx1"/>
                </a:solidFill>
                <a:round/>
                <a:headEnd/>
                <a:tailEnd/>
              </a:ln>
            </p:spPr>
            <p:txBody>
              <a:bodyPr/>
              <a:lstStyle/>
              <a:p>
                <a:endParaRPr lang="zh-CN" altLang="en-US" sz="1600"/>
              </a:p>
            </p:txBody>
          </p:sp>
          <p:sp>
            <p:nvSpPr>
              <p:cNvPr id="96" name="Line 24"/>
              <p:cNvSpPr>
                <a:spLocks noChangeShapeType="1"/>
              </p:cNvSpPr>
              <p:nvPr/>
            </p:nvSpPr>
            <p:spPr bwMode="auto">
              <a:xfrm>
                <a:off x="4714876" y="3000372"/>
                <a:ext cx="1001711" cy="331471"/>
              </a:xfrm>
              <a:prstGeom prst="line">
                <a:avLst/>
              </a:prstGeom>
              <a:noFill/>
              <a:ln w="9525">
                <a:solidFill>
                  <a:schemeClr val="tx1"/>
                </a:solidFill>
                <a:round/>
                <a:headEnd/>
                <a:tailEnd/>
              </a:ln>
            </p:spPr>
            <p:txBody>
              <a:bodyPr/>
              <a:lstStyle/>
              <a:p>
                <a:endParaRPr lang="zh-CN" altLang="en-US" sz="1600"/>
              </a:p>
            </p:txBody>
          </p:sp>
          <p:sp>
            <p:nvSpPr>
              <p:cNvPr id="97" name="Line 24"/>
              <p:cNvSpPr>
                <a:spLocks noChangeShapeType="1"/>
              </p:cNvSpPr>
              <p:nvPr/>
            </p:nvSpPr>
            <p:spPr bwMode="auto">
              <a:xfrm flipV="1">
                <a:off x="3428993" y="3143249"/>
                <a:ext cx="500066" cy="357190"/>
              </a:xfrm>
              <a:prstGeom prst="line">
                <a:avLst/>
              </a:prstGeom>
              <a:noFill/>
              <a:ln w="9525">
                <a:solidFill>
                  <a:schemeClr val="tx1"/>
                </a:solidFill>
                <a:round/>
                <a:headEnd/>
                <a:tailEnd/>
              </a:ln>
            </p:spPr>
            <p:txBody>
              <a:bodyPr/>
              <a:lstStyle/>
              <a:p>
                <a:endParaRPr lang="zh-CN" altLang="en-US" sz="1600"/>
              </a:p>
            </p:txBody>
          </p:sp>
          <p:sp>
            <p:nvSpPr>
              <p:cNvPr id="98" name="Line 24"/>
              <p:cNvSpPr>
                <a:spLocks noChangeShapeType="1"/>
              </p:cNvSpPr>
              <p:nvPr/>
            </p:nvSpPr>
            <p:spPr bwMode="auto">
              <a:xfrm>
                <a:off x="2357422" y="2500306"/>
                <a:ext cx="1571636" cy="45719"/>
              </a:xfrm>
              <a:prstGeom prst="line">
                <a:avLst/>
              </a:prstGeom>
              <a:noFill/>
              <a:ln w="9525">
                <a:solidFill>
                  <a:schemeClr val="tx1"/>
                </a:solidFill>
                <a:round/>
                <a:headEnd/>
                <a:tailEnd/>
              </a:ln>
            </p:spPr>
            <p:txBody>
              <a:bodyPr/>
              <a:lstStyle/>
              <a:p>
                <a:endParaRPr lang="zh-CN" altLang="en-US" sz="1600"/>
              </a:p>
            </p:txBody>
          </p:sp>
        </p:grpSp>
        <p:sp>
          <p:nvSpPr>
            <p:cNvPr id="7" name="Freeform 143"/>
            <p:cNvSpPr>
              <a:spLocks/>
            </p:cNvSpPr>
            <p:nvPr/>
          </p:nvSpPr>
          <p:spPr bwMode="auto">
            <a:xfrm>
              <a:off x="1187450" y="3214686"/>
              <a:ext cx="7200900" cy="1798639"/>
            </a:xfrm>
            <a:custGeom>
              <a:avLst/>
              <a:gdLst>
                <a:gd name="T0" fmla="*/ 0 w 4536"/>
                <a:gd name="T1" fmla="*/ 2147483647 h 1392"/>
                <a:gd name="T2" fmla="*/ 2147483647 w 4536"/>
                <a:gd name="T3" fmla="*/ 2147483647 h 1392"/>
                <a:gd name="T4" fmla="*/ 2147483647 w 4536"/>
                <a:gd name="T5" fmla="*/ 2147483647 h 1392"/>
                <a:gd name="T6" fmla="*/ 2147483647 w 4536"/>
                <a:gd name="T7" fmla="*/ 2147483647 h 1392"/>
                <a:gd name="T8" fmla="*/ 2147483647 w 4536"/>
                <a:gd name="T9" fmla="*/ 2147483647 h 1392"/>
                <a:gd name="T10" fmla="*/ 2147483647 w 4536"/>
                <a:gd name="T11" fmla="*/ 2147483647 h 1392"/>
                <a:gd name="T12" fmla="*/ 2147483647 w 4536"/>
                <a:gd name="T13" fmla="*/ 2147483647 h 1392"/>
                <a:gd name="T14" fmla="*/ 2147483647 w 4536"/>
                <a:gd name="T15" fmla="*/ 2147483647 h 1392"/>
                <a:gd name="T16" fmla="*/ 2147483647 w 4536"/>
                <a:gd name="T17" fmla="*/ 2147483647 h 1392"/>
                <a:gd name="T18" fmla="*/ 2147483647 w 4536"/>
                <a:gd name="T19" fmla="*/ 2147483647 h 1392"/>
                <a:gd name="T20" fmla="*/ 2147483647 w 4536"/>
                <a:gd name="T21" fmla="*/ 2147483647 h 1392"/>
                <a:gd name="T22" fmla="*/ 2147483647 w 4536"/>
                <a:gd name="T23" fmla="*/ 2147483647 h 1392"/>
                <a:gd name="T24" fmla="*/ 2147483647 w 4536"/>
                <a:gd name="T25" fmla="*/ 2147483647 h 1392"/>
                <a:gd name="T26" fmla="*/ 2147483647 w 4536"/>
                <a:gd name="T27" fmla="*/ 2147483647 h 1392"/>
                <a:gd name="T28" fmla="*/ 2147483647 w 4536"/>
                <a:gd name="T29" fmla="*/ 2147483647 h 1392"/>
                <a:gd name="T30" fmla="*/ 2147483647 w 4536"/>
                <a:gd name="T31" fmla="*/ 2147483647 h 139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536"/>
                <a:gd name="T49" fmla="*/ 0 h 1392"/>
                <a:gd name="T50" fmla="*/ 4536 w 4536"/>
                <a:gd name="T51" fmla="*/ 1392 h 139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536" h="1392">
                  <a:moveTo>
                    <a:pt x="0" y="1392"/>
                  </a:moveTo>
                  <a:cubicBezTo>
                    <a:pt x="208" y="1240"/>
                    <a:pt x="416" y="1089"/>
                    <a:pt x="590" y="938"/>
                  </a:cubicBezTo>
                  <a:cubicBezTo>
                    <a:pt x="764" y="787"/>
                    <a:pt x="945" y="629"/>
                    <a:pt x="1043" y="485"/>
                  </a:cubicBezTo>
                  <a:cubicBezTo>
                    <a:pt x="1141" y="341"/>
                    <a:pt x="1119" y="152"/>
                    <a:pt x="1179" y="76"/>
                  </a:cubicBezTo>
                  <a:cubicBezTo>
                    <a:pt x="1239" y="0"/>
                    <a:pt x="1300" y="16"/>
                    <a:pt x="1406" y="31"/>
                  </a:cubicBezTo>
                  <a:cubicBezTo>
                    <a:pt x="1512" y="46"/>
                    <a:pt x="1693" y="144"/>
                    <a:pt x="1814" y="167"/>
                  </a:cubicBezTo>
                  <a:cubicBezTo>
                    <a:pt x="1935" y="190"/>
                    <a:pt x="1966" y="182"/>
                    <a:pt x="2132" y="167"/>
                  </a:cubicBezTo>
                  <a:cubicBezTo>
                    <a:pt x="2298" y="152"/>
                    <a:pt x="2668" y="83"/>
                    <a:pt x="2812" y="76"/>
                  </a:cubicBezTo>
                  <a:cubicBezTo>
                    <a:pt x="2956" y="69"/>
                    <a:pt x="2971" y="69"/>
                    <a:pt x="2994" y="122"/>
                  </a:cubicBezTo>
                  <a:cubicBezTo>
                    <a:pt x="3017" y="175"/>
                    <a:pt x="2948" y="319"/>
                    <a:pt x="2948" y="394"/>
                  </a:cubicBezTo>
                  <a:cubicBezTo>
                    <a:pt x="2948" y="469"/>
                    <a:pt x="2949" y="477"/>
                    <a:pt x="2994" y="575"/>
                  </a:cubicBezTo>
                  <a:cubicBezTo>
                    <a:pt x="3039" y="673"/>
                    <a:pt x="3153" y="908"/>
                    <a:pt x="3221" y="984"/>
                  </a:cubicBezTo>
                  <a:cubicBezTo>
                    <a:pt x="3289" y="1060"/>
                    <a:pt x="3357" y="1022"/>
                    <a:pt x="3402" y="1029"/>
                  </a:cubicBezTo>
                  <a:cubicBezTo>
                    <a:pt x="3447" y="1036"/>
                    <a:pt x="3417" y="1014"/>
                    <a:pt x="3493" y="1029"/>
                  </a:cubicBezTo>
                  <a:cubicBezTo>
                    <a:pt x="3569" y="1044"/>
                    <a:pt x="3682" y="1060"/>
                    <a:pt x="3856" y="1120"/>
                  </a:cubicBezTo>
                  <a:cubicBezTo>
                    <a:pt x="4030" y="1180"/>
                    <a:pt x="4283" y="1286"/>
                    <a:pt x="4536" y="1392"/>
                  </a:cubicBezTo>
                </a:path>
              </a:pathLst>
            </a:custGeom>
            <a:noFill/>
            <a:ln w="28575">
              <a:solidFill>
                <a:srgbClr val="FF0000"/>
              </a:solidFill>
              <a:round/>
              <a:headEnd type="triangle" w="med" len="med"/>
              <a:tailEnd type="triangle" w="med" len="med"/>
            </a:ln>
          </p:spPr>
          <p:txBody>
            <a:bodyPr/>
            <a:lstStyle/>
            <a:p>
              <a:endParaRPr lang="zh-CN" altLang="en-US" sz="1600"/>
            </a:p>
          </p:txBody>
        </p:sp>
      </p:grpSp>
    </p:spTree>
    <p:extLst>
      <p:ext uri="{BB962C8B-B14F-4D97-AF65-F5344CB8AC3E}">
        <p14:creationId xmlns:p14="http://schemas.microsoft.com/office/powerpoint/2010/main" val="516900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49135" y="1300960"/>
            <a:ext cx="7772400" cy="4114800"/>
          </a:xfrm>
        </p:spPr>
        <p:txBody>
          <a:bodyPr/>
          <a:lstStyle/>
          <a:p>
            <a:r>
              <a:rPr lang="zh-CN" altLang="zh-CN" b="0" dirty="0"/>
              <a:t>因特网</a:t>
            </a:r>
            <a:r>
              <a:rPr lang="zh-CN" altLang="en-US" b="0" dirty="0"/>
              <a:t>：边缘部分 </a:t>
            </a:r>
            <a:r>
              <a:rPr lang="en-US" altLang="zh-CN" b="0" dirty="0"/>
              <a:t>+ </a:t>
            </a:r>
            <a:r>
              <a:rPr lang="zh-CN" altLang="en-US" b="0" dirty="0"/>
              <a:t>核心部分</a:t>
            </a:r>
          </a:p>
        </p:txBody>
      </p:sp>
      <p:sp>
        <p:nvSpPr>
          <p:cNvPr id="3" name="标题 2"/>
          <p:cNvSpPr>
            <a:spLocks noGrp="1"/>
          </p:cNvSpPr>
          <p:nvPr>
            <p:ph type="title"/>
          </p:nvPr>
        </p:nvSpPr>
        <p:spPr/>
        <p:txBody>
          <a:bodyPr/>
          <a:lstStyle/>
          <a:p>
            <a:r>
              <a:rPr lang="zh-CN" altLang="en-US" dirty="0"/>
              <a:t>计算机网络结构和组成</a:t>
            </a:r>
          </a:p>
        </p:txBody>
      </p:sp>
      <p:grpSp>
        <p:nvGrpSpPr>
          <p:cNvPr id="4" name="组合 3"/>
          <p:cNvGrpSpPr/>
          <p:nvPr/>
        </p:nvGrpSpPr>
        <p:grpSpPr>
          <a:xfrm>
            <a:off x="225377" y="2088548"/>
            <a:ext cx="8675687" cy="4370406"/>
            <a:chOff x="217488" y="1773238"/>
            <a:chExt cx="8675687" cy="4370406"/>
          </a:xfrm>
        </p:grpSpPr>
        <p:grpSp>
          <p:nvGrpSpPr>
            <p:cNvPr id="5" name="组合 4"/>
            <p:cNvGrpSpPr/>
            <p:nvPr/>
          </p:nvGrpSpPr>
          <p:grpSpPr>
            <a:xfrm>
              <a:off x="217488" y="1773238"/>
              <a:ext cx="8675687" cy="4370406"/>
              <a:chOff x="217488" y="1773238"/>
              <a:chExt cx="8675687" cy="4370406"/>
            </a:xfrm>
          </p:grpSpPr>
          <p:sp>
            <p:nvSpPr>
              <p:cNvPr id="8" name="Oval 4"/>
              <p:cNvSpPr>
                <a:spLocks noChangeArrowheads="1"/>
              </p:cNvSpPr>
              <p:nvPr/>
            </p:nvSpPr>
            <p:spPr bwMode="auto">
              <a:xfrm>
                <a:off x="217488" y="1773238"/>
                <a:ext cx="8675687" cy="4370406"/>
              </a:xfrm>
              <a:prstGeom prst="ellipse">
                <a:avLst/>
              </a:prstGeom>
              <a:solidFill>
                <a:schemeClr val="bg1">
                  <a:lumMod val="95000"/>
                </a:schemeClr>
              </a:solidFill>
              <a:ln w="9525">
                <a:solidFill>
                  <a:schemeClr val="tx1"/>
                </a:solidFill>
                <a:prstDash val="dash"/>
                <a:round/>
                <a:headEnd/>
                <a:tailEnd/>
              </a:ln>
            </p:spPr>
            <p:txBody>
              <a:bodyPr wrap="none" anchor="ctr"/>
              <a:lstStyle/>
              <a:p>
                <a:endParaRPr lang="zh-CN" altLang="en-US" sz="1600">
                  <a:latin typeface="Times New Roman" pitchFamily="18" charset="0"/>
                  <a:ea typeface="宋体" pitchFamily="2" charset="-122"/>
                </a:endParaRPr>
              </a:p>
            </p:txBody>
          </p:sp>
          <p:sp>
            <p:nvSpPr>
              <p:cNvPr id="9" name="Oval 5"/>
              <p:cNvSpPr>
                <a:spLocks noChangeArrowheads="1"/>
              </p:cNvSpPr>
              <p:nvPr/>
            </p:nvSpPr>
            <p:spPr bwMode="auto">
              <a:xfrm>
                <a:off x="1865313" y="2762250"/>
                <a:ext cx="5381625" cy="2270125"/>
              </a:xfrm>
              <a:prstGeom prst="ellipse">
                <a:avLst/>
              </a:prstGeom>
              <a:solidFill>
                <a:schemeClr val="bg1"/>
              </a:solidFill>
              <a:ln w="9525">
                <a:solidFill>
                  <a:schemeClr val="tx1"/>
                </a:solidFill>
                <a:prstDash val="dash"/>
                <a:round/>
                <a:headEnd/>
                <a:tailEnd/>
              </a:ln>
            </p:spPr>
            <p:txBody>
              <a:bodyPr wrap="none" anchor="ctr"/>
              <a:lstStyle/>
              <a:p>
                <a:endParaRPr lang="zh-CN" altLang="en-US" sz="1600">
                  <a:latin typeface="Times New Roman" pitchFamily="18" charset="0"/>
                  <a:ea typeface="宋体" pitchFamily="2" charset="-122"/>
                </a:endParaRPr>
              </a:p>
            </p:txBody>
          </p:sp>
          <p:pic>
            <p:nvPicPr>
              <p:cNvPr id="10" name="Picture 6"/>
              <p:cNvPicPr>
                <a:picLocks noChangeArrowheads="1"/>
              </p:cNvPicPr>
              <p:nvPr/>
            </p:nvPicPr>
            <p:blipFill>
              <a:blip r:embed="rId2" cstate="print"/>
              <a:srcRect/>
              <a:stretch>
                <a:fillRect/>
              </a:stretch>
            </p:blipFill>
            <p:spPr bwMode="auto">
              <a:xfrm>
                <a:off x="1582738" y="2662238"/>
                <a:ext cx="468312" cy="466725"/>
              </a:xfrm>
              <a:prstGeom prst="rect">
                <a:avLst/>
              </a:prstGeom>
              <a:noFill/>
              <a:ln w="9525">
                <a:noFill/>
                <a:miter lim="800000"/>
                <a:headEnd/>
                <a:tailEnd/>
              </a:ln>
            </p:spPr>
          </p:pic>
          <p:pic>
            <p:nvPicPr>
              <p:cNvPr id="11" name="Picture 7"/>
              <p:cNvPicPr>
                <a:picLocks noChangeArrowheads="1"/>
              </p:cNvPicPr>
              <p:nvPr/>
            </p:nvPicPr>
            <p:blipFill>
              <a:blip r:embed="rId3" cstate="print"/>
              <a:srcRect/>
              <a:stretch>
                <a:fillRect/>
              </a:stretch>
            </p:blipFill>
            <p:spPr bwMode="auto">
              <a:xfrm>
                <a:off x="3189288" y="3348038"/>
                <a:ext cx="495300" cy="347662"/>
              </a:xfrm>
              <a:prstGeom prst="rect">
                <a:avLst/>
              </a:prstGeom>
              <a:noFill/>
              <a:ln w="12699">
                <a:noFill/>
                <a:miter lim="800000"/>
                <a:headEnd/>
                <a:tailEnd/>
              </a:ln>
            </p:spPr>
          </p:pic>
          <p:grpSp>
            <p:nvGrpSpPr>
              <p:cNvPr id="12" name="Group 8"/>
              <p:cNvGrpSpPr>
                <a:grpSpLocks/>
              </p:cNvGrpSpPr>
              <p:nvPr/>
            </p:nvGrpSpPr>
            <p:grpSpPr bwMode="auto">
              <a:xfrm rot="21151335">
                <a:off x="2144713" y="3692525"/>
                <a:ext cx="722312" cy="487363"/>
                <a:chOff x="2949" y="196"/>
                <a:chExt cx="941" cy="598"/>
              </a:xfrm>
            </p:grpSpPr>
            <p:sp>
              <p:nvSpPr>
                <p:cNvPr id="96" name="Oval 9"/>
                <p:cNvSpPr>
                  <a:spLocks noChangeArrowheads="1"/>
                </p:cNvSpPr>
                <p:nvPr/>
              </p:nvSpPr>
              <p:spPr bwMode="auto">
                <a:xfrm>
                  <a:off x="3168" y="196"/>
                  <a:ext cx="407" cy="162"/>
                </a:xfrm>
                <a:prstGeom prst="ellipse">
                  <a:avLst/>
                </a:prstGeom>
                <a:solidFill>
                  <a:srgbClr val="B2B2B2"/>
                </a:solidFill>
                <a:ln w="12700">
                  <a:solidFill>
                    <a:schemeClr val="tx1"/>
                  </a:solidFill>
                  <a:round/>
                  <a:headEnd/>
                  <a:tailEnd/>
                </a:ln>
              </p:spPr>
              <p:txBody>
                <a:bodyPr wrap="none" anchor="ctr"/>
                <a:lstStyle/>
                <a:p>
                  <a:endParaRPr lang="zh-CN" altLang="en-US" sz="1600">
                    <a:latin typeface="Times New Roman" pitchFamily="18" charset="0"/>
                    <a:ea typeface="宋体" pitchFamily="2" charset="-122"/>
                  </a:endParaRPr>
                </a:p>
              </p:txBody>
            </p:sp>
            <p:sp>
              <p:nvSpPr>
                <p:cNvPr id="97" name="Oval 10"/>
                <p:cNvSpPr>
                  <a:spLocks noChangeArrowheads="1"/>
                </p:cNvSpPr>
                <p:nvPr/>
              </p:nvSpPr>
              <p:spPr bwMode="auto">
                <a:xfrm rot="900000">
                  <a:off x="3512" y="252"/>
                  <a:ext cx="275" cy="131"/>
                </a:xfrm>
                <a:prstGeom prst="ellipse">
                  <a:avLst/>
                </a:prstGeom>
                <a:solidFill>
                  <a:srgbClr val="B2B2B2"/>
                </a:solidFill>
                <a:ln w="12700">
                  <a:solidFill>
                    <a:schemeClr val="tx1"/>
                  </a:solidFill>
                  <a:round/>
                  <a:headEnd/>
                  <a:tailEnd/>
                </a:ln>
              </p:spPr>
              <p:txBody>
                <a:bodyPr wrap="none" anchor="ctr"/>
                <a:lstStyle/>
                <a:p>
                  <a:endParaRPr lang="zh-CN" altLang="en-US" sz="1600">
                    <a:latin typeface="Times New Roman" pitchFamily="18" charset="0"/>
                    <a:ea typeface="宋体" pitchFamily="2" charset="-122"/>
                  </a:endParaRPr>
                </a:p>
              </p:txBody>
            </p:sp>
            <p:sp>
              <p:nvSpPr>
                <p:cNvPr id="98" name="Oval 11"/>
                <p:cNvSpPr>
                  <a:spLocks noChangeArrowheads="1"/>
                </p:cNvSpPr>
                <p:nvPr/>
              </p:nvSpPr>
              <p:spPr bwMode="auto">
                <a:xfrm rot="1500000">
                  <a:off x="3650" y="385"/>
                  <a:ext cx="240" cy="153"/>
                </a:xfrm>
                <a:prstGeom prst="ellipse">
                  <a:avLst/>
                </a:prstGeom>
                <a:solidFill>
                  <a:srgbClr val="B2B2B2"/>
                </a:solidFill>
                <a:ln w="12700">
                  <a:solidFill>
                    <a:schemeClr val="tx1"/>
                  </a:solidFill>
                  <a:round/>
                  <a:headEnd/>
                  <a:tailEnd/>
                </a:ln>
              </p:spPr>
              <p:txBody>
                <a:bodyPr wrap="none" anchor="ctr"/>
                <a:lstStyle/>
                <a:p>
                  <a:endParaRPr lang="zh-CN" altLang="en-US" sz="1600">
                    <a:latin typeface="Times New Roman" pitchFamily="18" charset="0"/>
                    <a:ea typeface="宋体" pitchFamily="2" charset="-122"/>
                  </a:endParaRPr>
                </a:p>
              </p:txBody>
            </p:sp>
            <p:sp>
              <p:nvSpPr>
                <p:cNvPr id="99" name="Oval 12"/>
                <p:cNvSpPr>
                  <a:spLocks noChangeArrowheads="1"/>
                </p:cNvSpPr>
                <p:nvPr/>
              </p:nvSpPr>
              <p:spPr bwMode="auto">
                <a:xfrm rot="-1560000">
                  <a:off x="3573" y="537"/>
                  <a:ext cx="291" cy="189"/>
                </a:xfrm>
                <a:prstGeom prst="ellipse">
                  <a:avLst/>
                </a:prstGeom>
                <a:solidFill>
                  <a:srgbClr val="B2B2B2"/>
                </a:solidFill>
                <a:ln w="12700">
                  <a:solidFill>
                    <a:schemeClr val="tx1"/>
                  </a:solidFill>
                  <a:round/>
                  <a:headEnd/>
                  <a:tailEnd/>
                </a:ln>
              </p:spPr>
              <p:txBody>
                <a:bodyPr wrap="none" anchor="ctr"/>
                <a:lstStyle/>
                <a:p>
                  <a:endParaRPr lang="zh-CN" altLang="en-US" sz="1600">
                    <a:latin typeface="Times New Roman" pitchFamily="18" charset="0"/>
                    <a:ea typeface="宋体" pitchFamily="2" charset="-122"/>
                  </a:endParaRPr>
                </a:p>
              </p:txBody>
            </p:sp>
            <p:sp>
              <p:nvSpPr>
                <p:cNvPr id="100" name="Oval 13"/>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p:spPr>
              <p:txBody>
                <a:bodyPr wrap="none" anchor="ctr"/>
                <a:lstStyle/>
                <a:p>
                  <a:endParaRPr lang="zh-CN" altLang="en-US" sz="1600">
                    <a:latin typeface="Times New Roman" pitchFamily="18" charset="0"/>
                    <a:ea typeface="宋体" pitchFamily="2" charset="-122"/>
                  </a:endParaRPr>
                </a:p>
              </p:txBody>
            </p:sp>
            <p:sp>
              <p:nvSpPr>
                <p:cNvPr id="101" name="Oval 14"/>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p:spPr>
              <p:txBody>
                <a:bodyPr wrap="none" anchor="ctr"/>
                <a:lstStyle/>
                <a:p>
                  <a:endParaRPr lang="zh-CN" altLang="en-US" sz="1600">
                    <a:latin typeface="Times New Roman" pitchFamily="18" charset="0"/>
                    <a:ea typeface="宋体" pitchFamily="2" charset="-122"/>
                  </a:endParaRPr>
                </a:p>
              </p:txBody>
            </p:sp>
            <p:sp>
              <p:nvSpPr>
                <p:cNvPr id="102" name="Oval 15"/>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p:spPr>
              <p:txBody>
                <a:bodyPr wrap="none" anchor="ctr"/>
                <a:lstStyle/>
                <a:p>
                  <a:endParaRPr lang="zh-CN" altLang="en-US" sz="1600">
                    <a:latin typeface="Times New Roman" pitchFamily="18" charset="0"/>
                    <a:ea typeface="宋体" pitchFamily="2" charset="-122"/>
                  </a:endParaRPr>
                </a:p>
              </p:txBody>
            </p:sp>
            <p:sp>
              <p:nvSpPr>
                <p:cNvPr id="103" name="Oval 16"/>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p:spPr>
              <p:txBody>
                <a:bodyPr wrap="none" anchor="ctr"/>
                <a:lstStyle/>
                <a:p>
                  <a:endParaRPr lang="zh-CN" altLang="en-US" sz="1600">
                    <a:latin typeface="Times New Roman" pitchFamily="18" charset="0"/>
                    <a:ea typeface="宋体" pitchFamily="2" charset="-122"/>
                  </a:endParaRPr>
                </a:p>
              </p:txBody>
            </p:sp>
            <p:sp>
              <p:nvSpPr>
                <p:cNvPr id="104" name="Freeform 17"/>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w="12700" cap="rnd">
                  <a:noFill/>
                  <a:round/>
                  <a:headEnd/>
                  <a:tailEnd/>
                </a:ln>
              </p:spPr>
              <p:txBody>
                <a:bodyPr/>
                <a:lstStyle/>
                <a:p>
                  <a:endParaRPr lang="zh-CN" altLang="en-US" sz="1600">
                    <a:latin typeface="Times New Roman" pitchFamily="18" charset="0"/>
                    <a:ea typeface="宋体" pitchFamily="2" charset="-122"/>
                  </a:endParaRPr>
                </a:p>
              </p:txBody>
            </p:sp>
            <p:sp>
              <p:nvSpPr>
                <p:cNvPr id="105" name="Freeform 18"/>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w="12700" cap="rnd">
                  <a:noFill/>
                  <a:round/>
                  <a:headEnd/>
                  <a:tailEnd/>
                </a:ln>
              </p:spPr>
              <p:txBody>
                <a:bodyPr/>
                <a:lstStyle/>
                <a:p>
                  <a:endParaRPr lang="zh-CN" altLang="en-US" sz="1600">
                    <a:latin typeface="Times New Roman" pitchFamily="18" charset="0"/>
                    <a:ea typeface="宋体" pitchFamily="2" charset="-122"/>
                  </a:endParaRPr>
                </a:p>
              </p:txBody>
            </p:sp>
            <p:sp>
              <p:nvSpPr>
                <p:cNvPr id="106" name="Freeform 19"/>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w="12700" cap="rnd">
                  <a:noFill/>
                  <a:round/>
                  <a:headEnd/>
                  <a:tailEnd/>
                </a:ln>
              </p:spPr>
              <p:txBody>
                <a:bodyPr/>
                <a:lstStyle/>
                <a:p>
                  <a:endParaRPr lang="zh-CN" altLang="en-US" sz="1600">
                    <a:latin typeface="Times New Roman" pitchFamily="18" charset="0"/>
                    <a:ea typeface="宋体" pitchFamily="2" charset="-122"/>
                  </a:endParaRPr>
                </a:p>
              </p:txBody>
            </p:sp>
          </p:grpSp>
          <p:grpSp>
            <p:nvGrpSpPr>
              <p:cNvPr id="13" name="Group 20"/>
              <p:cNvGrpSpPr>
                <a:grpSpLocks/>
              </p:cNvGrpSpPr>
              <p:nvPr/>
            </p:nvGrpSpPr>
            <p:grpSpPr bwMode="auto">
              <a:xfrm rot="21151335">
                <a:off x="6403975" y="3530600"/>
                <a:ext cx="723900" cy="487363"/>
                <a:chOff x="2949" y="196"/>
                <a:chExt cx="941" cy="598"/>
              </a:xfrm>
            </p:grpSpPr>
            <p:sp>
              <p:nvSpPr>
                <p:cNvPr id="85" name="Oval 21"/>
                <p:cNvSpPr>
                  <a:spLocks noChangeArrowheads="1"/>
                </p:cNvSpPr>
                <p:nvPr/>
              </p:nvSpPr>
              <p:spPr bwMode="auto">
                <a:xfrm>
                  <a:off x="3168" y="196"/>
                  <a:ext cx="407" cy="162"/>
                </a:xfrm>
                <a:prstGeom prst="ellipse">
                  <a:avLst/>
                </a:prstGeom>
                <a:solidFill>
                  <a:srgbClr val="B2B2B2"/>
                </a:solidFill>
                <a:ln w="12700">
                  <a:solidFill>
                    <a:schemeClr val="tx1"/>
                  </a:solidFill>
                  <a:round/>
                  <a:headEnd/>
                  <a:tailEnd/>
                </a:ln>
              </p:spPr>
              <p:txBody>
                <a:bodyPr wrap="none" anchor="ctr"/>
                <a:lstStyle/>
                <a:p>
                  <a:endParaRPr lang="zh-CN" altLang="en-US" sz="1600">
                    <a:latin typeface="Times New Roman" pitchFamily="18" charset="0"/>
                    <a:ea typeface="宋体" pitchFamily="2" charset="-122"/>
                  </a:endParaRPr>
                </a:p>
              </p:txBody>
            </p:sp>
            <p:sp>
              <p:nvSpPr>
                <p:cNvPr id="86" name="Oval 22"/>
                <p:cNvSpPr>
                  <a:spLocks noChangeArrowheads="1"/>
                </p:cNvSpPr>
                <p:nvPr/>
              </p:nvSpPr>
              <p:spPr bwMode="auto">
                <a:xfrm rot="900000">
                  <a:off x="3512" y="252"/>
                  <a:ext cx="275" cy="131"/>
                </a:xfrm>
                <a:prstGeom prst="ellipse">
                  <a:avLst/>
                </a:prstGeom>
                <a:solidFill>
                  <a:srgbClr val="B2B2B2"/>
                </a:solidFill>
                <a:ln w="12700">
                  <a:solidFill>
                    <a:schemeClr val="tx1"/>
                  </a:solidFill>
                  <a:round/>
                  <a:headEnd/>
                  <a:tailEnd/>
                </a:ln>
              </p:spPr>
              <p:txBody>
                <a:bodyPr wrap="none" anchor="ctr"/>
                <a:lstStyle/>
                <a:p>
                  <a:endParaRPr lang="zh-CN" altLang="en-US" sz="1600">
                    <a:latin typeface="Times New Roman" pitchFamily="18" charset="0"/>
                    <a:ea typeface="宋体" pitchFamily="2" charset="-122"/>
                  </a:endParaRPr>
                </a:p>
              </p:txBody>
            </p:sp>
            <p:sp>
              <p:nvSpPr>
                <p:cNvPr id="87" name="Oval 23"/>
                <p:cNvSpPr>
                  <a:spLocks noChangeArrowheads="1"/>
                </p:cNvSpPr>
                <p:nvPr/>
              </p:nvSpPr>
              <p:spPr bwMode="auto">
                <a:xfrm rot="1500000">
                  <a:off x="3650" y="385"/>
                  <a:ext cx="240" cy="153"/>
                </a:xfrm>
                <a:prstGeom prst="ellipse">
                  <a:avLst/>
                </a:prstGeom>
                <a:solidFill>
                  <a:srgbClr val="B2B2B2"/>
                </a:solidFill>
                <a:ln w="12700">
                  <a:solidFill>
                    <a:schemeClr val="tx1"/>
                  </a:solidFill>
                  <a:round/>
                  <a:headEnd/>
                  <a:tailEnd/>
                </a:ln>
              </p:spPr>
              <p:txBody>
                <a:bodyPr wrap="none" anchor="ctr"/>
                <a:lstStyle/>
                <a:p>
                  <a:endParaRPr lang="zh-CN" altLang="en-US" sz="1600">
                    <a:latin typeface="Times New Roman" pitchFamily="18" charset="0"/>
                    <a:ea typeface="宋体" pitchFamily="2" charset="-122"/>
                  </a:endParaRPr>
                </a:p>
              </p:txBody>
            </p:sp>
            <p:sp>
              <p:nvSpPr>
                <p:cNvPr id="88" name="Oval 24"/>
                <p:cNvSpPr>
                  <a:spLocks noChangeArrowheads="1"/>
                </p:cNvSpPr>
                <p:nvPr/>
              </p:nvSpPr>
              <p:spPr bwMode="auto">
                <a:xfrm rot="-1560000">
                  <a:off x="3573" y="537"/>
                  <a:ext cx="291" cy="189"/>
                </a:xfrm>
                <a:prstGeom prst="ellipse">
                  <a:avLst/>
                </a:prstGeom>
                <a:solidFill>
                  <a:srgbClr val="B2B2B2"/>
                </a:solidFill>
                <a:ln w="12700">
                  <a:solidFill>
                    <a:schemeClr val="tx1"/>
                  </a:solidFill>
                  <a:round/>
                  <a:headEnd/>
                  <a:tailEnd/>
                </a:ln>
              </p:spPr>
              <p:txBody>
                <a:bodyPr wrap="none" anchor="ctr"/>
                <a:lstStyle/>
                <a:p>
                  <a:endParaRPr lang="zh-CN" altLang="en-US" sz="1600">
                    <a:latin typeface="Times New Roman" pitchFamily="18" charset="0"/>
                    <a:ea typeface="宋体" pitchFamily="2" charset="-122"/>
                  </a:endParaRPr>
                </a:p>
              </p:txBody>
            </p:sp>
            <p:sp>
              <p:nvSpPr>
                <p:cNvPr id="89" name="Oval 25"/>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p:spPr>
              <p:txBody>
                <a:bodyPr wrap="none" anchor="ctr"/>
                <a:lstStyle/>
                <a:p>
                  <a:endParaRPr lang="zh-CN" altLang="en-US" sz="1600">
                    <a:latin typeface="Times New Roman" pitchFamily="18" charset="0"/>
                    <a:ea typeface="宋体" pitchFamily="2" charset="-122"/>
                  </a:endParaRPr>
                </a:p>
              </p:txBody>
            </p:sp>
            <p:sp>
              <p:nvSpPr>
                <p:cNvPr id="90" name="Oval 26"/>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p:spPr>
              <p:txBody>
                <a:bodyPr wrap="none" anchor="ctr"/>
                <a:lstStyle/>
                <a:p>
                  <a:endParaRPr lang="zh-CN" altLang="en-US" sz="1600">
                    <a:latin typeface="Times New Roman" pitchFamily="18" charset="0"/>
                    <a:ea typeface="宋体" pitchFamily="2" charset="-122"/>
                  </a:endParaRPr>
                </a:p>
              </p:txBody>
            </p:sp>
            <p:sp>
              <p:nvSpPr>
                <p:cNvPr id="91" name="Oval 27"/>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p:spPr>
              <p:txBody>
                <a:bodyPr wrap="none" anchor="ctr"/>
                <a:lstStyle/>
                <a:p>
                  <a:endParaRPr lang="zh-CN" altLang="en-US" sz="1600">
                    <a:latin typeface="Times New Roman" pitchFamily="18" charset="0"/>
                    <a:ea typeface="宋体" pitchFamily="2" charset="-122"/>
                  </a:endParaRPr>
                </a:p>
              </p:txBody>
            </p:sp>
            <p:sp>
              <p:nvSpPr>
                <p:cNvPr id="92" name="Oval 28"/>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p:spPr>
              <p:txBody>
                <a:bodyPr wrap="none" anchor="ctr"/>
                <a:lstStyle/>
                <a:p>
                  <a:endParaRPr lang="zh-CN" altLang="en-US" sz="1600">
                    <a:latin typeface="Times New Roman" pitchFamily="18" charset="0"/>
                    <a:ea typeface="宋体" pitchFamily="2" charset="-122"/>
                  </a:endParaRPr>
                </a:p>
              </p:txBody>
            </p:sp>
            <p:sp>
              <p:nvSpPr>
                <p:cNvPr id="93" name="Freeform 29"/>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w="12700" cap="rnd">
                  <a:noFill/>
                  <a:round/>
                  <a:headEnd/>
                  <a:tailEnd/>
                </a:ln>
              </p:spPr>
              <p:txBody>
                <a:bodyPr/>
                <a:lstStyle/>
                <a:p>
                  <a:endParaRPr lang="zh-CN" altLang="en-US" sz="1600">
                    <a:latin typeface="Times New Roman" pitchFamily="18" charset="0"/>
                    <a:ea typeface="宋体" pitchFamily="2" charset="-122"/>
                  </a:endParaRPr>
                </a:p>
              </p:txBody>
            </p:sp>
            <p:sp>
              <p:nvSpPr>
                <p:cNvPr id="94" name="Freeform 30"/>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w="12700" cap="rnd">
                  <a:noFill/>
                  <a:round/>
                  <a:headEnd/>
                  <a:tailEnd/>
                </a:ln>
              </p:spPr>
              <p:txBody>
                <a:bodyPr/>
                <a:lstStyle/>
                <a:p>
                  <a:endParaRPr lang="zh-CN" altLang="en-US" sz="1600">
                    <a:latin typeface="Times New Roman" pitchFamily="18" charset="0"/>
                    <a:ea typeface="宋体" pitchFamily="2" charset="-122"/>
                  </a:endParaRPr>
                </a:p>
              </p:txBody>
            </p:sp>
            <p:sp>
              <p:nvSpPr>
                <p:cNvPr id="95" name="Freeform 31"/>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w="12700" cap="rnd">
                  <a:noFill/>
                  <a:round/>
                  <a:headEnd/>
                  <a:tailEnd/>
                </a:ln>
              </p:spPr>
              <p:txBody>
                <a:bodyPr/>
                <a:lstStyle/>
                <a:p>
                  <a:endParaRPr lang="zh-CN" altLang="en-US" sz="1600">
                    <a:latin typeface="Times New Roman" pitchFamily="18" charset="0"/>
                    <a:ea typeface="宋体" pitchFamily="2" charset="-122"/>
                  </a:endParaRPr>
                </a:p>
              </p:txBody>
            </p:sp>
          </p:grpSp>
          <p:grpSp>
            <p:nvGrpSpPr>
              <p:cNvPr id="14" name="Group 32"/>
              <p:cNvGrpSpPr>
                <a:grpSpLocks/>
              </p:cNvGrpSpPr>
              <p:nvPr/>
            </p:nvGrpSpPr>
            <p:grpSpPr bwMode="auto">
              <a:xfrm rot="21151335">
                <a:off x="3511550" y="4340225"/>
                <a:ext cx="723900" cy="487363"/>
                <a:chOff x="2949" y="196"/>
                <a:chExt cx="941" cy="598"/>
              </a:xfrm>
            </p:grpSpPr>
            <p:sp>
              <p:nvSpPr>
                <p:cNvPr id="74" name="Oval 33"/>
                <p:cNvSpPr>
                  <a:spLocks noChangeArrowheads="1"/>
                </p:cNvSpPr>
                <p:nvPr/>
              </p:nvSpPr>
              <p:spPr bwMode="auto">
                <a:xfrm>
                  <a:off x="3168" y="196"/>
                  <a:ext cx="407" cy="162"/>
                </a:xfrm>
                <a:prstGeom prst="ellipse">
                  <a:avLst/>
                </a:prstGeom>
                <a:solidFill>
                  <a:srgbClr val="B2B2B2"/>
                </a:solidFill>
                <a:ln w="12700">
                  <a:solidFill>
                    <a:schemeClr val="tx1"/>
                  </a:solidFill>
                  <a:round/>
                  <a:headEnd/>
                  <a:tailEnd/>
                </a:ln>
              </p:spPr>
              <p:txBody>
                <a:bodyPr wrap="none" anchor="ctr"/>
                <a:lstStyle/>
                <a:p>
                  <a:endParaRPr lang="zh-CN" altLang="en-US" sz="1600">
                    <a:latin typeface="Times New Roman" pitchFamily="18" charset="0"/>
                    <a:ea typeface="宋体" pitchFamily="2" charset="-122"/>
                  </a:endParaRPr>
                </a:p>
              </p:txBody>
            </p:sp>
            <p:sp>
              <p:nvSpPr>
                <p:cNvPr id="75" name="Oval 34"/>
                <p:cNvSpPr>
                  <a:spLocks noChangeArrowheads="1"/>
                </p:cNvSpPr>
                <p:nvPr/>
              </p:nvSpPr>
              <p:spPr bwMode="auto">
                <a:xfrm rot="900000">
                  <a:off x="3512" y="252"/>
                  <a:ext cx="275" cy="131"/>
                </a:xfrm>
                <a:prstGeom prst="ellipse">
                  <a:avLst/>
                </a:prstGeom>
                <a:solidFill>
                  <a:srgbClr val="B2B2B2"/>
                </a:solidFill>
                <a:ln w="12700">
                  <a:solidFill>
                    <a:schemeClr val="tx1"/>
                  </a:solidFill>
                  <a:round/>
                  <a:headEnd/>
                  <a:tailEnd/>
                </a:ln>
              </p:spPr>
              <p:txBody>
                <a:bodyPr wrap="none" anchor="ctr"/>
                <a:lstStyle/>
                <a:p>
                  <a:endParaRPr lang="zh-CN" altLang="en-US" sz="1600">
                    <a:latin typeface="Times New Roman" pitchFamily="18" charset="0"/>
                    <a:ea typeface="宋体" pitchFamily="2" charset="-122"/>
                  </a:endParaRPr>
                </a:p>
              </p:txBody>
            </p:sp>
            <p:sp>
              <p:nvSpPr>
                <p:cNvPr id="76" name="Oval 35"/>
                <p:cNvSpPr>
                  <a:spLocks noChangeArrowheads="1"/>
                </p:cNvSpPr>
                <p:nvPr/>
              </p:nvSpPr>
              <p:spPr bwMode="auto">
                <a:xfrm rot="1500000">
                  <a:off x="3650" y="385"/>
                  <a:ext cx="240" cy="153"/>
                </a:xfrm>
                <a:prstGeom prst="ellipse">
                  <a:avLst/>
                </a:prstGeom>
                <a:solidFill>
                  <a:srgbClr val="B2B2B2"/>
                </a:solidFill>
                <a:ln w="12700">
                  <a:solidFill>
                    <a:schemeClr val="tx1"/>
                  </a:solidFill>
                  <a:round/>
                  <a:headEnd/>
                  <a:tailEnd/>
                </a:ln>
              </p:spPr>
              <p:txBody>
                <a:bodyPr wrap="none" anchor="ctr"/>
                <a:lstStyle/>
                <a:p>
                  <a:endParaRPr lang="zh-CN" altLang="en-US" sz="1600">
                    <a:latin typeface="Times New Roman" pitchFamily="18" charset="0"/>
                    <a:ea typeface="宋体" pitchFamily="2" charset="-122"/>
                  </a:endParaRPr>
                </a:p>
              </p:txBody>
            </p:sp>
            <p:sp>
              <p:nvSpPr>
                <p:cNvPr id="77" name="Oval 36"/>
                <p:cNvSpPr>
                  <a:spLocks noChangeArrowheads="1"/>
                </p:cNvSpPr>
                <p:nvPr/>
              </p:nvSpPr>
              <p:spPr bwMode="auto">
                <a:xfrm rot="-1560000">
                  <a:off x="3573" y="537"/>
                  <a:ext cx="291" cy="189"/>
                </a:xfrm>
                <a:prstGeom prst="ellipse">
                  <a:avLst/>
                </a:prstGeom>
                <a:solidFill>
                  <a:srgbClr val="B2B2B2"/>
                </a:solidFill>
                <a:ln w="12700">
                  <a:solidFill>
                    <a:schemeClr val="tx1"/>
                  </a:solidFill>
                  <a:round/>
                  <a:headEnd/>
                  <a:tailEnd/>
                </a:ln>
              </p:spPr>
              <p:txBody>
                <a:bodyPr wrap="none" anchor="ctr"/>
                <a:lstStyle/>
                <a:p>
                  <a:endParaRPr lang="zh-CN" altLang="en-US" sz="1600">
                    <a:latin typeface="Times New Roman" pitchFamily="18" charset="0"/>
                    <a:ea typeface="宋体" pitchFamily="2" charset="-122"/>
                  </a:endParaRPr>
                </a:p>
              </p:txBody>
            </p:sp>
            <p:sp>
              <p:nvSpPr>
                <p:cNvPr id="78" name="Oval 37"/>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p:spPr>
              <p:txBody>
                <a:bodyPr wrap="none" anchor="ctr"/>
                <a:lstStyle/>
                <a:p>
                  <a:endParaRPr lang="zh-CN" altLang="en-US" sz="1600">
                    <a:latin typeface="Times New Roman" pitchFamily="18" charset="0"/>
                    <a:ea typeface="宋体" pitchFamily="2" charset="-122"/>
                  </a:endParaRPr>
                </a:p>
              </p:txBody>
            </p:sp>
            <p:sp>
              <p:nvSpPr>
                <p:cNvPr id="79" name="Oval 38"/>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p:spPr>
              <p:txBody>
                <a:bodyPr wrap="none" anchor="ctr"/>
                <a:lstStyle/>
                <a:p>
                  <a:endParaRPr lang="zh-CN" altLang="en-US" sz="1600">
                    <a:latin typeface="Times New Roman" pitchFamily="18" charset="0"/>
                    <a:ea typeface="宋体" pitchFamily="2" charset="-122"/>
                  </a:endParaRPr>
                </a:p>
              </p:txBody>
            </p:sp>
            <p:sp>
              <p:nvSpPr>
                <p:cNvPr id="80" name="Oval 39"/>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p:spPr>
              <p:txBody>
                <a:bodyPr wrap="none" anchor="ctr"/>
                <a:lstStyle/>
                <a:p>
                  <a:endParaRPr lang="zh-CN" altLang="en-US" sz="1600">
                    <a:latin typeface="Times New Roman" pitchFamily="18" charset="0"/>
                    <a:ea typeface="宋体" pitchFamily="2" charset="-122"/>
                  </a:endParaRPr>
                </a:p>
              </p:txBody>
            </p:sp>
            <p:sp>
              <p:nvSpPr>
                <p:cNvPr id="81" name="Oval 40"/>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p:spPr>
              <p:txBody>
                <a:bodyPr wrap="none" anchor="ctr"/>
                <a:lstStyle/>
                <a:p>
                  <a:endParaRPr lang="zh-CN" altLang="en-US" sz="1600">
                    <a:latin typeface="Times New Roman" pitchFamily="18" charset="0"/>
                    <a:ea typeface="宋体" pitchFamily="2" charset="-122"/>
                  </a:endParaRPr>
                </a:p>
              </p:txBody>
            </p:sp>
            <p:sp>
              <p:nvSpPr>
                <p:cNvPr id="82" name="Freeform 41"/>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w="12700" cap="rnd">
                  <a:noFill/>
                  <a:round/>
                  <a:headEnd/>
                  <a:tailEnd/>
                </a:ln>
              </p:spPr>
              <p:txBody>
                <a:bodyPr/>
                <a:lstStyle/>
                <a:p>
                  <a:endParaRPr lang="zh-CN" altLang="en-US" sz="1600">
                    <a:latin typeface="Times New Roman" pitchFamily="18" charset="0"/>
                    <a:ea typeface="宋体" pitchFamily="2" charset="-122"/>
                  </a:endParaRPr>
                </a:p>
              </p:txBody>
            </p:sp>
            <p:sp>
              <p:nvSpPr>
                <p:cNvPr id="83" name="Freeform 42"/>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w="12700" cap="rnd">
                  <a:noFill/>
                  <a:round/>
                  <a:headEnd/>
                  <a:tailEnd/>
                </a:ln>
              </p:spPr>
              <p:txBody>
                <a:bodyPr/>
                <a:lstStyle/>
                <a:p>
                  <a:endParaRPr lang="zh-CN" altLang="en-US" sz="1600">
                    <a:latin typeface="Times New Roman" pitchFamily="18" charset="0"/>
                    <a:ea typeface="宋体" pitchFamily="2" charset="-122"/>
                  </a:endParaRPr>
                </a:p>
              </p:txBody>
            </p:sp>
            <p:sp>
              <p:nvSpPr>
                <p:cNvPr id="84" name="Freeform 43"/>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w="12700" cap="rnd">
                  <a:noFill/>
                  <a:round/>
                  <a:headEnd/>
                  <a:tailEnd/>
                </a:ln>
              </p:spPr>
              <p:txBody>
                <a:bodyPr/>
                <a:lstStyle/>
                <a:p>
                  <a:endParaRPr lang="zh-CN" altLang="en-US" sz="1600">
                    <a:latin typeface="Times New Roman" pitchFamily="18" charset="0"/>
                    <a:ea typeface="宋体" pitchFamily="2" charset="-122"/>
                  </a:endParaRPr>
                </a:p>
              </p:txBody>
            </p:sp>
          </p:grpSp>
          <p:grpSp>
            <p:nvGrpSpPr>
              <p:cNvPr id="15" name="Group 44"/>
              <p:cNvGrpSpPr>
                <a:grpSpLocks/>
              </p:cNvGrpSpPr>
              <p:nvPr/>
            </p:nvGrpSpPr>
            <p:grpSpPr bwMode="auto">
              <a:xfrm rot="21151335">
                <a:off x="5359400" y="4340225"/>
                <a:ext cx="722313" cy="487363"/>
                <a:chOff x="2949" y="196"/>
                <a:chExt cx="941" cy="598"/>
              </a:xfrm>
            </p:grpSpPr>
            <p:sp>
              <p:nvSpPr>
                <p:cNvPr id="63" name="Oval 45"/>
                <p:cNvSpPr>
                  <a:spLocks noChangeArrowheads="1"/>
                </p:cNvSpPr>
                <p:nvPr/>
              </p:nvSpPr>
              <p:spPr bwMode="auto">
                <a:xfrm>
                  <a:off x="3168" y="196"/>
                  <a:ext cx="407" cy="162"/>
                </a:xfrm>
                <a:prstGeom prst="ellipse">
                  <a:avLst/>
                </a:prstGeom>
                <a:solidFill>
                  <a:srgbClr val="B2B2B2"/>
                </a:solidFill>
                <a:ln w="12700">
                  <a:solidFill>
                    <a:schemeClr val="tx1"/>
                  </a:solidFill>
                  <a:round/>
                  <a:headEnd/>
                  <a:tailEnd/>
                </a:ln>
              </p:spPr>
              <p:txBody>
                <a:bodyPr wrap="none" anchor="ctr"/>
                <a:lstStyle/>
                <a:p>
                  <a:endParaRPr lang="zh-CN" altLang="en-US" sz="1600">
                    <a:latin typeface="Times New Roman" pitchFamily="18" charset="0"/>
                    <a:ea typeface="宋体" pitchFamily="2" charset="-122"/>
                  </a:endParaRPr>
                </a:p>
              </p:txBody>
            </p:sp>
            <p:sp>
              <p:nvSpPr>
                <p:cNvPr id="64" name="Oval 46"/>
                <p:cNvSpPr>
                  <a:spLocks noChangeArrowheads="1"/>
                </p:cNvSpPr>
                <p:nvPr/>
              </p:nvSpPr>
              <p:spPr bwMode="auto">
                <a:xfrm rot="900000">
                  <a:off x="3512" y="252"/>
                  <a:ext cx="275" cy="131"/>
                </a:xfrm>
                <a:prstGeom prst="ellipse">
                  <a:avLst/>
                </a:prstGeom>
                <a:solidFill>
                  <a:srgbClr val="B2B2B2"/>
                </a:solidFill>
                <a:ln w="12700">
                  <a:solidFill>
                    <a:schemeClr val="tx1"/>
                  </a:solidFill>
                  <a:round/>
                  <a:headEnd/>
                  <a:tailEnd/>
                </a:ln>
              </p:spPr>
              <p:txBody>
                <a:bodyPr wrap="none" anchor="ctr"/>
                <a:lstStyle/>
                <a:p>
                  <a:endParaRPr lang="zh-CN" altLang="en-US" sz="1600">
                    <a:latin typeface="Times New Roman" pitchFamily="18" charset="0"/>
                    <a:ea typeface="宋体" pitchFamily="2" charset="-122"/>
                  </a:endParaRPr>
                </a:p>
              </p:txBody>
            </p:sp>
            <p:sp>
              <p:nvSpPr>
                <p:cNvPr id="65" name="Oval 47"/>
                <p:cNvSpPr>
                  <a:spLocks noChangeArrowheads="1"/>
                </p:cNvSpPr>
                <p:nvPr/>
              </p:nvSpPr>
              <p:spPr bwMode="auto">
                <a:xfrm rot="1500000">
                  <a:off x="3650" y="385"/>
                  <a:ext cx="240" cy="153"/>
                </a:xfrm>
                <a:prstGeom prst="ellipse">
                  <a:avLst/>
                </a:prstGeom>
                <a:solidFill>
                  <a:srgbClr val="B2B2B2"/>
                </a:solidFill>
                <a:ln w="12700">
                  <a:solidFill>
                    <a:schemeClr val="tx1"/>
                  </a:solidFill>
                  <a:round/>
                  <a:headEnd/>
                  <a:tailEnd/>
                </a:ln>
              </p:spPr>
              <p:txBody>
                <a:bodyPr wrap="none" anchor="ctr"/>
                <a:lstStyle/>
                <a:p>
                  <a:endParaRPr lang="zh-CN" altLang="en-US" sz="1600">
                    <a:latin typeface="Times New Roman" pitchFamily="18" charset="0"/>
                    <a:ea typeface="宋体" pitchFamily="2" charset="-122"/>
                  </a:endParaRPr>
                </a:p>
              </p:txBody>
            </p:sp>
            <p:sp>
              <p:nvSpPr>
                <p:cNvPr id="66" name="Oval 48"/>
                <p:cNvSpPr>
                  <a:spLocks noChangeArrowheads="1"/>
                </p:cNvSpPr>
                <p:nvPr/>
              </p:nvSpPr>
              <p:spPr bwMode="auto">
                <a:xfrm rot="-1560000">
                  <a:off x="3573" y="537"/>
                  <a:ext cx="291" cy="189"/>
                </a:xfrm>
                <a:prstGeom prst="ellipse">
                  <a:avLst/>
                </a:prstGeom>
                <a:solidFill>
                  <a:srgbClr val="B2B2B2"/>
                </a:solidFill>
                <a:ln w="12700">
                  <a:solidFill>
                    <a:schemeClr val="tx1"/>
                  </a:solidFill>
                  <a:round/>
                  <a:headEnd/>
                  <a:tailEnd/>
                </a:ln>
              </p:spPr>
              <p:txBody>
                <a:bodyPr wrap="none" anchor="ctr"/>
                <a:lstStyle/>
                <a:p>
                  <a:endParaRPr lang="zh-CN" altLang="en-US" sz="1600">
                    <a:latin typeface="Times New Roman" pitchFamily="18" charset="0"/>
                    <a:ea typeface="宋体" pitchFamily="2" charset="-122"/>
                  </a:endParaRPr>
                </a:p>
              </p:txBody>
            </p:sp>
            <p:sp>
              <p:nvSpPr>
                <p:cNvPr id="67" name="Oval 49"/>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p:spPr>
              <p:txBody>
                <a:bodyPr wrap="none" anchor="ctr"/>
                <a:lstStyle/>
                <a:p>
                  <a:endParaRPr lang="zh-CN" altLang="en-US" sz="1600">
                    <a:latin typeface="Times New Roman" pitchFamily="18" charset="0"/>
                    <a:ea typeface="宋体" pitchFamily="2" charset="-122"/>
                  </a:endParaRPr>
                </a:p>
              </p:txBody>
            </p:sp>
            <p:sp>
              <p:nvSpPr>
                <p:cNvPr id="68" name="Oval 50"/>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p:spPr>
              <p:txBody>
                <a:bodyPr wrap="none" anchor="ctr"/>
                <a:lstStyle/>
                <a:p>
                  <a:endParaRPr lang="zh-CN" altLang="en-US" sz="1600">
                    <a:latin typeface="Times New Roman" pitchFamily="18" charset="0"/>
                    <a:ea typeface="宋体" pitchFamily="2" charset="-122"/>
                  </a:endParaRPr>
                </a:p>
              </p:txBody>
            </p:sp>
            <p:sp>
              <p:nvSpPr>
                <p:cNvPr id="69" name="Oval 51"/>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p:spPr>
              <p:txBody>
                <a:bodyPr wrap="none" anchor="ctr"/>
                <a:lstStyle/>
                <a:p>
                  <a:endParaRPr lang="zh-CN" altLang="en-US" sz="1600">
                    <a:latin typeface="Times New Roman" pitchFamily="18" charset="0"/>
                    <a:ea typeface="宋体" pitchFamily="2" charset="-122"/>
                  </a:endParaRPr>
                </a:p>
              </p:txBody>
            </p:sp>
            <p:sp>
              <p:nvSpPr>
                <p:cNvPr id="70" name="Oval 52"/>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p:spPr>
              <p:txBody>
                <a:bodyPr wrap="none" anchor="ctr"/>
                <a:lstStyle/>
                <a:p>
                  <a:endParaRPr lang="zh-CN" altLang="en-US" sz="1600">
                    <a:latin typeface="Times New Roman" pitchFamily="18" charset="0"/>
                    <a:ea typeface="宋体" pitchFamily="2" charset="-122"/>
                  </a:endParaRPr>
                </a:p>
              </p:txBody>
            </p:sp>
            <p:sp>
              <p:nvSpPr>
                <p:cNvPr id="71" name="Freeform 53"/>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w="12700" cap="rnd">
                  <a:noFill/>
                  <a:round/>
                  <a:headEnd/>
                  <a:tailEnd/>
                </a:ln>
              </p:spPr>
              <p:txBody>
                <a:bodyPr/>
                <a:lstStyle/>
                <a:p>
                  <a:endParaRPr lang="zh-CN" altLang="en-US" sz="1600">
                    <a:latin typeface="Times New Roman" pitchFamily="18" charset="0"/>
                    <a:ea typeface="宋体" pitchFamily="2" charset="-122"/>
                  </a:endParaRPr>
                </a:p>
              </p:txBody>
            </p:sp>
            <p:sp>
              <p:nvSpPr>
                <p:cNvPr id="72" name="Freeform 54"/>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w="12700" cap="rnd">
                  <a:noFill/>
                  <a:round/>
                  <a:headEnd/>
                  <a:tailEnd/>
                </a:ln>
              </p:spPr>
              <p:txBody>
                <a:bodyPr/>
                <a:lstStyle/>
                <a:p>
                  <a:endParaRPr lang="zh-CN" altLang="en-US" sz="1600">
                    <a:latin typeface="Times New Roman" pitchFamily="18" charset="0"/>
                    <a:ea typeface="宋体" pitchFamily="2" charset="-122"/>
                  </a:endParaRPr>
                </a:p>
              </p:txBody>
            </p:sp>
            <p:sp>
              <p:nvSpPr>
                <p:cNvPr id="73" name="Freeform 55"/>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w="12700" cap="rnd">
                  <a:noFill/>
                  <a:round/>
                  <a:headEnd/>
                  <a:tailEnd/>
                </a:ln>
              </p:spPr>
              <p:txBody>
                <a:bodyPr/>
                <a:lstStyle/>
                <a:p>
                  <a:endParaRPr lang="zh-CN" altLang="en-US" sz="1600">
                    <a:latin typeface="Times New Roman" pitchFamily="18" charset="0"/>
                    <a:ea typeface="宋体" pitchFamily="2" charset="-122"/>
                  </a:endParaRPr>
                </a:p>
              </p:txBody>
            </p:sp>
          </p:grpSp>
          <p:grpSp>
            <p:nvGrpSpPr>
              <p:cNvPr id="16" name="Group 56"/>
              <p:cNvGrpSpPr>
                <a:grpSpLocks/>
              </p:cNvGrpSpPr>
              <p:nvPr/>
            </p:nvGrpSpPr>
            <p:grpSpPr bwMode="auto">
              <a:xfrm rot="21151335">
                <a:off x="4314825" y="3046413"/>
                <a:ext cx="722313" cy="485775"/>
                <a:chOff x="2949" y="196"/>
                <a:chExt cx="941" cy="598"/>
              </a:xfrm>
            </p:grpSpPr>
            <p:sp>
              <p:nvSpPr>
                <p:cNvPr id="52" name="Oval 57"/>
                <p:cNvSpPr>
                  <a:spLocks noChangeArrowheads="1"/>
                </p:cNvSpPr>
                <p:nvPr/>
              </p:nvSpPr>
              <p:spPr bwMode="auto">
                <a:xfrm>
                  <a:off x="3168" y="196"/>
                  <a:ext cx="407" cy="162"/>
                </a:xfrm>
                <a:prstGeom prst="ellipse">
                  <a:avLst/>
                </a:prstGeom>
                <a:solidFill>
                  <a:srgbClr val="B2B2B2"/>
                </a:solidFill>
                <a:ln w="12700">
                  <a:solidFill>
                    <a:schemeClr val="tx1"/>
                  </a:solidFill>
                  <a:round/>
                  <a:headEnd/>
                  <a:tailEnd/>
                </a:ln>
              </p:spPr>
              <p:txBody>
                <a:bodyPr wrap="none" anchor="ctr"/>
                <a:lstStyle/>
                <a:p>
                  <a:endParaRPr lang="zh-CN" altLang="en-US" sz="1600">
                    <a:latin typeface="Times New Roman" pitchFamily="18" charset="0"/>
                    <a:ea typeface="宋体" pitchFamily="2" charset="-122"/>
                  </a:endParaRPr>
                </a:p>
              </p:txBody>
            </p:sp>
            <p:sp>
              <p:nvSpPr>
                <p:cNvPr id="53" name="Oval 58"/>
                <p:cNvSpPr>
                  <a:spLocks noChangeArrowheads="1"/>
                </p:cNvSpPr>
                <p:nvPr/>
              </p:nvSpPr>
              <p:spPr bwMode="auto">
                <a:xfrm rot="900000">
                  <a:off x="3512" y="252"/>
                  <a:ext cx="275" cy="131"/>
                </a:xfrm>
                <a:prstGeom prst="ellipse">
                  <a:avLst/>
                </a:prstGeom>
                <a:solidFill>
                  <a:srgbClr val="B2B2B2"/>
                </a:solidFill>
                <a:ln w="12700">
                  <a:solidFill>
                    <a:schemeClr val="tx1"/>
                  </a:solidFill>
                  <a:round/>
                  <a:headEnd/>
                  <a:tailEnd/>
                </a:ln>
              </p:spPr>
              <p:txBody>
                <a:bodyPr wrap="none" anchor="ctr"/>
                <a:lstStyle/>
                <a:p>
                  <a:endParaRPr lang="zh-CN" altLang="en-US" sz="1600">
                    <a:latin typeface="Times New Roman" pitchFamily="18" charset="0"/>
                    <a:ea typeface="宋体" pitchFamily="2" charset="-122"/>
                  </a:endParaRPr>
                </a:p>
              </p:txBody>
            </p:sp>
            <p:sp>
              <p:nvSpPr>
                <p:cNvPr id="54" name="Oval 59"/>
                <p:cNvSpPr>
                  <a:spLocks noChangeArrowheads="1"/>
                </p:cNvSpPr>
                <p:nvPr/>
              </p:nvSpPr>
              <p:spPr bwMode="auto">
                <a:xfrm rot="1500000">
                  <a:off x="3650" y="385"/>
                  <a:ext cx="240" cy="153"/>
                </a:xfrm>
                <a:prstGeom prst="ellipse">
                  <a:avLst/>
                </a:prstGeom>
                <a:solidFill>
                  <a:srgbClr val="B2B2B2"/>
                </a:solidFill>
                <a:ln w="12700">
                  <a:solidFill>
                    <a:schemeClr val="tx1"/>
                  </a:solidFill>
                  <a:round/>
                  <a:headEnd/>
                  <a:tailEnd/>
                </a:ln>
              </p:spPr>
              <p:txBody>
                <a:bodyPr wrap="none" anchor="ctr"/>
                <a:lstStyle/>
                <a:p>
                  <a:endParaRPr lang="zh-CN" altLang="en-US" sz="1600">
                    <a:latin typeface="Times New Roman" pitchFamily="18" charset="0"/>
                    <a:ea typeface="宋体" pitchFamily="2" charset="-122"/>
                  </a:endParaRPr>
                </a:p>
              </p:txBody>
            </p:sp>
            <p:sp>
              <p:nvSpPr>
                <p:cNvPr id="55" name="Oval 60"/>
                <p:cNvSpPr>
                  <a:spLocks noChangeArrowheads="1"/>
                </p:cNvSpPr>
                <p:nvPr/>
              </p:nvSpPr>
              <p:spPr bwMode="auto">
                <a:xfrm rot="-1560000">
                  <a:off x="3573" y="537"/>
                  <a:ext cx="291" cy="189"/>
                </a:xfrm>
                <a:prstGeom prst="ellipse">
                  <a:avLst/>
                </a:prstGeom>
                <a:solidFill>
                  <a:srgbClr val="B2B2B2"/>
                </a:solidFill>
                <a:ln w="12700">
                  <a:solidFill>
                    <a:schemeClr val="tx1"/>
                  </a:solidFill>
                  <a:round/>
                  <a:headEnd/>
                  <a:tailEnd/>
                </a:ln>
              </p:spPr>
              <p:txBody>
                <a:bodyPr wrap="none" anchor="ctr"/>
                <a:lstStyle/>
                <a:p>
                  <a:endParaRPr lang="zh-CN" altLang="en-US" sz="1600">
                    <a:latin typeface="Times New Roman" pitchFamily="18" charset="0"/>
                    <a:ea typeface="宋体" pitchFamily="2" charset="-122"/>
                  </a:endParaRPr>
                </a:p>
              </p:txBody>
            </p:sp>
            <p:sp>
              <p:nvSpPr>
                <p:cNvPr id="56" name="Oval 61"/>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p:spPr>
              <p:txBody>
                <a:bodyPr wrap="none" anchor="ctr"/>
                <a:lstStyle/>
                <a:p>
                  <a:endParaRPr lang="zh-CN" altLang="en-US" sz="1600">
                    <a:latin typeface="Times New Roman" pitchFamily="18" charset="0"/>
                    <a:ea typeface="宋体" pitchFamily="2" charset="-122"/>
                  </a:endParaRPr>
                </a:p>
              </p:txBody>
            </p:sp>
            <p:sp>
              <p:nvSpPr>
                <p:cNvPr id="57" name="Oval 62"/>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p:spPr>
              <p:txBody>
                <a:bodyPr wrap="none" anchor="ctr"/>
                <a:lstStyle/>
                <a:p>
                  <a:endParaRPr lang="zh-CN" altLang="en-US" sz="1600">
                    <a:latin typeface="Times New Roman" pitchFamily="18" charset="0"/>
                    <a:ea typeface="宋体" pitchFamily="2" charset="-122"/>
                  </a:endParaRPr>
                </a:p>
              </p:txBody>
            </p:sp>
            <p:sp>
              <p:nvSpPr>
                <p:cNvPr id="58" name="Oval 63"/>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p:spPr>
              <p:txBody>
                <a:bodyPr wrap="none" anchor="ctr"/>
                <a:lstStyle/>
                <a:p>
                  <a:endParaRPr lang="zh-CN" altLang="en-US" sz="1600">
                    <a:latin typeface="Times New Roman" pitchFamily="18" charset="0"/>
                    <a:ea typeface="宋体" pitchFamily="2" charset="-122"/>
                  </a:endParaRPr>
                </a:p>
              </p:txBody>
            </p:sp>
            <p:sp>
              <p:nvSpPr>
                <p:cNvPr id="59" name="Oval 64"/>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p:spPr>
              <p:txBody>
                <a:bodyPr wrap="none" anchor="ctr"/>
                <a:lstStyle/>
                <a:p>
                  <a:endParaRPr lang="zh-CN" altLang="en-US" sz="1600">
                    <a:latin typeface="Times New Roman" pitchFamily="18" charset="0"/>
                    <a:ea typeface="宋体" pitchFamily="2" charset="-122"/>
                  </a:endParaRPr>
                </a:p>
              </p:txBody>
            </p:sp>
            <p:sp>
              <p:nvSpPr>
                <p:cNvPr id="60" name="Freeform 65"/>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w="12700" cap="rnd">
                  <a:noFill/>
                  <a:round/>
                  <a:headEnd/>
                  <a:tailEnd/>
                </a:ln>
              </p:spPr>
              <p:txBody>
                <a:bodyPr/>
                <a:lstStyle/>
                <a:p>
                  <a:endParaRPr lang="zh-CN" altLang="en-US" sz="1600">
                    <a:latin typeface="Times New Roman" pitchFamily="18" charset="0"/>
                    <a:ea typeface="宋体" pitchFamily="2" charset="-122"/>
                  </a:endParaRPr>
                </a:p>
              </p:txBody>
            </p:sp>
            <p:sp>
              <p:nvSpPr>
                <p:cNvPr id="61" name="Freeform 66"/>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w="12700" cap="rnd">
                  <a:noFill/>
                  <a:round/>
                  <a:headEnd/>
                  <a:tailEnd/>
                </a:ln>
              </p:spPr>
              <p:txBody>
                <a:bodyPr/>
                <a:lstStyle/>
                <a:p>
                  <a:endParaRPr lang="zh-CN" altLang="en-US" sz="1600">
                    <a:latin typeface="Times New Roman" pitchFamily="18" charset="0"/>
                    <a:ea typeface="宋体" pitchFamily="2" charset="-122"/>
                  </a:endParaRPr>
                </a:p>
              </p:txBody>
            </p:sp>
            <p:sp>
              <p:nvSpPr>
                <p:cNvPr id="62" name="Freeform 67"/>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w="12700" cap="rnd">
                  <a:noFill/>
                  <a:round/>
                  <a:headEnd/>
                  <a:tailEnd/>
                </a:ln>
              </p:spPr>
              <p:txBody>
                <a:bodyPr/>
                <a:lstStyle/>
                <a:p>
                  <a:endParaRPr lang="zh-CN" altLang="en-US" sz="1600">
                    <a:latin typeface="Times New Roman" pitchFamily="18" charset="0"/>
                    <a:ea typeface="宋体" pitchFamily="2" charset="-122"/>
                  </a:endParaRPr>
                </a:p>
              </p:txBody>
            </p:sp>
          </p:grpSp>
          <p:pic>
            <p:nvPicPr>
              <p:cNvPr id="17" name="Picture 68"/>
              <p:cNvPicPr>
                <a:picLocks noChangeArrowheads="1"/>
              </p:cNvPicPr>
              <p:nvPr/>
            </p:nvPicPr>
            <p:blipFill>
              <a:blip r:embed="rId3" cstate="print"/>
              <a:srcRect/>
              <a:stretch>
                <a:fillRect/>
              </a:stretch>
            </p:blipFill>
            <p:spPr bwMode="auto">
              <a:xfrm>
                <a:off x="2774950" y="4179888"/>
                <a:ext cx="493713" cy="347662"/>
              </a:xfrm>
              <a:prstGeom prst="rect">
                <a:avLst/>
              </a:prstGeom>
              <a:noFill/>
              <a:ln w="12699">
                <a:noFill/>
                <a:miter lim="800000"/>
                <a:headEnd/>
                <a:tailEnd/>
              </a:ln>
            </p:spPr>
          </p:pic>
          <p:pic>
            <p:nvPicPr>
              <p:cNvPr id="18" name="Picture 69"/>
              <p:cNvPicPr>
                <a:picLocks noChangeArrowheads="1"/>
              </p:cNvPicPr>
              <p:nvPr/>
            </p:nvPicPr>
            <p:blipFill>
              <a:blip r:embed="rId3" cstate="print"/>
              <a:srcRect/>
              <a:stretch>
                <a:fillRect/>
              </a:stretch>
            </p:blipFill>
            <p:spPr bwMode="auto">
              <a:xfrm>
                <a:off x="4624388" y="4502150"/>
                <a:ext cx="493712" cy="347663"/>
              </a:xfrm>
              <a:prstGeom prst="rect">
                <a:avLst/>
              </a:prstGeom>
              <a:noFill/>
              <a:ln w="12699">
                <a:noFill/>
                <a:miter lim="800000"/>
                <a:headEnd/>
                <a:tailEnd/>
              </a:ln>
            </p:spPr>
          </p:pic>
          <p:pic>
            <p:nvPicPr>
              <p:cNvPr id="19" name="Picture 70"/>
              <p:cNvPicPr>
                <a:picLocks noChangeArrowheads="1"/>
              </p:cNvPicPr>
              <p:nvPr/>
            </p:nvPicPr>
            <p:blipFill>
              <a:blip r:embed="rId3" cstate="print"/>
              <a:srcRect/>
              <a:stretch>
                <a:fillRect/>
              </a:stretch>
            </p:blipFill>
            <p:spPr bwMode="auto">
              <a:xfrm>
                <a:off x="6323013" y="4154488"/>
                <a:ext cx="493712" cy="347662"/>
              </a:xfrm>
              <a:prstGeom prst="rect">
                <a:avLst/>
              </a:prstGeom>
              <a:noFill/>
              <a:ln w="12699">
                <a:noFill/>
                <a:miter lim="800000"/>
                <a:headEnd/>
                <a:tailEnd/>
              </a:ln>
            </p:spPr>
          </p:pic>
          <p:pic>
            <p:nvPicPr>
              <p:cNvPr id="20" name="Picture 71"/>
              <p:cNvPicPr>
                <a:picLocks noChangeArrowheads="1"/>
              </p:cNvPicPr>
              <p:nvPr/>
            </p:nvPicPr>
            <p:blipFill>
              <a:blip r:embed="rId3" cstate="print"/>
              <a:srcRect/>
              <a:stretch>
                <a:fillRect/>
              </a:stretch>
            </p:blipFill>
            <p:spPr bwMode="auto">
              <a:xfrm>
                <a:off x="5508625" y="3184525"/>
                <a:ext cx="493713" cy="347663"/>
              </a:xfrm>
              <a:prstGeom prst="rect">
                <a:avLst/>
              </a:prstGeom>
              <a:noFill/>
              <a:ln w="12699">
                <a:noFill/>
                <a:miter lim="800000"/>
                <a:headEnd/>
                <a:tailEnd/>
              </a:ln>
            </p:spPr>
          </p:pic>
          <p:pic>
            <p:nvPicPr>
              <p:cNvPr id="21" name="Picture 72"/>
              <p:cNvPicPr>
                <a:picLocks noChangeArrowheads="1"/>
              </p:cNvPicPr>
              <p:nvPr/>
            </p:nvPicPr>
            <p:blipFill>
              <a:blip r:embed="rId2" cstate="print"/>
              <a:srcRect/>
              <a:stretch>
                <a:fillRect/>
              </a:stretch>
            </p:blipFill>
            <p:spPr bwMode="auto">
              <a:xfrm>
                <a:off x="6805613" y="4745038"/>
                <a:ext cx="466725" cy="465137"/>
              </a:xfrm>
              <a:prstGeom prst="rect">
                <a:avLst/>
              </a:prstGeom>
              <a:noFill/>
              <a:ln w="9525">
                <a:noFill/>
                <a:miter lim="800000"/>
                <a:headEnd/>
                <a:tailEnd/>
              </a:ln>
            </p:spPr>
          </p:pic>
          <p:pic>
            <p:nvPicPr>
              <p:cNvPr id="22" name="Picture 73"/>
              <p:cNvPicPr>
                <a:picLocks noChangeArrowheads="1"/>
              </p:cNvPicPr>
              <p:nvPr/>
            </p:nvPicPr>
            <p:blipFill>
              <a:blip r:embed="rId2" cstate="print"/>
              <a:srcRect/>
              <a:stretch>
                <a:fillRect/>
              </a:stretch>
            </p:blipFill>
            <p:spPr bwMode="auto">
              <a:xfrm>
                <a:off x="7767638" y="3632200"/>
                <a:ext cx="468312" cy="465138"/>
              </a:xfrm>
              <a:prstGeom prst="rect">
                <a:avLst/>
              </a:prstGeom>
              <a:noFill/>
              <a:ln w="9525">
                <a:noFill/>
                <a:miter lim="800000"/>
                <a:headEnd/>
                <a:tailEnd/>
              </a:ln>
            </p:spPr>
          </p:pic>
          <p:pic>
            <p:nvPicPr>
              <p:cNvPr id="23" name="Picture 75"/>
              <p:cNvPicPr>
                <a:picLocks noChangeArrowheads="1"/>
              </p:cNvPicPr>
              <p:nvPr/>
            </p:nvPicPr>
            <p:blipFill>
              <a:blip r:embed="rId2" cstate="print"/>
              <a:srcRect/>
              <a:stretch>
                <a:fillRect/>
              </a:stretch>
            </p:blipFill>
            <p:spPr bwMode="auto">
              <a:xfrm>
                <a:off x="4008438" y="5251450"/>
                <a:ext cx="466725" cy="465138"/>
              </a:xfrm>
              <a:prstGeom prst="rect">
                <a:avLst/>
              </a:prstGeom>
              <a:noFill/>
              <a:ln w="9525">
                <a:noFill/>
                <a:miter lim="800000"/>
                <a:headEnd/>
                <a:tailEnd/>
              </a:ln>
            </p:spPr>
          </p:pic>
          <p:pic>
            <p:nvPicPr>
              <p:cNvPr id="24" name="Picture 76"/>
              <p:cNvPicPr>
                <a:picLocks noChangeArrowheads="1"/>
              </p:cNvPicPr>
              <p:nvPr/>
            </p:nvPicPr>
            <p:blipFill>
              <a:blip r:embed="rId2" cstate="print"/>
              <a:srcRect/>
              <a:stretch>
                <a:fillRect/>
              </a:stretch>
            </p:blipFill>
            <p:spPr bwMode="auto">
              <a:xfrm>
                <a:off x="1903413" y="4664075"/>
                <a:ext cx="468312" cy="466725"/>
              </a:xfrm>
              <a:prstGeom prst="rect">
                <a:avLst/>
              </a:prstGeom>
              <a:noFill/>
              <a:ln w="9525">
                <a:noFill/>
                <a:miter lim="800000"/>
                <a:headEnd/>
                <a:tailEnd/>
              </a:ln>
            </p:spPr>
          </p:pic>
          <p:pic>
            <p:nvPicPr>
              <p:cNvPr id="25" name="Picture 77"/>
              <p:cNvPicPr>
                <a:picLocks noChangeArrowheads="1"/>
              </p:cNvPicPr>
              <p:nvPr/>
            </p:nvPicPr>
            <p:blipFill>
              <a:blip r:embed="rId2" cstate="print"/>
              <a:srcRect/>
              <a:stretch>
                <a:fillRect/>
              </a:stretch>
            </p:blipFill>
            <p:spPr bwMode="auto">
              <a:xfrm>
                <a:off x="793750" y="3471863"/>
                <a:ext cx="466725" cy="465137"/>
              </a:xfrm>
              <a:prstGeom prst="rect">
                <a:avLst/>
              </a:prstGeom>
              <a:noFill/>
              <a:ln w="9525">
                <a:noFill/>
                <a:miter lim="800000"/>
                <a:headEnd/>
                <a:tailEnd/>
              </a:ln>
            </p:spPr>
          </p:pic>
          <p:sp>
            <p:nvSpPr>
              <p:cNvPr id="26" name="Text Box 78"/>
              <p:cNvSpPr txBox="1">
                <a:spLocks noChangeArrowheads="1"/>
              </p:cNvSpPr>
              <p:nvPr/>
            </p:nvSpPr>
            <p:spPr bwMode="auto">
              <a:xfrm>
                <a:off x="4143372" y="3714752"/>
                <a:ext cx="1005403" cy="338554"/>
              </a:xfrm>
              <a:prstGeom prst="rect">
                <a:avLst/>
              </a:prstGeom>
              <a:noFill/>
              <a:ln w="9525">
                <a:solidFill>
                  <a:schemeClr val="tx1"/>
                </a:solidFill>
                <a:miter lim="800000"/>
                <a:headEnd/>
                <a:tailEnd/>
              </a:ln>
            </p:spPr>
            <p:txBody>
              <a:bodyPr wrap="none">
                <a:spAutoFit/>
              </a:bodyPr>
              <a:lstStyle/>
              <a:p>
                <a:r>
                  <a:rPr lang="zh-CN" altLang="en-US" sz="1600" dirty="0">
                    <a:latin typeface="Times New Roman" pitchFamily="18" charset="0"/>
                    <a:ea typeface="宋体" pitchFamily="2" charset="-122"/>
                  </a:rPr>
                  <a:t>核心部分</a:t>
                </a:r>
              </a:p>
            </p:txBody>
          </p:sp>
          <p:sp>
            <p:nvSpPr>
              <p:cNvPr id="27" name="Text Box 79"/>
              <p:cNvSpPr txBox="1">
                <a:spLocks noChangeArrowheads="1"/>
              </p:cNvSpPr>
              <p:nvPr/>
            </p:nvSpPr>
            <p:spPr bwMode="auto">
              <a:xfrm>
                <a:off x="3929058" y="1857364"/>
                <a:ext cx="1005403" cy="338554"/>
              </a:xfrm>
              <a:prstGeom prst="rect">
                <a:avLst/>
              </a:prstGeom>
              <a:solidFill>
                <a:schemeClr val="bg1"/>
              </a:solidFill>
              <a:ln w="9525">
                <a:solidFill>
                  <a:schemeClr val="tx1"/>
                </a:solidFill>
                <a:miter lim="800000"/>
                <a:headEnd/>
                <a:tailEnd/>
              </a:ln>
            </p:spPr>
            <p:txBody>
              <a:bodyPr wrap="none">
                <a:spAutoFit/>
              </a:bodyPr>
              <a:lstStyle/>
              <a:p>
                <a:r>
                  <a:rPr lang="zh-CN" altLang="en-US" sz="1600" dirty="0">
                    <a:latin typeface="Times New Roman" pitchFamily="18" charset="0"/>
                    <a:ea typeface="宋体" pitchFamily="2" charset="-122"/>
                  </a:rPr>
                  <a:t>边缘部分</a:t>
                </a:r>
              </a:p>
            </p:txBody>
          </p:sp>
          <p:sp>
            <p:nvSpPr>
              <p:cNvPr id="28" name="Text Box 80"/>
              <p:cNvSpPr txBox="1">
                <a:spLocks noChangeArrowheads="1"/>
              </p:cNvSpPr>
              <p:nvPr/>
            </p:nvSpPr>
            <p:spPr bwMode="auto">
              <a:xfrm>
                <a:off x="1928794" y="2643182"/>
                <a:ext cx="595035" cy="338554"/>
              </a:xfrm>
              <a:prstGeom prst="rect">
                <a:avLst/>
              </a:prstGeom>
              <a:noFill/>
              <a:ln w="9525">
                <a:noFill/>
                <a:miter lim="800000"/>
                <a:headEnd/>
                <a:tailEnd/>
              </a:ln>
            </p:spPr>
            <p:txBody>
              <a:bodyPr wrap="none">
                <a:spAutoFit/>
              </a:bodyPr>
              <a:lstStyle/>
              <a:p>
                <a:r>
                  <a:rPr lang="zh-CN" altLang="en-US" sz="1600" dirty="0">
                    <a:latin typeface="Times New Roman" pitchFamily="18" charset="0"/>
                    <a:ea typeface="宋体" pitchFamily="2" charset="-122"/>
                  </a:rPr>
                  <a:t>主机</a:t>
                </a:r>
              </a:p>
            </p:txBody>
          </p:sp>
          <p:sp>
            <p:nvSpPr>
              <p:cNvPr id="29" name="Text Box 81"/>
              <p:cNvSpPr txBox="1">
                <a:spLocks noChangeArrowheads="1"/>
              </p:cNvSpPr>
              <p:nvPr/>
            </p:nvSpPr>
            <p:spPr bwMode="auto">
              <a:xfrm>
                <a:off x="2285984" y="3357562"/>
                <a:ext cx="595035" cy="338554"/>
              </a:xfrm>
              <a:prstGeom prst="rect">
                <a:avLst/>
              </a:prstGeom>
              <a:noFill/>
              <a:ln w="9525">
                <a:noFill/>
                <a:miter lim="800000"/>
                <a:headEnd/>
                <a:tailEnd/>
              </a:ln>
            </p:spPr>
            <p:txBody>
              <a:bodyPr wrap="none">
                <a:spAutoFit/>
              </a:bodyPr>
              <a:lstStyle/>
              <a:p>
                <a:r>
                  <a:rPr lang="zh-CN" altLang="en-US" sz="1600" dirty="0">
                    <a:latin typeface="Times New Roman" pitchFamily="18" charset="0"/>
                    <a:ea typeface="宋体" pitchFamily="2" charset="-122"/>
                  </a:rPr>
                  <a:t>网络</a:t>
                </a:r>
              </a:p>
            </p:txBody>
          </p:sp>
          <p:sp>
            <p:nvSpPr>
              <p:cNvPr id="30" name="Text Box 82"/>
              <p:cNvSpPr txBox="1">
                <a:spLocks noChangeArrowheads="1"/>
              </p:cNvSpPr>
              <p:nvPr/>
            </p:nvSpPr>
            <p:spPr bwMode="auto">
              <a:xfrm>
                <a:off x="2980457" y="3000372"/>
                <a:ext cx="800219" cy="338554"/>
              </a:xfrm>
              <a:prstGeom prst="rect">
                <a:avLst/>
              </a:prstGeom>
              <a:noFill/>
              <a:ln w="9525">
                <a:noFill/>
                <a:miter lim="800000"/>
                <a:headEnd/>
                <a:tailEnd/>
              </a:ln>
            </p:spPr>
            <p:txBody>
              <a:bodyPr wrap="none">
                <a:spAutoFit/>
              </a:bodyPr>
              <a:lstStyle/>
              <a:p>
                <a:r>
                  <a:rPr lang="zh-CN" altLang="en-US" sz="1600" dirty="0">
                    <a:latin typeface="Times New Roman" pitchFamily="18" charset="0"/>
                    <a:ea typeface="宋体" pitchFamily="2" charset="-122"/>
                  </a:rPr>
                  <a:t>路由器</a:t>
                </a:r>
              </a:p>
            </p:txBody>
          </p:sp>
          <p:sp>
            <p:nvSpPr>
              <p:cNvPr id="31" name="Line 83"/>
              <p:cNvSpPr>
                <a:spLocks noChangeShapeType="1"/>
              </p:cNvSpPr>
              <p:nvPr/>
            </p:nvSpPr>
            <p:spPr bwMode="auto">
              <a:xfrm>
                <a:off x="1908175" y="3141663"/>
                <a:ext cx="431800" cy="574675"/>
              </a:xfrm>
              <a:prstGeom prst="line">
                <a:avLst/>
              </a:prstGeom>
              <a:noFill/>
              <a:ln w="9525">
                <a:solidFill>
                  <a:schemeClr val="tx1"/>
                </a:solidFill>
                <a:round/>
                <a:headEnd/>
                <a:tailEnd/>
              </a:ln>
            </p:spPr>
            <p:txBody>
              <a:bodyPr/>
              <a:lstStyle/>
              <a:p>
                <a:endParaRPr lang="zh-CN" altLang="en-US" sz="1600">
                  <a:latin typeface="Times New Roman" pitchFamily="18" charset="0"/>
                  <a:ea typeface="宋体" pitchFamily="2" charset="-122"/>
                </a:endParaRPr>
              </a:p>
            </p:txBody>
          </p:sp>
          <p:sp>
            <p:nvSpPr>
              <p:cNvPr id="32" name="Line 84"/>
              <p:cNvSpPr>
                <a:spLocks noChangeShapeType="1"/>
              </p:cNvSpPr>
              <p:nvPr/>
            </p:nvSpPr>
            <p:spPr bwMode="auto">
              <a:xfrm>
                <a:off x="1258888" y="3789363"/>
                <a:ext cx="936625" cy="71437"/>
              </a:xfrm>
              <a:prstGeom prst="line">
                <a:avLst/>
              </a:prstGeom>
              <a:noFill/>
              <a:ln w="9525">
                <a:solidFill>
                  <a:schemeClr val="tx1"/>
                </a:solidFill>
                <a:round/>
                <a:headEnd/>
                <a:tailEnd/>
              </a:ln>
            </p:spPr>
            <p:txBody>
              <a:bodyPr/>
              <a:lstStyle/>
              <a:p>
                <a:endParaRPr lang="zh-CN" altLang="en-US" sz="1600">
                  <a:latin typeface="Times New Roman" pitchFamily="18" charset="0"/>
                  <a:ea typeface="宋体" pitchFamily="2" charset="-122"/>
                </a:endParaRPr>
              </a:p>
            </p:txBody>
          </p:sp>
          <p:sp>
            <p:nvSpPr>
              <p:cNvPr id="33" name="Line 85"/>
              <p:cNvSpPr>
                <a:spLocks noChangeShapeType="1"/>
              </p:cNvSpPr>
              <p:nvPr/>
            </p:nvSpPr>
            <p:spPr bwMode="auto">
              <a:xfrm flipV="1">
                <a:off x="2124075" y="4149725"/>
                <a:ext cx="287338" cy="503238"/>
              </a:xfrm>
              <a:prstGeom prst="line">
                <a:avLst/>
              </a:prstGeom>
              <a:noFill/>
              <a:ln w="9525">
                <a:solidFill>
                  <a:schemeClr val="tx1"/>
                </a:solidFill>
                <a:round/>
                <a:headEnd/>
                <a:tailEnd/>
              </a:ln>
            </p:spPr>
            <p:txBody>
              <a:bodyPr/>
              <a:lstStyle/>
              <a:p>
                <a:endParaRPr lang="zh-CN" altLang="en-US" sz="1600">
                  <a:latin typeface="Times New Roman" pitchFamily="18" charset="0"/>
                  <a:ea typeface="宋体" pitchFamily="2" charset="-122"/>
                </a:endParaRPr>
              </a:p>
            </p:txBody>
          </p:sp>
          <p:sp>
            <p:nvSpPr>
              <p:cNvPr id="34" name="Line 86"/>
              <p:cNvSpPr>
                <a:spLocks noChangeShapeType="1"/>
              </p:cNvSpPr>
              <p:nvPr/>
            </p:nvSpPr>
            <p:spPr bwMode="auto">
              <a:xfrm flipH="1" flipV="1">
                <a:off x="3995738" y="4797424"/>
                <a:ext cx="76196" cy="703277"/>
              </a:xfrm>
              <a:prstGeom prst="line">
                <a:avLst/>
              </a:prstGeom>
              <a:noFill/>
              <a:ln w="9525">
                <a:solidFill>
                  <a:schemeClr val="tx1"/>
                </a:solidFill>
                <a:round/>
                <a:headEnd/>
                <a:tailEnd/>
              </a:ln>
            </p:spPr>
            <p:txBody>
              <a:bodyPr/>
              <a:lstStyle/>
              <a:p>
                <a:endParaRPr lang="zh-CN" altLang="en-US" sz="1600">
                  <a:latin typeface="Times New Roman" pitchFamily="18" charset="0"/>
                  <a:ea typeface="宋体" pitchFamily="2" charset="-122"/>
                </a:endParaRPr>
              </a:p>
            </p:txBody>
          </p:sp>
          <p:sp>
            <p:nvSpPr>
              <p:cNvPr id="35" name="Line 87"/>
              <p:cNvSpPr>
                <a:spLocks noChangeShapeType="1"/>
              </p:cNvSpPr>
              <p:nvPr/>
            </p:nvSpPr>
            <p:spPr bwMode="auto">
              <a:xfrm flipH="1" flipV="1">
                <a:off x="6084888" y="4652963"/>
                <a:ext cx="719137" cy="360362"/>
              </a:xfrm>
              <a:prstGeom prst="line">
                <a:avLst/>
              </a:prstGeom>
              <a:noFill/>
              <a:ln w="9525">
                <a:solidFill>
                  <a:schemeClr val="tx1"/>
                </a:solidFill>
                <a:round/>
                <a:headEnd/>
                <a:tailEnd/>
              </a:ln>
            </p:spPr>
            <p:txBody>
              <a:bodyPr/>
              <a:lstStyle/>
              <a:p>
                <a:endParaRPr lang="zh-CN" altLang="en-US" sz="1600">
                  <a:latin typeface="Times New Roman" pitchFamily="18" charset="0"/>
                  <a:ea typeface="宋体" pitchFamily="2" charset="-122"/>
                </a:endParaRPr>
              </a:p>
            </p:txBody>
          </p:sp>
          <p:sp>
            <p:nvSpPr>
              <p:cNvPr id="36" name="Line 88"/>
              <p:cNvSpPr>
                <a:spLocks noChangeShapeType="1"/>
              </p:cNvSpPr>
              <p:nvPr/>
            </p:nvSpPr>
            <p:spPr bwMode="auto">
              <a:xfrm flipH="1" flipV="1">
                <a:off x="7092950" y="3860800"/>
                <a:ext cx="719138" cy="73025"/>
              </a:xfrm>
              <a:prstGeom prst="line">
                <a:avLst/>
              </a:prstGeom>
              <a:noFill/>
              <a:ln w="9525">
                <a:solidFill>
                  <a:schemeClr val="tx1"/>
                </a:solidFill>
                <a:round/>
                <a:headEnd/>
                <a:tailEnd/>
              </a:ln>
            </p:spPr>
            <p:txBody>
              <a:bodyPr/>
              <a:lstStyle/>
              <a:p>
                <a:endParaRPr lang="zh-CN" altLang="en-US" sz="1600">
                  <a:latin typeface="Times New Roman" pitchFamily="18" charset="0"/>
                  <a:ea typeface="宋体" pitchFamily="2" charset="-122"/>
                </a:endParaRPr>
              </a:p>
            </p:txBody>
          </p:sp>
          <p:sp>
            <p:nvSpPr>
              <p:cNvPr id="37" name="Line 89"/>
              <p:cNvSpPr>
                <a:spLocks noChangeShapeType="1"/>
              </p:cNvSpPr>
              <p:nvPr/>
            </p:nvSpPr>
            <p:spPr bwMode="auto">
              <a:xfrm flipH="1">
                <a:off x="6877050" y="2924175"/>
                <a:ext cx="142875" cy="649288"/>
              </a:xfrm>
              <a:prstGeom prst="line">
                <a:avLst/>
              </a:prstGeom>
              <a:noFill/>
              <a:ln w="9525">
                <a:solidFill>
                  <a:schemeClr val="tx1"/>
                </a:solidFill>
                <a:round/>
                <a:headEnd/>
                <a:tailEnd/>
              </a:ln>
            </p:spPr>
            <p:txBody>
              <a:bodyPr/>
              <a:lstStyle/>
              <a:p>
                <a:endParaRPr lang="zh-CN" altLang="en-US" sz="1600">
                  <a:latin typeface="Times New Roman" pitchFamily="18" charset="0"/>
                  <a:ea typeface="宋体" pitchFamily="2" charset="-122"/>
                </a:endParaRPr>
              </a:p>
            </p:txBody>
          </p:sp>
          <p:sp>
            <p:nvSpPr>
              <p:cNvPr id="38" name="Line 90"/>
              <p:cNvSpPr>
                <a:spLocks noChangeShapeType="1"/>
              </p:cNvSpPr>
              <p:nvPr/>
            </p:nvSpPr>
            <p:spPr bwMode="auto">
              <a:xfrm flipV="1">
                <a:off x="2771775" y="3573463"/>
                <a:ext cx="431800" cy="215900"/>
              </a:xfrm>
              <a:prstGeom prst="line">
                <a:avLst/>
              </a:prstGeom>
              <a:noFill/>
              <a:ln w="9525">
                <a:solidFill>
                  <a:schemeClr val="tx1"/>
                </a:solidFill>
                <a:round/>
                <a:headEnd/>
                <a:tailEnd/>
              </a:ln>
            </p:spPr>
            <p:txBody>
              <a:bodyPr/>
              <a:lstStyle/>
              <a:p>
                <a:endParaRPr lang="zh-CN" altLang="en-US" sz="1600">
                  <a:latin typeface="Times New Roman" pitchFamily="18" charset="0"/>
                  <a:ea typeface="宋体" pitchFamily="2" charset="-122"/>
                </a:endParaRPr>
              </a:p>
            </p:txBody>
          </p:sp>
          <p:sp>
            <p:nvSpPr>
              <p:cNvPr id="39" name="Line 91"/>
              <p:cNvSpPr>
                <a:spLocks noChangeShapeType="1"/>
              </p:cNvSpPr>
              <p:nvPr/>
            </p:nvSpPr>
            <p:spPr bwMode="auto">
              <a:xfrm flipV="1">
                <a:off x="3635375" y="3357563"/>
                <a:ext cx="720725" cy="215900"/>
              </a:xfrm>
              <a:prstGeom prst="line">
                <a:avLst/>
              </a:prstGeom>
              <a:noFill/>
              <a:ln w="9525">
                <a:solidFill>
                  <a:schemeClr val="tx1"/>
                </a:solidFill>
                <a:round/>
                <a:headEnd/>
                <a:tailEnd/>
              </a:ln>
            </p:spPr>
            <p:txBody>
              <a:bodyPr/>
              <a:lstStyle/>
              <a:p>
                <a:endParaRPr lang="zh-CN" altLang="en-US" sz="1600">
                  <a:latin typeface="Times New Roman" pitchFamily="18" charset="0"/>
                  <a:ea typeface="宋体" pitchFamily="2" charset="-122"/>
                </a:endParaRPr>
              </a:p>
            </p:txBody>
          </p:sp>
          <p:sp>
            <p:nvSpPr>
              <p:cNvPr id="40" name="Line 92"/>
              <p:cNvSpPr>
                <a:spLocks noChangeShapeType="1"/>
              </p:cNvSpPr>
              <p:nvPr/>
            </p:nvSpPr>
            <p:spPr bwMode="auto">
              <a:xfrm>
                <a:off x="3276600" y="4437063"/>
                <a:ext cx="287338" cy="71437"/>
              </a:xfrm>
              <a:prstGeom prst="line">
                <a:avLst/>
              </a:prstGeom>
              <a:noFill/>
              <a:ln w="9525">
                <a:solidFill>
                  <a:schemeClr val="tx1"/>
                </a:solidFill>
                <a:round/>
                <a:headEnd/>
                <a:tailEnd/>
              </a:ln>
            </p:spPr>
            <p:txBody>
              <a:bodyPr/>
              <a:lstStyle/>
              <a:p>
                <a:endParaRPr lang="zh-CN" altLang="en-US" sz="1600">
                  <a:latin typeface="Times New Roman" pitchFamily="18" charset="0"/>
                  <a:ea typeface="宋体" pitchFamily="2" charset="-122"/>
                </a:endParaRPr>
              </a:p>
            </p:txBody>
          </p:sp>
          <p:sp>
            <p:nvSpPr>
              <p:cNvPr id="41" name="Line 93"/>
              <p:cNvSpPr>
                <a:spLocks noChangeShapeType="1"/>
              </p:cNvSpPr>
              <p:nvPr/>
            </p:nvSpPr>
            <p:spPr bwMode="auto">
              <a:xfrm flipH="1" flipV="1">
                <a:off x="2700338" y="4149725"/>
                <a:ext cx="142875" cy="71438"/>
              </a:xfrm>
              <a:prstGeom prst="line">
                <a:avLst/>
              </a:prstGeom>
              <a:noFill/>
              <a:ln w="9525">
                <a:solidFill>
                  <a:schemeClr val="tx1"/>
                </a:solidFill>
                <a:round/>
                <a:headEnd/>
                <a:tailEnd/>
              </a:ln>
            </p:spPr>
            <p:txBody>
              <a:bodyPr/>
              <a:lstStyle/>
              <a:p>
                <a:endParaRPr lang="zh-CN" altLang="en-US" sz="1600">
                  <a:latin typeface="Times New Roman" pitchFamily="18" charset="0"/>
                  <a:ea typeface="宋体" pitchFamily="2" charset="-122"/>
                </a:endParaRPr>
              </a:p>
            </p:txBody>
          </p:sp>
          <p:sp>
            <p:nvSpPr>
              <p:cNvPr id="42" name="Line 94"/>
              <p:cNvSpPr>
                <a:spLocks noChangeShapeType="1"/>
              </p:cNvSpPr>
              <p:nvPr/>
            </p:nvSpPr>
            <p:spPr bwMode="auto">
              <a:xfrm>
                <a:off x="4211638" y="4652963"/>
                <a:ext cx="431800" cy="0"/>
              </a:xfrm>
              <a:prstGeom prst="line">
                <a:avLst/>
              </a:prstGeom>
              <a:noFill/>
              <a:ln w="9525">
                <a:solidFill>
                  <a:schemeClr val="tx1"/>
                </a:solidFill>
                <a:round/>
                <a:headEnd/>
                <a:tailEnd/>
              </a:ln>
            </p:spPr>
            <p:txBody>
              <a:bodyPr/>
              <a:lstStyle/>
              <a:p>
                <a:endParaRPr lang="zh-CN" altLang="en-US" sz="1600">
                  <a:latin typeface="Times New Roman" pitchFamily="18" charset="0"/>
                  <a:ea typeface="宋体" pitchFamily="2" charset="-122"/>
                </a:endParaRPr>
              </a:p>
            </p:txBody>
          </p:sp>
          <p:sp>
            <p:nvSpPr>
              <p:cNvPr id="43" name="Line 95"/>
              <p:cNvSpPr>
                <a:spLocks noChangeShapeType="1"/>
              </p:cNvSpPr>
              <p:nvPr/>
            </p:nvSpPr>
            <p:spPr bwMode="auto">
              <a:xfrm>
                <a:off x="5076825" y="4652963"/>
                <a:ext cx="287338" cy="0"/>
              </a:xfrm>
              <a:prstGeom prst="line">
                <a:avLst/>
              </a:prstGeom>
              <a:noFill/>
              <a:ln w="9525">
                <a:solidFill>
                  <a:schemeClr val="tx1"/>
                </a:solidFill>
                <a:round/>
                <a:headEnd/>
                <a:tailEnd/>
              </a:ln>
            </p:spPr>
            <p:txBody>
              <a:bodyPr/>
              <a:lstStyle/>
              <a:p>
                <a:endParaRPr lang="zh-CN" altLang="en-US" sz="1600">
                  <a:latin typeface="Times New Roman" pitchFamily="18" charset="0"/>
                  <a:ea typeface="宋体" pitchFamily="2" charset="-122"/>
                </a:endParaRPr>
              </a:p>
            </p:txBody>
          </p:sp>
          <p:sp>
            <p:nvSpPr>
              <p:cNvPr id="44" name="Line 96"/>
              <p:cNvSpPr>
                <a:spLocks noChangeShapeType="1"/>
              </p:cNvSpPr>
              <p:nvPr/>
            </p:nvSpPr>
            <p:spPr bwMode="auto">
              <a:xfrm flipH="1">
                <a:off x="6011863" y="4365625"/>
                <a:ext cx="288925" cy="71438"/>
              </a:xfrm>
              <a:prstGeom prst="line">
                <a:avLst/>
              </a:prstGeom>
              <a:noFill/>
              <a:ln w="9525">
                <a:solidFill>
                  <a:schemeClr val="tx1"/>
                </a:solidFill>
                <a:round/>
                <a:headEnd/>
                <a:tailEnd/>
              </a:ln>
            </p:spPr>
            <p:txBody>
              <a:bodyPr/>
              <a:lstStyle/>
              <a:p>
                <a:endParaRPr lang="zh-CN" altLang="en-US" sz="1600">
                  <a:latin typeface="Times New Roman" pitchFamily="18" charset="0"/>
                  <a:ea typeface="宋体" pitchFamily="2" charset="-122"/>
                </a:endParaRPr>
              </a:p>
            </p:txBody>
          </p:sp>
          <p:sp>
            <p:nvSpPr>
              <p:cNvPr id="45" name="Line 97"/>
              <p:cNvSpPr>
                <a:spLocks noChangeShapeType="1"/>
              </p:cNvSpPr>
              <p:nvPr/>
            </p:nvSpPr>
            <p:spPr bwMode="auto">
              <a:xfrm flipV="1">
                <a:off x="6659563" y="4005263"/>
                <a:ext cx="73025" cy="144462"/>
              </a:xfrm>
              <a:prstGeom prst="line">
                <a:avLst/>
              </a:prstGeom>
              <a:noFill/>
              <a:ln w="9525">
                <a:solidFill>
                  <a:schemeClr val="tx1"/>
                </a:solidFill>
                <a:round/>
                <a:headEnd/>
                <a:tailEnd/>
              </a:ln>
            </p:spPr>
            <p:txBody>
              <a:bodyPr/>
              <a:lstStyle/>
              <a:p>
                <a:endParaRPr lang="zh-CN" altLang="en-US" sz="1600">
                  <a:latin typeface="Times New Roman" pitchFamily="18" charset="0"/>
                  <a:ea typeface="宋体" pitchFamily="2" charset="-122"/>
                </a:endParaRPr>
              </a:p>
            </p:txBody>
          </p:sp>
          <p:sp>
            <p:nvSpPr>
              <p:cNvPr id="46" name="Line 98"/>
              <p:cNvSpPr>
                <a:spLocks noChangeShapeType="1"/>
              </p:cNvSpPr>
              <p:nvPr/>
            </p:nvSpPr>
            <p:spPr bwMode="auto">
              <a:xfrm>
                <a:off x="6011863" y="3429000"/>
                <a:ext cx="504825" cy="215900"/>
              </a:xfrm>
              <a:prstGeom prst="line">
                <a:avLst/>
              </a:prstGeom>
              <a:noFill/>
              <a:ln w="9525">
                <a:solidFill>
                  <a:schemeClr val="tx1"/>
                </a:solidFill>
                <a:round/>
                <a:headEnd/>
                <a:tailEnd/>
              </a:ln>
            </p:spPr>
            <p:txBody>
              <a:bodyPr/>
              <a:lstStyle/>
              <a:p>
                <a:endParaRPr lang="zh-CN" altLang="en-US" sz="1600">
                  <a:latin typeface="Times New Roman" pitchFamily="18" charset="0"/>
                  <a:ea typeface="宋体" pitchFamily="2" charset="-122"/>
                </a:endParaRPr>
              </a:p>
            </p:txBody>
          </p:sp>
          <p:sp>
            <p:nvSpPr>
              <p:cNvPr id="47" name="Line 99"/>
              <p:cNvSpPr>
                <a:spLocks noChangeShapeType="1"/>
              </p:cNvSpPr>
              <p:nvPr/>
            </p:nvSpPr>
            <p:spPr bwMode="auto">
              <a:xfrm flipH="1" flipV="1">
                <a:off x="5003800" y="3284538"/>
                <a:ext cx="504825" cy="73025"/>
              </a:xfrm>
              <a:prstGeom prst="line">
                <a:avLst/>
              </a:prstGeom>
              <a:noFill/>
              <a:ln w="9525">
                <a:solidFill>
                  <a:schemeClr val="tx1"/>
                </a:solidFill>
                <a:round/>
                <a:headEnd/>
                <a:tailEnd/>
              </a:ln>
            </p:spPr>
            <p:txBody>
              <a:bodyPr/>
              <a:lstStyle/>
              <a:p>
                <a:endParaRPr lang="zh-CN" altLang="en-US" sz="1600">
                  <a:latin typeface="Times New Roman" pitchFamily="18" charset="0"/>
                  <a:ea typeface="宋体" pitchFamily="2" charset="-122"/>
                </a:endParaRPr>
              </a:p>
            </p:txBody>
          </p:sp>
          <p:sp>
            <p:nvSpPr>
              <p:cNvPr id="48" name="Line 100"/>
              <p:cNvSpPr>
                <a:spLocks noChangeShapeType="1"/>
              </p:cNvSpPr>
              <p:nvPr/>
            </p:nvSpPr>
            <p:spPr bwMode="auto">
              <a:xfrm flipH="1">
                <a:off x="5651500" y="3500438"/>
                <a:ext cx="144463" cy="865187"/>
              </a:xfrm>
              <a:prstGeom prst="line">
                <a:avLst/>
              </a:prstGeom>
              <a:noFill/>
              <a:ln w="9525">
                <a:solidFill>
                  <a:schemeClr val="tx1"/>
                </a:solidFill>
                <a:round/>
                <a:headEnd/>
                <a:tailEnd/>
              </a:ln>
            </p:spPr>
            <p:txBody>
              <a:bodyPr/>
              <a:lstStyle/>
              <a:p>
                <a:endParaRPr lang="zh-CN" altLang="en-US" sz="1600">
                  <a:latin typeface="Times New Roman" pitchFamily="18" charset="0"/>
                  <a:ea typeface="宋体" pitchFamily="2" charset="-122"/>
                </a:endParaRPr>
              </a:p>
            </p:txBody>
          </p:sp>
          <p:sp>
            <p:nvSpPr>
              <p:cNvPr id="49" name="Line 101"/>
              <p:cNvSpPr>
                <a:spLocks noChangeShapeType="1"/>
              </p:cNvSpPr>
              <p:nvPr/>
            </p:nvSpPr>
            <p:spPr bwMode="auto">
              <a:xfrm>
                <a:off x="3492500" y="3644900"/>
                <a:ext cx="142875" cy="792163"/>
              </a:xfrm>
              <a:prstGeom prst="line">
                <a:avLst/>
              </a:prstGeom>
              <a:noFill/>
              <a:ln w="9525">
                <a:solidFill>
                  <a:schemeClr val="tx1"/>
                </a:solidFill>
                <a:round/>
                <a:headEnd/>
                <a:tailEnd/>
              </a:ln>
            </p:spPr>
            <p:txBody>
              <a:bodyPr/>
              <a:lstStyle/>
              <a:p>
                <a:endParaRPr lang="zh-CN" altLang="en-US" sz="1600">
                  <a:latin typeface="Times New Roman" pitchFamily="18" charset="0"/>
                  <a:ea typeface="宋体" pitchFamily="2" charset="-122"/>
                </a:endParaRPr>
              </a:p>
            </p:txBody>
          </p:sp>
          <p:pic>
            <p:nvPicPr>
              <p:cNvPr id="50" name="Picture 72"/>
              <p:cNvPicPr>
                <a:picLocks noChangeArrowheads="1"/>
              </p:cNvPicPr>
              <p:nvPr/>
            </p:nvPicPr>
            <p:blipFill>
              <a:blip r:embed="rId2" cstate="print"/>
              <a:srcRect/>
              <a:stretch>
                <a:fillRect/>
              </a:stretch>
            </p:blipFill>
            <p:spPr bwMode="auto">
              <a:xfrm>
                <a:off x="2928926" y="5072074"/>
                <a:ext cx="466725" cy="465137"/>
              </a:xfrm>
              <a:prstGeom prst="rect">
                <a:avLst/>
              </a:prstGeom>
              <a:noFill/>
              <a:ln w="9525">
                <a:noFill/>
                <a:miter lim="800000"/>
                <a:headEnd/>
                <a:tailEnd/>
              </a:ln>
            </p:spPr>
          </p:pic>
          <p:sp>
            <p:nvSpPr>
              <p:cNvPr id="51" name="Line 86"/>
              <p:cNvSpPr>
                <a:spLocks noChangeShapeType="1"/>
              </p:cNvSpPr>
              <p:nvPr/>
            </p:nvSpPr>
            <p:spPr bwMode="auto">
              <a:xfrm flipV="1">
                <a:off x="3286116" y="4786322"/>
                <a:ext cx="428628" cy="571504"/>
              </a:xfrm>
              <a:prstGeom prst="line">
                <a:avLst/>
              </a:prstGeom>
              <a:noFill/>
              <a:ln w="9525">
                <a:solidFill>
                  <a:schemeClr val="tx1"/>
                </a:solidFill>
                <a:round/>
                <a:headEnd/>
                <a:tailEnd/>
              </a:ln>
            </p:spPr>
            <p:txBody>
              <a:bodyPr/>
              <a:lstStyle/>
              <a:p>
                <a:endParaRPr lang="zh-CN" altLang="en-US" sz="1600">
                  <a:latin typeface="Times New Roman" pitchFamily="18" charset="0"/>
                  <a:ea typeface="宋体" pitchFamily="2" charset="-122"/>
                </a:endParaRPr>
              </a:p>
            </p:txBody>
          </p:sp>
        </p:grpSp>
        <p:sp>
          <p:nvSpPr>
            <p:cNvPr id="6" name="Freeform 65"/>
            <p:cNvSpPr>
              <a:spLocks/>
            </p:cNvSpPr>
            <p:nvPr/>
          </p:nvSpPr>
          <p:spPr bwMode="auto">
            <a:xfrm rot="21151335">
              <a:off x="6734246" y="2607200"/>
              <a:ext cx="566490" cy="330619"/>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w="12700" cap="rnd">
              <a:solidFill>
                <a:schemeClr val="tx1"/>
              </a:solidFill>
              <a:round/>
              <a:headEnd/>
              <a:tailEnd/>
            </a:ln>
          </p:spPr>
          <p:txBody>
            <a:bodyPr/>
            <a:lstStyle/>
            <a:p>
              <a:endParaRPr lang="zh-CN" altLang="en-US" sz="1600">
                <a:latin typeface="Times New Roman" pitchFamily="18" charset="0"/>
                <a:ea typeface="宋体" pitchFamily="2" charset="-122"/>
              </a:endParaRPr>
            </a:p>
          </p:txBody>
        </p:sp>
        <p:sp>
          <p:nvSpPr>
            <p:cNvPr id="7" name="Text Box 80"/>
            <p:cNvSpPr txBox="1">
              <a:spLocks noChangeArrowheads="1"/>
            </p:cNvSpPr>
            <p:nvPr/>
          </p:nvSpPr>
          <p:spPr bwMode="auto">
            <a:xfrm>
              <a:off x="7286644" y="2643182"/>
              <a:ext cx="800219" cy="338554"/>
            </a:xfrm>
            <a:prstGeom prst="rect">
              <a:avLst/>
            </a:prstGeom>
            <a:noFill/>
            <a:ln w="9525">
              <a:noFill/>
              <a:miter lim="800000"/>
              <a:headEnd/>
              <a:tailEnd/>
            </a:ln>
          </p:spPr>
          <p:txBody>
            <a:bodyPr wrap="none">
              <a:spAutoFit/>
            </a:bodyPr>
            <a:lstStyle/>
            <a:p>
              <a:r>
                <a:rPr lang="zh-CN" altLang="en-US" sz="1600" dirty="0">
                  <a:latin typeface="Times New Roman" pitchFamily="18" charset="0"/>
                  <a:ea typeface="宋体" pitchFamily="2" charset="-122"/>
                </a:rPr>
                <a:t>接入网</a:t>
              </a:r>
            </a:p>
          </p:txBody>
        </p:sp>
      </p:grpSp>
    </p:spTree>
    <p:extLst>
      <p:ext uri="{BB962C8B-B14F-4D97-AF65-F5344CB8AC3E}">
        <p14:creationId xmlns:p14="http://schemas.microsoft.com/office/powerpoint/2010/main" val="23371391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49135" y="1300960"/>
            <a:ext cx="7772400" cy="4114800"/>
          </a:xfrm>
        </p:spPr>
        <p:txBody>
          <a:bodyPr/>
          <a:lstStyle/>
          <a:p>
            <a:r>
              <a:rPr lang="zh-CN" altLang="en-US" b="0" dirty="0"/>
              <a:t>边缘部分：主机 </a:t>
            </a:r>
            <a:r>
              <a:rPr lang="en-US" altLang="zh-CN" b="0" dirty="0"/>
              <a:t>+ </a:t>
            </a:r>
            <a:r>
              <a:rPr lang="zh-CN" altLang="en-US" b="0" dirty="0"/>
              <a:t>接入网</a:t>
            </a:r>
          </a:p>
        </p:txBody>
      </p:sp>
      <p:sp>
        <p:nvSpPr>
          <p:cNvPr id="3" name="标题 2"/>
          <p:cNvSpPr>
            <a:spLocks noGrp="1"/>
          </p:cNvSpPr>
          <p:nvPr>
            <p:ph type="title"/>
          </p:nvPr>
        </p:nvSpPr>
        <p:spPr/>
        <p:txBody>
          <a:bodyPr/>
          <a:lstStyle/>
          <a:p>
            <a:r>
              <a:rPr lang="zh-CN" altLang="en-US" dirty="0"/>
              <a:t>计算机网络结构和组成</a:t>
            </a:r>
          </a:p>
        </p:txBody>
      </p:sp>
      <p:pic>
        <p:nvPicPr>
          <p:cNvPr id="107" name="图片 106"/>
          <p:cNvPicPr/>
          <p:nvPr/>
        </p:nvPicPr>
        <p:blipFill>
          <a:blip r:embed="rId2">
            <a:extLst>
              <a:ext uri="{28A0092B-C50C-407E-A947-70E740481C1C}">
                <a14:useLocalDpi xmlns:a14="http://schemas.microsoft.com/office/drawing/2010/main" val="0"/>
              </a:ext>
            </a:extLst>
          </a:blip>
          <a:srcRect/>
          <a:stretch>
            <a:fillRect/>
          </a:stretch>
        </p:blipFill>
        <p:spPr bwMode="auto">
          <a:xfrm>
            <a:off x="1323800" y="1923393"/>
            <a:ext cx="6117524" cy="4571999"/>
          </a:xfrm>
          <a:prstGeom prst="rect">
            <a:avLst/>
          </a:prstGeom>
          <a:noFill/>
          <a:ln>
            <a:noFill/>
          </a:ln>
        </p:spPr>
      </p:pic>
    </p:spTree>
    <p:extLst>
      <p:ext uri="{BB962C8B-B14F-4D97-AF65-F5344CB8AC3E}">
        <p14:creationId xmlns:p14="http://schemas.microsoft.com/office/powerpoint/2010/main" val="34034482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49135" y="1300960"/>
            <a:ext cx="7772400" cy="4114800"/>
          </a:xfrm>
        </p:spPr>
        <p:txBody>
          <a:bodyPr/>
          <a:lstStyle/>
          <a:p>
            <a:r>
              <a:rPr lang="zh-CN" altLang="en-US" b="0" dirty="0"/>
              <a:t>核心部分：大量网络 </a:t>
            </a:r>
            <a:r>
              <a:rPr lang="en-US" altLang="zh-CN" b="0" dirty="0"/>
              <a:t>+ </a:t>
            </a:r>
            <a:r>
              <a:rPr lang="zh-CN" altLang="en-US" b="0" dirty="0"/>
              <a:t>路由器</a:t>
            </a:r>
          </a:p>
        </p:txBody>
      </p:sp>
      <p:sp>
        <p:nvSpPr>
          <p:cNvPr id="3" name="标题 2"/>
          <p:cNvSpPr>
            <a:spLocks noGrp="1"/>
          </p:cNvSpPr>
          <p:nvPr>
            <p:ph type="title"/>
          </p:nvPr>
        </p:nvSpPr>
        <p:spPr/>
        <p:txBody>
          <a:bodyPr/>
          <a:lstStyle/>
          <a:p>
            <a:r>
              <a:rPr lang="zh-CN" altLang="en-US" dirty="0"/>
              <a:t>计算机网络结构和组成</a:t>
            </a:r>
          </a:p>
        </p:txBody>
      </p:sp>
      <p:grpSp>
        <p:nvGrpSpPr>
          <p:cNvPr id="5" name="组合 4"/>
          <p:cNvGrpSpPr/>
          <p:nvPr/>
        </p:nvGrpSpPr>
        <p:grpSpPr>
          <a:xfrm>
            <a:off x="1169434" y="1988905"/>
            <a:ext cx="6731802" cy="4665676"/>
            <a:chOff x="1071538" y="1500174"/>
            <a:chExt cx="6731802" cy="4665676"/>
          </a:xfrm>
        </p:grpSpPr>
        <p:sp>
          <p:nvSpPr>
            <p:cNvPr id="6" name="Oval 4"/>
            <p:cNvSpPr>
              <a:spLocks noChangeArrowheads="1"/>
            </p:cNvSpPr>
            <p:nvPr/>
          </p:nvSpPr>
          <p:spPr bwMode="auto">
            <a:xfrm rot="19925028">
              <a:off x="2555585" y="2475735"/>
              <a:ext cx="2109860" cy="1205270"/>
            </a:xfrm>
            <a:prstGeom prst="ellipse">
              <a:avLst/>
            </a:prstGeom>
            <a:solidFill>
              <a:schemeClr val="bg1"/>
            </a:solidFill>
            <a:ln w="12700">
              <a:solidFill>
                <a:schemeClr val="tx1"/>
              </a:solidFill>
              <a:round/>
              <a:headEnd/>
              <a:tailEnd/>
            </a:ln>
          </p:spPr>
          <p:txBody>
            <a:bodyPr wrap="none" anchor="ctr"/>
            <a:lstStyle/>
            <a:p>
              <a:pPr algn="ctr"/>
              <a:endParaRPr lang="zh-CN" altLang="zh-CN" sz="1400">
                <a:latin typeface="Times New Roman" pitchFamily="18" charset="0"/>
                <a:ea typeface="宋体" pitchFamily="2" charset="-122"/>
              </a:endParaRPr>
            </a:p>
          </p:txBody>
        </p:sp>
        <p:sp>
          <p:nvSpPr>
            <p:cNvPr id="7" name="Oval 5"/>
            <p:cNvSpPr>
              <a:spLocks noChangeArrowheads="1"/>
            </p:cNvSpPr>
            <p:nvPr/>
          </p:nvSpPr>
          <p:spPr bwMode="auto">
            <a:xfrm rot="20825028">
              <a:off x="3968511" y="2232666"/>
              <a:ext cx="1843065" cy="1118369"/>
            </a:xfrm>
            <a:prstGeom prst="ellipse">
              <a:avLst/>
            </a:prstGeom>
            <a:solidFill>
              <a:schemeClr val="bg1"/>
            </a:solidFill>
            <a:ln w="12700">
              <a:solidFill>
                <a:schemeClr val="tx1"/>
              </a:solidFill>
              <a:round/>
              <a:headEnd/>
              <a:tailEnd/>
            </a:ln>
          </p:spPr>
          <p:txBody>
            <a:bodyPr wrap="none" anchor="ctr"/>
            <a:lstStyle/>
            <a:p>
              <a:pPr algn="ctr"/>
              <a:endParaRPr lang="zh-CN" altLang="zh-CN" sz="1400">
                <a:latin typeface="Times New Roman" pitchFamily="18" charset="0"/>
                <a:ea typeface="宋体" pitchFamily="2" charset="-122"/>
              </a:endParaRPr>
            </a:p>
          </p:txBody>
        </p:sp>
        <p:sp>
          <p:nvSpPr>
            <p:cNvPr id="8" name="Oval 6"/>
            <p:cNvSpPr>
              <a:spLocks noChangeArrowheads="1"/>
            </p:cNvSpPr>
            <p:nvPr/>
          </p:nvSpPr>
          <p:spPr bwMode="auto">
            <a:xfrm rot="21425028">
              <a:off x="5316099" y="2640720"/>
              <a:ext cx="1359839" cy="1447079"/>
            </a:xfrm>
            <a:prstGeom prst="ellipse">
              <a:avLst/>
            </a:prstGeom>
            <a:solidFill>
              <a:schemeClr val="bg1"/>
            </a:solidFill>
            <a:ln w="12700">
              <a:solidFill>
                <a:schemeClr val="tx1"/>
              </a:solidFill>
              <a:round/>
              <a:headEnd/>
              <a:tailEnd/>
            </a:ln>
          </p:spPr>
          <p:txBody>
            <a:bodyPr wrap="none" anchor="ctr"/>
            <a:lstStyle/>
            <a:p>
              <a:pPr algn="ctr"/>
              <a:endParaRPr lang="zh-CN" altLang="zh-CN" sz="1400">
                <a:latin typeface="Times New Roman" pitchFamily="18" charset="0"/>
                <a:ea typeface="宋体" pitchFamily="2" charset="-122"/>
              </a:endParaRPr>
            </a:p>
          </p:txBody>
        </p:sp>
        <p:sp>
          <p:nvSpPr>
            <p:cNvPr id="9" name="Oval 7"/>
            <p:cNvSpPr>
              <a:spLocks noChangeArrowheads="1"/>
            </p:cNvSpPr>
            <p:nvPr/>
          </p:nvSpPr>
          <p:spPr bwMode="auto">
            <a:xfrm rot="18365028">
              <a:off x="5600560" y="3384841"/>
              <a:ext cx="1195194" cy="1268639"/>
            </a:xfrm>
            <a:prstGeom prst="ellipse">
              <a:avLst/>
            </a:prstGeom>
            <a:solidFill>
              <a:schemeClr val="bg1"/>
            </a:solidFill>
            <a:ln w="12700">
              <a:solidFill>
                <a:schemeClr val="tx1"/>
              </a:solidFill>
              <a:round/>
              <a:headEnd/>
              <a:tailEnd/>
            </a:ln>
          </p:spPr>
          <p:txBody>
            <a:bodyPr wrap="none" anchor="ctr"/>
            <a:lstStyle/>
            <a:p>
              <a:pPr algn="ctr"/>
              <a:endParaRPr lang="zh-CN" altLang="zh-CN" sz="1400">
                <a:latin typeface="Times New Roman" pitchFamily="18" charset="0"/>
                <a:ea typeface="宋体" pitchFamily="2" charset="-122"/>
              </a:endParaRPr>
            </a:p>
          </p:txBody>
        </p:sp>
        <p:sp>
          <p:nvSpPr>
            <p:cNvPr id="10" name="Oval 8"/>
            <p:cNvSpPr>
              <a:spLocks noChangeArrowheads="1"/>
            </p:cNvSpPr>
            <p:nvPr/>
          </p:nvSpPr>
          <p:spPr bwMode="auto">
            <a:xfrm rot="19925028">
              <a:off x="4024320" y="4075204"/>
              <a:ext cx="2307235" cy="1343807"/>
            </a:xfrm>
            <a:prstGeom prst="ellipse">
              <a:avLst/>
            </a:prstGeom>
            <a:solidFill>
              <a:schemeClr val="bg1"/>
            </a:solidFill>
            <a:ln w="12700">
              <a:solidFill>
                <a:schemeClr val="tx1"/>
              </a:solidFill>
              <a:round/>
              <a:headEnd/>
              <a:tailEnd/>
            </a:ln>
          </p:spPr>
          <p:txBody>
            <a:bodyPr wrap="none" anchor="ctr"/>
            <a:lstStyle/>
            <a:p>
              <a:pPr algn="ctr"/>
              <a:endParaRPr lang="zh-CN" altLang="zh-CN" sz="1400">
                <a:latin typeface="Times New Roman" pitchFamily="18" charset="0"/>
                <a:ea typeface="宋体" pitchFamily="2" charset="-122"/>
              </a:endParaRPr>
            </a:p>
          </p:txBody>
        </p:sp>
        <p:sp>
          <p:nvSpPr>
            <p:cNvPr id="11" name="Oval 9"/>
            <p:cNvSpPr>
              <a:spLocks noChangeArrowheads="1"/>
            </p:cNvSpPr>
            <p:nvPr/>
          </p:nvSpPr>
          <p:spPr bwMode="auto">
            <a:xfrm rot="21005028">
              <a:off x="3117760" y="4643205"/>
              <a:ext cx="1649775" cy="928196"/>
            </a:xfrm>
            <a:prstGeom prst="ellipse">
              <a:avLst/>
            </a:prstGeom>
            <a:solidFill>
              <a:schemeClr val="bg1"/>
            </a:solidFill>
            <a:ln w="12700">
              <a:solidFill>
                <a:schemeClr val="tx1"/>
              </a:solidFill>
              <a:round/>
              <a:headEnd/>
              <a:tailEnd/>
            </a:ln>
          </p:spPr>
          <p:txBody>
            <a:bodyPr wrap="none" anchor="ctr"/>
            <a:lstStyle/>
            <a:p>
              <a:pPr algn="ctr"/>
              <a:endParaRPr lang="zh-CN" altLang="zh-CN" sz="1400">
                <a:latin typeface="Times New Roman" pitchFamily="18" charset="0"/>
                <a:ea typeface="宋体" pitchFamily="2" charset="-122"/>
              </a:endParaRPr>
            </a:p>
          </p:txBody>
        </p:sp>
        <p:sp>
          <p:nvSpPr>
            <p:cNvPr id="12" name="Oval 10"/>
            <p:cNvSpPr>
              <a:spLocks noChangeArrowheads="1"/>
            </p:cNvSpPr>
            <p:nvPr/>
          </p:nvSpPr>
          <p:spPr bwMode="auto">
            <a:xfrm rot="19925028">
              <a:off x="2484803" y="4238930"/>
              <a:ext cx="1044040" cy="1098219"/>
            </a:xfrm>
            <a:prstGeom prst="ellipse">
              <a:avLst/>
            </a:prstGeom>
            <a:solidFill>
              <a:schemeClr val="bg1"/>
            </a:solidFill>
            <a:ln w="12700">
              <a:solidFill>
                <a:schemeClr val="tx1"/>
              </a:solidFill>
              <a:round/>
              <a:headEnd/>
              <a:tailEnd/>
            </a:ln>
          </p:spPr>
          <p:txBody>
            <a:bodyPr wrap="none" anchor="ctr"/>
            <a:lstStyle/>
            <a:p>
              <a:pPr algn="ctr"/>
              <a:endParaRPr lang="zh-CN" altLang="zh-CN" sz="1400">
                <a:latin typeface="Times New Roman" pitchFamily="18" charset="0"/>
                <a:ea typeface="宋体" pitchFamily="2" charset="-122"/>
              </a:endParaRPr>
            </a:p>
          </p:txBody>
        </p:sp>
        <p:sp>
          <p:nvSpPr>
            <p:cNvPr id="13" name="Oval 11"/>
            <p:cNvSpPr>
              <a:spLocks noChangeArrowheads="1"/>
            </p:cNvSpPr>
            <p:nvPr/>
          </p:nvSpPr>
          <p:spPr bwMode="auto">
            <a:xfrm rot="18065028">
              <a:off x="2288690" y="3413916"/>
              <a:ext cx="1210308" cy="1046763"/>
            </a:xfrm>
            <a:prstGeom prst="ellipse">
              <a:avLst/>
            </a:prstGeom>
            <a:solidFill>
              <a:schemeClr val="bg1"/>
            </a:solidFill>
            <a:ln w="12700">
              <a:solidFill>
                <a:schemeClr val="tx1"/>
              </a:solidFill>
              <a:round/>
              <a:headEnd/>
              <a:tailEnd/>
            </a:ln>
          </p:spPr>
          <p:txBody>
            <a:bodyPr wrap="none" anchor="ctr"/>
            <a:lstStyle/>
            <a:p>
              <a:pPr algn="ctr"/>
              <a:endParaRPr lang="zh-CN" altLang="zh-CN" sz="1400">
                <a:latin typeface="Times New Roman" pitchFamily="18" charset="0"/>
                <a:ea typeface="宋体" pitchFamily="2" charset="-122"/>
              </a:endParaRPr>
            </a:p>
          </p:txBody>
        </p:sp>
        <p:sp>
          <p:nvSpPr>
            <p:cNvPr id="14" name="Freeform 12"/>
            <p:cNvSpPr>
              <a:spLocks/>
            </p:cNvSpPr>
            <p:nvPr/>
          </p:nvSpPr>
          <p:spPr bwMode="auto">
            <a:xfrm>
              <a:off x="2581448" y="2442990"/>
              <a:ext cx="4014180" cy="2928164"/>
            </a:xfrm>
            <a:custGeom>
              <a:avLst/>
              <a:gdLst>
                <a:gd name="T0" fmla="*/ 2147483647 w 1931"/>
                <a:gd name="T1" fmla="*/ 2147483647 h 1684"/>
                <a:gd name="T2" fmla="*/ 2147483647 w 1931"/>
                <a:gd name="T3" fmla="*/ 2147483647 h 1684"/>
                <a:gd name="T4" fmla="*/ 2147483647 w 1931"/>
                <a:gd name="T5" fmla="*/ 2147483647 h 1684"/>
                <a:gd name="T6" fmla="*/ 2147483647 w 1931"/>
                <a:gd name="T7" fmla="*/ 2147483647 h 1684"/>
                <a:gd name="T8" fmla="*/ 2147483647 w 1931"/>
                <a:gd name="T9" fmla="*/ 2147483647 h 1684"/>
                <a:gd name="T10" fmla="*/ 2147483647 w 1931"/>
                <a:gd name="T11" fmla="*/ 2147483647 h 1684"/>
                <a:gd name="T12" fmla="*/ 2147483647 w 1931"/>
                <a:gd name="T13" fmla="*/ 0 h 1684"/>
                <a:gd name="T14" fmla="*/ 2147483647 w 1931"/>
                <a:gd name="T15" fmla="*/ 2147483647 h 1684"/>
                <a:gd name="T16" fmla="*/ 2147483647 w 1931"/>
                <a:gd name="T17" fmla="*/ 2147483647 h 1684"/>
                <a:gd name="T18" fmla="*/ 2147483647 w 1931"/>
                <a:gd name="T19" fmla="*/ 2147483647 h 1684"/>
                <a:gd name="T20" fmla="*/ 2147483647 w 1931"/>
                <a:gd name="T21" fmla="*/ 2147483647 h 1684"/>
                <a:gd name="T22" fmla="*/ 2147483647 w 1931"/>
                <a:gd name="T23" fmla="*/ 2147483647 h 1684"/>
                <a:gd name="T24" fmla="*/ 2147483647 w 1931"/>
                <a:gd name="T25" fmla="*/ 2147483647 h 1684"/>
                <a:gd name="T26" fmla="*/ 2147483647 w 1931"/>
                <a:gd name="T27" fmla="*/ 2147483647 h 1684"/>
                <a:gd name="T28" fmla="*/ 2147483647 w 1931"/>
                <a:gd name="T29" fmla="*/ 2147483647 h 1684"/>
                <a:gd name="T30" fmla="*/ 2147483647 w 1931"/>
                <a:gd name="T31" fmla="*/ 2147483647 h 1684"/>
                <a:gd name="T32" fmla="*/ 2147483647 w 1931"/>
                <a:gd name="T33" fmla="*/ 2147483647 h 1684"/>
                <a:gd name="T34" fmla="*/ 2147483647 w 1931"/>
                <a:gd name="T35" fmla="*/ 2147483647 h 1684"/>
                <a:gd name="T36" fmla="*/ 2147483647 w 1931"/>
                <a:gd name="T37" fmla="*/ 2147483647 h 1684"/>
                <a:gd name="T38" fmla="*/ 2147483647 w 1931"/>
                <a:gd name="T39" fmla="*/ 2147483647 h 1684"/>
                <a:gd name="T40" fmla="*/ 2147483647 w 1931"/>
                <a:gd name="T41" fmla="*/ 2147483647 h 1684"/>
                <a:gd name="T42" fmla="*/ 2147483647 w 1931"/>
                <a:gd name="T43" fmla="*/ 2147483647 h 1684"/>
                <a:gd name="T44" fmla="*/ 2147483647 w 1931"/>
                <a:gd name="T45" fmla="*/ 2147483647 h 1684"/>
                <a:gd name="T46" fmla="*/ 2147483647 w 1931"/>
                <a:gd name="T47" fmla="*/ 2147483647 h 1684"/>
                <a:gd name="T48" fmla="*/ 2147483647 w 1931"/>
                <a:gd name="T49" fmla="*/ 2147483647 h 1684"/>
                <a:gd name="T50" fmla="*/ 2147483647 w 1931"/>
                <a:gd name="T51" fmla="*/ 2147483647 h 1684"/>
                <a:gd name="T52" fmla="*/ 2147483647 w 1931"/>
                <a:gd name="T53" fmla="*/ 2147483647 h 1684"/>
                <a:gd name="T54" fmla="*/ 2147483647 w 1931"/>
                <a:gd name="T55" fmla="*/ 2147483647 h 1684"/>
                <a:gd name="T56" fmla="*/ 2147483647 w 1931"/>
                <a:gd name="T57" fmla="*/ 2147483647 h 1684"/>
                <a:gd name="T58" fmla="*/ 2147483647 w 1931"/>
                <a:gd name="T59" fmla="*/ 2147483647 h 1684"/>
                <a:gd name="T60" fmla="*/ 2147483647 w 1931"/>
                <a:gd name="T61" fmla="*/ 2147483647 h 1684"/>
                <a:gd name="T62" fmla="*/ 2147483647 w 1931"/>
                <a:gd name="T63" fmla="*/ 2147483647 h 1684"/>
                <a:gd name="T64" fmla="*/ 2147483647 w 1931"/>
                <a:gd name="T65" fmla="*/ 2147483647 h 1684"/>
                <a:gd name="T66" fmla="*/ 2147483647 w 1931"/>
                <a:gd name="T67" fmla="*/ 2147483647 h 1684"/>
                <a:gd name="T68" fmla="*/ 2147483647 w 1931"/>
                <a:gd name="T69" fmla="*/ 2147483647 h 1684"/>
                <a:gd name="T70" fmla="*/ 2147483647 w 1931"/>
                <a:gd name="T71" fmla="*/ 2147483647 h 1684"/>
                <a:gd name="T72" fmla="*/ 2147483647 w 1931"/>
                <a:gd name="T73" fmla="*/ 2147483647 h 1684"/>
                <a:gd name="T74" fmla="*/ 2147483647 w 1931"/>
                <a:gd name="T75" fmla="*/ 2147483647 h 1684"/>
                <a:gd name="T76" fmla="*/ 2147483647 w 1931"/>
                <a:gd name="T77" fmla="*/ 2147483647 h 1684"/>
                <a:gd name="T78" fmla="*/ 2147483647 w 1931"/>
                <a:gd name="T79" fmla="*/ 2147483647 h 1684"/>
                <a:gd name="T80" fmla="*/ 2147483647 w 1931"/>
                <a:gd name="T81" fmla="*/ 2147483647 h 1684"/>
                <a:gd name="T82" fmla="*/ 2147483647 w 1931"/>
                <a:gd name="T83" fmla="*/ 2147483647 h 1684"/>
                <a:gd name="T84" fmla="*/ 2147483647 w 1931"/>
                <a:gd name="T85" fmla="*/ 2147483647 h 1684"/>
                <a:gd name="T86" fmla="*/ 2147483647 w 1931"/>
                <a:gd name="T87" fmla="*/ 2147483647 h 1684"/>
                <a:gd name="T88" fmla="*/ 2147483647 w 1931"/>
                <a:gd name="T89" fmla="*/ 2147483647 h 1684"/>
                <a:gd name="T90" fmla="*/ 2147483647 w 1931"/>
                <a:gd name="T91" fmla="*/ 2147483647 h 1684"/>
                <a:gd name="T92" fmla="*/ 2147483647 w 1931"/>
                <a:gd name="T93" fmla="*/ 2147483647 h 1684"/>
                <a:gd name="T94" fmla="*/ 2147483647 w 1931"/>
                <a:gd name="T95" fmla="*/ 2147483647 h 168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1931"/>
                <a:gd name="T145" fmla="*/ 0 h 1684"/>
                <a:gd name="T146" fmla="*/ 1931 w 1931"/>
                <a:gd name="T147" fmla="*/ 1684 h 1684"/>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1931" h="1684">
                  <a:moveTo>
                    <a:pt x="579" y="263"/>
                  </a:moveTo>
                  <a:cubicBezTo>
                    <a:pt x="590" y="230"/>
                    <a:pt x="602" y="188"/>
                    <a:pt x="632" y="168"/>
                  </a:cubicBezTo>
                  <a:cubicBezTo>
                    <a:pt x="653" y="154"/>
                    <a:pt x="695" y="126"/>
                    <a:pt x="695" y="126"/>
                  </a:cubicBezTo>
                  <a:cubicBezTo>
                    <a:pt x="755" y="218"/>
                    <a:pt x="842" y="134"/>
                    <a:pt x="916" y="115"/>
                  </a:cubicBezTo>
                  <a:cubicBezTo>
                    <a:pt x="974" y="76"/>
                    <a:pt x="1024" y="61"/>
                    <a:pt x="1095" y="52"/>
                  </a:cubicBezTo>
                  <a:cubicBezTo>
                    <a:pt x="1201" y="18"/>
                    <a:pt x="1043" y="72"/>
                    <a:pt x="1158" y="21"/>
                  </a:cubicBezTo>
                  <a:cubicBezTo>
                    <a:pt x="1178" y="12"/>
                    <a:pt x="1221" y="0"/>
                    <a:pt x="1221" y="0"/>
                  </a:cubicBezTo>
                  <a:cubicBezTo>
                    <a:pt x="1260" y="14"/>
                    <a:pt x="1298" y="28"/>
                    <a:pt x="1337" y="42"/>
                  </a:cubicBezTo>
                  <a:cubicBezTo>
                    <a:pt x="1361" y="51"/>
                    <a:pt x="1379" y="70"/>
                    <a:pt x="1400" y="84"/>
                  </a:cubicBezTo>
                  <a:cubicBezTo>
                    <a:pt x="1411" y="91"/>
                    <a:pt x="1432" y="105"/>
                    <a:pt x="1432" y="105"/>
                  </a:cubicBezTo>
                  <a:cubicBezTo>
                    <a:pt x="1513" y="215"/>
                    <a:pt x="1412" y="96"/>
                    <a:pt x="1505" y="158"/>
                  </a:cubicBezTo>
                  <a:cubicBezTo>
                    <a:pt x="1515" y="165"/>
                    <a:pt x="1517" y="180"/>
                    <a:pt x="1526" y="189"/>
                  </a:cubicBezTo>
                  <a:cubicBezTo>
                    <a:pt x="1535" y="198"/>
                    <a:pt x="1547" y="203"/>
                    <a:pt x="1558" y="210"/>
                  </a:cubicBezTo>
                  <a:cubicBezTo>
                    <a:pt x="1591" y="261"/>
                    <a:pt x="1608" y="260"/>
                    <a:pt x="1653" y="294"/>
                  </a:cubicBezTo>
                  <a:cubicBezTo>
                    <a:pt x="1683" y="316"/>
                    <a:pt x="1706" y="348"/>
                    <a:pt x="1737" y="368"/>
                  </a:cubicBezTo>
                  <a:cubicBezTo>
                    <a:pt x="1756" y="380"/>
                    <a:pt x="1780" y="380"/>
                    <a:pt x="1800" y="389"/>
                  </a:cubicBezTo>
                  <a:cubicBezTo>
                    <a:pt x="1812" y="394"/>
                    <a:pt x="1821" y="403"/>
                    <a:pt x="1832" y="410"/>
                  </a:cubicBezTo>
                  <a:cubicBezTo>
                    <a:pt x="1848" y="477"/>
                    <a:pt x="1878" y="532"/>
                    <a:pt x="1916" y="589"/>
                  </a:cubicBezTo>
                  <a:cubicBezTo>
                    <a:pt x="1930" y="740"/>
                    <a:pt x="1931" y="949"/>
                    <a:pt x="1842" y="1084"/>
                  </a:cubicBezTo>
                  <a:cubicBezTo>
                    <a:pt x="1828" y="1130"/>
                    <a:pt x="1803" y="1134"/>
                    <a:pt x="1769" y="1168"/>
                  </a:cubicBezTo>
                  <a:cubicBezTo>
                    <a:pt x="1742" y="1246"/>
                    <a:pt x="1702" y="1245"/>
                    <a:pt x="1653" y="1284"/>
                  </a:cubicBezTo>
                  <a:cubicBezTo>
                    <a:pt x="1630" y="1303"/>
                    <a:pt x="1615" y="1331"/>
                    <a:pt x="1590" y="1347"/>
                  </a:cubicBezTo>
                  <a:cubicBezTo>
                    <a:pt x="1579" y="1354"/>
                    <a:pt x="1568" y="1361"/>
                    <a:pt x="1558" y="1368"/>
                  </a:cubicBezTo>
                  <a:cubicBezTo>
                    <a:pt x="1530" y="1389"/>
                    <a:pt x="1502" y="1410"/>
                    <a:pt x="1474" y="1431"/>
                  </a:cubicBezTo>
                  <a:cubicBezTo>
                    <a:pt x="1456" y="1444"/>
                    <a:pt x="1411" y="1453"/>
                    <a:pt x="1411" y="1453"/>
                  </a:cubicBezTo>
                  <a:cubicBezTo>
                    <a:pt x="1358" y="1505"/>
                    <a:pt x="1314" y="1538"/>
                    <a:pt x="1253" y="1579"/>
                  </a:cubicBezTo>
                  <a:cubicBezTo>
                    <a:pt x="1232" y="1593"/>
                    <a:pt x="1214" y="1613"/>
                    <a:pt x="1190" y="1621"/>
                  </a:cubicBezTo>
                  <a:cubicBezTo>
                    <a:pt x="1127" y="1642"/>
                    <a:pt x="1064" y="1664"/>
                    <a:pt x="1000" y="1684"/>
                  </a:cubicBezTo>
                  <a:cubicBezTo>
                    <a:pt x="808" y="1622"/>
                    <a:pt x="697" y="1658"/>
                    <a:pt x="432" y="1653"/>
                  </a:cubicBezTo>
                  <a:cubicBezTo>
                    <a:pt x="358" y="1629"/>
                    <a:pt x="389" y="1640"/>
                    <a:pt x="337" y="1621"/>
                  </a:cubicBezTo>
                  <a:cubicBezTo>
                    <a:pt x="296" y="1580"/>
                    <a:pt x="282" y="1591"/>
                    <a:pt x="242" y="1558"/>
                  </a:cubicBezTo>
                  <a:cubicBezTo>
                    <a:pt x="209" y="1530"/>
                    <a:pt x="193" y="1500"/>
                    <a:pt x="168" y="1463"/>
                  </a:cubicBezTo>
                  <a:cubicBezTo>
                    <a:pt x="154" y="1442"/>
                    <a:pt x="140" y="1421"/>
                    <a:pt x="126" y="1400"/>
                  </a:cubicBezTo>
                  <a:cubicBezTo>
                    <a:pt x="119" y="1389"/>
                    <a:pt x="105" y="1368"/>
                    <a:pt x="105" y="1368"/>
                  </a:cubicBezTo>
                  <a:cubicBezTo>
                    <a:pt x="88" y="1315"/>
                    <a:pt x="51" y="1287"/>
                    <a:pt x="21" y="1242"/>
                  </a:cubicBezTo>
                  <a:cubicBezTo>
                    <a:pt x="0" y="1175"/>
                    <a:pt x="23" y="1099"/>
                    <a:pt x="32" y="1031"/>
                  </a:cubicBezTo>
                  <a:cubicBezTo>
                    <a:pt x="35" y="961"/>
                    <a:pt x="36" y="891"/>
                    <a:pt x="42" y="821"/>
                  </a:cubicBezTo>
                  <a:cubicBezTo>
                    <a:pt x="47" y="760"/>
                    <a:pt x="75" y="693"/>
                    <a:pt x="84" y="631"/>
                  </a:cubicBezTo>
                  <a:cubicBezTo>
                    <a:pt x="99" y="528"/>
                    <a:pt x="112" y="402"/>
                    <a:pt x="200" y="337"/>
                  </a:cubicBezTo>
                  <a:cubicBezTo>
                    <a:pt x="214" y="312"/>
                    <a:pt x="220" y="281"/>
                    <a:pt x="242" y="263"/>
                  </a:cubicBezTo>
                  <a:cubicBezTo>
                    <a:pt x="259" y="250"/>
                    <a:pt x="289" y="266"/>
                    <a:pt x="305" y="252"/>
                  </a:cubicBezTo>
                  <a:cubicBezTo>
                    <a:pt x="322" y="237"/>
                    <a:pt x="313" y="207"/>
                    <a:pt x="326" y="189"/>
                  </a:cubicBezTo>
                  <a:cubicBezTo>
                    <a:pt x="343" y="166"/>
                    <a:pt x="376" y="163"/>
                    <a:pt x="400" y="147"/>
                  </a:cubicBezTo>
                  <a:cubicBezTo>
                    <a:pt x="411" y="154"/>
                    <a:pt x="423" y="159"/>
                    <a:pt x="432" y="168"/>
                  </a:cubicBezTo>
                  <a:cubicBezTo>
                    <a:pt x="441" y="177"/>
                    <a:pt x="441" y="195"/>
                    <a:pt x="453" y="200"/>
                  </a:cubicBezTo>
                  <a:cubicBezTo>
                    <a:pt x="479" y="210"/>
                    <a:pt x="509" y="207"/>
                    <a:pt x="537" y="210"/>
                  </a:cubicBezTo>
                  <a:cubicBezTo>
                    <a:pt x="544" y="221"/>
                    <a:pt x="550" y="232"/>
                    <a:pt x="558" y="242"/>
                  </a:cubicBezTo>
                  <a:cubicBezTo>
                    <a:pt x="566" y="251"/>
                    <a:pt x="610" y="291"/>
                    <a:pt x="579" y="263"/>
                  </a:cubicBezTo>
                  <a:close/>
                </a:path>
              </a:pathLst>
            </a:custGeom>
            <a:solidFill>
              <a:schemeClr val="bg1"/>
            </a:solidFill>
            <a:ln w="9525">
              <a:noFill/>
              <a:round/>
              <a:headEnd/>
              <a:tailEnd/>
            </a:ln>
          </p:spPr>
          <p:txBody>
            <a:bodyPr wrap="none" anchor="ctr"/>
            <a:lstStyle/>
            <a:p>
              <a:endParaRPr lang="zh-CN" altLang="en-US" sz="1400">
                <a:latin typeface="Times New Roman" pitchFamily="18" charset="0"/>
                <a:ea typeface="宋体" pitchFamily="2" charset="-122"/>
              </a:endParaRPr>
            </a:p>
          </p:txBody>
        </p:sp>
        <p:sp>
          <p:nvSpPr>
            <p:cNvPr id="15" name="Line 13"/>
            <p:cNvSpPr>
              <a:spLocks noChangeShapeType="1"/>
            </p:cNvSpPr>
            <p:nvPr/>
          </p:nvSpPr>
          <p:spPr bwMode="auto">
            <a:xfrm flipV="1">
              <a:off x="3603709" y="2446768"/>
              <a:ext cx="1396591" cy="506289"/>
            </a:xfrm>
            <a:prstGeom prst="line">
              <a:avLst/>
            </a:prstGeom>
            <a:noFill/>
            <a:ln w="38100">
              <a:solidFill>
                <a:schemeClr val="tx1"/>
              </a:solidFill>
              <a:round/>
              <a:headEnd/>
              <a:tailEnd/>
            </a:ln>
          </p:spPr>
          <p:txBody>
            <a:bodyPr wrap="none" anchor="ctr"/>
            <a:lstStyle/>
            <a:p>
              <a:endParaRPr lang="zh-CN" altLang="en-US" sz="1400">
                <a:latin typeface="Times New Roman" pitchFamily="18" charset="0"/>
                <a:ea typeface="宋体" pitchFamily="2" charset="-122"/>
              </a:endParaRPr>
            </a:p>
          </p:txBody>
        </p:sp>
        <p:sp>
          <p:nvSpPr>
            <p:cNvPr id="16" name="Line 14"/>
            <p:cNvSpPr>
              <a:spLocks noChangeShapeType="1"/>
            </p:cNvSpPr>
            <p:nvPr/>
          </p:nvSpPr>
          <p:spPr bwMode="auto">
            <a:xfrm>
              <a:off x="5173173" y="2514777"/>
              <a:ext cx="824887" cy="1272019"/>
            </a:xfrm>
            <a:prstGeom prst="line">
              <a:avLst/>
            </a:prstGeom>
            <a:noFill/>
            <a:ln w="38100">
              <a:solidFill>
                <a:schemeClr val="tx1"/>
              </a:solidFill>
              <a:round/>
              <a:headEnd/>
              <a:tailEnd/>
            </a:ln>
          </p:spPr>
          <p:txBody>
            <a:bodyPr wrap="none" anchor="ctr"/>
            <a:lstStyle/>
            <a:p>
              <a:endParaRPr lang="zh-CN" altLang="en-US" sz="1400">
                <a:latin typeface="Times New Roman" pitchFamily="18" charset="0"/>
                <a:ea typeface="宋体" pitchFamily="2" charset="-122"/>
              </a:endParaRPr>
            </a:p>
          </p:txBody>
        </p:sp>
        <p:sp>
          <p:nvSpPr>
            <p:cNvPr id="17" name="Line 15"/>
            <p:cNvSpPr>
              <a:spLocks noChangeShapeType="1"/>
            </p:cNvSpPr>
            <p:nvPr/>
          </p:nvSpPr>
          <p:spPr bwMode="auto">
            <a:xfrm flipH="1">
              <a:off x="2780183" y="3034919"/>
              <a:ext cx="726881" cy="1146077"/>
            </a:xfrm>
            <a:prstGeom prst="line">
              <a:avLst/>
            </a:prstGeom>
            <a:noFill/>
            <a:ln w="38100">
              <a:solidFill>
                <a:schemeClr val="tx1"/>
              </a:solidFill>
              <a:round/>
              <a:headEnd/>
              <a:tailEnd/>
            </a:ln>
          </p:spPr>
          <p:txBody>
            <a:bodyPr wrap="none" anchor="ctr"/>
            <a:lstStyle/>
            <a:p>
              <a:endParaRPr lang="zh-CN" altLang="en-US" sz="1400">
                <a:latin typeface="Times New Roman" pitchFamily="18" charset="0"/>
                <a:ea typeface="宋体" pitchFamily="2" charset="-122"/>
              </a:endParaRPr>
            </a:p>
          </p:txBody>
        </p:sp>
        <p:sp>
          <p:nvSpPr>
            <p:cNvPr id="18" name="Line 16"/>
            <p:cNvSpPr>
              <a:spLocks noChangeShapeType="1"/>
            </p:cNvSpPr>
            <p:nvPr/>
          </p:nvSpPr>
          <p:spPr bwMode="auto">
            <a:xfrm>
              <a:off x="2825103" y="4339684"/>
              <a:ext cx="1655220" cy="804773"/>
            </a:xfrm>
            <a:prstGeom prst="line">
              <a:avLst/>
            </a:prstGeom>
            <a:noFill/>
            <a:ln w="38100">
              <a:solidFill>
                <a:schemeClr val="tx1"/>
              </a:solidFill>
              <a:round/>
              <a:headEnd/>
              <a:tailEnd/>
            </a:ln>
          </p:spPr>
          <p:txBody>
            <a:bodyPr wrap="none" anchor="ctr"/>
            <a:lstStyle/>
            <a:p>
              <a:endParaRPr lang="zh-CN" altLang="en-US" sz="1400">
                <a:latin typeface="Times New Roman" pitchFamily="18" charset="0"/>
                <a:ea typeface="宋体" pitchFamily="2" charset="-122"/>
              </a:endParaRPr>
            </a:p>
          </p:txBody>
        </p:sp>
        <p:sp>
          <p:nvSpPr>
            <p:cNvPr id="19" name="Line 17"/>
            <p:cNvSpPr>
              <a:spLocks noChangeShapeType="1"/>
            </p:cNvSpPr>
            <p:nvPr/>
          </p:nvSpPr>
          <p:spPr bwMode="auto">
            <a:xfrm flipV="1">
              <a:off x="4551105" y="4038681"/>
              <a:ext cx="1446955" cy="1188897"/>
            </a:xfrm>
            <a:prstGeom prst="line">
              <a:avLst/>
            </a:prstGeom>
            <a:noFill/>
            <a:ln w="38100">
              <a:solidFill>
                <a:schemeClr val="tx1"/>
              </a:solidFill>
              <a:round/>
              <a:headEnd/>
              <a:tailEnd/>
            </a:ln>
          </p:spPr>
          <p:txBody>
            <a:bodyPr wrap="none" anchor="ctr"/>
            <a:lstStyle/>
            <a:p>
              <a:endParaRPr lang="zh-CN" altLang="en-US" sz="1400">
                <a:latin typeface="Times New Roman" pitchFamily="18" charset="0"/>
                <a:ea typeface="宋体" pitchFamily="2" charset="-122"/>
              </a:endParaRPr>
            </a:p>
          </p:txBody>
        </p:sp>
        <p:sp>
          <p:nvSpPr>
            <p:cNvPr id="20" name="Line 18"/>
            <p:cNvSpPr>
              <a:spLocks noChangeShapeType="1"/>
            </p:cNvSpPr>
            <p:nvPr/>
          </p:nvSpPr>
          <p:spPr bwMode="auto">
            <a:xfrm>
              <a:off x="3659518" y="3041217"/>
              <a:ext cx="2322208" cy="862706"/>
            </a:xfrm>
            <a:prstGeom prst="line">
              <a:avLst/>
            </a:prstGeom>
            <a:noFill/>
            <a:ln w="38100">
              <a:solidFill>
                <a:schemeClr val="tx1"/>
              </a:solidFill>
              <a:round/>
              <a:headEnd/>
              <a:tailEnd/>
            </a:ln>
          </p:spPr>
          <p:txBody>
            <a:bodyPr wrap="none" anchor="ctr"/>
            <a:lstStyle/>
            <a:p>
              <a:endParaRPr lang="zh-CN" altLang="en-US" sz="1400">
                <a:latin typeface="Times New Roman" pitchFamily="18" charset="0"/>
                <a:ea typeface="宋体" pitchFamily="2" charset="-122"/>
              </a:endParaRPr>
            </a:p>
          </p:txBody>
        </p:sp>
        <p:sp>
          <p:nvSpPr>
            <p:cNvPr id="21" name="Line 19"/>
            <p:cNvSpPr>
              <a:spLocks noChangeShapeType="1"/>
            </p:cNvSpPr>
            <p:nvPr/>
          </p:nvSpPr>
          <p:spPr bwMode="auto">
            <a:xfrm>
              <a:off x="3550622" y="2895124"/>
              <a:ext cx="1090322" cy="2249333"/>
            </a:xfrm>
            <a:prstGeom prst="line">
              <a:avLst/>
            </a:prstGeom>
            <a:noFill/>
            <a:ln w="38100">
              <a:solidFill>
                <a:schemeClr val="tx1"/>
              </a:solidFill>
              <a:round/>
              <a:headEnd/>
              <a:tailEnd/>
            </a:ln>
          </p:spPr>
          <p:txBody>
            <a:bodyPr wrap="none" anchor="ctr"/>
            <a:lstStyle/>
            <a:p>
              <a:endParaRPr lang="zh-CN" altLang="en-US" sz="1400">
                <a:latin typeface="Times New Roman" pitchFamily="18" charset="0"/>
                <a:ea typeface="宋体" pitchFamily="2" charset="-122"/>
              </a:endParaRPr>
            </a:p>
          </p:txBody>
        </p:sp>
        <p:sp>
          <p:nvSpPr>
            <p:cNvPr id="22" name="Line 20"/>
            <p:cNvSpPr>
              <a:spLocks noChangeShapeType="1"/>
            </p:cNvSpPr>
            <p:nvPr/>
          </p:nvSpPr>
          <p:spPr bwMode="auto">
            <a:xfrm flipV="1">
              <a:off x="3903173" y="5208687"/>
              <a:ext cx="696935" cy="499992"/>
            </a:xfrm>
            <a:prstGeom prst="line">
              <a:avLst/>
            </a:prstGeom>
            <a:noFill/>
            <a:ln w="19050">
              <a:solidFill>
                <a:schemeClr val="tx1"/>
              </a:solidFill>
              <a:round/>
              <a:headEnd/>
              <a:tailEnd/>
            </a:ln>
          </p:spPr>
          <p:txBody>
            <a:bodyPr wrap="none" anchor="ctr"/>
            <a:lstStyle/>
            <a:p>
              <a:endParaRPr lang="zh-CN" altLang="en-US" sz="1400">
                <a:latin typeface="Times New Roman" pitchFamily="18" charset="0"/>
                <a:ea typeface="宋体" pitchFamily="2" charset="-122"/>
              </a:endParaRPr>
            </a:p>
          </p:txBody>
        </p:sp>
        <p:sp>
          <p:nvSpPr>
            <p:cNvPr id="23" name="Line 21"/>
            <p:cNvSpPr>
              <a:spLocks noChangeShapeType="1"/>
            </p:cNvSpPr>
            <p:nvPr/>
          </p:nvSpPr>
          <p:spPr bwMode="auto">
            <a:xfrm rot="16200000">
              <a:off x="5357807" y="1886774"/>
              <a:ext cx="375309" cy="880697"/>
            </a:xfrm>
            <a:prstGeom prst="line">
              <a:avLst/>
            </a:prstGeom>
            <a:noFill/>
            <a:ln w="19050">
              <a:solidFill>
                <a:schemeClr val="tx1"/>
              </a:solidFill>
              <a:round/>
              <a:headEnd/>
              <a:tailEnd/>
            </a:ln>
          </p:spPr>
          <p:txBody>
            <a:bodyPr wrap="none" anchor="ctr"/>
            <a:lstStyle/>
            <a:p>
              <a:endParaRPr lang="zh-CN" altLang="en-US" sz="1400">
                <a:latin typeface="Times New Roman" pitchFamily="18" charset="0"/>
                <a:ea typeface="宋体" pitchFamily="2" charset="-122"/>
              </a:endParaRPr>
            </a:p>
          </p:txBody>
        </p:sp>
        <p:sp>
          <p:nvSpPr>
            <p:cNvPr id="24" name="Line 22"/>
            <p:cNvSpPr>
              <a:spLocks noChangeShapeType="1"/>
            </p:cNvSpPr>
            <p:nvPr/>
          </p:nvSpPr>
          <p:spPr bwMode="auto">
            <a:xfrm>
              <a:off x="6100151" y="4038681"/>
              <a:ext cx="696935" cy="918120"/>
            </a:xfrm>
            <a:prstGeom prst="line">
              <a:avLst/>
            </a:prstGeom>
            <a:noFill/>
            <a:ln w="19050">
              <a:solidFill>
                <a:schemeClr val="tx1"/>
              </a:solidFill>
              <a:round/>
              <a:headEnd/>
              <a:tailEnd/>
            </a:ln>
          </p:spPr>
          <p:txBody>
            <a:bodyPr wrap="none" anchor="ctr"/>
            <a:lstStyle/>
            <a:p>
              <a:endParaRPr lang="zh-CN" altLang="en-US" sz="1400">
                <a:latin typeface="Times New Roman" pitchFamily="18" charset="0"/>
                <a:ea typeface="宋体" pitchFamily="2" charset="-122"/>
              </a:endParaRPr>
            </a:p>
          </p:txBody>
        </p:sp>
        <p:sp>
          <p:nvSpPr>
            <p:cNvPr id="25" name="Line 23"/>
            <p:cNvSpPr>
              <a:spLocks noChangeShapeType="1"/>
            </p:cNvSpPr>
            <p:nvPr/>
          </p:nvSpPr>
          <p:spPr bwMode="auto">
            <a:xfrm>
              <a:off x="1819175" y="4279231"/>
              <a:ext cx="971897" cy="15113"/>
            </a:xfrm>
            <a:prstGeom prst="line">
              <a:avLst/>
            </a:prstGeom>
            <a:noFill/>
            <a:ln w="19050">
              <a:solidFill>
                <a:schemeClr val="tx1"/>
              </a:solidFill>
              <a:round/>
              <a:headEnd/>
              <a:tailEnd/>
            </a:ln>
          </p:spPr>
          <p:txBody>
            <a:bodyPr wrap="none" anchor="ctr"/>
            <a:lstStyle/>
            <a:p>
              <a:endParaRPr lang="zh-CN" altLang="en-US" sz="1400">
                <a:latin typeface="Times New Roman" pitchFamily="18" charset="0"/>
                <a:ea typeface="宋体" pitchFamily="2" charset="-122"/>
              </a:endParaRPr>
            </a:p>
          </p:txBody>
        </p:sp>
        <p:sp>
          <p:nvSpPr>
            <p:cNvPr id="26" name="Line 24"/>
            <p:cNvSpPr>
              <a:spLocks noChangeShapeType="1"/>
            </p:cNvSpPr>
            <p:nvPr/>
          </p:nvSpPr>
          <p:spPr bwMode="auto">
            <a:xfrm rot="5400000" flipH="1">
              <a:off x="3157675" y="2550568"/>
              <a:ext cx="701500" cy="2722"/>
            </a:xfrm>
            <a:prstGeom prst="line">
              <a:avLst/>
            </a:prstGeom>
            <a:noFill/>
            <a:ln w="19050">
              <a:solidFill>
                <a:schemeClr val="tx1"/>
              </a:solidFill>
              <a:round/>
              <a:headEnd/>
              <a:tailEnd/>
            </a:ln>
          </p:spPr>
          <p:txBody>
            <a:bodyPr wrap="none" anchor="ctr"/>
            <a:lstStyle/>
            <a:p>
              <a:endParaRPr lang="zh-CN" altLang="en-US" sz="1400">
                <a:latin typeface="Times New Roman" pitchFamily="18" charset="0"/>
                <a:ea typeface="宋体" pitchFamily="2" charset="-122"/>
              </a:endParaRPr>
            </a:p>
          </p:txBody>
        </p:sp>
        <p:sp>
          <p:nvSpPr>
            <p:cNvPr id="27" name="Text Box 25"/>
            <p:cNvSpPr txBox="1">
              <a:spLocks noChangeArrowheads="1"/>
            </p:cNvSpPr>
            <p:nvPr/>
          </p:nvSpPr>
          <p:spPr bwMode="auto">
            <a:xfrm>
              <a:off x="1071538" y="4000504"/>
              <a:ext cx="373820" cy="307777"/>
            </a:xfrm>
            <a:prstGeom prst="rect">
              <a:avLst/>
            </a:prstGeom>
            <a:noFill/>
            <a:ln w="9525">
              <a:noFill/>
              <a:miter lim="800000"/>
              <a:headEnd/>
              <a:tailEnd/>
            </a:ln>
          </p:spPr>
          <p:txBody>
            <a:bodyPr wrap="none">
              <a:spAutoFit/>
            </a:bodyPr>
            <a:lstStyle/>
            <a:p>
              <a:r>
                <a:rPr kumimoji="1" lang="en-US" altLang="zh-CN" sz="1400" dirty="0">
                  <a:latin typeface="Times New Roman" pitchFamily="18" charset="0"/>
                  <a:ea typeface="宋体" pitchFamily="2" charset="-122"/>
                </a:rPr>
                <a:t>H</a:t>
              </a:r>
              <a:r>
                <a:rPr kumimoji="1" lang="en-US" altLang="zh-CN" sz="1400" baseline="-25000" dirty="0">
                  <a:latin typeface="Times New Roman" pitchFamily="18" charset="0"/>
                  <a:ea typeface="宋体" pitchFamily="2" charset="-122"/>
                </a:rPr>
                <a:t>1</a:t>
              </a:r>
              <a:endParaRPr kumimoji="1" lang="en-US" altLang="zh-CN" sz="1400" dirty="0">
                <a:latin typeface="Times New Roman" pitchFamily="18" charset="0"/>
                <a:ea typeface="宋体" pitchFamily="2" charset="-122"/>
              </a:endParaRPr>
            </a:p>
          </p:txBody>
        </p:sp>
        <p:sp>
          <p:nvSpPr>
            <p:cNvPr id="28" name="Text Box 26"/>
            <p:cNvSpPr txBox="1">
              <a:spLocks noChangeArrowheads="1"/>
            </p:cNvSpPr>
            <p:nvPr/>
          </p:nvSpPr>
          <p:spPr bwMode="auto">
            <a:xfrm>
              <a:off x="7072330" y="4764297"/>
              <a:ext cx="373820" cy="307777"/>
            </a:xfrm>
            <a:prstGeom prst="rect">
              <a:avLst/>
            </a:prstGeom>
            <a:noFill/>
            <a:ln w="9525">
              <a:noFill/>
              <a:miter lim="800000"/>
              <a:headEnd/>
              <a:tailEnd/>
            </a:ln>
          </p:spPr>
          <p:txBody>
            <a:bodyPr wrap="none">
              <a:spAutoFit/>
            </a:bodyPr>
            <a:lstStyle/>
            <a:p>
              <a:r>
                <a:rPr kumimoji="1" lang="en-US" altLang="zh-CN" sz="1400" dirty="0">
                  <a:latin typeface="Times New Roman" pitchFamily="18" charset="0"/>
                  <a:ea typeface="宋体" pitchFamily="2" charset="-122"/>
                </a:rPr>
                <a:t>H</a:t>
              </a:r>
              <a:r>
                <a:rPr kumimoji="1" lang="en-US" altLang="zh-CN" sz="1400" baseline="-25000" dirty="0">
                  <a:latin typeface="Times New Roman" pitchFamily="18" charset="0"/>
                  <a:ea typeface="宋体" pitchFamily="2" charset="-122"/>
                </a:rPr>
                <a:t>5</a:t>
              </a:r>
              <a:endParaRPr kumimoji="1" lang="en-US" altLang="zh-CN" sz="1400" dirty="0">
                <a:latin typeface="Times New Roman" pitchFamily="18" charset="0"/>
                <a:ea typeface="宋体" pitchFamily="2" charset="-122"/>
              </a:endParaRPr>
            </a:p>
          </p:txBody>
        </p:sp>
        <p:sp>
          <p:nvSpPr>
            <p:cNvPr id="29" name="Text Box 27"/>
            <p:cNvSpPr txBox="1">
              <a:spLocks noChangeArrowheads="1"/>
            </p:cNvSpPr>
            <p:nvPr/>
          </p:nvSpPr>
          <p:spPr bwMode="auto">
            <a:xfrm>
              <a:off x="2840858" y="1764160"/>
              <a:ext cx="373820" cy="307777"/>
            </a:xfrm>
            <a:prstGeom prst="rect">
              <a:avLst/>
            </a:prstGeom>
            <a:noFill/>
            <a:ln w="9525">
              <a:noFill/>
              <a:miter lim="800000"/>
              <a:headEnd/>
              <a:tailEnd/>
            </a:ln>
          </p:spPr>
          <p:txBody>
            <a:bodyPr wrap="none">
              <a:spAutoFit/>
            </a:bodyPr>
            <a:lstStyle/>
            <a:p>
              <a:r>
                <a:rPr kumimoji="1" lang="en-US" altLang="zh-CN" sz="1400" dirty="0">
                  <a:latin typeface="Times New Roman" pitchFamily="18" charset="0"/>
                  <a:ea typeface="宋体" pitchFamily="2" charset="-122"/>
                </a:rPr>
                <a:t>H</a:t>
              </a:r>
              <a:r>
                <a:rPr kumimoji="1" lang="en-US" altLang="zh-CN" sz="1400" baseline="-25000" dirty="0">
                  <a:latin typeface="Times New Roman" pitchFamily="18" charset="0"/>
                  <a:ea typeface="宋体" pitchFamily="2" charset="-122"/>
                </a:rPr>
                <a:t>2</a:t>
              </a:r>
              <a:endParaRPr kumimoji="1" lang="en-US" altLang="zh-CN" sz="1400" dirty="0">
                <a:latin typeface="Times New Roman" pitchFamily="18" charset="0"/>
                <a:ea typeface="宋体" pitchFamily="2" charset="-122"/>
              </a:endParaRPr>
            </a:p>
          </p:txBody>
        </p:sp>
        <p:sp>
          <p:nvSpPr>
            <p:cNvPr id="30" name="Text Box 28"/>
            <p:cNvSpPr txBox="1">
              <a:spLocks noChangeArrowheads="1"/>
            </p:cNvSpPr>
            <p:nvPr/>
          </p:nvSpPr>
          <p:spPr bwMode="auto">
            <a:xfrm>
              <a:off x="6261425" y="1592878"/>
              <a:ext cx="373820" cy="307777"/>
            </a:xfrm>
            <a:prstGeom prst="rect">
              <a:avLst/>
            </a:prstGeom>
            <a:noFill/>
            <a:ln w="9525">
              <a:noFill/>
              <a:miter lim="800000"/>
              <a:headEnd/>
              <a:tailEnd/>
            </a:ln>
          </p:spPr>
          <p:txBody>
            <a:bodyPr wrap="none">
              <a:spAutoFit/>
            </a:bodyPr>
            <a:lstStyle/>
            <a:p>
              <a:r>
                <a:rPr kumimoji="1" lang="en-US" altLang="zh-CN" sz="1400">
                  <a:latin typeface="Times New Roman" pitchFamily="18" charset="0"/>
                  <a:ea typeface="宋体" pitchFamily="2" charset="-122"/>
                </a:rPr>
                <a:t>H</a:t>
              </a:r>
              <a:r>
                <a:rPr kumimoji="1" lang="en-US" altLang="zh-CN" sz="1400" baseline="-25000">
                  <a:latin typeface="Times New Roman" pitchFamily="18" charset="0"/>
                  <a:ea typeface="宋体" pitchFamily="2" charset="-122"/>
                </a:rPr>
                <a:t>4</a:t>
              </a:r>
              <a:endParaRPr kumimoji="1" lang="en-US" altLang="zh-CN" sz="1400">
                <a:latin typeface="Times New Roman" pitchFamily="18" charset="0"/>
                <a:ea typeface="宋体" pitchFamily="2" charset="-122"/>
              </a:endParaRPr>
            </a:p>
          </p:txBody>
        </p:sp>
        <p:sp>
          <p:nvSpPr>
            <p:cNvPr id="31" name="Text Box 29"/>
            <p:cNvSpPr txBox="1">
              <a:spLocks noChangeArrowheads="1"/>
            </p:cNvSpPr>
            <p:nvPr/>
          </p:nvSpPr>
          <p:spPr bwMode="auto">
            <a:xfrm>
              <a:off x="3269486" y="5621553"/>
              <a:ext cx="373820" cy="307777"/>
            </a:xfrm>
            <a:prstGeom prst="rect">
              <a:avLst/>
            </a:prstGeom>
            <a:noFill/>
            <a:ln w="9525">
              <a:noFill/>
              <a:miter lim="800000"/>
              <a:headEnd/>
              <a:tailEnd/>
            </a:ln>
          </p:spPr>
          <p:txBody>
            <a:bodyPr wrap="none">
              <a:spAutoFit/>
            </a:bodyPr>
            <a:lstStyle/>
            <a:p>
              <a:r>
                <a:rPr kumimoji="1" lang="en-US" altLang="zh-CN" sz="1400" dirty="0">
                  <a:latin typeface="Times New Roman" pitchFamily="18" charset="0"/>
                  <a:ea typeface="宋体" pitchFamily="2" charset="-122"/>
                </a:rPr>
                <a:t>H</a:t>
              </a:r>
              <a:r>
                <a:rPr kumimoji="1" lang="en-US" altLang="zh-CN" sz="1400" baseline="-25000" dirty="0">
                  <a:latin typeface="Times New Roman" pitchFamily="18" charset="0"/>
                  <a:ea typeface="宋体" pitchFamily="2" charset="-122"/>
                </a:rPr>
                <a:t>3</a:t>
              </a:r>
              <a:endParaRPr kumimoji="1" lang="en-US" altLang="zh-CN" sz="1400" dirty="0">
                <a:latin typeface="Times New Roman" pitchFamily="18" charset="0"/>
                <a:ea typeface="宋体" pitchFamily="2" charset="-122"/>
              </a:endParaRPr>
            </a:p>
          </p:txBody>
        </p:sp>
        <p:sp>
          <p:nvSpPr>
            <p:cNvPr id="32" name="Line 30"/>
            <p:cNvSpPr>
              <a:spLocks noChangeShapeType="1"/>
            </p:cNvSpPr>
            <p:nvPr/>
          </p:nvSpPr>
          <p:spPr bwMode="auto">
            <a:xfrm flipV="1">
              <a:off x="6100151" y="3264135"/>
              <a:ext cx="986870" cy="607043"/>
            </a:xfrm>
            <a:prstGeom prst="line">
              <a:avLst/>
            </a:prstGeom>
            <a:noFill/>
            <a:ln w="19050">
              <a:solidFill>
                <a:schemeClr val="tx1"/>
              </a:solidFill>
              <a:round/>
              <a:headEnd/>
              <a:tailEnd/>
            </a:ln>
          </p:spPr>
          <p:txBody>
            <a:bodyPr wrap="none" anchor="ctr"/>
            <a:lstStyle/>
            <a:p>
              <a:endParaRPr lang="zh-CN" altLang="en-US" sz="1400">
                <a:latin typeface="Times New Roman" pitchFamily="18" charset="0"/>
                <a:ea typeface="宋体" pitchFamily="2" charset="-122"/>
              </a:endParaRPr>
            </a:p>
          </p:txBody>
        </p:sp>
        <p:sp>
          <p:nvSpPr>
            <p:cNvPr id="33" name="Text Box 31"/>
            <p:cNvSpPr txBox="1">
              <a:spLocks noChangeArrowheads="1"/>
            </p:cNvSpPr>
            <p:nvPr/>
          </p:nvSpPr>
          <p:spPr bwMode="auto">
            <a:xfrm>
              <a:off x="7429520" y="2786058"/>
              <a:ext cx="373820" cy="307777"/>
            </a:xfrm>
            <a:prstGeom prst="rect">
              <a:avLst/>
            </a:prstGeom>
            <a:noFill/>
            <a:ln w="9525">
              <a:noFill/>
              <a:miter lim="800000"/>
              <a:headEnd/>
              <a:tailEnd/>
            </a:ln>
          </p:spPr>
          <p:txBody>
            <a:bodyPr wrap="none">
              <a:spAutoFit/>
            </a:bodyPr>
            <a:lstStyle/>
            <a:p>
              <a:r>
                <a:rPr kumimoji="1" lang="en-US" altLang="zh-CN" sz="1400" dirty="0">
                  <a:latin typeface="Times New Roman" pitchFamily="18" charset="0"/>
                  <a:ea typeface="宋体" pitchFamily="2" charset="-122"/>
                </a:rPr>
                <a:t>H</a:t>
              </a:r>
              <a:r>
                <a:rPr kumimoji="1" lang="en-US" altLang="zh-CN" sz="1400" baseline="-25000" dirty="0">
                  <a:latin typeface="Times New Roman" pitchFamily="18" charset="0"/>
                  <a:ea typeface="宋体" pitchFamily="2" charset="-122"/>
                </a:rPr>
                <a:t>6</a:t>
              </a:r>
              <a:endParaRPr kumimoji="1" lang="en-US" altLang="zh-CN" sz="1400" dirty="0">
                <a:latin typeface="Times New Roman" pitchFamily="18" charset="0"/>
                <a:ea typeface="宋体" pitchFamily="2" charset="-122"/>
              </a:endParaRPr>
            </a:p>
          </p:txBody>
        </p:sp>
        <p:pic>
          <p:nvPicPr>
            <p:cNvPr id="34" name="Picture 32"/>
            <p:cNvPicPr>
              <a:picLocks noChangeArrowheads="1"/>
            </p:cNvPicPr>
            <p:nvPr/>
          </p:nvPicPr>
          <p:blipFill>
            <a:blip r:embed="rId2" cstate="print"/>
            <a:srcRect/>
            <a:stretch>
              <a:fillRect/>
            </a:stretch>
          </p:blipFill>
          <p:spPr bwMode="auto">
            <a:xfrm>
              <a:off x="5709486" y="1602953"/>
              <a:ext cx="637042" cy="542812"/>
            </a:xfrm>
            <a:prstGeom prst="rect">
              <a:avLst/>
            </a:prstGeom>
            <a:noFill/>
            <a:ln w="9525">
              <a:noFill/>
              <a:miter lim="800000"/>
              <a:headEnd/>
              <a:tailEnd/>
            </a:ln>
          </p:spPr>
        </p:pic>
        <p:pic>
          <p:nvPicPr>
            <p:cNvPr id="35" name="Picture 33"/>
            <p:cNvPicPr>
              <a:picLocks noChangeArrowheads="1"/>
            </p:cNvPicPr>
            <p:nvPr/>
          </p:nvPicPr>
          <p:blipFill>
            <a:blip r:embed="rId2" cstate="print"/>
            <a:srcRect/>
            <a:stretch>
              <a:fillRect/>
            </a:stretch>
          </p:blipFill>
          <p:spPr bwMode="auto">
            <a:xfrm>
              <a:off x="6852894" y="2814520"/>
              <a:ext cx="641126" cy="542812"/>
            </a:xfrm>
            <a:prstGeom prst="rect">
              <a:avLst/>
            </a:prstGeom>
            <a:noFill/>
            <a:ln w="9525">
              <a:noFill/>
              <a:miter lim="800000"/>
              <a:headEnd/>
              <a:tailEnd/>
            </a:ln>
          </p:spPr>
        </p:pic>
        <p:pic>
          <p:nvPicPr>
            <p:cNvPr id="36" name="Picture 34"/>
            <p:cNvPicPr>
              <a:picLocks noChangeArrowheads="1"/>
            </p:cNvPicPr>
            <p:nvPr/>
          </p:nvPicPr>
          <p:blipFill>
            <a:blip r:embed="rId2" cstate="print"/>
            <a:srcRect/>
            <a:stretch>
              <a:fillRect/>
            </a:stretch>
          </p:blipFill>
          <p:spPr bwMode="auto">
            <a:xfrm>
              <a:off x="1367257" y="4038681"/>
              <a:ext cx="639764" cy="540293"/>
            </a:xfrm>
            <a:prstGeom prst="rect">
              <a:avLst/>
            </a:prstGeom>
            <a:noFill/>
            <a:ln w="9525">
              <a:noFill/>
              <a:miter lim="800000"/>
              <a:headEnd/>
              <a:tailEnd/>
            </a:ln>
          </p:spPr>
        </p:pic>
        <p:pic>
          <p:nvPicPr>
            <p:cNvPr id="37" name="Picture 35"/>
            <p:cNvPicPr>
              <a:picLocks noChangeArrowheads="1"/>
            </p:cNvPicPr>
            <p:nvPr/>
          </p:nvPicPr>
          <p:blipFill>
            <a:blip r:embed="rId2" cstate="print"/>
            <a:srcRect/>
            <a:stretch>
              <a:fillRect/>
            </a:stretch>
          </p:blipFill>
          <p:spPr bwMode="auto">
            <a:xfrm>
              <a:off x="3507064" y="5623038"/>
              <a:ext cx="638403" cy="542812"/>
            </a:xfrm>
            <a:prstGeom prst="rect">
              <a:avLst/>
            </a:prstGeom>
            <a:noFill/>
            <a:ln w="9525">
              <a:noFill/>
              <a:miter lim="800000"/>
              <a:headEnd/>
              <a:tailEnd/>
            </a:ln>
          </p:spPr>
        </p:pic>
        <p:pic>
          <p:nvPicPr>
            <p:cNvPr id="38" name="Picture 36"/>
            <p:cNvPicPr>
              <a:picLocks noChangeArrowheads="1"/>
            </p:cNvPicPr>
            <p:nvPr/>
          </p:nvPicPr>
          <p:blipFill>
            <a:blip r:embed="rId2" cstate="print"/>
            <a:srcRect/>
            <a:stretch>
              <a:fillRect/>
            </a:stretch>
          </p:blipFill>
          <p:spPr bwMode="auto">
            <a:xfrm>
              <a:off x="6595628" y="4791818"/>
              <a:ext cx="641125" cy="539034"/>
            </a:xfrm>
            <a:prstGeom prst="rect">
              <a:avLst/>
            </a:prstGeom>
            <a:noFill/>
            <a:ln w="9525">
              <a:noFill/>
              <a:miter lim="800000"/>
              <a:headEnd/>
              <a:tailEnd/>
            </a:ln>
          </p:spPr>
        </p:pic>
        <p:pic>
          <p:nvPicPr>
            <p:cNvPr id="39" name="Picture 37"/>
            <p:cNvPicPr>
              <a:picLocks noChangeArrowheads="1"/>
            </p:cNvPicPr>
            <p:nvPr/>
          </p:nvPicPr>
          <p:blipFill>
            <a:blip r:embed="rId2" cstate="print"/>
            <a:srcRect/>
            <a:stretch>
              <a:fillRect/>
            </a:stretch>
          </p:blipFill>
          <p:spPr bwMode="auto">
            <a:xfrm>
              <a:off x="3206239" y="1784311"/>
              <a:ext cx="641125" cy="539034"/>
            </a:xfrm>
            <a:prstGeom prst="rect">
              <a:avLst/>
            </a:prstGeom>
            <a:noFill/>
            <a:ln w="9525">
              <a:noFill/>
              <a:miter lim="800000"/>
              <a:headEnd/>
              <a:tailEnd/>
            </a:ln>
          </p:spPr>
        </p:pic>
        <p:sp>
          <p:nvSpPr>
            <p:cNvPr id="40" name="Text Box 38"/>
            <p:cNvSpPr txBox="1">
              <a:spLocks noChangeArrowheads="1"/>
            </p:cNvSpPr>
            <p:nvPr/>
          </p:nvSpPr>
          <p:spPr bwMode="auto">
            <a:xfrm>
              <a:off x="1071538" y="5131370"/>
              <a:ext cx="1500197" cy="307777"/>
            </a:xfrm>
            <a:prstGeom prst="rect">
              <a:avLst/>
            </a:prstGeom>
            <a:noFill/>
            <a:ln w="9525">
              <a:noFill/>
              <a:miter lim="800000"/>
              <a:headEnd/>
              <a:tailEnd/>
            </a:ln>
          </p:spPr>
          <p:txBody>
            <a:bodyPr wrap="square">
              <a:spAutoFit/>
            </a:bodyPr>
            <a:lstStyle/>
            <a:p>
              <a:pPr algn="ctr"/>
              <a:r>
                <a:rPr kumimoji="1" lang="zh-CN" altLang="en-US" sz="1400" dirty="0">
                  <a:latin typeface="Times New Roman" pitchFamily="18" charset="0"/>
                  <a:ea typeface="宋体" pitchFamily="2" charset="-122"/>
                </a:rPr>
                <a:t>发送的分组</a:t>
              </a:r>
            </a:p>
          </p:txBody>
        </p:sp>
        <p:pic>
          <p:nvPicPr>
            <p:cNvPr id="41" name="Picture 39"/>
            <p:cNvPicPr>
              <a:picLocks noChangeArrowheads="1"/>
            </p:cNvPicPr>
            <p:nvPr/>
          </p:nvPicPr>
          <p:blipFill>
            <a:blip r:embed="rId3" cstate="print"/>
            <a:srcRect/>
            <a:stretch>
              <a:fillRect/>
            </a:stretch>
          </p:blipFill>
          <p:spPr bwMode="auto">
            <a:xfrm>
              <a:off x="3233463" y="2795629"/>
              <a:ext cx="676516" cy="403016"/>
            </a:xfrm>
            <a:prstGeom prst="rect">
              <a:avLst/>
            </a:prstGeom>
            <a:noFill/>
            <a:ln w="12699">
              <a:noFill/>
              <a:miter lim="800000"/>
              <a:headEnd/>
              <a:tailEnd/>
            </a:ln>
          </p:spPr>
        </p:pic>
        <p:pic>
          <p:nvPicPr>
            <p:cNvPr id="42" name="Picture 40"/>
            <p:cNvPicPr>
              <a:picLocks noChangeArrowheads="1"/>
            </p:cNvPicPr>
            <p:nvPr/>
          </p:nvPicPr>
          <p:blipFill>
            <a:blip r:embed="rId3" cstate="print"/>
            <a:srcRect/>
            <a:stretch>
              <a:fillRect/>
            </a:stretch>
          </p:blipFill>
          <p:spPr bwMode="auto">
            <a:xfrm>
              <a:off x="4774342" y="2327122"/>
              <a:ext cx="677878" cy="403016"/>
            </a:xfrm>
            <a:prstGeom prst="rect">
              <a:avLst/>
            </a:prstGeom>
            <a:noFill/>
            <a:ln w="12699">
              <a:noFill/>
              <a:miter lim="800000"/>
              <a:headEnd/>
              <a:tailEnd/>
            </a:ln>
          </p:spPr>
        </p:pic>
        <p:pic>
          <p:nvPicPr>
            <p:cNvPr id="43" name="Picture 41"/>
            <p:cNvPicPr>
              <a:picLocks noChangeArrowheads="1"/>
            </p:cNvPicPr>
            <p:nvPr/>
          </p:nvPicPr>
          <p:blipFill>
            <a:blip r:embed="rId3" cstate="print"/>
            <a:srcRect/>
            <a:stretch>
              <a:fillRect/>
            </a:stretch>
          </p:blipFill>
          <p:spPr bwMode="auto">
            <a:xfrm>
              <a:off x="5653677" y="3731382"/>
              <a:ext cx="677878" cy="401756"/>
            </a:xfrm>
            <a:prstGeom prst="rect">
              <a:avLst/>
            </a:prstGeom>
            <a:noFill/>
            <a:ln w="12699">
              <a:noFill/>
              <a:miter lim="800000"/>
              <a:headEnd/>
              <a:tailEnd/>
            </a:ln>
          </p:spPr>
        </p:pic>
        <p:pic>
          <p:nvPicPr>
            <p:cNvPr id="44" name="Picture 42"/>
            <p:cNvPicPr>
              <a:picLocks noChangeArrowheads="1"/>
            </p:cNvPicPr>
            <p:nvPr/>
          </p:nvPicPr>
          <p:blipFill>
            <a:blip r:embed="rId3" cstate="print"/>
            <a:srcRect/>
            <a:stretch>
              <a:fillRect/>
            </a:stretch>
          </p:blipFill>
          <p:spPr bwMode="auto">
            <a:xfrm>
              <a:off x="4223055" y="4856048"/>
              <a:ext cx="677878" cy="401757"/>
            </a:xfrm>
            <a:prstGeom prst="rect">
              <a:avLst/>
            </a:prstGeom>
            <a:noFill/>
            <a:ln w="12699">
              <a:noFill/>
              <a:miter lim="800000"/>
              <a:headEnd/>
              <a:tailEnd/>
            </a:ln>
          </p:spPr>
        </p:pic>
        <p:pic>
          <p:nvPicPr>
            <p:cNvPr id="45" name="Picture 43"/>
            <p:cNvPicPr>
              <a:picLocks noChangeArrowheads="1"/>
            </p:cNvPicPr>
            <p:nvPr/>
          </p:nvPicPr>
          <p:blipFill>
            <a:blip r:embed="rId3" cstate="print"/>
            <a:srcRect/>
            <a:stretch>
              <a:fillRect/>
            </a:stretch>
          </p:blipFill>
          <p:spPr bwMode="auto">
            <a:xfrm>
              <a:off x="2569197" y="4010974"/>
              <a:ext cx="677878" cy="403016"/>
            </a:xfrm>
            <a:prstGeom prst="rect">
              <a:avLst/>
            </a:prstGeom>
            <a:noFill/>
            <a:ln w="12699">
              <a:noFill/>
              <a:miter lim="800000"/>
              <a:headEnd/>
              <a:tailEnd/>
            </a:ln>
          </p:spPr>
        </p:pic>
        <p:sp>
          <p:nvSpPr>
            <p:cNvPr id="46" name="Text Box 45"/>
            <p:cNvSpPr txBox="1">
              <a:spLocks noChangeArrowheads="1"/>
            </p:cNvSpPr>
            <p:nvPr/>
          </p:nvSpPr>
          <p:spPr bwMode="auto">
            <a:xfrm>
              <a:off x="1551697" y="2285992"/>
              <a:ext cx="723275" cy="307777"/>
            </a:xfrm>
            <a:prstGeom prst="rect">
              <a:avLst/>
            </a:prstGeom>
            <a:noFill/>
            <a:ln w="9525">
              <a:noFill/>
              <a:miter lim="800000"/>
              <a:headEnd/>
              <a:tailEnd/>
            </a:ln>
          </p:spPr>
          <p:txBody>
            <a:bodyPr wrap="none">
              <a:spAutoFit/>
            </a:bodyPr>
            <a:lstStyle/>
            <a:p>
              <a:r>
                <a:rPr kumimoji="1" lang="zh-CN" altLang="en-US" sz="1400" dirty="0">
                  <a:latin typeface="Times New Roman" pitchFamily="18" charset="0"/>
                  <a:ea typeface="宋体" pitchFamily="2" charset="-122"/>
                </a:rPr>
                <a:t>路由器</a:t>
              </a:r>
            </a:p>
          </p:txBody>
        </p:sp>
        <p:sp>
          <p:nvSpPr>
            <p:cNvPr id="47" name="Line 46"/>
            <p:cNvSpPr>
              <a:spLocks noChangeShapeType="1"/>
            </p:cNvSpPr>
            <p:nvPr/>
          </p:nvSpPr>
          <p:spPr bwMode="auto">
            <a:xfrm>
              <a:off x="2351405" y="2514777"/>
              <a:ext cx="882058" cy="374049"/>
            </a:xfrm>
            <a:prstGeom prst="line">
              <a:avLst/>
            </a:prstGeom>
            <a:noFill/>
            <a:ln w="9525">
              <a:solidFill>
                <a:schemeClr val="tx1"/>
              </a:solidFill>
              <a:round/>
              <a:headEnd/>
              <a:tailEnd/>
            </a:ln>
          </p:spPr>
          <p:txBody>
            <a:bodyPr/>
            <a:lstStyle/>
            <a:p>
              <a:endParaRPr lang="zh-CN" altLang="en-US" sz="1400">
                <a:latin typeface="Times New Roman" pitchFamily="18" charset="0"/>
                <a:ea typeface="宋体" pitchFamily="2" charset="-122"/>
              </a:endParaRPr>
            </a:p>
          </p:txBody>
        </p:sp>
        <p:sp>
          <p:nvSpPr>
            <p:cNvPr id="48" name="Text Box 47"/>
            <p:cNvSpPr txBox="1">
              <a:spLocks noChangeArrowheads="1"/>
            </p:cNvSpPr>
            <p:nvPr/>
          </p:nvSpPr>
          <p:spPr bwMode="auto">
            <a:xfrm>
              <a:off x="2546428" y="3764165"/>
              <a:ext cx="314510" cy="307777"/>
            </a:xfrm>
            <a:prstGeom prst="rect">
              <a:avLst/>
            </a:prstGeom>
            <a:noFill/>
            <a:ln w="9525">
              <a:noFill/>
              <a:miter lim="800000"/>
              <a:headEnd/>
              <a:tailEnd/>
            </a:ln>
          </p:spPr>
          <p:txBody>
            <a:bodyPr wrap="none">
              <a:spAutoFit/>
            </a:bodyPr>
            <a:lstStyle/>
            <a:p>
              <a:r>
                <a:rPr kumimoji="1" lang="en-US" altLang="zh-CN" sz="1400" dirty="0">
                  <a:latin typeface="Times New Roman" pitchFamily="18" charset="0"/>
                  <a:ea typeface="宋体" pitchFamily="2" charset="-122"/>
                </a:rPr>
                <a:t>A</a:t>
              </a:r>
            </a:p>
          </p:txBody>
        </p:sp>
        <p:sp>
          <p:nvSpPr>
            <p:cNvPr id="49" name="Text Box 48"/>
            <p:cNvSpPr txBox="1">
              <a:spLocks noChangeArrowheads="1"/>
            </p:cNvSpPr>
            <p:nvPr/>
          </p:nvSpPr>
          <p:spPr bwMode="auto">
            <a:xfrm>
              <a:off x="5916759" y="3478413"/>
              <a:ext cx="293670" cy="307777"/>
            </a:xfrm>
            <a:prstGeom prst="rect">
              <a:avLst/>
            </a:prstGeom>
            <a:noFill/>
            <a:ln w="9525">
              <a:noFill/>
              <a:miter lim="800000"/>
              <a:headEnd/>
              <a:tailEnd/>
            </a:ln>
          </p:spPr>
          <p:txBody>
            <a:bodyPr wrap="none">
              <a:spAutoFit/>
            </a:bodyPr>
            <a:lstStyle/>
            <a:p>
              <a:r>
                <a:rPr kumimoji="1" lang="en-US" altLang="zh-CN" sz="1400" dirty="0">
                  <a:latin typeface="Times New Roman" pitchFamily="18" charset="0"/>
                  <a:ea typeface="宋体" pitchFamily="2" charset="-122"/>
                </a:rPr>
                <a:t>E</a:t>
              </a:r>
            </a:p>
          </p:txBody>
        </p:sp>
        <p:sp>
          <p:nvSpPr>
            <p:cNvPr id="50" name="Text Box 49"/>
            <p:cNvSpPr txBox="1">
              <a:spLocks noChangeArrowheads="1"/>
            </p:cNvSpPr>
            <p:nvPr/>
          </p:nvSpPr>
          <p:spPr bwMode="auto">
            <a:xfrm>
              <a:off x="4851649" y="2620569"/>
              <a:ext cx="314510" cy="307777"/>
            </a:xfrm>
            <a:prstGeom prst="rect">
              <a:avLst/>
            </a:prstGeom>
            <a:noFill/>
            <a:ln w="9525">
              <a:noFill/>
              <a:miter lim="800000"/>
              <a:headEnd/>
              <a:tailEnd/>
            </a:ln>
          </p:spPr>
          <p:txBody>
            <a:bodyPr wrap="none">
              <a:spAutoFit/>
            </a:bodyPr>
            <a:lstStyle/>
            <a:p>
              <a:r>
                <a:rPr kumimoji="1" lang="en-US" altLang="zh-CN" sz="1400">
                  <a:latin typeface="Times New Roman" pitchFamily="18" charset="0"/>
                  <a:ea typeface="宋体" pitchFamily="2" charset="-122"/>
                </a:rPr>
                <a:t>D</a:t>
              </a:r>
            </a:p>
          </p:txBody>
        </p:sp>
        <p:sp>
          <p:nvSpPr>
            <p:cNvPr id="51" name="Text Box 50"/>
            <p:cNvSpPr txBox="1">
              <a:spLocks noChangeArrowheads="1"/>
            </p:cNvSpPr>
            <p:nvPr/>
          </p:nvSpPr>
          <p:spPr bwMode="auto">
            <a:xfrm>
              <a:off x="3577566" y="2549719"/>
              <a:ext cx="304892" cy="307777"/>
            </a:xfrm>
            <a:prstGeom prst="rect">
              <a:avLst/>
            </a:prstGeom>
            <a:noFill/>
            <a:ln w="9525">
              <a:noFill/>
              <a:miter lim="800000"/>
              <a:headEnd/>
              <a:tailEnd/>
            </a:ln>
          </p:spPr>
          <p:txBody>
            <a:bodyPr wrap="none">
              <a:spAutoFit/>
            </a:bodyPr>
            <a:lstStyle/>
            <a:p>
              <a:r>
                <a:rPr kumimoji="1" lang="en-US" altLang="zh-CN" sz="1400" b="1" dirty="0">
                  <a:latin typeface="Times New Roman" pitchFamily="18" charset="0"/>
                  <a:ea typeface="宋体" pitchFamily="2" charset="-122"/>
                </a:rPr>
                <a:t>B</a:t>
              </a:r>
            </a:p>
          </p:txBody>
        </p:sp>
        <p:sp>
          <p:nvSpPr>
            <p:cNvPr id="52" name="Text Box 51"/>
            <p:cNvSpPr txBox="1">
              <a:spLocks noChangeArrowheads="1"/>
            </p:cNvSpPr>
            <p:nvPr/>
          </p:nvSpPr>
          <p:spPr bwMode="auto">
            <a:xfrm>
              <a:off x="4874789" y="4906425"/>
              <a:ext cx="304892" cy="307777"/>
            </a:xfrm>
            <a:prstGeom prst="rect">
              <a:avLst/>
            </a:prstGeom>
            <a:noFill/>
            <a:ln w="9525">
              <a:noFill/>
              <a:miter lim="800000"/>
              <a:headEnd/>
              <a:tailEnd/>
            </a:ln>
          </p:spPr>
          <p:txBody>
            <a:bodyPr wrap="none">
              <a:spAutoFit/>
            </a:bodyPr>
            <a:lstStyle/>
            <a:p>
              <a:r>
                <a:rPr kumimoji="1" lang="en-US" altLang="zh-CN" sz="1400">
                  <a:latin typeface="Times New Roman" pitchFamily="18" charset="0"/>
                  <a:ea typeface="宋体" pitchFamily="2" charset="-122"/>
                </a:rPr>
                <a:t>C</a:t>
              </a:r>
            </a:p>
          </p:txBody>
        </p:sp>
        <p:sp>
          <p:nvSpPr>
            <p:cNvPr id="53" name="Line 52"/>
            <p:cNvSpPr>
              <a:spLocks noChangeShapeType="1"/>
            </p:cNvSpPr>
            <p:nvPr/>
          </p:nvSpPr>
          <p:spPr bwMode="auto">
            <a:xfrm flipV="1">
              <a:off x="1994771" y="4543711"/>
              <a:ext cx="220514" cy="654901"/>
            </a:xfrm>
            <a:prstGeom prst="line">
              <a:avLst/>
            </a:prstGeom>
            <a:noFill/>
            <a:ln w="9525">
              <a:solidFill>
                <a:schemeClr val="tx1"/>
              </a:solidFill>
              <a:round/>
              <a:headEnd/>
              <a:tailEnd/>
            </a:ln>
          </p:spPr>
          <p:txBody>
            <a:bodyPr/>
            <a:lstStyle/>
            <a:p>
              <a:endParaRPr lang="zh-CN" altLang="en-US" sz="1400">
                <a:latin typeface="Times New Roman" pitchFamily="18" charset="0"/>
                <a:ea typeface="宋体" pitchFamily="2" charset="-122"/>
              </a:endParaRPr>
            </a:p>
          </p:txBody>
        </p:sp>
        <p:sp>
          <p:nvSpPr>
            <p:cNvPr id="54" name="Rectangle 53"/>
            <p:cNvSpPr>
              <a:spLocks noChangeArrowheads="1"/>
            </p:cNvSpPr>
            <p:nvPr/>
          </p:nvSpPr>
          <p:spPr bwMode="auto">
            <a:xfrm>
              <a:off x="2062831" y="4356057"/>
              <a:ext cx="220514" cy="187654"/>
            </a:xfrm>
            <a:prstGeom prst="rect">
              <a:avLst/>
            </a:prstGeom>
            <a:noFill/>
            <a:ln w="9525">
              <a:solidFill>
                <a:schemeClr val="tx1"/>
              </a:solidFill>
              <a:miter lim="800000"/>
              <a:headEnd/>
              <a:tailEnd/>
            </a:ln>
          </p:spPr>
          <p:txBody>
            <a:bodyPr wrap="none" anchor="ctr"/>
            <a:lstStyle/>
            <a:p>
              <a:endParaRPr lang="zh-CN" altLang="en-US" sz="1400">
                <a:latin typeface="Times New Roman" pitchFamily="18" charset="0"/>
                <a:ea typeface="宋体" pitchFamily="2" charset="-122"/>
              </a:endParaRPr>
            </a:p>
          </p:txBody>
        </p:sp>
        <p:sp>
          <p:nvSpPr>
            <p:cNvPr id="55" name="Rectangle 54"/>
            <p:cNvSpPr>
              <a:spLocks noChangeArrowheads="1"/>
            </p:cNvSpPr>
            <p:nvPr/>
          </p:nvSpPr>
          <p:spPr bwMode="auto">
            <a:xfrm>
              <a:off x="2389519" y="4356057"/>
              <a:ext cx="221875" cy="187654"/>
            </a:xfrm>
            <a:prstGeom prst="rect">
              <a:avLst/>
            </a:prstGeom>
            <a:noFill/>
            <a:ln w="9525">
              <a:solidFill>
                <a:schemeClr val="tx1"/>
              </a:solidFill>
              <a:miter lim="800000"/>
              <a:headEnd/>
              <a:tailEnd/>
            </a:ln>
          </p:spPr>
          <p:txBody>
            <a:bodyPr wrap="none" anchor="ctr"/>
            <a:lstStyle/>
            <a:p>
              <a:endParaRPr lang="zh-CN" altLang="en-US" sz="1400">
                <a:latin typeface="Times New Roman" pitchFamily="18" charset="0"/>
                <a:ea typeface="宋体" pitchFamily="2" charset="-122"/>
              </a:endParaRPr>
            </a:p>
          </p:txBody>
        </p:sp>
        <p:sp>
          <p:nvSpPr>
            <p:cNvPr id="56" name="Rectangle 59"/>
            <p:cNvSpPr>
              <a:spLocks noChangeArrowheads="1"/>
            </p:cNvSpPr>
            <p:nvPr/>
          </p:nvSpPr>
          <p:spPr bwMode="auto">
            <a:xfrm>
              <a:off x="6332915" y="4109209"/>
              <a:ext cx="220514" cy="187654"/>
            </a:xfrm>
            <a:prstGeom prst="rect">
              <a:avLst/>
            </a:prstGeom>
            <a:noFill/>
            <a:ln w="9525">
              <a:solidFill>
                <a:schemeClr val="tx1"/>
              </a:solidFill>
              <a:miter lim="800000"/>
              <a:headEnd/>
              <a:tailEnd/>
            </a:ln>
          </p:spPr>
          <p:txBody>
            <a:bodyPr wrap="none" anchor="ctr"/>
            <a:lstStyle/>
            <a:p>
              <a:endParaRPr lang="zh-CN" altLang="en-US" sz="1400">
                <a:latin typeface="Times New Roman" pitchFamily="18" charset="0"/>
                <a:ea typeface="宋体" pitchFamily="2" charset="-122"/>
              </a:endParaRPr>
            </a:p>
          </p:txBody>
        </p:sp>
        <p:sp>
          <p:nvSpPr>
            <p:cNvPr id="57" name="Rectangle 61"/>
            <p:cNvSpPr>
              <a:spLocks noChangeArrowheads="1"/>
            </p:cNvSpPr>
            <p:nvPr/>
          </p:nvSpPr>
          <p:spPr bwMode="auto">
            <a:xfrm>
              <a:off x="6641908" y="4451773"/>
              <a:ext cx="220514" cy="187654"/>
            </a:xfrm>
            <a:prstGeom prst="rect">
              <a:avLst/>
            </a:prstGeom>
            <a:noFill/>
            <a:ln w="9525">
              <a:solidFill>
                <a:schemeClr val="tx1"/>
              </a:solidFill>
              <a:miter lim="800000"/>
              <a:headEnd/>
              <a:tailEnd/>
            </a:ln>
          </p:spPr>
          <p:txBody>
            <a:bodyPr wrap="none" anchor="ctr"/>
            <a:lstStyle/>
            <a:p>
              <a:endParaRPr lang="zh-CN" altLang="en-US" sz="1400">
                <a:latin typeface="Times New Roman" pitchFamily="18" charset="0"/>
                <a:ea typeface="宋体" pitchFamily="2" charset="-122"/>
              </a:endParaRPr>
            </a:p>
          </p:txBody>
        </p:sp>
        <p:sp>
          <p:nvSpPr>
            <p:cNvPr id="58" name="Rectangle 63"/>
            <p:cNvSpPr>
              <a:spLocks noChangeArrowheads="1"/>
            </p:cNvSpPr>
            <p:nvPr/>
          </p:nvSpPr>
          <p:spPr bwMode="auto">
            <a:xfrm>
              <a:off x="5222176" y="4737662"/>
              <a:ext cx="220514" cy="187655"/>
            </a:xfrm>
            <a:prstGeom prst="rect">
              <a:avLst/>
            </a:prstGeom>
            <a:solidFill>
              <a:schemeClr val="tx1"/>
            </a:solidFill>
            <a:ln w="19050">
              <a:solidFill>
                <a:schemeClr val="tx1"/>
              </a:solidFill>
              <a:miter lim="800000"/>
              <a:headEnd/>
              <a:tailEnd/>
            </a:ln>
          </p:spPr>
          <p:txBody>
            <a:bodyPr wrap="none" anchor="ctr"/>
            <a:lstStyle/>
            <a:p>
              <a:endParaRPr lang="zh-CN" altLang="en-US" sz="1400">
                <a:latin typeface="Times New Roman" pitchFamily="18" charset="0"/>
                <a:ea typeface="宋体" pitchFamily="2" charset="-122"/>
              </a:endParaRPr>
            </a:p>
          </p:txBody>
        </p:sp>
        <p:sp>
          <p:nvSpPr>
            <p:cNvPr id="59" name="Rectangle 67"/>
            <p:cNvSpPr>
              <a:spLocks noChangeArrowheads="1"/>
            </p:cNvSpPr>
            <p:nvPr/>
          </p:nvSpPr>
          <p:spPr bwMode="auto">
            <a:xfrm>
              <a:off x="3739829" y="5422789"/>
              <a:ext cx="220514" cy="187655"/>
            </a:xfrm>
            <a:prstGeom prst="rect">
              <a:avLst/>
            </a:prstGeom>
            <a:solidFill>
              <a:schemeClr val="tx1"/>
            </a:solidFill>
            <a:ln w="19050">
              <a:solidFill>
                <a:schemeClr val="tx1"/>
              </a:solidFill>
              <a:miter lim="800000"/>
              <a:headEnd/>
              <a:tailEnd/>
            </a:ln>
          </p:spPr>
          <p:txBody>
            <a:bodyPr wrap="none" anchor="ctr"/>
            <a:lstStyle/>
            <a:p>
              <a:endParaRPr lang="zh-CN" altLang="en-US" sz="1400">
                <a:latin typeface="Times New Roman" pitchFamily="18" charset="0"/>
                <a:ea typeface="宋体" pitchFamily="2" charset="-122"/>
              </a:endParaRPr>
            </a:p>
          </p:txBody>
        </p:sp>
        <p:sp>
          <p:nvSpPr>
            <p:cNvPr id="60" name="Rectangle 68"/>
            <p:cNvSpPr>
              <a:spLocks noChangeArrowheads="1"/>
            </p:cNvSpPr>
            <p:nvPr/>
          </p:nvSpPr>
          <p:spPr bwMode="auto">
            <a:xfrm>
              <a:off x="6072198" y="4357694"/>
              <a:ext cx="220514" cy="188914"/>
            </a:xfrm>
            <a:prstGeom prst="rect">
              <a:avLst/>
            </a:prstGeom>
            <a:solidFill>
              <a:schemeClr val="tx1"/>
            </a:solidFill>
            <a:ln w="19050">
              <a:solidFill>
                <a:schemeClr val="tx1"/>
              </a:solidFill>
              <a:miter lim="800000"/>
              <a:headEnd/>
              <a:tailEnd/>
            </a:ln>
          </p:spPr>
          <p:txBody>
            <a:bodyPr wrap="none" anchor="ctr"/>
            <a:lstStyle/>
            <a:p>
              <a:endParaRPr lang="zh-CN" altLang="en-US" sz="1400">
                <a:latin typeface="Times New Roman" pitchFamily="18" charset="0"/>
                <a:ea typeface="宋体" pitchFamily="2" charset="-122"/>
              </a:endParaRPr>
            </a:p>
          </p:txBody>
        </p:sp>
        <p:sp>
          <p:nvSpPr>
            <p:cNvPr id="61" name="Rectangle 69"/>
            <p:cNvSpPr>
              <a:spLocks noChangeArrowheads="1"/>
            </p:cNvSpPr>
            <p:nvPr/>
          </p:nvSpPr>
          <p:spPr bwMode="auto">
            <a:xfrm>
              <a:off x="4048821" y="5194834"/>
              <a:ext cx="220514" cy="187654"/>
            </a:xfrm>
            <a:prstGeom prst="rect">
              <a:avLst/>
            </a:prstGeom>
            <a:solidFill>
              <a:schemeClr val="tx1"/>
            </a:solidFill>
            <a:ln w="19050">
              <a:solidFill>
                <a:schemeClr val="tx1"/>
              </a:solidFill>
              <a:miter lim="800000"/>
              <a:headEnd/>
              <a:tailEnd/>
            </a:ln>
          </p:spPr>
          <p:txBody>
            <a:bodyPr wrap="none" anchor="ctr"/>
            <a:lstStyle/>
            <a:p>
              <a:endParaRPr lang="zh-CN" altLang="en-US" sz="1400">
                <a:latin typeface="Times New Roman" pitchFamily="18" charset="0"/>
                <a:ea typeface="宋体" pitchFamily="2" charset="-122"/>
              </a:endParaRPr>
            </a:p>
          </p:txBody>
        </p:sp>
        <p:sp>
          <p:nvSpPr>
            <p:cNvPr id="62" name="Rectangle 70"/>
            <p:cNvSpPr>
              <a:spLocks noChangeArrowheads="1"/>
            </p:cNvSpPr>
            <p:nvPr/>
          </p:nvSpPr>
          <p:spPr bwMode="auto">
            <a:xfrm>
              <a:off x="6286512" y="4643446"/>
              <a:ext cx="220514" cy="187654"/>
            </a:xfrm>
            <a:prstGeom prst="rect">
              <a:avLst/>
            </a:prstGeom>
            <a:solidFill>
              <a:schemeClr val="tx1"/>
            </a:solidFill>
            <a:ln w="19050">
              <a:solidFill>
                <a:schemeClr val="tx1"/>
              </a:solidFill>
              <a:miter lim="800000"/>
              <a:headEnd/>
              <a:tailEnd/>
            </a:ln>
          </p:spPr>
          <p:txBody>
            <a:bodyPr wrap="none" anchor="ctr"/>
            <a:lstStyle/>
            <a:p>
              <a:endParaRPr lang="zh-CN" altLang="en-US" sz="1400">
                <a:latin typeface="Times New Roman" pitchFamily="18" charset="0"/>
                <a:ea typeface="宋体" pitchFamily="2" charset="-122"/>
              </a:endParaRPr>
            </a:p>
          </p:txBody>
        </p:sp>
        <p:sp>
          <p:nvSpPr>
            <p:cNvPr id="63" name="Rectangle 71"/>
            <p:cNvSpPr>
              <a:spLocks noChangeArrowheads="1"/>
            </p:cNvSpPr>
            <p:nvPr/>
          </p:nvSpPr>
          <p:spPr bwMode="auto">
            <a:xfrm>
              <a:off x="5653677" y="4395098"/>
              <a:ext cx="219153" cy="187655"/>
            </a:xfrm>
            <a:prstGeom prst="rect">
              <a:avLst/>
            </a:prstGeom>
            <a:solidFill>
              <a:schemeClr val="tx1"/>
            </a:solidFill>
            <a:ln w="19050">
              <a:solidFill>
                <a:schemeClr val="tx1"/>
              </a:solidFill>
              <a:miter lim="800000"/>
              <a:headEnd/>
              <a:tailEnd/>
            </a:ln>
          </p:spPr>
          <p:txBody>
            <a:bodyPr wrap="none" anchor="ctr"/>
            <a:lstStyle/>
            <a:p>
              <a:endParaRPr lang="zh-CN" altLang="en-US" sz="1400">
                <a:latin typeface="Times New Roman" pitchFamily="18" charset="0"/>
                <a:ea typeface="宋体" pitchFamily="2" charset="-122"/>
              </a:endParaRPr>
            </a:p>
          </p:txBody>
        </p:sp>
        <p:sp>
          <p:nvSpPr>
            <p:cNvPr id="64" name="Text Box 72"/>
            <p:cNvSpPr txBox="1">
              <a:spLocks noChangeArrowheads="1"/>
            </p:cNvSpPr>
            <p:nvPr/>
          </p:nvSpPr>
          <p:spPr bwMode="auto">
            <a:xfrm>
              <a:off x="3857620" y="1500174"/>
              <a:ext cx="1261884" cy="307777"/>
            </a:xfrm>
            <a:prstGeom prst="rect">
              <a:avLst/>
            </a:prstGeom>
            <a:noFill/>
            <a:ln w="9525">
              <a:noFill/>
              <a:miter lim="800000"/>
              <a:headEnd/>
              <a:tailEnd/>
            </a:ln>
          </p:spPr>
          <p:txBody>
            <a:bodyPr wrap="none">
              <a:spAutoFit/>
            </a:bodyPr>
            <a:lstStyle/>
            <a:p>
              <a:r>
                <a:rPr kumimoji="1" lang="zh-CN" altLang="en-US" sz="1400" dirty="0">
                  <a:latin typeface="Times New Roman" pitchFamily="18" charset="0"/>
                  <a:ea typeface="宋体" pitchFamily="2" charset="-122"/>
                </a:rPr>
                <a:t>网络核心部分</a:t>
              </a:r>
            </a:p>
          </p:txBody>
        </p:sp>
        <p:sp>
          <p:nvSpPr>
            <p:cNvPr id="65" name="Line 73"/>
            <p:cNvSpPr>
              <a:spLocks noChangeShapeType="1"/>
            </p:cNvSpPr>
            <p:nvPr/>
          </p:nvSpPr>
          <p:spPr bwMode="auto">
            <a:xfrm>
              <a:off x="4638222" y="1827131"/>
              <a:ext cx="108896" cy="376568"/>
            </a:xfrm>
            <a:prstGeom prst="line">
              <a:avLst/>
            </a:prstGeom>
            <a:noFill/>
            <a:ln w="9525">
              <a:solidFill>
                <a:schemeClr val="tx1"/>
              </a:solidFill>
              <a:round/>
              <a:headEnd/>
              <a:tailEnd/>
            </a:ln>
          </p:spPr>
          <p:txBody>
            <a:bodyPr/>
            <a:lstStyle/>
            <a:p>
              <a:endParaRPr lang="zh-CN" altLang="en-US" sz="1400">
                <a:latin typeface="Times New Roman" pitchFamily="18" charset="0"/>
                <a:ea typeface="宋体" pitchFamily="2" charset="-122"/>
              </a:endParaRPr>
            </a:p>
          </p:txBody>
        </p:sp>
        <p:sp>
          <p:nvSpPr>
            <p:cNvPr id="66" name="Text Box 74"/>
            <p:cNvSpPr txBox="1">
              <a:spLocks noChangeArrowheads="1"/>
            </p:cNvSpPr>
            <p:nvPr/>
          </p:nvSpPr>
          <p:spPr bwMode="auto">
            <a:xfrm>
              <a:off x="1357290" y="3714752"/>
              <a:ext cx="543739" cy="307777"/>
            </a:xfrm>
            <a:prstGeom prst="rect">
              <a:avLst/>
            </a:prstGeom>
            <a:noFill/>
            <a:ln w="9525">
              <a:noFill/>
              <a:miter lim="800000"/>
              <a:headEnd/>
              <a:tailEnd/>
            </a:ln>
          </p:spPr>
          <p:txBody>
            <a:bodyPr wrap="none">
              <a:spAutoFit/>
            </a:bodyPr>
            <a:lstStyle/>
            <a:p>
              <a:r>
                <a:rPr kumimoji="1" lang="zh-CN" altLang="en-US" sz="1400" dirty="0">
                  <a:latin typeface="Times New Roman" pitchFamily="18" charset="0"/>
                  <a:ea typeface="宋体" pitchFamily="2" charset="-122"/>
                </a:rPr>
                <a:t>主机</a:t>
              </a:r>
            </a:p>
          </p:txBody>
        </p:sp>
        <p:sp>
          <p:nvSpPr>
            <p:cNvPr id="67" name="Rectangle 55"/>
            <p:cNvSpPr>
              <a:spLocks noChangeArrowheads="1"/>
            </p:cNvSpPr>
            <p:nvPr/>
          </p:nvSpPr>
          <p:spPr bwMode="auto">
            <a:xfrm>
              <a:off x="2826464" y="3473199"/>
              <a:ext cx="220514" cy="187655"/>
            </a:xfrm>
            <a:prstGeom prst="rect">
              <a:avLst/>
            </a:prstGeom>
            <a:noFill/>
            <a:ln w="9525">
              <a:solidFill>
                <a:schemeClr val="tx1"/>
              </a:solidFill>
              <a:miter lim="800000"/>
              <a:headEnd/>
              <a:tailEnd/>
            </a:ln>
          </p:spPr>
          <p:txBody>
            <a:bodyPr wrap="none" anchor="ctr"/>
            <a:lstStyle/>
            <a:p>
              <a:endParaRPr lang="zh-CN" altLang="en-US" sz="1400">
                <a:latin typeface="Times New Roman" pitchFamily="18" charset="0"/>
                <a:ea typeface="宋体" pitchFamily="2" charset="-122"/>
              </a:endParaRPr>
            </a:p>
          </p:txBody>
        </p:sp>
        <p:sp>
          <p:nvSpPr>
            <p:cNvPr id="68" name="Rectangle 55"/>
            <p:cNvSpPr>
              <a:spLocks noChangeArrowheads="1"/>
            </p:cNvSpPr>
            <p:nvPr/>
          </p:nvSpPr>
          <p:spPr bwMode="auto">
            <a:xfrm>
              <a:off x="3026560" y="3150786"/>
              <a:ext cx="220514" cy="187655"/>
            </a:xfrm>
            <a:prstGeom prst="rect">
              <a:avLst/>
            </a:prstGeom>
            <a:noFill/>
            <a:ln w="9525">
              <a:solidFill>
                <a:schemeClr val="tx1"/>
              </a:solidFill>
              <a:miter lim="800000"/>
              <a:headEnd/>
              <a:tailEnd/>
            </a:ln>
          </p:spPr>
          <p:txBody>
            <a:bodyPr wrap="none" anchor="ctr"/>
            <a:lstStyle/>
            <a:p>
              <a:endParaRPr lang="zh-CN" altLang="en-US" sz="1400">
                <a:latin typeface="Times New Roman" pitchFamily="18" charset="0"/>
                <a:ea typeface="宋体" pitchFamily="2" charset="-122"/>
              </a:endParaRPr>
            </a:p>
          </p:txBody>
        </p:sp>
        <p:sp>
          <p:nvSpPr>
            <p:cNvPr id="69" name="Rectangle 55"/>
            <p:cNvSpPr>
              <a:spLocks noChangeArrowheads="1"/>
            </p:cNvSpPr>
            <p:nvPr/>
          </p:nvSpPr>
          <p:spPr bwMode="auto">
            <a:xfrm>
              <a:off x="4112798" y="2905199"/>
              <a:ext cx="220514" cy="186395"/>
            </a:xfrm>
            <a:prstGeom prst="rect">
              <a:avLst/>
            </a:prstGeom>
            <a:noFill/>
            <a:ln w="9525">
              <a:solidFill>
                <a:schemeClr val="tx1"/>
              </a:solidFill>
              <a:miter lim="800000"/>
              <a:headEnd/>
              <a:tailEnd/>
            </a:ln>
          </p:spPr>
          <p:txBody>
            <a:bodyPr wrap="none" anchor="ctr"/>
            <a:lstStyle/>
            <a:p>
              <a:endParaRPr lang="zh-CN" altLang="en-US" sz="1400">
                <a:latin typeface="Times New Roman" pitchFamily="18" charset="0"/>
                <a:ea typeface="宋体" pitchFamily="2" charset="-122"/>
              </a:endParaRPr>
            </a:p>
          </p:txBody>
        </p:sp>
        <p:sp>
          <p:nvSpPr>
            <p:cNvPr id="70" name="Rectangle 55"/>
            <p:cNvSpPr>
              <a:spLocks noChangeArrowheads="1"/>
            </p:cNvSpPr>
            <p:nvPr/>
          </p:nvSpPr>
          <p:spPr bwMode="auto">
            <a:xfrm>
              <a:off x="4526603" y="3075221"/>
              <a:ext cx="220514" cy="187655"/>
            </a:xfrm>
            <a:prstGeom prst="rect">
              <a:avLst/>
            </a:prstGeom>
            <a:noFill/>
            <a:ln w="9525">
              <a:solidFill>
                <a:schemeClr val="tx1"/>
              </a:solidFill>
              <a:miter lim="800000"/>
              <a:headEnd/>
              <a:tailEnd/>
            </a:ln>
          </p:spPr>
          <p:txBody>
            <a:bodyPr wrap="none" anchor="ctr"/>
            <a:lstStyle/>
            <a:p>
              <a:endParaRPr lang="zh-CN" altLang="en-US" sz="1400">
                <a:latin typeface="Times New Roman" pitchFamily="18" charset="0"/>
                <a:ea typeface="宋体" pitchFamily="2" charset="-122"/>
              </a:endParaRPr>
            </a:p>
          </p:txBody>
        </p:sp>
        <p:sp>
          <p:nvSpPr>
            <p:cNvPr id="71" name="Rectangle 55"/>
            <p:cNvSpPr>
              <a:spLocks noChangeArrowheads="1"/>
            </p:cNvSpPr>
            <p:nvPr/>
          </p:nvSpPr>
          <p:spPr bwMode="auto">
            <a:xfrm>
              <a:off x="4982605" y="3212499"/>
              <a:ext cx="220514" cy="187654"/>
            </a:xfrm>
            <a:prstGeom prst="rect">
              <a:avLst/>
            </a:prstGeom>
            <a:noFill/>
            <a:ln w="9525">
              <a:solidFill>
                <a:schemeClr val="tx1"/>
              </a:solidFill>
              <a:miter lim="800000"/>
              <a:headEnd/>
              <a:tailEnd/>
            </a:ln>
          </p:spPr>
          <p:txBody>
            <a:bodyPr wrap="none" anchor="ctr"/>
            <a:lstStyle/>
            <a:p>
              <a:endParaRPr lang="zh-CN" altLang="en-US" sz="1400">
                <a:latin typeface="Times New Roman" pitchFamily="18" charset="0"/>
                <a:ea typeface="宋体" pitchFamily="2" charset="-122"/>
              </a:endParaRPr>
            </a:p>
          </p:txBody>
        </p:sp>
        <p:sp>
          <p:nvSpPr>
            <p:cNvPr id="72" name="Rectangle 55"/>
            <p:cNvSpPr>
              <a:spLocks noChangeArrowheads="1"/>
            </p:cNvSpPr>
            <p:nvPr/>
          </p:nvSpPr>
          <p:spPr bwMode="auto">
            <a:xfrm>
              <a:off x="5395049" y="3403931"/>
              <a:ext cx="220514" cy="187654"/>
            </a:xfrm>
            <a:prstGeom prst="rect">
              <a:avLst/>
            </a:prstGeom>
            <a:noFill/>
            <a:ln w="9525">
              <a:solidFill>
                <a:schemeClr val="tx1"/>
              </a:solidFill>
              <a:miter lim="800000"/>
              <a:headEnd/>
              <a:tailEnd/>
            </a:ln>
          </p:spPr>
          <p:txBody>
            <a:bodyPr wrap="none" anchor="ctr"/>
            <a:lstStyle/>
            <a:p>
              <a:endParaRPr lang="zh-CN" altLang="en-US" sz="1400">
                <a:latin typeface="Times New Roman" pitchFamily="18" charset="0"/>
                <a:ea typeface="宋体" pitchFamily="2" charset="-122"/>
              </a:endParaRPr>
            </a:p>
          </p:txBody>
        </p:sp>
      </p:grpSp>
    </p:spTree>
    <p:extLst>
      <p:ext uri="{BB962C8B-B14F-4D97-AF65-F5344CB8AC3E}">
        <p14:creationId xmlns:p14="http://schemas.microsoft.com/office/powerpoint/2010/main" val="13174357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b="0" dirty="0"/>
              <a:t>网络的体系结构</a:t>
            </a:r>
            <a:r>
              <a:rPr lang="en-US" altLang="zh-CN" b="0" dirty="0"/>
              <a:t>(architecture)</a:t>
            </a:r>
            <a:r>
              <a:rPr lang="zh-CN" altLang="en-US" b="0" dirty="0"/>
              <a:t>：计算机网络的各层及其协议的集合</a:t>
            </a:r>
            <a:endParaRPr lang="en-US" altLang="zh-CN" b="0" dirty="0"/>
          </a:p>
          <a:p>
            <a:pPr lvl="1"/>
            <a:r>
              <a:rPr lang="zh-CN" altLang="en-US" b="0" dirty="0"/>
              <a:t>协议（</a:t>
            </a:r>
            <a:r>
              <a:rPr lang="en-US" altLang="zh-CN" b="0" dirty="0"/>
              <a:t>protocol</a:t>
            </a:r>
            <a:r>
              <a:rPr lang="zh-CN" altLang="en-US" b="0" dirty="0"/>
              <a:t>）：为网络中互相通信的对等实体间进行数据交换而建立的规则、标准或约定，三要素：</a:t>
            </a:r>
            <a:r>
              <a:rPr lang="zh-CN" altLang="en-US" b="0" dirty="0">
                <a:solidFill>
                  <a:srgbClr val="FF0000"/>
                </a:solidFill>
              </a:rPr>
              <a:t>语法、语义、同步</a:t>
            </a:r>
          </a:p>
        </p:txBody>
      </p:sp>
      <p:sp>
        <p:nvSpPr>
          <p:cNvPr id="3" name="标题 2"/>
          <p:cNvSpPr>
            <a:spLocks noGrp="1"/>
          </p:cNvSpPr>
          <p:nvPr>
            <p:ph type="title"/>
          </p:nvPr>
        </p:nvSpPr>
        <p:spPr/>
        <p:txBody>
          <a:bodyPr/>
          <a:lstStyle/>
          <a:p>
            <a:r>
              <a:rPr lang="zh-CN" altLang="en-US" dirty="0"/>
              <a:t>网络体系结构</a:t>
            </a:r>
          </a:p>
        </p:txBody>
      </p:sp>
    </p:spTree>
    <p:extLst>
      <p:ext uri="{BB962C8B-B14F-4D97-AF65-F5344CB8AC3E}">
        <p14:creationId xmlns:p14="http://schemas.microsoft.com/office/powerpoint/2010/main" val="5603949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a:t>网络体系结构</a:t>
            </a:r>
          </a:p>
        </p:txBody>
      </p:sp>
      <p:pic>
        <p:nvPicPr>
          <p:cNvPr id="4" name="图片 3"/>
          <p:cNvPicPr>
            <a:picLocks noChangeAspect="1"/>
          </p:cNvPicPr>
          <p:nvPr/>
        </p:nvPicPr>
        <p:blipFill>
          <a:blip r:embed="rId2" cstate="print"/>
          <a:srcRect/>
          <a:stretch>
            <a:fillRect/>
          </a:stretch>
        </p:blipFill>
        <p:spPr bwMode="auto">
          <a:xfrm>
            <a:off x="851338" y="1323098"/>
            <a:ext cx="7579875" cy="4856986"/>
          </a:xfrm>
          <a:prstGeom prst="rect">
            <a:avLst/>
          </a:prstGeom>
          <a:noFill/>
          <a:ln w="9525">
            <a:noFill/>
            <a:miter lim="800000"/>
            <a:headEnd/>
            <a:tailEnd/>
          </a:ln>
        </p:spPr>
      </p:pic>
    </p:spTree>
    <p:extLst>
      <p:ext uri="{BB962C8B-B14F-4D97-AF65-F5344CB8AC3E}">
        <p14:creationId xmlns:p14="http://schemas.microsoft.com/office/powerpoint/2010/main" val="15144684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zh-CN" altLang="en-US"/>
              <a:t>内容提纲</a:t>
            </a:r>
            <a:endParaRPr lang="en-US" altLang="zh-CN">
              <a:solidFill>
                <a:schemeClr val="accent1"/>
              </a:solidFill>
            </a:endParaRPr>
          </a:p>
        </p:txBody>
      </p:sp>
      <p:sp>
        <p:nvSpPr>
          <p:cNvPr id="30723" name="Text Box 3"/>
          <p:cNvSpPr txBox="1">
            <a:spLocks noChangeArrowheads="1"/>
          </p:cNvSpPr>
          <p:nvPr/>
        </p:nvSpPr>
        <p:spPr bwMode="auto">
          <a:xfrm>
            <a:off x="1660525" y="722313"/>
            <a:ext cx="184150" cy="366712"/>
          </a:xfrm>
          <a:prstGeom prst="rect">
            <a:avLst/>
          </a:prstGeom>
          <a:noFill/>
          <a:ln w="9525">
            <a:noFill/>
            <a:miter lim="800000"/>
            <a:headEnd/>
            <a:tailEnd/>
          </a:ln>
        </p:spPr>
        <p:txBody>
          <a:bodyPr wrap="none">
            <a:spAutoFit/>
          </a:bodyPr>
          <a:lstStyle/>
          <a:p>
            <a:endParaRPr lang="zh-CN" altLang="en-US">
              <a:ea typeface="宋体" charset="-122"/>
            </a:endParaRPr>
          </a:p>
        </p:txBody>
      </p:sp>
      <p:sp>
        <p:nvSpPr>
          <p:cNvPr id="30724" name="Line 4"/>
          <p:cNvSpPr>
            <a:spLocks noChangeShapeType="1"/>
          </p:cNvSpPr>
          <p:nvPr/>
        </p:nvSpPr>
        <p:spPr bwMode="gray">
          <a:xfrm>
            <a:off x="1252538" y="3382750"/>
            <a:ext cx="6167437" cy="7937"/>
          </a:xfrm>
          <a:prstGeom prst="line">
            <a:avLst/>
          </a:prstGeom>
          <a:noFill/>
          <a:ln w="25400">
            <a:solidFill>
              <a:srgbClr val="C0C0C0"/>
            </a:solidFill>
            <a:prstDash val="sysDot"/>
            <a:round/>
            <a:headEnd/>
            <a:tailEnd type="oval" w="med" len="med"/>
          </a:ln>
        </p:spPr>
        <p:txBody>
          <a:bodyPr wrap="none" anchor="ctr"/>
          <a:lstStyle/>
          <a:p>
            <a:endParaRPr lang="zh-CN" altLang="en-US"/>
          </a:p>
        </p:txBody>
      </p:sp>
      <p:sp>
        <p:nvSpPr>
          <p:cNvPr id="30725" name="Rectangle 5"/>
          <p:cNvSpPr>
            <a:spLocks noChangeArrowheads="1"/>
          </p:cNvSpPr>
          <p:nvPr/>
        </p:nvSpPr>
        <p:spPr bwMode="gray">
          <a:xfrm rot="3419336">
            <a:off x="979487" y="2806488"/>
            <a:ext cx="479425" cy="520700"/>
          </a:xfrm>
          <a:prstGeom prst="rect">
            <a:avLst/>
          </a:prstGeom>
          <a:solidFill>
            <a:srgbClr val="9369E7"/>
          </a:solidFill>
          <a:ln w="9525">
            <a:miter lim="800000"/>
            <a:headEnd/>
            <a:tailEnd/>
          </a:ln>
          <a:scene3d>
            <a:camera prst="legacyPerspectiveFront">
              <a:rot lat="0" lon="1500000" rev="0"/>
            </a:camera>
            <a:lightRig rig="legacyFlat4" dir="b"/>
          </a:scene3d>
          <a:sp3d extrusionH="430200" prstMaterial="legacyMatte">
            <a:bevelT w="13500" h="13500" prst="angle"/>
            <a:bevelB w="13500" h="13500" prst="angle"/>
            <a:extrusionClr>
              <a:srgbClr val="9369E7"/>
            </a:extrusionClr>
          </a:sp3d>
        </p:spPr>
        <p:txBody>
          <a:bodyPr wrap="none" anchor="ctr">
            <a:flatTx/>
          </a:bodyPr>
          <a:lstStyle/>
          <a:p>
            <a:endParaRPr lang="zh-CN" altLang="en-US"/>
          </a:p>
        </p:txBody>
      </p:sp>
      <p:sp>
        <p:nvSpPr>
          <p:cNvPr id="30726" name="Text Box 6"/>
          <p:cNvSpPr txBox="1">
            <a:spLocks noChangeArrowheads="1"/>
          </p:cNvSpPr>
          <p:nvPr/>
        </p:nvSpPr>
        <p:spPr bwMode="gray">
          <a:xfrm>
            <a:off x="1785938" y="2769975"/>
            <a:ext cx="5643562" cy="579437"/>
          </a:xfrm>
          <a:prstGeom prst="rect">
            <a:avLst/>
          </a:prstGeom>
          <a:solidFill>
            <a:srgbClr val="FF6600"/>
          </a:solidFill>
          <a:ln w="9525" algn="ctr">
            <a:noFill/>
            <a:miter lim="800000"/>
            <a:headEnd/>
            <a:tailEnd/>
          </a:ln>
        </p:spPr>
        <p:txBody>
          <a:bodyPr wrap="square">
            <a:spAutoFit/>
          </a:bodyPr>
          <a:lstStyle>
            <a:defPPr>
              <a:defRPr lang="zh-CN"/>
            </a:defPPr>
            <a:lvl1pPr eaLnBrk="0" hangingPunct="0">
              <a:defRPr sz="3200">
                <a:solidFill>
                  <a:srgbClr val="000000"/>
                </a:solidFill>
                <a:latin typeface="Times New Roman" panose="02020603050405020304" pitchFamily="18" charset="0"/>
                <a:ea typeface="黑体" panose="02010609060101010101" pitchFamily="49" charset="-122"/>
              </a:defRPr>
            </a:lvl1pPr>
          </a:lstStyle>
          <a:p>
            <a:r>
              <a:rPr lang="zh-CN" altLang="en-US" dirty="0"/>
              <a:t>网络体系结构的脆弱性</a:t>
            </a:r>
          </a:p>
        </p:txBody>
      </p:sp>
      <p:sp>
        <p:nvSpPr>
          <p:cNvPr id="30727" name="Text Box 7"/>
          <p:cNvSpPr txBox="1">
            <a:spLocks noChangeArrowheads="1"/>
          </p:cNvSpPr>
          <p:nvPr/>
        </p:nvSpPr>
        <p:spPr bwMode="gray">
          <a:xfrm>
            <a:off x="1057275" y="2838237"/>
            <a:ext cx="354013" cy="457200"/>
          </a:xfrm>
          <a:prstGeom prst="rect">
            <a:avLst/>
          </a:prstGeom>
          <a:noFill/>
          <a:ln w="9525" algn="ctr">
            <a:noFill/>
            <a:miter lim="800000"/>
            <a:headEnd/>
            <a:tailEnd/>
          </a:ln>
        </p:spPr>
        <p:txBody>
          <a:bodyPr wrap="none">
            <a:spAutoFit/>
          </a:bodyPr>
          <a:lstStyle/>
          <a:p>
            <a:pPr algn="ctr" eaLnBrk="0" hangingPunct="0"/>
            <a:r>
              <a:rPr lang="en-US" altLang="zh-CN" sz="2400" b="1">
                <a:solidFill>
                  <a:schemeClr val="bg1"/>
                </a:solidFill>
                <a:ea typeface="宋体" charset="-122"/>
              </a:rPr>
              <a:t>2</a:t>
            </a:r>
          </a:p>
        </p:txBody>
      </p:sp>
      <p:sp>
        <p:nvSpPr>
          <p:cNvPr id="30728" name="Rectangle 8"/>
          <p:cNvSpPr>
            <a:spLocks noChangeArrowheads="1"/>
          </p:cNvSpPr>
          <p:nvPr/>
        </p:nvSpPr>
        <p:spPr bwMode="gray">
          <a:xfrm rot="3419336">
            <a:off x="973137" y="3884896"/>
            <a:ext cx="479425" cy="520700"/>
          </a:xfrm>
          <a:prstGeom prst="rect">
            <a:avLst/>
          </a:prstGeom>
          <a:solidFill>
            <a:srgbClr val="669900"/>
          </a:solidFill>
          <a:ln w="9525">
            <a:miter lim="800000"/>
            <a:headEnd/>
            <a:tailEnd/>
          </a:ln>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p>
        </p:txBody>
      </p:sp>
      <p:sp>
        <p:nvSpPr>
          <p:cNvPr id="30729" name="Text Box 9"/>
          <p:cNvSpPr txBox="1">
            <a:spLocks noChangeArrowheads="1"/>
          </p:cNvSpPr>
          <p:nvPr/>
        </p:nvSpPr>
        <p:spPr bwMode="gray">
          <a:xfrm>
            <a:off x="1779588" y="3848383"/>
            <a:ext cx="5497512" cy="579438"/>
          </a:xfrm>
          <a:prstGeom prst="rect">
            <a:avLst/>
          </a:prstGeom>
          <a:noFill/>
          <a:ln w="9525" algn="ctr">
            <a:noFill/>
            <a:miter lim="800000"/>
            <a:headEnd/>
            <a:tailEnd/>
          </a:ln>
        </p:spPr>
        <p:txBody>
          <a:bodyPr>
            <a:spAutoFit/>
          </a:bodyPr>
          <a:lstStyle/>
          <a:p>
            <a:pPr eaLnBrk="0" hangingPunct="0"/>
            <a:r>
              <a:rPr lang="zh-CN" altLang="en-US" sz="3200" dirty="0">
                <a:solidFill>
                  <a:srgbClr val="000000"/>
                </a:solidFill>
                <a:latin typeface="Times New Roman" panose="02020603050405020304" pitchFamily="18" charset="0"/>
                <a:cs typeface="Times New Roman" panose="02020603050405020304" pitchFamily="18" charset="0"/>
              </a:rPr>
              <a:t>典型网络协议的脆弱性</a:t>
            </a:r>
            <a:endParaRPr lang="zh-CN" altLang="en-US" sz="3200" b="1" dirty="0">
              <a:solidFill>
                <a:srgbClr val="000000"/>
              </a:solidFill>
              <a:latin typeface="Times New Roman" panose="02020603050405020304" pitchFamily="18" charset="0"/>
              <a:cs typeface="Times New Roman" panose="02020603050405020304" pitchFamily="18" charset="0"/>
            </a:endParaRPr>
          </a:p>
        </p:txBody>
      </p:sp>
      <p:sp>
        <p:nvSpPr>
          <p:cNvPr id="30730" name="Text Box 10"/>
          <p:cNvSpPr txBox="1">
            <a:spLocks noChangeArrowheads="1"/>
          </p:cNvSpPr>
          <p:nvPr/>
        </p:nvSpPr>
        <p:spPr bwMode="gray">
          <a:xfrm>
            <a:off x="1050925" y="3916646"/>
            <a:ext cx="354013" cy="457200"/>
          </a:xfrm>
          <a:prstGeom prst="rect">
            <a:avLst/>
          </a:prstGeom>
          <a:noFill/>
          <a:ln w="9525" algn="ctr">
            <a:noFill/>
            <a:miter lim="800000"/>
            <a:headEnd/>
            <a:tailEnd/>
          </a:ln>
        </p:spPr>
        <p:txBody>
          <a:bodyPr wrap="none">
            <a:spAutoFit/>
          </a:bodyPr>
          <a:lstStyle/>
          <a:p>
            <a:pPr algn="ctr" eaLnBrk="0" hangingPunct="0"/>
            <a:r>
              <a:rPr lang="en-US" altLang="zh-CN" sz="2400" b="1">
                <a:solidFill>
                  <a:schemeClr val="bg1"/>
                </a:solidFill>
                <a:ea typeface="宋体" charset="-122"/>
              </a:rPr>
              <a:t>3</a:t>
            </a:r>
          </a:p>
        </p:txBody>
      </p:sp>
      <p:sp>
        <p:nvSpPr>
          <p:cNvPr id="30731" name="Line 11"/>
          <p:cNvSpPr>
            <a:spLocks noChangeShapeType="1"/>
          </p:cNvSpPr>
          <p:nvPr/>
        </p:nvSpPr>
        <p:spPr bwMode="gray">
          <a:xfrm>
            <a:off x="1252538" y="4470683"/>
            <a:ext cx="6167437" cy="7938"/>
          </a:xfrm>
          <a:prstGeom prst="line">
            <a:avLst/>
          </a:prstGeom>
          <a:noFill/>
          <a:ln w="25400">
            <a:solidFill>
              <a:srgbClr val="C0C0C0"/>
            </a:solidFill>
            <a:prstDash val="sysDot"/>
            <a:round/>
            <a:headEnd/>
            <a:tailEnd type="oval" w="med" len="med"/>
          </a:ln>
        </p:spPr>
        <p:txBody>
          <a:bodyPr wrap="none" anchor="ctr"/>
          <a:lstStyle/>
          <a:p>
            <a:endParaRPr lang="zh-CN" altLang="en-US"/>
          </a:p>
        </p:txBody>
      </p:sp>
      <p:sp>
        <p:nvSpPr>
          <p:cNvPr id="30732" name="Rectangle 12"/>
          <p:cNvSpPr>
            <a:spLocks noChangeArrowheads="1"/>
          </p:cNvSpPr>
          <p:nvPr/>
        </p:nvSpPr>
        <p:spPr bwMode="gray">
          <a:xfrm rot="3419336">
            <a:off x="987425" y="4933469"/>
            <a:ext cx="479425" cy="520700"/>
          </a:xfrm>
          <a:prstGeom prst="rect">
            <a:avLst/>
          </a:prstGeom>
          <a:solidFill>
            <a:srgbClr val="9369E7"/>
          </a:solidFill>
          <a:ln w="9525">
            <a:miter lim="800000"/>
            <a:headEnd/>
            <a:tailEnd/>
          </a:ln>
          <a:scene3d>
            <a:camera prst="legacyPerspectiveFront">
              <a:rot lat="0" lon="1500000" rev="0"/>
            </a:camera>
            <a:lightRig rig="legacyFlat4" dir="b"/>
          </a:scene3d>
          <a:sp3d extrusionH="430200" prstMaterial="legacyMatte">
            <a:bevelT w="13500" h="13500" prst="angle"/>
            <a:bevelB w="13500" h="13500" prst="angle"/>
            <a:extrusionClr>
              <a:srgbClr val="9369E7"/>
            </a:extrusionClr>
          </a:sp3d>
        </p:spPr>
        <p:txBody>
          <a:bodyPr wrap="none" anchor="ctr">
            <a:flatTx/>
          </a:bodyPr>
          <a:lstStyle/>
          <a:p>
            <a:endParaRPr lang="zh-CN" altLang="en-US"/>
          </a:p>
        </p:txBody>
      </p:sp>
      <p:sp>
        <p:nvSpPr>
          <p:cNvPr id="30733" name="Text Box 13"/>
          <p:cNvSpPr txBox="1">
            <a:spLocks noChangeArrowheads="1"/>
          </p:cNvSpPr>
          <p:nvPr/>
        </p:nvSpPr>
        <p:spPr bwMode="gray">
          <a:xfrm>
            <a:off x="1785938" y="4912381"/>
            <a:ext cx="5634036" cy="579438"/>
          </a:xfrm>
          <a:prstGeom prst="rect">
            <a:avLst/>
          </a:prstGeom>
          <a:noFill/>
          <a:ln w="9525" algn="ctr">
            <a:noFill/>
            <a:miter lim="800000"/>
            <a:headEnd/>
            <a:tailEnd/>
          </a:ln>
        </p:spPr>
        <p:txBody>
          <a:bodyPr wrap="square">
            <a:spAutoFit/>
          </a:bodyPr>
          <a:lstStyle/>
          <a:p>
            <a:pPr eaLnBrk="0" hangingPunct="0"/>
            <a:r>
              <a:rPr lang="zh-CN" altLang="en-US" sz="3200" dirty="0">
                <a:solidFill>
                  <a:srgbClr val="000000"/>
                </a:solidFill>
              </a:rPr>
              <a:t>计算机系统安全分析</a:t>
            </a:r>
            <a:endParaRPr lang="zh-CN" altLang="en-US" sz="3200" b="1" dirty="0">
              <a:solidFill>
                <a:srgbClr val="000000"/>
              </a:solidFill>
            </a:endParaRPr>
          </a:p>
        </p:txBody>
      </p:sp>
      <p:sp>
        <p:nvSpPr>
          <p:cNvPr id="30734" name="Text Box 14"/>
          <p:cNvSpPr txBox="1">
            <a:spLocks noChangeArrowheads="1"/>
          </p:cNvSpPr>
          <p:nvPr/>
        </p:nvSpPr>
        <p:spPr bwMode="gray">
          <a:xfrm>
            <a:off x="1041400" y="4974744"/>
            <a:ext cx="355600" cy="461962"/>
          </a:xfrm>
          <a:prstGeom prst="rect">
            <a:avLst/>
          </a:prstGeom>
          <a:noFill/>
          <a:ln w="9525" algn="ctr">
            <a:noFill/>
            <a:miter lim="800000"/>
            <a:headEnd/>
            <a:tailEnd/>
          </a:ln>
        </p:spPr>
        <p:txBody>
          <a:bodyPr wrap="none">
            <a:spAutoFit/>
          </a:bodyPr>
          <a:lstStyle/>
          <a:p>
            <a:pPr algn="ctr" eaLnBrk="0" hangingPunct="0"/>
            <a:r>
              <a:rPr lang="en-US" altLang="zh-CN" sz="2400" b="1">
                <a:solidFill>
                  <a:schemeClr val="bg1"/>
                </a:solidFill>
                <a:ea typeface="宋体" charset="-122"/>
              </a:rPr>
              <a:t>4</a:t>
            </a:r>
          </a:p>
        </p:txBody>
      </p:sp>
      <p:sp>
        <p:nvSpPr>
          <p:cNvPr id="30735" name="Line 15"/>
          <p:cNvSpPr>
            <a:spLocks noChangeShapeType="1"/>
          </p:cNvSpPr>
          <p:nvPr/>
        </p:nvSpPr>
        <p:spPr bwMode="gray">
          <a:xfrm>
            <a:off x="1262063" y="5542619"/>
            <a:ext cx="6167437" cy="7938"/>
          </a:xfrm>
          <a:prstGeom prst="line">
            <a:avLst/>
          </a:prstGeom>
          <a:noFill/>
          <a:ln w="25400">
            <a:solidFill>
              <a:srgbClr val="C0C0C0"/>
            </a:solidFill>
            <a:prstDash val="sysDot"/>
            <a:round/>
            <a:headEnd/>
            <a:tailEnd type="oval" w="med" len="med"/>
          </a:ln>
        </p:spPr>
        <p:txBody>
          <a:bodyPr wrap="none" anchor="ctr"/>
          <a:lstStyle/>
          <a:p>
            <a:endParaRPr lang="zh-CN" altLang="en-US"/>
          </a:p>
        </p:txBody>
      </p:sp>
      <p:sp>
        <p:nvSpPr>
          <p:cNvPr id="30736" name="Rectangle 16"/>
          <p:cNvSpPr>
            <a:spLocks noChangeArrowheads="1"/>
          </p:cNvSpPr>
          <p:nvPr/>
        </p:nvSpPr>
        <p:spPr bwMode="gray">
          <a:xfrm rot="3419336">
            <a:off x="979487" y="1764832"/>
            <a:ext cx="479425" cy="520700"/>
          </a:xfrm>
          <a:prstGeom prst="rect">
            <a:avLst/>
          </a:prstGeom>
          <a:solidFill>
            <a:srgbClr val="669900"/>
          </a:solidFill>
          <a:ln w="9525">
            <a:miter lim="800000"/>
            <a:headEnd/>
            <a:tailEnd/>
          </a:ln>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p>
        </p:txBody>
      </p:sp>
      <p:sp>
        <p:nvSpPr>
          <p:cNvPr id="30737" name="Text Box 17"/>
          <p:cNvSpPr txBox="1">
            <a:spLocks noChangeArrowheads="1"/>
          </p:cNvSpPr>
          <p:nvPr/>
        </p:nvSpPr>
        <p:spPr bwMode="gray">
          <a:xfrm>
            <a:off x="1785937" y="1728319"/>
            <a:ext cx="5634037" cy="579438"/>
          </a:xfrm>
          <a:prstGeom prst="rect">
            <a:avLst/>
          </a:prstGeom>
          <a:noFill/>
          <a:ln w="9525" algn="ctr">
            <a:noFill/>
            <a:miter lim="800000"/>
            <a:headEnd/>
            <a:tailEnd/>
          </a:ln>
        </p:spPr>
        <p:txBody>
          <a:bodyPr>
            <a:spAutoFit/>
          </a:bodyPr>
          <a:lstStyle>
            <a:defPPr>
              <a:defRPr lang="zh-CN"/>
            </a:defPPr>
            <a:lvl1pPr eaLnBrk="0" hangingPunct="0">
              <a:defRPr sz="3200">
                <a:solidFill>
                  <a:srgbClr val="000000"/>
                </a:solidFill>
                <a:latin typeface="Times New Roman" panose="02020603050405020304" pitchFamily="18" charset="0"/>
                <a:cs typeface="Times New Roman" panose="02020603050405020304" pitchFamily="18" charset="0"/>
              </a:defRPr>
            </a:lvl1pPr>
          </a:lstStyle>
          <a:p>
            <a:r>
              <a:rPr lang="zh-CN" altLang="en-US" dirty="0"/>
              <a:t>计算机网络概述</a:t>
            </a:r>
          </a:p>
        </p:txBody>
      </p:sp>
      <p:sp>
        <p:nvSpPr>
          <p:cNvPr id="30738" name="Text Box 18"/>
          <p:cNvSpPr txBox="1">
            <a:spLocks noChangeArrowheads="1"/>
          </p:cNvSpPr>
          <p:nvPr/>
        </p:nvSpPr>
        <p:spPr bwMode="gray">
          <a:xfrm>
            <a:off x="1057275" y="1796582"/>
            <a:ext cx="354013" cy="457200"/>
          </a:xfrm>
          <a:prstGeom prst="rect">
            <a:avLst/>
          </a:prstGeom>
          <a:noFill/>
          <a:ln w="9525" algn="ctr">
            <a:noFill/>
            <a:miter lim="800000"/>
            <a:headEnd/>
            <a:tailEnd/>
          </a:ln>
        </p:spPr>
        <p:txBody>
          <a:bodyPr wrap="none">
            <a:spAutoFit/>
          </a:bodyPr>
          <a:lstStyle/>
          <a:p>
            <a:pPr algn="ctr" eaLnBrk="0" hangingPunct="0"/>
            <a:r>
              <a:rPr lang="en-US" altLang="zh-CN" sz="2400" b="1">
                <a:solidFill>
                  <a:schemeClr val="bg1"/>
                </a:solidFill>
                <a:ea typeface="宋体" charset="-122"/>
              </a:rPr>
              <a:t>1</a:t>
            </a:r>
          </a:p>
        </p:txBody>
      </p:sp>
      <p:sp>
        <p:nvSpPr>
          <p:cNvPr id="30739" name="Line 19"/>
          <p:cNvSpPr>
            <a:spLocks noChangeShapeType="1"/>
          </p:cNvSpPr>
          <p:nvPr/>
        </p:nvSpPr>
        <p:spPr bwMode="gray">
          <a:xfrm>
            <a:off x="1252538" y="2386467"/>
            <a:ext cx="6167437" cy="7938"/>
          </a:xfrm>
          <a:prstGeom prst="line">
            <a:avLst/>
          </a:prstGeom>
          <a:noFill/>
          <a:ln w="25400">
            <a:solidFill>
              <a:srgbClr val="C0C0C0"/>
            </a:solidFill>
            <a:prstDash val="sysDot"/>
            <a:round/>
            <a:headEnd/>
            <a:tailEnd type="oval" w="med" len="med"/>
          </a:ln>
        </p:spPr>
        <p:txBody>
          <a:bodyPr wrap="none" anchor="ctr"/>
          <a:lstStyle/>
          <a:p>
            <a:endParaRPr lang="zh-CN" altLang="en-US"/>
          </a:p>
        </p:txBody>
      </p:sp>
    </p:spTree>
    <p:extLst>
      <p:ext uri="{BB962C8B-B14F-4D97-AF65-F5344CB8AC3E}">
        <p14:creationId xmlns:p14="http://schemas.microsoft.com/office/powerpoint/2010/main" val="6145899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b="0" dirty="0"/>
              <a:t>从网络体系结构上分析</a:t>
            </a:r>
          </a:p>
          <a:p>
            <a:pPr lvl="1"/>
            <a:r>
              <a:rPr lang="zh-CN" altLang="en-US" b="0" dirty="0"/>
              <a:t>分组交换、认证与可追踪性、尽力而为的服务策略、匿名与隐私、无尺度网络、级联结构、互联网的级联特性、中间盒子</a:t>
            </a:r>
          </a:p>
          <a:p>
            <a:endParaRPr lang="zh-CN" altLang="en-US" b="0" dirty="0"/>
          </a:p>
        </p:txBody>
      </p:sp>
      <p:sp>
        <p:nvSpPr>
          <p:cNvPr id="3" name="标题 2"/>
          <p:cNvSpPr>
            <a:spLocks noGrp="1"/>
          </p:cNvSpPr>
          <p:nvPr>
            <p:ph type="title"/>
          </p:nvPr>
        </p:nvSpPr>
        <p:spPr/>
        <p:txBody>
          <a:bodyPr/>
          <a:lstStyle/>
          <a:p>
            <a:r>
              <a:rPr lang="zh-CN" altLang="en-US" dirty="0"/>
              <a:t>计算机网络的脆弱性</a:t>
            </a:r>
          </a:p>
        </p:txBody>
      </p:sp>
    </p:spTree>
    <p:extLst>
      <p:ext uri="{BB962C8B-B14F-4D97-AF65-F5344CB8AC3E}">
        <p14:creationId xmlns:p14="http://schemas.microsoft.com/office/powerpoint/2010/main" val="10414468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1182124" y="285340"/>
            <a:ext cx="7056438" cy="792163"/>
          </a:xfrm>
        </p:spPr>
        <p:txBody>
          <a:bodyPr/>
          <a:lstStyle/>
          <a:p>
            <a:r>
              <a:rPr lang="zh-CN" altLang="en-US" dirty="0"/>
              <a:t>计算机网络的脆弱性</a:t>
            </a:r>
            <a:endParaRPr lang="en-US" altLang="zh-CN" dirty="0"/>
          </a:p>
        </p:txBody>
      </p:sp>
      <p:sp>
        <p:nvSpPr>
          <p:cNvPr id="118787" name="Rectangle 3"/>
          <p:cNvSpPr>
            <a:spLocks noGrp="1" noChangeArrowheads="1"/>
          </p:cNvSpPr>
          <p:nvPr>
            <p:ph type="body" idx="1"/>
          </p:nvPr>
        </p:nvSpPr>
        <p:spPr>
          <a:xfrm>
            <a:off x="611188" y="1239837"/>
            <a:ext cx="7772400" cy="5208587"/>
          </a:xfrm>
        </p:spPr>
        <p:txBody>
          <a:bodyPr/>
          <a:lstStyle/>
          <a:p>
            <a:pPr>
              <a:spcBef>
                <a:spcPts val="0"/>
              </a:spcBef>
            </a:pPr>
            <a:r>
              <a:rPr lang="zh-CN" altLang="en-US" sz="2800" b="0" dirty="0"/>
              <a:t>问题一：</a:t>
            </a:r>
            <a:r>
              <a:rPr lang="zh-CN" altLang="en-US" sz="2800" b="0" dirty="0">
                <a:solidFill>
                  <a:srgbClr val="FF3300"/>
                </a:solidFill>
              </a:rPr>
              <a:t>分组交换</a:t>
            </a:r>
          </a:p>
          <a:p>
            <a:pPr lvl="1">
              <a:spcBef>
                <a:spcPts val="0"/>
              </a:spcBef>
            </a:pPr>
            <a:r>
              <a:rPr lang="en-US" altLang="zh-CN" b="0" dirty="0"/>
              <a:t>Internet</a:t>
            </a:r>
            <a:r>
              <a:rPr lang="zh-CN" altLang="en-US" b="0" dirty="0"/>
              <a:t>是基于分组交换的，这使得它比电信网（采用电路交换）更容易受攻击：</a:t>
            </a:r>
          </a:p>
          <a:p>
            <a:pPr lvl="2">
              <a:spcBef>
                <a:spcPts val="0"/>
              </a:spcBef>
            </a:pPr>
            <a:r>
              <a:rPr lang="zh-CN" altLang="en-US" sz="2800" b="0" dirty="0">
                <a:solidFill>
                  <a:srgbClr val="000000"/>
                </a:solidFill>
              </a:rPr>
              <a:t>所有用户共享所有资源，给予一个用户的服务会受到其它用户的影响；</a:t>
            </a:r>
          </a:p>
          <a:p>
            <a:pPr lvl="2">
              <a:spcBef>
                <a:spcPts val="0"/>
              </a:spcBef>
            </a:pPr>
            <a:r>
              <a:rPr lang="zh-CN" altLang="en-US" sz="2800" b="0" dirty="0">
                <a:solidFill>
                  <a:srgbClr val="FF0000"/>
                </a:solidFill>
              </a:rPr>
              <a:t>攻击数据包在被判断为是否恶意之前都会被转发到受害者！</a:t>
            </a:r>
            <a:r>
              <a:rPr lang="en-US" altLang="zh-CN" sz="2800" b="0" dirty="0">
                <a:solidFill>
                  <a:srgbClr val="000000"/>
                </a:solidFill>
              </a:rPr>
              <a:t>(</a:t>
            </a:r>
            <a:r>
              <a:rPr lang="zh-CN" altLang="en-US" sz="2800" b="0" dirty="0">
                <a:solidFill>
                  <a:srgbClr val="000000"/>
                </a:solidFill>
              </a:rPr>
              <a:t>很容易被</a:t>
            </a:r>
            <a:r>
              <a:rPr lang="en-US" altLang="zh-CN" sz="2800" b="0" dirty="0" err="1">
                <a:solidFill>
                  <a:srgbClr val="000000"/>
                </a:solidFill>
              </a:rPr>
              <a:t>DoS</a:t>
            </a:r>
            <a:r>
              <a:rPr lang="zh-CN" altLang="en-US" sz="2800" b="0" dirty="0">
                <a:solidFill>
                  <a:srgbClr val="000000"/>
                </a:solidFill>
              </a:rPr>
              <a:t>攻击</a:t>
            </a:r>
            <a:r>
              <a:rPr lang="en-US" altLang="zh-CN" sz="2800" b="0" dirty="0">
                <a:solidFill>
                  <a:srgbClr val="000000"/>
                </a:solidFill>
              </a:rPr>
              <a:t>)</a:t>
            </a:r>
            <a:r>
              <a:rPr lang="zh-CN" altLang="en-US" sz="2800" b="0" dirty="0">
                <a:solidFill>
                  <a:srgbClr val="000000"/>
                </a:solidFill>
              </a:rPr>
              <a:t>；</a:t>
            </a:r>
          </a:p>
          <a:p>
            <a:pPr lvl="2">
              <a:spcBef>
                <a:spcPts val="0"/>
              </a:spcBef>
            </a:pPr>
            <a:r>
              <a:rPr lang="zh-CN" altLang="en-US" sz="2800" b="0" dirty="0">
                <a:solidFill>
                  <a:srgbClr val="000000"/>
                </a:solidFill>
              </a:rPr>
              <a:t>路由分散决策，流量无序。</a:t>
            </a:r>
          </a:p>
          <a:p>
            <a:pPr>
              <a:spcBef>
                <a:spcPts val="0"/>
              </a:spcBef>
            </a:pPr>
            <a:endParaRPr lang="zh-CN" altLang="en-US" sz="2800" b="0" dirty="0"/>
          </a:p>
        </p:txBody>
      </p:sp>
    </p:spTree>
    <p:extLst>
      <p:ext uri="{BB962C8B-B14F-4D97-AF65-F5344CB8AC3E}">
        <p14:creationId xmlns:p14="http://schemas.microsoft.com/office/powerpoint/2010/main" val="7107090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993775" y="254000"/>
            <a:ext cx="7200900" cy="792163"/>
          </a:xfrm>
        </p:spPr>
        <p:txBody>
          <a:bodyPr/>
          <a:lstStyle/>
          <a:p>
            <a:r>
              <a:rPr lang="zh-CN" altLang="en-US" dirty="0"/>
              <a:t>  计算机网络的脆弱性</a:t>
            </a:r>
          </a:p>
        </p:txBody>
      </p:sp>
      <p:sp>
        <p:nvSpPr>
          <p:cNvPr id="119811" name="Rectangle 3"/>
          <p:cNvSpPr>
            <a:spLocks noGrp="1" noChangeArrowheads="1"/>
          </p:cNvSpPr>
          <p:nvPr>
            <p:ph type="body" idx="1"/>
          </p:nvPr>
        </p:nvSpPr>
        <p:spPr>
          <a:xfrm>
            <a:off x="422275" y="1248440"/>
            <a:ext cx="8190784" cy="4922837"/>
          </a:xfrm>
        </p:spPr>
        <p:txBody>
          <a:bodyPr/>
          <a:lstStyle/>
          <a:p>
            <a:r>
              <a:rPr lang="zh-CN" altLang="en-US" sz="2400" b="0" dirty="0"/>
              <a:t>问题二：</a:t>
            </a:r>
            <a:r>
              <a:rPr lang="zh-CN" altLang="en-US" sz="2400" b="0" dirty="0">
                <a:solidFill>
                  <a:srgbClr val="FF3300"/>
                </a:solidFill>
              </a:rPr>
              <a:t>认证与可追踪性</a:t>
            </a:r>
          </a:p>
          <a:p>
            <a:pPr lvl="1"/>
            <a:r>
              <a:rPr lang="en-US" altLang="zh-CN" sz="2400" b="0" dirty="0">
                <a:solidFill>
                  <a:srgbClr val="FF3300"/>
                </a:solidFill>
              </a:rPr>
              <a:t>Internet </a:t>
            </a:r>
            <a:r>
              <a:rPr lang="zh-CN" altLang="en-US" sz="2400" b="0" dirty="0">
                <a:solidFill>
                  <a:srgbClr val="FF3300"/>
                </a:solidFill>
              </a:rPr>
              <a:t>没有认证机制</a:t>
            </a:r>
            <a:r>
              <a:rPr lang="zh-CN" altLang="en-US" sz="2400" b="0" dirty="0"/>
              <a:t>，任何一个终端接入即可访问全网（而电信网则不是，有</a:t>
            </a:r>
            <a:r>
              <a:rPr lang="en-US" altLang="zh-CN" sz="2400" b="0" dirty="0"/>
              <a:t>UNI</a:t>
            </a:r>
            <a:r>
              <a:rPr lang="zh-CN" altLang="en-US" sz="2400" b="0" dirty="0"/>
              <a:t>、</a:t>
            </a:r>
            <a:r>
              <a:rPr lang="en-US" altLang="zh-CN" sz="2400" b="0" dirty="0"/>
              <a:t>NNI</a:t>
            </a:r>
            <a:r>
              <a:rPr lang="zh-CN" altLang="en-US" sz="2400" b="0" dirty="0"/>
              <a:t>接口之分），这导致一个严重的问题就是</a:t>
            </a:r>
            <a:r>
              <a:rPr lang="en-US" altLang="zh-CN" sz="2400" b="0" dirty="0"/>
              <a:t>IP</a:t>
            </a:r>
            <a:r>
              <a:rPr lang="zh-CN" altLang="en-US" sz="2400" b="0" dirty="0"/>
              <a:t>欺骗：攻击者可以伪造数据包中的任何区域的内容然后发送数据包到</a:t>
            </a:r>
            <a:r>
              <a:rPr lang="en-US" altLang="zh-CN" sz="2400" b="0" dirty="0"/>
              <a:t>Internet</a:t>
            </a:r>
            <a:r>
              <a:rPr lang="zh-CN" altLang="en-US" sz="2400" b="0" dirty="0"/>
              <a:t>中。</a:t>
            </a:r>
          </a:p>
          <a:p>
            <a:pPr lvl="1"/>
            <a:r>
              <a:rPr lang="zh-CN" altLang="en-US" sz="2400" b="0" dirty="0"/>
              <a:t>通常情况下，</a:t>
            </a:r>
            <a:r>
              <a:rPr lang="zh-CN" altLang="en-US" sz="2400" b="0" dirty="0">
                <a:solidFill>
                  <a:srgbClr val="FF0000"/>
                </a:solidFill>
              </a:rPr>
              <a:t>路由器不具备数据</a:t>
            </a:r>
            <a:r>
              <a:rPr lang="zh-CN" altLang="en-US" sz="2400" b="0" dirty="0">
                <a:solidFill>
                  <a:srgbClr val="FF3300"/>
                </a:solidFill>
              </a:rPr>
              <a:t>追踪功能</a:t>
            </a:r>
            <a:r>
              <a:rPr lang="zh-CN" altLang="en-US" sz="2400" b="0" dirty="0"/>
              <a:t>（</a:t>
            </a:r>
            <a:r>
              <a:rPr lang="en-US" altLang="zh-CN" sz="2400" b="0" dirty="0">
                <a:solidFill>
                  <a:srgbClr val="FF3300"/>
                </a:solidFill>
              </a:rPr>
              <a:t>Why</a:t>
            </a:r>
            <a:r>
              <a:rPr lang="zh-CN" altLang="en-US" sz="2400" b="0" dirty="0">
                <a:solidFill>
                  <a:srgbClr val="FF3300"/>
                </a:solidFill>
              </a:rPr>
              <a:t>？</a:t>
            </a:r>
            <a:r>
              <a:rPr lang="zh-CN" altLang="en-US" sz="2400" b="0" dirty="0"/>
              <a:t>），因此没有现实的方法验证一个数据包是否来自于其所声称的地方。攻击者通过</a:t>
            </a:r>
            <a:r>
              <a:rPr lang="en-US" altLang="zh-CN" sz="2400" b="0" dirty="0"/>
              <a:t>IP</a:t>
            </a:r>
            <a:r>
              <a:rPr lang="zh-CN" altLang="en-US" sz="2400" b="0" dirty="0"/>
              <a:t>欺骗隐藏来源。</a:t>
            </a:r>
          </a:p>
        </p:txBody>
      </p:sp>
    </p:spTree>
    <p:extLst>
      <p:ext uri="{BB962C8B-B14F-4D97-AF65-F5344CB8AC3E}">
        <p14:creationId xmlns:p14="http://schemas.microsoft.com/office/powerpoint/2010/main" val="25557465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898525" y="244475"/>
            <a:ext cx="7129463" cy="792163"/>
          </a:xfrm>
        </p:spPr>
        <p:txBody>
          <a:bodyPr/>
          <a:lstStyle/>
          <a:p>
            <a:r>
              <a:rPr lang="zh-CN" altLang="en-US" dirty="0"/>
              <a:t>  计算机网络的脆弱性</a:t>
            </a:r>
          </a:p>
        </p:txBody>
      </p:sp>
      <p:sp>
        <p:nvSpPr>
          <p:cNvPr id="59395" name="Rectangle 3"/>
          <p:cNvSpPr>
            <a:spLocks noGrp="1" noChangeArrowheads="1"/>
          </p:cNvSpPr>
          <p:nvPr>
            <p:ph type="body" idx="1"/>
          </p:nvPr>
        </p:nvSpPr>
        <p:spPr>
          <a:xfrm>
            <a:off x="577056" y="1436176"/>
            <a:ext cx="7772400" cy="4114800"/>
          </a:xfrm>
        </p:spPr>
        <p:txBody>
          <a:bodyPr/>
          <a:lstStyle/>
          <a:p>
            <a:pPr>
              <a:lnSpc>
                <a:spcPct val="150000"/>
              </a:lnSpc>
            </a:pPr>
            <a:r>
              <a:rPr lang="zh-CN" altLang="en-US" b="0" dirty="0"/>
              <a:t>问题三：</a:t>
            </a:r>
            <a:r>
              <a:rPr lang="zh-CN" altLang="en-US" b="0" dirty="0">
                <a:solidFill>
                  <a:srgbClr val="FF0000"/>
                </a:solidFill>
              </a:rPr>
              <a:t>尽力而为</a:t>
            </a:r>
            <a:r>
              <a:rPr lang="en-US" altLang="zh-CN" b="0" dirty="0">
                <a:solidFill>
                  <a:srgbClr val="FF0000"/>
                </a:solidFill>
              </a:rPr>
              <a:t>(best-effort)</a:t>
            </a:r>
            <a:endParaRPr lang="zh-CN" altLang="en-US" b="0" dirty="0">
              <a:solidFill>
                <a:srgbClr val="FF0000"/>
              </a:solidFill>
            </a:endParaRPr>
          </a:p>
          <a:p>
            <a:pPr lvl="1">
              <a:lnSpc>
                <a:spcPct val="150000"/>
              </a:lnSpc>
            </a:pPr>
            <a:r>
              <a:rPr lang="zh-CN" altLang="en-US" b="0" dirty="0"/>
              <a:t>因特网采取的是尽力而为策略：把网络资源的分配和公平性完全寄托在终端的自律上是不现实的（</a:t>
            </a:r>
            <a:r>
              <a:rPr lang="en-US" altLang="zh-CN" b="0" dirty="0"/>
              <a:t>DDoS</a:t>
            </a:r>
            <a:r>
              <a:rPr lang="zh-CN" altLang="en-US" b="0" dirty="0"/>
              <a:t>利用的就是这一点）</a:t>
            </a:r>
          </a:p>
        </p:txBody>
      </p:sp>
    </p:spTree>
    <p:extLst>
      <p:ext uri="{BB962C8B-B14F-4D97-AF65-F5344CB8AC3E}">
        <p14:creationId xmlns:p14="http://schemas.microsoft.com/office/powerpoint/2010/main" val="38317955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1258888" y="284572"/>
            <a:ext cx="7129463" cy="792163"/>
          </a:xfrm>
        </p:spPr>
        <p:txBody>
          <a:bodyPr/>
          <a:lstStyle/>
          <a:p>
            <a:r>
              <a:rPr lang="zh-CN" altLang="en-US" dirty="0"/>
              <a:t>计算机网络的脆弱性</a:t>
            </a:r>
          </a:p>
        </p:txBody>
      </p:sp>
      <p:sp>
        <p:nvSpPr>
          <p:cNvPr id="122883" name="Rectangle 3"/>
          <p:cNvSpPr>
            <a:spLocks noGrp="1" noChangeArrowheads="1"/>
          </p:cNvSpPr>
          <p:nvPr>
            <p:ph type="body" idx="1"/>
          </p:nvPr>
        </p:nvSpPr>
        <p:spPr>
          <a:xfrm>
            <a:off x="514349" y="1291048"/>
            <a:ext cx="8229600" cy="3074577"/>
          </a:xfrm>
        </p:spPr>
        <p:txBody>
          <a:bodyPr/>
          <a:lstStyle/>
          <a:p>
            <a:pPr>
              <a:lnSpc>
                <a:spcPct val="150000"/>
              </a:lnSpc>
            </a:pPr>
            <a:r>
              <a:rPr lang="zh-CN" altLang="en-US" b="0" dirty="0"/>
              <a:t>问题四：匿名与隐私</a:t>
            </a:r>
          </a:p>
          <a:p>
            <a:pPr lvl="1">
              <a:lnSpc>
                <a:spcPct val="150000"/>
              </a:lnSpc>
            </a:pPr>
            <a:r>
              <a:rPr lang="zh-CN" altLang="en-US" b="0" dirty="0"/>
              <a:t>普通用户无法知道对方的真实身份，也无法拒绝来路不明的信息（如邮件）</a:t>
            </a:r>
          </a:p>
          <a:p>
            <a:pPr lvl="1">
              <a:lnSpc>
                <a:spcPct val="150000"/>
              </a:lnSpc>
            </a:pPr>
            <a:r>
              <a:rPr lang="zh-CN" altLang="en-US" b="0" dirty="0"/>
              <a:t>有人提出新的体系：终端名字与地址分离</a:t>
            </a:r>
          </a:p>
        </p:txBody>
      </p:sp>
      <p:sp>
        <p:nvSpPr>
          <p:cNvPr id="60420" name="Text Box 4"/>
          <p:cNvSpPr txBox="1">
            <a:spLocks noChangeArrowheads="1"/>
          </p:cNvSpPr>
          <p:nvPr/>
        </p:nvSpPr>
        <p:spPr bwMode="auto">
          <a:xfrm>
            <a:off x="1258888" y="4365625"/>
            <a:ext cx="4681537" cy="366713"/>
          </a:xfrm>
          <a:prstGeom prst="rect">
            <a:avLst/>
          </a:prstGeom>
          <a:noFill/>
          <a:ln w="9525">
            <a:noFill/>
            <a:miter lim="800000"/>
            <a:headEnd/>
            <a:tailEnd/>
          </a:ln>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1800" b="1" i="0" u="none" strike="noStrike" kern="1200" cap="none" spc="0" normalizeH="0" baseline="0" noProof="0">
              <a:ln>
                <a:noFill/>
              </a:ln>
              <a:solidFill>
                <a:srgbClr val="000000"/>
              </a:solidFill>
              <a:effectLst/>
              <a:uLnTx/>
              <a:uFillTx/>
              <a:latin typeface="Tahoma" pitchFamily="34" charset="0"/>
              <a:ea typeface="宋体" charset="-122"/>
              <a:cs typeface="+mn-cs"/>
            </a:endParaRPr>
          </a:p>
        </p:txBody>
      </p:sp>
      <p:sp>
        <p:nvSpPr>
          <p:cNvPr id="122885" name="Text Box 5"/>
          <p:cNvSpPr txBox="1">
            <a:spLocks noChangeArrowheads="1"/>
          </p:cNvSpPr>
          <p:nvPr/>
        </p:nvSpPr>
        <p:spPr bwMode="auto">
          <a:xfrm>
            <a:off x="917575" y="4794250"/>
            <a:ext cx="7173913" cy="946150"/>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FF0000"/>
                </a:solidFill>
                <a:effectLst/>
                <a:uLnTx/>
                <a:uFillTx/>
                <a:latin typeface="Times New Roman" pitchFamily="18" charset="0"/>
                <a:ea typeface="宋体" charset="-122"/>
                <a:cs typeface="+mn-cs"/>
              </a:rPr>
              <a:t>On the Internet, nobody knows you are a dog;</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FF0000"/>
                </a:solidFill>
                <a:effectLst/>
                <a:uLnTx/>
                <a:uFillTx/>
                <a:latin typeface="Times New Roman" pitchFamily="18" charset="0"/>
                <a:ea typeface="宋体" charset="-122"/>
                <a:cs typeface="+mn-cs"/>
              </a:rPr>
              <a:t>On the Internet, all knows you are not a dog!</a:t>
            </a:r>
          </a:p>
        </p:txBody>
      </p:sp>
    </p:spTree>
    <p:extLst>
      <p:ext uri="{BB962C8B-B14F-4D97-AF65-F5344CB8AC3E}">
        <p14:creationId xmlns:p14="http://schemas.microsoft.com/office/powerpoint/2010/main" val="34752809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1139108" y="350837"/>
            <a:ext cx="7129463" cy="792163"/>
          </a:xfrm>
        </p:spPr>
        <p:txBody>
          <a:bodyPr/>
          <a:lstStyle/>
          <a:p>
            <a:r>
              <a:rPr lang="zh-CN" altLang="en-US" dirty="0"/>
              <a:t>计算机网络的脆弱性</a:t>
            </a:r>
          </a:p>
        </p:txBody>
      </p:sp>
      <p:sp>
        <p:nvSpPr>
          <p:cNvPr id="122883" name="Rectangle 3"/>
          <p:cNvSpPr>
            <a:spLocks noGrp="1" noChangeArrowheads="1"/>
          </p:cNvSpPr>
          <p:nvPr>
            <p:ph type="body" idx="1"/>
          </p:nvPr>
        </p:nvSpPr>
        <p:spPr>
          <a:xfrm>
            <a:off x="457200" y="1143000"/>
            <a:ext cx="8229600" cy="2430463"/>
          </a:xfrm>
        </p:spPr>
        <p:txBody>
          <a:bodyPr/>
          <a:lstStyle/>
          <a:p>
            <a:endParaRPr lang="zh-CN" altLang="en-US"/>
          </a:p>
        </p:txBody>
      </p:sp>
      <p:sp>
        <p:nvSpPr>
          <p:cNvPr id="61444" name="Text Box 4"/>
          <p:cNvSpPr txBox="1">
            <a:spLocks noChangeArrowheads="1"/>
          </p:cNvSpPr>
          <p:nvPr/>
        </p:nvSpPr>
        <p:spPr bwMode="auto">
          <a:xfrm>
            <a:off x="1258888" y="4365625"/>
            <a:ext cx="4681537" cy="366713"/>
          </a:xfrm>
          <a:prstGeom prst="rect">
            <a:avLst/>
          </a:prstGeom>
          <a:noFill/>
          <a:ln w="9525">
            <a:noFill/>
            <a:miter lim="800000"/>
            <a:headEnd/>
            <a:tailEnd/>
          </a:ln>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1800" b="1" i="0" u="none" strike="noStrike" kern="1200" cap="none" spc="0" normalizeH="0" baseline="0" noProof="0">
              <a:ln>
                <a:noFill/>
              </a:ln>
              <a:solidFill>
                <a:srgbClr val="666635"/>
              </a:solidFill>
              <a:effectLst/>
              <a:uLnTx/>
              <a:uFillTx/>
              <a:latin typeface="Tahoma" pitchFamily="34" charset="0"/>
              <a:ea typeface="宋体" charset="-122"/>
              <a:cs typeface="+mn-cs"/>
            </a:endParaRPr>
          </a:p>
        </p:txBody>
      </p:sp>
      <p:pic>
        <p:nvPicPr>
          <p:cNvPr id="61445" name="Picture 4"/>
          <p:cNvPicPr>
            <a:picLocks noChangeAspect="1" noChangeArrowheads="1"/>
          </p:cNvPicPr>
          <p:nvPr/>
        </p:nvPicPr>
        <p:blipFill>
          <a:blip r:embed="rId3" cstate="print"/>
          <a:srcRect/>
          <a:stretch>
            <a:fillRect/>
          </a:stretch>
        </p:blipFill>
        <p:spPr bwMode="auto">
          <a:xfrm>
            <a:off x="131839" y="0"/>
            <a:ext cx="9144000" cy="6858000"/>
          </a:xfrm>
          <a:prstGeom prst="rect">
            <a:avLst/>
          </a:prstGeom>
          <a:noFill/>
          <a:ln w="9525">
            <a:noFill/>
            <a:miter lim="800000"/>
            <a:headEnd/>
            <a:tailEnd/>
          </a:ln>
        </p:spPr>
      </p:pic>
    </p:spTree>
    <p:extLst>
      <p:ext uri="{BB962C8B-B14F-4D97-AF65-F5344CB8AC3E}">
        <p14:creationId xmlns:p14="http://schemas.microsoft.com/office/powerpoint/2010/main" val="507927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nodePh="1">
                                  <p:stCondLst>
                                    <p:cond delay="0"/>
                                  </p:stCondLst>
                                  <p:endCondLst>
                                    <p:cond evt="begin" delay="0">
                                      <p:tn val="5"/>
                                    </p:cond>
                                  </p:endCondLst>
                                  <p:childTnLst>
                                    <p:set>
                                      <p:cBhvr>
                                        <p:cTn id="6" dur="1" fill="hold">
                                          <p:stCondLst>
                                            <p:cond delay="0"/>
                                          </p:stCondLst>
                                        </p:cTn>
                                        <p:tgtEl>
                                          <p:spTgt spid="122883">
                                            <p:txEl>
                                              <p:pRg st="0" end="0"/>
                                            </p:txEl>
                                          </p:spTgt>
                                        </p:tgtEl>
                                        <p:attrNameLst>
                                          <p:attrName>style.visibility</p:attrName>
                                        </p:attrNameLst>
                                      </p:cBhvr>
                                      <p:to>
                                        <p:strVal val="visible"/>
                                      </p:to>
                                    </p:set>
                                    <p:anim calcmode="lin" valueType="num">
                                      <p:cBhvr>
                                        <p:cTn id="7" dur="1000" fill="hold"/>
                                        <p:tgtEl>
                                          <p:spTgt spid="122883">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122883">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12288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1185146" y="251901"/>
            <a:ext cx="7129463" cy="792163"/>
          </a:xfrm>
        </p:spPr>
        <p:txBody>
          <a:bodyPr/>
          <a:lstStyle/>
          <a:p>
            <a:r>
              <a:rPr lang="zh-CN" altLang="en-US" dirty="0"/>
              <a:t>计算机网络的脆弱性</a:t>
            </a:r>
          </a:p>
        </p:txBody>
      </p:sp>
      <p:sp>
        <p:nvSpPr>
          <p:cNvPr id="122883" name="Rectangle 3"/>
          <p:cNvSpPr>
            <a:spLocks noGrp="1" noChangeArrowheads="1"/>
          </p:cNvSpPr>
          <p:nvPr>
            <p:ph type="body" idx="1"/>
          </p:nvPr>
        </p:nvSpPr>
        <p:spPr>
          <a:xfrm>
            <a:off x="457200" y="1143000"/>
            <a:ext cx="8229600" cy="2430463"/>
          </a:xfrm>
        </p:spPr>
        <p:txBody>
          <a:bodyPr/>
          <a:lstStyle/>
          <a:p>
            <a:endParaRPr lang="zh-CN" altLang="en-US"/>
          </a:p>
        </p:txBody>
      </p:sp>
      <p:sp>
        <p:nvSpPr>
          <p:cNvPr id="62468" name="Text Box 4"/>
          <p:cNvSpPr txBox="1">
            <a:spLocks noChangeArrowheads="1"/>
          </p:cNvSpPr>
          <p:nvPr/>
        </p:nvSpPr>
        <p:spPr bwMode="auto">
          <a:xfrm>
            <a:off x="1258888" y="4365625"/>
            <a:ext cx="4681537" cy="366713"/>
          </a:xfrm>
          <a:prstGeom prst="rect">
            <a:avLst/>
          </a:prstGeom>
          <a:noFill/>
          <a:ln w="9525">
            <a:noFill/>
            <a:miter lim="800000"/>
            <a:headEnd/>
            <a:tailEnd/>
          </a:ln>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1800" b="1" i="0" u="none" strike="noStrike" kern="1200" cap="none" spc="0" normalizeH="0" baseline="0" noProof="0">
              <a:ln>
                <a:noFill/>
              </a:ln>
              <a:solidFill>
                <a:srgbClr val="666635"/>
              </a:solidFill>
              <a:effectLst/>
              <a:uLnTx/>
              <a:uFillTx/>
              <a:latin typeface="Tahoma" pitchFamily="34" charset="0"/>
              <a:ea typeface="宋体" charset="-122"/>
              <a:cs typeface="+mn-cs"/>
            </a:endParaRPr>
          </a:p>
        </p:txBody>
      </p:sp>
      <p:pic>
        <p:nvPicPr>
          <p:cNvPr id="62469" name="Picture 4"/>
          <p:cNvPicPr>
            <a:picLocks noChangeAspect="1" noChangeArrowheads="1"/>
          </p:cNvPicPr>
          <p:nvPr/>
        </p:nvPicPr>
        <p:blipFill>
          <a:blip r:embed="rId3" cstate="print"/>
          <a:srcRect/>
          <a:stretch>
            <a:fillRect/>
          </a:stretch>
        </p:blipFill>
        <p:spPr bwMode="auto">
          <a:xfrm>
            <a:off x="0" y="0"/>
            <a:ext cx="9144000" cy="6858000"/>
          </a:xfrm>
          <a:prstGeom prst="rect">
            <a:avLst/>
          </a:prstGeom>
          <a:noFill/>
          <a:ln w="9525">
            <a:noFill/>
            <a:miter lim="800000"/>
            <a:headEnd/>
            <a:tailEnd/>
          </a:ln>
        </p:spPr>
      </p:pic>
    </p:spTree>
    <p:extLst>
      <p:ext uri="{BB962C8B-B14F-4D97-AF65-F5344CB8AC3E}">
        <p14:creationId xmlns:p14="http://schemas.microsoft.com/office/powerpoint/2010/main" val="1434248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nodePh="1">
                                  <p:stCondLst>
                                    <p:cond delay="0"/>
                                  </p:stCondLst>
                                  <p:endCondLst>
                                    <p:cond evt="begin" delay="0">
                                      <p:tn val="5"/>
                                    </p:cond>
                                  </p:endCondLst>
                                  <p:childTnLst>
                                    <p:set>
                                      <p:cBhvr>
                                        <p:cTn id="6" dur="1" fill="hold">
                                          <p:stCondLst>
                                            <p:cond delay="0"/>
                                          </p:stCondLst>
                                        </p:cTn>
                                        <p:tgtEl>
                                          <p:spTgt spid="122883">
                                            <p:txEl>
                                              <p:pRg st="0" end="0"/>
                                            </p:txEl>
                                          </p:spTgt>
                                        </p:tgtEl>
                                        <p:attrNameLst>
                                          <p:attrName>style.visibility</p:attrName>
                                        </p:attrNameLst>
                                      </p:cBhvr>
                                      <p:to>
                                        <p:strVal val="visible"/>
                                      </p:to>
                                    </p:set>
                                    <p:anim calcmode="lin" valueType="num">
                                      <p:cBhvr>
                                        <p:cTn id="7" dur="1000" fill="hold"/>
                                        <p:tgtEl>
                                          <p:spTgt spid="122883">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122883">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12288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1263650" y="230648"/>
            <a:ext cx="7129463" cy="792163"/>
          </a:xfrm>
        </p:spPr>
        <p:txBody>
          <a:bodyPr/>
          <a:lstStyle/>
          <a:p>
            <a:r>
              <a:rPr lang="zh-CN" altLang="en-US" dirty="0"/>
              <a:t>计算机网络的脆弱性</a:t>
            </a:r>
          </a:p>
        </p:txBody>
      </p:sp>
      <p:sp>
        <p:nvSpPr>
          <p:cNvPr id="128003" name="Rectangle 3"/>
          <p:cNvSpPr>
            <a:spLocks noGrp="1" noChangeArrowheads="1"/>
          </p:cNvSpPr>
          <p:nvPr>
            <p:ph type="body" idx="1"/>
          </p:nvPr>
        </p:nvSpPr>
        <p:spPr>
          <a:xfrm>
            <a:off x="443732" y="1458912"/>
            <a:ext cx="7772400" cy="4779655"/>
          </a:xfrm>
        </p:spPr>
        <p:txBody>
          <a:bodyPr/>
          <a:lstStyle/>
          <a:p>
            <a:r>
              <a:rPr lang="zh-CN" altLang="en-US" b="0" dirty="0"/>
              <a:t>问题五：</a:t>
            </a:r>
            <a:r>
              <a:rPr lang="zh-CN" altLang="en-US" b="0" dirty="0">
                <a:solidFill>
                  <a:srgbClr val="FF3300"/>
                </a:solidFill>
              </a:rPr>
              <a:t>对全球网络基础实施的依赖</a:t>
            </a:r>
          </a:p>
          <a:p>
            <a:pPr lvl="1"/>
            <a:r>
              <a:rPr lang="zh-CN" altLang="en-US" b="0" dirty="0"/>
              <a:t>全球网络基础设施不提供可靠性、安全性保证，这使得攻击者可以放大其攻击效力：</a:t>
            </a:r>
          </a:p>
          <a:p>
            <a:pPr lvl="2"/>
            <a:r>
              <a:rPr lang="zh-CN" altLang="en-US" b="0" dirty="0">
                <a:solidFill>
                  <a:srgbClr val="000000"/>
                </a:solidFill>
              </a:rPr>
              <a:t>一些不恰当的协议设计导致一些（尤其是畸形的）数据包比其它数据包耗费更多的资源（如</a:t>
            </a:r>
            <a:r>
              <a:rPr lang="en-US" altLang="zh-CN" b="0" dirty="0">
                <a:solidFill>
                  <a:srgbClr val="000000"/>
                </a:solidFill>
              </a:rPr>
              <a:t>TCP SYN</a:t>
            </a:r>
            <a:r>
              <a:rPr lang="zh-CN" altLang="en-US" b="0" dirty="0">
                <a:solidFill>
                  <a:srgbClr val="000000"/>
                </a:solidFill>
              </a:rPr>
              <a:t>包比其它的</a:t>
            </a:r>
            <a:r>
              <a:rPr lang="en-US" altLang="zh-CN" b="0" dirty="0">
                <a:solidFill>
                  <a:srgbClr val="000000"/>
                </a:solidFill>
              </a:rPr>
              <a:t>TCP</a:t>
            </a:r>
            <a:r>
              <a:rPr lang="zh-CN" altLang="en-US" b="0" dirty="0">
                <a:solidFill>
                  <a:srgbClr val="000000"/>
                </a:solidFill>
              </a:rPr>
              <a:t>包占用的目标资源更多）；</a:t>
            </a:r>
          </a:p>
          <a:p>
            <a:pPr lvl="2"/>
            <a:r>
              <a:rPr lang="en-US" altLang="zh-CN" b="0" dirty="0">
                <a:solidFill>
                  <a:srgbClr val="000000"/>
                </a:solidFill>
              </a:rPr>
              <a:t>Internet</a:t>
            </a:r>
            <a:r>
              <a:rPr lang="zh-CN" altLang="en-US" b="0" dirty="0">
                <a:solidFill>
                  <a:srgbClr val="000000"/>
                </a:solidFill>
              </a:rPr>
              <a:t>是一个大“集体”，其中有很多的不安全的系统</a:t>
            </a:r>
          </a:p>
        </p:txBody>
      </p:sp>
    </p:spTree>
    <p:extLst>
      <p:ext uri="{BB962C8B-B14F-4D97-AF65-F5344CB8AC3E}">
        <p14:creationId xmlns:p14="http://schemas.microsoft.com/office/powerpoint/2010/main" val="14496302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1263650" y="230648"/>
            <a:ext cx="7129463" cy="792163"/>
          </a:xfrm>
        </p:spPr>
        <p:txBody>
          <a:bodyPr/>
          <a:lstStyle/>
          <a:p>
            <a:r>
              <a:rPr lang="zh-CN" altLang="en-US" dirty="0"/>
              <a:t>计算机网络的脆弱性</a:t>
            </a:r>
          </a:p>
        </p:txBody>
      </p:sp>
      <p:sp>
        <p:nvSpPr>
          <p:cNvPr id="128003" name="Rectangle 3"/>
          <p:cNvSpPr>
            <a:spLocks noGrp="1" noChangeArrowheads="1"/>
          </p:cNvSpPr>
          <p:nvPr>
            <p:ph type="body" idx="1"/>
          </p:nvPr>
        </p:nvSpPr>
        <p:spPr>
          <a:xfrm>
            <a:off x="325744" y="1355673"/>
            <a:ext cx="8375803" cy="4779655"/>
          </a:xfrm>
        </p:spPr>
        <p:txBody>
          <a:bodyPr/>
          <a:lstStyle/>
          <a:p>
            <a:r>
              <a:rPr lang="zh-CN" altLang="en-US" b="0" dirty="0"/>
              <a:t>问题六：</a:t>
            </a:r>
            <a:r>
              <a:rPr lang="zh-CN" altLang="en-US" b="0" dirty="0">
                <a:solidFill>
                  <a:srgbClr val="FF3300"/>
                </a:solidFill>
              </a:rPr>
              <a:t>无尺度网络</a:t>
            </a:r>
            <a:endParaRPr lang="en-US" altLang="zh-CN" b="0" dirty="0">
              <a:solidFill>
                <a:srgbClr val="FF3300"/>
              </a:solidFill>
            </a:endParaRPr>
          </a:p>
          <a:p>
            <a:pPr lvl="1"/>
            <a:r>
              <a:rPr lang="zh-CN" altLang="en-US" sz="2400" b="0" dirty="0"/>
              <a:t>无尺度网络的典型特征是网络中的大部分结点只和很少结点连接，而有极少数结点与非常多的结点连接。这种关键结点（称为“枢纽”或“集散结点”）的存在使得无尺度网络对意外故障有强大的承受能力（删除大部分网络结点而不会引发网络分裂），但面对针对枢纽结点的协同性攻击时则显得脆弱（删除少量枢纽结点就能让无尺度网络分裂成微小的孤立碎片）。</a:t>
            </a:r>
            <a:r>
              <a:rPr lang="en-US" altLang="zh-CN" sz="2400" dirty="0">
                <a:solidFill>
                  <a:srgbClr val="FF0000"/>
                </a:solidFill>
              </a:rPr>
              <a:t>CDN Loop</a:t>
            </a:r>
            <a:r>
              <a:rPr lang="zh-CN" altLang="en-US" sz="2400" dirty="0">
                <a:solidFill>
                  <a:srgbClr val="FF0000"/>
                </a:solidFill>
              </a:rPr>
              <a:t>攻击</a:t>
            </a:r>
          </a:p>
        </p:txBody>
      </p:sp>
    </p:spTree>
    <p:extLst>
      <p:ext uri="{BB962C8B-B14F-4D97-AF65-F5344CB8AC3E}">
        <p14:creationId xmlns:p14="http://schemas.microsoft.com/office/powerpoint/2010/main" val="32587854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1263650" y="230648"/>
            <a:ext cx="7129463" cy="792163"/>
          </a:xfrm>
        </p:spPr>
        <p:txBody>
          <a:bodyPr/>
          <a:lstStyle/>
          <a:p>
            <a:r>
              <a:rPr lang="zh-CN" altLang="en-US" dirty="0"/>
              <a:t>计算机网络的脆弱性</a:t>
            </a:r>
          </a:p>
        </p:txBody>
      </p:sp>
      <p:sp>
        <p:nvSpPr>
          <p:cNvPr id="128003" name="Rectangle 3"/>
          <p:cNvSpPr>
            <a:spLocks noGrp="1" noChangeArrowheads="1"/>
          </p:cNvSpPr>
          <p:nvPr>
            <p:ph type="body" idx="1"/>
          </p:nvPr>
        </p:nvSpPr>
        <p:spPr>
          <a:xfrm>
            <a:off x="325744" y="1355673"/>
            <a:ext cx="8375803" cy="4779655"/>
          </a:xfrm>
        </p:spPr>
        <p:txBody>
          <a:bodyPr/>
          <a:lstStyle/>
          <a:p>
            <a:r>
              <a:rPr lang="zh-CN" altLang="en-US" b="0" dirty="0"/>
              <a:t>问题七：</a:t>
            </a:r>
            <a:r>
              <a:rPr lang="zh-CN" altLang="en-US" b="0" dirty="0">
                <a:solidFill>
                  <a:srgbClr val="FF3300"/>
                </a:solidFill>
              </a:rPr>
              <a:t>互联网的级联特性</a:t>
            </a:r>
            <a:endParaRPr lang="en-US" altLang="zh-CN" b="0" dirty="0">
              <a:solidFill>
                <a:srgbClr val="FF3300"/>
              </a:solidFill>
            </a:endParaRPr>
          </a:p>
          <a:p>
            <a:pPr lvl="1"/>
            <a:r>
              <a:rPr lang="zh-CN" altLang="en-US" sz="2400" b="0" dirty="0"/>
              <a:t>互联网是一个由路由器将众多小的网络级联而成的大网络。当网络中的一条通讯线路发生变化时，附近的路由器会通过“边界网关协议</a:t>
            </a:r>
            <a:r>
              <a:rPr lang="en-US" altLang="zh-CN" sz="2400" b="0" dirty="0"/>
              <a:t>(BGP)”</a:t>
            </a:r>
            <a:r>
              <a:rPr lang="zh-CN" altLang="en-US" sz="2400" b="0" dirty="0"/>
              <a:t>向其邻近的路由器发出通知。这些路由器接着又向其他邻近路由器发出通知，最后将新路径的情况发布到整个互联网。也就是说，一个路由器消息可以逐级影响到网络中的其它路由器，形成“蝴蝶效应”。</a:t>
            </a:r>
            <a:r>
              <a:rPr lang="zh-CN" altLang="en-US" sz="2400" b="0" dirty="0">
                <a:solidFill>
                  <a:srgbClr val="FF0000"/>
                </a:solidFill>
              </a:rPr>
              <a:t>“网络数字大炮”</a:t>
            </a:r>
            <a:endParaRPr lang="zh-CN" altLang="en-US" sz="2400" dirty="0">
              <a:solidFill>
                <a:srgbClr val="FF0000"/>
              </a:solidFill>
            </a:endParaRPr>
          </a:p>
        </p:txBody>
      </p:sp>
    </p:spTree>
    <p:extLst>
      <p:ext uri="{BB962C8B-B14F-4D97-AF65-F5344CB8AC3E}">
        <p14:creationId xmlns:p14="http://schemas.microsoft.com/office/powerpoint/2010/main" val="7224603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1263650" y="230648"/>
            <a:ext cx="7129463" cy="792163"/>
          </a:xfrm>
        </p:spPr>
        <p:txBody>
          <a:bodyPr/>
          <a:lstStyle/>
          <a:p>
            <a:r>
              <a:rPr lang="zh-CN" altLang="en-US" dirty="0"/>
              <a:t>计算机网络的脆弱性</a:t>
            </a:r>
          </a:p>
        </p:txBody>
      </p:sp>
      <p:sp>
        <p:nvSpPr>
          <p:cNvPr id="128003" name="Rectangle 3"/>
          <p:cNvSpPr>
            <a:spLocks noGrp="1" noChangeArrowheads="1"/>
          </p:cNvSpPr>
          <p:nvPr>
            <p:ph type="body" idx="1"/>
          </p:nvPr>
        </p:nvSpPr>
        <p:spPr>
          <a:xfrm>
            <a:off x="325744" y="1355673"/>
            <a:ext cx="8375803" cy="4779655"/>
          </a:xfrm>
        </p:spPr>
        <p:txBody>
          <a:bodyPr/>
          <a:lstStyle/>
          <a:p>
            <a:r>
              <a:rPr lang="zh-CN" altLang="en-US" b="0" dirty="0"/>
              <a:t>问题八：</a:t>
            </a:r>
            <a:r>
              <a:rPr lang="zh-CN" altLang="en-US" b="0" dirty="0">
                <a:solidFill>
                  <a:srgbClr val="FF3300"/>
                </a:solidFill>
              </a:rPr>
              <a:t>中间盒子（</a:t>
            </a:r>
            <a:r>
              <a:rPr lang="en-US" altLang="zh-CN" b="0" dirty="0">
                <a:solidFill>
                  <a:srgbClr val="FF3300"/>
                </a:solidFill>
              </a:rPr>
              <a:t>Middle Box</a:t>
            </a:r>
            <a:r>
              <a:rPr lang="zh-CN" altLang="en-US" b="0" dirty="0">
                <a:solidFill>
                  <a:srgbClr val="FF3300"/>
                </a:solidFill>
              </a:rPr>
              <a:t>）</a:t>
            </a:r>
            <a:endParaRPr lang="en-US" altLang="zh-CN" b="0" dirty="0">
              <a:solidFill>
                <a:srgbClr val="FF3300"/>
              </a:solidFill>
            </a:endParaRPr>
          </a:p>
          <a:p>
            <a:pPr lvl="1"/>
            <a:r>
              <a:rPr lang="zh-CN" altLang="en-US" b="0" dirty="0"/>
              <a:t>违背了“</a:t>
            </a:r>
            <a:r>
              <a:rPr lang="zh-CN" altLang="en-US" b="0" dirty="0">
                <a:solidFill>
                  <a:srgbClr val="FF0000"/>
                </a:solidFill>
              </a:rPr>
              <a:t>端到端原则</a:t>
            </a:r>
            <a:r>
              <a:rPr lang="zh-CN" altLang="en-US" b="0" dirty="0"/>
              <a:t>”</a:t>
            </a:r>
            <a:r>
              <a:rPr lang="zh-CN" altLang="zh-CN" dirty="0"/>
              <a:t>，</a:t>
            </a:r>
            <a:r>
              <a:rPr lang="zh-CN" altLang="zh-CN" b="0" dirty="0"/>
              <a:t>从源端到目的端的数据分组的完整性无法被保证，互联网透明性逐渐丧失</a:t>
            </a:r>
            <a:endParaRPr lang="en-US" altLang="zh-CN" b="0" dirty="0"/>
          </a:p>
          <a:p>
            <a:pPr lvl="1"/>
            <a:endParaRPr lang="zh-CN" altLang="en-US" sz="2400" dirty="0">
              <a:solidFill>
                <a:srgbClr val="FF0000"/>
              </a:solidFill>
            </a:endParaRPr>
          </a:p>
        </p:txBody>
      </p:sp>
    </p:spTree>
    <p:extLst>
      <p:ext uri="{BB962C8B-B14F-4D97-AF65-F5344CB8AC3E}">
        <p14:creationId xmlns:p14="http://schemas.microsoft.com/office/powerpoint/2010/main" val="40839263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a:t>中间盒子</a:t>
            </a:r>
          </a:p>
        </p:txBody>
      </p:sp>
      <p:pic>
        <p:nvPicPr>
          <p:cNvPr id="4" name="图片 3"/>
          <p:cNvPicPr>
            <a:picLocks noChangeAspect="1"/>
          </p:cNvPicPr>
          <p:nvPr/>
        </p:nvPicPr>
        <p:blipFill>
          <a:blip r:embed="rId3"/>
          <a:stretch>
            <a:fillRect/>
          </a:stretch>
        </p:blipFill>
        <p:spPr>
          <a:xfrm>
            <a:off x="1058863" y="1257300"/>
            <a:ext cx="6972300" cy="5257800"/>
          </a:xfrm>
          <a:prstGeom prst="rect">
            <a:avLst/>
          </a:prstGeom>
        </p:spPr>
      </p:pic>
    </p:spTree>
    <p:extLst>
      <p:ext uri="{BB962C8B-B14F-4D97-AF65-F5344CB8AC3E}">
        <p14:creationId xmlns:p14="http://schemas.microsoft.com/office/powerpoint/2010/main" val="157667659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a:t>中间盒子</a:t>
            </a:r>
          </a:p>
        </p:txBody>
      </p:sp>
      <p:pic>
        <p:nvPicPr>
          <p:cNvPr id="4" name="图片 3"/>
          <p:cNvPicPr>
            <a:picLocks noChangeAspect="1"/>
          </p:cNvPicPr>
          <p:nvPr/>
        </p:nvPicPr>
        <p:blipFill>
          <a:blip r:embed="rId3"/>
          <a:stretch>
            <a:fillRect/>
          </a:stretch>
        </p:blipFill>
        <p:spPr>
          <a:xfrm>
            <a:off x="1150938" y="1301915"/>
            <a:ext cx="6991350" cy="5200650"/>
          </a:xfrm>
          <a:prstGeom prst="rect">
            <a:avLst/>
          </a:prstGeom>
        </p:spPr>
      </p:pic>
    </p:spTree>
    <p:extLst>
      <p:ext uri="{BB962C8B-B14F-4D97-AF65-F5344CB8AC3E}">
        <p14:creationId xmlns:p14="http://schemas.microsoft.com/office/powerpoint/2010/main" val="193621577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a:t>中间盒子</a:t>
            </a:r>
          </a:p>
        </p:txBody>
      </p:sp>
      <p:pic>
        <p:nvPicPr>
          <p:cNvPr id="5" name="图片 4"/>
          <p:cNvPicPr>
            <a:picLocks noChangeAspect="1"/>
          </p:cNvPicPr>
          <p:nvPr/>
        </p:nvPicPr>
        <p:blipFill>
          <a:blip r:embed="rId3"/>
          <a:stretch>
            <a:fillRect/>
          </a:stretch>
        </p:blipFill>
        <p:spPr>
          <a:xfrm>
            <a:off x="931760" y="1733088"/>
            <a:ext cx="6867525" cy="4276725"/>
          </a:xfrm>
          <a:prstGeom prst="rect">
            <a:avLst/>
          </a:prstGeom>
        </p:spPr>
      </p:pic>
    </p:spTree>
    <p:extLst>
      <p:ext uri="{BB962C8B-B14F-4D97-AF65-F5344CB8AC3E}">
        <p14:creationId xmlns:p14="http://schemas.microsoft.com/office/powerpoint/2010/main" val="342926020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a:t>中间盒子</a:t>
            </a:r>
          </a:p>
        </p:txBody>
      </p:sp>
      <p:pic>
        <p:nvPicPr>
          <p:cNvPr id="4" name="图片 3"/>
          <p:cNvPicPr>
            <a:picLocks noChangeAspect="1"/>
          </p:cNvPicPr>
          <p:nvPr/>
        </p:nvPicPr>
        <p:blipFill>
          <a:blip r:embed="rId3"/>
          <a:stretch>
            <a:fillRect/>
          </a:stretch>
        </p:blipFill>
        <p:spPr>
          <a:xfrm>
            <a:off x="894121" y="1659500"/>
            <a:ext cx="6972300" cy="2152650"/>
          </a:xfrm>
          <a:prstGeom prst="rect">
            <a:avLst/>
          </a:prstGeom>
        </p:spPr>
      </p:pic>
      <p:pic>
        <p:nvPicPr>
          <p:cNvPr id="6" name="图片 5"/>
          <p:cNvPicPr>
            <a:picLocks noChangeAspect="1"/>
          </p:cNvPicPr>
          <p:nvPr/>
        </p:nvPicPr>
        <p:blipFill>
          <a:blip r:embed="rId4"/>
          <a:stretch>
            <a:fillRect/>
          </a:stretch>
        </p:blipFill>
        <p:spPr>
          <a:xfrm>
            <a:off x="1026856" y="4059238"/>
            <a:ext cx="6372225" cy="1609725"/>
          </a:xfrm>
          <a:prstGeom prst="rect">
            <a:avLst/>
          </a:prstGeom>
        </p:spPr>
      </p:pic>
    </p:spTree>
    <p:extLst>
      <p:ext uri="{BB962C8B-B14F-4D97-AF65-F5344CB8AC3E}">
        <p14:creationId xmlns:p14="http://schemas.microsoft.com/office/powerpoint/2010/main" val="385651282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a:t>中间盒子</a:t>
            </a:r>
          </a:p>
        </p:txBody>
      </p:sp>
      <p:pic>
        <p:nvPicPr>
          <p:cNvPr id="5" name="图片 4"/>
          <p:cNvPicPr>
            <a:picLocks noChangeAspect="1"/>
          </p:cNvPicPr>
          <p:nvPr/>
        </p:nvPicPr>
        <p:blipFill>
          <a:blip r:embed="rId3"/>
          <a:stretch>
            <a:fillRect/>
          </a:stretch>
        </p:blipFill>
        <p:spPr>
          <a:xfrm>
            <a:off x="1120775" y="1354547"/>
            <a:ext cx="6848475" cy="4886325"/>
          </a:xfrm>
          <a:prstGeom prst="rect">
            <a:avLst/>
          </a:prstGeom>
        </p:spPr>
      </p:pic>
    </p:spTree>
    <p:extLst>
      <p:ext uri="{BB962C8B-B14F-4D97-AF65-F5344CB8AC3E}">
        <p14:creationId xmlns:p14="http://schemas.microsoft.com/office/powerpoint/2010/main" val="403469919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a:t>中间盒子</a:t>
            </a:r>
          </a:p>
        </p:txBody>
      </p:sp>
      <p:pic>
        <p:nvPicPr>
          <p:cNvPr id="6" name="图片 5"/>
          <p:cNvPicPr>
            <a:picLocks noChangeAspect="1"/>
          </p:cNvPicPr>
          <p:nvPr/>
        </p:nvPicPr>
        <p:blipFill>
          <a:blip r:embed="rId3"/>
          <a:stretch>
            <a:fillRect/>
          </a:stretch>
        </p:blipFill>
        <p:spPr>
          <a:xfrm>
            <a:off x="906189" y="1261570"/>
            <a:ext cx="6953250" cy="4933950"/>
          </a:xfrm>
          <a:prstGeom prst="rect">
            <a:avLst/>
          </a:prstGeom>
        </p:spPr>
      </p:pic>
    </p:spTree>
    <p:extLst>
      <p:ext uri="{BB962C8B-B14F-4D97-AF65-F5344CB8AC3E}">
        <p14:creationId xmlns:p14="http://schemas.microsoft.com/office/powerpoint/2010/main" val="149400939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a:t>中间盒子</a:t>
            </a:r>
          </a:p>
        </p:txBody>
      </p:sp>
      <p:pic>
        <p:nvPicPr>
          <p:cNvPr id="5" name="图片 4"/>
          <p:cNvPicPr>
            <a:picLocks noChangeAspect="1"/>
          </p:cNvPicPr>
          <p:nvPr/>
        </p:nvPicPr>
        <p:blipFill>
          <a:blip r:embed="rId3"/>
          <a:stretch>
            <a:fillRect/>
          </a:stretch>
        </p:blipFill>
        <p:spPr>
          <a:xfrm>
            <a:off x="1068388" y="1330216"/>
            <a:ext cx="6953250" cy="5143500"/>
          </a:xfrm>
          <a:prstGeom prst="rect">
            <a:avLst/>
          </a:prstGeom>
        </p:spPr>
      </p:pic>
    </p:spTree>
    <p:extLst>
      <p:ext uri="{BB962C8B-B14F-4D97-AF65-F5344CB8AC3E}">
        <p14:creationId xmlns:p14="http://schemas.microsoft.com/office/powerpoint/2010/main" val="326549608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a:t>中间盒子</a:t>
            </a:r>
          </a:p>
        </p:txBody>
      </p:sp>
      <p:pic>
        <p:nvPicPr>
          <p:cNvPr id="4" name="图片 3"/>
          <p:cNvPicPr>
            <a:picLocks noChangeAspect="1"/>
          </p:cNvPicPr>
          <p:nvPr/>
        </p:nvPicPr>
        <p:blipFill>
          <a:blip r:embed="rId3"/>
          <a:stretch>
            <a:fillRect/>
          </a:stretch>
        </p:blipFill>
        <p:spPr>
          <a:xfrm>
            <a:off x="1150938" y="1101725"/>
            <a:ext cx="6934200" cy="5229225"/>
          </a:xfrm>
          <a:prstGeom prst="rect">
            <a:avLst/>
          </a:prstGeom>
        </p:spPr>
      </p:pic>
    </p:spTree>
    <p:extLst>
      <p:ext uri="{BB962C8B-B14F-4D97-AF65-F5344CB8AC3E}">
        <p14:creationId xmlns:p14="http://schemas.microsoft.com/office/powerpoint/2010/main" val="25400886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b="0" dirty="0"/>
              <a:t>清华大学段海新教授团队关于中间盒子主要研究成果</a:t>
            </a:r>
          </a:p>
        </p:txBody>
      </p:sp>
      <p:sp>
        <p:nvSpPr>
          <p:cNvPr id="3" name="标题 2"/>
          <p:cNvSpPr>
            <a:spLocks noGrp="1"/>
          </p:cNvSpPr>
          <p:nvPr>
            <p:ph type="title"/>
          </p:nvPr>
        </p:nvSpPr>
        <p:spPr/>
        <p:txBody>
          <a:bodyPr/>
          <a:lstStyle/>
          <a:p>
            <a:r>
              <a:rPr lang="zh-CN" altLang="en-US" dirty="0"/>
              <a:t>中间盒子</a:t>
            </a:r>
          </a:p>
        </p:txBody>
      </p:sp>
      <p:pic>
        <p:nvPicPr>
          <p:cNvPr id="7" name="图片 6"/>
          <p:cNvPicPr>
            <a:picLocks noChangeAspect="1"/>
          </p:cNvPicPr>
          <p:nvPr/>
        </p:nvPicPr>
        <p:blipFill>
          <a:blip r:embed="rId3"/>
          <a:stretch>
            <a:fillRect/>
          </a:stretch>
        </p:blipFill>
        <p:spPr>
          <a:xfrm>
            <a:off x="890587" y="3096577"/>
            <a:ext cx="6753225" cy="2371725"/>
          </a:xfrm>
          <a:prstGeom prst="rect">
            <a:avLst/>
          </a:prstGeom>
          <a:ln>
            <a:solidFill>
              <a:srgbClr val="FF0000"/>
            </a:solidFill>
          </a:ln>
        </p:spPr>
      </p:pic>
    </p:spTree>
    <p:extLst>
      <p:ext uri="{BB962C8B-B14F-4D97-AF65-F5344CB8AC3E}">
        <p14:creationId xmlns:p14="http://schemas.microsoft.com/office/powerpoint/2010/main" val="105629242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97853" y="1310323"/>
            <a:ext cx="7772400" cy="4114800"/>
          </a:xfrm>
        </p:spPr>
        <p:txBody>
          <a:bodyPr/>
          <a:lstStyle/>
          <a:p>
            <a:r>
              <a:rPr lang="zh-CN" altLang="en-US" b="0" dirty="0"/>
              <a:t>清华大学段海新教授：</a:t>
            </a:r>
          </a:p>
        </p:txBody>
      </p:sp>
      <p:sp>
        <p:nvSpPr>
          <p:cNvPr id="3" name="标题 2"/>
          <p:cNvSpPr>
            <a:spLocks noGrp="1"/>
          </p:cNvSpPr>
          <p:nvPr>
            <p:ph type="title"/>
          </p:nvPr>
        </p:nvSpPr>
        <p:spPr/>
        <p:txBody>
          <a:bodyPr/>
          <a:lstStyle/>
          <a:p>
            <a:r>
              <a:rPr lang="zh-CN" altLang="en-US" dirty="0"/>
              <a:t>中间盒子</a:t>
            </a:r>
          </a:p>
        </p:txBody>
      </p:sp>
      <p:pic>
        <p:nvPicPr>
          <p:cNvPr id="4" name="图片 3"/>
          <p:cNvPicPr>
            <a:picLocks noChangeAspect="1"/>
          </p:cNvPicPr>
          <p:nvPr/>
        </p:nvPicPr>
        <p:blipFill>
          <a:blip r:embed="rId3"/>
          <a:stretch>
            <a:fillRect/>
          </a:stretch>
        </p:blipFill>
        <p:spPr>
          <a:xfrm>
            <a:off x="851535" y="2124075"/>
            <a:ext cx="6496050" cy="3829050"/>
          </a:xfrm>
          <a:prstGeom prst="rect">
            <a:avLst/>
          </a:prstGeom>
          <a:ln>
            <a:solidFill>
              <a:srgbClr val="FF0000"/>
            </a:solidFill>
          </a:ln>
        </p:spPr>
      </p:pic>
    </p:spTree>
    <p:extLst>
      <p:ext uri="{BB962C8B-B14F-4D97-AF65-F5344CB8AC3E}">
        <p14:creationId xmlns:p14="http://schemas.microsoft.com/office/powerpoint/2010/main" val="274077080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zh-CN" altLang="en-US"/>
              <a:t>内容提纲</a:t>
            </a:r>
            <a:endParaRPr lang="en-US" altLang="zh-CN">
              <a:solidFill>
                <a:schemeClr val="accent1"/>
              </a:solidFill>
            </a:endParaRPr>
          </a:p>
        </p:txBody>
      </p:sp>
      <p:sp>
        <p:nvSpPr>
          <p:cNvPr id="30723" name="Text Box 3"/>
          <p:cNvSpPr txBox="1">
            <a:spLocks noChangeArrowheads="1"/>
          </p:cNvSpPr>
          <p:nvPr/>
        </p:nvSpPr>
        <p:spPr bwMode="auto">
          <a:xfrm>
            <a:off x="1660525" y="722313"/>
            <a:ext cx="184150" cy="366712"/>
          </a:xfrm>
          <a:prstGeom prst="rect">
            <a:avLst/>
          </a:prstGeom>
          <a:noFill/>
          <a:ln w="9525">
            <a:noFill/>
            <a:miter lim="800000"/>
            <a:headEnd/>
            <a:tailEnd/>
          </a:ln>
        </p:spPr>
        <p:txBody>
          <a:bodyPr wrap="none">
            <a:spAutoFit/>
          </a:bodyPr>
          <a:lstStyle/>
          <a:p>
            <a:endParaRPr lang="zh-CN" altLang="en-US">
              <a:ea typeface="宋体" charset="-122"/>
            </a:endParaRPr>
          </a:p>
        </p:txBody>
      </p:sp>
      <p:sp>
        <p:nvSpPr>
          <p:cNvPr id="30724" name="Line 4"/>
          <p:cNvSpPr>
            <a:spLocks noChangeShapeType="1"/>
          </p:cNvSpPr>
          <p:nvPr/>
        </p:nvSpPr>
        <p:spPr bwMode="gray">
          <a:xfrm>
            <a:off x="1252538" y="3382750"/>
            <a:ext cx="6167437" cy="7937"/>
          </a:xfrm>
          <a:prstGeom prst="line">
            <a:avLst/>
          </a:prstGeom>
          <a:noFill/>
          <a:ln w="25400">
            <a:solidFill>
              <a:srgbClr val="C0C0C0"/>
            </a:solidFill>
            <a:prstDash val="sysDot"/>
            <a:round/>
            <a:headEnd/>
            <a:tailEnd type="oval" w="med" len="med"/>
          </a:ln>
        </p:spPr>
        <p:txBody>
          <a:bodyPr wrap="none" anchor="ctr"/>
          <a:lstStyle/>
          <a:p>
            <a:endParaRPr lang="zh-CN" altLang="en-US"/>
          </a:p>
        </p:txBody>
      </p:sp>
      <p:sp>
        <p:nvSpPr>
          <p:cNvPr id="30725" name="Rectangle 5"/>
          <p:cNvSpPr>
            <a:spLocks noChangeArrowheads="1"/>
          </p:cNvSpPr>
          <p:nvPr/>
        </p:nvSpPr>
        <p:spPr bwMode="gray">
          <a:xfrm rot="3419336">
            <a:off x="979487" y="2806488"/>
            <a:ext cx="479425" cy="520700"/>
          </a:xfrm>
          <a:prstGeom prst="rect">
            <a:avLst/>
          </a:prstGeom>
          <a:solidFill>
            <a:srgbClr val="9369E7"/>
          </a:solidFill>
          <a:ln w="9525">
            <a:miter lim="800000"/>
            <a:headEnd/>
            <a:tailEnd/>
          </a:ln>
          <a:scene3d>
            <a:camera prst="legacyPerspectiveFront">
              <a:rot lat="0" lon="1500000" rev="0"/>
            </a:camera>
            <a:lightRig rig="legacyFlat4" dir="b"/>
          </a:scene3d>
          <a:sp3d extrusionH="430200" prstMaterial="legacyMatte">
            <a:bevelT w="13500" h="13500" prst="angle"/>
            <a:bevelB w="13500" h="13500" prst="angle"/>
            <a:extrusionClr>
              <a:srgbClr val="9369E7"/>
            </a:extrusionClr>
          </a:sp3d>
        </p:spPr>
        <p:txBody>
          <a:bodyPr wrap="none" anchor="ctr">
            <a:flatTx/>
          </a:bodyPr>
          <a:lstStyle/>
          <a:p>
            <a:endParaRPr lang="zh-CN" altLang="en-US"/>
          </a:p>
        </p:txBody>
      </p:sp>
      <p:sp>
        <p:nvSpPr>
          <p:cNvPr id="30726" name="Text Box 6"/>
          <p:cNvSpPr txBox="1">
            <a:spLocks noChangeArrowheads="1"/>
          </p:cNvSpPr>
          <p:nvPr/>
        </p:nvSpPr>
        <p:spPr bwMode="gray">
          <a:xfrm>
            <a:off x="1785938" y="2769975"/>
            <a:ext cx="5634036" cy="579437"/>
          </a:xfrm>
          <a:prstGeom prst="rect">
            <a:avLst/>
          </a:prstGeom>
          <a:noFill/>
          <a:ln w="9525" algn="ctr">
            <a:noFill/>
            <a:miter lim="800000"/>
            <a:headEnd/>
            <a:tailEnd/>
          </a:ln>
        </p:spPr>
        <p:txBody>
          <a:bodyPr>
            <a:spAutoFit/>
          </a:bodyPr>
          <a:lstStyle>
            <a:defPPr>
              <a:defRPr lang="zh-CN"/>
            </a:defPPr>
            <a:lvl1pPr eaLnBrk="0" hangingPunct="0">
              <a:defRPr sz="3200">
                <a:solidFill>
                  <a:srgbClr val="000000"/>
                </a:solidFill>
                <a:latin typeface="Times New Roman" panose="02020603050405020304" pitchFamily="18" charset="0"/>
                <a:cs typeface="Times New Roman" panose="02020603050405020304" pitchFamily="18" charset="0"/>
              </a:defRPr>
            </a:lvl1pPr>
          </a:lstStyle>
          <a:p>
            <a:r>
              <a:rPr lang="zh-CN" altLang="en-US" dirty="0"/>
              <a:t>网络体系结构的脆弱性</a:t>
            </a:r>
          </a:p>
        </p:txBody>
      </p:sp>
      <p:sp>
        <p:nvSpPr>
          <p:cNvPr id="30727" name="Text Box 7"/>
          <p:cNvSpPr txBox="1">
            <a:spLocks noChangeArrowheads="1"/>
          </p:cNvSpPr>
          <p:nvPr/>
        </p:nvSpPr>
        <p:spPr bwMode="gray">
          <a:xfrm>
            <a:off x="1057275" y="2838237"/>
            <a:ext cx="354013" cy="457200"/>
          </a:xfrm>
          <a:prstGeom prst="rect">
            <a:avLst/>
          </a:prstGeom>
          <a:noFill/>
          <a:ln w="9525" algn="ctr">
            <a:noFill/>
            <a:miter lim="800000"/>
            <a:headEnd/>
            <a:tailEnd/>
          </a:ln>
        </p:spPr>
        <p:txBody>
          <a:bodyPr wrap="none">
            <a:spAutoFit/>
          </a:bodyPr>
          <a:lstStyle/>
          <a:p>
            <a:pPr algn="ctr" eaLnBrk="0" hangingPunct="0"/>
            <a:r>
              <a:rPr lang="en-US" altLang="zh-CN" sz="2400" b="1">
                <a:solidFill>
                  <a:schemeClr val="bg1"/>
                </a:solidFill>
                <a:ea typeface="宋体" charset="-122"/>
              </a:rPr>
              <a:t>2</a:t>
            </a:r>
          </a:p>
        </p:txBody>
      </p:sp>
      <p:sp>
        <p:nvSpPr>
          <p:cNvPr id="30728" name="Rectangle 8"/>
          <p:cNvSpPr>
            <a:spLocks noChangeArrowheads="1"/>
          </p:cNvSpPr>
          <p:nvPr/>
        </p:nvSpPr>
        <p:spPr bwMode="gray">
          <a:xfrm rot="3419336">
            <a:off x="973137" y="3884896"/>
            <a:ext cx="479425" cy="520700"/>
          </a:xfrm>
          <a:prstGeom prst="rect">
            <a:avLst/>
          </a:prstGeom>
          <a:solidFill>
            <a:srgbClr val="669900"/>
          </a:solidFill>
          <a:ln w="9525">
            <a:miter lim="800000"/>
            <a:headEnd/>
            <a:tailEnd/>
          </a:ln>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p>
        </p:txBody>
      </p:sp>
      <p:sp>
        <p:nvSpPr>
          <p:cNvPr id="30729" name="Text Box 9"/>
          <p:cNvSpPr txBox="1">
            <a:spLocks noChangeArrowheads="1"/>
          </p:cNvSpPr>
          <p:nvPr/>
        </p:nvSpPr>
        <p:spPr bwMode="gray">
          <a:xfrm>
            <a:off x="1779588" y="3848383"/>
            <a:ext cx="5640386" cy="579438"/>
          </a:xfrm>
          <a:prstGeom prst="rect">
            <a:avLst/>
          </a:prstGeom>
          <a:solidFill>
            <a:srgbClr val="FF6600"/>
          </a:solidFill>
          <a:ln w="9525" algn="ctr">
            <a:noFill/>
            <a:miter lim="800000"/>
            <a:headEnd/>
            <a:tailEnd/>
          </a:ln>
        </p:spPr>
        <p:txBody>
          <a:bodyPr wrap="square">
            <a:spAutoFit/>
          </a:bodyPr>
          <a:lstStyle>
            <a:defPPr>
              <a:defRPr lang="zh-CN"/>
            </a:defPPr>
            <a:lvl1pPr eaLnBrk="0" hangingPunct="0">
              <a:defRPr sz="3200">
                <a:solidFill>
                  <a:srgbClr val="000000"/>
                </a:solidFill>
                <a:latin typeface="Times New Roman" panose="02020603050405020304" pitchFamily="18" charset="0"/>
                <a:ea typeface="黑体" panose="02010609060101010101" pitchFamily="49" charset="-122"/>
              </a:defRPr>
            </a:lvl1pPr>
          </a:lstStyle>
          <a:p>
            <a:r>
              <a:rPr lang="zh-CN" altLang="en-US" dirty="0"/>
              <a:t>典型网络协议的脆弱性</a:t>
            </a:r>
          </a:p>
        </p:txBody>
      </p:sp>
      <p:sp>
        <p:nvSpPr>
          <p:cNvPr id="30730" name="Text Box 10"/>
          <p:cNvSpPr txBox="1">
            <a:spLocks noChangeArrowheads="1"/>
          </p:cNvSpPr>
          <p:nvPr/>
        </p:nvSpPr>
        <p:spPr bwMode="gray">
          <a:xfrm>
            <a:off x="1050925" y="3916646"/>
            <a:ext cx="354013" cy="457200"/>
          </a:xfrm>
          <a:prstGeom prst="rect">
            <a:avLst/>
          </a:prstGeom>
          <a:noFill/>
          <a:ln w="9525" algn="ctr">
            <a:noFill/>
            <a:miter lim="800000"/>
            <a:headEnd/>
            <a:tailEnd/>
          </a:ln>
        </p:spPr>
        <p:txBody>
          <a:bodyPr wrap="none">
            <a:spAutoFit/>
          </a:bodyPr>
          <a:lstStyle/>
          <a:p>
            <a:pPr algn="ctr" eaLnBrk="0" hangingPunct="0"/>
            <a:r>
              <a:rPr lang="en-US" altLang="zh-CN" sz="2400" b="1">
                <a:solidFill>
                  <a:schemeClr val="bg1"/>
                </a:solidFill>
                <a:ea typeface="宋体" charset="-122"/>
              </a:rPr>
              <a:t>3</a:t>
            </a:r>
          </a:p>
        </p:txBody>
      </p:sp>
      <p:sp>
        <p:nvSpPr>
          <p:cNvPr id="30731" name="Line 11"/>
          <p:cNvSpPr>
            <a:spLocks noChangeShapeType="1"/>
          </p:cNvSpPr>
          <p:nvPr/>
        </p:nvSpPr>
        <p:spPr bwMode="gray">
          <a:xfrm>
            <a:off x="1252538" y="4470683"/>
            <a:ext cx="6167437" cy="7938"/>
          </a:xfrm>
          <a:prstGeom prst="line">
            <a:avLst/>
          </a:prstGeom>
          <a:noFill/>
          <a:ln w="25400">
            <a:solidFill>
              <a:srgbClr val="C0C0C0"/>
            </a:solidFill>
            <a:prstDash val="sysDot"/>
            <a:round/>
            <a:headEnd/>
            <a:tailEnd type="oval" w="med" len="med"/>
          </a:ln>
        </p:spPr>
        <p:txBody>
          <a:bodyPr wrap="none" anchor="ctr"/>
          <a:lstStyle/>
          <a:p>
            <a:endParaRPr lang="zh-CN" altLang="en-US"/>
          </a:p>
        </p:txBody>
      </p:sp>
      <p:sp>
        <p:nvSpPr>
          <p:cNvPr id="30732" name="Rectangle 12"/>
          <p:cNvSpPr>
            <a:spLocks noChangeArrowheads="1"/>
          </p:cNvSpPr>
          <p:nvPr/>
        </p:nvSpPr>
        <p:spPr bwMode="gray">
          <a:xfrm rot="3419336">
            <a:off x="987425" y="4933469"/>
            <a:ext cx="479425" cy="520700"/>
          </a:xfrm>
          <a:prstGeom prst="rect">
            <a:avLst/>
          </a:prstGeom>
          <a:solidFill>
            <a:srgbClr val="9369E7"/>
          </a:solidFill>
          <a:ln w="9525">
            <a:miter lim="800000"/>
            <a:headEnd/>
            <a:tailEnd/>
          </a:ln>
          <a:scene3d>
            <a:camera prst="legacyPerspectiveFront">
              <a:rot lat="0" lon="1500000" rev="0"/>
            </a:camera>
            <a:lightRig rig="legacyFlat4" dir="b"/>
          </a:scene3d>
          <a:sp3d extrusionH="430200" prstMaterial="legacyMatte">
            <a:bevelT w="13500" h="13500" prst="angle"/>
            <a:bevelB w="13500" h="13500" prst="angle"/>
            <a:extrusionClr>
              <a:srgbClr val="9369E7"/>
            </a:extrusionClr>
          </a:sp3d>
        </p:spPr>
        <p:txBody>
          <a:bodyPr wrap="none" anchor="ctr">
            <a:flatTx/>
          </a:bodyPr>
          <a:lstStyle/>
          <a:p>
            <a:endParaRPr lang="zh-CN" altLang="en-US"/>
          </a:p>
        </p:txBody>
      </p:sp>
      <p:sp>
        <p:nvSpPr>
          <p:cNvPr id="30733" name="Text Box 13"/>
          <p:cNvSpPr txBox="1">
            <a:spLocks noChangeArrowheads="1"/>
          </p:cNvSpPr>
          <p:nvPr/>
        </p:nvSpPr>
        <p:spPr bwMode="gray">
          <a:xfrm>
            <a:off x="1785938" y="4912381"/>
            <a:ext cx="5634036" cy="579438"/>
          </a:xfrm>
          <a:prstGeom prst="rect">
            <a:avLst/>
          </a:prstGeom>
          <a:noFill/>
          <a:ln w="9525" algn="ctr">
            <a:noFill/>
            <a:miter lim="800000"/>
            <a:headEnd/>
            <a:tailEnd/>
          </a:ln>
        </p:spPr>
        <p:txBody>
          <a:bodyPr wrap="square">
            <a:spAutoFit/>
          </a:bodyPr>
          <a:lstStyle/>
          <a:p>
            <a:pPr eaLnBrk="0" hangingPunct="0"/>
            <a:r>
              <a:rPr lang="zh-CN" altLang="en-US" sz="3200" dirty="0">
                <a:solidFill>
                  <a:srgbClr val="000000"/>
                </a:solidFill>
              </a:rPr>
              <a:t>计算机系统安全分析</a:t>
            </a:r>
            <a:endParaRPr lang="zh-CN" altLang="en-US" sz="3200" b="1" dirty="0">
              <a:solidFill>
                <a:srgbClr val="000000"/>
              </a:solidFill>
            </a:endParaRPr>
          </a:p>
        </p:txBody>
      </p:sp>
      <p:sp>
        <p:nvSpPr>
          <p:cNvPr id="30734" name="Text Box 14"/>
          <p:cNvSpPr txBox="1">
            <a:spLocks noChangeArrowheads="1"/>
          </p:cNvSpPr>
          <p:nvPr/>
        </p:nvSpPr>
        <p:spPr bwMode="gray">
          <a:xfrm>
            <a:off x="1041400" y="4974744"/>
            <a:ext cx="355600" cy="461962"/>
          </a:xfrm>
          <a:prstGeom prst="rect">
            <a:avLst/>
          </a:prstGeom>
          <a:noFill/>
          <a:ln w="9525" algn="ctr">
            <a:noFill/>
            <a:miter lim="800000"/>
            <a:headEnd/>
            <a:tailEnd/>
          </a:ln>
        </p:spPr>
        <p:txBody>
          <a:bodyPr wrap="none">
            <a:spAutoFit/>
          </a:bodyPr>
          <a:lstStyle/>
          <a:p>
            <a:pPr algn="ctr" eaLnBrk="0" hangingPunct="0"/>
            <a:r>
              <a:rPr lang="en-US" altLang="zh-CN" sz="2400" b="1">
                <a:solidFill>
                  <a:schemeClr val="bg1"/>
                </a:solidFill>
                <a:ea typeface="宋体" charset="-122"/>
              </a:rPr>
              <a:t>4</a:t>
            </a:r>
          </a:p>
        </p:txBody>
      </p:sp>
      <p:sp>
        <p:nvSpPr>
          <p:cNvPr id="30735" name="Line 15"/>
          <p:cNvSpPr>
            <a:spLocks noChangeShapeType="1"/>
          </p:cNvSpPr>
          <p:nvPr/>
        </p:nvSpPr>
        <p:spPr bwMode="gray">
          <a:xfrm>
            <a:off x="1262063" y="5542619"/>
            <a:ext cx="6167437" cy="7938"/>
          </a:xfrm>
          <a:prstGeom prst="line">
            <a:avLst/>
          </a:prstGeom>
          <a:noFill/>
          <a:ln w="25400">
            <a:solidFill>
              <a:srgbClr val="C0C0C0"/>
            </a:solidFill>
            <a:prstDash val="sysDot"/>
            <a:round/>
            <a:headEnd/>
            <a:tailEnd type="oval" w="med" len="med"/>
          </a:ln>
        </p:spPr>
        <p:txBody>
          <a:bodyPr wrap="none" anchor="ctr"/>
          <a:lstStyle/>
          <a:p>
            <a:endParaRPr lang="zh-CN" altLang="en-US"/>
          </a:p>
        </p:txBody>
      </p:sp>
      <p:sp>
        <p:nvSpPr>
          <p:cNvPr id="30736" name="Rectangle 16"/>
          <p:cNvSpPr>
            <a:spLocks noChangeArrowheads="1"/>
          </p:cNvSpPr>
          <p:nvPr/>
        </p:nvSpPr>
        <p:spPr bwMode="gray">
          <a:xfrm rot="3419336">
            <a:off x="979487" y="1764832"/>
            <a:ext cx="479425" cy="520700"/>
          </a:xfrm>
          <a:prstGeom prst="rect">
            <a:avLst/>
          </a:prstGeom>
          <a:solidFill>
            <a:srgbClr val="669900"/>
          </a:solidFill>
          <a:ln w="9525">
            <a:miter lim="800000"/>
            <a:headEnd/>
            <a:tailEnd/>
          </a:ln>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p>
        </p:txBody>
      </p:sp>
      <p:sp>
        <p:nvSpPr>
          <p:cNvPr id="30737" name="Text Box 17"/>
          <p:cNvSpPr txBox="1">
            <a:spLocks noChangeArrowheads="1"/>
          </p:cNvSpPr>
          <p:nvPr/>
        </p:nvSpPr>
        <p:spPr bwMode="gray">
          <a:xfrm>
            <a:off x="1785937" y="1728319"/>
            <a:ext cx="5634037" cy="579438"/>
          </a:xfrm>
          <a:prstGeom prst="rect">
            <a:avLst/>
          </a:prstGeom>
          <a:noFill/>
          <a:ln w="9525" algn="ctr">
            <a:noFill/>
            <a:miter lim="800000"/>
            <a:headEnd/>
            <a:tailEnd/>
          </a:ln>
        </p:spPr>
        <p:txBody>
          <a:bodyPr>
            <a:spAutoFit/>
          </a:bodyPr>
          <a:lstStyle>
            <a:defPPr>
              <a:defRPr lang="zh-CN"/>
            </a:defPPr>
            <a:lvl1pPr eaLnBrk="0" hangingPunct="0">
              <a:defRPr sz="3200">
                <a:solidFill>
                  <a:srgbClr val="000000"/>
                </a:solidFill>
                <a:latin typeface="Times New Roman" panose="02020603050405020304" pitchFamily="18" charset="0"/>
                <a:cs typeface="Times New Roman" panose="02020603050405020304" pitchFamily="18" charset="0"/>
              </a:defRPr>
            </a:lvl1pPr>
          </a:lstStyle>
          <a:p>
            <a:r>
              <a:rPr lang="zh-CN" altLang="en-US" dirty="0"/>
              <a:t>计算机网络概述</a:t>
            </a:r>
          </a:p>
        </p:txBody>
      </p:sp>
      <p:sp>
        <p:nvSpPr>
          <p:cNvPr id="30738" name="Text Box 18"/>
          <p:cNvSpPr txBox="1">
            <a:spLocks noChangeArrowheads="1"/>
          </p:cNvSpPr>
          <p:nvPr/>
        </p:nvSpPr>
        <p:spPr bwMode="gray">
          <a:xfrm>
            <a:off x="1057275" y="1796582"/>
            <a:ext cx="354013" cy="457200"/>
          </a:xfrm>
          <a:prstGeom prst="rect">
            <a:avLst/>
          </a:prstGeom>
          <a:noFill/>
          <a:ln w="9525" algn="ctr">
            <a:noFill/>
            <a:miter lim="800000"/>
            <a:headEnd/>
            <a:tailEnd/>
          </a:ln>
        </p:spPr>
        <p:txBody>
          <a:bodyPr wrap="none">
            <a:spAutoFit/>
          </a:bodyPr>
          <a:lstStyle/>
          <a:p>
            <a:pPr algn="ctr" eaLnBrk="0" hangingPunct="0"/>
            <a:r>
              <a:rPr lang="en-US" altLang="zh-CN" sz="2400" b="1">
                <a:solidFill>
                  <a:schemeClr val="bg1"/>
                </a:solidFill>
                <a:ea typeface="宋体" charset="-122"/>
              </a:rPr>
              <a:t>1</a:t>
            </a:r>
          </a:p>
        </p:txBody>
      </p:sp>
      <p:sp>
        <p:nvSpPr>
          <p:cNvPr id="30739" name="Line 19"/>
          <p:cNvSpPr>
            <a:spLocks noChangeShapeType="1"/>
          </p:cNvSpPr>
          <p:nvPr/>
        </p:nvSpPr>
        <p:spPr bwMode="gray">
          <a:xfrm>
            <a:off x="1252538" y="2386467"/>
            <a:ext cx="6167437" cy="7938"/>
          </a:xfrm>
          <a:prstGeom prst="line">
            <a:avLst/>
          </a:prstGeom>
          <a:noFill/>
          <a:ln w="25400">
            <a:solidFill>
              <a:srgbClr val="C0C0C0"/>
            </a:solidFill>
            <a:prstDash val="sysDot"/>
            <a:round/>
            <a:headEnd/>
            <a:tailEnd type="oval" w="med" len="med"/>
          </a:ln>
        </p:spPr>
        <p:txBody>
          <a:bodyPr wrap="none" anchor="ctr"/>
          <a:lstStyle/>
          <a:p>
            <a:endParaRPr lang="zh-CN" altLang="en-US"/>
          </a:p>
        </p:txBody>
      </p:sp>
    </p:spTree>
    <p:extLst>
      <p:ext uri="{BB962C8B-B14F-4D97-AF65-F5344CB8AC3E}">
        <p14:creationId xmlns:p14="http://schemas.microsoft.com/office/powerpoint/2010/main" val="5656156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Grp="1" noChangeAspect="1"/>
          </p:cNvPicPr>
          <p:nvPr>
            <p:ph idx="1"/>
          </p:nvPr>
        </p:nvPicPr>
        <p:blipFill>
          <a:blip r:embed="rId2"/>
          <a:stretch>
            <a:fillRect/>
          </a:stretch>
        </p:blipFill>
        <p:spPr>
          <a:xfrm>
            <a:off x="1026222" y="1342255"/>
            <a:ext cx="6173475" cy="5066456"/>
          </a:xfrm>
          <a:prstGeom prst="rect">
            <a:avLst/>
          </a:prstGeom>
        </p:spPr>
      </p:pic>
      <p:sp>
        <p:nvSpPr>
          <p:cNvPr id="3" name="标题 2"/>
          <p:cNvSpPr>
            <a:spLocks noGrp="1"/>
          </p:cNvSpPr>
          <p:nvPr>
            <p:ph type="title"/>
          </p:nvPr>
        </p:nvSpPr>
        <p:spPr/>
        <p:txBody>
          <a:bodyPr/>
          <a:lstStyle/>
          <a:p>
            <a:r>
              <a:rPr lang="zh-CN" altLang="en-US" dirty="0" smtClean="0"/>
              <a:t>参考</a:t>
            </a:r>
            <a:r>
              <a:rPr lang="en-US" altLang="zh-CN" dirty="0" err="1" smtClean="0"/>
              <a:t>mooc</a:t>
            </a:r>
            <a:endParaRPr lang="zh-CN" altLang="en-US" dirty="0"/>
          </a:p>
        </p:txBody>
      </p:sp>
    </p:spTree>
    <p:extLst>
      <p:ext uri="{BB962C8B-B14F-4D97-AF65-F5344CB8AC3E}">
        <p14:creationId xmlns:p14="http://schemas.microsoft.com/office/powerpoint/2010/main" val="34034838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000916" y="2940511"/>
            <a:ext cx="5019316" cy="820327"/>
          </a:xfrm>
        </p:spPr>
        <p:txBody>
          <a:bodyPr/>
          <a:lstStyle/>
          <a:p>
            <a:pPr marL="0" indent="0">
              <a:buNone/>
            </a:pPr>
            <a:r>
              <a:rPr lang="zh-CN" altLang="en-US" b="1" dirty="0">
                <a:solidFill>
                  <a:srgbClr val="FF0000"/>
                </a:solidFill>
              </a:rPr>
              <a:t>一、</a:t>
            </a:r>
            <a:r>
              <a:rPr lang="en-US" altLang="zh-CN" b="1" dirty="0">
                <a:solidFill>
                  <a:srgbClr val="FF0000"/>
                </a:solidFill>
              </a:rPr>
              <a:t>IP</a:t>
            </a:r>
            <a:r>
              <a:rPr lang="zh-CN" altLang="en-US" b="1" dirty="0">
                <a:solidFill>
                  <a:srgbClr val="FF0000"/>
                </a:solidFill>
              </a:rPr>
              <a:t>协议安全性分析</a:t>
            </a:r>
          </a:p>
        </p:txBody>
      </p:sp>
      <p:sp>
        <p:nvSpPr>
          <p:cNvPr id="3" name="标题 2"/>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232034082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IPv4</a:t>
            </a:r>
            <a:endParaRPr lang="zh-CN" altLang="en-US" dirty="0"/>
          </a:p>
        </p:txBody>
      </p:sp>
      <p:sp>
        <p:nvSpPr>
          <p:cNvPr id="3" name="内容占位符 2"/>
          <p:cNvSpPr>
            <a:spLocks noGrp="1"/>
          </p:cNvSpPr>
          <p:nvPr>
            <p:ph idx="1"/>
          </p:nvPr>
        </p:nvSpPr>
        <p:spPr>
          <a:xfrm>
            <a:off x="627761" y="1300784"/>
            <a:ext cx="7641236" cy="4406668"/>
          </a:xfrm>
        </p:spPr>
        <p:txBody>
          <a:bodyPr>
            <a:normAutofit/>
          </a:bodyPr>
          <a:lstStyle/>
          <a:p>
            <a:endParaRPr lang="en-US" altLang="zh-CN" sz="2800" dirty="0"/>
          </a:p>
        </p:txBody>
      </p:sp>
      <p:pic>
        <p:nvPicPr>
          <p:cNvPr id="4" name="图片 3"/>
          <p:cNvPicPr>
            <a:picLocks noChangeAspect="1"/>
          </p:cNvPicPr>
          <p:nvPr/>
        </p:nvPicPr>
        <p:blipFill>
          <a:blip r:embed="rId2"/>
          <a:stretch>
            <a:fillRect/>
          </a:stretch>
        </p:blipFill>
        <p:spPr>
          <a:xfrm>
            <a:off x="501445" y="1300784"/>
            <a:ext cx="7890387" cy="4937784"/>
          </a:xfrm>
          <a:prstGeom prst="rect">
            <a:avLst/>
          </a:prstGeom>
        </p:spPr>
      </p:pic>
    </p:spTree>
    <p:extLst>
      <p:ext uri="{BB962C8B-B14F-4D97-AF65-F5344CB8AC3E}">
        <p14:creationId xmlns:p14="http://schemas.microsoft.com/office/powerpoint/2010/main" val="354704773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44065" y="1101725"/>
            <a:ext cx="7772400" cy="5269578"/>
          </a:xfrm>
        </p:spPr>
        <p:txBody>
          <a:bodyPr/>
          <a:lstStyle/>
          <a:p>
            <a:pPr>
              <a:spcBef>
                <a:spcPts val="0"/>
              </a:spcBef>
            </a:pPr>
            <a:r>
              <a:rPr lang="zh-CN" altLang="en-US" dirty="0"/>
              <a:t>安全性分析</a:t>
            </a:r>
            <a:endParaRPr lang="en-US" altLang="zh-CN" dirty="0"/>
          </a:p>
          <a:p>
            <a:pPr lvl="1">
              <a:spcBef>
                <a:spcPts val="0"/>
              </a:spcBef>
            </a:pPr>
            <a:r>
              <a:rPr lang="en-US" altLang="zh-CN" dirty="0"/>
              <a:t>IPv4</a:t>
            </a:r>
            <a:r>
              <a:rPr lang="zh-CN" altLang="zh-CN" dirty="0"/>
              <a:t>协议没有认证机制</a:t>
            </a:r>
            <a:r>
              <a:rPr lang="zh-CN" altLang="en-US" dirty="0"/>
              <a:t>：</a:t>
            </a:r>
            <a:endParaRPr lang="en-US" altLang="zh-CN" dirty="0"/>
          </a:p>
          <a:p>
            <a:pPr lvl="2">
              <a:spcBef>
                <a:spcPts val="0"/>
              </a:spcBef>
            </a:pPr>
            <a:r>
              <a:rPr lang="zh-CN" altLang="en-US" dirty="0"/>
              <a:t>没有消息源认证：源地址假冒</a:t>
            </a:r>
            <a:endParaRPr lang="en-US" altLang="zh-CN" dirty="0"/>
          </a:p>
          <a:p>
            <a:pPr lvl="2">
              <a:spcBef>
                <a:spcPts val="0"/>
              </a:spcBef>
            </a:pPr>
            <a:r>
              <a:rPr lang="zh-CN" altLang="en-US" dirty="0"/>
              <a:t>没有完整性认证：篡改</a:t>
            </a:r>
            <a:endParaRPr lang="en-US" altLang="zh-CN" dirty="0"/>
          </a:p>
          <a:p>
            <a:pPr lvl="1">
              <a:spcBef>
                <a:spcPts val="0"/>
              </a:spcBef>
            </a:pPr>
            <a:r>
              <a:rPr lang="en-US" altLang="zh-CN" dirty="0"/>
              <a:t>IPv4</a:t>
            </a:r>
            <a:r>
              <a:rPr lang="zh-CN" altLang="en-US" dirty="0"/>
              <a:t>没有加密机制</a:t>
            </a:r>
            <a:endParaRPr lang="en-US" altLang="zh-CN" dirty="0"/>
          </a:p>
          <a:p>
            <a:pPr lvl="2">
              <a:spcBef>
                <a:spcPts val="0"/>
              </a:spcBef>
            </a:pPr>
            <a:r>
              <a:rPr lang="zh-CN" altLang="en-US" dirty="0"/>
              <a:t>无机密性：监听应用数据</a:t>
            </a:r>
            <a:endParaRPr lang="en-US" altLang="zh-CN" dirty="0"/>
          </a:p>
          <a:p>
            <a:pPr lvl="2">
              <a:spcBef>
                <a:spcPts val="0"/>
              </a:spcBef>
            </a:pPr>
            <a:r>
              <a:rPr lang="zh-CN" altLang="en-US" dirty="0"/>
              <a:t>泄露拓扑等信息：网络侦察</a:t>
            </a:r>
            <a:endParaRPr lang="en-US" altLang="zh-CN" dirty="0"/>
          </a:p>
          <a:p>
            <a:pPr lvl="1">
              <a:spcBef>
                <a:spcPts val="0"/>
              </a:spcBef>
            </a:pPr>
            <a:r>
              <a:rPr lang="zh-CN" altLang="en-US" dirty="0"/>
              <a:t>无带宽控制：</a:t>
            </a:r>
            <a:endParaRPr lang="en-US" altLang="zh-CN" dirty="0"/>
          </a:p>
          <a:p>
            <a:pPr lvl="2">
              <a:spcBef>
                <a:spcPts val="0"/>
              </a:spcBef>
            </a:pPr>
            <a:r>
              <a:rPr lang="en-US" altLang="zh-CN" dirty="0"/>
              <a:t>DDoS</a:t>
            </a:r>
            <a:r>
              <a:rPr lang="zh-CN" altLang="en-US" dirty="0"/>
              <a:t>攻击</a:t>
            </a:r>
          </a:p>
        </p:txBody>
      </p:sp>
      <p:sp>
        <p:nvSpPr>
          <p:cNvPr id="3" name="标题 2"/>
          <p:cNvSpPr>
            <a:spLocks noGrp="1"/>
          </p:cNvSpPr>
          <p:nvPr>
            <p:ph type="title"/>
          </p:nvPr>
        </p:nvSpPr>
        <p:spPr/>
        <p:txBody>
          <a:bodyPr/>
          <a:lstStyle/>
          <a:p>
            <a:r>
              <a:rPr lang="en-US" altLang="zh-CN" dirty="0"/>
              <a:t>IPv4</a:t>
            </a:r>
            <a:endParaRPr lang="zh-CN" altLang="en-US" dirty="0"/>
          </a:p>
        </p:txBody>
      </p:sp>
    </p:spTree>
    <p:extLst>
      <p:ext uri="{BB962C8B-B14F-4D97-AF65-F5344CB8AC3E}">
        <p14:creationId xmlns:p14="http://schemas.microsoft.com/office/powerpoint/2010/main" val="7829894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p:cNvPicPr>
            <a:picLocks noGrp="1" noChangeAspect="1"/>
          </p:cNvPicPr>
          <p:nvPr>
            <p:ph idx="1"/>
          </p:nvPr>
        </p:nvPicPr>
        <p:blipFill>
          <a:blip r:embed="rId2"/>
          <a:stretch>
            <a:fillRect/>
          </a:stretch>
        </p:blipFill>
        <p:spPr>
          <a:xfrm>
            <a:off x="944880" y="1201738"/>
            <a:ext cx="7114969" cy="5036502"/>
          </a:xfrm>
          <a:prstGeom prst="rect">
            <a:avLst/>
          </a:prstGeom>
        </p:spPr>
      </p:pic>
      <p:sp>
        <p:nvSpPr>
          <p:cNvPr id="3" name="标题 2"/>
          <p:cNvSpPr>
            <a:spLocks noGrp="1"/>
          </p:cNvSpPr>
          <p:nvPr>
            <p:ph type="title"/>
          </p:nvPr>
        </p:nvSpPr>
        <p:spPr/>
        <p:txBody>
          <a:bodyPr/>
          <a:lstStyle/>
          <a:p>
            <a:r>
              <a:rPr lang="en-US" altLang="zh-CN" dirty="0"/>
              <a:t>IPv4</a:t>
            </a:r>
            <a:endParaRPr lang="zh-CN" altLang="en-US" dirty="0"/>
          </a:p>
        </p:txBody>
      </p:sp>
      <p:sp>
        <p:nvSpPr>
          <p:cNvPr id="6" name="文本框 5"/>
          <p:cNvSpPr txBox="1"/>
          <p:nvPr/>
        </p:nvSpPr>
        <p:spPr>
          <a:xfrm>
            <a:off x="944880" y="6319520"/>
            <a:ext cx="6644640" cy="369332"/>
          </a:xfrm>
          <a:prstGeom prst="rect">
            <a:avLst/>
          </a:prstGeom>
          <a:noFill/>
        </p:spPr>
        <p:txBody>
          <a:bodyPr wrap="square" rtlCol="0">
            <a:spAutoFit/>
          </a:bodyPr>
          <a:lstStyle/>
          <a:p>
            <a:r>
              <a:rPr lang="zh-CN" altLang="en-US" b="0" dirty="0" smtClean="0"/>
              <a:t>摘自：国家互联网应急中心</a:t>
            </a:r>
            <a:r>
              <a:rPr lang="en-US" altLang="zh-CN" b="0" dirty="0" smtClean="0"/>
              <a:t>《2020</a:t>
            </a:r>
            <a:r>
              <a:rPr lang="zh-CN" altLang="en-US" b="0" dirty="0"/>
              <a:t>年中国互联网网络安全报告</a:t>
            </a:r>
            <a:r>
              <a:rPr lang="en-US" altLang="zh-CN" dirty="0" smtClean="0"/>
              <a:t>》</a:t>
            </a:r>
            <a:endParaRPr lang="zh-CN" altLang="en-US" dirty="0"/>
          </a:p>
        </p:txBody>
      </p:sp>
    </p:spTree>
    <p:extLst>
      <p:ext uri="{BB962C8B-B14F-4D97-AF65-F5344CB8AC3E}">
        <p14:creationId xmlns:p14="http://schemas.microsoft.com/office/powerpoint/2010/main" val="84695384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436176"/>
            <a:ext cx="7772400" cy="4114800"/>
          </a:xfrm>
        </p:spPr>
        <p:txBody>
          <a:bodyPr/>
          <a:lstStyle/>
          <a:p>
            <a:r>
              <a:rPr lang="en-US" altLang="zh-CN" dirty="0"/>
              <a:t>IPsec</a:t>
            </a:r>
            <a:r>
              <a:rPr lang="zh-CN" altLang="en-US" dirty="0"/>
              <a:t> </a:t>
            </a:r>
            <a:r>
              <a:rPr lang="en-US" altLang="zh-CN" dirty="0"/>
              <a:t>(IP Security)</a:t>
            </a:r>
          </a:p>
          <a:p>
            <a:pPr lvl="1"/>
            <a:r>
              <a:rPr lang="zh-CN" altLang="zh-CN" dirty="0"/>
              <a:t>端到端的确保</a:t>
            </a:r>
            <a:r>
              <a:rPr lang="en-US" altLang="zh-CN" dirty="0"/>
              <a:t> IP </a:t>
            </a:r>
            <a:r>
              <a:rPr lang="zh-CN" altLang="zh-CN" dirty="0"/>
              <a:t>通信安全</a:t>
            </a:r>
            <a:r>
              <a:rPr lang="zh-CN" altLang="en-US" dirty="0"/>
              <a:t>：认证、加密及密钥管理</a:t>
            </a:r>
            <a:endParaRPr lang="en-US" altLang="zh-CN" dirty="0"/>
          </a:p>
          <a:p>
            <a:pPr lvl="1"/>
            <a:r>
              <a:rPr lang="zh-CN" altLang="zh-CN" dirty="0"/>
              <a:t>为</a:t>
            </a:r>
            <a:r>
              <a:rPr lang="en-US" altLang="zh-CN" dirty="0"/>
              <a:t>IPv6</a:t>
            </a:r>
            <a:r>
              <a:rPr lang="zh-CN" altLang="zh-CN" dirty="0"/>
              <a:t>制定</a:t>
            </a:r>
            <a:r>
              <a:rPr lang="zh-CN" altLang="en-US" dirty="0"/>
              <a:t>（必选），支持</a:t>
            </a:r>
            <a:r>
              <a:rPr lang="en-US" altLang="zh-CN" dirty="0"/>
              <a:t>IPv4</a:t>
            </a:r>
            <a:r>
              <a:rPr lang="zh-CN" altLang="en-US" dirty="0"/>
              <a:t>（可选）</a:t>
            </a:r>
          </a:p>
        </p:txBody>
      </p:sp>
      <p:sp>
        <p:nvSpPr>
          <p:cNvPr id="3" name="标题 2"/>
          <p:cNvSpPr>
            <a:spLocks noGrp="1"/>
          </p:cNvSpPr>
          <p:nvPr>
            <p:ph type="title"/>
          </p:nvPr>
        </p:nvSpPr>
        <p:spPr/>
        <p:txBody>
          <a:bodyPr/>
          <a:lstStyle/>
          <a:p>
            <a:r>
              <a:rPr lang="en-US" altLang="zh-CN" dirty="0"/>
              <a:t>IPsec</a:t>
            </a:r>
            <a:endParaRPr lang="zh-CN" altLang="en-US" dirty="0"/>
          </a:p>
        </p:txBody>
      </p:sp>
    </p:spTree>
    <p:extLst>
      <p:ext uri="{BB962C8B-B14F-4D97-AF65-F5344CB8AC3E}">
        <p14:creationId xmlns:p14="http://schemas.microsoft.com/office/powerpoint/2010/main" val="16641857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78131" y="1352457"/>
            <a:ext cx="7772400" cy="4114800"/>
          </a:xfrm>
        </p:spPr>
        <p:txBody>
          <a:bodyPr/>
          <a:lstStyle/>
          <a:p>
            <a:endParaRPr lang="zh-CN" altLang="en-US" sz="2800" dirty="0"/>
          </a:p>
        </p:txBody>
      </p:sp>
      <p:sp>
        <p:nvSpPr>
          <p:cNvPr id="3" name="标题 2"/>
          <p:cNvSpPr>
            <a:spLocks noGrp="1"/>
          </p:cNvSpPr>
          <p:nvPr>
            <p:ph type="title"/>
          </p:nvPr>
        </p:nvSpPr>
        <p:spPr>
          <a:xfrm>
            <a:off x="1391570" y="191002"/>
            <a:ext cx="6821988" cy="958850"/>
          </a:xfrm>
        </p:spPr>
        <p:txBody>
          <a:bodyPr/>
          <a:lstStyle/>
          <a:p>
            <a:r>
              <a:rPr lang="en-US" altLang="zh-CN" dirty="0"/>
              <a:t>IPv6</a:t>
            </a:r>
            <a:endParaRPr lang="zh-CN" altLang="en-US" dirty="0"/>
          </a:p>
        </p:txBody>
      </p:sp>
      <p:pic>
        <p:nvPicPr>
          <p:cNvPr id="4" name="图片 3"/>
          <p:cNvPicPr>
            <a:picLocks noChangeAspect="1"/>
          </p:cNvPicPr>
          <p:nvPr/>
        </p:nvPicPr>
        <p:blipFill>
          <a:blip r:embed="rId3"/>
          <a:stretch>
            <a:fillRect/>
          </a:stretch>
        </p:blipFill>
        <p:spPr>
          <a:xfrm>
            <a:off x="944843" y="1436687"/>
            <a:ext cx="6734175" cy="4391025"/>
          </a:xfrm>
          <a:prstGeom prst="rect">
            <a:avLst/>
          </a:prstGeom>
        </p:spPr>
      </p:pic>
    </p:spTree>
    <p:extLst>
      <p:ext uri="{BB962C8B-B14F-4D97-AF65-F5344CB8AC3E}">
        <p14:creationId xmlns:p14="http://schemas.microsoft.com/office/powerpoint/2010/main" val="23149717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78131" y="1352457"/>
            <a:ext cx="7772400" cy="4114800"/>
          </a:xfrm>
        </p:spPr>
        <p:txBody>
          <a:bodyPr/>
          <a:lstStyle/>
          <a:p>
            <a:endParaRPr lang="zh-CN" altLang="en-US" sz="2800" dirty="0"/>
          </a:p>
        </p:txBody>
      </p:sp>
      <p:sp>
        <p:nvSpPr>
          <p:cNvPr id="3" name="标题 2"/>
          <p:cNvSpPr>
            <a:spLocks noGrp="1"/>
          </p:cNvSpPr>
          <p:nvPr>
            <p:ph type="title"/>
          </p:nvPr>
        </p:nvSpPr>
        <p:spPr>
          <a:xfrm>
            <a:off x="1391570" y="191002"/>
            <a:ext cx="6821988" cy="958850"/>
          </a:xfrm>
        </p:spPr>
        <p:txBody>
          <a:bodyPr/>
          <a:lstStyle/>
          <a:p>
            <a:r>
              <a:rPr lang="en-US" altLang="zh-CN" dirty="0"/>
              <a:t>IPv6</a:t>
            </a:r>
            <a:endParaRPr lang="zh-CN" altLang="en-US" dirty="0"/>
          </a:p>
        </p:txBody>
      </p:sp>
      <p:pic>
        <p:nvPicPr>
          <p:cNvPr id="5" name="图片 4"/>
          <p:cNvPicPr>
            <a:picLocks noChangeAspect="1"/>
          </p:cNvPicPr>
          <p:nvPr/>
        </p:nvPicPr>
        <p:blipFill>
          <a:blip r:embed="rId2"/>
          <a:stretch>
            <a:fillRect/>
          </a:stretch>
        </p:blipFill>
        <p:spPr>
          <a:xfrm>
            <a:off x="510259" y="1475873"/>
            <a:ext cx="7908143" cy="4443663"/>
          </a:xfrm>
          <a:prstGeom prst="rect">
            <a:avLst/>
          </a:prstGeom>
        </p:spPr>
      </p:pic>
    </p:spTree>
    <p:extLst>
      <p:ext uri="{BB962C8B-B14F-4D97-AF65-F5344CB8AC3E}">
        <p14:creationId xmlns:p14="http://schemas.microsoft.com/office/powerpoint/2010/main" val="12593570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10216" y="1223210"/>
            <a:ext cx="7772400" cy="4114800"/>
          </a:xfrm>
        </p:spPr>
        <p:txBody>
          <a:bodyPr/>
          <a:lstStyle/>
          <a:p>
            <a:pPr>
              <a:spcBef>
                <a:spcPts val="0"/>
              </a:spcBef>
            </a:pPr>
            <a:r>
              <a:rPr lang="zh-CN" altLang="zh-CN" dirty="0"/>
              <a:t>从</a:t>
            </a:r>
            <a:r>
              <a:rPr lang="en-US" altLang="zh-CN" dirty="0"/>
              <a:t>IPv4</a:t>
            </a:r>
            <a:r>
              <a:rPr lang="zh-CN" altLang="zh-CN" dirty="0"/>
              <a:t>向</a:t>
            </a:r>
            <a:r>
              <a:rPr lang="en-US" altLang="zh-CN" dirty="0"/>
              <a:t>IPv6</a:t>
            </a:r>
            <a:r>
              <a:rPr lang="zh-CN" altLang="zh-CN" dirty="0"/>
              <a:t>过渡采用逐步演进的方法，</a:t>
            </a:r>
            <a:r>
              <a:rPr lang="en-US" altLang="zh-CN" dirty="0"/>
              <a:t>IETF</a:t>
            </a:r>
            <a:r>
              <a:rPr lang="zh-CN" altLang="zh-CN" dirty="0"/>
              <a:t>推荐的过渡方案主要有：</a:t>
            </a:r>
            <a:endParaRPr lang="en-US" altLang="zh-CN" dirty="0"/>
          </a:p>
          <a:p>
            <a:pPr lvl="1">
              <a:spcBef>
                <a:spcPts val="0"/>
              </a:spcBef>
            </a:pPr>
            <a:r>
              <a:rPr lang="zh-CN" altLang="zh-CN" dirty="0"/>
              <a:t>双协议栈</a:t>
            </a:r>
            <a:r>
              <a:rPr lang="en-US" altLang="zh-CN" dirty="0"/>
              <a:t>(dual stack)</a:t>
            </a:r>
          </a:p>
          <a:p>
            <a:pPr lvl="1">
              <a:spcBef>
                <a:spcPts val="0"/>
              </a:spcBef>
            </a:pPr>
            <a:r>
              <a:rPr lang="zh-CN" altLang="zh-CN" dirty="0"/>
              <a:t>隧道</a:t>
            </a:r>
            <a:r>
              <a:rPr lang="en-US" altLang="zh-CN" dirty="0"/>
              <a:t>(tunneling)</a:t>
            </a:r>
          </a:p>
          <a:p>
            <a:pPr lvl="1">
              <a:spcBef>
                <a:spcPts val="0"/>
              </a:spcBef>
            </a:pPr>
            <a:r>
              <a:rPr lang="zh-CN" altLang="zh-CN" dirty="0"/>
              <a:t>网络地址转换</a:t>
            </a:r>
            <a:endParaRPr lang="zh-CN" altLang="en-US" sz="2400" dirty="0"/>
          </a:p>
        </p:txBody>
      </p:sp>
      <p:sp>
        <p:nvSpPr>
          <p:cNvPr id="3" name="标题 2"/>
          <p:cNvSpPr>
            <a:spLocks noGrp="1"/>
          </p:cNvSpPr>
          <p:nvPr>
            <p:ph type="title"/>
          </p:nvPr>
        </p:nvSpPr>
        <p:spPr>
          <a:xfrm>
            <a:off x="1391570" y="191002"/>
            <a:ext cx="6821988" cy="958850"/>
          </a:xfrm>
        </p:spPr>
        <p:txBody>
          <a:bodyPr/>
          <a:lstStyle/>
          <a:p>
            <a:r>
              <a:rPr lang="en-US" altLang="zh-CN" dirty="0"/>
              <a:t>IPv6</a:t>
            </a:r>
            <a:endParaRPr lang="zh-CN" altLang="en-US" dirty="0"/>
          </a:p>
        </p:txBody>
      </p:sp>
      <p:pic>
        <p:nvPicPr>
          <p:cNvPr id="4" name="图片 3"/>
          <p:cNvPicPr>
            <a:picLocks noChangeAspect="1"/>
          </p:cNvPicPr>
          <p:nvPr/>
        </p:nvPicPr>
        <p:blipFill>
          <a:blip r:embed="rId2"/>
          <a:stretch>
            <a:fillRect/>
          </a:stretch>
        </p:blipFill>
        <p:spPr>
          <a:xfrm>
            <a:off x="1391570" y="4105025"/>
            <a:ext cx="5934075" cy="1952625"/>
          </a:xfrm>
          <a:prstGeom prst="rect">
            <a:avLst/>
          </a:prstGeom>
        </p:spPr>
      </p:pic>
    </p:spTree>
    <p:extLst>
      <p:ext uri="{BB962C8B-B14F-4D97-AF65-F5344CB8AC3E}">
        <p14:creationId xmlns:p14="http://schemas.microsoft.com/office/powerpoint/2010/main" val="289986108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Grp="1" noChangeAspect="1"/>
          </p:cNvPicPr>
          <p:nvPr>
            <p:ph idx="1"/>
          </p:nvPr>
        </p:nvPicPr>
        <p:blipFill>
          <a:blip r:embed="rId3"/>
          <a:stretch>
            <a:fillRect/>
          </a:stretch>
        </p:blipFill>
        <p:spPr>
          <a:xfrm>
            <a:off x="120649" y="1149852"/>
            <a:ext cx="8949767" cy="4864868"/>
          </a:xfrm>
          <a:prstGeom prst="rect">
            <a:avLst/>
          </a:prstGeom>
        </p:spPr>
      </p:pic>
      <p:sp>
        <p:nvSpPr>
          <p:cNvPr id="3" name="标题 2"/>
          <p:cNvSpPr>
            <a:spLocks noGrp="1"/>
          </p:cNvSpPr>
          <p:nvPr>
            <p:ph type="title"/>
          </p:nvPr>
        </p:nvSpPr>
        <p:spPr>
          <a:xfrm>
            <a:off x="1391570" y="191002"/>
            <a:ext cx="6821988" cy="958850"/>
          </a:xfrm>
        </p:spPr>
        <p:txBody>
          <a:bodyPr/>
          <a:lstStyle/>
          <a:p>
            <a:r>
              <a:rPr lang="en-US" altLang="zh-CN" dirty="0"/>
              <a:t>IPv6</a:t>
            </a:r>
            <a:endParaRPr lang="zh-CN" altLang="en-US" dirty="0"/>
          </a:p>
        </p:txBody>
      </p:sp>
      <p:sp>
        <p:nvSpPr>
          <p:cNvPr id="5" name="矩形 4"/>
          <p:cNvSpPr/>
          <p:nvPr/>
        </p:nvSpPr>
        <p:spPr>
          <a:xfrm>
            <a:off x="792480" y="6323429"/>
            <a:ext cx="6888480" cy="369332"/>
          </a:xfrm>
          <a:prstGeom prst="rect">
            <a:avLst/>
          </a:prstGeom>
        </p:spPr>
        <p:txBody>
          <a:bodyPr wrap="square">
            <a:spAutoFit/>
          </a:bodyPr>
          <a:lstStyle/>
          <a:p>
            <a:r>
              <a:rPr lang="zh-CN" altLang="en-US" b="0" dirty="0" smtClean="0"/>
              <a:t>截图：国家</a:t>
            </a:r>
            <a:r>
              <a:rPr lang="en-US" altLang="zh-CN" b="0" dirty="0" smtClean="0"/>
              <a:t>IPv6</a:t>
            </a:r>
            <a:r>
              <a:rPr lang="zh-CN" altLang="en-US" b="0" dirty="0" smtClean="0"/>
              <a:t>发展监测平台 </a:t>
            </a:r>
            <a:r>
              <a:rPr lang="en-US" altLang="zh-CN" b="0" dirty="0" smtClean="0"/>
              <a:t>https</a:t>
            </a:r>
            <a:r>
              <a:rPr lang="en-US" altLang="zh-CN" b="0" dirty="0"/>
              <a:t>://www.china-ipv6.cn/</a:t>
            </a:r>
            <a:endParaRPr lang="zh-CN" altLang="en-US" dirty="0"/>
          </a:p>
        </p:txBody>
      </p:sp>
    </p:spTree>
    <p:extLst>
      <p:ext uri="{BB962C8B-B14F-4D97-AF65-F5344CB8AC3E}">
        <p14:creationId xmlns:p14="http://schemas.microsoft.com/office/powerpoint/2010/main" val="184094650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IPv6</a:t>
            </a:r>
            <a:r>
              <a:rPr lang="zh-CN" altLang="zh-CN" dirty="0"/>
              <a:t>通过</a:t>
            </a:r>
            <a:r>
              <a:rPr lang="en-US" altLang="zh-CN" dirty="0"/>
              <a:t>IPsec</a:t>
            </a:r>
            <a:r>
              <a:rPr lang="zh-CN" altLang="zh-CN" dirty="0"/>
              <a:t>来保证</a:t>
            </a:r>
            <a:r>
              <a:rPr lang="en-US" altLang="zh-CN" dirty="0"/>
              <a:t>IP</a:t>
            </a:r>
            <a:r>
              <a:rPr lang="zh-CN" altLang="zh-CN" dirty="0"/>
              <a:t>层的传输安全，提高了网络传输的保密性、完整性、可控性和抗否认性</a:t>
            </a:r>
            <a:endParaRPr lang="en-US" altLang="zh-CN" dirty="0"/>
          </a:p>
          <a:p>
            <a:endParaRPr lang="zh-CN" altLang="en-US" dirty="0"/>
          </a:p>
        </p:txBody>
      </p:sp>
      <p:sp>
        <p:nvSpPr>
          <p:cNvPr id="3" name="标题 2"/>
          <p:cNvSpPr>
            <a:spLocks noGrp="1"/>
          </p:cNvSpPr>
          <p:nvPr>
            <p:ph type="title"/>
          </p:nvPr>
        </p:nvSpPr>
        <p:spPr/>
        <p:txBody>
          <a:bodyPr/>
          <a:lstStyle/>
          <a:p>
            <a:r>
              <a:rPr lang="en-US" altLang="zh-CN" dirty="0"/>
              <a:t>IPv6</a:t>
            </a:r>
            <a:r>
              <a:rPr lang="zh-CN" altLang="en-US" dirty="0"/>
              <a:t>安全</a:t>
            </a:r>
          </a:p>
        </p:txBody>
      </p:sp>
    </p:spTree>
    <p:extLst>
      <p:ext uri="{BB962C8B-B14F-4D97-AF65-F5344CB8AC3E}">
        <p14:creationId xmlns:p14="http://schemas.microsoft.com/office/powerpoint/2010/main" val="282083223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26728" y="1441867"/>
            <a:ext cx="7772400" cy="4509753"/>
          </a:xfrm>
        </p:spPr>
        <p:txBody>
          <a:bodyPr/>
          <a:lstStyle/>
          <a:p>
            <a:r>
              <a:rPr lang="zh-CN" altLang="en-US" dirty="0"/>
              <a:t>安全问题</a:t>
            </a:r>
            <a:endParaRPr lang="en-US" altLang="zh-CN" dirty="0"/>
          </a:p>
          <a:p>
            <a:pPr lvl="1"/>
            <a:r>
              <a:rPr lang="en-US" altLang="zh-CN" dirty="0"/>
              <a:t>IPv4</a:t>
            </a:r>
            <a:r>
              <a:rPr lang="zh-CN" altLang="zh-CN" dirty="0"/>
              <a:t>向</a:t>
            </a:r>
            <a:r>
              <a:rPr lang="en-US" altLang="zh-CN" dirty="0"/>
              <a:t>IPv6</a:t>
            </a:r>
            <a:r>
              <a:rPr lang="zh-CN" altLang="zh-CN" dirty="0"/>
              <a:t>过渡技术的安全风险</a:t>
            </a:r>
            <a:endParaRPr lang="en-US" altLang="zh-CN" dirty="0"/>
          </a:p>
          <a:p>
            <a:pPr lvl="1"/>
            <a:r>
              <a:rPr lang="zh-CN" altLang="zh-CN" dirty="0"/>
              <a:t>无状态地址自动配置的安全风险</a:t>
            </a:r>
            <a:endParaRPr lang="en-US" altLang="zh-CN" dirty="0"/>
          </a:p>
          <a:p>
            <a:pPr lvl="1"/>
            <a:r>
              <a:rPr lang="en-US" altLang="zh-CN" dirty="0"/>
              <a:t>IPv6</a:t>
            </a:r>
            <a:r>
              <a:rPr lang="zh-CN" altLang="zh-CN" dirty="0"/>
              <a:t>中</a:t>
            </a:r>
            <a:r>
              <a:rPr lang="en-US" altLang="zh-CN" dirty="0"/>
              <a:t>PKI</a:t>
            </a:r>
            <a:r>
              <a:rPr lang="zh-CN" altLang="zh-CN" dirty="0"/>
              <a:t>管理系统的安全风险</a:t>
            </a:r>
            <a:endParaRPr lang="en-US" altLang="zh-CN" dirty="0"/>
          </a:p>
          <a:p>
            <a:pPr lvl="1"/>
            <a:r>
              <a:rPr lang="en-US" altLang="zh-CN" dirty="0"/>
              <a:t>IPv6</a:t>
            </a:r>
            <a:r>
              <a:rPr lang="zh-CN" altLang="zh-CN" dirty="0"/>
              <a:t>编址机制的隐患</a:t>
            </a:r>
            <a:endParaRPr lang="en-US" altLang="zh-CN" dirty="0"/>
          </a:p>
        </p:txBody>
      </p:sp>
      <p:sp>
        <p:nvSpPr>
          <p:cNvPr id="3" name="标题 2"/>
          <p:cNvSpPr>
            <a:spLocks noGrp="1"/>
          </p:cNvSpPr>
          <p:nvPr>
            <p:ph type="title"/>
          </p:nvPr>
        </p:nvSpPr>
        <p:spPr/>
        <p:txBody>
          <a:bodyPr/>
          <a:lstStyle/>
          <a:p>
            <a:r>
              <a:rPr lang="en-US" altLang="zh-CN" dirty="0"/>
              <a:t>IPv6</a:t>
            </a:r>
            <a:r>
              <a:rPr lang="zh-CN" altLang="en-US" dirty="0"/>
              <a:t>安全</a:t>
            </a:r>
          </a:p>
        </p:txBody>
      </p:sp>
    </p:spTree>
    <p:extLst>
      <p:ext uri="{BB962C8B-B14F-4D97-AF65-F5344CB8AC3E}">
        <p14:creationId xmlns:p14="http://schemas.microsoft.com/office/powerpoint/2010/main" val="12653210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26728" y="1441867"/>
            <a:ext cx="7772400" cy="4509753"/>
          </a:xfrm>
        </p:spPr>
        <p:txBody>
          <a:bodyPr/>
          <a:lstStyle/>
          <a:p>
            <a:r>
              <a:rPr lang="zh-CN" altLang="en-US" dirty="0"/>
              <a:t>安全问题</a:t>
            </a:r>
            <a:endParaRPr lang="en-US" altLang="zh-CN" dirty="0"/>
          </a:p>
          <a:p>
            <a:pPr lvl="1"/>
            <a:r>
              <a:rPr lang="en-US" altLang="zh-CN" dirty="0"/>
              <a:t>IPv6</a:t>
            </a:r>
            <a:r>
              <a:rPr lang="zh-CN" altLang="zh-CN" dirty="0"/>
              <a:t>的安全机制对网络安全体系的挑战所带来的安全风险</a:t>
            </a:r>
            <a:r>
              <a:rPr lang="zh-CN" altLang="en-US" dirty="0"/>
              <a:t>：</a:t>
            </a:r>
            <a:r>
              <a:rPr lang="zh-CN" altLang="en-US" dirty="0">
                <a:solidFill>
                  <a:srgbClr val="FF0000"/>
                </a:solidFill>
              </a:rPr>
              <a:t>正在服役的</a:t>
            </a:r>
            <a:r>
              <a:rPr lang="en-US" altLang="zh-CN" dirty="0">
                <a:solidFill>
                  <a:srgbClr val="FF0000"/>
                </a:solidFill>
              </a:rPr>
              <a:t>IDS/IPS/WAF</a:t>
            </a:r>
            <a:r>
              <a:rPr lang="zh-CN" altLang="en-US" dirty="0">
                <a:solidFill>
                  <a:srgbClr val="FF0000"/>
                </a:solidFill>
              </a:rPr>
              <a:t>不一定支持</a:t>
            </a:r>
            <a:r>
              <a:rPr lang="zh-CN" altLang="en-US" dirty="0"/>
              <a:t>，于是可以畅行无阻</a:t>
            </a:r>
          </a:p>
        </p:txBody>
      </p:sp>
      <p:sp>
        <p:nvSpPr>
          <p:cNvPr id="3" name="标题 2"/>
          <p:cNvSpPr>
            <a:spLocks noGrp="1"/>
          </p:cNvSpPr>
          <p:nvPr>
            <p:ph type="title"/>
          </p:nvPr>
        </p:nvSpPr>
        <p:spPr/>
        <p:txBody>
          <a:bodyPr/>
          <a:lstStyle/>
          <a:p>
            <a:r>
              <a:rPr lang="en-US" altLang="zh-CN" dirty="0"/>
              <a:t>IPv6</a:t>
            </a:r>
            <a:r>
              <a:rPr lang="zh-CN" altLang="en-US" dirty="0"/>
              <a:t>安全</a:t>
            </a:r>
          </a:p>
        </p:txBody>
      </p:sp>
      <p:pic>
        <p:nvPicPr>
          <p:cNvPr id="6" name="图片 5"/>
          <p:cNvPicPr>
            <a:picLocks noChangeAspect="1"/>
          </p:cNvPicPr>
          <p:nvPr/>
        </p:nvPicPr>
        <p:blipFill>
          <a:blip r:embed="rId3"/>
          <a:stretch>
            <a:fillRect/>
          </a:stretch>
        </p:blipFill>
        <p:spPr>
          <a:xfrm>
            <a:off x="295275" y="1586412"/>
            <a:ext cx="8848725" cy="4705350"/>
          </a:xfrm>
          <a:prstGeom prst="rect">
            <a:avLst/>
          </a:prstGeom>
        </p:spPr>
      </p:pic>
      <p:pic>
        <p:nvPicPr>
          <p:cNvPr id="5" name="图片 4"/>
          <p:cNvPicPr>
            <a:picLocks noChangeAspect="1"/>
          </p:cNvPicPr>
          <p:nvPr/>
        </p:nvPicPr>
        <p:blipFill>
          <a:blip r:embed="rId4"/>
          <a:stretch>
            <a:fillRect/>
          </a:stretch>
        </p:blipFill>
        <p:spPr>
          <a:xfrm>
            <a:off x="247650" y="1586412"/>
            <a:ext cx="8896350" cy="4476750"/>
          </a:xfrm>
          <a:prstGeom prst="rect">
            <a:avLst/>
          </a:prstGeom>
        </p:spPr>
      </p:pic>
    </p:spTree>
    <p:extLst>
      <p:ext uri="{BB962C8B-B14F-4D97-AF65-F5344CB8AC3E}">
        <p14:creationId xmlns:p14="http://schemas.microsoft.com/office/powerpoint/2010/main" val="3622018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strVal val="#ppt_w*0.70"/>
                                          </p:val>
                                        </p:tav>
                                        <p:tav tm="100000">
                                          <p:val>
                                            <p:strVal val="#ppt_w"/>
                                          </p:val>
                                        </p:tav>
                                      </p:tavLst>
                                    </p:anim>
                                    <p:anim calcmode="lin" valueType="num">
                                      <p:cBhvr>
                                        <p:cTn id="8" dur="1000" fill="hold"/>
                                        <p:tgtEl>
                                          <p:spTgt spid="6"/>
                                        </p:tgtEl>
                                        <p:attrNameLst>
                                          <p:attrName>ppt_h</p:attrName>
                                        </p:attrNameLst>
                                      </p:cBhvr>
                                      <p:tavLst>
                                        <p:tav tm="0">
                                          <p:val>
                                            <p:strVal val="#ppt_h"/>
                                          </p:val>
                                        </p:tav>
                                        <p:tav tm="100000">
                                          <p:val>
                                            <p:strVal val="#ppt_h"/>
                                          </p:val>
                                        </p:tav>
                                      </p:tavLst>
                                    </p:anim>
                                    <p:animEffect transition="in" filter="fade">
                                      <p:cBhvr>
                                        <p:cTn id="9" dur="10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1000" fill="hold"/>
                                        <p:tgtEl>
                                          <p:spTgt spid="5"/>
                                        </p:tgtEl>
                                        <p:attrNameLst>
                                          <p:attrName>ppt_w</p:attrName>
                                        </p:attrNameLst>
                                      </p:cBhvr>
                                      <p:tavLst>
                                        <p:tav tm="0">
                                          <p:val>
                                            <p:strVal val="#ppt_w*0.70"/>
                                          </p:val>
                                        </p:tav>
                                        <p:tav tm="100000">
                                          <p:val>
                                            <p:strVal val="#ppt_w"/>
                                          </p:val>
                                        </p:tav>
                                      </p:tavLst>
                                    </p:anim>
                                    <p:anim calcmode="lin" valueType="num">
                                      <p:cBhvr>
                                        <p:cTn id="15" dur="1000" fill="hold"/>
                                        <p:tgtEl>
                                          <p:spTgt spid="5"/>
                                        </p:tgtEl>
                                        <p:attrNameLst>
                                          <p:attrName>ppt_h</p:attrName>
                                        </p:attrNameLst>
                                      </p:cBhvr>
                                      <p:tavLst>
                                        <p:tav tm="0">
                                          <p:val>
                                            <p:strVal val="#ppt_h"/>
                                          </p:val>
                                        </p:tav>
                                        <p:tav tm="100000">
                                          <p:val>
                                            <p:strVal val="#ppt_h"/>
                                          </p:val>
                                        </p:tav>
                                      </p:tavLst>
                                    </p:anim>
                                    <p:animEffect transition="in" filter="fade">
                                      <p:cBhvr>
                                        <p:cTn id="16"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000916" y="2940511"/>
            <a:ext cx="5019316" cy="820327"/>
          </a:xfrm>
        </p:spPr>
        <p:txBody>
          <a:bodyPr/>
          <a:lstStyle/>
          <a:p>
            <a:pPr marL="0" indent="0">
              <a:buNone/>
            </a:pPr>
            <a:r>
              <a:rPr lang="zh-CN" altLang="en-US" b="1" dirty="0">
                <a:solidFill>
                  <a:srgbClr val="FF0000"/>
                </a:solidFill>
              </a:rPr>
              <a:t>二、</a:t>
            </a:r>
            <a:r>
              <a:rPr lang="en-US" altLang="zh-CN" b="1" dirty="0">
                <a:solidFill>
                  <a:srgbClr val="FF0000"/>
                </a:solidFill>
              </a:rPr>
              <a:t>ICMP</a:t>
            </a:r>
            <a:r>
              <a:rPr lang="zh-CN" altLang="en-US" b="1" dirty="0">
                <a:solidFill>
                  <a:srgbClr val="FF0000"/>
                </a:solidFill>
              </a:rPr>
              <a:t>协议安全性分析</a:t>
            </a:r>
          </a:p>
        </p:txBody>
      </p:sp>
      <p:sp>
        <p:nvSpPr>
          <p:cNvPr id="3" name="标题 2"/>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140123651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en-US" altLang="zh-CN" dirty="0"/>
              <a:t>ICMPv4</a:t>
            </a:r>
            <a:endParaRPr lang="zh-CN" altLang="en-US" dirty="0"/>
          </a:p>
        </p:txBody>
      </p:sp>
      <p:grpSp>
        <p:nvGrpSpPr>
          <p:cNvPr id="4" name="组合 3"/>
          <p:cNvGrpSpPr/>
          <p:nvPr/>
        </p:nvGrpSpPr>
        <p:grpSpPr>
          <a:xfrm>
            <a:off x="1008011" y="1812261"/>
            <a:ext cx="6127750" cy="3757612"/>
            <a:chOff x="196850" y="966788"/>
            <a:chExt cx="6127750" cy="3757612"/>
          </a:xfrm>
        </p:grpSpPr>
        <p:sp>
          <p:nvSpPr>
            <p:cNvPr id="5" name="Rectangle 63"/>
            <p:cNvSpPr>
              <a:spLocks noChangeArrowheads="1"/>
            </p:cNvSpPr>
            <p:nvPr/>
          </p:nvSpPr>
          <p:spPr bwMode="auto">
            <a:xfrm>
              <a:off x="2667000" y="3938588"/>
              <a:ext cx="2438400" cy="381000"/>
            </a:xfrm>
            <a:prstGeom prst="rect">
              <a:avLst/>
            </a:prstGeom>
            <a:solidFill>
              <a:srgbClr val="EAEAE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Freeform 62"/>
            <p:cNvSpPr>
              <a:spLocks/>
            </p:cNvSpPr>
            <p:nvPr/>
          </p:nvSpPr>
          <p:spPr bwMode="auto">
            <a:xfrm>
              <a:off x="1771650" y="2819400"/>
              <a:ext cx="4429125" cy="457200"/>
            </a:xfrm>
            <a:custGeom>
              <a:avLst/>
              <a:gdLst>
                <a:gd name="T0" fmla="*/ 0 w 2790"/>
                <a:gd name="T1" fmla="*/ 6 h 279"/>
                <a:gd name="T2" fmla="*/ 561 w 2790"/>
                <a:gd name="T3" fmla="*/ 279 h 279"/>
                <a:gd name="T4" fmla="*/ 2100 w 2790"/>
                <a:gd name="T5" fmla="*/ 276 h 279"/>
                <a:gd name="T6" fmla="*/ 2790 w 2790"/>
                <a:gd name="T7" fmla="*/ 0 h 279"/>
                <a:gd name="T8" fmla="*/ 0 w 2790"/>
                <a:gd name="T9" fmla="*/ 6 h 279"/>
              </a:gdLst>
              <a:ahLst/>
              <a:cxnLst>
                <a:cxn ang="0">
                  <a:pos x="T0" y="T1"/>
                </a:cxn>
                <a:cxn ang="0">
                  <a:pos x="T2" y="T3"/>
                </a:cxn>
                <a:cxn ang="0">
                  <a:pos x="T4" y="T5"/>
                </a:cxn>
                <a:cxn ang="0">
                  <a:pos x="T6" y="T7"/>
                </a:cxn>
                <a:cxn ang="0">
                  <a:pos x="T8" y="T9"/>
                </a:cxn>
              </a:cxnLst>
              <a:rect l="0" t="0" r="r" b="b"/>
              <a:pathLst>
                <a:path w="2790" h="279">
                  <a:moveTo>
                    <a:pt x="0" y="6"/>
                  </a:moveTo>
                  <a:lnTo>
                    <a:pt x="561" y="279"/>
                  </a:lnTo>
                  <a:lnTo>
                    <a:pt x="2100" y="276"/>
                  </a:lnTo>
                  <a:lnTo>
                    <a:pt x="2790" y="0"/>
                  </a:lnTo>
                  <a:lnTo>
                    <a:pt x="0" y="6"/>
                  </a:lnTo>
                  <a:close/>
                </a:path>
              </a:pathLst>
            </a:custGeom>
            <a:solidFill>
              <a:srgbClr val="EAEAEA"/>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 name="Line 60"/>
            <p:cNvSpPr>
              <a:spLocks noChangeShapeType="1"/>
            </p:cNvSpPr>
            <p:nvPr/>
          </p:nvSpPr>
          <p:spPr bwMode="auto">
            <a:xfrm>
              <a:off x="1752600" y="4548188"/>
              <a:ext cx="3352800"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Rectangle 41"/>
            <p:cNvSpPr>
              <a:spLocks noChangeArrowheads="1"/>
            </p:cNvSpPr>
            <p:nvPr/>
          </p:nvSpPr>
          <p:spPr bwMode="auto">
            <a:xfrm>
              <a:off x="1752600" y="3938588"/>
              <a:ext cx="3352800" cy="38100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Text Box 43"/>
            <p:cNvSpPr txBox="1">
              <a:spLocks noChangeArrowheads="1"/>
            </p:cNvSpPr>
            <p:nvPr/>
          </p:nvSpPr>
          <p:spPr bwMode="auto">
            <a:xfrm>
              <a:off x="1752600" y="3957638"/>
              <a:ext cx="9017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a:t>IP </a:t>
              </a:r>
              <a:r>
                <a:rPr lang="zh-CN" altLang="en-US" sz="1800"/>
                <a:t>首部</a:t>
              </a:r>
            </a:p>
          </p:txBody>
        </p:sp>
        <p:sp>
          <p:nvSpPr>
            <p:cNvPr id="10" name="Rectangle 2"/>
            <p:cNvSpPr>
              <a:spLocks noChangeArrowheads="1"/>
            </p:cNvSpPr>
            <p:nvPr/>
          </p:nvSpPr>
          <p:spPr bwMode="auto">
            <a:xfrm>
              <a:off x="2667000" y="3252788"/>
              <a:ext cx="2438400" cy="381000"/>
            </a:xfrm>
            <a:prstGeom prst="rect">
              <a:avLst/>
            </a:prstGeom>
            <a:solidFill>
              <a:srgbClr val="EAEAEA"/>
            </a:solidFill>
            <a:ln w="28575">
              <a:solidFill>
                <a:schemeClr val="tx1"/>
              </a:solidFill>
              <a:miter lim="800000"/>
              <a:headEnd/>
              <a:tailEnd/>
            </a:ln>
            <a:effectLst>
              <a:outerShdw dist="35921" dir="2700000" algn="ctr" rotWithShape="0">
                <a:schemeClr val="bg2"/>
              </a:outerShdw>
            </a:effectLst>
          </p:spPr>
          <p:txBody>
            <a:bodyPr wrap="none" anchor="ctr"/>
            <a:lstStyle/>
            <a:p>
              <a:pPr algn="ctr"/>
              <a:endParaRPr lang="zh-CN" altLang="zh-CN" sz="1800"/>
            </a:p>
          </p:txBody>
        </p:sp>
        <p:sp>
          <p:nvSpPr>
            <p:cNvPr id="11" name="Text Box 25"/>
            <p:cNvSpPr txBox="1">
              <a:spLocks noChangeArrowheads="1"/>
            </p:cNvSpPr>
            <p:nvPr/>
          </p:nvSpPr>
          <p:spPr bwMode="auto">
            <a:xfrm>
              <a:off x="1682750" y="9667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a:t>0</a:t>
              </a:r>
            </a:p>
          </p:txBody>
        </p:sp>
        <p:sp>
          <p:nvSpPr>
            <p:cNvPr id="12" name="Freeform 34"/>
            <p:cNvSpPr>
              <a:spLocks/>
            </p:cNvSpPr>
            <p:nvPr/>
          </p:nvSpPr>
          <p:spPr bwMode="auto">
            <a:xfrm>
              <a:off x="5105400" y="2819400"/>
              <a:ext cx="1066800" cy="457200"/>
            </a:xfrm>
            <a:custGeom>
              <a:avLst/>
              <a:gdLst>
                <a:gd name="T0" fmla="*/ 0 w 660"/>
                <a:gd name="T1" fmla="*/ 288 h 288"/>
                <a:gd name="T2" fmla="*/ 660 w 660"/>
                <a:gd name="T3" fmla="*/ 0 h 288"/>
              </a:gdLst>
              <a:ahLst/>
              <a:cxnLst>
                <a:cxn ang="0">
                  <a:pos x="T0" y="T1"/>
                </a:cxn>
                <a:cxn ang="0">
                  <a:pos x="T2" y="T3"/>
                </a:cxn>
              </a:cxnLst>
              <a:rect l="0" t="0" r="r" b="b"/>
              <a:pathLst>
                <a:path w="660" h="288">
                  <a:moveTo>
                    <a:pt x="0" y="288"/>
                  </a:moveTo>
                  <a:lnTo>
                    <a:pt x="660" y="0"/>
                  </a:lnTo>
                </a:path>
              </a:pathLst>
            </a:custGeom>
            <a:noFill/>
            <a:ln w="952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Line 35"/>
            <p:cNvSpPr>
              <a:spLocks noChangeShapeType="1"/>
            </p:cNvSpPr>
            <p:nvPr/>
          </p:nvSpPr>
          <p:spPr bwMode="auto">
            <a:xfrm flipH="1" flipV="1">
              <a:off x="1752600" y="2819400"/>
              <a:ext cx="9144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Line 42"/>
            <p:cNvSpPr>
              <a:spLocks noChangeShapeType="1"/>
            </p:cNvSpPr>
            <p:nvPr/>
          </p:nvSpPr>
          <p:spPr bwMode="auto">
            <a:xfrm>
              <a:off x="2667000" y="3938588"/>
              <a:ext cx="0" cy="381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Text Box 45"/>
            <p:cNvSpPr txBox="1">
              <a:spLocks noChangeArrowheads="1"/>
            </p:cNvSpPr>
            <p:nvPr/>
          </p:nvSpPr>
          <p:spPr bwMode="auto">
            <a:xfrm>
              <a:off x="3270250" y="3957638"/>
              <a:ext cx="13589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a:t>IP </a:t>
              </a:r>
              <a:r>
                <a:rPr lang="zh-CN" altLang="en-US" sz="1800"/>
                <a:t>数据部分</a:t>
              </a:r>
            </a:p>
          </p:txBody>
        </p:sp>
        <p:sp>
          <p:nvSpPr>
            <p:cNvPr id="16" name="AutoShape 46"/>
            <p:cNvSpPr>
              <a:spLocks noChangeArrowheads="1"/>
            </p:cNvSpPr>
            <p:nvPr/>
          </p:nvSpPr>
          <p:spPr bwMode="auto">
            <a:xfrm>
              <a:off x="3733800" y="3633788"/>
              <a:ext cx="228600" cy="457200"/>
            </a:xfrm>
            <a:prstGeom prst="downArrow">
              <a:avLst>
                <a:gd name="adj1" fmla="val 47222"/>
                <a:gd name="adj2" fmla="val 103333"/>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17" name="Rectangle 14"/>
            <p:cNvSpPr>
              <a:spLocks noChangeArrowheads="1"/>
            </p:cNvSpPr>
            <p:nvPr/>
          </p:nvSpPr>
          <p:spPr bwMode="auto">
            <a:xfrm>
              <a:off x="1752600" y="1295400"/>
              <a:ext cx="4419600" cy="1524000"/>
            </a:xfrm>
            <a:prstGeom prst="rect">
              <a:avLst/>
            </a:prstGeom>
            <a:solidFill>
              <a:srgbClr val="EAEAEA"/>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Line 15"/>
            <p:cNvSpPr>
              <a:spLocks noChangeShapeType="1"/>
            </p:cNvSpPr>
            <p:nvPr/>
          </p:nvSpPr>
          <p:spPr bwMode="auto">
            <a:xfrm rot="16200000">
              <a:off x="3962400" y="-533400"/>
              <a:ext cx="0" cy="441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Line 36"/>
            <p:cNvSpPr>
              <a:spLocks noChangeShapeType="1"/>
            </p:cNvSpPr>
            <p:nvPr/>
          </p:nvSpPr>
          <p:spPr bwMode="auto">
            <a:xfrm flipV="1">
              <a:off x="2857500" y="1295400"/>
              <a:ext cx="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Line 47"/>
            <p:cNvSpPr>
              <a:spLocks noChangeShapeType="1"/>
            </p:cNvSpPr>
            <p:nvPr/>
          </p:nvSpPr>
          <p:spPr bwMode="auto">
            <a:xfrm flipV="1">
              <a:off x="3962400" y="1295400"/>
              <a:ext cx="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48"/>
            <p:cNvSpPr>
              <a:spLocks noChangeShapeType="1"/>
            </p:cNvSpPr>
            <p:nvPr/>
          </p:nvSpPr>
          <p:spPr bwMode="auto">
            <a:xfrm flipV="1">
              <a:off x="3962400" y="1295400"/>
              <a:ext cx="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Text Box 52"/>
            <p:cNvSpPr txBox="1">
              <a:spLocks noChangeArrowheads="1"/>
            </p:cNvSpPr>
            <p:nvPr/>
          </p:nvSpPr>
          <p:spPr bwMode="auto">
            <a:xfrm>
              <a:off x="4648200" y="1298575"/>
              <a:ext cx="869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800"/>
                <a:t>检验和</a:t>
              </a:r>
            </a:p>
          </p:txBody>
        </p:sp>
        <p:sp>
          <p:nvSpPr>
            <p:cNvPr id="23" name="Text Box 53"/>
            <p:cNvSpPr txBox="1">
              <a:spLocks noChangeArrowheads="1"/>
            </p:cNvSpPr>
            <p:nvPr/>
          </p:nvSpPr>
          <p:spPr bwMode="auto">
            <a:xfrm>
              <a:off x="1981200" y="1298575"/>
              <a:ext cx="641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800"/>
                <a:t>类型</a:t>
              </a:r>
            </a:p>
          </p:txBody>
        </p:sp>
        <p:sp>
          <p:nvSpPr>
            <p:cNvPr id="24" name="Text Box 54"/>
            <p:cNvSpPr txBox="1">
              <a:spLocks noChangeArrowheads="1"/>
            </p:cNvSpPr>
            <p:nvPr/>
          </p:nvSpPr>
          <p:spPr bwMode="auto">
            <a:xfrm>
              <a:off x="3149600" y="1298575"/>
              <a:ext cx="641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800"/>
                <a:t>代码</a:t>
              </a:r>
            </a:p>
          </p:txBody>
        </p:sp>
        <p:sp>
          <p:nvSpPr>
            <p:cNvPr id="25" name="Text Box 55"/>
            <p:cNvSpPr txBox="1">
              <a:spLocks noChangeArrowheads="1"/>
            </p:cNvSpPr>
            <p:nvPr/>
          </p:nvSpPr>
          <p:spPr bwMode="auto">
            <a:xfrm>
              <a:off x="1828800" y="1704975"/>
              <a:ext cx="4286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800"/>
                <a:t>（这 </a:t>
              </a:r>
              <a:r>
                <a:rPr lang="en-US" altLang="zh-CN" sz="1800"/>
                <a:t>4 </a:t>
              </a:r>
              <a:r>
                <a:rPr lang="zh-CN" altLang="en-US" sz="1800"/>
                <a:t>个字节取决于 </a:t>
              </a:r>
              <a:r>
                <a:rPr lang="en-US" altLang="zh-CN" sz="1800"/>
                <a:t>ICMP </a:t>
              </a:r>
              <a:r>
                <a:rPr lang="zh-CN" altLang="en-US" sz="1800"/>
                <a:t>报文的类型）</a:t>
              </a:r>
            </a:p>
          </p:txBody>
        </p:sp>
        <p:sp>
          <p:nvSpPr>
            <p:cNvPr id="26" name="Text Box 56"/>
            <p:cNvSpPr txBox="1">
              <a:spLocks noChangeArrowheads="1"/>
            </p:cNvSpPr>
            <p:nvPr/>
          </p:nvSpPr>
          <p:spPr bwMode="auto">
            <a:xfrm>
              <a:off x="2771775" y="9667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a:t>8</a:t>
              </a:r>
            </a:p>
          </p:txBody>
        </p:sp>
        <p:sp>
          <p:nvSpPr>
            <p:cNvPr id="27" name="Text Box 57"/>
            <p:cNvSpPr txBox="1">
              <a:spLocks noChangeArrowheads="1"/>
            </p:cNvSpPr>
            <p:nvPr/>
          </p:nvSpPr>
          <p:spPr bwMode="auto">
            <a:xfrm>
              <a:off x="3822700" y="9667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a:t>16</a:t>
              </a:r>
            </a:p>
          </p:txBody>
        </p:sp>
        <p:sp>
          <p:nvSpPr>
            <p:cNvPr id="28" name="Rectangle 61"/>
            <p:cNvSpPr>
              <a:spLocks noChangeArrowheads="1"/>
            </p:cNvSpPr>
            <p:nvPr/>
          </p:nvSpPr>
          <p:spPr bwMode="auto">
            <a:xfrm>
              <a:off x="2882900" y="4395788"/>
              <a:ext cx="1003300" cy="2794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 name="Text Box 58"/>
            <p:cNvSpPr txBox="1">
              <a:spLocks noChangeArrowheads="1"/>
            </p:cNvSpPr>
            <p:nvPr/>
          </p:nvSpPr>
          <p:spPr bwMode="auto">
            <a:xfrm>
              <a:off x="5911850" y="9667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a:t>31</a:t>
              </a:r>
            </a:p>
          </p:txBody>
        </p:sp>
        <p:sp>
          <p:nvSpPr>
            <p:cNvPr id="30" name="Text Box 59"/>
            <p:cNvSpPr txBox="1">
              <a:spLocks noChangeArrowheads="1"/>
            </p:cNvSpPr>
            <p:nvPr/>
          </p:nvSpPr>
          <p:spPr bwMode="auto">
            <a:xfrm>
              <a:off x="2832100" y="4357688"/>
              <a:ext cx="11303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a:t>IP </a:t>
              </a:r>
              <a:r>
                <a:rPr lang="zh-CN" altLang="en-US" sz="1800"/>
                <a:t>数据报</a:t>
              </a:r>
            </a:p>
          </p:txBody>
        </p:sp>
        <p:sp>
          <p:nvSpPr>
            <p:cNvPr id="31" name="Line 64"/>
            <p:cNvSpPr>
              <a:spLocks noChangeShapeType="1"/>
            </p:cNvSpPr>
            <p:nvPr/>
          </p:nvSpPr>
          <p:spPr bwMode="auto">
            <a:xfrm rot="16200000">
              <a:off x="3962400" y="-152400"/>
              <a:ext cx="0" cy="441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Text Box 68"/>
            <p:cNvSpPr txBox="1">
              <a:spLocks noChangeArrowheads="1"/>
            </p:cNvSpPr>
            <p:nvPr/>
          </p:nvSpPr>
          <p:spPr bwMode="auto">
            <a:xfrm>
              <a:off x="196850" y="1143000"/>
              <a:ext cx="1327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800"/>
                <a:t>前 </a:t>
              </a:r>
              <a:r>
                <a:rPr lang="en-US" altLang="zh-CN" sz="1800"/>
                <a:t>4 </a:t>
              </a:r>
              <a:r>
                <a:rPr lang="zh-CN" altLang="en-US" sz="1800"/>
                <a:t>个字节</a:t>
              </a:r>
            </a:p>
            <a:p>
              <a:pPr algn="ctr"/>
              <a:r>
                <a:rPr lang="zh-CN" altLang="en-US" sz="1800"/>
                <a:t>都是一样的</a:t>
              </a:r>
            </a:p>
          </p:txBody>
        </p:sp>
        <p:sp>
          <p:nvSpPr>
            <p:cNvPr id="33" name="Text Box 70"/>
            <p:cNvSpPr txBox="1">
              <a:spLocks noChangeArrowheads="1"/>
            </p:cNvSpPr>
            <p:nvPr/>
          </p:nvSpPr>
          <p:spPr bwMode="auto">
            <a:xfrm>
              <a:off x="2019300" y="2247900"/>
              <a:ext cx="40005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a:t>ICMP </a:t>
              </a:r>
              <a:r>
                <a:rPr lang="zh-CN" altLang="en-US" sz="1800"/>
                <a:t>的数据部分（长度取决于类型）</a:t>
              </a:r>
            </a:p>
          </p:txBody>
        </p:sp>
        <p:sp>
          <p:nvSpPr>
            <p:cNvPr id="34" name="Line 73"/>
            <p:cNvSpPr>
              <a:spLocks noChangeShapeType="1"/>
            </p:cNvSpPr>
            <p:nvPr/>
          </p:nvSpPr>
          <p:spPr bwMode="auto">
            <a:xfrm>
              <a:off x="1371600" y="1447800"/>
              <a:ext cx="381000" cy="0"/>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 name="Text Box 74"/>
            <p:cNvSpPr txBox="1">
              <a:spLocks noChangeArrowheads="1"/>
            </p:cNvSpPr>
            <p:nvPr/>
          </p:nvSpPr>
          <p:spPr bwMode="auto">
            <a:xfrm>
              <a:off x="3251200" y="3257550"/>
              <a:ext cx="12573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a:t>ICMP </a:t>
              </a:r>
              <a:r>
                <a:rPr lang="zh-CN" altLang="en-US" sz="1800"/>
                <a:t>报文</a:t>
              </a:r>
            </a:p>
          </p:txBody>
        </p:sp>
      </p:grpSp>
    </p:spTree>
    <p:extLst>
      <p:ext uri="{BB962C8B-B14F-4D97-AF65-F5344CB8AC3E}">
        <p14:creationId xmlns:p14="http://schemas.microsoft.com/office/powerpoint/2010/main" val="607559332"/>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ICMPv4</a:t>
            </a:r>
            <a:endParaRPr lang="zh-CN" altLang="en-US" dirty="0"/>
          </a:p>
        </p:txBody>
      </p:sp>
      <p:pic>
        <p:nvPicPr>
          <p:cNvPr id="38" name="内容占位符 37"/>
          <p:cNvPicPr>
            <a:picLocks noGrp="1" noChangeAspect="1"/>
          </p:cNvPicPr>
          <p:nvPr>
            <p:ph idx="1"/>
          </p:nvPr>
        </p:nvPicPr>
        <p:blipFill>
          <a:blip r:embed="rId2"/>
          <a:stretch>
            <a:fillRect/>
          </a:stretch>
        </p:blipFill>
        <p:spPr>
          <a:xfrm>
            <a:off x="0" y="985202"/>
            <a:ext cx="6191857" cy="5720397"/>
          </a:xfrm>
          <a:prstGeom prst="rect">
            <a:avLst/>
          </a:prstGeom>
        </p:spPr>
      </p:pic>
      <p:pic>
        <p:nvPicPr>
          <p:cNvPr id="39" name="图片 38"/>
          <p:cNvPicPr>
            <a:picLocks noChangeAspect="1"/>
          </p:cNvPicPr>
          <p:nvPr/>
        </p:nvPicPr>
        <p:blipFill>
          <a:blip r:embed="rId3"/>
          <a:stretch>
            <a:fillRect/>
          </a:stretch>
        </p:blipFill>
        <p:spPr>
          <a:xfrm>
            <a:off x="2702242" y="985202"/>
            <a:ext cx="6456504" cy="5374958"/>
          </a:xfrm>
          <a:prstGeom prst="rect">
            <a:avLst/>
          </a:prstGeom>
        </p:spPr>
      </p:pic>
    </p:spTree>
    <p:extLst>
      <p:ext uri="{BB962C8B-B14F-4D97-AF65-F5344CB8AC3E}">
        <p14:creationId xmlns:p14="http://schemas.microsoft.com/office/powerpoint/2010/main" val="1298491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11330" y="1288693"/>
            <a:ext cx="7772400" cy="4890882"/>
          </a:xfrm>
        </p:spPr>
        <p:txBody>
          <a:bodyPr/>
          <a:lstStyle/>
          <a:p>
            <a:r>
              <a:rPr lang="en-US" altLang="zh-CN" sz="2800" dirty="0"/>
              <a:t>ICMPv6</a:t>
            </a:r>
            <a:r>
              <a:rPr lang="zh-CN" altLang="zh-CN" sz="2800" dirty="0"/>
              <a:t>实现</a:t>
            </a:r>
            <a:r>
              <a:rPr lang="en-US" altLang="zh-CN" sz="2800" dirty="0"/>
              <a:t>IPv4</a:t>
            </a:r>
            <a:r>
              <a:rPr lang="zh-CN" altLang="zh-CN" sz="2800" dirty="0"/>
              <a:t>中</a:t>
            </a:r>
            <a:r>
              <a:rPr lang="en-US" altLang="zh-CN" sz="2800" dirty="0"/>
              <a:t>ICMP</a:t>
            </a:r>
            <a:r>
              <a:rPr lang="zh-CN" altLang="zh-CN" sz="2800" dirty="0"/>
              <a:t>、</a:t>
            </a:r>
            <a:r>
              <a:rPr lang="en-US" altLang="zh-CN" sz="2800" dirty="0"/>
              <a:t>ARP</a:t>
            </a:r>
            <a:r>
              <a:rPr lang="zh-CN" altLang="zh-CN" sz="2800" dirty="0"/>
              <a:t>和</a:t>
            </a:r>
            <a:r>
              <a:rPr lang="en-US" altLang="zh-CN" sz="2800" dirty="0"/>
              <a:t>IGMP</a:t>
            </a:r>
            <a:r>
              <a:rPr lang="zh-CN" altLang="zh-CN" sz="2800" dirty="0"/>
              <a:t>的功能，同时进行了功能扩展</a:t>
            </a:r>
            <a:endParaRPr lang="zh-CN" altLang="en-US" sz="2800" dirty="0"/>
          </a:p>
          <a:p>
            <a:pPr lvl="1"/>
            <a:r>
              <a:rPr lang="en-US" altLang="zh-CN" sz="2400" dirty="0"/>
              <a:t>ICMPv6</a:t>
            </a:r>
            <a:r>
              <a:rPr lang="zh-CN" altLang="zh-CN" sz="2400" dirty="0"/>
              <a:t>不仅可以用于错误报告，还可以用于邻居发现（</a:t>
            </a:r>
            <a:r>
              <a:rPr lang="en-US" altLang="zh-CN" sz="2400" dirty="0"/>
              <a:t>Neighbor Discovery, ND</a:t>
            </a:r>
            <a:r>
              <a:rPr lang="zh-CN" altLang="zh-CN" sz="2400" dirty="0"/>
              <a:t>），对应</a:t>
            </a:r>
            <a:r>
              <a:rPr lang="en-US" altLang="zh-CN" sz="2400" dirty="0"/>
              <a:t>IPv4</a:t>
            </a:r>
            <a:r>
              <a:rPr lang="zh-CN" altLang="zh-CN" sz="2400" dirty="0"/>
              <a:t>中的</a:t>
            </a:r>
            <a:r>
              <a:rPr lang="en-US" altLang="zh-CN" sz="2400" dirty="0"/>
              <a:t>ARP</a:t>
            </a:r>
            <a:r>
              <a:rPr lang="zh-CN" altLang="zh-CN" sz="2400" dirty="0"/>
              <a:t>协议功能；配置和管理组播地址，由组播收听发现协议（</a:t>
            </a:r>
            <a:r>
              <a:rPr lang="en-US" altLang="zh-CN" sz="2400" dirty="0"/>
              <a:t>Multicast Listener Discovery, MLD</a:t>
            </a:r>
            <a:r>
              <a:rPr lang="zh-CN" altLang="zh-CN" sz="2400" dirty="0"/>
              <a:t>）实现，对应</a:t>
            </a:r>
            <a:r>
              <a:rPr lang="en-US" altLang="zh-CN" sz="2400" dirty="0"/>
              <a:t>IPv4</a:t>
            </a:r>
            <a:r>
              <a:rPr lang="zh-CN" altLang="zh-CN" sz="2400" dirty="0"/>
              <a:t>中的</a:t>
            </a:r>
            <a:r>
              <a:rPr lang="en-US" altLang="zh-CN" sz="2400" dirty="0"/>
              <a:t>IGMP</a:t>
            </a:r>
            <a:r>
              <a:rPr lang="zh-CN" altLang="zh-CN" sz="2400" dirty="0"/>
              <a:t>协议功能；路由器发现（</a:t>
            </a:r>
            <a:r>
              <a:rPr lang="en-US" altLang="zh-CN" sz="2400" dirty="0"/>
              <a:t>Router Discovering, RD</a:t>
            </a:r>
            <a:r>
              <a:rPr lang="zh-CN" altLang="zh-CN" sz="2400" dirty="0"/>
              <a:t>）以及消息重定向等功能</a:t>
            </a:r>
            <a:endParaRPr lang="zh-CN" altLang="en-US" sz="2400" dirty="0"/>
          </a:p>
        </p:txBody>
      </p:sp>
      <p:sp>
        <p:nvSpPr>
          <p:cNvPr id="3" name="标题 2"/>
          <p:cNvSpPr>
            <a:spLocks noGrp="1"/>
          </p:cNvSpPr>
          <p:nvPr>
            <p:ph type="title"/>
          </p:nvPr>
        </p:nvSpPr>
        <p:spPr/>
        <p:txBody>
          <a:bodyPr/>
          <a:lstStyle/>
          <a:p>
            <a:r>
              <a:rPr lang="en-US" altLang="zh-CN" dirty="0"/>
              <a:t>ICMPv6</a:t>
            </a:r>
            <a:endParaRPr lang="zh-CN" altLang="en-US" dirty="0"/>
          </a:p>
        </p:txBody>
      </p:sp>
    </p:spTree>
    <p:extLst>
      <p:ext uri="{BB962C8B-B14F-4D97-AF65-F5344CB8AC3E}">
        <p14:creationId xmlns:p14="http://schemas.microsoft.com/office/powerpoint/2010/main" val="3076831028"/>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703058" y="1318189"/>
            <a:ext cx="7772400" cy="4949876"/>
          </a:xfrm>
        </p:spPr>
        <p:txBody>
          <a:bodyPr/>
          <a:lstStyle/>
          <a:p>
            <a:r>
              <a:rPr lang="zh-CN" altLang="en-US" dirty="0"/>
              <a:t>安全问题</a:t>
            </a:r>
            <a:endParaRPr lang="en-US" altLang="zh-CN" dirty="0"/>
          </a:p>
          <a:p>
            <a:pPr lvl="1"/>
            <a:r>
              <a:rPr lang="zh-CN" altLang="zh-CN" dirty="0"/>
              <a:t>利用“目的不可达”报文对攻击目标发起拒绝服务攻击。</a:t>
            </a:r>
          </a:p>
          <a:p>
            <a:pPr lvl="1"/>
            <a:r>
              <a:rPr lang="zh-CN" altLang="zh-CN" dirty="0"/>
              <a:t>利用“改变路由”报文破坏路由表，导致网络瘫痪。</a:t>
            </a:r>
          </a:p>
          <a:p>
            <a:pPr lvl="1"/>
            <a:r>
              <a:rPr lang="zh-CN" altLang="zh-CN" dirty="0"/>
              <a:t>木马利用</a:t>
            </a:r>
            <a:r>
              <a:rPr lang="en-US" altLang="zh-CN" dirty="0"/>
              <a:t>ICMP</a:t>
            </a:r>
            <a:r>
              <a:rPr lang="zh-CN" altLang="zh-CN" dirty="0"/>
              <a:t>协议报文进行隐蔽通信。</a:t>
            </a:r>
          </a:p>
          <a:p>
            <a:pPr lvl="1"/>
            <a:r>
              <a:rPr lang="zh-CN" altLang="zh-CN" dirty="0"/>
              <a:t>利用“回送</a:t>
            </a:r>
            <a:r>
              <a:rPr lang="en-US" altLang="zh-CN" dirty="0"/>
              <a:t>(Echo)</a:t>
            </a:r>
            <a:r>
              <a:rPr lang="zh-CN" altLang="zh-CN" dirty="0"/>
              <a:t>请求或回答”报文进行网络扫描或拒绝服务攻击</a:t>
            </a:r>
            <a:endParaRPr lang="zh-CN" altLang="en-US" dirty="0"/>
          </a:p>
        </p:txBody>
      </p:sp>
      <p:sp>
        <p:nvSpPr>
          <p:cNvPr id="3" name="标题 2"/>
          <p:cNvSpPr>
            <a:spLocks noGrp="1"/>
          </p:cNvSpPr>
          <p:nvPr>
            <p:ph type="title"/>
          </p:nvPr>
        </p:nvSpPr>
        <p:spPr/>
        <p:txBody>
          <a:bodyPr/>
          <a:lstStyle/>
          <a:p>
            <a:r>
              <a:rPr lang="en-US" altLang="zh-CN" dirty="0"/>
              <a:t>ICMP</a:t>
            </a:r>
            <a:endParaRPr lang="zh-CN" altLang="en-US" dirty="0"/>
          </a:p>
        </p:txBody>
      </p:sp>
    </p:spTree>
    <p:extLst>
      <p:ext uri="{BB962C8B-B14F-4D97-AF65-F5344CB8AC3E}">
        <p14:creationId xmlns:p14="http://schemas.microsoft.com/office/powerpoint/2010/main" val="4153984453"/>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000916" y="2940511"/>
            <a:ext cx="5019316" cy="820327"/>
          </a:xfrm>
        </p:spPr>
        <p:txBody>
          <a:bodyPr/>
          <a:lstStyle/>
          <a:p>
            <a:pPr marL="0" indent="0">
              <a:buNone/>
            </a:pPr>
            <a:r>
              <a:rPr lang="zh-CN" altLang="en-US" b="1" dirty="0">
                <a:solidFill>
                  <a:srgbClr val="FF0000"/>
                </a:solidFill>
              </a:rPr>
              <a:t>三、</a:t>
            </a:r>
            <a:r>
              <a:rPr lang="en-US" altLang="zh-CN" b="1" dirty="0">
                <a:solidFill>
                  <a:srgbClr val="FF0000"/>
                </a:solidFill>
              </a:rPr>
              <a:t>ARP</a:t>
            </a:r>
            <a:r>
              <a:rPr lang="zh-CN" altLang="en-US" b="1" dirty="0">
                <a:solidFill>
                  <a:srgbClr val="FF0000"/>
                </a:solidFill>
              </a:rPr>
              <a:t>协议安全性分析</a:t>
            </a:r>
          </a:p>
        </p:txBody>
      </p:sp>
      <p:sp>
        <p:nvSpPr>
          <p:cNvPr id="3" name="标题 2"/>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291693896"/>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64219" y="1317680"/>
            <a:ext cx="8217174" cy="4114800"/>
          </a:xfrm>
        </p:spPr>
        <p:txBody>
          <a:bodyPr/>
          <a:lstStyle/>
          <a:p>
            <a:r>
              <a:rPr lang="en-US" altLang="zh-CN" sz="2400" dirty="0"/>
              <a:t>ARP</a:t>
            </a:r>
            <a:r>
              <a:rPr lang="zh-CN" altLang="zh-CN" sz="2400" dirty="0"/>
              <a:t>用于将计算机的网络地址（</a:t>
            </a:r>
            <a:r>
              <a:rPr lang="en-US" altLang="zh-CN" sz="2400" dirty="0"/>
              <a:t>32</a:t>
            </a:r>
            <a:r>
              <a:rPr lang="zh-CN" altLang="zh-CN" sz="2400" dirty="0"/>
              <a:t>位</a:t>
            </a:r>
            <a:r>
              <a:rPr lang="en-US" altLang="zh-CN" sz="2400" dirty="0"/>
              <a:t>IP</a:t>
            </a:r>
            <a:r>
              <a:rPr lang="zh-CN" altLang="zh-CN" sz="2400" dirty="0"/>
              <a:t>地址）转化为物理地址（</a:t>
            </a:r>
            <a:r>
              <a:rPr lang="en-US" altLang="zh-CN" sz="2400" dirty="0"/>
              <a:t>48</a:t>
            </a:r>
            <a:r>
              <a:rPr lang="zh-CN" altLang="zh-CN" sz="2400" dirty="0"/>
              <a:t>位</a:t>
            </a:r>
            <a:r>
              <a:rPr lang="en-US" altLang="zh-CN" sz="2400" dirty="0"/>
              <a:t>MAC</a:t>
            </a:r>
            <a:r>
              <a:rPr lang="zh-CN" altLang="zh-CN" sz="2400" dirty="0"/>
              <a:t>地址）</a:t>
            </a:r>
            <a:endParaRPr lang="en-US" altLang="zh-CN" sz="2400" dirty="0"/>
          </a:p>
          <a:p>
            <a:pPr lvl="1"/>
            <a:r>
              <a:rPr lang="en-US" altLang="zh-CN" sz="2400" dirty="0"/>
              <a:t>ARP</a:t>
            </a:r>
            <a:r>
              <a:rPr lang="zh-CN" altLang="zh-CN" sz="2400" dirty="0"/>
              <a:t>高速缓存（</a:t>
            </a:r>
            <a:r>
              <a:rPr lang="en-US" altLang="zh-CN" sz="2400" dirty="0"/>
              <a:t>ARP Cache</a:t>
            </a:r>
            <a:r>
              <a:rPr lang="zh-CN" altLang="zh-CN" sz="2400" dirty="0" smtClean="0"/>
              <a:t>）</a:t>
            </a:r>
            <a:endParaRPr lang="en-US" altLang="zh-CN" sz="2400" dirty="0" smtClean="0"/>
          </a:p>
          <a:p>
            <a:pPr lvl="1"/>
            <a:r>
              <a:rPr lang="zh-CN" altLang="en-US" sz="2000" dirty="0" smtClean="0">
                <a:latin typeface="+mn-ea"/>
              </a:rPr>
              <a:t>所谓</a:t>
            </a:r>
            <a:r>
              <a:rPr lang="en-US" altLang="zh-CN" sz="2000" dirty="0">
                <a:latin typeface="+mn-ea"/>
              </a:rPr>
              <a:t>ARP</a:t>
            </a:r>
            <a:r>
              <a:rPr lang="zh-CN" altLang="en-US" sz="2000" dirty="0">
                <a:latin typeface="+mn-ea"/>
              </a:rPr>
              <a:t>缓存，就是当完成一次</a:t>
            </a:r>
            <a:r>
              <a:rPr lang="en-US" altLang="zh-CN" sz="2000" dirty="0">
                <a:latin typeface="+mn-ea"/>
              </a:rPr>
              <a:t>ARP</a:t>
            </a:r>
            <a:r>
              <a:rPr lang="zh-CN" altLang="en-US" sz="2000" dirty="0">
                <a:latin typeface="+mn-ea"/>
              </a:rPr>
              <a:t>请求和响应后，主机会将该过程中所得到</a:t>
            </a:r>
            <a:r>
              <a:rPr lang="en-US" altLang="zh-CN" sz="2000" dirty="0">
                <a:latin typeface="+mn-ea"/>
              </a:rPr>
              <a:t>IP</a:t>
            </a:r>
            <a:r>
              <a:rPr lang="zh-CN" altLang="en-US" sz="2000" dirty="0">
                <a:latin typeface="+mn-ea"/>
              </a:rPr>
              <a:t>地址和</a:t>
            </a:r>
            <a:r>
              <a:rPr lang="en-US" altLang="zh-CN" sz="2000" dirty="0">
                <a:latin typeface="+mn-ea"/>
              </a:rPr>
              <a:t>MAC</a:t>
            </a:r>
            <a:r>
              <a:rPr lang="zh-CN" altLang="en-US" sz="2000" dirty="0">
                <a:latin typeface="+mn-ea"/>
              </a:rPr>
              <a:t>地址之间的映射保存在本地</a:t>
            </a:r>
            <a:r>
              <a:rPr lang="zh-CN" altLang="en-US" sz="2000" dirty="0" smtClean="0">
                <a:latin typeface="+mn-ea"/>
              </a:rPr>
              <a:t>。</a:t>
            </a:r>
            <a:endParaRPr lang="en-US" altLang="zh-CN" sz="2000" dirty="0" smtClean="0">
              <a:latin typeface="+mn-ea"/>
            </a:endParaRPr>
          </a:p>
          <a:p>
            <a:pPr lvl="1"/>
            <a:r>
              <a:rPr lang="zh-CN" altLang="en-US" sz="2000" dirty="0" smtClean="0">
                <a:latin typeface="+mn-ea"/>
              </a:rPr>
              <a:t>当</a:t>
            </a:r>
            <a:r>
              <a:rPr lang="zh-CN" altLang="en-US" sz="2000" dirty="0">
                <a:latin typeface="+mn-ea"/>
              </a:rPr>
              <a:t>执行</a:t>
            </a:r>
            <a:r>
              <a:rPr lang="en-US" altLang="zh-CN" sz="2000" dirty="0">
                <a:latin typeface="+mn-ea"/>
              </a:rPr>
              <a:t>ARP</a:t>
            </a:r>
            <a:r>
              <a:rPr lang="zh-CN" altLang="en-US" sz="2000" dirty="0">
                <a:latin typeface="+mn-ea"/>
              </a:rPr>
              <a:t>协议前，先查询本地</a:t>
            </a:r>
            <a:r>
              <a:rPr lang="en-US" altLang="zh-CN" sz="2000" dirty="0">
                <a:latin typeface="+mn-ea"/>
              </a:rPr>
              <a:t>ARP</a:t>
            </a:r>
            <a:r>
              <a:rPr lang="zh-CN" altLang="en-US" sz="2000" dirty="0">
                <a:latin typeface="+mn-ea"/>
              </a:rPr>
              <a:t>缓存中是否有目标</a:t>
            </a:r>
            <a:r>
              <a:rPr lang="en-US" altLang="zh-CN" sz="2000" dirty="0">
                <a:latin typeface="+mn-ea"/>
              </a:rPr>
              <a:t>IP</a:t>
            </a:r>
            <a:r>
              <a:rPr lang="zh-CN" altLang="en-US" sz="2000" dirty="0">
                <a:latin typeface="+mn-ea"/>
              </a:rPr>
              <a:t>地址和</a:t>
            </a:r>
            <a:r>
              <a:rPr lang="en-US" altLang="zh-CN" sz="2000" dirty="0">
                <a:latin typeface="+mn-ea"/>
              </a:rPr>
              <a:t>MAC</a:t>
            </a:r>
            <a:r>
              <a:rPr lang="zh-CN" altLang="en-US" sz="2000" dirty="0">
                <a:latin typeface="+mn-ea"/>
              </a:rPr>
              <a:t>地址之间的映射关系</a:t>
            </a:r>
            <a:r>
              <a:rPr lang="zh-CN" altLang="en-US" sz="2000" dirty="0" smtClean="0">
                <a:latin typeface="+mn-ea"/>
              </a:rPr>
              <a:t>。只有</a:t>
            </a:r>
            <a:r>
              <a:rPr lang="zh-CN" altLang="en-US" sz="2000" dirty="0">
                <a:latin typeface="+mn-ea"/>
              </a:rPr>
              <a:t>本地</a:t>
            </a:r>
            <a:r>
              <a:rPr lang="en-US" altLang="zh-CN" sz="2000" dirty="0">
                <a:latin typeface="+mn-ea"/>
              </a:rPr>
              <a:t>ARP</a:t>
            </a:r>
            <a:r>
              <a:rPr lang="zh-CN" altLang="en-US" sz="2000" dirty="0">
                <a:latin typeface="+mn-ea"/>
              </a:rPr>
              <a:t>缓存中不存在该</a:t>
            </a:r>
            <a:r>
              <a:rPr lang="en-US" altLang="zh-CN" sz="2000" dirty="0">
                <a:latin typeface="+mn-ea"/>
              </a:rPr>
              <a:t>IP</a:t>
            </a:r>
            <a:r>
              <a:rPr lang="zh-CN" altLang="en-US" sz="2000" dirty="0">
                <a:latin typeface="+mn-ea"/>
              </a:rPr>
              <a:t>地址和</a:t>
            </a:r>
            <a:r>
              <a:rPr lang="en-US" altLang="zh-CN" sz="2000" dirty="0">
                <a:latin typeface="+mn-ea"/>
              </a:rPr>
              <a:t>MAC</a:t>
            </a:r>
            <a:r>
              <a:rPr lang="zh-CN" altLang="en-US" sz="2000" dirty="0">
                <a:latin typeface="+mn-ea"/>
              </a:rPr>
              <a:t>地址之间的映射关系数据时，才需要在网络上广播</a:t>
            </a:r>
            <a:r>
              <a:rPr lang="en-US" altLang="zh-CN" sz="2000" dirty="0">
                <a:latin typeface="+mn-ea"/>
              </a:rPr>
              <a:t>ARP</a:t>
            </a:r>
            <a:r>
              <a:rPr lang="zh-CN" altLang="en-US" sz="2000" dirty="0">
                <a:latin typeface="+mn-ea"/>
              </a:rPr>
              <a:t>请求消息。 </a:t>
            </a:r>
          </a:p>
          <a:p>
            <a:pPr lvl="2"/>
            <a:endParaRPr lang="zh-CN" altLang="en-US" sz="2000" dirty="0"/>
          </a:p>
        </p:txBody>
      </p:sp>
      <p:sp>
        <p:nvSpPr>
          <p:cNvPr id="3" name="标题 2"/>
          <p:cNvSpPr>
            <a:spLocks noGrp="1"/>
          </p:cNvSpPr>
          <p:nvPr>
            <p:ph type="title"/>
          </p:nvPr>
        </p:nvSpPr>
        <p:spPr/>
        <p:txBody>
          <a:bodyPr/>
          <a:lstStyle/>
          <a:p>
            <a:r>
              <a:rPr lang="en-US" altLang="zh-CN" dirty="0"/>
              <a:t>ARP</a:t>
            </a:r>
            <a:endParaRPr lang="zh-CN" altLang="en-US" dirty="0"/>
          </a:p>
        </p:txBody>
      </p:sp>
    </p:spTree>
    <p:extLst>
      <p:ext uri="{BB962C8B-B14F-4D97-AF65-F5344CB8AC3E}">
        <p14:creationId xmlns:p14="http://schemas.microsoft.com/office/powerpoint/2010/main" val="1726398741"/>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solidFill>
                  <a:srgbClr val="FF0000"/>
                </a:solidFill>
              </a:rPr>
              <a:t>一个</a:t>
            </a:r>
            <a:r>
              <a:rPr lang="en-US" altLang="zh-CN" dirty="0">
                <a:solidFill>
                  <a:srgbClr val="FF0000"/>
                </a:solidFill>
              </a:rPr>
              <a:t>ARP</a:t>
            </a:r>
            <a:r>
              <a:rPr lang="zh-CN" altLang="en-US" dirty="0">
                <a:solidFill>
                  <a:srgbClr val="FF0000"/>
                </a:solidFill>
              </a:rPr>
              <a:t>协议的完整过程包括</a:t>
            </a:r>
            <a:r>
              <a:rPr lang="en-US" altLang="zh-CN" dirty="0">
                <a:solidFill>
                  <a:srgbClr val="FF0000"/>
                </a:solidFill>
              </a:rPr>
              <a:t>ARP</a:t>
            </a:r>
            <a:r>
              <a:rPr lang="zh-CN" altLang="en-US" dirty="0">
                <a:solidFill>
                  <a:srgbClr val="FF0000"/>
                </a:solidFill>
              </a:rPr>
              <a:t>请求和</a:t>
            </a:r>
            <a:r>
              <a:rPr lang="en-US" altLang="zh-CN" dirty="0">
                <a:solidFill>
                  <a:srgbClr val="FF0000"/>
                </a:solidFill>
              </a:rPr>
              <a:t>ARP</a:t>
            </a:r>
            <a:r>
              <a:rPr lang="zh-CN" altLang="en-US" dirty="0">
                <a:solidFill>
                  <a:srgbClr val="FF0000"/>
                </a:solidFill>
              </a:rPr>
              <a:t>响应</a:t>
            </a:r>
          </a:p>
          <a:p>
            <a:pPr lvl="1"/>
            <a:r>
              <a:rPr lang="en-US" altLang="zh-CN" sz="2400" dirty="0" smtClean="0"/>
              <a:t>ARP</a:t>
            </a:r>
            <a:r>
              <a:rPr lang="zh-CN" altLang="en-US" sz="2400" dirty="0"/>
              <a:t>请求：当需要进行</a:t>
            </a:r>
            <a:r>
              <a:rPr lang="en-US" altLang="zh-CN" sz="2400" dirty="0"/>
              <a:t>IP</a:t>
            </a:r>
            <a:r>
              <a:rPr lang="zh-CN" altLang="en-US" sz="2400" dirty="0"/>
              <a:t>地址和</a:t>
            </a:r>
            <a:r>
              <a:rPr lang="en-US" altLang="zh-CN" sz="2400" dirty="0"/>
              <a:t>MAC</a:t>
            </a:r>
            <a:r>
              <a:rPr lang="zh-CN" altLang="en-US" sz="2400" dirty="0"/>
              <a:t>地址之间的解析时，发起者以广播的形式在网络中发送包含目标</a:t>
            </a:r>
            <a:r>
              <a:rPr lang="en-US" altLang="zh-CN" sz="2400" dirty="0"/>
              <a:t>IP</a:t>
            </a:r>
            <a:r>
              <a:rPr lang="zh-CN" altLang="en-US" sz="2400" dirty="0"/>
              <a:t>地址的</a:t>
            </a:r>
            <a:r>
              <a:rPr lang="en-US" altLang="zh-CN" sz="2400" dirty="0"/>
              <a:t>ARP</a:t>
            </a:r>
            <a:r>
              <a:rPr lang="zh-CN" altLang="en-US" sz="2400" dirty="0"/>
              <a:t>请求。</a:t>
            </a:r>
          </a:p>
          <a:p>
            <a:pPr lvl="1"/>
            <a:r>
              <a:rPr lang="en-US" altLang="zh-CN" sz="2400" dirty="0" smtClean="0"/>
              <a:t>ARP</a:t>
            </a:r>
            <a:r>
              <a:rPr lang="zh-CN" altLang="en-US" sz="2400" dirty="0"/>
              <a:t>响应：网络中的主机收到</a:t>
            </a:r>
            <a:r>
              <a:rPr lang="en-US" altLang="zh-CN" sz="2400" dirty="0"/>
              <a:t>ARP</a:t>
            </a:r>
            <a:r>
              <a:rPr lang="zh-CN" altLang="en-US" sz="2400" dirty="0"/>
              <a:t>请求且发现</a:t>
            </a:r>
            <a:r>
              <a:rPr lang="en-US" altLang="zh-CN" sz="2400" dirty="0"/>
              <a:t>ARP</a:t>
            </a:r>
            <a:r>
              <a:rPr lang="zh-CN" altLang="en-US" sz="2400" dirty="0"/>
              <a:t>所请求的</a:t>
            </a:r>
            <a:r>
              <a:rPr lang="en-US" altLang="zh-CN" sz="2400" dirty="0"/>
              <a:t>IP</a:t>
            </a:r>
            <a:r>
              <a:rPr lang="zh-CN" altLang="en-US" sz="2400" dirty="0"/>
              <a:t>地址与自己的</a:t>
            </a:r>
            <a:r>
              <a:rPr lang="en-US" altLang="zh-CN" sz="2400" dirty="0"/>
              <a:t>IP</a:t>
            </a:r>
            <a:r>
              <a:rPr lang="zh-CN" altLang="en-US" sz="2400" dirty="0"/>
              <a:t>地址匹配时，发送包含自己</a:t>
            </a:r>
            <a:r>
              <a:rPr lang="en-US" altLang="zh-CN" sz="2400" dirty="0"/>
              <a:t>MAC</a:t>
            </a:r>
            <a:r>
              <a:rPr lang="zh-CN" altLang="en-US" sz="2400" dirty="0"/>
              <a:t>地址的</a:t>
            </a:r>
            <a:r>
              <a:rPr lang="en-US" altLang="zh-CN" sz="2400" dirty="0"/>
              <a:t>ARP</a:t>
            </a:r>
            <a:r>
              <a:rPr lang="zh-CN" altLang="en-US" sz="2400" dirty="0"/>
              <a:t>响应消息。</a:t>
            </a:r>
            <a:endParaRPr lang="zh-CN" altLang="en-US" sz="2400" dirty="0">
              <a:latin typeface="+mn-ea"/>
            </a:endParaRPr>
          </a:p>
          <a:p>
            <a:pPr lvl="2"/>
            <a:endParaRPr lang="zh-CN" altLang="en-US" sz="2000" dirty="0"/>
          </a:p>
        </p:txBody>
      </p:sp>
      <p:sp>
        <p:nvSpPr>
          <p:cNvPr id="3" name="标题 2"/>
          <p:cNvSpPr>
            <a:spLocks noGrp="1"/>
          </p:cNvSpPr>
          <p:nvPr>
            <p:ph type="title"/>
          </p:nvPr>
        </p:nvSpPr>
        <p:spPr/>
        <p:txBody>
          <a:bodyPr/>
          <a:lstStyle/>
          <a:p>
            <a:r>
              <a:rPr lang="en-US" altLang="zh-CN" dirty="0"/>
              <a:t>ARP</a:t>
            </a:r>
            <a:endParaRPr lang="zh-CN" altLang="en-US" dirty="0"/>
          </a:p>
        </p:txBody>
      </p:sp>
    </p:spTree>
    <p:extLst>
      <p:ext uri="{BB962C8B-B14F-4D97-AF65-F5344CB8AC3E}">
        <p14:creationId xmlns:p14="http://schemas.microsoft.com/office/powerpoint/2010/main" val="753229471"/>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sz="2800" dirty="0"/>
              <a:t>ARP</a:t>
            </a:r>
            <a:r>
              <a:rPr lang="zh-CN" altLang="en-US" sz="2800" dirty="0"/>
              <a:t>安全问题</a:t>
            </a:r>
            <a:endParaRPr lang="en-US" altLang="zh-CN" sz="2800" dirty="0"/>
          </a:p>
          <a:p>
            <a:pPr lvl="1"/>
            <a:r>
              <a:rPr lang="zh-CN" altLang="zh-CN" dirty="0"/>
              <a:t>网络嗅探</a:t>
            </a:r>
            <a:r>
              <a:rPr lang="zh-CN" altLang="en-US" dirty="0" smtClean="0"/>
              <a:t>：窃听、假冒、流量</a:t>
            </a:r>
            <a:r>
              <a:rPr lang="zh-CN" altLang="en-US" dirty="0"/>
              <a:t>劫持</a:t>
            </a:r>
            <a:endParaRPr lang="en-US" altLang="zh-CN" dirty="0"/>
          </a:p>
          <a:p>
            <a:pPr lvl="1"/>
            <a:r>
              <a:rPr lang="zh-CN" altLang="zh-CN" dirty="0"/>
              <a:t>阻止目标的数据包通过</a:t>
            </a:r>
            <a:r>
              <a:rPr lang="zh-CN" altLang="zh-CN" dirty="0" smtClean="0"/>
              <a:t>网关</a:t>
            </a:r>
            <a:r>
              <a:rPr lang="zh-CN" altLang="en-US" dirty="0" smtClean="0"/>
              <a:t>：恶意修改网关</a:t>
            </a:r>
            <a:r>
              <a:rPr lang="en-US" altLang="zh-CN" dirty="0" smtClean="0"/>
              <a:t>IP</a:t>
            </a:r>
            <a:r>
              <a:rPr lang="zh-CN" altLang="en-US" dirty="0" smtClean="0"/>
              <a:t>和</a:t>
            </a:r>
            <a:r>
              <a:rPr lang="en-US" altLang="zh-CN" dirty="0" smtClean="0"/>
              <a:t>MAC</a:t>
            </a:r>
            <a:r>
              <a:rPr lang="zh-CN" altLang="en-US" dirty="0" smtClean="0"/>
              <a:t>地址的映射关系</a:t>
            </a:r>
            <a:endParaRPr lang="zh-CN" altLang="en-US" sz="2400" dirty="0"/>
          </a:p>
        </p:txBody>
      </p:sp>
      <p:sp>
        <p:nvSpPr>
          <p:cNvPr id="3" name="标题 2"/>
          <p:cNvSpPr>
            <a:spLocks noGrp="1"/>
          </p:cNvSpPr>
          <p:nvPr>
            <p:ph type="title"/>
          </p:nvPr>
        </p:nvSpPr>
        <p:spPr/>
        <p:txBody>
          <a:bodyPr/>
          <a:lstStyle/>
          <a:p>
            <a:r>
              <a:rPr lang="en-US" altLang="zh-CN" dirty="0"/>
              <a:t>ARP</a:t>
            </a:r>
            <a:endParaRPr lang="zh-CN" altLang="en-US" dirty="0"/>
          </a:p>
        </p:txBody>
      </p:sp>
    </p:spTree>
    <p:extLst>
      <p:ext uri="{BB962C8B-B14F-4D97-AF65-F5344CB8AC3E}">
        <p14:creationId xmlns:p14="http://schemas.microsoft.com/office/powerpoint/2010/main" val="3988695380"/>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742026" y="2904661"/>
            <a:ext cx="5812325" cy="865481"/>
          </a:xfrm>
        </p:spPr>
        <p:txBody>
          <a:bodyPr/>
          <a:lstStyle/>
          <a:p>
            <a:pPr marL="0" indent="0">
              <a:buNone/>
            </a:pPr>
            <a:r>
              <a:rPr lang="zh-CN" altLang="en-US" dirty="0">
                <a:solidFill>
                  <a:srgbClr val="FF0000"/>
                </a:solidFill>
              </a:rPr>
              <a:t>四、</a:t>
            </a:r>
            <a:r>
              <a:rPr lang="en-US" altLang="zh-CN" dirty="0">
                <a:solidFill>
                  <a:srgbClr val="FF0000"/>
                </a:solidFill>
              </a:rPr>
              <a:t>RIP</a:t>
            </a:r>
            <a:r>
              <a:rPr lang="zh-CN" altLang="en-US" dirty="0">
                <a:solidFill>
                  <a:srgbClr val="FF0000"/>
                </a:solidFill>
              </a:rPr>
              <a:t>协议及其安全性分析</a:t>
            </a:r>
            <a:endParaRPr lang="zh-CN" altLang="zh-CN" dirty="0">
              <a:solidFill>
                <a:srgbClr val="FF0000"/>
              </a:solidFill>
            </a:endParaRPr>
          </a:p>
          <a:p>
            <a:endParaRPr lang="zh-CN" altLang="en-US" dirty="0">
              <a:solidFill>
                <a:srgbClr val="FF0000"/>
              </a:solidFill>
            </a:endParaRPr>
          </a:p>
        </p:txBody>
      </p:sp>
      <p:sp>
        <p:nvSpPr>
          <p:cNvPr id="3" name="标题 2"/>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2514066135"/>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2" y="1356042"/>
            <a:ext cx="7890827" cy="4877117"/>
          </a:xfrm>
        </p:spPr>
        <p:txBody>
          <a:bodyPr/>
          <a:lstStyle/>
          <a:p>
            <a:pPr>
              <a:spcBef>
                <a:spcPts val="0"/>
              </a:spcBef>
            </a:pPr>
            <a:r>
              <a:rPr lang="en-US" altLang="zh-CN" dirty="0"/>
              <a:t>RIP</a:t>
            </a:r>
            <a:r>
              <a:rPr lang="zh-CN" altLang="en-US" dirty="0"/>
              <a:t>一种</a:t>
            </a:r>
            <a:r>
              <a:rPr lang="zh-CN" altLang="zh-CN" dirty="0"/>
              <a:t>内部网关协议</a:t>
            </a:r>
            <a:endParaRPr lang="en-US" altLang="zh-CN" dirty="0"/>
          </a:p>
          <a:p>
            <a:pPr lvl="1">
              <a:spcBef>
                <a:spcPts val="0"/>
              </a:spcBef>
            </a:pPr>
            <a:r>
              <a:rPr lang="zh-CN" altLang="zh-CN" dirty="0"/>
              <a:t>分布式的基于距离向量的路由选择</a:t>
            </a:r>
            <a:endParaRPr lang="en-US" altLang="zh-CN" dirty="0"/>
          </a:p>
          <a:p>
            <a:pPr lvl="1">
              <a:spcBef>
                <a:spcPts val="0"/>
              </a:spcBef>
            </a:pPr>
            <a:r>
              <a:rPr lang="zh-CN" altLang="zh-CN" dirty="0"/>
              <a:t>三个版本：</a:t>
            </a:r>
            <a:r>
              <a:rPr lang="en-US" altLang="zh-CN" dirty="0"/>
              <a:t>RIPv1</a:t>
            </a:r>
            <a:r>
              <a:rPr lang="zh-CN" altLang="zh-CN" dirty="0"/>
              <a:t>（</a:t>
            </a:r>
            <a:r>
              <a:rPr lang="en-US" altLang="zh-CN" dirty="0"/>
              <a:t>RFC 1058</a:t>
            </a:r>
            <a:r>
              <a:rPr lang="zh-CN" altLang="zh-CN" dirty="0"/>
              <a:t>）、</a:t>
            </a:r>
            <a:r>
              <a:rPr lang="en-US" altLang="zh-CN" dirty="0"/>
              <a:t>RIPv2</a:t>
            </a:r>
            <a:r>
              <a:rPr lang="zh-CN" altLang="zh-CN" dirty="0"/>
              <a:t>（</a:t>
            </a:r>
            <a:r>
              <a:rPr lang="en-US" altLang="zh-CN" dirty="0"/>
              <a:t>RFC1723</a:t>
            </a:r>
            <a:r>
              <a:rPr lang="zh-CN" altLang="zh-CN" dirty="0"/>
              <a:t>）和</a:t>
            </a:r>
            <a:r>
              <a:rPr lang="en-US" altLang="zh-CN" dirty="0"/>
              <a:t>RIPng</a:t>
            </a:r>
            <a:r>
              <a:rPr lang="zh-CN" altLang="zh-CN" dirty="0"/>
              <a:t>。</a:t>
            </a:r>
            <a:endParaRPr lang="en-US" altLang="zh-CN" dirty="0"/>
          </a:p>
          <a:p>
            <a:pPr lvl="2">
              <a:spcBef>
                <a:spcPts val="0"/>
              </a:spcBef>
            </a:pPr>
            <a:r>
              <a:rPr lang="en-US" altLang="zh-CN" dirty="0"/>
              <a:t>RIPv2</a:t>
            </a:r>
            <a:r>
              <a:rPr lang="zh-CN" altLang="zh-CN" dirty="0"/>
              <a:t>新增了变长子网掩码的功能，支持无类域间路由、支持组播、支持认证功能，同时对</a:t>
            </a:r>
            <a:r>
              <a:rPr lang="en-US" altLang="zh-CN" dirty="0"/>
              <a:t>RIP </a:t>
            </a:r>
            <a:r>
              <a:rPr lang="zh-CN" altLang="zh-CN" dirty="0"/>
              <a:t>路由器具有后向兼容性。</a:t>
            </a:r>
            <a:endParaRPr lang="en-US" altLang="zh-CN" dirty="0"/>
          </a:p>
          <a:p>
            <a:pPr lvl="2">
              <a:spcBef>
                <a:spcPts val="0"/>
              </a:spcBef>
            </a:pPr>
            <a:r>
              <a:rPr lang="en-US" altLang="zh-CN" dirty="0"/>
              <a:t>RIPng</a:t>
            </a:r>
            <a:r>
              <a:rPr lang="zh-CN" altLang="zh-CN" dirty="0"/>
              <a:t>主要用于</a:t>
            </a:r>
            <a:r>
              <a:rPr lang="en-US" altLang="zh-CN" dirty="0"/>
              <a:t>IPv6</a:t>
            </a:r>
            <a:r>
              <a:rPr lang="zh-CN" altLang="zh-CN" dirty="0"/>
              <a:t>网络</a:t>
            </a:r>
            <a:endParaRPr lang="zh-CN" altLang="en-US" dirty="0"/>
          </a:p>
        </p:txBody>
      </p:sp>
      <p:sp>
        <p:nvSpPr>
          <p:cNvPr id="3" name="标题 2"/>
          <p:cNvSpPr>
            <a:spLocks noGrp="1"/>
          </p:cNvSpPr>
          <p:nvPr>
            <p:ph type="title"/>
          </p:nvPr>
        </p:nvSpPr>
        <p:spPr/>
        <p:txBody>
          <a:bodyPr/>
          <a:lstStyle/>
          <a:p>
            <a:r>
              <a:rPr lang="en-US" altLang="zh-CN" dirty="0"/>
              <a:t>RIP</a:t>
            </a:r>
            <a:r>
              <a:rPr lang="zh-CN" altLang="en-US" dirty="0"/>
              <a:t>协议</a:t>
            </a:r>
          </a:p>
        </p:txBody>
      </p:sp>
    </p:spTree>
    <p:extLst>
      <p:ext uri="{BB962C8B-B14F-4D97-AF65-F5344CB8AC3E}">
        <p14:creationId xmlns:p14="http://schemas.microsoft.com/office/powerpoint/2010/main" val="216499388"/>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554162"/>
            <a:ext cx="7772400" cy="4450397"/>
          </a:xfrm>
        </p:spPr>
        <p:txBody>
          <a:bodyPr/>
          <a:lstStyle/>
          <a:p>
            <a:r>
              <a:rPr lang="zh-CN" altLang="en-US" dirty="0"/>
              <a:t>路由策略</a:t>
            </a:r>
            <a:endParaRPr lang="en-US" altLang="zh-CN" dirty="0"/>
          </a:p>
          <a:p>
            <a:pPr lvl="1"/>
            <a:r>
              <a:rPr lang="zh-CN" altLang="zh-CN" dirty="0">
                <a:solidFill>
                  <a:srgbClr val="FF0000"/>
                </a:solidFill>
              </a:rPr>
              <a:t>和哪些路由器交换信息？</a:t>
            </a:r>
            <a:r>
              <a:rPr lang="zh-CN" altLang="zh-CN" dirty="0"/>
              <a:t>仅和相邻路由器交换信息</a:t>
            </a:r>
            <a:endParaRPr lang="en-US" altLang="zh-CN" dirty="0"/>
          </a:p>
          <a:p>
            <a:pPr lvl="1"/>
            <a:r>
              <a:rPr lang="zh-CN" altLang="zh-CN" dirty="0">
                <a:solidFill>
                  <a:srgbClr val="FF0000"/>
                </a:solidFill>
              </a:rPr>
              <a:t>交换什么信息？</a:t>
            </a:r>
            <a:r>
              <a:rPr lang="zh-CN" altLang="zh-CN" dirty="0"/>
              <a:t>当前本路由器所知道的全部信息，即自己的路由表</a:t>
            </a:r>
            <a:endParaRPr lang="en-US" altLang="zh-CN" dirty="0"/>
          </a:p>
          <a:p>
            <a:pPr lvl="1"/>
            <a:r>
              <a:rPr lang="zh-CN" altLang="zh-CN" dirty="0">
                <a:solidFill>
                  <a:srgbClr val="FF0000"/>
                </a:solidFill>
              </a:rPr>
              <a:t>在什么时候交换信息？</a:t>
            </a:r>
            <a:r>
              <a:rPr lang="zh-CN" altLang="zh-CN" dirty="0"/>
              <a:t>按固定的时间间隔交换路由信息</a:t>
            </a:r>
            <a:endParaRPr lang="zh-CN" altLang="en-US" dirty="0"/>
          </a:p>
        </p:txBody>
      </p:sp>
      <p:sp>
        <p:nvSpPr>
          <p:cNvPr id="3" name="标题 2"/>
          <p:cNvSpPr>
            <a:spLocks noGrp="1"/>
          </p:cNvSpPr>
          <p:nvPr>
            <p:ph type="title"/>
          </p:nvPr>
        </p:nvSpPr>
        <p:spPr/>
        <p:txBody>
          <a:bodyPr/>
          <a:lstStyle/>
          <a:p>
            <a:r>
              <a:rPr lang="en-US" altLang="zh-CN" dirty="0"/>
              <a:t>RIP</a:t>
            </a:r>
            <a:r>
              <a:rPr lang="zh-CN" altLang="en-US" dirty="0"/>
              <a:t>协议</a:t>
            </a:r>
          </a:p>
        </p:txBody>
      </p:sp>
    </p:spTree>
    <p:extLst>
      <p:ext uri="{BB962C8B-B14F-4D97-AF65-F5344CB8AC3E}">
        <p14:creationId xmlns:p14="http://schemas.microsoft.com/office/powerpoint/2010/main" val="3633466483"/>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554162"/>
            <a:ext cx="7772400" cy="4450397"/>
          </a:xfrm>
        </p:spPr>
        <p:txBody>
          <a:bodyPr/>
          <a:lstStyle/>
          <a:p>
            <a:r>
              <a:rPr lang="zh-CN" altLang="en-US" dirty="0"/>
              <a:t>协议报文</a:t>
            </a:r>
            <a:endParaRPr lang="en-US" altLang="zh-CN" dirty="0"/>
          </a:p>
          <a:p>
            <a:pPr lvl="1"/>
            <a:r>
              <a:rPr lang="zh-CN" altLang="zh-CN" dirty="0"/>
              <a:t>两类报文：</a:t>
            </a:r>
            <a:r>
              <a:rPr lang="zh-CN" altLang="zh-CN" dirty="0">
                <a:solidFill>
                  <a:srgbClr val="FF0000"/>
                </a:solidFill>
              </a:rPr>
              <a:t>更新报文和请求报文</a:t>
            </a:r>
            <a:r>
              <a:rPr lang="zh-CN" altLang="zh-CN" dirty="0"/>
              <a:t>。更新报文用于路由表的分发，请求报文用于路由器发现网上其它运行</a:t>
            </a:r>
            <a:r>
              <a:rPr lang="en-US" altLang="zh-CN" dirty="0"/>
              <a:t>RIP</a:t>
            </a:r>
            <a:r>
              <a:rPr lang="zh-CN" altLang="zh-CN" dirty="0"/>
              <a:t>协议的路由器。</a:t>
            </a:r>
            <a:endParaRPr lang="en-US" altLang="zh-CN" dirty="0"/>
          </a:p>
          <a:p>
            <a:pPr lvl="1"/>
            <a:r>
              <a:rPr lang="en-US" altLang="zh-CN" dirty="0"/>
              <a:t>RIP</a:t>
            </a:r>
            <a:r>
              <a:rPr lang="zh-CN" altLang="zh-CN" dirty="0"/>
              <a:t>协议报文使用</a:t>
            </a:r>
            <a:r>
              <a:rPr lang="en-US" altLang="zh-CN" dirty="0">
                <a:solidFill>
                  <a:srgbClr val="FF0000"/>
                </a:solidFill>
              </a:rPr>
              <a:t>UDP</a:t>
            </a:r>
            <a:r>
              <a:rPr lang="zh-CN" altLang="zh-CN" dirty="0">
                <a:solidFill>
                  <a:srgbClr val="FF0000"/>
                </a:solidFill>
              </a:rPr>
              <a:t>协议</a:t>
            </a:r>
            <a:r>
              <a:rPr lang="zh-CN" altLang="zh-CN" dirty="0"/>
              <a:t>进行传送</a:t>
            </a:r>
            <a:endParaRPr lang="zh-CN" altLang="en-US" dirty="0"/>
          </a:p>
        </p:txBody>
      </p:sp>
      <p:sp>
        <p:nvSpPr>
          <p:cNvPr id="3" name="标题 2"/>
          <p:cNvSpPr>
            <a:spLocks noGrp="1"/>
          </p:cNvSpPr>
          <p:nvPr>
            <p:ph type="title"/>
          </p:nvPr>
        </p:nvSpPr>
        <p:spPr/>
        <p:txBody>
          <a:bodyPr/>
          <a:lstStyle/>
          <a:p>
            <a:r>
              <a:rPr lang="en-US" altLang="zh-CN" dirty="0"/>
              <a:t>RIP</a:t>
            </a:r>
            <a:r>
              <a:rPr lang="zh-CN" altLang="en-US" dirty="0"/>
              <a:t>协议</a:t>
            </a:r>
          </a:p>
        </p:txBody>
      </p:sp>
    </p:spTree>
    <p:extLst>
      <p:ext uri="{BB962C8B-B14F-4D97-AF65-F5344CB8AC3E}">
        <p14:creationId xmlns:p14="http://schemas.microsoft.com/office/powerpoint/2010/main" val="2811868112"/>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447483"/>
            <a:ext cx="7772400" cy="4114800"/>
          </a:xfrm>
        </p:spPr>
        <p:txBody>
          <a:bodyPr/>
          <a:lstStyle/>
          <a:p>
            <a:r>
              <a:rPr lang="en-US" altLang="zh-CN" sz="2800" dirty="0"/>
              <a:t>RIPv1</a:t>
            </a:r>
            <a:r>
              <a:rPr lang="zh-CN" altLang="zh-CN" sz="2800" dirty="0"/>
              <a:t>不支持认证，且使用不可靠的</a:t>
            </a:r>
            <a:r>
              <a:rPr lang="en-US" altLang="zh-CN" sz="2800" dirty="0"/>
              <a:t>UDP</a:t>
            </a:r>
            <a:r>
              <a:rPr lang="zh-CN" altLang="zh-CN" sz="2800" dirty="0"/>
              <a:t>协议作为传输协议，安全性较差。</a:t>
            </a:r>
            <a:endParaRPr lang="en-US" altLang="zh-CN" sz="2800" dirty="0"/>
          </a:p>
          <a:p>
            <a:r>
              <a:rPr lang="zh-CN" altLang="zh-CN" sz="2800" dirty="0"/>
              <a:t>如果在没有认证保护的情况下，</a:t>
            </a:r>
            <a:r>
              <a:rPr lang="zh-CN" altLang="zh-CN" sz="2800" dirty="0">
                <a:solidFill>
                  <a:srgbClr val="FF0000"/>
                </a:solidFill>
              </a:rPr>
              <a:t>攻击者可以轻易伪造</a:t>
            </a:r>
            <a:r>
              <a:rPr lang="en-US" altLang="zh-CN" sz="2800" dirty="0">
                <a:solidFill>
                  <a:srgbClr val="FF0000"/>
                </a:solidFill>
              </a:rPr>
              <a:t>RIP </a:t>
            </a:r>
            <a:r>
              <a:rPr lang="zh-CN" altLang="zh-CN" sz="2800" dirty="0">
                <a:solidFill>
                  <a:srgbClr val="FF0000"/>
                </a:solidFill>
              </a:rPr>
              <a:t>路由更新信息，并向邻居路由器发送，伪造内容为目的网络地址、子网掩码地址与下</a:t>
            </a:r>
            <a:r>
              <a:rPr lang="zh-CN" altLang="zh-CN" sz="2800" dirty="0" smtClean="0">
                <a:solidFill>
                  <a:srgbClr val="FF0000"/>
                </a:solidFill>
              </a:rPr>
              <a:t>一</a:t>
            </a:r>
            <a:r>
              <a:rPr lang="zh-CN" altLang="en-US" sz="2800" dirty="0" smtClean="0">
                <a:solidFill>
                  <a:srgbClr val="FF0000"/>
                </a:solidFill>
              </a:rPr>
              <a:t>跳</a:t>
            </a:r>
            <a:r>
              <a:rPr lang="zh-CN" altLang="zh-CN" sz="2800" dirty="0" smtClean="0">
                <a:solidFill>
                  <a:srgbClr val="FF0000"/>
                </a:solidFill>
              </a:rPr>
              <a:t>地址</a:t>
            </a:r>
            <a:r>
              <a:rPr lang="zh-CN" altLang="zh-CN" sz="2800" dirty="0">
                <a:solidFill>
                  <a:srgbClr val="FF0000"/>
                </a:solidFill>
              </a:rPr>
              <a:t>，经过若干轮的路由更新，网络通信将面临瘫痪的风险</a:t>
            </a:r>
            <a:endParaRPr lang="zh-CN" altLang="en-US" sz="2800" dirty="0">
              <a:solidFill>
                <a:srgbClr val="FF0000"/>
              </a:solidFill>
            </a:endParaRPr>
          </a:p>
        </p:txBody>
      </p:sp>
      <p:sp>
        <p:nvSpPr>
          <p:cNvPr id="3" name="标题 2"/>
          <p:cNvSpPr>
            <a:spLocks noGrp="1"/>
          </p:cNvSpPr>
          <p:nvPr>
            <p:ph type="title"/>
          </p:nvPr>
        </p:nvSpPr>
        <p:spPr/>
        <p:txBody>
          <a:bodyPr/>
          <a:lstStyle/>
          <a:p>
            <a:r>
              <a:rPr lang="en-US" altLang="zh-CN" dirty="0"/>
              <a:t>RIP</a:t>
            </a:r>
            <a:r>
              <a:rPr lang="zh-CN" altLang="en-US" dirty="0"/>
              <a:t>协议安全</a:t>
            </a:r>
          </a:p>
        </p:txBody>
      </p:sp>
    </p:spTree>
    <p:extLst>
      <p:ext uri="{BB962C8B-B14F-4D97-AF65-F5344CB8AC3E}">
        <p14:creationId xmlns:p14="http://schemas.microsoft.com/office/powerpoint/2010/main" val="2783701957"/>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234122"/>
            <a:ext cx="7772400" cy="5151437"/>
          </a:xfrm>
        </p:spPr>
        <p:txBody>
          <a:bodyPr/>
          <a:lstStyle/>
          <a:p>
            <a:r>
              <a:rPr lang="en-US" altLang="zh-CN" sz="2800" dirty="0"/>
              <a:t>RIPv2</a:t>
            </a:r>
            <a:r>
              <a:rPr lang="zh-CN" altLang="zh-CN" sz="2800" dirty="0"/>
              <a:t>在其报文格式中增加了一个可以设置</a:t>
            </a:r>
            <a:r>
              <a:rPr lang="en-US" altLang="zh-CN" sz="2800" dirty="0"/>
              <a:t>16</a:t>
            </a:r>
            <a:r>
              <a:rPr lang="zh-CN" altLang="zh-CN" sz="2800" dirty="0"/>
              <a:t>个字符的</a:t>
            </a:r>
            <a:r>
              <a:rPr lang="zh-CN" altLang="zh-CN" sz="2800" dirty="0">
                <a:solidFill>
                  <a:srgbClr val="FF0000"/>
                </a:solidFill>
              </a:rPr>
              <a:t>认证选项字段</a:t>
            </a:r>
            <a:r>
              <a:rPr lang="zh-CN" altLang="zh-CN" sz="2800" dirty="0"/>
              <a:t>，支持明文认证和</a:t>
            </a:r>
            <a:r>
              <a:rPr lang="en-US" altLang="zh-CN" sz="2800" dirty="0"/>
              <a:t>MD5</a:t>
            </a:r>
            <a:r>
              <a:rPr lang="zh-CN" altLang="zh-CN" sz="2800" dirty="0"/>
              <a:t>加密认证两种认证方式，字段值分别是</a:t>
            </a:r>
            <a:r>
              <a:rPr lang="en-US" altLang="zh-CN" sz="2800" dirty="0"/>
              <a:t>16</a:t>
            </a:r>
            <a:r>
              <a:rPr lang="zh-CN" altLang="zh-CN" sz="2800" dirty="0"/>
              <a:t>个字符的明文密码字符串或者</a:t>
            </a:r>
            <a:r>
              <a:rPr lang="en-US" altLang="zh-CN" sz="2800" dirty="0"/>
              <a:t>MD5</a:t>
            </a:r>
            <a:r>
              <a:rPr lang="zh-CN" altLang="zh-CN" sz="2800" dirty="0"/>
              <a:t>签名。</a:t>
            </a:r>
            <a:endParaRPr lang="en-US" altLang="zh-CN" sz="2800" dirty="0"/>
          </a:p>
          <a:p>
            <a:r>
              <a:rPr lang="en-US" altLang="zh-CN" sz="2800" dirty="0"/>
              <a:t>RIP</a:t>
            </a:r>
            <a:r>
              <a:rPr lang="zh-CN" altLang="zh-CN" sz="2800" dirty="0"/>
              <a:t>认证以单向为主，</a:t>
            </a:r>
            <a:r>
              <a:rPr lang="en-US" altLang="zh-CN" sz="2800" dirty="0"/>
              <a:t>R2</a:t>
            </a:r>
            <a:r>
              <a:rPr lang="zh-CN" altLang="zh-CN" sz="2800" dirty="0"/>
              <a:t>发送出的路由被</a:t>
            </a:r>
            <a:r>
              <a:rPr lang="en-US" altLang="zh-CN" sz="2800" dirty="0"/>
              <a:t>R1</a:t>
            </a:r>
            <a:r>
              <a:rPr lang="zh-CN" altLang="zh-CN" sz="2800" dirty="0"/>
              <a:t>授受，反之无法接受。另外，</a:t>
            </a:r>
            <a:r>
              <a:rPr lang="en-US" altLang="zh-CN" sz="2800" dirty="0"/>
              <a:t>RIPv2</a:t>
            </a:r>
            <a:r>
              <a:rPr lang="zh-CN" altLang="zh-CN" sz="2800" dirty="0"/>
              <a:t>协议路由更新需要配置统一的密码</a:t>
            </a:r>
            <a:endParaRPr lang="en-US" altLang="zh-CN" sz="2800" dirty="0"/>
          </a:p>
          <a:p>
            <a:r>
              <a:rPr lang="zh-CN" altLang="en-US" sz="2800" dirty="0"/>
              <a:t>明文认证的安全性仍然较弱</a:t>
            </a:r>
          </a:p>
        </p:txBody>
      </p:sp>
      <p:sp>
        <p:nvSpPr>
          <p:cNvPr id="3" name="标题 2"/>
          <p:cNvSpPr>
            <a:spLocks noGrp="1"/>
          </p:cNvSpPr>
          <p:nvPr>
            <p:ph type="title"/>
          </p:nvPr>
        </p:nvSpPr>
        <p:spPr/>
        <p:txBody>
          <a:bodyPr/>
          <a:lstStyle/>
          <a:p>
            <a:r>
              <a:rPr lang="en-US" altLang="zh-CN" dirty="0"/>
              <a:t>RIP</a:t>
            </a:r>
            <a:r>
              <a:rPr lang="zh-CN" altLang="en-US" dirty="0"/>
              <a:t>协议安全</a:t>
            </a:r>
          </a:p>
        </p:txBody>
      </p:sp>
    </p:spTree>
    <p:extLst>
      <p:ext uri="{BB962C8B-B14F-4D97-AF65-F5344CB8AC3E}">
        <p14:creationId xmlns:p14="http://schemas.microsoft.com/office/powerpoint/2010/main" val="1921477355"/>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13093" y="1295082"/>
            <a:ext cx="7772400" cy="4770437"/>
          </a:xfrm>
        </p:spPr>
        <p:txBody>
          <a:bodyPr/>
          <a:lstStyle/>
          <a:p>
            <a:r>
              <a:rPr lang="zh-CN" altLang="zh-CN" dirty="0"/>
              <a:t>对于不安全的</a:t>
            </a:r>
            <a:r>
              <a:rPr lang="en-US" altLang="zh-CN" dirty="0"/>
              <a:t>RIP</a:t>
            </a:r>
            <a:r>
              <a:rPr lang="zh-CN" altLang="zh-CN" dirty="0"/>
              <a:t>协议，中小型网络通常可采取的防范措施包括：</a:t>
            </a:r>
            <a:endParaRPr lang="en-US" altLang="zh-CN" dirty="0"/>
          </a:p>
          <a:p>
            <a:pPr lvl="1"/>
            <a:r>
              <a:rPr lang="zh-CN" altLang="zh-CN" dirty="0"/>
              <a:t>①将路由器的某些接口配置为被动接口，配置为被动接口后，该接口停止向它所在的网络广播路由更新报文，但是允许它接收来自其他路由器的更新报文；</a:t>
            </a:r>
            <a:endParaRPr lang="en-US" altLang="zh-CN" dirty="0"/>
          </a:p>
          <a:p>
            <a:pPr lvl="1"/>
            <a:r>
              <a:rPr lang="zh-CN" altLang="zh-CN" dirty="0"/>
              <a:t>②配置路由器的访问控制列表，只允许某些源</a:t>
            </a:r>
            <a:r>
              <a:rPr lang="en-US" altLang="zh-CN" dirty="0"/>
              <a:t>IP </a:t>
            </a:r>
            <a:r>
              <a:rPr lang="zh-CN" altLang="zh-CN" dirty="0"/>
              <a:t>地址的路由更新报文进入列表</a:t>
            </a:r>
            <a:endParaRPr lang="zh-CN" altLang="en-US" dirty="0"/>
          </a:p>
        </p:txBody>
      </p:sp>
      <p:sp>
        <p:nvSpPr>
          <p:cNvPr id="3" name="标题 2"/>
          <p:cNvSpPr>
            <a:spLocks noGrp="1"/>
          </p:cNvSpPr>
          <p:nvPr>
            <p:ph type="title"/>
          </p:nvPr>
        </p:nvSpPr>
        <p:spPr/>
        <p:txBody>
          <a:bodyPr/>
          <a:lstStyle/>
          <a:p>
            <a:r>
              <a:rPr lang="en-US" altLang="zh-CN" dirty="0"/>
              <a:t>RIP</a:t>
            </a:r>
            <a:r>
              <a:rPr lang="zh-CN" altLang="en-US" dirty="0"/>
              <a:t>协议安全</a:t>
            </a:r>
          </a:p>
        </p:txBody>
      </p:sp>
    </p:spTree>
    <p:extLst>
      <p:ext uri="{BB962C8B-B14F-4D97-AF65-F5344CB8AC3E}">
        <p14:creationId xmlns:p14="http://schemas.microsoft.com/office/powerpoint/2010/main" val="3880202273"/>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43573" y="1477963"/>
            <a:ext cx="7772400" cy="4114800"/>
          </a:xfrm>
        </p:spPr>
        <p:txBody>
          <a:bodyPr/>
          <a:lstStyle/>
          <a:p>
            <a:r>
              <a:rPr lang="en-US" altLang="zh-CN" sz="2800" dirty="0"/>
              <a:t>RIPng</a:t>
            </a:r>
            <a:r>
              <a:rPr lang="zh-CN" altLang="en-US" sz="2800" dirty="0"/>
              <a:t>为</a:t>
            </a:r>
            <a:r>
              <a:rPr lang="en-US" altLang="zh-CN" sz="2800" dirty="0"/>
              <a:t>IPv6</a:t>
            </a:r>
            <a:r>
              <a:rPr lang="zh-CN" altLang="en-US" sz="2800" dirty="0"/>
              <a:t>环境下运行的</a:t>
            </a:r>
            <a:r>
              <a:rPr lang="en-US" altLang="zh-CN" sz="2800" dirty="0"/>
              <a:t>RIP</a:t>
            </a:r>
            <a:r>
              <a:rPr lang="zh-CN" altLang="en-US" sz="2800" dirty="0"/>
              <a:t>协议，采用和</a:t>
            </a:r>
            <a:r>
              <a:rPr lang="en-US" altLang="zh-CN" sz="2800" dirty="0"/>
              <a:t>RIPv2</a:t>
            </a:r>
            <a:r>
              <a:rPr lang="zh-CN" altLang="en-US" sz="2800" dirty="0"/>
              <a:t>完全不同的安全机制。</a:t>
            </a:r>
            <a:endParaRPr lang="en-US" altLang="zh-CN" sz="2800" dirty="0"/>
          </a:p>
          <a:p>
            <a:r>
              <a:rPr lang="en-US" altLang="zh-CN" sz="2800" dirty="0"/>
              <a:t>RIPng</a:t>
            </a:r>
            <a:r>
              <a:rPr lang="zh-CN" altLang="en-US" sz="2800" dirty="0"/>
              <a:t>使用和</a:t>
            </a:r>
            <a:r>
              <a:rPr lang="en-US" altLang="zh-CN" sz="2800" dirty="0"/>
              <a:t>RIPv1</a:t>
            </a:r>
            <a:r>
              <a:rPr lang="zh-CN" altLang="en-US" sz="2800" dirty="0"/>
              <a:t>相似的报文格式，充分利用</a:t>
            </a:r>
            <a:r>
              <a:rPr lang="en-US" altLang="zh-CN" sz="2800" dirty="0"/>
              <a:t>IPv6</a:t>
            </a:r>
            <a:r>
              <a:rPr lang="zh-CN" altLang="en-US" sz="2800" dirty="0"/>
              <a:t>中</a:t>
            </a:r>
            <a:r>
              <a:rPr lang="en-US" altLang="zh-CN" sz="2800" dirty="0"/>
              <a:t>IPsec</a:t>
            </a:r>
            <a:r>
              <a:rPr lang="zh-CN" altLang="en-US" sz="2800" dirty="0"/>
              <a:t>提供的安全机制，包括</a:t>
            </a:r>
            <a:r>
              <a:rPr lang="en-US" altLang="zh-CN" sz="2800" dirty="0"/>
              <a:t>AH</a:t>
            </a:r>
            <a:r>
              <a:rPr lang="zh-CN" altLang="en-US" sz="2800" dirty="0"/>
              <a:t>认证、</a:t>
            </a:r>
            <a:r>
              <a:rPr lang="en-US" altLang="zh-CN" sz="2800" dirty="0"/>
              <a:t>ESP</a:t>
            </a:r>
            <a:r>
              <a:rPr lang="zh-CN" altLang="en-US" sz="2800" dirty="0"/>
              <a:t>加密以及伪报头校验等，保证了</a:t>
            </a:r>
            <a:r>
              <a:rPr lang="en-US" altLang="zh-CN" sz="2800" dirty="0"/>
              <a:t>RIPng</a:t>
            </a:r>
            <a:r>
              <a:rPr lang="zh-CN" altLang="en-US" sz="2800" dirty="0"/>
              <a:t>路由协议交换路由信息的安全</a:t>
            </a:r>
            <a:r>
              <a:rPr lang="zh-CN" altLang="zh-CN" sz="2800" dirty="0"/>
              <a:t>。</a:t>
            </a:r>
            <a:endParaRPr lang="zh-CN" altLang="en-US" sz="2800" dirty="0"/>
          </a:p>
        </p:txBody>
      </p:sp>
      <p:sp>
        <p:nvSpPr>
          <p:cNvPr id="3" name="标题 2"/>
          <p:cNvSpPr>
            <a:spLocks noGrp="1"/>
          </p:cNvSpPr>
          <p:nvPr>
            <p:ph type="title"/>
          </p:nvPr>
        </p:nvSpPr>
        <p:spPr/>
        <p:txBody>
          <a:bodyPr/>
          <a:lstStyle/>
          <a:p>
            <a:r>
              <a:rPr lang="en-US" altLang="zh-CN" dirty="0"/>
              <a:t>RIP</a:t>
            </a:r>
            <a:r>
              <a:rPr lang="zh-CN" altLang="en-US" dirty="0"/>
              <a:t>协议安全</a:t>
            </a:r>
          </a:p>
        </p:txBody>
      </p:sp>
    </p:spTree>
    <p:extLst>
      <p:ext uri="{BB962C8B-B14F-4D97-AF65-F5344CB8AC3E}">
        <p14:creationId xmlns:p14="http://schemas.microsoft.com/office/powerpoint/2010/main" val="3637867414"/>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742026" y="2904661"/>
            <a:ext cx="5812325" cy="865481"/>
          </a:xfrm>
        </p:spPr>
        <p:txBody>
          <a:bodyPr/>
          <a:lstStyle/>
          <a:p>
            <a:pPr marL="0" indent="0">
              <a:buNone/>
            </a:pPr>
            <a:r>
              <a:rPr lang="zh-CN" altLang="en-US" dirty="0">
                <a:solidFill>
                  <a:srgbClr val="FF0000"/>
                </a:solidFill>
              </a:rPr>
              <a:t>五、</a:t>
            </a:r>
            <a:r>
              <a:rPr lang="en-US" altLang="zh-CN" dirty="0">
                <a:solidFill>
                  <a:srgbClr val="FF0000"/>
                </a:solidFill>
              </a:rPr>
              <a:t>OSPF</a:t>
            </a:r>
            <a:r>
              <a:rPr lang="zh-CN" altLang="en-US" dirty="0">
                <a:solidFill>
                  <a:srgbClr val="FF0000"/>
                </a:solidFill>
              </a:rPr>
              <a:t>协议及其安全性分析</a:t>
            </a:r>
          </a:p>
        </p:txBody>
      </p:sp>
      <p:sp>
        <p:nvSpPr>
          <p:cNvPr id="3" name="标题 2"/>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3468794399"/>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704533" y="1386522"/>
            <a:ext cx="7772400" cy="4755198"/>
          </a:xfrm>
        </p:spPr>
        <p:txBody>
          <a:bodyPr/>
          <a:lstStyle/>
          <a:p>
            <a:r>
              <a:rPr lang="zh-CN" altLang="en-US" dirty="0"/>
              <a:t>路由策略</a:t>
            </a:r>
            <a:endParaRPr lang="en-US" altLang="zh-CN" dirty="0"/>
          </a:p>
          <a:p>
            <a:pPr lvl="1"/>
            <a:r>
              <a:rPr lang="zh-CN" altLang="zh-CN" dirty="0">
                <a:solidFill>
                  <a:srgbClr val="FF0000"/>
                </a:solidFill>
              </a:rPr>
              <a:t>和哪些路由器交换信息？</a:t>
            </a:r>
            <a:r>
              <a:rPr lang="zh-CN" altLang="zh-CN" dirty="0"/>
              <a:t>向本自治系统中所有路由器发送信息</a:t>
            </a:r>
            <a:r>
              <a:rPr lang="zh-CN" altLang="en-US" dirty="0"/>
              <a:t>，通常</a:t>
            </a:r>
            <a:r>
              <a:rPr lang="zh-CN" altLang="en-US" dirty="0">
                <a:solidFill>
                  <a:srgbClr val="FF0000"/>
                </a:solidFill>
              </a:rPr>
              <a:t>洪泛法</a:t>
            </a:r>
            <a:endParaRPr lang="en-US" altLang="zh-CN" dirty="0">
              <a:solidFill>
                <a:srgbClr val="FF0000"/>
              </a:solidFill>
            </a:endParaRPr>
          </a:p>
          <a:p>
            <a:pPr lvl="1"/>
            <a:r>
              <a:rPr lang="zh-CN" altLang="zh-CN" dirty="0">
                <a:solidFill>
                  <a:srgbClr val="FF0000"/>
                </a:solidFill>
              </a:rPr>
              <a:t>交换什么信息？</a:t>
            </a:r>
            <a:r>
              <a:rPr lang="zh-CN" altLang="zh-CN" dirty="0"/>
              <a:t>与本路由器相邻的所有路由器的链路状态，只是路由器所知部分信息表</a:t>
            </a:r>
            <a:endParaRPr lang="en-US" altLang="zh-CN" dirty="0"/>
          </a:p>
          <a:p>
            <a:pPr lvl="1"/>
            <a:r>
              <a:rPr lang="zh-CN" altLang="zh-CN" dirty="0">
                <a:solidFill>
                  <a:srgbClr val="FF0000"/>
                </a:solidFill>
              </a:rPr>
              <a:t>在什么时候交换信息？</a:t>
            </a:r>
            <a:r>
              <a:rPr lang="zh-CN" altLang="zh-CN" dirty="0"/>
              <a:t>当链路状态发生变化时，路由器向所有路由器发送此信息</a:t>
            </a:r>
            <a:r>
              <a:rPr lang="zh-CN" altLang="en-US" dirty="0"/>
              <a:t>；定期同步链路状态</a:t>
            </a:r>
          </a:p>
        </p:txBody>
      </p:sp>
      <p:sp>
        <p:nvSpPr>
          <p:cNvPr id="3" name="标题 2"/>
          <p:cNvSpPr>
            <a:spLocks noGrp="1"/>
          </p:cNvSpPr>
          <p:nvPr>
            <p:ph type="title"/>
          </p:nvPr>
        </p:nvSpPr>
        <p:spPr/>
        <p:txBody>
          <a:bodyPr/>
          <a:lstStyle/>
          <a:p>
            <a:r>
              <a:rPr lang="en-US" altLang="zh-CN" dirty="0"/>
              <a:t>OSPF</a:t>
            </a:r>
            <a:r>
              <a:rPr lang="zh-CN" altLang="en-US" dirty="0"/>
              <a:t>协议</a:t>
            </a:r>
          </a:p>
        </p:txBody>
      </p:sp>
    </p:spTree>
    <p:extLst>
      <p:ext uri="{BB962C8B-B14F-4D97-AF65-F5344CB8AC3E}">
        <p14:creationId xmlns:p14="http://schemas.microsoft.com/office/powerpoint/2010/main" val="2411815128"/>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28332" y="1264602"/>
            <a:ext cx="7906067" cy="4968557"/>
          </a:xfrm>
        </p:spPr>
        <p:txBody>
          <a:bodyPr/>
          <a:lstStyle/>
          <a:p>
            <a:r>
              <a:rPr lang="en-US" altLang="zh-CN" dirty="0"/>
              <a:t>OSPF</a:t>
            </a:r>
            <a:r>
              <a:rPr lang="zh-CN" altLang="zh-CN" dirty="0"/>
              <a:t>使用分布式链路状态协议</a:t>
            </a:r>
            <a:r>
              <a:rPr lang="en-US" altLang="zh-CN" dirty="0"/>
              <a:t>(link state protocol)</a:t>
            </a:r>
          </a:p>
          <a:p>
            <a:pPr lvl="1"/>
            <a:r>
              <a:rPr lang="zh-CN" altLang="zh-CN" dirty="0"/>
              <a:t>由于</a:t>
            </a:r>
            <a:r>
              <a:rPr lang="en-US" altLang="zh-CN" dirty="0"/>
              <a:t>OSPF</a:t>
            </a:r>
            <a:r>
              <a:rPr lang="zh-CN" altLang="zh-CN" dirty="0"/>
              <a:t>依靠各路由器之间频繁地交换链路状态信息，因此所有的路由器都能建立一个链路状态数据库（</a:t>
            </a:r>
            <a:r>
              <a:rPr lang="en-US" altLang="zh-CN" dirty="0"/>
              <a:t>Link State Database, LSDB</a:t>
            </a:r>
            <a:r>
              <a:rPr lang="zh-CN" altLang="zh-CN" dirty="0"/>
              <a:t>），这个数据库实际上就是全网拓扑结构图</a:t>
            </a:r>
            <a:endParaRPr lang="en-US" altLang="zh-CN" dirty="0"/>
          </a:p>
          <a:p>
            <a:pPr lvl="1"/>
            <a:r>
              <a:rPr lang="zh-CN" altLang="zh-CN" dirty="0"/>
              <a:t>每一个路由器使用</a:t>
            </a:r>
            <a:r>
              <a:rPr lang="en-US" altLang="zh-CN" dirty="0"/>
              <a:t>LSDB</a:t>
            </a:r>
            <a:r>
              <a:rPr lang="zh-CN" altLang="zh-CN" dirty="0"/>
              <a:t>中的数据，构造自己的路由表（例如，使用</a:t>
            </a:r>
            <a:r>
              <a:rPr lang="en-US" altLang="zh-CN" dirty="0" err="1"/>
              <a:t>Dijkstra</a:t>
            </a:r>
            <a:r>
              <a:rPr lang="zh-CN" altLang="zh-CN" dirty="0"/>
              <a:t>算法）</a:t>
            </a:r>
            <a:endParaRPr lang="zh-CN" altLang="en-US" dirty="0"/>
          </a:p>
        </p:txBody>
      </p:sp>
      <p:sp>
        <p:nvSpPr>
          <p:cNvPr id="3" name="标题 2"/>
          <p:cNvSpPr>
            <a:spLocks noGrp="1"/>
          </p:cNvSpPr>
          <p:nvPr>
            <p:ph type="title"/>
          </p:nvPr>
        </p:nvSpPr>
        <p:spPr/>
        <p:txBody>
          <a:bodyPr/>
          <a:lstStyle/>
          <a:p>
            <a:r>
              <a:rPr lang="en-US" altLang="zh-CN" dirty="0"/>
              <a:t>OSPF</a:t>
            </a:r>
            <a:r>
              <a:rPr lang="zh-CN" altLang="en-US" dirty="0"/>
              <a:t>协议</a:t>
            </a:r>
          </a:p>
        </p:txBody>
      </p:sp>
    </p:spTree>
    <p:extLst>
      <p:ext uri="{BB962C8B-B14F-4D97-AF65-F5344CB8AC3E}">
        <p14:creationId xmlns:p14="http://schemas.microsoft.com/office/powerpoint/2010/main" val="422948957"/>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43572" y="1234122"/>
            <a:ext cx="7906067" cy="5014278"/>
          </a:xfrm>
        </p:spPr>
        <p:txBody>
          <a:bodyPr/>
          <a:lstStyle/>
          <a:p>
            <a:pPr>
              <a:spcBef>
                <a:spcPts val="0"/>
              </a:spcBef>
            </a:pPr>
            <a:r>
              <a:rPr lang="en-US" altLang="zh-CN" dirty="0"/>
              <a:t>OSPF</a:t>
            </a:r>
            <a:r>
              <a:rPr lang="zh-CN" altLang="en-US" dirty="0"/>
              <a:t>协议报文</a:t>
            </a:r>
            <a:endParaRPr lang="en-US" altLang="zh-CN" dirty="0"/>
          </a:p>
          <a:p>
            <a:pPr lvl="1">
              <a:spcBef>
                <a:spcPts val="0"/>
              </a:spcBef>
            </a:pPr>
            <a:r>
              <a:rPr lang="zh-CN" altLang="zh-CN" dirty="0"/>
              <a:t>类型</a:t>
            </a:r>
            <a:r>
              <a:rPr lang="en-US" altLang="zh-CN" dirty="0"/>
              <a:t>1</a:t>
            </a:r>
            <a:r>
              <a:rPr lang="zh-CN" altLang="zh-CN" dirty="0"/>
              <a:t>，问候</a:t>
            </a:r>
            <a:r>
              <a:rPr lang="en-US" altLang="zh-CN" dirty="0"/>
              <a:t>(Hello)</a:t>
            </a:r>
            <a:r>
              <a:rPr lang="zh-CN" altLang="zh-CN" dirty="0"/>
              <a:t>报文，用来发现和维持邻站的可达性</a:t>
            </a:r>
            <a:endParaRPr lang="en-US" altLang="zh-CN" dirty="0"/>
          </a:p>
          <a:p>
            <a:pPr lvl="1">
              <a:spcBef>
                <a:spcPts val="0"/>
              </a:spcBef>
            </a:pPr>
            <a:r>
              <a:rPr lang="zh-CN" altLang="zh-CN" dirty="0"/>
              <a:t>类型</a:t>
            </a:r>
            <a:r>
              <a:rPr lang="en-US" altLang="zh-CN" dirty="0"/>
              <a:t>2</a:t>
            </a:r>
            <a:r>
              <a:rPr lang="zh-CN" altLang="zh-CN" dirty="0"/>
              <a:t>，数据库描述</a:t>
            </a:r>
            <a:r>
              <a:rPr lang="en-US" altLang="zh-CN" dirty="0"/>
              <a:t>(Database Description)</a:t>
            </a:r>
            <a:r>
              <a:rPr lang="zh-CN" altLang="zh-CN" dirty="0"/>
              <a:t>报文，向邻站给出自己的链路状态数据库中的所有链路状态项目的摘要信息</a:t>
            </a:r>
            <a:endParaRPr lang="en-US" altLang="zh-CN" dirty="0"/>
          </a:p>
          <a:p>
            <a:pPr lvl="1">
              <a:spcBef>
                <a:spcPts val="0"/>
              </a:spcBef>
            </a:pPr>
            <a:r>
              <a:rPr lang="zh-CN" altLang="zh-CN" dirty="0"/>
              <a:t>类型</a:t>
            </a:r>
            <a:r>
              <a:rPr lang="en-US" altLang="zh-CN" dirty="0"/>
              <a:t>3</a:t>
            </a:r>
            <a:r>
              <a:rPr lang="zh-CN" altLang="zh-CN" dirty="0"/>
              <a:t>，链路状态请求</a:t>
            </a:r>
            <a:r>
              <a:rPr lang="en-US" altLang="zh-CN" dirty="0"/>
              <a:t>(Link State Request, LSR)</a:t>
            </a:r>
            <a:r>
              <a:rPr lang="zh-CN" altLang="zh-CN" dirty="0"/>
              <a:t>报文，向对方请求发送某些链路状态项目的详细信息</a:t>
            </a:r>
            <a:endParaRPr lang="zh-CN" altLang="en-US" dirty="0"/>
          </a:p>
        </p:txBody>
      </p:sp>
      <p:sp>
        <p:nvSpPr>
          <p:cNvPr id="3" name="标题 2"/>
          <p:cNvSpPr>
            <a:spLocks noGrp="1"/>
          </p:cNvSpPr>
          <p:nvPr>
            <p:ph type="title"/>
          </p:nvPr>
        </p:nvSpPr>
        <p:spPr/>
        <p:txBody>
          <a:bodyPr/>
          <a:lstStyle/>
          <a:p>
            <a:r>
              <a:rPr lang="en-US" altLang="zh-CN" dirty="0"/>
              <a:t>OSPF</a:t>
            </a:r>
            <a:r>
              <a:rPr lang="zh-CN" altLang="en-US" dirty="0"/>
              <a:t>协议</a:t>
            </a:r>
          </a:p>
        </p:txBody>
      </p:sp>
    </p:spTree>
    <p:extLst>
      <p:ext uri="{BB962C8B-B14F-4D97-AF65-F5344CB8AC3E}">
        <p14:creationId xmlns:p14="http://schemas.microsoft.com/office/powerpoint/2010/main" val="220725024"/>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43572" y="1234122"/>
            <a:ext cx="7951788" cy="5014278"/>
          </a:xfrm>
        </p:spPr>
        <p:txBody>
          <a:bodyPr/>
          <a:lstStyle/>
          <a:p>
            <a:pPr>
              <a:spcBef>
                <a:spcPts val="0"/>
              </a:spcBef>
            </a:pPr>
            <a:r>
              <a:rPr lang="en-US" altLang="zh-CN" dirty="0"/>
              <a:t>OSPF</a:t>
            </a:r>
            <a:r>
              <a:rPr lang="zh-CN" altLang="en-US" dirty="0"/>
              <a:t>协议报文</a:t>
            </a:r>
            <a:endParaRPr lang="en-US" altLang="zh-CN" dirty="0"/>
          </a:p>
          <a:p>
            <a:pPr lvl="1">
              <a:spcBef>
                <a:spcPts val="0"/>
              </a:spcBef>
            </a:pPr>
            <a:r>
              <a:rPr lang="zh-CN" altLang="zh-CN" dirty="0"/>
              <a:t>类型</a:t>
            </a:r>
            <a:r>
              <a:rPr lang="en-US" altLang="zh-CN" dirty="0"/>
              <a:t>4</a:t>
            </a:r>
            <a:r>
              <a:rPr lang="zh-CN" altLang="zh-CN" dirty="0"/>
              <a:t>，链路状态更新</a:t>
            </a:r>
            <a:r>
              <a:rPr lang="en-US" altLang="zh-CN" dirty="0"/>
              <a:t>(Link State Update, LSU)</a:t>
            </a:r>
            <a:r>
              <a:rPr lang="zh-CN" altLang="zh-CN" dirty="0"/>
              <a:t>报文，用洪泛法向全网发送更新的链路状态</a:t>
            </a:r>
            <a:endParaRPr lang="en-US" altLang="zh-CN" dirty="0"/>
          </a:p>
          <a:p>
            <a:pPr lvl="1">
              <a:spcBef>
                <a:spcPts val="0"/>
              </a:spcBef>
            </a:pPr>
            <a:r>
              <a:rPr lang="zh-CN" altLang="zh-CN" dirty="0"/>
              <a:t>类型</a:t>
            </a:r>
            <a:r>
              <a:rPr lang="en-US" altLang="zh-CN" dirty="0"/>
              <a:t>5</a:t>
            </a:r>
            <a:r>
              <a:rPr lang="zh-CN" altLang="zh-CN" dirty="0"/>
              <a:t>，链路状态确认</a:t>
            </a:r>
            <a:r>
              <a:rPr lang="en-US" altLang="zh-CN" dirty="0"/>
              <a:t>(Link State Acknowledgment, </a:t>
            </a:r>
            <a:r>
              <a:rPr lang="en-US" altLang="zh-CN" dirty="0" err="1"/>
              <a:t>LSAck</a:t>
            </a:r>
            <a:r>
              <a:rPr lang="en-US" altLang="zh-CN" dirty="0"/>
              <a:t>)</a:t>
            </a:r>
            <a:r>
              <a:rPr lang="zh-CN" altLang="zh-CN" dirty="0"/>
              <a:t>报文，对链路更新报文的确认</a:t>
            </a:r>
            <a:endParaRPr lang="zh-CN" altLang="en-US" dirty="0"/>
          </a:p>
        </p:txBody>
      </p:sp>
      <p:sp>
        <p:nvSpPr>
          <p:cNvPr id="3" name="标题 2"/>
          <p:cNvSpPr>
            <a:spLocks noGrp="1"/>
          </p:cNvSpPr>
          <p:nvPr>
            <p:ph type="title"/>
          </p:nvPr>
        </p:nvSpPr>
        <p:spPr/>
        <p:txBody>
          <a:bodyPr/>
          <a:lstStyle/>
          <a:p>
            <a:r>
              <a:rPr lang="en-US" altLang="zh-CN" dirty="0"/>
              <a:t>OSPF</a:t>
            </a:r>
            <a:r>
              <a:rPr lang="zh-CN" altLang="en-US" dirty="0"/>
              <a:t>协议</a:t>
            </a:r>
          </a:p>
        </p:txBody>
      </p:sp>
    </p:spTree>
    <p:extLst>
      <p:ext uri="{BB962C8B-B14F-4D97-AF65-F5344CB8AC3E}">
        <p14:creationId xmlns:p14="http://schemas.microsoft.com/office/powerpoint/2010/main" val="732474947"/>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28332" y="1676082"/>
            <a:ext cx="7601268" cy="4252278"/>
          </a:xfrm>
        </p:spPr>
        <p:txBody>
          <a:bodyPr/>
          <a:lstStyle/>
          <a:p>
            <a:pPr>
              <a:spcBef>
                <a:spcPts val="0"/>
              </a:spcBef>
            </a:pPr>
            <a:r>
              <a:rPr lang="en-US" altLang="zh-CN" dirty="0"/>
              <a:t>OSPF</a:t>
            </a:r>
            <a:r>
              <a:rPr lang="zh-CN" altLang="zh-CN" dirty="0"/>
              <a:t>不用</a:t>
            </a:r>
            <a:r>
              <a:rPr lang="en-US" altLang="zh-CN" dirty="0"/>
              <a:t>UDP</a:t>
            </a:r>
            <a:r>
              <a:rPr lang="zh-CN" altLang="zh-CN" dirty="0"/>
              <a:t>而是</a:t>
            </a:r>
            <a:r>
              <a:rPr lang="zh-CN" altLang="zh-CN" dirty="0">
                <a:solidFill>
                  <a:srgbClr val="FF0000"/>
                </a:solidFill>
              </a:rPr>
              <a:t>直接用</a:t>
            </a:r>
            <a:r>
              <a:rPr lang="en-US" altLang="zh-CN" dirty="0">
                <a:solidFill>
                  <a:srgbClr val="FF0000"/>
                </a:solidFill>
              </a:rPr>
              <a:t>IP</a:t>
            </a:r>
            <a:r>
              <a:rPr lang="zh-CN" altLang="zh-CN" dirty="0">
                <a:solidFill>
                  <a:srgbClr val="FF0000"/>
                </a:solidFill>
              </a:rPr>
              <a:t>数据报</a:t>
            </a:r>
            <a:r>
              <a:rPr lang="zh-CN" altLang="zh-CN" dirty="0"/>
              <a:t>传送（其</a:t>
            </a:r>
            <a:r>
              <a:rPr lang="en-US" altLang="zh-CN" dirty="0"/>
              <a:t>IP</a:t>
            </a:r>
            <a:r>
              <a:rPr lang="zh-CN" altLang="zh-CN" dirty="0"/>
              <a:t>数据报首部的协议字段值为</a:t>
            </a:r>
            <a:r>
              <a:rPr lang="en-US" altLang="zh-CN" dirty="0"/>
              <a:t>89</a:t>
            </a:r>
            <a:r>
              <a:rPr lang="zh-CN" altLang="zh-CN" dirty="0"/>
              <a:t>）其报文</a:t>
            </a:r>
            <a:endParaRPr lang="zh-CN" altLang="en-US" dirty="0"/>
          </a:p>
        </p:txBody>
      </p:sp>
      <p:sp>
        <p:nvSpPr>
          <p:cNvPr id="3" name="标题 2"/>
          <p:cNvSpPr>
            <a:spLocks noGrp="1"/>
          </p:cNvSpPr>
          <p:nvPr>
            <p:ph type="title"/>
          </p:nvPr>
        </p:nvSpPr>
        <p:spPr/>
        <p:txBody>
          <a:bodyPr/>
          <a:lstStyle/>
          <a:p>
            <a:r>
              <a:rPr lang="en-US" altLang="zh-CN" dirty="0"/>
              <a:t>OSPF</a:t>
            </a:r>
            <a:r>
              <a:rPr lang="zh-CN" altLang="en-US" dirty="0"/>
              <a:t>协议</a:t>
            </a:r>
          </a:p>
        </p:txBody>
      </p:sp>
    </p:spTree>
    <p:extLst>
      <p:ext uri="{BB962C8B-B14F-4D97-AF65-F5344CB8AC3E}">
        <p14:creationId xmlns:p14="http://schemas.microsoft.com/office/powerpoint/2010/main" val="1076709615"/>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67372" y="1325562"/>
            <a:ext cx="8134668" cy="4877117"/>
          </a:xfrm>
        </p:spPr>
        <p:txBody>
          <a:bodyPr/>
          <a:lstStyle/>
          <a:p>
            <a:pPr>
              <a:lnSpc>
                <a:spcPts val="4200"/>
              </a:lnSpc>
              <a:spcBef>
                <a:spcPts val="0"/>
              </a:spcBef>
            </a:pPr>
            <a:r>
              <a:rPr lang="en-US" altLang="zh-CN" sz="2800" dirty="0"/>
              <a:t>OSPF</a:t>
            </a:r>
            <a:r>
              <a:rPr lang="zh-CN" altLang="zh-CN" sz="2800" dirty="0"/>
              <a:t>协议可以对接口、区域、虚链路进行认证</a:t>
            </a:r>
            <a:endParaRPr lang="en-US" altLang="zh-CN" sz="2800" dirty="0"/>
          </a:p>
          <a:p>
            <a:pPr lvl="1">
              <a:lnSpc>
                <a:spcPts val="4200"/>
              </a:lnSpc>
              <a:spcBef>
                <a:spcPts val="0"/>
              </a:spcBef>
            </a:pPr>
            <a:r>
              <a:rPr lang="zh-CN" altLang="zh-CN" sz="2400" dirty="0"/>
              <a:t>接口认证要求在两个路由器之间必须配置相同的认证口令。</a:t>
            </a:r>
            <a:endParaRPr lang="en-US" altLang="zh-CN" sz="2400" dirty="0"/>
          </a:p>
          <a:p>
            <a:pPr lvl="1">
              <a:lnSpc>
                <a:spcPts val="4200"/>
              </a:lnSpc>
              <a:spcBef>
                <a:spcPts val="0"/>
              </a:spcBef>
            </a:pPr>
            <a:r>
              <a:rPr lang="zh-CN" altLang="zh-CN" sz="2400" dirty="0"/>
              <a:t>区域认证是指所有属于该区域的接口都要启用认证，因为</a:t>
            </a:r>
            <a:r>
              <a:rPr lang="en-US" altLang="zh-CN" sz="2400" dirty="0"/>
              <a:t>OSPF</a:t>
            </a:r>
            <a:r>
              <a:rPr lang="zh-CN" altLang="zh-CN" sz="2400" dirty="0"/>
              <a:t>以接口作为区域分界。区域认证接口与邻接路由器建立邻居需要有相同的认证方式与口令，但在同一区域中不同网络类型可以有不同的认证方式和认证口令。配置区域认证的接口可以与配置接口认证的接口互相认证，使用</a:t>
            </a:r>
            <a:r>
              <a:rPr lang="en-US" altLang="zh-CN" sz="2400" dirty="0"/>
              <a:t>MD5</a:t>
            </a:r>
            <a:r>
              <a:rPr lang="zh-CN" altLang="zh-CN" sz="2400" dirty="0"/>
              <a:t>认证口令</a:t>
            </a:r>
            <a:r>
              <a:rPr lang="en-US" altLang="zh-CN" sz="2400" dirty="0"/>
              <a:t>ID</a:t>
            </a:r>
            <a:r>
              <a:rPr lang="zh-CN" altLang="zh-CN" sz="2400" dirty="0"/>
              <a:t>要相同</a:t>
            </a:r>
            <a:endParaRPr lang="zh-CN" altLang="en-US" sz="2400" dirty="0"/>
          </a:p>
        </p:txBody>
      </p:sp>
      <p:sp>
        <p:nvSpPr>
          <p:cNvPr id="3" name="标题 2"/>
          <p:cNvSpPr>
            <a:spLocks noGrp="1"/>
          </p:cNvSpPr>
          <p:nvPr>
            <p:ph type="title"/>
          </p:nvPr>
        </p:nvSpPr>
        <p:spPr/>
        <p:txBody>
          <a:bodyPr/>
          <a:lstStyle/>
          <a:p>
            <a:r>
              <a:rPr lang="en-US" altLang="zh-CN" dirty="0"/>
              <a:t>OSPF</a:t>
            </a:r>
            <a:r>
              <a:rPr lang="zh-CN" altLang="en-US" dirty="0"/>
              <a:t>安全</a:t>
            </a:r>
          </a:p>
        </p:txBody>
      </p:sp>
    </p:spTree>
    <p:extLst>
      <p:ext uri="{BB962C8B-B14F-4D97-AF65-F5344CB8AC3E}">
        <p14:creationId xmlns:p14="http://schemas.microsoft.com/office/powerpoint/2010/main" val="286097962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67372" y="1325562"/>
            <a:ext cx="8134668" cy="4877117"/>
          </a:xfrm>
        </p:spPr>
        <p:txBody>
          <a:bodyPr/>
          <a:lstStyle/>
          <a:p>
            <a:pPr>
              <a:lnSpc>
                <a:spcPts val="4200"/>
              </a:lnSpc>
              <a:spcBef>
                <a:spcPts val="0"/>
              </a:spcBef>
            </a:pPr>
            <a:r>
              <a:rPr lang="en-US" altLang="zh-CN" dirty="0"/>
              <a:t>OSPF</a:t>
            </a:r>
            <a:r>
              <a:rPr lang="zh-CN" altLang="zh-CN" dirty="0"/>
              <a:t>认证</a:t>
            </a:r>
            <a:r>
              <a:rPr lang="zh-CN" altLang="en-US" dirty="0"/>
              <a:t>方式</a:t>
            </a:r>
            <a:endParaRPr lang="en-US" altLang="zh-CN" dirty="0"/>
          </a:p>
          <a:p>
            <a:pPr lvl="1">
              <a:lnSpc>
                <a:spcPts val="4200"/>
              </a:lnSpc>
              <a:spcBef>
                <a:spcPts val="0"/>
              </a:spcBef>
            </a:pPr>
            <a:r>
              <a:rPr lang="zh-CN" altLang="zh-CN" dirty="0"/>
              <a:t>空认证（</a:t>
            </a:r>
            <a:r>
              <a:rPr lang="en-US" altLang="zh-CN" dirty="0"/>
              <a:t>NULL</a:t>
            </a:r>
            <a:r>
              <a:rPr lang="zh-CN" altLang="zh-CN" dirty="0"/>
              <a:t>，即不认证，类型为</a:t>
            </a:r>
            <a:r>
              <a:rPr lang="en-US" altLang="zh-CN" dirty="0"/>
              <a:t>0</a:t>
            </a:r>
            <a:r>
              <a:rPr lang="zh-CN" altLang="zh-CN" dirty="0"/>
              <a:t>）</a:t>
            </a:r>
            <a:r>
              <a:rPr lang="zh-CN" altLang="en-US" dirty="0"/>
              <a:t>，</a:t>
            </a:r>
            <a:r>
              <a:rPr lang="zh-CN" altLang="en-US" dirty="0">
                <a:solidFill>
                  <a:srgbClr val="FF0000"/>
                </a:solidFill>
              </a:rPr>
              <a:t>默认认证方式</a:t>
            </a:r>
            <a:endParaRPr lang="en-US" altLang="zh-CN" dirty="0">
              <a:solidFill>
                <a:srgbClr val="FF0000"/>
              </a:solidFill>
            </a:endParaRPr>
          </a:p>
          <a:p>
            <a:pPr lvl="1">
              <a:lnSpc>
                <a:spcPts val="4200"/>
              </a:lnSpc>
              <a:spcBef>
                <a:spcPts val="0"/>
              </a:spcBef>
            </a:pPr>
            <a:r>
              <a:rPr lang="zh-CN" altLang="zh-CN" dirty="0"/>
              <a:t>简单口令认证（类型为</a:t>
            </a:r>
            <a:r>
              <a:rPr lang="en-US" altLang="zh-CN" dirty="0"/>
              <a:t>1</a:t>
            </a:r>
            <a:r>
              <a:rPr lang="zh-CN" altLang="zh-CN" dirty="0"/>
              <a:t>）</a:t>
            </a:r>
            <a:endParaRPr lang="en-US" altLang="zh-CN" dirty="0"/>
          </a:p>
          <a:p>
            <a:pPr lvl="1">
              <a:lnSpc>
                <a:spcPts val="4200"/>
              </a:lnSpc>
              <a:spcBef>
                <a:spcPts val="0"/>
              </a:spcBef>
            </a:pPr>
            <a:r>
              <a:rPr lang="en-US" altLang="zh-CN" dirty="0"/>
              <a:t>MD5</a:t>
            </a:r>
            <a:r>
              <a:rPr lang="zh-CN" altLang="zh-CN" dirty="0"/>
              <a:t>加密身份认证（类型为</a:t>
            </a:r>
            <a:r>
              <a:rPr lang="en-US" altLang="zh-CN" dirty="0"/>
              <a:t>2</a:t>
            </a:r>
            <a:r>
              <a:rPr lang="zh-CN" altLang="zh-CN" dirty="0"/>
              <a:t>）</a:t>
            </a:r>
            <a:endParaRPr lang="en-US" altLang="zh-CN" dirty="0"/>
          </a:p>
          <a:p>
            <a:pPr>
              <a:lnSpc>
                <a:spcPts val="4200"/>
              </a:lnSpc>
              <a:spcBef>
                <a:spcPts val="0"/>
              </a:spcBef>
            </a:pPr>
            <a:r>
              <a:rPr lang="en-US" altLang="zh-CN" dirty="0"/>
              <a:t>OSPF</a:t>
            </a:r>
            <a:r>
              <a:rPr lang="zh-CN" altLang="zh-CN" dirty="0"/>
              <a:t>报文格式中有二个与认证有关的字段：认证类型（</a:t>
            </a:r>
            <a:r>
              <a:rPr lang="en-US" altLang="zh-CN" dirty="0" err="1"/>
              <a:t>AuType</a:t>
            </a:r>
            <a:r>
              <a:rPr lang="en-US" altLang="zh-CN" dirty="0"/>
              <a:t>, 16</a:t>
            </a:r>
            <a:r>
              <a:rPr lang="zh-CN" altLang="zh-CN" dirty="0"/>
              <a:t>位）、认证数据（</a:t>
            </a:r>
            <a:r>
              <a:rPr lang="en-US" altLang="zh-CN" dirty="0"/>
              <a:t>Authentication, 64</a:t>
            </a:r>
            <a:r>
              <a:rPr lang="zh-CN" altLang="zh-CN" dirty="0"/>
              <a:t>位）</a:t>
            </a:r>
            <a:endParaRPr lang="zh-CN" altLang="en-US" sz="2800" dirty="0"/>
          </a:p>
        </p:txBody>
      </p:sp>
      <p:sp>
        <p:nvSpPr>
          <p:cNvPr id="3" name="标题 2"/>
          <p:cNvSpPr>
            <a:spLocks noGrp="1"/>
          </p:cNvSpPr>
          <p:nvPr>
            <p:ph type="title"/>
          </p:nvPr>
        </p:nvSpPr>
        <p:spPr/>
        <p:txBody>
          <a:bodyPr/>
          <a:lstStyle/>
          <a:p>
            <a:r>
              <a:rPr lang="en-US" altLang="zh-CN" dirty="0"/>
              <a:t>OSPF</a:t>
            </a:r>
            <a:r>
              <a:rPr lang="zh-CN" altLang="en-US" dirty="0"/>
              <a:t>安全</a:t>
            </a:r>
          </a:p>
        </p:txBody>
      </p:sp>
    </p:spTree>
    <p:extLst>
      <p:ext uri="{BB962C8B-B14F-4D97-AF65-F5344CB8AC3E}">
        <p14:creationId xmlns:p14="http://schemas.microsoft.com/office/powerpoint/2010/main" val="25662700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67372" y="1493202"/>
            <a:ext cx="8134668" cy="4877117"/>
          </a:xfrm>
        </p:spPr>
        <p:txBody>
          <a:bodyPr/>
          <a:lstStyle/>
          <a:p>
            <a:pPr>
              <a:lnSpc>
                <a:spcPts val="4200"/>
              </a:lnSpc>
              <a:spcBef>
                <a:spcPts val="0"/>
              </a:spcBef>
            </a:pPr>
            <a:r>
              <a:rPr lang="zh-CN" altLang="zh-CN" dirty="0"/>
              <a:t>同</a:t>
            </a:r>
            <a:r>
              <a:rPr lang="en-US" altLang="zh-CN" dirty="0"/>
              <a:t>RIPng</a:t>
            </a:r>
            <a:r>
              <a:rPr lang="zh-CN" altLang="zh-CN" dirty="0"/>
              <a:t>一样，</a:t>
            </a:r>
            <a:r>
              <a:rPr lang="en-US" altLang="zh-CN" dirty="0"/>
              <a:t>OSPFv3</a:t>
            </a:r>
            <a:r>
              <a:rPr lang="zh-CN" altLang="zh-CN" dirty="0"/>
              <a:t>协议自身不再有加密认证机制，取而代之的是通过</a:t>
            </a:r>
            <a:r>
              <a:rPr lang="en-US" altLang="zh-CN" dirty="0"/>
              <a:t>IPv6</a:t>
            </a:r>
            <a:r>
              <a:rPr lang="zh-CN" altLang="zh-CN" dirty="0"/>
              <a:t>的</a:t>
            </a:r>
            <a:r>
              <a:rPr lang="en-US" altLang="zh-CN" dirty="0"/>
              <a:t>IPsec</a:t>
            </a:r>
            <a:r>
              <a:rPr lang="zh-CN" altLang="zh-CN" dirty="0"/>
              <a:t>协议来保证安全性，路由协议必须运行在支持</a:t>
            </a:r>
            <a:r>
              <a:rPr lang="en-US" altLang="zh-CN" dirty="0"/>
              <a:t>IPsec</a:t>
            </a:r>
            <a:r>
              <a:rPr lang="zh-CN" altLang="zh-CN" dirty="0"/>
              <a:t>的路由器上。</a:t>
            </a:r>
            <a:endParaRPr lang="en-US" altLang="zh-CN" dirty="0"/>
          </a:p>
          <a:p>
            <a:pPr lvl="1">
              <a:lnSpc>
                <a:spcPts val="4200"/>
              </a:lnSpc>
              <a:spcBef>
                <a:spcPts val="0"/>
              </a:spcBef>
            </a:pPr>
            <a:r>
              <a:rPr lang="en-US" altLang="zh-CN" dirty="0"/>
              <a:t>IPsec</a:t>
            </a:r>
            <a:r>
              <a:rPr lang="zh-CN" altLang="zh-CN" dirty="0"/>
              <a:t>可确保路由器报文来自于授权的路由器；重定向报文来自于被发送给初始包的路由器；路由更新未被伪造</a:t>
            </a:r>
            <a:endParaRPr lang="zh-CN" altLang="en-US" sz="2400" dirty="0"/>
          </a:p>
        </p:txBody>
      </p:sp>
      <p:sp>
        <p:nvSpPr>
          <p:cNvPr id="3" name="标题 2"/>
          <p:cNvSpPr>
            <a:spLocks noGrp="1"/>
          </p:cNvSpPr>
          <p:nvPr>
            <p:ph type="title"/>
          </p:nvPr>
        </p:nvSpPr>
        <p:spPr/>
        <p:txBody>
          <a:bodyPr/>
          <a:lstStyle/>
          <a:p>
            <a:r>
              <a:rPr lang="en-US" altLang="zh-CN" dirty="0"/>
              <a:t>OSPF</a:t>
            </a:r>
            <a:r>
              <a:rPr lang="zh-CN" altLang="en-US" dirty="0"/>
              <a:t>安全</a:t>
            </a:r>
          </a:p>
        </p:txBody>
      </p:sp>
    </p:spTree>
    <p:extLst>
      <p:ext uri="{BB962C8B-B14F-4D97-AF65-F5344CB8AC3E}">
        <p14:creationId xmlns:p14="http://schemas.microsoft.com/office/powerpoint/2010/main" val="95953768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89293" y="1523683"/>
            <a:ext cx="7772400" cy="4114800"/>
          </a:xfrm>
        </p:spPr>
        <p:txBody>
          <a:bodyPr/>
          <a:lstStyle/>
          <a:p>
            <a:r>
              <a:rPr lang="en-US" altLang="zh-CN" dirty="0"/>
              <a:t>OSPF</a:t>
            </a:r>
            <a:r>
              <a:rPr lang="zh-CN" altLang="en-US" dirty="0"/>
              <a:t>攻击方式</a:t>
            </a:r>
            <a:endParaRPr lang="en-US" altLang="zh-CN" dirty="0"/>
          </a:p>
          <a:p>
            <a:pPr lvl="1"/>
            <a:r>
              <a:rPr lang="zh-CN" altLang="zh-CN" dirty="0"/>
              <a:t>最大年龄（</a:t>
            </a:r>
            <a:r>
              <a:rPr lang="en-US" altLang="zh-CN" dirty="0"/>
              <a:t>Max Age attack</a:t>
            </a:r>
            <a:r>
              <a:rPr lang="zh-CN" altLang="zh-CN" dirty="0"/>
              <a:t>）攻击</a:t>
            </a:r>
            <a:endParaRPr lang="en-US" altLang="zh-CN" dirty="0"/>
          </a:p>
          <a:p>
            <a:pPr lvl="1"/>
            <a:r>
              <a:rPr lang="zh-CN" altLang="zh-CN" dirty="0"/>
              <a:t>序列号加</a:t>
            </a:r>
            <a:r>
              <a:rPr lang="en-US" altLang="zh-CN" dirty="0"/>
              <a:t>1</a:t>
            </a:r>
            <a:r>
              <a:rPr lang="zh-CN" altLang="zh-CN" dirty="0"/>
              <a:t>（</a:t>
            </a:r>
            <a:r>
              <a:rPr lang="en-US" altLang="zh-CN" dirty="0"/>
              <a:t>Sequence++</a:t>
            </a:r>
            <a:r>
              <a:rPr lang="zh-CN" altLang="zh-CN" dirty="0"/>
              <a:t>）攻击</a:t>
            </a:r>
            <a:endParaRPr lang="en-US" altLang="zh-CN" dirty="0"/>
          </a:p>
          <a:p>
            <a:pPr lvl="1"/>
            <a:r>
              <a:rPr lang="zh-CN" altLang="zh-CN" dirty="0"/>
              <a:t>最大序列号攻击</a:t>
            </a:r>
            <a:endParaRPr lang="en-US" altLang="zh-CN" dirty="0"/>
          </a:p>
          <a:p>
            <a:pPr lvl="1"/>
            <a:r>
              <a:rPr lang="zh-CN" altLang="zh-CN" dirty="0"/>
              <a:t>重放攻击</a:t>
            </a:r>
            <a:endParaRPr lang="en-US" altLang="zh-CN" dirty="0"/>
          </a:p>
          <a:p>
            <a:pPr lvl="1"/>
            <a:r>
              <a:rPr lang="zh-CN" altLang="zh-CN" dirty="0"/>
              <a:t>篡改攻击</a:t>
            </a:r>
            <a:endParaRPr lang="zh-CN" altLang="en-US" dirty="0"/>
          </a:p>
        </p:txBody>
      </p:sp>
      <p:sp>
        <p:nvSpPr>
          <p:cNvPr id="3" name="标题 2"/>
          <p:cNvSpPr>
            <a:spLocks noGrp="1"/>
          </p:cNvSpPr>
          <p:nvPr>
            <p:ph type="title"/>
          </p:nvPr>
        </p:nvSpPr>
        <p:spPr/>
        <p:txBody>
          <a:bodyPr/>
          <a:lstStyle/>
          <a:p>
            <a:r>
              <a:rPr lang="en-US" altLang="zh-CN" dirty="0"/>
              <a:t>OSPF</a:t>
            </a:r>
            <a:r>
              <a:rPr lang="zh-CN" altLang="en-US" dirty="0"/>
              <a:t>安全</a:t>
            </a:r>
          </a:p>
        </p:txBody>
      </p:sp>
    </p:spTree>
    <p:extLst>
      <p:ext uri="{BB962C8B-B14F-4D97-AF65-F5344CB8AC3E}">
        <p14:creationId xmlns:p14="http://schemas.microsoft.com/office/powerpoint/2010/main" val="233290381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742026" y="2904661"/>
            <a:ext cx="5812325" cy="865481"/>
          </a:xfrm>
        </p:spPr>
        <p:txBody>
          <a:bodyPr/>
          <a:lstStyle/>
          <a:p>
            <a:pPr marL="0" indent="0">
              <a:buNone/>
            </a:pPr>
            <a:r>
              <a:rPr lang="zh-CN" altLang="en-US" dirty="0">
                <a:solidFill>
                  <a:srgbClr val="FF0000"/>
                </a:solidFill>
              </a:rPr>
              <a:t>六、</a:t>
            </a:r>
            <a:r>
              <a:rPr lang="en-US" altLang="zh-CN" dirty="0">
                <a:solidFill>
                  <a:srgbClr val="FF0000"/>
                </a:solidFill>
              </a:rPr>
              <a:t>BGP</a:t>
            </a:r>
            <a:r>
              <a:rPr lang="zh-CN" altLang="en-US" dirty="0">
                <a:solidFill>
                  <a:srgbClr val="FF0000"/>
                </a:solidFill>
              </a:rPr>
              <a:t>协议及其安全性分析</a:t>
            </a:r>
          </a:p>
        </p:txBody>
      </p:sp>
      <p:sp>
        <p:nvSpPr>
          <p:cNvPr id="3" name="标题 2"/>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2968377863"/>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28333" y="1447483"/>
            <a:ext cx="7772400" cy="4114800"/>
          </a:xfrm>
        </p:spPr>
        <p:txBody>
          <a:bodyPr/>
          <a:lstStyle/>
          <a:p>
            <a:r>
              <a:rPr lang="en-US" altLang="zh-CN" dirty="0"/>
              <a:t>BGP </a:t>
            </a:r>
            <a:r>
              <a:rPr lang="zh-CN" altLang="zh-CN" dirty="0"/>
              <a:t>协议是一种应用于</a:t>
            </a:r>
            <a:r>
              <a:rPr lang="en-US" altLang="zh-CN" dirty="0"/>
              <a:t>AS</a:t>
            </a:r>
            <a:r>
              <a:rPr lang="zh-CN" altLang="zh-CN" dirty="0"/>
              <a:t>之间的边界路由协议，而且运行边界网关协议的路由器一般都是网络上的骨干路由器</a:t>
            </a:r>
            <a:endParaRPr lang="en-US" altLang="zh-CN" dirty="0"/>
          </a:p>
          <a:p>
            <a:pPr lvl="1"/>
            <a:r>
              <a:rPr lang="zh-CN" altLang="zh-CN" dirty="0"/>
              <a:t>运行</a:t>
            </a:r>
            <a:r>
              <a:rPr lang="en-US" altLang="zh-CN" dirty="0"/>
              <a:t>BGP</a:t>
            </a:r>
            <a:r>
              <a:rPr lang="zh-CN" altLang="zh-CN" dirty="0"/>
              <a:t>协议的路由器相互之间需要建立</a:t>
            </a:r>
            <a:r>
              <a:rPr lang="en-US" altLang="zh-CN" dirty="0"/>
              <a:t>TCP</a:t>
            </a:r>
            <a:r>
              <a:rPr lang="zh-CN" altLang="zh-CN" dirty="0"/>
              <a:t>连接以交换路由信息，这种连接称为</a:t>
            </a:r>
            <a:r>
              <a:rPr lang="en-US" altLang="zh-CN" dirty="0"/>
              <a:t>BGP</a:t>
            </a:r>
            <a:r>
              <a:rPr lang="zh-CN" altLang="zh-CN" dirty="0"/>
              <a:t>会话</a:t>
            </a:r>
            <a:r>
              <a:rPr lang="en-US" altLang="zh-CN" dirty="0"/>
              <a:t>(Session)</a:t>
            </a:r>
            <a:endParaRPr lang="zh-CN" altLang="en-US" dirty="0"/>
          </a:p>
        </p:txBody>
      </p:sp>
      <p:sp>
        <p:nvSpPr>
          <p:cNvPr id="3" name="标题 2"/>
          <p:cNvSpPr>
            <a:spLocks noGrp="1"/>
          </p:cNvSpPr>
          <p:nvPr>
            <p:ph type="title"/>
          </p:nvPr>
        </p:nvSpPr>
        <p:spPr/>
        <p:txBody>
          <a:bodyPr/>
          <a:lstStyle/>
          <a:p>
            <a:r>
              <a:rPr lang="en-US" altLang="zh-CN" dirty="0"/>
              <a:t>BGP</a:t>
            </a:r>
            <a:r>
              <a:rPr lang="zh-CN" altLang="en-US" dirty="0"/>
              <a:t>协议</a:t>
            </a:r>
          </a:p>
        </p:txBody>
      </p:sp>
    </p:spTree>
    <p:extLst>
      <p:ext uri="{BB962C8B-B14F-4D97-AF65-F5344CB8AC3E}">
        <p14:creationId xmlns:p14="http://schemas.microsoft.com/office/powerpoint/2010/main" val="2806511588"/>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72440" y="1371283"/>
            <a:ext cx="8260079" cy="4800918"/>
          </a:xfrm>
        </p:spPr>
        <p:txBody>
          <a:bodyPr/>
          <a:lstStyle/>
          <a:p>
            <a:pPr>
              <a:spcBef>
                <a:spcPts val="0"/>
              </a:spcBef>
            </a:pPr>
            <a:r>
              <a:rPr lang="en-US" altLang="zh-CN" dirty="0"/>
              <a:t>BGP</a:t>
            </a:r>
            <a:r>
              <a:rPr lang="zh-CN" altLang="zh-CN" dirty="0"/>
              <a:t>定义了四种主要报文，即：</a:t>
            </a:r>
          </a:p>
          <a:p>
            <a:pPr lvl="1">
              <a:spcBef>
                <a:spcPts val="0"/>
              </a:spcBef>
            </a:pPr>
            <a:r>
              <a:rPr lang="zh-CN" altLang="zh-CN" dirty="0">
                <a:solidFill>
                  <a:srgbClr val="FF0000"/>
                </a:solidFill>
              </a:rPr>
              <a:t>打开</a:t>
            </a:r>
            <a:r>
              <a:rPr lang="en-US" altLang="zh-CN" dirty="0"/>
              <a:t>(Open)</a:t>
            </a:r>
            <a:r>
              <a:rPr lang="zh-CN" altLang="zh-CN" dirty="0"/>
              <a:t>报文，用来与相邻的另一个</a:t>
            </a:r>
            <a:r>
              <a:rPr lang="en-US" altLang="zh-CN" dirty="0"/>
              <a:t>BGP</a:t>
            </a:r>
            <a:r>
              <a:rPr lang="zh-CN" altLang="zh-CN" dirty="0"/>
              <a:t>发言人建立关系</a:t>
            </a:r>
          </a:p>
          <a:p>
            <a:pPr lvl="1">
              <a:spcBef>
                <a:spcPts val="0"/>
              </a:spcBef>
            </a:pPr>
            <a:r>
              <a:rPr lang="zh-CN" altLang="zh-CN" dirty="0">
                <a:solidFill>
                  <a:srgbClr val="FF0000"/>
                </a:solidFill>
              </a:rPr>
              <a:t>更新</a:t>
            </a:r>
            <a:r>
              <a:rPr lang="en-US" altLang="zh-CN" dirty="0"/>
              <a:t>(Update)</a:t>
            </a:r>
            <a:r>
              <a:rPr lang="zh-CN" altLang="zh-CN" dirty="0"/>
              <a:t>报文，用来发送某一路由的信息以及列出要撤消的多条路由</a:t>
            </a:r>
          </a:p>
          <a:p>
            <a:pPr lvl="1">
              <a:spcBef>
                <a:spcPts val="0"/>
              </a:spcBef>
            </a:pPr>
            <a:r>
              <a:rPr lang="zh-CN" altLang="zh-CN" dirty="0">
                <a:solidFill>
                  <a:srgbClr val="FF0000"/>
                </a:solidFill>
              </a:rPr>
              <a:t>保活</a:t>
            </a:r>
            <a:r>
              <a:rPr lang="en-US" altLang="zh-CN" dirty="0"/>
              <a:t>(Keep Alive)</a:t>
            </a:r>
            <a:r>
              <a:rPr lang="zh-CN" altLang="zh-CN" dirty="0"/>
              <a:t>报文，用来确认打开报文和周期性地证实邻站关系</a:t>
            </a:r>
          </a:p>
          <a:p>
            <a:pPr lvl="1">
              <a:spcBef>
                <a:spcPts val="0"/>
              </a:spcBef>
            </a:pPr>
            <a:r>
              <a:rPr lang="zh-CN" altLang="zh-CN" dirty="0">
                <a:solidFill>
                  <a:srgbClr val="FF0000"/>
                </a:solidFill>
              </a:rPr>
              <a:t>通知</a:t>
            </a:r>
            <a:r>
              <a:rPr lang="en-US" altLang="zh-CN" dirty="0"/>
              <a:t>(Notification)</a:t>
            </a:r>
            <a:r>
              <a:rPr lang="zh-CN" altLang="zh-CN" dirty="0"/>
              <a:t>报文，用来发送检测到的差错</a:t>
            </a:r>
          </a:p>
        </p:txBody>
      </p:sp>
      <p:sp>
        <p:nvSpPr>
          <p:cNvPr id="3" name="标题 2"/>
          <p:cNvSpPr>
            <a:spLocks noGrp="1"/>
          </p:cNvSpPr>
          <p:nvPr>
            <p:ph type="title"/>
          </p:nvPr>
        </p:nvSpPr>
        <p:spPr/>
        <p:txBody>
          <a:bodyPr/>
          <a:lstStyle/>
          <a:p>
            <a:r>
              <a:rPr lang="en-US" altLang="zh-CN" dirty="0"/>
              <a:t>BGP</a:t>
            </a:r>
            <a:r>
              <a:rPr lang="zh-CN" altLang="en-US" dirty="0"/>
              <a:t>协议</a:t>
            </a:r>
          </a:p>
        </p:txBody>
      </p:sp>
    </p:spTree>
    <p:extLst>
      <p:ext uri="{BB962C8B-B14F-4D97-AF65-F5344CB8AC3E}">
        <p14:creationId xmlns:p14="http://schemas.microsoft.com/office/powerpoint/2010/main" val="222024993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en-US" altLang="zh-CN" dirty="0"/>
              <a:t>BGP</a:t>
            </a:r>
            <a:r>
              <a:rPr lang="zh-CN" altLang="en-US" dirty="0"/>
              <a:t>协议</a:t>
            </a:r>
          </a:p>
        </p:txBody>
      </p:sp>
      <p:grpSp>
        <p:nvGrpSpPr>
          <p:cNvPr id="6" name="组合 5"/>
          <p:cNvGrpSpPr/>
          <p:nvPr/>
        </p:nvGrpSpPr>
        <p:grpSpPr>
          <a:xfrm>
            <a:off x="990600" y="1330325"/>
            <a:ext cx="7440613" cy="5146675"/>
            <a:chOff x="685800" y="152400"/>
            <a:chExt cx="7772400" cy="5791200"/>
          </a:xfrm>
        </p:grpSpPr>
        <p:sp>
          <p:nvSpPr>
            <p:cNvPr id="7" name="Oval 17"/>
            <p:cNvSpPr>
              <a:spLocks noChangeArrowheads="1"/>
            </p:cNvSpPr>
            <p:nvPr/>
          </p:nvSpPr>
          <p:spPr bwMode="auto">
            <a:xfrm>
              <a:off x="5638800" y="152400"/>
              <a:ext cx="2819400" cy="2743200"/>
            </a:xfrm>
            <a:prstGeom prst="ellipse">
              <a:avLst/>
            </a:prstGeom>
            <a:solidFill>
              <a:schemeClr val="bg1"/>
            </a:solidFill>
            <a:ln w="9525">
              <a:solidFill>
                <a:schemeClr val="tx1"/>
              </a:solidFill>
              <a:round/>
              <a:headEnd/>
              <a:tailEnd/>
            </a:ln>
            <a:effectLst>
              <a:outerShdw dist="35921" dir="2700000" algn="ctr" rotWithShape="0">
                <a:schemeClr val="bg2"/>
              </a:outerShdw>
            </a:effectLst>
          </p:spPr>
          <p:txBody>
            <a:bodyPr wrap="none" anchor="ctr"/>
            <a:lstStyle/>
            <a:p>
              <a:endParaRPr lang="zh-CN" altLang="en-US" b="1"/>
            </a:p>
          </p:txBody>
        </p:sp>
        <p:sp>
          <p:nvSpPr>
            <p:cNvPr id="8" name="Oval 20"/>
            <p:cNvSpPr>
              <a:spLocks noChangeArrowheads="1"/>
            </p:cNvSpPr>
            <p:nvPr/>
          </p:nvSpPr>
          <p:spPr bwMode="auto">
            <a:xfrm>
              <a:off x="685800" y="152400"/>
              <a:ext cx="2819400" cy="2743200"/>
            </a:xfrm>
            <a:prstGeom prst="ellipse">
              <a:avLst/>
            </a:prstGeom>
            <a:solidFill>
              <a:schemeClr val="bg1"/>
            </a:solidFill>
            <a:ln w="9525">
              <a:solidFill>
                <a:schemeClr val="tx1"/>
              </a:solidFill>
              <a:round/>
              <a:headEnd/>
              <a:tailEnd/>
            </a:ln>
            <a:effectLst>
              <a:outerShdw dist="35921" dir="2700000" algn="ctr" rotWithShape="0">
                <a:schemeClr val="bg2"/>
              </a:outerShdw>
            </a:effectLst>
          </p:spPr>
          <p:txBody>
            <a:bodyPr wrap="none" anchor="ctr"/>
            <a:lstStyle/>
            <a:p>
              <a:endParaRPr lang="zh-CN" altLang="en-US" b="1"/>
            </a:p>
          </p:txBody>
        </p:sp>
        <p:sp>
          <p:nvSpPr>
            <p:cNvPr id="9" name="Oval 26"/>
            <p:cNvSpPr>
              <a:spLocks noChangeArrowheads="1"/>
            </p:cNvSpPr>
            <p:nvPr/>
          </p:nvSpPr>
          <p:spPr bwMode="auto">
            <a:xfrm>
              <a:off x="990600" y="3733800"/>
              <a:ext cx="762000" cy="741363"/>
            </a:xfrm>
            <a:prstGeom prst="ellipse">
              <a:avLst/>
            </a:prstGeom>
            <a:solidFill>
              <a:schemeClr val="bg1"/>
            </a:solidFill>
            <a:ln w="9525">
              <a:solidFill>
                <a:schemeClr val="tx1"/>
              </a:solidFill>
              <a:round/>
              <a:headEnd/>
              <a:tailEnd/>
            </a:ln>
            <a:effectLst>
              <a:outerShdw dist="35921" dir="2700000" algn="ctr" rotWithShape="0">
                <a:schemeClr val="bg2"/>
              </a:outerShdw>
            </a:effectLst>
          </p:spPr>
          <p:txBody>
            <a:bodyPr wrap="none" anchor="ctr"/>
            <a:lstStyle/>
            <a:p>
              <a:endParaRPr lang="zh-CN" altLang="en-US" b="1"/>
            </a:p>
          </p:txBody>
        </p:sp>
        <p:sp>
          <p:nvSpPr>
            <p:cNvPr id="10" name="Oval 27"/>
            <p:cNvSpPr>
              <a:spLocks noChangeArrowheads="1"/>
            </p:cNvSpPr>
            <p:nvPr/>
          </p:nvSpPr>
          <p:spPr bwMode="auto">
            <a:xfrm>
              <a:off x="6781800" y="4724400"/>
              <a:ext cx="762000" cy="741363"/>
            </a:xfrm>
            <a:prstGeom prst="ellipse">
              <a:avLst/>
            </a:prstGeom>
            <a:solidFill>
              <a:schemeClr val="bg1"/>
            </a:solidFill>
            <a:ln w="9525">
              <a:solidFill>
                <a:schemeClr val="tx1"/>
              </a:solidFill>
              <a:round/>
              <a:headEnd/>
              <a:tailEnd/>
            </a:ln>
            <a:effectLst>
              <a:outerShdw dist="35921" dir="2700000" algn="ctr" rotWithShape="0">
                <a:schemeClr val="bg2"/>
              </a:outerShdw>
            </a:effectLst>
          </p:spPr>
          <p:txBody>
            <a:bodyPr wrap="none" anchor="ctr"/>
            <a:lstStyle/>
            <a:p>
              <a:endParaRPr lang="zh-CN" altLang="en-US" b="1"/>
            </a:p>
          </p:txBody>
        </p:sp>
        <p:sp>
          <p:nvSpPr>
            <p:cNvPr id="11" name="Line 28"/>
            <p:cNvSpPr>
              <a:spLocks noChangeShapeType="1"/>
            </p:cNvSpPr>
            <p:nvPr/>
          </p:nvSpPr>
          <p:spPr bwMode="auto">
            <a:xfrm>
              <a:off x="3505200" y="2209800"/>
              <a:ext cx="762000" cy="685800"/>
            </a:xfrm>
            <a:prstGeom prst="line">
              <a:avLst/>
            </a:prstGeom>
            <a:noFill/>
            <a:ln w="381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12" name="Line 29"/>
            <p:cNvSpPr>
              <a:spLocks noChangeShapeType="1"/>
            </p:cNvSpPr>
            <p:nvPr/>
          </p:nvSpPr>
          <p:spPr bwMode="auto">
            <a:xfrm flipH="1">
              <a:off x="4724400" y="2209800"/>
              <a:ext cx="914400" cy="685800"/>
            </a:xfrm>
            <a:prstGeom prst="line">
              <a:avLst/>
            </a:prstGeom>
            <a:noFill/>
            <a:ln w="381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13" name="Line 30"/>
            <p:cNvSpPr>
              <a:spLocks noChangeShapeType="1"/>
            </p:cNvSpPr>
            <p:nvPr/>
          </p:nvSpPr>
          <p:spPr bwMode="auto">
            <a:xfrm flipH="1">
              <a:off x="1541463" y="3048000"/>
              <a:ext cx="439737" cy="717550"/>
            </a:xfrm>
            <a:prstGeom prst="line">
              <a:avLst/>
            </a:prstGeom>
            <a:noFill/>
            <a:ln w="381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14" name="Line 31"/>
            <p:cNvSpPr>
              <a:spLocks noChangeShapeType="1"/>
            </p:cNvSpPr>
            <p:nvPr/>
          </p:nvSpPr>
          <p:spPr bwMode="auto">
            <a:xfrm>
              <a:off x="3621088" y="2097088"/>
              <a:ext cx="1847850" cy="0"/>
            </a:xfrm>
            <a:prstGeom prst="line">
              <a:avLst/>
            </a:prstGeom>
            <a:noFill/>
            <a:ln w="381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15" name="Line 32"/>
            <p:cNvSpPr>
              <a:spLocks noChangeShapeType="1"/>
            </p:cNvSpPr>
            <p:nvPr/>
          </p:nvSpPr>
          <p:spPr bwMode="auto">
            <a:xfrm>
              <a:off x="6096000" y="4114800"/>
              <a:ext cx="762000" cy="762000"/>
            </a:xfrm>
            <a:prstGeom prst="line">
              <a:avLst/>
            </a:prstGeom>
            <a:noFill/>
            <a:ln w="381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16" name="Line 35"/>
            <p:cNvSpPr>
              <a:spLocks noChangeShapeType="1"/>
            </p:cNvSpPr>
            <p:nvPr/>
          </p:nvSpPr>
          <p:spPr bwMode="auto">
            <a:xfrm>
              <a:off x="1524000" y="4419600"/>
              <a:ext cx="457200" cy="685800"/>
            </a:xfrm>
            <a:prstGeom prst="line">
              <a:avLst/>
            </a:prstGeom>
            <a:noFill/>
            <a:ln w="381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17" name="Line 36"/>
            <p:cNvSpPr>
              <a:spLocks noChangeShapeType="1"/>
            </p:cNvSpPr>
            <p:nvPr/>
          </p:nvSpPr>
          <p:spPr bwMode="auto">
            <a:xfrm flipH="1">
              <a:off x="838200" y="4419600"/>
              <a:ext cx="381000" cy="685800"/>
            </a:xfrm>
            <a:prstGeom prst="line">
              <a:avLst/>
            </a:prstGeom>
            <a:noFill/>
            <a:ln w="381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18" name="Line 37"/>
            <p:cNvSpPr>
              <a:spLocks noChangeShapeType="1"/>
            </p:cNvSpPr>
            <p:nvPr/>
          </p:nvSpPr>
          <p:spPr bwMode="auto">
            <a:xfrm flipV="1">
              <a:off x="6477000" y="5410200"/>
              <a:ext cx="457200" cy="533400"/>
            </a:xfrm>
            <a:prstGeom prst="line">
              <a:avLst/>
            </a:prstGeom>
            <a:noFill/>
            <a:ln w="381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19" name="Line 38"/>
            <p:cNvSpPr>
              <a:spLocks noChangeShapeType="1"/>
            </p:cNvSpPr>
            <p:nvPr/>
          </p:nvSpPr>
          <p:spPr bwMode="auto">
            <a:xfrm>
              <a:off x="7467600" y="5410200"/>
              <a:ext cx="457200" cy="533400"/>
            </a:xfrm>
            <a:prstGeom prst="line">
              <a:avLst/>
            </a:prstGeom>
            <a:noFill/>
            <a:ln w="381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20" name="Text Box 39"/>
            <p:cNvSpPr txBox="1">
              <a:spLocks noChangeArrowheads="1"/>
            </p:cNvSpPr>
            <p:nvPr/>
          </p:nvSpPr>
          <p:spPr bwMode="auto">
            <a:xfrm>
              <a:off x="2133600" y="2971800"/>
              <a:ext cx="140140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b="1"/>
                <a:t>BGP </a:t>
              </a:r>
              <a:r>
                <a:rPr lang="zh-CN" altLang="en-US" sz="1800" b="1"/>
                <a:t>发言人</a:t>
              </a:r>
            </a:p>
          </p:txBody>
        </p:sp>
        <p:sp>
          <p:nvSpPr>
            <p:cNvPr id="21" name="Text Box 40"/>
            <p:cNvSpPr txBox="1">
              <a:spLocks noChangeArrowheads="1"/>
            </p:cNvSpPr>
            <p:nvPr/>
          </p:nvSpPr>
          <p:spPr bwMode="auto">
            <a:xfrm>
              <a:off x="3503952" y="1362075"/>
              <a:ext cx="881973" cy="590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lang="en-US" altLang="zh-CN" sz="1800" b="1"/>
                <a:t>BGP</a:t>
              </a:r>
            </a:p>
            <a:p>
              <a:pPr algn="ctr">
                <a:lnSpc>
                  <a:spcPct val="90000"/>
                </a:lnSpc>
              </a:pPr>
              <a:r>
                <a:rPr lang="zh-CN" altLang="en-US" sz="1800" b="1"/>
                <a:t>发言人</a:t>
              </a:r>
            </a:p>
          </p:txBody>
        </p:sp>
        <p:sp>
          <p:nvSpPr>
            <p:cNvPr id="22" name="Text Box 41"/>
            <p:cNvSpPr txBox="1">
              <a:spLocks noChangeArrowheads="1"/>
            </p:cNvSpPr>
            <p:nvPr/>
          </p:nvSpPr>
          <p:spPr bwMode="auto">
            <a:xfrm>
              <a:off x="4822825" y="2740025"/>
              <a:ext cx="1401409" cy="369332"/>
            </a:xfrm>
            <a:prstGeom prst="rect">
              <a:avLst/>
            </a:prstGeom>
            <a:solidFill>
              <a:schemeClr val="bg1">
                <a:alpha val="5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b="1"/>
                <a:t>BGP </a:t>
              </a:r>
              <a:r>
                <a:rPr lang="zh-CN" altLang="en-US" sz="1800" b="1"/>
                <a:t>发言人</a:t>
              </a:r>
            </a:p>
          </p:txBody>
        </p:sp>
        <p:sp>
          <p:nvSpPr>
            <p:cNvPr id="23" name="Text Box 42"/>
            <p:cNvSpPr txBox="1">
              <a:spLocks noChangeArrowheads="1"/>
            </p:cNvSpPr>
            <p:nvPr/>
          </p:nvSpPr>
          <p:spPr bwMode="auto">
            <a:xfrm>
              <a:off x="6189663" y="3751263"/>
              <a:ext cx="140140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b="1"/>
                <a:t>BGP </a:t>
              </a:r>
              <a:r>
                <a:rPr lang="zh-CN" altLang="en-US" sz="1800" b="1"/>
                <a:t>发言人</a:t>
              </a:r>
            </a:p>
          </p:txBody>
        </p:sp>
        <p:sp>
          <p:nvSpPr>
            <p:cNvPr id="24" name="Text Box 44"/>
            <p:cNvSpPr txBox="1">
              <a:spLocks noChangeArrowheads="1"/>
            </p:cNvSpPr>
            <p:nvPr/>
          </p:nvSpPr>
          <p:spPr bwMode="auto">
            <a:xfrm>
              <a:off x="4718389" y="1371600"/>
              <a:ext cx="881973" cy="590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lang="en-US" altLang="zh-CN" sz="1800" b="1"/>
                <a:t>BGP</a:t>
              </a:r>
            </a:p>
            <a:p>
              <a:pPr algn="ctr">
                <a:lnSpc>
                  <a:spcPct val="90000"/>
                </a:lnSpc>
              </a:pPr>
              <a:r>
                <a:rPr lang="zh-CN" altLang="en-US" sz="1800" b="1"/>
                <a:t>发言人</a:t>
              </a:r>
            </a:p>
          </p:txBody>
        </p:sp>
        <p:sp>
          <p:nvSpPr>
            <p:cNvPr id="25" name="Line 152"/>
            <p:cNvSpPr>
              <a:spLocks noChangeShapeType="1"/>
            </p:cNvSpPr>
            <p:nvPr/>
          </p:nvSpPr>
          <p:spPr bwMode="auto">
            <a:xfrm>
              <a:off x="5867400" y="2057400"/>
              <a:ext cx="76200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26" name="Line 153"/>
            <p:cNvSpPr>
              <a:spLocks noChangeShapeType="1"/>
            </p:cNvSpPr>
            <p:nvPr/>
          </p:nvSpPr>
          <p:spPr bwMode="auto">
            <a:xfrm>
              <a:off x="4572000" y="3048000"/>
              <a:ext cx="457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27" name="Oval 19"/>
            <p:cNvSpPr>
              <a:spLocks noChangeArrowheads="1"/>
            </p:cNvSpPr>
            <p:nvPr/>
          </p:nvSpPr>
          <p:spPr bwMode="auto">
            <a:xfrm>
              <a:off x="3124200" y="2971800"/>
              <a:ext cx="2819400" cy="2743200"/>
            </a:xfrm>
            <a:prstGeom prst="ellipse">
              <a:avLst/>
            </a:prstGeom>
            <a:solidFill>
              <a:schemeClr val="bg1"/>
            </a:solidFill>
            <a:ln w="9525">
              <a:solidFill>
                <a:schemeClr val="tx1"/>
              </a:solidFill>
              <a:round/>
              <a:headEnd/>
              <a:tailEnd/>
            </a:ln>
            <a:effectLst>
              <a:outerShdw dist="35921" dir="2700000" algn="ctr" rotWithShape="0">
                <a:schemeClr val="bg2"/>
              </a:outerShdw>
            </a:effectLst>
          </p:spPr>
          <p:txBody>
            <a:bodyPr wrap="none" anchor="ctr"/>
            <a:lstStyle/>
            <a:p>
              <a:endParaRPr lang="zh-CN" altLang="en-US" b="1"/>
            </a:p>
          </p:txBody>
        </p:sp>
        <p:sp>
          <p:nvSpPr>
            <p:cNvPr id="28" name="Line 154"/>
            <p:cNvSpPr>
              <a:spLocks noChangeShapeType="1"/>
            </p:cNvSpPr>
            <p:nvPr/>
          </p:nvSpPr>
          <p:spPr bwMode="auto">
            <a:xfrm>
              <a:off x="5105400" y="3733800"/>
              <a:ext cx="68580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29" name="Line 155"/>
            <p:cNvSpPr>
              <a:spLocks noChangeShapeType="1"/>
            </p:cNvSpPr>
            <p:nvPr/>
          </p:nvSpPr>
          <p:spPr bwMode="auto">
            <a:xfrm flipH="1">
              <a:off x="5181600" y="4038600"/>
              <a:ext cx="609600" cy="1066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30" name="Line 156"/>
            <p:cNvSpPr>
              <a:spLocks noChangeShapeType="1"/>
            </p:cNvSpPr>
            <p:nvPr/>
          </p:nvSpPr>
          <p:spPr bwMode="auto">
            <a:xfrm>
              <a:off x="4495800" y="4343400"/>
              <a:ext cx="5334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31" name="Line 157"/>
            <p:cNvSpPr>
              <a:spLocks noChangeShapeType="1"/>
            </p:cNvSpPr>
            <p:nvPr/>
          </p:nvSpPr>
          <p:spPr bwMode="auto">
            <a:xfrm flipV="1">
              <a:off x="4495800" y="3810000"/>
              <a:ext cx="3810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32" name="Line 158"/>
            <p:cNvSpPr>
              <a:spLocks noChangeShapeType="1"/>
            </p:cNvSpPr>
            <p:nvPr/>
          </p:nvSpPr>
          <p:spPr bwMode="auto">
            <a:xfrm flipH="1">
              <a:off x="3657600" y="4267200"/>
              <a:ext cx="685800"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33" name="Line 159"/>
            <p:cNvSpPr>
              <a:spLocks noChangeShapeType="1"/>
            </p:cNvSpPr>
            <p:nvPr/>
          </p:nvSpPr>
          <p:spPr bwMode="auto">
            <a:xfrm>
              <a:off x="3657600" y="4572000"/>
              <a:ext cx="3810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34" name="Line 160"/>
            <p:cNvSpPr>
              <a:spLocks noChangeShapeType="1"/>
            </p:cNvSpPr>
            <p:nvPr/>
          </p:nvSpPr>
          <p:spPr bwMode="auto">
            <a:xfrm>
              <a:off x="4191000" y="5029200"/>
              <a:ext cx="76200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35" name="Line 161"/>
            <p:cNvSpPr>
              <a:spLocks noChangeShapeType="1"/>
            </p:cNvSpPr>
            <p:nvPr/>
          </p:nvSpPr>
          <p:spPr bwMode="auto">
            <a:xfrm>
              <a:off x="7086600" y="1143000"/>
              <a:ext cx="533400" cy="1143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36" name="Line 162"/>
            <p:cNvSpPr>
              <a:spLocks noChangeShapeType="1"/>
            </p:cNvSpPr>
            <p:nvPr/>
          </p:nvSpPr>
          <p:spPr bwMode="auto">
            <a:xfrm>
              <a:off x="7010400" y="2286000"/>
              <a:ext cx="53340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37" name="Line 163"/>
            <p:cNvSpPr>
              <a:spLocks noChangeShapeType="1"/>
            </p:cNvSpPr>
            <p:nvPr/>
          </p:nvSpPr>
          <p:spPr bwMode="auto">
            <a:xfrm flipV="1">
              <a:off x="7162800" y="990600"/>
              <a:ext cx="91440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38" name="Line 164"/>
            <p:cNvSpPr>
              <a:spLocks noChangeShapeType="1"/>
            </p:cNvSpPr>
            <p:nvPr/>
          </p:nvSpPr>
          <p:spPr bwMode="auto">
            <a:xfrm>
              <a:off x="3048000" y="1447800"/>
              <a:ext cx="228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39" name="Line 165"/>
            <p:cNvSpPr>
              <a:spLocks noChangeShapeType="1"/>
            </p:cNvSpPr>
            <p:nvPr/>
          </p:nvSpPr>
          <p:spPr bwMode="auto">
            <a:xfrm flipV="1">
              <a:off x="2514600" y="2057400"/>
              <a:ext cx="762000"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40" name="Line 166"/>
            <p:cNvSpPr>
              <a:spLocks noChangeShapeType="1"/>
            </p:cNvSpPr>
            <p:nvPr/>
          </p:nvSpPr>
          <p:spPr bwMode="auto">
            <a:xfrm flipH="1">
              <a:off x="1981200" y="2362200"/>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41" name="Line 167"/>
            <p:cNvSpPr>
              <a:spLocks noChangeShapeType="1"/>
            </p:cNvSpPr>
            <p:nvPr/>
          </p:nvSpPr>
          <p:spPr bwMode="auto">
            <a:xfrm>
              <a:off x="1447800" y="2057400"/>
              <a:ext cx="83820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42" name="Line 168"/>
            <p:cNvSpPr>
              <a:spLocks noChangeShapeType="1"/>
            </p:cNvSpPr>
            <p:nvPr/>
          </p:nvSpPr>
          <p:spPr bwMode="auto">
            <a:xfrm>
              <a:off x="1295400" y="1371600"/>
              <a:ext cx="152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43" name="Line 169"/>
            <p:cNvSpPr>
              <a:spLocks noChangeShapeType="1"/>
            </p:cNvSpPr>
            <p:nvPr/>
          </p:nvSpPr>
          <p:spPr bwMode="auto">
            <a:xfrm flipV="1">
              <a:off x="1371600" y="990600"/>
              <a:ext cx="7620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44" name="Line 170"/>
            <p:cNvSpPr>
              <a:spLocks noChangeShapeType="1"/>
            </p:cNvSpPr>
            <p:nvPr/>
          </p:nvSpPr>
          <p:spPr bwMode="auto">
            <a:xfrm>
              <a:off x="2209800" y="990600"/>
              <a:ext cx="6096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45" name="Line 171"/>
            <p:cNvSpPr>
              <a:spLocks noChangeShapeType="1"/>
            </p:cNvSpPr>
            <p:nvPr/>
          </p:nvSpPr>
          <p:spPr bwMode="auto">
            <a:xfrm flipV="1">
              <a:off x="6248400" y="1066800"/>
              <a:ext cx="83820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46" name="Line 172"/>
            <p:cNvSpPr>
              <a:spLocks noChangeShapeType="1"/>
            </p:cNvSpPr>
            <p:nvPr/>
          </p:nvSpPr>
          <p:spPr bwMode="auto">
            <a:xfrm>
              <a:off x="6096000" y="1295400"/>
              <a:ext cx="6096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pic>
          <p:nvPicPr>
            <p:cNvPr id="47" name="Picture 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52600" y="2743200"/>
              <a:ext cx="520700"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8" name="Picture 2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86400" y="1905000"/>
              <a:ext cx="520700"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9" name="Picture 2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24200" y="1905000"/>
              <a:ext cx="520700"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50" name="Picture 4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86200" y="4876800"/>
              <a:ext cx="393700" cy="223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51" name="Picture 4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43600" y="1219200"/>
              <a:ext cx="393700" cy="223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52" name="Picture 5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95400" y="1905000"/>
              <a:ext cx="393700" cy="223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53" name="Group 3"/>
            <p:cNvGrpSpPr>
              <a:grpSpLocks/>
            </p:cNvGrpSpPr>
            <p:nvPr/>
          </p:nvGrpSpPr>
          <p:grpSpPr bwMode="auto">
            <a:xfrm>
              <a:off x="2667000" y="1066800"/>
              <a:ext cx="685800" cy="533400"/>
              <a:chOff x="2949" y="196"/>
              <a:chExt cx="941" cy="598"/>
            </a:xfrm>
          </p:grpSpPr>
          <p:sp>
            <p:nvSpPr>
              <p:cNvPr id="165" name="Oval 4"/>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6" name="Oval 5"/>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7" name="Oval 6"/>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8" name="Oval 7"/>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9" name="Oval 8"/>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70" name="Oval 9"/>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71" name="Oval 10"/>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72" name="Oval 11"/>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73" name="Freeform 12"/>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174" name="Freeform 13"/>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175" name="Freeform 14"/>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grpSp>
          <p:nvGrpSpPr>
            <p:cNvPr id="54" name="Group 55"/>
            <p:cNvGrpSpPr>
              <a:grpSpLocks/>
            </p:cNvGrpSpPr>
            <p:nvPr/>
          </p:nvGrpSpPr>
          <p:grpSpPr bwMode="auto">
            <a:xfrm>
              <a:off x="914400" y="990600"/>
              <a:ext cx="685800" cy="533400"/>
              <a:chOff x="2949" y="196"/>
              <a:chExt cx="941" cy="598"/>
            </a:xfrm>
          </p:grpSpPr>
          <p:sp>
            <p:nvSpPr>
              <p:cNvPr id="154" name="Oval 56"/>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55" name="Oval 57"/>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56" name="Oval 58"/>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57" name="Oval 59"/>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58" name="Oval 60"/>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59" name="Oval 61"/>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0" name="Oval 62"/>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1" name="Oval 63"/>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2" name="Freeform 64"/>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163" name="Freeform 65"/>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164" name="Freeform 66"/>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grpSp>
          <p:nvGrpSpPr>
            <p:cNvPr id="55" name="Group 83"/>
            <p:cNvGrpSpPr>
              <a:grpSpLocks/>
            </p:cNvGrpSpPr>
            <p:nvPr/>
          </p:nvGrpSpPr>
          <p:grpSpPr bwMode="auto">
            <a:xfrm>
              <a:off x="4724400" y="4953000"/>
              <a:ext cx="685800" cy="533400"/>
              <a:chOff x="2949" y="196"/>
              <a:chExt cx="941" cy="598"/>
            </a:xfrm>
          </p:grpSpPr>
          <p:sp>
            <p:nvSpPr>
              <p:cNvPr id="143" name="Oval 84"/>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44" name="Oval 85"/>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45" name="Oval 86"/>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46" name="Oval 87"/>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47" name="Oval 88"/>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48" name="Oval 89"/>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49" name="Oval 90"/>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50" name="Oval 91"/>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51" name="Freeform 92"/>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152" name="Freeform 93"/>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153" name="Freeform 94"/>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grpSp>
          <p:nvGrpSpPr>
            <p:cNvPr id="56" name="Group 111"/>
            <p:cNvGrpSpPr>
              <a:grpSpLocks/>
            </p:cNvGrpSpPr>
            <p:nvPr/>
          </p:nvGrpSpPr>
          <p:grpSpPr bwMode="auto">
            <a:xfrm>
              <a:off x="6705600" y="762000"/>
              <a:ext cx="685800" cy="533400"/>
              <a:chOff x="2949" y="196"/>
              <a:chExt cx="941" cy="598"/>
            </a:xfrm>
          </p:grpSpPr>
          <p:sp>
            <p:nvSpPr>
              <p:cNvPr id="132" name="Oval 112"/>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3" name="Oval 113"/>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4" name="Oval 114"/>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5" name="Oval 115"/>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6" name="Oval 116"/>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7" name="Oval 117"/>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8" name="Oval 118"/>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9" name="Oval 119"/>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40" name="Freeform 120"/>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141" name="Freeform 121"/>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142" name="Freeform 122"/>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grpSp>
          <p:nvGrpSpPr>
            <p:cNvPr id="57" name="Group 139"/>
            <p:cNvGrpSpPr>
              <a:grpSpLocks/>
            </p:cNvGrpSpPr>
            <p:nvPr/>
          </p:nvGrpSpPr>
          <p:grpSpPr bwMode="auto">
            <a:xfrm>
              <a:off x="6477000" y="1905000"/>
              <a:ext cx="685800" cy="533400"/>
              <a:chOff x="2949" y="196"/>
              <a:chExt cx="941" cy="598"/>
            </a:xfrm>
          </p:grpSpPr>
          <p:sp>
            <p:nvSpPr>
              <p:cNvPr id="121" name="Oval 140"/>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2" name="Oval 141"/>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3" name="Oval 142"/>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4" name="Oval 143"/>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5" name="Oval 144"/>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6" name="Oval 145"/>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7" name="Oval 146"/>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8" name="Oval 147"/>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9" name="Freeform 148"/>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130" name="Freeform 149"/>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131" name="Freeform 150"/>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sp>
          <p:nvSpPr>
            <p:cNvPr id="58" name="Text Box 173"/>
            <p:cNvSpPr txBox="1">
              <a:spLocks noChangeArrowheads="1"/>
            </p:cNvSpPr>
            <p:nvPr/>
          </p:nvSpPr>
          <p:spPr bwMode="auto">
            <a:xfrm>
              <a:off x="1752600" y="228600"/>
              <a:ext cx="552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b="1"/>
                <a:t>AS</a:t>
              </a:r>
              <a:r>
                <a:rPr lang="en-US" altLang="zh-CN" sz="1800" b="1" baseline="-25000"/>
                <a:t>1</a:t>
              </a:r>
            </a:p>
          </p:txBody>
        </p:sp>
        <p:sp>
          <p:nvSpPr>
            <p:cNvPr id="59" name="Text Box 174"/>
            <p:cNvSpPr txBox="1">
              <a:spLocks noChangeArrowheads="1"/>
            </p:cNvSpPr>
            <p:nvPr/>
          </p:nvSpPr>
          <p:spPr bwMode="auto">
            <a:xfrm>
              <a:off x="3657600" y="3276600"/>
              <a:ext cx="552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b="1"/>
                <a:t>AS</a:t>
              </a:r>
              <a:r>
                <a:rPr lang="en-US" altLang="zh-CN" sz="1800" b="1" baseline="-25000"/>
                <a:t>3</a:t>
              </a:r>
            </a:p>
          </p:txBody>
        </p:sp>
        <p:sp>
          <p:nvSpPr>
            <p:cNvPr id="60" name="Text Box 175"/>
            <p:cNvSpPr txBox="1">
              <a:spLocks noChangeArrowheads="1"/>
            </p:cNvSpPr>
            <p:nvPr/>
          </p:nvSpPr>
          <p:spPr bwMode="auto">
            <a:xfrm>
              <a:off x="6781800" y="228600"/>
              <a:ext cx="552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b="1"/>
                <a:t>AS</a:t>
              </a:r>
              <a:r>
                <a:rPr lang="en-US" altLang="zh-CN" sz="1800" b="1" baseline="-25000"/>
                <a:t>2</a:t>
              </a:r>
            </a:p>
          </p:txBody>
        </p:sp>
        <p:sp>
          <p:nvSpPr>
            <p:cNvPr id="61" name="Text Box 176"/>
            <p:cNvSpPr txBox="1">
              <a:spLocks noChangeArrowheads="1"/>
            </p:cNvSpPr>
            <p:nvPr/>
          </p:nvSpPr>
          <p:spPr bwMode="auto">
            <a:xfrm>
              <a:off x="6875463" y="4916488"/>
              <a:ext cx="552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b="1"/>
                <a:t>AS</a:t>
              </a:r>
              <a:r>
                <a:rPr lang="en-US" altLang="zh-CN" sz="1800" b="1" baseline="-25000"/>
                <a:t>5</a:t>
              </a:r>
            </a:p>
          </p:txBody>
        </p:sp>
        <p:sp>
          <p:nvSpPr>
            <p:cNvPr id="62" name="Text Box 177"/>
            <p:cNvSpPr txBox="1">
              <a:spLocks noChangeArrowheads="1"/>
            </p:cNvSpPr>
            <p:nvPr/>
          </p:nvSpPr>
          <p:spPr bwMode="auto">
            <a:xfrm>
              <a:off x="1123950" y="3937000"/>
              <a:ext cx="552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b="1"/>
                <a:t>AS</a:t>
              </a:r>
              <a:r>
                <a:rPr lang="en-US" altLang="zh-CN" sz="1800" b="1" baseline="-25000"/>
                <a:t>4</a:t>
              </a:r>
            </a:p>
          </p:txBody>
        </p:sp>
        <p:pic>
          <p:nvPicPr>
            <p:cNvPr id="63" name="Picture 2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38800" y="3810000"/>
              <a:ext cx="520700"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64" name="Line 178"/>
            <p:cNvSpPr>
              <a:spLocks noChangeShapeType="1"/>
            </p:cNvSpPr>
            <p:nvPr/>
          </p:nvSpPr>
          <p:spPr bwMode="auto">
            <a:xfrm>
              <a:off x="4572000" y="3048000"/>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nvGrpSpPr>
            <p:cNvPr id="65" name="Group 125"/>
            <p:cNvGrpSpPr>
              <a:grpSpLocks/>
            </p:cNvGrpSpPr>
            <p:nvPr/>
          </p:nvGrpSpPr>
          <p:grpSpPr bwMode="auto">
            <a:xfrm>
              <a:off x="4648200" y="3429000"/>
              <a:ext cx="685800" cy="533400"/>
              <a:chOff x="2949" y="196"/>
              <a:chExt cx="941" cy="598"/>
            </a:xfrm>
          </p:grpSpPr>
          <p:sp>
            <p:nvSpPr>
              <p:cNvPr id="110" name="Oval 126"/>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1" name="Oval 127"/>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2" name="Oval 128"/>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3" name="Oval 129"/>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4" name="Oval 130"/>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5" name="Oval 131"/>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6" name="Oval 132"/>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7" name="Oval 133"/>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8" name="Freeform 134"/>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119" name="Freeform 135"/>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120" name="Freeform 136"/>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pic>
          <p:nvPicPr>
            <p:cNvPr id="66" name="Picture 2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67200" y="2819400"/>
              <a:ext cx="520700"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67" name="Picture 4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67200" y="4191000"/>
              <a:ext cx="393700" cy="223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68" name="Group 97"/>
            <p:cNvGrpSpPr>
              <a:grpSpLocks/>
            </p:cNvGrpSpPr>
            <p:nvPr/>
          </p:nvGrpSpPr>
          <p:grpSpPr bwMode="auto">
            <a:xfrm>
              <a:off x="3276600" y="4114800"/>
              <a:ext cx="685800" cy="533400"/>
              <a:chOff x="2949" y="196"/>
              <a:chExt cx="941" cy="598"/>
            </a:xfrm>
          </p:grpSpPr>
          <p:sp>
            <p:nvSpPr>
              <p:cNvPr id="99" name="Oval 98"/>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00" name="Oval 99"/>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01" name="Oval 100"/>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02" name="Oval 101"/>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03" name="Oval 102"/>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04" name="Oval 103"/>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05" name="Oval 104"/>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06" name="Oval 105"/>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07" name="Freeform 106"/>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108" name="Freeform 107"/>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109" name="Freeform 108"/>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sp>
          <p:nvSpPr>
            <p:cNvPr id="69" name="Line 179"/>
            <p:cNvSpPr>
              <a:spLocks noChangeShapeType="1"/>
            </p:cNvSpPr>
            <p:nvPr/>
          </p:nvSpPr>
          <p:spPr bwMode="auto">
            <a:xfrm>
              <a:off x="2133600" y="1066800"/>
              <a:ext cx="228600" cy="1066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pic>
          <p:nvPicPr>
            <p:cNvPr id="70" name="Picture 1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81200" y="914400"/>
              <a:ext cx="393700" cy="223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71" name="Group 69"/>
            <p:cNvGrpSpPr>
              <a:grpSpLocks/>
            </p:cNvGrpSpPr>
            <p:nvPr/>
          </p:nvGrpSpPr>
          <p:grpSpPr bwMode="auto">
            <a:xfrm>
              <a:off x="2057400" y="1981200"/>
              <a:ext cx="685800" cy="533400"/>
              <a:chOff x="2949" y="196"/>
              <a:chExt cx="941" cy="598"/>
            </a:xfrm>
          </p:grpSpPr>
          <p:sp>
            <p:nvSpPr>
              <p:cNvPr id="88" name="Oval 70"/>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89" name="Oval 71"/>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90" name="Oval 72"/>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91" name="Oval 73"/>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92" name="Oval 74"/>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93" name="Oval 75"/>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94" name="Oval 76"/>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95" name="Oval 77"/>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96" name="Freeform 78"/>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97" name="Freeform 79"/>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98" name="Freeform 80"/>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sp>
          <p:nvSpPr>
            <p:cNvPr id="72" name="Line 193"/>
            <p:cNvSpPr>
              <a:spLocks noChangeShapeType="1"/>
            </p:cNvSpPr>
            <p:nvPr/>
          </p:nvSpPr>
          <p:spPr bwMode="auto">
            <a:xfrm>
              <a:off x="8153400" y="1066800"/>
              <a:ext cx="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73" name="Line 194"/>
            <p:cNvSpPr>
              <a:spLocks noChangeShapeType="1"/>
            </p:cNvSpPr>
            <p:nvPr/>
          </p:nvSpPr>
          <p:spPr bwMode="auto">
            <a:xfrm flipH="1">
              <a:off x="7696200" y="1752600"/>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pic>
          <p:nvPicPr>
            <p:cNvPr id="74" name="Picture 4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67600" y="2286000"/>
              <a:ext cx="393700" cy="223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75" name="Picture 4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24800" y="914400"/>
              <a:ext cx="393700" cy="223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76" name="Group 181"/>
            <p:cNvGrpSpPr>
              <a:grpSpLocks/>
            </p:cNvGrpSpPr>
            <p:nvPr/>
          </p:nvGrpSpPr>
          <p:grpSpPr bwMode="auto">
            <a:xfrm>
              <a:off x="7772400" y="1371600"/>
              <a:ext cx="685800" cy="533400"/>
              <a:chOff x="2949" y="196"/>
              <a:chExt cx="941" cy="598"/>
            </a:xfrm>
          </p:grpSpPr>
          <p:sp>
            <p:nvSpPr>
              <p:cNvPr id="77" name="Oval 182"/>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78" name="Oval 183"/>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79" name="Oval 184"/>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80" name="Oval 185"/>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81" name="Oval 186"/>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82" name="Oval 187"/>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83" name="Oval 188"/>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84" name="Oval 189"/>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85" name="Freeform 190"/>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86" name="Freeform 191"/>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87" name="Freeform 192"/>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grpSp>
    </p:spTree>
    <p:extLst>
      <p:ext uri="{BB962C8B-B14F-4D97-AF65-F5344CB8AC3E}">
        <p14:creationId xmlns:p14="http://schemas.microsoft.com/office/powerpoint/2010/main" val="275358476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84493" y="1310322"/>
            <a:ext cx="8346122" cy="4831397"/>
          </a:xfrm>
        </p:spPr>
        <p:txBody>
          <a:bodyPr/>
          <a:lstStyle/>
          <a:p>
            <a:r>
              <a:rPr lang="en-US" altLang="zh-CN" dirty="0"/>
              <a:t>BGP </a:t>
            </a:r>
            <a:r>
              <a:rPr lang="zh-CN" altLang="zh-CN" dirty="0"/>
              <a:t>协议最主要的安全问题在于</a:t>
            </a:r>
            <a:r>
              <a:rPr lang="zh-CN" altLang="zh-CN" dirty="0">
                <a:solidFill>
                  <a:srgbClr val="FF0000"/>
                </a:solidFill>
              </a:rPr>
              <a:t>缺乏一个安全可信的路由认证机制</a:t>
            </a:r>
            <a:r>
              <a:rPr lang="zh-CN" altLang="zh-CN" dirty="0"/>
              <a:t>，即</a:t>
            </a:r>
            <a:r>
              <a:rPr lang="en-US" altLang="zh-CN" dirty="0"/>
              <a:t>BGP </a:t>
            </a:r>
            <a:r>
              <a:rPr lang="zh-CN" altLang="zh-CN" dirty="0"/>
              <a:t>无法对所传播的路由信息的安全性进行验证。</a:t>
            </a:r>
            <a:endParaRPr lang="en-US" altLang="zh-CN" dirty="0"/>
          </a:p>
          <a:p>
            <a:pPr lvl="1"/>
            <a:r>
              <a:rPr lang="zh-CN" altLang="zh-CN" dirty="0"/>
              <a:t>每个自治系统向外通告自己所拥有的</a:t>
            </a:r>
            <a:r>
              <a:rPr lang="en-US" altLang="zh-CN" dirty="0"/>
              <a:t>CIDR</a:t>
            </a:r>
            <a:r>
              <a:rPr lang="zh-CN" altLang="zh-CN" dirty="0"/>
              <a:t>地址块，并且协议无条件信任对等系统的路由通告，这将就导致一个自治系统向外通告不属于自己的前缀时，也会被</a:t>
            </a:r>
            <a:r>
              <a:rPr lang="en-US" altLang="zh-CN" dirty="0"/>
              <a:t>BGP</a:t>
            </a:r>
            <a:r>
              <a:rPr lang="zh-CN" altLang="zh-CN" dirty="0"/>
              <a:t>用户认为合法，从而接受和传播，导致路由攻击的发生</a:t>
            </a:r>
            <a:endParaRPr lang="zh-CN" altLang="en-US" dirty="0"/>
          </a:p>
        </p:txBody>
      </p:sp>
      <p:sp>
        <p:nvSpPr>
          <p:cNvPr id="3" name="标题 2"/>
          <p:cNvSpPr>
            <a:spLocks noGrp="1"/>
          </p:cNvSpPr>
          <p:nvPr>
            <p:ph type="title"/>
          </p:nvPr>
        </p:nvSpPr>
        <p:spPr/>
        <p:txBody>
          <a:bodyPr/>
          <a:lstStyle/>
          <a:p>
            <a:r>
              <a:rPr lang="en-US" altLang="zh-CN" dirty="0"/>
              <a:t>BGP</a:t>
            </a:r>
            <a:r>
              <a:rPr lang="zh-CN" altLang="en-US" dirty="0"/>
              <a:t>安全</a:t>
            </a:r>
          </a:p>
        </p:txBody>
      </p:sp>
    </p:spTree>
    <p:extLst>
      <p:ext uri="{BB962C8B-B14F-4D97-AF65-F5344CB8AC3E}">
        <p14:creationId xmlns:p14="http://schemas.microsoft.com/office/powerpoint/2010/main" val="197483705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36893" y="1599882"/>
            <a:ext cx="7860347" cy="4831397"/>
          </a:xfrm>
        </p:spPr>
        <p:txBody>
          <a:bodyPr/>
          <a:lstStyle/>
          <a:p>
            <a:pPr>
              <a:lnSpc>
                <a:spcPct val="150000"/>
              </a:lnSpc>
              <a:spcBef>
                <a:spcPts val="0"/>
              </a:spcBef>
            </a:pPr>
            <a:r>
              <a:rPr lang="zh-CN" altLang="zh-CN" dirty="0"/>
              <a:t>由于</a:t>
            </a:r>
            <a:r>
              <a:rPr lang="en-US" altLang="zh-CN" dirty="0"/>
              <a:t>BGP</a:t>
            </a:r>
            <a:r>
              <a:rPr lang="zh-CN" altLang="zh-CN" dirty="0"/>
              <a:t>协议使用</a:t>
            </a:r>
            <a:r>
              <a:rPr lang="en-US" altLang="zh-CN" dirty="0"/>
              <a:t>TCP</a:t>
            </a:r>
            <a:r>
              <a:rPr lang="zh-CN" altLang="zh-CN" dirty="0"/>
              <a:t>作为其传输协议，因此同样会面临很多因为使用</a:t>
            </a:r>
            <a:r>
              <a:rPr lang="en-US" altLang="zh-CN" dirty="0"/>
              <a:t>TCP</a:t>
            </a:r>
            <a:r>
              <a:rPr lang="zh-CN" altLang="zh-CN" dirty="0"/>
              <a:t>而导致的安全问题，如</a:t>
            </a:r>
            <a:r>
              <a:rPr lang="en-US" altLang="zh-CN" dirty="0"/>
              <a:t>SYN Flood</a:t>
            </a:r>
            <a:r>
              <a:rPr lang="zh-CN" altLang="zh-CN" dirty="0"/>
              <a:t>攻击、序列号预测等</a:t>
            </a:r>
            <a:endParaRPr lang="en-US" altLang="zh-CN" dirty="0"/>
          </a:p>
        </p:txBody>
      </p:sp>
      <p:sp>
        <p:nvSpPr>
          <p:cNvPr id="3" name="标题 2"/>
          <p:cNvSpPr>
            <a:spLocks noGrp="1"/>
          </p:cNvSpPr>
          <p:nvPr>
            <p:ph type="title"/>
          </p:nvPr>
        </p:nvSpPr>
        <p:spPr/>
        <p:txBody>
          <a:bodyPr/>
          <a:lstStyle/>
          <a:p>
            <a:r>
              <a:rPr lang="en-US" altLang="zh-CN" dirty="0"/>
              <a:t>BGP</a:t>
            </a:r>
            <a:r>
              <a:rPr lang="zh-CN" altLang="en-US" dirty="0"/>
              <a:t>安全</a:t>
            </a:r>
          </a:p>
        </p:txBody>
      </p:sp>
    </p:spTree>
    <p:extLst>
      <p:ext uri="{BB962C8B-B14F-4D97-AF65-F5344CB8AC3E}">
        <p14:creationId xmlns:p14="http://schemas.microsoft.com/office/powerpoint/2010/main" val="293918140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30213" y="1462723"/>
            <a:ext cx="8180387" cy="4221798"/>
          </a:xfrm>
        </p:spPr>
        <p:txBody>
          <a:bodyPr/>
          <a:lstStyle/>
          <a:p>
            <a:r>
              <a:rPr lang="en-US" altLang="zh-CN" dirty="0"/>
              <a:t>BGP</a:t>
            </a:r>
            <a:r>
              <a:rPr lang="zh-CN" altLang="zh-CN" dirty="0"/>
              <a:t>协议的路由更新机制也存在被攻击的威胁。</a:t>
            </a:r>
            <a:r>
              <a:rPr lang="en-US" altLang="zh-CN" dirty="0"/>
              <a:t>2011 </a:t>
            </a:r>
            <a:r>
              <a:rPr lang="zh-CN" altLang="zh-CN" dirty="0"/>
              <a:t>年美国明尼苏达大学</a:t>
            </a:r>
            <a:r>
              <a:rPr lang="en-US" altLang="zh-CN" dirty="0"/>
              <a:t> </a:t>
            </a:r>
            <a:r>
              <a:rPr lang="en-US" altLang="zh-CN" dirty="0" err="1"/>
              <a:t>M.Schuchard</a:t>
            </a:r>
            <a:r>
              <a:rPr lang="zh-CN" altLang="zh-CN" dirty="0"/>
              <a:t>等人在</a:t>
            </a:r>
            <a:r>
              <a:rPr lang="en-US" altLang="zh-CN" dirty="0"/>
              <a:t>NDSS2011</a:t>
            </a:r>
            <a:r>
              <a:rPr lang="zh-CN" altLang="zh-CN" dirty="0"/>
              <a:t>国际会议上提出了一种基于</a:t>
            </a:r>
            <a:r>
              <a:rPr lang="en-US" altLang="zh-CN" dirty="0"/>
              <a:t> BGP </a:t>
            </a:r>
            <a:r>
              <a:rPr lang="zh-CN" altLang="zh-CN" dirty="0"/>
              <a:t>协议漏洞的</a:t>
            </a:r>
            <a:r>
              <a:rPr lang="en-US" altLang="zh-CN" dirty="0"/>
              <a:t> CXPST</a:t>
            </a:r>
            <a:r>
              <a:rPr lang="zh-CN" altLang="zh-CN" dirty="0"/>
              <a:t>（</a:t>
            </a:r>
            <a:r>
              <a:rPr lang="en-US" altLang="zh-CN" dirty="0"/>
              <a:t>Coordinated Cross Plane Session </a:t>
            </a:r>
            <a:r>
              <a:rPr lang="en-US" altLang="zh-CN" dirty="0" smtClean="0"/>
              <a:t>Termination</a:t>
            </a:r>
            <a:r>
              <a:rPr lang="zh-CN" altLang="en-US" dirty="0" smtClean="0"/>
              <a:t>协调平面会话终止</a:t>
            </a:r>
            <a:r>
              <a:rPr lang="zh-CN" altLang="zh-CN" dirty="0" smtClean="0"/>
              <a:t>）</a:t>
            </a:r>
            <a:r>
              <a:rPr lang="zh-CN" altLang="zh-CN" dirty="0"/>
              <a:t>攻击方法，俗称“</a:t>
            </a:r>
            <a:r>
              <a:rPr lang="zh-CN" altLang="zh-CN" dirty="0">
                <a:solidFill>
                  <a:srgbClr val="FF0000"/>
                </a:solidFill>
              </a:rPr>
              <a:t>数字大炮</a:t>
            </a:r>
            <a:r>
              <a:rPr lang="zh-CN" altLang="zh-CN" dirty="0"/>
              <a:t>”</a:t>
            </a:r>
            <a:endParaRPr lang="en-US" altLang="zh-CN" dirty="0"/>
          </a:p>
        </p:txBody>
      </p:sp>
      <p:sp>
        <p:nvSpPr>
          <p:cNvPr id="3" name="标题 2"/>
          <p:cNvSpPr>
            <a:spLocks noGrp="1"/>
          </p:cNvSpPr>
          <p:nvPr>
            <p:ph type="title"/>
          </p:nvPr>
        </p:nvSpPr>
        <p:spPr/>
        <p:txBody>
          <a:bodyPr/>
          <a:lstStyle/>
          <a:p>
            <a:r>
              <a:rPr lang="en-US" altLang="zh-CN" dirty="0"/>
              <a:t>BGP</a:t>
            </a:r>
            <a:r>
              <a:rPr lang="zh-CN" altLang="en-US" dirty="0"/>
              <a:t>安全</a:t>
            </a:r>
          </a:p>
        </p:txBody>
      </p:sp>
    </p:spTree>
    <p:extLst>
      <p:ext uri="{BB962C8B-B14F-4D97-AF65-F5344CB8AC3E}">
        <p14:creationId xmlns:p14="http://schemas.microsoft.com/office/powerpoint/2010/main" val="237667728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30213" y="1462723"/>
            <a:ext cx="8180387" cy="4221798"/>
          </a:xfrm>
        </p:spPr>
        <p:txBody>
          <a:bodyPr/>
          <a:lstStyle/>
          <a:p>
            <a:r>
              <a:rPr lang="zh-CN" altLang="zh-CN" dirty="0">
                <a:solidFill>
                  <a:srgbClr val="FF0000"/>
                </a:solidFill>
              </a:rPr>
              <a:t>数字大炮</a:t>
            </a:r>
            <a:endParaRPr lang="en-US" altLang="zh-CN" dirty="0"/>
          </a:p>
        </p:txBody>
      </p:sp>
      <p:sp>
        <p:nvSpPr>
          <p:cNvPr id="3" name="标题 2"/>
          <p:cNvSpPr>
            <a:spLocks noGrp="1"/>
          </p:cNvSpPr>
          <p:nvPr>
            <p:ph type="title"/>
          </p:nvPr>
        </p:nvSpPr>
        <p:spPr/>
        <p:txBody>
          <a:bodyPr/>
          <a:lstStyle/>
          <a:p>
            <a:r>
              <a:rPr lang="en-US" altLang="zh-CN" dirty="0"/>
              <a:t>BGP</a:t>
            </a:r>
            <a:r>
              <a:rPr lang="zh-CN" altLang="en-US" dirty="0"/>
              <a:t>安全</a:t>
            </a:r>
          </a:p>
        </p:txBody>
      </p:sp>
      <p:grpSp>
        <p:nvGrpSpPr>
          <p:cNvPr id="4" name="组合 3"/>
          <p:cNvGrpSpPr/>
          <p:nvPr/>
        </p:nvGrpSpPr>
        <p:grpSpPr>
          <a:xfrm>
            <a:off x="1150938" y="2398373"/>
            <a:ext cx="5929354" cy="3286148"/>
            <a:chOff x="1285852" y="214290"/>
            <a:chExt cx="5929354" cy="3286148"/>
          </a:xfrm>
        </p:grpSpPr>
        <p:sp>
          <p:nvSpPr>
            <p:cNvPr id="5" name="椭圆 4"/>
            <p:cNvSpPr/>
            <p:nvPr/>
          </p:nvSpPr>
          <p:spPr>
            <a:xfrm>
              <a:off x="1714480" y="1214422"/>
              <a:ext cx="285752" cy="214314"/>
            </a:xfrm>
            <a:prstGeom prst="ellipse">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6" name="椭圆 5"/>
            <p:cNvSpPr/>
            <p:nvPr/>
          </p:nvSpPr>
          <p:spPr>
            <a:xfrm>
              <a:off x="2428860" y="928670"/>
              <a:ext cx="285752" cy="214314"/>
            </a:xfrm>
            <a:prstGeom prst="ellipse">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 name="椭圆 6"/>
            <p:cNvSpPr/>
            <p:nvPr/>
          </p:nvSpPr>
          <p:spPr>
            <a:xfrm>
              <a:off x="3286116" y="571480"/>
              <a:ext cx="285752" cy="214314"/>
            </a:xfrm>
            <a:prstGeom prst="ellipse">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8" name="椭圆 7"/>
            <p:cNvSpPr/>
            <p:nvPr/>
          </p:nvSpPr>
          <p:spPr>
            <a:xfrm>
              <a:off x="4500562" y="500042"/>
              <a:ext cx="285752" cy="214314"/>
            </a:xfrm>
            <a:prstGeom prst="ellipse">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9" name="椭圆 8"/>
            <p:cNvSpPr/>
            <p:nvPr/>
          </p:nvSpPr>
          <p:spPr>
            <a:xfrm>
              <a:off x="5786446" y="714356"/>
              <a:ext cx="285752" cy="214314"/>
            </a:xfrm>
            <a:prstGeom prst="ellipse">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10" name="椭圆 9"/>
            <p:cNvSpPr/>
            <p:nvPr/>
          </p:nvSpPr>
          <p:spPr>
            <a:xfrm>
              <a:off x="6357950" y="1428736"/>
              <a:ext cx="285752" cy="214314"/>
            </a:xfrm>
            <a:prstGeom prst="ellipse">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11" name="椭圆 10"/>
            <p:cNvSpPr/>
            <p:nvPr/>
          </p:nvSpPr>
          <p:spPr>
            <a:xfrm>
              <a:off x="2214546" y="1857364"/>
              <a:ext cx="285752" cy="214314"/>
            </a:xfrm>
            <a:prstGeom prst="ellipse">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12" name="椭圆 11"/>
            <p:cNvSpPr/>
            <p:nvPr/>
          </p:nvSpPr>
          <p:spPr>
            <a:xfrm>
              <a:off x="3143240" y="2071678"/>
              <a:ext cx="285752" cy="214314"/>
            </a:xfrm>
            <a:prstGeom prst="ellipse">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13" name="椭圆 12"/>
            <p:cNvSpPr/>
            <p:nvPr/>
          </p:nvSpPr>
          <p:spPr>
            <a:xfrm>
              <a:off x="3857620" y="1214422"/>
              <a:ext cx="285752" cy="214314"/>
            </a:xfrm>
            <a:prstGeom prst="ellipse">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14" name="椭圆 13"/>
            <p:cNvSpPr/>
            <p:nvPr/>
          </p:nvSpPr>
          <p:spPr>
            <a:xfrm>
              <a:off x="5286380" y="1285860"/>
              <a:ext cx="285752" cy="214314"/>
            </a:xfrm>
            <a:prstGeom prst="ellipse">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15" name="椭圆 14"/>
            <p:cNvSpPr/>
            <p:nvPr/>
          </p:nvSpPr>
          <p:spPr>
            <a:xfrm>
              <a:off x="4572000" y="2071678"/>
              <a:ext cx="285752" cy="214314"/>
            </a:xfrm>
            <a:prstGeom prst="ellipse">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16" name="椭圆 15"/>
            <p:cNvSpPr/>
            <p:nvPr/>
          </p:nvSpPr>
          <p:spPr>
            <a:xfrm>
              <a:off x="3857620" y="2643182"/>
              <a:ext cx="285752" cy="214314"/>
            </a:xfrm>
            <a:prstGeom prst="ellipse">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17" name="TextBox 194"/>
            <p:cNvSpPr txBox="1"/>
            <p:nvPr/>
          </p:nvSpPr>
          <p:spPr>
            <a:xfrm>
              <a:off x="1688307" y="857232"/>
              <a:ext cx="351378" cy="369332"/>
            </a:xfrm>
            <a:prstGeom prst="rect">
              <a:avLst/>
            </a:prstGeom>
            <a:noFill/>
          </p:spPr>
          <p:txBody>
            <a:bodyPr wrap="none" rtlCol="0">
              <a:spAutoFit/>
            </a:bodyPr>
            <a:lstStyle/>
            <a:p>
              <a:r>
                <a:rPr lang="en-US" altLang="zh-CN" b="1" dirty="0">
                  <a:latin typeface="Times New Roman" pitchFamily="18" charset="0"/>
                  <a:cs typeface="Times New Roman" pitchFamily="18" charset="0"/>
                </a:rPr>
                <a:t>A</a:t>
              </a:r>
              <a:endParaRPr lang="zh-CN" altLang="en-US" b="1" dirty="0">
                <a:latin typeface="Times New Roman" pitchFamily="18" charset="0"/>
                <a:cs typeface="Times New Roman" pitchFamily="18" charset="0"/>
              </a:endParaRPr>
            </a:p>
          </p:txBody>
        </p:sp>
        <p:sp>
          <p:nvSpPr>
            <p:cNvPr id="18" name="TextBox 195"/>
            <p:cNvSpPr txBox="1"/>
            <p:nvPr/>
          </p:nvSpPr>
          <p:spPr>
            <a:xfrm>
              <a:off x="6643702" y="1357298"/>
              <a:ext cx="338554" cy="369332"/>
            </a:xfrm>
            <a:prstGeom prst="rect">
              <a:avLst/>
            </a:prstGeom>
            <a:noFill/>
          </p:spPr>
          <p:txBody>
            <a:bodyPr wrap="none" rtlCol="0">
              <a:spAutoFit/>
            </a:bodyPr>
            <a:lstStyle/>
            <a:p>
              <a:r>
                <a:rPr lang="en-US" altLang="zh-CN" b="1" dirty="0">
                  <a:latin typeface="Times New Roman" pitchFamily="18" charset="0"/>
                  <a:cs typeface="Times New Roman" pitchFamily="18" charset="0"/>
                </a:rPr>
                <a:t>B</a:t>
              </a:r>
              <a:endParaRPr lang="zh-CN" altLang="en-US" b="1" dirty="0">
                <a:latin typeface="Times New Roman" pitchFamily="18" charset="0"/>
                <a:cs typeface="Times New Roman" pitchFamily="18" charset="0"/>
              </a:endParaRPr>
            </a:p>
          </p:txBody>
        </p:sp>
        <p:sp>
          <p:nvSpPr>
            <p:cNvPr id="19" name="TextBox 196"/>
            <p:cNvSpPr txBox="1"/>
            <p:nvPr/>
          </p:nvSpPr>
          <p:spPr>
            <a:xfrm>
              <a:off x="3500430" y="2500306"/>
              <a:ext cx="428322" cy="369332"/>
            </a:xfrm>
            <a:prstGeom prst="rect">
              <a:avLst/>
            </a:prstGeom>
            <a:noFill/>
          </p:spPr>
          <p:txBody>
            <a:bodyPr wrap="none" rtlCol="0">
              <a:spAutoFit/>
            </a:bodyPr>
            <a:lstStyle/>
            <a:p>
              <a:r>
                <a:rPr lang="en-US" altLang="zh-CN" b="1" dirty="0">
                  <a:latin typeface="Times New Roman" pitchFamily="18" charset="0"/>
                  <a:cs typeface="Times New Roman" pitchFamily="18" charset="0"/>
                </a:rPr>
                <a:t>R</a:t>
              </a:r>
              <a:r>
                <a:rPr lang="en-US" altLang="zh-CN" b="1" baseline="-25000" dirty="0">
                  <a:latin typeface="Times New Roman" pitchFamily="18" charset="0"/>
                  <a:cs typeface="Times New Roman" pitchFamily="18" charset="0"/>
                </a:rPr>
                <a:t>1</a:t>
              </a:r>
              <a:endParaRPr lang="zh-CN" altLang="en-US" b="1" baseline="-25000" dirty="0">
                <a:latin typeface="Times New Roman" pitchFamily="18" charset="0"/>
                <a:cs typeface="Times New Roman" pitchFamily="18" charset="0"/>
              </a:endParaRPr>
            </a:p>
          </p:txBody>
        </p:sp>
        <p:sp>
          <p:nvSpPr>
            <p:cNvPr id="20" name="TextBox 197"/>
            <p:cNvSpPr txBox="1"/>
            <p:nvPr/>
          </p:nvSpPr>
          <p:spPr>
            <a:xfrm>
              <a:off x="4929190" y="1857364"/>
              <a:ext cx="428322" cy="369332"/>
            </a:xfrm>
            <a:prstGeom prst="rect">
              <a:avLst/>
            </a:prstGeom>
            <a:noFill/>
          </p:spPr>
          <p:txBody>
            <a:bodyPr wrap="none" rtlCol="0">
              <a:spAutoFit/>
            </a:bodyPr>
            <a:lstStyle/>
            <a:p>
              <a:r>
                <a:rPr lang="en-US" altLang="zh-CN" b="1" dirty="0">
                  <a:latin typeface="Times New Roman" pitchFamily="18" charset="0"/>
                  <a:cs typeface="Times New Roman" pitchFamily="18" charset="0"/>
                </a:rPr>
                <a:t>R</a:t>
              </a:r>
              <a:r>
                <a:rPr lang="en-US" altLang="zh-CN" b="1" baseline="-25000" dirty="0">
                  <a:latin typeface="Times New Roman" pitchFamily="18" charset="0"/>
                  <a:cs typeface="Times New Roman" pitchFamily="18" charset="0"/>
                </a:rPr>
                <a:t>2</a:t>
              </a:r>
              <a:endParaRPr lang="zh-CN" altLang="en-US" b="1" baseline="-25000" dirty="0">
                <a:latin typeface="Times New Roman" pitchFamily="18" charset="0"/>
                <a:cs typeface="Times New Roman" pitchFamily="18" charset="0"/>
              </a:endParaRPr>
            </a:p>
          </p:txBody>
        </p:sp>
        <p:cxnSp>
          <p:nvCxnSpPr>
            <p:cNvPr id="21" name="直接连接符 20"/>
            <p:cNvCxnSpPr>
              <a:stCxn id="5" idx="6"/>
              <a:endCxn id="6" idx="3"/>
            </p:cNvCxnSpPr>
            <p:nvPr/>
          </p:nvCxnSpPr>
          <p:spPr>
            <a:xfrm flipV="1">
              <a:off x="2000232" y="1111598"/>
              <a:ext cx="470475" cy="20998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a:stCxn id="6" idx="6"/>
              <a:endCxn id="7" idx="2"/>
            </p:cNvCxnSpPr>
            <p:nvPr/>
          </p:nvCxnSpPr>
          <p:spPr>
            <a:xfrm flipV="1">
              <a:off x="2714612" y="678637"/>
              <a:ext cx="571504" cy="35719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a:stCxn id="7" idx="6"/>
              <a:endCxn id="8" idx="2"/>
            </p:cNvCxnSpPr>
            <p:nvPr/>
          </p:nvCxnSpPr>
          <p:spPr>
            <a:xfrm flipV="1">
              <a:off x="3571868" y="607199"/>
              <a:ext cx="928694" cy="714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a:stCxn id="8" idx="6"/>
              <a:endCxn id="9" idx="2"/>
            </p:cNvCxnSpPr>
            <p:nvPr/>
          </p:nvCxnSpPr>
          <p:spPr>
            <a:xfrm>
              <a:off x="4786314" y="607199"/>
              <a:ext cx="1000132" cy="2143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9" idx="6"/>
              <a:endCxn id="10" idx="1"/>
            </p:cNvCxnSpPr>
            <p:nvPr/>
          </p:nvCxnSpPr>
          <p:spPr>
            <a:xfrm>
              <a:off x="6072198" y="821513"/>
              <a:ext cx="327599" cy="6386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a:stCxn id="13" idx="6"/>
              <a:endCxn id="14" idx="2"/>
            </p:cNvCxnSpPr>
            <p:nvPr/>
          </p:nvCxnSpPr>
          <p:spPr>
            <a:xfrm>
              <a:off x="4143372" y="1321579"/>
              <a:ext cx="1143008" cy="7143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a:stCxn id="13" idx="3"/>
              <a:endCxn id="12" idx="7"/>
            </p:cNvCxnSpPr>
            <p:nvPr/>
          </p:nvCxnSpPr>
          <p:spPr>
            <a:xfrm rot="5400000">
              <a:off x="3290449" y="1494046"/>
              <a:ext cx="705714" cy="51232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a:stCxn id="13" idx="5"/>
              <a:endCxn id="15" idx="1"/>
            </p:cNvCxnSpPr>
            <p:nvPr/>
          </p:nvCxnSpPr>
          <p:spPr>
            <a:xfrm rot="16200000" flipH="1">
              <a:off x="4004829" y="1494046"/>
              <a:ext cx="705714" cy="51232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a:stCxn id="14" idx="6"/>
              <a:endCxn id="10" idx="2"/>
            </p:cNvCxnSpPr>
            <p:nvPr/>
          </p:nvCxnSpPr>
          <p:spPr>
            <a:xfrm>
              <a:off x="5572132" y="1393017"/>
              <a:ext cx="785818" cy="142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a:stCxn id="14" idx="1"/>
              <a:endCxn id="8" idx="4"/>
            </p:cNvCxnSpPr>
            <p:nvPr/>
          </p:nvCxnSpPr>
          <p:spPr>
            <a:xfrm rot="16200000" flipV="1">
              <a:off x="4684388" y="673406"/>
              <a:ext cx="602890" cy="6847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a:stCxn id="7" idx="5"/>
              <a:endCxn id="13" idx="1"/>
            </p:cNvCxnSpPr>
            <p:nvPr/>
          </p:nvCxnSpPr>
          <p:spPr>
            <a:xfrm rot="16200000" flipH="1">
              <a:off x="3469044" y="815385"/>
              <a:ext cx="491400" cy="3694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a:stCxn id="8" idx="5"/>
              <a:endCxn id="10" idx="1"/>
            </p:cNvCxnSpPr>
            <p:nvPr/>
          </p:nvCxnSpPr>
          <p:spPr>
            <a:xfrm rot="16200000" flipH="1">
              <a:off x="5183556" y="243881"/>
              <a:ext cx="777152" cy="16553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a:stCxn id="8" idx="7"/>
            </p:cNvCxnSpPr>
            <p:nvPr/>
          </p:nvCxnSpPr>
          <p:spPr>
            <a:xfrm rot="5400000" flipH="1" flipV="1">
              <a:off x="4749697" y="280498"/>
              <a:ext cx="245700" cy="256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a:stCxn id="8" idx="1"/>
            </p:cNvCxnSpPr>
            <p:nvPr/>
          </p:nvCxnSpPr>
          <p:spPr>
            <a:xfrm rot="16200000" flipV="1">
              <a:off x="4255760" y="244778"/>
              <a:ext cx="245700" cy="32759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a:stCxn id="7" idx="0"/>
            </p:cNvCxnSpPr>
            <p:nvPr/>
          </p:nvCxnSpPr>
          <p:spPr>
            <a:xfrm rot="5400000" flipH="1" flipV="1">
              <a:off x="3321835" y="321447"/>
              <a:ext cx="357190" cy="142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a:stCxn id="6" idx="0"/>
            </p:cNvCxnSpPr>
            <p:nvPr/>
          </p:nvCxnSpPr>
          <p:spPr>
            <a:xfrm rot="16200000" flipV="1">
              <a:off x="2285984" y="642918"/>
              <a:ext cx="357190" cy="2143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a:stCxn id="5" idx="2"/>
            </p:cNvCxnSpPr>
            <p:nvPr/>
          </p:nvCxnSpPr>
          <p:spPr>
            <a:xfrm rot="10800000">
              <a:off x="1285852" y="1214423"/>
              <a:ext cx="428628" cy="10715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a:stCxn id="5" idx="4"/>
            </p:cNvCxnSpPr>
            <p:nvPr/>
          </p:nvCxnSpPr>
          <p:spPr>
            <a:xfrm rot="5400000">
              <a:off x="1535885" y="1321579"/>
              <a:ext cx="214314" cy="4286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a:stCxn id="5" idx="5"/>
              <a:endCxn id="11" idx="1"/>
            </p:cNvCxnSpPr>
            <p:nvPr/>
          </p:nvCxnSpPr>
          <p:spPr>
            <a:xfrm rot="16200000" flipH="1">
              <a:off x="1861689" y="1494046"/>
              <a:ext cx="491400" cy="2980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a:stCxn id="11" idx="6"/>
              <a:endCxn id="12" idx="2"/>
            </p:cNvCxnSpPr>
            <p:nvPr/>
          </p:nvCxnSpPr>
          <p:spPr>
            <a:xfrm>
              <a:off x="2500298" y="1964521"/>
              <a:ext cx="642942" cy="2143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a:stCxn id="6" idx="5"/>
              <a:endCxn id="12" idx="0"/>
            </p:cNvCxnSpPr>
            <p:nvPr/>
          </p:nvCxnSpPr>
          <p:spPr>
            <a:xfrm rot="16200000" flipH="1">
              <a:off x="2499400" y="1284962"/>
              <a:ext cx="960080" cy="6133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a:stCxn id="12" idx="5"/>
              <a:endCxn id="16" idx="0"/>
            </p:cNvCxnSpPr>
            <p:nvPr/>
          </p:nvCxnSpPr>
          <p:spPr>
            <a:xfrm rot="16200000" flipH="1">
              <a:off x="3499532" y="2142218"/>
              <a:ext cx="388576" cy="6133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a:stCxn id="12" idx="6"/>
              <a:endCxn id="15" idx="2"/>
            </p:cNvCxnSpPr>
            <p:nvPr/>
          </p:nvCxnSpPr>
          <p:spPr>
            <a:xfrm>
              <a:off x="3428992" y="2178835"/>
              <a:ext cx="1143008"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椭圆 43"/>
            <p:cNvSpPr/>
            <p:nvPr/>
          </p:nvSpPr>
          <p:spPr>
            <a:xfrm>
              <a:off x="5715008" y="2071678"/>
              <a:ext cx="285752" cy="214314"/>
            </a:xfrm>
            <a:prstGeom prst="ellipse">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45" name="椭圆 44"/>
            <p:cNvSpPr/>
            <p:nvPr/>
          </p:nvSpPr>
          <p:spPr>
            <a:xfrm>
              <a:off x="6357950" y="2214554"/>
              <a:ext cx="285752" cy="214314"/>
            </a:xfrm>
            <a:prstGeom prst="ellipse">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46" name="椭圆 45"/>
            <p:cNvSpPr/>
            <p:nvPr/>
          </p:nvSpPr>
          <p:spPr>
            <a:xfrm>
              <a:off x="6143636" y="2786058"/>
              <a:ext cx="285752" cy="214314"/>
            </a:xfrm>
            <a:prstGeom prst="ellipse">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47" name="椭圆 46"/>
            <p:cNvSpPr/>
            <p:nvPr/>
          </p:nvSpPr>
          <p:spPr>
            <a:xfrm>
              <a:off x="5214942" y="2714620"/>
              <a:ext cx="285752" cy="214314"/>
            </a:xfrm>
            <a:prstGeom prst="ellipse">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cxnSp>
          <p:nvCxnSpPr>
            <p:cNvPr id="48" name="直接连接符 47"/>
            <p:cNvCxnSpPr>
              <a:stCxn id="10" idx="4"/>
              <a:endCxn id="45" idx="0"/>
            </p:cNvCxnSpPr>
            <p:nvPr/>
          </p:nvCxnSpPr>
          <p:spPr>
            <a:xfrm rot="5400000">
              <a:off x="6215074" y="1928802"/>
              <a:ext cx="571504"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a:stCxn id="44" idx="6"/>
              <a:endCxn id="45" idx="2"/>
            </p:cNvCxnSpPr>
            <p:nvPr/>
          </p:nvCxnSpPr>
          <p:spPr>
            <a:xfrm>
              <a:off x="6000760" y="2178835"/>
              <a:ext cx="357190" cy="142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a:stCxn id="44" idx="3"/>
              <a:endCxn id="47" idx="0"/>
            </p:cNvCxnSpPr>
            <p:nvPr/>
          </p:nvCxnSpPr>
          <p:spPr>
            <a:xfrm rot="5400000">
              <a:off x="5327330" y="2285095"/>
              <a:ext cx="460014" cy="3990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a:stCxn id="47" idx="0"/>
              <a:endCxn id="15" idx="5"/>
            </p:cNvCxnSpPr>
            <p:nvPr/>
          </p:nvCxnSpPr>
          <p:spPr>
            <a:xfrm rot="16200000" flipV="1">
              <a:off x="4856855" y="2213656"/>
              <a:ext cx="460014" cy="54191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a:stCxn id="45" idx="4"/>
              <a:endCxn id="46" idx="7"/>
            </p:cNvCxnSpPr>
            <p:nvPr/>
          </p:nvCxnSpPr>
          <p:spPr>
            <a:xfrm rot="5400000">
              <a:off x="6249896" y="2566514"/>
              <a:ext cx="388576" cy="11328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a:stCxn id="45" idx="6"/>
            </p:cNvCxnSpPr>
            <p:nvPr/>
          </p:nvCxnSpPr>
          <p:spPr>
            <a:xfrm>
              <a:off x="6643702" y="2321711"/>
              <a:ext cx="571504" cy="17859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椭圆 53"/>
            <p:cNvSpPr/>
            <p:nvPr/>
          </p:nvSpPr>
          <p:spPr>
            <a:xfrm>
              <a:off x="5214942" y="3286124"/>
              <a:ext cx="285752" cy="214314"/>
            </a:xfrm>
            <a:prstGeom prst="ellipse">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cxnSp>
          <p:nvCxnSpPr>
            <p:cNvPr id="55" name="直接连接符 54"/>
            <p:cNvCxnSpPr>
              <a:stCxn id="46" idx="4"/>
              <a:endCxn id="54" idx="7"/>
            </p:cNvCxnSpPr>
            <p:nvPr/>
          </p:nvCxnSpPr>
          <p:spPr>
            <a:xfrm rot="5400000">
              <a:off x="5714111" y="2745109"/>
              <a:ext cx="317138" cy="82766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a:stCxn id="54" idx="1"/>
              <a:endCxn id="16" idx="5"/>
            </p:cNvCxnSpPr>
            <p:nvPr/>
          </p:nvCxnSpPr>
          <p:spPr>
            <a:xfrm rot="16200000" flipV="1">
              <a:off x="4433457" y="2494178"/>
              <a:ext cx="491400" cy="115526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7" name="椭圆 56"/>
            <p:cNvSpPr/>
            <p:nvPr/>
          </p:nvSpPr>
          <p:spPr>
            <a:xfrm>
              <a:off x="2857488" y="3000372"/>
              <a:ext cx="285752" cy="214314"/>
            </a:xfrm>
            <a:prstGeom prst="ellipse">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cxnSp>
          <p:nvCxnSpPr>
            <p:cNvPr id="58" name="直接连接符 57"/>
            <p:cNvCxnSpPr>
              <a:endCxn id="57" idx="6"/>
            </p:cNvCxnSpPr>
            <p:nvPr/>
          </p:nvCxnSpPr>
          <p:spPr>
            <a:xfrm rot="10800000" flipV="1">
              <a:off x="3143240" y="2786057"/>
              <a:ext cx="785818" cy="3214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椭圆 58"/>
            <p:cNvSpPr/>
            <p:nvPr/>
          </p:nvSpPr>
          <p:spPr>
            <a:xfrm>
              <a:off x="2285984" y="2571744"/>
              <a:ext cx="285752" cy="214314"/>
            </a:xfrm>
            <a:prstGeom prst="ellipse">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cxnSp>
          <p:nvCxnSpPr>
            <p:cNvPr id="60" name="直接连接符 59"/>
            <p:cNvCxnSpPr>
              <a:stCxn id="57" idx="1"/>
              <a:endCxn id="59" idx="5"/>
            </p:cNvCxnSpPr>
            <p:nvPr/>
          </p:nvCxnSpPr>
          <p:spPr>
            <a:xfrm rot="16200000" flipV="1">
              <a:off x="2576069" y="2708492"/>
              <a:ext cx="277086" cy="3694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a:stCxn id="12" idx="3"/>
              <a:endCxn id="59" idx="6"/>
            </p:cNvCxnSpPr>
            <p:nvPr/>
          </p:nvCxnSpPr>
          <p:spPr>
            <a:xfrm rot="5400000">
              <a:off x="2666265" y="2160078"/>
              <a:ext cx="424295" cy="6133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a:stCxn id="59" idx="1"/>
              <a:endCxn id="5" idx="4"/>
            </p:cNvCxnSpPr>
            <p:nvPr/>
          </p:nvCxnSpPr>
          <p:spPr>
            <a:xfrm rot="16200000" flipV="1">
              <a:off x="1505397" y="1780695"/>
              <a:ext cx="1174394" cy="4704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a:stCxn id="59" idx="3"/>
            </p:cNvCxnSpPr>
            <p:nvPr/>
          </p:nvCxnSpPr>
          <p:spPr>
            <a:xfrm rot="5400000">
              <a:off x="1969744" y="2713723"/>
              <a:ext cx="317138" cy="3990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a:stCxn id="57" idx="3"/>
            </p:cNvCxnSpPr>
            <p:nvPr/>
          </p:nvCxnSpPr>
          <p:spPr>
            <a:xfrm rot="5400000">
              <a:off x="2684124" y="3142351"/>
              <a:ext cx="174262" cy="256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a:stCxn id="16" idx="4"/>
            </p:cNvCxnSpPr>
            <p:nvPr/>
          </p:nvCxnSpPr>
          <p:spPr>
            <a:xfrm rot="16200000" flipH="1">
              <a:off x="3857620" y="3000372"/>
              <a:ext cx="357190" cy="714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6" name="TextBox 290"/>
            <p:cNvSpPr txBox="1"/>
            <p:nvPr/>
          </p:nvSpPr>
          <p:spPr>
            <a:xfrm rot="230444">
              <a:off x="4138101" y="1000108"/>
              <a:ext cx="1005403" cy="338554"/>
            </a:xfrm>
            <a:prstGeom prst="rect">
              <a:avLst/>
            </a:prstGeom>
            <a:noFill/>
          </p:spPr>
          <p:txBody>
            <a:bodyPr wrap="none" rtlCol="0">
              <a:spAutoFit/>
            </a:bodyPr>
            <a:lstStyle/>
            <a:p>
              <a:r>
                <a:rPr lang="zh-CN" altLang="en-US" sz="1600" b="1" dirty="0">
                  <a:latin typeface="Times New Roman" pitchFamily="18" charset="0"/>
                  <a:cs typeface="Times New Roman" pitchFamily="18" charset="0"/>
                </a:rPr>
                <a:t>关键路径</a:t>
              </a:r>
            </a:p>
          </p:txBody>
        </p:sp>
        <p:sp>
          <p:nvSpPr>
            <p:cNvPr id="67" name="TextBox 300"/>
            <p:cNvSpPr txBox="1"/>
            <p:nvPr/>
          </p:nvSpPr>
          <p:spPr>
            <a:xfrm rot="18513255">
              <a:off x="3000364" y="1475214"/>
              <a:ext cx="1005403" cy="338554"/>
            </a:xfrm>
            <a:prstGeom prst="rect">
              <a:avLst/>
            </a:prstGeom>
            <a:noFill/>
          </p:spPr>
          <p:txBody>
            <a:bodyPr wrap="none" rtlCol="0">
              <a:spAutoFit/>
            </a:bodyPr>
            <a:lstStyle/>
            <a:p>
              <a:r>
                <a:rPr lang="zh-CN" altLang="en-US" sz="1600" b="1" dirty="0">
                  <a:latin typeface="Times New Roman" pitchFamily="18" charset="0"/>
                  <a:cs typeface="Times New Roman" pitchFamily="18" charset="0"/>
                </a:rPr>
                <a:t>关键路径</a:t>
              </a:r>
            </a:p>
          </p:txBody>
        </p:sp>
        <p:sp>
          <p:nvSpPr>
            <p:cNvPr id="68" name="TextBox 301"/>
            <p:cNvSpPr txBox="1"/>
            <p:nvPr/>
          </p:nvSpPr>
          <p:spPr>
            <a:xfrm>
              <a:off x="4071934" y="2285992"/>
              <a:ext cx="1019831" cy="338554"/>
            </a:xfrm>
            <a:prstGeom prst="rect">
              <a:avLst/>
            </a:prstGeom>
            <a:noFill/>
          </p:spPr>
          <p:txBody>
            <a:bodyPr wrap="none" rtlCol="0">
              <a:spAutoFit/>
            </a:bodyPr>
            <a:lstStyle/>
            <a:p>
              <a:r>
                <a:rPr lang="en-US" altLang="zh-CN" sz="1600" b="1" dirty="0">
                  <a:latin typeface="Times New Roman" pitchFamily="18" charset="0"/>
                  <a:cs typeface="Times New Roman" pitchFamily="18" charset="0"/>
                </a:rPr>
                <a:t>BGP</a:t>
              </a:r>
              <a:r>
                <a:rPr lang="zh-CN" altLang="en-US" sz="1600" b="1" dirty="0">
                  <a:latin typeface="Times New Roman" pitchFamily="18" charset="0"/>
                  <a:cs typeface="Times New Roman" pitchFamily="18" charset="0"/>
                </a:rPr>
                <a:t>协议</a:t>
              </a:r>
            </a:p>
          </p:txBody>
        </p:sp>
        <p:cxnSp>
          <p:nvCxnSpPr>
            <p:cNvPr id="69" name="直接连接符 68"/>
            <p:cNvCxnSpPr/>
            <p:nvPr/>
          </p:nvCxnSpPr>
          <p:spPr>
            <a:xfrm>
              <a:off x="2143108" y="3143248"/>
              <a:ext cx="357190" cy="1588"/>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3786182" y="357166"/>
              <a:ext cx="357190" cy="1588"/>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6572264" y="2928934"/>
              <a:ext cx="357190" cy="1588"/>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72" name="直接连接符 71"/>
            <p:cNvCxnSpPr>
              <a:stCxn id="10" idx="7"/>
            </p:cNvCxnSpPr>
            <p:nvPr/>
          </p:nvCxnSpPr>
          <p:spPr>
            <a:xfrm rot="5400000" flipH="1" flipV="1">
              <a:off x="6607085" y="1209192"/>
              <a:ext cx="245700" cy="256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a:stCxn id="10" idx="5"/>
            </p:cNvCxnSpPr>
            <p:nvPr/>
          </p:nvCxnSpPr>
          <p:spPr>
            <a:xfrm rot="16200000" flipH="1">
              <a:off x="6678523" y="1534995"/>
              <a:ext cx="245700" cy="3990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515444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36588" y="1310323"/>
            <a:ext cx="7772400" cy="4114800"/>
          </a:xfrm>
        </p:spPr>
        <p:txBody>
          <a:bodyPr/>
          <a:lstStyle/>
          <a:p>
            <a:r>
              <a:rPr lang="en-US" altLang="zh-CN" dirty="0"/>
              <a:t>BGP</a:t>
            </a:r>
            <a:r>
              <a:rPr lang="zh-CN" altLang="en-US" dirty="0"/>
              <a:t>劫持</a:t>
            </a:r>
          </a:p>
        </p:txBody>
      </p:sp>
      <p:sp>
        <p:nvSpPr>
          <p:cNvPr id="3" name="标题 2"/>
          <p:cNvSpPr>
            <a:spLocks noGrp="1"/>
          </p:cNvSpPr>
          <p:nvPr>
            <p:ph type="title"/>
          </p:nvPr>
        </p:nvSpPr>
        <p:spPr/>
        <p:txBody>
          <a:bodyPr/>
          <a:lstStyle/>
          <a:p>
            <a:r>
              <a:rPr lang="en-US" altLang="zh-CN" dirty="0"/>
              <a:t>BGP</a:t>
            </a:r>
            <a:r>
              <a:rPr lang="zh-CN" altLang="en-US" dirty="0"/>
              <a:t>安全</a:t>
            </a:r>
          </a:p>
        </p:txBody>
      </p:sp>
      <p:pic>
        <p:nvPicPr>
          <p:cNvPr id="4" name="图片 3"/>
          <p:cNvPicPr>
            <a:picLocks noChangeAspect="1"/>
          </p:cNvPicPr>
          <p:nvPr/>
        </p:nvPicPr>
        <p:blipFill>
          <a:blip r:embed="rId2"/>
          <a:stretch>
            <a:fillRect/>
          </a:stretch>
        </p:blipFill>
        <p:spPr>
          <a:xfrm>
            <a:off x="968217" y="1946592"/>
            <a:ext cx="7109142" cy="4057967"/>
          </a:xfrm>
          <a:prstGeom prst="rect">
            <a:avLst/>
          </a:prstGeom>
          <a:ln>
            <a:solidFill>
              <a:srgbClr val="FF0000"/>
            </a:solidFill>
          </a:ln>
        </p:spPr>
      </p:pic>
      <p:sp>
        <p:nvSpPr>
          <p:cNvPr id="5" name="矩形 4"/>
          <p:cNvSpPr/>
          <p:nvPr/>
        </p:nvSpPr>
        <p:spPr>
          <a:xfrm>
            <a:off x="1737360" y="6004559"/>
            <a:ext cx="5303520" cy="461665"/>
          </a:xfrm>
          <a:prstGeom prst="rect">
            <a:avLst/>
          </a:prstGeom>
        </p:spPr>
        <p:txBody>
          <a:bodyPr wrap="square">
            <a:spAutoFit/>
          </a:bodyPr>
          <a:lstStyle/>
          <a:p>
            <a:r>
              <a:rPr lang="en-US" altLang="zh-CN" sz="2400" b="0" dirty="0">
                <a:latin typeface="Times New Roman" panose="02020603050405020304" pitchFamily="18" charset="0"/>
                <a:cs typeface="Times New Roman" panose="02020603050405020304" pitchFamily="18" charset="0"/>
              </a:rPr>
              <a:t>https://www.secrss.com/articles/5042</a:t>
            </a:r>
            <a:endParaRPr lang="zh-CN" altLang="en-US" sz="2400" b="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7693211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89293" y="1299845"/>
            <a:ext cx="7772400" cy="4114800"/>
          </a:xfrm>
        </p:spPr>
        <p:txBody>
          <a:bodyPr/>
          <a:lstStyle/>
          <a:p>
            <a:endParaRPr lang="zh-CN" altLang="en-US" dirty="0"/>
          </a:p>
        </p:txBody>
      </p:sp>
      <p:sp>
        <p:nvSpPr>
          <p:cNvPr id="3" name="标题 2"/>
          <p:cNvSpPr>
            <a:spLocks noGrp="1"/>
          </p:cNvSpPr>
          <p:nvPr>
            <p:ph type="title"/>
          </p:nvPr>
        </p:nvSpPr>
        <p:spPr/>
        <p:txBody>
          <a:bodyPr/>
          <a:lstStyle/>
          <a:p>
            <a:r>
              <a:rPr lang="en-US" altLang="zh-CN" dirty="0"/>
              <a:t>BGP</a:t>
            </a:r>
            <a:r>
              <a:rPr lang="zh-CN" altLang="en-US" dirty="0"/>
              <a:t>安全</a:t>
            </a:r>
          </a:p>
        </p:txBody>
      </p:sp>
      <p:pic>
        <p:nvPicPr>
          <p:cNvPr id="4" name="图片 3"/>
          <p:cNvPicPr>
            <a:picLocks noChangeAspect="1"/>
          </p:cNvPicPr>
          <p:nvPr/>
        </p:nvPicPr>
        <p:blipFill>
          <a:blip r:embed="rId2"/>
          <a:stretch>
            <a:fillRect/>
          </a:stretch>
        </p:blipFill>
        <p:spPr>
          <a:xfrm>
            <a:off x="1033462" y="1333843"/>
            <a:ext cx="6754178" cy="4297997"/>
          </a:xfrm>
          <a:prstGeom prst="rect">
            <a:avLst/>
          </a:prstGeom>
        </p:spPr>
      </p:pic>
      <p:sp>
        <p:nvSpPr>
          <p:cNvPr id="5" name="矩形 4"/>
          <p:cNvSpPr/>
          <p:nvPr/>
        </p:nvSpPr>
        <p:spPr>
          <a:xfrm>
            <a:off x="1697831" y="5849035"/>
            <a:ext cx="5425440" cy="461665"/>
          </a:xfrm>
          <a:prstGeom prst="rect">
            <a:avLst/>
          </a:prstGeom>
        </p:spPr>
        <p:txBody>
          <a:bodyPr wrap="square">
            <a:spAutoFit/>
          </a:bodyPr>
          <a:lstStyle/>
          <a:p>
            <a:r>
              <a:rPr lang="en-US" altLang="zh-CN" sz="2400" b="0">
                <a:latin typeface="Times New Roman" panose="02020603050405020304" pitchFamily="18" charset="0"/>
                <a:cs typeface="Times New Roman" panose="02020603050405020304" pitchFamily="18" charset="0"/>
              </a:rPr>
              <a:t>https://www.secrss.com/articles/6548</a:t>
            </a:r>
            <a:endParaRPr lang="zh-CN" altLang="en-US" sz="2400" b="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410690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dirty="0"/>
          </a:p>
        </p:txBody>
      </p:sp>
      <p:sp>
        <p:nvSpPr>
          <p:cNvPr id="3" name="标题 2"/>
          <p:cNvSpPr>
            <a:spLocks noGrp="1"/>
          </p:cNvSpPr>
          <p:nvPr>
            <p:ph type="title"/>
          </p:nvPr>
        </p:nvSpPr>
        <p:spPr/>
        <p:txBody>
          <a:bodyPr/>
          <a:lstStyle/>
          <a:p>
            <a:r>
              <a:rPr lang="en-US" altLang="zh-CN" dirty="0"/>
              <a:t>BGP</a:t>
            </a:r>
            <a:r>
              <a:rPr lang="zh-CN" altLang="en-US" dirty="0"/>
              <a:t>安全</a:t>
            </a:r>
          </a:p>
        </p:txBody>
      </p:sp>
      <p:pic>
        <p:nvPicPr>
          <p:cNvPr id="4" name="图片 3"/>
          <p:cNvPicPr>
            <a:picLocks noChangeAspect="1"/>
          </p:cNvPicPr>
          <p:nvPr/>
        </p:nvPicPr>
        <p:blipFill>
          <a:blip r:embed="rId3"/>
          <a:stretch>
            <a:fillRect/>
          </a:stretch>
        </p:blipFill>
        <p:spPr>
          <a:xfrm>
            <a:off x="658813" y="1453358"/>
            <a:ext cx="6191250" cy="2424113"/>
          </a:xfrm>
          <a:prstGeom prst="rect">
            <a:avLst/>
          </a:prstGeom>
          <a:ln>
            <a:solidFill>
              <a:schemeClr val="accent1"/>
            </a:solidFill>
          </a:ln>
        </p:spPr>
      </p:pic>
      <p:pic>
        <p:nvPicPr>
          <p:cNvPr id="5" name="图片 4"/>
          <p:cNvPicPr>
            <a:picLocks noChangeAspect="1"/>
          </p:cNvPicPr>
          <p:nvPr/>
        </p:nvPicPr>
        <p:blipFill>
          <a:blip r:embed="rId4"/>
          <a:stretch>
            <a:fillRect/>
          </a:stretch>
        </p:blipFill>
        <p:spPr>
          <a:xfrm>
            <a:off x="658813" y="4003283"/>
            <a:ext cx="6191250" cy="1400175"/>
          </a:xfrm>
          <a:prstGeom prst="rect">
            <a:avLst/>
          </a:prstGeom>
          <a:ln>
            <a:solidFill>
              <a:schemeClr val="accent1"/>
            </a:solidFill>
          </a:ln>
        </p:spPr>
      </p:pic>
      <p:pic>
        <p:nvPicPr>
          <p:cNvPr id="6" name="图片 5"/>
          <p:cNvPicPr>
            <a:picLocks noChangeAspect="1"/>
          </p:cNvPicPr>
          <p:nvPr/>
        </p:nvPicPr>
        <p:blipFill>
          <a:blip r:embed="rId5"/>
          <a:stretch>
            <a:fillRect/>
          </a:stretch>
        </p:blipFill>
        <p:spPr>
          <a:xfrm>
            <a:off x="658813" y="5529270"/>
            <a:ext cx="6191250" cy="828675"/>
          </a:xfrm>
          <a:prstGeom prst="rect">
            <a:avLst/>
          </a:prstGeom>
          <a:ln>
            <a:solidFill>
              <a:schemeClr val="accent1"/>
            </a:solidFill>
          </a:ln>
        </p:spPr>
      </p:pic>
      <p:pic>
        <p:nvPicPr>
          <p:cNvPr id="9" name="图片 8"/>
          <p:cNvPicPr>
            <a:picLocks noChangeAspect="1"/>
          </p:cNvPicPr>
          <p:nvPr/>
        </p:nvPicPr>
        <p:blipFill>
          <a:blip r:embed="rId6"/>
          <a:stretch>
            <a:fillRect/>
          </a:stretch>
        </p:blipFill>
        <p:spPr>
          <a:xfrm>
            <a:off x="6948489" y="3115471"/>
            <a:ext cx="2133600" cy="1638300"/>
          </a:xfrm>
          <a:prstGeom prst="rect">
            <a:avLst/>
          </a:prstGeom>
          <a:ln>
            <a:solidFill>
              <a:srgbClr val="FF0000"/>
            </a:solidFill>
          </a:ln>
        </p:spPr>
      </p:pic>
    </p:spTree>
    <p:extLst>
      <p:ext uri="{BB962C8B-B14F-4D97-AF65-F5344CB8AC3E}">
        <p14:creationId xmlns:p14="http://schemas.microsoft.com/office/powerpoint/2010/main" val="161809179"/>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89293" y="1299845"/>
            <a:ext cx="7772400" cy="4114800"/>
          </a:xfrm>
        </p:spPr>
        <p:txBody>
          <a:bodyPr/>
          <a:lstStyle/>
          <a:p>
            <a:endParaRPr lang="zh-CN" altLang="en-US" dirty="0"/>
          </a:p>
        </p:txBody>
      </p:sp>
      <p:sp>
        <p:nvSpPr>
          <p:cNvPr id="3" name="标题 2"/>
          <p:cNvSpPr>
            <a:spLocks noGrp="1"/>
          </p:cNvSpPr>
          <p:nvPr>
            <p:ph type="title"/>
          </p:nvPr>
        </p:nvSpPr>
        <p:spPr/>
        <p:txBody>
          <a:bodyPr/>
          <a:lstStyle/>
          <a:p>
            <a:r>
              <a:rPr lang="en-US" altLang="zh-CN" dirty="0"/>
              <a:t>BGP</a:t>
            </a:r>
            <a:r>
              <a:rPr lang="zh-CN" altLang="en-US" dirty="0"/>
              <a:t>安全</a:t>
            </a:r>
          </a:p>
        </p:txBody>
      </p:sp>
      <p:pic>
        <p:nvPicPr>
          <p:cNvPr id="6" name="图片 5"/>
          <p:cNvPicPr>
            <a:picLocks noChangeAspect="1"/>
          </p:cNvPicPr>
          <p:nvPr/>
        </p:nvPicPr>
        <p:blipFill>
          <a:blip r:embed="rId2"/>
          <a:stretch>
            <a:fillRect/>
          </a:stretch>
        </p:blipFill>
        <p:spPr>
          <a:xfrm>
            <a:off x="304032" y="1299845"/>
            <a:ext cx="8542922" cy="4733925"/>
          </a:xfrm>
          <a:prstGeom prst="rect">
            <a:avLst/>
          </a:prstGeom>
        </p:spPr>
      </p:pic>
      <p:pic>
        <p:nvPicPr>
          <p:cNvPr id="7" name="图片 6"/>
          <p:cNvPicPr>
            <a:picLocks noChangeAspect="1"/>
          </p:cNvPicPr>
          <p:nvPr/>
        </p:nvPicPr>
        <p:blipFill>
          <a:blip r:embed="rId3"/>
          <a:stretch>
            <a:fillRect/>
          </a:stretch>
        </p:blipFill>
        <p:spPr>
          <a:xfrm>
            <a:off x="2564339" y="5904781"/>
            <a:ext cx="4022308" cy="327109"/>
          </a:xfrm>
          <a:prstGeom prst="rect">
            <a:avLst/>
          </a:prstGeom>
          <a:ln>
            <a:solidFill>
              <a:srgbClr val="FF0000"/>
            </a:solidFill>
          </a:ln>
        </p:spPr>
      </p:pic>
    </p:spTree>
    <p:extLst>
      <p:ext uri="{BB962C8B-B14F-4D97-AF65-F5344CB8AC3E}">
        <p14:creationId xmlns:p14="http://schemas.microsoft.com/office/powerpoint/2010/main" val="2243029889"/>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554162"/>
            <a:ext cx="7772400" cy="4450397"/>
          </a:xfrm>
        </p:spPr>
        <p:txBody>
          <a:bodyPr/>
          <a:lstStyle/>
          <a:p>
            <a:r>
              <a:rPr lang="en-US" altLang="zh-CN" dirty="0"/>
              <a:t>2018</a:t>
            </a:r>
            <a:r>
              <a:rPr lang="zh-CN" altLang="en-US" dirty="0"/>
              <a:t>年</a:t>
            </a:r>
            <a:r>
              <a:rPr lang="en-US" altLang="zh-CN" dirty="0"/>
              <a:t>9</a:t>
            </a:r>
            <a:r>
              <a:rPr lang="zh-CN" altLang="en-US" dirty="0"/>
              <a:t>月，</a:t>
            </a:r>
            <a:r>
              <a:rPr lang="en-US" altLang="zh-CN" dirty="0"/>
              <a:t>NIST </a:t>
            </a:r>
            <a:r>
              <a:rPr lang="zh-CN" altLang="en-US" dirty="0"/>
              <a:t>与 </a:t>
            </a:r>
            <a:r>
              <a:rPr lang="en-US" altLang="zh-CN" dirty="0"/>
              <a:t>DHS </a:t>
            </a:r>
            <a:r>
              <a:rPr lang="zh-CN" altLang="en-US" dirty="0"/>
              <a:t>团队共同发布了其 </a:t>
            </a:r>
            <a:r>
              <a:rPr lang="en-US" altLang="zh-CN" dirty="0"/>
              <a:t>BGP </a:t>
            </a:r>
            <a:r>
              <a:rPr lang="zh-CN" altLang="en-US" dirty="0"/>
              <a:t>路由来源验证（</a:t>
            </a:r>
            <a:r>
              <a:rPr lang="en-US" altLang="zh-CN" dirty="0"/>
              <a:t>ROV</a:t>
            </a:r>
            <a:r>
              <a:rPr lang="zh-CN" altLang="en-US" dirty="0"/>
              <a:t>）标准的初稿，此项标准将帮助互联网服务供应商与云服务供应商抵御 </a:t>
            </a:r>
            <a:r>
              <a:rPr lang="en-US" altLang="zh-CN" dirty="0"/>
              <a:t>BGP </a:t>
            </a:r>
            <a:r>
              <a:rPr lang="zh-CN" altLang="en-US" dirty="0"/>
              <a:t>劫持攻击</a:t>
            </a:r>
            <a:endParaRPr lang="en-US" altLang="zh-CN" dirty="0"/>
          </a:p>
          <a:p>
            <a:r>
              <a:rPr lang="en-US" altLang="zh-CN" dirty="0"/>
              <a:t>IETF </a:t>
            </a:r>
            <a:r>
              <a:rPr lang="zh-CN" altLang="en-US" dirty="0"/>
              <a:t>网站上还以 </a:t>
            </a:r>
            <a:r>
              <a:rPr lang="en-US" altLang="zh-CN" dirty="0"/>
              <a:t>RFC 8210 </a:t>
            </a:r>
            <a:r>
              <a:rPr lang="zh-CN" altLang="en-US" dirty="0"/>
              <a:t>与 </a:t>
            </a:r>
            <a:r>
              <a:rPr lang="en-US" altLang="zh-CN" dirty="0"/>
              <a:t>RFC 8206 </a:t>
            </a:r>
            <a:r>
              <a:rPr lang="zh-CN" altLang="en-US" dirty="0"/>
              <a:t>的形式发布了 </a:t>
            </a:r>
            <a:r>
              <a:rPr lang="en-US" altLang="zh-CN" dirty="0"/>
              <a:t>BGP RPKI </a:t>
            </a:r>
            <a:r>
              <a:rPr lang="zh-CN" altLang="en-US" dirty="0"/>
              <a:t>与</a:t>
            </a:r>
            <a:r>
              <a:rPr lang="en-US" altLang="zh-CN" dirty="0" err="1"/>
              <a:t>BGPsec</a:t>
            </a:r>
            <a:r>
              <a:rPr lang="en-US" altLang="zh-CN" dirty="0"/>
              <a:t> </a:t>
            </a:r>
            <a:r>
              <a:rPr lang="zh-CN" altLang="en-US" dirty="0"/>
              <a:t>两项 </a:t>
            </a:r>
            <a:r>
              <a:rPr lang="en-US" altLang="zh-CN" dirty="0"/>
              <a:t>SIDR </a:t>
            </a:r>
            <a:r>
              <a:rPr lang="zh-CN" altLang="en-US" dirty="0"/>
              <a:t>协议标准</a:t>
            </a:r>
          </a:p>
        </p:txBody>
      </p:sp>
      <p:sp>
        <p:nvSpPr>
          <p:cNvPr id="3" name="标题 2"/>
          <p:cNvSpPr>
            <a:spLocks noGrp="1"/>
          </p:cNvSpPr>
          <p:nvPr>
            <p:ph type="title"/>
          </p:nvPr>
        </p:nvSpPr>
        <p:spPr/>
        <p:txBody>
          <a:bodyPr/>
          <a:lstStyle/>
          <a:p>
            <a:r>
              <a:rPr lang="en-US" altLang="zh-CN" dirty="0"/>
              <a:t>BGP</a:t>
            </a:r>
            <a:r>
              <a:rPr lang="zh-CN" altLang="en-US" dirty="0"/>
              <a:t>安全</a:t>
            </a:r>
          </a:p>
        </p:txBody>
      </p:sp>
    </p:spTree>
    <p:extLst>
      <p:ext uri="{BB962C8B-B14F-4D97-AF65-F5344CB8AC3E}">
        <p14:creationId xmlns:p14="http://schemas.microsoft.com/office/powerpoint/2010/main" val="3716423165"/>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742026" y="2904661"/>
            <a:ext cx="5812325" cy="865481"/>
          </a:xfrm>
        </p:spPr>
        <p:txBody>
          <a:bodyPr/>
          <a:lstStyle/>
          <a:p>
            <a:pPr marL="0" indent="0">
              <a:buNone/>
            </a:pPr>
            <a:r>
              <a:rPr lang="zh-CN" altLang="en-US" dirty="0">
                <a:solidFill>
                  <a:srgbClr val="FF0000"/>
                </a:solidFill>
              </a:rPr>
              <a:t>七、</a:t>
            </a:r>
            <a:r>
              <a:rPr lang="en-US" altLang="zh-CN" dirty="0">
                <a:solidFill>
                  <a:srgbClr val="FF0000"/>
                </a:solidFill>
              </a:rPr>
              <a:t>UDP</a:t>
            </a:r>
            <a:r>
              <a:rPr lang="zh-CN" altLang="en-US" dirty="0">
                <a:solidFill>
                  <a:srgbClr val="FF0000"/>
                </a:solidFill>
              </a:rPr>
              <a:t>协议及其安全性分析</a:t>
            </a:r>
          </a:p>
        </p:txBody>
      </p:sp>
      <p:sp>
        <p:nvSpPr>
          <p:cNvPr id="3" name="标题 2"/>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3692309866"/>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dirty="0"/>
          </a:p>
        </p:txBody>
      </p:sp>
      <p:sp>
        <p:nvSpPr>
          <p:cNvPr id="3" name="标题 2"/>
          <p:cNvSpPr>
            <a:spLocks noGrp="1"/>
          </p:cNvSpPr>
          <p:nvPr>
            <p:ph type="title"/>
          </p:nvPr>
        </p:nvSpPr>
        <p:spPr/>
        <p:txBody>
          <a:bodyPr/>
          <a:lstStyle/>
          <a:p>
            <a:r>
              <a:rPr lang="en-US" altLang="zh-CN" dirty="0"/>
              <a:t>UDP</a:t>
            </a:r>
            <a:endParaRPr lang="zh-CN" altLang="en-US" dirty="0"/>
          </a:p>
        </p:txBody>
      </p:sp>
      <p:grpSp>
        <p:nvGrpSpPr>
          <p:cNvPr id="4" name="组合 3"/>
          <p:cNvGrpSpPr/>
          <p:nvPr/>
        </p:nvGrpSpPr>
        <p:grpSpPr>
          <a:xfrm>
            <a:off x="1150938" y="2105025"/>
            <a:ext cx="6026150" cy="3013075"/>
            <a:chOff x="1289050" y="1681163"/>
            <a:chExt cx="6026150" cy="3013075"/>
          </a:xfrm>
        </p:grpSpPr>
        <p:sp>
          <p:nvSpPr>
            <p:cNvPr id="5" name="AutoShape 63"/>
            <p:cNvSpPr>
              <a:spLocks noChangeArrowheads="1"/>
            </p:cNvSpPr>
            <p:nvPr/>
          </p:nvSpPr>
          <p:spPr bwMode="auto">
            <a:xfrm>
              <a:off x="1600200" y="3987800"/>
              <a:ext cx="619125" cy="247650"/>
            </a:xfrm>
            <a:prstGeom prst="leftArrow">
              <a:avLst>
                <a:gd name="adj1" fmla="val 50000"/>
                <a:gd name="adj2" fmla="val 62500"/>
              </a:avLst>
            </a:prstGeom>
            <a:gradFill rotWithShape="0">
              <a:gsLst>
                <a:gs pos="0">
                  <a:srgbClr val="9C9C9C"/>
                </a:gs>
                <a:gs pos="100000">
                  <a:srgbClr val="EAEAEA"/>
                </a:gs>
              </a:gsLst>
              <a:lin ang="0" scaled="1"/>
            </a:gradFill>
            <a:ln w="12700">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 name="Rectangle 62"/>
            <p:cNvSpPr>
              <a:spLocks noChangeArrowheads="1"/>
            </p:cNvSpPr>
            <p:nvPr/>
          </p:nvSpPr>
          <p:spPr bwMode="auto">
            <a:xfrm>
              <a:off x="3103563" y="3386138"/>
              <a:ext cx="4211637" cy="525462"/>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7" name="Freeform 60"/>
            <p:cNvSpPr>
              <a:spLocks/>
            </p:cNvSpPr>
            <p:nvPr/>
          </p:nvSpPr>
          <p:spPr bwMode="auto">
            <a:xfrm>
              <a:off x="2689225" y="2401888"/>
              <a:ext cx="3590925" cy="590550"/>
            </a:xfrm>
            <a:custGeom>
              <a:avLst/>
              <a:gdLst>
                <a:gd name="T0" fmla="*/ 0 w 2496"/>
                <a:gd name="T1" fmla="*/ 0 h 432"/>
                <a:gd name="T2" fmla="*/ 2496 w 2496"/>
                <a:gd name="T3" fmla="*/ 0 h 432"/>
                <a:gd name="T4" fmla="*/ 912 w 2496"/>
                <a:gd name="T5" fmla="*/ 432 h 432"/>
                <a:gd name="T6" fmla="*/ 288 w 2496"/>
                <a:gd name="T7" fmla="*/ 432 h 432"/>
                <a:gd name="T8" fmla="*/ 0 w 2496"/>
                <a:gd name="T9" fmla="*/ 0 h 432"/>
                <a:gd name="T10" fmla="*/ 0 60000 65536"/>
                <a:gd name="T11" fmla="*/ 0 60000 65536"/>
                <a:gd name="T12" fmla="*/ 0 60000 65536"/>
                <a:gd name="T13" fmla="*/ 0 60000 65536"/>
                <a:gd name="T14" fmla="*/ 0 60000 65536"/>
                <a:gd name="T15" fmla="*/ 0 w 2496"/>
                <a:gd name="T16" fmla="*/ 0 h 432"/>
                <a:gd name="T17" fmla="*/ 2496 w 2496"/>
                <a:gd name="T18" fmla="*/ 432 h 432"/>
              </a:gdLst>
              <a:ahLst/>
              <a:cxnLst>
                <a:cxn ang="T10">
                  <a:pos x="T0" y="T1"/>
                </a:cxn>
                <a:cxn ang="T11">
                  <a:pos x="T2" y="T3"/>
                </a:cxn>
                <a:cxn ang="T12">
                  <a:pos x="T4" y="T5"/>
                </a:cxn>
                <a:cxn ang="T13">
                  <a:pos x="T6" y="T7"/>
                </a:cxn>
                <a:cxn ang="T14">
                  <a:pos x="T8" y="T9"/>
                </a:cxn>
              </a:cxnLst>
              <a:rect l="T15" t="T16" r="T17" b="T18"/>
              <a:pathLst>
                <a:path w="2496" h="432">
                  <a:moveTo>
                    <a:pt x="0" y="0"/>
                  </a:moveTo>
                  <a:lnTo>
                    <a:pt x="2496" y="0"/>
                  </a:lnTo>
                  <a:lnTo>
                    <a:pt x="912" y="432"/>
                  </a:lnTo>
                  <a:lnTo>
                    <a:pt x="288" y="432"/>
                  </a:lnTo>
                  <a:lnTo>
                    <a:pt x="0" y="0"/>
                  </a:lnTo>
                  <a:close/>
                </a:path>
              </a:pathLst>
            </a:custGeom>
            <a:gradFill rotWithShape="0">
              <a:gsLst>
                <a:gs pos="0">
                  <a:srgbClr val="BBBBBB"/>
                </a:gs>
                <a:gs pos="100000">
                  <a:srgbClr val="EAEAEA"/>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8" name="Rectangle 6"/>
            <p:cNvSpPr>
              <a:spLocks noChangeArrowheads="1"/>
            </p:cNvSpPr>
            <p:nvPr/>
          </p:nvSpPr>
          <p:spPr bwMode="auto">
            <a:xfrm>
              <a:off x="2689225" y="2008188"/>
              <a:ext cx="3590925" cy="393700"/>
            </a:xfrm>
            <a:prstGeom prst="rect">
              <a:avLst/>
            </a:prstGeom>
            <a:solidFill>
              <a:schemeClr val="bg1"/>
            </a:solidFill>
            <a:ln w="19050">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9" name="Rectangle 2"/>
            <p:cNvSpPr>
              <a:spLocks noChangeArrowheads="1"/>
            </p:cNvSpPr>
            <p:nvPr/>
          </p:nvSpPr>
          <p:spPr bwMode="auto">
            <a:xfrm>
              <a:off x="3103563" y="2992438"/>
              <a:ext cx="4211637" cy="393700"/>
            </a:xfrm>
            <a:prstGeom prst="rect">
              <a:avLst/>
            </a:prstGeom>
            <a:solidFill>
              <a:schemeClr val="bg1"/>
            </a:solidFill>
            <a:ln w="12700">
              <a:solidFill>
                <a:schemeClr val="tx1"/>
              </a:solidFill>
              <a:miter lim="800000"/>
              <a:headEnd/>
              <a:tailEnd/>
            </a:ln>
            <a:effectLst>
              <a:outerShdw dist="35921" dir="2700000" algn="ctr" rotWithShape="0">
                <a:schemeClr val="bg2"/>
              </a:outerShdw>
            </a:effectLst>
          </p:spPr>
          <p:txBody>
            <a:bodyPr wrap="none" anchor="ctr"/>
            <a:lstStyle/>
            <a:p>
              <a:pPr>
                <a:defRPr/>
              </a:pPr>
              <a:endParaRPr lang="zh-CN" altLang="en-US"/>
            </a:p>
          </p:txBody>
        </p:sp>
        <p:sp>
          <p:nvSpPr>
            <p:cNvPr id="10" name="Line 3"/>
            <p:cNvSpPr>
              <a:spLocks noChangeShapeType="1"/>
            </p:cNvSpPr>
            <p:nvPr/>
          </p:nvSpPr>
          <p:spPr bwMode="auto">
            <a:xfrm>
              <a:off x="4002088" y="2992438"/>
              <a:ext cx="0" cy="3937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 name="Rectangle 4"/>
            <p:cNvSpPr>
              <a:spLocks noChangeArrowheads="1"/>
            </p:cNvSpPr>
            <p:nvPr/>
          </p:nvSpPr>
          <p:spPr bwMode="auto">
            <a:xfrm>
              <a:off x="2206625" y="3911600"/>
              <a:ext cx="5108575" cy="393700"/>
            </a:xfrm>
            <a:prstGeom prst="rect">
              <a:avLst/>
            </a:prstGeom>
            <a:solidFill>
              <a:schemeClr val="bg1"/>
            </a:solidFill>
            <a:ln w="19050">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2" name="Line 5"/>
            <p:cNvSpPr>
              <a:spLocks noChangeShapeType="1"/>
            </p:cNvSpPr>
            <p:nvPr/>
          </p:nvSpPr>
          <p:spPr bwMode="auto">
            <a:xfrm>
              <a:off x="3103563" y="3911600"/>
              <a:ext cx="1587" cy="3937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 name="Line 7"/>
            <p:cNvSpPr>
              <a:spLocks noChangeShapeType="1"/>
            </p:cNvSpPr>
            <p:nvPr/>
          </p:nvSpPr>
          <p:spPr bwMode="auto">
            <a:xfrm>
              <a:off x="3587750" y="2008188"/>
              <a:ext cx="1588" cy="3937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 name="Line 11"/>
            <p:cNvSpPr>
              <a:spLocks noChangeShapeType="1"/>
            </p:cNvSpPr>
            <p:nvPr/>
          </p:nvSpPr>
          <p:spPr bwMode="auto">
            <a:xfrm>
              <a:off x="4484688" y="2008188"/>
              <a:ext cx="1587" cy="3937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 name="Line 12"/>
            <p:cNvSpPr>
              <a:spLocks noChangeShapeType="1"/>
            </p:cNvSpPr>
            <p:nvPr/>
          </p:nvSpPr>
          <p:spPr bwMode="auto">
            <a:xfrm>
              <a:off x="5381625" y="2008188"/>
              <a:ext cx="1588" cy="3937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 name="Text Box 17"/>
            <p:cNvSpPr txBox="1">
              <a:spLocks noChangeArrowheads="1"/>
            </p:cNvSpPr>
            <p:nvPr/>
          </p:nvSpPr>
          <p:spPr bwMode="auto">
            <a:xfrm>
              <a:off x="2698750" y="2049463"/>
              <a:ext cx="793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a:t>源端口</a:t>
              </a:r>
            </a:p>
          </p:txBody>
        </p:sp>
        <p:sp>
          <p:nvSpPr>
            <p:cNvPr id="17" name="Text Box 18"/>
            <p:cNvSpPr txBox="1">
              <a:spLocks noChangeArrowheads="1"/>
            </p:cNvSpPr>
            <p:nvPr/>
          </p:nvSpPr>
          <p:spPr bwMode="auto">
            <a:xfrm>
              <a:off x="3541713" y="2049463"/>
              <a:ext cx="9969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a:t>目的端口</a:t>
              </a:r>
            </a:p>
          </p:txBody>
        </p:sp>
        <p:sp>
          <p:nvSpPr>
            <p:cNvPr id="18" name="Text Box 19"/>
            <p:cNvSpPr txBox="1">
              <a:spLocks noChangeArrowheads="1"/>
            </p:cNvSpPr>
            <p:nvPr/>
          </p:nvSpPr>
          <p:spPr bwMode="auto">
            <a:xfrm>
              <a:off x="4576763" y="2047875"/>
              <a:ext cx="6921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a:t>长  度</a:t>
              </a:r>
            </a:p>
          </p:txBody>
        </p:sp>
        <p:sp>
          <p:nvSpPr>
            <p:cNvPr id="19" name="Text Box 20"/>
            <p:cNvSpPr txBox="1">
              <a:spLocks noChangeArrowheads="1"/>
            </p:cNvSpPr>
            <p:nvPr/>
          </p:nvSpPr>
          <p:spPr bwMode="auto">
            <a:xfrm>
              <a:off x="5462588" y="2049463"/>
              <a:ext cx="793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a:t>检验和</a:t>
              </a:r>
            </a:p>
          </p:txBody>
        </p:sp>
        <p:sp>
          <p:nvSpPr>
            <p:cNvPr id="20" name="Text Box 21"/>
            <p:cNvSpPr txBox="1">
              <a:spLocks noChangeArrowheads="1"/>
            </p:cNvSpPr>
            <p:nvPr/>
          </p:nvSpPr>
          <p:spPr bwMode="auto">
            <a:xfrm>
              <a:off x="5118100" y="3032125"/>
              <a:ext cx="1047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a:t>数         据</a:t>
              </a:r>
            </a:p>
          </p:txBody>
        </p:sp>
        <p:sp>
          <p:nvSpPr>
            <p:cNvPr id="21" name="Text Box 22"/>
            <p:cNvSpPr txBox="1">
              <a:spLocks noChangeArrowheads="1"/>
            </p:cNvSpPr>
            <p:nvPr/>
          </p:nvSpPr>
          <p:spPr bwMode="auto">
            <a:xfrm>
              <a:off x="4691063" y="3965575"/>
              <a:ext cx="1047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a:t>数         据</a:t>
              </a:r>
            </a:p>
          </p:txBody>
        </p:sp>
        <p:sp>
          <p:nvSpPr>
            <p:cNvPr id="22" name="Text Box 23"/>
            <p:cNvSpPr txBox="1">
              <a:spLocks noChangeArrowheads="1"/>
            </p:cNvSpPr>
            <p:nvPr/>
          </p:nvSpPr>
          <p:spPr bwMode="auto">
            <a:xfrm>
              <a:off x="3195638" y="3032125"/>
              <a:ext cx="6921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a:t>首  部</a:t>
              </a:r>
            </a:p>
          </p:txBody>
        </p:sp>
        <p:sp>
          <p:nvSpPr>
            <p:cNvPr id="23" name="Text Box 24"/>
            <p:cNvSpPr txBox="1">
              <a:spLocks noChangeArrowheads="1"/>
            </p:cNvSpPr>
            <p:nvPr/>
          </p:nvSpPr>
          <p:spPr bwMode="auto">
            <a:xfrm>
              <a:off x="2309813" y="3965575"/>
              <a:ext cx="6921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a:t>首  部</a:t>
              </a:r>
            </a:p>
          </p:txBody>
        </p:sp>
        <p:sp>
          <p:nvSpPr>
            <p:cNvPr id="24" name="Line 40"/>
            <p:cNvSpPr>
              <a:spLocks noChangeShapeType="1"/>
            </p:cNvSpPr>
            <p:nvPr/>
          </p:nvSpPr>
          <p:spPr bwMode="auto">
            <a:xfrm>
              <a:off x="3103563" y="3451225"/>
              <a:ext cx="0" cy="4603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 name="Line 41"/>
            <p:cNvSpPr>
              <a:spLocks noChangeShapeType="1"/>
            </p:cNvSpPr>
            <p:nvPr/>
          </p:nvSpPr>
          <p:spPr bwMode="auto">
            <a:xfrm>
              <a:off x="7315200" y="3451225"/>
              <a:ext cx="0" cy="4603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 name="Line 42"/>
            <p:cNvSpPr>
              <a:spLocks noChangeShapeType="1"/>
            </p:cNvSpPr>
            <p:nvPr/>
          </p:nvSpPr>
          <p:spPr bwMode="auto">
            <a:xfrm>
              <a:off x="3103563" y="3657600"/>
              <a:ext cx="4211637" cy="0"/>
            </a:xfrm>
            <a:prstGeom prst="line">
              <a:avLst/>
            </a:prstGeom>
            <a:noFill/>
            <a:ln w="9525">
              <a:solidFill>
                <a:schemeClr val="tx1"/>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 name="Line 43"/>
            <p:cNvSpPr>
              <a:spLocks noChangeShapeType="1"/>
            </p:cNvSpPr>
            <p:nvPr/>
          </p:nvSpPr>
          <p:spPr bwMode="auto">
            <a:xfrm>
              <a:off x="2206625" y="4502150"/>
              <a:ext cx="5108575" cy="0"/>
            </a:xfrm>
            <a:prstGeom prst="line">
              <a:avLst/>
            </a:prstGeom>
            <a:noFill/>
            <a:ln w="9525">
              <a:solidFill>
                <a:schemeClr val="tx1"/>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 name="Rectangle 45"/>
            <p:cNvSpPr>
              <a:spLocks noChangeArrowheads="1"/>
            </p:cNvSpPr>
            <p:nvPr/>
          </p:nvSpPr>
          <p:spPr bwMode="auto">
            <a:xfrm>
              <a:off x="4622800" y="3451225"/>
              <a:ext cx="1127125" cy="241300"/>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9" name="Text Box 44"/>
            <p:cNvSpPr txBox="1">
              <a:spLocks noChangeArrowheads="1"/>
            </p:cNvSpPr>
            <p:nvPr/>
          </p:nvSpPr>
          <p:spPr bwMode="auto">
            <a:xfrm>
              <a:off x="4291013" y="3484563"/>
              <a:ext cx="1655762" cy="336550"/>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a:t>UDP </a:t>
              </a:r>
              <a:r>
                <a:rPr lang="zh-CN" altLang="en-US" sz="1600"/>
                <a:t>用户数据报</a:t>
              </a:r>
            </a:p>
          </p:txBody>
        </p:sp>
        <p:sp>
          <p:nvSpPr>
            <p:cNvPr id="30" name="Rectangle 47"/>
            <p:cNvSpPr>
              <a:spLocks noChangeArrowheads="1"/>
            </p:cNvSpPr>
            <p:nvPr/>
          </p:nvSpPr>
          <p:spPr bwMode="auto">
            <a:xfrm>
              <a:off x="4208463" y="4370388"/>
              <a:ext cx="909637" cy="2508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1" name="Text Box 46"/>
            <p:cNvSpPr txBox="1">
              <a:spLocks noChangeArrowheads="1"/>
            </p:cNvSpPr>
            <p:nvPr/>
          </p:nvSpPr>
          <p:spPr bwMode="auto">
            <a:xfrm>
              <a:off x="4173538" y="4356100"/>
              <a:ext cx="10255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a:t>IP </a:t>
              </a:r>
              <a:r>
                <a:rPr lang="zh-CN" altLang="en-US" sz="1600"/>
                <a:t>数据报</a:t>
              </a:r>
            </a:p>
          </p:txBody>
        </p:sp>
        <p:sp>
          <p:nvSpPr>
            <p:cNvPr id="32" name="Text Box 55"/>
            <p:cNvSpPr txBox="1">
              <a:spLocks noChangeArrowheads="1"/>
            </p:cNvSpPr>
            <p:nvPr/>
          </p:nvSpPr>
          <p:spPr bwMode="auto">
            <a:xfrm>
              <a:off x="2982913" y="1681163"/>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a:t>2</a:t>
              </a:r>
            </a:p>
          </p:txBody>
        </p:sp>
        <p:sp>
          <p:nvSpPr>
            <p:cNvPr id="33" name="Text Box 56"/>
            <p:cNvSpPr txBox="1">
              <a:spLocks noChangeArrowheads="1"/>
            </p:cNvSpPr>
            <p:nvPr/>
          </p:nvSpPr>
          <p:spPr bwMode="auto">
            <a:xfrm>
              <a:off x="3932238" y="1681163"/>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a:t>2</a:t>
              </a:r>
            </a:p>
          </p:txBody>
        </p:sp>
        <p:sp>
          <p:nvSpPr>
            <p:cNvPr id="34" name="Text Box 57"/>
            <p:cNvSpPr txBox="1">
              <a:spLocks noChangeArrowheads="1"/>
            </p:cNvSpPr>
            <p:nvPr/>
          </p:nvSpPr>
          <p:spPr bwMode="auto">
            <a:xfrm>
              <a:off x="4760913" y="1681163"/>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a:t>2</a:t>
              </a:r>
            </a:p>
          </p:txBody>
        </p:sp>
        <p:sp>
          <p:nvSpPr>
            <p:cNvPr id="35" name="Text Box 58"/>
            <p:cNvSpPr txBox="1">
              <a:spLocks noChangeArrowheads="1"/>
            </p:cNvSpPr>
            <p:nvPr/>
          </p:nvSpPr>
          <p:spPr bwMode="auto">
            <a:xfrm>
              <a:off x="5703888" y="1681163"/>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a:t>2</a:t>
              </a:r>
            </a:p>
          </p:txBody>
        </p:sp>
        <p:sp>
          <p:nvSpPr>
            <p:cNvPr id="36" name="Text Box 59"/>
            <p:cNvSpPr txBox="1">
              <a:spLocks noChangeArrowheads="1"/>
            </p:cNvSpPr>
            <p:nvPr/>
          </p:nvSpPr>
          <p:spPr bwMode="auto">
            <a:xfrm>
              <a:off x="1857375" y="1714500"/>
              <a:ext cx="5905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a:t>字节</a:t>
              </a:r>
            </a:p>
          </p:txBody>
        </p:sp>
        <p:sp>
          <p:nvSpPr>
            <p:cNvPr id="37" name="Text Box 65"/>
            <p:cNvSpPr txBox="1">
              <a:spLocks noChangeArrowheads="1"/>
            </p:cNvSpPr>
            <p:nvPr/>
          </p:nvSpPr>
          <p:spPr bwMode="auto">
            <a:xfrm>
              <a:off x="1289050" y="3644900"/>
              <a:ext cx="9969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a:t>发送在前</a:t>
              </a:r>
            </a:p>
          </p:txBody>
        </p:sp>
      </p:grpSp>
    </p:spTree>
    <p:extLst>
      <p:ext uri="{BB962C8B-B14F-4D97-AF65-F5344CB8AC3E}">
        <p14:creationId xmlns:p14="http://schemas.microsoft.com/office/powerpoint/2010/main" val="4262890774"/>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719773" y="1229043"/>
            <a:ext cx="8224202" cy="4114800"/>
          </a:xfrm>
        </p:spPr>
        <p:txBody>
          <a:bodyPr/>
          <a:lstStyle/>
          <a:p>
            <a:r>
              <a:rPr lang="zh-CN" altLang="en-US" dirty="0"/>
              <a:t>安全</a:t>
            </a:r>
            <a:r>
              <a:rPr lang="zh-CN" altLang="en-US" dirty="0" smtClean="0"/>
              <a:t>问题</a:t>
            </a:r>
            <a:endParaRPr lang="en-US" altLang="zh-CN" dirty="0" smtClean="0"/>
          </a:p>
          <a:p>
            <a:pPr lvl="1"/>
            <a:r>
              <a:rPr lang="zh-CN" altLang="en-US" sz="2000" dirty="0" smtClean="0"/>
              <a:t>假冒攻击</a:t>
            </a:r>
            <a:endParaRPr lang="en-US" altLang="zh-CN" sz="2000" dirty="0"/>
          </a:p>
          <a:p>
            <a:pPr lvl="1"/>
            <a:r>
              <a:rPr lang="zh-CN" altLang="en-US" sz="2000" dirty="0">
                <a:latin typeface="+mn-ea"/>
              </a:rPr>
              <a:t>泛洪攻击，攻击者可以向被攻击者发送大量的</a:t>
            </a:r>
            <a:r>
              <a:rPr lang="en-US" altLang="zh-CN" sz="2000" dirty="0">
                <a:latin typeface="+mn-ea"/>
              </a:rPr>
              <a:t>UDP</a:t>
            </a:r>
            <a:r>
              <a:rPr lang="zh-CN" altLang="en-US" sz="2000" dirty="0">
                <a:latin typeface="+mn-ea"/>
              </a:rPr>
              <a:t>消息，被攻击目标会忙于处理这些消息而浪费大量的存储资源和计算资源，从而实现拒绝服务攻击的</a:t>
            </a:r>
            <a:r>
              <a:rPr lang="zh-CN" altLang="en-US" sz="2000" dirty="0" smtClean="0">
                <a:latin typeface="+mn-ea"/>
              </a:rPr>
              <a:t>目的</a:t>
            </a:r>
            <a:endParaRPr lang="en-US" altLang="zh-CN" sz="2000" dirty="0" smtClean="0">
              <a:latin typeface="+mn-ea"/>
            </a:endParaRPr>
          </a:p>
          <a:p>
            <a:pPr lvl="1"/>
            <a:r>
              <a:rPr lang="zh-CN" altLang="en-US" sz="2000" dirty="0">
                <a:latin typeface="+mn-ea"/>
              </a:rPr>
              <a:t>劫持</a:t>
            </a:r>
            <a:r>
              <a:rPr lang="zh-CN" altLang="en-US" sz="2000" dirty="0" smtClean="0">
                <a:latin typeface="+mn-ea"/>
              </a:rPr>
              <a:t>攻击，通信</a:t>
            </a:r>
            <a:r>
              <a:rPr lang="zh-CN" altLang="en-US" sz="2000" dirty="0">
                <a:latin typeface="+mn-ea"/>
              </a:rPr>
              <a:t>双方并不知道谁将和他们建立通信，攻击者可以同时发送数据包给通信双方，以便于达到欺骗对方的目的。</a:t>
            </a:r>
            <a:endParaRPr lang="en-US" altLang="zh-CN" sz="2000" dirty="0" smtClean="0">
              <a:latin typeface="+mn-ea"/>
            </a:endParaRPr>
          </a:p>
          <a:p>
            <a:pPr lvl="1"/>
            <a:r>
              <a:rPr lang="zh-CN" altLang="zh-CN" sz="2000" dirty="0" smtClean="0"/>
              <a:t>进行</a:t>
            </a:r>
            <a:r>
              <a:rPr lang="zh-CN" altLang="zh-CN" sz="2000" dirty="0"/>
              <a:t>网络扫描</a:t>
            </a:r>
            <a:endParaRPr lang="zh-CN" altLang="en-US" sz="2000" dirty="0"/>
          </a:p>
        </p:txBody>
      </p:sp>
      <p:sp>
        <p:nvSpPr>
          <p:cNvPr id="3" name="标题 2"/>
          <p:cNvSpPr>
            <a:spLocks noGrp="1"/>
          </p:cNvSpPr>
          <p:nvPr>
            <p:ph type="title"/>
          </p:nvPr>
        </p:nvSpPr>
        <p:spPr/>
        <p:txBody>
          <a:bodyPr/>
          <a:lstStyle/>
          <a:p>
            <a:r>
              <a:rPr lang="en-US" altLang="zh-CN" dirty="0"/>
              <a:t>UDP</a:t>
            </a:r>
            <a:endParaRPr lang="zh-CN" altLang="en-US" dirty="0"/>
          </a:p>
        </p:txBody>
      </p:sp>
    </p:spTree>
    <p:extLst>
      <p:ext uri="{BB962C8B-B14F-4D97-AF65-F5344CB8AC3E}">
        <p14:creationId xmlns:p14="http://schemas.microsoft.com/office/powerpoint/2010/main" val="701697621"/>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742026" y="2904661"/>
            <a:ext cx="5812325" cy="865481"/>
          </a:xfrm>
        </p:spPr>
        <p:txBody>
          <a:bodyPr/>
          <a:lstStyle/>
          <a:p>
            <a:pPr marL="0" indent="0">
              <a:buNone/>
            </a:pPr>
            <a:r>
              <a:rPr lang="zh-CN" altLang="en-US" dirty="0">
                <a:solidFill>
                  <a:srgbClr val="FF0000"/>
                </a:solidFill>
              </a:rPr>
              <a:t>八、</a:t>
            </a:r>
            <a:r>
              <a:rPr lang="en-US" altLang="zh-CN" dirty="0">
                <a:solidFill>
                  <a:srgbClr val="FF0000"/>
                </a:solidFill>
              </a:rPr>
              <a:t>TCP</a:t>
            </a:r>
            <a:r>
              <a:rPr lang="zh-CN" altLang="en-US" dirty="0">
                <a:solidFill>
                  <a:srgbClr val="FF0000"/>
                </a:solidFill>
              </a:rPr>
              <a:t>协议及其安全性分析</a:t>
            </a:r>
          </a:p>
        </p:txBody>
      </p:sp>
      <p:sp>
        <p:nvSpPr>
          <p:cNvPr id="3" name="标题 2"/>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368981950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dirty="0"/>
          </a:p>
        </p:txBody>
      </p:sp>
      <p:sp>
        <p:nvSpPr>
          <p:cNvPr id="3" name="标题 2"/>
          <p:cNvSpPr>
            <a:spLocks noGrp="1"/>
          </p:cNvSpPr>
          <p:nvPr>
            <p:ph type="title"/>
          </p:nvPr>
        </p:nvSpPr>
        <p:spPr/>
        <p:txBody>
          <a:bodyPr/>
          <a:lstStyle/>
          <a:p>
            <a:r>
              <a:rPr lang="en-US" altLang="zh-CN" dirty="0"/>
              <a:t>TCP</a:t>
            </a:r>
            <a:endParaRPr lang="zh-CN" altLang="en-US" dirty="0"/>
          </a:p>
        </p:txBody>
      </p:sp>
      <p:sp>
        <p:nvSpPr>
          <p:cNvPr id="138" name="矩形 137"/>
          <p:cNvSpPr/>
          <p:nvPr/>
        </p:nvSpPr>
        <p:spPr bwMode="auto">
          <a:xfrm>
            <a:off x="0" y="1209368"/>
            <a:ext cx="9144000" cy="5648632"/>
          </a:xfrm>
          <a:prstGeom prst="rect">
            <a:avLst/>
          </a:prstGeom>
          <a:solidFill>
            <a:schemeClr val="bg1"/>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a:ln>
                <a:noFill/>
              </a:ln>
              <a:solidFill>
                <a:schemeClr val="tx1"/>
              </a:solidFill>
              <a:effectLst/>
              <a:latin typeface="Tahoma" pitchFamily="34" charset="0"/>
              <a:ea typeface="宋体" charset="-122"/>
            </a:endParaRPr>
          </a:p>
        </p:txBody>
      </p:sp>
      <p:grpSp>
        <p:nvGrpSpPr>
          <p:cNvPr id="139" name="组合 138"/>
          <p:cNvGrpSpPr/>
          <p:nvPr/>
        </p:nvGrpSpPr>
        <p:grpSpPr>
          <a:xfrm>
            <a:off x="144463" y="1067773"/>
            <a:ext cx="8799512" cy="5746750"/>
            <a:chOff x="268288" y="44450"/>
            <a:chExt cx="8799512" cy="5746750"/>
          </a:xfrm>
        </p:grpSpPr>
        <p:sp>
          <p:nvSpPr>
            <p:cNvPr id="140" name="AutoShape 132"/>
            <p:cNvSpPr>
              <a:spLocks noChangeArrowheads="1"/>
            </p:cNvSpPr>
            <p:nvPr/>
          </p:nvSpPr>
          <p:spPr bwMode="auto">
            <a:xfrm>
              <a:off x="657225" y="5411788"/>
              <a:ext cx="635000" cy="252412"/>
            </a:xfrm>
            <a:prstGeom prst="leftArrow">
              <a:avLst>
                <a:gd name="adj1" fmla="val 50000"/>
                <a:gd name="adj2" fmla="val 62893"/>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 name="Freeform 119"/>
            <p:cNvSpPr>
              <a:spLocks/>
            </p:cNvSpPr>
            <p:nvPr/>
          </p:nvSpPr>
          <p:spPr bwMode="auto">
            <a:xfrm>
              <a:off x="1227138" y="3581400"/>
              <a:ext cx="6826250" cy="757238"/>
            </a:xfrm>
            <a:custGeom>
              <a:avLst/>
              <a:gdLst>
                <a:gd name="T0" fmla="*/ 0 w 4626"/>
                <a:gd name="T1" fmla="*/ 0 h 544"/>
                <a:gd name="T2" fmla="*/ 861 w 4626"/>
                <a:gd name="T3" fmla="*/ 544 h 544"/>
                <a:gd name="T4" fmla="*/ 1814 w 4626"/>
                <a:gd name="T5" fmla="*/ 544 h 544"/>
                <a:gd name="T6" fmla="*/ 4626 w 4626"/>
                <a:gd name="T7" fmla="*/ 0 h 544"/>
                <a:gd name="T8" fmla="*/ 0 w 4626"/>
                <a:gd name="T9" fmla="*/ 0 h 544"/>
              </a:gdLst>
              <a:ahLst/>
              <a:cxnLst>
                <a:cxn ang="0">
                  <a:pos x="T0" y="T1"/>
                </a:cxn>
                <a:cxn ang="0">
                  <a:pos x="T2" y="T3"/>
                </a:cxn>
                <a:cxn ang="0">
                  <a:pos x="T4" y="T5"/>
                </a:cxn>
                <a:cxn ang="0">
                  <a:pos x="T6" y="T7"/>
                </a:cxn>
                <a:cxn ang="0">
                  <a:pos x="T8" y="T9"/>
                </a:cxn>
              </a:cxnLst>
              <a:rect l="0" t="0" r="r" b="b"/>
              <a:pathLst>
                <a:path w="4626" h="544">
                  <a:moveTo>
                    <a:pt x="0" y="0"/>
                  </a:moveTo>
                  <a:lnTo>
                    <a:pt x="861" y="544"/>
                  </a:lnTo>
                  <a:lnTo>
                    <a:pt x="1814" y="544"/>
                  </a:lnTo>
                  <a:lnTo>
                    <a:pt x="4626" y="0"/>
                  </a:lnTo>
                  <a:lnTo>
                    <a:pt x="0" y="0"/>
                  </a:lnTo>
                  <a:close/>
                </a:path>
              </a:pathLst>
            </a:custGeom>
            <a:gradFill rotWithShape="1">
              <a:gsLst>
                <a:gs pos="0">
                  <a:srgbClr val="EAEAEA"/>
                </a:gs>
                <a:gs pos="100000">
                  <a:srgbClr val="EAEAEA">
                    <a:gamma/>
                    <a:shade val="73333"/>
                    <a:invGamma/>
                  </a:srgbClr>
                </a:gs>
              </a:gsLst>
              <a:lin ang="5400000" scaled="1"/>
            </a:gradFill>
            <a:ln>
              <a:noFill/>
            </a:ln>
            <a:effectLst/>
            <a:extLst>
              <a:ext uri="{91240B29-F687-4F45-9708-019B960494DF}">
                <a14:hiddenLine xmlns:a14="http://schemas.microsoft.com/office/drawing/2010/main" w="12700"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2" name="Line 3"/>
            <p:cNvSpPr>
              <a:spLocks noChangeShapeType="1"/>
            </p:cNvSpPr>
            <p:nvPr/>
          </p:nvSpPr>
          <p:spPr bwMode="auto">
            <a:xfrm>
              <a:off x="1211263" y="1287463"/>
              <a:ext cx="682148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 name="Line 4"/>
            <p:cNvSpPr>
              <a:spLocks noChangeShapeType="1"/>
            </p:cNvSpPr>
            <p:nvPr/>
          </p:nvSpPr>
          <p:spPr bwMode="auto">
            <a:xfrm>
              <a:off x="1223963" y="1752600"/>
              <a:ext cx="680878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 name="Line 5"/>
            <p:cNvSpPr>
              <a:spLocks noChangeShapeType="1"/>
            </p:cNvSpPr>
            <p:nvPr/>
          </p:nvSpPr>
          <p:spPr bwMode="auto">
            <a:xfrm>
              <a:off x="1211263" y="2216150"/>
              <a:ext cx="682148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5" name="Line 6"/>
            <p:cNvSpPr>
              <a:spLocks noChangeShapeType="1"/>
            </p:cNvSpPr>
            <p:nvPr/>
          </p:nvSpPr>
          <p:spPr bwMode="auto">
            <a:xfrm>
              <a:off x="1211263" y="2679700"/>
              <a:ext cx="682148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6" name="Line 7"/>
            <p:cNvSpPr>
              <a:spLocks noChangeShapeType="1"/>
            </p:cNvSpPr>
            <p:nvPr/>
          </p:nvSpPr>
          <p:spPr bwMode="auto">
            <a:xfrm>
              <a:off x="1223963" y="3144838"/>
              <a:ext cx="680878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7" name="Line 8"/>
            <p:cNvSpPr>
              <a:spLocks noChangeShapeType="1"/>
            </p:cNvSpPr>
            <p:nvPr/>
          </p:nvSpPr>
          <p:spPr bwMode="auto">
            <a:xfrm>
              <a:off x="4624388" y="822325"/>
              <a:ext cx="0" cy="4746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 name="Rectangle 9"/>
            <p:cNvSpPr>
              <a:spLocks noChangeArrowheads="1"/>
            </p:cNvSpPr>
            <p:nvPr/>
          </p:nvSpPr>
          <p:spPr bwMode="auto">
            <a:xfrm>
              <a:off x="5688013" y="908050"/>
              <a:ext cx="129857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600"/>
                <a:t>目  的  端  口</a:t>
              </a:r>
            </a:p>
          </p:txBody>
        </p:sp>
        <p:sp>
          <p:nvSpPr>
            <p:cNvPr id="149" name="Rectangle 10"/>
            <p:cNvSpPr>
              <a:spLocks noChangeArrowheads="1"/>
            </p:cNvSpPr>
            <p:nvPr/>
          </p:nvSpPr>
          <p:spPr bwMode="auto">
            <a:xfrm>
              <a:off x="1354138" y="2157413"/>
              <a:ext cx="587375" cy="57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600"/>
                <a:t>数据</a:t>
              </a:r>
            </a:p>
            <a:p>
              <a:r>
                <a:rPr lang="zh-CN" altLang="en-US" sz="1600"/>
                <a:t>偏移</a:t>
              </a:r>
            </a:p>
          </p:txBody>
        </p:sp>
        <p:sp>
          <p:nvSpPr>
            <p:cNvPr id="150" name="Rectangle 11"/>
            <p:cNvSpPr>
              <a:spLocks noChangeArrowheads="1"/>
            </p:cNvSpPr>
            <p:nvPr/>
          </p:nvSpPr>
          <p:spPr bwMode="auto">
            <a:xfrm>
              <a:off x="2309813" y="2771775"/>
              <a:ext cx="109537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600"/>
                <a:t>检   验   和</a:t>
              </a:r>
            </a:p>
          </p:txBody>
        </p:sp>
        <p:sp>
          <p:nvSpPr>
            <p:cNvPr id="151" name="Rectangle 12"/>
            <p:cNvSpPr>
              <a:spLocks noChangeArrowheads="1"/>
            </p:cNvSpPr>
            <p:nvPr/>
          </p:nvSpPr>
          <p:spPr bwMode="auto">
            <a:xfrm>
              <a:off x="2489200" y="3200400"/>
              <a:ext cx="2833688"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600"/>
                <a:t>选    项    （长  度  可  变）</a:t>
              </a:r>
            </a:p>
          </p:txBody>
        </p:sp>
        <p:sp>
          <p:nvSpPr>
            <p:cNvPr id="152" name="Rectangle 21"/>
            <p:cNvSpPr>
              <a:spLocks noChangeArrowheads="1"/>
            </p:cNvSpPr>
            <p:nvPr/>
          </p:nvSpPr>
          <p:spPr bwMode="auto">
            <a:xfrm>
              <a:off x="2411413" y="908050"/>
              <a:ext cx="99377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600"/>
                <a:t>源  端  口</a:t>
              </a:r>
            </a:p>
          </p:txBody>
        </p:sp>
        <p:sp>
          <p:nvSpPr>
            <p:cNvPr id="153" name="Rectangle 22"/>
            <p:cNvSpPr>
              <a:spLocks noChangeArrowheads="1"/>
            </p:cNvSpPr>
            <p:nvPr/>
          </p:nvSpPr>
          <p:spPr bwMode="auto">
            <a:xfrm>
              <a:off x="4230688" y="1366838"/>
              <a:ext cx="769937"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600"/>
                <a:t>序   号</a:t>
              </a:r>
            </a:p>
          </p:txBody>
        </p:sp>
        <p:sp>
          <p:nvSpPr>
            <p:cNvPr id="154" name="Line 23"/>
            <p:cNvSpPr>
              <a:spLocks noChangeShapeType="1"/>
            </p:cNvSpPr>
            <p:nvPr/>
          </p:nvSpPr>
          <p:spPr bwMode="auto">
            <a:xfrm>
              <a:off x="4629150" y="2222500"/>
              <a:ext cx="0" cy="9159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5" name="Rectangle 24"/>
            <p:cNvSpPr>
              <a:spLocks noChangeArrowheads="1"/>
            </p:cNvSpPr>
            <p:nvPr/>
          </p:nvSpPr>
          <p:spPr bwMode="auto">
            <a:xfrm>
              <a:off x="5545138" y="2771775"/>
              <a:ext cx="145097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600"/>
                <a:t>紧   急   指   针</a:t>
              </a:r>
            </a:p>
          </p:txBody>
        </p:sp>
        <p:sp>
          <p:nvSpPr>
            <p:cNvPr id="156" name="Rectangle 25"/>
            <p:cNvSpPr>
              <a:spLocks noChangeArrowheads="1"/>
            </p:cNvSpPr>
            <p:nvPr/>
          </p:nvSpPr>
          <p:spPr bwMode="auto">
            <a:xfrm>
              <a:off x="5943600" y="2290763"/>
              <a:ext cx="73977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600"/>
                <a:t>窗   口</a:t>
              </a:r>
            </a:p>
          </p:txBody>
        </p:sp>
        <p:sp>
          <p:nvSpPr>
            <p:cNvPr id="157" name="Rectangle 26"/>
            <p:cNvSpPr>
              <a:spLocks noChangeArrowheads="1"/>
            </p:cNvSpPr>
            <p:nvPr/>
          </p:nvSpPr>
          <p:spPr bwMode="auto">
            <a:xfrm>
              <a:off x="4013200" y="1851025"/>
              <a:ext cx="1296988"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600"/>
                <a:t>确    认    号</a:t>
              </a:r>
            </a:p>
          </p:txBody>
        </p:sp>
        <p:sp>
          <p:nvSpPr>
            <p:cNvPr id="158" name="Line 27"/>
            <p:cNvSpPr>
              <a:spLocks noChangeShapeType="1"/>
            </p:cNvSpPr>
            <p:nvPr/>
          </p:nvSpPr>
          <p:spPr bwMode="auto">
            <a:xfrm>
              <a:off x="2065338" y="2222500"/>
              <a:ext cx="0" cy="4635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9" name="Line 28"/>
            <p:cNvSpPr>
              <a:spLocks noChangeShapeType="1"/>
            </p:cNvSpPr>
            <p:nvPr/>
          </p:nvSpPr>
          <p:spPr bwMode="auto">
            <a:xfrm>
              <a:off x="3773488" y="2217738"/>
              <a:ext cx="0" cy="457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 name="Line 29"/>
            <p:cNvSpPr>
              <a:spLocks noChangeShapeType="1"/>
            </p:cNvSpPr>
            <p:nvPr/>
          </p:nvSpPr>
          <p:spPr bwMode="auto">
            <a:xfrm>
              <a:off x="3335338" y="2222500"/>
              <a:ext cx="0" cy="4635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1" name="Line 30"/>
            <p:cNvSpPr>
              <a:spLocks noChangeShapeType="1"/>
            </p:cNvSpPr>
            <p:nvPr/>
          </p:nvSpPr>
          <p:spPr bwMode="auto">
            <a:xfrm>
              <a:off x="3552825" y="2222500"/>
              <a:ext cx="0" cy="4556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 name="Line 31"/>
            <p:cNvSpPr>
              <a:spLocks noChangeShapeType="1"/>
            </p:cNvSpPr>
            <p:nvPr/>
          </p:nvSpPr>
          <p:spPr bwMode="auto">
            <a:xfrm>
              <a:off x="4198938" y="2222500"/>
              <a:ext cx="0" cy="4556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 name="Line 32"/>
            <p:cNvSpPr>
              <a:spLocks noChangeShapeType="1"/>
            </p:cNvSpPr>
            <p:nvPr/>
          </p:nvSpPr>
          <p:spPr bwMode="auto">
            <a:xfrm>
              <a:off x="3986213" y="2222500"/>
              <a:ext cx="0" cy="4556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 name="Line 33"/>
            <p:cNvSpPr>
              <a:spLocks noChangeShapeType="1"/>
            </p:cNvSpPr>
            <p:nvPr/>
          </p:nvSpPr>
          <p:spPr bwMode="auto">
            <a:xfrm>
              <a:off x="4416425" y="2222500"/>
              <a:ext cx="0" cy="4556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5" name="Rectangle 34"/>
            <p:cNvSpPr>
              <a:spLocks noChangeArrowheads="1"/>
            </p:cNvSpPr>
            <p:nvPr/>
          </p:nvSpPr>
          <p:spPr bwMode="auto">
            <a:xfrm>
              <a:off x="2332038" y="2300288"/>
              <a:ext cx="73977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600"/>
                <a:t>保   留</a:t>
              </a:r>
            </a:p>
          </p:txBody>
        </p:sp>
        <p:sp>
          <p:nvSpPr>
            <p:cNvPr id="166" name="Rectangle 35"/>
            <p:cNvSpPr>
              <a:spLocks noChangeArrowheads="1"/>
            </p:cNvSpPr>
            <p:nvPr/>
          </p:nvSpPr>
          <p:spPr bwMode="auto">
            <a:xfrm>
              <a:off x="4391025" y="2235200"/>
              <a:ext cx="290513"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lnSpc>
                  <a:spcPct val="75000"/>
                </a:lnSpc>
              </a:pPr>
              <a:r>
                <a:rPr lang="en-US" altLang="zh-CN" sz="1200" b="1"/>
                <a:t>F</a:t>
              </a:r>
            </a:p>
            <a:p>
              <a:pPr algn="ctr">
                <a:lnSpc>
                  <a:spcPct val="75000"/>
                </a:lnSpc>
              </a:pPr>
              <a:r>
                <a:rPr lang="en-US" altLang="zh-CN" sz="1200" b="1"/>
                <a:t>I</a:t>
              </a:r>
            </a:p>
            <a:p>
              <a:pPr algn="ctr">
                <a:lnSpc>
                  <a:spcPct val="75000"/>
                </a:lnSpc>
              </a:pPr>
              <a:r>
                <a:rPr lang="en-US" altLang="zh-CN" sz="1200" b="1"/>
                <a:t>N</a:t>
              </a:r>
            </a:p>
          </p:txBody>
        </p:sp>
        <p:sp>
          <p:nvSpPr>
            <p:cNvPr id="167" name="Line 41"/>
            <p:cNvSpPr>
              <a:spLocks noChangeShapeType="1"/>
            </p:cNvSpPr>
            <p:nvPr/>
          </p:nvSpPr>
          <p:spPr bwMode="auto">
            <a:xfrm>
              <a:off x="1228725" y="204788"/>
              <a:ext cx="6794500" cy="0"/>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8" name="Rectangle 43"/>
            <p:cNvSpPr>
              <a:spLocks noChangeArrowheads="1"/>
            </p:cNvSpPr>
            <p:nvPr/>
          </p:nvSpPr>
          <p:spPr bwMode="auto">
            <a:xfrm>
              <a:off x="4292600" y="44450"/>
              <a:ext cx="650875" cy="33337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600"/>
                <a:t>32 bit</a:t>
              </a:r>
            </a:p>
          </p:txBody>
        </p:sp>
        <p:sp>
          <p:nvSpPr>
            <p:cNvPr id="169" name="Line 45"/>
            <p:cNvSpPr>
              <a:spLocks noChangeShapeType="1"/>
            </p:cNvSpPr>
            <p:nvPr/>
          </p:nvSpPr>
          <p:spPr bwMode="auto">
            <a:xfrm flipH="1">
              <a:off x="928688" y="819150"/>
              <a:ext cx="15875" cy="2757488"/>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0" name="Rectangle 47"/>
            <p:cNvSpPr>
              <a:spLocks noChangeArrowheads="1"/>
            </p:cNvSpPr>
            <p:nvPr/>
          </p:nvSpPr>
          <p:spPr bwMode="auto">
            <a:xfrm>
              <a:off x="638175" y="1889125"/>
              <a:ext cx="587375" cy="53022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90000"/>
                </a:lnSpc>
              </a:pPr>
              <a:r>
                <a:rPr lang="en-US" altLang="zh-CN" sz="1600"/>
                <a:t>TCP</a:t>
              </a:r>
            </a:p>
            <a:p>
              <a:pPr>
                <a:lnSpc>
                  <a:spcPct val="90000"/>
                </a:lnSpc>
              </a:pPr>
              <a:r>
                <a:rPr lang="zh-CN" altLang="en-US" sz="1600"/>
                <a:t>首部</a:t>
              </a:r>
            </a:p>
          </p:txBody>
        </p:sp>
        <p:sp>
          <p:nvSpPr>
            <p:cNvPr id="171" name="Line 54"/>
            <p:cNvSpPr>
              <a:spLocks noChangeShapeType="1"/>
            </p:cNvSpPr>
            <p:nvPr/>
          </p:nvSpPr>
          <p:spPr bwMode="auto">
            <a:xfrm>
              <a:off x="8453438" y="812800"/>
              <a:ext cx="0" cy="2316163"/>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2" name="Rectangle 58"/>
            <p:cNvSpPr>
              <a:spLocks noChangeArrowheads="1"/>
            </p:cNvSpPr>
            <p:nvPr/>
          </p:nvSpPr>
          <p:spPr bwMode="auto">
            <a:xfrm>
              <a:off x="8008938" y="1631950"/>
              <a:ext cx="1058862" cy="53022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lnSpc>
                  <a:spcPct val="90000"/>
                </a:lnSpc>
              </a:pPr>
              <a:r>
                <a:rPr lang="en-US" altLang="zh-CN" sz="1600"/>
                <a:t>20</a:t>
              </a:r>
              <a:r>
                <a:rPr lang="en-US" altLang="zh-CN" sz="1600">
                  <a:latin typeface="Bookman Old Style" panose="02050604050505020204" pitchFamily="18" charset="0"/>
                </a:rPr>
                <a:t> </a:t>
              </a:r>
              <a:r>
                <a:rPr lang="zh-CN" altLang="en-US" sz="1600">
                  <a:latin typeface="Bookman Old Style" panose="02050604050505020204" pitchFamily="18" charset="0"/>
                </a:rPr>
                <a:t>字节的</a:t>
              </a:r>
            </a:p>
            <a:p>
              <a:pPr algn="ctr">
                <a:lnSpc>
                  <a:spcPct val="90000"/>
                </a:lnSpc>
              </a:pPr>
              <a:r>
                <a:rPr lang="zh-CN" altLang="en-US" sz="1600"/>
                <a:t>固定首部</a:t>
              </a:r>
            </a:p>
          </p:txBody>
        </p:sp>
        <p:sp>
          <p:nvSpPr>
            <p:cNvPr id="173" name="Line 60"/>
            <p:cNvSpPr>
              <a:spLocks noChangeShapeType="1"/>
            </p:cNvSpPr>
            <p:nvPr/>
          </p:nvSpPr>
          <p:spPr bwMode="auto">
            <a:xfrm>
              <a:off x="1214438" y="712788"/>
              <a:ext cx="680085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 name="Line 61"/>
            <p:cNvSpPr>
              <a:spLocks noChangeShapeType="1"/>
            </p:cNvSpPr>
            <p:nvPr/>
          </p:nvSpPr>
          <p:spPr bwMode="auto">
            <a:xfrm>
              <a:off x="1214438" y="579438"/>
              <a:ext cx="0" cy="1333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5" name="Line 62"/>
            <p:cNvSpPr>
              <a:spLocks noChangeShapeType="1"/>
            </p:cNvSpPr>
            <p:nvPr/>
          </p:nvSpPr>
          <p:spPr bwMode="auto">
            <a:xfrm>
              <a:off x="1427163" y="512763"/>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6" name="Line 63"/>
            <p:cNvSpPr>
              <a:spLocks noChangeShapeType="1"/>
            </p:cNvSpPr>
            <p:nvPr/>
          </p:nvSpPr>
          <p:spPr bwMode="auto">
            <a:xfrm>
              <a:off x="1639888" y="512763"/>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7" name="Line 64"/>
            <p:cNvSpPr>
              <a:spLocks noChangeShapeType="1"/>
            </p:cNvSpPr>
            <p:nvPr/>
          </p:nvSpPr>
          <p:spPr bwMode="auto">
            <a:xfrm>
              <a:off x="1852613" y="512763"/>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8" name="Line 65"/>
            <p:cNvSpPr>
              <a:spLocks noChangeShapeType="1"/>
            </p:cNvSpPr>
            <p:nvPr/>
          </p:nvSpPr>
          <p:spPr bwMode="auto">
            <a:xfrm>
              <a:off x="2065338" y="512763"/>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9" name="Line 66"/>
            <p:cNvSpPr>
              <a:spLocks noChangeShapeType="1"/>
            </p:cNvSpPr>
            <p:nvPr/>
          </p:nvSpPr>
          <p:spPr bwMode="auto">
            <a:xfrm>
              <a:off x="2278063" y="512763"/>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0" name="Line 67"/>
            <p:cNvSpPr>
              <a:spLocks noChangeShapeType="1"/>
            </p:cNvSpPr>
            <p:nvPr/>
          </p:nvSpPr>
          <p:spPr bwMode="auto">
            <a:xfrm>
              <a:off x="2489200" y="512763"/>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1" name="Line 68"/>
            <p:cNvSpPr>
              <a:spLocks noChangeShapeType="1"/>
            </p:cNvSpPr>
            <p:nvPr/>
          </p:nvSpPr>
          <p:spPr bwMode="auto">
            <a:xfrm>
              <a:off x="2701925" y="512763"/>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2" name="Line 69"/>
            <p:cNvSpPr>
              <a:spLocks noChangeShapeType="1"/>
            </p:cNvSpPr>
            <p:nvPr/>
          </p:nvSpPr>
          <p:spPr bwMode="auto">
            <a:xfrm>
              <a:off x="2914650" y="579438"/>
              <a:ext cx="0" cy="1333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3" name="Line 70"/>
            <p:cNvSpPr>
              <a:spLocks noChangeShapeType="1"/>
            </p:cNvSpPr>
            <p:nvPr/>
          </p:nvSpPr>
          <p:spPr bwMode="auto">
            <a:xfrm>
              <a:off x="3127375" y="512763"/>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 name="Line 71"/>
            <p:cNvSpPr>
              <a:spLocks noChangeShapeType="1"/>
            </p:cNvSpPr>
            <p:nvPr/>
          </p:nvSpPr>
          <p:spPr bwMode="auto">
            <a:xfrm>
              <a:off x="3340100" y="512763"/>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5" name="Line 72"/>
            <p:cNvSpPr>
              <a:spLocks noChangeShapeType="1"/>
            </p:cNvSpPr>
            <p:nvPr/>
          </p:nvSpPr>
          <p:spPr bwMode="auto">
            <a:xfrm>
              <a:off x="3552825" y="512763"/>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6" name="Line 73"/>
            <p:cNvSpPr>
              <a:spLocks noChangeShapeType="1"/>
            </p:cNvSpPr>
            <p:nvPr/>
          </p:nvSpPr>
          <p:spPr bwMode="auto">
            <a:xfrm>
              <a:off x="3765550" y="512763"/>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7" name="Line 74"/>
            <p:cNvSpPr>
              <a:spLocks noChangeShapeType="1"/>
            </p:cNvSpPr>
            <p:nvPr/>
          </p:nvSpPr>
          <p:spPr bwMode="auto">
            <a:xfrm>
              <a:off x="3978275" y="512763"/>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8" name="Line 75"/>
            <p:cNvSpPr>
              <a:spLocks noChangeShapeType="1"/>
            </p:cNvSpPr>
            <p:nvPr/>
          </p:nvSpPr>
          <p:spPr bwMode="auto">
            <a:xfrm>
              <a:off x="4189413" y="512763"/>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9" name="Line 76"/>
            <p:cNvSpPr>
              <a:spLocks noChangeShapeType="1"/>
            </p:cNvSpPr>
            <p:nvPr/>
          </p:nvSpPr>
          <p:spPr bwMode="auto">
            <a:xfrm>
              <a:off x="4402138" y="512763"/>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0" name="Line 77"/>
            <p:cNvSpPr>
              <a:spLocks noChangeShapeType="1"/>
            </p:cNvSpPr>
            <p:nvPr/>
          </p:nvSpPr>
          <p:spPr bwMode="auto">
            <a:xfrm>
              <a:off x="4614863" y="579438"/>
              <a:ext cx="0" cy="1333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1" name="Line 78"/>
            <p:cNvSpPr>
              <a:spLocks noChangeShapeType="1"/>
            </p:cNvSpPr>
            <p:nvPr/>
          </p:nvSpPr>
          <p:spPr bwMode="auto">
            <a:xfrm>
              <a:off x="4827588" y="512763"/>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2" name="Line 79"/>
            <p:cNvSpPr>
              <a:spLocks noChangeShapeType="1"/>
            </p:cNvSpPr>
            <p:nvPr/>
          </p:nvSpPr>
          <p:spPr bwMode="auto">
            <a:xfrm>
              <a:off x="5040313" y="512763"/>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3" name="Line 80"/>
            <p:cNvSpPr>
              <a:spLocks noChangeShapeType="1"/>
            </p:cNvSpPr>
            <p:nvPr/>
          </p:nvSpPr>
          <p:spPr bwMode="auto">
            <a:xfrm>
              <a:off x="5253038" y="512763"/>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 name="Line 81"/>
            <p:cNvSpPr>
              <a:spLocks noChangeShapeType="1"/>
            </p:cNvSpPr>
            <p:nvPr/>
          </p:nvSpPr>
          <p:spPr bwMode="auto">
            <a:xfrm>
              <a:off x="5465763" y="512763"/>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5" name="Line 82"/>
            <p:cNvSpPr>
              <a:spLocks noChangeShapeType="1"/>
            </p:cNvSpPr>
            <p:nvPr/>
          </p:nvSpPr>
          <p:spPr bwMode="auto">
            <a:xfrm>
              <a:off x="5678488" y="512763"/>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6" name="Line 83"/>
            <p:cNvSpPr>
              <a:spLocks noChangeShapeType="1"/>
            </p:cNvSpPr>
            <p:nvPr/>
          </p:nvSpPr>
          <p:spPr bwMode="auto">
            <a:xfrm>
              <a:off x="5889625" y="512763"/>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7" name="Line 84"/>
            <p:cNvSpPr>
              <a:spLocks noChangeShapeType="1"/>
            </p:cNvSpPr>
            <p:nvPr/>
          </p:nvSpPr>
          <p:spPr bwMode="auto">
            <a:xfrm>
              <a:off x="6102350" y="512763"/>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8" name="Line 85"/>
            <p:cNvSpPr>
              <a:spLocks noChangeShapeType="1"/>
            </p:cNvSpPr>
            <p:nvPr/>
          </p:nvSpPr>
          <p:spPr bwMode="auto">
            <a:xfrm>
              <a:off x="6315075" y="579438"/>
              <a:ext cx="0" cy="1333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9" name="Line 86"/>
            <p:cNvSpPr>
              <a:spLocks noChangeShapeType="1"/>
            </p:cNvSpPr>
            <p:nvPr/>
          </p:nvSpPr>
          <p:spPr bwMode="auto">
            <a:xfrm>
              <a:off x="6527800" y="512763"/>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0" name="Line 87"/>
            <p:cNvSpPr>
              <a:spLocks noChangeShapeType="1"/>
            </p:cNvSpPr>
            <p:nvPr/>
          </p:nvSpPr>
          <p:spPr bwMode="auto">
            <a:xfrm>
              <a:off x="6740525" y="512763"/>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1" name="Line 88"/>
            <p:cNvSpPr>
              <a:spLocks noChangeShapeType="1"/>
            </p:cNvSpPr>
            <p:nvPr/>
          </p:nvSpPr>
          <p:spPr bwMode="auto">
            <a:xfrm>
              <a:off x="6953250" y="512763"/>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2" name="Line 89"/>
            <p:cNvSpPr>
              <a:spLocks noChangeShapeType="1"/>
            </p:cNvSpPr>
            <p:nvPr/>
          </p:nvSpPr>
          <p:spPr bwMode="auto">
            <a:xfrm>
              <a:off x="7165975" y="512763"/>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3" name="Line 90"/>
            <p:cNvSpPr>
              <a:spLocks noChangeShapeType="1"/>
            </p:cNvSpPr>
            <p:nvPr/>
          </p:nvSpPr>
          <p:spPr bwMode="auto">
            <a:xfrm>
              <a:off x="7378700" y="512763"/>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 name="Line 91"/>
            <p:cNvSpPr>
              <a:spLocks noChangeShapeType="1"/>
            </p:cNvSpPr>
            <p:nvPr/>
          </p:nvSpPr>
          <p:spPr bwMode="auto">
            <a:xfrm>
              <a:off x="7589838" y="512763"/>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 name="Line 92"/>
            <p:cNvSpPr>
              <a:spLocks noChangeShapeType="1"/>
            </p:cNvSpPr>
            <p:nvPr/>
          </p:nvSpPr>
          <p:spPr bwMode="auto">
            <a:xfrm>
              <a:off x="7802563" y="512763"/>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6" name="Line 93"/>
            <p:cNvSpPr>
              <a:spLocks noChangeShapeType="1"/>
            </p:cNvSpPr>
            <p:nvPr/>
          </p:nvSpPr>
          <p:spPr bwMode="auto">
            <a:xfrm>
              <a:off x="8015288" y="579438"/>
              <a:ext cx="0" cy="1333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7" name="Rectangle 94"/>
            <p:cNvSpPr>
              <a:spLocks noChangeArrowheads="1"/>
            </p:cNvSpPr>
            <p:nvPr/>
          </p:nvSpPr>
          <p:spPr bwMode="auto">
            <a:xfrm>
              <a:off x="1355725" y="446088"/>
              <a:ext cx="1417638" cy="20002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8" name="Rectangle 95"/>
            <p:cNvSpPr>
              <a:spLocks noChangeArrowheads="1"/>
            </p:cNvSpPr>
            <p:nvPr/>
          </p:nvSpPr>
          <p:spPr bwMode="auto">
            <a:xfrm>
              <a:off x="3055938" y="446088"/>
              <a:ext cx="1417637" cy="20002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 name="Rectangle 96"/>
            <p:cNvSpPr>
              <a:spLocks noChangeArrowheads="1"/>
            </p:cNvSpPr>
            <p:nvPr/>
          </p:nvSpPr>
          <p:spPr bwMode="auto">
            <a:xfrm>
              <a:off x="4756150" y="446088"/>
              <a:ext cx="1417638" cy="20002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 name="Rectangle 97"/>
            <p:cNvSpPr>
              <a:spLocks noChangeArrowheads="1"/>
            </p:cNvSpPr>
            <p:nvPr/>
          </p:nvSpPr>
          <p:spPr bwMode="auto">
            <a:xfrm>
              <a:off x="6456363" y="446088"/>
              <a:ext cx="1417637" cy="20002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 name="Rectangle 2"/>
            <p:cNvSpPr>
              <a:spLocks noChangeArrowheads="1"/>
            </p:cNvSpPr>
            <p:nvPr/>
          </p:nvSpPr>
          <p:spPr bwMode="auto">
            <a:xfrm>
              <a:off x="1217613" y="817563"/>
              <a:ext cx="6810375" cy="2763837"/>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2" name="Rectangle 99"/>
            <p:cNvSpPr>
              <a:spLocks noChangeArrowheads="1"/>
            </p:cNvSpPr>
            <p:nvPr/>
          </p:nvSpPr>
          <p:spPr bwMode="auto">
            <a:xfrm>
              <a:off x="4189413" y="2235200"/>
              <a:ext cx="290512"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75000"/>
                </a:lnSpc>
              </a:pPr>
              <a:r>
                <a:rPr lang="en-US" altLang="zh-CN" sz="1200" b="1"/>
                <a:t>S</a:t>
              </a:r>
            </a:p>
            <a:p>
              <a:pPr>
                <a:lnSpc>
                  <a:spcPct val="75000"/>
                </a:lnSpc>
              </a:pPr>
              <a:r>
                <a:rPr lang="en-US" altLang="zh-CN" sz="1200" b="1"/>
                <a:t>Y</a:t>
              </a:r>
            </a:p>
            <a:p>
              <a:pPr>
                <a:lnSpc>
                  <a:spcPct val="75000"/>
                </a:lnSpc>
              </a:pPr>
              <a:r>
                <a:rPr lang="en-US" altLang="zh-CN" sz="1200" b="1"/>
                <a:t>N</a:t>
              </a:r>
            </a:p>
          </p:txBody>
        </p:sp>
        <p:sp>
          <p:nvSpPr>
            <p:cNvPr id="213" name="Rectangle 100"/>
            <p:cNvSpPr>
              <a:spLocks noChangeArrowheads="1"/>
            </p:cNvSpPr>
            <p:nvPr/>
          </p:nvSpPr>
          <p:spPr bwMode="auto">
            <a:xfrm>
              <a:off x="3978275" y="2235200"/>
              <a:ext cx="290513"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75000"/>
                </a:lnSpc>
              </a:pPr>
              <a:r>
                <a:rPr lang="en-US" altLang="zh-CN" sz="1200" b="1"/>
                <a:t>R</a:t>
              </a:r>
            </a:p>
            <a:p>
              <a:pPr>
                <a:lnSpc>
                  <a:spcPct val="75000"/>
                </a:lnSpc>
              </a:pPr>
              <a:r>
                <a:rPr lang="en-US" altLang="zh-CN" sz="1200" b="1"/>
                <a:t>S</a:t>
              </a:r>
            </a:p>
            <a:p>
              <a:pPr>
                <a:lnSpc>
                  <a:spcPct val="75000"/>
                </a:lnSpc>
              </a:pPr>
              <a:r>
                <a:rPr lang="en-US" altLang="zh-CN" sz="1200" b="1"/>
                <a:t>T</a:t>
              </a:r>
            </a:p>
          </p:txBody>
        </p:sp>
        <p:sp>
          <p:nvSpPr>
            <p:cNvPr id="214" name="Rectangle 101"/>
            <p:cNvSpPr>
              <a:spLocks noChangeArrowheads="1"/>
            </p:cNvSpPr>
            <p:nvPr/>
          </p:nvSpPr>
          <p:spPr bwMode="auto">
            <a:xfrm>
              <a:off x="3751263" y="2235200"/>
              <a:ext cx="300037"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75000"/>
                </a:lnSpc>
              </a:pPr>
              <a:r>
                <a:rPr lang="en-US" altLang="zh-CN" sz="1200" b="1"/>
                <a:t>P</a:t>
              </a:r>
            </a:p>
            <a:p>
              <a:pPr>
                <a:lnSpc>
                  <a:spcPct val="75000"/>
                </a:lnSpc>
              </a:pPr>
              <a:r>
                <a:rPr lang="en-US" altLang="zh-CN" sz="1200" b="1"/>
                <a:t>S</a:t>
              </a:r>
            </a:p>
            <a:p>
              <a:pPr>
                <a:lnSpc>
                  <a:spcPct val="75000"/>
                </a:lnSpc>
              </a:pPr>
              <a:r>
                <a:rPr lang="en-US" altLang="zh-CN" sz="1200" b="1"/>
                <a:t>H</a:t>
              </a:r>
            </a:p>
          </p:txBody>
        </p:sp>
        <p:sp>
          <p:nvSpPr>
            <p:cNvPr id="215" name="Rectangle 102"/>
            <p:cNvSpPr>
              <a:spLocks noChangeArrowheads="1"/>
            </p:cNvSpPr>
            <p:nvPr/>
          </p:nvSpPr>
          <p:spPr bwMode="auto">
            <a:xfrm>
              <a:off x="3538538" y="2235200"/>
              <a:ext cx="300037"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75000"/>
                </a:lnSpc>
              </a:pPr>
              <a:r>
                <a:rPr lang="en-US" altLang="zh-CN" sz="1200" b="1"/>
                <a:t>A</a:t>
              </a:r>
            </a:p>
            <a:p>
              <a:pPr>
                <a:lnSpc>
                  <a:spcPct val="75000"/>
                </a:lnSpc>
              </a:pPr>
              <a:r>
                <a:rPr lang="en-US" altLang="zh-CN" sz="1200" b="1"/>
                <a:t>C</a:t>
              </a:r>
            </a:p>
            <a:p>
              <a:pPr>
                <a:lnSpc>
                  <a:spcPct val="75000"/>
                </a:lnSpc>
              </a:pPr>
              <a:r>
                <a:rPr lang="en-US" altLang="zh-CN" sz="1200" b="1"/>
                <a:t>K</a:t>
              </a:r>
            </a:p>
          </p:txBody>
        </p:sp>
        <p:sp>
          <p:nvSpPr>
            <p:cNvPr id="216" name="Rectangle 103"/>
            <p:cNvSpPr>
              <a:spLocks noChangeArrowheads="1"/>
            </p:cNvSpPr>
            <p:nvPr/>
          </p:nvSpPr>
          <p:spPr bwMode="auto">
            <a:xfrm>
              <a:off x="3306763" y="2235200"/>
              <a:ext cx="300037"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75000"/>
                </a:lnSpc>
              </a:pPr>
              <a:r>
                <a:rPr lang="en-US" altLang="zh-CN" sz="1200" b="1"/>
                <a:t>U</a:t>
              </a:r>
            </a:p>
            <a:p>
              <a:pPr>
                <a:lnSpc>
                  <a:spcPct val="75000"/>
                </a:lnSpc>
              </a:pPr>
              <a:r>
                <a:rPr lang="en-US" altLang="zh-CN" sz="1200" b="1"/>
                <a:t>R</a:t>
              </a:r>
            </a:p>
            <a:p>
              <a:pPr>
                <a:lnSpc>
                  <a:spcPct val="75000"/>
                </a:lnSpc>
              </a:pPr>
              <a:r>
                <a:rPr lang="en-US" altLang="zh-CN" sz="1200" b="1"/>
                <a:t>G</a:t>
              </a:r>
            </a:p>
          </p:txBody>
        </p:sp>
        <p:sp>
          <p:nvSpPr>
            <p:cNvPr id="217" name="Rectangle 108"/>
            <p:cNvSpPr>
              <a:spLocks noChangeArrowheads="1"/>
            </p:cNvSpPr>
            <p:nvPr/>
          </p:nvSpPr>
          <p:spPr bwMode="auto">
            <a:xfrm>
              <a:off x="690563" y="327025"/>
              <a:ext cx="7394575" cy="3333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600"/>
                <a:t>比特  </a:t>
              </a:r>
              <a:r>
                <a:rPr lang="en-US" altLang="zh-CN" sz="1600"/>
                <a:t>0                               8                              16                              24                         31</a:t>
              </a:r>
            </a:p>
          </p:txBody>
        </p:sp>
        <p:sp>
          <p:nvSpPr>
            <p:cNvPr id="218" name="Line 109"/>
            <p:cNvSpPr>
              <a:spLocks noChangeShapeType="1"/>
            </p:cNvSpPr>
            <p:nvPr/>
          </p:nvSpPr>
          <p:spPr bwMode="auto">
            <a:xfrm flipH="1">
              <a:off x="6313488" y="3155950"/>
              <a:ext cx="3175" cy="4302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9" name="Rectangle 110"/>
            <p:cNvSpPr>
              <a:spLocks noChangeArrowheads="1"/>
            </p:cNvSpPr>
            <p:nvPr/>
          </p:nvSpPr>
          <p:spPr bwMode="auto">
            <a:xfrm>
              <a:off x="6767513" y="3200400"/>
              <a:ext cx="82232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600"/>
                <a:t>填    充</a:t>
              </a:r>
            </a:p>
          </p:txBody>
        </p:sp>
        <p:sp>
          <p:nvSpPr>
            <p:cNvPr id="220" name="Rectangle 51"/>
            <p:cNvSpPr>
              <a:spLocks noChangeArrowheads="1"/>
            </p:cNvSpPr>
            <p:nvPr/>
          </p:nvSpPr>
          <p:spPr bwMode="auto">
            <a:xfrm>
              <a:off x="5310188" y="4419600"/>
              <a:ext cx="1417637" cy="3333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600"/>
                <a:t>TCP </a:t>
              </a:r>
              <a:r>
                <a:rPr lang="zh-CN" altLang="en-US" sz="1600"/>
                <a:t>数据部分</a:t>
              </a:r>
            </a:p>
          </p:txBody>
        </p:sp>
        <p:sp>
          <p:nvSpPr>
            <p:cNvPr id="221" name="Rectangle 121"/>
            <p:cNvSpPr>
              <a:spLocks noChangeArrowheads="1"/>
            </p:cNvSpPr>
            <p:nvPr/>
          </p:nvSpPr>
          <p:spPr bwMode="auto">
            <a:xfrm>
              <a:off x="2497138" y="4338638"/>
              <a:ext cx="1406525" cy="506412"/>
            </a:xfrm>
            <a:prstGeom prst="rect">
              <a:avLst/>
            </a:prstGeom>
            <a:solidFill>
              <a:srgbClr val="EAEAEA"/>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2" name="Rectangle 112"/>
            <p:cNvSpPr>
              <a:spLocks noChangeArrowheads="1"/>
            </p:cNvSpPr>
            <p:nvPr/>
          </p:nvSpPr>
          <p:spPr bwMode="auto">
            <a:xfrm>
              <a:off x="2497138" y="4338638"/>
              <a:ext cx="5757862" cy="506412"/>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3" name="Line 113"/>
            <p:cNvSpPr>
              <a:spLocks noChangeShapeType="1"/>
            </p:cNvSpPr>
            <p:nvPr/>
          </p:nvSpPr>
          <p:spPr bwMode="auto">
            <a:xfrm flipH="1">
              <a:off x="3903663" y="4349750"/>
              <a:ext cx="0" cy="4953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4" name="Rectangle 115"/>
            <p:cNvSpPr>
              <a:spLocks noChangeArrowheads="1"/>
            </p:cNvSpPr>
            <p:nvPr/>
          </p:nvSpPr>
          <p:spPr bwMode="auto">
            <a:xfrm>
              <a:off x="2692400" y="4467225"/>
              <a:ext cx="720725" cy="2698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 name="Rectangle 116"/>
            <p:cNvSpPr>
              <a:spLocks noChangeArrowheads="1"/>
            </p:cNvSpPr>
            <p:nvPr/>
          </p:nvSpPr>
          <p:spPr bwMode="auto">
            <a:xfrm>
              <a:off x="2700338" y="4419600"/>
              <a:ext cx="1009650" cy="3333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600"/>
                <a:t>TCP </a:t>
              </a:r>
              <a:r>
                <a:rPr lang="zh-CN" altLang="en-US" sz="1600"/>
                <a:t>首部</a:t>
              </a:r>
            </a:p>
          </p:txBody>
        </p:sp>
        <p:sp>
          <p:nvSpPr>
            <p:cNvPr id="226" name="Line 122"/>
            <p:cNvSpPr>
              <a:spLocks noChangeShapeType="1"/>
            </p:cNvSpPr>
            <p:nvPr/>
          </p:nvSpPr>
          <p:spPr bwMode="auto">
            <a:xfrm>
              <a:off x="2451100" y="5060950"/>
              <a:ext cx="5829300" cy="11113"/>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7" name="Rectangle 123"/>
            <p:cNvSpPr>
              <a:spLocks noChangeArrowheads="1"/>
            </p:cNvSpPr>
            <p:nvPr/>
          </p:nvSpPr>
          <p:spPr bwMode="auto">
            <a:xfrm>
              <a:off x="4706938" y="4906963"/>
              <a:ext cx="1271587" cy="33337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600"/>
                <a:t>TCP </a:t>
              </a:r>
              <a:r>
                <a:rPr lang="zh-CN" altLang="en-US" sz="1600"/>
                <a:t>报文段</a:t>
              </a:r>
            </a:p>
          </p:txBody>
        </p:sp>
        <p:sp>
          <p:nvSpPr>
            <p:cNvPr id="228" name="Rectangle 124"/>
            <p:cNvSpPr>
              <a:spLocks noChangeArrowheads="1"/>
            </p:cNvSpPr>
            <p:nvPr/>
          </p:nvSpPr>
          <p:spPr bwMode="auto">
            <a:xfrm>
              <a:off x="1292225" y="5286375"/>
              <a:ext cx="6962775" cy="504825"/>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9" name="Line 125"/>
            <p:cNvSpPr>
              <a:spLocks noChangeShapeType="1"/>
            </p:cNvSpPr>
            <p:nvPr/>
          </p:nvSpPr>
          <p:spPr bwMode="auto">
            <a:xfrm flipH="1">
              <a:off x="2497138" y="5297488"/>
              <a:ext cx="0" cy="4937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0" name="Rectangle 128"/>
            <p:cNvSpPr>
              <a:spLocks noChangeArrowheads="1"/>
            </p:cNvSpPr>
            <p:nvPr/>
          </p:nvSpPr>
          <p:spPr bwMode="auto">
            <a:xfrm>
              <a:off x="4505325" y="5381625"/>
              <a:ext cx="1225550" cy="3333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600"/>
                <a:t>IP </a:t>
              </a:r>
              <a:r>
                <a:rPr lang="zh-CN" altLang="en-US" sz="1600"/>
                <a:t>数据部分</a:t>
              </a:r>
            </a:p>
          </p:txBody>
        </p:sp>
        <p:sp>
          <p:nvSpPr>
            <p:cNvPr id="231" name="Rectangle 131"/>
            <p:cNvSpPr>
              <a:spLocks noChangeArrowheads="1"/>
            </p:cNvSpPr>
            <p:nvPr/>
          </p:nvSpPr>
          <p:spPr bwMode="auto">
            <a:xfrm>
              <a:off x="1495425" y="5381625"/>
              <a:ext cx="819150" cy="3333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600"/>
                <a:t>IP </a:t>
              </a:r>
              <a:r>
                <a:rPr lang="zh-CN" altLang="en-US" sz="1600"/>
                <a:t>首部</a:t>
              </a:r>
            </a:p>
          </p:txBody>
        </p:sp>
        <p:sp>
          <p:nvSpPr>
            <p:cNvPr id="232" name="AutoShape 133"/>
            <p:cNvSpPr>
              <a:spLocks noChangeArrowheads="1"/>
            </p:cNvSpPr>
            <p:nvPr/>
          </p:nvSpPr>
          <p:spPr bwMode="auto">
            <a:xfrm rot="16200000">
              <a:off x="2855119" y="5088732"/>
              <a:ext cx="758825" cy="268287"/>
            </a:xfrm>
            <a:prstGeom prst="leftArrow">
              <a:avLst>
                <a:gd name="adj1" fmla="val 50000"/>
                <a:gd name="adj2" fmla="val 70710"/>
              </a:avLst>
            </a:prstGeom>
            <a:solidFill>
              <a:srgbClr val="FFFFFF">
                <a:alpha val="42999"/>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3" name="AutoShape 134"/>
            <p:cNvSpPr>
              <a:spLocks noChangeArrowheads="1"/>
            </p:cNvSpPr>
            <p:nvPr/>
          </p:nvSpPr>
          <p:spPr bwMode="auto">
            <a:xfrm rot="16200000">
              <a:off x="5799137" y="5089526"/>
              <a:ext cx="758825" cy="266700"/>
            </a:xfrm>
            <a:prstGeom prst="leftArrow">
              <a:avLst>
                <a:gd name="adj1" fmla="val 50000"/>
                <a:gd name="adj2" fmla="val 71131"/>
              </a:avLst>
            </a:prstGeom>
            <a:solidFill>
              <a:srgbClr val="FFFFFF">
                <a:alpha val="42999"/>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4" name="Line 135"/>
            <p:cNvSpPr>
              <a:spLocks noChangeShapeType="1"/>
            </p:cNvSpPr>
            <p:nvPr/>
          </p:nvSpPr>
          <p:spPr bwMode="auto">
            <a:xfrm>
              <a:off x="8121650" y="801688"/>
              <a:ext cx="736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 name="Line 136"/>
            <p:cNvSpPr>
              <a:spLocks noChangeShapeType="1"/>
            </p:cNvSpPr>
            <p:nvPr/>
          </p:nvSpPr>
          <p:spPr bwMode="auto">
            <a:xfrm>
              <a:off x="8121650" y="3138488"/>
              <a:ext cx="736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6" name="Line 138"/>
            <p:cNvSpPr>
              <a:spLocks noChangeShapeType="1"/>
            </p:cNvSpPr>
            <p:nvPr/>
          </p:nvSpPr>
          <p:spPr bwMode="auto">
            <a:xfrm>
              <a:off x="690563" y="827088"/>
              <a:ext cx="4699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7" name="Line 139"/>
            <p:cNvSpPr>
              <a:spLocks noChangeShapeType="1"/>
            </p:cNvSpPr>
            <p:nvPr/>
          </p:nvSpPr>
          <p:spPr bwMode="auto">
            <a:xfrm>
              <a:off x="703263" y="3568700"/>
              <a:ext cx="4699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8" name="Rectangle 141"/>
            <p:cNvSpPr>
              <a:spLocks noChangeArrowheads="1"/>
            </p:cNvSpPr>
            <p:nvPr/>
          </p:nvSpPr>
          <p:spPr bwMode="auto">
            <a:xfrm>
              <a:off x="268288" y="5068888"/>
              <a:ext cx="993775" cy="3333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600"/>
                <a:t>发送在前</a:t>
              </a:r>
            </a:p>
          </p:txBody>
        </p:sp>
      </p:grpSp>
    </p:spTree>
    <p:extLst>
      <p:ext uri="{BB962C8B-B14F-4D97-AF65-F5344CB8AC3E}">
        <p14:creationId xmlns:p14="http://schemas.microsoft.com/office/powerpoint/2010/main" val="229238757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18971" y="1389271"/>
            <a:ext cx="7772400" cy="634401"/>
          </a:xfrm>
        </p:spPr>
        <p:txBody>
          <a:bodyPr/>
          <a:lstStyle/>
          <a:p>
            <a:endParaRPr lang="zh-CN" altLang="en-US" dirty="0"/>
          </a:p>
        </p:txBody>
      </p:sp>
      <p:sp>
        <p:nvSpPr>
          <p:cNvPr id="3" name="标题 2"/>
          <p:cNvSpPr>
            <a:spLocks noGrp="1"/>
          </p:cNvSpPr>
          <p:nvPr>
            <p:ph type="title"/>
          </p:nvPr>
        </p:nvSpPr>
        <p:spPr/>
        <p:txBody>
          <a:bodyPr/>
          <a:lstStyle/>
          <a:p>
            <a:r>
              <a:rPr lang="en-US" altLang="zh-CN" dirty="0"/>
              <a:t>TCP</a:t>
            </a:r>
            <a:r>
              <a:rPr lang="zh-CN" altLang="en-US" dirty="0"/>
              <a:t>协议</a:t>
            </a:r>
          </a:p>
        </p:txBody>
      </p:sp>
      <p:pic>
        <p:nvPicPr>
          <p:cNvPr id="4" name="图片 3"/>
          <p:cNvPicPr>
            <a:picLocks noChangeAspect="1"/>
          </p:cNvPicPr>
          <p:nvPr/>
        </p:nvPicPr>
        <p:blipFill>
          <a:blip r:embed="rId2"/>
          <a:stretch>
            <a:fillRect/>
          </a:stretch>
        </p:blipFill>
        <p:spPr>
          <a:xfrm>
            <a:off x="1150938" y="1239370"/>
            <a:ext cx="6838950" cy="5038725"/>
          </a:xfrm>
          <a:prstGeom prst="rect">
            <a:avLst/>
          </a:prstGeom>
        </p:spPr>
      </p:pic>
    </p:spTree>
    <p:extLst>
      <p:ext uri="{BB962C8B-B14F-4D97-AF65-F5344CB8AC3E}">
        <p14:creationId xmlns:p14="http://schemas.microsoft.com/office/powerpoint/2010/main" val="221521944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419252"/>
            <a:ext cx="7772400" cy="4114800"/>
          </a:xfrm>
        </p:spPr>
        <p:txBody>
          <a:bodyPr/>
          <a:lstStyle/>
          <a:p>
            <a:r>
              <a:rPr lang="zh-CN" altLang="en-US" dirty="0"/>
              <a:t>安全性分析</a:t>
            </a:r>
            <a:endParaRPr lang="en-US" altLang="zh-CN" dirty="0"/>
          </a:p>
          <a:p>
            <a:pPr lvl="1"/>
            <a:r>
              <a:rPr lang="zh-CN" altLang="zh-CN" dirty="0"/>
              <a:t>网络扫描</a:t>
            </a:r>
            <a:endParaRPr lang="en-US" altLang="zh-CN" dirty="0"/>
          </a:p>
          <a:p>
            <a:pPr lvl="1"/>
            <a:r>
              <a:rPr lang="zh-CN" altLang="zh-CN" dirty="0"/>
              <a:t>拒绝服务（</a:t>
            </a:r>
            <a:r>
              <a:rPr lang="en-US" altLang="zh-CN" dirty="0"/>
              <a:t>DoS</a:t>
            </a:r>
            <a:r>
              <a:rPr lang="zh-CN" altLang="zh-CN" dirty="0"/>
              <a:t>）攻击</a:t>
            </a:r>
            <a:endParaRPr lang="en-US" altLang="zh-CN" dirty="0"/>
          </a:p>
          <a:p>
            <a:pPr lvl="1"/>
            <a:r>
              <a:rPr lang="en-US" altLang="zh-CN" dirty="0"/>
              <a:t>TCP</a:t>
            </a:r>
            <a:r>
              <a:rPr lang="zh-CN" altLang="zh-CN" dirty="0"/>
              <a:t>会话劫持攻击</a:t>
            </a:r>
            <a:endParaRPr lang="zh-CN" altLang="en-US" dirty="0"/>
          </a:p>
        </p:txBody>
      </p:sp>
      <p:sp>
        <p:nvSpPr>
          <p:cNvPr id="3" name="标题 2"/>
          <p:cNvSpPr>
            <a:spLocks noGrp="1"/>
          </p:cNvSpPr>
          <p:nvPr>
            <p:ph type="title"/>
          </p:nvPr>
        </p:nvSpPr>
        <p:spPr/>
        <p:txBody>
          <a:bodyPr/>
          <a:lstStyle/>
          <a:p>
            <a:r>
              <a:rPr lang="en-US" altLang="zh-CN" dirty="0"/>
              <a:t>TCP</a:t>
            </a:r>
            <a:r>
              <a:rPr lang="zh-CN" altLang="en-US" dirty="0"/>
              <a:t>协议</a:t>
            </a:r>
          </a:p>
        </p:txBody>
      </p:sp>
    </p:spTree>
    <p:extLst>
      <p:ext uri="{BB962C8B-B14F-4D97-AF65-F5344CB8AC3E}">
        <p14:creationId xmlns:p14="http://schemas.microsoft.com/office/powerpoint/2010/main" val="64242025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97852" y="1266852"/>
            <a:ext cx="8109267" cy="4114800"/>
          </a:xfrm>
        </p:spPr>
        <p:txBody>
          <a:bodyPr/>
          <a:lstStyle/>
          <a:p>
            <a:pPr lvl="1"/>
            <a:r>
              <a:rPr lang="en-US" altLang="zh-CN" sz="2000" dirty="0" smtClean="0"/>
              <a:t>SYN</a:t>
            </a:r>
            <a:r>
              <a:rPr lang="zh-CN" altLang="en-US" sz="2000" dirty="0"/>
              <a:t>泛洪</a:t>
            </a:r>
            <a:r>
              <a:rPr lang="zh-CN" altLang="en-US" sz="2000" dirty="0" smtClean="0"/>
              <a:t>攻击</a:t>
            </a:r>
            <a:r>
              <a:rPr lang="zh-CN" altLang="en-US" sz="2000" dirty="0"/>
              <a:t>	</a:t>
            </a:r>
            <a:endParaRPr lang="en-US" altLang="zh-CN" sz="2000" dirty="0"/>
          </a:p>
          <a:p>
            <a:pPr marL="457200" lvl="1" indent="0">
              <a:buNone/>
            </a:pPr>
            <a:r>
              <a:rPr lang="en-US" altLang="zh-CN" sz="2000" dirty="0" smtClean="0"/>
              <a:t>	TCP</a:t>
            </a:r>
            <a:r>
              <a:rPr lang="zh-CN" altLang="en-US" sz="2000" dirty="0"/>
              <a:t>建立连接需要三次握手，在这个过程中所发送的第一条消息称之为</a:t>
            </a:r>
            <a:r>
              <a:rPr lang="en-US" altLang="zh-CN" sz="2000" dirty="0"/>
              <a:t>SYN</a:t>
            </a:r>
            <a:r>
              <a:rPr lang="zh-CN" altLang="en-US" sz="2000" dirty="0"/>
              <a:t>消息，所以攻击者可以大量给目标主机发送第一条消息，而对对方所回送的</a:t>
            </a:r>
            <a:r>
              <a:rPr lang="en-US" altLang="zh-CN" sz="2000" dirty="0"/>
              <a:t>ACK</a:t>
            </a:r>
            <a:r>
              <a:rPr lang="zh-CN" altLang="en-US" sz="2000" dirty="0"/>
              <a:t>消息进行忽略。通过这样的方式，攻击者就实现对主机的拒绝服务攻击。而接收主机在每一次收到</a:t>
            </a:r>
            <a:r>
              <a:rPr lang="en-US" altLang="zh-CN" sz="2000" dirty="0"/>
              <a:t>SYN</a:t>
            </a:r>
            <a:r>
              <a:rPr lang="zh-CN" altLang="en-US" sz="2000" dirty="0"/>
              <a:t>消息之后都会花费资源来存储这些</a:t>
            </a:r>
            <a:r>
              <a:rPr lang="en-US" altLang="zh-CN" sz="2000" dirty="0"/>
              <a:t>TCP</a:t>
            </a:r>
            <a:r>
              <a:rPr lang="zh-CN" altLang="en-US" sz="2000" dirty="0"/>
              <a:t>连接的相关内容，如果攻击者所发送的次数足够大，那么接收主机的存储资源会被消耗掉，当正常用户对主机进行访问时，则不能为其提供服务。</a:t>
            </a:r>
          </a:p>
        </p:txBody>
      </p:sp>
      <p:sp>
        <p:nvSpPr>
          <p:cNvPr id="3" name="标题 2"/>
          <p:cNvSpPr>
            <a:spLocks noGrp="1"/>
          </p:cNvSpPr>
          <p:nvPr>
            <p:ph type="title"/>
          </p:nvPr>
        </p:nvSpPr>
        <p:spPr/>
        <p:txBody>
          <a:bodyPr/>
          <a:lstStyle/>
          <a:p>
            <a:r>
              <a:rPr lang="en-US" altLang="zh-CN" dirty="0"/>
              <a:t>TCP</a:t>
            </a:r>
            <a:r>
              <a:rPr lang="zh-CN" altLang="en-US" dirty="0"/>
              <a:t>协议</a:t>
            </a:r>
          </a:p>
        </p:txBody>
      </p:sp>
    </p:spTree>
    <p:extLst>
      <p:ext uri="{BB962C8B-B14F-4D97-AF65-F5344CB8AC3E}">
        <p14:creationId xmlns:p14="http://schemas.microsoft.com/office/powerpoint/2010/main" val="81511890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97852" y="1266852"/>
            <a:ext cx="8109267" cy="4808828"/>
          </a:xfrm>
        </p:spPr>
        <p:txBody>
          <a:bodyPr/>
          <a:lstStyle/>
          <a:p>
            <a:pPr lvl="1"/>
            <a:r>
              <a:rPr lang="en-US" altLang="zh-CN" sz="2000" dirty="0"/>
              <a:t>ACK</a:t>
            </a:r>
            <a:r>
              <a:rPr lang="zh-CN" altLang="en-US" sz="2000" dirty="0"/>
              <a:t>泛洪攻击</a:t>
            </a:r>
          </a:p>
          <a:p>
            <a:pPr marL="457200" lvl="1" indent="0">
              <a:buNone/>
            </a:pPr>
            <a:r>
              <a:rPr lang="en-US" altLang="zh-CN" sz="2000" dirty="0" smtClean="0"/>
              <a:t>	</a:t>
            </a:r>
            <a:r>
              <a:rPr lang="zh-CN" altLang="en-US" sz="2000" dirty="0" smtClean="0"/>
              <a:t>攻击</a:t>
            </a:r>
            <a:r>
              <a:rPr lang="zh-CN" altLang="en-US" sz="2000" dirty="0"/>
              <a:t>者通过随机产生随机源</a:t>
            </a:r>
            <a:r>
              <a:rPr lang="en-US" altLang="zh-CN" sz="2000" dirty="0"/>
              <a:t>IP</a:t>
            </a:r>
            <a:r>
              <a:rPr lang="zh-CN" altLang="en-US" sz="2000" dirty="0"/>
              <a:t>和随机源端口，在已经建立</a:t>
            </a:r>
            <a:r>
              <a:rPr lang="en-US" altLang="zh-CN" sz="2000" dirty="0"/>
              <a:t>TCP</a:t>
            </a:r>
            <a:r>
              <a:rPr lang="zh-CN" altLang="en-US" sz="2000" dirty="0"/>
              <a:t>连接的情况下，对攻击目标发送一条</a:t>
            </a:r>
            <a:r>
              <a:rPr lang="en-US" altLang="zh-CN" sz="2000" dirty="0"/>
              <a:t>ACK</a:t>
            </a:r>
            <a:r>
              <a:rPr lang="zh-CN" altLang="en-US" sz="2000" dirty="0"/>
              <a:t>有效的消息，这违背了</a:t>
            </a:r>
            <a:r>
              <a:rPr lang="en-US" altLang="zh-CN" sz="2000" dirty="0"/>
              <a:t>TCP</a:t>
            </a:r>
            <a:r>
              <a:rPr lang="zh-CN" altLang="en-US" sz="2000" dirty="0"/>
              <a:t>三次握手的规定，主机</a:t>
            </a:r>
            <a:r>
              <a:rPr lang="en-US" altLang="zh-CN" sz="2000" dirty="0"/>
              <a:t>B</a:t>
            </a:r>
            <a:r>
              <a:rPr lang="zh-CN" altLang="en-US" sz="2000" dirty="0"/>
              <a:t>会向攻击者发送一条重置连接的消息。如果攻击者通过这样的方式不断的产生随机源和随机端口，那么主机</a:t>
            </a:r>
            <a:r>
              <a:rPr lang="en-US" altLang="zh-CN" sz="2000" dirty="0"/>
              <a:t>B</a:t>
            </a:r>
            <a:r>
              <a:rPr lang="zh-CN" altLang="en-US" sz="2000" dirty="0"/>
              <a:t>会花费大量的时间查询本地表然后进行回应。那么被攻击者会忙于处理这些非法请求，当正常用户对主机进行访问时，则不能为其提供服务。</a:t>
            </a:r>
          </a:p>
        </p:txBody>
      </p:sp>
      <p:sp>
        <p:nvSpPr>
          <p:cNvPr id="3" name="标题 2"/>
          <p:cNvSpPr>
            <a:spLocks noGrp="1"/>
          </p:cNvSpPr>
          <p:nvPr>
            <p:ph type="title"/>
          </p:nvPr>
        </p:nvSpPr>
        <p:spPr/>
        <p:txBody>
          <a:bodyPr/>
          <a:lstStyle/>
          <a:p>
            <a:r>
              <a:rPr lang="en-US" altLang="zh-CN" dirty="0"/>
              <a:t>TCP</a:t>
            </a:r>
            <a:r>
              <a:rPr lang="zh-CN" altLang="en-US" dirty="0"/>
              <a:t>协议</a:t>
            </a:r>
          </a:p>
        </p:txBody>
      </p:sp>
    </p:spTree>
    <p:extLst>
      <p:ext uri="{BB962C8B-B14F-4D97-AF65-F5344CB8AC3E}">
        <p14:creationId xmlns:p14="http://schemas.microsoft.com/office/powerpoint/2010/main" val="69791926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97852" y="1266852"/>
            <a:ext cx="8109267" cy="4808828"/>
          </a:xfrm>
        </p:spPr>
        <p:txBody>
          <a:bodyPr/>
          <a:lstStyle/>
          <a:p>
            <a:pPr lvl="1"/>
            <a:r>
              <a:rPr lang="zh-CN" altLang="en-US" sz="2000" dirty="0"/>
              <a:t>序列号预测攻击</a:t>
            </a:r>
          </a:p>
          <a:p>
            <a:pPr marL="457200" lvl="1" indent="0">
              <a:buNone/>
            </a:pPr>
            <a:r>
              <a:rPr lang="en-US" altLang="zh-CN" sz="2000" dirty="0" smtClean="0"/>
              <a:t>	</a:t>
            </a:r>
            <a:r>
              <a:rPr lang="zh-CN" altLang="en-US" sz="2000" dirty="0" smtClean="0"/>
              <a:t>在</a:t>
            </a:r>
            <a:r>
              <a:rPr lang="en-US" altLang="zh-CN" sz="2000" dirty="0"/>
              <a:t>TCP</a:t>
            </a:r>
            <a:r>
              <a:rPr lang="zh-CN" altLang="en-US" sz="2000" dirty="0"/>
              <a:t>协议中，数据包是否能被对方接收，取决于这个数据包的序列号是否是对方所期待的序列号，已经建立</a:t>
            </a:r>
            <a:r>
              <a:rPr lang="en-US" altLang="zh-CN" sz="2000" dirty="0"/>
              <a:t>TCP</a:t>
            </a:r>
            <a:r>
              <a:rPr lang="zh-CN" altLang="en-US" sz="2000" dirty="0"/>
              <a:t>连接的双方，是通过序列号和确认号来确认双方传输的，作为攻击者，如果通过端口猜测和序列号预测知道了已经建立的</a:t>
            </a:r>
            <a:r>
              <a:rPr lang="en-US" altLang="zh-CN" sz="2000" dirty="0"/>
              <a:t>TCP</a:t>
            </a:r>
            <a:r>
              <a:rPr lang="zh-CN" altLang="en-US" sz="2000" dirty="0"/>
              <a:t>连接的下一条消息的序列号，那么攻击者就可以伪造一个相应的数据包，将其发送到网络中，对方收到这个数据包后会认为是一个合法的数据包，从而进行接收和处理。</a:t>
            </a:r>
          </a:p>
        </p:txBody>
      </p:sp>
      <p:sp>
        <p:nvSpPr>
          <p:cNvPr id="3" name="标题 2"/>
          <p:cNvSpPr>
            <a:spLocks noGrp="1"/>
          </p:cNvSpPr>
          <p:nvPr>
            <p:ph type="title"/>
          </p:nvPr>
        </p:nvSpPr>
        <p:spPr/>
        <p:txBody>
          <a:bodyPr/>
          <a:lstStyle/>
          <a:p>
            <a:r>
              <a:rPr lang="en-US" altLang="zh-CN" dirty="0"/>
              <a:t>TCP</a:t>
            </a:r>
            <a:r>
              <a:rPr lang="zh-CN" altLang="en-US" dirty="0"/>
              <a:t>协议</a:t>
            </a:r>
          </a:p>
        </p:txBody>
      </p:sp>
    </p:spTree>
    <p:extLst>
      <p:ext uri="{BB962C8B-B14F-4D97-AF65-F5344CB8AC3E}">
        <p14:creationId xmlns:p14="http://schemas.microsoft.com/office/powerpoint/2010/main" val="159827648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97852" y="1266852"/>
            <a:ext cx="8109267" cy="4808828"/>
          </a:xfrm>
        </p:spPr>
        <p:txBody>
          <a:bodyPr/>
          <a:lstStyle/>
          <a:p>
            <a:pPr lvl="1"/>
            <a:r>
              <a:rPr lang="en-US" altLang="zh-CN" sz="2000" dirty="0"/>
              <a:t>LAND</a:t>
            </a:r>
            <a:r>
              <a:rPr lang="zh-CN" altLang="en-US" sz="2000" dirty="0"/>
              <a:t>攻击</a:t>
            </a:r>
          </a:p>
          <a:p>
            <a:pPr marL="457200" lvl="1" indent="0">
              <a:buNone/>
            </a:pPr>
            <a:r>
              <a:rPr lang="en-US" altLang="zh-CN" sz="2000" dirty="0" smtClean="0"/>
              <a:t>	</a:t>
            </a:r>
            <a:r>
              <a:rPr lang="zh-CN" altLang="en-US" sz="2000" dirty="0" smtClean="0"/>
              <a:t>在</a:t>
            </a:r>
            <a:r>
              <a:rPr lang="zh-CN" altLang="en-US" sz="2000" dirty="0"/>
              <a:t>建立三次握手时，发送</a:t>
            </a:r>
            <a:r>
              <a:rPr lang="en-US" altLang="zh-CN" sz="2000" dirty="0"/>
              <a:t>SYN</a:t>
            </a:r>
            <a:r>
              <a:rPr lang="zh-CN" altLang="en-US" sz="2000" dirty="0"/>
              <a:t>消息时，其目的</a:t>
            </a:r>
            <a:r>
              <a:rPr lang="en-US" altLang="zh-CN" sz="2000" dirty="0"/>
              <a:t>IP</a:t>
            </a:r>
            <a:r>
              <a:rPr lang="zh-CN" altLang="en-US" sz="2000" dirty="0"/>
              <a:t>和源</a:t>
            </a:r>
            <a:r>
              <a:rPr lang="en-US" altLang="zh-CN" sz="2000" dirty="0"/>
              <a:t>IP</a:t>
            </a:r>
            <a:r>
              <a:rPr lang="zh-CN" altLang="en-US" sz="2000" dirty="0"/>
              <a:t>均为服务器的</a:t>
            </a:r>
            <a:r>
              <a:rPr lang="en-US" altLang="zh-CN" sz="2000" dirty="0"/>
              <a:t>IP</a:t>
            </a:r>
            <a:r>
              <a:rPr lang="zh-CN" altLang="en-US" sz="2000" dirty="0"/>
              <a:t>地址，且源端口和目的端口也是相同的，此时服务器会建立一个自己与自己的空连接，从而占用大量的资源。</a:t>
            </a:r>
          </a:p>
        </p:txBody>
      </p:sp>
      <p:sp>
        <p:nvSpPr>
          <p:cNvPr id="3" name="标题 2"/>
          <p:cNvSpPr>
            <a:spLocks noGrp="1"/>
          </p:cNvSpPr>
          <p:nvPr>
            <p:ph type="title"/>
          </p:nvPr>
        </p:nvSpPr>
        <p:spPr/>
        <p:txBody>
          <a:bodyPr/>
          <a:lstStyle/>
          <a:p>
            <a:r>
              <a:rPr lang="en-US" altLang="zh-CN" dirty="0"/>
              <a:t>TCP</a:t>
            </a:r>
            <a:r>
              <a:rPr lang="zh-CN" altLang="en-US" dirty="0"/>
              <a:t>协议</a:t>
            </a:r>
          </a:p>
        </p:txBody>
      </p:sp>
    </p:spTree>
    <p:extLst>
      <p:ext uri="{BB962C8B-B14F-4D97-AF65-F5344CB8AC3E}">
        <p14:creationId xmlns:p14="http://schemas.microsoft.com/office/powerpoint/2010/main" val="320281429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419252"/>
            <a:ext cx="7772400" cy="4114800"/>
          </a:xfrm>
        </p:spPr>
        <p:txBody>
          <a:bodyPr/>
          <a:lstStyle/>
          <a:p>
            <a:r>
              <a:rPr lang="zh-CN" altLang="en-US" dirty="0"/>
              <a:t>安全性分析</a:t>
            </a:r>
            <a:endParaRPr lang="en-US" altLang="zh-CN" dirty="0"/>
          </a:p>
          <a:p>
            <a:pPr lvl="1"/>
            <a:r>
              <a:rPr lang="zh-CN" altLang="zh-CN" dirty="0"/>
              <a:t>网络扫描</a:t>
            </a:r>
            <a:endParaRPr lang="en-US" altLang="zh-CN" dirty="0"/>
          </a:p>
          <a:p>
            <a:pPr lvl="1"/>
            <a:r>
              <a:rPr lang="zh-CN" altLang="zh-CN" dirty="0"/>
              <a:t>拒绝服务（</a:t>
            </a:r>
            <a:r>
              <a:rPr lang="en-US" altLang="zh-CN" dirty="0"/>
              <a:t>DoS</a:t>
            </a:r>
            <a:r>
              <a:rPr lang="zh-CN" altLang="zh-CN" dirty="0"/>
              <a:t>）攻击</a:t>
            </a:r>
            <a:endParaRPr lang="en-US" altLang="zh-CN" dirty="0"/>
          </a:p>
          <a:p>
            <a:pPr lvl="1"/>
            <a:r>
              <a:rPr lang="en-US" altLang="zh-CN" dirty="0"/>
              <a:t>TCP</a:t>
            </a:r>
            <a:r>
              <a:rPr lang="zh-CN" altLang="zh-CN" dirty="0"/>
              <a:t>会话劫持攻击</a:t>
            </a:r>
            <a:endParaRPr lang="zh-CN" altLang="en-US" dirty="0"/>
          </a:p>
        </p:txBody>
      </p:sp>
      <p:sp>
        <p:nvSpPr>
          <p:cNvPr id="3" name="标题 2"/>
          <p:cNvSpPr>
            <a:spLocks noGrp="1"/>
          </p:cNvSpPr>
          <p:nvPr>
            <p:ph type="title"/>
          </p:nvPr>
        </p:nvSpPr>
        <p:spPr/>
        <p:txBody>
          <a:bodyPr/>
          <a:lstStyle/>
          <a:p>
            <a:r>
              <a:rPr lang="en-US" altLang="zh-CN" dirty="0"/>
              <a:t>TCP</a:t>
            </a:r>
            <a:r>
              <a:rPr lang="zh-CN" altLang="en-US" dirty="0"/>
              <a:t>协议</a:t>
            </a:r>
          </a:p>
        </p:txBody>
      </p:sp>
    </p:spTree>
    <p:extLst>
      <p:ext uri="{BB962C8B-B14F-4D97-AF65-F5344CB8AC3E}">
        <p14:creationId xmlns:p14="http://schemas.microsoft.com/office/powerpoint/2010/main" val="21423814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742026" y="2904661"/>
            <a:ext cx="5812325" cy="865481"/>
          </a:xfrm>
        </p:spPr>
        <p:txBody>
          <a:bodyPr/>
          <a:lstStyle/>
          <a:p>
            <a:pPr marL="0" indent="0">
              <a:buNone/>
            </a:pPr>
            <a:r>
              <a:rPr lang="zh-CN" altLang="en-US" dirty="0">
                <a:solidFill>
                  <a:srgbClr val="FF0000"/>
                </a:solidFill>
              </a:rPr>
              <a:t>九、</a:t>
            </a:r>
            <a:r>
              <a:rPr lang="en-US" altLang="zh-CN" dirty="0">
                <a:solidFill>
                  <a:srgbClr val="FF0000"/>
                </a:solidFill>
              </a:rPr>
              <a:t>DNS</a:t>
            </a:r>
            <a:r>
              <a:rPr lang="zh-CN" altLang="en-US" dirty="0">
                <a:solidFill>
                  <a:srgbClr val="FF0000"/>
                </a:solidFill>
              </a:rPr>
              <a:t>协议及其安全性分析</a:t>
            </a:r>
          </a:p>
        </p:txBody>
      </p:sp>
      <p:sp>
        <p:nvSpPr>
          <p:cNvPr id="3" name="标题 2"/>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140152843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dirty="0"/>
          </a:p>
        </p:txBody>
      </p:sp>
      <p:sp>
        <p:nvSpPr>
          <p:cNvPr id="3" name="标题 2"/>
          <p:cNvSpPr>
            <a:spLocks noGrp="1"/>
          </p:cNvSpPr>
          <p:nvPr>
            <p:ph type="title"/>
          </p:nvPr>
        </p:nvSpPr>
        <p:spPr/>
        <p:txBody>
          <a:bodyPr/>
          <a:lstStyle/>
          <a:p>
            <a:r>
              <a:rPr lang="en-US" altLang="zh-CN" dirty="0"/>
              <a:t>DNS</a:t>
            </a:r>
            <a:endParaRPr lang="zh-CN" altLang="en-US" dirty="0"/>
          </a:p>
        </p:txBody>
      </p:sp>
      <p:pic>
        <p:nvPicPr>
          <p:cNvPr id="2050" name="Picture 2" descr="https://timgsa.baidu.com/timg?image&amp;quality=80&amp;size=b9999_10000&amp;sec=1584356235573&amp;di=8eb39871eaca54e7d713a345d0a895f3&amp;imgtype=jpg&amp;src=http%3A%2F%2Fimg4.imgtn.bdimg.com%2Fit%2Fu%3D3483790179%2C2323787703%26fm%3D214%26gp%3D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9251" y="1531303"/>
            <a:ext cx="7066280" cy="4160520"/>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819251" y="6311372"/>
            <a:ext cx="6786080" cy="646331"/>
          </a:xfrm>
          <a:prstGeom prst="rect">
            <a:avLst/>
          </a:prstGeom>
        </p:spPr>
        <p:txBody>
          <a:bodyPr wrap="square">
            <a:spAutoFit/>
          </a:bodyPr>
          <a:lstStyle/>
          <a:p>
            <a:r>
              <a:rPr lang="zh-CN" altLang="en-US" b="0" dirty="0" smtClean="0"/>
              <a:t>详见：</a:t>
            </a:r>
            <a:r>
              <a:rPr lang="en-US" altLang="zh-CN" b="0" dirty="0" smtClean="0"/>
              <a:t>DNS</a:t>
            </a:r>
            <a:r>
              <a:rPr lang="zh-CN" altLang="en-US" b="0" dirty="0"/>
              <a:t>报文格式</a:t>
            </a:r>
            <a:r>
              <a:rPr lang="zh-CN" altLang="en-US" b="0" dirty="0" smtClean="0"/>
              <a:t>解析</a:t>
            </a:r>
            <a:r>
              <a:rPr lang="zh-CN" altLang="en-US" dirty="0" smtClean="0"/>
              <a:t>http</a:t>
            </a:r>
            <a:r>
              <a:rPr lang="zh-CN" altLang="en-US" dirty="0"/>
              <a:t>://c.biancheng.net/view/6457.html</a:t>
            </a:r>
          </a:p>
        </p:txBody>
      </p:sp>
    </p:spTree>
    <p:extLst>
      <p:ext uri="{BB962C8B-B14F-4D97-AF65-F5344CB8AC3E}">
        <p14:creationId xmlns:p14="http://schemas.microsoft.com/office/powerpoint/2010/main" val="19117201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406679"/>
            <a:ext cx="7772400" cy="4114800"/>
          </a:xfrm>
        </p:spPr>
        <p:txBody>
          <a:bodyPr/>
          <a:lstStyle/>
          <a:p>
            <a:r>
              <a:rPr lang="zh-CN" altLang="zh-CN" sz="2800" dirty="0"/>
              <a:t>递归查询</a:t>
            </a:r>
            <a:endParaRPr lang="zh-CN" altLang="en-US" sz="2800" dirty="0"/>
          </a:p>
        </p:txBody>
      </p:sp>
      <p:sp>
        <p:nvSpPr>
          <p:cNvPr id="3" name="标题 2"/>
          <p:cNvSpPr>
            <a:spLocks noGrp="1"/>
          </p:cNvSpPr>
          <p:nvPr>
            <p:ph type="title"/>
          </p:nvPr>
        </p:nvSpPr>
        <p:spPr/>
        <p:txBody>
          <a:bodyPr/>
          <a:lstStyle/>
          <a:p>
            <a:r>
              <a:rPr lang="zh-CN" altLang="en-US" sz="3600" dirty="0"/>
              <a:t>以浏览网站为例说明域名解析过程</a:t>
            </a:r>
          </a:p>
        </p:txBody>
      </p:sp>
      <p:sp>
        <p:nvSpPr>
          <p:cNvPr id="4" name="Rectangle 2"/>
          <p:cNvSpPr>
            <a:spLocks noChangeArrowheads="1"/>
          </p:cNvSpPr>
          <p:nvPr/>
        </p:nvSpPr>
        <p:spPr bwMode="auto">
          <a:xfrm>
            <a:off x="1474839" y="2698954"/>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6" name="图片 5"/>
          <p:cNvPicPr>
            <a:picLocks noChangeAspect="1"/>
          </p:cNvPicPr>
          <p:nvPr/>
        </p:nvPicPr>
        <p:blipFill>
          <a:blip r:embed="rId3"/>
          <a:stretch>
            <a:fillRect/>
          </a:stretch>
        </p:blipFill>
        <p:spPr>
          <a:xfrm>
            <a:off x="817765" y="2244436"/>
            <a:ext cx="7613448" cy="3581997"/>
          </a:xfrm>
          <a:prstGeom prst="rect">
            <a:avLst/>
          </a:prstGeom>
        </p:spPr>
      </p:pic>
    </p:spTree>
    <p:extLst>
      <p:ext uri="{BB962C8B-B14F-4D97-AF65-F5344CB8AC3E}">
        <p14:creationId xmlns:p14="http://schemas.microsoft.com/office/powerpoint/2010/main" val="3280515083"/>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75439" y="1354658"/>
            <a:ext cx="7772400" cy="4746884"/>
          </a:xfrm>
        </p:spPr>
        <p:txBody>
          <a:bodyPr/>
          <a:lstStyle/>
          <a:p>
            <a:r>
              <a:rPr lang="zh-CN" altLang="en-US" dirty="0"/>
              <a:t>浏览器导航栏中键入网站的域名或单击 </a:t>
            </a:r>
            <a:r>
              <a:rPr lang="en-US" altLang="zh-CN" dirty="0"/>
              <a:t>URL </a:t>
            </a:r>
            <a:r>
              <a:rPr lang="zh-CN" altLang="en-US" dirty="0"/>
              <a:t>链接后，浏览器将启动 </a:t>
            </a:r>
            <a:r>
              <a:rPr lang="en-US" altLang="zh-CN" dirty="0"/>
              <a:t>DNS </a:t>
            </a:r>
            <a:r>
              <a:rPr lang="zh-CN" altLang="en-US" dirty="0"/>
              <a:t>解析过程来查找这些 </a:t>
            </a:r>
            <a:r>
              <a:rPr lang="en-US" altLang="zh-CN" dirty="0"/>
              <a:t>IP </a:t>
            </a:r>
            <a:r>
              <a:rPr lang="zh-CN" altLang="en-US" dirty="0"/>
              <a:t>地址</a:t>
            </a:r>
            <a:endParaRPr lang="en-US" altLang="zh-CN" dirty="0"/>
          </a:p>
          <a:p>
            <a:pPr lvl="1"/>
            <a:r>
              <a:rPr lang="zh-CN" altLang="en-US" dirty="0"/>
              <a:t>浏览器会向“解析器”</a:t>
            </a:r>
            <a:r>
              <a:rPr lang="en-US" altLang="zh-CN" dirty="0"/>
              <a:t>(resolver)</a:t>
            </a:r>
            <a:r>
              <a:rPr lang="zh-CN" altLang="en-US" dirty="0"/>
              <a:t>发送一个查询，解析器会在本地保留以前查询过的问题的答案副本（缓存），如果存在直接响应浏览器。如果缓存中没有，则解析器会执行完整的 </a:t>
            </a:r>
            <a:r>
              <a:rPr lang="en-US" altLang="zh-CN" dirty="0"/>
              <a:t>DNS </a:t>
            </a:r>
            <a:r>
              <a:rPr lang="zh-CN" altLang="en-US" dirty="0"/>
              <a:t>解析过程。</a:t>
            </a:r>
          </a:p>
        </p:txBody>
      </p:sp>
      <p:sp>
        <p:nvSpPr>
          <p:cNvPr id="3" name="标题 2"/>
          <p:cNvSpPr>
            <a:spLocks noGrp="1"/>
          </p:cNvSpPr>
          <p:nvPr>
            <p:ph type="title"/>
          </p:nvPr>
        </p:nvSpPr>
        <p:spPr/>
        <p:txBody>
          <a:bodyPr/>
          <a:lstStyle/>
          <a:p>
            <a:r>
              <a:rPr lang="zh-CN" altLang="en-US" sz="3600" dirty="0"/>
              <a:t>以浏览网站为例说明域名解析过程</a:t>
            </a:r>
          </a:p>
        </p:txBody>
      </p:sp>
    </p:spTree>
    <p:extLst>
      <p:ext uri="{BB962C8B-B14F-4D97-AF65-F5344CB8AC3E}">
        <p14:creationId xmlns:p14="http://schemas.microsoft.com/office/powerpoint/2010/main" val="217419578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93077" y="1471037"/>
            <a:ext cx="8650923" cy="4746884"/>
          </a:xfrm>
        </p:spPr>
        <p:txBody>
          <a:bodyPr/>
          <a:lstStyle/>
          <a:p>
            <a:pPr marL="514350" indent="-514350">
              <a:lnSpc>
                <a:spcPts val="4000"/>
              </a:lnSpc>
              <a:buSzPct val="100000"/>
              <a:buFont typeface="+mj-ea"/>
              <a:buAutoNum type="circleNumDbPlain"/>
            </a:pPr>
            <a:r>
              <a:rPr lang="zh-CN" altLang="en-US" sz="2800" dirty="0"/>
              <a:t>向 </a:t>
            </a:r>
            <a:r>
              <a:rPr lang="en-US" altLang="zh-CN" sz="2800" dirty="0"/>
              <a:t>13 </a:t>
            </a:r>
            <a:r>
              <a:rPr lang="zh-CN" altLang="en-US" sz="2800" dirty="0"/>
              <a:t>个根服务器中的任意一个根服务器发送包含网站域名的查询，询问该网站对应的 </a:t>
            </a:r>
            <a:r>
              <a:rPr lang="en-US" altLang="zh-CN" sz="2800" dirty="0"/>
              <a:t>IP </a:t>
            </a:r>
            <a:r>
              <a:rPr lang="zh-CN" altLang="en-US" sz="2800" dirty="0"/>
              <a:t>地址。收到查询请求的根服务器会返回一个“引荐”（</a:t>
            </a:r>
            <a:r>
              <a:rPr lang="en-US" altLang="zh-CN" sz="2800" dirty="0"/>
              <a:t>referral</a:t>
            </a:r>
            <a:r>
              <a:rPr lang="zh-CN" altLang="en-US" sz="2800" dirty="0"/>
              <a:t>）作为响应，包含网站域名 </a:t>
            </a:r>
            <a:r>
              <a:rPr lang="en-US" altLang="zh-CN" sz="2800" dirty="0"/>
              <a:t>TLD </a:t>
            </a:r>
            <a:r>
              <a:rPr lang="zh-CN" altLang="en-US" sz="2800" dirty="0"/>
              <a:t>的名称服务器的列表。例如，如果您尝试访问网站 </a:t>
            </a:r>
            <a:r>
              <a:rPr lang="en-US" altLang="zh-CN" sz="2800" dirty="0"/>
              <a:t>www.example.com</a:t>
            </a:r>
            <a:r>
              <a:rPr lang="zh-CN" altLang="en-US" sz="2800" dirty="0"/>
              <a:t>，您的解析器将向其中一个根服务器发送一个查询，询问该域名的 </a:t>
            </a:r>
            <a:r>
              <a:rPr lang="en-US" altLang="zh-CN" sz="2800" dirty="0"/>
              <a:t>IP </a:t>
            </a:r>
            <a:r>
              <a:rPr lang="zh-CN" altLang="en-US" sz="2800" dirty="0"/>
              <a:t>地址，此时，根服务器将返回一个列出了 “</a:t>
            </a:r>
            <a:r>
              <a:rPr lang="en-US" altLang="zh-CN" sz="2800" dirty="0"/>
              <a:t>.com”</a:t>
            </a:r>
            <a:r>
              <a:rPr lang="zh-CN" altLang="en-US" sz="2800" dirty="0"/>
              <a:t>（我们示例中的 </a:t>
            </a:r>
            <a:r>
              <a:rPr lang="en-US" altLang="zh-CN" sz="2800" dirty="0"/>
              <a:t>TLD</a:t>
            </a:r>
            <a:r>
              <a:rPr lang="zh-CN" altLang="en-US" sz="2800" dirty="0"/>
              <a:t>）的所有名称服务器的列表。</a:t>
            </a:r>
          </a:p>
        </p:txBody>
      </p:sp>
      <p:sp>
        <p:nvSpPr>
          <p:cNvPr id="3" name="标题 2"/>
          <p:cNvSpPr>
            <a:spLocks noGrp="1"/>
          </p:cNvSpPr>
          <p:nvPr>
            <p:ph type="title"/>
          </p:nvPr>
        </p:nvSpPr>
        <p:spPr/>
        <p:txBody>
          <a:bodyPr/>
          <a:lstStyle/>
          <a:p>
            <a:r>
              <a:rPr lang="zh-CN" altLang="en-US" sz="3600" dirty="0"/>
              <a:t>以浏览网站为例说明域名解析过程</a:t>
            </a:r>
          </a:p>
        </p:txBody>
      </p:sp>
    </p:spTree>
    <p:extLst>
      <p:ext uri="{BB962C8B-B14F-4D97-AF65-F5344CB8AC3E}">
        <p14:creationId xmlns:p14="http://schemas.microsoft.com/office/powerpoint/2010/main" val="272182139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93054" y="1288155"/>
            <a:ext cx="8650921" cy="5096019"/>
          </a:xfrm>
        </p:spPr>
        <p:txBody>
          <a:bodyPr/>
          <a:lstStyle/>
          <a:p>
            <a:pPr marL="514350" indent="-514350">
              <a:lnSpc>
                <a:spcPts val="4000"/>
              </a:lnSpc>
              <a:buSzPct val="100000"/>
              <a:buFont typeface="+mj-ea"/>
              <a:buAutoNum type="circleNumDbPlain" startAt="2"/>
            </a:pPr>
            <a:r>
              <a:rPr lang="zh-CN" altLang="en-US" sz="2800" dirty="0"/>
              <a:t>将同一查询发送到引荐响应中收到的其中一个 </a:t>
            </a:r>
            <a:r>
              <a:rPr lang="en-US" altLang="zh-CN" sz="2800" dirty="0"/>
              <a:t>TLD </a:t>
            </a:r>
            <a:r>
              <a:rPr lang="zh-CN" altLang="en-US" sz="2800" dirty="0"/>
              <a:t>的名称服务器。</a:t>
            </a:r>
            <a:r>
              <a:rPr lang="en-US" altLang="zh-CN" sz="2800" dirty="0"/>
              <a:t>TLD </a:t>
            </a:r>
            <a:r>
              <a:rPr lang="zh-CN" altLang="en-US" sz="2800" dirty="0"/>
              <a:t>名称服务器通常也只包含它们负责的域的名称服务器信息。因此，就像发送到根服务器的查询一样，发送到 </a:t>
            </a:r>
            <a:r>
              <a:rPr lang="en-US" altLang="zh-CN" sz="2800" dirty="0"/>
              <a:t>TLD </a:t>
            </a:r>
            <a:r>
              <a:rPr lang="zh-CN" altLang="en-US" sz="2800" dirty="0"/>
              <a:t>名称服务器的查询也会收到引荐响应，提供一个有关所查询的二级域的名称服务器列表。如前例，解析器将向其中一个“</a:t>
            </a:r>
            <a:r>
              <a:rPr lang="en-US" altLang="zh-CN" sz="2800" dirty="0"/>
              <a:t>.com”</a:t>
            </a:r>
            <a:r>
              <a:rPr lang="zh-CN" altLang="en-US" sz="2800" dirty="0"/>
              <a:t>名称服务器发送对“</a:t>
            </a:r>
            <a:r>
              <a:rPr lang="en-US" altLang="zh-CN" sz="2800" dirty="0"/>
              <a:t>www.example.com”</a:t>
            </a:r>
            <a:r>
              <a:rPr lang="zh-CN" altLang="en-US" sz="2800" dirty="0"/>
              <a:t>的查询，询问该域名的 </a:t>
            </a:r>
            <a:r>
              <a:rPr lang="en-US" altLang="zh-CN" sz="2800" dirty="0"/>
              <a:t>IP </a:t>
            </a:r>
            <a:r>
              <a:rPr lang="zh-CN" altLang="en-US" sz="2800" dirty="0"/>
              <a:t>地址，“</a:t>
            </a:r>
            <a:r>
              <a:rPr lang="en-US" altLang="zh-CN" sz="2800" dirty="0"/>
              <a:t>.com” </a:t>
            </a:r>
            <a:r>
              <a:rPr lang="zh-CN" altLang="en-US" sz="2800" dirty="0"/>
              <a:t>名称服务器将返回一个列出“</a:t>
            </a:r>
            <a:r>
              <a:rPr lang="en-US" altLang="zh-CN" sz="2800" dirty="0"/>
              <a:t>example.com”</a:t>
            </a:r>
            <a:r>
              <a:rPr lang="zh-CN" altLang="en-US" sz="2800" dirty="0"/>
              <a:t>的所有名称服务器的列表。</a:t>
            </a:r>
            <a:endParaRPr lang="en-US" altLang="zh-CN" sz="2800" dirty="0"/>
          </a:p>
          <a:p>
            <a:pPr marL="514350" indent="-514350">
              <a:buSzPct val="100000"/>
              <a:buFont typeface="+mj-ea"/>
              <a:buAutoNum type="circleNumDbPlain" startAt="2"/>
            </a:pPr>
            <a:endParaRPr lang="zh-CN" altLang="en-US" sz="2800" dirty="0"/>
          </a:p>
        </p:txBody>
      </p:sp>
      <p:sp>
        <p:nvSpPr>
          <p:cNvPr id="3" name="标题 2"/>
          <p:cNvSpPr>
            <a:spLocks noGrp="1"/>
          </p:cNvSpPr>
          <p:nvPr>
            <p:ph type="title"/>
          </p:nvPr>
        </p:nvSpPr>
        <p:spPr/>
        <p:txBody>
          <a:bodyPr/>
          <a:lstStyle/>
          <a:p>
            <a:r>
              <a:rPr lang="zh-CN" altLang="en-US" sz="3600" dirty="0"/>
              <a:t>以浏览网站为例说明域名解析过程</a:t>
            </a:r>
          </a:p>
        </p:txBody>
      </p:sp>
    </p:spTree>
    <p:extLst>
      <p:ext uri="{BB962C8B-B14F-4D97-AF65-F5344CB8AC3E}">
        <p14:creationId xmlns:p14="http://schemas.microsoft.com/office/powerpoint/2010/main" val="185884320"/>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2806" y="1587413"/>
            <a:ext cx="8285681" cy="4580631"/>
          </a:xfrm>
        </p:spPr>
        <p:txBody>
          <a:bodyPr/>
          <a:lstStyle/>
          <a:p>
            <a:pPr marL="514350" indent="-514350">
              <a:lnSpc>
                <a:spcPts val="4000"/>
              </a:lnSpc>
              <a:buSzPct val="100000"/>
              <a:buFont typeface="+mj-ea"/>
              <a:buAutoNum type="circleNumDbPlain" startAt="3"/>
            </a:pPr>
            <a:r>
              <a:rPr lang="zh-CN" altLang="en-US" sz="2800" dirty="0"/>
              <a:t>此解析过程将一直继续，直到将查询发送到符合以下条件之一的域名服务器：拥有答案，即</a:t>
            </a:r>
            <a:r>
              <a:rPr lang="en-US" altLang="zh-CN" sz="2800" dirty="0"/>
              <a:t>Web </a:t>
            </a:r>
            <a:r>
              <a:rPr lang="zh-CN" altLang="en-US" sz="2800" dirty="0"/>
              <a:t>服务器的 </a:t>
            </a:r>
            <a:r>
              <a:rPr lang="en-US" altLang="zh-CN" sz="2800" dirty="0"/>
              <a:t>IP </a:t>
            </a:r>
            <a:r>
              <a:rPr lang="zh-CN" altLang="en-US" sz="2800" dirty="0"/>
              <a:t>地址；或者域名服务器能够发布权威性声明，表示所查询的域名不存在。在示例中，解析器将向其中一个“</a:t>
            </a:r>
            <a:r>
              <a:rPr lang="en-US" altLang="zh-CN" sz="2800" dirty="0"/>
              <a:t>example.com”</a:t>
            </a:r>
            <a:r>
              <a:rPr lang="zh-CN" altLang="en-US" sz="2800" dirty="0"/>
              <a:t>的名称服务器发送对“</a:t>
            </a:r>
            <a:r>
              <a:rPr lang="en-US" altLang="zh-CN" sz="2800" dirty="0"/>
              <a:t>www.example.com”</a:t>
            </a:r>
            <a:r>
              <a:rPr lang="zh-CN" altLang="en-US" sz="2800" dirty="0"/>
              <a:t>的查询，该名称服务器可能知道与“</a:t>
            </a:r>
            <a:r>
              <a:rPr lang="en-US" altLang="zh-CN" sz="2800" dirty="0"/>
              <a:t>www.example.com”</a:t>
            </a:r>
            <a:r>
              <a:rPr lang="zh-CN" altLang="en-US" sz="2800" dirty="0"/>
              <a:t>相关的 </a:t>
            </a:r>
            <a:r>
              <a:rPr lang="en-US" altLang="zh-CN" sz="2800" dirty="0"/>
              <a:t>IP </a:t>
            </a:r>
            <a:r>
              <a:rPr lang="zh-CN" altLang="en-US" sz="2800" dirty="0"/>
              <a:t>地址，并返回这些地址。。</a:t>
            </a:r>
            <a:endParaRPr lang="en-US" altLang="zh-CN" sz="2800" dirty="0"/>
          </a:p>
          <a:p>
            <a:pPr marL="514350" indent="-514350">
              <a:buSzPct val="100000"/>
              <a:buFont typeface="+mj-ea"/>
              <a:buAutoNum type="circleNumDbPlain" startAt="3"/>
            </a:pPr>
            <a:endParaRPr lang="zh-CN" altLang="en-US" sz="2800" dirty="0"/>
          </a:p>
        </p:txBody>
      </p:sp>
      <p:sp>
        <p:nvSpPr>
          <p:cNvPr id="3" name="标题 2"/>
          <p:cNvSpPr>
            <a:spLocks noGrp="1"/>
          </p:cNvSpPr>
          <p:nvPr>
            <p:ph type="title"/>
          </p:nvPr>
        </p:nvSpPr>
        <p:spPr/>
        <p:txBody>
          <a:bodyPr/>
          <a:lstStyle/>
          <a:p>
            <a:r>
              <a:rPr lang="zh-CN" altLang="en-US" sz="3600" dirty="0"/>
              <a:t>以浏览网站为例说明域名解析过程</a:t>
            </a:r>
          </a:p>
        </p:txBody>
      </p:sp>
    </p:spTree>
    <p:extLst>
      <p:ext uri="{BB962C8B-B14F-4D97-AF65-F5344CB8AC3E}">
        <p14:creationId xmlns:p14="http://schemas.microsoft.com/office/powerpoint/2010/main" val="1811493549"/>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554163"/>
            <a:ext cx="7698803" cy="4114800"/>
          </a:xfrm>
        </p:spPr>
        <p:txBody>
          <a:bodyPr/>
          <a:lstStyle/>
          <a:p>
            <a:r>
              <a:rPr lang="zh-CN" altLang="en-US" dirty="0"/>
              <a:t>根服务器系统（</a:t>
            </a:r>
            <a:r>
              <a:rPr lang="en-US" altLang="zh-CN" dirty="0"/>
              <a:t>root server system</a:t>
            </a:r>
            <a:r>
              <a:rPr lang="zh-CN" altLang="en-US" dirty="0"/>
              <a:t>）由 </a:t>
            </a:r>
            <a:r>
              <a:rPr lang="en-US" altLang="zh-CN" dirty="0" smtClean="0"/>
              <a:t>1524</a:t>
            </a:r>
            <a:r>
              <a:rPr lang="zh-CN" altLang="en-US" dirty="0" smtClean="0"/>
              <a:t>台（截止</a:t>
            </a:r>
            <a:r>
              <a:rPr lang="en-US" altLang="zh-CN" dirty="0" smtClean="0"/>
              <a:t>2022-3-11</a:t>
            </a:r>
            <a:r>
              <a:rPr lang="zh-CN" altLang="en-US" dirty="0" smtClean="0"/>
              <a:t>）单独</a:t>
            </a:r>
            <a:r>
              <a:rPr lang="zh-CN" altLang="en-US" dirty="0"/>
              <a:t>的计算机（称为</a:t>
            </a:r>
            <a:r>
              <a:rPr lang="zh-CN" altLang="en-US" b="1" dirty="0"/>
              <a:t>根服务器“节点”</a:t>
            </a:r>
            <a:r>
              <a:rPr lang="en-US" altLang="zh-CN" b="1" dirty="0"/>
              <a:t>【instance】</a:t>
            </a:r>
            <a:r>
              <a:rPr lang="zh-CN" altLang="en-US" dirty="0"/>
              <a:t>）组成，这些计算机会保留 </a:t>
            </a:r>
            <a:r>
              <a:rPr lang="en-US" altLang="zh-CN" dirty="0"/>
              <a:t>DNS </a:t>
            </a:r>
            <a:r>
              <a:rPr lang="zh-CN" altLang="en-US" dirty="0"/>
              <a:t>的根数据。这些节点通过引荐顶级域的名称服务器来响应来自互联网解析器的查询。</a:t>
            </a:r>
            <a:endParaRPr lang="en-US" altLang="zh-CN" dirty="0"/>
          </a:p>
          <a:p>
            <a:r>
              <a:rPr lang="zh-CN" altLang="en-US" dirty="0">
                <a:solidFill>
                  <a:srgbClr val="FF0000"/>
                </a:solidFill>
              </a:rPr>
              <a:t>根服务器镜像</a:t>
            </a:r>
          </a:p>
        </p:txBody>
      </p:sp>
      <p:sp>
        <p:nvSpPr>
          <p:cNvPr id="3" name="标题 2"/>
          <p:cNvSpPr>
            <a:spLocks noGrp="1"/>
          </p:cNvSpPr>
          <p:nvPr>
            <p:ph type="title"/>
          </p:nvPr>
        </p:nvSpPr>
        <p:spPr/>
        <p:txBody>
          <a:bodyPr/>
          <a:lstStyle/>
          <a:p>
            <a:r>
              <a:rPr lang="zh-CN" altLang="en-US" dirty="0"/>
              <a:t>根域名服务器</a:t>
            </a:r>
          </a:p>
        </p:txBody>
      </p:sp>
    </p:spTree>
    <p:extLst>
      <p:ext uri="{BB962C8B-B14F-4D97-AF65-F5344CB8AC3E}">
        <p14:creationId xmlns:p14="http://schemas.microsoft.com/office/powerpoint/2010/main" val="4289269119"/>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05480" y="1365476"/>
            <a:ext cx="8477123" cy="4716009"/>
          </a:xfrm>
        </p:spPr>
      </p:pic>
      <p:sp>
        <p:nvSpPr>
          <p:cNvPr id="3" name="标题 2"/>
          <p:cNvSpPr>
            <a:spLocks noGrp="1"/>
          </p:cNvSpPr>
          <p:nvPr>
            <p:ph type="title"/>
          </p:nvPr>
        </p:nvSpPr>
        <p:spPr/>
        <p:txBody>
          <a:bodyPr/>
          <a:lstStyle/>
          <a:p>
            <a:r>
              <a:rPr lang="zh-CN" altLang="en-US" dirty="0"/>
              <a:t>根域名服务器</a:t>
            </a:r>
          </a:p>
        </p:txBody>
      </p:sp>
      <p:sp>
        <p:nvSpPr>
          <p:cNvPr id="5" name="矩形 4"/>
          <p:cNvSpPr/>
          <p:nvPr/>
        </p:nvSpPr>
        <p:spPr>
          <a:xfrm>
            <a:off x="824795" y="6371549"/>
            <a:ext cx="6432348" cy="369332"/>
          </a:xfrm>
          <a:prstGeom prst="rect">
            <a:avLst/>
          </a:prstGeom>
        </p:spPr>
        <p:txBody>
          <a:bodyPr wrap="square">
            <a:spAutoFit/>
          </a:bodyPr>
          <a:lstStyle/>
          <a:p>
            <a:r>
              <a:rPr lang="zh-CN" altLang="en-US" dirty="0"/>
              <a:t>https://www.iana.org/domains/root/servers</a:t>
            </a:r>
          </a:p>
        </p:txBody>
      </p:sp>
    </p:spTree>
    <p:extLst>
      <p:ext uri="{BB962C8B-B14F-4D97-AF65-F5344CB8AC3E}">
        <p14:creationId xmlns:p14="http://schemas.microsoft.com/office/powerpoint/2010/main" val="472435102"/>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Grp="1" noChangeAspect="1"/>
          </p:cNvPicPr>
          <p:nvPr>
            <p:ph idx="1"/>
          </p:nvPr>
        </p:nvPicPr>
        <p:blipFill>
          <a:blip r:embed="rId3"/>
          <a:stretch>
            <a:fillRect/>
          </a:stretch>
        </p:blipFill>
        <p:spPr>
          <a:xfrm>
            <a:off x="0" y="1101725"/>
            <a:ext cx="9139497" cy="4602389"/>
          </a:xfrm>
          <a:prstGeom prst="rect">
            <a:avLst/>
          </a:prstGeom>
        </p:spPr>
      </p:pic>
      <p:sp>
        <p:nvSpPr>
          <p:cNvPr id="3" name="标题 2"/>
          <p:cNvSpPr>
            <a:spLocks noGrp="1"/>
          </p:cNvSpPr>
          <p:nvPr>
            <p:ph type="title"/>
          </p:nvPr>
        </p:nvSpPr>
        <p:spPr/>
        <p:txBody>
          <a:bodyPr/>
          <a:lstStyle/>
          <a:p>
            <a:r>
              <a:rPr lang="zh-CN" altLang="en-US" dirty="0"/>
              <a:t>根域名服务器</a:t>
            </a:r>
          </a:p>
        </p:txBody>
      </p:sp>
      <p:pic>
        <p:nvPicPr>
          <p:cNvPr id="5" name="图片 4"/>
          <p:cNvPicPr>
            <a:picLocks noChangeAspect="1"/>
          </p:cNvPicPr>
          <p:nvPr/>
        </p:nvPicPr>
        <p:blipFill>
          <a:blip r:embed="rId4"/>
          <a:stretch>
            <a:fillRect/>
          </a:stretch>
        </p:blipFill>
        <p:spPr>
          <a:xfrm>
            <a:off x="0" y="1101725"/>
            <a:ext cx="9130098" cy="4312104"/>
          </a:xfrm>
          <a:prstGeom prst="rect">
            <a:avLst/>
          </a:prstGeom>
        </p:spPr>
      </p:pic>
      <p:sp>
        <p:nvSpPr>
          <p:cNvPr id="6" name="矩形 5"/>
          <p:cNvSpPr/>
          <p:nvPr/>
        </p:nvSpPr>
        <p:spPr>
          <a:xfrm>
            <a:off x="860083" y="6300209"/>
            <a:ext cx="3156633" cy="369332"/>
          </a:xfrm>
          <a:prstGeom prst="rect">
            <a:avLst/>
          </a:prstGeom>
        </p:spPr>
        <p:txBody>
          <a:bodyPr wrap="none">
            <a:spAutoFit/>
          </a:bodyPr>
          <a:lstStyle/>
          <a:p>
            <a:r>
              <a:rPr lang="zh-CN" altLang="en-US" dirty="0"/>
              <a:t>https://root-servers.org/</a:t>
            </a:r>
          </a:p>
        </p:txBody>
      </p:sp>
    </p:spTree>
    <p:extLst>
      <p:ext uri="{BB962C8B-B14F-4D97-AF65-F5344CB8AC3E}">
        <p14:creationId xmlns:p14="http://schemas.microsoft.com/office/powerpoint/2010/main" val="4026841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406679"/>
            <a:ext cx="7772400" cy="4114800"/>
          </a:xfrm>
        </p:spPr>
        <p:txBody>
          <a:bodyPr/>
          <a:lstStyle/>
          <a:p>
            <a:r>
              <a:rPr lang="zh-CN" altLang="zh-CN" sz="2800" dirty="0"/>
              <a:t>递归与迭代相结合的查询</a:t>
            </a:r>
            <a:endParaRPr lang="zh-CN" altLang="en-US" sz="2800" dirty="0"/>
          </a:p>
        </p:txBody>
      </p:sp>
      <p:sp>
        <p:nvSpPr>
          <p:cNvPr id="3" name="标题 2"/>
          <p:cNvSpPr>
            <a:spLocks noGrp="1"/>
          </p:cNvSpPr>
          <p:nvPr>
            <p:ph type="title"/>
          </p:nvPr>
        </p:nvSpPr>
        <p:spPr/>
        <p:txBody>
          <a:bodyPr/>
          <a:lstStyle/>
          <a:p>
            <a:r>
              <a:rPr lang="en-US" altLang="zh-CN" dirty="0"/>
              <a:t>DNS</a:t>
            </a:r>
            <a:endParaRPr lang="zh-CN" altLang="en-US" dirty="0"/>
          </a:p>
        </p:txBody>
      </p:sp>
      <p:sp>
        <p:nvSpPr>
          <p:cNvPr id="4" name="Rectangle 2"/>
          <p:cNvSpPr>
            <a:spLocks noChangeArrowheads="1"/>
          </p:cNvSpPr>
          <p:nvPr/>
        </p:nvSpPr>
        <p:spPr bwMode="auto">
          <a:xfrm>
            <a:off x="1474839" y="2698954"/>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nvPr>
        </p:nvGraphicFramePr>
        <p:xfrm>
          <a:off x="658813" y="2446654"/>
          <a:ext cx="7537609" cy="3555939"/>
        </p:xfrm>
        <a:graphic>
          <a:graphicData uri="http://schemas.openxmlformats.org/presentationml/2006/ole">
            <mc:AlternateContent xmlns:mc="http://schemas.openxmlformats.org/markup-compatibility/2006">
              <mc:Choice xmlns:v="urn:schemas-microsoft-com:vml" Requires="v">
                <p:oleObj spid="_x0000_s10317" name="演示文稿" r:id="rId3" imgW="4572000" imgH="3429000" progId="PowerPoint.Show.8">
                  <p:embed/>
                </p:oleObj>
              </mc:Choice>
              <mc:Fallback>
                <p:oleObj name="演示文稿" r:id="rId3" imgW="4572000" imgH="3429000" progId="PowerPoint.Show.8">
                  <p:embed/>
                  <p:pic>
                    <p:nvPicPr>
                      <p:cNvPr id="5" name="对象 4"/>
                      <p:cNvPicPr>
                        <a:picLocks noChangeAspect="1" noChangeArrowheads="1"/>
                      </p:cNvPicPr>
                      <p:nvPr/>
                    </p:nvPicPr>
                    <p:blipFill>
                      <a:blip r:embed="rId4">
                        <a:extLst>
                          <a:ext uri="{28A0092B-C50C-407E-A947-70E740481C1C}">
                            <a14:useLocalDpi xmlns:a14="http://schemas.microsoft.com/office/drawing/2010/main" val="0"/>
                          </a:ext>
                        </a:extLst>
                      </a:blip>
                      <a:srcRect l="2251" t="3479" b="38893"/>
                      <a:stretch>
                        <a:fillRect/>
                      </a:stretch>
                    </p:blipFill>
                    <p:spPr bwMode="auto">
                      <a:xfrm>
                        <a:off x="658813" y="2446654"/>
                        <a:ext cx="7537609" cy="3555939"/>
                      </a:xfrm>
                      <a:prstGeom prst="rect">
                        <a:avLst/>
                      </a:prstGeom>
                      <a:noFill/>
                    </p:spPr>
                  </p:pic>
                </p:oleObj>
              </mc:Fallback>
            </mc:AlternateContent>
          </a:graphicData>
        </a:graphic>
      </p:graphicFrame>
    </p:spTree>
    <p:extLst>
      <p:ext uri="{BB962C8B-B14F-4D97-AF65-F5344CB8AC3E}">
        <p14:creationId xmlns:p14="http://schemas.microsoft.com/office/powerpoint/2010/main" val="2520455345"/>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en-US" altLang="zh-CN" dirty="0"/>
              <a:t>DNS</a:t>
            </a:r>
            <a:r>
              <a:rPr lang="zh-CN" altLang="en-US" dirty="0"/>
              <a:t>生态系统</a:t>
            </a:r>
          </a:p>
        </p:txBody>
      </p:sp>
      <p:pic>
        <p:nvPicPr>
          <p:cNvPr id="5" name="图片 4"/>
          <p:cNvPicPr>
            <a:picLocks noChangeAspect="1"/>
          </p:cNvPicPr>
          <p:nvPr/>
        </p:nvPicPr>
        <p:blipFill>
          <a:blip r:embed="rId3"/>
          <a:stretch>
            <a:fillRect/>
          </a:stretch>
        </p:blipFill>
        <p:spPr>
          <a:xfrm>
            <a:off x="44000" y="1474875"/>
            <a:ext cx="9100000" cy="5060000"/>
          </a:xfrm>
          <a:prstGeom prst="rect">
            <a:avLst/>
          </a:prstGeom>
        </p:spPr>
      </p:pic>
    </p:spTree>
    <p:extLst>
      <p:ext uri="{BB962C8B-B14F-4D97-AF65-F5344CB8AC3E}">
        <p14:creationId xmlns:p14="http://schemas.microsoft.com/office/powerpoint/2010/main" val="2809513336"/>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391931"/>
            <a:ext cx="7772400" cy="4114800"/>
          </a:xfrm>
        </p:spPr>
        <p:txBody>
          <a:bodyPr/>
          <a:lstStyle/>
          <a:p>
            <a:r>
              <a:rPr lang="zh-CN" altLang="en-US" dirty="0"/>
              <a:t>安全问题</a:t>
            </a:r>
            <a:endParaRPr lang="en-US" altLang="zh-CN" dirty="0"/>
          </a:p>
        </p:txBody>
      </p:sp>
      <p:sp>
        <p:nvSpPr>
          <p:cNvPr id="3" name="标题 2"/>
          <p:cNvSpPr>
            <a:spLocks noGrp="1"/>
          </p:cNvSpPr>
          <p:nvPr>
            <p:ph type="title"/>
          </p:nvPr>
        </p:nvSpPr>
        <p:spPr/>
        <p:txBody>
          <a:bodyPr/>
          <a:lstStyle/>
          <a:p>
            <a:r>
              <a:rPr lang="en-US" altLang="zh-CN" dirty="0"/>
              <a:t>DNS</a:t>
            </a:r>
            <a:endParaRPr lang="zh-CN" altLang="en-US" dirty="0"/>
          </a:p>
        </p:txBody>
      </p:sp>
      <p:graphicFrame>
        <p:nvGraphicFramePr>
          <p:cNvPr id="4" name="对象 3"/>
          <p:cNvGraphicFramePr>
            <a:graphicFrameLocks noChangeAspect="1"/>
          </p:cNvGraphicFramePr>
          <p:nvPr>
            <p:extLst>
              <p:ext uri="{D42A27DB-BD31-4B8C-83A1-F6EECF244321}">
                <p14:modId xmlns:p14="http://schemas.microsoft.com/office/powerpoint/2010/main" val="3319934139"/>
              </p:ext>
            </p:extLst>
          </p:nvPr>
        </p:nvGraphicFramePr>
        <p:xfrm>
          <a:off x="189502" y="2153265"/>
          <a:ext cx="8711021" cy="3843747"/>
        </p:xfrm>
        <a:graphic>
          <a:graphicData uri="http://schemas.openxmlformats.org/presentationml/2006/ole">
            <mc:AlternateContent xmlns:mc="http://schemas.openxmlformats.org/markup-compatibility/2006">
              <mc:Choice xmlns:v="urn:schemas-microsoft-com:vml" Requires="v">
                <p:oleObj spid="_x0000_s7265" name="演示文稿" r:id="rId3" imgW="6094535" imgH="3427323" progId="PowerPoint.Show.12">
                  <p:embed/>
                </p:oleObj>
              </mc:Choice>
              <mc:Fallback>
                <p:oleObj name="演示文稿" r:id="rId3" imgW="6094535" imgH="3427323" progId="PowerPoint.Show.12">
                  <p:embed/>
                  <p:pic>
                    <p:nvPicPr>
                      <p:cNvPr id="5" name="对象 4"/>
                      <p:cNvPicPr>
                        <a:picLocks noChangeAspect="1" noChangeArrowheads="1"/>
                      </p:cNvPicPr>
                      <p:nvPr/>
                    </p:nvPicPr>
                    <p:blipFill>
                      <a:blip r:embed="rId4">
                        <a:extLst>
                          <a:ext uri="{28A0092B-C50C-407E-A947-70E740481C1C}">
                            <a14:useLocalDpi xmlns:a14="http://schemas.microsoft.com/office/drawing/2010/main" val="0"/>
                          </a:ext>
                        </a:extLst>
                      </a:blip>
                      <a:srcRect r="11815" b="42017"/>
                      <a:stretch>
                        <a:fillRect/>
                      </a:stretch>
                    </p:blipFill>
                    <p:spPr bwMode="auto">
                      <a:xfrm>
                        <a:off x="189502" y="2153265"/>
                        <a:ext cx="8711021" cy="3843747"/>
                      </a:xfrm>
                      <a:prstGeom prst="rect">
                        <a:avLst/>
                      </a:prstGeom>
                      <a:noFill/>
                    </p:spPr>
                  </p:pic>
                </p:oleObj>
              </mc:Fallback>
            </mc:AlternateContent>
          </a:graphicData>
        </a:graphic>
      </p:graphicFrame>
    </p:spTree>
    <p:extLst>
      <p:ext uri="{BB962C8B-B14F-4D97-AF65-F5344CB8AC3E}">
        <p14:creationId xmlns:p14="http://schemas.microsoft.com/office/powerpoint/2010/main" val="1802673848"/>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702264" y="1347685"/>
            <a:ext cx="7772400" cy="4114800"/>
          </a:xfrm>
        </p:spPr>
        <p:txBody>
          <a:bodyPr/>
          <a:lstStyle/>
          <a:p>
            <a:endParaRPr lang="zh-CN" altLang="en-US" dirty="0"/>
          </a:p>
        </p:txBody>
      </p:sp>
      <p:sp>
        <p:nvSpPr>
          <p:cNvPr id="3" name="标题 2"/>
          <p:cNvSpPr>
            <a:spLocks noGrp="1"/>
          </p:cNvSpPr>
          <p:nvPr>
            <p:ph type="title"/>
          </p:nvPr>
        </p:nvSpPr>
        <p:spPr/>
        <p:txBody>
          <a:bodyPr/>
          <a:lstStyle/>
          <a:p>
            <a:r>
              <a:rPr lang="en-US" altLang="zh-CN" dirty="0"/>
              <a:t>DNS</a:t>
            </a:r>
            <a:r>
              <a:rPr lang="zh-CN" altLang="en-US" dirty="0"/>
              <a:t>面临的安全威胁</a:t>
            </a:r>
          </a:p>
        </p:txBody>
      </p:sp>
      <p:sp>
        <p:nvSpPr>
          <p:cNvPr id="4" name="Rectangle 2"/>
          <p:cNvSpPr>
            <a:spLocks noChangeArrowheads="1"/>
          </p:cNvSpPr>
          <p:nvPr/>
        </p:nvSpPr>
        <p:spPr bwMode="auto">
          <a:xfrm>
            <a:off x="118400" y="1946787"/>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6" name="图片 5"/>
          <p:cNvPicPr>
            <a:picLocks noChangeAspect="1"/>
          </p:cNvPicPr>
          <p:nvPr/>
        </p:nvPicPr>
        <p:blipFill>
          <a:blip r:embed="rId3"/>
          <a:stretch>
            <a:fillRect/>
          </a:stretch>
        </p:blipFill>
        <p:spPr>
          <a:xfrm>
            <a:off x="118400" y="1347685"/>
            <a:ext cx="8787765" cy="4933950"/>
          </a:xfrm>
          <a:prstGeom prst="rect">
            <a:avLst/>
          </a:prstGeom>
        </p:spPr>
      </p:pic>
    </p:spTree>
    <p:extLst>
      <p:ext uri="{BB962C8B-B14F-4D97-AF65-F5344CB8AC3E}">
        <p14:creationId xmlns:p14="http://schemas.microsoft.com/office/powerpoint/2010/main" val="3256125964"/>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19328" y="1134067"/>
            <a:ext cx="7772400" cy="2555875"/>
          </a:xfrm>
        </p:spPr>
        <p:txBody>
          <a:bodyPr/>
          <a:lstStyle/>
          <a:p>
            <a:r>
              <a:rPr lang="zh-CN" altLang="en-US" dirty="0"/>
              <a:t>一、协议脆弱性</a:t>
            </a:r>
            <a:endParaRPr lang="en-US" altLang="zh-CN" dirty="0"/>
          </a:p>
          <a:p>
            <a:pPr lvl="1"/>
            <a:r>
              <a:rPr lang="zh-CN" altLang="en-US" dirty="0"/>
              <a:t>域名欺骗：</a:t>
            </a:r>
            <a:r>
              <a:rPr lang="zh-CN" altLang="zh-CN" dirty="0"/>
              <a:t>域名系统</a:t>
            </a:r>
            <a:r>
              <a:rPr lang="en-US" altLang="zh-CN" dirty="0"/>
              <a:t>(</a:t>
            </a:r>
            <a:r>
              <a:rPr lang="zh-CN" altLang="zh-CN" dirty="0"/>
              <a:t>包括</a:t>
            </a:r>
            <a:r>
              <a:rPr lang="en-US" altLang="zh-CN" dirty="0"/>
              <a:t> DNS </a:t>
            </a:r>
            <a:r>
              <a:rPr lang="zh-CN" altLang="zh-CN" dirty="0"/>
              <a:t>服务器和解析器</a:t>
            </a:r>
            <a:r>
              <a:rPr lang="en-US" altLang="zh-CN" dirty="0"/>
              <a:t>)</a:t>
            </a:r>
            <a:r>
              <a:rPr lang="zh-CN" altLang="zh-CN" dirty="0"/>
              <a:t>接收或使用来自未授权主机的不正确信息</a:t>
            </a:r>
            <a:r>
              <a:rPr lang="zh-CN" altLang="en-US" dirty="0"/>
              <a:t>，</a:t>
            </a:r>
            <a:r>
              <a:rPr lang="zh-CN" altLang="zh-CN" dirty="0">
                <a:solidFill>
                  <a:srgbClr val="FF0000"/>
                </a:solidFill>
              </a:rPr>
              <a:t>事务</a:t>
            </a:r>
            <a:r>
              <a:rPr lang="en-US" altLang="zh-CN" dirty="0">
                <a:solidFill>
                  <a:srgbClr val="FF0000"/>
                </a:solidFill>
              </a:rPr>
              <a:t> ID </a:t>
            </a:r>
            <a:r>
              <a:rPr lang="zh-CN" altLang="zh-CN" dirty="0">
                <a:solidFill>
                  <a:srgbClr val="FF0000"/>
                </a:solidFill>
              </a:rPr>
              <a:t>欺骗</a:t>
            </a:r>
            <a:r>
              <a:rPr lang="zh-CN" altLang="zh-CN" dirty="0"/>
              <a:t>和</a:t>
            </a:r>
            <a:r>
              <a:rPr lang="zh-CN" altLang="zh-CN" dirty="0">
                <a:solidFill>
                  <a:srgbClr val="FF0000"/>
                </a:solidFill>
              </a:rPr>
              <a:t>缓存投毒</a:t>
            </a:r>
            <a:endParaRPr lang="en-US" altLang="zh-CN" dirty="0"/>
          </a:p>
          <a:p>
            <a:pPr lvl="1"/>
            <a:endParaRPr lang="zh-CN" altLang="en-US" dirty="0"/>
          </a:p>
        </p:txBody>
      </p:sp>
      <p:sp>
        <p:nvSpPr>
          <p:cNvPr id="3" name="标题 2"/>
          <p:cNvSpPr>
            <a:spLocks noGrp="1"/>
          </p:cNvSpPr>
          <p:nvPr>
            <p:ph type="title"/>
          </p:nvPr>
        </p:nvSpPr>
        <p:spPr/>
        <p:txBody>
          <a:bodyPr/>
          <a:lstStyle/>
          <a:p>
            <a:r>
              <a:rPr lang="en-US" altLang="zh-CN" dirty="0"/>
              <a:t>DNS</a:t>
            </a:r>
            <a:r>
              <a:rPr lang="zh-CN" altLang="en-US" dirty="0"/>
              <a:t>安全威胁</a:t>
            </a:r>
          </a:p>
        </p:txBody>
      </p:sp>
      <p:pic>
        <p:nvPicPr>
          <p:cNvPr id="6" name="图片 5"/>
          <p:cNvPicPr>
            <a:picLocks noChangeAspect="1"/>
          </p:cNvPicPr>
          <p:nvPr/>
        </p:nvPicPr>
        <p:blipFill>
          <a:blip r:embed="rId3"/>
          <a:stretch>
            <a:fillRect/>
          </a:stretch>
        </p:blipFill>
        <p:spPr>
          <a:xfrm>
            <a:off x="173975" y="3389320"/>
            <a:ext cx="5789642" cy="2720383"/>
          </a:xfrm>
          <a:prstGeom prst="rect">
            <a:avLst/>
          </a:prstGeom>
        </p:spPr>
      </p:pic>
      <p:pic>
        <p:nvPicPr>
          <p:cNvPr id="7" name="图片 6"/>
          <p:cNvPicPr>
            <a:picLocks noChangeAspect="1"/>
          </p:cNvPicPr>
          <p:nvPr/>
        </p:nvPicPr>
        <p:blipFill>
          <a:blip r:embed="rId4"/>
          <a:stretch>
            <a:fillRect/>
          </a:stretch>
        </p:blipFill>
        <p:spPr>
          <a:xfrm>
            <a:off x="5886450" y="5428664"/>
            <a:ext cx="3057525" cy="371475"/>
          </a:xfrm>
          <a:prstGeom prst="rect">
            <a:avLst/>
          </a:prstGeom>
          <a:ln>
            <a:solidFill>
              <a:schemeClr val="accent1"/>
            </a:solidFill>
          </a:ln>
        </p:spPr>
      </p:pic>
      <p:pic>
        <p:nvPicPr>
          <p:cNvPr id="8" name="图片 7"/>
          <p:cNvPicPr>
            <a:picLocks noChangeAspect="1"/>
          </p:cNvPicPr>
          <p:nvPr/>
        </p:nvPicPr>
        <p:blipFill>
          <a:blip r:embed="rId5"/>
          <a:stretch>
            <a:fillRect/>
          </a:stretch>
        </p:blipFill>
        <p:spPr>
          <a:xfrm>
            <a:off x="6243637" y="4254211"/>
            <a:ext cx="2343150" cy="495300"/>
          </a:xfrm>
          <a:prstGeom prst="rect">
            <a:avLst/>
          </a:prstGeom>
        </p:spPr>
      </p:pic>
    </p:spTree>
    <p:extLst>
      <p:ext uri="{BB962C8B-B14F-4D97-AF65-F5344CB8AC3E}">
        <p14:creationId xmlns:p14="http://schemas.microsoft.com/office/powerpoint/2010/main" val="2926855592"/>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19328" y="1134067"/>
            <a:ext cx="7772400" cy="2555875"/>
          </a:xfrm>
        </p:spPr>
        <p:txBody>
          <a:bodyPr/>
          <a:lstStyle/>
          <a:p>
            <a:r>
              <a:rPr lang="zh-CN" altLang="en-US" dirty="0"/>
              <a:t>一、协议脆弱性</a:t>
            </a:r>
            <a:endParaRPr lang="en-US" altLang="zh-CN" dirty="0"/>
          </a:p>
          <a:p>
            <a:pPr lvl="1"/>
            <a:r>
              <a:rPr lang="zh-CN" altLang="en-US" dirty="0"/>
              <a:t>域名欺骗：</a:t>
            </a:r>
            <a:r>
              <a:rPr lang="zh-CN" altLang="zh-CN" dirty="0"/>
              <a:t>域名系统</a:t>
            </a:r>
            <a:r>
              <a:rPr lang="en-US" altLang="zh-CN" dirty="0"/>
              <a:t>(</a:t>
            </a:r>
            <a:r>
              <a:rPr lang="zh-CN" altLang="zh-CN" dirty="0"/>
              <a:t>包括</a:t>
            </a:r>
            <a:r>
              <a:rPr lang="en-US" altLang="zh-CN" dirty="0"/>
              <a:t> DNS </a:t>
            </a:r>
            <a:r>
              <a:rPr lang="zh-CN" altLang="zh-CN" dirty="0"/>
              <a:t>服务器和解析器</a:t>
            </a:r>
            <a:r>
              <a:rPr lang="en-US" altLang="zh-CN" dirty="0"/>
              <a:t>)</a:t>
            </a:r>
            <a:r>
              <a:rPr lang="zh-CN" altLang="zh-CN" dirty="0"/>
              <a:t>接收或使用来自未授权主机的不正确信息</a:t>
            </a:r>
            <a:r>
              <a:rPr lang="zh-CN" altLang="en-US" dirty="0"/>
              <a:t>，</a:t>
            </a:r>
            <a:r>
              <a:rPr lang="zh-CN" altLang="zh-CN" dirty="0">
                <a:solidFill>
                  <a:srgbClr val="FF0000"/>
                </a:solidFill>
              </a:rPr>
              <a:t>事务</a:t>
            </a:r>
            <a:r>
              <a:rPr lang="en-US" altLang="zh-CN" dirty="0">
                <a:solidFill>
                  <a:srgbClr val="FF0000"/>
                </a:solidFill>
              </a:rPr>
              <a:t> ID </a:t>
            </a:r>
            <a:r>
              <a:rPr lang="zh-CN" altLang="zh-CN" dirty="0">
                <a:solidFill>
                  <a:srgbClr val="FF0000"/>
                </a:solidFill>
              </a:rPr>
              <a:t>欺骗</a:t>
            </a:r>
            <a:r>
              <a:rPr lang="zh-CN" altLang="zh-CN" dirty="0"/>
              <a:t>和</a:t>
            </a:r>
            <a:r>
              <a:rPr lang="zh-CN" altLang="zh-CN" dirty="0">
                <a:solidFill>
                  <a:srgbClr val="FF0000"/>
                </a:solidFill>
              </a:rPr>
              <a:t>缓存投毒</a:t>
            </a:r>
            <a:endParaRPr lang="en-US" altLang="zh-CN" dirty="0"/>
          </a:p>
          <a:p>
            <a:pPr lvl="1"/>
            <a:endParaRPr lang="zh-CN" altLang="en-US" dirty="0"/>
          </a:p>
        </p:txBody>
      </p:sp>
      <p:sp>
        <p:nvSpPr>
          <p:cNvPr id="3" name="标题 2"/>
          <p:cNvSpPr>
            <a:spLocks noGrp="1"/>
          </p:cNvSpPr>
          <p:nvPr>
            <p:ph type="title"/>
          </p:nvPr>
        </p:nvSpPr>
        <p:spPr/>
        <p:txBody>
          <a:bodyPr/>
          <a:lstStyle/>
          <a:p>
            <a:r>
              <a:rPr lang="en-US" altLang="zh-CN" dirty="0"/>
              <a:t>DNS</a:t>
            </a:r>
            <a:r>
              <a:rPr lang="zh-CN" altLang="en-US" dirty="0"/>
              <a:t>安全威胁</a:t>
            </a:r>
          </a:p>
        </p:txBody>
      </p:sp>
      <p:pic>
        <p:nvPicPr>
          <p:cNvPr id="5" name="图片 4"/>
          <p:cNvPicPr>
            <a:picLocks noChangeAspect="1"/>
          </p:cNvPicPr>
          <p:nvPr/>
        </p:nvPicPr>
        <p:blipFill>
          <a:blip r:embed="rId2"/>
          <a:stretch>
            <a:fillRect/>
          </a:stretch>
        </p:blipFill>
        <p:spPr>
          <a:xfrm>
            <a:off x="2325441" y="3565737"/>
            <a:ext cx="3476625" cy="2729532"/>
          </a:xfrm>
          <a:prstGeom prst="rect">
            <a:avLst/>
          </a:prstGeom>
        </p:spPr>
      </p:pic>
    </p:spTree>
    <p:extLst>
      <p:ext uri="{BB962C8B-B14F-4D97-AF65-F5344CB8AC3E}">
        <p14:creationId xmlns:p14="http://schemas.microsoft.com/office/powerpoint/2010/main" val="2308964935"/>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19328" y="1101725"/>
            <a:ext cx="8424647" cy="5333235"/>
          </a:xfrm>
        </p:spPr>
        <p:txBody>
          <a:bodyPr/>
          <a:lstStyle/>
          <a:p>
            <a:r>
              <a:rPr lang="zh-CN" altLang="en-US" dirty="0"/>
              <a:t>一、协议脆弱性</a:t>
            </a:r>
            <a:endParaRPr lang="en-US" altLang="zh-CN" dirty="0"/>
          </a:p>
          <a:p>
            <a:pPr lvl="1"/>
            <a:r>
              <a:rPr lang="en-US" altLang="zh-CN" dirty="0"/>
              <a:t>USENIX Security 2020</a:t>
            </a:r>
            <a:r>
              <a:rPr lang="zh-CN" altLang="en-US" dirty="0"/>
              <a:t>：郑晓峰等，</a:t>
            </a:r>
            <a:r>
              <a:rPr lang="en-US" altLang="zh-CN" dirty="0"/>
              <a:t>Poison Over Troubled Forwarders: </a:t>
            </a:r>
            <a:r>
              <a:rPr lang="en-US" altLang="zh-CN" dirty="0">
                <a:solidFill>
                  <a:srgbClr val="FF0000"/>
                </a:solidFill>
              </a:rPr>
              <a:t>A</a:t>
            </a:r>
            <a:r>
              <a:rPr lang="en-US" altLang="zh-CN" dirty="0"/>
              <a:t> </a:t>
            </a:r>
            <a:r>
              <a:rPr lang="en-US" altLang="zh-CN" dirty="0">
                <a:solidFill>
                  <a:srgbClr val="FF0000"/>
                </a:solidFill>
              </a:rPr>
              <a:t>cache Poisoning Attack </a:t>
            </a:r>
            <a:r>
              <a:rPr lang="en-US" altLang="zh-CN" dirty="0"/>
              <a:t>Targeting DNS Forwarding Devices</a:t>
            </a:r>
            <a:r>
              <a:rPr lang="zh-CN" altLang="en-US" dirty="0"/>
              <a:t>。提出了针对</a:t>
            </a:r>
            <a:r>
              <a:rPr lang="en-US" altLang="zh-CN" dirty="0"/>
              <a:t>DNS</a:t>
            </a:r>
            <a:r>
              <a:rPr lang="zh-CN" altLang="en-US" dirty="0"/>
              <a:t>协议设计的一种新的攻击方法，可以针对广泛部署的</a:t>
            </a:r>
            <a:r>
              <a:rPr lang="en-US" altLang="zh-CN" dirty="0"/>
              <a:t>DNS</a:t>
            </a:r>
            <a:r>
              <a:rPr lang="zh-CN" altLang="en-US" dirty="0"/>
              <a:t>转发服务（如家用</a:t>
            </a:r>
            <a:r>
              <a:rPr lang="en-US" altLang="zh-CN" dirty="0" err="1"/>
              <a:t>WiFi</a:t>
            </a:r>
            <a:r>
              <a:rPr lang="zh-CN" altLang="en-US" dirty="0"/>
              <a:t>路由器、公共</a:t>
            </a:r>
            <a:r>
              <a:rPr lang="en-US" altLang="zh-CN" dirty="0"/>
              <a:t>Wi-Fi</a:t>
            </a:r>
            <a:r>
              <a:rPr lang="zh-CN" altLang="en-US" dirty="0"/>
              <a:t>等场景）实现缓存污染攻击，</a:t>
            </a:r>
            <a:r>
              <a:rPr lang="en-US" altLang="zh-CN" dirty="0"/>
              <a:t>D-Link</a:t>
            </a:r>
            <a:r>
              <a:rPr lang="zh-CN" altLang="en-US" dirty="0"/>
              <a:t>、</a:t>
            </a:r>
            <a:r>
              <a:rPr lang="en-US" altLang="zh-CN" dirty="0"/>
              <a:t>Linksys</a:t>
            </a:r>
            <a:r>
              <a:rPr lang="zh-CN" altLang="en-US" dirty="0"/>
              <a:t>、微软</a:t>
            </a:r>
            <a:r>
              <a:rPr lang="en-US" altLang="zh-CN" dirty="0"/>
              <a:t>DNS</a:t>
            </a:r>
            <a:r>
              <a:rPr lang="zh-CN" altLang="en-US" dirty="0"/>
              <a:t>、开源软件</a:t>
            </a:r>
            <a:r>
              <a:rPr lang="en-US" altLang="zh-CN" dirty="0" err="1"/>
              <a:t>dnsmasq</a:t>
            </a:r>
            <a:r>
              <a:rPr lang="zh-CN" altLang="en-US" dirty="0"/>
              <a:t>等多个知名品牌的产品或系统可能受到该攻击的影响。</a:t>
            </a:r>
          </a:p>
        </p:txBody>
      </p:sp>
      <p:sp>
        <p:nvSpPr>
          <p:cNvPr id="3" name="标题 2"/>
          <p:cNvSpPr>
            <a:spLocks noGrp="1"/>
          </p:cNvSpPr>
          <p:nvPr>
            <p:ph type="title"/>
          </p:nvPr>
        </p:nvSpPr>
        <p:spPr/>
        <p:txBody>
          <a:bodyPr/>
          <a:lstStyle/>
          <a:p>
            <a:r>
              <a:rPr lang="en-US" altLang="zh-CN" dirty="0"/>
              <a:t>DNS</a:t>
            </a:r>
            <a:r>
              <a:rPr lang="zh-CN" altLang="en-US" dirty="0"/>
              <a:t>安全威胁</a:t>
            </a:r>
          </a:p>
        </p:txBody>
      </p:sp>
    </p:spTree>
    <p:extLst>
      <p:ext uri="{BB962C8B-B14F-4D97-AF65-F5344CB8AC3E}">
        <p14:creationId xmlns:p14="http://schemas.microsoft.com/office/powerpoint/2010/main" val="333602773"/>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19328" y="1134067"/>
            <a:ext cx="7772400" cy="2555875"/>
          </a:xfrm>
        </p:spPr>
        <p:txBody>
          <a:bodyPr/>
          <a:lstStyle/>
          <a:p>
            <a:r>
              <a:rPr lang="zh-CN" altLang="en-US" dirty="0"/>
              <a:t>一、协议脆弱性</a:t>
            </a:r>
            <a:endParaRPr lang="en-US" altLang="zh-CN" dirty="0"/>
          </a:p>
          <a:p>
            <a:pPr lvl="1"/>
            <a:r>
              <a:rPr lang="zh-CN" altLang="en-US" dirty="0"/>
              <a:t>域名欺骗：</a:t>
            </a:r>
            <a:r>
              <a:rPr lang="zh-CN" altLang="zh-CN" dirty="0"/>
              <a:t>域名系统</a:t>
            </a:r>
            <a:r>
              <a:rPr lang="en-US" altLang="zh-CN" dirty="0"/>
              <a:t>(</a:t>
            </a:r>
            <a:r>
              <a:rPr lang="zh-CN" altLang="zh-CN" dirty="0"/>
              <a:t>包括</a:t>
            </a:r>
            <a:r>
              <a:rPr lang="en-US" altLang="zh-CN" dirty="0"/>
              <a:t> DNS </a:t>
            </a:r>
            <a:r>
              <a:rPr lang="zh-CN" altLang="zh-CN" dirty="0"/>
              <a:t>服务器和解析器</a:t>
            </a:r>
            <a:r>
              <a:rPr lang="en-US" altLang="zh-CN" dirty="0"/>
              <a:t>)</a:t>
            </a:r>
            <a:r>
              <a:rPr lang="zh-CN" altLang="zh-CN" dirty="0"/>
              <a:t>接收或使用来自未授权主机的不正确信息</a:t>
            </a:r>
            <a:r>
              <a:rPr lang="zh-CN" altLang="en-US" dirty="0"/>
              <a:t>，</a:t>
            </a:r>
            <a:r>
              <a:rPr lang="zh-CN" altLang="zh-CN" dirty="0">
                <a:solidFill>
                  <a:srgbClr val="FF0000"/>
                </a:solidFill>
              </a:rPr>
              <a:t>事务</a:t>
            </a:r>
            <a:r>
              <a:rPr lang="en-US" altLang="zh-CN" dirty="0">
                <a:solidFill>
                  <a:srgbClr val="FF0000"/>
                </a:solidFill>
              </a:rPr>
              <a:t> ID </a:t>
            </a:r>
            <a:r>
              <a:rPr lang="zh-CN" altLang="zh-CN" dirty="0">
                <a:solidFill>
                  <a:srgbClr val="FF0000"/>
                </a:solidFill>
              </a:rPr>
              <a:t>欺骗</a:t>
            </a:r>
            <a:r>
              <a:rPr lang="zh-CN" altLang="zh-CN" dirty="0"/>
              <a:t>和</a:t>
            </a:r>
            <a:r>
              <a:rPr lang="zh-CN" altLang="zh-CN" dirty="0">
                <a:solidFill>
                  <a:srgbClr val="FF0000"/>
                </a:solidFill>
              </a:rPr>
              <a:t>缓存投毒</a:t>
            </a:r>
            <a:endParaRPr lang="en-US" altLang="zh-CN" dirty="0"/>
          </a:p>
          <a:p>
            <a:pPr lvl="1"/>
            <a:endParaRPr lang="zh-CN" altLang="en-US" dirty="0"/>
          </a:p>
        </p:txBody>
      </p:sp>
      <p:sp>
        <p:nvSpPr>
          <p:cNvPr id="3" name="标题 2"/>
          <p:cNvSpPr>
            <a:spLocks noGrp="1"/>
          </p:cNvSpPr>
          <p:nvPr>
            <p:ph type="title"/>
          </p:nvPr>
        </p:nvSpPr>
        <p:spPr/>
        <p:txBody>
          <a:bodyPr/>
          <a:lstStyle/>
          <a:p>
            <a:r>
              <a:rPr lang="en-US" altLang="zh-CN" dirty="0"/>
              <a:t>DNS</a:t>
            </a:r>
            <a:r>
              <a:rPr lang="zh-CN" altLang="en-US" dirty="0"/>
              <a:t>安全威胁</a:t>
            </a:r>
          </a:p>
        </p:txBody>
      </p:sp>
      <p:pic>
        <p:nvPicPr>
          <p:cNvPr id="6" name="图片 5"/>
          <p:cNvPicPr>
            <a:picLocks noChangeAspect="1"/>
          </p:cNvPicPr>
          <p:nvPr/>
        </p:nvPicPr>
        <p:blipFill>
          <a:blip r:embed="rId3"/>
          <a:stretch>
            <a:fillRect/>
          </a:stretch>
        </p:blipFill>
        <p:spPr>
          <a:xfrm>
            <a:off x="818131" y="1239030"/>
            <a:ext cx="7174794" cy="4966508"/>
          </a:xfrm>
          <a:prstGeom prst="rect">
            <a:avLst/>
          </a:prstGeom>
          <a:ln>
            <a:solidFill>
              <a:srgbClr val="FF0000"/>
            </a:solidFill>
          </a:ln>
        </p:spPr>
      </p:pic>
    </p:spTree>
    <p:extLst>
      <p:ext uri="{BB962C8B-B14F-4D97-AF65-F5344CB8AC3E}">
        <p14:creationId xmlns:p14="http://schemas.microsoft.com/office/powerpoint/2010/main" val="311303181"/>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39746" y="1101725"/>
            <a:ext cx="7772400" cy="4114800"/>
          </a:xfrm>
        </p:spPr>
        <p:txBody>
          <a:bodyPr/>
          <a:lstStyle/>
          <a:p>
            <a:r>
              <a:rPr lang="zh-CN" altLang="en-US" dirty="0"/>
              <a:t>一、协议脆弱性</a:t>
            </a:r>
            <a:endParaRPr lang="en-US" altLang="zh-CN" dirty="0"/>
          </a:p>
          <a:p>
            <a:pPr lvl="1"/>
            <a:r>
              <a:rPr lang="zh-CN" altLang="en-US" dirty="0"/>
              <a:t>网络通信攻击：</a:t>
            </a:r>
            <a:r>
              <a:rPr lang="zh-CN" altLang="zh-CN" dirty="0"/>
              <a:t>针对</a:t>
            </a:r>
            <a:r>
              <a:rPr lang="en-US" altLang="zh-CN" dirty="0"/>
              <a:t> DNS </a:t>
            </a:r>
            <a:r>
              <a:rPr lang="zh-CN" altLang="zh-CN" dirty="0"/>
              <a:t>的网络通信攻击主要是</a:t>
            </a:r>
            <a:r>
              <a:rPr lang="en-US" altLang="zh-CN" dirty="0">
                <a:solidFill>
                  <a:srgbClr val="FF0000"/>
                </a:solidFill>
              </a:rPr>
              <a:t>DDoS</a:t>
            </a:r>
            <a:r>
              <a:rPr lang="zh-CN" altLang="zh-CN" dirty="0">
                <a:solidFill>
                  <a:srgbClr val="FF0000"/>
                </a:solidFill>
              </a:rPr>
              <a:t>攻击</a:t>
            </a:r>
            <a:r>
              <a:rPr lang="zh-CN" altLang="zh-CN" dirty="0"/>
              <a:t>、恶意网址重定向和中间人</a:t>
            </a:r>
            <a:r>
              <a:rPr lang="en-US" altLang="zh-CN" dirty="0"/>
              <a:t>(man-in-the-middle, MITM)</a:t>
            </a:r>
            <a:r>
              <a:rPr lang="zh-CN" altLang="zh-CN" dirty="0"/>
              <a:t>攻击</a:t>
            </a:r>
            <a:endParaRPr lang="zh-CN" altLang="en-US" dirty="0"/>
          </a:p>
        </p:txBody>
      </p:sp>
      <p:sp>
        <p:nvSpPr>
          <p:cNvPr id="3" name="标题 2"/>
          <p:cNvSpPr>
            <a:spLocks noGrp="1"/>
          </p:cNvSpPr>
          <p:nvPr>
            <p:ph type="title"/>
          </p:nvPr>
        </p:nvSpPr>
        <p:spPr/>
        <p:txBody>
          <a:bodyPr/>
          <a:lstStyle/>
          <a:p>
            <a:r>
              <a:rPr lang="en-US" altLang="zh-CN" dirty="0"/>
              <a:t>DNS</a:t>
            </a:r>
            <a:r>
              <a:rPr lang="zh-CN" altLang="en-US" dirty="0"/>
              <a:t>安全威胁</a:t>
            </a:r>
          </a:p>
        </p:txBody>
      </p:sp>
      <p:sp>
        <p:nvSpPr>
          <p:cNvPr id="4" name="Rectangle 2"/>
          <p:cNvSpPr>
            <a:spLocks noChangeArrowheads="1"/>
          </p:cNvSpPr>
          <p:nvPr/>
        </p:nvSpPr>
        <p:spPr bwMode="auto">
          <a:xfrm>
            <a:off x="1575581" y="4090118"/>
            <a:ext cx="13473131"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pic>
        <p:nvPicPr>
          <p:cNvPr id="5" name="Picture 3">
            <a:extLst>
              <a:ext uri="{FF2B5EF4-FFF2-40B4-BE49-F238E27FC236}">
                <a16:creationId xmlns:a16="http://schemas.microsoft.com/office/drawing/2014/main" id="{82D957B8-5150-DD4D-AD58-BECF39405320}"/>
              </a:ext>
            </a:extLst>
          </p:cNvPr>
          <p:cNvPicPr>
            <a:picLocks noChangeAspect="1"/>
          </p:cNvPicPr>
          <p:nvPr/>
        </p:nvPicPr>
        <p:blipFill rotWithShape="1">
          <a:blip r:embed="rId2"/>
          <a:srcRect r="5264" b="16154"/>
          <a:stretch/>
        </p:blipFill>
        <p:spPr>
          <a:xfrm>
            <a:off x="214958" y="3461384"/>
            <a:ext cx="3892094" cy="2648507"/>
          </a:xfrm>
          <a:prstGeom prst="rect">
            <a:avLst/>
          </a:prstGeom>
        </p:spPr>
      </p:pic>
      <p:pic>
        <p:nvPicPr>
          <p:cNvPr id="6" name="图片 5">
            <a:extLst>
              <a:ext uri="{FF2B5EF4-FFF2-40B4-BE49-F238E27FC236}">
                <a16:creationId xmlns:a16="http://schemas.microsoft.com/office/drawing/2014/main" id="{F96982A3-C8A8-F54D-BF6F-012089A5DE91}"/>
              </a:ext>
            </a:extLst>
          </p:cNvPr>
          <p:cNvPicPr>
            <a:picLocks noChangeAspect="1"/>
          </p:cNvPicPr>
          <p:nvPr/>
        </p:nvPicPr>
        <p:blipFill>
          <a:blip r:embed="rId3"/>
          <a:stretch>
            <a:fillRect/>
          </a:stretch>
        </p:blipFill>
        <p:spPr>
          <a:xfrm>
            <a:off x="4560420" y="3461384"/>
            <a:ext cx="4167653" cy="2733761"/>
          </a:xfrm>
          <a:prstGeom prst="rect">
            <a:avLst/>
          </a:prstGeom>
        </p:spPr>
      </p:pic>
      <p:sp>
        <p:nvSpPr>
          <p:cNvPr id="8" name="文本框 7"/>
          <p:cNvSpPr txBox="1"/>
          <p:nvPr/>
        </p:nvSpPr>
        <p:spPr>
          <a:xfrm>
            <a:off x="4510488" y="6219464"/>
            <a:ext cx="4267515" cy="430887"/>
          </a:xfrm>
          <a:prstGeom prst="rect">
            <a:avLst/>
          </a:prstGeom>
          <a:solidFill>
            <a:schemeClr val="accent2">
              <a:lumMod val="40000"/>
              <a:lumOff val="60000"/>
            </a:schemeClr>
          </a:solidFill>
          <a:ln>
            <a:solidFill>
              <a:schemeClr val="tx1"/>
            </a:solidFill>
          </a:ln>
        </p:spPr>
        <p:txBody>
          <a:bodyPr wrap="none" rtlCol="0">
            <a:spAutoFit/>
          </a:bodyPr>
          <a:lstStyle/>
          <a:p>
            <a:r>
              <a:rPr lang="en-US" altLang="zh-CN" sz="2200" b="0" dirty="0">
                <a:latin typeface="Times New Roman" panose="02020603050405020304" pitchFamily="18" charset="0"/>
                <a:ea typeface="黑体" panose="02010609060101010101" pitchFamily="49" charset="-122"/>
              </a:rPr>
              <a:t>2016</a:t>
            </a:r>
            <a:r>
              <a:rPr lang="zh-CN" altLang="en-US" sz="2200" b="0" dirty="0">
                <a:latin typeface="Times New Roman" panose="02020603050405020304" pitchFamily="18" charset="0"/>
                <a:ea typeface="黑体" panose="02010609060101010101" pitchFamily="49" charset="-122"/>
              </a:rPr>
              <a:t>， </a:t>
            </a:r>
            <a:r>
              <a:rPr lang="en-US" altLang="zh-CN" sz="2200" b="0" dirty="0">
                <a:latin typeface="Times New Roman" panose="02020603050405020304" pitchFamily="18" charset="0"/>
                <a:ea typeface="黑体" panose="02010609060101010101" pitchFamily="49" charset="-122"/>
              </a:rPr>
              <a:t>DNS</a:t>
            </a:r>
            <a:r>
              <a:rPr lang="zh-CN" altLang="en-US" sz="2200" b="0" dirty="0">
                <a:latin typeface="Times New Roman" panose="02020603050405020304" pitchFamily="18" charset="0"/>
                <a:ea typeface="黑体" panose="02010609060101010101" pitchFamily="49" charset="-122"/>
              </a:rPr>
              <a:t>服务</a:t>
            </a:r>
            <a:r>
              <a:rPr lang="en-US" altLang="zh-CN" sz="2200" b="0" dirty="0">
                <a:latin typeface="Times New Roman" panose="02020603050405020304" pitchFamily="18" charset="0"/>
                <a:ea typeface="黑体" panose="02010609060101010101" pitchFamily="49" charset="-122"/>
              </a:rPr>
              <a:t>Dyn</a:t>
            </a:r>
            <a:r>
              <a:rPr lang="zh-CN" altLang="en-US" sz="2200" b="0" dirty="0">
                <a:latin typeface="Times New Roman" panose="02020603050405020304" pitchFamily="18" charset="0"/>
                <a:ea typeface="黑体" panose="02010609060101010101" pitchFamily="49" charset="-122"/>
              </a:rPr>
              <a:t>被</a:t>
            </a:r>
            <a:r>
              <a:rPr lang="en-US" altLang="zh-CN" sz="2200" b="0" dirty="0">
                <a:latin typeface="Times New Roman" panose="02020603050405020304" pitchFamily="18" charset="0"/>
                <a:ea typeface="黑体" panose="02010609060101010101" pitchFamily="49" charset="-122"/>
              </a:rPr>
              <a:t>DDoS</a:t>
            </a:r>
            <a:r>
              <a:rPr lang="zh-CN" altLang="en-US" sz="2200" b="0" dirty="0">
                <a:latin typeface="Times New Roman" panose="02020603050405020304" pitchFamily="18" charset="0"/>
                <a:ea typeface="黑体" panose="02010609060101010101" pitchFamily="49" charset="-122"/>
              </a:rPr>
              <a:t>攻击</a:t>
            </a:r>
          </a:p>
        </p:txBody>
      </p:sp>
      <p:sp>
        <p:nvSpPr>
          <p:cNvPr id="9" name="文本框 8"/>
          <p:cNvSpPr txBox="1"/>
          <p:nvPr/>
        </p:nvSpPr>
        <p:spPr>
          <a:xfrm>
            <a:off x="270102" y="6219464"/>
            <a:ext cx="3781805" cy="430887"/>
          </a:xfrm>
          <a:prstGeom prst="rect">
            <a:avLst/>
          </a:prstGeom>
          <a:solidFill>
            <a:schemeClr val="bg1">
              <a:lumMod val="95000"/>
            </a:schemeClr>
          </a:solidFill>
          <a:ln>
            <a:solidFill>
              <a:schemeClr val="tx1"/>
            </a:solidFill>
          </a:ln>
        </p:spPr>
        <p:txBody>
          <a:bodyPr wrap="none" rtlCol="0">
            <a:spAutoFit/>
          </a:bodyPr>
          <a:lstStyle/>
          <a:p>
            <a:r>
              <a:rPr lang="en-US" altLang="zh-CN" sz="2200" b="0" dirty="0">
                <a:latin typeface="Times New Roman" panose="02020603050405020304" pitchFamily="18" charset="0"/>
                <a:ea typeface="黑体" panose="02010609060101010101" pitchFamily="49" charset="-122"/>
              </a:rPr>
              <a:t>2013</a:t>
            </a:r>
            <a:r>
              <a:rPr lang="zh-CN" altLang="en-US" sz="2200" b="0" dirty="0">
                <a:latin typeface="Times New Roman" panose="02020603050405020304" pitchFamily="18" charset="0"/>
                <a:ea typeface="黑体" panose="02010609060101010101" pitchFamily="49" charset="-122"/>
              </a:rPr>
              <a:t>，</a:t>
            </a:r>
            <a:r>
              <a:rPr lang="en-US" altLang="zh-CN" sz="2200" b="0" dirty="0">
                <a:latin typeface="Times New Roman" panose="02020603050405020304" pitchFamily="18" charset="0"/>
                <a:ea typeface="黑体" panose="02010609060101010101" pitchFamily="49" charset="-122"/>
              </a:rPr>
              <a:t>DNS</a:t>
            </a:r>
            <a:r>
              <a:rPr lang="zh-CN" altLang="en-US" sz="2200" b="0" dirty="0">
                <a:latin typeface="Times New Roman" panose="02020603050405020304" pitchFamily="18" charset="0"/>
                <a:ea typeface="黑体" panose="02010609060101010101" pitchFamily="49" charset="-122"/>
              </a:rPr>
              <a:t>被用于反射</a:t>
            </a:r>
            <a:r>
              <a:rPr lang="en-US" altLang="zh-CN" sz="2200" b="0" dirty="0">
                <a:latin typeface="Times New Roman" panose="02020603050405020304" pitchFamily="18" charset="0"/>
                <a:ea typeface="黑体" panose="02010609060101010101" pitchFamily="49" charset="-122"/>
              </a:rPr>
              <a:t>DDoS</a:t>
            </a:r>
            <a:endParaRPr lang="zh-CN" altLang="en-US" sz="2200" b="0" dirty="0">
              <a:latin typeface="Times New Roman" panose="02020603050405020304" pitchFamily="18" charset="0"/>
              <a:ea typeface="黑体" panose="02010609060101010101" pitchFamily="49" charset="-122"/>
            </a:endParaRPr>
          </a:p>
        </p:txBody>
      </p:sp>
    </p:spTree>
    <p:extLst>
      <p:ext uri="{BB962C8B-B14F-4D97-AF65-F5344CB8AC3E}">
        <p14:creationId xmlns:p14="http://schemas.microsoft.com/office/powerpoint/2010/main" val="3112597475"/>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246056"/>
            <a:ext cx="7772400" cy="4114800"/>
          </a:xfrm>
        </p:spPr>
        <p:txBody>
          <a:bodyPr/>
          <a:lstStyle/>
          <a:p>
            <a:r>
              <a:rPr lang="zh-CN" altLang="en-US" dirty="0"/>
              <a:t>一、协议脆弱性</a:t>
            </a:r>
            <a:endParaRPr lang="en-US" altLang="zh-CN" dirty="0"/>
          </a:p>
          <a:p>
            <a:pPr lvl="1"/>
            <a:r>
              <a:rPr lang="zh-CN" altLang="en-US" dirty="0"/>
              <a:t>网络通信攻击：</a:t>
            </a:r>
            <a:r>
              <a:rPr lang="en-US" altLang="zh-CN" dirty="0"/>
              <a:t>DNS</a:t>
            </a:r>
            <a:r>
              <a:rPr lang="zh-CN" altLang="zh-CN" dirty="0"/>
              <a:t>域名解析过程劫持</a:t>
            </a:r>
            <a:endParaRPr lang="zh-CN" altLang="en-US" dirty="0"/>
          </a:p>
        </p:txBody>
      </p:sp>
      <p:sp>
        <p:nvSpPr>
          <p:cNvPr id="3" name="标题 2"/>
          <p:cNvSpPr>
            <a:spLocks noGrp="1"/>
          </p:cNvSpPr>
          <p:nvPr>
            <p:ph type="title"/>
          </p:nvPr>
        </p:nvSpPr>
        <p:spPr/>
        <p:txBody>
          <a:bodyPr/>
          <a:lstStyle/>
          <a:p>
            <a:r>
              <a:rPr lang="en-US" altLang="zh-CN" dirty="0"/>
              <a:t>DNS</a:t>
            </a:r>
            <a:r>
              <a:rPr lang="zh-CN" altLang="en-US" dirty="0"/>
              <a:t>安全威胁</a:t>
            </a:r>
          </a:p>
        </p:txBody>
      </p:sp>
      <p:sp>
        <p:nvSpPr>
          <p:cNvPr id="4" name="Rectangle 2"/>
          <p:cNvSpPr>
            <a:spLocks noChangeArrowheads="1"/>
          </p:cNvSpPr>
          <p:nvPr/>
        </p:nvSpPr>
        <p:spPr bwMode="auto">
          <a:xfrm>
            <a:off x="1575581" y="4090118"/>
            <a:ext cx="13473131"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6" name="文本框 5"/>
          <p:cNvSpPr txBox="1"/>
          <p:nvPr/>
        </p:nvSpPr>
        <p:spPr>
          <a:xfrm>
            <a:off x="2550057" y="5796169"/>
            <a:ext cx="2666114" cy="400110"/>
          </a:xfrm>
          <a:prstGeom prst="rect">
            <a:avLst/>
          </a:prstGeom>
          <a:solidFill>
            <a:schemeClr val="accent2">
              <a:lumMod val="40000"/>
              <a:lumOff val="60000"/>
            </a:schemeClr>
          </a:solidFill>
          <a:ln>
            <a:solidFill>
              <a:srgbClr val="FF0000"/>
            </a:solidFill>
          </a:ln>
        </p:spPr>
        <p:txBody>
          <a:bodyPr wrap="none" rtlCol="0">
            <a:spAutoFit/>
          </a:bodyPr>
          <a:lstStyle/>
          <a:p>
            <a:r>
              <a:rPr lang="zh-CN" altLang="en-US" sz="2000" b="0" dirty="0">
                <a:solidFill>
                  <a:srgbClr val="FF0000"/>
                </a:solidFill>
                <a:latin typeface="Times New Roman" panose="02020603050405020304" pitchFamily="18" charset="0"/>
                <a:ea typeface="黑体" panose="02010609060101010101" pitchFamily="49" charset="-122"/>
              </a:rPr>
              <a:t>段海新等</a:t>
            </a:r>
            <a:r>
              <a:rPr lang="en-US" altLang="zh-CN" sz="2000" b="0" dirty="0">
                <a:solidFill>
                  <a:srgbClr val="FF0000"/>
                </a:solidFill>
                <a:latin typeface="Times New Roman" panose="02020603050405020304" pitchFamily="18" charset="0"/>
                <a:ea typeface="黑体" panose="02010609060101010101" pitchFamily="49" charset="-122"/>
              </a:rPr>
              <a:t>USENIX2018</a:t>
            </a:r>
            <a:endParaRPr lang="zh-CN" altLang="en-US" sz="2000" b="0" dirty="0">
              <a:solidFill>
                <a:srgbClr val="FF0000"/>
              </a:solidFill>
              <a:latin typeface="Times New Roman" panose="02020603050405020304" pitchFamily="18" charset="0"/>
              <a:ea typeface="黑体" panose="02010609060101010101" pitchFamily="49" charset="-122"/>
            </a:endParaRPr>
          </a:p>
        </p:txBody>
      </p:sp>
      <p:pic>
        <p:nvPicPr>
          <p:cNvPr id="10" name="图片 9"/>
          <p:cNvPicPr>
            <a:picLocks noChangeAspect="1"/>
          </p:cNvPicPr>
          <p:nvPr/>
        </p:nvPicPr>
        <p:blipFill>
          <a:blip r:embed="rId3"/>
          <a:stretch>
            <a:fillRect/>
          </a:stretch>
        </p:blipFill>
        <p:spPr>
          <a:xfrm>
            <a:off x="1533887" y="2444198"/>
            <a:ext cx="6022252" cy="3291840"/>
          </a:xfrm>
          <a:prstGeom prst="rect">
            <a:avLst/>
          </a:prstGeom>
        </p:spPr>
      </p:pic>
    </p:spTree>
    <p:extLst>
      <p:ext uri="{BB962C8B-B14F-4D97-AF65-F5344CB8AC3E}">
        <p14:creationId xmlns:p14="http://schemas.microsoft.com/office/powerpoint/2010/main" val="2604924547"/>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101725"/>
            <a:ext cx="7772400" cy="4114800"/>
          </a:xfrm>
        </p:spPr>
        <p:txBody>
          <a:bodyPr/>
          <a:lstStyle/>
          <a:p>
            <a:r>
              <a:rPr lang="zh-CN" altLang="en-US" dirty="0"/>
              <a:t>一、协议脆弱性</a:t>
            </a:r>
            <a:endParaRPr lang="en-US" altLang="zh-CN" dirty="0"/>
          </a:p>
          <a:p>
            <a:pPr lvl="1"/>
            <a:r>
              <a:rPr lang="zh-CN" altLang="en-US" dirty="0"/>
              <a:t>网络通信攻击：</a:t>
            </a:r>
            <a:r>
              <a:rPr lang="en-US" altLang="zh-CN" dirty="0"/>
              <a:t>DNS</a:t>
            </a:r>
            <a:r>
              <a:rPr lang="zh-CN" altLang="zh-CN" dirty="0"/>
              <a:t>域名解析过程劫持</a:t>
            </a:r>
            <a:endParaRPr lang="zh-CN" altLang="en-US" dirty="0"/>
          </a:p>
        </p:txBody>
      </p:sp>
      <p:sp>
        <p:nvSpPr>
          <p:cNvPr id="3" name="标题 2"/>
          <p:cNvSpPr>
            <a:spLocks noGrp="1"/>
          </p:cNvSpPr>
          <p:nvPr>
            <p:ph type="title"/>
          </p:nvPr>
        </p:nvSpPr>
        <p:spPr/>
        <p:txBody>
          <a:bodyPr/>
          <a:lstStyle/>
          <a:p>
            <a:r>
              <a:rPr lang="en-US" altLang="zh-CN" dirty="0"/>
              <a:t>DNS</a:t>
            </a:r>
            <a:r>
              <a:rPr lang="zh-CN" altLang="en-US" dirty="0"/>
              <a:t>安全威胁</a:t>
            </a:r>
          </a:p>
        </p:txBody>
      </p:sp>
      <p:sp>
        <p:nvSpPr>
          <p:cNvPr id="4" name="Rectangle 2"/>
          <p:cNvSpPr>
            <a:spLocks noChangeArrowheads="1"/>
          </p:cNvSpPr>
          <p:nvPr/>
        </p:nvSpPr>
        <p:spPr bwMode="auto">
          <a:xfrm>
            <a:off x="1575581" y="4090118"/>
            <a:ext cx="13473131"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6" name="文本框 5"/>
          <p:cNvSpPr txBox="1"/>
          <p:nvPr/>
        </p:nvSpPr>
        <p:spPr>
          <a:xfrm>
            <a:off x="2516807" y="5804331"/>
            <a:ext cx="2666114" cy="400110"/>
          </a:xfrm>
          <a:prstGeom prst="rect">
            <a:avLst/>
          </a:prstGeom>
          <a:solidFill>
            <a:schemeClr val="accent2">
              <a:lumMod val="40000"/>
              <a:lumOff val="60000"/>
            </a:schemeClr>
          </a:solidFill>
          <a:ln>
            <a:solidFill>
              <a:srgbClr val="FF0000"/>
            </a:solidFill>
          </a:ln>
        </p:spPr>
        <p:txBody>
          <a:bodyPr wrap="none" rtlCol="0">
            <a:spAutoFit/>
          </a:bodyPr>
          <a:lstStyle/>
          <a:p>
            <a:r>
              <a:rPr lang="zh-CN" altLang="en-US" sz="2000" b="0" dirty="0">
                <a:solidFill>
                  <a:srgbClr val="FF0000"/>
                </a:solidFill>
                <a:latin typeface="Times New Roman" panose="02020603050405020304" pitchFamily="18" charset="0"/>
                <a:ea typeface="黑体" panose="02010609060101010101" pitchFamily="49" charset="-122"/>
              </a:rPr>
              <a:t>段海新等</a:t>
            </a:r>
            <a:r>
              <a:rPr lang="en-US" altLang="zh-CN" sz="2000" b="0" dirty="0">
                <a:solidFill>
                  <a:srgbClr val="FF0000"/>
                </a:solidFill>
                <a:latin typeface="Times New Roman" panose="02020603050405020304" pitchFamily="18" charset="0"/>
                <a:ea typeface="黑体" panose="02010609060101010101" pitchFamily="49" charset="-122"/>
              </a:rPr>
              <a:t>USENIX2018</a:t>
            </a:r>
            <a:endParaRPr lang="zh-CN" altLang="en-US" sz="2000" b="0" dirty="0">
              <a:solidFill>
                <a:srgbClr val="FF0000"/>
              </a:solidFill>
              <a:latin typeface="Times New Roman" panose="02020603050405020304" pitchFamily="18" charset="0"/>
              <a:ea typeface="黑体" panose="02010609060101010101" pitchFamily="49" charset="-122"/>
            </a:endParaRPr>
          </a:p>
        </p:txBody>
      </p:sp>
      <p:pic>
        <p:nvPicPr>
          <p:cNvPr id="5" name="图片 4"/>
          <p:cNvPicPr>
            <a:picLocks noChangeAspect="1"/>
          </p:cNvPicPr>
          <p:nvPr/>
        </p:nvPicPr>
        <p:blipFill>
          <a:blip r:embed="rId3"/>
          <a:stretch>
            <a:fillRect/>
          </a:stretch>
        </p:blipFill>
        <p:spPr>
          <a:xfrm>
            <a:off x="1439863" y="2278883"/>
            <a:ext cx="6210300" cy="3162300"/>
          </a:xfrm>
          <a:prstGeom prst="rect">
            <a:avLst/>
          </a:prstGeom>
        </p:spPr>
      </p:pic>
    </p:spTree>
    <p:extLst>
      <p:ext uri="{BB962C8B-B14F-4D97-AF65-F5344CB8AC3E}">
        <p14:creationId xmlns:p14="http://schemas.microsoft.com/office/powerpoint/2010/main" val="444585149"/>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95985" y="1279307"/>
            <a:ext cx="7772400" cy="4114800"/>
          </a:xfrm>
        </p:spPr>
        <p:txBody>
          <a:bodyPr/>
          <a:lstStyle/>
          <a:p>
            <a:r>
              <a:rPr lang="zh-CN" altLang="en-US" dirty="0"/>
              <a:t>一、协议脆弱性</a:t>
            </a:r>
            <a:endParaRPr lang="en-US" altLang="zh-CN" dirty="0"/>
          </a:p>
          <a:p>
            <a:pPr lvl="1"/>
            <a:r>
              <a:rPr lang="zh-CN" altLang="en-US" dirty="0"/>
              <a:t>网络通信攻击：</a:t>
            </a:r>
            <a:r>
              <a:rPr lang="en-US" altLang="zh-CN" dirty="0"/>
              <a:t>DNS</a:t>
            </a:r>
            <a:r>
              <a:rPr lang="zh-CN" altLang="zh-CN" dirty="0"/>
              <a:t>域名解析过程劫持</a:t>
            </a:r>
            <a:endParaRPr lang="zh-CN" altLang="en-US" dirty="0"/>
          </a:p>
        </p:txBody>
      </p:sp>
      <p:sp>
        <p:nvSpPr>
          <p:cNvPr id="3" name="标题 2"/>
          <p:cNvSpPr>
            <a:spLocks noGrp="1"/>
          </p:cNvSpPr>
          <p:nvPr>
            <p:ph type="title"/>
          </p:nvPr>
        </p:nvSpPr>
        <p:spPr/>
        <p:txBody>
          <a:bodyPr/>
          <a:lstStyle/>
          <a:p>
            <a:r>
              <a:rPr lang="en-US" altLang="zh-CN" dirty="0"/>
              <a:t>DNS</a:t>
            </a:r>
            <a:r>
              <a:rPr lang="zh-CN" altLang="en-US" dirty="0"/>
              <a:t>安全威胁</a:t>
            </a:r>
          </a:p>
        </p:txBody>
      </p:sp>
      <p:sp>
        <p:nvSpPr>
          <p:cNvPr id="4" name="Rectangle 2"/>
          <p:cNvSpPr>
            <a:spLocks noChangeArrowheads="1"/>
          </p:cNvSpPr>
          <p:nvPr/>
        </p:nvSpPr>
        <p:spPr bwMode="auto">
          <a:xfrm>
            <a:off x="1575581" y="4090118"/>
            <a:ext cx="13473131"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6" name="文本框 5"/>
          <p:cNvSpPr txBox="1"/>
          <p:nvPr/>
        </p:nvSpPr>
        <p:spPr>
          <a:xfrm>
            <a:off x="2616559" y="5846046"/>
            <a:ext cx="2666114" cy="400110"/>
          </a:xfrm>
          <a:prstGeom prst="rect">
            <a:avLst/>
          </a:prstGeom>
          <a:solidFill>
            <a:schemeClr val="accent2">
              <a:lumMod val="40000"/>
              <a:lumOff val="60000"/>
            </a:schemeClr>
          </a:solidFill>
          <a:ln>
            <a:solidFill>
              <a:srgbClr val="FF0000"/>
            </a:solidFill>
          </a:ln>
        </p:spPr>
        <p:txBody>
          <a:bodyPr wrap="none" rtlCol="0">
            <a:spAutoFit/>
          </a:bodyPr>
          <a:lstStyle/>
          <a:p>
            <a:r>
              <a:rPr lang="zh-CN" altLang="en-US" sz="2000" b="0" dirty="0">
                <a:solidFill>
                  <a:srgbClr val="FF0000"/>
                </a:solidFill>
                <a:latin typeface="Times New Roman" panose="02020603050405020304" pitchFamily="18" charset="0"/>
                <a:ea typeface="黑体" panose="02010609060101010101" pitchFamily="49" charset="-122"/>
              </a:rPr>
              <a:t>段海新等</a:t>
            </a:r>
            <a:r>
              <a:rPr lang="en-US" altLang="zh-CN" sz="2000" b="0" dirty="0">
                <a:solidFill>
                  <a:srgbClr val="FF0000"/>
                </a:solidFill>
                <a:latin typeface="Times New Roman" panose="02020603050405020304" pitchFamily="18" charset="0"/>
                <a:ea typeface="黑体" panose="02010609060101010101" pitchFamily="49" charset="-122"/>
              </a:rPr>
              <a:t>USENIX2018</a:t>
            </a:r>
            <a:endParaRPr lang="zh-CN" altLang="en-US" sz="2000" b="0" dirty="0">
              <a:solidFill>
                <a:srgbClr val="FF0000"/>
              </a:solidFill>
              <a:latin typeface="Times New Roman" panose="02020603050405020304" pitchFamily="18" charset="0"/>
              <a:ea typeface="黑体" panose="02010609060101010101" pitchFamily="49" charset="-122"/>
            </a:endParaRPr>
          </a:p>
        </p:txBody>
      </p:sp>
      <p:pic>
        <p:nvPicPr>
          <p:cNvPr id="8" name="图片 7"/>
          <p:cNvPicPr>
            <a:picLocks noChangeAspect="1"/>
          </p:cNvPicPr>
          <p:nvPr/>
        </p:nvPicPr>
        <p:blipFill>
          <a:blip r:embed="rId3"/>
          <a:stretch>
            <a:fillRect/>
          </a:stretch>
        </p:blipFill>
        <p:spPr>
          <a:xfrm>
            <a:off x="1350731" y="2476064"/>
            <a:ext cx="6010275" cy="3095625"/>
          </a:xfrm>
          <a:prstGeom prst="rect">
            <a:avLst/>
          </a:prstGeom>
        </p:spPr>
      </p:pic>
    </p:spTree>
    <p:extLst>
      <p:ext uri="{BB962C8B-B14F-4D97-AF65-F5344CB8AC3E}">
        <p14:creationId xmlns:p14="http://schemas.microsoft.com/office/powerpoint/2010/main" val="1554405475"/>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127101"/>
            <a:ext cx="7772400" cy="4114800"/>
          </a:xfrm>
        </p:spPr>
        <p:txBody>
          <a:bodyPr/>
          <a:lstStyle/>
          <a:p>
            <a:r>
              <a:rPr lang="zh-CN" altLang="en-US" dirty="0"/>
              <a:t>一、协议脆弱性</a:t>
            </a:r>
            <a:endParaRPr lang="en-US" altLang="zh-CN" dirty="0"/>
          </a:p>
          <a:p>
            <a:pPr lvl="1"/>
            <a:r>
              <a:rPr lang="zh-CN" altLang="en-US" dirty="0"/>
              <a:t>网络通信攻击：</a:t>
            </a:r>
            <a:r>
              <a:rPr lang="en-US" altLang="zh-CN" dirty="0"/>
              <a:t>DNS</a:t>
            </a:r>
            <a:r>
              <a:rPr lang="zh-CN" altLang="zh-CN" dirty="0"/>
              <a:t>域名解析过程劫持</a:t>
            </a:r>
            <a:endParaRPr lang="zh-CN" altLang="en-US" dirty="0"/>
          </a:p>
        </p:txBody>
      </p:sp>
      <p:sp>
        <p:nvSpPr>
          <p:cNvPr id="3" name="标题 2"/>
          <p:cNvSpPr>
            <a:spLocks noGrp="1"/>
          </p:cNvSpPr>
          <p:nvPr>
            <p:ph type="title"/>
          </p:nvPr>
        </p:nvSpPr>
        <p:spPr/>
        <p:txBody>
          <a:bodyPr/>
          <a:lstStyle/>
          <a:p>
            <a:r>
              <a:rPr lang="en-US" altLang="zh-CN" dirty="0"/>
              <a:t>DNS</a:t>
            </a:r>
            <a:r>
              <a:rPr lang="zh-CN" altLang="en-US" dirty="0"/>
              <a:t>安全威胁</a:t>
            </a:r>
          </a:p>
        </p:txBody>
      </p:sp>
      <p:sp>
        <p:nvSpPr>
          <p:cNvPr id="4" name="Rectangle 2"/>
          <p:cNvSpPr>
            <a:spLocks noChangeArrowheads="1"/>
          </p:cNvSpPr>
          <p:nvPr/>
        </p:nvSpPr>
        <p:spPr bwMode="auto">
          <a:xfrm>
            <a:off x="1575581" y="4090118"/>
            <a:ext cx="13473131"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6" name="文本框 5"/>
          <p:cNvSpPr txBox="1"/>
          <p:nvPr/>
        </p:nvSpPr>
        <p:spPr>
          <a:xfrm>
            <a:off x="2400428" y="6393683"/>
            <a:ext cx="2666114" cy="400110"/>
          </a:xfrm>
          <a:prstGeom prst="rect">
            <a:avLst/>
          </a:prstGeom>
          <a:solidFill>
            <a:schemeClr val="accent2">
              <a:lumMod val="40000"/>
              <a:lumOff val="60000"/>
            </a:schemeClr>
          </a:solidFill>
          <a:ln>
            <a:solidFill>
              <a:srgbClr val="FF0000"/>
            </a:solidFill>
          </a:ln>
        </p:spPr>
        <p:txBody>
          <a:bodyPr wrap="none" rtlCol="0">
            <a:spAutoFit/>
          </a:bodyPr>
          <a:lstStyle/>
          <a:p>
            <a:r>
              <a:rPr lang="zh-CN" altLang="en-US" sz="2000" b="0" dirty="0">
                <a:solidFill>
                  <a:srgbClr val="FF0000"/>
                </a:solidFill>
                <a:latin typeface="Times New Roman" panose="02020603050405020304" pitchFamily="18" charset="0"/>
                <a:ea typeface="黑体" panose="02010609060101010101" pitchFamily="49" charset="-122"/>
              </a:rPr>
              <a:t>段海新等</a:t>
            </a:r>
            <a:r>
              <a:rPr lang="en-US" altLang="zh-CN" sz="2000" b="0" dirty="0">
                <a:solidFill>
                  <a:srgbClr val="FF0000"/>
                </a:solidFill>
                <a:latin typeface="Times New Roman" panose="02020603050405020304" pitchFamily="18" charset="0"/>
                <a:ea typeface="黑体" panose="02010609060101010101" pitchFamily="49" charset="-122"/>
              </a:rPr>
              <a:t>USENIX2018</a:t>
            </a:r>
            <a:endParaRPr lang="zh-CN" altLang="en-US" sz="2000" b="0" dirty="0">
              <a:solidFill>
                <a:srgbClr val="FF0000"/>
              </a:solidFill>
              <a:latin typeface="Times New Roman" panose="02020603050405020304" pitchFamily="18" charset="0"/>
              <a:ea typeface="黑体" panose="02010609060101010101" pitchFamily="49" charset="-122"/>
            </a:endParaRPr>
          </a:p>
        </p:txBody>
      </p:sp>
      <p:pic>
        <p:nvPicPr>
          <p:cNvPr id="5" name="图片 4"/>
          <p:cNvPicPr>
            <a:picLocks noChangeAspect="1"/>
          </p:cNvPicPr>
          <p:nvPr/>
        </p:nvPicPr>
        <p:blipFill>
          <a:blip r:embed="rId3"/>
          <a:stretch>
            <a:fillRect/>
          </a:stretch>
        </p:blipFill>
        <p:spPr>
          <a:xfrm>
            <a:off x="1030778" y="2330115"/>
            <a:ext cx="7400435" cy="4463678"/>
          </a:xfrm>
          <a:prstGeom prst="rect">
            <a:avLst/>
          </a:prstGeom>
          <a:ln>
            <a:solidFill>
              <a:srgbClr val="FF0000"/>
            </a:solidFill>
          </a:ln>
        </p:spPr>
      </p:pic>
    </p:spTree>
    <p:extLst>
      <p:ext uri="{BB962C8B-B14F-4D97-AF65-F5344CB8AC3E}">
        <p14:creationId xmlns:p14="http://schemas.microsoft.com/office/powerpoint/2010/main" val="2081346262"/>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39746" y="1101725"/>
            <a:ext cx="7772400" cy="4114800"/>
          </a:xfrm>
        </p:spPr>
        <p:txBody>
          <a:bodyPr/>
          <a:lstStyle/>
          <a:p>
            <a:r>
              <a:rPr lang="zh-CN" altLang="en-US" dirty="0"/>
              <a:t>一、协议脆弱性</a:t>
            </a:r>
            <a:endParaRPr lang="en-US" altLang="zh-CN" dirty="0"/>
          </a:p>
          <a:p>
            <a:pPr lvl="1"/>
            <a:r>
              <a:rPr lang="zh-CN" altLang="en-US" dirty="0"/>
              <a:t>网络通信攻击：</a:t>
            </a:r>
            <a:r>
              <a:rPr lang="en-US" altLang="zh-CN" dirty="0"/>
              <a:t>DNS</a:t>
            </a:r>
            <a:r>
              <a:rPr lang="zh-CN" altLang="zh-CN" dirty="0"/>
              <a:t>域名解析过程劫持</a:t>
            </a:r>
            <a:endParaRPr lang="zh-CN" altLang="en-US" dirty="0"/>
          </a:p>
        </p:txBody>
      </p:sp>
      <p:sp>
        <p:nvSpPr>
          <p:cNvPr id="3" name="标题 2"/>
          <p:cNvSpPr>
            <a:spLocks noGrp="1"/>
          </p:cNvSpPr>
          <p:nvPr>
            <p:ph type="title"/>
          </p:nvPr>
        </p:nvSpPr>
        <p:spPr/>
        <p:txBody>
          <a:bodyPr/>
          <a:lstStyle/>
          <a:p>
            <a:r>
              <a:rPr lang="en-US" altLang="zh-CN" dirty="0"/>
              <a:t>DNS</a:t>
            </a:r>
            <a:r>
              <a:rPr lang="zh-CN" altLang="en-US" dirty="0"/>
              <a:t>安全威胁</a:t>
            </a:r>
          </a:p>
        </p:txBody>
      </p:sp>
      <p:sp>
        <p:nvSpPr>
          <p:cNvPr id="4" name="Rectangle 2"/>
          <p:cNvSpPr>
            <a:spLocks noChangeArrowheads="1"/>
          </p:cNvSpPr>
          <p:nvPr/>
        </p:nvSpPr>
        <p:spPr bwMode="auto">
          <a:xfrm>
            <a:off x="1575581" y="4090118"/>
            <a:ext cx="13473131"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6" name="文本框 5"/>
          <p:cNvSpPr txBox="1"/>
          <p:nvPr/>
        </p:nvSpPr>
        <p:spPr>
          <a:xfrm>
            <a:off x="2633184" y="5894237"/>
            <a:ext cx="2666114" cy="400110"/>
          </a:xfrm>
          <a:prstGeom prst="rect">
            <a:avLst/>
          </a:prstGeom>
          <a:solidFill>
            <a:schemeClr val="accent2">
              <a:lumMod val="40000"/>
              <a:lumOff val="60000"/>
            </a:schemeClr>
          </a:solidFill>
          <a:ln>
            <a:solidFill>
              <a:srgbClr val="FF0000"/>
            </a:solidFill>
          </a:ln>
        </p:spPr>
        <p:txBody>
          <a:bodyPr wrap="none" rtlCol="0">
            <a:spAutoFit/>
          </a:bodyPr>
          <a:lstStyle/>
          <a:p>
            <a:r>
              <a:rPr lang="zh-CN" altLang="en-US" sz="2000" b="0" dirty="0">
                <a:solidFill>
                  <a:srgbClr val="FF0000"/>
                </a:solidFill>
                <a:latin typeface="Times New Roman" panose="02020603050405020304" pitchFamily="18" charset="0"/>
                <a:ea typeface="黑体" panose="02010609060101010101" pitchFamily="49" charset="-122"/>
              </a:rPr>
              <a:t>段海新等</a:t>
            </a:r>
            <a:r>
              <a:rPr lang="en-US" altLang="zh-CN" sz="2000" b="0" dirty="0">
                <a:solidFill>
                  <a:srgbClr val="FF0000"/>
                </a:solidFill>
                <a:latin typeface="Times New Roman" panose="02020603050405020304" pitchFamily="18" charset="0"/>
                <a:ea typeface="黑体" panose="02010609060101010101" pitchFamily="49" charset="-122"/>
              </a:rPr>
              <a:t>USENIX2018</a:t>
            </a:r>
            <a:endParaRPr lang="zh-CN" altLang="en-US" sz="2000" b="0" dirty="0">
              <a:solidFill>
                <a:srgbClr val="FF0000"/>
              </a:solidFill>
              <a:latin typeface="Times New Roman" panose="02020603050405020304" pitchFamily="18" charset="0"/>
              <a:ea typeface="黑体" panose="02010609060101010101" pitchFamily="49" charset="-122"/>
            </a:endParaRPr>
          </a:p>
        </p:txBody>
      </p:sp>
      <p:pic>
        <p:nvPicPr>
          <p:cNvPr id="5" name="图片 4"/>
          <p:cNvPicPr>
            <a:picLocks noChangeAspect="1"/>
          </p:cNvPicPr>
          <p:nvPr/>
        </p:nvPicPr>
        <p:blipFill>
          <a:blip r:embed="rId3"/>
          <a:stretch>
            <a:fillRect/>
          </a:stretch>
        </p:blipFill>
        <p:spPr>
          <a:xfrm>
            <a:off x="1003726" y="2277127"/>
            <a:ext cx="7117802" cy="3527977"/>
          </a:xfrm>
          <a:prstGeom prst="rect">
            <a:avLst/>
          </a:prstGeom>
        </p:spPr>
      </p:pic>
    </p:spTree>
    <p:extLst>
      <p:ext uri="{BB962C8B-B14F-4D97-AF65-F5344CB8AC3E}">
        <p14:creationId xmlns:p14="http://schemas.microsoft.com/office/powerpoint/2010/main" val="1811515855"/>
      </p:ext>
    </p:extLst>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66404" y="1172666"/>
            <a:ext cx="7772400" cy="4114800"/>
          </a:xfrm>
        </p:spPr>
        <p:txBody>
          <a:bodyPr/>
          <a:lstStyle/>
          <a:p>
            <a:r>
              <a:rPr lang="zh-CN" altLang="en-US" dirty="0"/>
              <a:t>一、协议脆弱性</a:t>
            </a:r>
            <a:endParaRPr lang="en-US" altLang="zh-CN" dirty="0"/>
          </a:p>
          <a:p>
            <a:pPr lvl="1"/>
            <a:r>
              <a:rPr lang="zh-CN" altLang="en-US" dirty="0"/>
              <a:t>网络通信攻击：</a:t>
            </a:r>
            <a:r>
              <a:rPr lang="en-US" altLang="zh-CN" dirty="0"/>
              <a:t>DNS</a:t>
            </a:r>
            <a:r>
              <a:rPr lang="zh-CN" altLang="zh-CN" dirty="0"/>
              <a:t>域名解析过程劫持</a:t>
            </a:r>
            <a:endParaRPr lang="zh-CN" altLang="en-US" dirty="0"/>
          </a:p>
        </p:txBody>
      </p:sp>
      <p:sp>
        <p:nvSpPr>
          <p:cNvPr id="3" name="标题 2"/>
          <p:cNvSpPr>
            <a:spLocks noGrp="1"/>
          </p:cNvSpPr>
          <p:nvPr>
            <p:ph type="title"/>
          </p:nvPr>
        </p:nvSpPr>
        <p:spPr/>
        <p:txBody>
          <a:bodyPr/>
          <a:lstStyle/>
          <a:p>
            <a:r>
              <a:rPr lang="en-US" altLang="zh-CN" dirty="0"/>
              <a:t>DNS</a:t>
            </a:r>
            <a:r>
              <a:rPr lang="zh-CN" altLang="en-US" dirty="0"/>
              <a:t>安全威胁</a:t>
            </a:r>
          </a:p>
        </p:txBody>
      </p:sp>
      <p:sp>
        <p:nvSpPr>
          <p:cNvPr id="4" name="Rectangle 2"/>
          <p:cNvSpPr>
            <a:spLocks noChangeArrowheads="1"/>
          </p:cNvSpPr>
          <p:nvPr/>
        </p:nvSpPr>
        <p:spPr bwMode="auto">
          <a:xfrm>
            <a:off x="1575581" y="4090118"/>
            <a:ext cx="13473131"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6" name="文本框 5"/>
          <p:cNvSpPr txBox="1"/>
          <p:nvPr/>
        </p:nvSpPr>
        <p:spPr>
          <a:xfrm>
            <a:off x="2766188" y="5865606"/>
            <a:ext cx="2666114" cy="400110"/>
          </a:xfrm>
          <a:prstGeom prst="rect">
            <a:avLst/>
          </a:prstGeom>
          <a:solidFill>
            <a:schemeClr val="accent2">
              <a:lumMod val="40000"/>
              <a:lumOff val="60000"/>
            </a:schemeClr>
          </a:solidFill>
          <a:ln>
            <a:solidFill>
              <a:srgbClr val="FF0000"/>
            </a:solidFill>
          </a:ln>
        </p:spPr>
        <p:txBody>
          <a:bodyPr wrap="none" rtlCol="0">
            <a:spAutoFit/>
          </a:bodyPr>
          <a:lstStyle/>
          <a:p>
            <a:r>
              <a:rPr lang="zh-CN" altLang="en-US" sz="2000" b="0" dirty="0">
                <a:solidFill>
                  <a:srgbClr val="FF0000"/>
                </a:solidFill>
                <a:latin typeface="Times New Roman" panose="02020603050405020304" pitchFamily="18" charset="0"/>
                <a:ea typeface="黑体" panose="02010609060101010101" pitchFamily="49" charset="-122"/>
              </a:rPr>
              <a:t>段海新等</a:t>
            </a:r>
            <a:r>
              <a:rPr lang="en-US" altLang="zh-CN" sz="2000" b="0" dirty="0">
                <a:solidFill>
                  <a:srgbClr val="FF0000"/>
                </a:solidFill>
                <a:latin typeface="Times New Roman" panose="02020603050405020304" pitchFamily="18" charset="0"/>
                <a:ea typeface="黑体" panose="02010609060101010101" pitchFamily="49" charset="-122"/>
              </a:rPr>
              <a:t>USENIX2018</a:t>
            </a:r>
            <a:endParaRPr lang="zh-CN" altLang="en-US" sz="2000" b="0" dirty="0">
              <a:solidFill>
                <a:srgbClr val="FF0000"/>
              </a:solidFill>
              <a:latin typeface="Times New Roman" panose="02020603050405020304" pitchFamily="18" charset="0"/>
              <a:ea typeface="黑体" panose="02010609060101010101" pitchFamily="49" charset="-122"/>
            </a:endParaRPr>
          </a:p>
        </p:txBody>
      </p:sp>
      <p:pic>
        <p:nvPicPr>
          <p:cNvPr id="7" name="图片 6"/>
          <p:cNvPicPr>
            <a:picLocks noChangeAspect="1"/>
          </p:cNvPicPr>
          <p:nvPr/>
        </p:nvPicPr>
        <p:blipFill>
          <a:blip r:embed="rId3"/>
          <a:stretch>
            <a:fillRect/>
          </a:stretch>
        </p:blipFill>
        <p:spPr>
          <a:xfrm>
            <a:off x="4443" y="2617684"/>
            <a:ext cx="4791969" cy="2944867"/>
          </a:xfrm>
          <a:prstGeom prst="rect">
            <a:avLst/>
          </a:prstGeom>
        </p:spPr>
      </p:pic>
      <p:pic>
        <p:nvPicPr>
          <p:cNvPr id="8" name="图片 7"/>
          <p:cNvPicPr>
            <a:picLocks noChangeAspect="1"/>
          </p:cNvPicPr>
          <p:nvPr/>
        </p:nvPicPr>
        <p:blipFill>
          <a:blip r:embed="rId4"/>
          <a:stretch>
            <a:fillRect/>
          </a:stretch>
        </p:blipFill>
        <p:spPr>
          <a:xfrm>
            <a:off x="5213003" y="3016018"/>
            <a:ext cx="3889203" cy="752140"/>
          </a:xfrm>
          <a:prstGeom prst="rect">
            <a:avLst/>
          </a:prstGeom>
          <a:ln>
            <a:solidFill>
              <a:srgbClr val="FF0000"/>
            </a:solidFill>
          </a:ln>
        </p:spPr>
      </p:pic>
      <p:pic>
        <p:nvPicPr>
          <p:cNvPr id="9" name="图片 8"/>
          <p:cNvPicPr>
            <a:picLocks noChangeAspect="1"/>
          </p:cNvPicPr>
          <p:nvPr/>
        </p:nvPicPr>
        <p:blipFill>
          <a:blip r:embed="rId5"/>
          <a:stretch>
            <a:fillRect/>
          </a:stretch>
        </p:blipFill>
        <p:spPr>
          <a:xfrm>
            <a:off x="5213002" y="4222960"/>
            <a:ext cx="3889203" cy="820783"/>
          </a:xfrm>
          <a:prstGeom prst="rect">
            <a:avLst/>
          </a:prstGeom>
          <a:ln>
            <a:solidFill>
              <a:schemeClr val="accent1"/>
            </a:solidFill>
          </a:ln>
        </p:spPr>
      </p:pic>
    </p:spTree>
    <p:extLst>
      <p:ext uri="{BB962C8B-B14F-4D97-AF65-F5344CB8AC3E}">
        <p14:creationId xmlns:p14="http://schemas.microsoft.com/office/powerpoint/2010/main" val="2560418459"/>
      </p:ext>
    </p:extLst>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362434"/>
            <a:ext cx="7772400" cy="4114800"/>
          </a:xfrm>
        </p:spPr>
        <p:txBody>
          <a:bodyPr/>
          <a:lstStyle/>
          <a:p>
            <a:r>
              <a:rPr lang="zh-CN" altLang="en-US" dirty="0"/>
              <a:t>一、协议脆弱性</a:t>
            </a:r>
            <a:endParaRPr lang="en-US" altLang="zh-CN" dirty="0"/>
          </a:p>
          <a:p>
            <a:pPr lvl="1"/>
            <a:r>
              <a:rPr lang="zh-CN" altLang="en-US" dirty="0"/>
              <a:t>网络通信攻击：</a:t>
            </a:r>
            <a:r>
              <a:rPr lang="en-US" altLang="zh-CN" dirty="0"/>
              <a:t>DNS</a:t>
            </a:r>
            <a:r>
              <a:rPr lang="zh-CN" altLang="zh-CN" dirty="0"/>
              <a:t>域名解析过程劫持</a:t>
            </a:r>
            <a:endParaRPr lang="zh-CN" altLang="en-US" dirty="0"/>
          </a:p>
        </p:txBody>
      </p:sp>
      <p:sp>
        <p:nvSpPr>
          <p:cNvPr id="3" name="标题 2"/>
          <p:cNvSpPr>
            <a:spLocks noGrp="1"/>
          </p:cNvSpPr>
          <p:nvPr>
            <p:ph type="title"/>
          </p:nvPr>
        </p:nvSpPr>
        <p:spPr/>
        <p:txBody>
          <a:bodyPr/>
          <a:lstStyle/>
          <a:p>
            <a:r>
              <a:rPr lang="en-US" altLang="zh-CN" dirty="0"/>
              <a:t>DNS</a:t>
            </a:r>
            <a:r>
              <a:rPr lang="zh-CN" altLang="en-US" dirty="0"/>
              <a:t>安全威胁</a:t>
            </a:r>
          </a:p>
        </p:txBody>
      </p:sp>
      <p:sp>
        <p:nvSpPr>
          <p:cNvPr id="4" name="Rectangle 2"/>
          <p:cNvSpPr>
            <a:spLocks noChangeArrowheads="1"/>
          </p:cNvSpPr>
          <p:nvPr/>
        </p:nvSpPr>
        <p:spPr bwMode="auto">
          <a:xfrm>
            <a:off x="1575581" y="4090118"/>
            <a:ext cx="13473131"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nvPr>
        </p:nvGraphicFramePr>
        <p:xfrm>
          <a:off x="815926" y="2627078"/>
          <a:ext cx="7615287" cy="3239149"/>
        </p:xfrm>
        <a:graphic>
          <a:graphicData uri="http://schemas.openxmlformats.org/presentationml/2006/ole">
            <mc:AlternateContent xmlns:mc="http://schemas.openxmlformats.org/markup-compatibility/2006">
              <mc:Choice xmlns:v="urn:schemas-microsoft-com:vml" Requires="v">
                <p:oleObj spid="_x0000_s8287" name="演示文稿" r:id="rId4" imgW="4570551" imgH="3427315" progId="PowerPoint.Show.12">
                  <p:embed/>
                </p:oleObj>
              </mc:Choice>
              <mc:Fallback>
                <p:oleObj name="演示文稿" r:id="rId4" imgW="4570551" imgH="3427315" progId="PowerPoint.Show.12">
                  <p:embed/>
                  <p:pic>
                    <p:nvPicPr>
                      <p:cNvPr id="5" name="对象 4"/>
                      <p:cNvPicPr>
                        <a:picLocks noChangeAspect="1" noChangeArrowheads="1"/>
                      </p:cNvPicPr>
                      <p:nvPr/>
                    </p:nvPicPr>
                    <p:blipFill>
                      <a:blip r:embed="rId5">
                        <a:extLst>
                          <a:ext uri="{28A0092B-C50C-407E-A947-70E740481C1C}">
                            <a14:useLocalDpi xmlns:a14="http://schemas.microsoft.com/office/drawing/2010/main" val="0"/>
                          </a:ext>
                        </a:extLst>
                      </a:blip>
                      <a:srcRect r="31693" b="63025"/>
                      <a:stretch>
                        <a:fillRect/>
                      </a:stretch>
                    </p:blipFill>
                    <p:spPr bwMode="auto">
                      <a:xfrm>
                        <a:off x="815926" y="2627078"/>
                        <a:ext cx="7615287" cy="3239149"/>
                      </a:xfrm>
                      <a:prstGeom prst="rect">
                        <a:avLst/>
                      </a:prstGeom>
                      <a:noFill/>
                    </p:spPr>
                  </p:pic>
                </p:oleObj>
              </mc:Fallback>
            </mc:AlternateContent>
          </a:graphicData>
        </a:graphic>
      </p:graphicFrame>
      <p:sp>
        <p:nvSpPr>
          <p:cNvPr id="6" name="文本框 5"/>
          <p:cNvSpPr txBox="1"/>
          <p:nvPr/>
        </p:nvSpPr>
        <p:spPr>
          <a:xfrm>
            <a:off x="3554998" y="5866227"/>
            <a:ext cx="2666114" cy="400110"/>
          </a:xfrm>
          <a:prstGeom prst="rect">
            <a:avLst/>
          </a:prstGeom>
          <a:solidFill>
            <a:schemeClr val="accent2">
              <a:lumMod val="40000"/>
              <a:lumOff val="60000"/>
            </a:schemeClr>
          </a:solidFill>
          <a:ln>
            <a:solidFill>
              <a:srgbClr val="FF0000"/>
            </a:solidFill>
          </a:ln>
        </p:spPr>
        <p:txBody>
          <a:bodyPr wrap="none" rtlCol="0">
            <a:spAutoFit/>
          </a:bodyPr>
          <a:lstStyle/>
          <a:p>
            <a:r>
              <a:rPr lang="zh-CN" altLang="en-US" sz="2000" b="0" dirty="0">
                <a:solidFill>
                  <a:srgbClr val="FF0000"/>
                </a:solidFill>
                <a:latin typeface="Times New Roman" panose="02020603050405020304" pitchFamily="18" charset="0"/>
                <a:ea typeface="黑体" panose="02010609060101010101" pitchFamily="49" charset="-122"/>
              </a:rPr>
              <a:t>段海新等</a:t>
            </a:r>
            <a:r>
              <a:rPr lang="en-US" altLang="zh-CN" sz="2000" b="0" dirty="0">
                <a:solidFill>
                  <a:srgbClr val="FF0000"/>
                </a:solidFill>
                <a:latin typeface="Times New Roman" panose="02020603050405020304" pitchFamily="18" charset="0"/>
                <a:ea typeface="黑体" panose="02010609060101010101" pitchFamily="49" charset="-122"/>
              </a:rPr>
              <a:t>USENIX2018</a:t>
            </a:r>
            <a:endParaRPr lang="zh-CN" altLang="en-US" sz="2000" b="0" dirty="0">
              <a:solidFill>
                <a:srgbClr val="FF0000"/>
              </a:solidFill>
              <a:latin typeface="Times New Roman" panose="02020603050405020304" pitchFamily="18" charset="0"/>
              <a:ea typeface="黑体" panose="02010609060101010101" pitchFamily="49" charset="-122"/>
            </a:endParaRPr>
          </a:p>
        </p:txBody>
      </p:sp>
    </p:spTree>
    <p:extLst>
      <p:ext uri="{BB962C8B-B14F-4D97-AF65-F5344CB8AC3E}">
        <p14:creationId xmlns:p14="http://schemas.microsoft.com/office/powerpoint/2010/main" val="217482266"/>
      </p:ext>
    </p:extLst>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362434"/>
            <a:ext cx="7772400" cy="4114800"/>
          </a:xfrm>
        </p:spPr>
        <p:txBody>
          <a:bodyPr/>
          <a:lstStyle/>
          <a:p>
            <a:r>
              <a:rPr lang="zh-CN" altLang="en-US" dirty="0"/>
              <a:t>一、协议脆弱性</a:t>
            </a:r>
            <a:endParaRPr lang="en-US" altLang="zh-CN" dirty="0"/>
          </a:p>
          <a:p>
            <a:pPr lvl="1"/>
            <a:r>
              <a:rPr lang="zh-CN" altLang="en-US" dirty="0"/>
              <a:t>网络通信攻击：</a:t>
            </a:r>
            <a:r>
              <a:rPr lang="en-US" altLang="zh-CN" dirty="0"/>
              <a:t>DNS</a:t>
            </a:r>
            <a:r>
              <a:rPr lang="zh-CN" altLang="zh-CN" dirty="0"/>
              <a:t>域名解析过程劫持</a:t>
            </a:r>
            <a:endParaRPr lang="zh-CN" altLang="en-US" dirty="0"/>
          </a:p>
        </p:txBody>
      </p:sp>
      <p:sp>
        <p:nvSpPr>
          <p:cNvPr id="3" name="标题 2"/>
          <p:cNvSpPr>
            <a:spLocks noGrp="1"/>
          </p:cNvSpPr>
          <p:nvPr>
            <p:ph type="title"/>
          </p:nvPr>
        </p:nvSpPr>
        <p:spPr/>
        <p:txBody>
          <a:bodyPr/>
          <a:lstStyle/>
          <a:p>
            <a:r>
              <a:rPr lang="en-US" altLang="zh-CN" dirty="0"/>
              <a:t>DNS</a:t>
            </a:r>
            <a:r>
              <a:rPr lang="zh-CN" altLang="en-US" dirty="0"/>
              <a:t>安全威胁</a:t>
            </a:r>
          </a:p>
        </p:txBody>
      </p:sp>
      <p:sp>
        <p:nvSpPr>
          <p:cNvPr id="4" name="Rectangle 2"/>
          <p:cNvSpPr>
            <a:spLocks noChangeArrowheads="1"/>
          </p:cNvSpPr>
          <p:nvPr/>
        </p:nvSpPr>
        <p:spPr bwMode="auto">
          <a:xfrm>
            <a:off x="1575581" y="4090118"/>
            <a:ext cx="13473131"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6" name="Rectangle 2"/>
          <p:cNvSpPr>
            <a:spLocks noChangeArrowheads="1"/>
          </p:cNvSpPr>
          <p:nvPr/>
        </p:nvSpPr>
        <p:spPr bwMode="auto">
          <a:xfrm>
            <a:off x="247611" y="2681207"/>
            <a:ext cx="1381132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7" name="对象 6"/>
          <p:cNvGraphicFramePr>
            <a:graphicFrameLocks noChangeAspect="1"/>
          </p:cNvGraphicFramePr>
          <p:nvPr>
            <p:extLst/>
          </p:nvPr>
        </p:nvGraphicFramePr>
        <p:xfrm>
          <a:off x="658813" y="2472659"/>
          <a:ext cx="7524292" cy="3735635"/>
        </p:xfrm>
        <a:graphic>
          <a:graphicData uri="http://schemas.openxmlformats.org/presentationml/2006/ole">
            <mc:AlternateContent xmlns:mc="http://schemas.openxmlformats.org/markup-compatibility/2006">
              <mc:Choice xmlns:v="urn:schemas-microsoft-com:vml" Requires="v">
                <p:oleObj spid="_x0000_s9311" name="演示文稿" r:id="rId4" imgW="4570551" imgH="3427315" progId="PowerPoint.Show.12">
                  <p:embed/>
                </p:oleObj>
              </mc:Choice>
              <mc:Fallback>
                <p:oleObj name="演示文稿" r:id="rId4" imgW="4570551" imgH="3427315" progId="PowerPoint.Show.12">
                  <p:embed/>
                  <p:pic>
                    <p:nvPicPr>
                      <p:cNvPr id="7" name="对象 6"/>
                      <p:cNvPicPr>
                        <a:picLocks noChangeAspect="1" noChangeArrowheads="1"/>
                      </p:cNvPicPr>
                      <p:nvPr/>
                    </p:nvPicPr>
                    <p:blipFill>
                      <a:blip r:embed="rId5">
                        <a:extLst>
                          <a:ext uri="{28A0092B-C50C-407E-A947-70E740481C1C}">
                            <a14:useLocalDpi xmlns:a14="http://schemas.microsoft.com/office/drawing/2010/main" val="0"/>
                          </a:ext>
                        </a:extLst>
                      </a:blip>
                      <a:srcRect r="15846" b="47269"/>
                      <a:stretch>
                        <a:fillRect/>
                      </a:stretch>
                    </p:blipFill>
                    <p:spPr bwMode="auto">
                      <a:xfrm>
                        <a:off x="658813" y="2472659"/>
                        <a:ext cx="7524292" cy="3735635"/>
                      </a:xfrm>
                      <a:prstGeom prst="rect">
                        <a:avLst/>
                      </a:prstGeom>
                      <a:noFill/>
                    </p:spPr>
                  </p:pic>
                </p:oleObj>
              </mc:Fallback>
            </mc:AlternateContent>
          </a:graphicData>
        </a:graphic>
      </p:graphicFrame>
      <p:sp>
        <p:nvSpPr>
          <p:cNvPr id="9" name="文本框 8"/>
          <p:cNvSpPr txBox="1"/>
          <p:nvPr/>
        </p:nvSpPr>
        <p:spPr>
          <a:xfrm>
            <a:off x="4081941" y="5808184"/>
            <a:ext cx="2666114" cy="400110"/>
          </a:xfrm>
          <a:prstGeom prst="rect">
            <a:avLst/>
          </a:prstGeom>
          <a:solidFill>
            <a:schemeClr val="accent2">
              <a:lumMod val="40000"/>
              <a:lumOff val="60000"/>
            </a:schemeClr>
          </a:solidFill>
          <a:ln>
            <a:solidFill>
              <a:srgbClr val="FF0000"/>
            </a:solidFill>
          </a:ln>
        </p:spPr>
        <p:txBody>
          <a:bodyPr wrap="none" rtlCol="0">
            <a:spAutoFit/>
          </a:bodyPr>
          <a:lstStyle/>
          <a:p>
            <a:r>
              <a:rPr lang="zh-CN" altLang="en-US" sz="2000" b="0" dirty="0">
                <a:solidFill>
                  <a:srgbClr val="FF0000"/>
                </a:solidFill>
                <a:latin typeface="Times New Roman" panose="02020603050405020304" pitchFamily="18" charset="0"/>
                <a:ea typeface="黑体" panose="02010609060101010101" pitchFamily="49" charset="-122"/>
              </a:rPr>
              <a:t>段海新等</a:t>
            </a:r>
            <a:r>
              <a:rPr lang="en-US" altLang="zh-CN" sz="2000" b="0" dirty="0">
                <a:solidFill>
                  <a:srgbClr val="FF0000"/>
                </a:solidFill>
                <a:latin typeface="Times New Roman" panose="02020603050405020304" pitchFamily="18" charset="0"/>
                <a:ea typeface="黑体" panose="02010609060101010101" pitchFamily="49" charset="-122"/>
              </a:rPr>
              <a:t>USENIX2018</a:t>
            </a:r>
            <a:endParaRPr lang="zh-CN" altLang="en-US" sz="2000" b="0" dirty="0">
              <a:solidFill>
                <a:srgbClr val="FF0000"/>
              </a:solidFill>
              <a:latin typeface="Times New Roman" panose="02020603050405020304" pitchFamily="18" charset="0"/>
              <a:ea typeface="黑体" panose="02010609060101010101" pitchFamily="49" charset="-122"/>
            </a:endParaRPr>
          </a:p>
        </p:txBody>
      </p:sp>
    </p:spTree>
    <p:extLst>
      <p:ext uri="{BB962C8B-B14F-4D97-AF65-F5344CB8AC3E}">
        <p14:creationId xmlns:p14="http://schemas.microsoft.com/office/powerpoint/2010/main" val="304964606"/>
      </p:ext>
    </p:extLst>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2" y="1230274"/>
            <a:ext cx="7772400" cy="4114800"/>
          </a:xfrm>
        </p:spPr>
        <p:txBody>
          <a:bodyPr/>
          <a:lstStyle/>
          <a:p>
            <a:r>
              <a:rPr lang="zh-CN" altLang="en-US" dirty="0"/>
              <a:t>一、协议脆弱性</a:t>
            </a:r>
            <a:endParaRPr lang="en-US" altLang="zh-CN" dirty="0"/>
          </a:p>
          <a:p>
            <a:pPr lvl="1"/>
            <a:r>
              <a:rPr lang="zh-CN" altLang="en-US" dirty="0"/>
              <a:t>网络通信攻击：</a:t>
            </a:r>
            <a:r>
              <a:rPr lang="en-US" altLang="zh-CN" dirty="0"/>
              <a:t>DNS</a:t>
            </a:r>
            <a:r>
              <a:rPr lang="zh-CN" altLang="zh-CN" dirty="0"/>
              <a:t>域名解析过程劫持</a:t>
            </a:r>
            <a:endParaRPr lang="zh-CN" altLang="en-US" dirty="0"/>
          </a:p>
        </p:txBody>
      </p:sp>
      <p:sp>
        <p:nvSpPr>
          <p:cNvPr id="3" name="标题 2"/>
          <p:cNvSpPr>
            <a:spLocks noGrp="1"/>
          </p:cNvSpPr>
          <p:nvPr>
            <p:ph type="title"/>
          </p:nvPr>
        </p:nvSpPr>
        <p:spPr/>
        <p:txBody>
          <a:bodyPr/>
          <a:lstStyle/>
          <a:p>
            <a:r>
              <a:rPr lang="en-US" altLang="zh-CN" dirty="0"/>
              <a:t>DNS</a:t>
            </a:r>
            <a:r>
              <a:rPr lang="zh-CN" altLang="en-US" dirty="0"/>
              <a:t>安全威胁</a:t>
            </a:r>
          </a:p>
        </p:txBody>
      </p:sp>
      <p:sp>
        <p:nvSpPr>
          <p:cNvPr id="4" name="Rectangle 2"/>
          <p:cNvSpPr>
            <a:spLocks noChangeArrowheads="1"/>
          </p:cNvSpPr>
          <p:nvPr/>
        </p:nvSpPr>
        <p:spPr bwMode="auto">
          <a:xfrm>
            <a:off x="1575581" y="4090118"/>
            <a:ext cx="13473131"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6" name="Rectangle 2"/>
          <p:cNvSpPr>
            <a:spLocks noChangeArrowheads="1"/>
          </p:cNvSpPr>
          <p:nvPr/>
        </p:nvSpPr>
        <p:spPr bwMode="auto">
          <a:xfrm>
            <a:off x="247611" y="2681207"/>
            <a:ext cx="1381132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pic>
        <p:nvPicPr>
          <p:cNvPr id="5" name="图片 4"/>
          <p:cNvPicPr>
            <a:picLocks noChangeAspect="1"/>
          </p:cNvPicPr>
          <p:nvPr/>
        </p:nvPicPr>
        <p:blipFill>
          <a:blip r:embed="rId3"/>
          <a:stretch>
            <a:fillRect/>
          </a:stretch>
        </p:blipFill>
        <p:spPr>
          <a:xfrm>
            <a:off x="904874" y="2511165"/>
            <a:ext cx="7280275" cy="3157906"/>
          </a:xfrm>
          <a:prstGeom prst="rect">
            <a:avLst/>
          </a:prstGeom>
          <a:ln>
            <a:solidFill>
              <a:srgbClr val="FF0000"/>
            </a:solidFill>
          </a:ln>
        </p:spPr>
      </p:pic>
      <p:sp>
        <p:nvSpPr>
          <p:cNvPr id="9" name="文本框 8"/>
          <p:cNvSpPr txBox="1"/>
          <p:nvPr/>
        </p:nvSpPr>
        <p:spPr>
          <a:xfrm>
            <a:off x="3569533" y="5807712"/>
            <a:ext cx="2666114" cy="400110"/>
          </a:xfrm>
          <a:prstGeom prst="rect">
            <a:avLst/>
          </a:prstGeom>
          <a:solidFill>
            <a:schemeClr val="accent2">
              <a:lumMod val="40000"/>
              <a:lumOff val="60000"/>
            </a:schemeClr>
          </a:solidFill>
          <a:ln>
            <a:solidFill>
              <a:srgbClr val="FF0000"/>
            </a:solidFill>
          </a:ln>
        </p:spPr>
        <p:txBody>
          <a:bodyPr wrap="none" rtlCol="0">
            <a:spAutoFit/>
          </a:bodyPr>
          <a:lstStyle/>
          <a:p>
            <a:r>
              <a:rPr lang="zh-CN" altLang="en-US" sz="2000" b="0" dirty="0">
                <a:solidFill>
                  <a:srgbClr val="FF0000"/>
                </a:solidFill>
                <a:latin typeface="Times New Roman" panose="02020603050405020304" pitchFamily="18" charset="0"/>
                <a:ea typeface="黑体" panose="02010609060101010101" pitchFamily="49" charset="-122"/>
              </a:rPr>
              <a:t>段海新等</a:t>
            </a:r>
            <a:r>
              <a:rPr lang="en-US" altLang="zh-CN" sz="2000" b="0" dirty="0">
                <a:solidFill>
                  <a:srgbClr val="FF0000"/>
                </a:solidFill>
                <a:latin typeface="Times New Roman" panose="02020603050405020304" pitchFamily="18" charset="0"/>
                <a:ea typeface="黑体" panose="02010609060101010101" pitchFamily="49" charset="-122"/>
              </a:rPr>
              <a:t>USENIX2018</a:t>
            </a:r>
            <a:endParaRPr lang="zh-CN" altLang="en-US" sz="2000" b="0" dirty="0">
              <a:solidFill>
                <a:srgbClr val="FF0000"/>
              </a:solidFill>
              <a:latin typeface="Times New Roman" panose="02020603050405020304" pitchFamily="18" charset="0"/>
              <a:ea typeface="黑体" panose="02010609060101010101" pitchFamily="49" charset="-122"/>
            </a:endParaRPr>
          </a:p>
        </p:txBody>
      </p:sp>
    </p:spTree>
    <p:extLst>
      <p:ext uri="{BB962C8B-B14F-4D97-AF65-F5344CB8AC3E}">
        <p14:creationId xmlns:p14="http://schemas.microsoft.com/office/powerpoint/2010/main" val="840507347"/>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2" y="1101725"/>
            <a:ext cx="7772400" cy="4114800"/>
          </a:xfrm>
        </p:spPr>
        <p:txBody>
          <a:bodyPr/>
          <a:lstStyle/>
          <a:p>
            <a:r>
              <a:rPr lang="zh-CN" altLang="en-US" dirty="0"/>
              <a:t>一、协议脆弱性</a:t>
            </a:r>
            <a:endParaRPr lang="en-US" altLang="zh-CN" dirty="0"/>
          </a:p>
          <a:p>
            <a:pPr lvl="1"/>
            <a:r>
              <a:rPr lang="zh-CN" altLang="en-US" dirty="0"/>
              <a:t>网络通信攻击：</a:t>
            </a:r>
            <a:r>
              <a:rPr lang="en-US" altLang="zh-CN" dirty="0"/>
              <a:t>DNS</a:t>
            </a:r>
            <a:r>
              <a:rPr lang="zh-CN" altLang="zh-CN" dirty="0"/>
              <a:t>域名解析过程劫持</a:t>
            </a:r>
            <a:endParaRPr lang="zh-CN" altLang="en-US" dirty="0"/>
          </a:p>
        </p:txBody>
      </p:sp>
      <p:sp>
        <p:nvSpPr>
          <p:cNvPr id="3" name="标题 2"/>
          <p:cNvSpPr>
            <a:spLocks noGrp="1"/>
          </p:cNvSpPr>
          <p:nvPr>
            <p:ph type="title"/>
          </p:nvPr>
        </p:nvSpPr>
        <p:spPr/>
        <p:txBody>
          <a:bodyPr/>
          <a:lstStyle/>
          <a:p>
            <a:r>
              <a:rPr lang="en-US" altLang="zh-CN" dirty="0"/>
              <a:t>DNS</a:t>
            </a:r>
            <a:r>
              <a:rPr lang="zh-CN" altLang="en-US" dirty="0"/>
              <a:t>安全威胁</a:t>
            </a:r>
          </a:p>
        </p:txBody>
      </p:sp>
      <p:sp>
        <p:nvSpPr>
          <p:cNvPr id="4" name="Rectangle 2"/>
          <p:cNvSpPr>
            <a:spLocks noChangeArrowheads="1"/>
          </p:cNvSpPr>
          <p:nvPr/>
        </p:nvSpPr>
        <p:spPr bwMode="auto">
          <a:xfrm>
            <a:off x="1575581" y="4090118"/>
            <a:ext cx="13473131"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6" name="Rectangle 2"/>
          <p:cNvSpPr>
            <a:spLocks noChangeArrowheads="1"/>
          </p:cNvSpPr>
          <p:nvPr/>
        </p:nvSpPr>
        <p:spPr bwMode="auto">
          <a:xfrm>
            <a:off x="247611" y="2681207"/>
            <a:ext cx="1381132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pic>
        <p:nvPicPr>
          <p:cNvPr id="7" name="图片 6"/>
          <p:cNvPicPr>
            <a:picLocks noChangeAspect="1"/>
          </p:cNvPicPr>
          <p:nvPr/>
        </p:nvPicPr>
        <p:blipFill>
          <a:blip r:embed="rId3"/>
          <a:stretch>
            <a:fillRect/>
          </a:stretch>
        </p:blipFill>
        <p:spPr>
          <a:xfrm>
            <a:off x="329406" y="2227811"/>
            <a:ext cx="8431212" cy="4630189"/>
          </a:xfrm>
          <a:prstGeom prst="rect">
            <a:avLst/>
          </a:prstGeom>
        </p:spPr>
      </p:pic>
    </p:spTree>
    <p:extLst>
      <p:ext uri="{BB962C8B-B14F-4D97-AF65-F5344CB8AC3E}">
        <p14:creationId xmlns:p14="http://schemas.microsoft.com/office/powerpoint/2010/main" val="1657829960"/>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383682"/>
            <a:ext cx="7772400" cy="4114800"/>
          </a:xfrm>
        </p:spPr>
        <p:txBody>
          <a:bodyPr/>
          <a:lstStyle/>
          <a:p>
            <a:r>
              <a:rPr lang="zh-CN" altLang="en-US" dirty="0"/>
              <a:t>二、实现脆弱性</a:t>
            </a:r>
            <a:endParaRPr lang="en-US" altLang="zh-CN" dirty="0"/>
          </a:p>
          <a:p>
            <a:pPr lvl="1"/>
            <a:r>
              <a:rPr lang="en-US" altLang="zh-CN" dirty="0"/>
              <a:t> DNS </a:t>
            </a:r>
            <a:r>
              <a:rPr lang="zh-CN" altLang="zh-CN" dirty="0"/>
              <a:t>软件，</a:t>
            </a:r>
            <a:r>
              <a:rPr lang="en-US" altLang="zh-CN" dirty="0"/>
              <a:t>BIND </a:t>
            </a:r>
            <a:r>
              <a:rPr lang="zh-CN" altLang="zh-CN" dirty="0"/>
              <a:t>的漏洞和缺陷无疑会给</a:t>
            </a:r>
            <a:r>
              <a:rPr lang="en-US" altLang="zh-CN" dirty="0"/>
              <a:t> DNS </a:t>
            </a:r>
            <a:r>
              <a:rPr lang="zh-CN" altLang="zh-CN" dirty="0"/>
              <a:t>系统带来严重的威胁，其缓冲区溢出漏洞一度占据</a:t>
            </a:r>
            <a:r>
              <a:rPr lang="en-US" altLang="zh-CN" dirty="0"/>
              <a:t> UNIX </a:t>
            </a:r>
            <a:r>
              <a:rPr lang="zh-CN" altLang="zh-CN" dirty="0"/>
              <a:t>及</a:t>
            </a:r>
            <a:r>
              <a:rPr lang="en-US" altLang="zh-CN" dirty="0"/>
              <a:t> Linux </a:t>
            </a:r>
            <a:r>
              <a:rPr lang="zh-CN" altLang="zh-CN" dirty="0"/>
              <a:t>操作系统相关安全隐患的首位</a:t>
            </a:r>
            <a:endParaRPr lang="zh-CN" altLang="en-US" dirty="0"/>
          </a:p>
        </p:txBody>
      </p:sp>
      <p:sp>
        <p:nvSpPr>
          <p:cNvPr id="3" name="标题 2"/>
          <p:cNvSpPr>
            <a:spLocks noGrp="1"/>
          </p:cNvSpPr>
          <p:nvPr>
            <p:ph type="title"/>
          </p:nvPr>
        </p:nvSpPr>
        <p:spPr/>
        <p:txBody>
          <a:bodyPr/>
          <a:lstStyle/>
          <a:p>
            <a:r>
              <a:rPr lang="en-US" altLang="zh-CN" dirty="0"/>
              <a:t>DNS</a:t>
            </a:r>
            <a:r>
              <a:rPr lang="zh-CN" altLang="en-US" dirty="0"/>
              <a:t>安全威胁</a:t>
            </a:r>
          </a:p>
        </p:txBody>
      </p:sp>
    </p:spTree>
    <p:extLst>
      <p:ext uri="{BB962C8B-B14F-4D97-AF65-F5344CB8AC3E}">
        <p14:creationId xmlns:p14="http://schemas.microsoft.com/office/powerpoint/2010/main" val="586647414"/>
      </p:ext>
    </p:extLst>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2" y="1383682"/>
            <a:ext cx="8082231" cy="4114800"/>
          </a:xfrm>
        </p:spPr>
        <p:txBody>
          <a:bodyPr/>
          <a:lstStyle/>
          <a:p>
            <a:r>
              <a:rPr lang="zh-CN" altLang="en-US" dirty="0"/>
              <a:t>三、操作脆弱性</a:t>
            </a:r>
            <a:endParaRPr lang="en-US" altLang="zh-CN" dirty="0"/>
          </a:p>
          <a:p>
            <a:pPr lvl="1"/>
            <a:r>
              <a:rPr lang="zh-CN" altLang="zh-CN" dirty="0"/>
              <a:t>由于人为操作或配置错误所带来的安全隐患</a:t>
            </a:r>
            <a:r>
              <a:rPr lang="zh-CN" altLang="en-US" dirty="0"/>
              <a:t>：</a:t>
            </a:r>
            <a:r>
              <a:rPr lang="zh-CN" altLang="zh-CN" dirty="0">
                <a:solidFill>
                  <a:srgbClr val="FF0000"/>
                </a:solidFill>
              </a:rPr>
              <a:t>域名配置攻击</a:t>
            </a:r>
            <a:r>
              <a:rPr lang="zh-CN" altLang="zh-CN" dirty="0"/>
              <a:t>、</a:t>
            </a:r>
            <a:r>
              <a:rPr lang="zh-CN" altLang="zh-CN" dirty="0">
                <a:solidFill>
                  <a:srgbClr val="FF0000"/>
                </a:solidFill>
              </a:rPr>
              <a:t>域名注册攻击</a:t>
            </a:r>
            <a:r>
              <a:rPr lang="zh-CN" altLang="zh-CN" dirty="0"/>
              <a:t>和</a:t>
            </a:r>
            <a:r>
              <a:rPr lang="zh-CN" altLang="zh-CN" dirty="0">
                <a:solidFill>
                  <a:srgbClr val="FF0000"/>
                </a:solidFill>
              </a:rPr>
              <a:t>信息泄漏</a:t>
            </a:r>
            <a:r>
              <a:rPr lang="zh-CN" altLang="zh-CN" dirty="0"/>
              <a:t>等</a:t>
            </a:r>
            <a:endParaRPr lang="zh-CN" altLang="en-US" dirty="0"/>
          </a:p>
        </p:txBody>
      </p:sp>
      <p:sp>
        <p:nvSpPr>
          <p:cNvPr id="3" name="标题 2"/>
          <p:cNvSpPr>
            <a:spLocks noGrp="1"/>
          </p:cNvSpPr>
          <p:nvPr>
            <p:ph type="title"/>
          </p:nvPr>
        </p:nvSpPr>
        <p:spPr/>
        <p:txBody>
          <a:bodyPr/>
          <a:lstStyle/>
          <a:p>
            <a:r>
              <a:rPr lang="en-US" altLang="zh-CN" dirty="0"/>
              <a:t>DNS</a:t>
            </a:r>
            <a:r>
              <a:rPr lang="zh-CN" altLang="en-US" dirty="0"/>
              <a:t>安全威胁</a:t>
            </a:r>
          </a:p>
        </p:txBody>
      </p:sp>
    </p:spTree>
    <p:extLst>
      <p:ext uri="{BB962C8B-B14F-4D97-AF65-F5344CB8AC3E}">
        <p14:creationId xmlns:p14="http://schemas.microsoft.com/office/powerpoint/2010/main" val="3564779086"/>
      </p:ext>
    </p:extLst>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42188" y="1437785"/>
            <a:ext cx="7772400" cy="4114800"/>
          </a:xfrm>
        </p:spPr>
        <p:txBody>
          <a:bodyPr/>
          <a:lstStyle/>
          <a:p>
            <a:r>
              <a:rPr lang="zh-CN" altLang="en-US" dirty="0"/>
              <a:t>攻击目标网站域名注册服务提供商 </a:t>
            </a:r>
            <a:r>
              <a:rPr lang="zh-CN" altLang="en-US" dirty="0">
                <a:sym typeface="Symbol" panose="05050102010706020507" pitchFamily="18" charset="2"/>
              </a:rPr>
              <a:t> </a:t>
            </a:r>
            <a:r>
              <a:rPr lang="zh-CN" altLang="en-US" dirty="0"/>
              <a:t>修改目标网站域名记录 </a:t>
            </a:r>
            <a:r>
              <a:rPr lang="zh-CN" altLang="en-US" dirty="0">
                <a:sym typeface="Symbol" panose="05050102010706020507" pitchFamily="18" charset="2"/>
              </a:rPr>
              <a:t> </a:t>
            </a:r>
            <a:r>
              <a:rPr lang="zh-CN" altLang="en-US" dirty="0"/>
              <a:t>申请网站证书 </a:t>
            </a:r>
            <a:r>
              <a:rPr lang="zh-CN" altLang="en-US" dirty="0">
                <a:sym typeface="Symbol" panose="05050102010706020507" pitchFamily="18" charset="2"/>
              </a:rPr>
              <a:t> </a:t>
            </a:r>
            <a:r>
              <a:rPr lang="zh-CN" altLang="en-US" dirty="0"/>
              <a:t>伪装成目标网站</a:t>
            </a:r>
          </a:p>
        </p:txBody>
      </p:sp>
      <p:sp>
        <p:nvSpPr>
          <p:cNvPr id="3" name="标题 2"/>
          <p:cNvSpPr>
            <a:spLocks noGrp="1"/>
          </p:cNvSpPr>
          <p:nvPr>
            <p:ph type="title"/>
          </p:nvPr>
        </p:nvSpPr>
        <p:spPr/>
        <p:txBody>
          <a:bodyPr/>
          <a:lstStyle/>
          <a:p>
            <a:r>
              <a:rPr lang="zh-CN" altLang="en-US" dirty="0"/>
              <a:t>组合攻击实现网站假冒</a:t>
            </a:r>
          </a:p>
        </p:txBody>
      </p:sp>
      <p:pic>
        <p:nvPicPr>
          <p:cNvPr id="4" name="图片 3"/>
          <p:cNvPicPr>
            <a:picLocks noChangeAspect="1"/>
          </p:cNvPicPr>
          <p:nvPr/>
        </p:nvPicPr>
        <p:blipFill>
          <a:blip r:embed="rId3"/>
          <a:stretch>
            <a:fillRect/>
          </a:stretch>
        </p:blipFill>
        <p:spPr>
          <a:xfrm>
            <a:off x="1156538" y="3495185"/>
            <a:ext cx="6743700" cy="2419350"/>
          </a:xfrm>
          <a:prstGeom prst="rect">
            <a:avLst/>
          </a:prstGeom>
          <a:ln>
            <a:solidFill>
              <a:srgbClr val="FF0000"/>
            </a:solidFill>
          </a:ln>
        </p:spPr>
      </p:pic>
    </p:spTree>
    <p:extLst>
      <p:ext uri="{BB962C8B-B14F-4D97-AF65-F5344CB8AC3E}">
        <p14:creationId xmlns:p14="http://schemas.microsoft.com/office/powerpoint/2010/main" val="216121570"/>
      </p:ext>
    </p:extLst>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25562" y="1338033"/>
            <a:ext cx="7772400" cy="4114800"/>
          </a:xfrm>
        </p:spPr>
        <p:txBody>
          <a:bodyPr/>
          <a:lstStyle/>
          <a:p>
            <a:r>
              <a:rPr lang="zh-CN" altLang="en-US" dirty="0"/>
              <a:t>攻击目标网站域名注册服务提供商 </a:t>
            </a:r>
            <a:r>
              <a:rPr lang="zh-CN" altLang="en-US" dirty="0">
                <a:sym typeface="Symbol" panose="05050102010706020507" pitchFamily="18" charset="2"/>
              </a:rPr>
              <a:t> </a:t>
            </a:r>
            <a:r>
              <a:rPr lang="zh-CN" altLang="en-US" dirty="0"/>
              <a:t>修改目标网站域名记录 </a:t>
            </a:r>
            <a:r>
              <a:rPr lang="zh-CN" altLang="en-US" dirty="0">
                <a:sym typeface="Symbol" panose="05050102010706020507" pitchFamily="18" charset="2"/>
              </a:rPr>
              <a:t> </a:t>
            </a:r>
            <a:r>
              <a:rPr lang="zh-CN" altLang="en-US" dirty="0"/>
              <a:t>申请网站证书 </a:t>
            </a:r>
            <a:r>
              <a:rPr lang="zh-CN" altLang="en-US" dirty="0">
                <a:sym typeface="Symbol" panose="05050102010706020507" pitchFamily="18" charset="2"/>
              </a:rPr>
              <a:t> </a:t>
            </a:r>
            <a:r>
              <a:rPr lang="zh-CN" altLang="en-US" dirty="0"/>
              <a:t>伪装成目标网站</a:t>
            </a:r>
          </a:p>
        </p:txBody>
      </p:sp>
      <p:sp>
        <p:nvSpPr>
          <p:cNvPr id="3" name="标题 2"/>
          <p:cNvSpPr>
            <a:spLocks noGrp="1"/>
          </p:cNvSpPr>
          <p:nvPr>
            <p:ph type="title"/>
          </p:nvPr>
        </p:nvSpPr>
        <p:spPr/>
        <p:txBody>
          <a:bodyPr/>
          <a:lstStyle/>
          <a:p>
            <a:r>
              <a:rPr lang="zh-CN" altLang="en-US" dirty="0"/>
              <a:t>组合攻击实现网站假冒</a:t>
            </a:r>
          </a:p>
        </p:txBody>
      </p:sp>
      <p:pic>
        <p:nvPicPr>
          <p:cNvPr id="5" name="图片 4"/>
          <p:cNvPicPr>
            <a:picLocks noChangeAspect="1"/>
          </p:cNvPicPr>
          <p:nvPr/>
        </p:nvPicPr>
        <p:blipFill>
          <a:blip r:embed="rId3"/>
          <a:stretch>
            <a:fillRect/>
          </a:stretch>
        </p:blipFill>
        <p:spPr>
          <a:xfrm>
            <a:off x="1077999" y="1338033"/>
            <a:ext cx="7319963" cy="4979640"/>
          </a:xfrm>
          <a:prstGeom prst="rect">
            <a:avLst/>
          </a:prstGeom>
        </p:spPr>
      </p:pic>
    </p:spTree>
    <p:extLst>
      <p:ext uri="{BB962C8B-B14F-4D97-AF65-F5344CB8AC3E}">
        <p14:creationId xmlns:p14="http://schemas.microsoft.com/office/powerpoint/2010/main" val="2659283791"/>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25562" y="1338033"/>
            <a:ext cx="7772400" cy="4114800"/>
          </a:xfrm>
        </p:spPr>
        <p:txBody>
          <a:bodyPr/>
          <a:lstStyle/>
          <a:p>
            <a:r>
              <a:rPr lang="zh-CN" altLang="en-US" dirty="0"/>
              <a:t>攻击目标网站域名注册服务提供商 </a:t>
            </a:r>
            <a:r>
              <a:rPr lang="zh-CN" altLang="en-US" dirty="0">
                <a:sym typeface="Symbol" panose="05050102010706020507" pitchFamily="18" charset="2"/>
              </a:rPr>
              <a:t> </a:t>
            </a:r>
            <a:r>
              <a:rPr lang="zh-CN" altLang="en-US" dirty="0"/>
              <a:t>修改目标网站域名记录 </a:t>
            </a:r>
            <a:r>
              <a:rPr lang="zh-CN" altLang="en-US" dirty="0">
                <a:sym typeface="Symbol" panose="05050102010706020507" pitchFamily="18" charset="2"/>
              </a:rPr>
              <a:t> </a:t>
            </a:r>
            <a:r>
              <a:rPr lang="zh-CN" altLang="en-US" dirty="0"/>
              <a:t>申请网站证书 </a:t>
            </a:r>
            <a:r>
              <a:rPr lang="zh-CN" altLang="en-US" dirty="0">
                <a:sym typeface="Symbol" panose="05050102010706020507" pitchFamily="18" charset="2"/>
              </a:rPr>
              <a:t> </a:t>
            </a:r>
            <a:r>
              <a:rPr lang="zh-CN" altLang="en-US" dirty="0"/>
              <a:t>伪装成目标网站</a:t>
            </a:r>
          </a:p>
        </p:txBody>
      </p:sp>
      <p:sp>
        <p:nvSpPr>
          <p:cNvPr id="3" name="标题 2"/>
          <p:cNvSpPr>
            <a:spLocks noGrp="1"/>
          </p:cNvSpPr>
          <p:nvPr>
            <p:ph type="title"/>
          </p:nvPr>
        </p:nvSpPr>
        <p:spPr/>
        <p:txBody>
          <a:bodyPr/>
          <a:lstStyle/>
          <a:p>
            <a:r>
              <a:rPr lang="zh-CN" altLang="en-US" dirty="0"/>
              <a:t>组合攻击实现网站假冒</a:t>
            </a:r>
          </a:p>
        </p:txBody>
      </p:sp>
      <p:pic>
        <p:nvPicPr>
          <p:cNvPr id="4" name="图片 3"/>
          <p:cNvPicPr>
            <a:picLocks noChangeAspect="1"/>
          </p:cNvPicPr>
          <p:nvPr/>
        </p:nvPicPr>
        <p:blipFill>
          <a:blip r:embed="rId3"/>
          <a:stretch>
            <a:fillRect/>
          </a:stretch>
        </p:blipFill>
        <p:spPr>
          <a:xfrm>
            <a:off x="991478" y="1134850"/>
            <a:ext cx="7349923" cy="3590579"/>
          </a:xfrm>
          <a:prstGeom prst="rect">
            <a:avLst/>
          </a:prstGeom>
        </p:spPr>
      </p:pic>
      <p:pic>
        <p:nvPicPr>
          <p:cNvPr id="6" name="图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50051" y="5090883"/>
            <a:ext cx="6991350" cy="723900"/>
          </a:xfrm>
          <a:prstGeom prst="rect">
            <a:avLst/>
          </a:prstGeom>
        </p:spPr>
      </p:pic>
      <p:sp>
        <p:nvSpPr>
          <p:cNvPr id="7" name="下箭头 6"/>
          <p:cNvSpPr/>
          <p:nvPr/>
        </p:nvSpPr>
        <p:spPr bwMode="auto">
          <a:xfrm>
            <a:off x="4655220" y="4666501"/>
            <a:ext cx="381015" cy="524221"/>
          </a:xfrm>
          <a:prstGeom prst="downArrow">
            <a:avLst/>
          </a:prstGeom>
          <a:solidFill>
            <a:srgbClr val="FF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a:ln>
                <a:noFill/>
              </a:ln>
              <a:solidFill>
                <a:srgbClr val="FF0000"/>
              </a:solidFill>
              <a:effectLst/>
              <a:latin typeface="Tahoma" pitchFamily="34" charset="0"/>
              <a:ea typeface="宋体" charset="-122"/>
            </a:endParaRPr>
          </a:p>
        </p:txBody>
      </p:sp>
      <p:sp>
        <p:nvSpPr>
          <p:cNvPr id="8" name="文本框 7"/>
          <p:cNvSpPr txBox="1"/>
          <p:nvPr/>
        </p:nvSpPr>
        <p:spPr>
          <a:xfrm>
            <a:off x="799715" y="5814783"/>
            <a:ext cx="8092021" cy="830997"/>
          </a:xfrm>
          <a:prstGeom prst="rect">
            <a:avLst/>
          </a:prstGeom>
          <a:solidFill>
            <a:srgbClr val="FFFF00"/>
          </a:solidFill>
        </p:spPr>
        <p:txBody>
          <a:bodyPr wrap="square" rtlCol="0">
            <a:spAutoFit/>
          </a:bodyPr>
          <a:lstStyle/>
          <a:p>
            <a:r>
              <a:rPr lang="zh-CN" altLang="en-US" sz="2400" b="0" dirty="0">
                <a:solidFill>
                  <a:srgbClr val="FF0000"/>
                </a:solidFill>
                <a:latin typeface="Times New Roman" panose="02020603050405020304" pitchFamily="18" charset="0"/>
                <a:ea typeface="黑体" panose="02010609060101010101" pitchFamily="49" charset="-122"/>
              </a:rPr>
              <a:t>通过查看</a:t>
            </a:r>
            <a:r>
              <a:rPr lang="en-US" altLang="zh-CN" sz="2400" b="0" dirty="0">
                <a:solidFill>
                  <a:srgbClr val="FF0000"/>
                </a:solidFill>
                <a:latin typeface="Times New Roman" panose="02020603050405020304" pitchFamily="18" charset="0"/>
                <a:ea typeface="黑体" panose="02010609060101010101" pitchFamily="49" charset="-122"/>
              </a:rPr>
              <a:t>escrow.com</a:t>
            </a:r>
            <a:r>
              <a:rPr lang="zh-CN" altLang="en-US" sz="2400" b="0" dirty="0">
                <a:solidFill>
                  <a:srgbClr val="FF0000"/>
                </a:solidFill>
                <a:latin typeface="Times New Roman" panose="02020603050405020304" pitchFamily="18" charset="0"/>
                <a:ea typeface="黑体" panose="02010609060101010101" pitchFamily="49" charset="-122"/>
              </a:rPr>
              <a:t>的域名系统（</a:t>
            </a:r>
            <a:r>
              <a:rPr lang="en-US" altLang="zh-CN" sz="2400" b="0" dirty="0">
                <a:solidFill>
                  <a:srgbClr val="FF0000"/>
                </a:solidFill>
                <a:latin typeface="Times New Roman" panose="02020603050405020304" pitchFamily="18" charset="0"/>
                <a:ea typeface="黑体" panose="02010609060101010101" pitchFamily="49" charset="-122"/>
              </a:rPr>
              <a:t>DNS</a:t>
            </a:r>
            <a:r>
              <a:rPr lang="zh-CN" altLang="en-US" sz="2400" b="0" dirty="0">
                <a:solidFill>
                  <a:srgbClr val="FF0000"/>
                </a:solidFill>
                <a:latin typeface="Times New Roman" panose="02020603050405020304" pitchFamily="18" charset="0"/>
                <a:ea typeface="黑体" panose="02010609060101010101" pitchFamily="49" charset="-122"/>
              </a:rPr>
              <a:t>）记录，发现指向的是马来西亚的</a:t>
            </a:r>
            <a:r>
              <a:rPr lang="en-US" altLang="zh-CN" sz="2400" b="0" dirty="0">
                <a:solidFill>
                  <a:srgbClr val="FF0000"/>
                </a:solidFill>
                <a:latin typeface="Times New Roman" panose="02020603050405020304" pitchFamily="18" charset="0"/>
                <a:ea typeface="黑体" panose="02010609060101010101" pitchFamily="49" charset="-122"/>
              </a:rPr>
              <a:t>Internet</a:t>
            </a:r>
            <a:r>
              <a:rPr lang="zh-CN" altLang="en-US" sz="2400" b="0" dirty="0">
                <a:solidFill>
                  <a:srgbClr val="FF0000"/>
                </a:solidFill>
                <a:latin typeface="Times New Roman" panose="02020603050405020304" pitchFamily="18" charset="0"/>
                <a:ea typeface="黑体" panose="02010609060101010101" pitchFamily="49" charset="-122"/>
              </a:rPr>
              <a:t>地址：</a:t>
            </a:r>
            <a:r>
              <a:rPr lang="en-US" altLang="zh-CN" sz="2400" b="0" dirty="0">
                <a:solidFill>
                  <a:srgbClr val="FF0000"/>
                </a:solidFill>
                <a:latin typeface="Times New Roman" panose="02020603050405020304" pitchFamily="18" charset="0"/>
                <a:ea typeface="黑体" panose="02010609060101010101" pitchFamily="49" charset="-122"/>
              </a:rPr>
              <a:t>111.90.149.49</a:t>
            </a:r>
            <a:endParaRPr lang="zh-CN" altLang="en-US" sz="2400" dirty="0">
              <a:solidFill>
                <a:srgbClr val="FF0000"/>
              </a:solidFill>
              <a:latin typeface="Times New Roman" panose="02020603050405020304" pitchFamily="18" charset="0"/>
              <a:ea typeface="黑体" panose="02010609060101010101" pitchFamily="49" charset="-122"/>
            </a:endParaRPr>
          </a:p>
        </p:txBody>
      </p:sp>
    </p:spTree>
    <p:extLst>
      <p:ext uri="{BB962C8B-B14F-4D97-AF65-F5344CB8AC3E}">
        <p14:creationId xmlns:p14="http://schemas.microsoft.com/office/powerpoint/2010/main" val="2823698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strVal val="#ppt_w*0.70"/>
                                          </p:val>
                                        </p:tav>
                                        <p:tav tm="100000">
                                          <p:val>
                                            <p:strVal val="#ppt_w"/>
                                          </p:val>
                                        </p:tav>
                                      </p:tavLst>
                                    </p:anim>
                                    <p:anim calcmode="lin" valueType="num">
                                      <p:cBhvr>
                                        <p:cTn id="8" dur="1000" fill="hold"/>
                                        <p:tgtEl>
                                          <p:spTgt spid="8"/>
                                        </p:tgtEl>
                                        <p:attrNameLst>
                                          <p:attrName>ppt_h</p:attrName>
                                        </p:attrNameLst>
                                      </p:cBhvr>
                                      <p:tavLst>
                                        <p:tav tm="0">
                                          <p:val>
                                            <p:strVal val="#ppt_h"/>
                                          </p:val>
                                        </p:tav>
                                        <p:tav tm="100000">
                                          <p:val>
                                            <p:strVal val="#ppt_h"/>
                                          </p:val>
                                        </p:tav>
                                      </p:tavLst>
                                    </p:anim>
                                    <p:animEffect transition="in" filter="fade">
                                      <p:cBhvr>
                                        <p:cTn id="9"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09183" y="1221655"/>
            <a:ext cx="8169303" cy="4114800"/>
          </a:xfrm>
        </p:spPr>
        <p:txBody>
          <a:bodyPr/>
          <a:lstStyle/>
          <a:p>
            <a:r>
              <a:rPr lang="zh-CN" altLang="en-US" dirty="0"/>
              <a:t>攻击者还从</a:t>
            </a:r>
            <a:r>
              <a:rPr lang="en-US" altLang="zh-CN" dirty="0"/>
              <a:t>Let’s Encrypt </a:t>
            </a:r>
            <a:r>
              <a:rPr lang="zh-CN" altLang="en-US" dirty="0"/>
              <a:t>获得了</a:t>
            </a:r>
            <a:r>
              <a:rPr lang="en-US" altLang="zh-CN" dirty="0"/>
              <a:t>escrow.com</a:t>
            </a:r>
            <a:r>
              <a:rPr lang="zh-CN" altLang="en-US" dirty="0"/>
              <a:t>的免费加密证书。</a:t>
            </a:r>
            <a:endParaRPr lang="zh-CN" altLang="en-US" dirty="0">
              <a:solidFill>
                <a:srgbClr val="FF0000"/>
              </a:solidFill>
            </a:endParaRPr>
          </a:p>
        </p:txBody>
      </p:sp>
      <p:sp>
        <p:nvSpPr>
          <p:cNvPr id="3" name="标题 2"/>
          <p:cNvSpPr>
            <a:spLocks noGrp="1"/>
          </p:cNvSpPr>
          <p:nvPr>
            <p:ph type="title"/>
          </p:nvPr>
        </p:nvSpPr>
        <p:spPr/>
        <p:txBody>
          <a:bodyPr/>
          <a:lstStyle/>
          <a:p>
            <a:r>
              <a:rPr lang="zh-CN" altLang="en-US" dirty="0"/>
              <a:t>组合攻击实现网站假冒</a:t>
            </a:r>
          </a:p>
        </p:txBody>
      </p:sp>
      <p:pic>
        <p:nvPicPr>
          <p:cNvPr id="5" name="图片 4"/>
          <p:cNvPicPr>
            <a:picLocks noChangeAspect="1"/>
          </p:cNvPicPr>
          <p:nvPr/>
        </p:nvPicPr>
        <p:blipFill>
          <a:blip r:embed="rId3"/>
          <a:stretch>
            <a:fillRect/>
          </a:stretch>
        </p:blipFill>
        <p:spPr>
          <a:xfrm>
            <a:off x="498762" y="2426278"/>
            <a:ext cx="8179724" cy="3883082"/>
          </a:xfrm>
          <a:prstGeom prst="rect">
            <a:avLst/>
          </a:prstGeom>
        </p:spPr>
      </p:pic>
    </p:spTree>
    <p:extLst>
      <p:ext uri="{BB962C8B-B14F-4D97-AF65-F5344CB8AC3E}">
        <p14:creationId xmlns:p14="http://schemas.microsoft.com/office/powerpoint/2010/main" val="920893202"/>
      </p:ext>
    </p:extLst>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09183" y="1304782"/>
            <a:ext cx="8169303" cy="4114800"/>
          </a:xfrm>
        </p:spPr>
        <p:txBody>
          <a:bodyPr/>
          <a:lstStyle/>
          <a:p>
            <a:r>
              <a:rPr lang="zh-CN" altLang="en-US" dirty="0"/>
              <a:t>此外，</a:t>
            </a:r>
            <a:r>
              <a:rPr lang="en-US" altLang="zh-CN" dirty="0"/>
              <a:t>IP</a:t>
            </a:r>
            <a:r>
              <a:rPr lang="zh-CN" altLang="en-US" dirty="0"/>
              <a:t>被解析到</a:t>
            </a:r>
            <a:r>
              <a:rPr lang="en-US" altLang="zh-CN" dirty="0"/>
              <a:t>servicenow-godaddy.com</a:t>
            </a:r>
            <a:r>
              <a:rPr lang="zh-CN" altLang="en-US" dirty="0"/>
              <a:t>域名</a:t>
            </a:r>
            <a:endParaRPr lang="zh-CN" altLang="en-US" dirty="0">
              <a:solidFill>
                <a:srgbClr val="FF0000"/>
              </a:solidFill>
            </a:endParaRPr>
          </a:p>
        </p:txBody>
      </p:sp>
      <p:sp>
        <p:nvSpPr>
          <p:cNvPr id="3" name="标题 2"/>
          <p:cNvSpPr>
            <a:spLocks noGrp="1"/>
          </p:cNvSpPr>
          <p:nvPr>
            <p:ph type="title"/>
          </p:nvPr>
        </p:nvSpPr>
        <p:spPr/>
        <p:txBody>
          <a:bodyPr/>
          <a:lstStyle/>
          <a:p>
            <a:r>
              <a:rPr lang="zh-CN" altLang="en-US" dirty="0"/>
              <a:t>组合攻击实现网站假冒</a:t>
            </a: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4284" y="315884"/>
            <a:ext cx="8039100" cy="6384810"/>
          </a:xfrm>
          <a:prstGeom prst="rect">
            <a:avLst/>
          </a:prstGeom>
        </p:spPr>
      </p:pic>
    </p:spTree>
    <p:extLst>
      <p:ext uri="{BB962C8B-B14F-4D97-AF65-F5344CB8AC3E}">
        <p14:creationId xmlns:p14="http://schemas.microsoft.com/office/powerpoint/2010/main" val="2410397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strVal val="#ppt_w*0.70"/>
                                          </p:val>
                                        </p:tav>
                                        <p:tav tm="100000">
                                          <p:val>
                                            <p:strVal val="#ppt_w"/>
                                          </p:val>
                                        </p:tav>
                                      </p:tavLst>
                                    </p:anim>
                                    <p:anim calcmode="lin" valueType="num">
                                      <p:cBhvr>
                                        <p:cTn id="8" dur="1000" fill="hold"/>
                                        <p:tgtEl>
                                          <p:spTgt spid="4"/>
                                        </p:tgtEl>
                                        <p:attrNameLst>
                                          <p:attrName>ppt_h</p:attrName>
                                        </p:attrNameLst>
                                      </p:cBhvr>
                                      <p:tavLst>
                                        <p:tav tm="0">
                                          <p:val>
                                            <p:strVal val="#ppt_h"/>
                                          </p:val>
                                        </p:tav>
                                        <p:tav tm="100000">
                                          <p:val>
                                            <p:strVal val="#ppt_h"/>
                                          </p:val>
                                        </p:tav>
                                      </p:tavLst>
                                    </p:anim>
                                    <p:animEffect transition="in" filter="fade">
                                      <p:cBhvr>
                                        <p:cTn id="9"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91578" y="1312114"/>
            <a:ext cx="7960752" cy="4967661"/>
          </a:xfrm>
        </p:spPr>
        <p:txBody>
          <a:bodyPr/>
          <a:lstStyle/>
          <a:p>
            <a:pPr>
              <a:lnSpc>
                <a:spcPts val="4200"/>
              </a:lnSpc>
              <a:spcBef>
                <a:spcPts val="0"/>
              </a:spcBef>
            </a:pPr>
            <a:r>
              <a:rPr lang="en-US" altLang="zh-CN" dirty="0"/>
              <a:t>DNSSEC</a:t>
            </a:r>
          </a:p>
          <a:p>
            <a:pPr lvl="1">
              <a:lnSpc>
                <a:spcPts val="4200"/>
              </a:lnSpc>
            </a:pPr>
            <a:r>
              <a:rPr lang="zh-CN" altLang="zh-CN" dirty="0"/>
              <a:t>域名欺骗、恶意网址重定向和中间人攻击之所以能够成功，是因为</a:t>
            </a:r>
            <a:r>
              <a:rPr lang="en-US" altLang="zh-CN" dirty="0"/>
              <a:t>DNS </a:t>
            </a:r>
            <a:r>
              <a:rPr lang="zh-CN" altLang="zh-CN" dirty="0"/>
              <a:t>解析的请求者无法验证它所收到的应答信息的真实性和完整性。为应对上述安全威胁，</a:t>
            </a:r>
            <a:r>
              <a:rPr lang="en-US" altLang="zh-CN" dirty="0"/>
              <a:t>IETF</a:t>
            </a:r>
            <a:r>
              <a:rPr lang="zh-CN" altLang="zh-CN" dirty="0"/>
              <a:t>提出了</a:t>
            </a:r>
            <a:r>
              <a:rPr lang="en-US" altLang="zh-CN" dirty="0"/>
              <a:t>DNS</a:t>
            </a:r>
            <a:r>
              <a:rPr lang="zh-CN" altLang="zh-CN" dirty="0"/>
              <a:t>安全扩展协议（</a:t>
            </a:r>
            <a:r>
              <a:rPr lang="en-US" altLang="zh-CN" dirty="0"/>
              <a:t>DNSSEC</a:t>
            </a:r>
            <a:r>
              <a:rPr lang="zh-CN" altLang="zh-CN" dirty="0"/>
              <a:t>）</a:t>
            </a:r>
            <a:r>
              <a:rPr lang="zh-CN" altLang="zh-CN" sz="2400" dirty="0"/>
              <a:t>。</a:t>
            </a:r>
            <a:endParaRPr lang="en-US" altLang="zh-CN" sz="2400" dirty="0"/>
          </a:p>
          <a:p>
            <a:pPr>
              <a:lnSpc>
                <a:spcPts val="4200"/>
              </a:lnSpc>
              <a:spcBef>
                <a:spcPts val="0"/>
              </a:spcBef>
            </a:pPr>
            <a:endParaRPr lang="zh-CN" altLang="en-US" sz="2800" dirty="0"/>
          </a:p>
        </p:txBody>
      </p:sp>
      <p:sp>
        <p:nvSpPr>
          <p:cNvPr id="3" name="标题 2"/>
          <p:cNvSpPr>
            <a:spLocks noGrp="1"/>
          </p:cNvSpPr>
          <p:nvPr>
            <p:ph type="title"/>
          </p:nvPr>
        </p:nvSpPr>
        <p:spPr/>
        <p:txBody>
          <a:bodyPr/>
          <a:lstStyle/>
          <a:p>
            <a:r>
              <a:rPr lang="en-US" altLang="zh-CN" dirty="0"/>
              <a:t>DNSSEC</a:t>
            </a:r>
            <a:endParaRPr lang="zh-CN" altLang="en-US" dirty="0"/>
          </a:p>
        </p:txBody>
      </p:sp>
    </p:spTree>
    <p:extLst>
      <p:ext uri="{BB962C8B-B14F-4D97-AF65-F5344CB8AC3E}">
        <p14:creationId xmlns:p14="http://schemas.microsoft.com/office/powerpoint/2010/main" val="1702022913"/>
      </p:ext>
    </p:extLst>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43604" y="1281117"/>
            <a:ext cx="8352397" cy="4967661"/>
          </a:xfrm>
        </p:spPr>
        <p:txBody>
          <a:bodyPr/>
          <a:lstStyle/>
          <a:p>
            <a:pPr>
              <a:lnSpc>
                <a:spcPts val="4200"/>
              </a:lnSpc>
              <a:spcBef>
                <a:spcPts val="0"/>
              </a:spcBef>
            </a:pPr>
            <a:r>
              <a:rPr lang="en-US" altLang="zh-CN" dirty="0"/>
              <a:t>DNSSEC</a:t>
            </a:r>
            <a:r>
              <a:rPr lang="zh-CN" altLang="en-US" dirty="0"/>
              <a:t>基本思想</a:t>
            </a:r>
            <a:endParaRPr lang="en-US" altLang="zh-CN" dirty="0"/>
          </a:p>
          <a:p>
            <a:pPr lvl="1">
              <a:lnSpc>
                <a:spcPts val="4200"/>
              </a:lnSpc>
            </a:pPr>
            <a:r>
              <a:rPr lang="zh-CN" altLang="zh-CN" dirty="0">
                <a:solidFill>
                  <a:srgbClr val="FF0000"/>
                </a:solidFill>
              </a:rPr>
              <a:t>依赖于数字签名和公钥系统去保护</a:t>
            </a:r>
            <a:r>
              <a:rPr lang="en-US" altLang="zh-CN" dirty="0">
                <a:solidFill>
                  <a:srgbClr val="FF0000"/>
                </a:solidFill>
              </a:rPr>
              <a:t> DNS </a:t>
            </a:r>
            <a:r>
              <a:rPr lang="zh-CN" altLang="zh-CN" dirty="0">
                <a:solidFill>
                  <a:srgbClr val="FF0000"/>
                </a:solidFill>
              </a:rPr>
              <a:t>数据的可信性和完整性</a:t>
            </a:r>
            <a:r>
              <a:rPr lang="zh-CN" altLang="en-US" dirty="0"/>
              <a:t>：</a:t>
            </a:r>
            <a:r>
              <a:rPr lang="zh-CN" altLang="zh-CN" dirty="0"/>
              <a:t>权威域名服务器用自身的私钥来签名资源记录，然后解析服务器用权威域名服务器的公钥来认证来自权威域名服务器的数据，如果认证成功，则表明接收到的数据确实来自权威域名服务器，则解析服务器接收数据，如果认证失败，则表明接收到的数据很可能是伪造的，则解析服务器抛弃数据</a:t>
            </a:r>
            <a:endParaRPr lang="zh-CN" altLang="en-US" sz="2400" dirty="0"/>
          </a:p>
        </p:txBody>
      </p:sp>
      <p:sp>
        <p:nvSpPr>
          <p:cNvPr id="3" name="标题 2"/>
          <p:cNvSpPr>
            <a:spLocks noGrp="1"/>
          </p:cNvSpPr>
          <p:nvPr>
            <p:ph type="title"/>
          </p:nvPr>
        </p:nvSpPr>
        <p:spPr/>
        <p:txBody>
          <a:bodyPr/>
          <a:lstStyle/>
          <a:p>
            <a:r>
              <a:rPr lang="en-US" altLang="zh-CN" dirty="0"/>
              <a:t>DNSSEC</a:t>
            </a:r>
            <a:endParaRPr lang="zh-CN" altLang="en-US" dirty="0"/>
          </a:p>
        </p:txBody>
      </p:sp>
    </p:spTree>
    <p:extLst>
      <p:ext uri="{BB962C8B-B14F-4D97-AF65-F5344CB8AC3E}">
        <p14:creationId xmlns:p14="http://schemas.microsoft.com/office/powerpoint/2010/main" val="3791323940"/>
      </p:ext>
    </p:extLst>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en-US" altLang="zh-CN" dirty="0"/>
              <a:t>DNS</a:t>
            </a:r>
            <a:r>
              <a:rPr lang="zh-CN" altLang="en-US" dirty="0"/>
              <a:t>加密</a:t>
            </a:r>
            <a:r>
              <a:rPr lang="en-US" altLang="zh-CN" dirty="0"/>
              <a:t>(</a:t>
            </a:r>
            <a:r>
              <a:rPr lang="en-US" altLang="zh-CN" dirty="0" err="1"/>
              <a:t>DNSCrypt</a:t>
            </a:r>
            <a:r>
              <a:rPr lang="en-US" altLang="zh-CN" dirty="0"/>
              <a:t>)</a:t>
            </a:r>
            <a:endParaRPr lang="zh-CN" altLang="en-US" dirty="0"/>
          </a:p>
        </p:txBody>
      </p:sp>
      <p:pic>
        <p:nvPicPr>
          <p:cNvPr id="4" name="图片 3"/>
          <p:cNvPicPr>
            <a:picLocks noChangeAspect="1"/>
          </p:cNvPicPr>
          <p:nvPr/>
        </p:nvPicPr>
        <p:blipFill>
          <a:blip r:embed="rId3"/>
          <a:stretch>
            <a:fillRect/>
          </a:stretch>
        </p:blipFill>
        <p:spPr>
          <a:xfrm>
            <a:off x="110360" y="1420375"/>
            <a:ext cx="9033640" cy="4728177"/>
          </a:xfrm>
          <a:prstGeom prst="rect">
            <a:avLst/>
          </a:prstGeom>
        </p:spPr>
      </p:pic>
    </p:spTree>
    <p:extLst>
      <p:ext uri="{BB962C8B-B14F-4D97-AF65-F5344CB8AC3E}">
        <p14:creationId xmlns:p14="http://schemas.microsoft.com/office/powerpoint/2010/main" val="1617585603"/>
      </p:ext>
    </p:extLst>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742026" y="2904661"/>
            <a:ext cx="5812325" cy="865481"/>
          </a:xfrm>
        </p:spPr>
        <p:txBody>
          <a:bodyPr/>
          <a:lstStyle/>
          <a:p>
            <a:pPr marL="0" indent="0">
              <a:buNone/>
            </a:pPr>
            <a:r>
              <a:rPr lang="zh-CN" altLang="en-US" dirty="0">
                <a:solidFill>
                  <a:srgbClr val="FF0000"/>
                </a:solidFill>
              </a:rPr>
              <a:t>十、</a:t>
            </a:r>
            <a:r>
              <a:rPr lang="en-US" altLang="zh-CN" dirty="0">
                <a:solidFill>
                  <a:srgbClr val="FF0000"/>
                </a:solidFill>
              </a:rPr>
              <a:t>HTTP</a:t>
            </a:r>
            <a:r>
              <a:rPr lang="zh-CN" altLang="en-US" dirty="0">
                <a:solidFill>
                  <a:srgbClr val="FF0000"/>
                </a:solidFill>
              </a:rPr>
              <a:t>协议及其安全性分析</a:t>
            </a:r>
          </a:p>
        </p:txBody>
      </p:sp>
      <p:sp>
        <p:nvSpPr>
          <p:cNvPr id="3" name="标题 2"/>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2257526644"/>
      </p:ext>
    </p:extLst>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554163"/>
            <a:ext cx="7246322" cy="4114800"/>
          </a:xfrm>
        </p:spPr>
        <p:txBody>
          <a:bodyPr/>
          <a:lstStyle/>
          <a:p>
            <a:endParaRPr lang="zh-CN" altLang="en-US" dirty="0"/>
          </a:p>
        </p:txBody>
      </p:sp>
      <p:sp>
        <p:nvSpPr>
          <p:cNvPr id="3" name="标题 2"/>
          <p:cNvSpPr>
            <a:spLocks noGrp="1"/>
          </p:cNvSpPr>
          <p:nvPr>
            <p:ph type="title"/>
          </p:nvPr>
        </p:nvSpPr>
        <p:spPr/>
        <p:txBody>
          <a:bodyPr/>
          <a:lstStyle/>
          <a:p>
            <a:r>
              <a:rPr lang="en-US" altLang="zh-CN" dirty="0"/>
              <a:t>HTTP</a:t>
            </a:r>
            <a:endParaRPr lang="zh-CN" altLang="en-US" dirty="0"/>
          </a:p>
        </p:txBody>
      </p:sp>
      <p:pic>
        <p:nvPicPr>
          <p:cNvPr id="1028" name="Picture 4" descr="https://timgsa.baidu.com/timg?image&amp;quality=80&amp;size=b9999_10000&amp;sec=1584355928513&amp;di=84ebf6a6567681ac8bf017bf17af8fdb&amp;imgtype=0&amp;src=http%3A%2F%2Fss.csdn.net%2Fp%3Fhttps%3A%2F%2Fmmbiz.qpic.cn%2Fmmbiz_png%2F0vU1ia3htaaNOklRWJGFH5PuGvZ68lccVCDbibb455btxswcPN1erkOxJxVYk4yY1DzLdWewsvU5OIIZfwrwU0mA%2F640%3Fwx_fmt%3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1401" y="1224118"/>
            <a:ext cx="7495714" cy="52328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0825848"/>
      </p:ext>
    </p:extLst>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406679"/>
            <a:ext cx="7772400" cy="4114800"/>
          </a:xfrm>
        </p:spPr>
        <p:txBody>
          <a:bodyPr/>
          <a:lstStyle/>
          <a:p>
            <a:r>
              <a:rPr lang="zh-CN" altLang="en-US" dirty="0"/>
              <a:t>安全问题</a:t>
            </a:r>
            <a:endParaRPr lang="en-US" altLang="zh-CN" dirty="0"/>
          </a:p>
          <a:p>
            <a:pPr lvl="1"/>
            <a:r>
              <a:rPr lang="en-US" altLang="zh-CN" dirty="0"/>
              <a:t>HTTP</a:t>
            </a:r>
            <a:r>
              <a:rPr lang="zh-CN" altLang="zh-CN" dirty="0"/>
              <a:t>协议传输的数据都是未加密的，也就是明文，再通过不加密的</a:t>
            </a:r>
            <a:r>
              <a:rPr lang="en-US" altLang="zh-CN" dirty="0"/>
              <a:t>TCP</a:t>
            </a:r>
            <a:r>
              <a:rPr lang="zh-CN" altLang="zh-CN" dirty="0"/>
              <a:t>协议传输，因此使用</a:t>
            </a:r>
            <a:r>
              <a:rPr lang="en-US" altLang="zh-CN" dirty="0"/>
              <a:t>HTTP</a:t>
            </a:r>
            <a:r>
              <a:rPr lang="zh-CN" altLang="zh-CN" dirty="0"/>
              <a:t>协议传输的隐私信息非常不安全，同时还存在不能有效抵御假冒服务器的问题</a:t>
            </a:r>
            <a:endParaRPr lang="en-US" altLang="zh-CN" dirty="0"/>
          </a:p>
          <a:p>
            <a:pPr lvl="1"/>
            <a:r>
              <a:rPr lang="zh-CN" altLang="en-US" dirty="0"/>
              <a:t>无状态使攻击变得容易</a:t>
            </a:r>
            <a:endParaRPr lang="en-US" altLang="zh-CN" dirty="0"/>
          </a:p>
          <a:p>
            <a:pPr lvl="1"/>
            <a:endParaRPr lang="zh-CN" altLang="en-US" dirty="0"/>
          </a:p>
        </p:txBody>
      </p:sp>
      <p:sp>
        <p:nvSpPr>
          <p:cNvPr id="3" name="标题 2"/>
          <p:cNvSpPr>
            <a:spLocks noGrp="1"/>
          </p:cNvSpPr>
          <p:nvPr>
            <p:ph type="title"/>
          </p:nvPr>
        </p:nvSpPr>
        <p:spPr/>
        <p:txBody>
          <a:bodyPr/>
          <a:lstStyle/>
          <a:p>
            <a:r>
              <a:rPr lang="en-US" altLang="zh-CN" dirty="0"/>
              <a:t>HTTP</a:t>
            </a:r>
            <a:endParaRPr lang="zh-CN" altLang="en-US" dirty="0"/>
          </a:p>
        </p:txBody>
      </p:sp>
    </p:spTree>
    <p:extLst>
      <p:ext uri="{BB962C8B-B14F-4D97-AF65-F5344CB8AC3E}">
        <p14:creationId xmlns:p14="http://schemas.microsoft.com/office/powerpoint/2010/main" val="1293607012"/>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406679"/>
            <a:ext cx="7772400" cy="4114800"/>
          </a:xfrm>
        </p:spPr>
        <p:txBody>
          <a:bodyPr/>
          <a:lstStyle/>
          <a:p>
            <a:r>
              <a:rPr lang="zh-CN" altLang="en-US" dirty="0"/>
              <a:t>安全问题</a:t>
            </a:r>
            <a:endParaRPr lang="en-US" altLang="zh-CN" dirty="0"/>
          </a:p>
          <a:p>
            <a:pPr lvl="1"/>
            <a:r>
              <a:rPr lang="zh-CN" altLang="zh-CN" dirty="0"/>
              <a:t>互联网中存在</a:t>
            </a:r>
            <a:r>
              <a:rPr lang="zh-CN" altLang="en-US" dirty="0"/>
              <a:t>的</a:t>
            </a:r>
            <a:r>
              <a:rPr lang="zh-CN" altLang="zh-CN" dirty="0"/>
              <a:t>大量中间盒子，</a:t>
            </a:r>
            <a:r>
              <a:rPr lang="en-US" altLang="zh-CN" dirty="0"/>
              <a:t>HTTP</a:t>
            </a:r>
            <a:r>
              <a:rPr lang="zh-CN" altLang="zh-CN" dirty="0"/>
              <a:t>标准</a:t>
            </a:r>
            <a:r>
              <a:rPr lang="en-US" altLang="zh-CN" dirty="0"/>
              <a:t>(RFC 2616</a:t>
            </a:r>
            <a:r>
              <a:rPr lang="zh-CN" altLang="zh-CN" dirty="0"/>
              <a:t>和</a:t>
            </a:r>
            <a:r>
              <a:rPr lang="en-US" altLang="zh-CN" dirty="0"/>
              <a:t>RFC 7320)</a:t>
            </a:r>
            <a:r>
              <a:rPr lang="zh-CN" altLang="zh-CN" dirty="0"/>
              <a:t>的理解如果不一致，就有可能导致一些新的攻击发生</a:t>
            </a:r>
            <a:endParaRPr lang="zh-CN" altLang="en-US" dirty="0"/>
          </a:p>
          <a:p>
            <a:pPr lvl="1"/>
            <a:endParaRPr lang="zh-CN" altLang="en-US" dirty="0"/>
          </a:p>
        </p:txBody>
      </p:sp>
      <p:sp>
        <p:nvSpPr>
          <p:cNvPr id="3" name="标题 2"/>
          <p:cNvSpPr>
            <a:spLocks noGrp="1"/>
          </p:cNvSpPr>
          <p:nvPr>
            <p:ph type="title"/>
          </p:nvPr>
        </p:nvSpPr>
        <p:spPr/>
        <p:txBody>
          <a:bodyPr/>
          <a:lstStyle/>
          <a:p>
            <a:r>
              <a:rPr lang="en-US" altLang="zh-CN" dirty="0"/>
              <a:t>HTTP</a:t>
            </a:r>
            <a:endParaRPr lang="zh-CN" altLang="en-US" dirty="0"/>
          </a:p>
        </p:txBody>
      </p:sp>
    </p:spTree>
    <p:extLst>
      <p:ext uri="{BB962C8B-B14F-4D97-AF65-F5344CB8AC3E}">
        <p14:creationId xmlns:p14="http://schemas.microsoft.com/office/powerpoint/2010/main" val="879565097"/>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HTTPS</a:t>
            </a:r>
          </a:p>
          <a:p>
            <a:pPr lvl="1"/>
            <a:r>
              <a:rPr lang="zh-CN" altLang="zh-CN" dirty="0"/>
              <a:t>将</a:t>
            </a:r>
            <a:r>
              <a:rPr lang="en-US" altLang="zh-CN" dirty="0"/>
              <a:t>HTTP</a:t>
            </a:r>
            <a:r>
              <a:rPr lang="zh-CN" altLang="zh-CN" dirty="0"/>
              <a:t>和</a:t>
            </a:r>
            <a:r>
              <a:rPr lang="en-US" altLang="zh-CN" dirty="0"/>
              <a:t>SSL/TLS</a:t>
            </a:r>
            <a:r>
              <a:rPr lang="zh-CN" altLang="zh-CN" dirty="0"/>
              <a:t>协议结合起来后，既能够对网络服务器的身份进行认证，又能保护交换数据的机密性和完整性</a:t>
            </a:r>
            <a:endParaRPr lang="en-US" altLang="zh-CN" dirty="0"/>
          </a:p>
          <a:p>
            <a:pPr lvl="1"/>
            <a:r>
              <a:rPr lang="zh-CN" altLang="en-US" dirty="0">
                <a:solidFill>
                  <a:srgbClr val="FF0000"/>
                </a:solidFill>
              </a:rPr>
              <a:t>使用</a:t>
            </a:r>
            <a:r>
              <a:rPr lang="en-US" altLang="zh-CN" dirty="0">
                <a:solidFill>
                  <a:srgbClr val="FF0000"/>
                </a:solidFill>
              </a:rPr>
              <a:t>HTTPS</a:t>
            </a:r>
            <a:r>
              <a:rPr lang="zh-CN" altLang="en-US" dirty="0">
                <a:solidFill>
                  <a:srgbClr val="FF0000"/>
                </a:solidFill>
              </a:rPr>
              <a:t>就安全了吗？</a:t>
            </a:r>
            <a:endParaRPr lang="en-US" altLang="zh-CN" dirty="0">
              <a:solidFill>
                <a:srgbClr val="FF0000"/>
              </a:solidFill>
            </a:endParaRPr>
          </a:p>
          <a:p>
            <a:pPr marL="457200" lvl="1" indent="0">
              <a:buNone/>
            </a:pPr>
            <a:r>
              <a:rPr lang="zh-CN" altLang="en-US" dirty="0"/>
              <a:t>（将在第</a:t>
            </a:r>
            <a:r>
              <a:rPr lang="en-US" altLang="zh-CN" dirty="0"/>
              <a:t>11</a:t>
            </a:r>
            <a:r>
              <a:rPr lang="zh-CN" altLang="en-US" dirty="0"/>
              <a:t>章介绍）</a:t>
            </a:r>
          </a:p>
        </p:txBody>
      </p:sp>
      <p:sp>
        <p:nvSpPr>
          <p:cNvPr id="3" name="标题 2"/>
          <p:cNvSpPr>
            <a:spLocks noGrp="1"/>
          </p:cNvSpPr>
          <p:nvPr>
            <p:ph type="title"/>
          </p:nvPr>
        </p:nvSpPr>
        <p:spPr/>
        <p:txBody>
          <a:bodyPr/>
          <a:lstStyle/>
          <a:p>
            <a:r>
              <a:rPr lang="en-US" altLang="zh-CN" dirty="0"/>
              <a:t>HTTPS</a:t>
            </a:r>
            <a:endParaRPr lang="zh-CN" altLang="en-US" dirty="0"/>
          </a:p>
        </p:txBody>
      </p:sp>
    </p:spTree>
    <p:extLst>
      <p:ext uri="{BB962C8B-B14F-4D97-AF65-F5344CB8AC3E}">
        <p14:creationId xmlns:p14="http://schemas.microsoft.com/office/powerpoint/2010/main" val="1100548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 calcmode="lin" valueType="num">
                                      <p:cBhvr additive="base">
                                        <p:cTn id="7"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animEffect transition="in" filter="fade">
                                      <p:cBhvr>
                                        <p:cTn id="13" dur="1000"/>
                                        <p:tgtEl>
                                          <p:spTgt spid="2">
                                            <p:txEl>
                                              <p:pRg st="3" end="3"/>
                                            </p:txEl>
                                          </p:spTgt>
                                        </p:tgtEl>
                                      </p:cBhvr>
                                    </p:animEffect>
                                    <p:anim calcmode="lin" valueType="num">
                                      <p:cBhvr>
                                        <p:cTn id="14"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15"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zh-CN" altLang="en-US"/>
              <a:t>内容提纲</a:t>
            </a:r>
            <a:endParaRPr lang="en-US" altLang="zh-CN">
              <a:solidFill>
                <a:schemeClr val="accent1"/>
              </a:solidFill>
            </a:endParaRPr>
          </a:p>
        </p:txBody>
      </p:sp>
      <p:sp>
        <p:nvSpPr>
          <p:cNvPr id="30723" name="Text Box 3"/>
          <p:cNvSpPr txBox="1">
            <a:spLocks noChangeArrowheads="1"/>
          </p:cNvSpPr>
          <p:nvPr/>
        </p:nvSpPr>
        <p:spPr bwMode="auto">
          <a:xfrm>
            <a:off x="1660525" y="722313"/>
            <a:ext cx="184150" cy="366712"/>
          </a:xfrm>
          <a:prstGeom prst="rect">
            <a:avLst/>
          </a:prstGeom>
          <a:noFill/>
          <a:ln w="9525">
            <a:noFill/>
            <a:miter lim="800000"/>
            <a:headEnd/>
            <a:tailEnd/>
          </a:ln>
        </p:spPr>
        <p:txBody>
          <a:bodyPr wrap="none">
            <a:spAutoFit/>
          </a:bodyPr>
          <a:lstStyle/>
          <a:p>
            <a:endParaRPr lang="zh-CN" altLang="en-US">
              <a:ea typeface="宋体" charset="-122"/>
            </a:endParaRPr>
          </a:p>
        </p:txBody>
      </p:sp>
      <p:sp>
        <p:nvSpPr>
          <p:cNvPr id="30724" name="Line 4"/>
          <p:cNvSpPr>
            <a:spLocks noChangeShapeType="1"/>
          </p:cNvSpPr>
          <p:nvPr/>
        </p:nvSpPr>
        <p:spPr bwMode="gray">
          <a:xfrm>
            <a:off x="1252538" y="3382750"/>
            <a:ext cx="6167437" cy="7937"/>
          </a:xfrm>
          <a:prstGeom prst="line">
            <a:avLst/>
          </a:prstGeom>
          <a:noFill/>
          <a:ln w="25400">
            <a:solidFill>
              <a:srgbClr val="C0C0C0"/>
            </a:solidFill>
            <a:prstDash val="sysDot"/>
            <a:round/>
            <a:headEnd/>
            <a:tailEnd type="oval" w="med" len="med"/>
          </a:ln>
        </p:spPr>
        <p:txBody>
          <a:bodyPr wrap="none" anchor="ctr"/>
          <a:lstStyle/>
          <a:p>
            <a:endParaRPr lang="zh-CN" altLang="en-US"/>
          </a:p>
        </p:txBody>
      </p:sp>
      <p:sp>
        <p:nvSpPr>
          <p:cNvPr id="30725" name="Rectangle 5"/>
          <p:cNvSpPr>
            <a:spLocks noChangeArrowheads="1"/>
          </p:cNvSpPr>
          <p:nvPr/>
        </p:nvSpPr>
        <p:spPr bwMode="gray">
          <a:xfrm rot="3419336">
            <a:off x="979487" y="2806488"/>
            <a:ext cx="479425" cy="520700"/>
          </a:xfrm>
          <a:prstGeom prst="rect">
            <a:avLst/>
          </a:prstGeom>
          <a:solidFill>
            <a:srgbClr val="9369E7"/>
          </a:solidFill>
          <a:ln w="9525">
            <a:miter lim="800000"/>
            <a:headEnd/>
            <a:tailEnd/>
          </a:ln>
          <a:scene3d>
            <a:camera prst="legacyPerspectiveFront">
              <a:rot lat="0" lon="1500000" rev="0"/>
            </a:camera>
            <a:lightRig rig="legacyFlat4" dir="b"/>
          </a:scene3d>
          <a:sp3d extrusionH="430200" prstMaterial="legacyMatte">
            <a:bevelT w="13500" h="13500" prst="angle"/>
            <a:bevelB w="13500" h="13500" prst="angle"/>
            <a:extrusionClr>
              <a:srgbClr val="9369E7"/>
            </a:extrusionClr>
          </a:sp3d>
        </p:spPr>
        <p:txBody>
          <a:bodyPr wrap="none" anchor="ctr">
            <a:flatTx/>
          </a:bodyPr>
          <a:lstStyle/>
          <a:p>
            <a:endParaRPr lang="zh-CN" altLang="en-US"/>
          </a:p>
        </p:txBody>
      </p:sp>
      <p:sp>
        <p:nvSpPr>
          <p:cNvPr id="30726" name="Text Box 6"/>
          <p:cNvSpPr txBox="1">
            <a:spLocks noChangeArrowheads="1"/>
          </p:cNvSpPr>
          <p:nvPr/>
        </p:nvSpPr>
        <p:spPr bwMode="gray">
          <a:xfrm>
            <a:off x="1785938" y="2769975"/>
            <a:ext cx="5346700" cy="579437"/>
          </a:xfrm>
          <a:prstGeom prst="rect">
            <a:avLst/>
          </a:prstGeom>
          <a:noFill/>
          <a:ln w="9525" algn="ctr">
            <a:noFill/>
            <a:miter lim="800000"/>
            <a:headEnd/>
            <a:tailEnd/>
          </a:ln>
        </p:spPr>
        <p:txBody>
          <a:bodyPr>
            <a:spAutoFit/>
          </a:bodyPr>
          <a:lstStyle>
            <a:defPPr>
              <a:defRPr lang="zh-CN"/>
            </a:defPPr>
            <a:lvl1pPr eaLnBrk="0" hangingPunct="0">
              <a:defRPr sz="3200">
                <a:solidFill>
                  <a:srgbClr val="000000"/>
                </a:solidFill>
                <a:latin typeface="Times New Roman" panose="02020603050405020304" pitchFamily="18" charset="0"/>
                <a:cs typeface="Times New Roman" panose="02020603050405020304" pitchFamily="18" charset="0"/>
              </a:defRPr>
            </a:lvl1pPr>
          </a:lstStyle>
          <a:p>
            <a:r>
              <a:rPr lang="zh-CN" altLang="en-US" dirty="0"/>
              <a:t>网络体系结构的脆弱性</a:t>
            </a:r>
          </a:p>
        </p:txBody>
      </p:sp>
      <p:sp>
        <p:nvSpPr>
          <p:cNvPr id="30727" name="Text Box 7"/>
          <p:cNvSpPr txBox="1">
            <a:spLocks noChangeArrowheads="1"/>
          </p:cNvSpPr>
          <p:nvPr/>
        </p:nvSpPr>
        <p:spPr bwMode="gray">
          <a:xfrm>
            <a:off x="1057275" y="2838237"/>
            <a:ext cx="354013" cy="457200"/>
          </a:xfrm>
          <a:prstGeom prst="rect">
            <a:avLst/>
          </a:prstGeom>
          <a:noFill/>
          <a:ln w="9525" algn="ctr">
            <a:noFill/>
            <a:miter lim="800000"/>
            <a:headEnd/>
            <a:tailEnd/>
          </a:ln>
        </p:spPr>
        <p:txBody>
          <a:bodyPr wrap="none">
            <a:spAutoFit/>
          </a:bodyPr>
          <a:lstStyle/>
          <a:p>
            <a:pPr algn="ctr" eaLnBrk="0" hangingPunct="0"/>
            <a:r>
              <a:rPr lang="en-US" altLang="zh-CN" sz="2400" b="1">
                <a:solidFill>
                  <a:schemeClr val="bg1"/>
                </a:solidFill>
                <a:ea typeface="宋体" charset="-122"/>
              </a:rPr>
              <a:t>2</a:t>
            </a:r>
          </a:p>
        </p:txBody>
      </p:sp>
      <p:sp>
        <p:nvSpPr>
          <p:cNvPr id="30728" name="Rectangle 8"/>
          <p:cNvSpPr>
            <a:spLocks noChangeArrowheads="1"/>
          </p:cNvSpPr>
          <p:nvPr/>
        </p:nvSpPr>
        <p:spPr bwMode="gray">
          <a:xfrm rot="3419336">
            <a:off x="973137" y="3884896"/>
            <a:ext cx="479425" cy="520700"/>
          </a:xfrm>
          <a:prstGeom prst="rect">
            <a:avLst/>
          </a:prstGeom>
          <a:solidFill>
            <a:srgbClr val="669900"/>
          </a:solidFill>
          <a:ln w="9525">
            <a:miter lim="800000"/>
            <a:headEnd/>
            <a:tailEnd/>
          </a:ln>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p>
        </p:txBody>
      </p:sp>
      <p:sp>
        <p:nvSpPr>
          <p:cNvPr id="30729" name="Text Box 9"/>
          <p:cNvSpPr txBox="1">
            <a:spLocks noChangeArrowheads="1"/>
          </p:cNvSpPr>
          <p:nvPr/>
        </p:nvSpPr>
        <p:spPr bwMode="gray">
          <a:xfrm>
            <a:off x="1779588" y="3848383"/>
            <a:ext cx="5497512" cy="579438"/>
          </a:xfrm>
          <a:prstGeom prst="rect">
            <a:avLst/>
          </a:prstGeom>
          <a:noFill/>
          <a:ln w="9525" algn="ctr">
            <a:noFill/>
            <a:miter lim="800000"/>
            <a:headEnd/>
            <a:tailEnd/>
          </a:ln>
        </p:spPr>
        <p:txBody>
          <a:bodyPr>
            <a:spAutoFit/>
          </a:bodyPr>
          <a:lstStyle/>
          <a:p>
            <a:pPr eaLnBrk="0" hangingPunct="0"/>
            <a:r>
              <a:rPr lang="zh-CN" altLang="en-US" sz="3200" dirty="0">
                <a:solidFill>
                  <a:srgbClr val="000000"/>
                </a:solidFill>
                <a:latin typeface="Times New Roman" panose="02020603050405020304" pitchFamily="18" charset="0"/>
                <a:cs typeface="Times New Roman" panose="02020603050405020304" pitchFamily="18" charset="0"/>
              </a:rPr>
              <a:t>典型网络协议的脆弱性</a:t>
            </a:r>
            <a:endParaRPr lang="zh-CN" altLang="en-US" sz="3200" b="1" dirty="0">
              <a:solidFill>
                <a:srgbClr val="000000"/>
              </a:solidFill>
              <a:latin typeface="Times New Roman" panose="02020603050405020304" pitchFamily="18" charset="0"/>
              <a:cs typeface="Times New Roman" panose="02020603050405020304" pitchFamily="18" charset="0"/>
            </a:endParaRPr>
          </a:p>
        </p:txBody>
      </p:sp>
      <p:sp>
        <p:nvSpPr>
          <p:cNvPr id="30730" name="Text Box 10"/>
          <p:cNvSpPr txBox="1">
            <a:spLocks noChangeArrowheads="1"/>
          </p:cNvSpPr>
          <p:nvPr/>
        </p:nvSpPr>
        <p:spPr bwMode="gray">
          <a:xfrm>
            <a:off x="1050925" y="3916646"/>
            <a:ext cx="354013" cy="457200"/>
          </a:xfrm>
          <a:prstGeom prst="rect">
            <a:avLst/>
          </a:prstGeom>
          <a:noFill/>
          <a:ln w="9525" algn="ctr">
            <a:noFill/>
            <a:miter lim="800000"/>
            <a:headEnd/>
            <a:tailEnd/>
          </a:ln>
        </p:spPr>
        <p:txBody>
          <a:bodyPr wrap="none">
            <a:spAutoFit/>
          </a:bodyPr>
          <a:lstStyle/>
          <a:p>
            <a:pPr algn="ctr" eaLnBrk="0" hangingPunct="0"/>
            <a:r>
              <a:rPr lang="en-US" altLang="zh-CN" sz="2400" b="1">
                <a:solidFill>
                  <a:schemeClr val="bg1"/>
                </a:solidFill>
                <a:ea typeface="宋体" charset="-122"/>
              </a:rPr>
              <a:t>3</a:t>
            </a:r>
          </a:p>
        </p:txBody>
      </p:sp>
      <p:sp>
        <p:nvSpPr>
          <p:cNvPr id="30731" name="Line 11"/>
          <p:cNvSpPr>
            <a:spLocks noChangeShapeType="1"/>
          </p:cNvSpPr>
          <p:nvPr/>
        </p:nvSpPr>
        <p:spPr bwMode="gray">
          <a:xfrm>
            <a:off x="1252538" y="4470683"/>
            <a:ext cx="6167437" cy="7938"/>
          </a:xfrm>
          <a:prstGeom prst="line">
            <a:avLst/>
          </a:prstGeom>
          <a:noFill/>
          <a:ln w="25400">
            <a:solidFill>
              <a:srgbClr val="C0C0C0"/>
            </a:solidFill>
            <a:prstDash val="sysDot"/>
            <a:round/>
            <a:headEnd/>
            <a:tailEnd type="oval" w="med" len="med"/>
          </a:ln>
        </p:spPr>
        <p:txBody>
          <a:bodyPr wrap="none" anchor="ctr"/>
          <a:lstStyle/>
          <a:p>
            <a:endParaRPr lang="zh-CN" altLang="en-US"/>
          </a:p>
        </p:txBody>
      </p:sp>
      <p:sp>
        <p:nvSpPr>
          <p:cNvPr id="30732" name="Rectangle 12"/>
          <p:cNvSpPr>
            <a:spLocks noChangeArrowheads="1"/>
          </p:cNvSpPr>
          <p:nvPr/>
        </p:nvSpPr>
        <p:spPr bwMode="gray">
          <a:xfrm rot="3419336">
            <a:off x="987425" y="4933469"/>
            <a:ext cx="479425" cy="520700"/>
          </a:xfrm>
          <a:prstGeom prst="rect">
            <a:avLst/>
          </a:prstGeom>
          <a:solidFill>
            <a:srgbClr val="9369E7"/>
          </a:solidFill>
          <a:ln w="9525">
            <a:miter lim="800000"/>
            <a:headEnd/>
            <a:tailEnd/>
          </a:ln>
          <a:scene3d>
            <a:camera prst="legacyPerspectiveFront">
              <a:rot lat="0" lon="1500000" rev="0"/>
            </a:camera>
            <a:lightRig rig="legacyFlat4" dir="b"/>
          </a:scene3d>
          <a:sp3d extrusionH="430200" prstMaterial="legacyMatte">
            <a:bevelT w="13500" h="13500" prst="angle"/>
            <a:bevelB w="13500" h="13500" prst="angle"/>
            <a:extrusionClr>
              <a:srgbClr val="9369E7"/>
            </a:extrusionClr>
          </a:sp3d>
        </p:spPr>
        <p:txBody>
          <a:bodyPr wrap="none" anchor="ctr">
            <a:flatTx/>
          </a:bodyPr>
          <a:lstStyle/>
          <a:p>
            <a:endParaRPr lang="zh-CN" altLang="en-US"/>
          </a:p>
        </p:txBody>
      </p:sp>
      <p:sp>
        <p:nvSpPr>
          <p:cNvPr id="30733" name="Text Box 13"/>
          <p:cNvSpPr txBox="1">
            <a:spLocks noChangeArrowheads="1"/>
          </p:cNvSpPr>
          <p:nvPr/>
        </p:nvSpPr>
        <p:spPr bwMode="gray">
          <a:xfrm>
            <a:off x="1785938" y="4912381"/>
            <a:ext cx="5634036" cy="579438"/>
          </a:xfrm>
          <a:prstGeom prst="rect">
            <a:avLst/>
          </a:prstGeom>
          <a:solidFill>
            <a:srgbClr val="FF6600"/>
          </a:solidFill>
          <a:ln w="9525" algn="ctr">
            <a:noFill/>
            <a:miter lim="800000"/>
            <a:headEnd/>
            <a:tailEnd/>
          </a:ln>
        </p:spPr>
        <p:txBody>
          <a:bodyPr wrap="square">
            <a:spAutoFit/>
          </a:bodyPr>
          <a:lstStyle>
            <a:defPPr>
              <a:defRPr lang="zh-CN"/>
            </a:defPPr>
            <a:lvl1pPr eaLnBrk="0" hangingPunct="0">
              <a:defRPr sz="3200">
                <a:solidFill>
                  <a:srgbClr val="000000"/>
                </a:solidFill>
                <a:latin typeface="Times New Roman" panose="02020603050405020304" pitchFamily="18" charset="0"/>
                <a:ea typeface="黑体" panose="02010609060101010101" pitchFamily="49" charset="-122"/>
              </a:defRPr>
            </a:lvl1pPr>
          </a:lstStyle>
          <a:p>
            <a:r>
              <a:rPr lang="zh-CN" altLang="en-US" dirty="0"/>
              <a:t>计算机系统安全分析</a:t>
            </a:r>
          </a:p>
        </p:txBody>
      </p:sp>
      <p:sp>
        <p:nvSpPr>
          <p:cNvPr id="30734" name="Text Box 14"/>
          <p:cNvSpPr txBox="1">
            <a:spLocks noChangeArrowheads="1"/>
          </p:cNvSpPr>
          <p:nvPr/>
        </p:nvSpPr>
        <p:spPr bwMode="gray">
          <a:xfrm>
            <a:off x="1041400" y="4974744"/>
            <a:ext cx="355600" cy="461962"/>
          </a:xfrm>
          <a:prstGeom prst="rect">
            <a:avLst/>
          </a:prstGeom>
          <a:noFill/>
          <a:ln w="9525" algn="ctr">
            <a:noFill/>
            <a:miter lim="800000"/>
            <a:headEnd/>
            <a:tailEnd/>
          </a:ln>
        </p:spPr>
        <p:txBody>
          <a:bodyPr wrap="none">
            <a:spAutoFit/>
          </a:bodyPr>
          <a:lstStyle/>
          <a:p>
            <a:pPr algn="ctr" eaLnBrk="0" hangingPunct="0"/>
            <a:r>
              <a:rPr lang="en-US" altLang="zh-CN" sz="2400" b="1">
                <a:solidFill>
                  <a:schemeClr val="bg1"/>
                </a:solidFill>
                <a:ea typeface="宋体" charset="-122"/>
              </a:rPr>
              <a:t>4</a:t>
            </a:r>
          </a:p>
        </p:txBody>
      </p:sp>
      <p:sp>
        <p:nvSpPr>
          <p:cNvPr id="30735" name="Line 15"/>
          <p:cNvSpPr>
            <a:spLocks noChangeShapeType="1"/>
          </p:cNvSpPr>
          <p:nvPr/>
        </p:nvSpPr>
        <p:spPr bwMode="gray">
          <a:xfrm>
            <a:off x="1262063" y="5542619"/>
            <a:ext cx="6167437" cy="7938"/>
          </a:xfrm>
          <a:prstGeom prst="line">
            <a:avLst/>
          </a:prstGeom>
          <a:noFill/>
          <a:ln w="25400">
            <a:solidFill>
              <a:srgbClr val="C0C0C0"/>
            </a:solidFill>
            <a:prstDash val="sysDot"/>
            <a:round/>
            <a:headEnd/>
            <a:tailEnd type="oval" w="med" len="med"/>
          </a:ln>
        </p:spPr>
        <p:txBody>
          <a:bodyPr wrap="none" anchor="ctr"/>
          <a:lstStyle/>
          <a:p>
            <a:endParaRPr lang="zh-CN" altLang="en-US"/>
          </a:p>
        </p:txBody>
      </p:sp>
      <p:sp>
        <p:nvSpPr>
          <p:cNvPr id="30736" name="Rectangle 16"/>
          <p:cNvSpPr>
            <a:spLocks noChangeArrowheads="1"/>
          </p:cNvSpPr>
          <p:nvPr/>
        </p:nvSpPr>
        <p:spPr bwMode="gray">
          <a:xfrm rot="3419336">
            <a:off x="979487" y="1764832"/>
            <a:ext cx="479425" cy="520700"/>
          </a:xfrm>
          <a:prstGeom prst="rect">
            <a:avLst/>
          </a:prstGeom>
          <a:solidFill>
            <a:srgbClr val="669900"/>
          </a:solidFill>
          <a:ln w="9525">
            <a:miter lim="800000"/>
            <a:headEnd/>
            <a:tailEnd/>
          </a:ln>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p>
        </p:txBody>
      </p:sp>
      <p:sp>
        <p:nvSpPr>
          <p:cNvPr id="30737" name="Text Box 17"/>
          <p:cNvSpPr txBox="1">
            <a:spLocks noChangeArrowheads="1"/>
          </p:cNvSpPr>
          <p:nvPr/>
        </p:nvSpPr>
        <p:spPr bwMode="gray">
          <a:xfrm>
            <a:off x="1785937" y="1728319"/>
            <a:ext cx="5634037" cy="579438"/>
          </a:xfrm>
          <a:prstGeom prst="rect">
            <a:avLst/>
          </a:prstGeom>
          <a:noFill/>
          <a:ln w="9525" algn="ctr">
            <a:noFill/>
            <a:miter lim="800000"/>
            <a:headEnd/>
            <a:tailEnd/>
          </a:ln>
        </p:spPr>
        <p:txBody>
          <a:bodyPr>
            <a:spAutoFit/>
          </a:bodyPr>
          <a:lstStyle>
            <a:defPPr>
              <a:defRPr lang="zh-CN"/>
            </a:defPPr>
            <a:lvl1pPr eaLnBrk="0" hangingPunct="0">
              <a:defRPr sz="3200">
                <a:solidFill>
                  <a:srgbClr val="000000"/>
                </a:solidFill>
                <a:latin typeface="Times New Roman" panose="02020603050405020304" pitchFamily="18" charset="0"/>
                <a:cs typeface="Times New Roman" panose="02020603050405020304" pitchFamily="18" charset="0"/>
              </a:defRPr>
            </a:lvl1pPr>
          </a:lstStyle>
          <a:p>
            <a:r>
              <a:rPr lang="zh-CN" altLang="en-US" dirty="0"/>
              <a:t>计算机网络概述</a:t>
            </a:r>
          </a:p>
        </p:txBody>
      </p:sp>
      <p:sp>
        <p:nvSpPr>
          <p:cNvPr id="30738" name="Text Box 18"/>
          <p:cNvSpPr txBox="1">
            <a:spLocks noChangeArrowheads="1"/>
          </p:cNvSpPr>
          <p:nvPr/>
        </p:nvSpPr>
        <p:spPr bwMode="gray">
          <a:xfrm>
            <a:off x="1057275" y="1796582"/>
            <a:ext cx="354013" cy="457200"/>
          </a:xfrm>
          <a:prstGeom prst="rect">
            <a:avLst/>
          </a:prstGeom>
          <a:noFill/>
          <a:ln w="9525" algn="ctr">
            <a:noFill/>
            <a:miter lim="800000"/>
            <a:headEnd/>
            <a:tailEnd/>
          </a:ln>
        </p:spPr>
        <p:txBody>
          <a:bodyPr wrap="none">
            <a:spAutoFit/>
          </a:bodyPr>
          <a:lstStyle/>
          <a:p>
            <a:pPr algn="ctr" eaLnBrk="0" hangingPunct="0"/>
            <a:r>
              <a:rPr lang="en-US" altLang="zh-CN" sz="2400" b="1">
                <a:solidFill>
                  <a:schemeClr val="bg1"/>
                </a:solidFill>
                <a:ea typeface="宋体" charset="-122"/>
              </a:rPr>
              <a:t>1</a:t>
            </a:r>
          </a:p>
        </p:txBody>
      </p:sp>
      <p:sp>
        <p:nvSpPr>
          <p:cNvPr id="30739" name="Line 19"/>
          <p:cNvSpPr>
            <a:spLocks noChangeShapeType="1"/>
          </p:cNvSpPr>
          <p:nvPr/>
        </p:nvSpPr>
        <p:spPr bwMode="gray">
          <a:xfrm>
            <a:off x="1252538" y="2386467"/>
            <a:ext cx="6167437" cy="7938"/>
          </a:xfrm>
          <a:prstGeom prst="line">
            <a:avLst/>
          </a:prstGeom>
          <a:noFill/>
          <a:ln w="25400">
            <a:solidFill>
              <a:srgbClr val="C0C0C0"/>
            </a:solidFill>
            <a:prstDash val="sysDot"/>
            <a:round/>
            <a:headEnd/>
            <a:tailEnd type="oval" w="med" len="med"/>
          </a:ln>
        </p:spPr>
        <p:txBody>
          <a:bodyPr wrap="none" anchor="ctr"/>
          <a:lstStyle/>
          <a:p>
            <a:endParaRPr lang="zh-CN" altLang="en-US"/>
          </a:p>
        </p:txBody>
      </p:sp>
    </p:spTree>
    <p:extLst>
      <p:ext uri="{BB962C8B-B14F-4D97-AF65-F5344CB8AC3E}">
        <p14:creationId xmlns:p14="http://schemas.microsoft.com/office/powerpoint/2010/main" val="1573290213"/>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dirty="0"/>
          </a:p>
        </p:txBody>
      </p:sp>
      <p:sp>
        <p:nvSpPr>
          <p:cNvPr id="3" name="标题 2"/>
          <p:cNvSpPr>
            <a:spLocks noGrp="1"/>
          </p:cNvSpPr>
          <p:nvPr>
            <p:ph type="title"/>
          </p:nvPr>
        </p:nvSpPr>
        <p:spPr/>
        <p:txBody>
          <a:bodyPr/>
          <a:lstStyle/>
          <a:p>
            <a:r>
              <a:rPr lang="zh-CN" altLang="en-US" dirty="0"/>
              <a:t>计算机系统</a:t>
            </a:r>
          </a:p>
        </p:txBody>
      </p:sp>
      <p:pic>
        <p:nvPicPr>
          <p:cNvPr id="4" name="图片 3"/>
          <p:cNvPicPr/>
          <p:nvPr/>
        </p:nvPicPr>
        <p:blipFill>
          <a:blip r:embed="rId2" cstate="print"/>
          <a:srcRect/>
          <a:stretch>
            <a:fillRect/>
          </a:stretch>
        </p:blipFill>
        <p:spPr bwMode="auto">
          <a:xfrm>
            <a:off x="658812" y="1434905"/>
            <a:ext cx="7387907" cy="4600135"/>
          </a:xfrm>
          <a:prstGeom prst="rect">
            <a:avLst/>
          </a:prstGeom>
          <a:noFill/>
          <a:ln w="9525">
            <a:noFill/>
            <a:miter lim="800000"/>
            <a:headEnd/>
            <a:tailEnd/>
          </a:ln>
        </p:spPr>
      </p:pic>
    </p:spTree>
    <p:extLst>
      <p:ext uri="{BB962C8B-B14F-4D97-AF65-F5344CB8AC3E}">
        <p14:creationId xmlns:p14="http://schemas.microsoft.com/office/powerpoint/2010/main" val="1922270970"/>
      </p:ext>
    </p:extLst>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计算机硬件安全</a:t>
            </a:r>
            <a:endParaRPr lang="en-US" altLang="zh-CN" dirty="0"/>
          </a:p>
          <a:p>
            <a:pPr lvl="1"/>
            <a:r>
              <a:rPr lang="zh-CN" altLang="zh-CN" dirty="0"/>
              <a:t>因设计不当、器件的质量及使用寿命的限制、外界因素等导致的计算机系统硬件出现故障，进而影响到整个系统的安全。特别是如果是</a:t>
            </a:r>
            <a:r>
              <a:rPr lang="en-US" altLang="zh-CN" dirty="0">
                <a:solidFill>
                  <a:srgbClr val="FF0000"/>
                </a:solidFill>
              </a:rPr>
              <a:t>CPU</a:t>
            </a:r>
            <a:r>
              <a:rPr lang="zh-CN" altLang="zh-CN" dirty="0">
                <a:solidFill>
                  <a:srgbClr val="FF0000"/>
                </a:solidFill>
              </a:rPr>
              <a:t>出现安全漏洞</a:t>
            </a:r>
            <a:r>
              <a:rPr lang="zh-CN" altLang="zh-CN" dirty="0"/>
              <a:t>，将带来严重后果，修复的难度和代价更高</a:t>
            </a:r>
            <a:r>
              <a:rPr lang="zh-CN" altLang="en-US" dirty="0"/>
              <a:t>：</a:t>
            </a:r>
            <a:r>
              <a:rPr lang="en-US" altLang="zh-CN" dirty="0"/>
              <a:t>Meltdown</a:t>
            </a:r>
            <a:r>
              <a:rPr lang="zh-CN" altLang="en-US" dirty="0"/>
              <a:t>（熔毁）和</a:t>
            </a:r>
            <a:r>
              <a:rPr lang="en-US" altLang="zh-CN" dirty="0"/>
              <a:t>Specter</a:t>
            </a:r>
            <a:r>
              <a:rPr lang="zh-CN" altLang="en-US" dirty="0"/>
              <a:t>（幽灵）</a:t>
            </a:r>
          </a:p>
        </p:txBody>
      </p:sp>
      <p:sp>
        <p:nvSpPr>
          <p:cNvPr id="3" name="标题 2"/>
          <p:cNvSpPr>
            <a:spLocks noGrp="1"/>
          </p:cNvSpPr>
          <p:nvPr>
            <p:ph type="title"/>
          </p:nvPr>
        </p:nvSpPr>
        <p:spPr/>
        <p:txBody>
          <a:bodyPr/>
          <a:lstStyle/>
          <a:p>
            <a:r>
              <a:rPr lang="zh-CN" altLang="zh-CN" dirty="0"/>
              <a:t>计算机系统的安全风险</a:t>
            </a:r>
            <a:endParaRPr lang="zh-CN" altLang="en-US" dirty="0"/>
          </a:p>
        </p:txBody>
      </p:sp>
    </p:spTree>
    <p:extLst>
      <p:ext uri="{BB962C8B-B14F-4D97-AF65-F5344CB8AC3E}">
        <p14:creationId xmlns:p14="http://schemas.microsoft.com/office/powerpoint/2010/main" val="3427437979"/>
      </p:ext>
    </p:extLst>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554163"/>
            <a:ext cx="7772400" cy="4523080"/>
          </a:xfrm>
        </p:spPr>
        <p:txBody>
          <a:bodyPr/>
          <a:lstStyle/>
          <a:p>
            <a:endParaRPr lang="zh-CN" altLang="en-US" dirty="0"/>
          </a:p>
        </p:txBody>
      </p:sp>
      <p:sp>
        <p:nvSpPr>
          <p:cNvPr id="3" name="标题 2"/>
          <p:cNvSpPr>
            <a:spLocks noGrp="1"/>
          </p:cNvSpPr>
          <p:nvPr>
            <p:ph type="title"/>
          </p:nvPr>
        </p:nvSpPr>
        <p:spPr/>
        <p:txBody>
          <a:bodyPr/>
          <a:lstStyle/>
          <a:p>
            <a:r>
              <a:rPr lang="zh-CN" altLang="en-US" dirty="0"/>
              <a:t>操作系统</a:t>
            </a:r>
          </a:p>
        </p:txBody>
      </p:sp>
      <p:grpSp>
        <p:nvGrpSpPr>
          <p:cNvPr id="4" name="组合 3"/>
          <p:cNvGrpSpPr/>
          <p:nvPr/>
        </p:nvGrpSpPr>
        <p:grpSpPr>
          <a:xfrm>
            <a:off x="365760" y="1997068"/>
            <a:ext cx="8578215" cy="3841024"/>
            <a:chOff x="1414327" y="2640010"/>
            <a:chExt cx="7558229" cy="2863864"/>
          </a:xfrm>
        </p:grpSpPr>
        <p:sp>
          <p:nvSpPr>
            <p:cNvPr id="5" name="矩形 4"/>
            <p:cNvSpPr/>
            <p:nvPr/>
          </p:nvSpPr>
          <p:spPr bwMode="auto">
            <a:xfrm>
              <a:off x="6421458" y="5062557"/>
              <a:ext cx="1008062" cy="43180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6" name="TextBox 4"/>
            <p:cNvSpPr txBox="1">
              <a:spLocks noChangeArrowheads="1"/>
            </p:cNvSpPr>
            <p:nvPr/>
          </p:nvSpPr>
          <p:spPr bwMode="auto">
            <a:xfrm>
              <a:off x="6500826" y="5143512"/>
              <a:ext cx="1346844" cy="275374"/>
            </a:xfrm>
            <a:prstGeom prst="rect">
              <a:avLst/>
            </a:prstGeom>
            <a:noFill/>
            <a:ln w="9525">
              <a:noFill/>
              <a:miter lim="800000"/>
              <a:headEnd/>
              <a:tailEnd/>
            </a:ln>
          </p:spPr>
          <p:txBody>
            <a:bodyPr wrap="none">
              <a:spAutoFit/>
            </a:bodyPr>
            <a:ls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a:lstStyle>
            <a:p>
              <a:r>
                <a:rPr lang="zh-CN" altLang="en-US" dirty="0">
                  <a:latin typeface="Calibri" pitchFamily="34" charset="0"/>
                </a:rPr>
                <a:t>键盘／鼠标</a:t>
              </a:r>
            </a:p>
          </p:txBody>
        </p:sp>
        <p:sp>
          <p:nvSpPr>
            <p:cNvPr id="7" name="矩形 6"/>
            <p:cNvSpPr/>
            <p:nvPr/>
          </p:nvSpPr>
          <p:spPr bwMode="auto">
            <a:xfrm>
              <a:off x="5500694" y="5072074"/>
              <a:ext cx="855662" cy="43180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8" name="TextBox 6"/>
            <p:cNvSpPr txBox="1">
              <a:spLocks noChangeArrowheads="1"/>
            </p:cNvSpPr>
            <p:nvPr/>
          </p:nvSpPr>
          <p:spPr bwMode="auto">
            <a:xfrm>
              <a:off x="5614082" y="5168456"/>
              <a:ext cx="881973" cy="275374"/>
            </a:xfrm>
            <a:prstGeom prst="rect">
              <a:avLst/>
            </a:prstGeom>
            <a:noFill/>
            <a:ln w="9525">
              <a:noFill/>
              <a:miter lim="800000"/>
              <a:headEnd/>
              <a:tailEnd/>
            </a:ln>
          </p:spPr>
          <p:txBody>
            <a:bodyPr wrap="none">
              <a:spAutoFit/>
            </a:bodyPr>
            <a:ls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a:lstStyle>
            <a:p>
              <a:r>
                <a:rPr lang="zh-CN" altLang="en-US" dirty="0">
                  <a:latin typeface="Calibri" pitchFamily="34" charset="0"/>
                </a:rPr>
                <a:t>显示器</a:t>
              </a:r>
            </a:p>
          </p:txBody>
        </p:sp>
        <p:sp>
          <p:nvSpPr>
            <p:cNvPr id="9" name="矩形 8"/>
            <p:cNvSpPr/>
            <p:nvPr/>
          </p:nvSpPr>
          <p:spPr bwMode="auto">
            <a:xfrm>
              <a:off x="3714744" y="5068902"/>
              <a:ext cx="857256" cy="43180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0" name="TextBox 8"/>
            <p:cNvSpPr txBox="1">
              <a:spLocks noChangeArrowheads="1"/>
            </p:cNvSpPr>
            <p:nvPr/>
          </p:nvSpPr>
          <p:spPr bwMode="auto">
            <a:xfrm>
              <a:off x="3929058" y="5140340"/>
              <a:ext cx="649537" cy="275374"/>
            </a:xfrm>
            <a:prstGeom prst="rect">
              <a:avLst/>
            </a:prstGeom>
            <a:noFill/>
            <a:ln w="9525">
              <a:noFill/>
              <a:miter lim="800000"/>
              <a:headEnd/>
              <a:tailEnd/>
            </a:ln>
          </p:spPr>
          <p:txBody>
            <a:bodyPr wrap="none">
              <a:spAutoFit/>
            </a:bodyPr>
            <a:ls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a:lstStyle>
            <a:p>
              <a:r>
                <a:rPr lang="zh-CN" altLang="en-US" dirty="0">
                  <a:latin typeface="Calibri" pitchFamily="34" charset="0"/>
                </a:rPr>
                <a:t>磁盘</a:t>
              </a:r>
            </a:p>
          </p:txBody>
        </p:sp>
        <p:sp>
          <p:nvSpPr>
            <p:cNvPr id="11" name="矩形 10"/>
            <p:cNvSpPr/>
            <p:nvPr/>
          </p:nvSpPr>
          <p:spPr bwMode="auto">
            <a:xfrm>
              <a:off x="4643438" y="5068902"/>
              <a:ext cx="793748" cy="43180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2" name="TextBox 10"/>
            <p:cNvSpPr txBox="1">
              <a:spLocks noChangeArrowheads="1"/>
            </p:cNvSpPr>
            <p:nvPr/>
          </p:nvSpPr>
          <p:spPr bwMode="auto">
            <a:xfrm>
              <a:off x="4794244" y="5158610"/>
              <a:ext cx="649537" cy="275374"/>
            </a:xfrm>
            <a:prstGeom prst="rect">
              <a:avLst/>
            </a:prstGeom>
            <a:noFill/>
            <a:ln w="9525">
              <a:noFill/>
              <a:miter lim="800000"/>
              <a:headEnd/>
              <a:tailEnd/>
            </a:ln>
          </p:spPr>
          <p:txBody>
            <a:bodyPr wrap="none">
              <a:spAutoFit/>
            </a:bodyPr>
            <a:ls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a:lstStyle>
            <a:p>
              <a:r>
                <a:rPr lang="zh-CN" altLang="en-US" dirty="0">
                  <a:latin typeface="Calibri" pitchFamily="34" charset="0"/>
                </a:rPr>
                <a:t>网络</a:t>
              </a:r>
            </a:p>
          </p:txBody>
        </p:sp>
        <p:sp>
          <p:nvSpPr>
            <p:cNvPr id="13" name="矩形 12"/>
            <p:cNvSpPr/>
            <p:nvPr/>
          </p:nvSpPr>
          <p:spPr bwMode="auto">
            <a:xfrm>
              <a:off x="2706682" y="5068902"/>
              <a:ext cx="936624" cy="43180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4" name="TextBox 12"/>
            <p:cNvSpPr txBox="1">
              <a:spLocks noChangeArrowheads="1"/>
            </p:cNvSpPr>
            <p:nvPr/>
          </p:nvSpPr>
          <p:spPr bwMode="auto">
            <a:xfrm>
              <a:off x="2857488" y="5158610"/>
              <a:ext cx="881973" cy="275374"/>
            </a:xfrm>
            <a:prstGeom prst="rect">
              <a:avLst/>
            </a:prstGeom>
            <a:noFill/>
            <a:ln w="9525">
              <a:noFill/>
              <a:miter lim="800000"/>
              <a:headEnd/>
              <a:tailEnd/>
            </a:ln>
          </p:spPr>
          <p:txBody>
            <a:bodyPr wrap="none">
              <a:spAutoFit/>
            </a:bodyPr>
            <a:ls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a:lstStyle>
            <a:p>
              <a:r>
                <a:rPr lang="zh-CN" altLang="en-US" dirty="0">
                  <a:latin typeface="Calibri" pitchFamily="34" charset="0"/>
                </a:rPr>
                <a:t>打印机</a:t>
              </a:r>
            </a:p>
          </p:txBody>
        </p:sp>
        <p:sp>
          <p:nvSpPr>
            <p:cNvPr id="15" name="矩形 14"/>
            <p:cNvSpPr/>
            <p:nvPr/>
          </p:nvSpPr>
          <p:spPr bwMode="auto">
            <a:xfrm>
              <a:off x="3921128" y="4211646"/>
              <a:ext cx="1071570" cy="43180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6" name="TextBox 14"/>
            <p:cNvSpPr txBox="1">
              <a:spLocks noChangeArrowheads="1"/>
            </p:cNvSpPr>
            <p:nvPr/>
          </p:nvSpPr>
          <p:spPr bwMode="auto">
            <a:xfrm>
              <a:off x="4071934" y="4301354"/>
              <a:ext cx="1114408" cy="275374"/>
            </a:xfrm>
            <a:prstGeom prst="rect">
              <a:avLst/>
            </a:prstGeom>
            <a:noFill/>
            <a:ln w="9525">
              <a:noFill/>
              <a:miter lim="800000"/>
              <a:headEnd/>
              <a:tailEnd/>
            </a:ln>
          </p:spPr>
          <p:txBody>
            <a:bodyPr wrap="none">
              <a:spAutoFit/>
            </a:bodyPr>
            <a:ls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a:lstStyle>
            <a:p>
              <a:r>
                <a:rPr lang="zh-CN" altLang="en-US" dirty="0">
                  <a:latin typeface="Calibri" pitchFamily="34" charset="0"/>
                </a:rPr>
                <a:t>驱动程序</a:t>
              </a:r>
            </a:p>
          </p:txBody>
        </p:sp>
        <p:sp>
          <p:nvSpPr>
            <p:cNvPr id="17" name="矩形 16"/>
            <p:cNvSpPr/>
            <p:nvPr/>
          </p:nvSpPr>
          <p:spPr bwMode="auto">
            <a:xfrm>
              <a:off x="2706682" y="4211646"/>
              <a:ext cx="1071570" cy="43180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8" name="TextBox 16"/>
            <p:cNvSpPr txBox="1">
              <a:spLocks noChangeArrowheads="1"/>
            </p:cNvSpPr>
            <p:nvPr/>
          </p:nvSpPr>
          <p:spPr bwMode="auto">
            <a:xfrm>
              <a:off x="2857488" y="4301354"/>
              <a:ext cx="1114408" cy="275374"/>
            </a:xfrm>
            <a:prstGeom prst="rect">
              <a:avLst/>
            </a:prstGeom>
            <a:noFill/>
            <a:ln w="9525">
              <a:noFill/>
              <a:miter lim="800000"/>
              <a:headEnd/>
              <a:tailEnd/>
            </a:ln>
          </p:spPr>
          <p:txBody>
            <a:bodyPr wrap="none">
              <a:spAutoFit/>
            </a:bodyPr>
            <a:ls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a:lstStyle>
            <a:p>
              <a:r>
                <a:rPr lang="zh-CN" altLang="en-US" dirty="0">
                  <a:latin typeface="Calibri" pitchFamily="34" charset="0"/>
                </a:rPr>
                <a:t>驱动程序</a:t>
              </a:r>
            </a:p>
          </p:txBody>
        </p:sp>
        <p:sp>
          <p:nvSpPr>
            <p:cNvPr id="19" name="矩形 18"/>
            <p:cNvSpPr/>
            <p:nvPr/>
          </p:nvSpPr>
          <p:spPr bwMode="auto">
            <a:xfrm>
              <a:off x="5143504" y="4211646"/>
              <a:ext cx="1071570" cy="43180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20" name="TextBox 18"/>
            <p:cNvSpPr txBox="1">
              <a:spLocks noChangeArrowheads="1"/>
            </p:cNvSpPr>
            <p:nvPr/>
          </p:nvSpPr>
          <p:spPr bwMode="auto">
            <a:xfrm>
              <a:off x="5294310" y="4301354"/>
              <a:ext cx="1114408" cy="275374"/>
            </a:xfrm>
            <a:prstGeom prst="rect">
              <a:avLst/>
            </a:prstGeom>
            <a:noFill/>
            <a:ln w="9525">
              <a:noFill/>
              <a:miter lim="800000"/>
              <a:headEnd/>
              <a:tailEnd/>
            </a:ln>
          </p:spPr>
          <p:txBody>
            <a:bodyPr wrap="none">
              <a:spAutoFit/>
            </a:bodyPr>
            <a:ls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a:lstStyle>
            <a:p>
              <a:r>
                <a:rPr lang="zh-CN" altLang="en-US" dirty="0">
                  <a:latin typeface="Calibri" pitchFamily="34" charset="0"/>
                </a:rPr>
                <a:t>驱动程序</a:t>
              </a:r>
            </a:p>
          </p:txBody>
        </p:sp>
        <p:sp>
          <p:nvSpPr>
            <p:cNvPr id="21" name="矩形 20"/>
            <p:cNvSpPr/>
            <p:nvPr/>
          </p:nvSpPr>
          <p:spPr bwMode="auto">
            <a:xfrm>
              <a:off x="6350020" y="4211646"/>
              <a:ext cx="1071570" cy="43180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22" name="TextBox 20"/>
            <p:cNvSpPr txBox="1">
              <a:spLocks noChangeArrowheads="1"/>
            </p:cNvSpPr>
            <p:nvPr/>
          </p:nvSpPr>
          <p:spPr bwMode="auto">
            <a:xfrm>
              <a:off x="6500826" y="4301354"/>
              <a:ext cx="1114408" cy="275374"/>
            </a:xfrm>
            <a:prstGeom prst="rect">
              <a:avLst/>
            </a:prstGeom>
            <a:noFill/>
            <a:ln w="9525">
              <a:noFill/>
              <a:miter lim="800000"/>
              <a:headEnd/>
              <a:tailEnd/>
            </a:ln>
          </p:spPr>
          <p:txBody>
            <a:bodyPr wrap="none">
              <a:spAutoFit/>
            </a:bodyPr>
            <a:ls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a:lstStyle>
            <a:p>
              <a:r>
                <a:rPr lang="zh-CN" altLang="en-US" dirty="0">
                  <a:latin typeface="Calibri" pitchFamily="34" charset="0"/>
                </a:rPr>
                <a:t>驱动程序</a:t>
              </a:r>
            </a:p>
          </p:txBody>
        </p:sp>
        <p:sp>
          <p:nvSpPr>
            <p:cNvPr id="23" name="矩形 22"/>
            <p:cNvSpPr/>
            <p:nvPr/>
          </p:nvSpPr>
          <p:spPr bwMode="auto">
            <a:xfrm>
              <a:off x="2714612" y="3583802"/>
              <a:ext cx="3214710" cy="43180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24" name="TextBox 22"/>
            <p:cNvSpPr txBox="1">
              <a:spLocks noChangeArrowheads="1"/>
            </p:cNvSpPr>
            <p:nvPr/>
          </p:nvSpPr>
          <p:spPr bwMode="auto">
            <a:xfrm>
              <a:off x="3786182" y="3655240"/>
              <a:ext cx="1114408" cy="275374"/>
            </a:xfrm>
            <a:prstGeom prst="rect">
              <a:avLst/>
            </a:prstGeom>
            <a:noFill/>
            <a:ln w="9525">
              <a:noFill/>
              <a:miter lim="800000"/>
              <a:headEnd/>
              <a:tailEnd/>
            </a:ln>
          </p:spPr>
          <p:txBody>
            <a:bodyPr wrap="none">
              <a:spAutoFit/>
            </a:bodyPr>
            <a:ls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a:lstStyle>
            <a:p>
              <a:r>
                <a:rPr lang="zh-CN" altLang="en-US" dirty="0">
                  <a:latin typeface="Calibri" pitchFamily="34" charset="0"/>
                </a:rPr>
                <a:t>系统内核</a:t>
              </a:r>
            </a:p>
          </p:txBody>
        </p:sp>
        <p:sp>
          <p:nvSpPr>
            <p:cNvPr id="25" name="矩形 24"/>
            <p:cNvSpPr/>
            <p:nvPr/>
          </p:nvSpPr>
          <p:spPr bwMode="auto">
            <a:xfrm>
              <a:off x="6357950" y="3583802"/>
              <a:ext cx="1071570" cy="43180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26" name="TextBox 24"/>
            <p:cNvSpPr txBox="1">
              <a:spLocks noChangeArrowheads="1"/>
            </p:cNvSpPr>
            <p:nvPr/>
          </p:nvSpPr>
          <p:spPr bwMode="auto">
            <a:xfrm>
              <a:off x="6508756" y="3673510"/>
              <a:ext cx="1114408" cy="275374"/>
            </a:xfrm>
            <a:prstGeom prst="rect">
              <a:avLst/>
            </a:prstGeom>
            <a:noFill/>
            <a:ln w="9525">
              <a:noFill/>
              <a:miter lim="800000"/>
              <a:headEnd/>
              <a:tailEnd/>
            </a:ln>
          </p:spPr>
          <p:txBody>
            <a:bodyPr wrap="none">
              <a:spAutoFit/>
            </a:bodyPr>
            <a:ls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a:lstStyle>
            <a:p>
              <a:r>
                <a:rPr lang="zh-CN" altLang="en-US" dirty="0">
                  <a:latin typeface="Calibri" pitchFamily="34" charset="0"/>
                </a:rPr>
                <a:t>系统扩展</a:t>
              </a:r>
            </a:p>
          </p:txBody>
        </p:sp>
        <p:sp>
          <p:nvSpPr>
            <p:cNvPr id="27" name="矩形 26"/>
            <p:cNvSpPr/>
            <p:nvPr/>
          </p:nvSpPr>
          <p:spPr bwMode="auto">
            <a:xfrm>
              <a:off x="2714612" y="2640010"/>
              <a:ext cx="1071570" cy="43180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28" name="TextBox 26"/>
            <p:cNvSpPr txBox="1">
              <a:spLocks noChangeArrowheads="1"/>
            </p:cNvSpPr>
            <p:nvPr/>
          </p:nvSpPr>
          <p:spPr bwMode="auto">
            <a:xfrm>
              <a:off x="3000364" y="2733220"/>
              <a:ext cx="649537" cy="275374"/>
            </a:xfrm>
            <a:prstGeom prst="rect">
              <a:avLst/>
            </a:prstGeom>
            <a:noFill/>
            <a:ln w="9525">
              <a:noFill/>
              <a:miter lim="800000"/>
              <a:headEnd/>
              <a:tailEnd/>
            </a:ln>
          </p:spPr>
          <p:txBody>
            <a:bodyPr wrap="none">
              <a:spAutoFit/>
            </a:bodyPr>
            <a:ls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a:lstStyle>
            <a:p>
              <a:r>
                <a:rPr lang="zh-CN" altLang="en-US" dirty="0">
                  <a:latin typeface="Calibri" pitchFamily="34" charset="0"/>
                </a:rPr>
                <a:t>应用</a:t>
              </a:r>
            </a:p>
          </p:txBody>
        </p:sp>
        <p:sp>
          <p:nvSpPr>
            <p:cNvPr id="29" name="矩形 28"/>
            <p:cNvSpPr/>
            <p:nvPr/>
          </p:nvSpPr>
          <p:spPr bwMode="auto">
            <a:xfrm>
              <a:off x="4572000" y="2640010"/>
              <a:ext cx="1071570" cy="43180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30" name="TextBox 28"/>
            <p:cNvSpPr txBox="1">
              <a:spLocks noChangeArrowheads="1"/>
            </p:cNvSpPr>
            <p:nvPr/>
          </p:nvSpPr>
          <p:spPr bwMode="auto">
            <a:xfrm>
              <a:off x="4857752" y="2733220"/>
              <a:ext cx="649537" cy="275374"/>
            </a:xfrm>
            <a:prstGeom prst="rect">
              <a:avLst/>
            </a:prstGeom>
            <a:noFill/>
            <a:ln w="9525">
              <a:noFill/>
              <a:miter lim="800000"/>
              <a:headEnd/>
              <a:tailEnd/>
            </a:ln>
          </p:spPr>
          <p:txBody>
            <a:bodyPr wrap="none">
              <a:spAutoFit/>
            </a:bodyPr>
            <a:ls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a:lstStyle>
            <a:p>
              <a:r>
                <a:rPr lang="zh-CN" altLang="en-US" dirty="0">
                  <a:latin typeface="Calibri" pitchFamily="34" charset="0"/>
                </a:rPr>
                <a:t>应用</a:t>
              </a:r>
            </a:p>
          </p:txBody>
        </p:sp>
        <p:sp>
          <p:nvSpPr>
            <p:cNvPr id="31" name="矩形 30"/>
            <p:cNvSpPr/>
            <p:nvPr/>
          </p:nvSpPr>
          <p:spPr bwMode="auto">
            <a:xfrm>
              <a:off x="6357950" y="2640010"/>
              <a:ext cx="1071570" cy="43180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32" name="TextBox 30"/>
            <p:cNvSpPr txBox="1">
              <a:spLocks noChangeArrowheads="1"/>
            </p:cNvSpPr>
            <p:nvPr/>
          </p:nvSpPr>
          <p:spPr bwMode="auto">
            <a:xfrm>
              <a:off x="6643702" y="2733220"/>
              <a:ext cx="649537" cy="275374"/>
            </a:xfrm>
            <a:prstGeom prst="rect">
              <a:avLst/>
            </a:prstGeom>
            <a:noFill/>
            <a:ln w="9525">
              <a:noFill/>
              <a:miter lim="800000"/>
              <a:headEnd/>
              <a:tailEnd/>
            </a:ln>
          </p:spPr>
          <p:txBody>
            <a:bodyPr wrap="none">
              <a:spAutoFit/>
            </a:bodyPr>
            <a:ls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a:lstStyle>
            <a:p>
              <a:r>
                <a:rPr lang="zh-CN" altLang="en-US" dirty="0">
                  <a:latin typeface="Calibri" pitchFamily="34" charset="0"/>
                </a:rPr>
                <a:t>应用</a:t>
              </a:r>
            </a:p>
          </p:txBody>
        </p:sp>
        <p:cxnSp>
          <p:nvCxnSpPr>
            <p:cNvPr id="33" name="直接连接符 32"/>
            <p:cNvCxnSpPr/>
            <p:nvPr/>
          </p:nvCxnSpPr>
          <p:spPr>
            <a:xfrm>
              <a:off x="2357422" y="3284536"/>
              <a:ext cx="5357850" cy="1588"/>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2357422" y="4856172"/>
              <a:ext cx="5357850" cy="1588"/>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TextBox 34"/>
            <p:cNvSpPr txBox="1">
              <a:spLocks noChangeArrowheads="1"/>
            </p:cNvSpPr>
            <p:nvPr/>
          </p:nvSpPr>
          <p:spPr bwMode="auto">
            <a:xfrm>
              <a:off x="1414327" y="2714620"/>
              <a:ext cx="1114408" cy="275374"/>
            </a:xfrm>
            <a:prstGeom prst="rect">
              <a:avLst/>
            </a:prstGeom>
            <a:noFill/>
            <a:ln w="9525">
              <a:noFill/>
              <a:miter lim="800000"/>
              <a:headEnd/>
              <a:tailEnd/>
            </a:ln>
          </p:spPr>
          <p:txBody>
            <a:bodyPr wrap="none">
              <a:spAutoFit/>
            </a:bodyPr>
            <a:ls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a:lstStyle>
            <a:p>
              <a:r>
                <a:rPr lang="zh-CN" altLang="en-US" dirty="0">
                  <a:latin typeface="Calibri" pitchFamily="34" charset="0"/>
                </a:rPr>
                <a:t>应用环境</a:t>
              </a:r>
            </a:p>
          </p:txBody>
        </p:sp>
        <p:sp>
          <p:nvSpPr>
            <p:cNvPr id="36" name="TextBox 35"/>
            <p:cNvSpPr txBox="1">
              <a:spLocks noChangeArrowheads="1"/>
            </p:cNvSpPr>
            <p:nvPr/>
          </p:nvSpPr>
          <p:spPr bwMode="auto">
            <a:xfrm>
              <a:off x="1414327" y="3937819"/>
              <a:ext cx="1114408" cy="275374"/>
            </a:xfrm>
            <a:prstGeom prst="rect">
              <a:avLst/>
            </a:prstGeom>
            <a:noFill/>
            <a:ln w="9525">
              <a:noFill/>
              <a:miter lim="800000"/>
              <a:headEnd/>
              <a:tailEnd/>
            </a:ln>
          </p:spPr>
          <p:txBody>
            <a:bodyPr wrap="none">
              <a:spAutoFit/>
            </a:bodyPr>
            <a:ls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a:lstStyle>
            <a:p>
              <a:r>
                <a:rPr lang="zh-CN" altLang="en-US" dirty="0">
                  <a:latin typeface="Calibri" pitchFamily="34" charset="0"/>
                </a:rPr>
                <a:t>系统环境</a:t>
              </a:r>
            </a:p>
          </p:txBody>
        </p:sp>
        <p:sp>
          <p:nvSpPr>
            <p:cNvPr id="37" name="TextBox 36"/>
            <p:cNvSpPr txBox="1">
              <a:spLocks noChangeArrowheads="1"/>
            </p:cNvSpPr>
            <p:nvPr/>
          </p:nvSpPr>
          <p:spPr bwMode="auto">
            <a:xfrm>
              <a:off x="1414327" y="5152265"/>
              <a:ext cx="1114408" cy="275374"/>
            </a:xfrm>
            <a:prstGeom prst="rect">
              <a:avLst/>
            </a:prstGeom>
            <a:noFill/>
            <a:ln w="9525">
              <a:noFill/>
              <a:miter lim="800000"/>
              <a:headEnd/>
              <a:tailEnd/>
            </a:ln>
          </p:spPr>
          <p:txBody>
            <a:bodyPr wrap="none">
              <a:spAutoFit/>
            </a:bodyPr>
            <a:ls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a:lstStyle>
            <a:p>
              <a:r>
                <a:rPr lang="zh-CN" altLang="en-US" dirty="0">
                  <a:latin typeface="Calibri" pitchFamily="34" charset="0"/>
                </a:rPr>
                <a:t>硬件设备</a:t>
              </a:r>
            </a:p>
          </p:txBody>
        </p:sp>
        <p:sp>
          <p:nvSpPr>
            <p:cNvPr id="38" name="TextBox 37"/>
            <p:cNvSpPr txBox="1">
              <a:spLocks noChangeArrowheads="1"/>
            </p:cNvSpPr>
            <p:nvPr/>
          </p:nvSpPr>
          <p:spPr bwMode="auto">
            <a:xfrm>
              <a:off x="7786710" y="3143248"/>
              <a:ext cx="1114408" cy="275374"/>
            </a:xfrm>
            <a:prstGeom prst="rect">
              <a:avLst/>
            </a:prstGeom>
            <a:noFill/>
            <a:ln w="9525">
              <a:noFill/>
              <a:miter lim="800000"/>
              <a:headEnd/>
              <a:tailEnd/>
            </a:ln>
          </p:spPr>
          <p:txBody>
            <a:bodyPr wrap="none">
              <a:spAutoFit/>
            </a:bodyPr>
            <a:ls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a:lstStyle>
            <a:p>
              <a:r>
                <a:rPr lang="zh-CN" altLang="en-US" dirty="0">
                  <a:latin typeface="Calibri" pitchFamily="34" charset="0"/>
                </a:rPr>
                <a:t>系统服务</a:t>
              </a:r>
            </a:p>
          </p:txBody>
        </p:sp>
        <p:sp>
          <p:nvSpPr>
            <p:cNvPr id="39" name="TextBox 38"/>
            <p:cNvSpPr txBox="1">
              <a:spLocks noChangeArrowheads="1"/>
            </p:cNvSpPr>
            <p:nvPr/>
          </p:nvSpPr>
          <p:spPr bwMode="auto">
            <a:xfrm>
              <a:off x="7858148" y="4714884"/>
              <a:ext cx="1114408" cy="275374"/>
            </a:xfrm>
            <a:prstGeom prst="rect">
              <a:avLst/>
            </a:prstGeom>
            <a:noFill/>
            <a:ln w="9525">
              <a:noFill/>
              <a:miter lim="800000"/>
              <a:headEnd/>
              <a:tailEnd/>
            </a:ln>
          </p:spPr>
          <p:txBody>
            <a:bodyPr wrap="none">
              <a:spAutoFit/>
            </a:bodyPr>
            <a:ls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a:lstStyle>
            <a:p>
              <a:r>
                <a:rPr lang="zh-CN" altLang="en-US" dirty="0">
                  <a:latin typeface="Calibri" pitchFamily="34" charset="0"/>
                </a:rPr>
                <a:t>硬件抽象</a:t>
              </a:r>
            </a:p>
          </p:txBody>
        </p:sp>
      </p:grpSp>
    </p:spTree>
    <p:extLst>
      <p:ext uri="{BB962C8B-B14F-4D97-AF65-F5344CB8AC3E}">
        <p14:creationId xmlns:p14="http://schemas.microsoft.com/office/powerpoint/2010/main" val="2946580711"/>
      </p:ext>
    </p:extLst>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72881" y="1413486"/>
            <a:ext cx="7772400" cy="4114800"/>
          </a:xfrm>
        </p:spPr>
        <p:txBody>
          <a:bodyPr/>
          <a:lstStyle/>
          <a:p>
            <a:r>
              <a:rPr lang="en-US" altLang="zh-CN" dirty="0"/>
              <a:t>Windows</a:t>
            </a:r>
            <a:endParaRPr lang="zh-CN" altLang="en-US" dirty="0"/>
          </a:p>
        </p:txBody>
      </p:sp>
      <p:sp>
        <p:nvSpPr>
          <p:cNvPr id="3" name="标题 2"/>
          <p:cNvSpPr>
            <a:spLocks noGrp="1"/>
          </p:cNvSpPr>
          <p:nvPr>
            <p:ph type="title"/>
          </p:nvPr>
        </p:nvSpPr>
        <p:spPr/>
        <p:txBody>
          <a:bodyPr/>
          <a:lstStyle/>
          <a:p>
            <a:r>
              <a:rPr lang="zh-CN" altLang="en-US" dirty="0"/>
              <a:t>操作系统</a:t>
            </a:r>
          </a:p>
        </p:txBody>
      </p:sp>
      <p:pic>
        <p:nvPicPr>
          <p:cNvPr id="4" name="图片 3"/>
          <p:cNvPicPr>
            <a:picLocks noChangeAspect="1"/>
          </p:cNvPicPr>
          <p:nvPr/>
        </p:nvPicPr>
        <p:blipFill>
          <a:blip r:embed="rId2" cstate="print"/>
          <a:srcRect/>
          <a:stretch>
            <a:fillRect/>
          </a:stretch>
        </p:blipFill>
        <p:spPr bwMode="auto">
          <a:xfrm>
            <a:off x="1150938" y="2279917"/>
            <a:ext cx="5962529" cy="3666666"/>
          </a:xfrm>
          <a:prstGeom prst="rect">
            <a:avLst/>
          </a:prstGeom>
          <a:noFill/>
          <a:ln w="9525">
            <a:noFill/>
            <a:miter lim="800000"/>
            <a:headEnd/>
            <a:tailEnd/>
          </a:ln>
        </p:spPr>
      </p:pic>
    </p:spTree>
    <p:extLst>
      <p:ext uri="{BB962C8B-B14F-4D97-AF65-F5344CB8AC3E}">
        <p14:creationId xmlns:p14="http://schemas.microsoft.com/office/powerpoint/2010/main" val="3666401313"/>
      </p:ext>
    </p:extLst>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72881" y="1413486"/>
            <a:ext cx="7772400" cy="4114800"/>
          </a:xfrm>
        </p:spPr>
        <p:txBody>
          <a:bodyPr/>
          <a:lstStyle/>
          <a:p>
            <a:r>
              <a:rPr lang="en-US" altLang="zh-CN" dirty="0"/>
              <a:t>Windows</a:t>
            </a:r>
            <a:endParaRPr lang="zh-CN" altLang="en-US" dirty="0"/>
          </a:p>
        </p:txBody>
      </p:sp>
      <p:sp>
        <p:nvSpPr>
          <p:cNvPr id="3" name="标题 2"/>
          <p:cNvSpPr>
            <a:spLocks noGrp="1"/>
          </p:cNvSpPr>
          <p:nvPr>
            <p:ph type="title"/>
          </p:nvPr>
        </p:nvSpPr>
        <p:spPr/>
        <p:txBody>
          <a:bodyPr/>
          <a:lstStyle/>
          <a:p>
            <a:r>
              <a:rPr lang="zh-CN" altLang="en-US" dirty="0"/>
              <a:t>操作系统</a:t>
            </a:r>
          </a:p>
        </p:txBody>
      </p:sp>
      <p:pic>
        <p:nvPicPr>
          <p:cNvPr id="5" name="图片 4"/>
          <p:cNvPicPr/>
          <p:nvPr/>
        </p:nvPicPr>
        <p:blipFill>
          <a:blip r:embed="rId2" cstate="print"/>
          <a:srcRect/>
          <a:stretch>
            <a:fillRect/>
          </a:stretch>
        </p:blipFill>
        <p:spPr bwMode="auto">
          <a:xfrm>
            <a:off x="786715" y="2112109"/>
            <a:ext cx="6753567" cy="3727938"/>
          </a:xfrm>
          <a:prstGeom prst="rect">
            <a:avLst/>
          </a:prstGeom>
          <a:noFill/>
          <a:ln w="9525">
            <a:noFill/>
            <a:miter lim="800000"/>
            <a:headEnd/>
            <a:tailEnd/>
          </a:ln>
        </p:spPr>
      </p:pic>
    </p:spTree>
    <p:extLst>
      <p:ext uri="{BB962C8B-B14F-4D97-AF65-F5344CB8AC3E}">
        <p14:creationId xmlns:p14="http://schemas.microsoft.com/office/powerpoint/2010/main" val="2525967257"/>
      </p:ext>
    </p:extLst>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10075" y="1316323"/>
            <a:ext cx="7772400" cy="4114800"/>
          </a:xfrm>
        </p:spPr>
        <p:txBody>
          <a:bodyPr/>
          <a:lstStyle/>
          <a:p>
            <a:r>
              <a:rPr lang="en-US" altLang="zh-CN" dirty="0"/>
              <a:t>Linux</a:t>
            </a:r>
            <a:endParaRPr lang="zh-CN" altLang="en-US" dirty="0"/>
          </a:p>
        </p:txBody>
      </p:sp>
      <p:sp>
        <p:nvSpPr>
          <p:cNvPr id="3" name="标题 2"/>
          <p:cNvSpPr>
            <a:spLocks noGrp="1"/>
          </p:cNvSpPr>
          <p:nvPr>
            <p:ph type="title"/>
          </p:nvPr>
        </p:nvSpPr>
        <p:spPr/>
        <p:txBody>
          <a:bodyPr/>
          <a:lstStyle/>
          <a:p>
            <a:r>
              <a:rPr lang="zh-CN" altLang="en-US" dirty="0"/>
              <a:t>操作系统</a:t>
            </a:r>
          </a:p>
        </p:txBody>
      </p:sp>
      <p:grpSp>
        <p:nvGrpSpPr>
          <p:cNvPr id="5" name="组合 4"/>
          <p:cNvGrpSpPr/>
          <p:nvPr/>
        </p:nvGrpSpPr>
        <p:grpSpPr>
          <a:xfrm>
            <a:off x="772240" y="2047031"/>
            <a:ext cx="7852738" cy="4226977"/>
            <a:chOff x="522514" y="702221"/>
            <a:chExt cx="7852738" cy="4226977"/>
          </a:xfrm>
        </p:grpSpPr>
        <p:sp>
          <p:nvSpPr>
            <p:cNvPr id="6" name="矩形 5"/>
            <p:cNvSpPr/>
            <p:nvPr/>
          </p:nvSpPr>
          <p:spPr>
            <a:xfrm>
              <a:off x="1115616" y="1412776"/>
              <a:ext cx="6572296" cy="35719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zh-CN" altLang="en-US" sz="1300" dirty="0">
                  <a:solidFill>
                    <a:schemeClr val="tx1"/>
                  </a:solidFill>
                  <a:latin typeface="Times New Roman" pitchFamily="18" charset="0"/>
                  <a:ea typeface="宋体" pitchFamily="2" charset="-122"/>
                </a:rPr>
                <a:t>系统调用接口</a:t>
              </a:r>
            </a:p>
          </p:txBody>
        </p:sp>
        <p:cxnSp>
          <p:nvCxnSpPr>
            <p:cNvPr id="7" name="直接连接符 6"/>
            <p:cNvCxnSpPr/>
            <p:nvPr/>
          </p:nvCxnSpPr>
          <p:spPr>
            <a:xfrm flipV="1">
              <a:off x="522514" y="1930390"/>
              <a:ext cx="7835700" cy="11344"/>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 name="TextBox 34"/>
            <p:cNvSpPr txBox="1"/>
            <p:nvPr/>
          </p:nvSpPr>
          <p:spPr>
            <a:xfrm>
              <a:off x="7812360" y="1052736"/>
              <a:ext cx="518091" cy="292388"/>
            </a:xfrm>
            <a:prstGeom prst="rect">
              <a:avLst/>
            </a:prstGeom>
            <a:noFill/>
          </p:spPr>
          <p:txBody>
            <a:bodyPr wrap="none" rtlCol="0">
              <a:spAutoFit/>
            </a:bodyPr>
            <a:ls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a:lstStyle>
            <a:p>
              <a:r>
                <a:rPr lang="zh-CN" altLang="en-US" sz="1300" dirty="0"/>
                <a:t>用户</a:t>
              </a:r>
            </a:p>
          </p:txBody>
        </p:sp>
        <p:sp>
          <p:nvSpPr>
            <p:cNvPr id="9" name="TextBox 35"/>
            <p:cNvSpPr txBox="1"/>
            <p:nvPr/>
          </p:nvSpPr>
          <p:spPr>
            <a:xfrm>
              <a:off x="7740352" y="3140968"/>
              <a:ext cx="518091" cy="292388"/>
            </a:xfrm>
            <a:prstGeom prst="rect">
              <a:avLst/>
            </a:prstGeom>
            <a:noFill/>
          </p:spPr>
          <p:txBody>
            <a:bodyPr wrap="none" rtlCol="0">
              <a:spAutoFit/>
            </a:bodyPr>
            <a:ls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a:lstStyle>
            <a:p>
              <a:r>
                <a:rPr lang="zh-CN" altLang="en-US" sz="1300" dirty="0"/>
                <a:t>内核</a:t>
              </a:r>
            </a:p>
          </p:txBody>
        </p:sp>
        <p:sp>
          <p:nvSpPr>
            <p:cNvPr id="10" name="矩形 9"/>
            <p:cNvSpPr/>
            <p:nvPr/>
          </p:nvSpPr>
          <p:spPr>
            <a:xfrm>
              <a:off x="1619672" y="3212976"/>
              <a:ext cx="864096" cy="35719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zh-CN" altLang="en-US" sz="1300" dirty="0">
                  <a:solidFill>
                    <a:schemeClr val="tx1"/>
                  </a:solidFill>
                  <a:latin typeface="Times New Roman" pitchFamily="18" charset="0"/>
                  <a:ea typeface="宋体" pitchFamily="2" charset="-122"/>
                </a:rPr>
                <a:t>内存管理</a:t>
              </a:r>
            </a:p>
          </p:txBody>
        </p:sp>
        <p:sp>
          <p:nvSpPr>
            <p:cNvPr id="11" name="矩形 10"/>
            <p:cNvSpPr/>
            <p:nvPr/>
          </p:nvSpPr>
          <p:spPr>
            <a:xfrm>
              <a:off x="1643042" y="3929066"/>
              <a:ext cx="1632814" cy="35719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zh-CN" altLang="en-US" sz="1300" dirty="0">
                  <a:solidFill>
                    <a:schemeClr val="tx1"/>
                  </a:solidFill>
                  <a:latin typeface="Times New Roman" pitchFamily="18" charset="0"/>
                  <a:ea typeface="宋体" pitchFamily="2" charset="-122"/>
                </a:rPr>
                <a:t>中断处理</a:t>
              </a:r>
            </a:p>
          </p:txBody>
        </p:sp>
        <p:sp>
          <p:nvSpPr>
            <p:cNvPr id="12" name="矩形 11"/>
            <p:cNvSpPr/>
            <p:nvPr/>
          </p:nvSpPr>
          <p:spPr>
            <a:xfrm>
              <a:off x="571472" y="4572008"/>
              <a:ext cx="7786742" cy="35719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zh-CN" altLang="en-US" sz="1300" dirty="0">
                  <a:solidFill>
                    <a:schemeClr val="tx1"/>
                  </a:solidFill>
                  <a:latin typeface="Times New Roman" pitchFamily="18" charset="0"/>
                  <a:ea typeface="宋体" pitchFamily="2" charset="-122"/>
                </a:rPr>
                <a:t>硬件平台</a:t>
              </a:r>
            </a:p>
          </p:txBody>
        </p:sp>
        <p:sp>
          <p:nvSpPr>
            <p:cNvPr id="13" name="矩形 12"/>
            <p:cNvSpPr/>
            <p:nvPr/>
          </p:nvSpPr>
          <p:spPr>
            <a:xfrm>
              <a:off x="2627784" y="3212976"/>
              <a:ext cx="1008112" cy="35719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zh-CN" altLang="en-US" sz="1300" dirty="0">
                  <a:solidFill>
                    <a:schemeClr val="tx1"/>
                  </a:solidFill>
                  <a:latin typeface="Times New Roman" pitchFamily="18" charset="0"/>
                  <a:ea typeface="宋体" pitchFamily="2" charset="-122"/>
                </a:rPr>
                <a:t>进程调度</a:t>
              </a:r>
            </a:p>
          </p:txBody>
        </p:sp>
        <p:sp>
          <p:nvSpPr>
            <p:cNvPr id="14" name="矩形 13"/>
            <p:cNvSpPr/>
            <p:nvPr/>
          </p:nvSpPr>
          <p:spPr>
            <a:xfrm>
              <a:off x="1907704" y="2348880"/>
              <a:ext cx="1296144" cy="35719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zh-CN" altLang="en-US" sz="1300" dirty="0">
                  <a:solidFill>
                    <a:schemeClr val="tx1"/>
                  </a:solidFill>
                  <a:latin typeface="Times New Roman" pitchFamily="18" charset="0"/>
                  <a:ea typeface="宋体" pitchFamily="2" charset="-122"/>
                </a:rPr>
                <a:t>进程通信机制</a:t>
              </a:r>
            </a:p>
          </p:txBody>
        </p:sp>
        <p:sp>
          <p:nvSpPr>
            <p:cNvPr id="15" name="矩形 14"/>
            <p:cNvSpPr/>
            <p:nvPr/>
          </p:nvSpPr>
          <p:spPr>
            <a:xfrm>
              <a:off x="4499992" y="2420888"/>
              <a:ext cx="864096" cy="432048"/>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zh-CN" altLang="en-US" sz="1300" dirty="0">
                  <a:solidFill>
                    <a:schemeClr val="tx1"/>
                  </a:solidFill>
                  <a:latin typeface="Times New Roman" pitchFamily="18" charset="0"/>
                  <a:ea typeface="宋体" pitchFamily="2" charset="-122"/>
                </a:rPr>
                <a:t>虚拟文件系统</a:t>
              </a:r>
              <a:r>
                <a:rPr lang="en-US" altLang="zh-CN" sz="1300" dirty="0">
                  <a:solidFill>
                    <a:schemeClr val="tx1"/>
                  </a:solidFill>
                  <a:latin typeface="Times New Roman" pitchFamily="18" charset="0"/>
                  <a:ea typeface="宋体" pitchFamily="2" charset="-122"/>
                </a:rPr>
                <a:t>VFS</a:t>
              </a:r>
              <a:endParaRPr lang="zh-CN" altLang="en-US" sz="1300" dirty="0">
                <a:solidFill>
                  <a:schemeClr val="tx1"/>
                </a:solidFill>
                <a:latin typeface="Times New Roman" pitchFamily="18" charset="0"/>
                <a:ea typeface="宋体" pitchFamily="2" charset="-122"/>
              </a:endParaRPr>
            </a:p>
          </p:txBody>
        </p:sp>
        <p:sp>
          <p:nvSpPr>
            <p:cNvPr id="16" name="矩形 15"/>
            <p:cNvSpPr/>
            <p:nvPr/>
          </p:nvSpPr>
          <p:spPr>
            <a:xfrm>
              <a:off x="4499992" y="2852936"/>
              <a:ext cx="864096" cy="432048"/>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zh-CN" altLang="en-US" sz="1300" dirty="0">
                  <a:solidFill>
                    <a:schemeClr val="tx1"/>
                  </a:solidFill>
                  <a:latin typeface="Times New Roman" pitchFamily="18" charset="0"/>
                  <a:ea typeface="宋体" pitchFamily="2" charset="-122"/>
                </a:rPr>
                <a:t>虚拟文件系统</a:t>
              </a:r>
              <a:r>
                <a:rPr lang="en-US" altLang="zh-CN" sz="1300" dirty="0">
                  <a:solidFill>
                    <a:schemeClr val="tx1"/>
                  </a:solidFill>
                  <a:latin typeface="Times New Roman" pitchFamily="18" charset="0"/>
                  <a:ea typeface="宋体" pitchFamily="2" charset="-122"/>
                </a:rPr>
                <a:t>VFS</a:t>
              </a:r>
              <a:endParaRPr lang="zh-CN" altLang="en-US" sz="1300" dirty="0">
                <a:solidFill>
                  <a:schemeClr val="tx1"/>
                </a:solidFill>
                <a:latin typeface="Times New Roman" pitchFamily="18" charset="0"/>
                <a:ea typeface="宋体" pitchFamily="2" charset="-122"/>
              </a:endParaRPr>
            </a:p>
          </p:txBody>
        </p:sp>
        <p:sp>
          <p:nvSpPr>
            <p:cNvPr id="17" name="矩形 16"/>
            <p:cNvSpPr/>
            <p:nvPr/>
          </p:nvSpPr>
          <p:spPr>
            <a:xfrm>
              <a:off x="6228184" y="2708920"/>
              <a:ext cx="864096" cy="35719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zh-CN" altLang="en-US" sz="1300" dirty="0">
                  <a:solidFill>
                    <a:schemeClr val="tx1"/>
                  </a:solidFill>
                  <a:latin typeface="Times New Roman" pitchFamily="18" charset="0"/>
                  <a:ea typeface="宋体" pitchFamily="2" charset="-122"/>
                </a:rPr>
                <a:t>网络支持</a:t>
              </a:r>
            </a:p>
          </p:txBody>
        </p:sp>
        <p:sp>
          <p:nvSpPr>
            <p:cNvPr id="18" name="矩形 17"/>
            <p:cNvSpPr/>
            <p:nvPr/>
          </p:nvSpPr>
          <p:spPr>
            <a:xfrm>
              <a:off x="5220072" y="3917618"/>
              <a:ext cx="1632814" cy="35719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altLang="zh-CN" sz="1300" dirty="0">
                  <a:solidFill>
                    <a:schemeClr val="tx1"/>
                  </a:solidFill>
                  <a:latin typeface="Times New Roman" pitchFamily="18" charset="0"/>
                  <a:ea typeface="宋体" pitchFamily="2" charset="-122"/>
                </a:rPr>
                <a:t>I/O</a:t>
              </a:r>
              <a:r>
                <a:rPr lang="zh-CN" altLang="en-US" sz="1300" dirty="0">
                  <a:solidFill>
                    <a:schemeClr val="tx1"/>
                  </a:solidFill>
                  <a:latin typeface="Times New Roman" pitchFamily="18" charset="0"/>
                  <a:ea typeface="宋体" pitchFamily="2" charset="-122"/>
                </a:rPr>
                <a:t>　子系统</a:t>
              </a:r>
            </a:p>
          </p:txBody>
        </p:sp>
        <p:sp>
          <p:nvSpPr>
            <p:cNvPr id="19" name="矩形 18"/>
            <p:cNvSpPr/>
            <p:nvPr/>
          </p:nvSpPr>
          <p:spPr>
            <a:xfrm>
              <a:off x="1115616" y="1062261"/>
              <a:ext cx="6572296" cy="35719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zh-CN" altLang="en-US" sz="1300" dirty="0">
                  <a:solidFill>
                    <a:schemeClr val="tx1"/>
                  </a:solidFill>
                  <a:latin typeface="Times New Roman" pitchFamily="18" charset="0"/>
                  <a:ea typeface="宋体" pitchFamily="2" charset="-122"/>
                </a:rPr>
                <a:t>操作系统服务</a:t>
              </a:r>
            </a:p>
          </p:txBody>
        </p:sp>
        <p:sp>
          <p:nvSpPr>
            <p:cNvPr id="20" name="矩形 19"/>
            <p:cNvSpPr/>
            <p:nvPr/>
          </p:nvSpPr>
          <p:spPr>
            <a:xfrm>
              <a:off x="1115616" y="702221"/>
              <a:ext cx="6572296" cy="35719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zh-CN" altLang="en-US" sz="1300" dirty="0">
                  <a:solidFill>
                    <a:schemeClr val="tx1"/>
                  </a:solidFill>
                  <a:latin typeface="Times New Roman" pitchFamily="18" charset="0"/>
                  <a:ea typeface="宋体" pitchFamily="2" charset="-122"/>
                </a:rPr>
                <a:t>用户应用程序</a:t>
              </a:r>
            </a:p>
          </p:txBody>
        </p:sp>
        <p:cxnSp>
          <p:nvCxnSpPr>
            <p:cNvPr id="21" name="直接连接符 20"/>
            <p:cNvCxnSpPr/>
            <p:nvPr/>
          </p:nvCxnSpPr>
          <p:spPr>
            <a:xfrm flipV="1">
              <a:off x="539552" y="4437112"/>
              <a:ext cx="7835700" cy="11344"/>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p:nvPr/>
          </p:nvCxnSpPr>
          <p:spPr>
            <a:xfrm>
              <a:off x="1763688" y="1772816"/>
              <a:ext cx="0" cy="144016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flipH="1">
              <a:off x="2514601" y="1785257"/>
              <a:ext cx="10885" cy="563623"/>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a:xfrm flipH="1">
              <a:off x="2133600" y="2721361"/>
              <a:ext cx="1014" cy="521711"/>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a:xfrm flipH="1">
              <a:off x="3058818" y="2691265"/>
              <a:ext cx="1014" cy="521711"/>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p:nvPr/>
          </p:nvCxnSpPr>
          <p:spPr>
            <a:xfrm>
              <a:off x="3347864" y="1755161"/>
              <a:ext cx="11032" cy="1463527"/>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p:nvPr/>
          </p:nvCxnSpPr>
          <p:spPr>
            <a:xfrm>
              <a:off x="4933054" y="1772816"/>
              <a:ext cx="4706" cy="6412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a:off x="6661246" y="1772816"/>
              <a:ext cx="7778" cy="93380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a:xfrm>
              <a:off x="6595872" y="3060192"/>
              <a:ext cx="6096" cy="859536"/>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p:nvPr/>
          </p:nvCxnSpPr>
          <p:spPr>
            <a:xfrm>
              <a:off x="5285232" y="3291840"/>
              <a:ext cx="18288" cy="64008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a:xfrm flipH="1">
              <a:off x="3563888" y="2505456"/>
              <a:ext cx="2272" cy="70752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3557792" y="2492896"/>
              <a:ext cx="934960" cy="38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V="1">
              <a:off x="2383536" y="2783224"/>
              <a:ext cx="2116456" cy="2648"/>
            </a:xfrm>
            <a:prstGeom prst="line">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p:nvPr/>
          </p:nvCxnSpPr>
          <p:spPr>
            <a:xfrm flipH="1">
              <a:off x="2389632" y="2769369"/>
              <a:ext cx="3840" cy="461511"/>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a:xfrm>
              <a:off x="1980726" y="3573016"/>
              <a:ext cx="474" cy="371096"/>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p:nvPr/>
          </p:nvCxnSpPr>
          <p:spPr>
            <a:xfrm>
              <a:off x="2987824" y="3573016"/>
              <a:ext cx="474" cy="371096"/>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p:nvPr/>
          </p:nvCxnSpPr>
          <p:spPr>
            <a:xfrm>
              <a:off x="2407920" y="4255008"/>
              <a:ext cx="3840" cy="326120"/>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p:nvPr/>
          </p:nvCxnSpPr>
          <p:spPr>
            <a:xfrm>
              <a:off x="6008320" y="4255008"/>
              <a:ext cx="3840" cy="326120"/>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676834893"/>
      </p:ext>
    </p:extLst>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38210" y="1231917"/>
            <a:ext cx="7772400" cy="4114800"/>
          </a:xfrm>
        </p:spPr>
        <p:txBody>
          <a:bodyPr/>
          <a:lstStyle/>
          <a:p>
            <a:r>
              <a:rPr lang="en-US" altLang="zh-CN" dirty="0"/>
              <a:t>Android</a:t>
            </a:r>
            <a:endParaRPr lang="zh-CN" altLang="en-US" dirty="0"/>
          </a:p>
        </p:txBody>
      </p:sp>
      <p:sp>
        <p:nvSpPr>
          <p:cNvPr id="3" name="标题 2"/>
          <p:cNvSpPr>
            <a:spLocks noGrp="1"/>
          </p:cNvSpPr>
          <p:nvPr>
            <p:ph type="title"/>
          </p:nvPr>
        </p:nvSpPr>
        <p:spPr/>
        <p:txBody>
          <a:bodyPr/>
          <a:lstStyle/>
          <a:p>
            <a:r>
              <a:rPr lang="zh-CN" altLang="en-US" dirty="0"/>
              <a:t>操作系统</a:t>
            </a:r>
          </a:p>
        </p:txBody>
      </p:sp>
      <p:pic>
        <p:nvPicPr>
          <p:cNvPr id="39" name="图片 38"/>
          <p:cNvPicPr/>
          <p:nvPr/>
        </p:nvPicPr>
        <p:blipFill>
          <a:blip r:embed="rId2" cstate="print"/>
          <a:srcRect/>
          <a:stretch>
            <a:fillRect/>
          </a:stretch>
        </p:blipFill>
        <p:spPr bwMode="auto">
          <a:xfrm>
            <a:off x="2500443" y="1231917"/>
            <a:ext cx="6137119" cy="5028205"/>
          </a:xfrm>
          <a:prstGeom prst="rect">
            <a:avLst/>
          </a:prstGeom>
          <a:noFill/>
          <a:ln w="3175" cmpd="sng">
            <a:solidFill>
              <a:schemeClr val="tx1"/>
            </a:solidFill>
            <a:miter lim="800000"/>
            <a:headEnd/>
            <a:tailEnd/>
          </a:ln>
        </p:spPr>
      </p:pic>
    </p:spTree>
    <p:extLst>
      <p:ext uri="{BB962C8B-B14F-4D97-AF65-F5344CB8AC3E}">
        <p14:creationId xmlns:p14="http://schemas.microsoft.com/office/powerpoint/2010/main" val="2451376551"/>
      </p:ext>
    </p:extLst>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r>
              <a:rPr lang="zh-CN" altLang="en-US" dirty="0"/>
              <a:t>软件安全漏洞</a:t>
            </a:r>
            <a:endParaRPr lang="zh-CN" altLang="en-US" dirty="0">
              <a:latin typeface="Times New Roman" pitchFamily="18" charset="0"/>
            </a:endParaRPr>
          </a:p>
        </p:txBody>
      </p:sp>
      <p:sp>
        <p:nvSpPr>
          <p:cNvPr id="53251" name="AutoShape 3"/>
          <p:cNvSpPr>
            <a:spLocks noChangeArrowheads="1"/>
          </p:cNvSpPr>
          <p:nvPr/>
        </p:nvSpPr>
        <p:spPr bwMode="auto">
          <a:xfrm flipH="1">
            <a:off x="250825" y="2484438"/>
            <a:ext cx="73025" cy="144462"/>
          </a:xfrm>
          <a:prstGeom prst="octagon">
            <a:avLst>
              <a:gd name="adj" fmla="val 29287"/>
            </a:avLst>
          </a:prstGeom>
          <a:solidFill>
            <a:schemeClr val="bg1"/>
          </a:solidFill>
          <a:ln w="9525">
            <a:noFill/>
            <a:miter lim="800000"/>
            <a:headEnd/>
            <a:tailEnd/>
          </a:ln>
        </p:spPr>
        <p:txBody>
          <a:bodyPr wrap="none" anchor="ctr"/>
          <a:lstStyle/>
          <a:p>
            <a:endParaRPr lang="zh-CN" altLang="en-US"/>
          </a:p>
        </p:txBody>
      </p:sp>
      <p:sp>
        <p:nvSpPr>
          <p:cNvPr id="110596" name="Rectangle 4"/>
          <p:cNvSpPr>
            <a:spLocks noGrp="1" noChangeArrowheads="1"/>
          </p:cNvSpPr>
          <p:nvPr>
            <p:ph type="body" idx="1"/>
          </p:nvPr>
        </p:nvSpPr>
        <p:spPr>
          <a:xfrm>
            <a:off x="506413" y="1398099"/>
            <a:ext cx="8229600" cy="4589462"/>
          </a:xfrm>
          <a:noFill/>
        </p:spPr>
        <p:txBody>
          <a:bodyPr/>
          <a:lstStyle/>
          <a:p>
            <a:r>
              <a:rPr lang="zh-CN" altLang="en-US" dirty="0"/>
              <a:t>在系统的设计、开发过程中有如下因素会导致系统、软件漏洞：</a:t>
            </a:r>
          </a:p>
          <a:p>
            <a:pPr lvl="1"/>
            <a:r>
              <a:rPr lang="zh-CN" altLang="en-US" dirty="0"/>
              <a:t>系统基础设计错误导致漏洞 </a:t>
            </a:r>
          </a:p>
          <a:p>
            <a:pPr lvl="1"/>
            <a:r>
              <a:rPr lang="zh-CN" altLang="en-US" dirty="0"/>
              <a:t>编码错误导致漏洞 </a:t>
            </a:r>
          </a:p>
          <a:p>
            <a:pPr lvl="1"/>
            <a:r>
              <a:rPr lang="zh-CN" altLang="en-US" dirty="0"/>
              <a:t>安全策略实施错误导致漏洞 </a:t>
            </a:r>
          </a:p>
          <a:p>
            <a:pPr lvl="1"/>
            <a:r>
              <a:rPr lang="zh-CN" altLang="en-US" dirty="0"/>
              <a:t>实施安全策略对象歧义导致漏洞 </a:t>
            </a:r>
          </a:p>
          <a:p>
            <a:pPr lvl="1"/>
            <a:r>
              <a:rPr lang="zh-CN" altLang="en-US" dirty="0"/>
              <a:t>系统设计／实施时相关人员刻意留下后门 </a:t>
            </a:r>
          </a:p>
          <a:p>
            <a:pPr lvl="1"/>
            <a:endParaRPr lang="en-US" altLang="zh-CN" dirty="0"/>
          </a:p>
          <a:p>
            <a:endParaRPr lang="en-US" altLang="zh-CN" dirty="0"/>
          </a:p>
        </p:txBody>
      </p:sp>
    </p:spTree>
    <p:extLst>
      <p:ext uri="{BB962C8B-B14F-4D97-AF65-F5344CB8AC3E}">
        <p14:creationId xmlns:p14="http://schemas.microsoft.com/office/powerpoint/2010/main" val="961431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110596">
                                            <p:txEl>
                                              <p:pRg st="0" end="0"/>
                                            </p:txEl>
                                          </p:spTgt>
                                        </p:tgtEl>
                                        <p:attrNameLst>
                                          <p:attrName>style.visibility</p:attrName>
                                        </p:attrNameLst>
                                      </p:cBhvr>
                                      <p:to>
                                        <p:strVal val="visible"/>
                                      </p:to>
                                    </p:set>
                                    <p:anim calcmode="lin" valueType="num">
                                      <p:cBhvr>
                                        <p:cTn id="7" dur="1000" fill="hold"/>
                                        <p:tgtEl>
                                          <p:spTgt spid="110596">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110596">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110596">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110596">
                                            <p:txEl>
                                              <p:pRg st="1" end="1"/>
                                            </p:txEl>
                                          </p:spTgt>
                                        </p:tgtEl>
                                        <p:attrNameLst>
                                          <p:attrName>style.visibility</p:attrName>
                                        </p:attrNameLst>
                                      </p:cBhvr>
                                      <p:to>
                                        <p:strVal val="visible"/>
                                      </p:to>
                                    </p:set>
                                    <p:anim calcmode="lin" valueType="num">
                                      <p:cBhvr>
                                        <p:cTn id="14" dur="1000" fill="hold"/>
                                        <p:tgtEl>
                                          <p:spTgt spid="110596">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110596">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110596">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grpId="0" nodeType="clickEffect">
                                  <p:stCondLst>
                                    <p:cond delay="0"/>
                                  </p:stCondLst>
                                  <p:childTnLst>
                                    <p:set>
                                      <p:cBhvr>
                                        <p:cTn id="20" dur="1" fill="hold">
                                          <p:stCondLst>
                                            <p:cond delay="0"/>
                                          </p:stCondLst>
                                        </p:cTn>
                                        <p:tgtEl>
                                          <p:spTgt spid="110596">
                                            <p:txEl>
                                              <p:pRg st="2" end="2"/>
                                            </p:txEl>
                                          </p:spTgt>
                                        </p:tgtEl>
                                        <p:attrNameLst>
                                          <p:attrName>style.visibility</p:attrName>
                                        </p:attrNameLst>
                                      </p:cBhvr>
                                      <p:to>
                                        <p:strVal val="visible"/>
                                      </p:to>
                                    </p:set>
                                    <p:anim calcmode="lin" valueType="num">
                                      <p:cBhvr>
                                        <p:cTn id="21" dur="1000" fill="hold"/>
                                        <p:tgtEl>
                                          <p:spTgt spid="110596">
                                            <p:txEl>
                                              <p:pRg st="2" end="2"/>
                                            </p:txEl>
                                          </p:spTgt>
                                        </p:tgtEl>
                                        <p:attrNameLst>
                                          <p:attrName>ppt_w</p:attrName>
                                        </p:attrNameLst>
                                      </p:cBhvr>
                                      <p:tavLst>
                                        <p:tav tm="0">
                                          <p:val>
                                            <p:strVal val="#ppt_w*0.70"/>
                                          </p:val>
                                        </p:tav>
                                        <p:tav tm="100000">
                                          <p:val>
                                            <p:strVal val="#ppt_w"/>
                                          </p:val>
                                        </p:tav>
                                      </p:tavLst>
                                    </p:anim>
                                    <p:anim calcmode="lin" valueType="num">
                                      <p:cBhvr>
                                        <p:cTn id="22" dur="1000" fill="hold"/>
                                        <p:tgtEl>
                                          <p:spTgt spid="110596">
                                            <p:txEl>
                                              <p:pRg st="2" end="2"/>
                                            </p:txEl>
                                          </p:spTgt>
                                        </p:tgtEl>
                                        <p:attrNameLst>
                                          <p:attrName>ppt_h</p:attrName>
                                        </p:attrNameLst>
                                      </p:cBhvr>
                                      <p:tavLst>
                                        <p:tav tm="0">
                                          <p:val>
                                            <p:strVal val="#ppt_h"/>
                                          </p:val>
                                        </p:tav>
                                        <p:tav tm="100000">
                                          <p:val>
                                            <p:strVal val="#ppt_h"/>
                                          </p:val>
                                        </p:tav>
                                      </p:tavLst>
                                    </p:anim>
                                    <p:animEffect transition="in" filter="fade">
                                      <p:cBhvr>
                                        <p:cTn id="23" dur="1000"/>
                                        <p:tgtEl>
                                          <p:spTgt spid="110596">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grpId="0" nodeType="clickEffect">
                                  <p:stCondLst>
                                    <p:cond delay="0"/>
                                  </p:stCondLst>
                                  <p:childTnLst>
                                    <p:set>
                                      <p:cBhvr>
                                        <p:cTn id="27" dur="1" fill="hold">
                                          <p:stCondLst>
                                            <p:cond delay="0"/>
                                          </p:stCondLst>
                                        </p:cTn>
                                        <p:tgtEl>
                                          <p:spTgt spid="110596">
                                            <p:txEl>
                                              <p:pRg st="3" end="3"/>
                                            </p:txEl>
                                          </p:spTgt>
                                        </p:tgtEl>
                                        <p:attrNameLst>
                                          <p:attrName>style.visibility</p:attrName>
                                        </p:attrNameLst>
                                      </p:cBhvr>
                                      <p:to>
                                        <p:strVal val="visible"/>
                                      </p:to>
                                    </p:set>
                                    <p:anim calcmode="lin" valueType="num">
                                      <p:cBhvr>
                                        <p:cTn id="28" dur="1000" fill="hold"/>
                                        <p:tgtEl>
                                          <p:spTgt spid="110596">
                                            <p:txEl>
                                              <p:pRg st="3" end="3"/>
                                            </p:txEl>
                                          </p:spTgt>
                                        </p:tgtEl>
                                        <p:attrNameLst>
                                          <p:attrName>ppt_w</p:attrName>
                                        </p:attrNameLst>
                                      </p:cBhvr>
                                      <p:tavLst>
                                        <p:tav tm="0">
                                          <p:val>
                                            <p:strVal val="#ppt_w*0.70"/>
                                          </p:val>
                                        </p:tav>
                                        <p:tav tm="100000">
                                          <p:val>
                                            <p:strVal val="#ppt_w"/>
                                          </p:val>
                                        </p:tav>
                                      </p:tavLst>
                                    </p:anim>
                                    <p:anim calcmode="lin" valueType="num">
                                      <p:cBhvr>
                                        <p:cTn id="29" dur="1000" fill="hold"/>
                                        <p:tgtEl>
                                          <p:spTgt spid="110596">
                                            <p:txEl>
                                              <p:pRg st="3" end="3"/>
                                            </p:txEl>
                                          </p:spTgt>
                                        </p:tgtEl>
                                        <p:attrNameLst>
                                          <p:attrName>ppt_h</p:attrName>
                                        </p:attrNameLst>
                                      </p:cBhvr>
                                      <p:tavLst>
                                        <p:tav tm="0">
                                          <p:val>
                                            <p:strVal val="#ppt_h"/>
                                          </p:val>
                                        </p:tav>
                                        <p:tav tm="100000">
                                          <p:val>
                                            <p:strVal val="#ppt_h"/>
                                          </p:val>
                                        </p:tav>
                                      </p:tavLst>
                                    </p:anim>
                                    <p:animEffect transition="in" filter="fade">
                                      <p:cBhvr>
                                        <p:cTn id="30" dur="1000"/>
                                        <p:tgtEl>
                                          <p:spTgt spid="110596">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5" presetClass="entr" presetSubtype="0" fill="hold" grpId="0" nodeType="clickEffect">
                                  <p:stCondLst>
                                    <p:cond delay="0"/>
                                  </p:stCondLst>
                                  <p:childTnLst>
                                    <p:set>
                                      <p:cBhvr>
                                        <p:cTn id="34" dur="1" fill="hold">
                                          <p:stCondLst>
                                            <p:cond delay="0"/>
                                          </p:stCondLst>
                                        </p:cTn>
                                        <p:tgtEl>
                                          <p:spTgt spid="110596">
                                            <p:txEl>
                                              <p:pRg st="4" end="4"/>
                                            </p:txEl>
                                          </p:spTgt>
                                        </p:tgtEl>
                                        <p:attrNameLst>
                                          <p:attrName>style.visibility</p:attrName>
                                        </p:attrNameLst>
                                      </p:cBhvr>
                                      <p:to>
                                        <p:strVal val="visible"/>
                                      </p:to>
                                    </p:set>
                                    <p:anim calcmode="lin" valueType="num">
                                      <p:cBhvr>
                                        <p:cTn id="35" dur="1000" fill="hold"/>
                                        <p:tgtEl>
                                          <p:spTgt spid="110596">
                                            <p:txEl>
                                              <p:pRg st="4" end="4"/>
                                            </p:txEl>
                                          </p:spTgt>
                                        </p:tgtEl>
                                        <p:attrNameLst>
                                          <p:attrName>ppt_w</p:attrName>
                                        </p:attrNameLst>
                                      </p:cBhvr>
                                      <p:tavLst>
                                        <p:tav tm="0">
                                          <p:val>
                                            <p:strVal val="#ppt_w*0.70"/>
                                          </p:val>
                                        </p:tav>
                                        <p:tav tm="100000">
                                          <p:val>
                                            <p:strVal val="#ppt_w"/>
                                          </p:val>
                                        </p:tav>
                                      </p:tavLst>
                                    </p:anim>
                                    <p:anim calcmode="lin" valueType="num">
                                      <p:cBhvr>
                                        <p:cTn id="36" dur="1000" fill="hold"/>
                                        <p:tgtEl>
                                          <p:spTgt spid="110596">
                                            <p:txEl>
                                              <p:pRg st="4" end="4"/>
                                            </p:txEl>
                                          </p:spTgt>
                                        </p:tgtEl>
                                        <p:attrNameLst>
                                          <p:attrName>ppt_h</p:attrName>
                                        </p:attrNameLst>
                                      </p:cBhvr>
                                      <p:tavLst>
                                        <p:tav tm="0">
                                          <p:val>
                                            <p:strVal val="#ppt_h"/>
                                          </p:val>
                                        </p:tav>
                                        <p:tav tm="100000">
                                          <p:val>
                                            <p:strVal val="#ppt_h"/>
                                          </p:val>
                                        </p:tav>
                                      </p:tavLst>
                                    </p:anim>
                                    <p:animEffect transition="in" filter="fade">
                                      <p:cBhvr>
                                        <p:cTn id="37" dur="1000"/>
                                        <p:tgtEl>
                                          <p:spTgt spid="110596">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5" presetClass="entr" presetSubtype="0" fill="hold" grpId="0" nodeType="clickEffect">
                                  <p:stCondLst>
                                    <p:cond delay="0"/>
                                  </p:stCondLst>
                                  <p:childTnLst>
                                    <p:set>
                                      <p:cBhvr>
                                        <p:cTn id="41" dur="1" fill="hold">
                                          <p:stCondLst>
                                            <p:cond delay="0"/>
                                          </p:stCondLst>
                                        </p:cTn>
                                        <p:tgtEl>
                                          <p:spTgt spid="110596">
                                            <p:txEl>
                                              <p:pRg st="5" end="5"/>
                                            </p:txEl>
                                          </p:spTgt>
                                        </p:tgtEl>
                                        <p:attrNameLst>
                                          <p:attrName>style.visibility</p:attrName>
                                        </p:attrNameLst>
                                      </p:cBhvr>
                                      <p:to>
                                        <p:strVal val="visible"/>
                                      </p:to>
                                    </p:set>
                                    <p:anim calcmode="lin" valueType="num">
                                      <p:cBhvr>
                                        <p:cTn id="42" dur="1000" fill="hold"/>
                                        <p:tgtEl>
                                          <p:spTgt spid="110596">
                                            <p:txEl>
                                              <p:pRg st="5" end="5"/>
                                            </p:txEl>
                                          </p:spTgt>
                                        </p:tgtEl>
                                        <p:attrNameLst>
                                          <p:attrName>ppt_w</p:attrName>
                                        </p:attrNameLst>
                                      </p:cBhvr>
                                      <p:tavLst>
                                        <p:tav tm="0">
                                          <p:val>
                                            <p:strVal val="#ppt_w*0.70"/>
                                          </p:val>
                                        </p:tav>
                                        <p:tav tm="100000">
                                          <p:val>
                                            <p:strVal val="#ppt_w"/>
                                          </p:val>
                                        </p:tav>
                                      </p:tavLst>
                                    </p:anim>
                                    <p:anim calcmode="lin" valueType="num">
                                      <p:cBhvr>
                                        <p:cTn id="43" dur="1000" fill="hold"/>
                                        <p:tgtEl>
                                          <p:spTgt spid="110596">
                                            <p:txEl>
                                              <p:pRg st="5" end="5"/>
                                            </p:txEl>
                                          </p:spTgt>
                                        </p:tgtEl>
                                        <p:attrNameLst>
                                          <p:attrName>ppt_h</p:attrName>
                                        </p:attrNameLst>
                                      </p:cBhvr>
                                      <p:tavLst>
                                        <p:tav tm="0">
                                          <p:val>
                                            <p:strVal val="#ppt_h"/>
                                          </p:val>
                                        </p:tav>
                                        <p:tav tm="100000">
                                          <p:val>
                                            <p:strVal val="#ppt_h"/>
                                          </p:val>
                                        </p:tav>
                                      </p:tavLst>
                                    </p:anim>
                                    <p:animEffect transition="in" filter="fade">
                                      <p:cBhvr>
                                        <p:cTn id="44" dur="1000"/>
                                        <p:tgtEl>
                                          <p:spTgt spid="11059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6" grpId="0" build="p"/>
    </p:bldLst>
  </p:timing>
</p:sld>
</file>

<file path=ppt/slides/slide1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r>
              <a:rPr lang="zh-CN" altLang="en-US" dirty="0"/>
              <a:t>软件安全漏洞</a:t>
            </a:r>
            <a:endParaRPr lang="zh-CN" altLang="en-US" dirty="0">
              <a:latin typeface="Times New Roman" pitchFamily="18" charset="0"/>
            </a:endParaRPr>
          </a:p>
        </p:txBody>
      </p:sp>
      <p:sp>
        <p:nvSpPr>
          <p:cNvPr id="54275" name="AutoShape 3"/>
          <p:cNvSpPr>
            <a:spLocks noChangeArrowheads="1"/>
          </p:cNvSpPr>
          <p:nvPr/>
        </p:nvSpPr>
        <p:spPr bwMode="auto">
          <a:xfrm flipH="1">
            <a:off x="250825" y="2484438"/>
            <a:ext cx="73025" cy="144462"/>
          </a:xfrm>
          <a:prstGeom prst="octagon">
            <a:avLst>
              <a:gd name="adj" fmla="val 29287"/>
            </a:avLst>
          </a:prstGeom>
          <a:solidFill>
            <a:schemeClr val="bg1"/>
          </a:solidFill>
          <a:ln w="9525">
            <a:noFill/>
            <a:miter lim="800000"/>
            <a:headEnd/>
            <a:tailEnd/>
          </a:ln>
        </p:spPr>
        <p:txBody>
          <a:bodyPr wrap="none" anchor="ctr"/>
          <a:lstStyle/>
          <a:p>
            <a:endParaRPr lang="zh-CN" altLang="en-US"/>
          </a:p>
        </p:txBody>
      </p:sp>
      <p:sp>
        <p:nvSpPr>
          <p:cNvPr id="112644" name="Rectangle 4"/>
          <p:cNvSpPr>
            <a:spLocks noGrp="1" noChangeArrowheads="1"/>
          </p:cNvSpPr>
          <p:nvPr>
            <p:ph type="body" idx="1"/>
          </p:nvPr>
        </p:nvSpPr>
        <p:spPr>
          <a:xfrm>
            <a:off x="525902" y="1295962"/>
            <a:ext cx="8229600" cy="5090770"/>
          </a:xfrm>
          <a:noFill/>
        </p:spPr>
        <p:txBody>
          <a:bodyPr/>
          <a:lstStyle/>
          <a:p>
            <a:r>
              <a:rPr lang="zh-CN" altLang="en-US" dirty="0"/>
              <a:t>漏洞不仅存在，而且层出不穷，</a:t>
            </a:r>
            <a:r>
              <a:rPr lang="en-US" altLang="zh-CN" dirty="0">
                <a:solidFill>
                  <a:srgbClr val="FF3300"/>
                </a:solidFill>
              </a:rPr>
              <a:t>Why?</a:t>
            </a:r>
            <a:endParaRPr lang="zh-CN" altLang="en-US" dirty="0">
              <a:solidFill>
                <a:srgbClr val="FF3300"/>
              </a:solidFill>
            </a:endParaRPr>
          </a:p>
          <a:p>
            <a:pPr lvl="1"/>
            <a:r>
              <a:rPr lang="zh-CN" altLang="en-US" dirty="0"/>
              <a:t>方案的设计可能存在缺陷 </a:t>
            </a:r>
          </a:p>
          <a:p>
            <a:pPr lvl="1"/>
            <a:r>
              <a:rPr lang="zh-CN" altLang="en-US" dirty="0"/>
              <a:t>从理论上证明一个程序的正确性是非常困难的 </a:t>
            </a:r>
          </a:p>
          <a:p>
            <a:pPr lvl="1"/>
            <a:r>
              <a:rPr lang="zh-CN" altLang="en-US" dirty="0"/>
              <a:t>一些产品测试不足，匆匆投入市场 </a:t>
            </a:r>
          </a:p>
          <a:p>
            <a:pPr lvl="1"/>
            <a:r>
              <a:rPr lang="zh-CN" altLang="en-US" dirty="0"/>
              <a:t>为了缩短研制时间，厂商常常将安全性置于次要地位 </a:t>
            </a:r>
          </a:p>
          <a:p>
            <a:pPr lvl="1"/>
            <a:r>
              <a:rPr lang="zh-CN" altLang="en-US" dirty="0"/>
              <a:t>系统中运行的应用程序越来越多，相应的漏洞也就不可避免地越来越多 </a:t>
            </a:r>
          </a:p>
          <a:p>
            <a:pPr lvl="1"/>
            <a:endParaRPr lang="en-US" altLang="zh-CN" dirty="0"/>
          </a:p>
          <a:p>
            <a:endParaRPr lang="en-US" altLang="zh-CN" dirty="0"/>
          </a:p>
        </p:txBody>
      </p:sp>
    </p:spTree>
    <p:extLst>
      <p:ext uri="{BB962C8B-B14F-4D97-AF65-F5344CB8AC3E}">
        <p14:creationId xmlns:p14="http://schemas.microsoft.com/office/powerpoint/2010/main" val="99374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112644">
                                            <p:txEl>
                                              <p:pRg st="0" end="0"/>
                                            </p:txEl>
                                          </p:spTgt>
                                        </p:tgtEl>
                                        <p:attrNameLst>
                                          <p:attrName>style.visibility</p:attrName>
                                        </p:attrNameLst>
                                      </p:cBhvr>
                                      <p:to>
                                        <p:strVal val="visible"/>
                                      </p:to>
                                    </p:set>
                                    <p:anim calcmode="lin" valueType="num">
                                      <p:cBhvr>
                                        <p:cTn id="7" dur="1000" fill="hold"/>
                                        <p:tgtEl>
                                          <p:spTgt spid="112644">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112644">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112644">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112644">
                                            <p:txEl>
                                              <p:pRg st="1" end="1"/>
                                            </p:txEl>
                                          </p:spTgt>
                                        </p:tgtEl>
                                        <p:attrNameLst>
                                          <p:attrName>style.visibility</p:attrName>
                                        </p:attrNameLst>
                                      </p:cBhvr>
                                      <p:to>
                                        <p:strVal val="visible"/>
                                      </p:to>
                                    </p:set>
                                    <p:anim calcmode="lin" valueType="num">
                                      <p:cBhvr>
                                        <p:cTn id="14" dur="1000" fill="hold"/>
                                        <p:tgtEl>
                                          <p:spTgt spid="112644">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112644">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112644">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grpId="0" nodeType="clickEffect">
                                  <p:stCondLst>
                                    <p:cond delay="0"/>
                                  </p:stCondLst>
                                  <p:childTnLst>
                                    <p:set>
                                      <p:cBhvr>
                                        <p:cTn id="20" dur="1" fill="hold">
                                          <p:stCondLst>
                                            <p:cond delay="0"/>
                                          </p:stCondLst>
                                        </p:cTn>
                                        <p:tgtEl>
                                          <p:spTgt spid="112644">
                                            <p:txEl>
                                              <p:pRg st="2" end="2"/>
                                            </p:txEl>
                                          </p:spTgt>
                                        </p:tgtEl>
                                        <p:attrNameLst>
                                          <p:attrName>style.visibility</p:attrName>
                                        </p:attrNameLst>
                                      </p:cBhvr>
                                      <p:to>
                                        <p:strVal val="visible"/>
                                      </p:to>
                                    </p:set>
                                    <p:anim calcmode="lin" valueType="num">
                                      <p:cBhvr>
                                        <p:cTn id="21" dur="1000" fill="hold"/>
                                        <p:tgtEl>
                                          <p:spTgt spid="112644">
                                            <p:txEl>
                                              <p:pRg st="2" end="2"/>
                                            </p:txEl>
                                          </p:spTgt>
                                        </p:tgtEl>
                                        <p:attrNameLst>
                                          <p:attrName>ppt_w</p:attrName>
                                        </p:attrNameLst>
                                      </p:cBhvr>
                                      <p:tavLst>
                                        <p:tav tm="0">
                                          <p:val>
                                            <p:strVal val="#ppt_w*0.70"/>
                                          </p:val>
                                        </p:tav>
                                        <p:tav tm="100000">
                                          <p:val>
                                            <p:strVal val="#ppt_w"/>
                                          </p:val>
                                        </p:tav>
                                      </p:tavLst>
                                    </p:anim>
                                    <p:anim calcmode="lin" valueType="num">
                                      <p:cBhvr>
                                        <p:cTn id="22" dur="1000" fill="hold"/>
                                        <p:tgtEl>
                                          <p:spTgt spid="112644">
                                            <p:txEl>
                                              <p:pRg st="2" end="2"/>
                                            </p:txEl>
                                          </p:spTgt>
                                        </p:tgtEl>
                                        <p:attrNameLst>
                                          <p:attrName>ppt_h</p:attrName>
                                        </p:attrNameLst>
                                      </p:cBhvr>
                                      <p:tavLst>
                                        <p:tav tm="0">
                                          <p:val>
                                            <p:strVal val="#ppt_h"/>
                                          </p:val>
                                        </p:tav>
                                        <p:tav tm="100000">
                                          <p:val>
                                            <p:strVal val="#ppt_h"/>
                                          </p:val>
                                        </p:tav>
                                      </p:tavLst>
                                    </p:anim>
                                    <p:animEffect transition="in" filter="fade">
                                      <p:cBhvr>
                                        <p:cTn id="23" dur="1000"/>
                                        <p:tgtEl>
                                          <p:spTgt spid="112644">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grpId="0" nodeType="clickEffect">
                                  <p:stCondLst>
                                    <p:cond delay="0"/>
                                  </p:stCondLst>
                                  <p:childTnLst>
                                    <p:set>
                                      <p:cBhvr>
                                        <p:cTn id="27" dur="1" fill="hold">
                                          <p:stCondLst>
                                            <p:cond delay="0"/>
                                          </p:stCondLst>
                                        </p:cTn>
                                        <p:tgtEl>
                                          <p:spTgt spid="112644">
                                            <p:txEl>
                                              <p:pRg st="3" end="3"/>
                                            </p:txEl>
                                          </p:spTgt>
                                        </p:tgtEl>
                                        <p:attrNameLst>
                                          <p:attrName>style.visibility</p:attrName>
                                        </p:attrNameLst>
                                      </p:cBhvr>
                                      <p:to>
                                        <p:strVal val="visible"/>
                                      </p:to>
                                    </p:set>
                                    <p:anim calcmode="lin" valueType="num">
                                      <p:cBhvr>
                                        <p:cTn id="28" dur="1000" fill="hold"/>
                                        <p:tgtEl>
                                          <p:spTgt spid="112644">
                                            <p:txEl>
                                              <p:pRg st="3" end="3"/>
                                            </p:txEl>
                                          </p:spTgt>
                                        </p:tgtEl>
                                        <p:attrNameLst>
                                          <p:attrName>ppt_w</p:attrName>
                                        </p:attrNameLst>
                                      </p:cBhvr>
                                      <p:tavLst>
                                        <p:tav tm="0">
                                          <p:val>
                                            <p:strVal val="#ppt_w*0.70"/>
                                          </p:val>
                                        </p:tav>
                                        <p:tav tm="100000">
                                          <p:val>
                                            <p:strVal val="#ppt_w"/>
                                          </p:val>
                                        </p:tav>
                                      </p:tavLst>
                                    </p:anim>
                                    <p:anim calcmode="lin" valueType="num">
                                      <p:cBhvr>
                                        <p:cTn id="29" dur="1000" fill="hold"/>
                                        <p:tgtEl>
                                          <p:spTgt spid="112644">
                                            <p:txEl>
                                              <p:pRg st="3" end="3"/>
                                            </p:txEl>
                                          </p:spTgt>
                                        </p:tgtEl>
                                        <p:attrNameLst>
                                          <p:attrName>ppt_h</p:attrName>
                                        </p:attrNameLst>
                                      </p:cBhvr>
                                      <p:tavLst>
                                        <p:tav tm="0">
                                          <p:val>
                                            <p:strVal val="#ppt_h"/>
                                          </p:val>
                                        </p:tav>
                                        <p:tav tm="100000">
                                          <p:val>
                                            <p:strVal val="#ppt_h"/>
                                          </p:val>
                                        </p:tav>
                                      </p:tavLst>
                                    </p:anim>
                                    <p:animEffect transition="in" filter="fade">
                                      <p:cBhvr>
                                        <p:cTn id="30" dur="1000"/>
                                        <p:tgtEl>
                                          <p:spTgt spid="112644">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5" presetClass="entr" presetSubtype="0" fill="hold" grpId="0" nodeType="clickEffect">
                                  <p:stCondLst>
                                    <p:cond delay="0"/>
                                  </p:stCondLst>
                                  <p:childTnLst>
                                    <p:set>
                                      <p:cBhvr>
                                        <p:cTn id="34" dur="1" fill="hold">
                                          <p:stCondLst>
                                            <p:cond delay="0"/>
                                          </p:stCondLst>
                                        </p:cTn>
                                        <p:tgtEl>
                                          <p:spTgt spid="112644">
                                            <p:txEl>
                                              <p:pRg st="4" end="4"/>
                                            </p:txEl>
                                          </p:spTgt>
                                        </p:tgtEl>
                                        <p:attrNameLst>
                                          <p:attrName>style.visibility</p:attrName>
                                        </p:attrNameLst>
                                      </p:cBhvr>
                                      <p:to>
                                        <p:strVal val="visible"/>
                                      </p:to>
                                    </p:set>
                                    <p:anim calcmode="lin" valueType="num">
                                      <p:cBhvr>
                                        <p:cTn id="35" dur="1000" fill="hold"/>
                                        <p:tgtEl>
                                          <p:spTgt spid="112644">
                                            <p:txEl>
                                              <p:pRg st="4" end="4"/>
                                            </p:txEl>
                                          </p:spTgt>
                                        </p:tgtEl>
                                        <p:attrNameLst>
                                          <p:attrName>ppt_w</p:attrName>
                                        </p:attrNameLst>
                                      </p:cBhvr>
                                      <p:tavLst>
                                        <p:tav tm="0">
                                          <p:val>
                                            <p:strVal val="#ppt_w*0.70"/>
                                          </p:val>
                                        </p:tav>
                                        <p:tav tm="100000">
                                          <p:val>
                                            <p:strVal val="#ppt_w"/>
                                          </p:val>
                                        </p:tav>
                                      </p:tavLst>
                                    </p:anim>
                                    <p:anim calcmode="lin" valueType="num">
                                      <p:cBhvr>
                                        <p:cTn id="36" dur="1000" fill="hold"/>
                                        <p:tgtEl>
                                          <p:spTgt spid="112644">
                                            <p:txEl>
                                              <p:pRg st="4" end="4"/>
                                            </p:txEl>
                                          </p:spTgt>
                                        </p:tgtEl>
                                        <p:attrNameLst>
                                          <p:attrName>ppt_h</p:attrName>
                                        </p:attrNameLst>
                                      </p:cBhvr>
                                      <p:tavLst>
                                        <p:tav tm="0">
                                          <p:val>
                                            <p:strVal val="#ppt_h"/>
                                          </p:val>
                                        </p:tav>
                                        <p:tav tm="100000">
                                          <p:val>
                                            <p:strVal val="#ppt_h"/>
                                          </p:val>
                                        </p:tav>
                                      </p:tavLst>
                                    </p:anim>
                                    <p:animEffect transition="in" filter="fade">
                                      <p:cBhvr>
                                        <p:cTn id="37" dur="1000"/>
                                        <p:tgtEl>
                                          <p:spTgt spid="112644">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5" presetClass="entr" presetSubtype="0" fill="hold" grpId="0" nodeType="clickEffect">
                                  <p:stCondLst>
                                    <p:cond delay="0"/>
                                  </p:stCondLst>
                                  <p:childTnLst>
                                    <p:set>
                                      <p:cBhvr>
                                        <p:cTn id="41" dur="1" fill="hold">
                                          <p:stCondLst>
                                            <p:cond delay="0"/>
                                          </p:stCondLst>
                                        </p:cTn>
                                        <p:tgtEl>
                                          <p:spTgt spid="112644">
                                            <p:txEl>
                                              <p:pRg st="5" end="5"/>
                                            </p:txEl>
                                          </p:spTgt>
                                        </p:tgtEl>
                                        <p:attrNameLst>
                                          <p:attrName>style.visibility</p:attrName>
                                        </p:attrNameLst>
                                      </p:cBhvr>
                                      <p:to>
                                        <p:strVal val="visible"/>
                                      </p:to>
                                    </p:set>
                                    <p:anim calcmode="lin" valueType="num">
                                      <p:cBhvr>
                                        <p:cTn id="42" dur="1000" fill="hold"/>
                                        <p:tgtEl>
                                          <p:spTgt spid="112644">
                                            <p:txEl>
                                              <p:pRg st="5" end="5"/>
                                            </p:txEl>
                                          </p:spTgt>
                                        </p:tgtEl>
                                        <p:attrNameLst>
                                          <p:attrName>ppt_w</p:attrName>
                                        </p:attrNameLst>
                                      </p:cBhvr>
                                      <p:tavLst>
                                        <p:tav tm="0">
                                          <p:val>
                                            <p:strVal val="#ppt_w*0.70"/>
                                          </p:val>
                                        </p:tav>
                                        <p:tav tm="100000">
                                          <p:val>
                                            <p:strVal val="#ppt_w"/>
                                          </p:val>
                                        </p:tav>
                                      </p:tavLst>
                                    </p:anim>
                                    <p:anim calcmode="lin" valueType="num">
                                      <p:cBhvr>
                                        <p:cTn id="43" dur="1000" fill="hold"/>
                                        <p:tgtEl>
                                          <p:spTgt spid="112644">
                                            <p:txEl>
                                              <p:pRg st="5" end="5"/>
                                            </p:txEl>
                                          </p:spTgt>
                                        </p:tgtEl>
                                        <p:attrNameLst>
                                          <p:attrName>ppt_h</p:attrName>
                                        </p:attrNameLst>
                                      </p:cBhvr>
                                      <p:tavLst>
                                        <p:tav tm="0">
                                          <p:val>
                                            <p:strVal val="#ppt_h"/>
                                          </p:val>
                                        </p:tav>
                                        <p:tav tm="100000">
                                          <p:val>
                                            <p:strVal val="#ppt_h"/>
                                          </p:val>
                                        </p:tav>
                                      </p:tavLst>
                                    </p:anim>
                                    <p:animEffect transition="in" filter="fade">
                                      <p:cBhvr>
                                        <p:cTn id="44" dur="1000"/>
                                        <p:tgtEl>
                                          <p:spTgt spid="11264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4" grpId="0" build="p"/>
    </p:bldLst>
  </p:timing>
</p:sld>
</file>

<file path=ppt/slides/slide1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1401660" y="172372"/>
            <a:ext cx="5987281" cy="958850"/>
          </a:xfrm>
        </p:spPr>
        <p:txBody>
          <a:bodyPr/>
          <a:lstStyle/>
          <a:p>
            <a:r>
              <a:rPr lang="zh-CN" altLang="en-US" dirty="0"/>
              <a:t>软件安全漏洞</a:t>
            </a:r>
            <a:endParaRPr lang="zh-CN" altLang="en-US" dirty="0">
              <a:latin typeface="Times New Roman" pitchFamily="18" charset="0"/>
            </a:endParaRPr>
          </a:p>
        </p:txBody>
      </p:sp>
      <p:sp>
        <p:nvSpPr>
          <p:cNvPr id="54275" name="AutoShape 3"/>
          <p:cNvSpPr>
            <a:spLocks noChangeArrowheads="1"/>
          </p:cNvSpPr>
          <p:nvPr/>
        </p:nvSpPr>
        <p:spPr bwMode="auto">
          <a:xfrm flipH="1">
            <a:off x="250825" y="2484438"/>
            <a:ext cx="73025" cy="144462"/>
          </a:xfrm>
          <a:prstGeom prst="octagon">
            <a:avLst>
              <a:gd name="adj" fmla="val 29287"/>
            </a:avLst>
          </a:prstGeom>
          <a:solidFill>
            <a:schemeClr val="bg1"/>
          </a:solidFill>
          <a:ln w="9525">
            <a:noFill/>
            <a:miter lim="800000"/>
            <a:headEnd/>
            <a:tailEnd/>
          </a:ln>
        </p:spPr>
        <p:txBody>
          <a:bodyPr wrap="none" anchor="ctr"/>
          <a:lstStyle/>
          <a:p>
            <a:endParaRPr lang="zh-CN" altLang="en-US"/>
          </a:p>
        </p:txBody>
      </p:sp>
      <p:sp>
        <p:nvSpPr>
          <p:cNvPr id="112644" name="Rectangle 4"/>
          <p:cNvSpPr>
            <a:spLocks noGrp="1" noChangeArrowheads="1"/>
          </p:cNvSpPr>
          <p:nvPr>
            <p:ph type="body" idx="1"/>
          </p:nvPr>
        </p:nvSpPr>
        <p:spPr>
          <a:xfrm>
            <a:off x="583535" y="1313887"/>
            <a:ext cx="8229600" cy="4998423"/>
          </a:xfrm>
          <a:noFill/>
        </p:spPr>
        <p:txBody>
          <a:bodyPr/>
          <a:lstStyle/>
          <a:p>
            <a:r>
              <a:rPr lang="zh-CN" altLang="en-US" b="0" dirty="0"/>
              <a:t>漏洞不仅存在，而且层出不穷，</a:t>
            </a:r>
            <a:r>
              <a:rPr lang="en-US" altLang="zh-CN" b="0" dirty="0">
                <a:solidFill>
                  <a:srgbClr val="FF3300"/>
                </a:solidFill>
              </a:rPr>
              <a:t>Why?</a:t>
            </a:r>
            <a:endParaRPr lang="zh-CN" altLang="en-US" b="0" dirty="0">
              <a:solidFill>
                <a:srgbClr val="FF3300"/>
              </a:solidFill>
            </a:endParaRPr>
          </a:p>
          <a:p>
            <a:pPr lvl="1"/>
            <a:endParaRPr lang="en-US" altLang="zh-CN" b="0" dirty="0"/>
          </a:p>
          <a:p>
            <a:endParaRPr lang="en-US" altLang="zh-CN" b="0" dirty="0"/>
          </a:p>
        </p:txBody>
      </p:sp>
      <p:pic>
        <p:nvPicPr>
          <p:cNvPr id="3" name="图片 2"/>
          <p:cNvPicPr>
            <a:picLocks noChangeAspect="1"/>
          </p:cNvPicPr>
          <p:nvPr/>
        </p:nvPicPr>
        <p:blipFill>
          <a:blip r:embed="rId3"/>
          <a:stretch>
            <a:fillRect/>
          </a:stretch>
        </p:blipFill>
        <p:spPr>
          <a:xfrm>
            <a:off x="5948620" y="5907497"/>
            <a:ext cx="3124200" cy="809625"/>
          </a:xfrm>
          <a:prstGeom prst="rect">
            <a:avLst/>
          </a:prstGeom>
        </p:spPr>
      </p:pic>
      <p:pic>
        <p:nvPicPr>
          <p:cNvPr id="4" name="图片 3"/>
          <p:cNvPicPr>
            <a:picLocks noChangeAspect="1"/>
          </p:cNvPicPr>
          <p:nvPr/>
        </p:nvPicPr>
        <p:blipFill>
          <a:blip r:embed="rId4"/>
          <a:stretch>
            <a:fillRect/>
          </a:stretch>
        </p:blipFill>
        <p:spPr>
          <a:xfrm>
            <a:off x="930991" y="1960206"/>
            <a:ext cx="6457950" cy="4057650"/>
          </a:xfrm>
          <a:prstGeom prst="rect">
            <a:avLst/>
          </a:prstGeom>
        </p:spPr>
      </p:pic>
    </p:spTree>
    <p:extLst>
      <p:ext uri="{BB962C8B-B14F-4D97-AF65-F5344CB8AC3E}">
        <p14:creationId xmlns:p14="http://schemas.microsoft.com/office/powerpoint/2010/main" val="3123679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112644">
                                            <p:txEl>
                                              <p:pRg st="0" end="0"/>
                                            </p:txEl>
                                          </p:spTgt>
                                        </p:tgtEl>
                                        <p:attrNameLst>
                                          <p:attrName>style.visibility</p:attrName>
                                        </p:attrNameLst>
                                      </p:cBhvr>
                                      <p:to>
                                        <p:strVal val="visible"/>
                                      </p:to>
                                    </p:set>
                                    <p:anim calcmode="lin" valueType="num">
                                      <p:cBhvr>
                                        <p:cTn id="7" dur="1000" fill="hold"/>
                                        <p:tgtEl>
                                          <p:spTgt spid="112644">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112644">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11264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4" grpId="0" build="p"/>
    </p:bldLst>
  </p:timing>
</p:sld>
</file>

<file path=ppt/slides/slide1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1401660" y="172372"/>
            <a:ext cx="5987281" cy="958850"/>
          </a:xfrm>
        </p:spPr>
        <p:txBody>
          <a:bodyPr/>
          <a:lstStyle/>
          <a:p>
            <a:r>
              <a:rPr lang="zh-CN" altLang="en-US" dirty="0"/>
              <a:t>软件安全漏洞</a:t>
            </a:r>
            <a:endParaRPr lang="zh-CN" altLang="en-US" dirty="0">
              <a:latin typeface="Times New Roman" pitchFamily="18" charset="0"/>
            </a:endParaRPr>
          </a:p>
        </p:txBody>
      </p:sp>
      <p:sp>
        <p:nvSpPr>
          <p:cNvPr id="54275" name="AutoShape 3"/>
          <p:cNvSpPr>
            <a:spLocks noChangeArrowheads="1"/>
          </p:cNvSpPr>
          <p:nvPr/>
        </p:nvSpPr>
        <p:spPr bwMode="auto">
          <a:xfrm flipH="1">
            <a:off x="250825" y="2484438"/>
            <a:ext cx="73025" cy="144462"/>
          </a:xfrm>
          <a:prstGeom prst="octagon">
            <a:avLst>
              <a:gd name="adj" fmla="val 29287"/>
            </a:avLst>
          </a:prstGeom>
          <a:solidFill>
            <a:schemeClr val="bg1"/>
          </a:solidFill>
          <a:ln w="9525">
            <a:noFill/>
            <a:miter lim="800000"/>
            <a:headEnd/>
            <a:tailEnd/>
          </a:ln>
        </p:spPr>
        <p:txBody>
          <a:bodyPr wrap="none" anchor="ctr"/>
          <a:lstStyle/>
          <a:p>
            <a:endParaRPr lang="zh-CN" altLang="en-US"/>
          </a:p>
        </p:txBody>
      </p:sp>
      <p:sp>
        <p:nvSpPr>
          <p:cNvPr id="112644" name="Rectangle 4"/>
          <p:cNvSpPr>
            <a:spLocks noGrp="1" noChangeArrowheads="1"/>
          </p:cNvSpPr>
          <p:nvPr>
            <p:ph type="body" idx="1"/>
          </p:nvPr>
        </p:nvSpPr>
        <p:spPr>
          <a:xfrm>
            <a:off x="583535" y="1313887"/>
            <a:ext cx="8229600" cy="4998423"/>
          </a:xfrm>
          <a:noFill/>
        </p:spPr>
        <p:txBody>
          <a:bodyPr/>
          <a:lstStyle/>
          <a:p>
            <a:r>
              <a:rPr lang="zh-CN" altLang="en-US" b="0" dirty="0"/>
              <a:t>漏洞不仅存在，而且层出不穷，</a:t>
            </a:r>
            <a:r>
              <a:rPr lang="en-US" altLang="zh-CN" b="0" dirty="0">
                <a:solidFill>
                  <a:srgbClr val="FF3300"/>
                </a:solidFill>
              </a:rPr>
              <a:t>Why?</a:t>
            </a:r>
            <a:endParaRPr lang="zh-CN" altLang="en-US" b="0" dirty="0">
              <a:solidFill>
                <a:srgbClr val="FF3300"/>
              </a:solidFill>
            </a:endParaRPr>
          </a:p>
          <a:p>
            <a:pPr lvl="1"/>
            <a:endParaRPr lang="en-US" altLang="zh-CN" b="0" dirty="0"/>
          </a:p>
          <a:p>
            <a:endParaRPr lang="en-US" altLang="zh-CN" b="0" dirty="0"/>
          </a:p>
        </p:txBody>
      </p:sp>
      <p:pic>
        <p:nvPicPr>
          <p:cNvPr id="2" name="图片 1"/>
          <p:cNvPicPr>
            <a:picLocks noChangeAspect="1"/>
          </p:cNvPicPr>
          <p:nvPr/>
        </p:nvPicPr>
        <p:blipFill>
          <a:blip r:embed="rId3"/>
          <a:stretch>
            <a:fillRect/>
          </a:stretch>
        </p:blipFill>
        <p:spPr>
          <a:xfrm>
            <a:off x="154910" y="2190585"/>
            <a:ext cx="8658225" cy="3895725"/>
          </a:xfrm>
          <a:prstGeom prst="rect">
            <a:avLst/>
          </a:prstGeom>
        </p:spPr>
      </p:pic>
      <p:pic>
        <p:nvPicPr>
          <p:cNvPr id="3" name="图片 2"/>
          <p:cNvPicPr>
            <a:picLocks noChangeAspect="1"/>
          </p:cNvPicPr>
          <p:nvPr/>
        </p:nvPicPr>
        <p:blipFill>
          <a:blip r:embed="rId4"/>
          <a:stretch>
            <a:fillRect/>
          </a:stretch>
        </p:blipFill>
        <p:spPr>
          <a:xfrm>
            <a:off x="5948620" y="5907497"/>
            <a:ext cx="3124200" cy="809625"/>
          </a:xfrm>
          <a:prstGeom prst="rect">
            <a:avLst/>
          </a:prstGeom>
        </p:spPr>
      </p:pic>
    </p:spTree>
    <p:extLst>
      <p:ext uri="{BB962C8B-B14F-4D97-AF65-F5344CB8AC3E}">
        <p14:creationId xmlns:p14="http://schemas.microsoft.com/office/powerpoint/2010/main" val="2404174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112644">
                                            <p:txEl>
                                              <p:pRg st="0" end="0"/>
                                            </p:txEl>
                                          </p:spTgt>
                                        </p:tgtEl>
                                        <p:attrNameLst>
                                          <p:attrName>style.visibility</p:attrName>
                                        </p:attrNameLst>
                                      </p:cBhvr>
                                      <p:to>
                                        <p:strVal val="visible"/>
                                      </p:to>
                                    </p:set>
                                    <p:anim calcmode="lin" valueType="num">
                                      <p:cBhvr>
                                        <p:cTn id="7" dur="1000" fill="hold"/>
                                        <p:tgtEl>
                                          <p:spTgt spid="112644">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112644">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11264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4" grpId="0" build="p"/>
    </p:bldLst>
  </p:timing>
</p:sld>
</file>

<file path=ppt/slides/slide1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zh-CN" altLang="en-US" dirty="0"/>
              <a:t>软件安全漏洞</a:t>
            </a:r>
            <a:endParaRPr lang="en-US" altLang="zh-CN" dirty="0">
              <a:latin typeface="Times New Roman" pitchFamily="18" charset="0"/>
            </a:endParaRPr>
          </a:p>
        </p:txBody>
      </p:sp>
      <p:sp>
        <p:nvSpPr>
          <p:cNvPr id="55299" name="AutoShape 3"/>
          <p:cNvSpPr>
            <a:spLocks noChangeArrowheads="1"/>
          </p:cNvSpPr>
          <p:nvPr/>
        </p:nvSpPr>
        <p:spPr bwMode="auto">
          <a:xfrm flipH="1">
            <a:off x="250825" y="2484438"/>
            <a:ext cx="73025" cy="144462"/>
          </a:xfrm>
          <a:prstGeom prst="octagon">
            <a:avLst>
              <a:gd name="adj" fmla="val 29287"/>
            </a:avLst>
          </a:prstGeom>
          <a:solidFill>
            <a:schemeClr val="bg1"/>
          </a:solidFill>
          <a:ln w="9525">
            <a:noFill/>
            <a:miter lim="800000"/>
            <a:headEnd/>
            <a:tailEnd/>
          </a:ln>
        </p:spPr>
        <p:txBody>
          <a:bodyPr wrap="none" anchor="ctr"/>
          <a:lstStyle/>
          <a:p>
            <a:endParaRPr lang="zh-CN" altLang="en-US"/>
          </a:p>
        </p:txBody>
      </p:sp>
      <p:sp>
        <p:nvSpPr>
          <p:cNvPr id="114692" name="Rectangle 4"/>
          <p:cNvSpPr>
            <a:spLocks noGrp="1" noChangeArrowheads="1"/>
          </p:cNvSpPr>
          <p:nvPr>
            <p:ph type="body" idx="1"/>
          </p:nvPr>
        </p:nvSpPr>
        <p:spPr>
          <a:xfrm>
            <a:off x="568545" y="1228334"/>
            <a:ext cx="8083085" cy="5102128"/>
          </a:xfrm>
          <a:noFill/>
        </p:spPr>
        <p:txBody>
          <a:bodyPr/>
          <a:lstStyle/>
          <a:p>
            <a:pPr>
              <a:lnSpc>
                <a:spcPts val="4000"/>
              </a:lnSpc>
              <a:spcBef>
                <a:spcPts val="0"/>
              </a:spcBef>
            </a:pPr>
            <a:r>
              <a:rPr lang="zh-CN" altLang="en-US" sz="2800" dirty="0"/>
              <a:t>打补丁不是万能的，</a:t>
            </a:r>
            <a:r>
              <a:rPr lang="en-US" altLang="zh-CN" sz="2800" dirty="0">
                <a:solidFill>
                  <a:srgbClr val="FF3300"/>
                </a:solidFill>
              </a:rPr>
              <a:t>Why?</a:t>
            </a:r>
            <a:endParaRPr lang="zh-CN" altLang="en-US" sz="2800" dirty="0">
              <a:solidFill>
                <a:srgbClr val="FF3300"/>
              </a:solidFill>
            </a:endParaRPr>
          </a:p>
          <a:p>
            <a:pPr lvl="1">
              <a:lnSpc>
                <a:spcPts val="4000"/>
              </a:lnSpc>
              <a:spcBef>
                <a:spcPts val="0"/>
              </a:spcBef>
            </a:pPr>
            <a:r>
              <a:rPr lang="zh-CN" altLang="en-US" sz="2400" dirty="0"/>
              <a:t>由于漏洞太多，相应的补丁也太多，补不胜补 </a:t>
            </a:r>
          </a:p>
          <a:p>
            <a:pPr lvl="1">
              <a:lnSpc>
                <a:spcPts val="4000"/>
              </a:lnSpc>
              <a:spcBef>
                <a:spcPts val="0"/>
              </a:spcBef>
            </a:pPr>
            <a:r>
              <a:rPr lang="zh-CN" altLang="en-US" sz="2400" dirty="0"/>
              <a:t>有的补丁会使某些已有功能不能使用，导致拒绝服务 </a:t>
            </a:r>
          </a:p>
          <a:p>
            <a:pPr lvl="1">
              <a:lnSpc>
                <a:spcPts val="4000"/>
              </a:lnSpc>
              <a:spcBef>
                <a:spcPts val="0"/>
              </a:spcBef>
            </a:pPr>
            <a:r>
              <a:rPr lang="zh-CN" altLang="en-US" sz="2400" dirty="0"/>
              <a:t>有时补丁并非厂商们所宣称的那样解决问题 </a:t>
            </a:r>
          </a:p>
          <a:p>
            <a:pPr lvl="1">
              <a:lnSpc>
                <a:spcPts val="4000"/>
              </a:lnSpc>
              <a:spcBef>
                <a:spcPts val="0"/>
              </a:spcBef>
            </a:pPr>
            <a:r>
              <a:rPr lang="zh-CN" altLang="en-US" sz="2400" dirty="0"/>
              <a:t>很多补丁一经打上，就不能卸载，如果发现补丁因为这样或那样的原因不合适，就只好把整个软件卸载，然后重新安装，非常麻烦 </a:t>
            </a:r>
          </a:p>
          <a:p>
            <a:pPr lvl="1">
              <a:lnSpc>
                <a:spcPts val="4000"/>
              </a:lnSpc>
              <a:spcBef>
                <a:spcPts val="0"/>
              </a:spcBef>
            </a:pPr>
            <a:r>
              <a:rPr lang="zh-CN" altLang="en-US" sz="2400" dirty="0"/>
              <a:t>漏洞的发现到补丁的发布有一段时间差，此外，漏洞也可能被某些人发现而未被公开，这样就没有相应的补丁可用 </a:t>
            </a:r>
          </a:p>
          <a:p>
            <a:pPr lvl="1">
              <a:lnSpc>
                <a:spcPts val="4000"/>
              </a:lnSpc>
              <a:spcBef>
                <a:spcPts val="0"/>
              </a:spcBef>
            </a:pPr>
            <a:endParaRPr lang="en-US" altLang="zh-CN" dirty="0"/>
          </a:p>
          <a:p>
            <a:pPr>
              <a:lnSpc>
                <a:spcPts val="4000"/>
              </a:lnSpc>
              <a:spcBef>
                <a:spcPts val="0"/>
              </a:spcBef>
            </a:pPr>
            <a:endParaRPr lang="en-US" altLang="zh-CN" sz="2800" dirty="0"/>
          </a:p>
        </p:txBody>
      </p:sp>
    </p:spTree>
    <p:extLst>
      <p:ext uri="{BB962C8B-B14F-4D97-AF65-F5344CB8AC3E}">
        <p14:creationId xmlns:p14="http://schemas.microsoft.com/office/powerpoint/2010/main" val="367176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114692">
                                            <p:txEl>
                                              <p:pRg st="0" end="0"/>
                                            </p:txEl>
                                          </p:spTgt>
                                        </p:tgtEl>
                                        <p:attrNameLst>
                                          <p:attrName>style.visibility</p:attrName>
                                        </p:attrNameLst>
                                      </p:cBhvr>
                                      <p:to>
                                        <p:strVal val="visible"/>
                                      </p:to>
                                    </p:set>
                                    <p:anim calcmode="lin" valueType="num">
                                      <p:cBhvr>
                                        <p:cTn id="7" dur="1000" fill="hold"/>
                                        <p:tgtEl>
                                          <p:spTgt spid="114692">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114692">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114692">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114692">
                                            <p:txEl>
                                              <p:pRg st="1" end="1"/>
                                            </p:txEl>
                                          </p:spTgt>
                                        </p:tgtEl>
                                        <p:attrNameLst>
                                          <p:attrName>style.visibility</p:attrName>
                                        </p:attrNameLst>
                                      </p:cBhvr>
                                      <p:to>
                                        <p:strVal val="visible"/>
                                      </p:to>
                                    </p:set>
                                    <p:anim calcmode="lin" valueType="num">
                                      <p:cBhvr>
                                        <p:cTn id="14" dur="1000" fill="hold"/>
                                        <p:tgtEl>
                                          <p:spTgt spid="114692">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114692">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114692">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grpId="0" nodeType="clickEffect">
                                  <p:stCondLst>
                                    <p:cond delay="0"/>
                                  </p:stCondLst>
                                  <p:childTnLst>
                                    <p:set>
                                      <p:cBhvr>
                                        <p:cTn id="20" dur="1" fill="hold">
                                          <p:stCondLst>
                                            <p:cond delay="0"/>
                                          </p:stCondLst>
                                        </p:cTn>
                                        <p:tgtEl>
                                          <p:spTgt spid="114692">
                                            <p:txEl>
                                              <p:pRg st="2" end="2"/>
                                            </p:txEl>
                                          </p:spTgt>
                                        </p:tgtEl>
                                        <p:attrNameLst>
                                          <p:attrName>style.visibility</p:attrName>
                                        </p:attrNameLst>
                                      </p:cBhvr>
                                      <p:to>
                                        <p:strVal val="visible"/>
                                      </p:to>
                                    </p:set>
                                    <p:anim calcmode="lin" valueType="num">
                                      <p:cBhvr>
                                        <p:cTn id="21" dur="1000" fill="hold"/>
                                        <p:tgtEl>
                                          <p:spTgt spid="114692">
                                            <p:txEl>
                                              <p:pRg st="2" end="2"/>
                                            </p:txEl>
                                          </p:spTgt>
                                        </p:tgtEl>
                                        <p:attrNameLst>
                                          <p:attrName>ppt_w</p:attrName>
                                        </p:attrNameLst>
                                      </p:cBhvr>
                                      <p:tavLst>
                                        <p:tav tm="0">
                                          <p:val>
                                            <p:strVal val="#ppt_w*0.70"/>
                                          </p:val>
                                        </p:tav>
                                        <p:tav tm="100000">
                                          <p:val>
                                            <p:strVal val="#ppt_w"/>
                                          </p:val>
                                        </p:tav>
                                      </p:tavLst>
                                    </p:anim>
                                    <p:anim calcmode="lin" valueType="num">
                                      <p:cBhvr>
                                        <p:cTn id="22" dur="1000" fill="hold"/>
                                        <p:tgtEl>
                                          <p:spTgt spid="114692">
                                            <p:txEl>
                                              <p:pRg st="2" end="2"/>
                                            </p:txEl>
                                          </p:spTgt>
                                        </p:tgtEl>
                                        <p:attrNameLst>
                                          <p:attrName>ppt_h</p:attrName>
                                        </p:attrNameLst>
                                      </p:cBhvr>
                                      <p:tavLst>
                                        <p:tav tm="0">
                                          <p:val>
                                            <p:strVal val="#ppt_h"/>
                                          </p:val>
                                        </p:tav>
                                        <p:tav tm="100000">
                                          <p:val>
                                            <p:strVal val="#ppt_h"/>
                                          </p:val>
                                        </p:tav>
                                      </p:tavLst>
                                    </p:anim>
                                    <p:animEffect transition="in" filter="fade">
                                      <p:cBhvr>
                                        <p:cTn id="23" dur="1000"/>
                                        <p:tgtEl>
                                          <p:spTgt spid="114692">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grpId="0" nodeType="clickEffect">
                                  <p:stCondLst>
                                    <p:cond delay="0"/>
                                  </p:stCondLst>
                                  <p:childTnLst>
                                    <p:set>
                                      <p:cBhvr>
                                        <p:cTn id="27" dur="1" fill="hold">
                                          <p:stCondLst>
                                            <p:cond delay="0"/>
                                          </p:stCondLst>
                                        </p:cTn>
                                        <p:tgtEl>
                                          <p:spTgt spid="114692">
                                            <p:txEl>
                                              <p:pRg st="3" end="3"/>
                                            </p:txEl>
                                          </p:spTgt>
                                        </p:tgtEl>
                                        <p:attrNameLst>
                                          <p:attrName>style.visibility</p:attrName>
                                        </p:attrNameLst>
                                      </p:cBhvr>
                                      <p:to>
                                        <p:strVal val="visible"/>
                                      </p:to>
                                    </p:set>
                                    <p:anim calcmode="lin" valueType="num">
                                      <p:cBhvr>
                                        <p:cTn id="28" dur="1000" fill="hold"/>
                                        <p:tgtEl>
                                          <p:spTgt spid="114692">
                                            <p:txEl>
                                              <p:pRg st="3" end="3"/>
                                            </p:txEl>
                                          </p:spTgt>
                                        </p:tgtEl>
                                        <p:attrNameLst>
                                          <p:attrName>ppt_w</p:attrName>
                                        </p:attrNameLst>
                                      </p:cBhvr>
                                      <p:tavLst>
                                        <p:tav tm="0">
                                          <p:val>
                                            <p:strVal val="#ppt_w*0.70"/>
                                          </p:val>
                                        </p:tav>
                                        <p:tav tm="100000">
                                          <p:val>
                                            <p:strVal val="#ppt_w"/>
                                          </p:val>
                                        </p:tav>
                                      </p:tavLst>
                                    </p:anim>
                                    <p:anim calcmode="lin" valueType="num">
                                      <p:cBhvr>
                                        <p:cTn id="29" dur="1000" fill="hold"/>
                                        <p:tgtEl>
                                          <p:spTgt spid="114692">
                                            <p:txEl>
                                              <p:pRg st="3" end="3"/>
                                            </p:txEl>
                                          </p:spTgt>
                                        </p:tgtEl>
                                        <p:attrNameLst>
                                          <p:attrName>ppt_h</p:attrName>
                                        </p:attrNameLst>
                                      </p:cBhvr>
                                      <p:tavLst>
                                        <p:tav tm="0">
                                          <p:val>
                                            <p:strVal val="#ppt_h"/>
                                          </p:val>
                                        </p:tav>
                                        <p:tav tm="100000">
                                          <p:val>
                                            <p:strVal val="#ppt_h"/>
                                          </p:val>
                                        </p:tav>
                                      </p:tavLst>
                                    </p:anim>
                                    <p:animEffect transition="in" filter="fade">
                                      <p:cBhvr>
                                        <p:cTn id="30" dur="1000"/>
                                        <p:tgtEl>
                                          <p:spTgt spid="114692">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5" presetClass="entr" presetSubtype="0" fill="hold" grpId="0" nodeType="clickEffect">
                                  <p:stCondLst>
                                    <p:cond delay="0"/>
                                  </p:stCondLst>
                                  <p:childTnLst>
                                    <p:set>
                                      <p:cBhvr>
                                        <p:cTn id="34" dur="1" fill="hold">
                                          <p:stCondLst>
                                            <p:cond delay="0"/>
                                          </p:stCondLst>
                                        </p:cTn>
                                        <p:tgtEl>
                                          <p:spTgt spid="114692">
                                            <p:txEl>
                                              <p:pRg st="4" end="4"/>
                                            </p:txEl>
                                          </p:spTgt>
                                        </p:tgtEl>
                                        <p:attrNameLst>
                                          <p:attrName>style.visibility</p:attrName>
                                        </p:attrNameLst>
                                      </p:cBhvr>
                                      <p:to>
                                        <p:strVal val="visible"/>
                                      </p:to>
                                    </p:set>
                                    <p:anim calcmode="lin" valueType="num">
                                      <p:cBhvr>
                                        <p:cTn id="35" dur="1000" fill="hold"/>
                                        <p:tgtEl>
                                          <p:spTgt spid="114692">
                                            <p:txEl>
                                              <p:pRg st="4" end="4"/>
                                            </p:txEl>
                                          </p:spTgt>
                                        </p:tgtEl>
                                        <p:attrNameLst>
                                          <p:attrName>ppt_w</p:attrName>
                                        </p:attrNameLst>
                                      </p:cBhvr>
                                      <p:tavLst>
                                        <p:tav tm="0">
                                          <p:val>
                                            <p:strVal val="#ppt_w*0.70"/>
                                          </p:val>
                                        </p:tav>
                                        <p:tav tm="100000">
                                          <p:val>
                                            <p:strVal val="#ppt_w"/>
                                          </p:val>
                                        </p:tav>
                                      </p:tavLst>
                                    </p:anim>
                                    <p:anim calcmode="lin" valueType="num">
                                      <p:cBhvr>
                                        <p:cTn id="36" dur="1000" fill="hold"/>
                                        <p:tgtEl>
                                          <p:spTgt spid="114692">
                                            <p:txEl>
                                              <p:pRg st="4" end="4"/>
                                            </p:txEl>
                                          </p:spTgt>
                                        </p:tgtEl>
                                        <p:attrNameLst>
                                          <p:attrName>ppt_h</p:attrName>
                                        </p:attrNameLst>
                                      </p:cBhvr>
                                      <p:tavLst>
                                        <p:tav tm="0">
                                          <p:val>
                                            <p:strVal val="#ppt_h"/>
                                          </p:val>
                                        </p:tav>
                                        <p:tav tm="100000">
                                          <p:val>
                                            <p:strVal val="#ppt_h"/>
                                          </p:val>
                                        </p:tav>
                                      </p:tavLst>
                                    </p:anim>
                                    <p:animEffect transition="in" filter="fade">
                                      <p:cBhvr>
                                        <p:cTn id="37" dur="1000"/>
                                        <p:tgtEl>
                                          <p:spTgt spid="114692">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5" presetClass="entr" presetSubtype="0" fill="hold" grpId="0" nodeType="clickEffect">
                                  <p:stCondLst>
                                    <p:cond delay="0"/>
                                  </p:stCondLst>
                                  <p:childTnLst>
                                    <p:set>
                                      <p:cBhvr>
                                        <p:cTn id="41" dur="1" fill="hold">
                                          <p:stCondLst>
                                            <p:cond delay="0"/>
                                          </p:stCondLst>
                                        </p:cTn>
                                        <p:tgtEl>
                                          <p:spTgt spid="114692">
                                            <p:txEl>
                                              <p:pRg st="5" end="5"/>
                                            </p:txEl>
                                          </p:spTgt>
                                        </p:tgtEl>
                                        <p:attrNameLst>
                                          <p:attrName>style.visibility</p:attrName>
                                        </p:attrNameLst>
                                      </p:cBhvr>
                                      <p:to>
                                        <p:strVal val="visible"/>
                                      </p:to>
                                    </p:set>
                                    <p:anim calcmode="lin" valueType="num">
                                      <p:cBhvr>
                                        <p:cTn id="42" dur="1000" fill="hold"/>
                                        <p:tgtEl>
                                          <p:spTgt spid="114692">
                                            <p:txEl>
                                              <p:pRg st="5" end="5"/>
                                            </p:txEl>
                                          </p:spTgt>
                                        </p:tgtEl>
                                        <p:attrNameLst>
                                          <p:attrName>ppt_w</p:attrName>
                                        </p:attrNameLst>
                                      </p:cBhvr>
                                      <p:tavLst>
                                        <p:tav tm="0">
                                          <p:val>
                                            <p:strVal val="#ppt_w*0.70"/>
                                          </p:val>
                                        </p:tav>
                                        <p:tav tm="100000">
                                          <p:val>
                                            <p:strVal val="#ppt_w"/>
                                          </p:val>
                                        </p:tav>
                                      </p:tavLst>
                                    </p:anim>
                                    <p:anim calcmode="lin" valueType="num">
                                      <p:cBhvr>
                                        <p:cTn id="43" dur="1000" fill="hold"/>
                                        <p:tgtEl>
                                          <p:spTgt spid="114692">
                                            <p:txEl>
                                              <p:pRg st="5" end="5"/>
                                            </p:txEl>
                                          </p:spTgt>
                                        </p:tgtEl>
                                        <p:attrNameLst>
                                          <p:attrName>ppt_h</p:attrName>
                                        </p:attrNameLst>
                                      </p:cBhvr>
                                      <p:tavLst>
                                        <p:tav tm="0">
                                          <p:val>
                                            <p:strVal val="#ppt_h"/>
                                          </p:val>
                                        </p:tav>
                                        <p:tav tm="100000">
                                          <p:val>
                                            <p:strVal val="#ppt_h"/>
                                          </p:val>
                                        </p:tav>
                                      </p:tavLst>
                                    </p:anim>
                                    <p:animEffect transition="in" filter="fade">
                                      <p:cBhvr>
                                        <p:cTn id="44" dur="1000"/>
                                        <p:tgtEl>
                                          <p:spTgt spid="11469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2" grpId="0" build="p"/>
    </p:bldLst>
  </p:timing>
</p:sld>
</file>

<file path=ppt/slides/slide1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r>
              <a:rPr lang="zh-CN" altLang="en-US" dirty="0"/>
              <a:t>软件安全漏洞</a:t>
            </a:r>
            <a:endParaRPr lang="en-US" altLang="zh-CN" dirty="0">
              <a:latin typeface="Times New Roman" pitchFamily="18" charset="0"/>
            </a:endParaRPr>
          </a:p>
        </p:txBody>
      </p:sp>
      <p:sp>
        <p:nvSpPr>
          <p:cNvPr id="56323" name="AutoShape 3"/>
          <p:cNvSpPr>
            <a:spLocks noChangeArrowheads="1"/>
          </p:cNvSpPr>
          <p:nvPr/>
        </p:nvSpPr>
        <p:spPr bwMode="auto">
          <a:xfrm flipH="1">
            <a:off x="250825" y="2484438"/>
            <a:ext cx="73025" cy="144462"/>
          </a:xfrm>
          <a:prstGeom prst="octagon">
            <a:avLst>
              <a:gd name="adj" fmla="val 29287"/>
            </a:avLst>
          </a:prstGeom>
          <a:solidFill>
            <a:schemeClr val="bg1"/>
          </a:solidFill>
          <a:ln w="9525">
            <a:noFill/>
            <a:miter lim="800000"/>
            <a:headEnd/>
            <a:tailEnd/>
          </a:ln>
        </p:spPr>
        <p:txBody>
          <a:bodyPr wrap="none" anchor="ctr"/>
          <a:lstStyle/>
          <a:p>
            <a:endParaRPr lang="zh-CN" altLang="en-US"/>
          </a:p>
        </p:txBody>
      </p:sp>
      <p:sp>
        <p:nvSpPr>
          <p:cNvPr id="116740" name="Rectangle 4"/>
          <p:cNvSpPr>
            <a:spLocks noGrp="1" noChangeArrowheads="1"/>
          </p:cNvSpPr>
          <p:nvPr>
            <p:ph type="body" idx="1"/>
          </p:nvPr>
        </p:nvSpPr>
        <p:spPr>
          <a:xfrm>
            <a:off x="449263" y="1220788"/>
            <a:ext cx="8229600" cy="5257800"/>
          </a:xfrm>
          <a:noFill/>
        </p:spPr>
        <p:txBody>
          <a:bodyPr/>
          <a:lstStyle/>
          <a:p>
            <a:pPr>
              <a:lnSpc>
                <a:spcPts val="4300"/>
              </a:lnSpc>
              <a:spcBef>
                <a:spcPts val="0"/>
              </a:spcBef>
            </a:pPr>
            <a:r>
              <a:rPr lang="zh-CN" altLang="en-US" dirty="0"/>
              <a:t>打补丁不是万能的，</a:t>
            </a:r>
            <a:r>
              <a:rPr lang="en-US" altLang="zh-CN" dirty="0">
                <a:solidFill>
                  <a:srgbClr val="FF3300"/>
                </a:solidFill>
              </a:rPr>
              <a:t>Why?</a:t>
            </a:r>
            <a:r>
              <a:rPr lang="zh-CN" altLang="en-US" dirty="0">
                <a:solidFill>
                  <a:srgbClr val="FF3300"/>
                </a:solidFill>
              </a:rPr>
              <a:t>（</a:t>
            </a:r>
            <a:r>
              <a:rPr lang="en-US" altLang="zh-CN" dirty="0">
                <a:solidFill>
                  <a:srgbClr val="FF3300"/>
                </a:solidFill>
              </a:rPr>
              <a:t>Cont.</a:t>
            </a:r>
            <a:r>
              <a:rPr lang="zh-CN" altLang="en-US" dirty="0">
                <a:solidFill>
                  <a:srgbClr val="FF3300"/>
                </a:solidFill>
              </a:rPr>
              <a:t>）</a:t>
            </a:r>
          </a:p>
          <a:p>
            <a:pPr lvl="1">
              <a:lnSpc>
                <a:spcPts val="4300"/>
              </a:lnSpc>
              <a:spcBef>
                <a:spcPts val="0"/>
              </a:spcBef>
            </a:pPr>
            <a:r>
              <a:rPr lang="zh-CN" altLang="en-US" dirty="0"/>
              <a:t>网络、网站增长太快，没有足够的合格的补丁管理员 </a:t>
            </a:r>
          </a:p>
          <a:p>
            <a:pPr lvl="1">
              <a:lnSpc>
                <a:spcPts val="4300"/>
              </a:lnSpc>
              <a:spcBef>
                <a:spcPts val="0"/>
              </a:spcBef>
            </a:pPr>
            <a:r>
              <a:rPr lang="zh-CN" altLang="en-US" dirty="0"/>
              <a:t>有时候打补丁需要离线操作，这就意味着关闭该机器上的服务，这对很多关键的服务来说也许是致命的 </a:t>
            </a:r>
          </a:p>
          <a:p>
            <a:pPr lvl="1">
              <a:lnSpc>
                <a:spcPts val="4300"/>
              </a:lnSpc>
              <a:spcBef>
                <a:spcPts val="0"/>
              </a:spcBef>
            </a:pPr>
            <a:r>
              <a:rPr lang="zh-CN" altLang="en-US" dirty="0"/>
              <a:t>有时补丁并非总是可以获得，特别是对于那些应用范围不广的系统，生产厂商可能没有足够的时间、精力和动机去开发补丁程序 </a:t>
            </a:r>
          </a:p>
          <a:p>
            <a:pPr lvl="1">
              <a:lnSpc>
                <a:spcPts val="4300"/>
              </a:lnSpc>
              <a:spcBef>
                <a:spcPts val="0"/>
              </a:spcBef>
            </a:pPr>
            <a:endParaRPr lang="en-US" altLang="zh-CN" sz="2000" dirty="0"/>
          </a:p>
          <a:p>
            <a:pPr>
              <a:lnSpc>
                <a:spcPts val="4300"/>
              </a:lnSpc>
              <a:spcBef>
                <a:spcPts val="0"/>
              </a:spcBef>
            </a:pPr>
            <a:endParaRPr lang="en-US" altLang="zh-CN" sz="2400" dirty="0"/>
          </a:p>
        </p:txBody>
      </p:sp>
    </p:spTree>
    <p:extLst>
      <p:ext uri="{BB962C8B-B14F-4D97-AF65-F5344CB8AC3E}">
        <p14:creationId xmlns:p14="http://schemas.microsoft.com/office/powerpoint/2010/main" val="1458010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116740">
                                            <p:txEl>
                                              <p:pRg st="0" end="0"/>
                                            </p:txEl>
                                          </p:spTgt>
                                        </p:tgtEl>
                                        <p:attrNameLst>
                                          <p:attrName>style.visibility</p:attrName>
                                        </p:attrNameLst>
                                      </p:cBhvr>
                                      <p:to>
                                        <p:strVal val="visible"/>
                                      </p:to>
                                    </p:set>
                                    <p:anim calcmode="lin" valueType="num">
                                      <p:cBhvr>
                                        <p:cTn id="7" dur="1000" fill="hold"/>
                                        <p:tgtEl>
                                          <p:spTgt spid="116740">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116740">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116740">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116740">
                                            <p:txEl>
                                              <p:pRg st="1" end="1"/>
                                            </p:txEl>
                                          </p:spTgt>
                                        </p:tgtEl>
                                        <p:attrNameLst>
                                          <p:attrName>style.visibility</p:attrName>
                                        </p:attrNameLst>
                                      </p:cBhvr>
                                      <p:to>
                                        <p:strVal val="visible"/>
                                      </p:to>
                                    </p:set>
                                    <p:anim calcmode="lin" valueType="num">
                                      <p:cBhvr>
                                        <p:cTn id="14" dur="1000" fill="hold"/>
                                        <p:tgtEl>
                                          <p:spTgt spid="116740">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116740">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116740">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grpId="0" nodeType="clickEffect">
                                  <p:stCondLst>
                                    <p:cond delay="0"/>
                                  </p:stCondLst>
                                  <p:childTnLst>
                                    <p:set>
                                      <p:cBhvr>
                                        <p:cTn id="20" dur="1" fill="hold">
                                          <p:stCondLst>
                                            <p:cond delay="0"/>
                                          </p:stCondLst>
                                        </p:cTn>
                                        <p:tgtEl>
                                          <p:spTgt spid="116740">
                                            <p:txEl>
                                              <p:pRg st="2" end="2"/>
                                            </p:txEl>
                                          </p:spTgt>
                                        </p:tgtEl>
                                        <p:attrNameLst>
                                          <p:attrName>style.visibility</p:attrName>
                                        </p:attrNameLst>
                                      </p:cBhvr>
                                      <p:to>
                                        <p:strVal val="visible"/>
                                      </p:to>
                                    </p:set>
                                    <p:anim calcmode="lin" valueType="num">
                                      <p:cBhvr>
                                        <p:cTn id="21" dur="1000" fill="hold"/>
                                        <p:tgtEl>
                                          <p:spTgt spid="116740">
                                            <p:txEl>
                                              <p:pRg st="2" end="2"/>
                                            </p:txEl>
                                          </p:spTgt>
                                        </p:tgtEl>
                                        <p:attrNameLst>
                                          <p:attrName>ppt_w</p:attrName>
                                        </p:attrNameLst>
                                      </p:cBhvr>
                                      <p:tavLst>
                                        <p:tav tm="0">
                                          <p:val>
                                            <p:strVal val="#ppt_w*0.70"/>
                                          </p:val>
                                        </p:tav>
                                        <p:tav tm="100000">
                                          <p:val>
                                            <p:strVal val="#ppt_w"/>
                                          </p:val>
                                        </p:tav>
                                      </p:tavLst>
                                    </p:anim>
                                    <p:anim calcmode="lin" valueType="num">
                                      <p:cBhvr>
                                        <p:cTn id="22" dur="1000" fill="hold"/>
                                        <p:tgtEl>
                                          <p:spTgt spid="116740">
                                            <p:txEl>
                                              <p:pRg st="2" end="2"/>
                                            </p:txEl>
                                          </p:spTgt>
                                        </p:tgtEl>
                                        <p:attrNameLst>
                                          <p:attrName>ppt_h</p:attrName>
                                        </p:attrNameLst>
                                      </p:cBhvr>
                                      <p:tavLst>
                                        <p:tav tm="0">
                                          <p:val>
                                            <p:strVal val="#ppt_h"/>
                                          </p:val>
                                        </p:tav>
                                        <p:tav tm="100000">
                                          <p:val>
                                            <p:strVal val="#ppt_h"/>
                                          </p:val>
                                        </p:tav>
                                      </p:tavLst>
                                    </p:anim>
                                    <p:animEffect transition="in" filter="fade">
                                      <p:cBhvr>
                                        <p:cTn id="23" dur="1000"/>
                                        <p:tgtEl>
                                          <p:spTgt spid="116740">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grpId="0" nodeType="clickEffect">
                                  <p:stCondLst>
                                    <p:cond delay="0"/>
                                  </p:stCondLst>
                                  <p:childTnLst>
                                    <p:set>
                                      <p:cBhvr>
                                        <p:cTn id="27" dur="1" fill="hold">
                                          <p:stCondLst>
                                            <p:cond delay="0"/>
                                          </p:stCondLst>
                                        </p:cTn>
                                        <p:tgtEl>
                                          <p:spTgt spid="116740">
                                            <p:txEl>
                                              <p:pRg st="3" end="3"/>
                                            </p:txEl>
                                          </p:spTgt>
                                        </p:tgtEl>
                                        <p:attrNameLst>
                                          <p:attrName>style.visibility</p:attrName>
                                        </p:attrNameLst>
                                      </p:cBhvr>
                                      <p:to>
                                        <p:strVal val="visible"/>
                                      </p:to>
                                    </p:set>
                                    <p:anim calcmode="lin" valueType="num">
                                      <p:cBhvr>
                                        <p:cTn id="28" dur="1000" fill="hold"/>
                                        <p:tgtEl>
                                          <p:spTgt spid="116740">
                                            <p:txEl>
                                              <p:pRg st="3" end="3"/>
                                            </p:txEl>
                                          </p:spTgt>
                                        </p:tgtEl>
                                        <p:attrNameLst>
                                          <p:attrName>ppt_w</p:attrName>
                                        </p:attrNameLst>
                                      </p:cBhvr>
                                      <p:tavLst>
                                        <p:tav tm="0">
                                          <p:val>
                                            <p:strVal val="#ppt_w*0.70"/>
                                          </p:val>
                                        </p:tav>
                                        <p:tav tm="100000">
                                          <p:val>
                                            <p:strVal val="#ppt_w"/>
                                          </p:val>
                                        </p:tav>
                                      </p:tavLst>
                                    </p:anim>
                                    <p:anim calcmode="lin" valueType="num">
                                      <p:cBhvr>
                                        <p:cTn id="29" dur="1000" fill="hold"/>
                                        <p:tgtEl>
                                          <p:spTgt spid="116740">
                                            <p:txEl>
                                              <p:pRg st="3" end="3"/>
                                            </p:txEl>
                                          </p:spTgt>
                                        </p:tgtEl>
                                        <p:attrNameLst>
                                          <p:attrName>ppt_h</p:attrName>
                                        </p:attrNameLst>
                                      </p:cBhvr>
                                      <p:tavLst>
                                        <p:tav tm="0">
                                          <p:val>
                                            <p:strVal val="#ppt_h"/>
                                          </p:val>
                                        </p:tav>
                                        <p:tav tm="100000">
                                          <p:val>
                                            <p:strVal val="#ppt_h"/>
                                          </p:val>
                                        </p:tav>
                                      </p:tavLst>
                                    </p:anim>
                                    <p:animEffect transition="in" filter="fade">
                                      <p:cBhvr>
                                        <p:cTn id="30" dur="1000"/>
                                        <p:tgtEl>
                                          <p:spTgt spid="11674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40" grpId="0" build="p"/>
    </p:bldLst>
  </p:timing>
</p:sld>
</file>

<file path=ppt/slides/slide1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r>
              <a:rPr lang="zh-CN" altLang="en-US" dirty="0"/>
              <a:t>软件安全漏洞</a:t>
            </a:r>
            <a:endParaRPr lang="en-US" altLang="zh-CN" dirty="0">
              <a:latin typeface="Times New Roman" pitchFamily="18" charset="0"/>
            </a:endParaRPr>
          </a:p>
        </p:txBody>
      </p:sp>
      <p:sp>
        <p:nvSpPr>
          <p:cNvPr id="56323" name="AutoShape 3"/>
          <p:cNvSpPr>
            <a:spLocks noChangeArrowheads="1"/>
          </p:cNvSpPr>
          <p:nvPr/>
        </p:nvSpPr>
        <p:spPr bwMode="auto">
          <a:xfrm flipH="1">
            <a:off x="250825" y="2484438"/>
            <a:ext cx="73025" cy="144462"/>
          </a:xfrm>
          <a:prstGeom prst="octagon">
            <a:avLst>
              <a:gd name="adj" fmla="val 29287"/>
            </a:avLst>
          </a:prstGeom>
          <a:solidFill>
            <a:schemeClr val="bg1"/>
          </a:solidFill>
          <a:ln w="9525">
            <a:noFill/>
            <a:miter lim="800000"/>
            <a:headEnd/>
            <a:tailEnd/>
          </a:ln>
        </p:spPr>
        <p:txBody>
          <a:bodyPr wrap="none" anchor="ctr"/>
          <a:lstStyle/>
          <a:p>
            <a:endParaRPr lang="zh-CN" altLang="en-US"/>
          </a:p>
        </p:txBody>
      </p:sp>
      <p:sp>
        <p:nvSpPr>
          <p:cNvPr id="116740" name="Rectangle 4"/>
          <p:cNvSpPr>
            <a:spLocks noGrp="1" noChangeArrowheads="1"/>
          </p:cNvSpPr>
          <p:nvPr>
            <p:ph type="body" idx="1"/>
          </p:nvPr>
        </p:nvSpPr>
        <p:spPr>
          <a:xfrm>
            <a:off x="533669" y="1375533"/>
            <a:ext cx="8229600" cy="4659507"/>
          </a:xfrm>
          <a:noFill/>
        </p:spPr>
        <p:txBody>
          <a:bodyPr/>
          <a:lstStyle/>
          <a:p>
            <a:pPr>
              <a:lnSpc>
                <a:spcPts val="4000"/>
              </a:lnSpc>
              <a:spcBef>
                <a:spcPts val="0"/>
              </a:spcBef>
            </a:pPr>
            <a:r>
              <a:rPr lang="zh-CN" altLang="en-US" dirty="0"/>
              <a:t>打补丁不是万能的，</a:t>
            </a:r>
            <a:r>
              <a:rPr lang="en-US" altLang="zh-CN" dirty="0">
                <a:solidFill>
                  <a:srgbClr val="FF3300"/>
                </a:solidFill>
              </a:rPr>
              <a:t>Why?</a:t>
            </a:r>
            <a:r>
              <a:rPr lang="zh-CN" altLang="en-US" dirty="0">
                <a:solidFill>
                  <a:srgbClr val="FF3300"/>
                </a:solidFill>
              </a:rPr>
              <a:t>（</a:t>
            </a:r>
            <a:r>
              <a:rPr lang="en-US" altLang="zh-CN" dirty="0">
                <a:solidFill>
                  <a:srgbClr val="FF3300"/>
                </a:solidFill>
              </a:rPr>
              <a:t>Cont.</a:t>
            </a:r>
            <a:r>
              <a:rPr lang="zh-CN" altLang="en-US" dirty="0">
                <a:solidFill>
                  <a:srgbClr val="FF3300"/>
                </a:solidFill>
              </a:rPr>
              <a:t>）</a:t>
            </a:r>
          </a:p>
          <a:p>
            <a:pPr lvl="1">
              <a:lnSpc>
                <a:spcPts val="4000"/>
              </a:lnSpc>
              <a:spcBef>
                <a:spcPts val="0"/>
              </a:spcBef>
            </a:pPr>
            <a:r>
              <a:rPr lang="zh-CN" altLang="en-US" dirty="0"/>
              <a:t>厂商通常可能在补丁中除解决已有问题之外添加很多的其他功能，这些额外的功能可能导致新漏洞的出现、性能下降、服务中断或者出现集成问题和安全功能的暂时中断等 </a:t>
            </a:r>
          </a:p>
          <a:p>
            <a:pPr lvl="1">
              <a:lnSpc>
                <a:spcPts val="4000"/>
              </a:lnSpc>
              <a:spcBef>
                <a:spcPts val="0"/>
              </a:spcBef>
            </a:pPr>
            <a:r>
              <a:rPr lang="zh-CN" altLang="en-US" dirty="0"/>
              <a:t>补丁的成熟也需要一个过程，仓促而就的补丁常常会有问题 </a:t>
            </a:r>
          </a:p>
          <a:p>
            <a:pPr lvl="1">
              <a:lnSpc>
                <a:spcPts val="4000"/>
              </a:lnSpc>
              <a:spcBef>
                <a:spcPts val="0"/>
              </a:spcBef>
            </a:pPr>
            <a:r>
              <a:rPr lang="zh-CN" altLang="en-US" dirty="0"/>
              <a:t>自动安装补丁也有它的问题，很多自动安装程序不能正常运行 </a:t>
            </a:r>
          </a:p>
          <a:p>
            <a:pPr lvl="1">
              <a:lnSpc>
                <a:spcPts val="4000"/>
              </a:lnSpc>
              <a:spcBef>
                <a:spcPts val="0"/>
              </a:spcBef>
            </a:pPr>
            <a:endParaRPr lang="en-US" altLang="zh-CN" sz="2000" dirty="0"/>
          </a:p>
          <a:p>
            <a:pPr>
              <a:lnSpc>
                <a:spcPts val="4000"/>
              </a:lnSpc>
              <a:spcBef>
                <a:spcPts val="0"/>
              </a:spcBef>
            </a:pPr>
            <a:endParaRPr lang="en-US" altLang="zh-CN" sz="2400" dirty="0"/>
          </a:p>
        </p:txBody>
      </p:sp>
    </p:spTree>
    <p:extLst>
      <p:ext uri="{BB962C8B-B14F-4D97-AF65-F5344CB8AC3E}">
        <p14:creationId xmlns:p14="http://schemas.microsoft.com/office/powerpoint/2010/main" val="3458768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116740">
                                            <p:txEl>
                                              <p:pRg st="0" end="0"/>
                                            </p:txEl>
                                          </p:spTgt>
                                        </p:tgtEl>
                                        <p:attrNameLst>
                                          <p:attrName>style.visibility</p:attrName>
                                        </p:attrNameLst>
                                      </p:cBhvr>
                                      <p:to>
                                        <p:strVal val="visible"/>
                                      </p:to>
                                    </p:set>
                                    <p:anim calcmode="lin" valueType="num">
                                      <p:cBhvr>
                                        <p:cTn id="7" dur="1000" fill="hold"/>
                                        <p:tgtEl>
                                          <p:spTgt spid="116740">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116740">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116740">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116740">
                                            <p:txEl>
                                              <p:pRg st="1" end="1"/>
                                            </p:txEl>
                                          </p:spTgt>
                                        </p:tgtEl>
                                        <p:attrNameLst>
                                          <p:attrName>style.visibility</p:attrName>
                                        </p:attrNameLst>
                                      </p:cBhvr>
                                      <p:to>
                                        <p:strVal val="visible"/>
                                      </p:to>
                                    </p:set>
                                    <p:anim calcmode="lin" valueType="num">
                                      <p:cBhvr>
                                        <p:cTn id="14" dur="1000" fill="hold"/>
                                        <p:tgtEl>
                                          <p:spTgt spid="116740">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116740">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116740">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grpId="0" nodeType="clickEffect">
                                  <p:stCondLst>
                                    <p:cond delay="0"/>
                                  </p:stCondLst>
                                  <p:childTnLst>
                                    <p:set>
                                      <p:cBhvr>
                                        <p:cTn id="20" dur="1" fill="hold">
                                          <p:stCondLst>
                                            <p:cond delay="0"/>
                                          </p:stCondLst>
                                        </p:cTn>
                                        <p:tgtEl>
                                          <p:spTgt spid="116740">
                                            <p:txEl>
                                              <p:pRg st="2" end="2"/>
                                            </p:txEl>
                                          </p:spTgt>
                                        </p:tgtEl>
                                        <p:attrNameLst>
                                          <p:attrName>style.visibility</p:attrName>
                                        </p:attrNameLst>
                                      </p:cBhvr>
                                      <p:to>
                                        <p:strVal val="visible"/>
                                      </p:to>
                                    </p:set>
                                    <p:anim calcmode="lin" valueType="num">
                                      <p:cBhvr>
                                        <p:cTn id="21" dur="1000" fill="hold"/>
                                        <p:tgtEl>
                                          <p:spTgt spid="116740">
                                            <p:txEl>
                                              <p:pRg st="2" end="2"/>
                                            </p:txEl>
                                          </p:spTgt>
                                        </p:tgtEl>
                                        <p:attrNameLst>
                                          <p:attrName>ppt_w</p:attrName>
                                        </p:attrNameLst>
                                      </p:cBhvr>
                                      <p:tavLst>
                                        <p:tav tm="0">
                                          <p:val>
                                            <p:strVal val="#ppt_w*0.70"/>
                                          </p:val>
                                        </p:tav>
                                        <p:tav tm="100000">
                                          <p:val>
                                            <p:strVal val="#ppt_w"/>
                                          </p:val>
                                        </p:tav>
                                      </p:tavLst>
                                    </p:anim>
                                    <p:anim calcmode="lin" valueType="num">
                                      <p:cBhvr>
                                        <p:cTn id="22" dur="1000" fill="hold"/>
                                        <p:tgtEl>
                                          <p:spTgt spid="116740">
                                            <p:txEl>
                                              <p:pRg st="2" end="2"/>
                                            </p:txEl>
                                          </p:spTgt>
                                        </p:tgtEl>
                                        <p:attrNameLst>
                                          <p:attrName>ppt_h</p:attrName>
                                        </p:attrNameLst>
                                      </p:cBhvr>
                                      <p:tavLst>
                                        <p:tav tm="0">
                                          <p:val>
                                            <p:strVal val="#ppt_h"/>
                                          </p:val>
                                        </p:tav>
                                        <p:tav tm="100000">
                                          <p:val>
                                            <p:strVal val="#ppt_h"/>
                                          </p:val>
                                        </p:tav>
                                      </p:tavLst>
                                    </p:anim>
                                    <p:animEffect transition="in" filter="fade">
                                      <p:cBhvr>
                                        <p:cTn id="23" dur="1000"/>
                                        <p:tgtEl>
                                          <p:spTgt spid="116740">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grpId="0" nodeType="clickEffect">
                                  <p:stCondLst>
                                    <p:cond delay="0"/>
                                  </p:stCondLst>
                                  <p:childTnLst>
                                    <p:set>
                                      <p:cBhvr>
                                        <p:cTn id="27" dur="1" fill="hold">
                                          <p:stCondLst>
                                            <p:cond delay="0"/>
                                          </p:stCondLst>
                                        </p:cTn>
                                        <p:tgtEl>
                                          <p:spTgt spid="116740">
                                            <p:txEl>
                                              <p:pRg st="3" end="3"/>
                                            </p:txEl>
                                          </p:spTgt>
                                        </p:tgtEl>
                                        <p:attrNameLst>
                                          <p:attrName>style.visibility</p:attrName>
                                        </p:attrNameLst>
                                      </p:cBhvr>
                                      <p:to>
                                        <p:strVal val="visible"/>
                                      </p:to>
                                    </p:set>
                                    <p:anim calcmode="lin" valueType="num">
                                      <p:cBhvr>
                                        <p:cTn id="28" dur="1000" fill="hold"/>
                                        <p:tgtEl>
                                          <p:spTgt spid="116740">
                                            <p:txEl>
                                              <p:pRg st="3" end="3"/>
                                            </p:txEl>
                                          </p:spTgt>
                                        </p:tgtEl>
                                        <p:attrNameLst>
                                          <p:attrName>ppt_w</p:attrName>
                                        </p:attrNameLst>
                                      </p:cBhvr>
                                      <p:tavLst>
                                        <p:tav tm="0">
                                          <p:val>
                                            <p:strVal val="#ppt_w*0.70"/>
                                          </p:val>
                                        </p:tav>
                                        <p:tav tm="100000">
                                          <p:val>
                                            <p:strVal val="#ppt_w"/>
                                          </p:val>
                                        </p:tav>
                                      </p:tavLst>
                                    </p:anim>
                                    <p:anim calcmode="lin" valueType="num">
                                      <p:cBhvr>
                                        <p:cTn id="29" dur="1000" fill="hold"/>
                                        <p:tgtEl>
                                          <p:spTgt spid="116740">
                                            <p:txEl>
                                              <p:pRg st="3" end="3"/>
                                            </p:txEl>
                                          </p:spTgt>
                                        </p:tgtEl>
                                        <p:attrNameLst>
                                          <p:attrName>ppt_h</p:attrName>
                                        </p:attrNameLst>
                                      </p:cBhvr>
                                      <p:tavLst>
                                        <p:tav tm="0">
                                          <p:val>
                                            <p:strVal val="#ppt_h"/>
                                          </p:val>
                                        </p:tav>
                                        <p:tav tm="100000">
                                          <p:val>
                                            <p:strVal val="#ppt_h"/>
                                          </p:val>
                                        </p:tav>
                                      </p:tavLst>
                                    </p:anim>
                                    <p:animEffect transition="in" filter="fade">
                                      <p:cBhvr>
                                        <p:cTn id="30" dur="1000"/>
                                        <p:tgtEl>
                                          <p:spTgt spid="11674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40" grpId="0" build="p"/>
    </p:bld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1079500" y="225425"/>
            <a:ext cx="6985000" cy="792163"/>
          </a:xfrm>
        </p:spPr>
        <p:txBody>
          <a:bodyPr/>
          <a:lstStyle/>
          <a:p>
            <a:r>
              <a:rPr lang="zh-CN" altLang="en-US" dirty="0"/>
              <a:t>软件安全漏洞</a:t>
            </a:r>
            <a:endParaRPr lang="en-US" altLang="zh-CN" dirty="0" smtClean="0"/>
          </a:p>
        </p:txBody>
      </p:sp>
      <p:sp>
        <p:nvSpPr>
          <p:cNvPr id="108547" name="Rectangle 3"/>
          <p:cNvSpPr>
            <a:spLocks noGrp="1" noChangeArrowheads="1"/>
          </p:cNvSpPr>
          <p:nvPr>
            <p:ph type="body" idx="1"/>
          </p:nvPr>
        </p:nvSpPr>
        <p:spPr>
          <a:xfrm>
            <a:off x="504825" y="1295400"/>
            <a:ext cx="8229600" cy="4857750"/>
          </a:xfrm>
        </p:spPr>
        <p:txBody>
          <a:bodyPr/>
          <a:lstStyle/>
          <a:p>
            <a:endParaRPr lang="zh-CN" altLang="en-US" dirty="0" smtClean="0"/>
          </a:p>
        </p:txBody>
      </p:sp>
      <p:pic>
        <p:nvPicPr>
          <p:cNvPr id="2" name="图片 1"/>
          <p:cNvPicPr>
            <a:picLocks noChangeAspect="1"/>
          </p:cNvPicPr>
          <p:nvPr/>
        </p:nvPicPr>
        <p:blipFill>
          <a:blip r:embed="rId3"/>
          <a:stretch>
            <a:fillRect/>
          </a:stretch>
        </p:blipFill>
        <p:spPr>
          <a:xfrm>
            <a:off x="502920" y="1225550"/>
            <a:ext cx="8137525" cy="1557020"/>
          </a:xfrm>
          <a:prstGeom prst="rect">
            <a:avLst/>
          </a:prstGeom>
        </p:spPr>
      </p:pic>
      <p:pic>
        <p:nvPicPr>
          <p:cNvPr id="3" name="图片 2"/>
          <p:cNvPicPr>
            <a:picLocks noChangeAspect="1"/>
          </p:cNvPicPr>
          <p:nvPr/>
        </p:nvPicPr>
        <p:blipFill>
          <a:blip r:embed="rId4"/>
          <a:stretch>
            <a:fillRect/>
          </a:stretch>
        </p:blipFill>
        <p:spPr>
          <a:xfrm>
            <a:off x="1586333" y="909955"/>
            <a:ext cx="6684645" cy="5948045"/>
          </a:xfrm>
          <a:prstGeom prst="rect">
            <a:avLst/>
          </a:prstGeom>
        </p:spPr>
      </p:pic>
    </p:spTree>
    <p:extLst>
      <p:ext uri="{BB962C8B-B14F-4D97-AF65-F5344CB8AC3E}">
        <p14:creationId xmlns:p14="http://schemas.microsoft.com/office/powerpoint/2010/main" val="1036286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nodePh="1">
                                  <p:stCondLst>
                                    <p:cond delay="0"/>
                                  </p:stCondLst>
                                  <p:endCondLst>
                                    <p:cond evt="begin" delay="0">
                                      <p:tn val="5"/>
                                    </p:cond>
                                  </p:endCondLst>
                                  <p:childTnLst>
                                    <p:set>
                                      <p:cBhvr>
                                        <p:cTn id="6" dur="1" fill="hold">
                                          <p:stCondLst>
                                            <p:cond delay="0"/>
                                          </p:stCondLst>
                                        </p:cTn>
                                        <p:tgtEl>
                                          <p:spTgt spid="108547">
                                            <p:txEl>
                                              <p:pRg st="0" end="0"/>
                                            </p:txEl>
                                          </p:spTgt>
                                        </p:tgtEl>
                                        <p:attrNameLst>
                                          <p:attrName>style.visibility</p:attrName>
                                        </p:attrNameLst>
                                      </p:cBhvr>
                                      <p:to>
                                        <p:strVal val="visible"/>
                                      </p:to>
                                    </p:set>
                                    <p:anim calcmode="lin" valueType="num">
                                      <p:cBhvr>
                                        <p:cTn id="7" dur="1000" fill="hold"/>
                                        <p:tgtEl>
                                          <p:spTgt spid="108547">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108547">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108547">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additive="base">
                                        <p:cTn id="14" dur="500" fill="hold"/>
                                        <p:tgtEl>
                                          <p:spTgt spid="3"/>
                                        </p:tgtEl>
                                        <p:attrNameLst>
                                          <p:attrName>ppt_x</p:attrName>
                                        </p:attrNameLst>
                                      </p:cBhvr>
                                      <p:tavLst>
                                        <p:tav tm="0">
                                          <p:val>
                                            <p:strVal val="#ppt_x"/>
                                          </p:val>
                                        </p:tav>
                                        <p:tav tm="100000">
                                          <p:val>
                                            <p:strVal val="#ppt_x"/>
                                          </p:val>
                                        </p:tav>
                                      </p:tavLst>
                                    </p:anim>
                                    <p:anim calcmode="lin" valueType="num">
                                      <p:cBhvr additive="base">
                                        <p:cTn id="15"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7" grpId="0" build="p"/>
    </p:bld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381635"/>
            <a:ext cx="7772400" cy="1327060"/>
          </a:xfrm>
        </p:spPr>
        <p:txBody>
          <a:bodyPr/>
          <a:lstStyle/>
          <a:p>
            <a:r>
              <a:rPr lang="en-US" altLang="zh-CN" dirty="0"/>
              <a:t>FireEye</a:t>
            </a:r>
            <a:r>
              <a:rPr lang="zh-CN" altLang="en-US" dirty="0"/>
              <a:t>：近两年</a:t>
            </a:r>
            <a:r>
              <a:rPr lang="en-US" altLang="zh-CN" dirty="0"/>
              <a:t>n-day</a:t>
            </a:r>
            <a:r>
              <a:rPr lang="zh-CN" altLang="en-US" dirty="0"/>
              <a:t>漏洞修复窗口期遭利用情况分析（</a:t>
            </a:r>
            <a:r>
              <a:rPr lang="en-US" altLang="zh-CN" dirty="0"/>
              <a:t>2020-05</a:t>
            </a:r>
            <a:r>
              <a:rPr lang="zh-CN" altLang="en-US" dirty="0"/>
              <a:t>）</a:t>
            </a:r>
          </a:p>
          <a:p>
            <a:endParaRPr lang="zh-CN" altLang="en-US" dirty="0"/>
          </a:p>
        </p:txBody>
      </p:sp>
      <p:sp>
        <p:nvSpPr>
          <p:cNvPr id="3" name="标题 2"/>
          <p:cNvSpPr>
            <a:spLocks noGrp="1"/>
          </p:cNvSpPr>
          <p:nvPr>
            <p:ph type="title"/>
          </p:nvPr>
        </p:nvSpPr>
        <p:spPr/>
        <p:txBody>
          <a:bodyPr/>
          <a:lstStyle/>
          <a:p>
            <a:r>
              <a:rPr lang="zh-CN" altLang="en-US" dirty="0"/>
              <a:t>软件安全漏洞</a:t>
            </a:r>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13248" y="1381635"/>
            <a:ext cx="5527358" cy="5080635"/>
          </a:xfrm>
          <a:prstGeom prst="rect">
            <a:avLst/>
          </a:prstGeom>
          <a:ln>
            <a:solidFill>
              <a:srgbClr val="0000CC"/>
            </a:solidFill>
          </a:ln>
        </p:spPr>
      </p:pic>
      <p:pic>
        <p:nvPicPr>
          <p:cNvPr id="7" name="图片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14455" y="150157"/>
            <a:ext cx="6280586" cy="6319396"/>
          </a:xfrm>
          <a:prstGeom prst="rect">
            <a:avLst/>
          </a:prstGeom>
        </p:spPr>
      </p:pic>
      <p:pic>
        <p:nvPicPr>
          <p:cNvPr id="8" name="图片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04392" y="379562"/>
            <a:ext cx="5541466" cy="6097274"/>
          </a:xfrm>
          <a:prstGeom prst="rect">
            <a:avLst/>
          </a:prstGeom>
        </p:spPr>
      </p:pic>
    </p:spTree>
    <p:extLst>
      <p:ext uri="{BB962C8B-B14F-4D97-AF65-F5344CB8AC3E}">
        <p14:creationId xmlns:p14="http://schemas.microsoft.com/office/powerpoint/2010/main" val="671404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strVal val="#ppt_w*0.70"/>
                                          </p:val>
                                        </p:tav>
                                        <p:tav tm="100000">
                                          <p:val>
                                            <p:strVal val="#ppt_w"/>
                                          </p:val>
                                        </p:tav>
                                      </p:tavLst>
                                    </p:anim>
                                    <p:anim calcmode="lin" valueType="num">
                                      <p:cBhvr>
                                        <p:cTn id="8" dur="1000" fill="hold"/>
                                        <p:tgtEl>
                                          <p:spTgt spid="6"/>
                                        </p:tgtEl>
                                        <p:attrNameLst>
                                          <p:attrName>ppt_h</p:attrName>
                                        </p:attrNameLst>
                                      </p:cBhvr>
                                      <p:tavLst>
                                        <p:tav tm="0">
                                          <p:val>
                                            <p:strVal val="#ppt_h"/>
                                          </p:val>
                                        </p:tav>
                                        <p:tav tm="100000">
                                          <p:val>
                                            <p:strVal val="#ppt_h"/>
                                          </p:val>
                                        </p:tav>
                                      </p:tavLst>
                                    </p:anim>
                                    <p:animEffect transition="in" filter="fade">
                                      <p:cBhvr>
                                        <p:cTn id="9" dur="10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p:cTn id="14" dur="1000" fill="hold"/>
                                        <p:tgtEl>
                                          <p:spTgt spid="7"/>
                                        </p:tgtEl>
                                        <p:attrNameLst>
                                          <p:attrName>ppt_w</p:attrName>
                                        </p:attrNameLst>
                                      </p:cBhvr>
                                      <p:tavLst>
                                        <p:tav tm="0">
                                          <p:val>
                                            <p:strVal val="#ppt_w*0.70"/>
                                          </p:val>
                                        </p:tav>
                                        <p:tav tm="100000">
                                          <p:val>
                                            <p:strVal val="#ppt_w"/>
                                          </p:val>
                                        </p:tav>
                                      </p:tavLst>
                                    </p:anim>
                                    <p:anim calcmode="lin" valueType="num">
                                      <p:cBhvr>
                                        <p:cTn id="15" dur="1000" fill="hold"/>
                                        <p:tgtEl>
                                          <p:spTgt spid="7"/>
                                        </p:tgtEl>
                                        <p:attrNameLst>
                                          <p:attrName>ppt_h</p:attrName>
                                        </p:attrNameLst>
                                      </p:cBhvr>
                                      <p:tavLst>
                                        <p:tav tm="0">
                                          <p:val>
                                            <p:strVal val="#ppt_h"/>
                                          </p:val>
                                        </p:tav>
                                        <p:tav tm="100000">
                                          <p:val>
                                            <p:strVal val="#ppt_h"/>
                                          </p:val>
                                        </p:tav>
                                      </p:tavLst>
                                    </p:anim>
                                    <p:animEffect transition="in" filter="fade">
                                      <p:cBhvr>
                                        <p:cTn id="16" dur="10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p:cTn id="21" dur="1000" fill="hold"/>
                                        <p:tgtEl>
                                          <p:spTgt spid="8"/>
                                        </p:tgtEl>
                                        <p:attrNameLst>
                                          <p:attrName>ppt_w</p:attrName>
                                        </p:attrNameLst>
                                      </p:cBhvr>
                                      <p:tavLst>
                                        <p:tav tm="0">
                                          <p:val>
                                            <p:strVal val="#ppt_w*0.70"/>
                                          </p:val>
                                        </p:tav>
                                        <p:tav tm="100000">
                                          <p:val>
                                            <p:strVal val="#ppt_w"/>
                                          </p:val>
                                        </p:tav>
                                      </p:tavLst>
                                    </p:anim>
                                    <p:anim calcmode="lin" valueType="num">
                                      <p:cBhvr>
                                        <p:cTn id="22" dur="1000" fill="hold"/>
                                        <p:tgtEl>
                                          <p:spTgt spid="8"/>
                                        </p:tgtEl>
                                        <p:attrNameLst>
                                          <p:attrName>ppt_h</p:attrName>
                                        </p:attrNameLst>
                                      </p:cBhvr>
                                      <p:tavLst>
                                        <p:tav tm="0">
                                          <p:val>
                                            <p:strVal val="#ppt_h"/>
                                          </p:val>
                                        </p:tav>
                                        <p:tav tm="100000">
                                          <p:val>
                                            <p:strVal val="#ppt_h"/>
                                          </p:val>
                                        </p:tav>
                                      </p:tavLst>
                                    </p:anim>
                                    <p:animEffect transition="in" filter="fade">
                                      <p:cBhvr>
                                        <p:cTn id="23"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1_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imes New Roman"/>
        <a:ea typeface="楷体_GB2312"/>
        <a:cs typeface=""/>
      </a:majorFont>
      <a:minorFont>
        <a:latin typeface="Times New Roman"/>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CN" altLang="en-US" sz="1800" b="1" i="0" u="none" strike="noStrike" cap="none" normalizeH="0" baseline="0" smtClean="0">
            <a:ln>
              <a:noFill/>
            </a:ln>
            <a:solidFill>
              <a:schemeClr val="tx1"/>
            </a:solidFill>
            <a:effectLst/>
            <a:latin typeface="Tahoma" pitchFamily="34" charset="0"/>
            <a:ea typeface="宋体"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CN" altLang="en-US" sz="1800" b="1" i="0" u="none" strike="noStrike" cap="none" normalizeH="0" baseline="0" smtClean="0">
            <a:ln>
              <a:noFill/>
            </a:ln>
            <a:solidFill>
              <a:schemeClr val="tx1"/>
            </a:solidFill>
            <a:effectLst/>
            <a:latin typeface="Tahoma" pitchFamily="34" charset="0"/>
            <a:ea typeface="宋体"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16360</TotalTime>
  <Words>9215</Words>
  <Application>Microsoft Office PowerPoint</Application>
  <PresentationFormat>全屏显示(4:3)</PresentationFormat>
  <Paragraphs>899</Paragraphs>
  <Slides>164</Slides>
  <Notes>71</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164</vt:i4>
      </vt:variant>
    </vt:vector>
  </HeadingPairs>
  <TitlesOfParts>
    <vt:vector size="176" baseType="lpstr">
      <vt:lpstr>黑体</vt:lpstr>
      <vt:lpstr>楷体_GB2312</vt:lpstr>
      <vt:lpstr>宋体</vt:lpstr>
      <vt:lpstr>Arial</vt:lpstr>
      <vt:lpstr>Bookman Old Style</vt:lpstr>
      <vt:lpstr>Calibri</vt:lpstr>
      <vt:lpstr>Symbol</vt:lpstr>
      <vt:lpstr>Tahoma</vt:lpstr>
      <vt:lpstr>Times New Roman</vt:lpstr>
      <vt:lpstr>Wingdings</vt:lpstr>
      <vt:lpstr>1_Blends</vt:lpstr>
      <vt:lpstr>演示文稿</vt:lpstr>
      <vt:lpstr>第 三 章    网络脆弱性分析</vt:lpstr>
      <vt:lpstr>威胁网络安全的主要因素</vt:lpstr>
      <vt:lpstr>威胁网络安全的主要因素</vt:lpstr>
      <vt:lpstr>威胁网络安全的主要因素</vt:lpstr>
      <vt:lpstr>威胁网络安全的主要因素</vt:lpstr>
      <vt:lpstr>内容提纲</vt:lpstr>
      <vt:lpstr>计算机网络</vt:lpstr>
      <vt:lpstr>计算机网络</vt:lpstr>
      <vt:lpstr>计算机网络结构和组成</vt:lpstr>
      <vt:lpstr>PowerPoint 演示文稿</vt:lpstr>
      <vt:lpstr>计算机网络结构和组成</vt:lpstr>
      <vt:lpstr>计算机网络结构和组成</vt:lpstr>
      <vt:lpstr>计算机网络结构和组成</vt:lpstr>
      <vt:lpstr>网络体系结构</vt:lpstr>
      <vt:lpstr>网络体系结构</vt:lpstr>
      <vt:lpstr>内容提纲</vt:lpstr>
      <vt:lpstr>计算机网络的脆弱性</vt:lpstr>
      <vt:lpstr>计算机网络的脆弱性</vt:lpstr>
      <vt:lpstr>  计算机网络的脆弱性</vt:lpstr>
      <vt:lpstr>  计算机网络的脆弱性</vt:lpstr>
      <vt:lpstr>计算机网络的脆弱性</vt:lpstr>
      <vt:lpstr>计算机网络的脆弱性</vt:lpstr>
      <vt:lpstr>计算机网络的脆弱性</vt:lpstr>
      <vt:lpstr>计算机网络的脆弱性</vt:lpstr>
      <vt:lpstr>计算机网络的脆弱性</vt:lpstr>
      <vt:lpstr>计算机网络的脆弱性</vt:lpstr>
      <vt:lpstr>计算机网络的脆弱性</vt:lpstr>
      <vt:lpstr>中间盒子</vt:lpstr>
      <vt:lpstr>中间盒子</vt:lpstr>
      <vt:lpstr>中间盒子</vt:lpstr>
      <vt:lpstr>中间盒子</vt:lpstr>
      <vt:lpstr>中间盒子</vt:lpstr>
      <vt:lpstr>中间盒子</vt:lpstr>
      <vt:lpstr>中间盒子</vt:lpstr>
      <vt:lpstr>中间盒子</vt:lpstr>
      <vt:lpstr>中间盒子</vt:lpstr>
      <vt:lpstr>中间盒子</vt:lpstr>
      <vt:lpstr>内容提纲</vt:lpstr>
      <vt:lpstr>参考mooc</vt:lpstr>
      <vt:lpstr>PowerPoint 演示文稿</vt:lpstr>
      <vt:lpstr>IPv4</vt:lpstr>
      <vt:lpstr>IPv4</vt:lpstr>
      <vt:lpstr>IPv4</vt:lpstr>
      <vt:lpstr>IPsec</vt:lpstr>
      <vt:lpstr>IPv6</vt:lpstr>
      <vt:lpstr>IPv6</vt:lpstr>
      <vt:lpstr>IPv6</vt:lpstr>
      <vt:lpstr>IPv6</vt:lpstr>
      <vt:lpstr>IPv6安全</vt:lpstr>
      <vt:lpstr>IPv6安全</vt:lpstr>
      <vt:lpstr>IPv6安全</vt:lpstr>
      <vt:lpstr>PowerPoint 演示文稿</vt:lpstr>
      <vt:lpstr>ICMPv4</vt:lpstr>
      <vt:lpstr>ICMPv4</vt:lpstr>
      <vt:lpstr>ICMPv6</vt:lpstr>
      <vt:lpstr>ICMP</vt:lpstr>
      <vt:lpstr>PowerPoint 演示文稿</vt:lpstr>
      <vt:lpstr>ARP</vt:lpstr>
      <vt:lpstr>ARP</vt:lpstr>
      <vt:lpstr>ARP</vt:lpstr>
      <vt:lpstr>PowerPoint 演示文稿</vt:lpstr>
      <vt:lpstr>RIP协议</vt:lpstr>
      <vt:lpstr>RIP协议</vt:lpstr>
      <vt:lpstr>RIP协议</vt:lpstr>
      <vt:lpstr>RIP协议安全</vt:lpstr>
      <vt:lpstr>RIP协议安全</vt:lpstr>
      <vt:lpstr>RIP协议安全</vt:lpstr>
      <vt:lpstr>RIP协议安全</vt:lpstr>
      <vt:lpstr>PowerPoint 演示文稿</vt:lpstr>
      <vt:lpstr>OSPF协议</vt:lpstr>
      <vt:lpstr>OSPF协议</vt:lpstr>
      <vt:lpstr>OSPF协议</vt:lpstr>
      <vt:lpstr>OSPF协议</vt:lpstr>
      <vt:lpstr>OSPF协议</vt:lpstr>
      <vt:lpstr>OSPF安全</vt:lpstr>
      <vt:lpstr>OSPF安全</vt:lpstr>
      <vt:lpstr>OSPF安全</vt:lpstr>
      <vt:lpstr>OSPF安全</vt:lpstr>
      <vt:lpstr>PowerPoint 演示文稿</vt:lpstr>
      <vt:lpstr>BGP协议</vt:lpstr>
      <vt:lpstr>BGP协议</vt:lpstr>
      <vt:lpstr>BGP协议</vt:lpstr>
      <vt:lpstr>BGP安全</vt:lpstr>
      <vt:lpstr>BGP安全</vt:lpstr>
      <vt:lpstr>BGP安全</vt:lpstr>
      <vt:lpstr>BGP安全</vt:lpstr>
      <vt:lpstr>BGP安全</vt:lpstr>
      <vt:lpstr>BGP安全</vt:lpstr>
      <vt:lpstr>BGP安全</vt:lpstr>
      <vt:lpstr>BGP安全</vt:lpstr>
      <vt:lpstr>BGP安全</vt:lpstr>
      <vt:lpstr>PowerPoint 演示文稿</vt:lpstr>
      <vt:lpstr>UDP</vt:lpstr>
      <vt:lpstr>UDP</vt:lpstr>
      <vt:lpstr>PowerPoint 演示文稿</vt:lpstr>
      <vt:lpstr>TCP</vt:lpstr>
      <vt:lpstr>TCP协议</vt:lpstr>
      <vt:lpstr>TCP协议</vt:lpstr>
      <vt:lpstr>TCP协议</vt:lpstr>
      <vt:lpstr>TCP协议</vt:lpstr>
      <vt:lpstr>TCP协议</vt:lpstr>
      <vt:lpstr>TCP协议</vt:lpstr>
      <vt:lpstr>TCP协议</vt:lpstr>
      <vt:lpstr>PowerPoint 演示文稿</vt:lpstr>
      <vt:lpstr>DNS</vt:lpstr>
      <vt:lpstr>以浏览网站为例说明域名解析过程</vt:lpstr>
      <vt:lpstr>以浏览网站为例说明域名解析过程</vt:lpstr>
      <vt:lpstr>以浏览网站为例说明域名解析过程</vt:lpstr>
      <vt:lpstr>以浏览网站为例说明域名解析过程</vt:lpstr>
      <vt:lpstr>以浏览网站为例说明域名解析过程</vt:lpstr>
      <vt:lpstr>根域名服务器</vt:lpstr>
      <vt:lpstr>根域名服务器</vt:lpstr>
      <vt:lpstr>根域名服务器</vt:lpstr>
      <vt:lpstr>DNS</vt:lpstr>
      <vt:lpstr>DNS生态系统</vt:lpstr>
      <vt:lpstr>DNS</vt:lpstr>
      <vt:lpstr>DNS面临的安全威胁</vt:lpstr>
      <vt:lpstr>DNS安全威胁</vt:lpstr>
      <vt:lpstr>DNS安全威胁</vt:lpstr>
      <vt:lpstr>DNS安全威胁</vt:lpstr>
      <vt:lpstr>DNS安全威胁</vt:lpstr>
      <vt:lpstr>DNS安全威胁</vt:lpstr>
      <vt:lpstr>DNS安全威胁</vt:lpstr>
      <vt:lpstr>DNS安全威胁</vt:lpstr>
      <vt:lpstr>DNS安全威胁</vt:lpstr>
      <vt:lpstr>DNS安全威胁</vt:lpstr>
      <vt:lpstr>DNS安全威胁</vt:lpstr>
      <vt:lpstr>DNS安全威胁</vt:lpstr>
      <vt:lpstr>DNS安全威胁</vt:lpstr>
      <vt:lpstr>DNS安全威胁</vt:lpstr>
      <vt:lpstr>DNS安全威胁</vt:lpstr>
      <vt:lpstr>DNS安全威胁</vt:lpstr>
      <vt:lpstr>DNS安全威胁</vt:lpstr>
      <vt:lpstr>DNS安全威胁</vt:lpstr>
      <vt:lpstr>组合攻击实现网站假冒</vt:lpstr>
      <vt:lpstr>组合攻击实现网站假冒</vt:lpstr>
      <vt:lpstr>组合攻击实现网站假冒</vt:lpstr>
      <vt:lpstr>组合攻击实现网站假冒</vt:lpstr>
      <vt:lpstr>组合攻击实现网站假冒</vt:lpstr>
      <vt:lpstr>DNSSEC</vt:lpstr>
      <vt:lpstr>DNSSEC</vt:lpstr>
      <vt:lpstr>DNS加密(DNSCrypt)</vt:lpstr>
      <vt:lpstr>PowerPoint 演示文稿</vt:lpstr>
      <vt:lpstr>HTTP</vt:lpstr>
      <vt:lpstr>HTTP</vt:lpstr>
      <vt:lpstr>HTTP</vt:lpstr>
      <vt:lpstr>HTTPS</vt:lpstr>
      <vt:lpstr>内容提纲</vt:lpstr>
      <vt:lpstr>计算机系统</vt:lpstr>
      <vt:lpstr>计算机系统的安全风险</vt:lpstr>
      <vt:lpstr>操作系统</vt:lpstr>
      <vt:lpstr>操作系统</vt:lpstr>
      <vt:lpstr>操作系统</vt:lpstr>
      <vt:lpstr>操作系统</vt:lpstr>
      <vt:lpstr>操作系统</vt:lpstr>
      <vt:lpstr>软件安全漏洞</vt:lpstr>
      <vt:lpstr>软件安全漏洞</vt:lpstr>
      <vt:lpstr>软件安全漏洞</vt:lpstr>
      <vt:lpstr>软件安全漏洞</vt:lpstr>
      <vt:lpstr>软件安全漏洞</vt:lpstr>
      <vt:lpstr>软件安全漏洞</vt:lpstr>
      <vt:lpstr>软件安全漏洞</vt:lpstr>
      <vt:lpstr>软件安全漏洞</vt:lpstr>
      <vt:lpstr>软件安全漏洞</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unknown</dc:creator>
  <cp:lastModifiedBy>rlp</cp:lastModifiedBy>
  <cp:revision>1584</cp:revision>
  <dcterms:created xsi:type="dcterms:W3CDTF">2004-07-10T13:16:47Z</dcterms:created>
  <dcterms:modified xsi:type="dcterms:W3CDTF">2023-03-14T03:54:50Z</dcterms:modified>
</cp:coreProperties>
</file>